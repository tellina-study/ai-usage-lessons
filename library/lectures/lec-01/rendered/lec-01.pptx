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/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/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За 75 минут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/>
          <a:p>
            <a:r>
              <a:t>Лекция называется «AI вокруг нас» — потому что 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/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/>
          <a:p>
            <a:r>
              <a:t>Раздел 0, в котором мы сейчас, — открытие и опрос: сколько вы пользуетесь AI и какими инструментами. Затем краткое представление преподавателя и центральный вопрос курса.</a:t>
            </a:r>
          </a:p>
          <a:p/>
          <a:p>
            <a:r>
              <a:t>Раздел 1 — что такое AI и почему определений много. Здесь же пройдёмся по 70-летней истории дисциплины и зафиксируем ключевую точку перелома 2017 года.</a:t>
            </a:r>
          </a:p>
          <a:p/>
          <a:p>
            <a:r>
              <a:t>Раздел 2 — где мы сейчас, в 2022–2026 годах. Цифры проникновения AI в мире и в России, учебный момент про две методологии измерения, и обзор четырёх прорывов от не-первых игроков.</a:t>
            </a:r>
          </a:p>
          <a:p/>
          <a:p>
            <a:r>
              <a:t>Раздел 3 — самый большой, 23 минуты.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/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/>
          <a:p>
            <a:r>
              <a:t>Раздел 5 — заключение, задание к семинару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мы перейдём к статистике, я хочу зафиксировать вашу собственную оценку. Это важная учебная процедура: когда вы сначала формулируете предположение, а потом видите реальные цифры, вы сразу замечаете, в какую сторону у вас систематическое смещение. Это знание про себя — полезный побочный эффект сегодняшней лекции.</a:t>
            </a:r>
          </a:p>
          <a:p/>
          <a:p>
            <a:r>
              <a:t>Два вопроса. Первый — короткий: как часто вы используете AI? Один ответ на выбор. От «никогда» до «каждый день». Поднимите руку или отметьте в чате — увидим распределение.</a:t>
            </a:r>
          </a:p>
          <a:p/>
          <a:p>
            <a:r>
              <a:t>Второй вопрос — какими конкретно AI-инструментами вы пользовались хотя бы раз? Здесь можно отметить несколько вариантов: ChatGPT, YandexGPT, DeepSeek, GigaChat, Шедеврум, Claude, Gemini, или, если не пользовались никогда, последний вариант. Это многовариантный опрос — обратите внимание на это слово, потому что через минуту мы увидим, как одна и та же методология «multi-select» приводит к интересному результату на национальной статистике.</a:t>
            </a:r>
          </a:p>
          <a:p/>
          <a:p>
            <a:r>
              <a:t>Ваши оценки запоминаем — на следующем слайде сравним с тем, что показывают независимые 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данные ВЦИОМ-Онлайн от 13–15 декабря 2025 года, опрос 3239 российских интернет-пользователей старше 18. Пятьдесят один процент пользуются AI-инструментами раз в неделю и чаще. Это не «когда-нибудь пробовали», это регулярные пользователи. Если ваша группа сильно отличается от половины — это нормальный для технического вуза перекос.</a:t>
            </a:r>
          </a:p>
          <a:p/>
          <a:p>
            <a:r>
              <a:t>Справа — другой опрос ВЦИОМ, октябрь 2025, n=1600. Распределение по конкретным инструментам среди тех, кто пользовался AI: ChatGPT — 27, YandexGPT — 23, DeepSeek — 20, GigaChat — 15, Шедеврум — 11. Это многовариантный опрос: респонденты могли отметить несколько вариантов. Поэтому сумма больше ста, и эти цифры не «доли рынка», а «доля среди опрошенных, признавшихся в использовании каждого инструмента».</a:t>
            </a:r>
          </a:p>
          <a:p/>
          <a:p>
            <a:r>
              <a:t>Теперь учебный момент. По DeepSeek в России в публичном пространстве циркулируют два разных числа. ВЦИОМ — 20 процентов. Microsoft Threat Intelligence в отчёте «Global AI adoption in 2025» от января 2026 года — 43 процента. Разница в два раза. Какая цифра правильная? Обе. Они измеряют разное. ВЦИОМ — это самоотчёт: социолог звонит и спрашивает, и в опросах люди систематически занижают использование непрестижных или малознакомых инструментов. Microsoft измеряет фактическую телеметрию: подключения и запросы к API DeepSeek с устройств в России, нормированные на общий AI-трафик страны. Самоотчёт даёт нижнюю оценку, телеметрия — верхнюю.</a:t>
            </a:r>
          </a:p>
          <a:p/>
          <a:p>
            <a:r>
              <a:t>Практический урок инженеру: прежде чем сравнивать AI-цифры, сравните методологии. Эта дисциплина пригодится не только в DeepSeek-кейсе.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Короткое представление. Я — [имя], работаю в области [сфера], и сейчас занимаюсь [актуальная тема]. С AI работаю [сколько лет] — застал и хайповые волны, и зимы, и реальные внедрения, которые работают, и реальные внедрения, которые не работают.</a:t>
            </a:r>
          </a:p>
          <a:p/>
          <a:p>
            <a:r>
              <a:t>Эта лекция и весь курс — попытка дать вам карту, которой у меня самого не было, когда я только начинал. Мы будем разбирать конкретные инженерные решения, не общие декларации, и внимание к границам — там, где AI ломается, — у нас будет таким же подробным, как и к успешным кейсам.</a:t>
            </a:r>
          </a:p>
          <a:p/>
          <a:p>
            <a:r>
              <a:t>Если в течение курса у вас возникнут вопросы вне формата лекции — связаться можно по [контакт]. Чем раньше задаёте — тем полезнее ответ. Не копите вопросы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/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/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 за семестр;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/>
          <a:p>
            <a:r>
              <a:t>К этому центральному вопросу мы будем возвращаться каждую лекцию. Сегодняшняя задача — построить его развёрнутую версию: какие есть способы реализации систем с AI, какие у этих систем границы, и какой простой инструмент позволяет сделать первый осмысленный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/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/>
          <a:p>
            <a:r>
              <a:t>Подход второй — международный стандарт ISO/IEC 22989,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/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/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Сёрла: бенчмарк-эквивалентность не означает понимания.</a:t>
            </a:r>
          </a:p>
          <a:p/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/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/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/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/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/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/>
          <a:p>
            <a:r>
              <a:t>ChatGPT по состоянию на февраль 2026 имеет около девятисот миллионов еженедельно активных пользователей.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AI, для языка Java — шестьдесят один процент.</a:t>
            </a:r>
          </a:p>
          <a:p/>
          <a:p>
            <a:r>
              <a:t>Stack Overflow Developer Survey 2025,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/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/>
          <a:p>
            <a:r>
              <a:t>Объём рынка — диапазон 244–390 миллиардов долларов. Разброс отражает методологию: что считать AI-рынком — продажи моделей, инфраструктуру, embedded-AI, услуги интеграции.</a:t>
            </a:r>
          </a:p>
          <a:p/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 — оценка построена на выборке примерно из пятидесяти крупнейших российских организаций по данным CNews, Vedomosti и Intellectual Analytics за март две тысячи двадцать шестого года.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/>
          <a:p>
            <a:r>
              <a:t>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13B, модель почти вдвое большего размера. Урок: небольшая европейская команда может выпустить модель уровня крупных игроков за несколько месяцев от основания компании.</a:t>
            </a:r>
          </a:p>
          <a:p/>
          <a:p>
            <a:r>
              <a:t>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— один и три–один и шесть миллиарда. Это разные числа: marginal training run и полная инфраструктура. Двадцать седьмого января рынок отреагировал — капитализация Nvidia упала на пятьсот восемьдесят девять миллиардов долларов за один день, крупнейшая single-day потеря капитализации в истории.</a:t>
            </a:r>
          </a:p>
          <a:p/>
          <a:p>
            <a:r>
              <a:t>Эпизод третий — OpenClaw,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 Поддерживает интеграции с двадцатью двумя мессенджер-каналами и сотней AgentSkills. Четырнадцатого февраля двадцать шестого Стейнбергер ушёл в OpenAI, проект перешёл в non-profit foundation. Урок: один человек с правильным концептом может создать инфраструктуру, которой пользуются десятки тысяч.</a:t>
            </a:r>
          </a:p>
          <a:p/>
          <a:p>
            <a:r>
              <a:t>Эпизод четвёртый — Kimi K2.5, январь двадцать шестого. Китайская лаборатория Moonshot AI выпустила open-source multimodal-модель со swarm mode — возможностью направлять до ста sub-agents параллельно. Это демонстрация следующего поколения опенсорсных агентских систем: уже не один агент с инструментами, а целый рой, координируемый через единый интерфейс. Урок: пространство архитектурных идей продолжает открываться — за пределами вертикальных лидеров.</a:t>
            </a:r>
          </a:p>
          <a:p/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/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/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слоистой структурой. Каждый следующий уровень включает предыдущий и добавляет новые компоненты.</a:t>
            </a:r>
          </a:p>
          <a:p/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/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/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/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/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/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/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 Планирование — построить последовательность действий для достижения цели: маршрут, расписание.</a:t>
            </a:r>
          </a:p>
          <a:p/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Код — частный случай текста, но с особенностями. Мультимодальные комбинации — текст плюс изображение, текст плюс аудио плюс видео.</a:t>
            </a:r>
          </a:p>
          <a:p/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/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/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/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/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/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/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/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/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/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/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/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и как объяснить, почему чат «забывает» старые сообщения.</a:t>
            </a:r>
          </a:p>
          <a:p/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/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/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/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/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/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/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/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это модель, обёрнутая в текстовый интерфейс с памятью диалога в пределах сессии. Пользователь пишет сообщение, модель отвечает, история обоих сообщений включается в контекст следующего обращения. Это даёт ощущение разговора и позволяет уточнять задачу пошагово, что радикально меняет паттерн использования.</a:t>
            </a:r>
          </a:p>
          <a:p/>
          <a:p>
            <a:r>
              <a:t>Современные чаты — это в первую очередь LLM-чаты, хотя бывают и мультимодальные: с возможностью передавать изображения, аудио, файлы. Канонические продукты вы знаете: ChatGPT, Claude, Gemini, DeepSeek Chat, GigaChat, YandexGPT, Mistral Le Chat. Между ними различия в качестве для разных задач, в длине контекстного окна, в стоимости, в доступности модальностей — но базовый паттерн взаимодействия один.</a:t>
            </a:r>
          </a:p>
          <a:p/>
          <a:p>
            <a:r>
              <a:t>Возьмём конкретный пример. Инженер получает непонятный нормативный документ — скажем, ТЗ от смежного отдела с массой ссылок на стандарты и сложными формулировками. Задача — разобраться и составить чек-лист для собственной работы. Это типовой кейс для чата: разовая задача, требующая диалога, с уточнениями по ходу. Здесь не нужна standalone-модель, потому что нет потока однотипных задач. Не нужен агент, потому что не требуется автоматически открывать файлы и API. И нет специализированного приложения. Чат — оптимальный инструмент.</a:t>
            </a:r>
          </a:p>
          <a:p/>
          <a:p>
            <a:r>
              <a:t>Важный disclaimer для производственных систем. Чистые чаты в том виде, как они есть «из коробки» — то есть просто LLM плюс UI плюс короткая память сессии — в корпоративной среде почти не встречаются. Почти везде, где речь идёт о реальном внедрении, чат расширен до агента: хотя бы для того, чтобы хранить долгосрочную память между сессиями, или для того, чтобы искать ответ в корпоративной базе знаний через RAG (retrieval-augmented generation). Архитектуру агента — что именно добавляется к чату — разберём на следующем слайде.</a:t>
            </a:r>
          </a:p>
          <a:p/>
          <a:p>
            <a:r>
              <a:t>Возвращаясь к центральному вопросу лекции: «где AI работает» и «где не работает» во многом совпадает с «где правильно выбран тип взаимодействия» и «где неправильно».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/>
          <a:p>
            <a:r>
              <a:t>Первый компонент — оркестратор.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/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на лекции 3), файловая система с промежуточными результатами, лог собственных предыдущих действий.</a:t>
            </a:r>
          </a:p>
          <a:p/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/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/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/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/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/>
          <a:p>
            <a:r>
              <a:t>Главное — агент это последовательность вызовов конкретных инструментов, оркестрируемая LLM. Не «AI разобрался сам», а «AI вызвал нужные инструменты в правильном порядке».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/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/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/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/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/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/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/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/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/>
          <a:p>
            <a:r>
              <a:t>Канонические примеры однозначных приложений. Google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/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/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/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/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/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вопроса, ответы на которые однозначно определяют один из четырёх типов реализации.</a:t>
            </a:r>
          </a:p>
          <a:p/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/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/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/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/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/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/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</a:t>
            </a:r>
          </a:p>
          <a:p/>
          <a:p>
            <a:r>
              <a:t>Три причины, по которым эта тема — ваша зона ответственности, а не отдельный вопрос для специалистов по AI safety.</a:t>
            </a:r>
          </a:p>
          <a:p/>
          <a:p>
            <a:r>
              <a:t>Первая. Вы уже приняли решение встроить AI — теперь отвечаете за последствия. Если в результате внедрения возникнет инцидент — утечка данных, неправильное решение по клиенту, ошибочный приговор автомата, — отвечать будете не «модель», а вы и ваша команда.</a:t>
            </a:r>
          </a:p>
          <a:p/>
          <a:p>
            <a:r>
              <a:t>Вторая. AI ошибается системно, и эти ошибки предсказуемы. Большинство известных классов проблем — bias, галлюцинации, sycophancy, distribution shift — повторяются от системы к системе. Они не случайные баги, а свойства технологии. Инженер, который не знает этого набора, будет наступать на каждый из них в первый раз.</a:t>
            </a:r>
          </a:p>
          <a:p/>
          <a:p>
            <a:r>
              <a:t>Третья. Граница «что AI не умеет» — ваша зона ответственности. За пределами этой границы — необходимость человеческого решения, дополнительной верификации, запасного сценария. Если вы её не понимаете, систему нельзя считать спроектированной.</a:t>
            </a:r>
          </a:p>
          <a:p/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вы пишете запрос в облачный AI-сервис, 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/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/>
          <a:p>
            <a:r>
              <a:t>Enterprise-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/>
          <a:p>
            <a:r>
              <a:t>Канонический инцидент. Март-апрель двадцать третьего года, Samsung.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/>
          <a:p>
            <a:r>
              <a:t>Регуляторика. В Европейском Союзе действует EU AI Act,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/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/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/>
          <a:p>
            <a:r>
              <a:t>Уровень галлюцинаций сильно зависит от задачи. По бенчмарку Vectara Hughes Hallucination Evaluation Model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/>
          <a:p>
            <a:r>
              <a:t>Сопутствующие данные о поведении пользователей. По отчёту CybSafe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/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/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/>
          <a:p>
            <a:r>
              <a:t>Bias — смещение.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Bias — самая трудно исправляемая категория, потому что данные часто фиксируют структурные неравенства реального мира.</a:t>
            </a:r>
          </a:p>
          <a:p/>
          <a:p>
            <a:r>
              <a:t>Sycophancy — подлизы. Сначала определение ключевого термина. RLHF — Reinforcement Learning from Human Feedback — техника обучения, при которой человек ранжирует ответы модели по качеству, и эти ранжирования служат сигналом награды для дополнительного fine-tuning.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/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Twitter тем же вечером: «we started rolling back the latest update to GPT-4o last night». Двадцать девятого апреля опубликован разбор причин. Sycophancy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/>
          <a:p>
            <a:r>
              <a:t>Distribution shift — сдвиг распределения.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Distribution shift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/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Bias — закономерности из исторических данных. Sycophancy — закономерности из RLHF-разметки. Distribution shift — отсутствие закономерностей нового периода.</a:t>
            </a:r>
          </a:p>
          <a:p/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/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/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/>
          <a:p>
            <a:r>
              <a:t>Дарио Амодей, CEO Anthropic: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/>
          <a:p>
            <a:r>
              <a:t>Демис Хассабис, CEO Google DeepMind: «50% шанс AGI к концу десятилетия; нужны прорывы в few-shot, continual learning, долговременной памяти», TIME100 двадцать пятого.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/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/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/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задание к семинару один: что конкретно принести и зачем.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/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/>
          <a:p>
            <a:r>
              <a:t>Три главных вывода.</a:t>
            </a:r>
          </a:p>
          <a:p/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/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/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/>
          <a:p>
            <a:r>
              <a:t>Задание к семинару один. Тема семинара — «Какой тип AI выбрать: два вопроса, квадрант, разбор реальных кейсов». Принесите один AI-инструмент, который используете регулярно или хотите начать использовать. Конкретный продукт, не «AI вообще». Прогоните его через два вопроса чек-листа. Запишите ответы явно. Определите по квадранту тип реализации, аргументируйте. Оцените одну потенциальную ошибку из каталога раздела четыре, которая опасна именно в вашем сценарии. Сдайте одностраничный разбор в любом формате — текст, схема или таблица.</a:t>
            </a:r>
          </a:p>
          <a:p/>
          <a:p>
            <a:r>
              <a:t>Это упражнение покрывает все четыре учебные цели лекции на уровне применения.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 и семнадцати семинаров, разбитых на три модуля. На лекции один мы на первом занятии первого модуля. Дальше — общая карта, по которой вы можете заранее видеть, что вас ждёт.</a:t>
            </a:r>
          </a:p>
          <a:p/>
          <a:p>
            <a:r>
              <a:t>Модуль один — основы и знакомые индустрии, лекции с первой по восьмую. Первые три лекции дают теоретико-методологический фундамент: введение, как работают современные большие модели, агенты и RAG. Следующие пять — обзор AI в индустриях, с которыми студенты вашего профиля чаще всего сталкиваются на практике: разработка ПО, финансы и ритейл, инженерное проектирование, медицина, креативные индустрии. Рубежный контроль один — на семинаре восьмой недели.</a:t>
            </a:r>
          </a:p>
          <a:p/>
          <a:p>
            <a:r>
              <a:t>Модуль два — высокотехнологичные отрасли материального производства, лекции с девятой по двенадцатую. Авиакосмос и оборонка, сельское хозяйство, производство (predictive maintenance и коботы), автоматизация и цифровые двойники. Это отрасли, в которых AI работает на стыке физического и цифрового. Рубежный контроль два — на семинаре двенадцатой недели.</a:t>
            </a:r>
          </a:p>
          <a:p/>
          <a:p>
            <a:r>
              <a:t>Модуль три — инфокоммуникации, наука, добыча, синтез, лекции с тринадцатой по семнадцатую. Логистика и транспорт, телеком и кибербезопасность, научные исследования, нефтегаз. Финальная лекция семнадцатая — синтез: что общего во всех изученных кейсах. Рубежный контроль три, итоговый, на семинаре семнадцатой недели.</a:t>
            </a:r>
          </a:p>
          <a:p/>
          <a:p>
            <a:r>
              <a:t>Прогрессия навыков промптинга через курс. На сегодняшней лекции один мы зафиксировали минимальную формулу: промпт равен роль плюс задача плюс контекст. На лекции двенадцатой формализуем PARTS — Persona / Action / Recipe / Template / Specification — и разбираем chain-of-thought, few-shot, self-consistency. К концу курса вы работаете с промптингом как с инженерной дисциплиной, не как с магией.</a:t>
            </a:r>
          </a:p>
          <a:p/>
          <a:p>
            <a:r>
              <a:t>Оговорка про PARTS. Это внутренняя сводная схема нашего курса, упрощение для удобства запоминания. В академической и индустриальной литературе по prompt engineering используются другие, более устоявшиеся frameworks — RTF (Role / Task / Format), CRISPE (Capacity / Role / Insight / Statement / Personality / Experiment), RACE (Role / Action / Context / Expectation), RISEN, TAG. Каждый покрывает ту же поверхность с разной разбивкой. Мы выбрали PARTS как педагогическое упрощение; кто хочет глубже — на лекции двенадцатой будет обзор альтернатив.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/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/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/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/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/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/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Q&amp;A.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/>
          <a:p>
            <a:r>
              <a:t>Если вопросов нет — не страшно. Тогда вернёмся к заданию к семинару один. На следующем семинаре мы будем разбирать ваши кейсы по чек-листу из двух вопросов. Возьмите свой AI-инструмент, прогоните через квадрант, принесите одностраничный разбор. До встречи.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0" y="2468880"/>
            <a:ext cx="4846320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21295C"/>
                </a:solidFill>
                <a:latin typeface="Arial"/>
              </a:rPr>
              <a:t>Введение —
AI вокруг нас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  <p:pic>
        <p:nvPicPr>
          <p:cNvPr id="8" name="Picture 7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Карта лекции — 5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Где мы
как пользователи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 задание ·
карта семестра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Сначала — ваша оценка, потом — данные.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544068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han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868680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74519" y="214884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Вопрос 1  ·  один вариант ответа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2468880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Как часто вы используете AI?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03320"/>
            <a:ext cx="1143000" cy="7772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Никогда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3703320"/>
            <a:ext cx="1143000" cy="7772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Несколько раз
в месяц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3703320"/>
            <a:ext cx="1143000" cy="7772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Несколько раз
в неделю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703320"/>
            <a:ext cx="1143000" cy="7772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Каждый день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83480"/>
            <a:ext cx="4800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(поднимите руку или ответьте в чате — увидим распределение)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44068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message-squar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21031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35240" y="214884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Вопрос 2  ·  можно несколько вариантов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2468880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Какими AI-инструментами
вы пользовались хотя бы раз?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79" y="3977639"/>
            <a:ext cx="1143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028090"/>
                </a:solidFill>
                <a:latin typeface="Arial"/>
              </a:rPr>
              <a:t>ChatGPT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0688" y="3977639"/>
            <a:ext cx="1143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028090"/>
                </a:solidFill>
                <a:latin typeface="Arial"/>
              </a:rPr>
              <a:t>YandexGPT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7696" y="3977639"/>
            <a:ext cx="1143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028090"/>
                </a:solidFill>
                <a:latin typeface="Arial"/>
              </a:rPr>
              <a:t>DeepSeek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04704" y="3977639"/>
            <a:ext cx="1143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028090"/>
                </a:solidFill>
                <a:latin typeface="Arial"/>
              </a:rPr>
              <a:t>GigaChat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79" y="4572000"/>
            <a:ext cx="1143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028090"/>
                </a:solidFill>
                <a:latin typeface="Arial"/>
              </a:rPr>
              <a:t>Шедеврум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90688" y="4572000"/>
            <a:ext cx="1143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028090"/>
                </a:solidFill>
                <a:latin typeface="Arial"/>
              </a:rPr>
              <a:t>Claude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7696" y="4572000"/>
            <a:ext cx="1143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028090"/>
                </a:solidFill>
                <a:latin typeface="Arial"/>
              </a:rPr>
              <a:t>Gemini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04704" y="4572000"/>
            <a:ext cx="1143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028090"/>
                </a:solidFill>
                <a:latin typeface="Arial"/>
              </a:rPr>
              <a:t>Ничем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Разница между вашей оценкой и реальностью — карта ваших слепых зон про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512064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Российские интернет-пользователи 18+ — частота использования AI</a:t>
            </a:r>
          </a:p>
        </p:txBody>
      </p:sp>
      <p:pic>
        <p:nvPicPr>
          <p:cNvPr id="5" name="Picture 4" descr="c1-vciom-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2743200"/>
            <a:ext cx="23774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74519" y="342900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i="0">
                <a:solidFill>
                  <a:srgbClr val="21295C"/>
                </a:solidFill>
                <a:latin typeface="Arial"/>
              </a:rPr>
              <a:t>51%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4114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раз в неделю и чаще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778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ВЦИОМ-Онлайн, 13–15 декабря 2025, n=3239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79" y="1783080"/>
            <a:ext cx="603504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199" y="20116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Использование LLM в РФ среди пользователей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199" y="2350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ВЦИОМ окт 2025, n=1600, multi-select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199" y="2761488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ChatGPT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59" y="2807208"/>
            <a:ext cx="2798064" cy="20116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96144" y="277977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199" y="307238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YandexGPT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59" y="3118103"/>
            <a:ext cx="2383536" cy="20116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81616" y="309067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338328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DeepSeek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59" y="3429000"/>
            <a:ext cx="2072640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70719" y="3401568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199" y="3694175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GigaChat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59" y="3739896"/>
            <a:ext cx="1554480" cy="20116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59" y="3712463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4005072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Шедеврум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59" y="4050792"/>
            <a:ext cx="1139952" cy="20116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38031" y="4023360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199" y="4315968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Claude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334256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данных РФ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199" y="462686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4645152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данных РФ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199" y="493776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Ничем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956048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(см. donut слева)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199" y="5321808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↑ Та же страна, телеметрия Microsoft (2026): DeepSeek = 43%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199" y="573328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*Сумма &gt;100% — multi-select; могли указать несколько вариантов.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200400" cy="32004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0" b="1" i="0">
                <a:solidFill>
                  <a:srgbClr val="FFFFFF"/>
                </a:solidFill>
                <a:latin typeface="Arial"/>
              </a:rPr>
              <a:t>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инициалы лектора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82880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ucide-briefcas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2057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Опыт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51460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[годы работы с AI; конкретные проекты]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324612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lightbulb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3611879"/>
            <a:ext cx="5943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3474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Зачем мне курс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9319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[почему важно лично]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66344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029200"/>
            <a:ext cx="594360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26480" y="4892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Связь со студентами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3492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[контакт, формат вопросов]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77639"/>
            <a:ext cx="502920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16052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10% доходят 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лекции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moving target.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263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33679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Открытия (1950 — 1980-е)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2402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1292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7180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Turing — Imitation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8264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ELIZA — Weizenbaum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264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3460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9348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348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832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Зимы и прорывы (1973 — 2012)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6118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1-я зима — Lighthill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264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8264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3460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348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348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Перелом и взрыв (2012 — 2026)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6080" y="49834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75760" y="4892040"/>
            <a:ext cx="384048" cy="384048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525780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264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264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3460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9348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348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60720"/>
            <a:ext cx="11201400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833872"/>
            <a:ext cx="10835640" cy="813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900M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февраль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$244–390B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/ McKinsey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разброс по методологии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январь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Kimi K2.5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open multimodal
swarm mode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Moonshot AI (CN)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Где мы
как пользователи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 задание ·
карта семестра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— две оси: тип задачи × модальность.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928" y="1709928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2075688"/>
            <a:ext cx="1615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1709928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44240" y="2075688"/>
            <a:ext cx="1615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808" y="1709928"/>
            <a:ext cx="329184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59680" y="2075688"/>
            <a:ext cx="1615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248" y="1709928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2075688"/>
            <a:ext cx="1615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3688" y="1709928"/>
            <a:ext cx="329184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90560" y="2075688"/>
            <a:ext cx="1615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pic>
        <p:nvPicPr>
          <p:cNvPr id="14" name="Picture 13" descr="lucide-list-checks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49127" y="1709928"/>
            <a:ext cx="329184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05999" y="2075688"/>
            <a:ext cx="1615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Планиров.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6746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604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0462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7320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178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Код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4228" y="2468880"/>
            <a:ext cx="9144" cy="342900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39668" y="2468880"/>
            <a:ext cx="9144" cy="342900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55108" y="2468880"/>
            <a:ext cx="9144" cy="342900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0548" y="2468880"/>
            <a:ext cx="9144" cy="342900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85987" y="2468880"/>
            <a:ext cx="9144" cy="342900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01427" y="2468880"/>
            <a:ext cx="9144" cy="342900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16867" y="2468880"/>
            <a:ext cx="9144" cy="342900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28800" y="2464308"/>
            <a:ext cx="969264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28800" y="3150108"/>
            <a:ext cx="969264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28800" y="3835908"/>
            <a:ext cx="969264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28800" y="4521708"/>
            <a:ext cx="969264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0" y="5207508"/>
            <a:ext cx="969264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0" y="5893308"/>
            <a:ext cx="969264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883664" y="25420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20240" y="26654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83664" y="32278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20240" y="33512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83664" y="39136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20240" y="40370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83664" y="45994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0240" y="47228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83664" y="52852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20240" y="54086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CodeBERT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9104" y="25420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5680" y="26654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99104" y="32278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35680" y="33512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YOLO 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99104" y="39136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5680" y="40370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99104" y="45994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5680" y="47228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99104" y="52852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35680" y="54086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Snyk, Sonar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114544" y="25420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51120" y="26654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114544" y="32278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51120" y="33512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114544" y="39136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51120" y="40370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114544" y="45994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151120" y="47228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14544" y="52852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51120" y="54086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Copilot search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729983" y="25420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59" y="26654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729983" y="32278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66559" y="33512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29983" y="39136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66559" y="40370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729983" y="45994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66559" y="47228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729983" y="52852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59" y="54086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Cursor, Claude Code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45424" y="2674620"/>
            <a:ext cx="15057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45424" y="32278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81999" y="33512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frame predict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345424" y="39136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381999" y="40370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video forecast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345424" y="45994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381999" y="47228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45424" y="5417820"/>
            <a:ext cx="15057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60864" y="25420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997439" y="26654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ReAct, AutoGPT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60864" y="32278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997439" y="33512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visual nav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60864" y="4046220"/>
            <a:ext cx="15057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960864" y="45994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997439" y="47228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scheduling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60864" y="5285232"/>
            <a:ext cx="1505711" cy="539496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997439" y="5408676"/>
            <a:ext cx="14325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Devin, OpenClaw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02920" y="626364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5800" y="633679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← demo s01 (gold). Подход к обучению и архитектура — на лекции 2.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54480" y="1737360"/>
            <a:ext cx="67665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54480" y="3538728"/>
            <a:ext cx="67665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31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664207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54223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580644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580644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39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47345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915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9112" y="465063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Сам контролирует
каждый шаг</a:t>
            </a:r>
          </a:p>
        </p:txBody>
      </p:sp>
      <p:sp>
        <p:nvSpPr>
          <p:cNvPr id="17" name="Oval 16"/>
          <p:cNvSpPr/>
          <p:nvPr/>
        </p:nvSpPr>
        <p:spPr>
          <a:xfrm>
            <a:off x="45034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400050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Средний / средний</a:t>
            </a:r>
          </a:p>
        </p:txBody>
      </p:sp>
      <p:sp>
        <p:nvSpPr>
          <p:cNvPr id="20" name="Oval 19"/>
          <p:cNvSpPr/>
          <p:nvPr/>
        </p:nvSpPr>
        <p:spPr>
          <a:xfrm>
            <a:off x="653338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9048" y="2916936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Делегирует задачу,
разраб задаёт каркас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Inference: вход → препроцессинг → модель → постпроцессинг → выход.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18007" y="2011680"/>
            <a:ext cx="1828800" cy="14630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8007" y="2194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1159" y="2816352"/>
            <a:ext cx="1682496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92527" y="2542032"/>
            <a:ext cx="411480" cy="402336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9727" y="2011680"/>
            <a:ext cx="1828800" cy="14630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49727" y="2194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2879" y="2816352"/>
            <a:ext cx="1682496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24247" y="2542032"/>
            <a:ext cx="411480" cy="402336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81447" y="2011680"/>
            <a:ext cx="1828800" cy="14630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81447" y="2194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4599" y="2816352"/>
            <a:ext cx="1682496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55967" y="2542032"/>
            <a:ext cx="411480" cy="402336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13167" y="2011680"/>
            <a:ext cx="1828800" cy="14630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3167" y="2194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6319" y="2816352"/>
            <a:ext cx="1682496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387687" y="2542032"/>
            <a:ext cx="411480" cy="402336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44887" y="2011680"/>
            <a:ext cx="1828800" cy="14630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44887" y="2194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18039" y="2816352"/>
            <a:ext cx="1682496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007" y="3566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49727" y="3566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1447" y="3566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3167" y="3566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44887" y="3566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0887" y="4526280"/>
            <a:ext cx="2560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0887" y="47091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887" y="51206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
на изображениях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44087" y="4526280"/>
            <a:ext cx="2560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44087" y="47091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4087" y="51206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
речи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7287" y="4526280"/>
            <a:ext cx="2560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87287" y="47091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7287" y="51206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
изображений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30487" y="4526280"/>
            <a:ext cx="2560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30487" y="47091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30487" y="51206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
структур белков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YOLO = 50 строк; рабочая система с YOLO = сотни строк.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256032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2491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379476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95935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737360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810512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066544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256032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265176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94436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104388" y="2350008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1435608" y="285749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5001768" y="285749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0" y="2560320"/>
            <a:ext cx="2011680" cy="2011680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320040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61187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5001768" y="409194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4480" y="379476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37360" y="38862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17880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3" name="Left Arrow 22"/>
          <p:cNvSpPr/>
          <p:nvPr/>
        </p:nvSpPr>
        <p:spPr>
          <a:xfrm>
            <a:off x="1435608" y="409194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80" y="4800600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⋮  следующая итерация (история накапливается)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1737360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35240" y="1810512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60" y="352044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5240" y="359359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показать», а не магия.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= модель + интерфейс + память диалога.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59436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Кейс — типовой для чата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Инженер получил непонятное ТЗ от смежного отдела, нужно составить чек-лист своей работы.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47472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611879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Объясни пункт 4.2 ТЗ простыми словами.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Это требование к…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Составь чек-лист на 5 пунктов.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1. Проверить…  2. Согласовать…  3. 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Разовая задача с уточнениями — оптимально для чата. Не модель, не агент, не приложение.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59" y="1783080"/>
            <a:ext cx="4937760" cy="4114800"/>
          </a:xfrm>
          <a:prstGeom prst="roundRect">
            <a:avLst>
              <a:gd name="adj" fmla="val 74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79" y="20116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Disclaimer для прод-систем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79" y="2560320"/>
            <a:ext cx="4389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Чистые чаты почти не используются в production.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3566160"/>
            <a:ext cx="4389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Почти везде они расширены до агентов — хотя бы для долгосрочной памяти и поиска по корпоративной базе (RAG).
Архитектуру агента разберём на следующем слайде.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Возвращаемся к: где AI работает, а где — нет?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577840" y="2971800"/>
            <a:ext cx="2194560" cy="1463040"/>
          </a:xfrm>
          <a:prstGeom prst="roundRect">
            <a:avLst>
              <a:gd name="adj" fmla="val 20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0" y="31089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LLM /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0" y="36576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+ интерфейс
+ память диалога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600200"/>
            <a:ext cx="3200400" cy="914400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74920" y="16459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011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планирование • decision loop</a:t>
            </a:r>
          </a:p>
        </p:txBody>
      </p:sp>
      <p:sp>
        <p:nvSpPr>
          <p:cNvPr id="9" name="Oval 8"/>
          <p:cNvSpPr/>
          <p:nvPr/>
        </p:nvSpPr>
        <p:spPr>
          <a:xfrm>
            <a:off x="1005840" y="3063239"/>
            <a:ext cx="1280160" cy="128016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538727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31720" y="3429000"/>
            <a:ext cx="3200400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eft Arrow 12"/>
          <p:cNvSpPr/>
          <p:nvPr/>
        </p:nvSpPr>
        <p:spPr>
          <a:xfrm>
            <a:off x="2331720" y="3794759"/>
            <a:ext cx="3200400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91839" y="4800600"/>
            <a:ext cx="2194560" cy="1097280"/>
          </a:xfrm>
          <a:prstGeom prst="roundRect">
            <a:avLst>
              <a:gd name="adj" fmla="val 2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39" y="48920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ПАМЯТЬ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39" y="52578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4800600"/>
            <a:ext cx="2194560" cy="1097280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48920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ИНСТРУМЕНТЫ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52578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47688" y="2514600"/>
            <a:ext cx="54864" cy="41148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61688" y="4434840"/>
            <a:ext cx="54864" cy="3657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3688" y="4434840"/>
            <a:ext cx="54864" cy="3657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98932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Цикл (ReAct): plan → act → observe → reflect → continue / stop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0080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Yao et al. 2022 (arXiv:2210.03629)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50876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59" y="1673351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9" name="Oval 8"/>
          <p:cNvSpPr/>
          <p:nvPr/>
        </p:nvSpPr>
        <p:spPr>
          <a:xfrm>
            <a:off x="4754879" y="218541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18541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22199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222199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2221991"/>
            <a:ext cx="210312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file system</a:t>
            </a:r>
          </a:p>
        </p:txBody>
      </p:sp>
      <p:sp>
        <p:nvSpPr>
          <p:cNvPr id="14" name="Oval 13"/>
          <p:cNvSpPr/>
          <p:nvPr/>
        </p:nvSpPr>
        <p:spPr>
          <a:xfrm>
            <a:off x="4754879" y="271576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79" y="27157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75234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81160" y="275234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60" y="2752344"/>
            <a:ext cx="210312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PDF reader</a:t>
            </a:r>
          </a:p>
        </p:txBody>
      </p:sp>
      <p:sp>
        <p:nvSpPr>
          <p:cNvPr id="19" name="Oval 18"/>
          <p:cNvSpPr/>
          <p:nvPr/>
        </p:nvSpPr>
        <p:spPr>
          <a:xfrm>
            <a:off x="4754879" y="324612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79" y="32461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328269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328269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3282696"/>
            <a:ext cx="210312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text extraction (OCR / parser)</a:t>
            </a:r>
          </a:p>
        </p:txBody>
      </p:sp>
      <p:sp>
        <p:nvSpPr>
          <p:cNvPr id="24" name="Oval 23"/>
          <p:cNvSpPr/>
          <p:nvPr/>
        </p:nvSpPr>
        <p:spPr>
          <a:xfrm>
            <a:off x="4754879" y="3776472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79" y="37764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3813048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3813048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60" y="3813048"/>
            <a:ext cx="210312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embeddings + vector DB</a:t>
            </a:r>
          </a:p>
        </p:txBody>
      </p:sp>
      <p:sp>
        <p:nvSpPr>
          <p:cNvPr id="29" name="Oval 28"/>
          <p:cNvSpPr/>
          <p:nvPr/>
        </p:nvSpPr>
        <p:spPr>
          <a:xfrm>
            <a:off x="4754879" y="4306824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79" y="430682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4343400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81160" y="4343400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1160" y="4343400"/>
            <a:ext cx="210312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search + LLM extract</a:t>
            </a:r>
          </a:p>
        </p:txBody>
      </p:sp>
      <p:sp>
        <p:nvSpPr>
          <p:cNvPr id="34" name="Oval 33"/>
          <p:cNvSpPr/>
          <p:nvPr/>
        </p:nvSpPr>
        <p:spPr>
          <a:xfrm>
            <a:off x="4754879" y="483717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79" y="483717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487375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81160" y="487375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81160" y="4873752"/>
            <a:ext cx="210312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Sheets API / CSV writer</a:t>
            </a:r>
          </a:p>
        </p:txBody>
      </p:sp>
      <p:sp>
        <p:nvSpPr>
          <p:cNvPr id="39" name="Oval 38"/>
          <p:cNvSpPr/>
          <p:nvPr/>
        </p:nvSpPr>
        <p:spPr>
          <a:xfrm>
            <a:off x="4754879" y="536752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79" y="536752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540410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81160" y="540410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81160" y="5404103"/>
            <a:ext cx="210312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orchestrator loop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39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09320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5148072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1. 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4589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пользователь на каждом шаге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39" y="5148072"/>
            <a:ext cx="2606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7997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3484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2. Collaborator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74573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пара, ролями перетекая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4434840"/>
            <a:ext cx="2606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6674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21607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3. Consultant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3250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цель + план + правки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39" y="3721607"/>
            <a:ext cx="2606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5351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008376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4. Approver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31927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agent действует, gate на узлах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39" y="3008376"/>
            <a:ext cx="2606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agent собирает PR, ждёт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224028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2295144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5. Observer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060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полная автономия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39" y="2295144"/>
            <a:ext cx="2606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7959" y="150876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59" y="1691639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0840" y="2194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3720" y="2286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Human-in-the-loop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2578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20840" y="3154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3246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Human-on-the-loop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538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20840" y="4114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4206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Human-out-of-the-loop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4498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20840" y="507492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03720" y="516636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Override modes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545896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280160"/>
          </a:xfrm>
          <a:prstGeom prst="roundRect">
            <a:avLst>
              <a:gd name="adj" fmla="val 23809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20"/>
            <a:ext cx="10652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уникальных пользователей в месяц  ·  </a:t>
            </a:r>
            <a:r>
              <a:rPr sz="26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переведённых слов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across Google Translate, Search, Lens и Circle to Search (Google Blog, апрель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46120"/>
            <a:ext cx="37033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520439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4747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88620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246120"/>
            <a:ext cx="37033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520439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4747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88620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246120"/>
            <a:ext cx="37033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520439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4747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88620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17720"/>
            <a:ext cx="37033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89204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463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25780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17720"/>
            <a:ext cx="37033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89204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463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25780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17720"/>
            <a:ext cx="37033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89204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463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25780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Где мы
как пользователи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 задание ·
карта семестра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Consumer vs enterprise — куда уходят ваши данные.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5532120" cy="3200400"/>
          </a:xfrm>
          <a:prstGeom prst="roundRect">
            <a:avLst>
              <a:gd name="adj" fmla="val 952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3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train by default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74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 opt-in, 5 лет хранение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train + human review, 3 года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976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 политика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783080"/>
            <a:ext cx="5532120" cy="3200400"/>
          </a:xfrm>
          <a:prstGeom prst="roundRect">
            <a:avLst>
              <a:gd name="adj" fmla="val 9523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96596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ENTERPRISE /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79" y="306323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 no training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3474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 no training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38862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 Zero Data Retention доступен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2976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 no training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166360"/>
            <a:ext cx="68580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25780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Samsung 2023 — канонический инцидент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66928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5166360"/>
            <a:ext cx="4053535" cy="11887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525780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566928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598932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prohibited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Галлюцинации: AI уверенно генерирует несуществующие DOI.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Bias / sycophancy / distribution shift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201168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Bias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201168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Sycophancy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RLHF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201168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Distribution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GPT-4o sycophancy — апрель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rollback (Altman в Twitter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postmortem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«50% к концу декады; нужны прорывы в continual learning» (TIME100,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Ни один из 4 спикеров не занимает нейтрально-научной позиции.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задание к семинару 1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Где мы
как пользователи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 задание ·
карта семестра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 + задание к семинару 1.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783080"/>
            <a:ext cx="370332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196596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05740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063239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1783080"/>
            <a:ext cx="370332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196596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05740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063239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1783080"/>
            <a:ext cx="370332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196596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05740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063239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54880"/>
            <a:ext cx="11201400" cy="15087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9204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К СЕМИНАРУ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5780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Принесите свой AI-инструмент → пропустите через 2-вопросный квадрант → одностраничный разбор.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Любой формат (текст / схема / таблица). Тема семинара — «Какой тип AI выбрать».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 × 3 модуля.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3902228" cy="4434840"/>
          </a:xfrm>
          <a:prstGeom prst="roundRect">
            <a:avLst>
              <a:gd name="adj" fmla="val 7810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902228" cy="7772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764792"/>
            <a:ext cx="39022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57400"/>
            <a:ext cx="37193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36736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44952"/>
            <a:ext cx="36736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 Большие модели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38144"/>
            <a:ext cx="36736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31336"/>
            <a:ext cx="36736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4.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24528"/>
            <a:ext cx="36736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5.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17720"/>
            <a:ext cx="36736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7. Медицина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50868" y="1691640"/>
            <a:ext cx="3244237" cy="4434840"/>
          </a:xfrm>
          <a:prstGeom prst="roundRect">
            <a:avLst>
              <a:gd name="adj" fmla="val 9395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50868" y="1691640"/>
            <a:ext cx="3244237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0868" y="1764792"/>
            <a:ext cx="324423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2308" y="2057400"/>
            <a:ext cx="306135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Высокотехнологичные
отрасли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8028" y="2651760"/>
            <a:ext cx="301563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6. Инж. проект.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8028" y="3044952"/>
            <a:ext cx="301563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9. Авиакосмос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8028" y="3438144"/>
            <a:ext cx="301563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10. Сельское хоз-во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8028" y="3831336"/>
            <a:ext cx="301563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11. Производство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8028" y="4224528"/>
            <a:ext cx="301563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12. Цифровые двойники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40826" y="1691640"/>
            <a:ext cx="3902228" cy="4434840"/>
          </a:xfrm>
          <a:prstGeom prst="roundRect">
            <a:avLst>
              <a:gd name="adj" fmla="val 7810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0826" y="1691640"/>
            <a:ext cx="3902228" cy="7772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0826" y="1764792"/>
            <a:ext cx="39022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32266" y="2057400"/>
            <a:ext cx="37193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Креатив, ИКТ,
наука, 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77986" y="2651760"/>
            <a:ext cx="36736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8. Креативные ◆РК1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77986" y="3044952"/>
            <a:ext cx="36736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13. Логистика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77986" y="3438144"/>
            <a:ext cx="36736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14. Телеком + cybersec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77986" y="3831336"/>
            <a:ext cx="36736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15. Наука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77986" y="4224528"/>
            <a:ext cx="36736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16. Нефтегаз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77986" y="4617720"/>
            <a:ext cx="36736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17. Синтез ◆РК3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26364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(РК1 на С8, РК2 на С12, РК3 — итоговый — на С17).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737360"/>
            <a:ext cx="11201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21295C"/>
                </a:solidFill>
                <a:latin typeface="Arial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62179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контакты лектора — заполняется перед лекцией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