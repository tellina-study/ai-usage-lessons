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 вы видите простой эксперимент: ноутбук с веб-камерой через проектор показывает изображение зала, а небольшая программа в реальном времени обводит каждого присутствующего рамкой и считает людей в кадре. Под капотом — модель YOLOv8 от Ultralytics, опубликованная в 2023 году. Она обучена на стандартном датасете COCO и распознаёт 80 классов объектов; для нас сейчас важен только класс «person».</a:t>
            </a:r>
          </a:p>
          <a:p/>
          <a:p>
            <a:r>
              <a:t>У этой демонстрации три значимых свойства, которые формируют один из главных тезисов лекции. Во-первых, модель работает локально — на CPU обычного ноутбука, без видеокарты и без обращения к облачным серверам. Во-вторых, скорость составляет около 30 кадров в секунду, что достаточно для реального времени на видеопотоке. В-третьих, никакого интернета: камера, модель и проектор — три компонента в одной комнате, никакие изображения никуда не передаются.</a:t>
            </a:r>
          </a:p>
          <a:p/>
          <a:p>
            <a:r>
              <a:t>Это пример того, что в литературе называют narrow AI — система, обученная на одной чётко поставленной задаче и больше ничего не умеющая. Та же модель не сможет вести с вами беседу, не напишет код, не предложит маркетинговую стратегию. Зато на своей единственной задаче она работает быстро и предсказуемо. Сегодня мы увидим, что таких систем в инженерной практике большинство, и что выбирать тип AI под задачу — отдельный навык, который мы будем тренировать весь курс.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вводная лекция курса «AI в разных отраслях». За 75 минут мы построим общую карту: что такое AI как класс технологий, в каком состоянии он находится в 2026 году, какие способы реализации систем с AI существуют в инженерной практике, и где у этих систем границы.</a:t>
            </a:r>
          </a:p>
          <a:p/>
          <a:p>
            <a:r>
              <a:t>Лекция называется «AI вокруг нас» — потому что к 2026 году AI перестал быть отдельным продуктом и стал инфраструктурным слоем, который незаметно работает в десятках сервисов, которыми вы пользуетесь каждый день. Голосовой ввод в смартфоне, навигация по пробкам, разблокировка лица, фильтр спама в почте, рекомендации в музыкальном сервисе, автодополнение в браузере — всё это AI, который большинство пользователей перестали воспринимать как AI.</a:t>
            </a:r>
          </a:p>
          <a:p/>
          <a:p>
            <a:r>
              <a:t>Цель лекции — не познакомить вас со всеми возможными AI-инструментами (это технически невозможно, рынок меняется быстрее, чем выходят учебники), а дать рабочий язык: чем модель отличается от чата, чем чат — от агента, и как за тридцать секунд понять, какой тип AI подходит под конкретную задачу. К концу лекции у вас будет простой инструмент — два диагностических вопроса плюс квадрант — который мы дальше будем применять во всех остальных лекциях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двигаться дальше — короткая навигация. Лекция состоит из пяти разделов, последовательно отвечающих на пять разных вопросов.</a:t>
            </a:r>
          </a:p>
          <a:p/>
          <a:p>
            <a:r>
              <a:t>Раздел 0, в котором мы сейчас, — открытие и опрос: сколько вы пользуетесь AI и какими инструментами. Затем краткое представление преподавателя и центральный вопрос курса.</a:t>
            </a:r>
          </a:p>
          <a:p/>
          <a:p>
            <a:r>
              <a:t>Раздел 1 — что такое AI и почему определений много. Здесь же пройдёмся по 70-летней истории дисциплины и зафиксируем ключевую точку перелома 2017 года.</a:t>
            </a:r>
          </a:p>
          <a:p/>
          <a:p>
            <a:r>
              <a:t>Раздел 2 — где мы сейчас, в 2022–2026 годах. Цифры проникновения AI в мире и в России, учебный момент про две методологии измерения, и обзор четырёх прорывов от не-первых игроков.</a:t>
            </a:r>
          </a:p>
          <a:p/>
          <a:p>
            <a:r>
              <a:t>Раздел 3 — самый большой, 23 минуты. Четыре способа реализации систем с AI: модель, чат, агент, приложение. Разберём каждый со схемой и примером, а в финале раздела получим практический инструмент выбора типа AI.</a:t>
            </a:r>
          </a:p>
          <a:p/>
          <a:p>
            <a:r>
              <a:t>Раздел 4 — границы и безопасность. Куда уходят данные, что такое галлюцинации, три проявления подстраивания модели под данные, и концептуальные границы AI как класса технологий.</a:t>
            </a:r>
          </a:p>
          <a:p/>
          <a:p>
            <a:r>
              <a:t>Раздел 5 — заключение, задание к семинару и анонс лекции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мы перейдём к статистике, я хочу зафиксировать вашу собственную оценку. Это важная учебная процедура: когда вы сначала формулируете предположение, а потом видите реальные цифры, вы сразу замечаете, в какую сторону у вас систематическое смещение. Это знание про себя — полезный побочный эффект сегодняшней лекции.</a:t>
            </a:r>
          </a:p>
          <a:p/>
          <a:p>
            <a:r>
              <a:t>Два вопроса. Первый — короткий: как часто вы используете AI? Один ответ на выбор. От «никогда» до «каждый день». Поднимите руку или отметьте в чате — увидим распределение.</a:t>
            </a:r>
          </a:p>
          <a:p/>
          <a:p>
            <a:r>
              <a:t>Второй вопрос — какими конкретно AI-инструментами вы пользовались хотя бы раз? Здесь можно отметить несколько вариантов: ChatGPT, YandexGPT, DeepSeek, GigaChat, Шедеврум, Claude, Gemini, или, если не пользовались никогда, последний вариант. Это многовариантный опрос — обратите внимание на это слово, потому что через минуту мы увидим, как одна и та же методология «multi-select» приводит к интересному результату на национальной статистике.</a:t>
            </a:r>
          </a:p>
          <a:p/>
          <a:p>
            <a:r>
              <a:t>Ваши оценки запоминаем — на следующем слайде сравним с тем, что показывают независимые 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данные ВЦИОМ-Онлайн от 13–15 декабря 2025 года, опрос 3239 российских интернет-пользователей старше 18. Пятьдесят один процент пользуются AI-инструментами раз в неделю и чаще. Это не «когда-нибудь пробовали», это регулярные пользователи. Если ваша группа сильно отличается от половины — это нормальный для технического вуза перекос.</a:t>
            </a:r>
          </a:p>
          <a:p/>
          <a:p>
            <a:r>
              <a:t>Справа — другой опрос ВЦИОМ, октябрь 2025, n=1600. Распределение по конкретным инструментам среди тех, кто пользовался AI: ChatGPT — 27, YandexGPT — 23, DeepSeek — 20, GigaChat — 15, Шедеврум — 11. Это многовариантный опрос: респонденты могли отметить несколько вариантов. Поэтому сумма больше ста, и эти цифры не «доли рынка», а «доля среди опрошенных, признавшихся в использовании каждого инструмента».</a:t>
            </a:r>
          </a:p>
          <a:p/>
          <a:p>
            <a:r>
              <a:t>Теперь учебный момент. По DeepSeek в России в публичном пространстве циркулируют два разных числа. ВЦИОМ — 20 процентов. Microsoft Threat Intelligence в отчёте «Global AI adoption in 2025» от января 2026 года — 43 процента. Разница в два раза. Какая цифра правильная? Обе. Они измеряют разное. ВЦИОМ — это самоотчёт: социолог звонит и спрашивает, и в опросах люди систематически занижают использование непрестижных или малознакомых инструментов. Microsoft измеряет фактическую телеметрию: подключения и запросы к API DeepSeek с устройств в России, нормированные на общий AI-трафик страны. Самоотчёт даёт нижнюю оценку, телеметрия — верхнюю.</a:t>
            </a:r>
          </a:p>
          <a:p/>
          <a:p>
            <a:r>
              <a:t>Практический урок инженеру: прежде чем сравнивать AI-цифры, сравните методологии. Эта дисциплина пригодится не только в DeepSeek-кейсе.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Короткое представление. Я — [имя], работаю в области [сфера], и сейчас занимаюсь [актуальная тема]. С AI работаю [сколько лет] — застал и хайповые волны, и зимы, и реальные внедрения, которые работают, и реальные внедрения, которые не работают.</a:t>
            </a:r>
          </a:p>
          <a:p/>
          <a:p>
            <a:r>
              <a:t>Эта лекция и весь курс — попытка дать вам карту, которой у меня самого не было, когда я только начинал. Мы будем разбирать конкретные инженерные решения, не общие декларации, и внимание к границам — там, где AI ломается, — у нас будет таким же подробным, как и к успешным кейсам.</a:t>
            </a:r>
          </a:p>
          <a:p/>
          <a:p>
            <a:r>
              <a:t>Если в течение курса у вас возникнут вопросы вне формата лекции — связаться можно по [контакт]. Чем раньше задаёте — тем полезнее ответ. Не копите вопросы до конца семестра.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«можно ли AI» в 2026 году уже неинтересен — можно. Девятьсот миллионов человек пользуются ChatGPT каждую неделю, половина разработчиков — каждый день. Это уже не «надо ли начинать», это уже инфраструктура, на которой работают другие продукты.</a:t>
            </a:r>
          </a:p>
          <a:p/>
          <a:p>
            <a:r>
              <a:t>А вот вопрос «нужно ли и где» — открытый. По сводным данным деловых изданий, около девяноста процентов корпоративных AI-пилотов в России не доходят до полноценного промышленного развёртывания: тридцать-сорок процентов закрываются без эффекта, лишь семь-десять процентов доходят до production. Это не уникальная для России проблема — McKinsey и Gartner регулярно публикуют похожие цифры по другим рынкам. Корпоративные AI-проекты повсеместно сталкиваются с разрывом между демонстрационной готовностью и продакшн-надёжностью.</a:t>
            </a:r>
          </a:p>
          <a:p/>
          <a:p>
            <a:r>
              <a:t>Это сочетание — массовое распространение и массовый провал — формирует центральную инженерную задачу курса. Главный вопрос звучит так: где AI работает, где не работает, и как заранее это понять. Это диагностический вопрос, не триумфальный. Курс не обещает рецепт успеха за семестр; он даёт способ отличать применения, в которых AI уместен, от применений, в которых он создаёт иллюзию решения. От этого различения зависят бюджет, время, надёжность системы и иногда — безопасность людей.</a:t>
            </a:r>
          </a:p>
          <a:p/>
          <a:p>
            <a:r>
              <a:t>К этому центральному вопросу мы будем возвращаться каждую лекцию. Сегодняшняя задача — построить его развёрнутую версию: какие есть способы реализации систем с AI, какие у этих систем границы, и какой простой инструмент позволяет сделать первый осмысленный выбор.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Любой студент, начавший читать литературу по AI, быстро обнаруживает, что одного канонического определения у предмета нет. Это не недоработка авторов учебников и не пробел в стандартизации — это отражение природы предмета. Прежде чем переходить к практическим типам систем, важно зафиксировать, какие определения сосуществуют в литературе и почему они не противоречат, а дополняют друг друга.</a:t>
            </a:r>
          </a:p>
          <a:p/>
          <a:p>
            <a:r>
              <a:t>Подход первый — Russell и Norvig в каноническом учебнике AIMA предлагают разложить определения AI по матрице: думание против действия, человекоподобно против рационально. Сами авторы склоняются к четвёртой клетке — «действующий рационально», потому что она не требует решать философский вопрос, что такое мышление.</a:t>
            </a:r>
          </a:p>
          <a:p/>
          <a:p>
            <a:r>
              <a:t>Подход второй — международный стандарт ISO/IEC 22989, на который опирается европейская регуляторика. Определение через возможности и через источник целей: AI-система генерирует выходы для целей, заданных человеком.</a:t>
            </a:r>
          </a:p>
          <a:p/>
          <a:p>
            <a:r>
              <a:t>Подход третий — функциональный, через обучение. Программа улучшает поведение на задаче с метрикой за счёт опыта. Это инженерный критерий: если поведение системы можно полностью описать правилами «если — то», это не AI; если поведение возникает из обученной модели — это AI, даже если модель проста.</a:t>
            </a:r>
          </a:p>
          <a:p/>
          <a:p>
            <a:r>
              <a:t>Подход четвёртый — через сравнение с человеком и через бенчмарки. Породил линию тестов от шахмат до ARC-AGI. Классическое возражение — Chinese Room Сёрла: бенчмарк-эквивалентность не означает понимания.</a:t>
            </a:r>
          </a:p>
          <a:p/>
          <a:p>
            <a:r>
              <a:t>И главное — AI Effect, описанный Памелой Маккордак: как только техника начинает работать, её перестают называть AI. Распознавание речи, навигация по пробкам, разблокировка лица — всё это в момент появления было AI, а сейчас называется просто функцией приложения. Поэтому определение AI всё время сдвигается: как только задача решена и встроена в продукт, она остывает до уровня обыденной техники.</a:t>
            </a:r>
          </a:p>
          <a:p/>
          <a:p>
            <a:r>
              <a:t>В курсе мы будем явно называть, какое из четырёх определений работает в каждой ситуации. Главное — не выбирать одно как «правильное».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AI как инженерной дисциплины — около семидесяти лет. Чтобы двадцать фактоидов не сливались, разделим хронологию на три тематические группы.</a:t>
            </a:r>
          </a:p>
          <a:p/>
          <a:p>
            <a:r>
              <a:t>Первая группа — открытия и первая практика, с пятидесятых до восьмидесятых. В пятидесятом году Тьюринг публикует «Imitation Game». В пятьдесят шестом — Дартмутская конференция, где Маккарти, Мински, Рочестер и Шеннон вводят сам термин «artificial intelligence». В шестьдесят шестом — Вайценбаум создаёт ELIZA, простую программу-психотерапевта, и обнаруживает, что пользователи приписывают ей понимание. В восьмидесятые — коммерческий бум экспертных систем: рулбейзед-системы XCON, MYCIN, японский проект «Пятого поколения».</a:t>
            </a:r>
          </a:p>
          <a:p/>
          <a:p>
            <a:r>
              <a:t>Вторая группа — зимы и прорывы, с семидесятых до начала десятых. Первая зима после доклада Лайтхилла британскому правительству и сокращения финансирования DARPA. Вторая — обрушение рынка специализированных AI-машин Symbolics в конце восьмидесятых. И прорывы между зимами: в девяносто седьмом Deep Blue от IBM побеждает Каспарова, оценивая двести миллионов позиций в секунду. В двенадцатом — AlexNet выигрывает ImageNet, доказывая, что глубокие свёрточные сети, обученные на GPU, бьют ручные признаки.</a:t>
            </a:r>
          </a:p>
          <a:p/>
          <a:p>
            <a:r>
              <a:t>Третья группа — точка перелома и взрыв. В семнадцатом году Васвани и семь соавторов публикуют «Attention Is All You Need», вводя архитектуру Трансформера. На май две тысячи двадцать шестого статья имеет более ста шестидесяти тысяч цитирований Google Scholar. В двадцать втором — OpenAI запускает ChatGPT; миллион пользователей за пять дней. В двадцать четвёртом — двадцать шестом — взрывной рост reasoning-моделей и агентских систем.</a:t>
            </a:r>
          </a:p>
          <a:p/>
          <a:p>
            <a:r>
              <a:t>Две зимы важны как методологический урок. Когда обещания массово не сбываются, поле теряет ресурсы. Сегодняшняя волна — четвёртая в истории AI. Пока избегает зимы за счёт того, что часть обещаний действительно сбывается. Но история учит: не все сбудутся, и инженер должен уметь различать то, что работает уже сейчас, от того, что обещано на тридцатый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 двадцать шестому году AI перестал быть отдельным продуктом и стал инфраструктурным слоем, на котором работают другие продукты. Несколько показательных цифр.</a:t>
            </a:r>
          </a:p>
          <a:p/>
          <a:p>
            <a:r>
              <a:t>ChatGPT по состоянию на февраль 2026 имеет около девятисот миллионов еженедельно активных пользователей. Это weekly active users, не monthly: цифры месячной активности существенно выше. GitHub Copilot имеет более двадцати миллионов пользователей; у тех, кто им регулярно пользуется, до сорока шести процентов кода написано AI, для языка Java — шестьдесят один процент.</a:t>
            </a:r>
          </a:p>
          <a:p/>
          <a:p>
            <a:r>
              <a:t>Stack Overflow Developer Survey 2025, выборка сорок девять тысяч с лишним респондентов из ста семидесяти семи стран, показывает: восемьдесят четыре процента разработчиков используют или планируют использовать AI-инструменты в работе. Пятьдесят один процент профессиональных разработчиков работают с AI ежедневно. И одновременно сорок шесть процентов не доверяют точности AI-ответов на вопросы по коду — против тридцати одного процента годом ранее.</a:t>
            </a:r>
          </a:p>
          <a:p/>
          <a:p>
            <a:r>
              <a:t>Важная оговорка про доверие. Эти две цифры — пятьдесят один процент ежедневных пользователей и сорок шесть процентов недоверчивых — на первый взгляд кажутся противоречивыми. На самом деле они согласованы: общий тренд — рост проникновения, а точечная оценка точности кода стала критичнее, потому что разработчики накопили опыт работы с AI и научились видеть, где он ошибается. Это не «доверие падает», это «доверие становится более нюансированным». Дисциплина проверки — желательное поведение.</a:t>
            </a:r>
          </a:p>
          <a:p/>
          <a:p>
            <a:r>
              <a:t>Объём рынка — диапазон 244–390 миллиардов долларов. Разброс отражает методологию: что считать AI-рынком — продажи моделей, инфраструктуру, embedded-AI, услуги интеграции.</a:t>
            </a:r>
          </a:p>
          <a:p/>
          <a:p>
            <a:r>
              <a:t>И параллельно — контр-факт. По сводным данным деловых изданий, около девяноста процентов AI-пилотов в России не доходят до полноценного промышленного развёртывания — оценка построена на выборке примерно из пятидесяти крупнейших российских организаций по данным CNews, Vedomosti и Intellectual Analytics за март две тысячи двадцать шестого года. Это не репрезентативная выборка по всей экономике; это срез по крупным игрокам, где AI-пилоты лучше всего задокументированы. Тем не менее, сочетание массового внедрения и массового провала формирует центральную инженерную задачу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Глядя на цифры из предыдущего слайда, легко решить, что всё уже сделано: лидируют OpenAI, Google, Anthropic — крупнейшие игроки с многомиллиардными бюджетами. Это впечатление обманчиво. За последние три года в поле AI было несколько громких событий, каждое из которых показывает: пространство возможностей открыто, и серьёзные прорывы делают не только первые игроки.</a:t>
            </a:r>
          </a:p>
          <a:p/>
          <a:p>
            <a:r>
              <a:t>Эпизод первый — Mistral 7B, сентябрь двадцать третьего года. Французская лаборатория Mistral AI, основанная в начале того же года выходцами из Meta и Google DeepMind, выпустила модель под лицензией Apache 2.0 — без ограничений на коммерческое использование. По бенчмаркам Mistral 7B превзошёл Llama-2 13B, модель почти вдвое большего размера. Урок: небольшая европейская команда может выпустить модель уровня крупных игроков за несколько месяцев от основания компании.</a:t>
            </a:r>
          </a:p>
          <a:p/>
          <a:p>
            <a:r>
              <a:t>Эпизод второй — DeepSeek R1, январь двадцать пятого. Китайская лаборатория выпустила reasoning-модель уровня OpenAI o1: девяносто семь и три процента на бенчмарке MATH-500 против девяносто шести и четырёх у o1. Опубликованная стоимость одного финального тренировочного прогона V3 — около пяти и шести миллионов долларов, на порядки меньше западных оценок. Полная стоимость инфраструктуры по оценке SemiAnalysis — один и три–один и шесть миллиарда. Это разные числа: marginal training run и полная инфраструктура. Двадцать седьмого января рынок отреагировал — капитализация Nvidia упала на пятьсот восемьдесят девять миллиардов долларов за один день, крупнейшая single-day потеря капитализации в истории.</a:t>
            </a:r>
          </a:p>
          <a:p/>
          <a:p>
            <a:r>
              <a:t>Эпизод третий — OpenClaw, ноябрь двадцать пятого. Питер Стейнбергер, известный по Mac-разработке, в одиночку запустил open-source автономного AI-агента. Проект сменил несколько имён — Clawdbot, Moltbot — и закрепился как OpenClaw. К началу двадцать шестого года проект собрал больше ста тысяч звёзд на GitHub (из них шестьдесят тысяч за первые семьдесят два часа). Поддерживает интеграции с двадцатью двумя мессенджер-каналами и сотней AgentSkills. Четырнадцатого февраля двадцать шестого Стейнбергер ушёл в OpenAI, проект перешёл в non-profit foundation. Урок: один человек с правильным концептом может создать инфраструктуру, которой пользуются десятки тысяч.</a:t>
            </a:r>
          </a:p>
          <a:p/>
          <a:p>
            <a:r>
              <a:t>Эпизод четвёртый — Kimi K2.5, январь двадцать шестого. Китайская лаборатория Moonshot AI выпустила open-source multimodal-модель со swarm mode — возможностью направлять до ста sub-agents параллельно. Это демонстрация следующего поколения опенсорсных агентских систем: уже не один агент с инструментами, а целый рой, координируемый через единый интерфейс. Урок: пространство архитектурных идей продолжает открываться — за пределами вертикальных лидеров.</a:t>
            </a:r>
          </a:p>
          <a:p/>
          <a:p>
            <a:r>
              <a:t>Не отчаивайтесь. Курс готовит вас к работе с устойчивыми инженерными концептами, которые переживают смену поколений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разобрались, что такое AI и где мы сейчас. Дальше — самый большой раздел лекции, двадцать три минуты. Четыре способа реализации систем с AI: модель, чат, агент, приложение.</a:t>
            </a:r>
          </a:p>
          <a:p/>
          <a:p>
            <a:r>
              <a:t>Структура раздела: сначала общая слоистая модель и классификатор «задача × модальность». Затем сравнение трёх способов через квадрант контроля. Затем — детальный разбор каждого типа со схемой и примером. И в финале — практический инструмент: два диагностических вопроса плюс квадрант, который вы будете применять на семинаре.</a:t>
            </a:r>
          </a:p>
          <a:p/>
          <a:p>
            <a:r>
              <a:t>Главная идея, которую держим в голове весь раздел: эти четыре типа — не альтернативы, а слои. Каждый следующий включает предыдущий и добавляет новые компоненты.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разбирать каждый из четырёх типов реализаций, важно зафиксировать ключевую идею: это не четыре альтернативные технологии, а четыре способа реализации одной и той же задачи со слоистой структурой. Каждый следующий уровень включает предыдущий и добавляет новые компоненты.</a:t>
            </a:r>
          </a:p>
          <a:p/>
          <a:p>
            <a:r>
              <a:t>Модель — самый базовый слой. Stateless-инференс на одной задаче. На вход данные, на выход предсказание. Без интерфейса, без памяти, без инструментов.</a:t>
            </a:r>
          </a:p>
          <a:p/>
          <a:p>
            <a:r>
              <a:t>Чат — следующий слой. Та же модель, но обёрнутая в текстовый интерфейс с памятью диалога в пределах сессии. Пользователь пишет сообщение, история обоих сообщений включается в контекст следующего обращения.</a:t>
            </a:r>
          </a:p>
          <a:p/>
          <a:p>
            <a:r>
              <a:t>Агент — ещё один слой. К чату добавляется возможность вызывать внешние инструменты — поиск, файловую систему, API, выполнение кода — и логика планирования последовательности действий.</a:t>
            </a:r>
          </a:p>
          <a:p/>
          <a:p>
            <a:r>
              <a:t>Приложение — внешний слой. Снаружи это обычный продукт со своими формами, кнопками, интеграциями. AI работает внутри как один из компонентов. Пользователь не пишет промпты, не общается с моделью напрямую.</a:t>
            </a:r>
          </a:p>
          <a:p/>
          <a:p>
            <a:r>
              <a:t>Эта вложенность важна потому, что многие практические недоразумения возникают из попытки выбрать между уровнями, как будто это альтернативы. На самом деле каждое следующее обёртывание — это инженерное решение, добавляющее способности и одновременно сложность, стоимость, потенциал ошибок. Чем выше уровень обвязки, тем больше места для багов между AI-компонентом и его окружением.</a:t>
            </a:r>
          </a:p>
          <a:p/>
          <a:p>
            <a:r>
              <a:t>В курсе мы будем многократно возвращаться к этой слоистой модели. Когда мы разбираем YOLO-детектор на конвейере, мы остаёмся на уровне модели. Когда мы используем ChatGPT для аналитики — на уровне чата. Когда строим агента, читающего двести PDF — на уровне агента. Когда говорим про Notion AI или YandexGPT в Поиске — про приложения, в которых AI лишь один из компонентов.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Чтобы говорить о конкретных AI-инструментах общим языком, нам нужна простая классификация. В курсе мы используем две оси: тип задачи и модальность. Этих двух осей достаточно, чтобы расположить любой AI-инструмент, с которым мы будем работать в дальнейших лекциях. Более глубокая техническая классификация — по подходу к обучению и архитектуре нейросети — для нашего курса не основная цель этой лекции; глубже мы возвращаемся к этим темам на лекции 2.</a:t>
            </a:r>
          </a:p>
          <a:p/>
          <a:p>
            <a:r>
              <a:t>Ось «тип задачи» — что система производит на выходе. Классификация — поставить метку из конечного множества: спам или не спам, дефект или не дефект. Распознавание — обнаружить и идентифицировать что-то во входе: лица, речь, символы. Поиск — найти и отранжировать релевантные элементы: по корпоративной базе знаний, по фотографии. Генерация — создать новое содержимое: текст, изображение, аудио, код. Прогноз — предсказать число или последовательность: спрос, отказ оборудования, цену акции. Планирование — построить последовательность действий для достижения цели: маршрут, расписание.</a:t>
            </a:r>
          </a:p>
          <a:p/>
          <a:p>
            <a:r>
              <a:t>Ось «модальность» — с каким типом данных работает система. Текст. Изображение — фотографии, рентгеновские снимки, кадры конвейерной камеры. Звук — речь, музыка, индустриальный шум. Видео — последовательность изображений, часто плюс звук. Структурированные данные — таблицы, временные ряды, графы, базы. Код — частный случай текста, но с особенностями. Мультимодальные комбинации — текст плюс изображение, текст плюс аудио плюс видео.</a:t>
            </a:r>
          </a:p>
          <a:p/>
          <a:p>
            <a:r>
              <a:t>Возьмём три примера, чтобы зафиксировать. Google Translate — задача генерация, модальность текст. AlphaFold — задача прогноз, модальность структурированные данные. YOLO, который вы видели в начале лекции — задача распознавание, модальность изображение.</a:t>
            </a:r>
          </a:p>
          <a:p/>
          <a:p>
            <a:r>
              <a:t>Эта простая таблица предотвращает смешение разных по природе систем под общим маркетинговым ярлыком «AI». Когда дальше в разделе мы будем разбирать типы реализаций, мы будем спрашивать: какая задача и какая модальность.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Одну и ту же задачу можно решить тремя разными способами реализации, и каждый из них по-разному распределяет контроль между разработчиком и пользователем. Чем больше пользователь делегирует AI решение задачи, тем больше нужен жёсткий каркас от разработчика — поэтому Агент окажется в правом верхнем углу квадранта.</a:t>
            </a:r>
          </a:p>
          <a:p/>
          <a:p>
            <a:r>
              <a:t>Возьмём задачу: извлечь поля из входящего PDF-договора и положить в таблицу. Дата подписания, контрагент, сумма, срок действия. Пять-шесть полей.</a:t>
            </a:r>
          </a:p>
          <a:p/>
          <a:p>
            <a:r>
              <a:t>Способ первый — модель. Берёте предобученную или тонко настроенную модель извлечения структурированных полей из документов, например DocVQA или специализированную nougat-style модель. Пользователь сам интегрирует API: сам передаёт PDF, сам получает JSON, сам кладёт в свою таблицу. Делегирование от пользователя низкое — он сам контролирует каждый шаг. Контроль разработчика тоже низкий — модель это сырой inference-эндпоинт без оркестрации, без guard rails, без инструментов. Это левый нижний угол квадранта: низкое делегирование по горизонтали, низкий контроль разработчика по вертикали.</a:t>
            </a:r>
          </a:p>
          <a:p/>
          <a:p>
            <a:r>
              <a:t>Способ второй — чат. Открываете ChatGPT или YandexGPT, прикладываете PDF, пишете «извлеки следующие поля и верни в виде таблицы». Пользователь делегирует задачу словами и может уточнять, но он работает в рамках продукта — средняя степень делегирования. Разработчик задал системный промпт, базовые ограничения, контекстное окно — средний контроль с его стороны. Это центр квадранта.</a:t>
            </a:r>
          </a:p>
          <a:p/>
          <a:p>
            <a:r>
              <a:t>Способ третий — агент. Пользователь говорит «сделай эту задачу» и одобряет ключевые узлы — высокая степень делегирования, пользователь не управляет промежуточными шагами. Разработчик собрал агента: оркестратор планирует шаги, инструменты — открыть PDF, прогнать OCR, выделить поля, записать в таблицу, у агента есть память между шагами и возможность делать несколько вызовов. Высокий контроль разработчика — он спроектировал весь decision loop, список tools, guard rails и system prompt. Это правый верхний угол квадранта: высокое делегирование по горизонтали, высокий контроль разработчика по вертикали.</a:t>
            </a:r>
          </a:p>
          <a:p/>
          <a:p>
            <a:r>
              <a:t>Два пустых угла объясняют, почему расположение неслучайно. Левый верхний (высокий контроль разработчика, но пользователь не делегирует) — нет смысла: зачем строить оркестратор, если пользователь сам всё решает по шагам. Правый нижний (полное делегирование без guard rails) — опасная зона: пользователь отдал задачу AI, а разработчик не предусмотрел рамок. Поэтому диагональ снизу-слева вверх-направо — естественная траектория: больше делегирования требует больше каркаса.</a:t>
            </a:r>
          </a:p>
          <a:p/>
          <a:p>
            <a:r>
              <a:t>Это распределение контроля — не достоинство одного способа над другим. Это инженерное решение: где должен лежать контроль для конкретного сценария. Если важна гибкость пользователя — модель. Если задача типовая, но требует уточнений — чат. Если поток большой и нужна автоматизация — агент. На семинаре будем тренировать этот выбор.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в нашей терминологии — это обученная нейросеть или другой ML-алгоритм, которая принимает вход определённого типа и возвращает выход. У неё нет ни состояния между вызовами, ни доступа к внешним инструментам, ни диалога с пользователем. С точки зрения инженерной интеграции это самый простой компонент: вызов модели — это функция, и она ведёт себя как функция.</a:t>
            </a:r>
          </a:p>
          <a:p/>
          <a:p>
            <a:r>
              <a:t>Очень важная деталь, которую часто упускают: модель — это не самостоятельная система, а компонент. На production вокруг модели всегда стоит обвязка из препроцессинга и постпроцессинга. Схематично: сырой вход — например, кадр с камеры, текст или аудио — проходит через препроцессинг (ресайз, нормализацию, токенизацию), затем через инференс модели, затем через постпроцессинг (фильтрация, форматирование, упаковка bounding box, softmax), и только тогда получается выход для приложения.</a:t>
            </a:r>
          </a:p>
          <a:p/>
          <a:p>
            <a:r>
              <a:t>За препроцессинг и постпроцессинг отвечает разработчик системы, не сама модель. Это не оговорка — это критически важно для оценки бюджета и сложности AI-проекта. YOLO-детектор сам по себе занимает условные пятьдесят строк кода, но рабочая система с YOLO внутри содержит сотни строк: считывание видеопотока, ресайз кадров, нормализация, NMS-фильтрация после инференса, упаковка результата в формат, который ожидает MES-система завода. Оценка проекта «вкатать YOLO на линию» по объёму работы модели даёт заниженную оценку в десятки раз.</a:t>
            </a:r>
          </a:p>
          <a:p/>
          <a:p>
            <a:r>
              <a:t>Канонические примеры моделей. YOLO — детекция объектов на изображениях, тот самый, что был в начале лекции. Whisper от OpenAI — распознавание речи. Stable Diffusion — генерация изображений из текста. BERT — векторные представления текста. AlphaFold — предсказание трёхмерной структуры белка по аминокислотной последовательности; за неё Хассабис и Джампер получили Нобелевскую премию по химии 2024 года. Segment Anything от Meta — универсальная сегментация изображений.</a:t>
            </a:r>
          </a:p>
          <a:p/>
          <a:p>
            <a:r>
              <a:t>Когда модель — правильный выбор. Высокая нагрузка, например обработка видеопотока тридцать кадров в секунду — невозможно для чат-интерфейса. Одна чётко определённая задача со стабильной формой входа и выхода. Требование детерминированности или предсказуемости. Edge-развёртывание без интернета. Встраивание AI как функциональной единицы внутрь большего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Чат удобно обсуждать на бытовом уровне: задал вопрос — получил ответ. Но за этим простым опытом стоит вполне конкретный технический цикл. Понимание этого цикла снимает магию и даёт два практических навыка: как контролировать чат через системный промпт и как объяснить, почему чат «забывает» старые сообщения.</a:t>
            </a:r>
          </a:p>
          <a:p/>
          <a:p>
            <a:r>
              <a:t>Шесть шагов цикла. Первый — пользователь вводит текст в окно чата: вопрос, инструкцию, фрагмент данных.</a:t>
            </a:r>
          </a:p>
          <a:p/>
          <a:p>
            <a:r>
              <a:t>Второй — система берёт введённый текст и присоединяет его к системному промпту. Системный промпт — это заранее заданные разработчиком инструкции: «Ты корпоративный ассистент компании X. Отвечай на русском. Не давай юридических советов. Если не знаешь — скажи "не знаю"». Дополнительно подмешивается вся текущая история чата с начала сессии.</a:t>
            </a:r>
          </a:p>
          <a:p/>
          <a:p>
            <a:r>
              <a:t>Третий — полный собранный пакет, то есть системный промпт плюс история плюс новое сообщение, отправляется в LLM как один большой текст. Модель не «помнит» прошлый разговор — она каждый раз получает его заново как часть входа.</a:t>
            </a:r>
          </a:p>
          <a:p/>
          <a:p>
            <a:r>
              <a:t>Четвёртый — модель генерирует ответ токен за токеном на основе вероятностного распределения следующего токена при заданном контексте.</a:t>
            </a:r>
          </a:p>
          <a:p/>
          <a:p>
            <a:r>
              <a:t>Пятый — ответ модели дописывается в историю чата на стороне системы. С этого момента он часть контекста для всех следующих обращений в этой же сессии.</a:t>
            </a:r>
          </a:p>
          <a:p/>
          <a:p>
            <a:r>
              <a:t>Шестой — ответ показывается в интерфейсе чата. Пользователь читает, отвечает, и цикл повторяется с шага один. Но теперь история уже больше, и LLM при следующем обращении получит весь набор: системный промпт плюс предыдущие пары вопрос-ответ плюс новое сообщение.</a:t>
            </a:r>
          </a:p>
          <a:p/>
          <a:p>
            <a:r>
              <a:t>Из этого цикла два практических следствия. Первое — системный промпт это инженерный рычаг. Через него разработчик задаёт рамки чата: тон, роль, ограничения, обязательные форматы ответа. Один и тот же ChatGPT в роли корпоративного ассистента и в роли обычного помощника ведёт себя по-разному именно из-за системного промпта.</a:t>
            </a:r>
          </a:p>
          <a:p/>
          <a:p>
            <a:r>
              <a:t>Второе — у каждой модели есть контекстное окно: максимальное число токенов за один запрос. Для современных моделей это десятки и сотни тысяч токенов. Когда история чата перестаёт помещаться в окно, старые сообщения выпадают. Поэтому чат «забывает» детали из начала длинного разговора.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Чат — это модель, обёрнутая в текстовый интерфейс с памятью диалога в пределах сессии. Пользователь пишет сообщение, модель отвечает, история обоих сообщений включается в контекст следующего обращения. Это даёт ощущение разговора и позволяет уточнять задачу пошагово, что радикально меняет паттерн использования.</a:t>
            </a:r>
          </a:p>
          <a:p/>
          <a:p>
            <a:r>
              <a:t>Современные чаты — это в первую очередь LLM-чаты, хотя бывают и мультимодальные: с возможностью передавать изображения, аудио, файлы. Канонические продукты вы знаете: ChatGPT, Claude, Gemini, DeepSeek Chat, GigaChat, YandexGPT, Mistral Le Chat. Между ними различия в качестве для разных задач, в длине контекстного окна, в стоимости, в доступности модальностей — но базовый паттерн взаимодействия один.</a:t>
            </a:r>
          </a:p>
          <a:p/>
          <a:p>
            <a:r>
              <a:t>Возьмём конкретный пример. Инженер получает непонятный нормативный документ — скажем, ТЗ от смежного отдела с массой ссылок на стандарты и сложными формулировками. Задача — разобраться и составить чек-лист для собственной работы. Это типовой кейс для чата: разовая задача, требующая диалога, с уточнениями по ходу. Здесь не нужна standalone-модель, потому что нет потока однотипных задач. Не нужен агент, потому что не требуется автоматически открывать файлы и API. И нет специализированного приложения. Чат — оптимальный инструмент.</a:t>
            </a:r>
          </a:p>
          <a:p/>
          <a:p>
            <a:r>
              <a:t>Важный disclaimer для производственных систем. Чистые чаты в том виде, как они есть «из коробки» — то есть просто LLM плюс UI плюс короткая память сессии — в корпоративной среде почти не встречаются. Почти везде, где речь идёт о реальном внедрении, чат расширен до агента: хотя бы для того, чтобы хранить долгосрочную память между сессиями, или для того, чтобы искать ответ в корпоративной базе знаний через RAG (retrieval-augmented generation). Архитектуру агента — что именно добавляется к чату — разберём на следующем слайде.</a:t>
            </a:r>
          </a:p>
          <a:p/>
          <a:p>
            <a:r>
              <a:t>Возвращаясь к центральному вопросу лекции: «где AI работает» и «где не работает» во многом совпадает с «где правильно выбран тип взаимодействия» и «где неправильно».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Агент — следующий слой после чата. По сравнению с чатом у агента появляется три дополнительных компонента, которых у чата не было.</a:t>
            </a:r>
          </a:p>
          <a:p/>
          <a:p>
            <a:r>
              <a:t>Первый компонент — оркестратор. Логика управления: план, decision loop, критика. Оркестратор смотрит на цель пользователя, разбивает её на шаги, выбирает, какой инструмент применить на каждом шаге, и решает, когда остановиться.</a:t>
            </a:r>
          </a:p>
          <a:p/>
          <a:p>
            <a:r>
              <a:t>Второй — внешняя память. В отличие от чата, у агента есть память за пределами одной сессии: vector database (база данных, оптимизированная для поиска по сходству эмбеддингов; подробнее на лекции 3), файловая система с промежуточными результатами, лог собственных предыдущих действий.</a:t>
            </a:r>
          </a:p>
          <a:p/>
          <a:p>
            <a:r>
              <a:t>Третий — инструменты. Возможность вызывать внешние API, читать и писать файлы, выполнять код, делать веб-поиск. Каждый инструмент — это функция с описанием: что делает, какие параметры принимает, что возвращает. Оркестратор выбирает, какой инструмент применить на каждом шаге.</a:t>
            </a:r>
          </a:p>
          <a:p/>
          <a:p>
            <a:r>
              <a:t>Цикл работы агента, базовая модель ReAct — Reasoning plus Acting. Шаг план: оркестратор и LLM формулируют план действий. Шаг act: выбирается и вызывается инструмент с конкретными параметрами. Шаг observe: результат инструмента наблюдается, записывается в память, передаётся обратно в LLM. Шаг reflect: LLM обдумывает результат — цель достигнута или нет, нужен ли следующий шаг. Если цель достигнута или итераций было слишком много — остановка. Иначе — следующий шаг.</a:t>
            </a:r>
          </a:p>
          <a:p/>
          <a:p>
            <a:r>
              <a:t>Каноническая формулировка из работы Лилианы Венг: Agent равен LLM плюс Memory плюс Planning плюс Tool Use. Канонические продукты-агенты: Claude Code от Anthropic — агент в терминале для разработки. Devin от Cognition Labs — облачный коддинг-агент. OpenAI Operator — агент для веб-задач. AutoGPT — open-source автономный агент.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Кейс, на котором естественно появляется агент. У вас есть двести PDF-отчётов, и нужно из каждого извлечь определённые поля — дату, контрагента, сумму договора, — а потом собрать сводную таблицу. Это многошаговая задача с инструментами: открыть файл, прочитать, извлечь, сложить в таблицу. Она плохо подходит ни для модели — нет специализированной модели «возьми двести произвольных PDF и сделай таблицу». Ни для чата — некомфортно копировать двести файлов в окно. Агент — естественный выбор.</a:t>
            </a:r>
          </a:p>
          <a:p/>
          <a:p>
            <a:r>
              <a:t>Посмотрите на правую половину слайда. Я разбил работу агента на семь шагов, и для каждого явно показан инструмент, который агент использует. Это важно — агент не «думает» весь путь сам, он на каждом шаге решает: какой инструмент сейчас нужен, какие параметры в него передать, как обработать результат.</a:t>
            </a:r>
          </a:p>
          <a:p/>
          <a:p>
            <a:r>
              <a:t>Шаг один — получить список файлов. Инструмент: файловая система. Шаг два — открыть очередной PDF. Инструмент: PDF reader. Шаг три — извлечь текст. Инструмент: text extraction, через OCR если PDF сканированный, или через парсер если структурный. Шаг четыре — сделать сводку и положить эмбеддинг в vector DB. Шаг пять — найти ключевые поля по запросу: «найди дату подписания», «найди контрагента», «найди сумму». Это комбинация поиска и извлечения через LLM. Шаг шесть — записать строку в сводную таблицу через Sheets API или просто в CSV. Шаг семь — повторить для всех двухсот файлов; здесь работает оркестратор, который держит индекс текущего файла и общее состояние.</a:t>
            </a:r>
          </a:p>
          <a:p/>
          <a:p>
            <a:r>
              <a:t>Главное — агент это последовательность вызовов конкретных инструментов, оркестрируемая LLM. Не «AI разобрался сам», а «AI вызвал нужные инструменты в правильном порядке».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Важная концепция, к которой мы будем возвращаться весь курс: уровни автономии агента. Фэн, Макдональд и Чжан в работе двадцать пятого года предлагают пять уровней, характеризуемых ролью пользователя. Не сложностью модели — именно ролью пользователя.</a:t>
            </a:r>
          </a:p>
          <a:p/>
          <a:p>
            <a:r>
              <a:t>Уровень один — Operator. Пользователь активно управляет каждым шагом, агент исполняет под одобрение. Пример: Claude Code в режиме «approve each command» — вы видите команду перед запуском и каждый раз нажимаете Enter.</a:t>
            </a:r>
          </a:p>
          <a:p/>
          <a:p>
            <a:r>
              <a:t>Уровень два — Collaborator. Пользователь и агент работают совместно, перетекая ролями. Пример: парное программирование с Cursor, где вы и AI пишете в одном файле и редактируете предложения друг друга.</a:t>
            </a:r>
          </a:p>
          <a:p/>
          <a:p>
            <a:r>
              <a:t>Уровень три — Consultant. Пользователь ставит цель, агент предлагает план и ведёт по шагам, пользователь корректирует. Пример: Devin получает тикет «исправь баг X», предлагает декомпозицию, вы поправляете один шаг, дальше Devin продолжает сам.</a:t>
            </a:r>
          </a:p>
          <a:p/>
          <a:p>
            <a:r>
              <a:t>Уровень четыре — Approver. Агент действует автономно, пользователь утверждает ключевые узлы. Пример: агент собирает PR, открывает его, ждёт вашего ревью; merge только после approve.</a:t>
            </a:r>
          </a:p>
          <a:p/>
          <a:p>
            <a:r>
              <a:t>Уровень пять — Observer. Агент работает полностью автономно, пользователь только наблюдает итог. Пример: AutoGPT запущен на ночь с заданием «собери конкурентный анализ» — вы возвращаетесь утром и читаете отчёт.</a:t>
            </a:r>
          </a:p>
          <a:p/>
          <a:p>
            <a:r>
              <a:t>Параллельно с этой пятёркой существует более старая и широко принятая в инженерии безопасности рамка: где находится человек по отношению к циклу. Human-in-the-loop — человек одобряет каждый шаг, это уровни один-два. Human-on-the-loop — человек наблюдает в реальном времени и прерывает при отклонении, это примерно уровни три-четыре. Human-out-of-the-loop — человек только читает итог, это уровень пять. И отдельно — override modes: на любом уровне можно сохранить возможность ручного перехвата по тревожным сигналам.</a:t>
            </a:r>
          </a:p>
          <a:p/>
          <a:p>
            <a:r>
              <a:t>Главная мысль слайда: уровень автономии — это дизайн-решение, а не свойство модели. Один и тот же агент в режиме Operator и в режиме Observer — это разные продукты с разными требованиями к надёжности, объяснимости и интерфейсу. На семинарах будем возвращаться к этой шкале при выборе уровня под конкретный риск.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это полноценный продукт для конечного пользователя, в котором AI лишь один из внутренних компонентов. Пользователь не пишет промпты; он нажимает кнопки, заполняет формы, говорит голосом. AI работает «под капотом», и от пользователя редко требуется понимать, что внутри.</a:t>
            </a:r>
          </a:p>
          <a:p/>
          <a:p>
            <a:r>
              <a:t>Базовая характеристика — AI как функция, а не продукт. Приложение решает доменную задачу, и AI обеспечивает соответствующую функциональность. У хорошего приложения детерминированный пользовательский интерфейс — то же действие пользователя даёт ту же реакцию, даже если AI-выход внутренне варьируется. Приложение добавляет вокруг AI ограничители, запасные сценарии, кэширование, ревью ошибок.</a:t>
            </a:r>
          </a:p>
          <a:p/>
          <a:p>
            <a:r>
              <a:t>Канонические примеры однозначных приложений. Google Translate — внутри нейронная машинная трансляция; пользователь видит окно ввода и перевод. На двадцать шестой год — более одного миллиарда уникальных пользователей в месяц, около одного триллиона переведённых слов в месяц. Этот триллион считается across Google Translate, Search, Google Lens и Circle to Search, не только в самом приложении Translate.</a:t>
            </a:r>
          </a:p>
          <a:p/>
          <a:p>
            <a:r>
              <a:t>Notion AI — внутри GPT-4 или Claude; пользователь видит кнопки «Summarize», «Improve writing», «Continue writing» прямо в интерфейсе своего рабочего пространства. AI здесь не отдельный чат, а функциональная кнопка рядом с каждым блоком текста.</a:t>
            </a:r>
          </a:p>
          <a:p/>
          <a:p>
            <a:r>
              <a:t>YandexGPT в Яндекс.Поиске — внутри собственная LLM Яндекса; пользователь видит сгенерированный краткий ответ над списком обычных поисковых результатов. Это типичное «AI как функция»: для пользователя это просто улучшенный поиск, не «чат с AI».</a:t>
            </a:r>
          </a:p>
          <a:p/>
          <a:p>
            <a:r>
              <a:t>Grammarly — NLP-модели плюс LLM; пользователь видит подчёркивания и подсказки в любом текстовом поле. Яндекс Навигатор и Карты — ML-модели для маршрутизации, ETA-прогнозов, обнаружения пробок. Adobe Firefly — диффузионные модели, кнопка «Generate» в Photoshop.</a:t>
            </a:r>
          </a:p>
          <a:p/>
          <a:p>
            <a:r>
              <a:t>Кейс, для которого приложение — оптимальный выбор: вам раз в неделю нужно перевести небольшой блок техдокументации с английского на русский. Не нужна standalone-модель — объём не оправдывает развёртывания. Не нужен чат — пользоваться чатом для перевода громоздко. Не нужен агент — задача однашаговая. Google Translate или ЯндексGPT в Поиске — готовые приложения, оптимизированные под именно этот тип использования. Переплачивать сложностью — анти-паттерн.</a:t>
            </a:r>
          </a:p>
          <a:p/>
          <a:p>
            <a:r>
              <a:t>Важное уточнение перед следующим слайдом. Приложения бывают двух типов. Первый — с пользовательским интерфейсом, как все шесть примеров на этом слайде: пользователь видит UI и взаимодействует с ним. Второй тип — автоматизированные приложения без интерфейса в момент исполнения: ETL-pipeline с AI-классификатором, бэкенд-сервис, который сам забирает данные и складывает результат в таблицу. На следующем слайде, когда мы соберём чек-лист в квадрант, эти два типа окажутся в разных углах.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Кульминация раздела 3 — практический инструмент. Два диагностических вопроса, ответы на которые однозначно определяют один из четырёх типов реализации.</a:t>
            </a:r>
          </a:p>
          <a:p/>
          <a:p>
            <a:r>
              <a:t>Вопрос первый: нужно ли взаимодействие с пользователем? Если да — система должна общаться с человеком, принимать его уточнения, отвечать в реальном времени — это семейство чат и агент. Если нет — система работает автономно по триггеру или потоку данных — это модель и приложение в режиме автоматизации.</a:t>
            </a:r>
          </a:p>
          <a:p/>
          <a:p>
            <a:r>
              <a:t>Вопрос второй: нужна ли самостоятельная работа решения с инструментами? Если да — система должна вызывать API, читать файлы, выполнять код, искать в интернете — это агент и приложение в режиме автоматизации. Если нет — системе достаточно одного шага «вход → выход» — это чат и модель.</a:t>
            </a:r>
          </a:p>
          <a:p/>
          <a:p>
            <a:r>
              <a:t>Соединяем в квадрант. Нет взаимодействия плюс нет инструментов — модель. Да взаимодействие плюс нет инструментов — чат. Да взаимодействие плюс да инструменты — агент. Нет взаимодействия плюс да инструменты — приложение в режиме автоматизации.</a:t>
            </a:r>
          </a:p>
          <a:p/>
          <a:p>
            <a:r>
              <a:t>Здесь важная оговорка про «приложение». Приложения, как мы видели на предыдущем слайде, бывают двух типов. Первый — приложения с пользовательским интерфейсом: Notion AI, Translate, Grammarly. У них есть UI, и они попадают в верхние углы квадранта — либо в «Модель» (если пользователь нажимает кнопку и получает результат за один шаг, без диалога), либо в «Чат» (если внутри есть диалог). Второй тип — автоматизированные приложения без пользовательского интерфейса в момент исполнения: ETL-pipeline с AI-классификатором, бэкенд-сервис, который раз в час забирает новые данные и складывает в таблицу. Это и есть правый нижний угол квадранта — «приложение в режиме автоматизации». Не агент — нет диалога с пользователем и нет планирования decision loop. Не модель — есть инструменты, многошаговая логика и оркестрация.</a:t>
            </a:r>
          </a:p>
          <a:p/>
          <a:p>
            <a:r>
              <a:t>Прогоним три кейса. Конвейерный детектор дефектов: взаимодействие — нет, инструменты — нет, модель. Корпоративный чат для разбора нормативного документа: взаимодействие — да, инструменты — нет, чат. Двести PDF плюс таблица: взаимодействие — да, инструменты — да, агент. Четвёртый угол — приложение в режиме автоматизации — на примере ETL-pipeline с AI-классификатором.</a:t>
            </a:r>
          </a:p>
          <a:p/>
          <a:p>
            <a:r>
              <a:t>Возвращаясь к центральному вопросу лекции: AI работает там, где задача и тип реализации совпали. Большинство откатившихся пилотов не задавали этих двух вопросов до внедрения; вместо этого выбирали инструмент по моде. Два вопроса плюс квадрант — простая, но дисциплинирующая практика, радикально снижающая риск такого несовпадения.</a:t>
            </a:r>
          </a:p>
          <a:p/>
          <a:p>
            <a:r>
              <a:t>На семинаре первой недели студенты будут применять этот квадрант к собственным кейсам. Сейчас короткое упражнение: думаем тридцать секунд про инструмент, которым пользуетесь регулярно, и определяем угол квадранта.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четыре посвящён тому, где AI ломается, ошибается и опасен. Это не глава ужасов — это инвентаризация классов проблем, которые систематически возникают в AI-системах и которые инженер должен уметь предвидеть.</a:t>
            </a:r>
          </a:p>
          <a:p/>
          <a:p>
            <a:r>
              <a:t>Три причины, по которым эта тема — ваша зона ответственности, а не отдельный вопрос для специалистов по AI safety.</a:t>
            </a:r>
          </a:p>
          <a:p/>
          <a:p>
            <a:r>
              <a:t>Первая. Вы уже приняли решение встроить AI — теперь отвечаете за последствия. Если в результате внедрения возникнет инцидент — утечка данных, неправильное решение по клиенту, ошибочный приговор автомата, — отвечать будете не «модель», а вы и ваша команда.</a:t>
            </a:r>
          </a:p>
          <a:p/>
          <a:p>
            <a:r>
              <a:t>Вторая. AI ошибается системно, и эти ошибки предсказуемы. Большинство известных классов проблем — bias, галлюцинации, sycophancy, distribution shift — повторяются от системы к системе. Они не случайные баги, а свойства технологии. Инженер, который не знает этого набора, будет наступать на каждый из них в первый раз.</a:t>
            </a:r>
          </a:p>
          <a:p/>
          <a:p>
            <a:r>
              <a:t>Третья. Граница «что AI не умеет» — ваша зона ответственности. За пределами этой границы — необходимость человеческого решения, дополнительной верификации, запасного сценария. Если вы её не понимаете, систему нельзя считать спроектированной.</a:t>
            </a:r>
          </a:p>
          <a:p/>
          <a:p>
            <a:r>
              <a:t>Раздел проходит по семи темам, выстроенным от практической инженерной безопасности — что можно сломать или потерять прямо сейчас — к концептуальным границам AI как класса технологий — что AI в принципе не умеет.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Когда вы пишете запрос в облачный AI-сервис, ваш текст — а часто и приложенные файлы, изображения, голосовые сообщения — отправляется на серверы провайдера. Что с ними происходит дальше, зависит от тарифа.</a:t>
            </a:r>
          </a:p>
          <a:p/>
          <a:p>
            <a:r>
              <a:t>Потребительские тарифы — бесплатные и стандартные платные. OpenAI ChatGPT Free и Plus используют пользовательские данные для дообучения моделей по умолчанию; пользователь может отключить это в настройках, но опция требует осознанного действия. Anthropic Claude с сентября двадцать пятого года спрашивает пользователя, согласен ли он делиться данными для обучения; при согласии срок хранения увеличивается до пяти лет. Google Gemini в потребительских тарифах использует данные для обучения по умолчанию; часть переписки выборочно ревьюируется людьми и хранится до трёх лет с обезличиванием.</a:t>
            </a:r>
          </a:p>
          <a:p/>
          <a:p>
            <a:r>
              <a:t>Enterprise- и API-тарифы. OpenAI Enterprise, ChatGPT Business, OpenAI API с марта двадцать третьего года, Anthropic для бизнеса, Google Workspace, Google Cloud Vertex AI — данные не используются для обучения базовых моделей. Доступны соглашения Zero Data Retention — провайдер вообще не сохраняет промпты и ответы. Стандартом становится SOC 2 compliance, шифрование at rest и in transit.</a:t>
            </a:r>
          </a:p>
          <a:p/>
          <a:p>
            <a:r>
              <a:t>Канонический инцидент. Март-апрель двадцать третьего года, Samsung. Инженеры полупроводникового подразделения в трёх отдельных эпизодах загрузили в потребительский ChatGPT проприетарный код базы данных, транскрипт корпоративного совещания и тестовые последовательности для отладки чипов. Поскольку потребительский ChatGPT на тот момент использовал данные для обучения по умолчанию, корпоративные секреты Samsung фактически попали в датасет OpenAI. Samsung в ответ запретила сотрудникам использование внешних генеративных AI-сервисов и временно ввела лимит в 1024 байта на промпт.</a:t>
            </a:r>
          </a:p>
          <a:p/>
          <a:p>
            <a:r>
              <a:t>Регуляторика. В Европейском Союзе действует EU AI Act, постепенно вводимый в силу с двадцать четвёртого года. Стандартный tier штрафов — до пятнадцати миллионов евро или трёх процентов мирового годового оборота. Верхний tier за prohibited practices — до тридцати пяти миллионов или семи процентов. NIST AI RMF и NIST AI 600-1 — добровольные, но влиятельные стандарты США. Российское регулирование AI на двадцать шестой год в стадии формирования.</a:t>
            </a:r>
          </a:p>
          <a:p/>
          <a:p>
            <a:r>
              <a:t>Практический вывод для инженера: никогда не загружайте конфиденциальные данные в потребительские AI-сервисы без явной проверки политики использования данных конкретного тарифа на момент использования. Это правило простое, но систематически нарушается.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Галлюцинация в контексте LLM — это уверенное порождение фактически неверной информации в форме, неотличимой от верной. Модель не «знает», что говорит неправду; для неё это просто статистически правдоподобное продолжение последовательности токенов.</a:t>
            </a:r>
          </a:p>
          <a:p/>
          <a:p>
            <a:r>
              <a:t>Простой эксперимент. Попросите чат «назови три научные статьи по теме [узкая тема] с авторами и DOI». С существенной вероятностью вы получите три убедительно выглядящие ссылки, в которых имена авторов могут быть смешаны или сочинены, журналы — настоящие, но статьи в них нет, DOI — синтаксически правильные, но не разрешаются. Проверка занимает минуту через doi.org, но без неё ссылки выглядят достоверно.</a:t>
            </a:r>
          </a:p>
          <a:p/>
          <a:p>
            <a:r>
              <a:t>Уровень галлюцинаций сильно зависит от задачи. По бенчмарку Vectara Hughes Hallucination Evaluation Model диапазон актуальных моделей очень широкий: от менее одного процента на стандартной задаче суммаризации, например Gemini 2.0 Flash, до десяти-пятнадцати процентов на reasoning-моделях, требующих многошагового рассуждения. Это означает, что говорить про «процент галлюцинаций LLM» в общем некорректно: цифра сильно зависит от задачи и бенчмарка.</a:t>
            </a:r>
          </a:p>
          <a:p/>
          <a:p>
            <a:r>
              <a:t>Сопутствующие данные о поведении пользователей. По отчёту CybSafe двадцать четвёртого года, опрос семь тысяч человек в семи странах: около тридцати восьми процентов сотрудников делятся в AI-инструментах конфиденциальной рабочей информацией без ведома работодателя. Это не про галлюцинации напрямую, но указывает на масштаб проблемы доверия: пользователи передают AI-системам информацию в объёме, который не оправдывается реальной надёжностью.</a:t>
            </a:r>
          </a:p>
          <a:p/>
          <a:p>
            <a:r>
              <a:t>Анти-паттерн «AI знает всё». Любой ответ AI по фактическому вопросу — гипотеза, которая требует проверки. Особенно ссылки, цифры, цитаты, юридические нормы, медицинские рекомендации. Это не означает «не пользоваться AI для фактов»; это означает «проверять то, что AI выдаёт как факт». Critical reading attitude — не дополнительная предосторожность, а часть стандартного рабочего процесса.</a:t>
            </a:r>
          </a:p>
          <a:p/>
          <a:p>
            <a:r>
              <a:t>Сейчас короткое упражнение. Я покажу два коротких AI-ответа на один и тот же вопрос. В каждом одна правильная и одна подложенная деталь. Обсудите за тридцать секунд в парах: какая часть подделка, и что вы проверяли первым.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проблемы, объединённые общей природой: модель — отражение данных, на которых её обучили, а не независимый источник истины. Они проявляются по-разному, но имеют общую причину, и это полезно держать в голове как одно связное явление.</a:t>
            </a:r>
          </a:p>
          <a:p/>
          <a:p>
            <a:r>
              <a:t>Bias — смещение. Модель повторяет перекосы датасета. Канонический пример: модель скрининга резюме, обученная на исторических данных компании, в которой исторически принимали меньше женщин на технические позиции, будет дискриминировать женские кандидатуры — не «решая», что они хуже, а статистически предсказывая, что «такие профили обычно отказывали». Bias — самая трудно исправляемая категория, потому что данные часто фиксируют структурные неравенства реального мира.</a:t>
            </a:r>
          </a:p>
          <a:p/>
          <a:p>
            <a:r>
              <a:t>Sycophancy — подлизы. Сначала определение ключевого термина. RLHF — Reinforcement Learning from Human Feedback — техника обучения, при которой человек ранжирует ответы модели по качеству, и эти ранжирования служат сигналом награды для дополнительного fine-tuning. RLHF — стандартный шаг при превращении базовой языковой модели в чат-ассистента. Обратная сторона: люди-разметчики в среднем выше оценивают приятные ответы. Модель учится соглашаться с пользователем, повторять его формулировки, поддакивать.</a:t>
            </a:r>
          </a:p>
          <a:p/>
          <a:p>
            <a:r>
              <a:t>Канонический инцидент. Двадцать пятого апреля двадцать пятого года OpenAI выкатила обновление GPT-4o, которое сделало модель навязчиво-лестящей: модель соглашалась с явно неверными утверждениями, чрезмерно хвалила пользователя, поддерживала спорные тезисы. Двадцать восьмого апреля начался откат обновления — Альтман в Twitter тем же вечером: «we started rolling back the latest update to GPT-4o last night». Двадцать девятого апреля опубликован разбор причин. Sycophancy — самая незаметная категория: пользователь, получая комплименты, легко не замечает, что модель потеряла критическое отношение к его словам.</a:t>
            </a:r>
          </a:p>
          <a:p/>
          <a:p>
            <a:r>
              <a:t>Distribution shift — сдвиг распределения. Модель, обученная на данных одного периода, ведёт себя плохо за пределами этого распределения. Концептуальный пример: модель, обученная на коде двадцать третьего года, в двадцать шестом уверенно предложит устаревшую библиотеку, неактуальную практику, не учтёт изменений API. Distribution shift — самая частая категория в долгоживущих системах, и её особенность в том, что качество модели «тихо» деградирует со временем без явных сбоев.</a:t>
            </a:r>
          </a:p>
          <a:p/>
          <a:p>
            <a:r>
              <a:t>Связное послание. Все три — проявления одной природы: модель не «знает» истины; она воспроизводит закономерности данных, на которых её обучили. Bias — закономерности из исторических данных. Sycophancy — закономерности из RLHF-разметки. Distribution shift — отсутствие закономерностей нового периода.</a:t>
            </a:r>
          </a:p>
          <a:p/>
          <a:p>
            <a:r>
              <a:t>Короткое упражнение: подумайте тридцать секунд, что опаснее в вашей будущей профессиональной области.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существующие производственные AI-системы — narrow AI: они оптимизированы под конкретные задачи или узкие домены. AGI — Artificial General Intelligence — гипотетический AI с человеческим уровнем когнитивных способностей в широком спектре областей. Это открытый вопрос, который активно обсуждается в публичном пространстве с взаимоисключающими прогнозами.</a:t>
            </a:r>
          </a:p>
          <a:p/>
          <a:p>
            <a:r>
              <a:t>Когда вы видите конкретный AGI-прогноз, спрашивайте, какой у спикера материальный интерес в этом прогнозе. Чем выше уверенность в скором AGI, тем чаще нужно проверять, кто и что хочет получить от рынка после такого высказывания. Это не означает, что спикеры неискренни — это означает, что прогнозы AGI делаются в публичном пространстве, в котором каждый лидер одновременно строит компанию и формирует ожидания инвесторов.</a:t>
            </a:r>
          </a:p>
          <a:p/>
          <a:p>
            <a:r>
              <a:t>Сводка по четырём публичным фигурам. Сэм Альтман, CEO OpenAI: «знаем, как построить AGI; начало перехода к superintelligence», январь двадцать шестого. Материальный интерес — стомиллиардные раунды финансирования, контекст IPO; высокая AGI-уверенность поддерживает оценку компании.</a:t>
            </a:r>
          </a:p>
          <a:p/>
          <a:p>
            <a:r>
              <a:t>Дарио Амодей, CEO Anthropic: «AGI через 2-3 года; AI заменит разработчиков ПО за год; нобелевский уровень за два года», Давос двадцать шестого. Материальный интерес — конкурентное давление со стороны OpenAI; собственный раунд финансирования двадцать шестого года.</a:t>
            </a:r>
          </a:p>
          <a:p/>
          <a:p>
            <a:r>
              <a:t>Демис Хассабис, CEO Google DeepMind: «50% шанс AGI к концу десятилетия; нужны прорывы в few-shot, continual learning, долговременной памяти», TIME100 двадцать пятого. Материальный интерес — лидер в research community; больше доверия при осторожной позиции; Google не нуждается в AGI-хайпе для основного бизнеса.</a:t>
            </a:r>
          </a:p>
          <a:p/>
          <a:p>
            <a:r>
              <a:t>Янн ЛеКун, основатель AMI Labs, экс-Chief AI Scientist Meta: «LLM-парадигма не приведёт к AGI; нужна новая архитектура, world models, JEPA», постоянно. Материальный интерес — раунд около миллиарда долларов в марте двадцать шестого на альтернативный путь; контр-консенсусная позиция выгодна для дифференциации стартапа.</a:t>
            </a:r>
          </a:p>
          <a:p/>
          <a:p>
            <a:r>
              <a:t>Заметьте паттерн — ни один из четырёх спикеров не занимает нейтрально-научной позиции. Каждый прогноз отражает либо коммерческий интерес, либо рыночное позиционирование. Полезное упражнение при чтении любого публичного интервью топ-менеджера AI-компании: задавать себе вопрос — какое решение он хотел бы, чтобы рынок принял на основе этого высказывания.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прошли четыре содержательных раздела. В первом договорились про определения AI и почему их много. Во втором посмотрели, где мы сейчас — массовое внедрение и одновременно массовый провал. В третьем разобрали четыре способа реализации и получили практический инструмент — два диагностических вопроса плюс квадрант. В четвёртом — границы AI: куда уходят данные, где галлюцинирует, как смещается, как читать прогнозы AGI.</a:t>
            </a:r>
          </a:p>
          <a:p/>
          <a:p>
            <a:r>
              <a:t>Финальный, пятый раздел — что со всем этим делать. Шесть с половиной минут. Сначала короткое резюме лекции — три главных вывода, которые стоит унести домой. Потом — задание к семинару один: что конкретно принести и зачем. Потом — карта всего семестра, чтобы сегодняшняя лекция встала в контекст следующих шестнадцати. И в финале — тизер лекции два, с возвратом к YOLO-демо из самого начала. После этого — Q&amp;A.</a:t>
            </a:r>
          </a:p>
          <a:p/>
          <a:p>
            <a:r>
              <a:t>Главная функция раздела — закрепление. Через две недели вы вряд ли вспомните каждую цифру или каждое название. Но три вывода и один практический инструмент — должны остаться.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Лекция один покрыла четыре содержательных темы и вышла к одному практическому инструменту. Если что-то одно стоит унести из лекции — главный вопрос: где AI работает, где не работает, и как это понять.</a:t>
            </a:r>
          </a:p>
          <a:p/>
          <a:p>
            <a:r>
              <a:t>Три главных вывода.</a:t>
            </a:r>
          </a:p>
          <a:p/>
          <a:p>
            <a:r>
              <a:t>Первый. AI — спектр технологий, не монолит. Конкретный AI-инструмент имеет координаты по двум осям — тип задачи и модальность — и относится к одному из четырёх типов реализации: модель, чат, агент, приложение. Грамотное обсуждение AI в инженерном контексте начинается с явной классификации.</a:t>
            </a:r>
          </a:p>
          <a:p/>
          <a:p>
            <a:r>
              <a:t>Второй. Выбор типа AI — инженерный навык, и у вас есть инструмент. Два диагностических вопроса и квадрант 2×2 — простой, но систематически нарушаемый. Большинство откатившихся корпоративных пилотов не задавали этих вопросов до внедрения; мода и удобство выбирали тип инструмента вместо инженерного анализа задачи.</a:t>
            </a:r>
          </a:p>
          <a:p/>
          <a:p>
            <a:r>
              <a:t>Третий. AI усиливает человека, но целеполагание, критическое суждение и ответственность остаются нашими. Все категории ошибок, которые мы разобрали — галлюцинации, bias, sycophancy, distribution shift, утечки данных, — требуют человеческого контура верификации.</a:t>
            </a:r>
          </a:p>
          <a:p/>
          <a:p>
            <a:r>
              <a:t>Задание к семинару один. Тема семинара — «Какой тип AI выбрать: два вопроса, квадрант, разбор реальных кейсов». Принесите один AI-инструмент, который используете регулярно или хотите начать использовать. Конкретный продукт, не «AI вообще». Прогоните его через два вопроса чек-листа. Запишите ответы явно. Определите по квадранту тип реализации, аргументируйте. Оцените одну потенциальную ошибку из каталога раздела четыре, которая опасна именно в вашем сценарии. Сдайте одностраничный разбор в любом формате — текст, схема или таблица.</a:t>
            </a:r>
          </a:p>
          <a:p/>
          <a:p>
            <a:r>
              <a:t>Это упражнение покрывает все четыре учебные цели лекции на уровне применения.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Курс состоит из семнадцати лекций и семнадцати семинаров, разбитых на три модуля. На лекции один мы на первом занятии первого модуля. Дальше — общая карта, по которой вы можете заранее видеть, что вас ждёт.</a:t>
            </a:r>
          </a:p>
          <a:p/>
          <a:p>
            <a:r>
              <a:t>Модуль один — основы и знакомые индустрии, лекции с первой по восьмую. Первые три лекции дают теоретико-методологический фундамент: введение, как работают современные большие модели, агенты и RAG. Следующие пять — обзор AI в индустриях, с которыми студенты вашего профиля чаще всего сталкиваются на практике: разработка ПО, финансы и ритейл, инженерное проектирование, медицина, креативные индустрии. Рубежный контроль один — на семинаре восьмой недели.</a:t>
            </a:r>
          </a:p>
          <a:p/>
          <a:p>
            <a:r>
              <a:t>Модуль два — высокотехнологичные отрасли материального производства, лекции с девятой по двенадцатую. Авиакосмос и оборонка, сельское хозяйство, производство (predictive maintenance и коботы), автоматизация и цифровые двойники. Это отрасли, в которых AI работает на стыке физического и цифрового. Рубежный контроль два — на семинаре двенадцатой недели.</a:t>
            </a:r>
          </a:p>
          <a:p/>
          <a:p>
            <a:r>
              <a:t>Модуль три — инфокоммуникации, наука, добыча, синтез, лекции с тринадцатой по семнадцатую. Логистика и транспорт, телеком и кибербезопасность, научные исследования, нефтегаз. Финальная лекция семнадцатая — синтез: что общего во всех изученных кейсах. Рубежный контроль три, итоговый, на семинаре семнадцатой недели.</a:t>
            </a:r>
          </a:p>
          <a:p/>
          <a:p>
            <a:r>
              <a:t>Прогрессия навыков промптинга через курс. На сегодняшней лекции один мы зафиксировали минимальную формулу: промпт равен роль плюс задача плюс контекст. На лекции двенадцатой формализуем PARTS — Persona / Action / Recipe / Template / Specification — и разбираем chain-of-thought, few-shot, self-consistency. К концу курса вы работаете с промптингом как с инженерной дисциплиной, не как с магией.</a:t>
            </a:r>
          </a:p>
          <a:p/>
          <a:p>
            <a:r>
              <a:t>Оговорка про PARTS. Это внутренняя сводная схема нашего курса, упрощение для удобства запоминания. В академической и индустриальной литературе по prompt engineering используются другие, более устоявшиеся frameworks — RTF (Role / Task / Format), CRISPE (Capacity / Role / Insight / Statement / Personality / Experiment), RACE (Role / Action / Context / Expectation), RISEN, TAG. Каждый покрывает ту же поверхность с разной разбивкой. Мы выбрали PARTS как педагогическое упрощение; кто хочет глубже — на лекции двенадцатой будет обзор альтернатив.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следующей лекции мы посмотрим, как устроены большие языковые модели изнутри. Не для того, чтобы сделать из вас ML-инженеров — а чтобы вы понимали, почему модель ведёт себя так, как ведёт.</a:t>
            </a:r>
          </a:p>
          <a:p/>
          <a:p>
            <a:r>
              <a:t>Четыре ключевых концепта, которые разберём на лекции два. Все на русском, с английскими терминами в скобках при первом упоминании.</a:t>
            </a:r>
          </a:p>
          <a:p/>
          <a:p>
            <a:r>
              <a:t>Токены — единицы, на которые модель разрезает текст или другой вход. Это не буквы и не слова в обычном смысле; это статистически выученные подпоследовательности символов.</a:t>
            </a:r>
          </a:p>
          <a:p/>
          <a:p>
            <a:r>
              <a:t>Эмбеддинги, или векторные представления — числовые «адреса» токенов в многомерном смысловом пространстве. Они позволяют модели работать с похожестью: близкие по смыслу слова имеют близкие векторы.</a:t>
            </a:r>
          </a:p>
          <a:p/>
          <a:p>
            <a:r>
              <a:t>Механизм внимания (attention) — как модель решает, на какие части входа смотреть в каждый момент генерации. Это и есть тот self-attention, на который ссылается название статьи «Attention Is All You Need».</a:t>
            </a:r>
          </a:p>
          <a:p/>
          <a:p>
            <a:r>
              <a:t>Температура — параметр, контролирующий, насколько случайно модель выбирает следующий токен. При нулевой температуре модель детерминирована; при высокой — генерирует более разнообразные ответы.</a:t>
            </a:r>
          </a:p>
          <a:p/>
          <a:p>
            <a:r>
              <a:t>После лекции два вы поймёте, почему промпт с ролью работает лучше пустого, почему AI плохо считает буквы в слове, и почему один и тот же запрос к LLM даёт разные ответы в разные моменты. Эти знания — фундамент для всех следующих лекций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внимание. Сейчас открытое Q&amp;A. Нет глупых вопросов, нет «слишком базовых» — если что-то неясно, лучше спросить сейчас. Если время на занятии закончится, а вопросы остались — пишите по контактам, которые показывал на слайде с визиткой.</a:t>
            </a:r>
          </a:p>
          <a:p/>
          <a:p>
            <a:r>
              <a:t>Если вопросов нет — не страшно. Тогда вернёмся к заданию к семинару один. На следующем семинаре мы будем разбирать ваши кейсы по чек-листу из двух вопросов. Возьмите свой AI-инструмент, прогоните через квадрант, принесите одностраничный разбор. До встречи.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Идентификация людей в реальном времени — на ноутбуке, без интернета, с 2023 года.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8036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065A82"/>
                </a:solidFill>
                <a:latin typeface="Arial"/>
              </a:rPr>
              <a:t>Narrow AI — модель решает одну задачу (обнаружение людей в кадре) и больше ничего.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1295C"/>
                </a:solidFill>
                <a:latin typeface="Arial"/>
              </a:rPr>
              <a:t>На экране — </a:t>
            </a:r>
            <a:r>
              <a:rPr sz="1500" b="1" i="0">
                <a:solidFill>
                  <a:srgbClr val="065A82"/>
                </a:solidFill>
                <a:latin typeface="Arial"/>
              </a:rPr>
              <a:t>YOLOv8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на CPU ноутбука: </a:t>
            </a:r>
            <a:r>
              <a:rPr sz="1500" b="1" i="0">
                <a:solidFill>
                  <a:srgbClr val="F0AB00"/>
                </a:solidFill>
                <a:latin typeface="Arial"/>
              </a:rPr>
              <a:t>~30 fps</a:t>
            </a:r>
            <a:r>
              <a:rPr sz="1500" b="0" i="0">
                <a:solidFill>
                  <a:srgbClr val="21295C"/>
                </a:solidFill>
                <a:latin typeface="Arial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028090"/>
                </a:solidFill>
                <a:latin typeface="Arial"/>
              </a:rPr>
              <a:t>Без интернета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 ·  обучена в 2023.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502920"/>
            <a:ext cx="5760720" cy="4023360"/>
          </a:xfrm>
          <a:prstGeom prst="roundRect">
            <a:avLst>
              <a:gd name="adj" fmla="val 757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01-yolo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986980"/>
            <a:ext cx="5431536" cy="3055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4572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Кадр модели в момент демо: 2 человека в боксах. YOLOv8 (Ultralytics, 2023).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46888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0" b="1" i="0">
                <a:solidFill>
                  <a:srgbClr val="D9E2E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Arial"/>
              </a:rPr>
              <a:t>ЛЕКЦИЯ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40080" cy="45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21295C"/>
                </a:solidFill>
                <a:latin typeface="Arial"/>
              </a:rPr>
              <a:t>Введение —
AI вокруг нас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983480"/>
            <a:ext cx="457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065A82"/>
                </a:solidFill>
                <a:latin typeface="Arial"/>
              </a:rPr>
              <a:t>Карта применений AI: где работает, где — нет.</a:t>
            </a:r>
          </a:p>
        </p:txBody>
      </p:sp>
      <p:pic>
        <p:nvPicPr>
          <p:cNvPr id="8" name="Picture 7" descr="hero-cov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229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Карта лекции — 5 разделов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Открытие
и 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Где мы
как пользователи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Резюме · задание ·
карта семестра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Сначала — ваша оценка, потом — данные.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544068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hand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2148840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Вопрос 1  ·  один вариант ответа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468880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Как часто вы используете AI?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1143000" cy="7772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Никогда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703320"/>
            <a:ext cx="1143000" cy="7772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Несколько раз
в месяц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703320"/>
            <a:ext cx="1143000" cy="7772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Несколько раз
в неделю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03320"/>
            <a:ext cx="1143000" cy="7772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Каждый день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(поднимите руку или ответьте в чате — увидим распределение)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4068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ucide-message-squar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21031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2148840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Вопрос 2  ·  можно несколько вариантов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468880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Какими AI-инструментами
вы пользовались хотя бы раз?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79" y="3977639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ChatGPT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3977639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YandexGPT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3977639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DeepSeek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04704" y="3977639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GigaChat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79" y="45720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Шедеврум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45720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Claude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45720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Gemini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04704" y="45720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200" b="1">
                <a:solidFill>
                  <a:srgbClr val="028090"/>
                </a:solidFill>
                <a:latin typeface="Arial"/>
              </a:rPr>
              <a:t>Ничем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Разница между вашей оценкой и реальностью — карта ваших слепых зон про AI.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5120640" cy="4206240"/>
          </a:xfrm>
          <a:prstGeom prst="roundRect">
            <a:avLst>
              <a:gd name="adj" fmla="val 72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Российские интернет-пользователи 18+ — частота использования AI</a:t>
            </a:r>
          </a:p>
        </p:txBody>
      </p:sp>
      <p:pic>
        <p:nvPicPr>
          <p:cNvPr id="5" name="Picture 4" descr="c1-vciom-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74320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34290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21295C"/>
                </a:solidFill>
                <a:latin typeface="Arial"/>
              </a:rPr>
              <a:t>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4114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раз в неделю и чаще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ВЦИОМ-Онлайн, 13–15 декабря 2025, n=3239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79" y="1783080"/>
            <a:ext cx="6035040" cy="4206240"/>
          </a:xfrm>
          <a:prstGeom prst="roundRect">
            <a:avLst>
              <a:gd name="adj" fmla="val 72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199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Использование LLM в РФ среди пользователей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199" y="23500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ВЦИОМ окт 2025, n=1600, multi-select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9" y="276148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ChatGPT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59" y="2807208"/>
            <a:ext cx="2798064" cy="20116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96144" y="277977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199" y="307238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YandexGPT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59" y="3118103"/>
            <a:ext cx="2383536" cy="20116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1616" y="309067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33832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DeepSeek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3429000"/>
            <a:ext cx="2072640" cy="2011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0719" y="34015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3694175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GigaChat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3739896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3712463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40050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Шедеврум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59" y="4050792"/>
            <a:ext cx="1139952" cy="20116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8031" y="402336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11%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199" y="43159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334256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нет данных РФ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199" y="462686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64515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нет данных РФ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49377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Ничем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95604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(см. donut слева)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199" y="532180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↑ Та же страна, телеметрия Microsoft (2026): DeepSeek = 43%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199" y="573328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*Сумма &gt;100% — multi-select; могли указать несколько вариантов.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Кто я и почему мне это важно.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00400" cy="32004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0" b="1" i="0">
                <a:solidFill>
                  <a:srgbClr val="FFFFFF"/>
                </a:solidFill>
                <a:latin typeface="Arial"/>
              </a:rPr>
              <a:t>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инициалы лектора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676656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ucide-briefcase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2057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Опыт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5146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[годы работы с AI; конкретные проекты]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246120"/>
            <a:ext cx="676656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ucide-lightbulb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611879"/>
            <a:ext cx="59436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3474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Зачем мне курс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319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[почему важно лично]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663440"/>
            <a:ext cx="676656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ucide-users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029200"/>
            <a:ext cx="59436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2648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Связь со студентами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4924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[контакт, формат вопросов]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Главный вопрос курса — не «можно ли AI?», а «нужно ли и где?».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74519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100% AI-пилотов запускаются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1570" y="2926079"/>
            <a:ext cx="3771900" cy="9601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1570" y="3108960"/>
            <a:ext cx="37719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−90% откатываются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5029200" cy="960120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10% доходят до прода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Иллюстрация принципа (Gartner, McKinsey подтверждают похожие цифры).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00199"/>
            <a:ext cx="594360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Главная мысль лекции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317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Завтра — почти везде.
Сегодня — почти никто.
Курс — про этот разрыв.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069079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Центральный вопрос курса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48056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Где AI работает,
где — нет,
и как это понять?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Определений AI много — потому что AI это moving target.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8132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Russell &amp; Norvig (AIMA, 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«AI = система, мыслящая как человек, мыслящая рационально, действующая как человек или действующая рационально (4 квадранта по 2 осям).»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10127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Russell &amp; Norvig, AIMA, 4-е изд., 2021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8132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ISO/IEC 22989:2022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2996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«AI-система — это engineered system, которая генерирует выходы (рекомендации, прогнозы, решения) для целей, заданных человеком.»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10127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Международный стандарт ISO/IEC 22989:2022 — опора EU AI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1304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Через обучение (Mitchell, 1997)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6168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«Программа улучшается с опытом E на задаче T по метрике P. Если поведение возникает из обученной модели — это AI.»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41848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Mitchell, Machine Learning, 1997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1304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Через бенчмарки и AGI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6168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«AI = то, что проходит тест Тьюринга или решает бенчмарк на уровне человека.» Возражение Сёрла: поведение ≠ понимание.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41848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Тьюринг 1950 / Searle 1980 — Chinese Room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26364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336792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AI Effect (Tesler):  «AI is whatever hasn't been done yet».  Как только техника начинает работать, её перестают называть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70 лет AI: открытия, зимы, точка перелома 2017.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7293"/>
                </a:solidFill>
                <a:latin typeface="Arial"/>
              </a:rPr>
              <a:t>Открытия (1950 — 1980-е)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240280"/>
            <a:ext cx="8732520" cy="1371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12920" y="2194560"/>
            <a:ext cx="9144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6002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Turing — Imitation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4688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1950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2194560"/>
            <a:ext cx="9144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82640" y="16002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ELIZA — Weizenbaum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2640" y="24688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1966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34600" y="2194560"/>
            <a:ext cx="91440" cy="2286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3480" y="16002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Экспертные системы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3480" y="24688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1980-е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Зимы и прорывы (1973 — 2012)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611880"/>
            <a:ext cx="8732520" cy="1371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2920" y="3566160"/>
            <a:ext cx="91440" cy="228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9718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1-я зима — Lighthill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404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1974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3566160"/>
            <a:ext cx="91440" cy="228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2640" y="29718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Deep Blue — 200M поз/сек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2640" y="38404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1997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34600" y="3566160"/>
            <a:ext cx="91440" cy="228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3480" y="29718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AlexNet — GPU + DL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3480" y="38404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2012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Перелом и взрыв (2012 — 2026)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983480"/>
            <a:ext cx="8732520" cy="13716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75760" y="4892040"/>
            <a:ext cx="384048" cy="384048"/>
          </a:xfrm>
          <a:prstGeom prst="ellipse">
            <a:avLst/>
          </a:prstGeom>
          <a:solidFill>
            <a:srgbClr val="F0AB00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3434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«Attention Is All You Need» 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25780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2017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4937760"/>
            <a:ext cx="91440" cy="228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82640" y="43434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ChatGPT — 1M за 5 дней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2640" y="52120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2022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34600" y="4937760"/>
            <a:ext cx="91440" cy="228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93480" y="4343400"/>
            <a:ext cx="277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DeepSeek R1, Claude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3480" y="5212080"/>
            <a:ext cx="277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2025-26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60720"/>
            <a:ext cx="11201400" cy="9601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833872"/>
            <a:ext cx="10835640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★ 2017 — Vaswani и 7 соавторов (Shazeer, Parmar, Uszkoreit, Jones, Gomez, Kaiser, Polosukhin) вводят механизм self-attention — основу всех современных LLM. На май 2026 у статьи свыше 160 000 цитирований.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AI стал инфраструктурой за 3 года: 900M пользователей, 51% разработчиков ежедневно, 46% Copilot-кода.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users-2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05740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0116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900M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WAU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ChatGPT, февраль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OpenAI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de-cod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05740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20116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51%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ежедневно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175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Stack Overflow Dev Survey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644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n=49k+, 177 стран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46%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кода у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GitHub Octoverse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93207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Java — 61%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ucide-dollar-sign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38862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6520" y="38404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$244–390B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AI-рынок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463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Statista / McKinsey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93207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разброс по методологии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32120"/>
            <a:ext cx="11201400" cy="82296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05272"/>
            <a:ext cx="10835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Контр-факт: ~90% AI-пилотов в РФ не доходят до прода. CNews / Vedomosti / Intellectual Analytics, март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Пространство открыто: 4 прорыва 2023–2026 от не-первых игроков.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798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798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798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сентябрь
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14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Mistral 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86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Apache 2.0
обходит Llama-2 13B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98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Mistral AI (FR)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406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8406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406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январь
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122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DeepSeek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694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$589B
Nvidia drop за день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406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DeepSeek (CN)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14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ноябрь
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OpenClaw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100K★ stars
за квартал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P. Steinberger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622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3622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622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январь
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338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Kimi K2.5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910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open multimodal
swarm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622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Moonshot AI (CN)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94360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016752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Не отчаивайтесь: серьёзные прорывы делают разные команды. Курс — про устойчивые концепты, переживающие смену поколений моделей.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3 · Четыре способа реализации систем с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Не альтернативы, а слои.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Открытие
и 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Где мы
как пользователи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Резюме · задание ·
карта семестра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Способы реализации систем с AI: не альтернативы, а слои.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59" y="1508760"/>
            <a:ext cx="6949440" cy="4572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317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4999" y="2788920"/>
            <a:ext cx="5394960" cy="329184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317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46519" y="3977640"/>
            <a:ext cx="3931920" cy="2103120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317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59" y="5166360"/>
            <a:ext cx="237744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4064" y="1618488"/>
            <a:ext cx="6656831" cy="56692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48655" y="1636776"/>
            <a:ext cx="63276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Приложение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8655" y="1874520"/>
            <a:ext cx="6327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+ AI внутри продукта · формы, кнопки, интеграции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1303" y="2898648"/>
            <a:ext cx="5102352" cy="56692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25895" y="2916936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Агент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5" y="315468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+ инструменты (API, поиск, код) · планирование · vector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92823" y="4087368"/>
            <a:ext cx="3639312" cy="56692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7415" y="4105656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Чат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5" y="434340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+ UI диалога · память истории сообщений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5257800"/>
            <a:ext cx="2194560" cy="731520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5285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Модель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55869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stateless: вход → модель → выход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Каждый следующий слой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3172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включает предыдущий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0896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Не четыре альтернативные технологии, а четыре способа реализации одной задачи. Каждое следующее обёртывание добавляет способности — и сложность, стоимость, потенциал ошибок.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4206240" cy="7772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50992"/>
            <a:ext cx="3840479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Выбор слоя — инженерное решение, не альтернатива.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Каждый следующий слой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33172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включает предыдущий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10896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Не четыре альтернативные технологии, а четыре способа реализации одной задачи. Каждое следующее обёртывание добавляет способности — и сложность, стоимость, потенциал ошибок.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77840"/>
            <a:ext cx="4206240" cy="7772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650992"/>
            <a:ext cx="3840479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Выбор слоя — инженерное решение, не альтернатива.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Классификация AI-систем — две оси: тип задачи × модальность.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1120140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tag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928" y="1709928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075688"/>
            <a:ext cx="1615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Классиф.</a:t>
            </a:r>
          </a:p>
        </p:txBody>
      </p:sp>
      <p:pic>
        <p:nvPicPr>
          <p:cNvPr id="6" name="Picture 5" descr="lucide-scan-lin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1709928"/>
            <a:ext cx="329184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44240" y="2075688"/>
            <a:ext cx="1615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Распозн.</a:t>
            </a:r>
          </a:p>
        </p:txBody>
      </p:sp>
      <p:pic>
        <p:nvPicPr>
          <p:cNvPr id="8" name="Picture 7" descr="lucide-search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808" y="1709928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59680" y="2075688"/>
            <a:ext cx="1615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Поиск</a:t>
            </a:r>
          </a:p>
        </p:txBody>
      </p:sp>
      <p:pic>
        <p:nvPicPr>
          <p:cNvPr id="10" name="Picture 9" descr="lucide-sparkles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248" y="170992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2075688"/>
            <a:ext cx="1615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Генерац.</a:t>
            </a:r>
          </a:p>
        </p:txBody>
      </p:sp>
      <p:pic>
        <p:nvPicPr>
          <p:cNvPr id="12" name="Picture 11" descr="lucide-trending-u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688" y="1709928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0560" y="2075688"/>
            <a:ext cx="1615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Прогноз</a:t>
            </a:r>
          </a:p>
        </p:txBody>
      </p:sp>
      <p:pic>
        <p:nvPicPr>
          <p:cNvPr id="14" name="Picture 13" descr="lucide-list-checks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9127" y="170992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05999" y="2075688"/>
            <a:ext cx="1615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Планиров.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746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Текст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604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Изображ.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462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Звук / видео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320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Структ. 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178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Код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4228" y="2468880"/>
            <a:ext cx="9144" cy="34290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9668" y="2468880"/>
            <a:ext cx="9144" cy="34290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55108" y="2468880"/>
            <a:ext cx="9144" cy="34290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0548" y="2468880"/>
            <a:ext cx="9144" cy="34290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5987" y="2468880"/>
            <a:ext cx="9144" cy="34290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01427" y="2468880"/>
            <a:ext cx="9144" cy="34290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16867" y="2468880"/>
            <a:ext cx="9144" cy="34290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0" y="2464308"/>
            <a:ext cx="969264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3150108"/>
            <a:ext cx="969264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3835908"/>
            <a:ext cx="969264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4521708"/>
            <a:ext cx="969264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5207508"/>
            <a:ext cx="969264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0" y="5893308"/>
            <a:ext cx="969264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83664" y="25420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26654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BERT, спам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83664" y="32278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40" y="33512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ResNet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83664" y="39136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40370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PANNs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83664" y="45994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47228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XGBoost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83664" y="52852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0240" y="54086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CodeBERT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9104" y="25420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35680" y="26654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spaCy NER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99104" y="32278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35680" y="33512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YOLO 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99104" y="39136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35680" y="40370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Whisper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99104" y="45994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35680" y="47228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OCR таблиц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99104" y="52852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35680" y="54086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Snyk, Sonar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14544" y="25420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51120" y="26654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BM25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14544" y="32278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51120" y="33512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CLIP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14544" y="39136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51120" y="40370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Shazam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14544" y="45994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51120" y="47228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vector DB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14544" y="52852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51120" y="54086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Copilot search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29983" y="25420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59" y="26654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GPT-4o, Claude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29983" y="32278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59" y="33512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DALL-E, MJ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29983" y="39136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66559" y="40370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ElevenLabs, Sora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729983" y="45994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59" y="47228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Codex tab.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729983" y="52852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66559" y="54086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Cursor, Claude Code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45424" y="2674620"/>
            <a:ext cx="15057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5EAF0"/>
                </a:solidFill>
                <a:latin typeface="Arial"/>
              </a:rPr>
              <a:t>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45424" y="32278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81999" y="33512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frame predict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45424" y="39136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81999" y="40370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video forecast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345424" y="45994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81999" y="47228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Prophet, ARIMA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45424" y="5417820"/>
            <a:ext cx="15057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5EAF0"/>
                </a:solidFill>
                <a:latin typeface="Arial"/>
              </a:rPr>
              <a:t>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60864" y="25420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97439" y="26654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ReAct, AutoGPT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60864" y="32278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97439" y="33512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visual nav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0864" y="4046220"/>
            <a:ext cx="15057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5EAF0"/>
                </a:solidFill>
                <a:latin typeface="Arial"/>
              </a:rPr>
              <a:t>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60864" y="45994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997439" y="47228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scheduling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60864" y="5285232"/>
            <a:ext cx="1505711" cy="539496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97439" y="5408676"/>
            <a:ext cx="14325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Devin, OpenClaw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02920" y="6263640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6336792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YOLO ← demo s01 (gold). Подход к обучению и архитектура — на лекции 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Одна задача, три способа: контроль распределяется между разработчиком и пользователем.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54480" y="1737360"/>
            <a:ext cx="676656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3538728"/>
            <a:ext cx="676656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3188" y="1737360"/>
            <a:ext cx="9144" cy="361188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3177540"/>
            <a:ext cx="1417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Контроль
разработчика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64207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6B7685"/>
                </a:solidFill>
                <a:latin typeface="Arial"/>
              </a:rPr>
              <a:t>высокий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542239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6B7685"/>
                </a:solidFill>
                <a:latin typeface="Arial"/>
              </a:rPr>
              <a:t>низкий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422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Делегирование от пользователя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80644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6B7685"/>
                </a:solidFill>
                <a:latin typeface="Arial"/>
              </a:rPr>
              <a:t>← низкий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580644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1">
                <a:solidFill>
                  <a:srgbClr val="6B7685"/>
                </a:solidFill>
                <a:latin typeface="Arial"/>
              </a:rPr>
              <a:t>высокий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1828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нет смысла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49651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опасная зона</a:t>
            </a:r>
          </a:p>
        </p:txBody>
      </p:sp>
      <p:sp>
        <p:nvSpPr>
          <p:cNvPr id="14" name="Oval 13"/>
          <p:cNvSpPr/>
          <p:nvPr/>
        </p:nvSpPr>
        <p:spPr>
          <a:xfrm>
            <a:off x="2473452" y="3759098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401055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465063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Сам контролирует
каждый шаг</a:t>
            </a:r>
          </a:p>
        </p:txBody>
      </p:sp>
      <p:sp>
        <p:nvSpPr>
          <p:cNvPr id="17" name="Oval 16"/>
          <p:cNvSpPr/>
          <p:nvPr/>
        </p:nvSpPr>
        <p:spPr>
          <a:xfrm>
            <a:off x="4503420" y="3108960"/>
            <a:ext cx="868680" cy="868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3604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00050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Средний / средний</a:t>
            </a:r>
          </a:p>
        </p:txBody>
      </p:sp>
      <p:sp>
        <p:nvSpPr>
          <p:cNvPr id="20" name="Oval 19"/>
          <p:cNvSpPr/>
          <p:nvPr/>
        </p:nvSpPr>
        <p:spPr>
          <a:xfrm>
            <a:off x="6533388" y="2025395"/>
            <a:ext cx="868680" cy="868680"/>
          </a:xfrm>
          <a:prstGeom prst="ellipse">
            <a:avLst/>
          </a:prstGeom>
          <a:solidFill>
            <a:srgbClr val="F0AB00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27685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Агент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916936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Делегирует задачу,
разраб задаёт каркас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2194560"/>
            <a:ext cx="3093415" cy="3017520"/>
          </a:xfrm>
          <a:prstGeom prst="roundRect">
            <a:avLst>
              <a:gd name="adj" fmla="val 1010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331720"/>
            <a:ext cx="2636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Одна и та же задача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743200"/>
            <a:ext cx="26362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Извлечь поля из входящего PDF-договора:
• дата подписания
• контрагент
• сумма
• срок действия
и положить в таблицу.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98932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062472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Распределение контроля — инженерное решение, а не достоинство одного способа над другим.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Модель — компонент, не система. Inference: вход → препроцессинг → модель → постпроцессинг → выход.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007" y="2011680"/>
            <a:ext cx="1828800" cy="14630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8007" y="2194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Сырой
вход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1159" y="2816352"/>
            <a:ext cx="16824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кадр камеры,
текст, звук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92527" y="2542032"/>
            <a:ext cx="411480" cy="402336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49727" y="2011680"/>
            <a:ext cx="1828800" cy="14630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49727" y="2194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Препро-
цессинг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2879" y="2816352"/>
            <a:ext cx="16824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масштабирование,
обрезка, токенизация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24247" y="2542032"/>
            <a:ext cx="411480" cy="402336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81447" y="2011680"/>
            <a:ext cx="1828800" cy="146304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1447" y="2194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4599" y="2816352"/>
            <a:ext cx="16824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инференс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55967" y="2542032"/>
            <a:ext cx="411480" cy="402336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13167" y="2011680"/>
            <a:ext cx="1828800" cy="14630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3167" y="2194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Постпро-
цессинг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6319" y="2816352"/>
            <a:ext cx="16824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фильтрация,
нормализация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87687" y="2542032"/>
            <a:ext cx="411480" cy="402336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44887" y="2011680"/>
            <a:ext cx="1828800" cy="14630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4887" y="2194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Выход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8039" y="2816352"/>
            <a:ext cx="16824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JSON, метка,
действие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007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↑ внешняя система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9727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065A82"/>
                </a:solidFill>
                <a:latin typeface="Arial"/>
              </a:rPr>
              <a:t>↑ разработчик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47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↑ AI-модель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3167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065A82"/>
                </a:solidFill>
                <a:latin typeface="Arial"/>
              </a:rPr>
              <a:t>↑ разработчик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4887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↑ приложение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0887" y="4526280"/>
            <a:ext cx="2560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887" y="47091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YOLOv8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887" y="51206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детекция
на изображениях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4087" y="4526280"/>
            <a:ext cx="2560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44087" y="47091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Whisper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4087" y="51206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распознавание
речи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7287" y="4526280"/>
            <a:ext cx="2560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7287" y="47091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Stable Diffusion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287" y="51206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генерация
изображений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0487" y="4526280"/>
            <a:ext cx="2560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0487" y="47091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AlphaFold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0487" y="51206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прогноз
структур белков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94360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016752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Препроцессинг и постпроцессинг — ответственность разработчика. YOLO = 50 строк; рабочая система с YOLO = сотни строк.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Как работает чат: цикл диалога.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56032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24912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79476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59352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737360"/>
            <a:ext cx="3429000" cy="594360"/>
          </a:xfrm>
          <a:prstGeom prst="roundRect">
            <a:avLst>
              <a:gd name="adj" fmla="val 2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81051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Системный промпт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6654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роль, ограничения, формат ответа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560320"/>
            <a:ext cx="342900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651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Сообщение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44368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вопрос / инструкция / фрагмент данных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4388" y="2350008"/>
            <a:ext cx="329184" cy="219456"/>
          </a:xfrm>
          <a:prstGeom prst="down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1435608" y="2857499"/>
            <a:ext cx="100583" cy="18288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001768" y="2857499"/>
            <a:ext cx="100583" cy="18288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2560320"/>
            <a:ext cx="2011680" cy="2011680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2004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1187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5001768" y="4091940"/>
            <a:ext cx="100583" cy="182880"/>
          </a:xfrm>
          <a:prstGeom prst="lef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3794760"/>
            <a:ext cx="342900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388620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Ответ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78808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токен за токеном · дописывается в историю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1435608" y="4091940"/>
            <a:ext cx="100583" cy="182880"/>
          </a:xfrm>
          <a:prstGeom prst="lef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006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⋮  следующая итерация (история накапливается)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1737360"/>
            <a:ext cx="4236415" cy="150876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810512"/>
            <a:ext cx="3870655" cy="1362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Контроль через системный промпт.
Промпт задаёт роль, ограничения, формат. Один и тот же чат настраивается под разные сценарии — это инженерный рычаг разработчика.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520440"/>
            <a:ext cx="4236415" cy="16916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3593592"/>
            <a:ext cx="3870655" cy="1545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Ограничение — контекстное окно.
128k–1M токенов; когда история перестаёт помещаться, старые сообщения выпадают и чат «забывает» начало длинного разговора. Это ограничение модели, не баг.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Чат — это конвейер «собрать → подать → дописать → показать», а не магия.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Чат = модель + интерфейс + память диалога.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5943600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Кейс — типовой для чата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1295C"/>
                </a:solidFill>
                <a:latin typeface="Arial"/>
              </a:rPr>
              <a:t>Инженер получил непонятное ТЗ от смежного отдела, нужно составить чек-лист своей работы.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47472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11879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Вы: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Объясни пункт 4.2 ТЗ простыми словами.</a:t>
            </a:r>
          </a:p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Чат: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Это требование к…</a:t>
            </a:r>
          </a:p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Вы: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Составь чек-лист на 5 пунктов.</a:t>
            </a:r>
          </a:p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Чат: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1. Проверить…  2. Согласовать…  3.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Разовая задача с уточнениями — оптимально для чата. Не модель, не агент, не приложение.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59" y="1783080"/>
            <a:ext cx="4937760" cy="4114800"/>
          </a:xfrm>
          <a:prstGeom prst="roundRect">
            <a:avLst>
              <a:gd name="adj" fmla="val 7407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79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Disclaimer для прод-систем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2560320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Чистые чаты почти не используются в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3566160"/>
            <a:ext cx="4389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Почти везде они расширены до агентов — хотя бы для долгосрочной памяти и поиска по корпоративной базе (RAG).
Архитектуру агента разберём на следующем слайде.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62472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Возвращаемся к: где AI работает, а где — нет?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Агент = чат + оркестратор + внешняя память + инструменты.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77840" y="2971800"/>
            <a:ext cx="2194560" cy="14630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3108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LLM /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3657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модель + интерфейс
+ память диалога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600200"/>
            <a:ext cx="3200400" cy="914400"/>
          </a:xfrm>
          <a:prstGeom prst="roundRect">
            <a:avLst>
              <a:gd name="adj" fmla="val 15000"/>
            </a:avLst>
          </a:prstGeom>
          <a:solidFill>
            <a:srgbClr val="F0AB00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ОРКЕСТРАТОР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011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планирование • decision loop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063239"/>
            <a:ext cx="1280160" cy="128016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38727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Пользователь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31720" y="3429000"/>
            <a:ext cx="3200400" cy="18288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2331720" y="3794759"/>
            <a:ext cx="3200400" cy="182880"/>
          </a:xfrm>
          <a:prstGeom prst="lef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39" y="4800600"/>
            <a:ext cx="2194560" cy="109728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ПАМЯТЬ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52578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vector DB,
файлы, логи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800600"/>
            <a:ext cx="2194560" cy="109728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ИНСТРУМЕНТЫ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2578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API, файлы,
code,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7688" y="2514600"/>
            <a:ext cx="54864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4434840"/>
            <a:ext cx="54864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3688" y="4434840"/>
            <a:ext cx="54864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Цикл (ReAct): plan → act → observe → reflect → continue /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Yao et al. 2022 (arXiv:2210.03629)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Агент за работой: 200 PDF — последовательность шагов.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3657600" cy="461772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Кейс — типовой для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200 PDF-отчётов.
Извлечь дату, контрагента, сумму.
Собрать сводную таблицу.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Не модель — нет специализированной модели «возьми 200 произвольных PDF».
Не чат — некомфортно копировать 200 файлов в окно.
Агент — естественный выбор.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08760"/>
            <a:ext cx="717804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673351"/>
            <a:ext cx="6720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Что делает агент — пошагово, с указанием инструмента</a:t>
            </a:r>
          </a:p>
        </p:txBody>
      </p:sp>
      <p:sp>
        <p:nvSpPr>
          <p:cNvPr id="9" name="Oval 8"/>
          <p:cNvSpPr/>
          <p:nvPr/>
        </p:nvSpPr>
        <p:spPr>
          <a:xfrm>
            <a:off x="4754879" y="2185415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85415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21991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Получить список файлов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221991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2221991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file system</a:t>
            </a:r>
          </a:p>
        </p:txBody>
      </p:sp>
      <p:sp>
        <p:nvSpPr>
          <p:cNvPr id="14" name="Oval 13"/>
          <p:cNvSpPr/>
          <p:nvPr/>
        </p:nvSpPr>
        <p:spPr>
          <a:xfrm>
            <a:off x="4754879" y="271576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27157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52344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Открыть PDF #1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752344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752344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PDF reader</a:t>
            </a:r>
          </a:p>
        </p:txBody>
      </p:sp>
      <p:sp>
        <p:nvSpPr>
          <p:cNvPr id="19" name="Oval 18"/>
          <p:cNvSpPr/>
          <p:nvPr/>
        </p:nvSpPr>
        <p:spPr>
          <a:xfrm>
            <a:off x="4754879" y="324612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282696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Извлечь текст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3282696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282696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text extraction (OCR / parser)</a:t>
            </a:r>
          </a:p>
        </p:txBody>
      </p:sp>
      <p:sp>
        <p:nvSpPr>
          <p:cNvPr id="24" name="Oval 23"/>
          <p:cNvSpPr/>
          <p:nvPr/>
        </p:nvSpPr>
        <p:spPr>
          <a:xfrm>
            <a:off x="4754879" y="3776472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813048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Сделать сводку → vector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3813048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813048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embeddings + vector DB</a:t>
            </a:r>
          </a:p>
        </p:txBody>
      </p:sp>
      <p:sp>
        <p:nvSpPr>
          <p:cNvPr id="29" name="Oval 28"/>
          <p:cNvSpPr/>
          <p:nvPr/>
        </p:nvSpPr>
        <p:spPr>
          <a:xfrm>
            <a:off x="4754879" y="4306824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43068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343400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Найти ключевые поля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4343400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4343400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search + LLM extract</a:t>
            </a:r>
          </a:p>
        </p:txBody>
      </p:sp>
      <p:sp>
        <p:nvSpPr>
          <p:cNvPr id="34" name="Oval 33"/>
          <p:cNvSpPr/>
          <p:nvPr/>
        </p:nvSpPr>
        <p:spPr>
          <a:xfrm>
            <a:off x="4754879" y="4837176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79" y="48371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873752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Записать строку в таблицу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4873752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4873752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Sheets API / CSV writer</a:t>
            </a:r>
          </a:p>
        </p:txBody>
      </p:sp>
      <p:sp>
        <p:nvSpPr>
          <p:cNvPr id="39" name="Oval 38"/>
          <p:cNvSpPr/>
          <p:nvPr/>
        </p:nvSpPr>
        <p:spPr>
          <a:xfrm>
            <a:off x="4754879" y="5367527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79" y="5367527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404103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Цикл по всем 200 файлам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5404103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5404103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orchestrator loop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621792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291072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Агент = последовательность вызовов инструментов, оркестрируемая LLM.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Уровни автономии AI-агентов: дизайн-решение, не свойство модели.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576072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3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5 уровней автономии (Feng / McDonald / Zhang, 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93208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1480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1.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589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пользователь на каждом шаге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5148072"/>
            <a:ext cx="2606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Claude Code «approve each»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79976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2. Collaborator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457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пара, ролями перетекая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4434840"/>
            <a:ext cx="2606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Cursor парное программирование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66744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21607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3. Consultant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325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цель + план + правки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3721607"/>
            <a:ext cx="2606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Devin фиксит баг по тикету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53512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083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4. Approver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192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agent действует, gate на узлах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008376"/>
            <a:ext cx="2606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agent собирает PR, ждёт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40280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F0AB00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29514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5. Observer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606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полная автономия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2295144"/>
            <a:ext cx="2606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AutoGPT на ночь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59" y="1508760"/>
            <a:ext cx="5150815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1691639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Где находится человек по отношению к циклу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219456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28600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Human-in-the-loop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57860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одобряет каждый шаг (≈ ур. 1-2).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315468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24612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Human-on-the-loop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53872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наблюдает, прерывает при отклонениях (≈ ур. 3-4).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11480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20624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Human-out-of-the-loop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49884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только смотрит итог (≈ ур. 5).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507492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516636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Override modes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45896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Любой уровень — с ручным перехватом по тревоге.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217920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291072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Уровень автономии — выбор продукта, не свойство модели. На семинарах будем выбирать осознанно.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Приложение = AI, упакованный в продуктовый интерфейс.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91640"/>
            <a:ext cx="11201400" cy="1280160"/>
          </a:xfrm>
          <a:prstGeom prst="roundRect">
            <a:avLst>
              <a:gd name="adj" fmla="val 23809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2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Google Translate — масштаб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1+ миллиард </a:t>
            </a:r>
            <a:r>
              <a:rPr sz="1400" b="0" i="0">
                <a:solidFill>
                  <a:srgbClr val="21295C"/>
                </a:solidFill>
                <a:latin typeface="Arial"/>
              </a:rPr>
              <a:t>уникальных пользователей в месяц  ·  </a:t>
            </a:r>
            <a:r>
              <a:rPr sz="2600" b="1" i="0">
                <a:solidFill>
                  <a:srgbClr val="F0AB00"/>
                </a:solidFill>
                <a:latin typeface="Arial"/>
              </a:rPr>
              <a:t>1 триллион </a:t>
            </a:r>
            <a:r>
              <a:rPr sz="1400" b="0" i="0">
                <a:solidFill>
                  <a:srgbClr val="21295C"/>
                </a:solidFill>
                <a:latin typeface="Arial"/>
              </a:rPr>
              <a:t>переведённых слов / месяц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across Google Translate, Search, Lens и Circle to Search (Google Blog, апрель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37033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googletran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20439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34747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Google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862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нейронная трансляция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246120"/>
            <a:ext cx="37033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-n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3520439"/>
            <a:ext cx="731520" cy="731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9240" y="34747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Notion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8862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GPT-4/Claude в кнопках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46120"/>
            <a:ext cx="37033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-ya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3520439"/>
            <a:ext cx="731520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0" y="34747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ЯндексGPT в Поиске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8862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AI-краткий ответ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17720"/>
            <a:ext cx="37033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-grammar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892040"/>
            <a:ext cx="731520" cy="7315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48463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Grammarly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578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NLP + LLM подсказки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4617720"/>
            <a:ext cx="37033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-ya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9" y="4892040"/>
            <a:ext cx="731520" cy="731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49240" y="48463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Яндекс.Карты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2578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ML маршрутизация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617720"/>
            <a:ext cx="37033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go-adobefiref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19" y="4892040"/>
            <a:ext cx="731520" cy="731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4000" y="48463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Adobe Firefly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2578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диффузия в Photoshop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062472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AI как функция, а не продукт. Большинство студентов уже ежедневно пользуются всеми шестью.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Чек-лист «Какой тип AI выбрать»: 2 вопроса + квадрант 2×2.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0" y="1508760"/>
            <a:ext cx="68580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33388" y="1508760"/>
            <a:ext cx="9144" cy="374903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3378708"/>
            <a:ext cx="685800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281427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EF5E0"/>
          </a:solidFill>
          <a:ln w="127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1427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55948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1559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59"/>
            <a:ext cx="15544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ВОПРОС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399"/>
            <a:ext cx="15544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Нужно ли взаимодействие с пользователем?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9140" y="5349240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9140" y="534924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8140" y="5349240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EF5E0"/>
          </a:solidFill>
          <a:ln w="127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8140" y="534924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80644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ВОПРОС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609904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Нужна ли самостоятельная работа с инструментами?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78308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ЧАТ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146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корп. чат для
разбора ТЗ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2552" y="1673351"/>
            <a:ext cx="3099816" cy="1545336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78308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АГЕНТ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5146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200 PDF →
сводная таблица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57599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МОДЕЛЬ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3891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конвейерный
детектор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57599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ПРИЛОЖЕНИЕ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3891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ETL с AI-классификатором
(автоматизация)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4 · Границы AI — ваша зона ответственности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Куда уходят данные · ошибки AI · «не умеет» — тоже ваше.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Открытие
и 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Где мы
как пользователи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Резюме · задание ·
карта семестра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Consumer vs enterprise — куда уходят ваши данные.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5532120" cy="3200400"/>
          </a:xfrm>
          <a:prstGeom prst="roundRect">
            <a:avLst>
              <a:gd name="adj" fmla="val 952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ПОТРЕБИТЕЛЬСКИЕ ТАРИФЫ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данные → обучение по умолчанию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3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ChatGPT Free / Plus — train by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Anthropic Claude (с сент. 2025) — opt-in, 5 лет хранение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Gemini Free — train + human review, 3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YandexGPT Free — стандартная политика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532120" cy="3200400"/>
          </a:xfrm>
          <a:prstGeom prst="roundRect">
            <a:avLst>
              <a:gd name="adj" fmla="val 9523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96596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ENTERPRISE /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данные ≠ обучение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306323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ChatGPT Enterprise / Business — no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47472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OpenAI API (с марта 2023) — no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Anthropic for Business — Zero Data Retention доступен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Google Workspace / Vertex AI — no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66360"/>
            <a:ext cx="68580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5780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Samsung 2023 — канонический инцидент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69280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3 эпизода за месяц (март–апрель): код, транскрипт совещания, тестовые последовательности → попали в датасет OpenAI. Самсунг ввёл запрет внешнего GenAI.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166360"/>
            <a:ext cx="4053535" cy="11887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525780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EU AI Act — штрафы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669280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до 15M € / 3% оборота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5989320"/>
            <a:ext cx="3687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до 35M € / 7% — за prohibited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Галлюцинации: AI уверенно генерирует несуществующие DOI.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6858000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Промпт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6400800" cy="640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96312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«Назови три статьи 2023-2024 по теме "сейсмостойкость подземных трубопроводов" с авторами, журналом и DOI».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Ответ AI (3 фейк-ссылки):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Petrov A., Smith J. (2023).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Seismic Resilience of Small-Diameter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DOI: 10.1016/j.engfailanal.2023.107214 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2511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Ivanov K. et al. (2024).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Underground Infrastructure Earthquake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8231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DOI: 10.1080/15732479.2024.2218450 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383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Chen L., Brown R. (2023).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669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Microscale Pipe Vibration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955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DOI: 10.1007/s11069-023-06122-1 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783080"/>
            <a:ext cx="4023360" cy="2926080"/>
          </a:xfrm>
          <a:prstGeom prst="roundRect">
            <a:avLst>
              <a:gd name="adj" fmla="val 10416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965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Vectara HHEM (2025-26)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377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процент галлюцинаций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92608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28090"/>
                </a:solidFill>
                <a:latin typeface="Arial"/>
              </a:rPr>
              <a:t>&lt; 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29183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суммаризация (Gemini 2.0 Flash)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7947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0AB00"/>
                </a:solidFill>
                <a:latin typeface="Arial"/>
              </a:rPr>
              <a:t>10–15%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1605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reasoning (многошаговое)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892040"/>
            <a:ext cx="4023360" cy="10058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965192"/>
            <a:ext cx="365760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Анти-паттерн: «AI знает всё». Любой ответ AI по фактическому вопросу — гипотеза для проверки.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Bias / sycophancy / distribution shift — три проявления одной природы.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9427" y="1691640"/>
            <a:ext cx="3703320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scale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47" y="19659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5267" y="201168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C7293"/>
                </a:solidFill>
                <a:latin typeface="Arial"/>
              </a:rPr>
              <a:t>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47" y="2788920"/>
            <a:ext cx="3154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Модель повторяет перекосы датасета.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3520440"/>
            <a:ext cx="3154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Скрининг резюме обучен на исторических данных — дискриминирует, не «решая», а статистически.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4187" y="1691640"/>
            <a:ext cx="3703320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cide-smartphon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507" y="196596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0027" y="201168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65A82"/>
                </a:solidFill>
                <a:latin typeface="Arial"/>
              </a:rPr>
              <a:t>Sycophancy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8507" y="2788920"/>
            <a:ext cx="3154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Модель учится у RLHF поддакивать.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507" y="3520440"/>
            <a:ext cx="3154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Соглашается с явно неверным, чрезмерно хвалит — пользователь не замечает потери критики.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8947" y="1691640"/>
            <a:ext cx="3703320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ucide-trending-up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267" y="1965960"/>
            <a:ext cx="594360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44787" y="201168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Distribution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267" y="2788920"/>
            <a:ext cx="3154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Данные периода — устаревают.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267" y="3520440"/>
            <a:ext cx="3154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на коде 2023 в 2026 предложит устаревшую библиотеку без явного сбоя.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112014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GPT-4o sycophancy — апрель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25 апр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релиз обновления   →   </a:t>
            </a:r>
            <a:r>
              <a:rPr sz="1400" b="1" i="0">
                <a:solidFill>
                  <a:srgbClr val="065A82"/>
                </a:solidFill>
                <a:latin typeface="Arial"/>
              </a:rPr>
              <a:t>28 апр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начало rollback (Altman в Twitter тем же вечером)   →   </a:t>
            </a:r>
            <a:r>
              <a:rPr sz="1400" b="1" i="0">
                <a:solidFill>
                  <a:srgbClr val="065A82"/>
                </a:solidFill>
                <a:latin typeface="Arial"/>
              </a:rPr>
              <a:t>29 апр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postmortem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8076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Общая причина: модель отражает данные, на которых обучена.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Прогнозы AGI — 4 спикера, 4 разных стимула.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783080"/>
            <a:ext cx="112014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Спикер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87451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Аффилиация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87451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Прогноз 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7451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Материальный интерес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11201400" cy="9144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Sam Altman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«Знаем как построить AGI; начало superintelligence» (янв.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$100B+ раунды; контекст IPO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11201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Dario Amodei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91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91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«AGI через 2–3 года; нобелевский уровень за 2 года» (Давос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Конкуренция с OpenAI; раунд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11201400" cy="9144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Demis Hassabis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2062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Google
DeepMind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062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«50% к концу декады; нужны прорывы в continual learning» (TIME100, 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06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Лидер community; больше доверия при осторожной позиции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83480"/>
            <a:ext cx="11201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Yann LeCun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1206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AMI Labs
(экс-Meta)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1206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«LLM не приведут к AGI; нужны world models, JEPA»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Раунд $1B (март 2026) на альтернативный путь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6172200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245352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Ни один из 4 спикеров не занимает нейтрально-научной позиции.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5 · Что забрать домой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Резюме · задание к семинару 1 · карта семестра · тизер лекции 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Открытие
и 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Где мы
как пользователи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Резюме · задание ·
карта семестра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Что мы прошли + задание к семинару 1.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9427" y="1783080"/>
            <a:ext cx="3703320" cy="27432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2307" y="196596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3827" y="2057400"/>
            <a:ext cx="2606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AI — спектр, не монолит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47" y="3063239"/>
            <a:ext cx="3154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Тип задачи × модальность × тип реализации.
Грамотное обсуждение начинается с явной классификации.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4187" y="1783080"/>
            <a:ext cx="3703320" cy="27432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7067" y="196596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8587" y="2057400"/>
            <a:ext cx="2606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Выбор типа AI — навык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8507" y="3063239"/>
            <a:ext cx="3154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2 диагностических вопроса + квадрант 2×2.
Инструмент, который вы применяете на семинарах.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8947" y="1783080"/>
            <a:ext cx="3703320" cy="27432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1827" y="196596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347" y="2057400"/>
            <a:ext cx="2606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Целеполагание у человека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267" y="3063239"/>
            <a:ext cx="3154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Все классы ошибок требуют человеческого контура.
Граница «AI / не-AI» — ваша инженерная зона.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54880"/>
            <a:ext cx="11201400" cy="15087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52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К СЕМИНАРУ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Принесите свой AI-инструмент → пропустите через 2-вопросный квадрант → одностраничный разбор.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652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Любой формат (текст / схема / таблица). Тема семинара — «Какой тип AI выбрать».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Карта семестра: 17 лекций × 3 модуля.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91640"/>
            <a:ext cx="5218211" cy="4434840"/>
          </a:xfrm>
          <a:prstGeom prst="roundRect">
            <a:avLst>
              <a:gd name="adj" fmla="val 6872"/>
            </a:avLst>
          </a:prstGeom>
          <a:solidFill>
            <a:srgbClr val="FFFFFF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218211" cy="7772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64792"/>
            <a:ext cx="52182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Модуль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50353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Теор.-метод. основы
+ знакомые индустрии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0AB00"/>
                </a:solidFill>
                <a:latin typeface="Arial"/>
              </a:rPr>
              <a:t>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44952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2. Большие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38144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3. Агенты, RAG,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6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4. ПО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24528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5. Финансы / ритейл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6. Инж. проект.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10912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7. Медицина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04104"/>
            <a:ext cx="49896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8. Креативные ◆РК1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6851" y="1691640"/>
            <a:ext cx="2586245" cy="4434840"/>
          </a:xfrm>
          <a:prstGeom prst="roundRect">
            <a:avLst>
              <a:gd name="adj" fmla="val 11785"/>
            </a:avLst>
          </a:prstGeom>
          <a:solidFill>
            <a:srgbClr val="FFFFFF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6851" y="1691640"/>
            <a:ext cx="2586245" cy="7772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6851" y="1764792"/>
            <a:ext cx="25862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Модуль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8291" y="2057400"/>
            <a:ext cx="24033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Высокотехнол. отрасли
(матпроизв., двойн. назн.)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4011" y="2651760"/>
            <a:ext cx="2357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9. Авиакосмос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4011" y="3044952"/>
            <a:ext cx="2357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10. Сельское хоз-во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4011" y="3438144"/>
            <a:ext cx="2357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11. Производство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4011" y="3831336"/>
            <a:ext cx="2357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12. Цифровые двойники ◆РК2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8817" y="1691640"/>
            <a:ext cx="3244237" cy="4434840"/>
          </a:xfrm>
          <a:prstGeom prst="roundRect">
            <a:avLst>
              <a:gd name="adj" fmla="val 9395"/>
            </a:avLst>
          </a:prstGeom>
          <a:solidFill>
            <a:srgbClr val="FFFFFF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98817" y="1691640"/>
            <a:ext cx="3244237" cy="7772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8817" y="1764792"/>
            <a:ext cx="324423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Модуль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0257" y="2057400"/>
            <a:ext cx="30613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FFFFFF"/>
                </a:solidFill>
                <a:latin typeface="Arial"/>
              </a:rPr>
              <a:t>Инфокоммуникации,
наука, добыча, синтез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5977" y="2651760"/>
            <a:ext cx="30156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13. Логистика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5977" y="3044952"/>
            <a:ext cx="30156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14. Телеком + cybersec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5977" y="3438144"/>
            <a:ext cx="30156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15. Наука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5977" y="3831336"/>
            <a:ext cx="30156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16. Нефтегаз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5977" y="4224528"/>
            <a:ext cx="30156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17. Синтез ◆РК3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263640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◆ — рубежные контроли (РК1 на С8, РК2 на С12, РК3 — итоговый — на С17).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Лекция 2: «Как работают современные большие модели».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187451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file-text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219456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18207" y="2240279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Токены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3154679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единицы, на которые модель режет текст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87451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ucide-network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7" y="219456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13167" y="2240279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Эмбеддинги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154679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(векторные представления) — адреса в смысловом пространстве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397763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ucide-eye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087" y="4297679"/>
            <a:ext cx="777240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18207" y="434340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Внимание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087" y="5257800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(attention) — на какие части входа смотреть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97763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ucide-zap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7" y="4297679"/>
            <a:ext cx="777240" cy="777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13167" y="434340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Температура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5257800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случайность выбора следующего токена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80760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21295C"/>
                </a:solidFill>
                <a:latin typeface="Arial"/>
              </a:rPr>
              <a:t>Эти 4 концепта объясняют поведение всех современных LLM — от ChatGPT до DeepSeek.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737360"/>
            <a:ext cx="11201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0" b="1" i="0">
                <a:solidFill>
                  <a:srgbClr val="21295C"/>
                </a:solidFill>
                <a:latin typeface="Arial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0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1">
                <a:solidFill>
                  <a:srgbClr val="065A82"/>
                </a:solidFill>
                <a:latin typeface="Arial"/>
              </a:rPr>
              <a:t>Спасибо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2179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контакты лектора — заполняется перед лекцией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