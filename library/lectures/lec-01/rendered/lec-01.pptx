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/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/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/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/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/>
          <a:p>
            <a:r>
              <a:t>К этому центральному вопросу мы будем возвращаться каждую лекцию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За 75 минут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/>
          <a:p>
            <a:r>
              <a:t>Лекция называется «AI вокруг нас» — потому что 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/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/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/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/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/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/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/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Короткое представление. Я — [имя], работаю в области [сфера], и сейчас занимаюсь [актуальная тема]. С AI работаю [сколько лет] — застал и хайповые волны, и зимы, и реальные внедрения, которые работают, и реальные внедрения, которые не работают.</a:t>
            </a:r>
          </a:p>
          <a:p/>
          <a:p>
            <a:r>
              <a:t>Эта лекция и весь курс — попытка дать вам карту, которой у меня самого не было, когда я только начинал. Мы будем разбирать конкретные инженерные решения, не общие декларации, и внимание к границам — там, где AI ломается, — у нас будет таким же подробным, как и к успешным кейсам.</a:t>
            </a:r>
          </a:p>
          <a:p/>
          <a:p>
            <a:r>
              <a:t>Если в течение курса у вас возникнут вопросы вне формата лекции — связаться можно по [контакт]. Чем раньше задаёте — тем полезнее ответ. Не копите вопросы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/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/>
          <a:p>
            <a:r>
              <a:t>Подход второй — международный стандарт ISO/IEC 22989,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/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/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Сёрла: бенчмарк-эквивалентность не означает понимания.</a:t>
            </a:r>
          </a:p>
          <a:p/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/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/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/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/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/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/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/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/>
          <a:p>
            <a:r>
              <a:t>ChatGPT по состоянию на февраль 2026 имеет около девятисот миллионов еженедельно активных пользователей.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AI, для языка Java — шестьдесят один процент.</a:t>
            </a:r>
          </a:p>
          <a:p/>
          <a:p>
            <a:r>
              <a:t>Stack Overflow Developer Survey 2025,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/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/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/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 — оценка построена на выборке примерно из пятидесяти крупнейших российских организаций по данным CNews, Vedomosti и Intellectual Analytics за март две тысячи двадцать шестого года.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/>
          <a:p>
            <a:r>
              <a:t>Урок: небольшая европейская команда может выпустить модель уровня крупных игроков за несколько месяцев от основания компании. 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13B, модель почти вдвое большего размера.</a:t>
            </a:r>
          </a:p>
          <a:p/>
          <a:p>
            <a:r>
              <a:t>Урок: даже спорная методология подсчёта себестоимости может вызвать реальный, измеримый шок на глобальном рынке — проверяйте заявленные цифры, но не игнорируйте их эффект. 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— один и три–один и шесть миллиарда. Это разные числа: стоимость одного тренировочного прогона и полная инфраструктура. Двадцать седьмого января рынок отреагировал — капитализация Nvidia упала на пятьсот восемьдесят девять миллиардов долларов за один день, крупнейшая однодневная потеря капитализации в истории.</a:t>
            </a:r>
          </a:p>
          <a:p/>
          <a:p>
            <a:r>
              <a:t>Урок: один человек с правильным концептом может выпустить агент или продукт, меняющий рынок за недели. Эпизод третий — OpenClaw,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</a:t>
            </a:r>
          </a:p>
          <a:p/>
          <a:p>
            <a:r>
              <a:t>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 Эпизод четвёртый — llama.cpp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</a:t>
            </a:r>
          </a:p>
          <a:p/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/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/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слоистой структурой. Каждый следующий уровень включает предыдущий и добавляет новые компоненты.</a:t>
            </a:r>
          </a:p>
          <a:p/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/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/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/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/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/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/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 Планирование — построить последовательность действий для достижения цели: маршрут, расписание.</a:t>
            </a:r>
          </a:p>
          <a:p/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Код — частный случай текста, но с особенностями. Мультимодальные комбинации — текст плюс изображение, текст плюс аудио плюс видео.</a:t>
            </a:r>
          </a:p>
          <a:p/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/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/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/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/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/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/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/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/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/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/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/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и как объяснить, почему чат «забывает» старые сообщения.</a:t>
            </a:r>
          </a:p>
          <a:p/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/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/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/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/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/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/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/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это модель, обёрнутая в текстовый интерфейс с памятью диалога в пределах сессии. Пользователь пишет сообщение, модель отвечает, история обоих сообщений включается в контекст следующего обращения. Это даёт ощущение разговора и позволяет уточнять задачу пошагово, что радикально меняет паттерн использования.</a:t>
            </a:r>
          </a:p>
          <a:p/>
          <a:p>
            <a:r>
              <a:t>Современные чаты — это в первую очередь LLM-чаты, хотя бывают и мультимодальные: с возможностью передавать изображения, аудио, файлы. Канонические продукты вы знаете: ChatGPT, Claude, Gemini, DeepSeek Chat, GigaChat, YandexGPT, Mistral Le Chat. Между ними различия в качестве для разных задач, в длине контекстного окна, в стоимости, в доступности модальностей — но базовый паттерн взаимодействия один.</a:t>
            </a:r>
          </a:p>
          <a:p/>
          <a:p>
            <a:r>
              <a:t>Возьмём конкретный пример. Инженер получает непонятный нормативный документ — скажем, ТЗ от смежного отдела с массой ссылок на стандарты и сложными формулировками. Задача — разобраться и составить чек-лист для собственной работы. Это типовой кейс для чата: разовая задача, требующая диалога, с уточнениями по ходу. Здесь не нужна отдельная специализированная модель, потому что нет потока однотипных задач. Не нужен агент, потому что не требуется автоматически открывать файлы и API. И нет специализированного приложения. Чат — оптимальный инструмент.</a:t>
            </a:r>
          </a:p>
          <a:p/>
          <a:p>
            <a:r>
              <a:t>Важная оговорка для промышленных систем. Чистые чаты в том виде, как они есть «из коробки» — то есть просто LLM плюс UI плюс короткая память сессии — в корпоративной среде почти не встречаются. Почти везде, где речь идёт о реальном внедрении, чат расширен до агента: хотя бы для того, чтобы хранить долгосрочную память между сессиями, или для того, чтобы искать ответ в корпоративной базе знаний через RAG (retrieval-augmented generation). Архитектуру агента — что именно добавляется к чату — разберём на следующем слайде.</a:t>
            </a:r>
          </a:p>
          <a:p/>
          <a:p>
            <a:r>
              <a:t>Выбор чата — это инженерное решение о точке на шкале взаимодействия: где правильно выбран тип взаимодействия с AI, там система работает предсказуемо.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/>
          <a:p>
            <a:r>
              <a:t>Первый компонент — оркестратор.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/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/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/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/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/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/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/>
          <a:p>
            <a:r>
              <a:t>Главное — агент это последовательность вызовов конкретных инструментов, оркестрируемая LLM. Не «AI разобрался сам», а «AI вызвал нужные инструменты в правильном порядке».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/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/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/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/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/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/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/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/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/>
          <a:p>
            <a:r>
              <a:t>Канонические примеры однозначных приложений. Google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/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/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/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/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/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вопроса, ответы на которые однозначно определяют один из четырёх типов реализации.</a:t>
            </a:r>
          </a:p>
          <a:p/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/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/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/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/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/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/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</a:t>
            </a:r>
          </a:p>
          <a:p/>
          <a:p>
            <a:r>
              <a:t>Три причины, по которым эта тема — ваша зона ответственности, а не отдельный вопрос для специалистов по AI safety.</a:t>
            </a:r>
          </a:p>
          <a:p/>
          <a:p>
            <a:r>
              <a:t>Первая. Вы уже приняли решение встроить AI — теперь отвечаете за последствия. Если в результате внедрения возникнет инцидент — утечка данных, неправильное решение по клиенту, ошибочный приговор автомата, — отвечать будете не «модель», а вы и ваша команда.</a:t>
            </a:r>
          </a:p>
          <a:p/>
          <a:p>
            <a:r>
              <a:t>Вторая. AI ошибается системно, и эти ошибки предсказуемы. Большинство известных классов проблем — bias, галлюцинации, sycophancy, distribution shift — повторяются от системы к системе. Они не случайные баги, а свойства технологии. Инженер, который не знает этого набора, будет наступать на каждый из них в первый раз.</a:t>
            </a:r>
          </a:p>
          <a:p/>
          <a:p>
            <a:r>
              <a:t>Третья. Граница «что AI не умеет» — ваша зона ответственности. За пределами этой границы — необходимость человеческого решения, дополнительной верификации, запасного сценария. Если вы её не понимаете, систему нельзя считать спроектированной.</a:t>
            </a:r>
          </a:p>
          <a:p/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/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/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/>
          <a:p>
            <a:r>
              <a:t>Enterprise-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/>
          <a:p>
            <a:r>
              <a:t>Канонический инцидент. Март-апрель двадцать третьего года, Samsung.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/>
          <a:p>
            <a:r>
              <a:t>Регуляторика. В Европейском Союзе действует EU AI Act,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/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/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/>
          <a:p>
            <a:r>
              <a:t>Уровень галлюцинаций сильно зависит от задачи. По бенчмарку Vectara Hughes Hallucination Evaluation Model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/>
          <a:p>
            <a:r>
              <a:t>Сопутствующие данные о поведении пользователей. По отчёту CybSafe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/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/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/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/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/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/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/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разметки обратной связи. Дрейф распределения — отсутствие закономерностей нового периода.</a:t>
            </a:r>
          </a:p>
          <a:p/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/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/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/>
          <a:p>
            <a:r>
              <a:t>Дарио Амодей, CEO Anthropic: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/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/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/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/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задание к семинару один: что конкретно принести и зачем.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/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/>
          <a:p>
            <a:r>
              <a:t>Три главных вывода.</a:t>
            </a:r>
          </a:p>
          <a:p/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/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/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/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/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/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/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/>
          <a:p>
            <a:r>
              <a:t>Модуль четыре — экзамен.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/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/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/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/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/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/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/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/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77639"/>
            <a:ext cx="502920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16052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10% доходят 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6517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21295C"/>
                </a:solidFill>
                <a:latin typeface="Arial"/>
              </a:rPr>
              <a:t>Введение —
AI вокруг нас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лекции — 5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200400" cy="32004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0" b="1" i="0">
                <a:solidFill>
                  <a:srgbClr val="FFFFFF"/>
                </a:solidFill>
                <a:latin typeface="Arial"/>
              </a:rPr>
              <a:t>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инициалы лектора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82880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ucide-briefcas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2057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Опыт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51460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[годы работы с AI; конкретные проекты]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324612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lightbulb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3611879"/>
            <a:ext cx="5943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3474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Зачем мне курс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9319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[почему важно лично]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66344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029200"/>
            <a:ext cx="594360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26480" y="4892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Связь со студентами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3492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[контакт, формат вопросов]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движущаяся цель.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263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33679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Мак-Каллок и Питтс:
формальный нейрон
как логический элемент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02575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2575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6895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788920"/>
            <a:ext cx="3139135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139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13 лет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Открытия (1950 — 1980-е)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2402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1292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7180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Turing — Imitation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8264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ELIZA — Weizenbaum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264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3460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9348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348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832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Зимы и прорывы (1973 — 2012)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6118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1-я зима — Lighthill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264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8264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3460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348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348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Перелом и взрыв (2012 — 2026)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6080" y="49834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75760" y="4892040"/>
            <a:ext cx="384048" cy="384048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525780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264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264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3460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9348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348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60720"/>
            <a:ext cx="11201400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833872"/>
            <a:ext cx="10835640" cy="813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900M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февраль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— две оси: тип задачи × модальность.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6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659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204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806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208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826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10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pic>
        <p:nvPicPr>
          <p:cNvPr id="14" name="Picture 13" descr="lucide-list-checks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8460" y="1673351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212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Планиров.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697480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74136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05079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727448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04104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158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160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162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164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166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20240" y="3186684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920240" y="3863340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920240" y="4539996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20240" y="5216652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20240" y="589330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751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116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751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16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751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116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751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116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9751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116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CodeBERT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753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18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753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118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753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118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753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118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753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118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Snyk, Sonar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175503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12079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175503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12079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175503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79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175503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79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75503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12079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Copilot search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775703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12279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775703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12279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75703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12279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775703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12279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775703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12279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Cursor, Claude Code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75904" y="2715768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759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124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frame predict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3759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124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video forecast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3759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4124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75904" y="5422392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761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0126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ReAct, AutoGPT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761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126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visual nav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76104" y="4069080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9761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0126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scheduling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761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0126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Devin, OpenClaw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02920" y="626364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5800" y="633679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64207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223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0644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580644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1991" y="465063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Сам интегрирует API,
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3380" y="400050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Диалог, уточнения
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2916936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Делегирование целиком,
оркестратор решает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Inference: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
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
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
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
белков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YOLO = 50 строк; рабочая система с YOLO = сотни строк.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= модель + интерфейс + память диалога.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59436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Кейс — типовой для чата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3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Инженер получил непонятное ТЗ от смежного отдела, нужно составить чек-лист своей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5760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9476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Объясни пункт 4.2 ТЗ простыми словами.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Это требование к…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Составь чек-лист на 5 пунктов.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1. Проверить…  2. Согласовать…  3.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Разовая задача с уточнениями — оптимально для чата. Не модель, не агент, не приложение.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965960"/>
            <a:ext cx="4937760" cy="4114800"/>
          </a:xfrm>
          <a:prstGeom prst="roundRect">
            <a:avLst>
              <a:gd name="adj" fmla="val 74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79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Оговорка для промышленных систем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274320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Чистые чаты почти не используются в промышленной эксплуатации.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411480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Почти везде они расширены до агентов — хотя бы для долгосрочной памяти и поиска по корпоративной базе (RAG).
Архитектуру агента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чата — точка на шкале взаимодействия, не единственно верный вариант.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32461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6027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3068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план действий (Plan)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вызов инструмента (Act)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Наблюдение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результат в память (Observe)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Рефлексия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достигнута? (Reflect)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188720" y="3977640"/>
            <a:ext cx="1007668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3685032"/>
            <a:ext cx="8915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стоп → результат пользователю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wn Arrow 27"/>
          <p:cNvSpPr/>
          <p:nvPr/>
        </p:nvSpPr>
        <p:spPr>
          <a:xfrm>
            <a:off x="10218420" y="1810511"/>
            <a:ext cx="182880" cy="594360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продолжить — цикл повторяется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196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использует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использует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404872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чтение PDF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465576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извлечение текста (OCR / парсер)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3995927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эмбеддинги + векторная БД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4526279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поиск + извлечение LLM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5056631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запись в таблицу (Sheets API / CSV)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5586983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цикл оркестратора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21808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1. Оператор (Operator)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8698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 на каждом шаге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7698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2. Соавтор (Collaborator)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пара, ролями перетекая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5663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953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3. Консультант (Consultant)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+ план + правки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82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4. Утверждающий (Approver)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агент действует, gate на узлах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3016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агент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68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5. Наблюдатель (Observer)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340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полная автономия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9169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Человек в цикле (Human-in-the-loop)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Человек над циклом (Human-on-the-loop)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Человек вне цикла (Human-out-of-the-loop)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Режимы ручного перехвата (Override)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56232"/>
            <a:ext cx="10652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2"/>
            <a:ext cx="10652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пользователей в месяц  · 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слов переведено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986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 Google Translate, Search, Lens и Circle to Search (Google Blog, апрель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60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6576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65760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9377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93776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 по согласию, 5 лет хранение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 проверка людьми, 3 года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 политика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ENTERPRISE /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 без обучения на данных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 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 нулевое хранение данных доступно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 без обучения на данных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49240"/>
            <a:ext cx="68580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4406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Samsung 2023 — канонический инцидент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5216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5349240"/>
            <a:ext cx="4053535" cy="11887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544068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585216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617220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Галлюцинации: AI уверенно генерирует несуществующие DOI.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GPT-4o: лесть (sycophancy) — апрель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Ни один из 4 спикеров не занимает нейтрально-научной позиции.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лекций, 3 модуля + экзамен.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Итоговая
аттестация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Экзамен
(30 часов,
вкл. подготовку)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1460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10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(посещаемость)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947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62179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контакты лектора — заполняется перед лекцией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