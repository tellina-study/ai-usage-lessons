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Сейчас вы видите простой эксперимент: ноутбук с веб-камерой через проектор показывает изображение зала, а небольшая программа в реальном времени обводит каждого присутствующего рамкой и считает людей в кадре. Под капотом — модель YOLOv8 от Ultralytics, опубликованная в 2023 году. Она обучена на стандартном датасете COCO и распознаёт 80 классов объектов; для нас сейчас важен только класс «person».</a:t>
            </a:r>
          </a:p>
          <a:p/>
          <a:p>
            <a:r>
              <a:t>У этой демонстрации три значимых свойства, которые формируют один из главных тезисов лекции. Во-первых, модель работает локально — на CPU обычного ноутбука, без видеокарты и без обращения к облачным серверам. Во-вторых, скорость составляет около 30 кадров в секунду, что достаточно для реального времени на видеопотоке. В-третьих, никакого интернета: камера, модель и проектор — три компонента в одной комнате, никакие изображения никуда не передаются.</a:t>
            </a:r>
          </a:p>
          <a:p/>
          <a:p>
            <a:r>
              <a:t>Это пример того, что в литературе называют narrow AI — система, обученная на одной чётко поставленной задаче и больше ничего не умеющая. Та же модель не сможет вести с вами беседу, не напишет код, не предложит маркетинговую стратегию. Зато на своей единственной задаче она работает быстро и предсказуемо. Сегодня мы увидим, что таких систем в инженерной практике большинство, и что выбирать тип AI под задачу — отдельный навык, который мы будем тренировать весь курс.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Здравствуйте. Это курс «Отраслевое применение систем искусственного интеллекта» — про то, как AI используется в реальных индустриях: от разработки ПО и финансов до авиакосмоса, сельского хозяйства и медицины. Курс не про то, как обучать модели с нуля, а про то, как грамотно выбирать, внедрять и оценивать готовые AI-решения в инженерном контексте. Сегодня — первая лекция, вводная. Начнём с короткой демонстрации, а потом перейдём к тому, зачем вообще нужен весь этот курс.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«можно ли AI» в 2026 году уже неинтересен — можно. Девятьсот миллионов человек пользуются ChatGPT каждую неделю, половина разработчиков — каждый день. Это уже не «надо ли начинать», это уже инфраструктура, на которой работают другие продукты.</a:t>
            </a:r>
          </a:p>
          <a:p/>
          <a:p>
            <a:r>
              <a:t>А вот вопрос «нужно ли и где» — открытый. По сводным данным деловых изданий, около девяноста процентов корпоративных AI-пилотов в России не доходят до полноценного промышленного развёртывания: тридцать-сорок процентов закрываются без эффекта, лишь семь-десять процентов доходят до production. Это не уникальная для России проблема — McKinsey и Gartner регулярно публикуют похожие цифры по другим рынкам. Корпоративные AI-проекты повсеместно сталкиваются с разрывом между демонстрационной готовностью и продакшн-надёжностью.</a:t>
            </a:r>
          </a:p>
          <a:p/>
          <a:p>
            <a:r>
              <a:t>Это сочетание — массовое распространение и массовый провал — формирует центральную инженерную задачу курса. Главный вопрос звучит так: где AI работает, где не работает, и как заранее это понять. Это диагностический вопрос, не триумфальный. Курс не обещает рецепт успеха; он даёт способ отличать применения, в которых AI уместен, от применений, в которых он создаёт иллюзию решения. От этого различения зависят бюджет, время, надёжность системы и иногда — безопасность людей.</a:t>
            </a:r>
          </a:p>
          <a:p/>
          <a:p>
            <a:r>
              <a:t>К этому центральному вопросу мы будем возвращаться каждую лекцию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вводная лекция курса «AI в разных отраслях». Мы построим общую карту: что такое AI как класс технологий, в каком состоянии он находится в 2026 году, какие способы реализации систем с AI существуют в инженерной практике, и где у этих систем границы.</a:t>
            </a:r>
          </a:p>
          <a:p/>
          <a:p>
            <a:r>
              <a:t>К 2026 году AI перестал быть отдельным продуктом и стал инфраструктурным слоем, который незаметно работает в десятках сервисов, которыми вы пользуетесь каждый день. Голосовой ввод в смартфоне, навигация по пробкам, разблокировка лица, фильтр спама в почте, рекомендации в музыкальном сервисе, автодополнение в браузере — всё это AI, который большинство пользователей перестали воспринимать как AI.</a:t>
            </a:r>
          </a:p>
          <a:p/>
          <a:p>
            <a:r>
              <a:t>Цель лекции — не познакомить вас со всеми возможными AI-инструментами (это технически невозможно, рынок меняется быстрее, чем выходят учебники), а дать рабочий язык: чем модель отличается от чата, чем чат — от агента, и как за тридцать секунд понять, какой тип AI подходит под конкретную задачу. К концу лекции у вас будет простой инструмент — два диагностических вопроса плюс квадрант — который мы дальше будем применять во всех остальных лекциях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двигаться дальше — короткая навигация. Лекция состоит из пяти разделов, последовательно отвечающих на пять разных вопросов.</a:t>
            </a:r>
          </a:p>
          <a:p/>
          <a:p>
            <a:r>
              <a:t>Раздел 0, в котором мы сейчас, — открытие: короткая демонстрация, представление преподавателя и центральный вопрос курса.</a:t>
            </a:r>
          </a:p>
          <a:p/>
          <a:p>
            <a:r>
              <a:t>Раздел 1 — что такое AI и почему определений много. Здесь же пройдёмся по семидесятилетней истории дисциплины, включая предысторию до появления самого термина, и зафиксируем ключевую точку перелома 2017 года.</a:t>
            </a:r>
          </a:p>
          <a:p/>
          <a:p>
            <a:r>
              <a:t>Раздел 2 — где мы сейчас, в 2022–2026 годах. Цифры проникновения AI в мире и в России, и обзор прорывов от не-первых игроков.</a:t>
            </a:r>
          </a:p>
          <a:p/>
          <a:p>
            <a:r>
              <a:t>Раздел 3 — самый большой раздел лекции. Четыре способа реализации систем с AI: модель, чат, агент, приложение. Разберём каждый со схемой и примером, а в финале раздела получим практический инструмент выбора типа AI.</a:t>
            </a:r>
          </a:p>
          <a:p/>
          <a:p>
            <a:r>
              <a:t>Раздел 4 — границы и безопасность. Куда уходят данные, что такое галлюцинации, три проявления подстраивания модели под данные, и концептуальные границы AI как класса технологий.</a:t>
            </a:r>
          </a:p>
          <a:p/>
          <a:p>
            <a:r>
              <a:t>Раздел 5 — заключение, карта семестра и анонс лекции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начала — коротко о себе. Я архитектор, технический и продуктовый лидер</a:t>
            </a:r>
          </a:p>
          <a:p>
            <a:r>
              <a:t>в разработке и внедрении информационных систем, больше двадцати лет в ИТ.</a:t>
            </a:r>
          </a:p>
          <a:p>
            <a:r>
              <a:t>За это время под моим руководством было реализовано больше десяти</a:t>
            </a:r>
          </a:p>
          <a:p>
            <a:r>
              <a:t>завершённых проектов — от системного анализа и проектирования архитектуры</a:t>
            </a:r>
          </a:p>
          <a:p>
            <a:r>
              <a:t>до управления данными, автоматизации бизнес-процессов и запуска продуктов.</a:t>
            </a:r>
          </a:p>
          <a:p/>
          <a:p>
            <a:r>
              <a:t>Я работал и как консультант, и как штатный сотрудник — с Яндексом, МТС,</a:t>
            </a:r>
          </a:p>
          <a:p>
            <a:r>
              <a:t>Магнитом, Сибуром. Это разные индустрии — технологии, телеком, ритейл,</a:t>
            </a:r>
          </a:p>
          <a:p>
            <a:r>
              <a:t>нефтехимия — и в каждой AI применялся по-своему, с разным успехом. Именно</a:t>
            </a:r>
          </a:p>
          <a:p>
            <a:r>
              <a:t>поэтому меня интересует не общий разговор про «искусственный интеллект», а</a:t>
            </a:r>
          </a:p>
          <a:p>
            <a:r>
              <a:t>конкретная инженерная граница: где AI реально экономит время и деньги, а</a:t>
            </a:r>
          </a:p>
          <a:p>
            <a:r>
              <a:t>где — красивая демонстрация, которая разваливается в продакшене.</a:t>
            </a:r>
          </a:p>
          <a:p/>
          <a:p>
            <a:r>
              <a:t>Этот курс — попытка дать вам карту, которой у меня самого не было, когда я</a:t>
            </a:r>
          </a:p>
          <a:p>
            <a:r>
              <a:t>только начинал разбираться с этими инструментами в реальных проектах. Мы</a:t>
            </a:r>
          </a:p>
          <a:p>
            <a:r>
              <a:t>будем разбирать конкретные инженерные решения, а не общие декларации, и</a:t>
            </a:r>
          </a:p>
          <a:p>
            <a:r>
              <a:t>границам — там, где AI ломается, — будет уделено столько же внимания,</a:t>
            </a:r>
          </a:p>
          <a:p>
            <a:r>
              <a:t>сколько успешным кейсам.</a:t>
            </a:r>
          </a:p>
          <a:p/>
          <a:p>
            <a:r>
              <a:t>Если в течение курса возникнут вопросы вне формата лекции — пишите в</a:t>
            </a:r>
          </a:p>
          <a:p>
            <a:r>
              <a:t>Telegram (@Maxim_Levko) или на почту (Levko.maxim@gmail.com). Чем раньше</a:t>
            </a:r>
          </a:p>
          <a:p>
            <a:r>
              <a:t>задаёте вопрос, тем полезнее будет ответ — не копите их до конца семестра.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познакомились и обозначили главный вопрос курса. Дальше — первый содержательный раздел: что такое AI.</a:t>
            </a:r>
          </a:p>
          <a:p/>
          <a:p>
            <a:r>
              <a:t>Структура раздела короткая, но плотная. Сначала — почему определений AI много и откуда берётся эффект движущейся цели. Затем — факт-мостик: идея формального нейрона старше самого термина «искусственный интеллект». И в финале раздела — сжатый семидесятилетний таймлайн дисциплины с чёткой точкой перелома в 2017 году.</a:t>
            </a:r>
          </a:p>
          <a:p/>
          <a:p>
            <a:r>
              <a:t>К концу раздела у вас будет общий язык для разговора об AI: откуда взялись разные определения, почему они не противоречат друг другу, и в какой момент истории AI стал тем, чем является сейчас.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Любой студент, начавший читать литературу по AI, быстро обнаруживает, что одного канонического определения у предмета нет. Это не недоработка авторов учебников и не пробел в стандартизации — это отражение природы предмета. Прежде чем переходить к практическим типам систем, важно зафиксировать, какие определения сосуществуют в литературе и почему они не противоречат, а дополняют друг друга.</a:t>
            </a:r>
          </a:p>
          <a:p/>
          <a:p>
            <a:r>
              <a:t>Подход первый — Russell и Norvig в каноническом учебнике AIMA предлагают разложить определения AI по матрице: думание против действия, человекоподобно против рационально. Сами авторы склоняются к четвёртой клетке — «действующий рационально», потому что она не требует решать философский вопрос, что такое мышление.</a:t>
            </a:r>
          </a:p>
          <a:p/>
          <a:p>
            <a:r>
              <a:t>Подход второй — международный стандарт ISO/IEC 22989, на который опирается европейская регуляторика. Определение через возможности и через источник целей: AI-система генерирует выходы для целей, заданных человеком.</a:t>
            </a:r>
          </a:p>
          <a:p/>
          <a:p>
            <a:r>
              <a:t>Подход третий — функциональный, через обучение. Программа улучшает поведение на задаче с метрикой за счёт опыта. Это инженерный критерий: если поведение системы можно полностью описать правилами «если — то», это не AI; если поведение возникает из обученной модели — это AI, даже если модель проста.</a:t>
            </a:r>
          </a:p>
          <a:p/>
          <a:p>
            <a:r>
              <a:t>Подход четвёртый — через сравнение с человеком и через бенчмарки. Породил линию тестов от шахмат до ARC-AGI. Классическое возражение — Chinese Room Сёрла: бенчмарк-эквивалентность не означает понимания.</a:t>
            </a:r>
          </a:p>
          <a:p/>
          <a:p>
            <a:r>
              <a:t>И главное — AI Effect, описанный Памелой Маккордак: как только техника начинает работать, её перестают называть AI. Распознавание речи, навигация по пробкам, разблокировка лица — всё это в момент появления было AI, а сейчас называется просто функцией приложения. Поэтому определение AI всё время сдвигается: как только задача решена и встроена в продукт, она остывает до уровня обыденной техники.</a:t>
            </a:r>
          </a:p>
          <a:p/>
          <a:p>
            <a:r>
              <a:t>В курсе мы будем явно называть, какое из четырёх определений работает в каждой ситуации. Главное — не выбирать одно как «правильное».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Ещё до того, как появился сам термин «искусственный интеллект», нейрофизиолог Уоррен Мак-Каллок и логик Уолтер Питтс опубликовали работу, формализующую нейрон как логический элемент: сеть таких простых бинарных элементов теоретически способна вычислить любую функцию, выразимую в терминах логики. Статья вышла в 1943 году — на 13 лет раньше Дартмутской конференции 1956 года, где термин «AI» появится впервые.</a:t>
            </a:r>
          </a:p>
          <a:p/>
          <a:p>
            <a:r>
              <a:t>Формальный нейрон Мак-Каллока — Питтса не был инженерной системой в современном смысле и не решал прикладных задач, но он предвосхитил коннекционистскую традицию — линию мысли, из которой десятилетия спустя вырастут искусственные нейронные сети и, в конечном счёте, архитектуры вроде Трансформера.</a:t>
            </a:r>
          </a:p>
          <a:p/>
          <a:p>
            <a:r>
              <a:t>Полезно держать в голове эту дату как напоминание: идея «нейросети» на теоретическом уровне старше самого термина «искусственный интеллект». Дальше мы посмотрим на историю уже с 1956 года — с момента, когда термин появился официально.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История AI как инженерной дисциплины — около семидесяти лет. Чтобы двадцать фактоидов не сливались, разделим хронологию на три тематические группы.</a:t>
            </a:r>
          </a:p>
          <a:p/>
          <a:p>
            <a:r>
              <a:t>Первая группа — открытия и первая практика, с пятидесятых до восьмидесятых. В пятидесятом году Тьюринг публикует «Imitation Game». В пятьдесят шестом — Дартмутская конференция, где Маккарти, Мински, Рочестер и Шеннон вводят сам термин «artificial intelligence». В шестьдесят шестом — Вайценбаум создаёт ELIZA, простую программу-психотерапевта, и обнаруживает, что пользователи приписывают ей понимание. В восьмидесятые — коммерческий бум экспертных систем: рулбейзед-системы XCON, MYCIN, японский проект «Пятого поколения».</a:t>
            </a:r>
          </a:p>
          <a:p/>
          <a:p>
            <a:r>
              <a:t>Вторая группа — зимы и прорывы, с семидесятых до начала десятых. Первая зима после доклада Лайтхилла британскому правительству и сокращения финансирования DARPA. Вторая — обрушение рынка специализированных AI-машин Symbolics в конце восьмидесятых. И прорывы между зимами: в девяносто седьмом Deep Blue от IBM побеждает Каспарова, оценивая двести миллионов позиций в секунду. В двенадцатом — AlexNet выигрывает ImageNet, доказывая, что глубокие свёрточные сети, обученные на GPU, бьют ручные признаки.</a:t>
            </a:r>
          </a:p>
          <a:p/>
          <a:p>
            <a:r>
              <a:t>Третья группа — точка перелома и взрыв. В семнадцатом году Васвани и семь соавторов публикуют «Attention Is All You Need», вводя архитектуру Трансформера. На май две тысячи двадцать шестого статья имеет более ста шестидесяти тысяч цитирований Google Scholar. В двадцать втором — OpenAI запускает ChatGPT; миллион пользователей за пять дней. В двадцать четвёртом — двадцать шестом — взрывной рост reasoning-моделей и агентских систем.</a:t>
            </a:r>
          </a:p>
          <a:p/>
          <a:p>
            <a:r>
              <a:t>Две зимы важны как методологический урок. Когда обещания массово не сбываются, поле теряет ресурсы. Сегодняшняя волна — четвёртая в истории AI. Пока избегает зимы за счёт того, что часть обещаний действительно сбывается. Но история учит: не все сбудутся, и инженер должен уметь различать то, что работает уже сейчас, от того, что обещано на тридцатый год.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разобрались, что такое AI и откуда он взялся. Дальше — короткий раздел про настоящее: где AI находится прямо сейчас, в 2026 году.</a:t>
            </a:r>
          </a:p>
          <a:p/>
          <a:p>
            <a:r>
              <a:t>Сначала — масштаб в цифрах: сколько людей и компаний уже используют AI ежедневно, и почему это одновременно уживается с массовым провалом пилотных проектов. Затем — обзор прорывов 2023–2026 годов от команд, которые не были очевидными фаворитами рынка: это открывает пространство для того, что дальше в курсе будем разбирать вы сами.</a:t>
            </a:r>
          </a:p>
          <a:p/>
          <a:p>
            <a:r>
              <a:t>Раздел короткий — шесть минут, — но именно он задаёт масштаб: AI одновременно везде и почти нигде не доведён до конца. Это напряжение — центральная тема всего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 двадцать шестому году AI перестал быть отдельным продуктом и стал инфраструктурным слоем, на котором работают другие продукты. Несколько показательных цифр.</a:t>
            </a:r>
          </a:p>
          <a:p/>
          <a:p>
            <a:r>
              <a:t>ChatGPT по состоянию на февраль 2026 имеет около девятисот миллионов еженедельно активных пользователей. Это weekly active users, не monthly: цифры месячной активности существенно выше. GitHub Copilot имеет более двадцати миллионов пользователей; у тех, кто им регулярно пользуется, до сорока шести процентов кода написано AI, для языка Java — шестьдесят один процент.</a:t>
            </a:r>
          </a:p>
          <a:p/>
          <a:p>
            <a:r>
              <a:t>Stack Overflow Developer Survey 2025, выборка сорок девять тысяч с лишним респондентов из ста семидесяти семи стран, показывает: восемьдесят четыре процента разработчиков используют или планируют использовать AI-инструменты в работе. Пятьдесят один процент профессиональных разработчиков работают с AI ежедневно. И одновременно сорок шесть процентов не доверяют точности AI-ответов на вопросы по коду — против тридцати одного процента годом ранее.</a:t>
            </a:r>
          </a:p>
          <a:p/>
          <a:p>
            <a:r>
              <a:t>Важная оговорка про доверие. Эти две цифры — пятьдесят один процент ежедневных пользователей и сорок шесть процентов недоверчивых — на первый взгляд кажутся противоречивыми. На самом деле они согласованы: общий тренд — рост проникновения, а точечная оценка точности кода стала критичнее, потому что разработчики накопили опыт работы с AI и научились видеть, где он ошибается. Это не «доверие падает», это «доверие становится более нюансированным». Дисциплина проверки — желательное поведение.</a:t>
            </a:r>
          </a:p>
          <a:p/>
          <a:p>
            <a:r>
              <a:t>Объём рынка — триста девяносто целых девять десятых миллиарда долларов в 2025 году с прогнозом роста до пятисот тридцати девяти с половиной миллиардов в 2026 (Grand View Research, 2026). По другим методологиям — например, узкому software-only определению Statista — оценки за 2025 год ниже, около 244–260 миллиардов. Разброс отражает то, что считать AI-рынком: продажи моделей, инфраструктуру, embedded-AI, услуги интеграции.</a:t>
            </a:r>
          </a:p>
          <a:p/>
          <a:p>
            <a:r>
              <a:t>И параллельно — контр-факт. По сводным данным деловых изданий, около девяноста процентов AI-пилотов в России не доходят до полноценного промышленного развёртывания. Источник оценки — исследование консалтинговой компании Intellectual Analytics (декабрь 2025 — февраль 2026, опубликовано Vedomosti в марте), выборка из пятидесяти крупнейших организаций в IT, промышленности, финансах, госсекторе и транспорте/логистике. Это не репрезентативная выборка по всей экономике; это срез по крупным игрокам, где AI-пилоты лучше всего задокументированы. Тем не менее, сочетание массового внедрения и массового провала формирует центральную инженерную задачу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Глядя на цифры из предыдущего слайда, легко решить, что всё уже сделано: лидируют OpenAI, Google, Anthropic — крупнейшие игроки с многомиллиардными бюджетами. Это впечатление обманчиво. За последние три года в поле AI было несколько громких событий, каждое из которых показывает: пространство возможностей открыто, и серьёзные прорывы делают не только первые игроки.</a:t>
            </a:r>
          </a:p>
          <a:p/>
          <a:p>
            <a:r>
              <a:t>Урок: небольшая европейская команда может выпустить модель уровня крупных игроков за несколько месяцев от основания компании. Эпизод первый — Mistral 7B, сентябрь двадцать третьего года. Французская лаборатория Mistral AI, основанная в начале того же года выходцами из Meta и Google DeepMind, выпустила модель под лицензией Apache 2.0 — без ограничений на коммерческое использование. По бенчмаркам Mistral 7B превзошёл Llama-2 13B, модель почти вдвое большего размера.</a:t>
            </a:r>
          </a:p>
          <a:p/>
          <a:p>
            <a:r>
              <a:t>Урок: даже спорная методология подсчёта себестоимости может вызвать реальный, измеримый шок на глобальном рынке — проверяйте заявленные цифры, но не игнорируйте их эффект. Эпизод второй — DeepSeek R1, январь двадцать пятого. Китайская лаборатория выпустила reasoning-модель уровня OpenAI o1: девяносто семь и три процента на бенчмарке MATH-500 против девяносто шести и четырёх у o1. Опубликованная стоимость одного финального тренировочного прогона V3 — около пяти и шести миллионов долларов, на порядки меньше западных оценок. Полная стоимость инфраструктуры по оценке SemiAnalysis — один и три–один и шесть миллиарда. Это разные числа: стоимость одного тренировочного прогона и полная инфраструктура. Двадцать седьмого января рынок отреагировал — капитализация Nvidia упала на пятьсот восемьдесят девять миллиардов долларов за один день, крупнейшая однодневная потеря капитализации в истории.</a:t>
            </a:r>
          </a:p>
          <a:p/>
          <a:p>
            <a:r>
              <a:t>Урок: один человек с правильным концептом может выпустить агент или продукт, меняющий рынок за недели. Эпизод третий — OpenClaw, ноябрь двадцать пятого. Питер Стейнбергер, известный по Mac-разработке, в одиночку запустил open-source автономного AI-агента. Проект сменил несколько имён — Clawdbot, Moltbot — и закрепился как OpenClaw. К началу двадцать шестого года проект собрал больше ста тысяч звёзд на GitHub (из них шестьдесят тысяч за первые семьдесят два часа).</a:t>
            </a:r>
          </a:p>
          <a:p/>
          <a:p>
            <a:r>
              <a:t>Урок: один человек с правильным концептом может построить инфраструктурный слой, на который опираются тысячи — не продукт для конечного пользователя, а фундамент, на котором работает вся открытая экосистема. Эпизод четвёртый — llama.cpp и ggml.ai, история Георгия Герганова. Проект начался как сольная инициатива Герганова — автора whisper.cpp — и вырос в маленькую независимую команду ggml.ai. Двадцатого февраля двадцать шестого года команда, вместо привлечения венчурного финансирования, присоединилась к Hugging Face за инфраструктурную поддержку, сохранив полную автономию и техническое лидерство: проект остался «на сто процентов open-source, community-driven, как и сейчас». В марте двадцать шестого llama.cpp пересёк сто тысяч звёзд на GitHub — быстрее, чем PyTorch или TensorFlow. К середине года — около ста семнадцати тысяч звёзд, около двадцати тысяч форков, вклад более семисот разработчиков.</a:t>
            </a:r>
          </a:p>
          <a:p/>
          <a:p>
            <a:r>
              <a:t>Не отчаивайтесь. Курс готовит вас к работе с устойчивыми инженерными концептами, которые переживают смену поколений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разобрались, что такое AI и где мы сейчас. Дальше — самый большой раздел лекции, двадцать три минуты. Четыре способа реализации систем с AI: модель, чат, агент, приложение.</a:t>
            </a:r>
          </a:p>
          <a:p/>
          <a:p>
            <a:r>
              <a:t>Структура раздела: сначала общая слоистая модель и классификатор «задача × модальность». Затем сравнение трёх способов через квадрант контроля. Затем — детальный разбор каждого типа со схемой и примером. И в финале — практический инструмент: два диагностических вопроса плюс квадрант, который вы будете применять на семинаре.</a:t>
            </a:r>
          </a:p>
          <a:p/>
          <a:p>
            <a:r>
              <a:t>Главная идея, которую держим в голове весь раздел: эти четыре типа — не альтернативы, а слои. Каждый следующий включает предыдущий и добавляет новые компоненты.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каждый из четырёх типов реализаций, важно зафиксировать ключевую идею: это не четыре альтернативные технологии, а четыре способа реализации одной и той же задачи со слоистой структурой. Каждый следующий уровень включает предыдущий и добавляет новые компоненты.</a:t>
            </a:r>
          </a:p>
          <a:p/>
          <a:p>
            <a:r>
              <a:t>Модель — самый базовый слой. Stateless-инференс на одной задаче. На вход данные, на выход предсказание. Без интерфейса, без памяти, без инструментов.</a:t>
            </a:r>
          </a:p>
          <a:p/>
          <a:p>
            <a:r>
              <a:t>Чат — следующий слой. Та же модель, но обёрнутая в текстовый интерфейс с памятью диалога в пределах сессии. Пользователь пишет сообщение, история обоих сообщений включается в контекст следующего обращения.</a:t>
            </a:r>
          </a:p>
          <a:p/>
          <a:p>
            <a:r>
              <a:t>Агент — ещё один слой. К чату добавляется возможность вызывать внешние инструменты — поиск, файловую систему, API, выполнение кода — и логика планирования последовательности действий.</a:t>
            </a:r>
          </a:p>
          <a:p/>
          <a:p>
            <a:r>
              <a:t>Приложение — внешний слой. Снаружи это обычный продукт со своими формами, кнопками, интеграциями. AI работает внутри как один из компонентов. Пользователь не пишет промпты, не общается с моделью напрямую.</a:t>
            </a:r>
          </a:p>
          <a:p/>
          <a:p>
            <a:r>
              <a:t>Эта вложенность важна потому, что многие практические недоразумения возникают из попытки выбрать между уровнями, как будто это альтернативы. На самом деле каждое следующее обёртывание — это инженерное решение, добавляющее способности и одновременно сложность, стоимость, потенциал ошибок. Чем выше уровень обвязки, тем больше места для багов между AI-компонентом и его окружением.</a:t>
            </a:r>
          </a:p>
          <a:p/>
          <a:p>
            <a:r>
              <a:t>В курсе мы будем многократно возвращаться к этой слоистой модели. Когда мы разбираем YOLO-детектор на конвейере, мы остаёмся на уровне модели. Когда мы используем ChatGPT для аналитики — на уровне чата. Когда строим агента, читающего двести PDF — на уровне агента. Когда говорим про Notion AI или YandexGPT в Поиске — про приложения, в которых AI лишь один из компонентов.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Чтобы говорить о конкретных AI-инструментах общим языком, нам нужна простая классификация. В курсе мы используем две оси: тип задачи и модальность. Этих двух осей достаточно, чтобы расположить любой AI-инструмент, с которым мы будем работать в дальнейших лекциях. Более глубокая техническая классификация — по подходу к обучению и архитектуре нейросети — для нашего курса не основная цель этой лекции; глубже мы возвращаемся к этим темам на лекции 2.</a:t>
            </a:r>
          </a:p>
          <a:p/>
          <a:p>
            <a:r>
              <a:t>Ось «тип задачи» — что система производит на выходе. Классификация — поставить метку из конечного множества: спам или не спам, дефект или не дефект. Распознавание — обнаружить и идентифицировать что-то во входе: лица, речь, символы. Поиск — найти и отранжировать релевантные элементы: по корпоративной базе знаний, по фотографии. Генерация — создать новое содержимое: текст, изображение, аудио, код. Прогноз — предсказать число или последовательность: спрос, отказ оборудования, цену акции.</a:t>
            </a:r>
          </a:p>
          <a:p/>
          <a:p>
            <a:r>
              <a:t>Ось «модальность» — с каким типом данных работает система. Текст. Изображение — фотографии, рентгеновские снимки, кадры конвейерной камеры. Звук — речь, музыка, индустриальный шум. Видео — последовательность изображений, часто плюс звук. Структурированные данные — таблицы, временные ряды, графы, базы. В ячейке «Поиск × Структурированные данные» стоит vector DB — база данных для поиска по смысловой похожести, подробнее разберём на слайде про агента. Мультимодальные комбинации — текст плюс изображение, текст плюс аудио плюс видео.</a:t>
            </a:r>
          </a:p>
          <a:p/>
          <a:p>
            <a:r>
              <a:t>Возьмём три примера, чтобы зафиксировать. Google Translate — задача генерация, модальность текст. AlphaFold — задача прогноз, модальность структурированные данные. YOLO, который вы видели в начале лекции — задача распознавание, модальность изображение.</a:t>
            </a:r>
          </a:p>
          <a:p/>
          <a:p>
            <a:r>
              <a:t>Эта простая таблица предотвращает смешение разных по природе систем под общим маркетинговым ярлыком «AI». Когда дальше в разделе мы будем разбирать типы реализаций, мы будем спрашивать: какая задача и какая модальность.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Одну и ту же задачу можно решить тремя разными способами реализации, и каждый из них по-разному распределяет контроль между разработчиком и пользователем. Чем больше пользователь делегирует AI решение задачи, тем больше нужен жёсткий каркас от разработчика — поэтому Агент окажется в правом верхнем углу квадранта.</a:t>
            </a:r>
          </a:p>
          <a:p/>
          <a:p>
            <a:r>
              <a:t>Возьмём задачу: извлечь поля из входящего PDF-договора и положить в таблицу. Дата подписания, контрагент, сумма, срок действия. Пять-шесть полей.</a:t>
            </a:r>
          </a:p>
          <a:p/>
          <a:p>
            <a:r>
              <a:t>Способ первый — модель. Берёте предобученную или тонко настроенную модель извлечения структурированных полей из документов, например DocVQA или специализированную nougat-style модель. Пользователь сам интегрирует API: сам передаёт PDF, сам получает JSON, сам кладёт в свою таблицу. Делегирование от пользователя низкое — он сам контролирует каждый шаг. Контроль разработчика тоже низкий — модель это сырой inference-эндпоинт без оркестрации, без guard rails, без инструментов. Это левый нижний угол квадранта: низкое делегирование по горизонтали, низкий контроль разработчика по вертикали.</a:t>
            </a:r>
          </a:p>
          <a:p/>
          <a:p>
            <a:r>
              <a:t>Способ второй — чат. Открываете ChatGPT или YandexGPT, прикладываете PDF, пишете «извлеки следующие поля и верни в виде таблицы». Пользователь делегирует задачу словами и может уточнять, но он работает в рамках продукта — средняя степень делегирования. Разработчик задал системный промпт, базовые ограничения, контекстное окно — средний контроль с его стороны. Это центр квадранта.</a:t>
            </a:r>
          </a:p>
          <a:p/>
          <a:p>
            <a:r>
              <a:t>Способ третий — агент. Пользователь говорит «сделай эту задачу» и одобряет ключевые узлы — высокая степень делегирования, пользователь не управляет промежуточными шагами. Разработчик собрал агента: оркестратор планирует шаги, инструменты — открыть PDF, прогнать OCR, выделить поля, записать в таблицу, у агента есть память между шагами и возможность делать несколько вызовов. Высокий контроль разработчика — он спроектировал весь decision loop, список tools, guard rails и system prompt. Это правый верхний угол квадранта: высокое делегирование по горизонтали, высокий контроль разработчика по вертикали.</a:t>
            </a:r>
          </a:p>
          <a:p/>
          <a:p>
            <a:r>
              <a:t>Два пустых угла объясняют, почему расположение неслучайно. Левый верхний (высокий контроль разработчика, но пользователь не делегирует) — нет смысла: зачем строить оркестратор, если пользователь сам всё решает по шагам. Правый нижний (полное делегирование без guard rails) — опасная зона: пользователь отдал задачу AI, а разработчик не предусмотрел рамок. Поэтому диагональ снизу-слева вверх-направо — естественная траектория: больше делегирования требует больше каркаса.</a:t>
            </a:r>
          </a:p>
          <a:p/>
          <a:p>
            <a:r>
              <a:t>Это распределение контроля — не достоинство одного способа над другим. Это инженерное решение: где должен лежать контроль для конкретного сценария. Если важна гибкость пользователя — модель. Если задача типовая, но требует уточнений — чат. Если поток большой и нужна автоматизация — агент. На семинаре будем тренировать этот выбор.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Модель в нашей терминологии — это обученная нейросеть или другой ML-алгоритм, которая принимает вход определённого типа и возвращает выход. У неё нет ни состояния между вызовами, ни доступа к внешним инструментам, ни диалога с пользователем. С точки зрения инженерной интеграции это самый простой компонент: вызов модели — это функция, и она ведёт себя как функция.</a:t>
            </a:r>
          </a:p>
          <a:p/>
          <a:p>
            <a:r>
              <a:t>Очень важная деталь, которую часто упускают: модель — это не самостоятельная система, а компонент. На production вокруг модели всегда стоит обвязка из препроцессинга и постпроцессинга. Схематично: сырой вход — например, кадр с камеры, текст или аудио — проходит через препроцессинг (ресайз, нормализацию, токенизацию), затем через инференс модели, затем через постпроцессинг (фильтрация, форматирование, упаковка bounding box, softmax), и только тогда получается выход для приложения.</a:t>
            </a:r>
          </a:p>
          <a:p/>
          <a:p>
            <a:r>
              <a:t>За препроцессинг и постпроцессинг отвечает разработчик системы, не сама модель. Это не оговорка — это критически важно для оценки бюджета и сложности AI-проекта. YOLO-детектор сам по себе занимает условные пятьдесят строк кода, но рабочая система с YOLO внутри содержит сотни строк: считывание видеопотока, ресайз кадров, нормализация, NMS-фильтрация после инференса, упаковка результата в формат, который ожидает MES-система завода. Оценка проекта «вкатать YOLO на линию» по объёму работы модели даёт заниженную оценку в десятки раз.</a:t>
            </a:r>
          </a:p>
          <a:p/>
          <a:p>
            <a:r>
              <a:t>Канонические примеры моделей. YOLO — детекция объектов на изображениях, тот самый, что был в начале лекции. Whisper от OpenAI — распознавание речи. Stable Diffusion — генерация изображений из текста. BERT — векторные представления текста. AlphaFold — предсказание трёхмерной структуры белка по аминокислотной последовательности; за неё Хассабис и Джампер получили Нобелевскую премию по химии 2024 года. Segment Anything от Meta — универсальная сегментация изображений.</a:t>
            </a:r>
          </a:p>
          <a:p/>
          <a:p>
            <a:r>
              <a:t>Когда модель — правильный выбор. Высокая нагрузка, например обработка видеопотока тридцать кадров в секунду — невозможно для чат-интерфейса. Одна чётко определённая задача со стабильной формой входа и выхода. Требование детерминированности или предсказуемости. Edge-развёртывание без интернета. Встраивание AI как функциональной единицы внутрь большего продукта.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Чат удобно обсуждать на бытовом уровне: задал вопрос — получил ответ. Но за этим простым опытом стоит вполне конкретный технический цикл. Понимание этого цикла снимает магию и даёт два практических навыка: как контролировать чат через системный промпт и как объяснить, почему чат «забывает» старые сообщения.</a:t>
            </a:r>
          </a:p>
          <a:p/>
          <a:p>
            <a:r>
              <a:t>Шесть шагов цикла. Первый — пользователь вводит текст в окно чата: вопрос, инструкцию, фрагмент данных.</a:t>
            </a:r>
          </a:p>
          <a:p/>
          <a:p>
            <a:r>
              <a:t>Второй — система берёт введённый текст и присоединяет его к системному промпту. Системный промпт — это заранее заданные разработчиком инструкции: «Ты корпоративный ассистент компании X. Отвечай на русском. Не давай юридических советов. Если не знаешь — скажи "не знаю"». Дополнительно подмешивается вся текущая история чата с начала сессии.</a:t>
            </a:r>
          </a:p>
          <a:p/>
          <a:p>
            <a:r>
              <a:t>Третий — полный собранный пакет, то есть системный промпт плюс история плюс новое сообщение, отправляется в LLM как один большой текст. Модель не «помнит» прошлый разговор — она каждый раз получает его заново как часть входа.</a:t>
            </a:r>
          </a:p>
          <a:p/>
          <a:p>
            <a:r>
              <a:t>Четвёртый — модель генерирует ответ токен за токеном на основе вероятностного распределения следующего токена при заданном контексте.</a:t>
            </a:r>
          </a:p>
          <a:p/>
          <a:p>
            <a:r>
              <a:t>Пятый — ответ модели дописывается в историю чата на стороне системы. С этого момента он часть контекста для всех следующих обращений в этой же сессии.</a:t>
            </a:r>
          </a:p>
          <a:p/>
          <a:p>
            <a:r>
              <a:t>Шестой — ответ показывается в интерфейсе чата. Пользователь читает, отвечает, и цикл повторяется с шага один. Но теперь история уже больше, и LLM при следующем обращении получит весь набор: системный промпт плюс предыдущие пары вопрос-ответ плюс новое сообщение.</a:t>
            </a:r>
          </a:p>
          <a:p/>
          <a:p>
            <a:r>
              <a:t>Из этого цикла два практических следствия. Первое — системный промпт это инженерный рычаг. Через него разработчик задаёт рамки чата: тон, роль, ограничения, обязательные форматы ответа. Один и тот же ChatGPT в роли корпоративного ассистента и в роли обычного помощника ведёт себя по-разному именно из-за системного промпта.</a:t>
            </a:r>
          </a:p>
          <a:p/>
          <a:p>
            <a:r>
              <a:t>Второе — у каждой модели есть контекстное окно: максимальное число токенов за один запрос. Для современных моделей это десятки и сотни тысяч токенов. Когда история чата перестаёт помещаться в окно, старые сообщения выпадают. Поэтому чат «забывает» детали из начала длинного разговора.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Чат — это модель, обёрнутая в текстовый интерфейс с памятью диалога в пределах сессии. Пользователь пишет сообщение, модель отвечает, история обоих сообщений включается в контекст следующего обращения. Это даёт ощущение разговора и позволяет уточнять задачу пошагово, что радикально меняет паттерн использования.</a:t>
            </a:r>
          </a:p>
          <a:p/>
          <a:p>
            <a:r>
              <a:t>Современные чаты — это в первую очередь LLM-чаты, хотя бывают и мультимодальные: с возможностью передавать изображения, аудио, файлы. Канонические продукты вы знаете: ChatGPT, Claude, Gemini, DeepSeek Chat, GigaChat, YandexGPT, Mistral Le Chat. Между ними различия в качестве для разных задач, в длине контекстного окна, в стоимости, в доступности модальностей — но базовый паттерн взаимодействия один.</a:t>
            </a:r>
          </a:p>
          <a:p/>
          <a:p>
            <a:r>
              <a:t>Возьмём конкретный пример. Инженер получает непонятный нормативный документ — скажем, ТЗ от смежного отдела с массой ссылок на стандарты и сложными формулировками. Задача — разобраться и составить чек-лист для собственной работы. Это типовой кейс для чата: разовая задача, требующая диалога, с уточнениями по ходу. Здесь не нужна отдельная специализированная модель, потому что нет потока однотипных задач. Не нужен агент, потому что не требуется автоматически открывать файлы и API. И нет специализированного приложения. Чат — оптимальный инструмент.</a:t>
            </a:r>
          </a:p>
          <a:p/>
          <a:p>
            <a:r>
              <a:t>Важная оговорка для промышленных систем. Чистые чаты в том виде, как они есть «из коробки» — то есть просто LLM плюс UI плюс короткая память сессии — в корпоративной среде почти не встречаются. Почти везде, где речь идёт о реальном внедрении, чат расширен до агента: хотя бы для того, чтобы хранить долгосрочную память между сессиями, или для того, чтобы искать ответ в корпоративной базе знаний через RAG (retrieval-augmented generation). Архитектуру агента — что именно добавляется к чату — разберём на следующем слайде.</a:t>
            </a:r>
          </a:p>
          <a:p/>
          <a:p>
            <a:r>
              <a:t>Выбор чата — это инженерное решение о точке на шкале взаимодействия: где правильно выбран тип взаимодействия с AI, там система работает предсказуемо.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Агент — следующий слой после чата. По сравнению с чатом у агента появляется три дополнительных компонента, которых у чата не было.</a:t>
            </a:r>
          </a:p>
          <a:p/>
          <a:p>
            <a:r>
              <a:t>Первый компонент — оркестратор. Логика управления: план, decision loop, критика. Оркестратор смотрит на цель пользователя, разбивает её на шаги, выбирает, какой инструмент применить на каждом шаге, и решает, когда остановиться.</a:t>
            </a:r>
          </a:p>
          <a:p/>
          <a:p>
            <a:r>
              <a:t>Второй — внешняя память. В отличие от чата, у агента есть память за пределами одной сессии: vector database (база данных, оптимизированная для поиска по сходству эмбеддингов; подробнее — позже в курсе), файловая система с промежуточными результатами, лог собственных предыдущих действий.</a:t>
            </a:r>
          </a:p>
          <a:p/>
          <a:p>
            <a:r>
              <a:t>Третий — инструменты. Возможность вызывать внешние API, читать и писать файлы, выполнять код, делать веб-поиск. Каждый инструмент — это функция с описанием: что делает, какие параметры принимает, что возвращает. Оркестратор выбирает, какой инструмент применить на каждом шаге.</a:t>
            </a:r>
          </a:p>
          <a:p/>
          <a:p>
            <a:r>
              <a:t>Цикл работы агента, базовая модель ReAct — Reasoning plus Acting. Шаг план: оркестратор и LLM формулируют план действий. Шаг act: выбирается и вызывается инструмент с конкретными параметрами. Шаг observe: результат инструмента наблюдается, записывается в память, передаётся обратно в LLM. Шаг reflect: LLM обдумывает результат — цель достигнута или нет, нужен ли следующий шаг. Если цель достигнута или итераций было слишком много — остановка. Иначе — следующий шаг.</a:t>
            </a:r>
          </a:p>
          <a:p/>
          <a:p>
            <a:r>
              <a:t>Каноническая формулировка из работы Лилианы Венг: Agent равен LLM плюс Memory плюс Planning плюс Tool Use. Канонические продукты-агенты: Claude Code от Anthropic — агент в терминале для разработки. Devin от Cognition Labs — облачный коддинг-агент. OpenAI Operator — агент для веб-задач. AutoGPT — open-source автономный агент.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Кейс, на котором естественно появляется агент. У вас есть двести PDF-отчётов, и нужно из каждого извлечь определённые поля — дату, контрагента, сумму договора, — а потом собрать сводную таблицу. Это многошаговая задача с инструментами: открыть файл, прочитать, извлечь, сложить в таблицу. Она плохо подходит ни для модели — нет специализированной модели «возьми двести произвольных PDF и сделай таблицу». Ни для чата — некомфортно копировать двести файлов в окно. Агент — естественный выбор.</a:t>
            </a:r>
          </a:p>
          <a:p/>
          <a:p>
            <a:r>
              <a:t>Посмотрите на правую половину слайда. Я разбил работу агента на семь шагов, и для каждого явно показан инструмент, который агент использует. Это важно — агент не «думает» весь путь сам, он на каждом шаге решает: какой инструмент сейчас нужен, какие параметры в него передать, как обработать результат.</a:t>
            </a:r>
          </a:p>
          <a:p/>
          <a:p>
            <a:r>
              <a:t>Шаг один — получить список файлов. Инструмент: файловая система. Шаг два — открыть очередной PDF. Инструмент: PDF reader. Шаг три — извлечь текст. Инструмент: text extraction, через OCR если PDF сканированный, или через парсер если структурный. Шаг четыре — сделать сводку и положить эмбеддинг в vector DB. Шаг пять — найти ключевые поля по запросу: «найди дату подписания», «найди контрагента», «найди сумму». Это комбинация поиска и извлечения через LLM. Шаг шесть — записать строку в сводную таблицу через Sheets API или просто в CSV. Шаг семь — повторить для всех двухсот файлов; здесь работает оркестратор, который держит индекс текущего файла и общее состояние.</a:t>
            </a:r>
          </a:p>
          <a:p/>
          <a:p>
            <a:r>
              <a:t>Главное — агент это последовательность вызовов конкретных инструментов, оркестрируемая LLM. Не «AI разобрался сам», а «AI вызвал нужные инструменты в правильном порядке».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Важная концепция, к которой мы будем возвращаться весь курс: уровни автономии агента. Фэн, Макдональд и Чжан в работе двадцать пятого года предлагают пять уровней, характеризуемых ролью пользователя. Не сложностью модели — именно ролью пользователя.</a:t>
            </a:r>
          </a:p>
          <a:p/>
          <a:p>
            <a:r>
              <a:t>Уровень один — Operator. Пользователь активно управляет каждым шагом, агент исполняет под одобрение. Пример: Claude Code в режиме «approve each command» — вы видите команду перед запуском и каждый раз нажимаете Enter.</a:t>
            </a:r>
          </a:p>
          <a:p/>
          <a:p>
            <a:r>
              <a:t>Уровень два — Collaborator. Пользователь и агент работают совместно, перетекая ролями. Пример: парное программирование с Cursor, где вы и AI пишете в одном файле и редактируете предложения друг друга.</a:t>
            </a:r>
          </a:p>
          <a:p/>
          <a:p>
            <a:r>
              <a:t>Уровень три — Consultant. Пользователь ставит цель, агент предлагает план и ведёт по шагам, пользователь корректирует. Пример: Devin получает тикет «исправь баг X», предлагает декомпозицию, вы поправляете один шаг, дальше Devin продолжает сам.</a:t>
            </a:r>
          </a:p>
          <a:p/>
          <a:p>
            <a:r>
              <a:t>Уровень четыре — Approver. Агент действует автономно, пользователь утверждает ключевые узлы. Пример: агент собирает PR, открывает его, ждёт вашего ревью; merge только после approve.</a:t>
            </a:r>
          </a:p>
          <a:p/>
          <a:p>
            <a:r>
              <a:t>Уровень пять — Observer. Агент работает полностью автономно, пользователь только наблюдает итог. Пример: AutoGPT запущен на ночь с заданием «собери конкурентный анализ» — вы возвращаетесь утром и читаете отчёт.</a:t>
            </a:r>
          </a:p>
          <a:p/>
          <a:p>
            <a:r>
              <a:t>Параллельно с этой пятёркой существует более старая и широко принятая в инженерии безопасности рамка: где находится человек по отношению к циклу. Human-in-the-loop — человек одобряет каждый шаг, это уровни один-два. Human-on-the-loop — человек наблюдает в реальном времени и прерывает при отклонении, это примерно уровни три-четыре. Human-out-of-the-loop — человек только читает итог, это уровень пять. И отдельно — override modes: на любом уровне можно сохранить возможность ручного перехвата по тревожным сигналам.</a:t>
            </a:r>
          </a:p>
          <a:p/>
          <a:p>
            <a:r>
              <a:t>Главная мысль слайда: уровень автономии — это дизайн-решение, а не свойство модели. Один и тот же агент в режиме Operator и в режиме Observer — это разные продукты с разными требованиями к надёжности, объяснимости и интерфейсу. На семинарах будем возвращаться к этой шкале при выборе уровня под конкретный риск.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— это полноценный продукт для конечного пользователя, в котором AI лишь один из внутренних компонентов. Пользователь не пишет промпты; он нажимает кнопки, заполняет формы, говорит голосом. AI работает «под капотом», и от пользователя редко требуется понимать, что внутри.</a:t>
            </a:r>
          </a:p>
          <a:p/>
          <a:p>
            <a:r>
              <a:t>Базовая характеристика — AI как функция, а не продукт. Приложение решает доменную задачу, и AI обеспечивает соответствующую функциональность. У хорошего приложения детерминированный пользовательский интерфейс — то же действие пользователя даёт ту же реакцию, даже если AI-выход внутренне варьируется. Приложение добавляет вокруг AI ограничители, запасные сценарии, кэширование, ревью ошибок.</a:t>
            </a:r>
          </a:p>
          <a:p/>
          <a:p>
            <a:r>
              <a:t>Канонические примеры однозначных приложений. Google Translate — внутри нейронная машинная трансляция; пользователь видит окно ввода и перевод. На двадцать шестой год — более одного миллиарда уникальных пользователей в месяц, около одного триллиона переведённых слов в месяц. Этот триллион считается across Google Translate, Search, Google Lens и Circle to Search, не только в самом приложении Translate.</a:t>
            </a:r>
          </a:p>
          <a:p/>
          <a:p>
            <a:r>
              <a:t>Notion AI — внутри GPT-4 или Claude; пользователь видит кнопки «Summarize», «Improve writing», «Continue writing» прямо в интерфейсе своего рабочего пространства. AI здесь не отдельный чат, а функциональная кнопка рядом с каждым блоком текста.</a:t>
            </a:r>
          </a:p>
          <a:p/>
          <a:p>
            <a:r>
              <a:t>YandexGPT в Яндекс.Поиске — внутри собственная LLM Яндекса; пользователь видит сгенерированный краткий ответ над списком обычных поисковых результатов. Это типичное «AI как функция»: для пользователя это просто улучшенный поиск, не «чат с AI».</a:t>
            </a:r>
          </a:p>
          <a:p/>
          <a:p>
            <a:r>
              <a:t>Grammarly — NLP-модели плюс LLM; пользователь видит подчёркивания и подсказки в любом текстовом поле. Яндекс Навигатор и Карты — ML-модели для маршрутизации, ETA-прогнозов, обнаружения пробок. Adobe Firefly — диффузионные модели, кнопка «Generate» в Photoshop.</a:t>
            </a:r>
          </a:p>
          <a:p/>
          <a:p>
            <a:r>
              <a:t>Кейс, для которого приложение — оптимальный выбор: вам раз в неделю нужно перевести небольшой блок техдокументации с английского на русский. Не нужна standalone-модель — объём не оправдывает развёртывания. Не нужен чат — пользоваться чатом для перевода громоздко. Не нужен агент — задача однашаговая. Google Translate или ЯндексGPT в Поиске — готовые приложения, оптимизированные под именно этот тип использования. Переплачивать сложностью — анти-паттерн.</a:t>
            </a:r>
          </a:p>
          <a:p/>
          <a:p>
            <a:r>
              <a:t>Важное уточнение перед следующим слайдом. Приложения бывают двух типов. Первый — с пользовательским интерфейсом, как все шесть примеров на этом слайде: пользователь видит UI и взаимодействует с ним. Второй тип — автоматизированные приложения без интерфейса в момент исполнения: ETL-pipeline с AI-классификатором, бэкенд-сервис, который сам забирает данные и складывает результат в таблицу. На следующем слайде, когда мы соберём чек-лист в квадрант, эти два типа окажутся в разных углах.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Кульминация раздела 3 — практический инструмент. Два диагностических вопроса, ответы на которые однозначно определяют один из четырёх типов реализации.</a:t>
            </a:r>
          </a:p>
          <a:p/>
          <a:p>
            <a:r>
              <a:t>Вопрос первый: нужно ли взаимодействие с пользователем? Если да — система должна общаться с человеком, принимать его уточнения, отвечать в реальном времени — это семейство чат и агент. Если нет — система работает автономно по триггеру или потоку данных — это модель и приложение в режиме автоматизации.</a:t>
            </a:r>
          </a:p>
          <a:p/>
          <a:p>
            <a:r>
              <a:t>Вопрос второй: нужна ли самостоятельная работа решения с инструментами? Если да — система должна вызывать API, читать файлы, выполнять код, искать в интернете — это агент и приложение в режиме автоматизации. Если нет — системе достаточно одного шага «вход → выход» — это чат и модель.</a:t>
            </a:r>
          </a:p>
          <a:p/>
          <a:p>
            <a:r>
              <a:t>Соединяем в квадрант. Нет взаимодействия плюс нет инструментов — модель. Да взаимодействие плюс нет инструментов — чат. Да взаимодействие плюс да инструменты — агент. Нет взаимодействия плюс да инструменты — приложение в режиме автоматизации.</a:t>
            </a:r>
          </a:p>
          <a:p/>
          <a:p>
            <a:r>
              <a:t>Здесь важная оговорка про «приложение». Приложения, как мы видели на предыдущем слайде, бывают двух типов. Первый — приложения с пользовательским интерфейсом: Notion AI, Translate, Grammarly. У них есть UI, и они попадают в верхние углы квадранта — либо в «Модель» (если пользователь нажимает кнопку и получает результат за один шаг, без диалога), либо в «Чат» (если внутри есть диалог). Второй тип — автоматизированные приложения без пользовательского интерфейса в момент исполнения: ETL-pipeline с AI-классификатором, бэкенд-сервис, который раз в час забирает новые данные и складывает в таблицу. Это и есть правый нижний угол квадранта — «приложение в режиме автоматизации». Не агент — нет диалога с пользователем и нет планирования decision loop. Не модель — есть инструменты, многошаговая логика и оркестрация.</a:t>
            </a:r>
          </a:p>
          <a:p/>
          <a:p>
            <a:r>
              <a:t>Прогоним три кейса. Конвейерный детектор дефектов: взаимодействие — нет, инструменты — нет, модель. Корпоративный чат для разбора нормативного документа: взаимодействие — да, инструменты — нет, чат. Двести PDF плюс таблица: взаимодействие — да, инструменты — да, агент. Четвёртый угол — приложение в режиме автоматизации — на примере ETL-pipeline с AI-классификатором.</a:t>
            </a:r>
          </a:p>
          <a:p/>
          <a:p>
            <a:r>
              <a:t>Возвращаясь к центральному вопросу лекции: AI работает там, где задача и тип реализации совпали. Большинство откатившихся пилотов не задавали этих двух вопросов до внедрения; вместо этого выбирали инструмент по моде. Два вопроса плюс квадрант — простая, но дисциплинирующая практика, радикально снижающая риск такого несовпадения.</a:t>
            </a:r>
          </a:p>
          <a:p/>
          <a:p>
            <a:r>
              <a:t>На семинаре первой недели студенты будут применять этот квадрант к собственным кейсам. Сейчас короткое упражнение: думаем тридцать секунд про инструмент, которым пользуетесь регулярно, и определяем угол квадранта.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четыре посвящён тому, где AI ломается, ошибается и опасен. Это не глава ужасов — это инвентаризация классов проблем, которые систематически возникают в AI-системах и которые инженер должен уметь предвидеть. Тема — ваша зона ответственности, а не отдельный вопрос для специалистов по AI safety: вы уже приняли решение встроить AI, и отвечать за инцидент — утечку данных, неправильное решение по клиенту, ошибочный автоматический вердикт — будете вы и ваша команда, а не «модель».</a:t>
            </a:r>
          </a:p>
          <a:p/>
          <a:p>
            <a:r>
              <a:t>К тому же AI ошибается системно и предсказуемо: bias, галлюцинации, sycophancy, distribution shift повторяются от системы к системе, это не случайные баги, а свойства технологии. И, наконец, граница «что AI не умеет» — тоже ваша зона ответственности: за её пределами нужны человеческое решение, верификация, запасной сценарий, и без понимания этой границы систему нельзя считать спроектированной.</a:t>
            </a:r>
          </a:p>
          <a:p/>
          <a:p>
            <a:r>
              <a:t>Раздел проходит по семи темам, выстроенным от практической инженерной безопасности — что можно сломать или потерять прямо сейчас — к концептуальным границам AI как класса технологий — что AI в принципе не умеет.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четыре мы открыли с общей рамки — границы AI как ваша зона ответственности. Первый конкретный вопрос в этой зоне — куда физически уходят ваши данные, когда вы пишете запрос в облачный AI-сервис.</a:t>
            </a:r>
          </a:p>
          <a:p/>
          <a:p>
            <a:r>
              <a:t>Ваш текст — а часто и приложенные файлы, изображения, голосовые сообщения — отправляется на серверы провайдера. Что с ними происходит дальше, зависит от тарифа.</a:t>
            </a:r>
          </a:p>
          <a:p/>
          <a:p>
            <a:r>
              <a:t>Потребительские тарифы — бесплатные и стандартные платные. OpenAI ChatGPT Free и Plus используют пользовательские данные для дообучения моделей по умолчанию; пользователь может отключить это в настройках, но опция требует осознанного действия. Anthropic Claude с сентября двадцать пятого года спрашивает пользователя, согласен ли он делиться данными для обучения; при согласии срок хранения увеличивается до пяти лет. Google Gemini в потребительских тарифах использует данные для обучения по умолчанию; часть переписки выборочно ревьюируется людьми и хранится до трёх лет с обезличиванием.</a:t>
            </a:r>
          </a:p>
          <a:p/>
          <a:p>
            <a:r>
              <a:t>Enterprise- и API-тарифы. OpenAI Enterprise, ChatGPT Business, OpenAI API с марта двадцать третьего года, Anthropic для бизнеса, Google Workspace, Google Cloud Vertex AI — данные не используются для обучения базовых моделей. Доступны соглашения Zero Data Retention — провайдер вообще не сохраняет промпты и ответы. Стандартом становится SOC 2 compliance, шифрование at rest и in transit.</a:t>
            </a:r>
          </a:p>
          <a:p/>
          <a:p>
            <a:r>
              <a:t>Канонический инцидент. Март-апрель двадцать третьего года, Samsung. Инженеры полупроводникового подразделения в трёх отдельных эпизодах загрузили в потребительский ChatGPT проприетарный код базы данных, транскрипт корпоративного совещания и тестовые последовательности для отладки чипов. Поскольку потребительский ChatGPT на тот момент использовал данные для обучения по умолчанию, корпоративные секреты Samsung фактически попали в датасет OpenAI. Samsung в ответ запретила сотрудникам использование внешних генеративных AI-сервисов и временно ввела лимит в 1024 байта на промпт.</a:t>
            </a:r>
          </a:p>
          <a:p/>
          <a:p>
            <a:r>
              <a:t>Регуляторика. В Европейском Союзе действует EU AI Act, постепенно вводимый в силу с двадцать четвёртого года. Стандартный tier штрафов — до пятнадцати миллионов евро или трёх процентов мирового годового оборота. Верхний tier за prohibited practices — до тридцати пяти миллионов или семи процентов. NIST AI RMF и NIST AI 600-1 — добровольные, но влиятельные стандарты США. Российское регулирование AI на двадцать шестой год в стадии формирования.</a:t>
            </a:r>
          </a:p>
          <a:p/>
          <a:p>
            <a:r>
              <a:t>Практический вывод для инженера: никогда не загружайте конфиденциальные данные в потребительские AI-сервисы без явной проверки политики использования данных конкретного тарифа на момент использования. Это правило простое, но систематически нарушается.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Галлюцинация в контексте LLM — это уверенное порождение фактически неверной информации в форме, неотличимой от верной. Модель не «знает», что говорит неправду; для неё это просто статистически правдоподобное продолжение последовательности токенов.</a:t>
            </a:r>
          </a:p>
          <a:p/>
          <a:p>
            <a:r>
              <a:t>Простой эксперимент. Попросите чат «назови три научные статьи по теме [узкая тема] с авторами и DOI». С существенной вероятностью вы получите три убедительно выглядящие ссылки, в которых имена авторов могут быть смешаны или сочинены, журналы — настоящие, но статьи в них нет, DOI — синтаксически правильные, но не разрешаются. Проверка занимает минуту через doi.org, но без неё ссылки выглядят достоверно.</a:t>
            </a:r>
          </a:p>
          <a:p/>
          <a:p>
            <a:r>
              <a:t>Уровень галлюцинаций сильно зависит от задачи. По бенчмарку Vectara Hughes Hallucination Evaluation Model диапазон актуальных моделей очень широкий: от менее одного процента на стандартной задаче суммаризации, например Gemini 2.0 Flash, до десяти-пятнадцати процентов на reasoning-моделях, требующих многошагового рассуждения. Это означает, что говорить про «процент галлюцинаций LLM» в общем некорректно: цифра сильно зависит от задачи и бенчмарка.</a:t>
            </a:r>
          </a:p>
          <a:p/>
          <a:p>
            <a:r>
              <a:t>Сопутствующие данные о поведении пользователей. По отчёту CybSafe двадцать четвёртого года, опрос семь тысяч человек в семи странах: около тридцати восьми процентов сотрудников делятся в AI-инструментах конфиденциальной рабочей информацией без ведома работодателя. Это не про галлюцинации напрямую, но указывает на масштаб проблемы доверия: пользователи передают AI-системам информацию в объёме, который не оправдывается реальной надёжностью.</a:t>
            </a:r>
          </a:p>
          <a:p/>
          <a:p>
            <a:r>
              <a:t>Анти-паттерн «AI знает всё». Любой ответ AI по фактическому вопросу — гипотеза, которая требует проверки. Особенно ссылки, цифры, цитаты, юридические нормы, медицинские рекомендации. Это не означает «не пользоваться AI для фактов»; это означает «проверять то, что AI выдаёт как факт». Critical reading attitude — не дополнительная предосторожность, а часть стандартного рабочего процесса.</a:t>
            </a:r>
          </a:p>
          <a:p/>
          <a:p>
            <a:r>
              <a:t>Сейчас короткое упражнение. Я покажу два коротких AI-ответа на один и тот же вопрос. В каждом одна правильная и одна подложенная деталь. Обсудите за тридцать секунд в парах: какая часть подделка, и что вы проверяли первым.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проблемы, объединённые общей природой: модель — отражение данных, на которых её обучили, а не независимый источник истины. Они проявляются по-разному, но имеют общую причину, и это полезно держать в голове как одно связное явление.</a:t>
            </a:r>
          </a:p>
          <a:p/>
          <a:p>
            <a:r>
              <a:t>Смещение, по-английски bias. Модель повторяет перекосы датасета. Канонический пример: модель скрининга резюме, обученная на исторических данных компании, в которой исторически принимали меньше женщин на технические позиции, будет дискриминировать женские кандидатуры — не «решая», что они хуже, а статистически предсказывая, что «такие профили обычно отказывали». Смещение — самая трудно исправляемая категория, потому что данные часто фиксируют структурные неравенства реального мира.</a:t>
            </a:r>
          </a:p>
          <a:p/>
          <a:p>
            <a:r>
              <a:t>Лесть, по-английски sycophancy, иногда переводят как «подлизы». Сначала определение ключевого термина. RLHF — Reinforcement Learning from Human Feedback, обучение с подкреплением на основе обратной связи человека — техника обучения, при которой человек ранжирует ответы модели по качеству, и эти ранжирования служат сигналом награды для дополнительного дообучения. RLHF — стандартный шаг при превращении базовой языковой модели в чат-ассистента. Обратная сторона: люди-разметчики в среднем выше оценивают приятные ответы. Модель учится соглашаться с пользователем, повторять его формулировки, поддакивать.</a:t>
            </a:r>
          </a:p>
          <a:p/>
          <a:p>
            <a:r>
              <a:t>Канонический инцидент. Двадцать пятого апреля двадцать пятого года OpenAI выкатила обновление GPT-4o, которое сделало модель навязчиво-лестящей: модель соглашалась с явно неверными утверждениями, чрезмерно хвалила пользователя, поддерживала спорные тезисы. Двадцать восьмого апреля начался откат обновления — Альтман в социальной сети тем же вечером написал, что откат уже начали. Двадцать девятого апреля опубликован разбор причин. Лесть — самая незаметная категория: пользователь, получая комплименты, легко не замечает, что модель потеряла критическое отношение к его словам.</a:t>
            </a:r>
          </a:p>
          <a:p/>
          <a:p>
            <a:r>
              <a:t>Дрейф распределения, по-английски distribution shift. Модель, обученная на данных одного периода, ведёт себя плохо за пределами этого распределения. Концептуальный пример: модель, обученная на коде двадцать третьего года, в двадцать шестом уверенно предложит устаревшую библиотеку, неактуальную практику, не учтёт изменений API. Дрейф распределения — самая частая категория в долгоживущих системах, и её особенность в том, что качество модели «тихо» деградирует со временем без явных сбоев.</a:t>
            </a:r>
          </a:p>
          <a:p/>
          <a:p>
            <a:r>
              <a:t>Связное послание. Все три — проявления одной природы: модель не «знает» истины; она воспроизводит закономерности данных, на которых её обучили. Смещение — закономерности из исторических данных. Лесть — закономерности из разметки обратной связи. Дрейф распределения — отсутствие закономерностей нового периода.</a:t>
            </a:r>
          </a:p>
          <a:p/>
          <a:p>
            <a:r>
              <a:t>Короткое упражнение: подумайте тридцать секунд, что опаснее в вашей будущей профессиональной области.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существующие производственные AI-системы — narrow AI: они оптимизированы под конкретные задачи или узкие домены. AGI — Artificial General Intelligence — гипотетический AI с человеческим уровнем когнитивных способностей в широком спектре областей. Это открытый вопрос, который активно обсуждается в публичном пространстве с взаимоисключающими прогнозами.</a:t>
            </a:r>
          </a:p>
          <a:p/>
          <a:p>
            <a:r>
              <a:t>Когда вы видите конкретный AGI-прогноз, спрашивайте, какой у спикера материальный интерес в этом прогнозе. Чем выше уверенность в скором AGI, тем чаще нужно проверять, кто и что хочет получить от рынка после такого высказывания. Это не означает, что спикеры неискренни — это означает, что прогнозы AGI делаются в публичном пространстве, в котором каждый лидер одновременно строит компанию и формирует ожидания инвесторов.</a:t>
            </a:r>
          </a:p>
          <a:p/>
          <a:p>
            <a:r>
              <a:t>Сводка по четырём публичным фигурам. Сэм Альтман, CEO OpenAI: «знаем, как построить AGI; начало перехода к superintelligence», январь двадцать шестого. Материальный интерес — стомиллиардные раунды финансирования, контекст IPO; высокая AGI-уверенность поддерживает оценку компании.</a:t>
            </a:r>
          </a:p>
          <a:p/>
          <a:p>
            <a:r>
              <a:t>Дарио Амодей, CEO Anthropic: «AGI через 2-3 года; AI заменит разработчиков ПО за год; нобелевский уровень за два года», Давос двадцать шестого. Материальный интерес — конкурентное давление со стороны OpenAI; собственный раунд финансирования двадцать шестого года.</a:t>
            </a:r>
          </a:p>
          <a:p/>
          <a:p>
            <a:r>
              <a:t>Демис Хассабис, CEO Google DeepMind: «AGI к 2029–2030, три-четыре года; окно сузилось за 2026 год», Axios и Google I/O, май двадцать шестого — тема развита в эссе «A Framework for Frontier AI» от 14 июля 2026. Материальный интерес — лидер в research community; больше доверия при осторожной позиции; Google не нуждается в AGI-хайпе для основного бизнеса.</a:t>
            </a:r>
          </a:p>
          <a:p/>
          <a:p>
            <a:r>
              <a:t>Янн ЛеКун, основатель AMI Labs, экс-Chief AI Scientist Meta: «LLM-парадигма не приведёт к AGI; нужна новая архитектура, world models, JEPA», постоянно. Материальный интерес — раунд около миллиарда долларов в марте двадцать шестого на альтернативный путь; контр-консенсусная позиция выгодна для дифференциации стартапа.</a:t>
            </a:r>
          </a:p>
          <a:p/>
          <a:p>
            <a:r>
              <a:t>Заметьте паттерн — ни один из четырёх спикеров не занимает нейтрально-научной позиции. Каждый прогноз отражает либо коммерческий интерес, либо рыночное позиционирование. Полезное упражнение при чтении любого публичного интервью топ-менеджера AI-компании: задавать себе вопрос — какое решение он хотел бы, чтобы рынок принял на основе этого высказывания.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четыре содержательных раздела. В первом договорились про определения AI и почему их много. Во втором посмотрели, где мы сейчас — массовое внедрение и одновременно массовый провал. В третьем разобрали четыре способа реализации и получили практический инструмент — два диагностических вопроса плюс квадрант. В четвёртом — границы AI: куда уходят данные, где галлюцинирует, как смещается, как читать прогнозы AGI.</a:t>
            </a:r>
          </a:p>
          <a:p/>
          <a:p>
            <a:r>
              <a:t>Финальный, пятый раздел — что со всем этим делать. Шесть с половиной минут. Сначала короткое резюме лекции — три главных вывода, которые стоит унести домой. Потом — карта всего семестра, чтобы сегодняшняя лекция встала в контекст следующих шестнадцати. И в финале — тизер лекции два, с возвратом к YOLO-демо из самого начала. После этого — Q&amp;A.</a:t>
            </a:r>
          </a:p>
          <a:p/>
          <a:p>
            <a:r>
              <a:t>Главная функция раздела — закрепление. Через две недели вы вряд ли вспомните каждую цифру или каждое название. Но три вывода и один практический инструмент — должны остаться.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Лекция один покрыла четыре содержательных темы и вышла к одному практическому инструменту. Если что-то одно стоит унести из лекции — главный вопрос: где AI работает, где не работает, и как это понять.</a:t>
            </a:r>
          </a:p>
          <a:p/>
          <a:p>
            <a:r>
              <a:t>Три главных вывода.</a:t>
            </a:r>
          </a:p>
          <a:p/>
          <a:p>
            <a:r>
              <a:t>Первый. AI — спектр технологий, не монолит. Конкретный AI-инструмент имеет координаты по двум осям — тип задачи и модальность — и относится к одному из четырёх типов реализации: модель, чат, агент, приложение. Грамотное обсуждение AI в инженерном контексте начинается с явной классификации.</a:t>
            </a:r>
          </a:p>
          <a:p/>
          <a:p>
            <a:r>
              <a:t>Второй. Выбор типа AI — инженерный навык, и у вас есть инструмент. Два диагностических вопроса и квадрант 2×2 — простой, но систематически нарушаемый. Большинство откатившихся корпоративных пилотов не задавали этих вопросов до внедрения; мода и удобство выбирали тип инструмента вместо инженерного анализа задачи.</a:t>
            </a:r>
          </a:p>
          <a:p/>
          <a:p>
            <a:r>
              <a:t>Третий. AI усиливает человека, но целеполагание, критическое суждение и ответственность остаются нашими. Все категории ошибок, которые мы разобрали — галлюцинации, bias, sycophancy, distribution shift, утечки данных, — требуют человеческого контура верификации.</a:t>
            </a:r>
          </a:p>
          <a:p/>
          <a:p>
            <a:r>
              <a:t>Это и есть главный вопрос лекции в развёрнутом виде: где AI работает, где — нет, и как это понять.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Курс состоит из семнадцати лекций, разбитых на три содержательных модуля, плюс завершающий модуль экзамена. Сегодня мы на первом занятии первого модуля.</a:t>
            </a:r>
          </a:p>
          <a:p/>
          <a:p>
            <a:r>
              <a:t>Модуль один — теоретико-методологический фундамент и индустрии, ближе всего связанные с повседневной инженерной и продуктовой практикой: введение, которое проходит прямо сейчас; архитектура AI от машинного обучения до трансформеров; архитектуры AI-систем — агенты, RAG, API; AI в разработке программного обеспечения; AI в финансовом секторе и ритейле; AI в креативных индустриях и медиа. Шесть лекций, рубежный контроль один — по завершении модуля.</a:t>
            </a:r>
          </a:p>
          <a:p/>
          <a:p>
            <a:r>
              <a:t>Модуль два — отрасли, в которых AI работает на стыке физического и цифрового мира: инженерное проектирование и CAD/CAM, авиакосмическая отрасль и оборонный комплекс, дискретное и процессное производство, автоматизация производства и цифровые двойники, сельское хозяйство. Пять лекций, рубежный контроль два — по завершении модуля.</a:t>
            </a:r>
          </a:p>
          <a:p/>
          <a:p>
            <a:r>
              <a:t>Модуль три — инфраструктурные, научные и ресурсодобывающие отрасли, плюс заключительный синтез: логистика и транспорт, телекоммуникации и кибербезопасность, научные исследования, нефтегазовая отрасль, медицина и фармацевтика, и завершающая систематизация знаний и навыков — сквозные паттерны AI в индустриях. Шесть лекций, рубежный контроль три — итоговый, по завершении модуля.</a:t>
            </a:r>
          </a:p>
          <a:p/>
          <a:p>
            <a:r>
              <a:t>Модуль четыре — экзамен.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Итоговая оценка складывается постепенно, а не только на экзамене. Сто баллов — это десять за посещаемость, тридцать за итоговый экзамен и трижды по двадцать за три рубежных контроля.</a:t>
            </a:r>
          </a:p>
          <a:p/>
          <a:p>
            <a:r>
              <a:t>Рубежные контроли приходятся на завершение каждого из первых трёх модулей курса — то есть оценка формируется на протяжении всего семестра, а не только в конце. Это значит, что регулярная работа на семинарах и лекциях в течение семестра напрямую влияет на итоговый балл.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следующей лекции мы посмотрим, как устроены большие языковые модели изнутри. Не для того, чтобы сделать из вас ML-инженеров — а чтобы вы понимали, почему модель ведёт себя так, как ведёт.</a:t>
            </a:r>
          </a:p>
          <a:p/>
          <a:p>
            <a:r>
              <a:t>Четыре ключевых концепта, которые разберём на лекции два. Все на русском, с английскими терминами в скобках при первом упоминании.</a:t>
            </a:r>
          </a:p>
          <a:p/>
          <a:p>
            <a:r>
              <a:t>Токены — единицы, на которые модель разрезает текст или другой вход. Это не буквы и не слова в обычном смысле; это статистически выученные подпоследовательности символов.</a:t>
            </a:r>
          </a:p>
          <a:p/>
          <a:p>
            <a:r>
              <a:t>Эмбеддинги, или векторные представления — числовые «адреса» токенов в многомерном смысловом пространстве. Они позволяют модели работать с похожестью: близкие по смыслу слова имеют близкие векторы.</a:t>
            </a:r>
          </a:p>
          <a:p/>
          <a:p>
            <a:r>
              <a:t>Механизм внимания (attention) — как модель решает, на какие части входа смотреть в каждый момент генерации. Это и есть тот self-attention, на который ссылается название статьи «Attention Is All You Need».</a:t>
            </a:r>
          </a:p>
          <a:p/>
          <a:p>
            <a:r>
              <a:t>Температура — параметр, контролирующий, насколько случайно модель выбирает следующий токен. При нулевой температуре модель детерминирована; при высокой — генерирует более разнообразные ответы.</a:t>
            </a:r>
          </a:p>
          <a:p/>
          <a:p>
            <a:r>
              <a:t>После лекции два вы поймёте, почему промпт с ролью работает лучше пустого, почему AI плохо считает буквы в слове, и почему один и тот же запрос к LLM даёт разные ответы в разные моменты. Эти знания — фундамент для всех следующих лекций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Спасибо за внимание. Сейчас открытое время для вопросов. Нет глупых вопросов, нет «слишком базовых» — если что-то неясно, лучше спросить сейчас. Если время на занятии закончится, а вопросы остались — пишите по контактам, которые показывал на слайде с визиткой.</a:t>
            </a:r>
          </a:p>
          <a:p/>
          <a:p>
            <a:r>
              <a:t>Если вопросов нет — не страшно. До встречи на следующей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02920"/>
            <a:ext cx="5394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Идентификация людей в реальном времени — на ноутбуке, без интернета, с 2023 года.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880360"/>
            <a:ext cx="5394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Narrow AI — модель решает одну задачу (обнаружение людей в кадре) и больше ничего.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0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На экране — </a:t>
            </a:r>
            <a:r>
              <a:rPr sz="1500" b="1" i="0">
                <a:solidFill>
                  <a:srgbClr val="065A82"/>
                </a:solidFill>
                <a:latin typeface="Arial"/>
              </a:rPr>
              <a:t>YOLOv8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на CPU ноутбука: </a:t>
            </a:r>
            <a:r>
              <a:rPr sz="1500" b="1" i="0">
                <a:solidFill>
                  <a:srgbClr val="F0AB00"/>
                </a:solidFill>
                <a:latin typeface="Arial"/>
              </a:rPr>
              <a:t>~30 fps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Без интернета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 ·  обучена в 2023.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89320" y="502920"/>
            <a:ext cx="5760720" cy="4023360"/>
          </a:xfrm>
          <a:prstGeom prst="roundRect">
            <a:avLst>
              <a:gd name="adj" fmla="val 757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01-yolo-m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3912" y="986980"/>
            <a:ext cx="5431536" cy="305523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89320" y="4572000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Кадр модели в момент демо: 2 человека в боксах. YOLOv8 (Ultralytics, 2023).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6596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065A82"/>
                </a:solidFill>
                <a:latin typeface="Arial"/>
              </a:rPr>
              <a:t>Добро пожаловать на курс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0604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«Отраслевое применение систем
искусственного интеллекта»</a:t>
            </a:r>
          </a:p>
        </p:txBody>
      </p:sp>
      <p:sp>
        <p:nvSpPr>
          <p:cNvPr id="4" name="Rectangle 3"/>
          <p:cNvSpPr/>
          <p:nvPr/>
        </p:nvSpPr>
        <p:spPr>
          <a:xfrm>
            <a:off x="5638647" y="4160520"/>
            <a:ext cx="914400" cy="54864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4434840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17 лекций о том, где AI работает в индустриях — и где нет.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Главный вопрос курса — не «можно ли AI?», а «нужно ли и где?».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74519"/>
            <a:ext cx="5029200" cy="96012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57400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100% AI-пилотов запускаются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31570" y="2926079"/>
            <a:ext cx="3771900" cy="96012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1570" y="3108960"/>
            <a:ext cx="37719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−90% откатываются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85950" y="3977639"/>
            <a:ext cx="2263140" cy="96012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85950" y="4105655"/>
            <a:ext cx="226314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10% доходят
до прода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0749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Иллюстрация принципа (Gartner, McKinsey подтверждают похожие цифры).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1600199"/>
            <a:ext cx="5943600" cy="4572000"/>
          </a:xfrm>
          <a:prstGeom prst="roundRect">
            <a:avLst>
              <a:gd name="adj" fmla="val 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1874519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Главная мысль курса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233172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Завтра — почти везде.
Сегодня — почти никто.
Курс — про этот разрыв.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4069079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Центральный вопрос курса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448056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Где AI работает,
где — нет,
и как это понять?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ro-cover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822960"/>
            <a:ext cx="4572000" cy="457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651760"/>
            <a:ext cx="484632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0" b="1" i="0">
                <a:solidFill>
                  <a:srgbClr val="D9E2EC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ЛЕКЦИЯ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17320"/>
            <a:ext cx="640080" cy="457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77724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21295C"/>
                </a:solidFill>
                <a:latin typeface="Arial"/>
              </a:rPr>
              <a:t>Что такое AI?
История, классификация,
общие понятия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983480"/>
            <a:ext cx="45720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98348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065A82"/>
                </a:solidFill>
                <a:latin typeface="Arial"/>
              </a:rPr>
              <a:t>Карта применений AI: где работает, где — нет.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План лекции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828800"/>
            <a:ext cx="1590114" cy="914400"/>
          </a:xfrm>
          <a:prstGeom prst="roundRect">
            <a:avLst>
              <a:gd name="adj" fmla="val 33333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7898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47898" y="1828800"/>
            <a:ext cx="1590114" cy="914400"/>
          </a:xfrm>
          <a:prstGeom prst="roundRect">
            <a:avLst>
              <a:gd name="adj" fmla="val 33333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47898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39338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39338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92877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792877" y="1828800"/>
            <a:ext cx="1590114" cy="914400"/>
          </a:xfrm>
          <a:prstGeom prst="roundRect">
            <a:avLst>
              <a:gd name="adj" fmla="val 33333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92877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4317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Где мы сейчас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4317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37856" y="1828800"/>
            <a:ext cx="2577101" cy="3931920"/>
          </a:xfrm>
          <a:prstGeom prst="roundRect">
            <a:avLst>
              <a:gd name="adj" fmla="val 11827"/>
            </a:avLst>
          </a:prstGeom>
          <a:solidFill>
            <a:srgbClr val="FFFFFF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37856" y="1828800"/>
            <a:ext cx="2577101" cy="914400"/>
          </a:xfrm>
          <a:prstGeom prst="roundRect">
            <a:avLst>
              <a:gd name="adj" fmla="val 33333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37856" y="1901952"/>
            <a:ext cx="257710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29296" y="2880360"/>
            <a:ext cx="2394221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4 способа реализации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29296" y="3703320"/>
            <a:ext cx="239422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69822" y="1828800"/>
            <a:ext cx="1919110" cy="3931920"/>
          </a:xfrm>
          <a:prstGeom prst="roundRect">
            <a:avLst>
              <a:gd name="adj" fmla="val 15882"/>
            </a:avLst>
          </a:prstGeom>
          <a:solidFill>
            <a:srgbClr val="FFFFFF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69822" y="1828800"/>
            <a:ext cx="1919110" cy="914400"/>
          </a:xfrm>
          <a:prstGeom prst="roundRect">
            <a:avLst>
              <a:gd name="adj" fmla="val 33333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69822" y="1901952"/>
            <a:ext cx="191911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1262" y="2880360"/>
            <a:ext cx="173623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1262" y="3703320"/>
            <a:ext cx="173623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043796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043796" y="1828800"/>
            <a:ext cx="1590114" cy="914400"/>
          </a:xfrm>
          <a:prstGeom prst="roundRect">
            <a:avLst>
              <a:gd name="adj" fmla="val 33333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43796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5236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5236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Резюме · карта
семестра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429000" cy="6858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410712" y="0"/>
            <a:ext cx="18288" cy="68580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tructor-photo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02920"/>
            <a:ext cx="2423160" cy="322783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02920" y="502920"/>
            <a:ext cx="2423160" cy="3227832"/>
          </a:xfrm>
          <a:prstGeom prst="rect">
            <a:avLst/>
          </a:prstGeom>
          <a:noFill/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3959352"/>
            <a:ext cx="2880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Левко Максим
Николаевич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4828032"/>
            <a:ext cx="2423160" cy="1828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510235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ucide-send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5202936"/>
            <a:ext cx="256032" cy="256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97280" y="508406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Telegram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32180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@Maxim_Levko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7607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ucide-mail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" y="5861304"/>
            <a:ext cx="256032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97280" y="574243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Email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98017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Levko.maxim@gmail.com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411480"/>
            <a:ext cx="784829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Кто я и почему мне это важно.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1188720"/>
            <a:ext cx="7848295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Архитектор, технический и продуктовый лидер создания
и внедрения информационных систем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40480" y="2148840"/>
            <a:ext cx="3809847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ucide-briefcase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0" y="2441448"/>
            <a:ext cx="502920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14800" y="3081528"/>
            <a:ext cx="32612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0AB00"/>
                </a:solidFill>
                <a:latin typeface="Arial"/>
              </a:rPr>
              <a:t>20+</a:t>
            </a:r>
            <a:r>
              <a:rPr sz="1600" b="1" i="0">
                <a:solidFill>
                  <a:srgbClr val="21295C"/>
                </a:solidFill>
                <a:latin typeface="Arial"/>
              </a:rPr>
              <a:t> лет опыта в ИТ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3502152"/>
            <a:ext cx="326120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1">
                <a:solidFill>
                  <a:srgbClr val="6B7685"/>
                </a:solidFill>
                <a:latin typeface="Arial"/>
              </a:rPr>
              <a:t>10+ завершённых проектов
под руководством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78927" y="2148840"/>
            <a:ext cx="3809847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ucide-layers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3247" y="2441448"/>
            <a:ext cx="502920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153247" y="3081528"/>
            <a:ext cx="326120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Экспертиза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53247" y="3447288"/>
            <a:ext cx="3261207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Системный анализ · Проектирование систем · Управление данными · Автоматизация бизнеса · Управление продуктами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40480" y="4389120"/>
            <a:ext cx="7848295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0" y="4590288"/>
            <a:ext cx="729965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Консалтинг и inhouse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0" y="5102352"/>
            <a:ext cx="1687753" cy="566928"/>
          </a:xfrm>
          <a:prstGeom prst="roundRect">
            <a:avLst>
              <a:gd name="adj" fmla="val 5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ucide-building-2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42816" y="5239512"/>
            <a:ext cx="292608" cy="29260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590288" y="5102352"/>
            <a:ext cx="113911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Yandex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5433" y="5102352"/>
            <a:ext cx="1687753" cy="566928"/>
          </a:xfrm>
          <a:prstGeom prst="roundRect">
            <a:avLst>
              <a:gd name="adj" fmla="val 5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ucide-building-2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13449" y="5239512"/>
            <a:ext cx="292608" cy="29260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460921" y="5102352"/>
            <a:ext cx="113911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МТС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56067" y="5102352"/>
            <a:ext cx="1687753" cy="566928"/>
          </a:xfrm>
          <a:prstGeom prst="roundRect">
            <a:avLst>
              <a:gd name="adj" fmla="val 5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lucide-building-2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84083" y="5239512"/>
            <a:ext cx="292608" cy="29260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331555" y="5102352"/>
            <a:ext cx="113911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Магнит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726701" y="5102352"/>
            <a:ext cx="1687753" cy="566928"/>
          </a:xfrm>
          <a:prstGeom prst="roundRect">
            <a:avLst>
              <a:gd name="adj" fmla="val 5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lucide-building-2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54717" y="5239512"/>
            <a:ext cx="292608" cy="29260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0202189" y="5102352"/>
            <a:ext cx="113911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Сибур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1 · Что такое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Определения, история, классификация.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Определений AI много — потому что AI это движущаяся цель.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8132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Russell &amp; Norvig (AIMA, 2021)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2996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«AI = система, мыслящая как человек, мыслящая рационально, действующая как человек или действующая рационально (4 квадранта по 2 осям).»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10127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Russell &amp; Norvig, AIMA, 4-е изд., 2021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48132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ISO/IEC 22989:2022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2996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«AI-система — это engineered system, которая генерирует выходы (рекомендации, прогнозы, решения) для целей, заданных человеком.»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310127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Международный стандарт ISO/IEC 22989:2022 — опора EU AI 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81304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977639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Через обучение (Mitchell, 1997)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36168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«Программа улучшается с опытом E на задаче T по метрике P. Если поведение возникает из обученной модели — это AI.»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641848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Mitchell, Machine Learning, 1997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81304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977639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Через бенчмарки и AGI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36168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«AI = то, что проходит тест Тьюринга или решает бенчмарк на уровне человека.» Возражение Сёрла: поведение ≠ понимание.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641848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Тьюринг 1950 / Searle 1980 — Chinese Room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626364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633679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AI Effect (Tesler):  «AI is whatever hasn't been done yet».  Как только техника начинает работать, её перестают называть AI.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Идея нейросети старше самого термина «искусственный интеллект» на 13 лет.</a:t>
            </a:r>
          </a:p>
        </p:txBody>
      </p:sp>
      <p:pic>
        <p:nvPicPr>
          <p:cNvPr id="3" name="Picture 2" descr="lettvin-pitts-1959-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7652" y="2148840"/>
            <a:ext cx="1811122" cy="21031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877652" y="2148840"/>
            <a:ext cx="1811122" cy="2103120"/>
          </a:xfrm>
          <a:prstGeom prst="rect">
            <a:avLst/>
          </a:prstGeom>
          <a:noFill/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40492" y="4315968"/>
            <a:ext cx="2085442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80" b="0" i="1">
                <a:solidFill>
                  <a:srgbClr val="6B7685"/>
                </a:solidFill>
                <a:latin typeface="Arial"/>
              </a:rPr>
              <a:t>Питтс (справа) и Леттвин, 1959 — опыт с лягушкой в MIT (это НЕ фото 1943 г.). Wikimedia Commons, CC BY-SA 3.0.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48840"/>
            <a:ext cx="3841546" cy="2148840"/>
          </a:xfrm>
          <a:prstGeom prst="roundRect">
            <a:avLst>
              <a:gd name="adj" fmla="val 1418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404872"/>
            <a:ext cx="384154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600" b="1" i="0">
                <a:solidFill>
                  <a:srgbClr val="1C7293"/>
                </a:solidFill>
                <a:latin typeface="Arial"/>
              </a:rPr>
              <a:t>1943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319272"/>
            <a:ext cx="3402634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150" b="0" i="1">
                <a:solidFill>
                  <a:srgbClr val="21295C"/>
                </a:solidFill>
                <a:latin typeface="Arial"/>
              </a:rPr>
              <a:t>Мак-Каллок и Питтс:
формальный нейрон
как логический элемент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33186" y="2148840"/>
            <a:ext cx="3841546" cy="2148840"/>
          </a:xfrm>
          <a:prstGeom prst="roundRect">
            <a:avLst>
              <a:gd name="adj" fmla="val 14184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33186" y="2404872"/>
            <a:ext cx="384154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600" b="1" i="0">
                <a:solidFill>
                  <a:srgbClr val="065A82"/>
                </a:solidFill>
                <a:latin typeface="Arial"/>
              </a:rPr>
              <a:t>1956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52642" y="3319272"/>
            <a:ext cx="3402634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150" b="0" i="1">
                <a:solidFill>
                  <a:srgbClr val="21295C"/>
                </a:solidFill>
                <a:latin typeface="Arial"/>
              </a:rPr>
              <a:t>Дартмутская конференция:
термин «artificial intelligence»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1626" y="2651760"/>
            <a:ext cx="914399" cy="1828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3026" y="2103120"/>
            <a:ext cx="13715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13 лет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846320"/>
            <a:ext cx="11201400" cy="8686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919472"/>
            <a:ext cx="10835640" cy="7223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Формальный нейрон не решал прикладных задач, но предвосхитил коннекционистскую традицию — линию мысли, из которой десятилетия спустя вырастут нейросети и Трансформер.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989320"/>
            <a:ext cx="11201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1">
                <a:solidFill>
                  <a:srgbClr val="21295C"/>
                </a:solidFill>
                <a:latin typeface="Arial"/>
              </a:rPr>
              <a:t>Идея «нейросети» на теоретическом уровне старше самого термина «искусственный интеллект».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70 лет AI: открытия, зимы, точка перелома 2017.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72768"/>
            <a:ext cx="11201400" cy="1353312"/>
          </a:xfrm>
          <a:prstGeom prst="roundRect">
            <a:avLst>
              <a:gd name="adj" fmla="val 14000"/>
            </a:avLst>
          </a:prstGeom>
          <a:solidFill>
            <a:srgbClr val="E8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99032"/>
            <a:ext cx="1517904" cy="3657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51790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Открытия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523744"/>
            <a:ext cx="10378440" cy="7315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607564" y="2459736"/>
            <a:ext cx="73152" cy="201168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74519"/>
            <a:ext cx="3459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Тьюринг — тест на мышление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06040"/>
            <a:ext cx="3459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C7293"/>
                </a:solidFill>
                <a:latin typeface="Arial"/>
              </a:rPr>
              <a:t>1950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67044" y="2459736"/>
            <a:ext cx="73152" cy="201168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73880" y="1874519"/>
            <a:ext cx="3459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ELIZA — Вайценбаум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3880" y="2606040"/>
            <a:ext cx="3459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C7293"/>
                </a:solidFill>
                <a:latin typeface="Arial"/>
              </a:rPr>
              <a:t>1966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526523" y="2459736"/>
            <a:ext cx="73152" cy="201168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33360" y="1874519"/>
            <a:ext cx="3459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Экспертные системы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33360" y="2606040"/>
            <a:ext cx="3459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C7293"/>
                </a:solidFill>
                <a:latin typeface="Arial"/>
              </a:rPr>
              <a:t>1980-е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063239"/>
            <a:ext cx="11201400" cy="1353312"/>
          </a:xfrm>
          <a:prstGeom prst="roundRect">
            <a:avLst>
              <a:gd name="adj" fmla="val 14000"/>
            </a:avLst>
          </a:prstGeom>
          <a:solidFill>
            <a:srgbClr val="E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2960" y="2889503"/>
            <a:ext cx="2368296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2889503"/>
            <a:ext cx="23682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Зимы и прорывы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74136" y="2889503"/>
            <a:ext cx="8055863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21295C"/>
                </a:solidFill>
                <a:latin typeface="Arial"/>
              </a:rPr>
              <a:t>ресурсы уходят, когда обещания не сбываются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4014215"/>
            <a:ext cx="10378440" cy="7315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07564" y="3950207"/>
            <a:ext cx="73152" cy="20116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364991"/>
            <a:ext cx="3459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1-я зима — доклад Лайтхилла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096512"/>
            <a:ext cx="3459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1974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67044" y="3950207"/>
            <a:ext cx="73152" cy="20116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73880" y="3364991"/>
            <a:ext cx="3459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Deep Blue — 200M поз/сек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3880" y="4096512"/>
            <a:ext cx="3459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1997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26523" y="3950207"/>
            <a:ext cx="73152" cy="20116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33360" y="3364991"/>
            <a:ext cx="3459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AlexNet — GPU + DL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33360" y="4096512"/>
            <a:ext cx="3459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2012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553712"/>
            <a:ext cx="11201400" cy="1353312"/>
          </a:xfrm>
          <a:prstGeom prst="roundRect">
            <a:avLst>
              <a:gd name="adj" fmla="val 14000"/>
            </a:avLst>
          </a:prstGeom>
          <a:solidFill>
            <a:srgbClr val="E8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22960" y="4379975"/>
            <a:ext cx="2510028" cy="36576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4379975"/>
            <a:ext cx="25100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Перелом и взрыв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4400" y="5504687"/>
            <a:ext cx="10378440" cy="73152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470404" y="5138927"/>
            <a:ext cx="310896" cy="310896"/>
          </a:xfrm>
          <a:prstGeom prst="ellipse">
            <a:avLst/>
          </a:prstGeom>
          <a:solidFill>
            <a:srgbClr val="F0AB00"/>
          </a:solidFill>
          <a:ln w="22225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4855464"/>
            <a:ext cx="3459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«Attention Is All You Need»  ★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026920" y="5486399"/>
            <a:ext cx="1234440" cy="40233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5495543"/>
            <a:ext cx="3459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2017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67044" y="5440679"/>
            <a:ext cx="73152" cy="20116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73880" y="4855464"/>
            <a:ext cx="3459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ChatGPT — 1M за 5 дней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73880" y="5586983"/>
            <a:ext cx="3459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2022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526523" y="5440679"/>
            <a:ext cx="73152" cy="20116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3360" y="4855464"/>
            <a:ext cx="3459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DeepSeek R1, Claude Code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33360" y="5586983"/>
            <a:ext cx="3459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2025-26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6089904"/>
            <a:ext cx="11201400" cy="658368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" y="6163056"/>
            <a:ext cx="10835640" cy="5120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★ 2017 — Vaswani и 7 соавторов (Shazeer, Parmar, Uszkoreit, Jones, Gomez, Kaiser, Polosukhin) вводят механизм self-attention — основу всех современных LLM. На май 2026 у статьи свыше 160 000 цитирований.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2 · Где мы сейчас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AI как инфраструктура, прорывы 2023–2026.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AI стал инфраструктурой за 3 года: 900M пользователей, 51% разработчиков ежедневно, 46% Copilot-кода.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288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users-2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057400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20116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900M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974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WAU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175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ChatGPT, февраль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64408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OpenAI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8288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de-cod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057400"/>
            <a:ext cx="502920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46520" y="20116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51%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6974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ежедневно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0175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Stack Overflow Dev Survey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3264408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n=49k+, 177 стран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6576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8404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46%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5262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кода у Copilot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463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GitHub Octoverse 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093207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Java — 61%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6576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ucide-dollar-sign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7080" y="3886200"/>
            <a:ext cx="502920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46520" y="38404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C7293"/>
                </a:solidFill>
                <a:latin typeface="Arial"/>
              </a:rPr>
              <a:t>$390.9B→$539.5B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5262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AI-рынок 2025→2026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8463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Grand View Research,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5093207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Statista (software-only): ~$244–260B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532120"/>
            <a:ext cx="11201400" cy="8229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605272"/>
            <a:ext cx="1083564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Контр-факт: ~90% AI-пилотов в РФ не доходят до прода. CNews / Vedomosti / Intellectual Analytics, март 2026.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Пространство открыто: 4 прорыва 2023–2026 от не-первых игроков.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5798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5798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798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сентябрь
2023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14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Mistral 7B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86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Apache 2.0
обходит Llama-2 13B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798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Mistral AI (FR)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8406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8406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8406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январь
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122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DeepSeek R1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694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$589B
Nvidia drop за день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8406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DeepSeek (CN)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1014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014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ноябрь
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730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OpenClaw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302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100K★ stars
за квартал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014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P. Steinberger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3622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3622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3622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февраль
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7338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llama.cpp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910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100K+★ на GitHub
быстрее PyTorch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3622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G. Gerganov / ggml.ai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94360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601675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Не отчаивайтесь: серьёзные прорывы делают разные команды. Курс — про устойчивые концепты, переживающие смену поколений моделей.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3 · Четыре способа реализации систем с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Не альтернативы, а слои.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Способы реализации систем с AI: не альтернативы, а слои.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937759" y="1508760"/>
            <a:ext cx="6949440" cy="4572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317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14999" y="2788920"/>
            <a:ext cx="5394960" cy="3291840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317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46519" y="3977640"/>
            <a:ext cx="3931920" cy="2103120"/>
          </a:xfrm>
          <a:prstGeom prst="roundRect">
            <a:avLst>
              <a:gd name="adj" fmla="val 14492"/>
            </a:avLst>
          </a:prstGeom>
          <a:solidFill>
            <a:srgbClr val="FFFFFF"/>
          </a:solidFill>
          <a:ln w="317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23759" y="5166360"/>
            <a:ext cx="2377440" cy="9144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84064" y="1618488"/>
            <a:ext cx="6656831" cy="56692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48655" y="1636776"/>
            <a:ext cx="63276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Приложение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48655" y="1874520"/>
            <a:ext cx="63276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+ AI внутри продукта · формы, кнопки, интеграции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61303" y="2898648"/>
            <a:ext cx="5102352" cy="56692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25895" y="2916936"/>
            <a:ext cx="47731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Агент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25895" y="3154680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+ инструменты (API, поиск, код) · планирование · vector DB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92823" y="4087368"/>
            <a:ext cx="3639312" cy="56692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57415" y="4105656"/>
            <a:ext cx="33101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Arial"/>
              </a:rPr>
              <a:t>Чат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57415" y="4343400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+ UI диалога · память истории сообщений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199" y="5257800"/>
            <a:ext cx="2194560" cy="731520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59" y="528523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Модель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59" y="558698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stateless: вход → модель → выход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182880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Каждый следующий слой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33172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включает предыдущий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108960"/>
            <a:ext cx="420624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Не четыре альтернативные технологии, а четыре способа реализации одной задачи. Каждое следующее обёртывание добавляет способности — и сложность, стоимость, потенциал ошибок.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577840"/>
            <a:ext cx="420624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650992"/>
            <a:ext cx="3840479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Выбор слоя — инженерное решение, не альтернатива.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Классификация AI-систем — две оси: тип задачи × модальность.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08760"/>
            <a:ext cx="11201400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tag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480" y="1673351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20240" y="205740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Классиф.</a:t>
            </a:r>
          </a:p>
        </p:txBody>
      </p:sp>
      <p:pic>
        <p:nvPicPr>
          <p:cNvPr id="6" name="Picture 5" descr="lucide-scan-lin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1673351"/>
            <a:ext cx="365760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40480" y="205740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Распозн.</a:t>
            </a:r>
          </a:p>
        </p:txBody>
      </p:sp>
      <p:pic>
        <p:nvPicPr>
          <p:cNvPr id="8" name="Picture 7" descr="lucide-search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673351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760720" y="205740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Поиск</a:t>
            </a:r>
          </a:p>
        </p:txBody>
      </p:sp>
      <p:pic>
        <p:nvPicPr>
          <p:cNvPr id="10" name="Picture 9" descr="lucide-sparkles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8200" y="1673351"/>
            <a:ext cx="365760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80960" y="205740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Генерац.</a:t>
            </a:r>
          </a:p>
        </p:txBody>
      </p:sp>
      <p:pic>
        <p:nvPicPr>
          <p:cNvPr id="12" name="Picture 11" descr="lucide-trending-up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78440" y="1673351"/>
            <a:ext cx="365760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01200" y="205740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Прогноз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782062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Текст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627882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Изображ.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473702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Звук / видео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319522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Структ. данные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1566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3590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5614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67638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59662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516867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920240" y="2510028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920240" y="3355848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920240" y="4201668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920240" y="5047488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920240" y="5893307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975104" y="258775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11680" y="279120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BERT, спам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975104" y="343357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011680" y="363702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ResNet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975104" y="427939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11680" y="448284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PANNs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975104" y="512521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011680" y="532866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XGBoost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95344" y="258775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31920" y="279120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spaCy NER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895344" y="343357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931920" y="363702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YOLO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895344" y="427939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931920" y="448284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Whisper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895344" y="512521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31920" y="532866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OCR таблиц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815584" y="258775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852160" y="279120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BM25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815584" y="343357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852160" y="363702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CLIP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815584" y="427939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52160" y="448284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Shazam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815584" y="512521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852160" y="532866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vector DB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735824" y="258775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772400" y="279120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GPT-4o, Claude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735824" y="343357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72400" y="363702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DALL-E, MJ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735824" y="427939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772400" y="448284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ElevenLabs, Sora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735824" y="512521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772400" y="532866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Codex tab.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656064" y="258775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692640" y="279120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GPT-4o, Claude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656064" y="343357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692640" y="363702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прогноз кадра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656064" y="427939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692640" y="448284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прогноз видео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656064" y="512521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692640" y="532866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Prophet, ARIMA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2920" y="6263640"/>
            <a:ext cx="1120140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85800" y="6336792"/>
            <a:ext cx="10835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YOLO — детекция объектов из демо в начале лекции. Подход к обучению и архитектура — позже в курсе.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Одна задача, три способа: контроль распределяется между разработчиком и пользователем.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783080" y="1737360"/>
            <a:ext cx="6537960" cy="3611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783080" y="3538728"/>
            <a:ext cx="653796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47488" y="1737360"/>
            <a:ext cx="9144" cy="3611880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" y="3177540"/>
            <a:ext cx="1645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Контроль
разработчика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59" y="1645919"/>
            <a:ext cx="1325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1">
                <a:solidFill>
                  <a:srgbClr val="6B7685"/>
                </a:solidFill>
                <a:latin typeface="Arial"/>
              </a:rPr>
              <a:t>высокий 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59" y="5404103"/>
            <a:ext cx="1325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1">
                <a:solidFill>
                  <a:srgbClr val="6B7685"/>
                </a:solidFill>
                <a:latin typeface="Arial"/>
              </a:rPr>
              <a:t>низкий 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57500" y="5422392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Делегирование от пользователя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78815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1">
                <a:solidFill>
                  <a:srgbClr val="6B7685"/>
                </a:solidFill>
                <a:latin typeface="Arial"/>
              </a:rPr>
              <a:t>← низкий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578815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1">
                <a:solidFill>
                  <a:srgbClr val="6B7685"/>
                </a:solidFill>
                <a:latin typeface="Arial"/>
              </a:rPr>
              <a:t>высокий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828800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нет смысла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79" y="4965192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опасная зона</a:t>
            </a:r>
          </a:p>
        </p:txBody>
      </p:sp>
      <p:sp>
        <p:nvSpPr>
          <p:cNvPr id="14" name="Oval 13"/>
          <p:cNvSpPr/>
          <p:nvPr/>
        </p:nvSpPr>
        <p:spPr>
          <a:xfrm>
            <a:off x="2656332" y="3759098"/>
            <a:ext cx="868680" cy="8686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42032" y="401055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36192" y="4650638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21295C"/>
                </a:solidFill>
                <a:latin typeface="Arial"/>
              </a:rPr>
              <a:t>Сам интегрирует API, полный контроль</a:t>
            </a:r>
          </a:p>
        </p:txBody>
      </p:sp>
      <p:sp>
        <p:nvSpPr>
          <p:cNvPr id="17" name="Oval 16"/>
          <p:cNvSpPr/>
          <p:nvPr/>
        </p:nvSpPr>
        <p:spPr>
          <a:xfrm>
            <a:off x="4617720" y="3108960"/>
            <a:ext cx="868680" cy="8686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3420" y="336042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Чат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7580" y="400050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21295C"/>
                </a:solidFill>
                <a:latin typeface="Arial"/>
              </a:rPr>
              <a:t>Диалог, уточнения по ходу</a:t>
            </a:r>
          </a:p>
        </p:txBody>
      </p:sp>
      <p:sp>
        <p:nvSpPr>
          <p:cNvPr id="20" name="Oval 19"/>
          <p:cNvSpPr/>
          <p:nvPr/>
        </p:nvSpPr>
        <p:spPr>
          <a:xfrm>
            <a:off x="6579108" y="2025395"/>
            <a:ext cx="868680" cy="868680"/>
          </a:xfrm>
          <a:prstGeom prst="ellipse">
            <a:avLst/>
          </a:prstGeom>
          <a:solidFill>
            <a:srgbClr val="F0AB00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8" y="2276856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Агент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58968" y="2916936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21295C"/>
                </a:solidFill>
                <a:latin typeface="Arial"/>
              </a:rPr>
              <a:t>Делегирование целиком, решает оркестратор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78240" y="2194560"/>
            <a:ext cx="3093415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06840" y="2331720"/>
            <a:ext cx="2636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Одна и та же задача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6840" y="2743200"/>
            <a:ext cx="2636215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Извлечь поля из входящего PDF-договора:
• дата подписания
• контрагент
• сумма
• срок действия
и положить в таблицу.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9893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60624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Распределение контроля — инженерное решение, а не достоинство одного способа над другим.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197864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Модель — компонент, не система. Инференс: вход → препроцессинг → модель → постпроцессинг → выход.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1083564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81911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Это уже приложение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374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374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Сырой
вход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689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кадр камеры,
текст, звук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4340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6402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6402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Препро-
цессинг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3717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масштабирование,
обрезка, токенизация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78368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20430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0430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745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инференс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02396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44458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4458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Постпро-
цессинг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1773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фильтрация,
нормализация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26424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68486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8486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Выход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5801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JSON, метка,
действие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74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↑ внешняя система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6402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065A82"/>
                </a:solidFill>
                <a:latin typeface="Arial"/>
              </a:rPr>
              <a:t>↑ разработчик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0430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21295C"/>
                </a:solidFill>
                <a:latin typeface="Arial"/>
              </a:rPr>
              <a:t>↑ AI-модель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458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065A82"/>
                </a:solidFill>
                <a:latin typeface="Arial"/>
              </a:rPr>
              <a:t>↑ разработчик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8486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↑ приложение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08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08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YOLOv8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08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детекция на изображениях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440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440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Whisper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440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распознавание речи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872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872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Stable Diffusion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872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генерация изображений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304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304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AlphaFold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04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прогноз структур белков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59893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60624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Препроцессинг и постпроцессинг — ответственность разработчика. YOLO = 50 строк; рабочая система с YOLO = сотни строк.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758952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ЧАТ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Как работает чат: цикл диалога.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2743200"/>
            <a:ext cx="777240" cy="77724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907792"/>
            <a:ext cx="777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USER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3977639"/>
            <a:ext cx="777240" cy="77724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142231"/>
            <a:ext cx="777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USER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54480" y="1920239"/>
            <a:ext cx="3429000" cy="594360"/>
          </a:xfrm>
          <a:prstGeom prst="roundRect">
            <a:avLst>
              <a:gd name="adj" fmla="val 2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1993391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Системный промпт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249423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роль, ограничения, формат ответа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54480" y="2743200"/>
            <a:ext cx="3429000" cy="7772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37360" y="283464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Сообщение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3127248"/>
            <a:ext cx="3063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вопрос / инструкция / фрагмент данных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3104388" y="2532887"/>
            <a:ext cx="329184" cy="219456"/>
          </a:xfrm>
          <a:prstGeom prst="down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1435608" y="3040379"/>
            <a:ext cx="100583" cy="18288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5001768" y="3040379"/>
            <a:ext cx="100583" cy="18288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20640" y="2743200"/>
            <a:ext cx="2011680" cy="2011679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3383279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LLM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3794759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20" name="Left Arrow 19"/>
          <p:cNvSpPr/>
          <p:nvPr/>
        </p:nvSpPr>
        <p:spPr>
          <a:xfrm>
            <a:off x="5001768" y="4274820"/>
            <a:ext cx="100583" cy="182880"/>
          </a:xfrm>
          <a:prstGeom prst="lef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554480" y="3977639"/>
            <a:ext cx="3429000" cy="7772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37360" y="4069079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Ответ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361688"/>
            <a:ext cx="3063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токен за токеном · дописывается в историю</a:t>
            </a:r>
          </a:p>
        </p:txBody>
      </p:sp>
      <p:sp>
        <p:nvSpPr>
          <p:cNvPr id="24" name="Left Arrow 23"/>
          <p:cNvSpPr/>
          <p:nvPr/>
        </p:nvSpPr>
        <p:spPr>
          <a:xfrm>
            <a:off x="1435608" y="4274820"/>
            <a:ext cx="100583" cy="182880"/>
          </a:xfrm>
          <a:prstGeom prst="lef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54480" y="4937759"/>
            <a:ext cx="3429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Следующий шаг — весь текст заново: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5448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41173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26898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12623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54480" y="5486399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295C"/>
                </a:solidFill>
                <a:latin typeface="Arial"/>
              </a:rPr>
              <a:t>весь текст заново на каждом шаге — не инкремент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52360" y="1920239"/>
            <a:ext cx="4236415" cy="15087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35240" y="1993391"/>
            <a:ext cx="3870655" cy="1362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Контроль через системный промпт.
Промпт задаёт роль, ограничения, формат. Один и тот же чат настраивается под разные сценарии — это инженерный рычаг разработчика.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52360" y="3703320"/>
            <a:ext cx="4236415" cy="16916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35240" y="3776472"/>
            <a:ext cx="3870655" cy="1545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Ограничение — контекстное окно.
128k–1M токенов; когда история перестаёт помещаться, старые сообщения выпадают и чат «забывает» начало длинного разговора. Это ограничение модели, не баг.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4652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21295C"/>
                </a:solidFill>
                <a:latin typeface="Arial"/>
              </a:rPr>
              <a:t>Чат — это конвейер «собрать → подать → дописать → показать».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758952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ЧАТ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Чат = модель + интерфейс + память диалога.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65960"/>
            <a:ext cx="5943600" cy="411480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9456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Кейс — типовой для чата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06039"/>
            <a:ext cx="5394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Инженер получил непонятное ТЗ от смежного отдела, нужно составить чек-лист своей работы.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3657600"/>
            <a:ext cx="521208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794760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Вы: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Объясни пункт 4.2 ТЗ простыми словами.</a:t>
            </a:r>
          </a:p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Чат: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Это требование к…</a:t>
            </a:r>
          </a:p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Вы: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Составь чек-лист на 5 пунктов.</a:t>
            </a:r>
          </a:p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Чат: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1. Проверить…  2. Согласовать…  3. 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6235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Разовая задача с уточнениями — оптимально для чата. Не модель, не агент, не приложение.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59" y="1965960"/>
            <a:ext cx="4937760" cy="4114800"/>
          </a:xfrm>
          <a:prstGeom prst="roundRect">
            <a:avLst>
              <a:gd name="adj" fmla="val 7407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79" y="219456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Оговорка для промышленных систем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79" y="2743200"/>
            <a:ext cx="43891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Чистые чаты почти не используются в промышленной эксплуатации.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79" y="4114800"/>
            <a:ext cx="4389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Почти везде они расширены до агентов — хотя бы для долгосрочной памяти и поиска по корпоративной базе (RAG).
Архитектуру агента разберём на следующем слайде.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6172200"/>
            <a:ext cx="1120140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245352"/>
            <a:ext cx="10835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Выбор чата — точка на шкале взаимодействия, не единственно верный вариант.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Агент = чат + оркестратор + внешняя память + инструменты.</a:t>
            </a:r>
          </a:p>
        </p:txBody>
      </p:sp>
      <p:sp>
        <p:nvSpPr>
          <p:cNvPr id="4" name="Oval 3"/>
          <p:cNvSpPr/>
          <p:nvPr/>
        </p:nvSpPr>
        <p:spPr>
          <a:xfrm>
            <a:off x="685800" y="2446020"/>
            <a:ext cx="1005840" cy="1005840"/>
          </a:xfrm>
          <a:prstGeom prst="ellipse">
            <a:avLst/>
          </a:prstGeom>
          <a:solidFill>
            <a:srgbClr val="1C7293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802635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USER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506724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Пользователь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9456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План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6771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план действий (Plan)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87952" y="2802635"/>
            <a:ext cx="356616" cy="29260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028090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Действие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вызов инструмента (Act)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565392" y="2802635"/>
            <a:ext cx="356616" cy="29260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94944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Наблюдение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2259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результат в память (Observe)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942832" y="2802635"/>
            <a:ext cx="356616" cy="29260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2688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Рефлексия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003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цель достигнута? (Reflect)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737360" y="2857499"/>
            <a:ext cx="411480" cy="182880"/>
          </a:xfrm>
          <a:prstGeom prst="rightArrow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265408" y="3566160"/>
            <a:ext cx="54864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Left Arrow 23"/>
          <p:cNvSpPr/>
          <p:nvPr/>
        </p:nvSpPr>
        <p:spPr>
          <a:xfrm>
            <a:off x="1828800" y="3977640"/>
            <a:ext cx="9436608" cy="182880"/>
          </a:xfrm>
          <a:prstGeom prst="lef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Up Arrow 24"/>
          <p:cNvSpPr/>
          <p:nvPr/>
        </p:nvSpPr>
        <p:spPr>
          <a:xfrm>
            <a:off x="1737360" y="3451860"/>
            <a:ext cx="182880" cy="617220"/>
          </a:xfrm>
          <a:prstGeom prst="up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57400" y="3685032"/>
            <a:ext cx="77266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028090"/>
                </a:solidFill>
                <a:latin typeface="Arial"/>
              </a:rPr>
              <a:t>стоп → результат пользователю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77540" y="1828799"/>
            <a:ext cx="7132320" cy="54864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77540" y="1828799"/>
            <a:ext cx="54864" cy="5029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Up Arrow 28"/>
          <p:cNvSpPr/>
          <p:nvPr/>
        </p:nvSpPr>
        <p:spPr>
          <a:xfrm>
            <a:off x="10218420" y="1810511"/>
            <a:ext cx="182880" cy="594360"/>
          </a:xfrm>
          <a:prstGeom prst="up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77540" y="1508760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продолжить — цикл повторяется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0" y="4389120"/>
            <a:ext cx="1965960" cy="105156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0" y="4498848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ИНСТРУМЕНТЫ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4846320"/>
            <a:ext cx="1783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API, файлы,
code, search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49440" y="4389120"/>
            <a:ext cx="196596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49440" y="4498848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ПАМЯТЬ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4846320"/>
            <a:ext cx="1783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vector DB,
файлы, логи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27548" y="3566160"/>
            <a:ext cx="54864" cy="822959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904988" y="3566160"/>
            <a:ext cx="54864" cy="822959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82996" y="4187952"/>
            <a:ext cx="9829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028090"/>
                </a:solidFill>
                <a:latin typeface="Arial"/>
              </a:rPr>
              <a:t>использует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60436" y="4187952"/>
            <a:ext cx="9829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1C7293"/>
                </a:solidFill>
                <a:latin typeface="Arial"/>
              </a:rPr>
              <a:t>использует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44652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ReAct (Reasoning + Acting) — Yao et al. 2022 (arXiv:2210.03629)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Агент за работой: 200 PDF — последовательность шагов.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657600" cy="461772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Кейс — типовой для агента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200 PDF-отчётов.
Извлечь дату, контрагента, сумму.
Собрать сводную таблицу.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49039"/>
            <a:ext cx="32004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Не модель — нет специализированной модели «возьми 200 произвольных PDF».
Не чат — некомфортно копировать 200 файлов в окно.
Агент — естественный выбор.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59" y="1691640"/>
            <a:ext cx="7178040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59" y="1856232"/>
            <a:ext cx="6720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Что делает агент — пошагово, с указанием инструмента</a:t>
            </a:r>
          </a:p>
        </p:txBody>
      </p:sp>
      <p:sp>
        <p:nvSpPr>
          <p:cNvPr id="10" name="Oval 9"/>
          <p:cNvSpPr/>
          <p:nvPr/>
        </p:nvSpPr>
        <p:spPr>
          <a:xfrm>
            <a:off x="4754879" y="2368296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79" y="2368296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2404872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Получить список файлов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81160" y="2404872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0" y="2404872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файловая система</a:t>
            </a:r>
          </a:p>
        </p:txBody>
      </p:sp>
      <p:sp>
        <p:nvSpPr>
          <p:cNvPr id="15" name="Oval 14"/>
          <p:cNvSpPr/>
          <p:nvPr/>
        </p:nvSpPr>
        <p:spPr>
          <a:xfrm>
            <a:off x="4754879" y="2898648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79" y="289864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935224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Открыть PDF #1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81160" y="2935224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2935224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чтение PDF</a:t>
            </a:r>
          </a:p>
        </p:txBody>
      </p:sp>
      <p:sp>
        <p:nvSpPr>
          <p:cNvPr id="20" name="Oval 19"/>
          <p:cNvSpPr/>
          <p:nvPr/>
        </p:nvSpPr>
        <p:spPr>
          <a:xfrm>
            <a:off x="4754879" y="3429000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79" y="34290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0" y="3465576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Извлечь текст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81160" y="3465576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0" y="3465576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028090"/>
                </a:solidFill>
                <a:latin typeface="Arial"/>
              </a:rPr>
              <a:t>извлечение текста (OCR / парсер)</a:t>
            </a:r>
          </a:p>
        </p:txBody>
      </p:sp>
      <p:sp>
        <p:nvSpPr>
          <p:cNvPr id="25" name="Oval 24"/>
          <p:cNvSpPr/>
          <p:nvPr/>
        </p:nvSpPr>
        <p:spPr>
          <a:xfrm>
            <a:off x="4754879" y="3959351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79" y="3959351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995927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Сделать сводку → vector DB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281160" y="3995927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0" y="3995927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эмбеддинги + векторная БД</a:t>
            </a:r>
          </a:p>
        </p:txBody>
      </p:sp>
      <p:sp>
        <p:nvSpPr>
          <p:cNvPr id="30" name="Oval 29"/>
          <p:cNvSpPr/>
          <p:nvPr/>
        </p:nvSpPr>
        <p:spPr>
          <a:xfrm>
            <a:off x="4754879" y="4489703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79" y="4489703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4526279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Найти ключевые поля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281160" y="4526279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26880" y="4526279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поиск + извлечение LLM</a:t>
            </a:r>
          </a:p>
        </p:txBody>
      </p:sp>
      <p:sp>
        <p:nvSpPr>
          <p:cNvPr id="35" name="Oval 34"/>
          <p:cNvSpPr/>
          <p:nvPr/>
        </p:nvSpPr>
        <p:spPr>
          <a:xfrm>
            <a:off x="4754879" y="5020055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79" y="5020055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03520" y="5056631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Записать строку в таблицу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281160" y="5056631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26880" y="5056631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028090"/>
                </a:solidFill>
                <a:latin typeface="Arial"/>
              </a:rPr>
              <a:t>запись в таблицу (Sheets API / CSV)</a:t>
            </a:r>
          </a:p>
        </p:txBody>
      </p:sp>
      <p:sp>
        <p:nvSpPr>
          <p:cNvPr id="40" name="Oval 39"/>
          <p:cNvSpPr/>
          <p:nvPr/>
        </p:nvSpPr>
        <p:spPr>
          <a:xfrm>
            <a:off x="4754879" y="5550407"/>
            <a:ext cx="365760" cy="36576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79" y="5550407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20" y="5586983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Цикл по всем 200 файлам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281160" y="5586983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26880" y="5586983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цикл оркестратора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62179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62910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Агент = последовательность вызовов инструментов, оркестрируемая LLM.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Уровни автономии AI-агентов: дизайн-решение, не свойство модели.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760720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5 уровней автономии (Feng / McDonald / Zhang, 2025)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276088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321808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1. Оператор (Operator)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586984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Пользователь: одобряет каждое действие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769864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Claude Code «approve each»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62856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608576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2. Соавтор (Collaborator)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873752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Пользователь: работает наравне с агентом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056632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Cursor парное программирование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849624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895344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3. Консультант (Consultant)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160520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Пользователь: ставит цель, правит план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343400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Devin фиксит баг по тикету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136392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1821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4. Утверждающий (Approver)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447288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Пользователь: утверждает на контрольных точках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630168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агент собирает PR, ждёт review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2423160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F0AB00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46888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5. Наблюдатель (Observer)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2734056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21295C"/>
                </a:solidFill>
                <a:latin typeface="Arial"/>
              </a:rPr>
              <a:t>Пользователь: только получает результат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2916936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AutoGPT на ночь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37959" y="1691640"/>
            <a:ext cx="5150815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59" y="1874520"/>
            <a:ext cx="46936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Где находится человек по отношению к циклу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20840" y="237744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246888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0AB00"/>
                </a:solidFill>
                <a:latin typeface="Arial"/>
              </a:rPr>
              <a:t>Человек вне цикла (Human-out-of-the-loop)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276148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Человек только смотрит итог (≈ ур. 5).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720840" y="333756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03720" y="342900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65A82"/>
                </a:solidFill>
                <a:latin typeface="Arial"/>
              </a:rPr>
              <a:t>Человек над циклом (Human-on-the-loop)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372160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Человек наблюдает, прерывает при отклонениях (≈ ур. 3-4).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20840" y="429768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03720" y="438912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Человек в цикле (Human-in-the-loop)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03720" y="468172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Человек одобряет каждый шаг (≈ ур. 1-2).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720840" y="525780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03720" y="534924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28090"/>
                </a:solidFill>
                <a:latin typeface="Arial"/>
              </a:rPr>
              <a:t>Режимы ручного перехвата (Override)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03720" y="564184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Любой уровень — с ручным перехватом по тревоге.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62179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62910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Уровень автономии — выбор продукта, не свойство модели. На семинарах будем выбирать осознанно.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Приложение = AI, упакованный в продуктовый интерфейс.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91640"/>
            <a:ext cx="11201400" cy="1554480"/>
          </a:xfrm>
          <a:prstGeom prst="roundRect">
            <a:avLst>
              <a:gd name="adj" fmla="val 19607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56232"/>
            <a:ext cx="10652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Google Translate — масштаб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21992"/>
            <a:ext cx="10652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1+ миллиард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пользователей в месяц  ·  </a:t>
            </a:r>
            <a:r>
              <a:rPr sz="2400" b="1" i="0">
                <a:solidFill>
                  <a:srgbClr val="F0AB00"/>
                </a:solidFill>
                <a:latin typeface="Arial"/>
              </a:rPr>
              <a:t>1 триллион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слов переведено / месяц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98648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в Google Translate, Search, Lens и Circle to Search (Google Blog, апрель 2026)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38328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googletrans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600"/>
            <a:ext cx="731520" cy="731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54480" y="361188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Google Translate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402336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нейронная трансляция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338328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ogo-no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59" y="3657600"/>
            <a:ext cx="731520" cy="731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349240" y="361188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Notion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402336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GPT-4/Claude в кнопках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338328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ogo-yand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19" y="3657600"/>
            <a:ext cx="731520" cy="7315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144000" y="361188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ЯндексGPT в Поиске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402336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AI-краткий ответ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66344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ogo-grammarl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731520" cy="7315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54480" y="489204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Grammarly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530352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NLP + LLM подсказки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79" y="466344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go-yand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59" y="4937760"/>
            <a:ext cx="731520" cy="7315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49240" y="489204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Яндекс.Карты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530352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ML маршрутизация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466344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logo-adobefirefl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319" y="4937760"/>
            <a:ext cx="731520" cy="7315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144000" y="489204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Adobe Firefly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530352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диффузия в Photoshop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989320"/>
            <a:ext cx="1120140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6062472"/>
            <a:ext cx="10835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AI как функция, а не продукт. Большинство студентов уже ежедневно пользуются всеми шестью.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Чек-лист «Какой тип AI выбрать»: 2 вопроса + квадрант 2×2.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08960" y="1508760"/>
            <a:ext cx="6858000" cy="37490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33388" y="1508760"/>
            <a:ext cx="9144" cy="374903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08960" y="3378708"/>
            <a:ext cx="68580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2281427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281427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ДА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4155948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155948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НЕТ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880359"/>
            <a:ext cx="15544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ВОПРОС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200399"/>
            <a:ext cx="15544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Нужно ли взаимодействие с пользователем?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9140" y="5349240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9140" y="5349240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НЕТ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8140" y="5349240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78140" y="5349240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ДА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5806440"/>
            <a:ext cx="6858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ВОПРОС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6099048"/>
            <a:ext cx="6858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Нужна ли самостоятельная работа с инструментами?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1783080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ЧАТ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51460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корп. чат для
разбора ТЗ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02552" y="1673351"/>
            <a:ext cx="3099816" cy="1545336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0840" y="1783080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АГЕНТ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51460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200 PDF →
сводная таблица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657599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МОДЕЛЬ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438912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конвейерный
детектор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3657599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ПРИЛОЖЕНИЕ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438912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ETL с AI-классификатором
(автоматизация)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4 · Границы AI — ваша зона ответственности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Куда уходят данные · ошибки AI · «не умеет» — тоже ваше.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Потребительские vs корпоративные тарифы — куда уходят ваши данные.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28090"/>
                </a:solidFill>
                <a:latin typeface="Arial"/>
              </a:rPr>
              <a:t>От общей зоны ответственности — к первому конкретному риску: данные.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11185855" cy="4846320"/>
          </a:xfrm>
          <a:prstGeom prst="roundRect">
            <a:avLst>
              <a:gd name="adj" fmla="val 6289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5227167" cy="3017520"/>
          </a:xfrm>
          <a:prstGeom prst="roundRect">
            <a:avLst>
              <a:gd name="adj" fmla="val 10101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84832"/>
            <a:ext cx="476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ПОТРЕБИТЕЛЬСКИЕ ТАРИФЫ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468880"/>
            <a:ext cx="476996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данные → обучение по умолчанию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175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ChatGPT Free / Plus — обучение
по умолчанию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Anthropic Claude (с сент. 2025) —
по согласию, 5 лет хранение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Gemini Free — обучение +
проверка людьми, 3 года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3891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YandexGPT Free — стандартная
политика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1920240"/>
            <a:ext cx="5227167" cy="3017520"/>
          </a:xfrm>
          <a:prstGeom prst="roundRect">
            <a:avLst>
              <a:gd name="adj" fmla="val 10101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2084832"/>
            <a:ext cx="476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КОРПОРАТИВНЫЕ ТАРИФЫ / 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607" y="2468880"/>
            <a:ext cx="476996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данные ≠ обучение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7327" y="30175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ChatGPT Enterprise / Business —
без обучения на данных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327" y="34747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OpenAI API (с марта 2023) —
без обучения на данных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7327" y="39319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Anthropic for Business —
нулевое хранение данных доступно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7327" y="43891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Google Workspace / Vertex AI —
без обучения на данных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120640"/>
            <a:ext cx="6651766" cy="1188719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212080"/>
            <a:ext cx="628600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Samsung 2023 — канонический инцидент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559552"/>
            <a:ext cx="6286006" cy="6857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3 эпизода за месяц (март–апрель): код, транскрипт совещания, тестовые последовательности → попали в датасет OpenAI. Самсунг ввёл запрет внешнего GenAI.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11886" y="5120640"/>
            <a:ext cx="3848288" cy="1188719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94766" y="5212080"/>
            <a:ext cx="34825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EU AI Act — штрафы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94766" y="5559552"/>
            <a:ext cx="34825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до 15M € / 3% оборота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94766" y="5870448"/>
            <a:ext cx="34825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до 35M € / 7% — за запрещённые практики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Галлюцинации — неотъемлемое свойство AI.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83080"/>
            <a:ext cx="6858000" cy="411480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6596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Промпт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6400800" cy="64008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496312"/>
            <a:ext cx="6126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«Назови три статьи 2023-2024 по теме "сейсмостойкость подземных трубопроводов" с авторами, журналом и DOI».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Ответ AI (3 фейк-ссылки):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6118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Petrov A., Smith J. (2023).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8404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Seismic Resilience of Small-Diameter Pipelines.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0690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DOI: 10.1016/j.engfailanal.2023.107214 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32511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Ivanov K. et al. (2024).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55371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Underground Infrastructure Earthquake Response.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78231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DOI: 10.1080/15732479.2024.2218450 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38344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Chen L., Brown R. (2023).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266944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Microscale Pipe Vibration Analysis.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95544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DOI: 10.1007/s11069-023-06122-1 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0" y="1783080"/>
            <a:ext cx="4023360" cy="2926080"/>
          </a:xfrm>
          <a:prstGeom prst="roundRect">
            <a:avLst>
              <a:gd name="adj" fmla="val 10416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9560" y="196596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Vectara HHEM (2025-26)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2377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процент галлюцинаций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292608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&lt; 1%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9560" y="3291839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суммаризация (Gemini 2.0 Flash)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9560" y="379476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10–15%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4160520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reasoning (многошаговое)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80960" y="4892040"/>
            <a:ext cx="4023360" cy="10058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0" y="4965192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Анти-паттерн: «AI знает всё». Любой ответ AI по фактическому вопросу — гипотеза для проверки.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Смещение, лесть, дрейф распределения — три проявления одной природы.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49427" y="1691640"/>
            <a:ext cx="370332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scal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747" y="1965960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55267" y="196596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1C7293"/>
                </a:solidFill>
                <a:latin typeface="Arial"/>
              </a:rPr>
              <a:t>Смещение (bias)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747" y="2788920"/>
            <a:ext cx="3154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Модель повторяет перекосы датасета.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3747" y="352044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Скрининг резюме обучен на исторических данных — дискриминирует, не «решая», а статистически.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44187" y="1691640"/>
            <a:ext cx="370332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ucide-smartphon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8507" y="1965960"/>
            <a:ext cx="594360" cy="594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50027" y="196596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Лесть (sycophancy)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8507" y="2788920"/>
            <a:ext cx="3154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Модель учится у разметки обратной связи поддакивать.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8507" y="352044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Соглашается с явно неверным, чрезмерно хвалит — пользователь не замечает потери критики.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8947" y="1691640"/>
            <a:ext cx="370332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ucide-trending-up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3267" y="1965960"/>
            <a:ext cx="594360" cy="594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044787" y="196596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Дрейф распределения
(distribution shift)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3267" y="2788920"/>
            <a:ext cx="3154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Данные периода — устаревают.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3267" y="352044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на коде 2023 в 2026 предложит устаревшую библиотеку без явного сбоя.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029200"/>
            <a:ext cx="11201400" cy="9144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120640"/>
            <a:ext cx="10835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GPT-4o: лесть (sycophancy) — апрель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486400"/>
            <a:ext cx="10835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25 апр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релиз обновления   →   </a:t>
            </a:r>
            <a:r>
              <a:rPr sz="1400" b="1" i="0">
                <a:solidFill>
                  <a:srgbClr val="065A82"/>
                </a:solidFill>
                <a:latin typeface="Arial"/>
              </a:rPr>
              <a:t>28 апр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начало отката (Альтман в соцсети тем же вечером)   →   </a:t>
            </a:r>
            <a:r>
              <a:rPr sz="1400" b="1" i="0">
                <a:solidFill>
                  <a:srgbClr val="065A82"/>
                </a:solidFill>
                <a:latin typeface="Arial"/>
              </a:rPr>
              <a:t>29 апр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разбор причин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080760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21295C"/>
                </a:solidFill>
                <a:latin typeface="Arial"/>
              </a:rPr>
              <a:t>Общая причина: модель отражает данные, на которых обучена.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Прогнозы AGI — 4 спикера, 4 разных стимула.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783080"/>
            <a:ext cx="112014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Спикер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1874519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Аффилиация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874519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Прогноз AGI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187451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Материальный интерес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240280"/>
            <a:ext cx="11201400" cy="914400"/>
          </a:xfrm>
          <a:prstGeom prst="rect">
            <a:avLst/>
          </a:prstGeom>
          <a:solidFill>
            <a:srgbClr val="F4F7FA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Sam Altman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3774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OpenAI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3774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«Знаем как построить AGI; начало superintelligence» (янв.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3774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$100B+ раунды; контекст IPO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154680"/>
            <a:ext cx="112014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918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Dario Amodei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2918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Anthropic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2918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«AGI через 2–3 года; нобелевский уровень за 2 года» (Давос 2026)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2918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Конкуренция с OpenAI; раунд 2026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069080"/>
            <a:ext cx="11201400" cy="914400"/>
          </a:xfrm>
          <a:prstGeom prst="rect">
            <a:avLst/>
          </a:prstGeom>
          <a:solidFill>
            <a:srgbClr val="F4F7FA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2062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Demis Hassabis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42062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Google
DeepMind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42062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«AGI к 2029–2030 (3–4 года); окно сузилось за 2026 год» (Axios/Google I/O, май 2026)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2062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Лидер community; больше доверия при осторожной позиции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983480"/>
            <a:ext cx="112014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1206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Yann LeCun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51206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AMI Labs
(экс-Meta)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51206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«LLM не приведут к AGI; нужны world models, JEPA»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51206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Раунд $1B (март 2026) на альтернативный путь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5 · Что забрать домой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Резюме · карта семестра · тизер лекции 2.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Что мы прошли: три главных вывода.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49427" y="2377440"/>
            <a:ext cx="370332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2307" y="2560320"/>
            <a:ext cx="640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63827" y="2651760"/>
            <a:ext cx="26060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AI — спектр, не монолит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747" y="3657600"/>
            <a:ext cx="315467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Тип задачи × модальность × тип реализации.
Грамотное обсуждение начинается с явной классификации.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44187" y="2377440"/>
            <a:ext cx="370332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27067" y="2560320"/>
            <a:ext cx="640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58587" y="2651760"/>
            <a:ext cx="26060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Выбор типа AI — навык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8507" y="3657600"/>
            <a:ext cx="315467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2 диагностических вопроса + квадрант 2×2.
Инструмент, который вы применяете на семинарах.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8947" y="2377440"/>
            <a:ext cx="370332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1827" y="2560320"/>
            <a:ext cx="640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3347" y="2651760"/>
            <a:ext cx="26060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Целеполагание у человека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3267" y="3657600"/>
            <a:ext cx="315467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Все классы ошибок требуют человеческого контура.
Граница «AI / не-AI» — ваша инженерная зона.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989320"/>
            <a:ext cx="11201400" cy="5486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062472"/>
            <a:ext cx="10835640" cy="4023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Главный вопрос лекции: где AI работает, где — нет, и как это понять?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Карта семестра: 17 лекций, 3 модуля + экзамен.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00200"/>
            <a:ext cx="3449859" cy="4160520"/>
          </a:xfrm>
          <a:prstGeom prst="roundRect">
            <a:avLst>
              <a:gd name="adj" fmla="val 8835"/>
            </a:avLst>
          </a:prstGeom>
          <a:solidFill>
            <a:srgbClr val="FFFFFF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3449859" cy="777240"/>
          </a:xfrm>
          <a:prstGeom prst="roundRect">
            <a:avLst>
              <a:gd name="adj" fmla="val 3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73352"/>
            <a:ext cx="34498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Модуль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965960"/>
            <a:ext cx="32669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Теор.-метод. основы
+ знакомые индустрии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1.1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63239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1.2 Архитектура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1.3 Агенты, RAG,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6908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1.4 Разработка ПО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1.5 Финансы / ритейл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749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1.6 Креативные ◆РК1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98499" y="1600200"/>
            <a:ext cx="2867263" cy="4160520"/>
          </a:xfrm>
          <a:prstGeom prst="roundRect">
            <a:avLst>
              <a:gd name="adj" fmla="val 10630"/>
            </a:avLst>
          </a:prstGeom>
          <a:solidFill>
            <a:srgbClr val="FFFFFF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998499" y="1600200"/>
            <a:ext cx="2867263" cy="777240"/>
          </a:xfrm>
          <a:prstGeom prst="roundRect">
            <a:avLst>
              <a:gd name="adj" fmla="val 3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98499" y="1673352"/>
            <a:ext cx="286726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Модуль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9939" y="1965960"/>
            <a:ext cx="268438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Инж. проектирование,
тяж. промышленность, АПК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5659" y="256032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2.1 CAD/CAM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35659" y="3063239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2.2 Авиакосмос / ОПК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35659" y="356616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2.3 Производство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35659" y="406908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2.4 Цифровые двойники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35659" y="457200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2.5 Сельское хоз-во ◆РК2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11482" y="1600200"/>
            <a:ext cx="3449859" cy="4160520"/>
          </a:xfrm>
          <a:prstGeom prst="roundRect">
            <a:avLst>
              <a:gd name="adj" fmla="val 8835"/>
            </a:avLst>
          </a:prstGeom>
          <a:solidFill>
            <a:srgbClr val="FFFFFF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911482" y="1600200"/>
            <a:ext cx="3449859" cy="777240"/>
          </a:xfrm>
          <a:prstGeom prst="roundRect">
            <a:avLst>
              <a:gd name="adj" fmla="val 35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11482" y="1673352"/>
            <a:ext cx="34498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Модуль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02922" y="1965960"/>
            <a:ext cx="32669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Инфраструктура, наука,
добыча, синтез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642" y="25603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3.1 Логистика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642" y="3063239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3.2 Телеком / cybersec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8642" y="356616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3.3 Наука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642" y="406908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3.4 Нефтегаз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642" y="457200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3.5 Медицина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642" y="50749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3.6 Синтез ◆РК3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407062" y="1600200"/>
            <a:ext cx="1235992" cy="4160520"/>
          </a:xfrm>
          <a:prstGeom prst="roundRect">
            <a:avLst>
              <a:gd name="adj" fmla="val 24660"/>
            </a:avLst>
          </a:prstGeom>
          <a:solidFill>
            <a:srgbClr val="FFFFFF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407062" y="1600200"/>
            <a:ext cx="1235992" cy="777240"/>
          </a:xfrm>
          <a:prstGeom prst="roundRect">
            <a:avLst>
              <a:gd name="adj" fmla="val 35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07062" y="1673352"/>
            <a:ext cx="123599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Экзамен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98502" y="1965960"/>
            <a:ext cx="10531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Итоговая
аттестация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44222" y="2560320"/>
            <a:ext cx="10073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Экзамен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598932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◆ — рубежные контроли РК1/РК2/РК3, по завершении каждого из первых трёх модулей.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Оценка за семестр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2880360"/>
            <a:ext cx="11457432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200" b="1" i="0">
                <a:solidFill>
                  <a:srgbClr val="F0AB00"/>
                </a:solidFill>
                <a:latin typeface="Arial"/>
              </a:rPr>
              <a:t>100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 =  10 </a:t>
            </a:r>
            <a:r>
              <a:rPr sz="1400" b="0" i="1">
                <a:solidFill>
                  <a:srgbClr val="6B7685"/>
                </a:solidFill>
                <a:latin typeface="Arial"/>
              </a:rPr>
              <a:t>(посещаемость)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 +  30 </a:t>
            </a:r>
            <a:r>
              <a:rPr sz="1400" b="0" i="1">
                <a:solidFill>
                  <a:srgbClr val="6B7685"/>
                </a:solidFill>
                <a:latin typeface="Arial"/>
              </a:rPr>
              <a:t>(экзамен)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 +  3×20 </a:t>
            </a:r>
            <a:r>
              <a:rPr sz="1400" b="0" i="1">
                <a:solidFill>
                  <a:srgbClr val="6B7685"/>
                </a:solidFill>
                <a:latin typeface="Arial"/>
              </a:rPr>
              <a:t>(РК1/РК2/РК3)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6052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1">
                <a:solidFill>
                  <a:srgbClr val="065A82"/>
                </a:solidFill>
                <a:latin typeface="Arial"/>
              </a:rPr>
              <a:t>Рубежные контроли — по завершении каждого из первых трёх модулей.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Лекция 2: «Как работают современные большие модели».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38047" y="187451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file-text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087" y="2194560"/>
            <a:ext cx="77724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18207" y="2240279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Токены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8087" y="3154679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единицы, на которые модель режет текст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3007" y="187451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ucide-network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047" y="2194560"/>
            <a:ext cx="777240" cy="777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513167" y="2240279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Эмбеддинги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3047" y="3154679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(векторные представления) — адреса в смысловом пространстве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8047" y="397763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ucide-eye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8087" y="4297679"/>
            <a:ext cx="777240" cy="7772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18207" y="4343400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Внимание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8087" y="5257800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(attention) — на какие части входа смотреть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397763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ucide-zap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047" y="4297679"/>
            <a:ext cx="777240" cy="7772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513167" y="4343400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Температура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3047" y="5257800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случайность выбора следующего токена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080760"/>
            <a:ext cx="11201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1">
                <a:solidFill>
                  <a:srgbClr val="21295C"/>
                </a:solidFill>
                <a:latin typeface="Arial"/>
              </a:rPr>
              <a:t>Эти 4 концепта объясняют поведение всех современных LLM — от ChatGPT до DeepSeek.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48840"/>
            <a:ext cx="112014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0" b="1" i="0">
                <a:solidFill>
                  <a:srgbClr val="21295C"/>
                </a:solidFill>
                <a:latin typeface="Arial"/>
              </a:rPr>
              <a:t>Вопросы?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937760"/>
            <a:ext cx="11201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0" i="1">
                <a:solidFill>
                  <a:srgbClr val="065A82"/>
                </a:solidFill>
                <a:latin typeface="Arial"/>
              </a:rPr>
              <a:t>Спасибо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