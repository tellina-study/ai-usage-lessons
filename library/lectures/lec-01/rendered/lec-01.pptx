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88" r:id="rId40"/>
    <p:sldId id="289" r:id="rId41"/>
    <p:sldId id="292" r:id="rId44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1" r:id="rId23"/>
    <p:sldId id="270" r:id="rId22"/>
    <p:sldId id="272" r:id="rId24"/>
    <p:sldId id="273" r:id="rId25"/>
    <p:sldId id="274" r:id="rId26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[1]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  <a:p>
            <a:r>
              <a:t>Источники:</a:t>
            </a:r>
          </a:p>
          <a:p>
            <a:r>
              <a:t>[1] Ultralytics — YOLOv8 (2023) — narrow-модель детекции; локальный inference ~30 fps на CPU без интернета. https://docs.ultralytics.com/models/yolov8/</a:t>
            </a:r>
          </a:p>
          <a:p>
            <a:r>
              <a:t>[2] Google — MediaPipe — on-device real-time ML pipelines — класс локальных narrow-решений. https://ai.google.dev/edge/mediapipe/solutions/guide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 [2]ов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[1]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>
            <a:r>
              <a:t>К этому центральному вопросу мы будем возвращаться каждую лекцию курса.</a:t>
            </a:r>
          </a:p>
          <a:p>
            <a:r>
              <a:t>Источники:</a:t>
            </a:r>
          </a:p>
          <a:p>
            <a:r>
              <a:t>[1] Gartner — пресс-релиз (окт 2024) — 80% инженерных работников должны осваивать GenAI к 2027. https://www.gartner.com/en/newsroom/press-releases/2024-10-03-gartner-says-generative-ai-will-require-80-percent-of-engineering-workforce-to-upskill-through-2027 [VFY-day-of]</a:t>
            </a:r>
          </a:p>
          <a:p>
            <a:r>
              <a:t>[2] Vedomosti / Intellectual Analytics (мар 2026) — 9 из 10 корпоративных GenAI-пилотов в РФ свёрнуты/отложены (n=50 крупных орг.). https://www.vedomosti.ru/technology/articles/2026/03/24/1184974-biznes-svernul-ili-otlozhil-9-iz-10-proektov-po-vnedreniyu-generativnogo-ii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>
            <a:r>
              <a:t>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 в разработке и внедрении информационных систем, больше двадцати лет в ИТ. За это время под моим руководством было реализовано больше десяти завершённых проектов — от системного анализа и проектирования архитектуры до управления данными, автоматизации бизнес-процессов и запуска продуктов.</a:t>
            </a:r>
          </a:p>
          <a:p>
            <a:r>
              <a:t>Я работал и как консультант, и как штатный сотрудник — с Яндексом, МТС, Магнитом, Сибуром. Это разные индустрии — технологии, телеком, ритейл, нефтехимия — и в каждой AI применялся по-своему, с разным успехом. Именно поэтому меня интересует не общий разговор про «искусственный интеллект», а конкретная инженерная граница: где AI реально экономит время и деньги, а где — красивая демонстрация, которая разваливается в продакшене.</a:t>
            </a:r>
          </a:p>
          <a:p>
            <a:r>
              <a:t>Этот курс — попытка дать вам карту, которой у меня самого не было, когда я только начинал разбираться с этими инструментами в реальных проектах. Мы будем разбирать конкретные инженерные решения, а не общие декларации, и границам — там, где AI ломается, — будет уделено столько же внимания, сколько успешным кейсам.</a:t>
            </a:r>
          </a:p>
          <a:p>
            <a:r>
              <a:t>Если в течение курса возникнут вопросы вне формата лекции — пишите в Telegram (@Maxim_Levko) или на почту (Levko.maxim@gmail.com). Чем раньше 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>
            <a:r>
              <a:t>Подход второй — международный стандарт ISO/IEC 22989 [2],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 [4]: бенчмарк-эквивалентность не означает понимания.</a:t>
            </a:r>
          </a:p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  <a:p>
            <a:r>
              <a:t>Источники:</a:t>
            </a:r>
          </a:p>
          <a:p>
            <a:r>
              <a:t>[1] Russell &amp; Norvig — AIMA, 4-е изд. (2021) — 4 определения по 2 осям (думать/действовать × человекоподобно/рационально). https://aima.cs.berkeley.edu/</a:t>
            </a:r>
          </a:p>
          <a:p>
            <a:r>
              <a:t>[2] ISO/IEC 22989:2022 — AI-система = engineered system для человеко-заданных целей; опора EU AI Act. https://www.iso.org/standard/74296.html</a:t>
            </a:r>
          </a:p>
          <a:p>
            <a:r>
              <a:t>[3] Mitchell — Machine Learning (1997) — функциональное определение: поведение из обученной модели = AI. https://www.cs.cmu.edu/~tom/mlbook.html</a:t>
            </a:r>
          </a:p>
          <a:p>
            <a:r>
              <a:t>[4] Searle — Chinese Room (1980) / Turing (1950) — AI Effect + возражение Сёрла: поведение на бенчмарке ≠ понимание. https://doi.org/10.1017/S0140525X00005756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[1]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  <a:p>
            <a:r>
              <a:t>Источники:</a:t>
            </a:r>
          </a:p>
          <a:p>
            <a:r>
              <a:t>[1] McCulloch &amp; Pitts (1943) — формальный нейрон как логический элемент — на 13 лет раньше термина «AI». https://doi.org/10.1007/BF02478259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 [1]а.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  <a:p>
            <a:r>
              <a:t>Источники:</a:t>
            </a:r>
          </a:p>
          <a:p>
            <a:r>
              <a:t>[1] Vaswani et al. — Attention Is All You Need (2017) — Трансформер + self-attention; &gt;160K цитирований (май 2026) — точка перелома. https://arxiv.org/abs/1706.03762 [VFY-day-of]</a:t>
            </a:r>
          </a:p>
          <a:p>
            <a:r>
              <a:t>[2] McCorduck — Machines Who Think (2004) — AI Effect через исторические примеры остывания задач до «просто функции». https://www.google.com/books/edition/Machines_Who_Think/dPGij4vsHKgC</a:t>
            </a:r>
          </a:p>
          <a:p>
            <a:r>
              <a:t>[3] Dhar — Paradigm Shifts in AI, CACM (2024) — смена парадигм AI как рамка для чтения таймлайна. https://doi.org/10.1145/3664804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>
            <a:r>
              <a:t>ChatGPT по состоянию на февраль 2026 имеет около девятисот миллионов еженедельно активных пользователей [2].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 [3] [VFY], для языка Java — шестьдесят один процент.</a:t>
            </a:r>
          </a:p>
          <a:p>
            <a:r>
              <a:t>Stack Overflow Developer Survey 2025 [1],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 [4]).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[5]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  <a:p>
            <a:r>
              <a:t>Источники:</a:t>
            </a:r>
          </a:p>
          <a:p>
            <a:r>
              <a:t>[1] Stack Overflow — Developer Survey 2025 — n=49k+/177 стран; 51% профи ежедневно, 84% используют/планируют, 46% не доверяют коду. https://survey.stackoverflow.co/2025</a:t>
            </a:r>
          </a:p>
          <a:p>
            <a:r>
              <a:t>[2] OpenAI — ChatGPT WAU (фев 2026) — ~900M weekly active users — AI как инфраструктура. https://techcrunch.com/2026/02/27/chatgpt-reaches-900m-weekly-active-users/ [VFY-day-of]</a:t>
            </a:r>
          </a:p>
          <a:p>
            <a:r>
              <a:t>[3] GitHub — Octoverse 2025 — adoption Copilot; ВНИМАНИЕ: «46% кода» этим отчётом НЕ подтверждается [VFY]. https://github.blog/news-insights/octoverse/octoverse-a-new-developer-joins-github-every-second-as-ai-leads-typescript-to-1/ [VFY-day-of]</a:t>
            </a:r>
          </a:p>
          <a:p>
            <a:r>
              <a:t>[4] Grand View Research (2026) — AI-рынок $390.9B (2025) → $539.5B (2026), CAGR 30.6%. https://www.grandviewresearch.com/industry-analysis/artificial-intelligence-ai-market [VFY-day-of]</a:t>
            </a:r>
          </a:p>
          <a:p>
            <a:r>
              <a:t>[5] Vedomosti / Intellectual Analytics (мар 2026) — контр-факт: ~9 из 10 пилотов РФ не доходят до прода (n=50). https://www.vedomosti.ru/technology/articles/2026/03/24/1184974-biznes-svernul-ili-otlozhil-9-iz-10-proektov-po-vnedreniyu-generativnogo-ii [VFY-day-of]</a:t>
            </a:r>
          </a:p>
          <a:p>
            <a:r>
              <a:t>[6] Gartner — пресс-релиз (окт 2024) — 80% инженеров осваивают GenAI к 2027. https://www.gartner.com/en/newsroom/press-releases/2024-10-03-gartner-says-generative-ai-will-require-80-percent-of-engineering-workforce-to-upskill-through-2027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 [1], модель почти вдвое большего размера.</a:t>
            </a:r>
          </a:p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[2]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[3]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[4] долларов за один день, крупнейшая однодневная потеря капитализации в истории.</a:t>
            </a:r>
          </a:p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 [5],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[6]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  <a:p>
            <a:r>
              <a:t>Источники:</a:t>
            </a:r>
          </a:p>
          <a:p>
            <a:r>
              <a:t>[1] Mistral AI — Announcing Mistral 7B (сен 2023) — Apache 2.0, обходит Llama-2 13B — малая команда уровня лидеров. https://mistral.ai/news/announcing-mistral-7b</a:t>
            </a:r>
          </a:p>
          <a:p>
            <a:r>
              <a:t>[2] DeepSeek-R1 — тех.отчёт (янв 2025) — reasoning уровня o1; 97.3% MATH-500; спорная себестоимость. https://arxiv.org/abs/2501.12948</a:t>
            </a:r>
          </a:p>
          <a:p>
            <a:r>
              <a:t>[3] SemiAnalysis — DeepSeek cost analysis (2025) — полная инфра $1.3–1.6B vs marginal train run V3 $5.6M — разные числа. https://semianalysis.com/2025/01/31/deepseek-debates/ [VFY-day-of]</a:t>
            </a:r>
          </a:p>
          <a:p>
            <a:r>
              <a:t>[4] Bloomberg — Nvidia $589B drop (27 янв 2025) — крупнейшая однодневная потеря капитализации в истории. https://www.bloomberg.com/news/articles/2025-01-27/asml-sinks-as-china-ai-startup-triggers-panic-in-tech-stocks [VFY-day-of]</a:t>
            </a:r>
          </a:p>
          <a:p>
            <a:r>
              <a:t>[5] Steinberger — OpenClaw (GitHub) — соло open-source агент, 100K★ за квартал; rename-churn. https://github.com/openclaw/openclaw [VFY-day-of]</a:t>
            </a:r>
          </a:p>
          <a:p>
            <a:r>
              <a:t>[6] Gerganov — llama.cpp / ggml.ai — соло→HF (фев 2026), 100K+★ быстрее PyTorch/TensorFlow. https://github.com/ggml-org/llama.cpp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 [1]ой структурой. Каждый следующий уровень включает предыдущий и добавляет новые компоненты.</a:t>
            </a:r>
          </a:p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  <a:p>
            <a:r>
              <a:t>Источники:</a:t>
            </a:r>
          </a:p>
          <a:p>
            <a:r>
              <a:t>[1] Anthropic — Building Effective Agents (2024) — слоистая эскалация: простейшее решение → наращивать при необходимости. https://www.anthropic.com/research/building-effective-agents</a:t>
            </a:r>
          </a:p>
          <a:p>
            <a:r>
              <a:t>[2] Weng — LLM Powered Autonomous Agents (2023) — Agent = LLM + Memory + Planning + Tool Use — верх слоистой модели. https://lilianweng.github.io/posts/2023-06-23-agent/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 [1]я.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В ячейке «Поиск × Структурированные данные» стоит vector DB — база данных для поиска по смысловой похожести, подробнее разберём на слайде про агента. Мультимодальные комбинации — текст плюс изображение, текст плюс аудио плюс видео.</a:t>
            </a:r>
          </a:p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  <a:p>
            <a:r>
              <a:t>Источники:</a:t>
            </a:r>
          </a:p>
          <a:p>
            <a:r>
              <a:t>[1] Russell &amp; Norvig — AIMA (2021) — классификация AI-систем как рабочий язык курса. https://aima.cs.berkeley.edu/</a:t>
            </a:r>
          </a:p>
          <a:p>
            <a:r>
              <a:t>[2] Goodfellow, Bengio, Courville — Deep Learning (2016) — модальности и типы задач в терминах DL. https://www.deeplearningbook.org/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 [1]ь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  <a:p>
            <a:r>
              <a:t>Источники:</a:t>
            </a:r>
          </a:p>
          <a:p>
            <a:r>
              <a:t>[1] Anthropic — Building Effective Agents (2024) — распределение контроля разработчик↔пользователь по мере делегирования.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[2]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  <a:p>
            <a:r>
              <a:t>Источники:</a:t>
            </a:r>
          </a:p>
          <a:p>
            <a:r>
              <a:t>[1] Kreuzberger et al. — MLOps (2023) — pre/post-processing вокруг модели — ответственность разработчика. https://arxiv.org/abs/2205.02302</a:t>
            </a:r>
          </a:p>
          <a:p>
            <a:r>
              <a:t>[2] Jumper et al. — AlphaFold, Nature (2021) — канонический пример модели-прогноза; Нобель по химии 2024. https://doi.org/10.1038/s41586-021-03819-2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[1] и как объяснить, почему чат «забывает» старые сообщения.</a:t>
            </a:r>
          </a:p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  <a:p>
            <a:r>
              <a:t>Источники:</a:t>
            </a:r>
          </a:p>
          <a:p>
            <a:r>
              <a:t>[1] Anthropic — Building Effective Agents (2024) — системный промпт как инженерный рычаг; контекст собирается заново каждый шаг.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>
            <a:r>
              <a:t>Первый компонент — оркестратор [2].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  <a:p>
            <a:r>
              <a:t>Источники:</a:t>
            </a:r>
          </a:p>
          <a:p>
            <a:r>
              <a:t>[1] Weng — LLM Powered Autonomous Agents (2023) — Agent = LLM + Memory + Planning + Tool Use. https://lilianweng.github.io/posts/2023-06-23-agent/</a:t>
            </a:r>
          </a:p>
          <a:p>
            <a:r>
              <a:t>[2] Anthropic — Building Effective Agents (2024) — оркестратор + инструменты + внешняя память как слой над чатом. https://www.anthropic.com/research/building-effective-agents</a:t>
            </a:r>
          </a:p>
          <a:p>
            <a:r>
              <a:t>[3] Anthropic — Model Context Protocol (2024) — стандарт подключения инструментов/данных к агенту. https://www.anthropic.com/news/model-context-protocol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>
            <a:r>
              <a:t>Главное — агент это последовательность вызов [1]ов конкретных инструментов, оркестрируемая LLM. Не «AI разобрался сам», а «AI вызвал нужные инструменты в правильном порядке».</a:t>
            </a:r>
          </a:p>
          <a:p>
            <a:r>
              <a:t>Источники:</a:t>
            </a:r>
          </a:p>
          <a:p>
            <a:r>
              <a:t>[1] Yao et al. — ReAct (2022) — Reasoning+Acting: план→действие→наблюдение→рефлексия с явным инструментом на шаге. https://arxiv.org/abs/2210.03629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[1]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  <a:p>
            <a:r>
              <a:t>Источники:</a:t>
            </a:r>
          </a:p>
          <a:p>
            <a:r>
              <a:t>[1] Feng, McDonald, Zhang — Levels of Autonomy (2025) — 5 уровней по роли пользователя: operator→collaborator→consultant→approver→observer. https://arxiv.org/abs/2506.12469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>
            <a:r>
              <a:t>Канонические примеры однозначных приложений. Google [1]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  <a:p>
            <a:r>
              <a:t>Источники:</a:t>
            </a:r>
          </a:p>
          <a:p>
            <a:r>
              <a:t>[1] Google — Translate at 20 (2026) — 1B+ польз./мес, ~1T слов/мес across Translate/Search/Lens — AI как функция. https://blog.google/products-and-platforms/products/translate/fun-facts-google-translate-20-years/ [VFY-day-of]</a:t>
            </a:r>
          </a:p>
          <a:p>
            <a:r>
              <a:t>[2] Anthropic — Building Effective Agents (2024) — приложение как внешний слой: промпты скрыты, детерминированный UI. https://www.anthropic.com/research/building-effective-agents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 [1] [2] [3], ответы на которые однозначно определяют один из четырёх типов реализации.</a:t>
            </a:r>
          </a:p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  <a:p>
            <a:r>
              <a:t>Источники:</a:t>
            </a:r>
          </a:p>
          <a:p>
            <a:r>
              <a:t>[1] Anthropic — Building Effective Agents (2024) — выбор типа реализации по 2 осям: взаимодействие × инструменты. https://www.anthropic.com/research/building-effective-agents</a:t>
            </a:r>
          </a:p>
          <a:p>
            <a:r>
              <a:t>[2] Google — AI Agents Whitepaper (2024) — Model + Tools + Orchestration Layer — рамка квадранта. https://www.kaggle.com/whitepaper-agents</a:t>
            </a:r>
          </a:p>
          <a:p>
            <a:r>
              <a:t>[3] Ng — Four Agentic Design Patterns (2024) — паттерны Reflection/Tool Use/Planning/Multi-Agent — когда нужен агент. https://www.deeplearning.ai/the-batch/how-agents-can-improve-llm-performance/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 Тема — ваша зона ответственности, а не отдельный вопрос для специалистов по AI safety: вы уже приняли решение встроить AI, и отвечать за инцидент — утечку данных, неправильное решение по клиенту, ошибочный автоматический вердикт — будете вы и ваша команда, а не «модель».</a:t>
            </a:r>
          </a:p>
          <a:p>
            <a:r>
              <a:t>К тому же AI ошибается системно и предсказуемо: bias, галлюцинации, sycophancy, distribution shift повторяются от системы к системе, это не случайные баги, а свойства технологии. И, наконец, границ [1] [2] [3]а «что AI не умеет» — тоже ваша зона ответственности: за её пределами нужны человеческое решение, верификация, запасной сценарий, и без понимания этой границы систему нельзя считать спроектированной.</a:t>
            </a:r>
          </a:p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  <a:p>
            <a:r>
              <a:t>Источники:</a:t>
            </a:r>
          </a:p>
          <a:p>
            <a:r>
              <a:t>[1] NIST — AI RMF 1.0 (2023) — рамка управления рисками AI — граница ответственности инженера. https://www.nist.gov/itl/ai-risk-management-framework</a:t>
            </a:r>
          </a:p>
          <a:p>
            <a:r>
              <a:t>[2] NIST — Generative AI Profile 600-1 (2024) — профиль рисков GenAI. https://nvlpubs.nist.gov/nistpubs/ai/NIST.AI.600-1.pdf</a:t>
            </a:r>
          </a:p>
          <a:p>
            <a:r>
              <a:t>[3] EU AI Act — Reg. (EU) 2024/1689 — регуляторная рамка; штрафы до 35M€/7%. https://eur-lex.europa.eu/eli/reg/2024/1689/oj/eng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>
            <a:r>
              <a:t>Enterprise [2]-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>
            <a:r>
              <a:t>Канонический инцидент. Март-апрель двадцать третьего года, Samsung [1].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>
            <a:r>
              <a:t>Регуляторика. В Европейском Союзе действует EU AI Act [3],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  <a:p>
            <a:r>
              <a:t>Источники:</a:t>
            </a:r>
          </a:p>
          <a:p>
            <a:r>
              <a:t>[1] Bloomberg — Samsung bans ChatGPT (май 2023) — 3 утечки за месяц → запрет внешнего GenAI; данные в consumer-датасете. https://www.bloomberg.com/news/articles/2023-05-02/samsung-bans-chatgpt-and-other-generative-ai-use-by-staff-after-leak</a:t>
            </a:r>
          </a:p>
          <a:p>
            <a:r>
              <a:t>[2] OpenAI — Enterprise Privacy / data usage (2025) — consumer = обучение по умолчанию; API с мар 2023 не обучается на данных. https://openai.com/enterprise-privacy/</a:t>
            </a:r>
          </a:p>
          <a:p>
            <a:r>
              <a:t>[3] EU AI Act — Reg. (EU) 2024/1689 — штрафы: стандарт до 15M€/3%, верх до 35M€/7%. https://eur-lex.europa.eu/eli/reg/2024/1689/oj/eng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>
            <a:r>
              <a:t>Уровень галлюцинаций сильно зависит от задачи. По бенчмарку Vectara Hughes Hallucination Evaluation Model [3]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>
            <a:r>
              <a:t>Сопутствующие данные о поведении пользователей. По отчёту CybSafe [4]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  <a:p>
            <a:r>
              <a:t>Источники:</a:t>
            </a:r>
          </a:p>
          <a:p>
            <a:r>
              <a:t>[1] Huang et al. — Survey on Hallucination in LLMs (2023) — галлюцинация = уверенное порождение неверного, неотличимого от верного. https://arxiv.org/abs/2311.05232</a:t>
            </a:r>
          </a:p>
          <a:p>
            <a:r>
              <a:t>[2] Ji et al. — Survey of Hallucination in NLG (2023) — таксономия галлюцинаций в генерации. https://doi.org/10.1145/3571730</a:t>
            </a:r>
          </a:p>
          <a:p>
            <a:r>
              <a:t>[3] Vectara — HHEM Leaderboard — диапазон &lt;1% (суммаризация) → 10–15% (reasoning) — цифра зависит от задачи. https://github.com/vectara/hallucination-leaderboard [VFY-day-of]</a:t>
            </a:r>
          </a:p>
          <a:p>
            <a:r>
              <a:t>[4] CybSafe / NCA — Oh Behave! (2024–25) — n=7000/7 стран: ~38% делятся конфиденциальным без ведома работодателя. https://www.staysafeonline.org/articles/oh-behave-the-annual-cybersecurity-attitudes-and-behaviors-report-2025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 [2]и обратной связи. Дрейф распределения — отсутствие закономерностей нового периода.</a:t>
            </a:r>
          </a:p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  <a:p>
            <a:r>
              <a:t>Источники:</a:t>
            </a:r>
          </a:p>
          <a:p>
            <a:r>
              <a:t>[1] OpenAI — Sycophancy in GPT-4o postmortem (2025) — релиз 25 апр → откат 28 апр → разбор 29 апр; RLHF-переоценка приятных ответов. https://openai.com/index/sycophancy-in-gpt-4o/</a:t>
            </a:r>
          </a:p>
          <a:p>
            <a:r>
              <a:t>[2] Pan et al. — Reward Misspecification (2022) — reward hacking — общая природа: модель отражает данные/разметку. https://arxiv.org/abs/2201.03544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 [1]: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>
            <a:r>
              <a:t>Дарио Амодей, CEO Anthropic [2]: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  <a:p>
            <a:r>
              <a:t>Источники:</a:t>
            </a:r>
          </a:p>
          <a:p>
            <a:r>
              <a:t>[1] Searle — Minds, Brains, and Programs (1980) — Chinese Room: бенчмарк-эквивалентность ≠ понимание; narrow vs general. https://doi.org/10.1017/S0140525X00005756</a:t>
            </a:r>
          </a:p>
          <a:p>
            <a:r>
              <a:t>[2] Bostrom — Superintelligence (2014) — рамка долгосрочных AGI/ASI-сценариев для критического чтения прогнозов. https://global.oup.com/academic/product/superintelligence-9780199678112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>
            <a:r>
              <a:t>Три главных вывода.</a:t>
            </a:r>
          </a:p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общение по курсу — в чате в мессенджере MAX. Отсканируйте QR-код камерой телефона или перейдите по ссылке max.ru/join/sHoHlhI4jvW_swcq5ZLowvz6G94m0IMhAwngxuxsEpI и вступите в чат до первой лекции.</a:t>
            </a:r>
          </a:p>
          <a:p>
            <a:r>
              <a:t>Что там будет. Во-первых, объявления: расписание, любые изменения, важные новости — всё публикуется в чате, отдельно письма ждать не нужно. Во-вторых, материалы: слайды лекций и семинаров я выкладываю туда по мере проведения занятий, так что всё собрано в одном месте. В-третьих, вопросы: если что-то непонятно между парами — спрашивайте в чате, не обязательно копить до семинара.</a:t>
            </a:r>
          </a:p>
          <a:p>
            <a:r>
              <a:t>Пожалуйста, вступите сегодня — так вы точно не пропустите первое объявление.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cs.ultralytics.com/models/yolov8/" TargetMode="External"/><Relationship Id="rId4" Type="http://schemas.openxmlformats.org/officeDocument/2006/relationships/hyperlink" Target="https://ai.google.dev/edge/mediapipe/solutions/guid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gartner.com/en/newsroom/press-releases/2024-10-03-gartner-says-generative-ai-will-require-80-percent-of-engineering-workforce-to-upskill-through-2027" TargetMode="External"/><Relationship Id="rId3" Type="http://schemas.openxmlformats.org/officeDocument/2006/relationships/hyperlink" Target="https://www.vedomosti.ru/technology/articles/2026/03/24/1184974-biznes-svernul-ili-otlozhil-9-iz-10-proektov-po-vnedreniyu-generativnogo-ii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ima.cs.berkeley.edu/" TargetMode="External"/><Relationship Id="rId3" Type="http://schemas.openxmlformats.org/officeDocument/2006/relationships/hyperlink" Target="https://www.iso.org/standard/74296.html" TargetMode="External"/><Relationship Id="rId4" Type="http://schemas.openxmlformats.org/officeDocument/2006/relationships/hyperlink" Target="https://www.cs.cmu.edu/~tom/mlbook.html" TargetMode="External"/><Relationship Id="rId5" Type="http://schemas.openxmlformats.org/officeDocument/2006/relationships/hyperlink" Target="https://doi.org/10.1017/S0140525X00005756" TargetMode="Externa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doi.org/10.1007/BF02478259" TargetMode="Externa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1706.03762" TargetMode="External"/><Relationship Id="rId3" Type="http://schemas.openxmlformats.org/officeDocument/2006/relationships/hyperlink" Target="https://www.google.com/books/edition/Machines_Who_Think/dPGij4vsHKgC" TargetMode="External"/><Relationship Id="rId4" Type="http://schemas.openxmlformats.org/officeDocument/2006/relationships/hyperlink" Target="https://doi.org/10.1145/3664804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https://survey.stackoverflow.co/2025" TargetMode="External"/><Relationship Id="rId6" Type="http://schemas.openxmlformats.org/officeDocument/2006/relationships/hyperlink" Target="https://techcrunch.com/2026/02/27/chatgpt-reaches-900m-weekly-active-users/" TargetMode="External"/><Relationship Id="rId7" Type="http://schemas.openxmlformats.org/officeDocument/2006/relationships/hyperlink" Target="https://github.blog/news-insights/octoverse/octoverse-a-new-developer-joins-github-every-second-as-ai-leads-typescript-to-1/" TargetMode="External"/><Relationship Id="rId8" Type="http://schemas.openxmlformats.org/officeDocument/2006/relationships/hyperlink" Target="https://www.grandviewresearch.com/industry-analysis/artificial-intelligence-ai-market" TargetMode="External"/><Relationship Id="rId9" Type="http://schemas.openxmlformats.org/officeDocument/2006/relationships/hyperlink" Target="https://www.vedomosti.ru/technology/articles/2026/03/24/1184974-biznes-svernul-ili-otlozhil-9-iz-10-proektov-po-vnedreniyu-generativnogo-ii" TargetMode="External"/><Relationship Id="rId10" Type="http://schemas.openxmlformats.org/officeDocument/2006/relationships/hyperlink" Target="https://www.gartner.com/en/newsroom/press-releases/2024-10-03-gartner-says-generative-ai-will-require-80-percent-of-engineering-workforce-to-upskill-through-2027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istral.ai/news/announcing-mistral-7b" TargetMode="External"/><Relationship Id="rId3" Type="http://schemas.openxmlformats.org/officeDocument/2006/relationships/hyperlink" Target="https://arxiv.org/abs/2501.12948" TargetMode="External"/><Relationship Id="rId4" Type="http://schemas.openxmlformats.org/officeDocument/2006/relationships/hyperlink" Target="https://semianalysis.com/2025/01/31/deepseek-debates/" TargetMode="External"/><Relationship Id="rId5" Type="http://schemas.openxmlformats.org/officeDocument/2006/relationships/hyperlink" Target="https://www.bloomberg.com/news/articles/2025-01-27/asml-sinks-as-china-ai-startup-triggers-panic-in-tech-stocks" TargetMode="External"/><Relationship Id="rId6" Type="http://schemas.openxmlformats.org/officeDocument/2006/relationships/hyperlink" Target="https://github.com/openclaw/openclaw" TargetMode="External"/><Relationship Id="rId7" Type="http://schemas.openxmlformats.org/officeDocument/2006/relationships/hyperlink" Target="https://github.com/ggml-org/llama.cpp" TargetMode="Externa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hyperlink" Target="https://lilianweng.github.io/posts/2023-06-23-agent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hyperlink" Target="https://aima.cs.berkeley.edu/" TargetMode="External"/><Relationship Id="rId8" Type="http://schemas.openxmlformats.org/officeDocument/2006/relationships/hyperlink" Target="https://www.deeplearningbook.org/" TargetMode="Externa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205.02302" TargetMode="External"/><Relationship Id="rId3" Type="http://schemas.openxmlformats.org/officeDocument/2006/relationships/hyperlink" Target="https://doi.org/10.1038/s41586-021-03819-2" TargetMode="Externa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ilianweng.github.io/posts/2023-06-23-agent/" TargetMode="External"/><Relationship Id="rId3" Type="http://schemas.openxmlformats.org/officeDocument/2006/relationships/hyperlink" Target="https://www.anthropic.com/research/building-effective-agents" TargetMode="External"/><Relationship Id="rId4" Type="http://schemas.openxmlformats.org/officeDocument/2006/relationships/hyperlink" Target="https://www.anthropic.com/news/model-context-protocol" TargetMode="Externa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210.03629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06.12469" TargetMode="Externa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hyperlink" Target="https://blog.google/products-and-platforms/products/translate/fun-facts-google-translate-20-years/" TargetMode="External"/><Relationship Id="rId8" Type="http://schemas.openxmlformats.org/officeDocument/2006/relationships/hyperlink" Target="https://www.anthropic.com/research/building-effective-agents" TargetMode="External"/><Relationship Id="rId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research/building-effective-agents" TargetMode="External"/><Relationship Id="rId3" Type="http://schemas.openxmlformats.org/officeDocument/2006/relationships/hyperlink" Target="https://www.kaggle.com/whitepaper-agents" TargetMode="External"/><Relationship Id="rId4" Type="http://schemas.openxmlformats.org/officeDocument/2006/relationships/hyperlink" Target="https://www.deeplearning.ai/the-batch/how-agents-can-improve-llm-performance/" TargetMode="External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nvlpubs.nist.gov/nistpubs/ai/NIST.AI.600-1.pdf" TargetMode="External"/><Relationship Id="rId4" Type="http://schemas.openxmlformats.org/officeDocument/2006/relationships/hyperlink" Target="https://eur-lex.europa.eu/eli/reg/2024/1689/oj/eng" TargetMode="External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loomberg.com/news/articles/2023-05-02/samsung-bans-chatgpt-and-other-generative-ai-use-by-staff-after-leak" TargetMode="External"/><Relationship Id="rId3" Type="http://schemas.openxmlformats.org/officeDocument/2006/relationships/hyperlink" Target="https://openai.com/enterprise-privacy/" TargetMode="External"/><Relationship Id="rId4" Type="http://schemas.openxmlformats.org/officeDocument/2006/relationships/hyperlink" Target="https://eur-lex.europa.eu/eli/reg/2024/1689/oj/eng" TargetMode="Externa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311.05232" TargetMode="External"/><Relationship Id="rId3" Type="http://schemas.openxmlformats.org/officeDocument/2006/relationships/hyperlink" Target="https://doi.org/10.1145/3571730" TargetMode="External"/><Relationship Id="rId4" Type="http://schemas.openxmlformats.org/officeDocument/2006/relationships/hyperlink" Target="https://github.com/vectara/hallucination-leaderboard" TargetMode="External"/><Relationship Id="rId5" Type="http://schemas.openxmlformats.org/officeDocument/2006/relationships/hyperlink" Target="https://www.staysafeonline.org/articles/oh-behave-the-annual-cybersecurity-attitudes-and-behaviors-report-2025" TargetMode="Externa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hyperlink" Target="https://openai.com/index/sycophancy-in-gpt-4o/" TargetMode="External"/><Relationship Id="rId6" Type="http://schemas.openxmlformats.org/officeDocument/2006/relationships/hyperlink" Target="https://arxiv.org/abs/2201.03544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7/S0140525X00005756" TargetMode="External"/><Relationship Id="rId3" Type="http://schemas.openxmlformats.org/officeDocument/2006/relationships/hyperlink" Target="https://global.oup.com/academic/product/superintelligence-9780199678112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78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Ultralytics — YOLOv8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Google — MediaPipe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 </a:t>
            </a:r>
            <a:r>
              <a:rPr sz="114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Gartner — пресс-релиз (окт 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Vedomosti / Intellectual Analytics (мар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33333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10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Russell &amp; Norvig — AIMA, 4-е изд. (2021)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ISO/IEC 22989:2022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Mitchell — Machine Learning (1997)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Searle — Chinese Room (1980) / Turing (1950)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11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pic>
        <p:nvPicPr>
          <p:cNvPr id="3" name="Picture 2" descr="lettvin-pitts-1959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652" y="2148840"/>
            <a:ext cx="1811122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77652" y="2148840"/>
            <a:ext cx="1811122" cy="2103120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40492" y="4315968"/>
            <a:ext cx="208544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Питтс (справа) и Леттвин, 1959 — опыт с лягушкой в MIT (это НЕ фото 1943 г.). Wikimedia Commons, CC BY-SA 3.0.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Мак-Каллок и Питтс </a:t>
            </a:r>
            <a:r>
              <a:rPr sz="59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150" b="0" i="1">
                <a:latin typeface="Arial"/>
                <a:cs typeface="Arial"/>
                <a:ea typeface="Arial"/>
                <a:solidFill>
                  <a:srgbClr val="21295C"/>
                </a:solidFill>
              </a:rPr>
              <a:t>:
формальный нейрон
как логический элемент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3186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3186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2642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1626" y="2651760"/>
            <a:ext cx="914399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3026" y="2103120"/>
            <a:ext cx="1371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13 лет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2531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McCulloch &amp; Pitts (1943)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12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8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2140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3348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3952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889503"/>
            <a:ext cx="80558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ресурсы уходят, когда обещания не сбываются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0404" y="5138927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72414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79729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 </a:t>
            </a:r>
            <a:r>
              <a:rPr sz="65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Vaswani et al. — Attention Is All You Need (2017)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McCorduck — Machines Who Think (2004)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Dhar — Paradigm Shifts in AI, CACM (2024)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13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Дартмутский семинар — рождение термина «AI»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14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~1 млрд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1B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август 2026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 </a:t>
            </a:r>
            <a:r>
              <a:rPr sz="72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6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760" i="1">
                <a:solidFill>
                  <a:srgbClr val="1C7293"/>
                </a:solidFill>
                <a:latin typeface="Arial"/>
                <a:hlinkClick r:id="rId5"/>
              </a:rPr>
              <a:t>Stack Overflow — Developer Survey 2025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760" i="1">
                <a:solidFill>
                  <a:srgbClr val="1C7293"/>
                </a:solidFill>
                <a:latin typeface="Arial"/>
                <a:hlinkClick r:id="rId6"/>
              </a:rPr>
              <a:t>OpenAI — ChatGPT WAU (фев 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760" i="1">
                <a:solidFill>
                  <a:srgbClr val="1C7293"/>
                </a:solidFill>
                <a:latin typeface="Arial"/>
                <a:hlinkClick r:id="rId7"/>
              </a:rPr>
              <a:t>GitHub — Octoverse 2025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760" i="1">
                <a:solidFill>
                  <a:srgbClr val="1C7293"/>
                </a:solidFill>
                <a:latin typeface="Arial"/>
                <a:hlinkClick r:id="rId8"/>
              </a:rPr>
              <a:t>Grand View Research (2026)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[5] </a:t>
            </a:r>
            <a:r>
              <a:rPr sz="760" i="1">
                <a:solidFill>
                  <a:srgbClr val="1C7293"/>
                </a:solidFill>
                <a:latin typeface="Arial"/>
                <a:hlinkClick r:id="rId9"/>
              </a:rPr>
              <a:t>Vedomosti / Intellectual Analytics (мар 2026)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[6] </a:t>
            </a:r>
            <a:r>
              <a:rPr sz="760" i="1">
                <a:solidFill>
                  <a:srgbClr val="1C7293"/>
                </a:solidFill>
                <a:latin typeface="Arial"/>
                <a:hlinkClick r:id="rId10"/>
              </a:rPr>
              <a:t>Gartner — пресс-релиз (окт 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[2, 3, 4]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6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760" i="1">
                <a:solidFill>
                  <a:srgbClr val="1C7293"/>
                </a:solidFill>
                <a:latin typeface="Arial"/>
                <a:hlinkClick r:id="rId2"/>
              </a:rPr>
              <a:t>Mistral AI — Announcing Mistral 7B (сен 2023)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760" i="1">
                <a:solidFill>
                  <a:srgbClr val="1C7293"/>
                </a:solidFill>
                <a:latin typeface="Arial"/>
                <a:hlinkClick r:id="rId3"/>
              </a:rPr>
              <a:t>DeepSeek-R1 — тех.отчёт (янв 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760" i="1">
                <a:solidFill>
                  <a:srgbClr val="1C7293"/>
                </a:solidFill>
                <a:latin typeface="Arial"/>
                <a:hlinkClick r:id="rId4"/>
              </a:rPr>
              <a:t>SemiAnalysis — DeepSeek cost analysis (2025)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760" i="1">
                <a:solidFill>
                  <a:srgbClr val="1C7293"/>
                </a:solidFill>
                <a:latin typeface="Arial"/>
                <a:hlinkClick r:id="rId5"/>
              </a:rPr>
              <a:t>Bloomberg — Nvidia $589B drop (27 янв 2025)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[5] </a:t>
            </a:r>
            <a:r>
              <a:rPr sz="760" i="1">
                <a:solidFill>
                  <a:srgbClr val="1C7293"/>
                </a:solidFill>
                <a:latin typeface="Arial"/>
                <a:hlinkClick r:id="rId6"/>
              </a:rPr>
              <a:t>Steinberger — OpenClaw (GitHub)</a:t>
            </a:r>
            <a:r>
              <a:rPr sz="760" i="1">
                <a:solidFill>
                  <a:srgbClr val="1C7293"/>
                </a:solidFill>
                <a:latin typeface="Arial"/>
              </a:rPr>
              <a:t>   ·   </a:t>
            </a:r>
            <a:r>
              <a:rPr sz="760" b="1" i="1">
                <a:solidFill>
                  <a:srgbClr val="065A82"/>
                </a:solidFill>
                <a:latin typeface="Arial"/>
              </a:rPr>
              <a:t>[6] </a:t>
            </a:r>
            <a:r>
              <a:rPr sz="760" i="1">
                <a:solidFill>
                  <a:srgbClr val="1C7293"/>
                </a:solidFill>
                <a:latin typeface="Arial"/>
                <a:hlinkClick r:id="rId7"/>
              </a:rPr>
              <a:t>Gerganov — llama.cpp / ggml.ai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16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17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300" b="0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Каждое следующее обёртывание добавляет способности — и сложность, стоимость, потенциал ошибок.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Weng — LLM Powered Autonomous Agents (2023)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19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— две оси: тип задачи × модальность.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кадра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видео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5916168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989320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7"/>
              </a:rPr>
              <a:t>Russell &amp; Norvig — AIMA (2021)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8"/>
              </a:rPr>
              <a:t>Goodfellow, Bengio, Courville — Deep Learning (2016)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18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20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Инференс: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 </a:t>
            </a:r>
            <a:r>
              <a:rPr sz="57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2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YOLO = 50 строк; рабочая система с YOLO = сотни строк.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Kreuzberger et al. — MLOps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Jumper et al. — AlphaFold, Nature (2021)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21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8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22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043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Weng — LLM Powered Autonomous Agents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Anthropic — Model Context Protocol (2024)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23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Yao et al. — ReAct (2022)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24 / 36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9432" y="2788920"/>
            <a:ext cx="7004304" cy="260604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02809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6200000">
            <a:off x="10744200" y="36118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28090"/>
                </a:solidFill>
              </a:rPr>
              <a:t>цикл: обработка одного файла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39996" y="3017520"/>
            <a:ext cx="50292" cy="27432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39996" y="5715000"/>
            <a:ext cx="274320" cy="5029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>
            <a:off x="4485132" y="2834640"/>
            <a:ext cx="164592" cy="201168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754880" y="5907024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↻  повторить × 200 файлов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870448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943600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Feng, McDonald, Zhang — Levels of Autonomy (2025)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 </a:t>
            </a:r>
            <a:r>
              <a:rPr sz="520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16168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989320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7"/>
              </a:rPr>
              <a:t>Google — Translate at 20 (2026)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8"/>
              </a:rPr>
              <a:t>Anthropic — Building Effective Agents (2024)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26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4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24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24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Anthropic — Building Effective Agents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Google — AI Agents Whitepaper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Ng — Four Agentic Design Patterns (2024)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27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1800" b="0" i="1">
                <a:latin typeface="Arial"/>
                <a:cs typeface="Arial"/>
                <a:ea typeface="Arial"/>
                <a:solidFill>
                  <a:srgbClr val="065A82"/>
                </a:solidFill>
              </a:rPr>
              <a:t>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  <a:r>
              <a:rPr sz="1800" b="0" i="1">
                <a:latin typeface="Arial"/>
                <a:cs typeface="Arial"/>
                <a:ea typeface="Arial"/>
                <a:solidFill>
                  <a:srgbClr val="065A82"/>
                </a:solidFill>
              </a:rPr>
              <a:t> </a:t>
            </a:r>
            <a:r>
              <a:rPr sz="93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NIST — AI RMF 1.0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NIST — Generative AI Profile 600-1 (2024)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EU AI Act — Reg. (EU) 2024/1689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28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617720"/>
          </a:xfrm>
          <a:prstGeom prst="roundRect">
            <a:avLst>
              <a:gd name="adj" fmla="val 66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 </a:t>
            </a:r>
            <a:r>
              <a:rPr sz="728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9601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Samsung 2023 — канонический инцидент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9601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Bloomberg — Samsung bans ChatGPT (май 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OpenAI — Enterprise Privacy / data usage (2025)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EU AI Act — Reg. (EU) 2024/1689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29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8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45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 </a:t>
            </a:r>
            <a:r>
              <a:rPr sz="624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Huang et al. — Survey on Hallucination in LLMs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Ji et al. — Survey of Hallucination in NLG (2023)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[3] </a:t>
            </a:r>
            <a:r>
              <a:rPr sz="850" i="1">
                <a:solidFill>
                  <a:srgbClr val="1C7293"/>
                </a:solidFill>
                <a:latin typeface="Arial"/>
                <a:hlinkClick r:id="rId4"/>
              </a:rPr>
              <a:t>Vectara — HHEM Leaderboard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[4]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CybSafe / NCA — Oh Behave! (2024–25)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30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GPT-4o: лесть (sycophancy) — апрель 2025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0760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 </a:t>
            </a:r>
            <a:r>
              <a:rPr sz="676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5"/>
              </a:rPr>
              <a:t>OpenAI — Sycophancy in GPT-4o postmortem (2025)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6"/>
              </a:rPr>
              <a:t>Pan et al. — Reward Misspecification (2022)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31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[1]</a:t>
            </a:r>
            <a:r>
              <a:rPr sz="2600" b="1" i="0">
                <a:latin typeface="Arial"/>
                <a:cs typeface="Arial"/>
                <a:ea typeface="Arial"/>
                <a:solidFill>
                  <a:srgbClr val="21295C"/>
                </a:solidFill>
              </a:rPr>
              <a:t> </a:t>
            </a:r>
            <a:r>
              <a:rPr sz="1352" baseline="30000" b="0" i="1">
                <a:latin typeface="Arial"/>
                <a:cs typeface="Arial"/>
                <a:ea typeface="Arial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Arial"/>
              </a:rPr>
              <a:t>[1] </a:t>
            </a:r>
            <a:r>
              <a:rPr sz="850" i="1">
                <a:solidFill>
                  <a:srgbClr val="1C7293"/>
                </a:solidFill>
                <a:latin typeface="Arial"/>
                <a:hlinkClick r:id="rId2"/>
              </a:rPr>
              <a:t>Searle — Minds, Brains, and Programs (1980)</a:t>
            </a:r>
            <a:r>
              <a:rPr sz="850" i="1">
                <a:solidFill>
                  <a:srgbClr val="1C7293"/>
                </a:solidFill>
                <a:latin typeface="Arial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Arial"/>
              </a:rPr>
              <a:t>[2] </a:t>
            </a:r>
            <a:r>
              <a:rPr sz="850" i="1">
                <a:solidFill>
                  <a:srgbClr val="1C7293"/>
                </a:solidFill>
                <a:latin typeface="Arial"/>
                <a:hlinkClick r:id="rId3"/>
              </a:rPr>
              <a:t>Bostrom — Superintelligence (2014)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33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34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3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7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40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/>
            </a:r>
            <a:r>
              <a:rPr sz="1400" b="0" i="1">
                <a:solidFill>
                  <a:srgbClr val="6B7685"/>
                </a:solidFill>
                <a:latin typeface="Arial"/>
              </a:rPr>
              <a:t/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36 / 36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0" y="3886200"/>
            <a:ext cx="2834640" cy="2331720"/>
          </a:xfrm>
          <a:prstGeom prst="roundRect">
            <a:avLst>
              <a:gd name="adj" fmla="val 13071"/>
            </a:avLst>
          </a:prstGeom>
          <a:solidFill>
            <a:srgbClr val="FFFFFF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x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8340" y="4087368"/>
            <a:ext cx="1417320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06840" y="558698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Чат курса в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7" y="5861304"/>
            <a:ext cx="2615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065A82"/>
                </a:solidFill>
                <a:latin typeface="Arial"/>
              </a:rPr>
              <a:t>max.ru/join/sHoHlhI4jvW…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курса в MAX — всё важное в одном 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Чат группы: «Отраслевое использование ИИ 2026»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657600" cy="397763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4b-max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039112"/>
            <a:ext cx="233172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5079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Отсканируйте камерой телефона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928616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max.ru/join/sHoHlhI4jvW_swcq5ZLowvz6G94m0IMhAwngxuxsEpI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7830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57216" y="20574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ell-FFFFFF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263" y="2159447"/>
            <a:ext cx="351495" cy="3514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20025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Объявления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4048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Расписание, изменения, важные новости курса — в одном месте.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31546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57216" y="34290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-open-FFFFFF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263" y="3531047"/>
            <a:ext cx="351495" cy="35149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89320" y="33741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Материалы лекций и семинаров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7764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Слайды и материалы появляются в чате по мере проведения занятий.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5262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57216" y="48006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square-quote-FFFFFF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9263" y="4902647"/>
            <a:ext cx="351495" cy="3514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89320" y="47457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Вопросы между занятиями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51480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Можно задать вопрос по курсу и получить ответ, не дожидаясь пары.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6B7685"/>
                </a:solidFill>
                <a:latin typeface="Arial"/>
              </a:rPr>
              <a:t>9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