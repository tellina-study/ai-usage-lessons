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not with AI, but with you. While you read this sentence, your brain is continuously solving a small but important task: deciding what deserves to be in focus right now and what can stay in the background. Somewhere on the periphery there is a notification on your phone, a half-formed thought about the evening's plans, the feeling of an uncomfortable chair. All of it competes for the same limited resource — your attention. You do not consciously register the choice in the moment, but it is happening constantly.</a:t>
            </a:r>
          </a:p>
          <a:p>
            <a:r>
              <a:t>On the slide there is a character being pulled in three directions at once: a notification, a stray thought, an unfinished task. This is not about distraction as a flaw — it is the normal operation of the attention mechanism. Human attention is bounded: we physically cannot process everything with equal completeness at once, so the brain is always setting priorities — what goes into focus, what stays in the background.</a:t>
            </a:r>
          </a:p>
          <a:p>
            <a:r>
              <a:t>Today's lecture is about what happens inside an AI model between your request and its answer. And one of the four internal stages we will take apart is called literally the same thing as what you just felt — the **attention mechanism**. When a model processes your text, it too decides which parts of the input to "look at" more closely and which to leave as background. An important caveat, which we will return to in Section 3: the similarity here is in the name and in the general idea of "choosing a priority," not in the machinery. Inside the model this is not a psychological process but a concrete, computable operation — a matrix of weights that can be calculated and inspected. We will take that apart in detail when we get to the core of it.</a:t>
            </a:r>
          </a:p>
          <a:p>
            <a:r>
              <a:t>Before we get there — we will walk the whole path of a request through the model: tokenization, embeddings, attention, sampling. Each stage has its own concrete engineering consequence for how you work with AI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lecture is the second in the course. Lecture 1 laid out the layered picture "model → chat → agent → application" and described the bottom layer, the model, as stateless inference: data in, prediction out, no memory between calls. That description was enough to talk about where exactly a model is used inside a larger system, but not enough to talk about what happens inside that model. Today we carefully take the black box apart into four stages.</a:t>
            </a:r>
          </a:p>
          <a:p>
            <a:r>
              <a:t>The roadmap at the bottom of the slide corresponds to those four stages: tokenization, embeddings, the attention mechanism, sampling. Each gets its own section. After the four sections we return to three practical questions Lecture 1 left unanswered: why a prompt with a role works better than an empty one, why AI is bad at counting letters, why the same request gives different answers. We will answer all three through a concrete internal mechanism, not through intuition.</a:t>
            </a:r>
          </a:p>
          <a:p>
            <a:r>
              <a:t>The tone of the lecture is explanatory and engineering-minded. We are not describing the full architecture of the transformer: the attention formulas, the Q/K/V matrices, multi-head attention, positional encoding — all of that stays out of scope. A student who needs the full technical picture should go on to deep-learning courses and to the canonical paper Vaswani et al. (2017). Here we deliberately keep the level of detail such that every internal mechanism ties back to practice — to how you will set tasks for the model in your own engineering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into the mechanics of large models — a short route map. The lecture has six sections, and each answers its own question.</a:t>
            </a:r>
          </a:p>
          <a:p>
            <a:r>
              <a:t>Section 0, where we are now, is the introduction: what a token is, a brief recap of Lecture 1, and the central question we are here for.</a:t>
            </a:r>
          </a:p>
          <a:p>
            <a:r>
              <a:t>Section 1 is tokenization. How the model "sees" your text. What a token is, how BPE works, why "strawberry" is split into three parts, and why Russian text costs the model twice as much as English.</a:t>
            </a:r>
          </a:p>
          <a:p>
            <a:r>
              <a:t>Section 2 is embeddings. The space of meanings: how words turn into vectors, what semantic similarity is, and how semantic search and the bridge to RAG come out of this math.</a:t>
            </a:r>
          </a:p>
          <a:p>
            <a:r>
              <a:t>Section 3 is attention. How the model decides which tokens to look at right now. We take the attention mechanism apart on a concrete example and understand why a prompt with the role "you are an expert" really does change the answer.</a:t>
            </a:r>
          </a:p>
          <a:p>
            <a:r>
              <a:t>Section 4 is sampling. From a probability distribution to a single token. Temperature, top-p, top-k, max_tokens — the four API knobs you will turn every time you call an LLM.</a:t>
            </a:r>
          </a:p>
          <a:p>
            <a:r>
              <a:t>Section 5 is the wrap-up. Closing the three "whys" posed in the central question. Comparing ML and LLM as two paradigms, the Human vs AI differences, the homework for the seminar, and the preview of Lecture 3.</a:t>
            </a:r>
          </a:p>
          <a:p>
            <a:r>
              <a:t>Keep this map in your head — it will help you not get lost in the details. After each section we will stop and pin down the main point.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keep our bearings, let's go back to Lecture 1 for one minute. In that lecture we built a layered picture of how AI works inside a product: the model at the bottom, the chat loop above it, the agent loop above the chat, and the application on top, into which all of this is packaged. Lecture 1 described the bottom layer, the model, as a stateless function: data in, prediction out, and no memory between two calls. With that description we can talk about **where** the model sits in a larger system, but we set aside the question — **what exactly** happens inside that stateless function when you type "Today I ate an apple" into the chat and get a reply.</a:t>
            </a:r>
          </a:p>
          <a:p>
            <a:r>
              <a:t>Today we carefully open that black box. The main content of the lecture is the four internal stages your request passes through between the moment it is sent and the moment the answer arrives. Those four stages: tokenization (how the model cuts text into units it can work with), embedding (how each unit is mapped to a numeric representation of meaning), the attention mechanism (how the model decides what to rely on in the current context), and sampling (how a single concrete token is chosen from a probability distribution).</a:t>
            </a:r>
          </a:p>
          <a:p>
            <a:r>
              <a:t>In Lecture 1 the model was called a "black box of stateless inference." Today we stop keeping it black. After this lecture, inside that box there will no longer be four unknowns, but four distinct stages, each with a clear role — and with concrete engineering consequences for how you will set tasks for the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lecture has one central question, and it is stated briefly: what happens inside an LLM between my request and its answer, and which of these internal mechanisms change how I use it. Notice that the question has two parts. The first is descriptive: understand what is technically arranged inside. The second is pragmatic: out of all that internal machinery, single out what changes engineering practice. If an internal mechanism does not affect how you set a task for the model or interpret its answer, we do not take it apart today.</a:t>
            </a:r>
          </a:p>
          <a:p>
            <a:r>
              <a:t>Three promises left unanswered by Lecture 1 feed into the answer to this question. The first — why a prompt with a role works better than an empty one. Anyone who has tried it knows that "You are a Python expert, explain async to a junior" gives a qualitatively different answer than just "Explain async." Today we will understand the mechanism of that effect at the level of attention. The second — why AI is bad at counting letters. The classic example with the word `strawberry` and counting the letter `r` is not a bug or a gap in training, but a structural consequence of how tokenization works. We take that apart in Section 1. The third — why the same request can give different answers. The source is stochastic sampling at a temperature above zero, and in Section 4 we will see the mechanism.</a:t>
            </a:r>
          </a:p>
          <a:p>
            <a:r>
              <a:t>These three promises work as anchors for the lecture: we will return to them in each of the four sections, and at the very end they will get an explicit answer — three "whys" through concrete internal mechanisms.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introduction is done: we have pinned down the central question — what inside an LLM changes how you use it — and the three promise-anchors we will answer by the finale.</a:t>
            </a:r>
          </a:p>
          <a:p>
            <a:r>
              <a:t>Next comes the first of the four internal stages of inference: tokenization. This is the layer closest to the user; it is what your text meets the moment you press "send." Text does not enter the model as letters, and it does not enter as words. It is first cut into tokens — short subsequences the model "knows" from its training corpus.</a:t>
            </a:r>
          </a:p>
          <a:p>
            <a:r>
              <a:t>There are four slides in this section. First we pin down the basic definition of a token through three short examples in English and Russian. Then — why the model uses BPE as a compromise between an alphabet and a dictionary, and one engineering detail important for understanding cost: the vocabulary is built once before training, and at inference only a lookup happens. Next — the most telling case of letter-blindness: "how many r's in strawberry," and through it, three classes of tasks where LLMs make systematic errors. And we close the section by comparing the cost of the same text in different languages — why Russian is about twice as expensive as English, and what to do about it in production.</a:t>
            </a:r>
          </a:p>
          <a:p>
            <a:r>
              <a:t>We keep the pace practical throughout the section: every slide carries a checkable engineering implication.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going deep into each stage, let's look at the full picture — what happens between your request and the model's answer. This is a map we will return to: on the right side of each following section you will see which stage of this pipeline is currently in focus.</a:t>
            </a:r>
          </a:p>
          <a:p>
            <a:r>
              <a:t>On the left — your input text: for example, `"Hello, world"`. The first transformation is **tokenization**: the text is cut into units from the model's vocabulary; `"Hello"` becomes, roughly, `[Hel][lo]`. These tokens are integers, ids from the vocabulary. This is the first of the four stages, and the very next Section 1 is devoted to it.</a:t>
            </a:r>
          </a:p>
          <a:p>
            <a:r>
              <a:t>The next step is **embedding lookup**: each token id is mapped to a learned vector in the model's memory. The word disappears; what remains is a sequence of vectors. This belongs to Section 2.</a:t>
            </a:r>
          </a:p>
          <a:p>
            <a:r>
              <a:t>Next comes **LLM inference**: a series of layers with the attention mechanism, which we take apart in Section 3. Here the model "thinks" — but it thinks over vectors, not words. Out of this processing comes another vector — a candidate for the next token.</a:t>
            </a:r>
          </a:p>
          <a:p>
            <a:r>
              <a:t>That candidate vector is turned into a **probability distribution** over the whole vocabulary: "how plausible is it that the next token is this one? or this one? or that one?" A **single token** is chosen from the distribution through sampling — that is Section 4.</a:t>
            </a:r>
          </a:p>
          <a:p>
            <a:r>
              <a:t>And the last step is the **reverse transformation**: the token id is turned back into text via de-tokenization. This step is almost symmetric to the tokenization at the very start, and it is usually assigned to that same first stage.</a:t>
            </a:r>
          </a:p>
          <a:p>
            <a:r>
              <a:t>The main observation for practice: a "word" appears only at the boundaries — at the input and at the output. Everything happening inside the model is operations over vectors. Today's lecture is about those internal operations, without formulas but with an engineering understanding of what happens 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fact of the first section: an LLM sees your request not as letters and not as words, but as tokens. A token is an identifier, an integer from the model's vocabulary; that vocabulary is fixed at training time and does not change at the moment of use. When you type "Today I ate an apple" into the chat, your text is first cut into tokens, each token becomes a number — an id from the vocabulary — and from then on the model works only with that sequence of numbers. For convenience we write tokens in square brackets, but in the model's memory they are always numbers.</a:t>
            </a:r>
          </a:p>
          <a:p>
            <a:r>
              <a:t>On the slide there are three examples illustrating the main observation. The short common English word `cat` enters the vocabulary as a single token. The word `tokenization` breaks into two tokens: the shared stem `[token]` and the frequent suffix `[ization]`. The common word `strawberry`, tested on the GPT-4o tokenizer `o200k_base`, is cut into three tokens `[st][raw][berry]` — not into ten letters. The pattern is simple: the more often a subsequence appeared in the training corpus, the higher the chance it enters the vocabulary whole; rare subsequences, or ones specific to other languages, are split more finely.</a:t>
            </a:r>
          </a:p>
          <a:p>
            <a:r>
              <a:t>From this follows a practical rule of thumb engineers use when estimating API cost: on average one token corresponds to about four characters of English text or about two characters of Russian. This is not an exact formula but an order of magnitude, and it is enough for most budgeting estimates. A useful exercise: try to guess how many tokens a short Russian word such as `silnee` (a transliteration of a common adverb) splits into — one, two, or three? Your intuition may be wrong: for Russian even a short word often comes out as 2-3 tokens. You can check the exact answer on the Tiktokenizer service. A small consequence important for practice: on numbers, tokenization behaves unpredictably. The string `1234567` may be cut as `[123][4567]`, `[12][345][67]`, or in some other way — depending on which digit subsequences were frequent in the corpus. For arithmetic this means: pure LLM inference is a poor calculator; the right pattern is an external tool, a Code Interpreter or a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algorithm that builds the vocabularies of most modern LLMs is called BPE — Byte-Pair Encoding. In essence, it is a compromise between two extremes. You could take individual characters as the vocabulary — then any text is representable, but the sequences become very long, and it is hard for the model to learn long dependencies. You could, on the contrary, take whole words as the vocabulary — then the sequences are short, but any unfamiliar word, typo, or proper name becomes `&lt;unknown&gt;`, and the model cannot work with it. BPE sits exactly in the middle: the vocabulary consists of subsequences of varying length that the algorithm found to be the most frequent in the training corpus.</a:t>
            </a:r>
          </a:p>
          <a:p>
            <a:r>
              <a:t>The idea of the algorithm is simple: start with an alphabet of individual characters and iteratively merge the pairs that occur together most often, adding each pair to the vocabulary as a new "composite" character. On a small teaching corpus of the words `low / lower / newest / widest`, BPE might learn a vocabulary like `low / er / new / est / wid` — frequent roots separately and frequent suffixes separately. After many iterations on a large corpus you get vocabularies of tens and hundreds of thousands of entries.</a:t>
            </a:r>
          </a:p>
          <a:p>
            <a:r>
              <a:t>An important engineering detail that is often missed is the **moment the vocabulary is built**. A BPE vocabulary is built once, before the model is trained. This is a data-preparation step: you run the BPE algorithm on the training corpus, fix the resulting vocabulary and the set of merge rules, and after that nothing changes. At inference time, tokenization is a lookup of ready-made rules, not a runtime computation. When you send a request to an API, the text is cut in milliseconds using a pre-written table.</a:t>
            </a:r>
          </a:p>
          <a:p>
            <a:r>
              <a:t>On practice there are three subword-tokenizer algorithms: BPE is used in the GPT family and in Llama 3+; WordPiece — in BERT and its descendants; SentencePiece — in Llama 2, Mistral, T5, and many open-weight models. Technically they differ in how they pick pairs and how they handle spaces, but for a user of an LLM these differences are not critical — you only need to remember that the tokenizer ships together with the model and cannot be "swapped on the fly."</a:t>
            </a:r>
          </a:p>
          <a:p>
            <a:r>
              <a:t>Sources:</a:t>
            </a:r>
          </a:p>
          <a:p>
            <a:r>
              <a:t>[1] Sennrich et al. (2016) — NMT of Rare Words / BPE — BPE is a compromise: a vocabulary of frequent subsequences, not letters and not words. https://arxiv.org/abs/1508.07909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classic LLM error you can reproduce with almost any model: asked "how many letters `r` are in the word `strawberry`," the model often answers "two." The correct answer is three. Why does this happen? In modern tiktoken tokenizers the word `strawberry` is cut into three tokens: `[st]`, `[raw]`, `[berry]`. What enters the model is three numeric units, not ten letters. When the model "answers" the question about the count of the letter `r`, it does not have direct access to a character-level representation; it works with three ids, each of which has a learned vector in its memory. Inside those vectors there is no explicit list "here stands the letter `r` at positions 3 and 8" — inside the vectors there is statistical information about the contexts the token `[raw]` occurs in. **The model sees tokens, not letters.**</a:t>
            </a:r>
          </a:p>
          <a:p>
            <a:r>
              <a:t>We will call this phenomenon **letter-blindness**. It is not a bug or poor training — it is a direct structural consequence of how tokenization works. Three practical consequences follow from the same nature. First — character counting: tasks of this kind break LLMs not always, but systematically and in a way not obvious to the user. Second — exact handling of typos: when the model sees a misspelled word, it may be cut into entirely different tokens than the correct word, and the model "sees" a different set of ids; this explains why small typos sometimes cause unexpectedly large changes in the answer. Third — sensitivity to case and spaces: `cat`, ` cat` with a leading space, `Cat`, `CAT` may turn out to be different tokens with different learned vectors.</a:t>
            </a:r>
          </a:p>
          <a:p>
            <a:r>
              <a:t>The engineering takeaway: if your task requires an exact character-level operation — counting characters, searching for a substring by exact match, changing case, checking a match against a regular expression — do not do it with pure LLM inference. Use an external tool: code in a Python sandbox, a regular expression, a specialized microservice. Modern top models (o1-class, Claude 4.7, GPT-5) often answer `strawberry` correctly — but not because one forward pass through a neural network can work character-by-character with a string, but because the model internally calls a Python tool or generates an explicit step-by-step count. The structural fact "AI does not see letters, it sees tokens" does not change.</a:t>
            </a:r>
          </a:p>
          <a:p>
            <a:r>
              <a:t>The same nature explains a second, less obvious problem — arithmetic. Numbers also pass through the tokenizer, and the split into tokens unpredictably coincides with the digit places: `1234` may be cut into `12`+`34` (matching hundreds), while `55688` — into `556`+`88` (no longer matching). The model does not see the digits separately — it sees these irregular groups. The consequence is measurable: on 3-digit multiplication GPT-4 without external tools gives about 59% accuracy, on 4-digit — already 4%, and on 5-digit — 0% (arXiv 2410.19730). The solution is the same as for letters: an external calculator or code, or an explicit step-by-step derivation, rather than a single forward pass of the model.</a:t>
            </a:r>
          </a:p>
          <a:p>
            <a:r>
              <a:t>Sources:</a:t>
            </a:r>
          </a:p>
          <a:p>
            <a:r>
              <a:t>[1] Counting Ability of LLMs &amp; Impact of Tokenization (2024) — GPT-4 without a calculator: 59%/4%/0% on 3-/4-/5-digit multiplication — the same tokenizer-cut mechanism. https://arxiv.org/abs/2410.19730 [VFY-day-of]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text message costs a different number of tokens through the API depending on the language. This is a direct consequence of the fact that the BPE vocabulary is learned on a corpus in which English is represented far more widely than other languages. For English, many frequent subsequences fit into single tokens; for Russian, Chinese, Japanese, and code, there are on average more tokens for text with the same meaning.</a:t>
            </a:r>
          </a:p>
          <a:p>
            <a:r>
              <a:t>Approximate figures in tokens per character for modern GPT-family tokenizers. For natural English — about 0.25 tokens per character: a 100-character text takes roughly 25 tokens. For Russian — about 0.5 tokens per character: the same text of 100 characters takes roughly 50 tokens. For Chinese — about 0.8 tokens per character, because one character often corresponds to one or several tokens. For Python code — about 0.4 tokens per character. These numbers are an order of magnitude, not an exact formula: different sources give a spread from 1.5× to 2.5× depending on the nature of the text and the tokenizer version.</a:t>
            </a:r>
          </a:p>
          <a:p>
            <a:r>
              <a:t>The engineering consequence matters: a call to the API in Russian costs about twice as much as in English for a request with the same meaning. If you have a batch task — mass processing of thousands of documents — and the domain allows working in English, it makes sense to translate inputs and outputs into English to save money. This does not mean "always work in English": for most interactive tasks, convenience and answer quality matter more than the difference in cost. But at large volumes it is a significant budget factor.</a:t>
            </a:r>
          </a:p>
          <a:p>
            <a:r>
              <a:t>An additional consequence — the context window is also consumed unevenly. The context window in modern models is measured in tokens, not in words and not in characters. An 80-thousand-character document in English fits into 20 thousand tokens; the same document in Russian takes about 40 thousand. For a model with a 32-thousand window, the second option will not fit. The "2× more expensive" figure applies to current GPT-family tokenizers; for specialized models with an increased share of Russian in the training data (YandexGPT, GigaChat) the gap may be smaller.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passed the first stage — tokenization. Text turns into a sequence of ids from the model's vocabulary. Next comes the second stage, embeddings. This is the step where each vocabulary id is replaced by a vector in a high-dimensional space: for small embedding models this is 384 or 1536 dimensions, for the inner layers of large LLMs — thousands. And the key property of this space, learned during training: geometric closeness of vectors reflects semantic closeness of tokens and fragments.</a:t>
            </a:r>
          </a:p>
          <a:p>
            <a:r>
              <a:t>Embeddings are not an interesting layer in themselves; the model uses them internally as an intermediate step toward attention and sampling. Why talk about them separately? Because a whole applied field rests on them: similarity, clustering, and semantic search. And semantic search is the base layer of RAG, Retrieval-Augmented Generation, which we will return to in Lecture 3.</a:t>
            </a:r>
          </a:p>
          <a:p>
            <a:r>
              <a:t>This section has four slides plus this divider. First we pin down what an embedding is through the "token → vector" schematic. Then we take apart sentence similarity — closeness at the level of sentences on modern 2026 embeddings, not just at the level of words. Then three practical applications: similarity, clustering, search — a map for later lectures. And we close the section by comparing semantic search with full-text search on a simple query "strawberry" — what each one finds.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said "a token is an id from the vocabulary," one part stayed open: how the model works with that id. It does not work directly with the number — there is no meaningful arithmetic between tokens, and the model needs a way to represent the "meaning" of each token in a form suitable for a neural network. That way is the **embedding**, or **vector representation**.</a:t>
            </a:r>
          </a:p>
          <a:p>
            <a:r>
              <a:t>Every token in the model's vocabulary is mapped to a fixed-length vector — a list of floating-point numbers. For the token `[cat]` in a hypothetical model, the vector might look like `[0.21, -0.45, 0.88, ..., 0.13]` — several hundred or several thousand numbers. The vector is not assigned by hand; it is learned during the model's training together with all the other weights of the network. When training ends, the "token → vector" table — the embedding table — is fixed and does not change afterwards. At inference the model simply does a lookup: it gets the token id, pulls the corresponding vector from the table, and passes it to the next layer.</a:t>
            </a:r>
          </a:p>
          <a:p>
            <a:r>
              <a:t>The size of the vector is a hyperparameter of the specific model. A few public reference points for OpenAI's specialized embedding models: `text-embedding-3-small` — 1536 dimensions; `text-embedding-3-large` — 3072 dimensions. The dimensionalities of the internal embedding tables of flagship LLMs (GPT-4, Claude, etc.) are not officially published; unofficial estimates put them on the order of several thousand up to a bit over ten thousand dimensions. For the purposes of this lecture, what matters is not the exact size but the order of magnitude: thousands of dimensions.</a:t>
            </a:r>
          </a:p>
          <a:p>
            <a:r>
              <a:t>The main property of embeddings: geometric closeness in this space corresponds to closeness in meaning. "Cat" is close to "dog"; "physician" is close to "doctor"; "SSL" is close to "HTTPS." Yet no one explicitly taught the model "cat and dog are one category" — this property arose on its own from the fact that in the training corpus both words often appeared in similar contexts. Closeness in the embedding space is a statistical reflection of how words are used, not a semantic reference book written by a human.</a:t>
            </a:r>
          </a:p>
          <a:p>
            <a:r>
              <a:t>Sources:</a:t>
            </a:r>
          </a:p>
          <a:p>
            <a:r>
              <a:t>[1] OpenAI — Embeddings API — public embeddings: text-embedding-3-small 1536, large 3072 dimensions. https://platform.openai.com/docs/guides/embeddings [VFY-day-of]</a:t>
            </a:r>
          </a:p>
          <a:p>
            <a:r>
              <a:t>[2] Mikolov et al. (2013) — word2vec — historical context: geometric closeness = closeness in meaning. https://arxiv.org/abs/1301.3781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moving on to sentence similarity, it is important to understand exactly what space embeddings live in. This is the first moment in the lecture where we talk about "high-dimensional spaces," and intuition usually goes wrong here.</a:t>
            </a:r>
          </a:p>
          <a:p>
            <a:r>
              <a:t>When we say "embedding space," we mean a mathematical space — a vector space in which each point is a single vector. That vector consists of numbers: 1536 numbers for OpenAI `text-embedding-3-small`, 3072 for `text-embedding-3-large`, and thousands for the internal embeddings of flagship models. Each number is a coordinate along its own "direction," or "dimension." Unlike the three-dimensional space we are used to from the physical world, these dimensions have no obvious meaning of "up-down" or "left-right." They are abstract directions the model learned during training.</a:t>
            </a:r>
          </a:p>
          <a:p>
            <a:r>
              <a:t>What does "learned" mean? The goal of training is to arrange the space so that tokens which appeared in similar contexts in the training corpus lie close to each other. The words `cat` and `dog` occur next to words like `feed`, `pet`, `stroke` — and as a result their embeddings come out close. The same with the words `Python` and `JavaScript` — they appear next to the words `code`, `function`, `variable`. This structure arises not from rules but from statistics: the model saw millions of examples and adjusted the numbers so that the geometry of the space reflects the semantics of the language.</a:t>
            </a:r>
          </a:p>
          <a:p>
            <a:r>
              <a:t>To see such a space at all — you need a **projection**. On the left of the slide is a simplified 2D projection: 8 points split into three meaning clusters. A real projection is obtained from a 1536-dimensional space through PCA (principal components) or t-SNE algorithms; they pick two axes on which the maximum of differences between points is visible. But any 2D projection loses part of the information — the real structure is multidimensional, and it is impossible to draw it beautifully on a plane.</a:t>
            </a:r>
          </a:p>
          <a:p>
            <a:r>
              <a:t>The main practical consequence: semantic closeness = geometric closeness of vectors. Next, on the following slide, we will measure this closeness with a number — through cosine similarity — and see that it works not only on words but on whole sentences.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in 2013 is the historical starting point for talking about embeddings: the first widely known model in which learned word vectors showed semantic analogies. Since then the field has gone through several generations of models, and in 2026 engineering practice relies on embeddings of **sentences and documents**, not on embeddings of individual words. This is a qualitative shift: we can now compare the meaning of whole phrasings, without pulling out individual words.</a:t>
            </a:r>
          </a:p>
          <a:p>
            <a:r>
              <a:t>On the slide is a 5×5 cosine similarity table for five short sentences. The pairwise pattern is typical for modern embedding models. Sentences 1 and 2 — "How to set up SSL" and "Installing an HTTPS certificate" — are synonyms in the domain of web security; their cosine similarity is about 0.85. Sentences 3 and 4 — "Deploying a React component" and "Building a React application" — are both about working with React; cosine about 0.78. Sentence 5 — "Borscht recipe" — against anything technical gives values in the 0.05–0.15 range. Low, but not zero: even completely different domains share a little lexical structure.</a:t>
            </a:r>
          </a:p>
          <a:p>
            <a:r>
              <a:t>This example shows the main point: a modern embedding captures meaning, not an exact string match. "SSL" and "HTTPS" are different strings, but they are close in the embedding space, because in the training corpus they appeared in the same contexts. The same holds for "React" in different task phrasings and for any pairs of synonyms in the technical language.</a:t>
            </a:r>
          </a:p>
          <a:p>
            <a:r>
              <a:t>A technical note on cosine similarity: formally it is the dot product of the vectors divided by the product of their lengths. The geometric meaning is the cosine of the angle between the vectors. If the vectors point the same way, cosine equals 1; if orthogonal — 0; if opposite — minus 1. In practice, in the embedding spaces of LLMs the values almost always lie between 0 and 1, and an engineer interprets them as "how similar A is to B in meaning." The exact thresholds — above which value to consider documents similar — depend on the task and are tuned empirically. The specific numbers on the slide are illustrative; they can be reproduced for free through the open-source model `sentence-transformers/all-MiniLM-L6-v2`.</a:t>
            </a:r>
          </a:p>
          <a:p>
            <a:r>
              <a:t>Sources:</a:t>
            </a:r>
          </a:p>
          <a:p>
            <a:r>
              <a:t>[1] Reproducible: all-MiniLM-L6-v2 / text-embedding-3-small — the numbers are illustrative; cosine closeness is usage statistics, not a semantic reference book. https://platform.openai.com/docs/guides/embeddings [VFY-day-of]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gather what we covered in this section and restate the main practical consequence. Embeddings are not a separate "layer" of the LLM, they are the **foundation** everything else rests on. Inside, the model works not with words and not with strings — it works with vectors in a high-dimensional space. Words appear only at the very boundary: at the input they turn, via tokenization, into ids from the vocabulary, then, via a lookup in the embedding table, into vectors. And in reverse: at the output the model produces a distribution over vectors, one is sampled from the distribution — this becomes a token id, and via de-tokenize it comes back out into words.</a:t>
            </a:r>
          </a:p>
          <a:p>
            <a:r>
              <a:t>On the slide is a schematic going both ways. Input: `Hello, world` → tokenization → `[Hel][lo][,][ world]` → lookup → vectors. The vectors themselves enter the main inference mechanism, which we take apart in Section 3. Output: an internal candidate vector → distribution → the choice of one token through sampling → de-tokenize → a word. Between the "human" input and the "human" output — the path is entirely in vectors.</a:t>
            </a:r>
          </a:p>
          <a:p>
            <a:r>
              <a:t>And this explains what we intuitively call an LLM's "understanding." When you ask "How to set up SSL," and then "Installing an HTTPS certificate," the model answers similarly, because these two sentences land in close points of the vector space, and the whole internal mechanism works on these vectors the same way. The same for synonyms — "auto" and "car" — and for cross-lingual: the Russian word `klubnika` and the English `strawberry` give close embeddings, and the model answers correctly regardless of which language it was addressed in.</a:t>
            </a:r>
          </a:p>
          <a:p>
            <a:r>
              <a:t>What matters for practice: everything you do with an LLM — building prompts, RAG systems, reasoning over documents, cross-language — comes down to how the embeddings are learned. This is the engineering foundation, and investments in the right embedding model for your domain pay off at the following layers. We will return to the concrete application of embeddings in search and retrieval systems in Lecture 3 — RAG.</a:t>
            </a:r>
          </a:p>
          <a:p>
            <a:r>
              <a:t>Sources:</a:t>
            </a:r>
          </a:p>
          <a:p>
            <a:r>
              <a:t>[1] Lewis et al. (2020) — RAG — an embedding captures meaning, not the string: the basis of semantic search / RAG.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passed two stages of the inference pipeline. The first — tokenization: text is cut into tokens, each getting an id from the model's vocabulary. The second — embeddings: each id is mapped to a learned vector, and geometric closeness in this space reflects closeness in meaning.</a:t>
            </a:r>
          </a:p>
          <a:p>
            <a:r>
              <a:t>Section 3 is about the third stage and the mechanism hardest to grasp in the lecture: the **attention mechanism**. At the input we already have a sequence of token embeddings; at the output we need to decide which of them the model relies on most when generating the next token. It is exactly this "decision of what to look at" that the attention mechanism performs. On it depend why a prompt with a role works better than an empty one, what a context window is and what its limits are, and why important information in the middle of a long prompt is systematically lost.</a:t>
            </a:r>
          </a:p>
          <a:p>
            <a:r>
              <a:t>This section has four slides plus this divider. First we pin down the basic definition through the metaphor of a flashlight in a dark room — without formulas, without Q/K/V matrices, without multi-head attention. Then we take apart a worked example on a concrete sentence and from it derive the effect of a role in the prompt — the first of Lecture 1's three "whys." Then we discuss the context window as a physical limit and the quadratic cost of attention. And we close the section by taking apart the "lost in the middle" effect — why a large window does not mean good use of context.</a:t>
            </a:r>
          </a:p>
          <a:p>
            <a:r>
              <a:t>This section is the most conceptually dense in the lecture. This is deliberate: the attention mechanism is the most content-heavy part, and it is worth going through it slowly. One section divider for the whole lecture — here — to give a pause before the densest piece of the material.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previous slide of this section — the divider — we said that attention outputs a "weight distribution over all context tokens". This slide reveals an important detail: attention is not a linear operation but a **matrix** one. This means every token in the context looks at every other one — and for a context of length N the matrix has size N × N. This detail is essential for understanding what comes next about the context window.</a:t>
            </a:r>
          </a:p>
          <a:p>
            <a:r>
              <a:t>On the left is a simplified 7×7 matrix for the sentence "The cat ate the mouse, because she was hungry". Each row is "one request token looks at all the others", each column is "how much this particular token matters". The numbers are illustrative — real attention weights look more complex, and each row should sum to one (normalized via softmax). But qualitatively the picture is typical: the token "she" has its largest weight — 0.7 — on the token "mouse". This is what we intuitively call "the model figured out what the pronoun refers to". Technically it is a statistical link, learned from a huge corpus of texts in which a feminine pronoun most often refers to the nearest feminine noun.</a:t>
            </a:r>
          </a:p>
          <a:p>
            <a:r>
              <a:t>Three important consequences of attention being a matrix.</a:t>
            </a:r>
          </a:p>
          <a:p>
            <a:r>
              <a:t>First — **quadratic cost**. For a context of 100,000 tokens the matrix contains 10 billion numbers. This explains why long contexts are expensive: even a linear increase in context length gives a quadratic increase in the compute and memory for attention. We'll develop this a slide later — with the context window.</a:t>
            </a:r>
          </a:p>
          <a:p>
            <a:r>
              <a:t>Second — **recomputation at every step**. An LLM generates token by token, and on each new generation the attention matrix is rebuilt from scratch on the current, extended context. It is not "compute once and use it for the whole generation"; it is "a new matrix for each new token".</a:t>
            </a:r>
          </a:p>
          <a:p>
            <a:r>
              <a:t>Third — **multi-head**. In fact, one attention layer runs not one matrix but dozens in parallel. This is called multi-head attention. Different "heads" look at different patterns: one may focus on grammatical links, another on topical closeness, a third on long-range dependencies. Splitting the work across heads is one of the key architectural ideas of the transformer. For an LLM user this is a detail, but it explains why the attention mechanism handles different types of dependencies at once — because under the hood several different "views" of the same tokens run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stage of the pipeline is the attention mechanism. At the input we already have a sequence of token embeddings; at the output we need to decide which of them the model leans on most when generating the next token. This "decision about what to look at" is exactly what the attention mechanism does.</a:t>
            </a:r>
          </a:p>
          <a:p>
            <a:r>
              <a:t>A handy metaphor is a **flashlight in a dark room**. Imagine you're standing in a room with many objects — these are all the context tokens — and you need to answer a specific question (predict the next token). You can't brightly light everything at once; you point the flashlight at the objects that are relevant to the question right now. What's at the center of the beam is seen brightly; what's at the periphery, dimly. The metaphor holds in one word: attention is a distribution of light over the scene, and that distribution changes depending on what we're asking right now.</a:t>
            </a:r>
          </a:p>
          <a:p>
            <a:r>
              <a:t>Formally, at each step and for each position the attention mechanism returns a distribution of weights over all the other context tokens. The weights sum to one. One large weight means "I lean heavily on this token"; a small weight — "this token hardly matters to me now". We won't give an explicit formula here — for a user's understanding it's enough to fix three facts: the attention mechanism receives all context tokens at the input (not one and not a part, but all there are); at the output every token has a distribution of weights that sums to 1; this distribution is recomputed at every step of generation.</a:t>
            </a:r>
          </a:p>
          <a:p>
            <a:r>
              <a:t>In a real model the attention mechanism is more complex: each layer runs not one but several parallel attention "heads" (multi-head attention — typically 32-128 heads in modern models), and each head looks at its own aspect — one catches grammatical links, another semantic ones, a third long-range dependencies. There are dozens to hundreds of layers in a modern model. For our level of detail these numbers are a reference fact; the full technical construction with the Q, K, V matrices, scaling by the square root of the dimension, masking and residual connections is beyond this lecture; the full picture is in the canonical source, Vaswani et al. (2017).</a:t>
            </a:r>
          </a:p>
          <a:p>
            <a:r>
              <a:t>Sources:</a:t>
            </a:r>
          </a:p>
          <a:p>
            <a:r>
              <a:t>[1] Vaswani et al. (2017) — Attention Is All You Need — attention outputs a weight distribution over context tokens (Σ=1); 32-128 heads per layer.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concrete sentence: "The cat ate the mouse, because she was hungry." When the model reaches the token "she", it needs to determine what this token refers to. At the attention level you can see it: over the token "she" there is a distribution of weights in which the largest weight is on the token "mouse" (that is how the sentence is understood from context), a medium one on "was", a thin one on "hungry". Visualized, this is three arrows of different thickness.</a:t>
            </a:r>
          </a:p>
          <a:p>
            <a:r>
              <a:t>An important caveat: the picture with three arrows is a strong simplification. A real attention map has hundreds of links at once, and in each of the dozens of layers the picture is different. When we say "the model looks at the mouse", we're aggregating hundreds of values into one thick arrow. And, more importantly, the model does not do grammatical parsing. It looks statistically at the tokens for which the statistics say "these are usually linked to 'she' in similar contexts". Correlation, not parsing. A small exercise: where does the model look in "The program crashed, because it forgot to handle null"? On most modern models the attention here peaks on the token "program" — this agrees with both grammar and the statistics of technical texts.</a:t>
            </a:r>
          </a:p>
          <a:p>
            <a:r>
              <a:t>Now — the main practical consequence, which answers the first of Lecture 1's three "whys". Compare two prompts. "Explain asynchrony" — without a role. "You are a Python expert. Explain asynchrony to a junior" — with a role. At the attention level the second gives a qualitatively different picture. In the first case the context is short, and the model leans on the most general statistics. In the second the context contains the tokens "Python", "expert", "junior", and they get substantial weight in the attention distribution. The next generated token is chosen from a distribution shifted by these tokens: the answer turns out more concrete, with simpler explanations, in a more expert register.</a:t>
            </a:r>
          </a:p>
          <a:p>
            <a:r>
              <a:t>A working explanation: role tokens get elevated weight in the attention distribution when generating the first tokens of the answer. A role in a prompt is not a request to "trust me", but an explicit input signal that directly influences the attention distribution. This is the first of the three "why" questions posed at the start of the lecture, and now we explain it through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figures are as of May 2026; the growth rate of the context window is roughly ×10 every 1-2 years. Before the lecture, check the current values for GPT-5, Claude 4.7 and Gemini.*</a:t>
            </a:r>
          </a:p>
          <a:p>
            <a:r>
              <a:t>The attention mechanism runs on all context tokens, which leads to a natural limitation: the context window is the maximum number of tokens the model can process in one request. Lecture 1 already introduced the notion at the level of "when the chat history plus the new message stop fitting, the old messages fall out". Now we go deeper: why there is an upper limit at all, and why it costs money.</a:t>
            </a:r>
          </a:p>
          <a:p>
            <a:r>
              <a:t>The context window has grown by orders of magnitude over the last three years. A few key points as of the verification in May 2026. GPT-3.5 at the release of ChatGPT in 2022 — about 4 thousand tokens. Claude 3.5 in mid-2024 — 200 thousand tokens. Claude 4.7 and the current flagship OpenAI models in 2026 — on the order of one million tokens. If by the time you read this some figures have already shifted — that's normal, the industry moves fast. What matters is the order of magnitude (thousands → hundreds of thousands → a million) and the growth rate (roughly an order of magnitude every one to two years), not the exact numbers.</a:t>
            </a:r>
          </a:p>
          <a:p>
            <a:r>
              <a:t>One million tokens is, very roughly, 1500-2000 pages of English text. It seems the model now "sees everything" and the problem has disappeared. This impression is misleading for two reasons.</a:t>
            </a:r>
          </a:p>
          <a:p>
            <a:r>
              <a:t>First — cost grows quadratically. The base attention mechanism requires each of the N tokens to look at every other — that's N² operations per attention layer. Double the context length, and the inference cost quadruples. In practice, engineering optimizations (FlashAttention, sparse attention, sliding-window, KV cache) lower the constant, but the quadratic dependence remains dominant for current architectures. In API pricing this is directly visible: a million tokens of input costs on the order of sixteen times more than a hundred thousand, for a task of the same complexity. This is a structural property of vanilla attention, and it does not depend on which exact context figure is current at the moment. Any next step of the industry — 1M, 10M, further — will hit the same quadratic wall, until a fundamentally different architecture appears.</a:t>
            </a:r>
          </a:p>
          <a:p>
            <a:r>
              <a:t>The second reason a large window is no panacea is that the model does not use all positions in the window equally well. The next slide is devoted to this.</a:t>
            </a:r>
          </a:p>
          <a:p>
            <a:r>
              <a:t>Sources:</a:t>
            </a:r>
          </a:p>
          <a:p>
            <a:r>
              <a:t>[1] Anthropic — context window of the Claude models — window growth 4k→200k→1M; the order of magnitude matters more than the exact figure. https://www.anthropic.com/news/model-context-protocol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2023 a group from Stanford and UC Berkeley published a paper with a provocative title: "Lost in the Middle: How Language Models Use Long Contexts". The empirical question: if a model can take 100 thousand tokens as input, does it use different positions in that window equally well?</a:t>
            </a:r>
          </a:p>
          <a:p>
            <a:r>
              <a:t>The experiment. Into a large context — tens of thousands of tokens from arbitrary documents — a single significant fact is inserted: at the start, in the middle, or at the end. Then the model is asked about the fact and the answer accuracy is measured. The results give a characteristic U-shaped curve: accuracy around 70-80% when the fact lies at the start, sagging to ~50% in the middle, and rising again to 70-80% toward the end. The authors called the phenomenon "lost in the middle".</a:t>
            </a:r>
          </a:p>
          <a:p>
            <a:r>
              <a:t>The nature of the effect lies in how models learn to work with long context. In the training corpus, typical documents are arranged so that important statements are either at the start (the thesis) or at the end (the conclusion); the statistics of the position of important tokens have a U-shape. The model absorbs this statistic and carries it over to inference: even if an important token lies in the middle, the model "out of habit" weights it less in attention. This is not a bug — it is an inductive bias of training, a reflection of how real texts are structured.</a:t>
            </a:r>
          </a:p>
          <a:p>
            <a:r>
              <a:t>The engineering takeaway. If you have a long prompt with instructions or data — put the most important part at the start or the end, not in the middle. A common mistake is a long preamble with a critical constraint buried in the middle; the model will systematically ignore such an instruction. The fix: rewrite the prompt so that critical instructions stand at the very start (system prompt) or are explicitly repeated at the end, right before the task. This also explains why "just stuff all the documentation into a large window" is a poor strategy for RAG. Good retrieval that returns 5-10 targeted fragments at the start of the prompt systematically works better than loading the whole base into a giant window. We'll return to this in Lecture 3.</a:t>
            </a:r>
          </a:p>
          <a:p>
            <a:r>
              <a:t>Sources:</a:t>
            </a:r>
          </a:p>
          <a:p>
            <a:r>
              <a:t>[1] Liu et al. (2023) — Lost in the Middle — U-shape: accuracy dips in the middle of the window; put what matters at the start/end of the prompt. https://arxiv.org/abs/2307.03172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closed the section on attention: the model can distribute importance over the context tokens. But inference isn't finished yet. The model has an intermediate internal result — a probability distribution over all ~200 thousand vocabulary tokens — and it must pick exactly one token from that distribution to become the next one in the answer.</a:t>
            </a:r>
          </a:p>
          <a:p>
            <a:r>
              <a:t>This step is called sampling. It determines what a user perceives as the model's "style": how deterministically it answers identical requests, how creative or dull it is, how predictable. And it is sampling that closes the third of Lecture 1's three "whys": why the same request gives different answers.</a:t>
            </a:r>
          </a:p>
          <a:p>
            <a:r>
              <a:t>There are five slides in this section. First we'll fix what a probability distribution is on a concrete example of next-token prediction. Then we'll cover the main API knob — temperature — in three modes: T=0 (deterministic argmax), T≈1 (the standard for chat), T=2 (chaos). Next — a practical matrix of four API parameters for four scenarios: classification, code generation, chat explanation, creative writing. Then we'll show sampling in the context of the full autoregressive generation loop — where it sits between two forward passes of the model. And we'll close the section by comparing inference locally and in the cloud: the same pipeline, but a different model size and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move to the fourth and final stage of inference: sampling. At the input of sampling is what the previous three stages produced: the model went through tokenization, embeddings, all the attention layers, and at the output it has a probability distribution over all vocabulary tokens. That is, for each of the hundred or two hundred thousand vocabulary tokens the model said: "the probability that this one comes next is such-and-such value". The sum of all probabilities equals one.</a:t>
            </a:r>
          </a:p>
          <a:p>
            <a:r>
              <a:t>Take a concrete example. A user wrote "Today I ate …" in the chat and is waiting for the continuation. Inside the model a probability distribution of the next token appears. On the bar chart it looks roughly like this: `apple` — 0.32, `pizza` — 0.19, `salad` — 0.14, `a bun` — 0.11, `cucumber` — 0.08, and the other two hundred thousand tokens — each with a probability below 0.05. The numbers on the slide are illustrative; the exact values depend on the model and the context, but the overall picture is stable.</a:t>
            </a:r>
          </a:p>
          <a:p>
            <a:r>
              <a:t>Two things are visible. First — the distribution is **not uniform**: the model has statistical preferences based on which tokens often followed "ate" in the training corpus. This is the model's "knowledge" — the statistics of the next token for each possible context. Second — the distribution is **not a single point**: there are several plausible candidates, and among them the probabilities differ noticeably. The model does not "know" one correct answer; it has a set of candidates with decreasing probabilities.</a:t>
            </a:r>
          </a:p>
          <a:p>
            <a:r>
              <a:t>Then sampling begins. Sampling is the rule by which the model picks one token from this distribution to go into the answer. The sampling rule determines how "creative" or "deterministic" the answer will be. On the next slide we'll cover the main sampling parameter — temperature — and touch on top-p and top-k as alternative fine-tuning knobs. Notice: even on this slide you can already see the key condition for the same request giving different answers — there is a distribution from which something is chosen. This is the third of Lecture 1's three "whys", and now we'll carefully reveal its mechanism.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sampling parameter is temperature, denoted T. Temperature controls how "sharp" the choice will be. It's an API parameter: `temperature=0.0`, `temperature=0.7`, `temperature=2.0`. Technically, temperature is a coefficient by which the logits (the model's internal "raw" scores before normalization into probabilities) are divided before the normalization operation; we won't introduce the formula here, the consequence is what matters.</a:t>
            </a:r>
          </a:p>
          <a:p>
            <a:r>
              <a:t>At T = 0 the model picks the token with the highest probability. This is the argmax operation — "take the one whose probability is maximal". In our "ate …" example the model will almost always pick `apple` (0.32 — the maximum). The answer is predictable and nearly deterministic — repeat the request ten times, you get the same thing. A small caveat: in production there can be micro-variability because server-side batching and floating-point on the GPU don't give bit-for-bit identical results between runs; for most tasks this variability is negligible.</a:t>
            </a:r>
          </a:p>
          <a:p>
            <a:r>
              <a:t>At T = 1.0 — the standard mode. The model samples proportionally to the original probabilities: `apple` will be chosen about 32% of the time, `pizza` 19%, `salad` 14%, and so on. This gives natural variability — each run can return a different answer, but all answers lie within the plausible zone.</a:t>
            </a:r>
          </a:p>
          <a:p>
            <a:r>
              <a:t>At T = 2.0 the distribution is "flattened": the difference between the most probable and the rare tokens shrinks, and the model starts to pick unexpected options more often. In extreme cases the answers become almost chaotic — tokens are chosen that are unlikely in real language after "ate".</a:t>
            </a:r>
          </a:p>
          <a:p>
            <a:r>
              <a:t>Besides temperature there are two alternative knobs: top-p (nucleus sampling) — a parameter that cuts off the "tail" of rare tokens: the model keeps the minimal subset of the most probable tokens whose cumulative probability is at least p, and samples only from them. And top-k — a parameter limiting the number of candidates: the model keeps the top-k most probable tokens. In practice, for most tasks it's enough to tune temperature; top-p and top-k are a second layer of control.</a:t>
            </a:r>
          </a:p>
          <a:p>
            <a:r>
              <a:t>This slide answers the third of the three "why" questions posed at the start of the lecture: why the same request gives different answers. The short answer: because at T greater than zero, sampling is a stochastic process, and from the same distribution each run can pick a different token. This is not a bug; it's an engineering decision that gives models natural variability, which for most interactive tasks is perceived as "human-likeness".</a:t>
            </a:r>
          </a:p>
          <a:p>
            <a:r>
              <a:t>Sources:</a:t>
            </a:r>
          </a:p>
          <a:p>
            <a:r>
              <a:t>[1] Holtzman et al. (2019) — nucleus sampling (top-p) — temperature and top-p control the shape of the distribution during sampling. https://arxiv.org/abs/1904.09751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collect the four main parameters an engineer uses to control an LLM through the API. These four parameters — `temperature`, `top_p`, `max_tokens`, and the **system prompt** — are the key practical goal of this section: after this slide you should be able to pick them for a specific scenario, not by guessing but with justification.</a:t>
            </a:r>
          </a:p>
          <a:p>
            <a:r>
              <a:t>A brief definition of each. **Temperature** — the sharpness of sampling, from 0 to about 2. **Top_p** — the nucleus-cutoff parameter (typical values 0.9-0.95). **Max_tokens** — the maximum length of the model's answer in tokens (not words); if the answer hits the limit, it is cut off mid-word. **The system prompt** — a separate message that sets the model's role and constraints before the user request.</a:t>
            </a:r>
          </a:p>
          <a:p>
            <a:r>
              <a:t>A summary table for four typical scenarios. The logic is consistent. **Classification.** When the task is to assign a document one of a finite set of labels, any stochasticity is harmful: if on the same document the model says "complaint" in one run and "question" in another, reproducibility is broken. T = 0 provides a deterministic argmax. Max_tokens is small — the answer is short. The system prompt is minimal but with an output schema: "answer in JSON format `{label: ..., confidence: ...}`", so post-processing can easily parse the result.</a:t>
            </a:r>
          </a:p>
          <a:p>
            <a:r>
              <a:t>**Code generation.** Here you need a slightly non-zero temperature. T = 0 gives repetitive, sometimes overly "textbook" code; T = 0.2-0.3 leaves variability only in the choice between nearly equally good solutions. Top_p = 0.9 cuts off rare tokens, which in code almost always mean a syntax error. Max_tokens is large. The system prompt — role and repository context.</a:t>
            </a:r>
          </a:p>
          <a:p>
            <a:r>
              <a:t>**Chat explanation.** The standard mode. T = 0.7 gives a variety of phrasings while preserving meaning; top_p = 0.9 keeps the natural options. The system prompt describes the role and the audience.</a:t>
            </a:r>
          </a:p>
          <a:p>
            <a:r>
              <a:t>**Creative writing.** Stochasticity is a desired property. T = 0.9-1.2 gives unexpected turns of phrase and metaphors. Top_p = 0.95 loosens the tail cutoff. The system prompt — role and style.</a:t>
            </a:r>
          </a:p>
          <a:p>
            <a:r>
              <a:t>This table is not a prescription; it is a reference. In real work you'll calibrate the values for your task. The important thing is to understand the frame: four knobs, and they're turned together — there's no point setting T = 0 and top_p = 0.5 (top_p at T = 0 is meaningless); no point setting T = 1.5 and max_tokens = 50 (the model will just get going and get cut off).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collect the four inference stages into a single loop. Lecture 1 described the model as a stateless function: "input is data, output is a prediction, no state between calls". But in a chat with an LLM we observe not one function but a long answer — a phrase, a paragraph, a page. Where does a long answer come from, out of stateless calls?</a:t>
            </a:r>
          </a:p>
          <a:p>
            <a:r>
              <a:t>The answer is autoregressive generation. From the Latin for "self-regressing": the model relies on its own previous outputs. It is a cyclic process of five steps. The first — the current context: the system prompt plus the dialogue history plus the new request plus everything the model has already generated for this answer. The second — the forward pass: a full pass of the entire context through the four inference stages we covered in the first three sections of the lecture — tokenization, embeddings, attention through all layers, the final layer. At the output of the forward pass is a probability distribution of the next token. The third — sampling: by the temperature and top-p rule, one token is chosen from the distribution. The fourth — adding to the context: the chosen token is appended to the answer and becomes part of the context for the next step. The fifth — return to step 1.</a:t>
            </a:r>
          </a:p>
          <a:p>
            <a:r>
              <a:t>The loop repeats until the model generates a special "end of answer" token or hits `max_tokens`. Each individual step of this loop is stateless: the model "remembers" nothing between steps; all the "memory" is carried by the context itself, which is supplied whole each time. This is a refinement of what Lecture 1 said: the model really is stateless, but out of stateless steps a process is assembled that looks like a coherent answer, because each next step sees the entire previous context. The illusion of "memory" within one answer is created not by the model but by the orchestrator that assembles and supplies the context.</a:t>
            </a:r>
          </a:p>
          <a:p>
            <a:r>
              <a:t>This explains several practical observations. Generation speed: a long answer is written one token at a time, dozens of tokens per second; long answers are seen as "text being printed before your eyes" — this is the physical pace of generation. The behavior of `max_tokens`: when the token counter reaches the limit, the loop breaks instantly — mid-word, in the middle of a JSON. Streaming: modern LLM APIs support a mode in which tokens are returned to the client as they are generated, not in a single batch at the end.</a:t>
            </a:r>
          </a:p>
          <a:p>
            <a:r>
              <a:t>A terminology note: the standard English form is "autoregressive" — as in autoregressive generation. Keep this form consistently across the artifacts.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inference loop described above — tokenization, embeddings, attention, sampling, return to the start — is the same in cloud LLM services and in locally deployed models. From the mechanism's standpoint, ChatGPT, Claude, GigaChat, a local Llama 3.1 on a laptop, or Qwen 2.5 on an edge device work identically. They differ in model size (and, consequently, in answer quality) and in the execution environment.</a:t>
            </a:r>
          </a:p>
          <a:p>
            <a:r>
              <a:t>Local deployment — Ollama, llama.cpp, LM Studio, vLLM — usually runs models of 1-13 billion parameters: Qwen 2.5 1.5B, Llama 3.2 1B, Llama 3.1 8B, Mistral 7B as of 2026. The advantages are data privacy (requests don't go to a third-party provider), no per-token charge, and independence from the internet. The drawbacks: speed on consumer hardware is noticeably lower than with cloud providers; local models often have a smaller context window; answer quality on hard tasks lags behind large models.</a:t>
            </a:r>
          </a:p>
          <a:p>
            <a:r>
              <a:t>Cloud services — OpenAI, Anthropic, Google, the Russian Yandex and Sber — run models of a significantly larger size (on the order of hundreds of billions of parameters and more). Answer quality on hard tasks is higher; the context window is larger (hundreds of thousands and a million tokens); the typical response latency is 200-500 ms. This is paid for by sending data through the provider's API (with all the storage- and usage-policy questions we discussed in Lecture 1) and by paying per token — which for Russian text is higher than for English, as we saw earlier today.</a:t>
            </a:r>
          </a:p>
          <a:p>
            <a:r>
              <a:t>The deep discussion of local vs cloud models — with a decision diagram, the break-even point by request volume, and regulatory aspects — was in Lecture 1 and is not repeated here. What matters to take away is one point: architecturally, inference looks the same; the differences are in model size and environment. When you choose between "local" and "cloud", you're choosing not between different technologies but between different points on the "quality × privacy × cost" scale, and that scale does not depend on how the inference loop is arranged inside.</a:t>
            </a:r>
          </a:p>
          <a:p>
            <a:r>
              <a:t>Sources:</a:t>
            </a:r>
          </a:p>
          <a:p>
            <a:r>
              <a:t>[1] Mistral AI — Mistral 7B — local open-weight models 1-13B vs cloud 200B+. https://mistral.ai/news/announcing-mistral-7b [VFY-day-of]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We've gone through all four inference stages: tokenization, embeddings, attention, sampling. The black box from Lecture 1, which we then called the "inference model", is no longer black. Next comes the final section of the lecture, in which we assemble the picture and close the loop.</a:t>
            </a:r>
          </a:p>
          <a:p>
            <a:r>
              <a:t>There are six slides in this section. First — a short recap: the same four stages are now laid out into a horizontal pipeline; one definition line under each stage. Then — the main practical takeaway of the lecture: explicit answers to the three "whys" from Lecture 1. Why a prompt with a role works better than an empty one. Why AI is bad at counting letters. Why the same request gives different answers. On each "why" we place an explicit reference to the mechanism we've just covered.</a:t>
            </a:r>
          </a:p>
          <a:p>
            <a:r>
              <a:t>Then — three cross-cutting frames. The first — a "when not an LLM" decision tree: situations where classical ML, transparent methods, or a specialized small model work better than a large language model. The second — the conceptual difference between attention as a correlational mechanism and the human model of causality; a callback to Pearl's three-level ladder from Lecture 1. After that — the assignment for Seminar 2 and a brief teaser for Lecture 3 about agents, RAG, and MCP. And in the finale — Q&amp;A with the room.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put everything we've covered into one diagram. The LLM inference pipeline consists of four stages.</a:t>
            </a:r>
          </a:p>
          <a:p>
            <a:r>
              <a:t>**First — tokenization.** The user's text is cut into tokens — ids from the model's fixed vocabulary. The vocabulary is built once before training by the BPE algorithm. The exact split depends on the frequency of subsequences in the training corpus.</a:t>
            </a:r>
          </a:p>
          <a:p>
            <a:r>
              <a:t>**Second — embedding.** Each token maps to a learned vector from the embedding table. The geometric closeness of vectors reflects the semantic closeness of tokens in the training corpus.</a:t>
            </a:r>
          </a:p>
          <a:p>
            <a:r>
              <a:t>**Third — the attention mechanism.** Through dozens of attention layers the model builds distributions of weights over the context tokens — which tokens matter now for predicting the next one. The output is a probability distribution over all vocabulary tokens.</a:t>
            </a:r>
          </a:p>
          <a:p>
            <a:r>
              <a:t>**Fourth — sampling.** From this distribution, by the rule set by temperature and top-p / top-k, one token is chosen. It is added to the context, and the loop repeats to the end of the answer.</a:t>
            </a:r>
          </a:p>
          <a:p>
            <a:r>
              <a:t>This pipeline is what Lecture 1 called the "inference model". Then we left it as a black box; now it is no longer black. It's worth fixing: each of the four stages has at least one direct consequence at the level of engineering practice. Tokenization gives character blindness, different cost in different languages, the requirement of an external tool for exact character-by-character work. Embedding gives semantic search, the base layer of RAG, clustering. The attention mechanism gives the role effect in a prompt, the context window as a limitation, "lost in the middle". Sampling gives the stochasticity of the answer, four API knobs for the scenario, the autoregressive nature of a long answer. These eight consequences are the main useful content of the lecture; if you can lean on them when making decisions in your engineering work, the main thing has been learned.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start of today's lecture we posed three "why" questions — and promised to answer them not with intuition but with a concrete mechanism. Now we have everything we need to do so.</a:t>
            </a:r>
          </a:p>
          <a:p>
            <a:r>
              <a:t>**The first "why": why does a prompt with a role work better than an empty one?** At the level of the attention mechanism, role tokens — "you are an expert in X", "answer as Y" — get substantial weight in the attention distribution. The model leans on them when choosing the next tokens; the choice turns out shifted in a direction consistent with the role. This is a simplified explanation; alternatively, the same effect is explained through in-context steering and through the effects of RLHF training. Either way: a role in a prompt is not a request to "trust me", but a concrete input signal that influences the attention distribution.</a:t>
            </a:r>
          </a:p>
          <a:p>
            <a:r>
              <a:t>**The second "why": why is AI bad at counting letters?** Because the model sees not letters but tokens. The word `strawberry` for it is three tokens `[st][raw][berry]`, not ten letters; inside each token there is no explicit enumeration of letters at positions. Character blindness is a structural consequence of BPE tokenization, and it is not fixed by fine-tuning or a larger model on pure inference. For exact character-by-character work you need an external tool: a Code Interpreter, Python, a regular expression.</a:t>
            </a:r>
          </a:p>
          <a:p>
            <a:r>
              <a:t>**The third "why": why does the same request give different answers?** Because at a temperature greater than zero, sampling is a stochastic process that picks one of the plausible candidates from the next-token probability distribution. Each run can pick differently. At a temperature of zero the answer is nearly deterministic, with micro-variability due to server-side batching; at one — naturally variable; above one — increasingly chaotic.</a:t>
            </a:r>
          </a:p>
          <a:p>
            <a:r>
              <a:t>These three answers are the main practical takeaway of today's lecture. If you can name the mechanism for each "why" in one or two sentences, the main content has been learned. Notice: the answers are not intuitive ("the model is like that because it was trained poorly"), but mechanistic — each "why" reduces precisely to a specific internal stage of the pipeline. This mechanistic quality is what distinguishes an engineer's understanding of an LLM from a user's.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extend the task × modality classification from Lecture 1 with one practical question: when is an LLM not the right tool. The universal use of large models is attractive, but in a significant number of scenarios it loses on efficiency to classical ML methods.</a:t>
            </a:r>
          </a:p>
          <a:p>
            <a:r>
              <a:t>A simple decision in the form of a three-branch decision tree. **The first branch.** Is the task classification over a small fixed set of categories: 5-20 classes, thousands or tens of thousands of labeled examples? Most likely the choice is classical ML: logistic regression, gradient boosting (the popular libraries XGBoost, LightGBM, CatBoost), a small transformer classifier like BERT-base fine-tuned for the specific task. An LLM here will be more expensive and less accurate.</a:t>
            </a:r>
          </a:p>
          <a:p>
            <a:r>
              <a:t>**The second branch.** Is interpretability or regulability needed — finance, insurance, medicine, the legal sphere, anything where you must explain to a regulator why the model made such a decision? Here the choice is classical methods with a transparent structure: logistic regression with feature importance, decision trees, rule-based systems. In terms of explaining an individual prediction, an LLM is a "black box".</a:t>
            </a:r>
          </a:p>
          <a:p>
            <a:r>
              <a:t>**The third branch.** Is critical response time — under 100 milliseconds? Real-time feed personalization, anti-fraud on a payment gateway, edge devices? Here — a specialized small model (classical ML or a small neural network), not an LLM call with a 200-500 millisecond latency.</a:t>
            </a:r>
          </a:p>
          <a:p>
            <a:r>
              <a:t>In all other cases an LLM is applicable, and often optimal. Especially for tasks requiring natural-language processing, a flexible request format, multi-step reasoning, or the generation of new text or code. This diagram is the top level. The real engineering choice is deeper, and we'll return to it many times in the course: Lectures 4-7 will walk through specific industries — software, finance, retail, medicine — and for each we'll discuss where an LLM is the optimum and where it is over-engineering. Here it's important to fix one thing: an LLM is not a universal hammer. Knowing the mechanics of an LLM's internals is needed, among other things, to carefully understand where it isn't needed.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short cross-cutting frame is a return to one of the most conceptually important places in Lecture 1: Pearl's three levels of causality. Lecture 1 showed that modern AI systems reliably operate at level 1 (association), partially at level 2 (intervention), and don't handle level 3 (counterfactuals). Now we have a mechanistic basis for this claim.</a:t>
            </a:r>
          </a:p>
          <a:p>
            <a:r>
              <a:t>The attention mechanism looks at tokens statistically — it does not build a causal graph. When the model sees in the context the sentence "X happened because Y", it notices that the tokens X and Y often co-occur in the training corpus in similar constructions. It absorbs correlation, not causality. The construction "because" for the model is a pattern in the data, not a pointer to a causal mechanism in the real world.</a:t>
            </a:r>
          </a:p>
          <a:p>
            <a:r>
              <a:t>Compare two processes. Human: "X happened because Y" — a causal model that includes levels 1 (observing correlation), 2 (what happens if you change Y), and 3 (what would have happened if Y hadn't occurred). This model relies on physical intuition, on domain knowledge, on knowledge of how the world works. AI based on the attention mechanism: "X follows Y in the data" — a statistical correlation between tokens. A strong signal at level 1; the model partially moves to level 2 if the training corpus had many examples of changing Y; at level 3 in the general case — no.</a:t>
            </a:r>
          </a:p>
          <a:p>
            <a:r>
              <a:t>This explains a phenomenon described back in Lecture 1: the model answers "what correlates with what" excellently (data analysis). Worse — "what happens if I change X" (assessing an intervention). And almost not at all — "would Y have happened if X hadn't occurred" (counterfactual analysis). Counterfactual questions remain a zone of human expert judgment — this is not a temporary technical shortcoming but a limitation of the current paradigm.</a:t>
            </a:r>
          </a:p>
          <a:p>
            <a:r>
              <a:t>The tone of the remark is factual, not alarmist. The attention mechanism is a powerful tool in the area where it works. That area is correlational statistics over data, and the engineer must remember the boundary when designing systems in which causal conclusions are expected from AI. The practical takeaway: where decisions require exactly causal inference, bring in a domain expert or dedicated causal methods — the attention mechanism by itself is not designed for this.</a:t>
            </a:r>
          </a:p>
          <a:p>
            <a:r>
              <a:t>Sources:</a:t>
            </a:r>
          </a:p>
          <a:p>
            <a:r>
              <a:t>[1] Pearl (2018) — The Book of Why — attention captures association, not causality (3 rungs of the causal ladder). http://bayes.cs.ucla.edu/WHY/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topic of the next lecture is "Agents, RAG, API: how AI goes beyond the chat". In our inference pipeline, which we've just assembled, there is a hard limitation: the model sees only what's in the context and cannot reach out for information. Lecture 3 will show how this limitation is worked around through four classes of tools.</a:t>
            </a:r>
          </a:p>
          <a:p>
            <a:r>
              <a:t>**RAG — Retrieval-Augmented Generation.** This is an extension in which, before turning to the LLM, a semantic search is run over your knowledge base on embeddings — exactly the ones we covered in the embeddings section of today's lecture — and the top-K relevant fragments are added to the context. At the inference level it's still the same four-stage pipeline, only with an enriched context. RAG is the most direct way to give the model access to information that isn't in its weights.</a:t>
            </a:r>
          </a:p>
          <a:p>
            <a:r>
              <a:t>**Tools, or function calling.** The mechanism through which the model generates a specially structured call — usually in JSON format, sometimes in other formats depending on the API provider — indicating which tool it wants to call and with what parameters. An external system sees this call, executes it, and the result is returned to the model as part of the context. This is the canonical way to work around the limitations of character blindness (for arithmetic — a Python sandbox) and the stateless nature (for up-to-date information — web search).</a:t>
            </a:r>
          </a:p>
          <a:p>
            <a:r>
              <a:t>**MCP — Model Context Protocol.** An open standard for connecting tools to an LLM, introduced by Anthropic in November 2024. It solves the problem of "every combination of a model and a tool is a separate integration": one protocol, a reusable connection. We mentioned MCP in Lecture 1; in Lecture 3 we'll cover it in more detail.</a:t>
            </a:r>
          </a:p>
          <a:p>
            <a:r>
              <a:t>**Agent loop.** The act → observe → reflect loop, discussed back in Lecture 1. At each step the model decides an action, sees the result, adjusts the plan — and so on until the goal is reached. All four concepts build on top of the single-shot inference we assembled today. Multimodal extensions — CLIP embeddings for images, audio embeddings, unified models like GPT-4o that process text and image jointly — are right there, as part of RAG for non-text modalities.</a:t>
            </a:r>
          </a:p>
          <a:p>
            <a:r>
              <a:t>At the seminar we'll go over your homework experiments with temperature; try to run the requests in advance. And for now — we devote the remaining time to your questions.</a:t>
            </a:r>
          </a:p>
          <a:p>
            <a:r>
              <a:t>Sources:</a:t>
            </a:r>
          </a:p>
          <a:p>
            <a:r>
              <a:t>[1] Lewis et al. (2020) — RAG — how AI goes beyond the chat: retrieval-augmented generation. https://arxiv.org/abs/2005.11401</a:t>
            </a:r>
          </a:p>
          <a:p>
            <a:r>
              <a:t>[2] Anthropic — Model Context Protocol (Nov 25, 2024) — an open standard for connecting tools to an LLM. https://www.anthropic.com/news/model-context-protocol</a:t>
            </a:r>
          </a:p>
          <a:p>
            <a:r>
              <a:t>[3] Yao et al. (2022) — ReAct — agent loop: act → observe → reflect. https://arxiv.org/abs/2210.03629 [VFY-day-of]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concludes the main part of the lecture. Next — we give the remaining time to your questions. There are no "stupid" questions and none "too basic" — if something sounded unclear, or the picture of one of the four stages hasn't come together in your head, it's better to ask now, while the topic is fresh.</a:t>
            </a:r>
          </a:p>
          <a:p>
            <a:r>
              <a:t>If there aren't many questions from the room, I can come at it from another angle: tell you which of the four stages most often cause difficulties in the following classes, or show an extra tokenization example on your own words. If it's complete silence — that's also fine, and then I'll remind you that at the seminar in a week we'll bring the results of the temperature homework, run them through a simple checklist, and discuss which temperature is worth setting in production. If questions come up during the discussion — bring them to the seminar or write by e-mail.</a:t>
            </a:r>
          </a:p>
          <a:p>
            <a:r>
              <a:t>Thank you for your attention and for your engagement throughout the lecture. See you next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508.07909"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arxiv.org/abs/2410.19730"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platform.openai.com/docs/guides/embeddings" TargetMode="External"/><Relationship Id="rId4" Type="http://schemas.openxmlformats.org/officeDocument/2006/relationships/hyperlink" Target="https://arxiv.org/abs/1301.3781"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hyperlink" Target="https://platform.openai.com/docs/guides/embeddings" TargetMode="Externa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hyperlink" Target="https://arxiv.org/abs/2005.11401" TargetMode="Externa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hyperlink" Target="https://arxiv.org/abs/1706.03762"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www.anthropic.com/news/model-context-protocol"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arxiv.org/abs/2307.03172"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hyperlink" Target="https://arxiv.org/abs/1904.09751" TargetMode="Externa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istral.ai/news/announcing-mistral-7b"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hyperlink" Target="http://bayes.cs.ucla.edu/WHY/" TargetMode="Externa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hyperlink" Target="https://arxiv.org/abs/2005.11401" TargetMode="External"/><Relationship Id="rId7" Type="http://schemas.openxmlformats.org/officeDocument/2006/relationships/hyperlink" Target="https://www.anthropic.com/news/model-context-protocol" TargetMode="External"/><Relationship Id="rId8" Type="http://schemas.openxmlformats.org/officeDocument/2006/relationships/hyperlink" Target="https://arxiv.org/abs/2210.03629" TargetMode="External"/><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As you read this sentence — what are you NOT paying attention to?</a:t>
            </a:r>
          </a:p>
        </p:txBody>
      </p:sp>
      <p:sp>
        <p:nvSpPr>
          <p:cNvPr id="3" name="TextBox 2"/>
          <p:cNvSpPr txBox="1"/>
          <p:nvPr/>
        </p:nvSpPr>
        <p:spPr>
          <a:xfrm>
            <a:off x="502920" y="1417320"/>
            <a:ext cx="11247120" cy="411480"/>
          </a:xfrm>
          <a:prstGeom prst="rect">
            <a:avLst/>
          </a:prstGeom>
          <a:noFill/>
        </p:spPr>
        <p:txBody>
          <a:bodyPr wrap="square" lIns="0" rIns="0" tIns="0" bIns="0" anchor="ctr">
            <a:spAutoFit/>
          </a:bodyPr>
          <a:lstStyle/>
          <a:p>
            <a:pPr algn="ctr">
              <a:lnSpc>
                <a:spcPct val="120000"/>
              </a:lnSpc>
            </a:pPr>
            <a:r>
              <a:rPr sz="1700" b="0" i="1">
                <a:solidFill>
                  <a:srgbClr val="028090"/>
                </a:solidFill>
                <a:latin typeface="Arial"/>
              </a:rPr>
              <a:t>Every second your brain chooses what matters and what is background.</a:t>
            </a:r>
          </a:p>
        </p:txBody>
      </p:sp>
      <p:sp>
        <p:nvSpPr>
          <p:cNvPr id="4" name="Rounded Rectangle 3"/>
          <p:cNvSpPr/>
          <p:nvPr/>
        </p:nvSpPr>
        <p:spPr>
          <a:xfrm>
            <a:off x="3246120" y="1965960"/>
            <a:ext cx="566928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attention-character.png"/>
          <p:cNvPicPr>
            <a:picLocks noChangeAspect="1"/>
          </p:cNvPicPr>
          <p:nvPr/>
        </p:nvPicPr>
        <p:blipFill>
          <a:blip r:embed="rId2"/>
          <a:stretch>
            <a:fillRect/>
          </a:stretch>
        </p:blipFill>
        <p:spPr>
          <a:xfrm>
            <a:off x="3876402" y="2167128"/>
            <a:ext cx="4407317" cy="3429000"/>
          </a:xfrm>
          <a:prstGeom prst="rect">
            <a:avLst/>
          </a:prstGeom>
        </p:spPr>
      </p:pic>
      <p:sp>
        <p:nvSpPr>
          <p:cNvPr id="6" name="TextBox 5"/>
          <p:cNvSpPr txBox="1"/>
          <p:nvPr/>
        </p:nvSpPr>
        <p:spPr>
          <a:xfrm>
            <a:off x="502920" y="6080760"/>
            <a:ext cx="11247120" cy="502920"/>
          </a:xfrm>
          <a:prstGeom prst="rect">
            <a:avLst/>
          </a:prstGeom>
          <a:noFill/>
        </p:spPr>
        <p:txBody>
          <a:bodyPr wrap="square" lIns="0" rIns="0" tIns="0" bIns="0" anchor="t">
            <a:spAutoFit/>
          </a:bodyPr>
          <a:lstStyle/>
          <a:p>
            <a:pPr algn="ctr">
              <a:lnSpc>
                <a:spcPct val="125000"/>
              </a:lnSpc>
            </a:pPr>
            <a:r>
              <a:rPr sz="1300" b="0" i="1">
                <a:solidFill>
                  <a:srgbClr val="1C7293"/>
                </a:solidFill>
                <a:latin typeface="Arial"/>
              </a:rPr>
              <a:t>The mechanism we take apart inside an AI model today has exactly the same name — "attention". It works in a similar spirit — but not the way yours does.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LECTURE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How modern large
models work</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inference stages: tokenization · embedding · attention · sampling</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Lecture map — 6 sections</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Introduction</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What a token is +
the central question</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Tokenization</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How the model sees
your text</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Embeddings</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The space
of meanings</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Attention</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What matters
now</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Sampling</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From distribution
to token</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Wrap-up</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Closing,
bridge to Lec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Today we zoom into the "model" layer of Lecture 1's four layers</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MODEL — we zoom in today</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Chat</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Agent</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Application</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(from Lecture 1)</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What we know:</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Model = stateless inference. Input is data, output is a prediction. No memory between calls.</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What we learn today:</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What's inside inference. 4 stages:
tokenization -&gt; embedding -&gt; attention -&gt; sampling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The central question of the lecture</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"What happens inside an LLM between my request and its answer -
and which of these mechanisms change how I use it?"</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answers — the wrap-up of the lecture</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Why does a prompt with a role
work better than an empty one?</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Section 3 — attention</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Why is AI bad at
counting letters?</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Section 1 — tokenization</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Why does one request
give different answers?</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Section 4 — sampling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Section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Tokenization</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How the model sees your text</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Intro</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Tokens</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Embeddings</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Attention</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Sampling</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Wrap-up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Data flow in an LLM — there and back</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We'll cover each stage separately. Now — the whole map.</a:t>
            </a:r>
          </a:p>
        </p:txBody>
      </p:sp>
      <p:sp>
        <p:nvSpPr>
          <p:cNvPr id="4" name="Rounded Rectangle 3"/>
          <p:cNvSpPr/>
          <p:nvPr/>
        </p:nvSpPr>
        <p:spPr>
          <a:xfrm>
            <a:off x="502920" y="1874519"/>
            <a:ext cx="112471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4b-data-flow.png"/>
          <p:cNvPicPr>
            <a:picLocks noChangeAspect="1"/>
          </p:cNvPicPr>
          <p:nvPr/>
        </p:nvPicPr>
        <p:blipFill>
          <a:blip r:embed="rId2"/>
          <a:stretch>
            <a:fillRect/>
          </a:stretch>
        </p:blipFill>
        <p:spPr>
          <a:xfrm>
            <a:off x="685800" y="2011680"/>
            <a:ext cx="10881360" cy="3931920"/>
          </a:xfrm>
          <a:prstGeom prst="rect">
            <a:avLst/>
          </a:prstGeom>
        </p:spPr>
      </p:pic>
      <p:sp>
        <p:nvSpPr>
          <p:cNvPr id="6" name="Rounded Rectangle 5"/>
          <p:cNvSpPr/>
          <p:nvPr/>
        </p:nvSpPr>
        <p:spPr>
          <a:xfrm>
            <a:off x="502920" y="61722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453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 word exists only at the boundaries. Inside the model — only vectors. Today we cover 4 stages.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A token is an id from the model's vocabulary. Not a letter and not a word.</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A statistically frequent subsequence</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Example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token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Example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tokens</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Example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strawberry</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[st]</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[raw]</a:t>
            </a:r>
          </a:p>
        </p:txBody>
      </p:sp>
      <p:sp>
        <p:nvSpPr>
          <p:cNvPr id="23" name="Rounded Rectangle 22"/>
          <p:cNvSpPr/>
          <p:nvPr/>
        </p:nvSpPr>
        <p:spPr>
          <a:xfrm>
            <a:off x="6803136" y="4114800"/>
            <a:ext cx="1188719"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[berry]</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tokens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On average: 1 token ~ 4 characters in EN ~ 2 characters in RU</a:t>
            </a:r>
          </a:p>
        </p:txBody>
      </p:sp>
      <p:sp>
        <p:nvSpPr>
          <p:cNvPr id="27" name="TextBox 26"/>
          <p:cNvSpPr txBox="1"/>
          <p:nvPr/>
        </p:nvSpPr>
        <p:spPr>
          <a:xfrm>
            <a:off x="502920" y="5806440"/>
            <a:ext cx="11247120" cy="411480"/>
          </a:xfrm>
          <a:prstGeom prst="rect">
            <a:avLst/>
          </a:prstGeom>
          <a:noFill/>
        </p:spPr>
        <p:txBody>
          <a:bodyPr wrap="square" lIns="0" rIns="0" tIns="0" bIns="0" anchor="t">
            <a:spAutoFit/>
          </a:bodyPr>
          <a:lstStyle/>
          <a:p>
            <a:pPr algn="ctr">
              <a:lnSpc>
                <a:spcPct val="130000"/>
              </a:lnSpc>
            </a:pPr>
            <a:r>
              <a:rPr sz="1400" b="0" i="1">
                <a:solidFill>
                  <a:srgbClr val="1C7293"/>
                </a:solidFill>
                <a:latin typeface="Arial"/>
              </a:rPr>
              <a:t>For Russian, inference costs about twice as much — we'll return to this in 2 slides.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a compromise between an alphabet and a dictionary</a:t>
            </a:r>
          </a:p>
        </p:txBody>
      </p:sp>
      <p:sp>
        <p:nvSpPr>
          <p:cNvPr id="3" name="TextBox 2"/>
          <p:cNvSpPr txBox="1"/>
          <p:nvPr/>
        </p:nvSpPr>
        <p:spPr>
          <a:xfrm>
            <a:off x="502920" y="1325880"/>
            <a:ext cx="11247120" cy="566928"/>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The vocabulary is not made of all words (like lemmatization) nor of all letters (like character-level) — but of frequent subsequences.</a:t>
            </a:r>
            <a:r>
              <a:rPr sz="780" baseline="30000" b="0" i="1">
                <a:latin typeface="Arial"/>
                <a:cs typeface="Arial"/>
                <a:ea typeface="Arial"/>
                <a:solidFill>
                  <a:srgbClr val="1C7293"/>
                </a:solidFill>
              </a:rPr>
              <a:t>[1]</a:t>
            </a:r>
          </a:p>
        </p:txBody>
      </p:sp>
      <p:sp>
        <p:nvSpPr>
          <p:cNvPr id="4" name="TextBox 3"/>
          <p:cNvSpPr txBox="1"/>
          <p:nvPr/>
        </p:nvSpPr>
        <p:spPr>
          <a:xfrm>
            <a:off x="502920" y="1938528"/>
            <a:ext cx="11247120" cy="2743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The vocabulary is built once before training; at inference it is a lookup of ready-made rules.</a:t>
            </a:r>
          </a:p>
        </p:txBody>
      </p:sp>
      <p:sp>
        <p:nvSpPr>
          <p:cNvPr id="5" name="Rounded Rectangle 4"/>
          <p:cNvSpPr/>
          <p:nvPr/>
        </p:nvSpPr>
        <p:spPr>
          <a:xfrm>
            <a:off x="914400" y="2286000"/>
            <a:ext cx="50292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46888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(training corpus)</a:t>
            </a:r>
          </a:p>
        </p:txBody>
      </p:sp>
      <p:sp>
        <p:nvSpPr>
          <p:cNvPr id="7" name="Rounded Rectangle 6"/>
          <p:cNvSpPr/>
          <p:nvPr/>
        </p:nvSpPr>
        <p:spPr>
          <a:xfrm>
            <a:off x="1325880" y="338328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15468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9" name="Rounded Rectangle 8"/>
          <p:cNvSpPr/>
          <p:nvPr/>
        </p:nvSpPr>
        <p:spPr>
          <a:xfrm>
            <a:off x="1325880" y="397764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74904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1" name="Rounded Rectangle 10"/>
          <p:cNvSpPr/>
          <p:nvPr/>
        </p:nvSpPr>
        <p:spPr>
          <a:xfrm>
            <a:off x="1325880" y="457200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34340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3" name="Rounded Rectangle 12"/>
          <p:cNvSpPr/>
          <p:nvPr/>
        </p:nvSpPr>
        <p:spPr>
          <a:xfrm>
            <a:off x="1325880" y="516636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93776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5" name="Right Arrow 14"/>
          <p:cNvSpPr/>
          <p:nvPr/>
        </p:nvSpPr>
        <p:spPr>
          <a:xfrm>
            <a:off x="5989320" y="37719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286000"/>
            <a:ext cx="5029200" cy="3520440"/>
          </a:xfrm>
          <a:prstGeom prst="roundRect">
            <a:avLst>
              <a:gd name="adj" fmla="val 865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46888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 vocabulary)</a:t>
            </a:r>
          </a:p>
        </p:txBody>
      </p:sp>
      <p:sp>
        <p:nvSpPr>
          <p:cNvPr id="18" name="Rounded Rectangle 17"/>
          <p:cNvSpPr/>
          <p:nvPr/>
        </p:nvSpPr>
        <p:spPr>
          <a:xfrm>
            <a:off x="6629400" y="33558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03720" y="315468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6629400" y="3886200"/>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3685032"/>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2" name="Rounded Rectangle 21"/>
          <p:cNvSpPr/>
          <p:nvPr/>
        </p:nvSpPr>
        <p:spPr>
          <a:xfrm>
            <a:off x="6629400" y="4416552"/>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215384"/>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4" name="Rounded Rectangle 23"/>
          <p:cNvSpPr/>
          <p:nvPr/>
        </p:nvSpPr>
        <p:spPr>
          <a:xfrm>
            <a:off x="6629400" y="4946903"/>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745736"/>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6" name="Rounded Rectangle 25"/>
          <p:cNvSpPr/>
          <p:nvPr/>
        </p:nvSpPr>
        <p:spPr>
          <a:xfrm>
            <a:off x="6629400" y="5477255"/>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5276088"/>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8" name="Rounded Rectangle 27"/>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The BPE vocabulary is built once before training. At inference it is a lookup of ready-made rules, not a runtime computation.</a:t>
            </a:r>
          </a:p>
        </p:txBody>
      </p:sp>
      <p:sp>
        <p:nvSpPr>
          <p:cNvPr id="30" name="TextBox 29"/>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Sennrich et al. (2016) — NMT of Rare Words / BPE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AI errs on "how many r-s in strawberry" — words are made of 3 tokens, not letters</a:t>
            </a:r>
          </a:p>
        </p:txBody>
      </p:sp>
      <p:sp>
        <p:nvSpPr>
          <p:cNvPr id="3" name="Rounded Rectangle 2"/>
          <p:cNvSpPr/>
          <p:nvPr/>
        </p:nvSpPr>
        <p:spPr>
          <a:xfrm>
            <a:off x="502920" y="1325880"/>
            <a:ext cx="5669280" cy="3977639"/>
          </a:xfrm>
          <a:prstGeom prst="roundRect">
            <a:avLst>
              <a:gd name="adj" fmla="val 76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444752"/>
            <a:ext cx="5303520" cy="3749039"/>
          </a:xfrm>
          <a:prstGeom prst="rect">
            <a:avLst/>
          </a:prstGeom>
        </p:spPr>
      </p:pic>
      <p:sp>
        <p:nvSpPr>
          <p:cNvPr id="5" name="Rounded Rectangle 4"/>
          <p:cNvSpPr/>
          <p:nvPr/>
        </p:nvSpPr>
        <p:spPr>
          <a:xfrm>
            <a:off x="6400800" y="1325880"/>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417320"/>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Counting characters</a:t>
            </a:r>
          </a:p>
        </p:txBody>
      </p:sp>
      <p:sp>
        <p:nvSpPr>
          <p:cNvPr id="7" name="TextBox 6"/>
          <p:cNvSpPr txBox="1"/>
          <p:nvPr/>
        </p:nvSpPr>
        <p:spPr>
          <a:xfrm>
            <a:off x="6629400" y="1828800"/>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"How many r-s in strawberry?" — breaks systematically, non-obvious to the user.</a:t>
            </a:r>
          </a:p>
        </p:txBody>
      </p:sp>
      <p:sp>
        <p:nvSpPr>
          <p:cNvPr id="8" name="Rounded Rectangle 7"/>
          <p:cNvSpPr/>
          <p:nvPr/>
        </p:nvSpPr>
        <p:spPr>
          <a:xfrm>
            <a:off x="6400800" y="2660904"/>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752344"/>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Typos</a:t>
            </a:r>
          </a:p>
        </p:txBody>
      </p:sp>
      <p:sp>
        <p:nvSpPr>
          <p:cNvPr id="10" name="TextBox 9"/>
          <p:cNvSpPr txBox="1"/>
          <p:nvPr/>
        </p:nvSpPr>
        <p:spPr>
          <a:xfrm>
            <a:off x="6629400" y="3163824"/>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methodlogy ↦ different tokens than methodology. A small typo → a big shift in the answer.</a:t>
            </a:r>
          </a:p>
        </p:txBody>
      </p:sp>
      <p:sp>
        <p:nvSpPr>
          <p:cNvPr id="11" name="Rounded Rectangle 10"/>
          <p:cNvSpPr/>
          <p:nvPr/>
        </p:nvSpPr>
        <p:spPr>
          <a:xfrm>
            <a:off x="6400800" y="3995928"/>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087368"/>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Case and spaces</a:t>
            </a:r>
          </a:p>
        </p:txBody>
      </p:sp>
      <p:sp>
        <p:nvSpPr>
          <p:cNvPr id="13" name="TextBox 12"/>
          <p:cNvSpPr txBox="1"/>
          <p:nvPr/>
        </p:nvSpPr>
        <p:spPr>
          <a:xfrm>
            <a:off x="6629400" y="4498848"/>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cat, ` cat`, Cat, CAT — different tokens, different ids.</a:t>
            </a:r>
          </a:p>
        </p:txBody>
      </p:sp>
      <p:sp>
        <p:nvSpPr>
          <p:cNvPr id="14" name="Rounded Rectangle 13"/>
          <p:cNvSpPr/>
          <p:nvPr/>
        </p:nvSpPr>
        <p:spPr>
          <a:xfrm>
            <a:off x="502920" y="5358384"/>
            <a:ext cx="11247120" cy="107899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449824"/>
            <a:ext cx="10789920" cy="457200"/>
          </a:xfrm>
          <a:prstGeom prst="rect">
            <a:avLst/>
          </a:prstGeom>
          <a:noFill/>
        </p:spPr>
        <p:txBody>
          <a:bodyPr wrap="square" lIns="0" rIns="0" tIns="0" bIns="0" anchor="t">
            <a:spAutoFit/>
          </a:bodyPr>
          <a:lstStyle/>
          <a:p>
            <a:pPr algn="l">
              <a:lnSpc>
                <a:spcPct val="122000"/>
              </a:lnSpc>
            </a:pPr>
            <a:r>
              <a:rPr sz="1400" b="1" i="0">
                <a:solidFill>
                  <a:srgbClr val="21295C"/>
                </a:solidFill>
                <a:latin typeface="Arial"/>
              </a:rPr>
              <a:t>Letters: an external tool (Python, regex) or a character-by-character request. Top 2026 models call code themselves instead of a single pass.</a:t>
            </a:r>
          </a:p>
        </p:txBody>
      </p:sp>
      <p:sp>
        <p:nvSpPr>
          <p:cNvPr id="16" name="TextBox 15"/>
          <p:cNvSpPr txBox="1"/>
          <p:nvPr/>
        </p:nvSpPr>
        <p:spPr>
          <a:xfrm>
            <a:off x="731520" y="5907024"/>
            <a:ext cx="10789920" cy="457200"/>
          </a:xfrm>
          <a:prstGeom prst="rect">
            <a:avLst/>
          </a:prstGeom>
          <a:noFill/>
        </p:spPr>
        <p:txBody>
          <a:bodyPr wrap="square" lIns="0" rIns="0" tIns="0" bIns="0" anchor="t">
            <a:spAutoFit/>
          </a:bodyPr>
          <a:lstStyle/>
          <a:p>
            <a:pPr algn="l">
              <a:lnSpc>
                <a:spcPct val="122000"/>
              </a:lnSpc>
            </a:pPr>
            <a:r>
              <a:rPr sz="1400" b="1" i="0">
                <a:solidFill>
                  <a:srgbClr val="21295C"/>
                </a:solidFill>
                <a:latin typeface="Arial"/>
              </a:rPr>
              <a:t>Numbers: also split unpredictably (1234-&gt;12+34, but 55688-&gt;556+88) → GPT-4: 59% accuracy on 3-digit multiplication, 4% on 4-digit, 0% on 5-digit without a calculator.</a:t>
            </a:r>
            <a:r>
              <a:rPr sz="728" baseline="30000" b="0" i="1">
                <a:latin typeface="Arial"/>
                <a:cs typeface="Arial"/>
                <a:ea typeface="Arial"/>
                <a:solidFill>
                  <a:srgbClr val="1C7293"/>
                </a:solidFill>
              </a:rPr>
              <a:t>[1]</a:t>
            </a:r>
          </a:p>
        </p:txBody>
      </p:sp>
      <p:sp>
        <p:nvSpPr>
          <p:cNvPr id="17" name="TextBox 16"/>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Counting Ability of LLMs &amp; Impact of Tokenization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The same text in Russian costs 2x more than in English</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Tokens per character — a consequence of the language mix in the training corpus</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Rule of thumb: tokens/char</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English</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Russian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Chinese</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 code</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 cost for RU ~ 2x EN. For batch — translate to EN where acceptable.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Section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Embeddings</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The space of meanings</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Intro</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Tokens</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Embeddings</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Attention</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Sampling</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Wrap-up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Each token maps to a vector — learned during training, fixed</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193792"/>
            <a:ext cx="5486400" cy="1298448"/>
          </a:xfrm>
          <a:prstGeom prst="roundRect">
            <a:avLst>
              <a:gd name="adj" fmla="val 234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285231"/>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Dimensions (rule of thumb)</a:t>
            </a:r>
            <a:r>
              <a:rPr sz="780" baseline="30000" b="0" i="1">
                <a:latin typeface="Arial"/>
                <a:cs typeface="Arial"/>
                <a:ea typeface="Arial"/>
                <a:solidFill>
                  <a:srgbClr val="1C7293"/>
                </a:solidFill>
              </a:rPr>
              <a:t>[1]</a:t>
            </a:r>
          </a:p>
        </p:txBody>
      </p:sp>
      <p:sp>
        <p:nvSpPr>
          <p:cNvPr id="7" name="TextBox 6"/>
          <p:cNvSpPr txBox="1"/>
          <p:nvPr/>
        </p:nvSpPr>
        <p:spPr>
          <a:xfrm>
            <a:off x="777240" y="5669279"/>
            <a:ext cx="3566160" cy="256032"/>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669279"/>
            <a:ext cx="1755648" cy="256032"/>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5925312"/>
            <a:ext cx="3566160" cy="256032"/>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5925312"/>
            <a:ext cx="1755648" cy="256032"/>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181344"/>
            <a:ext cx="3566160" cy="256032"/>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Internal embedding of a flagship LLM</a:t>
            </a:r>
          </a:p>
        </p:txBody>
      </p:sp>
      <p:sp>
        <p:nvSpPr>
          <p:cNvPr id="12" name="TextBox 11"/>
          <p:cNvSpPr txBox="1"/>
          <p:nvPr/>
        </p:nvSpPr>
        <p:spPr>
          <a:xfrm>
            <a:off x="4178807" y="6181344"/>
            <a:ext cx="1755648" cy="256032"/>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thousands dim</a:t>
            </a:r>
          </a:p>
        </p:txBody>
      </p:sp>
      <p:sp>
        <p:nvSpPr>
          <p:cNvPr id="13" name="Rounded Rectangle 12"/>
          <p:cNvSpPr/>
          <p:nvPr/>
        </p:nvSpPr>
        <p:spPr>
          <a:xfrm>
            <a:off x="6400800" y="5193792"/>
            <a:ext cx="5486400" cy="1298448"/>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266944"/>
            <a:ext cx="5120640" cy="1152144"/>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Geometric closeness of vectors = semantic closeness of tokens.</a:t>
            </a:r>
            <a:r>
              <a:rPr sz="780" baseline="30000" b="0" i="1">
                <a:latin typeface="Arial"/>
                <a:cs typeface="Arial"/>
                <a:ea typeface="Arial"/>
                <a:solidFill>
                  <a:srgbClr val="1C7293"/>
                </a:solidFill>
              </a:rPr>
              <a:t>[2]</a:t>
            </a:r>
            <a:r>
              <a:rPr sz="1500" b="1" i="0">
                <a:latin typeface="Arial"/>
                <a:cs typeface="Arial"/>
                <a:ea typeface="Arial"/>
                <a:solidFill>
                  <a:srgbClr val="21295C"/>
                </a:solidFill>
              </a:rPr>
              <a:t>
"cat" is close to "dog" — learned from the corpus contexts.</a:t>
            </a:r>
          </a:p>
        </p:txBody>
      </p:sp>
      <p:sp>
        <p:nvSpPr>
          <p:cNvPr id="15" name="TextBox 14"/>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OpenAI — Embeddings API</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Mikolov et al. (2013) — word2vec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The embedding space — where the vectors live</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Before comparing vectors — let's look at what space they live in.</a:t>
            </a:r>
          </a:p>
        </p:txBody>
      </p:sp>
      <p:sp>
        <p:nvSpPr>
          <p:cNvPr id="4" name="Rounded Rectangle 3"/>
          <p:cNvSpPr/>
          <p:nvPr/>
        </p:nvSpPr>
        <p:spPr>
          <a:xfrm>
            <a:off x="502920" y="1828800"/>
            <a:ext cx="6858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9a-embedding-space.png"/>
          <p:cNvPicPr>
            <a:picLocks noChangeAspect="1"/>
          </p:cNvPicPr>
          <p:nvPr/>
        </p:nvPicPr>
        <p:blipFill>
          <a:blip r:embed="rId2"/>
          <a:stretch>
            <a:fillRect/>
          </a:stretch>
        </p:blipFill>
        <p:spPr>
          <a:xfrm>
            <a:off x="640080" y="1965960"/>
            <a:ext cx="6583680" cy="3931920"/>
          </a:xfrm>
          <a:prstGeom prst="rect">
            <a:avLst/>
          </a:prstGeom>
        </p:spPr>
      </p:pic>
      <p:sp>
        <p:nvSpPr>
          <p:cNvPr id="6" name="Rounded Rectangle 5"/>
          <p:cNvSpPr/>
          <p:nvPr/>
        </p:nvSpPr>
        <p:spPr>
          <a:xfrm>
            <a:off x="7543800" y="182880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0839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0839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138160" y="194767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Dimensionality</a:t>
            </a:r>
          </a:p>
        </p:txBody>
      </p:sp>
      <p:sp>
        <p:nvSpPr>
          <p:cNvPr id="10" name="TextBox 9"/>
          <p:cNvSpPr txBox="1"/>
          <p:nvPr/>
        </p:nvSpPr>
        <p:spPr>
          <a:xfrm>
            <a:off x="7726679" y="2331720"/>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OpenAI text-embedding-3-small: 1536 dim.
text-embedding-3-large: 3072 dim.
Flagship LLM: thousands.</a:t>
            </a:r>
          </a:p>
        </p:txBody>
      </p:sp>
      <p:sp>
        <p:nvSpPr>
          <p:cNvPr id="11" name="Rounded Rectangle 10"/>
          <p:cNvSpPr/>
          <p:nvPr/>
        </p:nvSpPr>
        <p:spPr>
          <a:xfrm>
            <a:off x="7543800" y="324612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08392" y="341071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341985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138160" y="3364991"/>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Learning</a:t>
            </a:r>
          </a:p>
        </p:txBody>
      </p:sp>
      <p:sp>
        <p:nvSpPr>
          <p:cNvPr id="15" name="TextBox 14"/>
          <p:cNvSpPr txBox="1"/>
          <p:nvPr/>
        </p:nvSpPr>
        <p:spPr>
          <a:xfrm>
            <a:off x="7726679" y="374903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Coordinates are not set by hand. The model learns:
tokens in similar contexts → close vectors.</a:t>
            </a:r>
          </a:p>
        </p:txBody>
      </p:sp>
      <p:sp>
        <p:nvSpPr>
          <p:cNvPr id="16" name="Rounded Rectangle 15"/>
          <p:cNvSpPr/>
          <p:nvPr/>
        </p:nvSpPr>
        <p:spPr>
          <a:xfrm>
            <a:off x="7543800" y="466344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08392" y="4828031"/>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392" y="483717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138160" y="478231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Projection</a:t>
            </a:r>
          </a:p>
        </p:txBody>
      </p:sp>
      <p:sp>
        <p:nvSpPr>
          <p:cNvPr id="20" name="TextBox 19"/>
          <p:cNvSpPr txBox="1"/>
          <p:nvPr/>
        </p:nvSpPr>
        <p:spPr>
          <a:xfrm>
            <a:off x="7726679" y="516635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To see the space — PCA or t-SNE
reduce the dimensionality to 2D/3D.
Some of the structure is lost.</a:t>
            </a:r>
          </a:p>
        </p:txBody>
      </p:sp>
      <p:sp>
        <p:nvSpPr>
          <p:cNvPr id="21" name="Rounded Rectangle 20"/>
          <p:cNvSpPr/>
          <p:nvPr/>
        </p:nvSpPr>
        <p:spPr>
          <a:xfrm>
            <a:off x="502920" y="61722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453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Semantic similarity = geometric closeness of vectors. On the next slide — the measure.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Closeness in the embedding space = semantic similarity</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In 2026 this works at the sentence level, not only for words</a:t>
            </a:r>
          </a:p>
        </p:txBody>
      </p:sp>
      <p:sp>
        <p:nvSpPr>
          <p:cNvPr id="4" name="Rounded Rectangle 3"/>
          <p:cNvSpPr/>
          <p:nvPr/>
        </p:nvSpPr>
        <p:spPr>
          <a:xfrm>
            <a:off x="502920" y="1874519"/>
            <a:ext cx="690372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640080" y="1993392"/>
            <a:ext cx="6629400" cy="3703320"/>
          </a:xfrm>
          <a:prstGeom prst="rect">
            <a:avLst/>
          </a:prstGeom>
        </p:spPr>
      </p:pic>
      <p:sp>
        <p:nvSpPr>
          <p:cNvPr id="6" name="Rounded Rectangle 5"/>
          <p:cNvSpPr/>
          <p:nvPr/>
        </p:nvSpPr>
        <p:spPr>
          <a:xfrm>
            <a:off x="7543800" y="1874519"/>
            <a:ext cx="425196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0-vector-scatter.png"/>
          <p:cNvPicPr>
            <a:picLocks noChangeAspect="1"/>
          </p:cNvPicPr>
          <p:nvPr/>
        </p:nvPicPr>
        <p:blipFill>
          <a:blip r:embed="rId3"/>
          <a:stretch>
            <a:fillRect/>
          </a:stretch>
        </p:blipFill>
        <p:spPr>
          <a:xfrm>
            <a:off x="7635240" y="1993392"/>
            <a:ext cx="4069080" cy="3703320"/>
          </a:xfrm>
          <a:prstGeom prst="rect">
            <a:avLst/>
          </a:prstGeom>
        </p:spPr>
      </p:pic>
      <p:sp>
        <p:nvSpPr>
          <p:cNvPr id="8" name="Rounded Rectangle 7"/>
          <p:cNvSpPr/>
          <p:nvPr/>
        </p:nvSpPr>
        <p:spPr>
          <a:xfrm>
            <a:off x="502920" y="59436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0167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Cosine similarity — a measure of the angle between vectors; range [-1, 1], closer to 1 = more similar. Numbers are illustrative.</a:t>
            </a:r>
            <a:r>
              <a:rPr sz="728" baseline="30000" b="0" i="1">
                <a:latin typeface="Arial"/>
                <a:cs typeface="Arial"/>
                <a:ea typeface="Arial"/>
                <a:solidFill>
                  <a:srgbClr val="1C7293"/>
                </a:solidFill>
              </a:rPr>
              <a:t>[1]</a:t>
            </a:r>
          </a:p>
        </p:txBody>
      </p:sp>
      <p:sp>
        <p:nvSpPr>
          <p:cNvPr id="10" name="TextBox 9"/>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reproducible: all-MiniLM-L6-v2 / text-embedding-3-small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Embeddings — the foundation of LLM understanding</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Inside, the model works only with vectors; words appear only at the input and the output.</a:t>
            </a:r>
          </a:p>
        </p:txBody>
      </p:sp>
      <p:sp>
        <p:nvSpPr>
          <p:cNvPr id="4" name="Rounded Rectangle 3"/>
          <p:cNvSpPr/>
          <p:nvPr/>
        </p:nvSpPr>
        <p:spPr>
          <a:xfrm>
            <a:off x="502920" y="1828800"/>
            <a:ext cx="5486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01952"/>
            <a:ext cx="5303520" cy="292608"/>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Input → LLM → Output</a:t>
            </a:r>
          </a:p>
        </p:txBody>
      </p:sp>
      <p:sp>
        <p:nvSpPr>
          <p:cNvPr id="6" name="TextBox 5"/>
          <p:cNvSpPr txBox="1"/>
          <p:nvPr/>
        </p:nvSpPr>
        <p:spPr>
          <a:xfrm>
            <a:off x="685800" y="2267712"/>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words →</a:t>
            </a:r>
          </a:p>
        </p:txBody>
      </p:sp>
      <p:sp>
        <p:nvSpPr>
          <p:cNvPr id="7" name="Rounded Rectangle 6"/>
          <p:cNvSpPr/>
          <p:nvPr/>
        </p:nvSpPr>
        <p:spPr>
          <a:xfrm>
            <a:off x="2011680" y="2267712"/>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"Hello, world"</a:t>
            </a:r>
          </a:p>
        </p:txBody>
      </p:sp>
      <p:sp>
        <p:nvSpPr>
          <p:cNvPr id="8" name="TextBox 7"/>
          <p:cNvSpPr txBox="1"/>
          <p:nvPr/>
        </p:nvSpPr>
        <p:spPr>
          <a:xfrm>
            <a:off x="2011680" y="2578608"/>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tokenization</a:t>
            </a:r>
          </a:p>
        </p:txBody>
      </p:sp>
      <p:sp>
        <p:nvSpPr>
          <p:cNvPr id="9" name="TextBox 8"/>
          <p:cNvSpPr txBox="1"/>
          <p:nvPr/>
        </p:nvSpPr>
        <p:spPr>
          <a:xfrm>
            <a:off x="685800" y="277977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tokens →</a:t>
            </a:r>
          </a:p>
        </p:txBody>
      </p:sp>
      <p:sp>
        <p:nvSpPr>
          <p:cNvPr id="10" name="Rounded Rectangle 9"/>
          <p:cNvSpPr/>
          <p:nvPr/>
        </p:nvSpPr>
        <p:spPr>
          <a:xfrm>
            <a:off x="2011680" y="2779776"/>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[Hel][lo][,][ world]</a:t>
            </a:r>
          </a:p>
        </p:txBody>
      </p:sp>
      <p:sp>
        <p:nvSpPr>
          <p:cNvPr id="11" name="TextBox 10"/>
          <p:cNvSpPr txBox="1"/>
          <p:nvPr/>
        </p:nvSpPr>
        <p:spPr>
          <a:xfrm>
            <a:off x="2011680" y="309067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embedding lookup</a:t>
            </a:r>
          </a:p>
        </p:txBody>
      </p:sp>
      <p:sp>
        <p:nvSpPr>
          <p:cNvPr id="12" name="TextBox 11"/>
          <p:cNvSpPr txBox="1"/>
          <p:nvPr/>
        </p:nvSpPr>
        <p:spPr>
          <a:xfrm>
            <a:off x="685800" y="329184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vectors →</a:t>
            </a:r>
          </a:p>
        </p:txBody>
      </p:sp>
      <p:sp>
        <p:nvSpPr>
          <p:cNvPr id="13" name="Rounded Rectangle 12"/>
          <p:cNvSpPr/>
          <p:nvPr/>
        </p:nvSpPr>
        <p:spPr>
          <a:xfrm>
            <a:off x="2011680" y="3291840"/>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[vec₁, vec₂, vec₃, vec₄]</a:t>
            </a:r>
          </a:p>
        </p:txBody>
      </p:sp>
      <p:sp>
        <p:nvSpPr>
          <p:cNvPr id="14" name="Rounded Rectangle 13"/>
          <p:cNvSpPr/>
          <p:nvPr/>
        </p:nvSpPr>
        <p:spPr>
          <a:xfrm>
            <a:off x="868680" y="3602736"/>
            <a:ext cx="4754880" cy="457200"/>
          </a:xfrm>
          <a:prstGeom prst="roundRect">
            <a:avLst>
              <a:gd name="adj" fmla="val 1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57600"/>
            <a:ext cx="475488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(attention + forward — Section 3)</a:t>
            </a:r>
          </a:p>
        </p:txBody>
      </p:sp>
      <p:sp>
        <p:nvSpPr>
          <p:cNvPr id="16" name="TextBox 15"/>
          <p:cNvSpPr txBox="1"/>
          <p:nvPr/>
        </p:nvSpPr>
        <p:spPr>
          <a:xfrm>
            <a:off x="685800" y="410565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vectors</a:t>
            </a:r>
          </a:p>
        </p:txBody>
      </p:sp>
      <p:sp>
        <p:nvSpPr>
          <p:cNvPr id="17" name="Rounded Rectangle 16"/>
          <p:cNvSpPr/>
          <p:nvPr/>
        </p:nvSpPr>
        <p:spPr>
          <a:xfrm>
            <a:off x="2011680" y="4105656"/>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[vec_out]</a:t>
            </a:r>
          </a:p>
        </p:txBody>
      </p:sp>
      <p:sp>
        <p:nvSpPr>
          <p:cNvPr id="18" name="TextBox 17"/>
          <p:cNvSpPr txBox="1"/>
          <p:nvPr/>
        </p:nvSpPr>
        <p:spPr>
          <a:xfrm>
            <a:off x="2011680" y="441655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distribution + sampling</a:t>
            </a:r>
          </a:p>
        </p:txBody>
      </p:sp>
      <p:sp>
        <p:nvSpPr>
          <p:cNvPr id="19" name="TextBox 18"/>
          <p:cNvSpPr txBox="1"/>
          <p:nvPr/>
        </p:nvSpPr>
        <p:spPr>
          <a:xfrm>
            <a:off x="685800" y="461772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tokens</a:t>
            </a:r>
          </a:p>
        </p:txBody>
      </p:sp>
      <p:sp>
        <p:nvSpPr>
          <p:cNvPr id="20" name="Rounded Rectangle 19"/>
          <p:cNvSpPr/>
          <p:nvPr/>
        </p:nvSpPr>
        <p:spPr>
          <a:xfrm>
            <a:off x="2011680" y="4617720"/>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[Hel][lo]</a:t>
            </a:r>
          </a:p>
        </p:txBody>
      </p:sp>
      <p:sp>
        <p:nvSpPr>
          <p:cNvPr id="21" name="TextBox 20"/>
          <p:cNvSpPr txBox="1"/>
          <p:nvPr/>
        </p:nvSpPr>
        <p:spPr>
          <a:xfrm>
            <a:off x="2011680" y="4928616"/>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de-tokenize</a:t>
            </a:r>
          </a:p>
        </p:txBody>
      </p:sp>
      <p:sp>
        <p:nvSpPr>
          <p:cNvPr id="22" name="TextBox 21"/>
          <p:cNvSpPr txBox="1"/>
          <p:nvPr/>
        </p:nvSpPr>
        <p:spPr>
          <a:xfrm>
            <a:off x="685800" y="5129783"/>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words</a:t>
            </a:r>
          </a:p>
        </p:txBody>
      </p:sp>
      <p:sp>
        <p:nvSpPr>
          <p:cNvPr id="23" name="Rounded Rectangle 22"/>
          <p:cNvSpPr/>
          <p:nvPr/>
        </p:nvSpPr>
        <p:spPr>
          <a:xfrm>
            <a:off x="2011680" y="5129783"/>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"Hello"</a:t>
            </a:r>
          </a:p>
        </p:txBody>
      </p:sp>
      <p:sp>
        <p:nvSpPr>
          <p:cNvPr id="24" name="TextBox 23"/>
          <p:cNvSpPr txBox="1"/>
          <p:nvPr/>
        </p:nvSpPr>
        <p:spPr>
          <a:xfrm>
            <a:off x="6172200" y="1938528"/>
            <a:ext cx="56235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What gives it "understanding"</a:t>
            </a:r>
          </a:p>
        </p:txBody>
      </p:sp>
      <p:sp>
        <p:nvSpPr>
          <p:cNvPr id="25" name="Rounded Rectangle 24"/>
          <p:cNvSpPr/>
          <p:nvPr/>
        </p:nvSpPr>
        <p:spPr>
          <a:xfrm>
            <a:off x="6172200" y="2377440"/>
            <a:ext cx="5623560" cy="1170432"/>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essage-square-text.png"/>
          <p:cNvPicPr>
            <a:picLocks noChangeAspect="1"/>
          </p:cNvPicPr>
          <p:nvPr/>
        </p:nvPicPr>
        <p:blipFill>
          <a:blip r:embed="rId2"/>
          <a:stretch>
            <a:fillRect/>
          </a:stretch>
        </p:blipFill>
        <p:spPr>
          <a:xfrm>
            <a:off x="6309360" y="2651760"/>
            <a:ext cx="685800" cy="685800"/>
          </a:xfrm>
          <a:prstGeom prst="rect">
            <a:avLst/>
          </a:prstGeom>
        </p:spPr>
      </p:pic>
      <p:sp>
        <p:nvSpPr>
          <p:cNvPr id="27" name="TextBox 26"/>
          <p:cNvSpPr txBox="1"/>
          <p:nvPr/>
        </p:nvSpPr>
        <p:spPr>
          <a:xfrm>
            <a:off x="7132320" y="2487168"/>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Paraphrases</a:t>
            </a:r>
          </a:p>
        </p:txBody>
      </p:sp>
      <p:sp>
        <p:nvSpPr>
          <p:cNvPr id="28" name="TextBox 27"/>
          <p:cNvSpPr txBox="1"/>
          <p:nvPr/>
        </p:nvSpPr>
        <p:spPr>
          <a:xfrm>
            <a:off x="7132320" y="2880360"/>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"How to set up SSL" and "Installing HTTPS" → close vectors → the same answer.</a:t>
            </a:r>
          </a:p>
        </p:txBody>
      </p:sp>
      <p:sp>
        <p:nvSpPr>
          <p:cNvPr id="29" name="Rounded Rectangle 28"/>
          <p:cNvSpPr/>
          <p:nvPr/>
        </p:nvSpPr>
        <p:spPr>
          <a:xfrm>
            <a:off x="6172200" y="3639312"/>
            <a:ext cx="5623560" cy="1170432"/>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globe-2.png"/>
          <p:cNvPicPr>
            <a:picLocks noChangeAspect="1"/>
          </p:cNvPicPr>
          <p:nvPr/>
        </p:nvPicPr>
        <p:blipFill>
          <a:blip r:embed="rId3"/>
          <a:stretch>
            <a:fillRect/>
          </a:stretch>
        </p:blipFill>
        <p:spPr>
          <a:xfrm>
            <a:off x="6309360" y="3913632"/>
            <a:ext cx="685800" cy="685800"/>
          </a:xfrm>
          <a:prstGeom prst="rect">
            <a:avLst/>
          </a:prstGeom>
        </p:spPr>
      </p:pic>
      <p:sp>
        <p:nvSpPr>
          <p:cNvPr id="31" name="TextBox 30"/>
          <p:cNvSpPr txBox="1"/>
          <p:nvPr/>
        </p:nvSpPr>
        <p:spPr>
          <a:xfrm>
            <a:off x="7132320" y="3749040"/>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Synonyms</a:t>
            </a:r>
          </a:p>
        </p:txBody>
      </p:sp>
      <p:sp>
        <p:nvSpPr>
          <p:cNvPr id="32" name="TextBox 31"/>
          <p:cNvSpPr txBox="1"/>
          <p:nvPr/>
        </p:nvSpPr>
        <p:spPr>
          <a:xfrm>
            <a:off x="7132320" y="4142232"/>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"auto" and "car" → close vectors → the same reaction.</a:t>
            </a:r>
          </a:p>
        </p:txBody>
      </p:sp>
      <p:sp>
        <p:nvSpPr>
          <p:cNvPr id="33" name="Rounded Rectangle 32"/>
          <p:cNvSpPr/>
          <p:nvPr/>
        </p:nvSpPr>
        <p:spPr>
          <a:xfrm>
            <a:off x="6172200" y="4901184"/>
            <a:ext cx="5623560" cy="1170432"/>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anguages.png"/>
          <p:cNvPicPr>
            <a:picLocks noChangeAspect="1"/>
          </p:cNvPicPr>
          <p:nvPr/>
        </p:nvPicPr>
        <p:blipFill>
          <a:blip r:embed="rId4"/>
          <a:stretch>
            <a:fillRect/>
          </a:stretch>
        </p:blipFill>
        <p:spPr>
          <a:xfrm>
            <a:off x="6309360" y="5175504"/>
            <a:ext cx="685800" cy="685800"/>
          </a:xfrm>
          <a:prstGeom prst="rect">
            <a:avLst/>
          </a:prstGeom>
        </p:spPr>
      </p:pic>
      <p:sp>
        <p:nvSpPr>
          <p:cNvPr id="35" name="TextBox 34"/>
          <p:cNvSpPr txBox="1"/>
          <p:nvPr/>
        </p:nvSpPr>
        <p:spPr>
          <a:xfrm>
            <a:off x="7132320" y="5010912"/>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Cross-lang</a:t>
            </a:r>
          </a:p>
        </p:txBody>
      </p:sp>
      <p:sp>
        <p:nvSpPr>
          <p:cNvPr id="36" name="TextBox 35"/>
          <p:cNvSpPr txBox="1"/>
          <p:nvPr/>
        </p:nvSpPr>
        <p:spPr>
          <a:xfrm>
            <a:off x="7132320" y="5404104"/>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"klubnika" (RU) and strawberry → close vectors → a correct answer in any language.</a:t>
            </a:r>
          </a:p>
        </p:txBody>
      </p:sp>
      <p:sp>
        <p:nvSpPr>
          <p:cNvPr id="37" name="Rounded Rectangle 36"/>
          <p:cNvSpPr/>
          <p:nvPr/>
        </p:nvSpPr>
        <p:spPr>
          <a:xfrm>
            <a:off x="502920" y="6163056"/>
            <a:ext cx="11247120" cy="3200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6236208"/>
            <a:ext cx="10881360" cy="173735"/>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Sentence-level semantic similarity is the basis of an LLM "understanding" reformulations.</a:t>
            </a:r>
            <a:r>
              <a:rPr sz="624" baseline="30000" b="0" i="1">
                <a:latin typeface="Arial"/>
                <a:cs typeface="Arial"/>
                <a:ea typeface="Arial"/>
                <a:solidFill>
                  <a:srgbClr val="1C7293"/>
                </a:solidFill>
              </a:rPr>
              <a:t>[1]</a:t>
            </a:r>
          </a:p>
        </p:txBody>
      </p:sp>
      <p:sp>
        <p:nvSpPr>
          <p:cNvPr id="39" name="TextBox 38"/>
          <p:cNvSpPr txBox="1"/>
          <p:nvPr/>
        </p:nvSpPr>
        <p:spPr>
          <a:xfrm>
            <a:off x="502920" y="6547104"/>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Lewis et al. (2020) — RAG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Section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Attention mechanism</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How the model decides what matters now</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Intro</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Tokens</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Embeddings</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Attention</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Sampling</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Wrap-up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Attention is each token checking against every other token</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Each token "looks at" all the others at once. At every step — N × N links.</a:t>
            </a:r>
          </a:p>
        </p:txBody>
      </p:sp>
      <p:sp>
        <p:nvSpPr>
          <p:cNvPr id="4" name="Rounded Rectangle 3"/>
          <p:cNvSpPr/>
          <p:nvPr/>
        </p:nvSpPr>
        <p:spPr>
          <a:xfrm>
            <a:off x="502920" y="1828800"/>
            <a:ext cx="717804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a-attention-matrix.png"/>
          <p:cNvPicPr>
            <a:picLocks noChangeAspect="1"/>
          </p:cNvPicPr>
          <p:nvPr/>
        </p:nvPicPr>
        <p:blipFill>
          <a:blip r:embed="rId2"/>
          <a:stretch>
            <a:fillRect/>
          </a:stretch>
        </p:blipFill>
        <p:spPr>
          <a:xfrm>
            <a:off x="640080" y="1965960"/>
            <a:ext cx="6903720" cy="4434840"/>
          </a:xfrm>
          <a:prstGeom prst="rect">
            <a:avLst/>
          </a:prstGeom>
        </p:spPr>
      </p:pic>
      <p:sp>
        <p:nvSpPr>
          <p:cNvPr id="6" name="Rounded Rectangle 5"/>
          <p:cNvSpPr/>
          <p:nvPr/>
        </p:nvSpPr>
        <p:spPr>
          <a:xfrm>
            <a:off x="7818120" y="182880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8271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8271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412480" y="194767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Dimensionality</a:t>
            </a:r>
          </a:p>
        </p:txBody>
      </p:sp>
      <p:sp>
        <p:nvSpPr>
          <p:cNvPr id="10" name="TextBox 9"/>
          <p:cNvSpPr txBox="1"/>
          <p:nvPr/>
        </p:nvSpPr>
        <p:spPr>
          <a:xfrm>
            <a:off x="8001000" y="233172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N × N, where N is the context length.
Context 100k → a matrix of ~10 billion numbers.
→ the quadratic cost of attention.</a:t>
            </a:r>
          </a:p>
        </p:txBody>
      </p:sp>
      <p:sp>
        <p:nvSpPr>
          <p:cNvPr id="11" name="Rounded Rectangle 10"/>
          <p:cNvSpPr/>
          <p:nvPr/>
        </p:nvSpPr>
        <p:spPr>
          <a:xfrm>
            <a:off x="7818120" y="338328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354787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355701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412480" y="350215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At every step</a:t>
            </a:r>
          </a:p>
        </p:txBody>
      </p:sp>
      <p:sp>
        <p:nvSpPr>
          <p:cNvPr id="15" name="TextBox 14"/>
          <p:cNvSpPr txBox="1"/>
          <p:nvPr/>
        </p:nvSpPr>
        <p:spPr>
          <a:xfrm>
            <a:off x="8001000" y="388620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The matrix is recomputed at every
new generated token (not once).</a:t>
            </a:r>
          </a:p>
        </p:txBody>
      </p:sp>
      <p:sp>
        <p:nvSpPr>
          <p:cNvPr id="16" name="Rounded Rectangle 15"/>
          <p:cNvSpPr/>
          <p:nvPr/>
        </p:nvSpPr>
        <p:spPr>
          <a:xfrm>
            <a:off x="7818120" y="493776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82712" y="510235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511149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412480" y="505663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20" name="TextBox 19"/>
          <p:cNvSpPr txBox="1"/>
          <p:nvPr/>
        </p:nvSpPr>
        <p:spPr>
          <a:xfrm>
            <a:off x="8001000" y="544068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In one layer — dozens of such matrices
in parallel. Different "heads" look at
grammar, topic, distance.</a:t>
            </a:r>
          </a:p>
        </p:txBody>
      </p:sp>
      <p:sp>
        <p:nvSpPr>
          <p:cNvPr id="21" name="Rounded Rectangle 20"/>
          <p:cNvSpPr/>
          <p:nvPr/>
        </p:nvSpPr>
        <p:spPr>
          <a:xfrm>
            <a:off x="502920" y="6629400"/>
            <a:ext cx="11247120" cy="1828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702552"/>
            <a:ext cx="10881360" cy="3657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Attention is a matrix operation, not a linear one. Each token is compared with all the others.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outputs a weight distribution over all context tokens (sum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Which tokens matter now for predicting the next one</a:t>
            </a:r>
            <a:r>
              <a:rPr sz="780" baseline="30000" b="0" i="1">
                <a:latin typeface="Arial"/>
                <a:cs typeface="Arial"/>
                <a:ea typeface="Arial"/>
                <a:solidFill>
                  <a:srgbClr val="1C7293"/>
                </a:solidFill>
              </a:rPr>
              <a:t>[1]</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properties</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Input — all context tokens.</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Output — a distribution,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Recomputed at every step.</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Metaphor:
a flashlight in a dark
room — the model
"lights up" some
tokens brighter than others.</a:t>
            </a:r>
          </a:p>
        </p:txBody>
      </p:sp>
      <p:sp>
        <p:nvSpPr>
          <p:cNvPr id="20" name="TextBox 19"/>
          <p:cNvSpPr txBox="1"/>
          <p:nvPr/>
        </p:nvSpPr>
        <p:spPr>
          <a:xfrm>
            <a:off x="502920" y="6327648"/>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No formulas. Multi-head, Q/K/V — further reading.</a:t>
            </a:r>
          </a:p>
        </p:txBody>
      </p:sp>
      <p:sp>
        <p:nvSpPr>
          <p:cNvPr id="21" name="TextBox 20"/>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Vaswani et al. (2017) — Attention Is All You Need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 tokens get elevated weight in the attention weights</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Part A — a worked example; Part B — the role effect (1st of 3 "whys")</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Worked example — where "she" looks</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"The cat ate the mouse, because she was hungry"</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she → mouse</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thick · main weight</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she → was</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medium</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she → hungry</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thin</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Simplification: a real attention map has hundreds of links. The model looks statistically, it does not do grammatical parsing.</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Without a role</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"Explain asynchrony"</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a generic answer
(low weight of role tokens in the attention weights)</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With a role</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"You are </a:t>
            </a:r>
            <a:r>
              <a:rPr sz="1700" b="1" i="0">
                <a:solidFill>
                  <a:srgbClr val="F0AB00"/>
                </a:solidFill>
                <a:latin typeface="Liberation Mono"/>
              </a:rPr>
              <a:t>a Python expert</a:t>
            </a:r>
            <a:r>
              <a:rPr sz="1700" b="0" i="0">
                <a:solidFill>
                  <a:srgbClr val="21295C"/>
                </a:solidFill>
                <a:latin typeface="Liberation Mono"/>
              </a:rPr>
              <a:t>. Explain asynchrony </a:t>
            </a:r>
            <a:r>
              <a:rPr sz="1700" b="1" i="0">
                <a:solidFill>
                  <a:srgbClr val="F0AB00"/>
                </a:solidFill>
                <a:latin typeface="Liberation Mono"/>
              </a:rPr>
              <a:t>to a junior</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 tokens are highlighted
(high weight in the attention weights)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The context window — a physical limit on how much the model sees at once</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Context-window evolution + the quadratic cost of attention</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Evolution and cost</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growth</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Pace:</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years</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of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Architecture:</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base attention</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Attention cost grows quadratically with length. 1M ~ 16x more than 100k — production pricing with batching; pure N²-theory would give 100x.</a:t>
            </a:r>
            <a:r>
              <a:rPr sz="728" baseline="30000" b="0" i="1">
                <a:latin typeface="Arial"/>
                <a:cs typeface="Arial"/>
                <a:ea typeface="Arial"/>
                <a:solidFill>
                  <a:srgbClr val="1C7293"/>
                </a:solidFill>
              </a:rPr>
              <a:t>[1]</a:t>
            </a:r>
          </a:p>
        </p:txBody>
      </p:sp>
      <p:sp>
        <p:nvSpPr>
          <p:cNvPr id="20" name="TextBox 19"/>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context window of the Claude models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A large context window != good use of the context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the model forgets the middle</a:t>
            </a:r>
            <a:r>
              <a:rPr sz="780" baseline="30000" b="0" i="1">
                <a:latin typeface="Arial"/>
                <a:cs typeface="Arial"/>
                <a:ea typeface="Arial"/>
                <a:solidFill>
                  <a:srgbClr val="1C7293"/>
                </a:solidFill>
              </a:rPr>
              <a:t>[1]</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Experiment</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A fact is placed at position X (start / middle / end) of a 100k context. The model answers about the fact.</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Results</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Start:</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Middle:</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End:</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5998464"/>
            <a:ext cx="11247120" cy="4572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071616"/>
            <a:ext cx="10881360" cy="31089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Engineering takeaway: put what matters at the start or the end of the prompt, not in the middle.</a:t>
            </a:r>
          </a:p>
        </p:txBody>
      </p:sp>
      <p:sp>
        <p:nvSpPr>
          <p:cNvPr id="19" name="TextBox 18"/>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Liu et al. (2023) — Lost in the Middle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Section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Sampling</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From the distribution to a token</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Intro</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Tokens</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Embeddings</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Attention</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Sampling</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Wrap-up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At each step the model outputs a probability distribution over all tokens — and picks one</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Context</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"Today I ate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candidates</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apple</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pizza</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salad</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a bun</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cucumber</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the other ~200k tokens:
each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Sampling = the rule by which one token is picked from the distribution. Next — temperature.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Temperature: how sharp the choice will be</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(standard)  ·  T = 2.0 (chaos)</a:t>
            </a:r>
          </a:p>
        </p:txBody>
      </p:sp>
      <p:sp>
        <p:nvSpPr>
          <p:cNvPr id="4" name="Rounded Rectangle 3"/>
          <p:cNvSpPr/>
          <p:nvPr/>
        </p:nvSpPr>
        <p:spPr>
          <a:xfrm>
            <a:off x="502920" y="1719072"/>
            <a:ext cx="3749039" cy="4498848"/>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83664"/>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496312"/>
            <a:ext cx="3200399" cy="2331720"/>
          </a:xfrm>
          <a:prstGeom prst="rect">
            <a:avLst/>
          </a:prstGeom>
        </p:spPr>
      </p:pic>
      <p:sp>
        <p:nvSpPr>
          <p:cNvPr id="7" name="TextBox 6"/>
          <p:cNvSpPr txBox="1"/>
          <p:nvPr/>
        </p:nvSpPr>
        <p:spPr>
          <a:xfrm>
            <a:off x="685800" y="4828031"/>
            <a:ext cx="3383279" cy="1325880"/>
          </a:xfrm>
          <a:prstGeom prst="rect">
            <a:avLst/>
          </a:prstGeom>
          <a:noFill/>
        </p:spPr>
        <p:txBody>
          <a:bodyPr wrap="square" lIns="0" rIns="0" tIns="0" bIns="0" anchor="t">
            <a:spAutoFit/>
          </a:bodyPr>
          <a:lstStyle/>
          <a:p>
            <a:pPr algn="ctr">
              <a:lnSpc>
                <a:spcPct val="124000"/>
              </a:lnSpc>
            </a:pPr>
            <a:r>
              <a:rPr sz="1400" b="0" i="1">
                <a:solidFill>
                  <a:srgbClr val="21295C"/>
                </a:solidFill>
                <a:latin typeface="Arial"/>
              </a:rPr>
              <a:t>Deterministic
choice — apple.
10 runs → identical.</a:t>
            </a:r>
          </a:p>
        </p:txBody>
      </p:sp>
      <p:sp>
        <p:nvSpPr>
          <p:cNvPr id="8" name="Rounded Rectangle 7"/>
          <p:cNvSpPr/>
          <p:nvPr/>
        </p:nvSpPr>
        <p:spPr>
          <a:xfrm>
            <a:off x="4343399" y="1719072"/>
            <a:ext cx="3749039" cy="4498848"/>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883664"/>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standard</a:t>
            </a:r>
          </a:p>
        </p:txBody>
      </p:sp>
      <p:pic>
        <p:nvPicPr>
          <p:cNvPr id="10" name="Picture 9" descr="s19-T1.png"/>
          <p:cNvPicPr>
            <a:picLocks noChangeAspect="1"/>
          </p:cNvPicPr>
          <p:nvPr/>
        </p:nvPicPr>
        <p:blipFill>
          <a:blip r:embed="rId3"/>
          <a:stretch>
            <a:fillRect/>
          </a:stretch>
        </p:blipFill>
        <p:spPr>
          <a:xfrm>
            <a:off x="4617719" y="2496312"/>
            <a:ext cx="3200399" cy="2331720"/>
          </a:xfrm>
          <a:prstGeom prst="rect">
            <a:avLst/>
          </a:prstGeom>
        </p:spPr>
      </p:pic>
      <p:sp>
        <p:nvSpPr>
          <p:cNvPr id="11" name="TextBox 10"/>
          <p:cNvSpPr txBox="1"/>
          <p:nvPr/>
        </p:nvSpPr>
        <p:spPr>
          <a:xfrm>
            <a:off x="4526279" y="4828031"/>
            <a:ext cx="3383279" cy="1325880"/>
          </a:xfrm>
          <a:prstGeom prst="rect">
            <a:avLst/>
          </a:prstGeom>
          <a:noFill/>
        </p:spPr>
        <p:txBody>
          <a:bodyPr wrap="square" lIns="0" rIns="0" tIns="0" bIns="0" anchor="t">
            <a:spAutoFit/>
          </a:bodyPr>
          <a:lstStyle/>
          <a:p>
            <a:pPr algn="ctr">
              <a:lnSpc>
                <a:spcPct val="124000"/>
              </a:lnSpc>
            </a:pPr>
            <a:r>
              <a:rPr sz="1400" b="0" i="1">
                <a:solidFill>
                  <a:srgbClr val="21295C"/>
                </a:solidFill>
                <a:latin typeface="Arial"/>
              </a:rPr>
              <a:t>Sampling
proportional to P.
Natural variability.
(T = 0.7 — the standard choice for chat)</a:t>
            </a:r>
          </a:p>
        </p:txBody>
      </p:sp>
      <p:sp>
        <p:nvSpPr>
          <p:cNvPr id="12" name="Rounded Rectangle 11"/>
          <p:cNvSpPr/>
          <p:nvPr/>
        </p:nvSpPr>
        <p:spPr>
          <a:xfrm>
            <a:off x="8183879" y="1719072"/>
            <a:ext cx="3749039" cy="4498848"/>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883664"/>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chaos</a:t>
            </a:r>
          </a:p>
        </p:txBody>
      </p:sp>
      <p:pic>
        <p:nvPicPr>
          <p:cNvPr id="14" name="Picture 13" descr="s19-T2.png"/>
          <p:cNvPicPr>
            <a:picLocks noChangeAspect="1"/>
          </p:cNvPicPr>
          <p:nvPr/>
        </p:nvPicPr>
        <p:blipFill>
          <a:blip r:embed="rId4"/>
          <a:stretch>
            <a:fillRect/>
          </a:stretch>
        </p:blipFill>
        <p:spPr>
          <a:xfrm>
            <a:off x="8458200" y="2496312"/>
            <a:ext cx="3200399" cy="2331720"/>
          </a:xfrm>
          <a:prstGeom prst="rect">
            <a:avLst/>
          </a:prstGeom>
        </p:spPr>
      </p:pic>
      <p:sp>
        <p:nvSpPr>
          <p:cNvPr id="15" name="TextBox 14"/>
          <p:cNvSpPr txBox="1"/>
          <p:nvPr/>
        </p:nvSpPr>
        <p:spPr>
          <a:xfrm>
            <a:off x="8366759" y="4828031"/>
            <a:ext cx="3383279" cy="1325880"/>
          </a:xfrm>
          <a:prstGeom prst="rect">
            <a:avLst/>
          </a:prstGeom>
          <a:noFill/>
        </p:spPr>
        <p:txBody>
          <a:bodyPr wrap="square" lIns="0" rIns="0" tIns="0" bIns="0" anchor="t">
            <a:spAutoFit/>
          </a:bodyPr>
          <a:lstStyle/>
          <a:p>
            <a:pPr algn="ctr">
              <a:lnSpc>
                <a:spcPct val="124000"/>
              </a:lnSpc>
            </a:pPr>
            <a:r>
              <a:rPr sz="1400" b="0" i="1">
                <a:solidFill>
                  <a:srgbClr val="21295C"/>
                </a:solidFill>
                <a:latin typeface="Arial"/>
              </a:rPr>
              <a:t>The distribution is flattened;
unexpected options are
often chosen.</a:t>
            </a:r>
          </a:p>
        </p:txBody>
      </p:sp>
      <p:sp>
        <p:nvSpPr>
          <p:cNvPr id="16" name="Rounded Rectangle 15"/>
          <p:cNvSpPr/>
          <p:nvPr/>
        </p:nvSpPr>
        <p:spPr>
          <a:xfrm>
            <a:off x="502920" y="6272784"/>
            <a:ext cx="11247120" cy="27432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345936"/>
            <a:ext cx="10917936" cy="128015"/>
          </a:xfrm>
          <a:prstGeom prst="rect">
            <a:avLst/>
          </a:prstGeom>
          <a:noFill/>
        </p:spPr>
        <p:txBody>
          <a:bodyPr wrap="square" lIns="0" rIns="0" tIns="0" bIns="0" anchor="ctr">
            <a:spAutoFit/>
          </a:bodyPr>
          <a:lstStyle/>
          <a:p>
            <a:pPr algn="l">
              <a:lnSpc>
                <a:spcPct val="125000"/>
              </a:lnSpc>
            </a:pPr>
            <a:r>
              <a:rPr sz="1200" b="0" i="0">
                <a:solidFill>
                  <a:srgbClr val="21295C"/>
                </a:solidFill>
                <a:latin typeface="Arial"/>
              </a:rPr>
              <a:t>Alternative knobs: top-p (nucleus) — cuts rare tokens by Σ; top-k — by the number of candidates. T is enough to start.</a:t>
            </a:r>
            <a:r>
              <a:rPr sz="624" baseline="30000" b="0" i="1">
                <a:latin typeface="Arial"/>
                <a:cs typeface="Arial"/>
                <a:ea typeface="Arial"/>
                <a:solidFill>
                  <a:srgbClr val="1C7293"/>
                </a:solidFill>
              </a:rPr>
              <a:t>[1]</a:t>
            </a:r>
          </a:p>
        </p:txBody>
      </p:sp>
      <p:sp>
        <p:nvSpPr>
          <p:cNvPr id="18" name="TextBox 17"/>
          <p:cNvSpPr txBox="1"/>
          <p:nvPr/>
        </p:nvSpPr>
        <p:spPr>
          <a:xfrm>
            <a:off x="502920" y="6583680"/>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Holtzman et al. (2019) — nucleus sampling (top-p)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API knobs for the task: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Pick parameters for the scenario deliberately</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Scenario</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Classification / exact extraction</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Minimal, with an output schema</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Code generation</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Role + repository context</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Chat explanation to the user</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Role + audience description</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Creative writing</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Role + style description</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makes the choice nearly deterministic; in production micro-variability from batching is possible — for most tasks it is negligible.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Loop: predicted a token → added it to the context → predict the next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Autoregressive generation — a long answer from stateless calls</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Current
context</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history
+ request + what is
already generated</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Forward
pass</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tokenization →
embedding →
attention</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Distribution</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probabilities
over ~200k vocabulary
tokens</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Sampling</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one token
by the rule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New token
added to the context</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...and the loop
continues</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back to step (1) — until we reach the "end of answer" token OR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Each step is stateless. The "memory" of one answer is carried by the context itself, not the model.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is the same locally and in the cloud — but model size determines quality</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Architecturally it is the same pipeline. The differences are in size and environment.</a:t>
            </a:r>
          </a:p>
        </p:txBody>
      </p:sp>
      <p:sp>
        <p:nvSpPr>
          <p:cNvPr id="4" name="Rounded Rectangle 3"/>
          <p:cNvSpPr/>
          <p:nvPr/>
        </p:nvSpPr>
        <p:spPr>
          <a:xfrm>
            <a:off x="502920" y="1828800"/>
            <a:ext cx="5486400" cy="4526280"/>
          </a:xfrm>
          <a:prstGeom prst="roundRect">
            <a:avLst>
              <a:gd name="adj" fmla="val 6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Size: 1–13B parameters</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r>
              <a:rPr sz="780" baseline="30000" b="0" i="1">
                <a:latin typeface="Liberation Mono"/>
                <a:cs typeface="Liberation Mono"/>
                <a:ea typeface="Liberation Mono"/>
                <a:solidFill>
                  <a:srgbClr val="1C7293"/>
                </a:solidFill>
              </a:rPr>
              <a:t>[1]</a:t>
            </a:r>
          </a:p>
        </p:txBody>
      </p:sp>
      <p:sp>
        <p:nvSpPr>
          <p:cNvPr id="8" name="Rounded Rectangle 7"/>
          <p:cNvSpPr/>
          <p:nvPr/>
        </p:nvSpPr>
        <p:spPr>
          <a:xfrm>
            <a:off x="777240" y="453542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38912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Privacy</a:t>
            </a:r>
          </a:p>
        </p:txBody>
      </p:sp>
      <p:sp>
        <p:nvSpPr>
          <p:cNvPr id="10" name="TextBox 9"/>
          <p:cNvSpPr txBox="1"/>
          <p:nvPr/>
        </p:nvSpPr>
        <p:spPr>
          <a:xfrm>
            <a:off x="2971800" y="438912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requests do not leave for a provider</a:t>
            </a:r>
          </a:p>
        </p:txBody>
      </p:sp>
      <p:sp>
        <p:nvSpPr>
          <p:cNvPr id="11" name="Rounded Rectangle 10"/>
          <p:cNvSpPr/>
          <p:nvPr/>
        </p:nvSpPr>
        <p:spPr>
          <a:xfrm>
            <a:off x="777240" y="5010912"/>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864608"/>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Speed</a:t>
            </a:r>
          </a:p>
        </p:txBody>
      </p:sp>
      <p:sp>
        <p:nvSpPr>
          <p:cNvPr id="13" name="TextBox 12"/>
          <p:cNvSpPr txBox="1"/>
          <p:nvPr/>
        </p:nvSpPr>
        <p:spPr>
          <a:xfrm>
            <a:off x="2971800" y="4864608"/>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slower on consumer hardware</a:t>
            </a:r>
          </a:p>
        </p:txBody>
      </p:sp>
      <p:sp>
        <p:nvSpPr>
          <p:cNvPr id="14" name="Rounded Rectangle 13"/>
          <p:cNvSpPr/>
          <p:nvPr/>
        </p:nvSpPr>
        <p:spPr>
          <a:xfrm>
            <a:off x="777240" y="54864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3400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Context</a:t>
            </a:r>
          </a:p>
        </p:txBody>
      </p:sp>
      <p:sp>
        <p:nvSpPr>
          <p:cNvPr id="16" name="TextBox 15"/>
          <p:cNvSpPr txBox="1"/>
          <p:nvPr/>
        </p:nvSpPr>
        <p:spPr>
          <a:xfrm>
            <a:off x="2971800" y="53400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a limited window</a:t>
            </a:r>
          </a:p>
        </p:txBody>
      </p:sp>
      <p:sp>
        <p:nvSpPr>
          <p:cNvPr id="17" name="Rounded Rectangle 16"/>
          <p:cNvSpPr/>
          <p:nvPr/>
        </p:nvSpPr>
        <p:spPr>
          <a:xfrm>
            <a:off x="777240" y="596188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5815583"/>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Price</a:t>
            </a:r>
          </a:p>
        </p:txBody>
      </p:sp>
      <p:sp>
        <p:nvSpPr>
          <p:cNvPr id="19" name="TextBox 18"/>
          <p:cNvSpPr txBox="1"/>
          <p:nvPr/>
        </p:nvSpPr>
        <p:spPr>
          <a:xfrm>
            <a:off x="2971800" y="5815583"/>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per token (your own hardware)</a:t>
            </a:r>
          </a:p>
        </p:txBody>
      </p:sp>
      <p:sp>
        <p:nvSpPr>
          <p:cNvPr id="20" name="Rounded Rectangle 19"/>
          <p:cNvSpPr/>
          <p:nvPr/>
        </p:nvSpPr>
        <p:spPr>
          <a:xfrm>
            <a:off x="6263640" y="1828800"/>
            <a:ext cx="5486400" cy="4526280"/>
          </a:xfrm>
          <a:prstGeom prst="roundRect">
            <a:avLst>
              <a:gd name="adj" fmla="val 6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Sber)</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Size: 200B+ parameters</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3542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38912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Quality</a:t>
            </a:r>
          </a:p>
        </p:txBody>
      </p:sp>
      <p:sp>
        <p:nvSpPr>
          <p:cNvPr id="26" name="TextBox 25"/>
          <p:cNvSpPr txBox="1"/>
          <p:nvPr/>
        </p:nvSpPr>
        <p:spPr>
          <a:xfrm>
            <a:off x="8732520" y="438912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better on hard tasks</a:t>
            </a:r>
          </a:p>
        </p:txBody>
      </p:sp>
      <p:sp>
        <p:nvSpPr>
          <p:cNvPr id="27" name="Rounded Rectangle 26"/>
          <p:cNvSpPr/>
          <p:nvPr/>
        </p:nvSpPr>
        <p:spPr>
          <a:xfrm>
            <a:off x="6537959" y="5010912"/>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864608"/>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Latency</a:t>
            </a:r>
          </a:p>
        </p:txBody>
      </p:sp>
      <p:sp>
        <p:nvSpPr>
          <p:cNvPr id="29" name="TextBox 28"/>
          <p:cNvSpPr txBox="1"/>
          <p:nvPr/>
        </p:nvSpPr>
        <p:spPr>
          <a:xfrm>
            <a:off x="8732520" y="4864608"/>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ms</a:t>
            </a:r>
          </a:p>
        </p:txBody>
      </p:sp>
      <p:sp>
        <p:nvSpPr>
          <p:cNvPr id="30" name="Rounded Rectangle 29"/>
          <p:cNvSpPr/>
          <p:nvPr/>
        </p:nvSpPr>
        <p:spPr>
          <a:xfrm>
            <a:off x="6537959" y="54864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3400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Context</a:t>
            </a:r>
          </a:p>
        </p:txBody>
      </p:sp>
      <p:sp>
        <p:nvSpPr>
          <p:cNvPr id="32" name="TextBox 31"/>
          <p:cNvSpPr txBox="1"/>
          <p:nvPr/>
        </p:nvSpPr>
        <p:spPr>
          <a:xfrm>
            <a:off x="8732520" y="53400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up to 1M tokens</a:t>
            </a:r>
          </a:p>
        </p:txBody>
      </p:sp>
      <p:sp>
        <p:nvSpPr>
          <p:cNvPr id="33" name="Rounded Rectangle 32"/>
          <p:cNvSpPr/>
          <p:nvPr/>
        </p:nvSpPr>
        <p:spPr>
          <a:xfrm>
            <a:off x="6537959" y="596188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5815583"/>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Price</a:t>
            </a:r>
          </a:p>
        </p:txBody>
      </p:sp>
      <p:sp>
        <p:nvSpPr>
          <p:cNvPr id="35" name="TextBox 34"/>
          <p:cNvSpPr txBox="1"/>
          <p:nvPr/>
        </p:nvSpPr>
        <p:spPr>
          <a:xfrm>
            <a:off x="8732520" y="5815583"/>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pay per token, RU ~ 2x EN</a:t>
            </a:r>
          </a:p>
        </p:txBody>
      </p:sp>
      <p:sp>
        <p:nvSpPr>
          <p:cNvPr id="36" name="TextBox 35"/>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2"/>
              </a:rPr>
              <a:t>Mistral AI — Mistral 7B</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Section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Wrap-up</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Closing the 3 "whys" + bridge to Lecture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Intro</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Tokens</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Embeddings</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Attention</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Sampling</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Wrap-up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The 4 inference stages line up into a pipeline</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The same black box from Lecture 1 — now unpacked</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pic>
        <p:nvPicPr>
          <p:cNvPr id="7" name="Picture 6" descr="binary.png"/>
          <p:cNvPicPr>
            <a:picLocks noChangeAspect="1"/>
          </p:cNvPicPr>
          <p:nvPr/>
        </p:nvPicPr>
        <p:blipFill>
          <a:blip r:embed="rId2"/>
          <a:stretch>
            <a:fillRect/>
          </a:stretch>
        </p:blipFill>
        <p:spPr>
          <a:xfrm>
            <a:off x="1474470" y="3337560"/>
            <a:ext cx="548640" cy="548640"/>
          </a:xfrm>
          <a:prstGeom prst="rect">
            <a:avLst/>
          </a:prstGeom>
        </p:spPr>
      </p:pic>
      <p:sp>
        <p:nvSpPr>
          <p:cNvPr id="8" name="TextBox 7"/>
          <p:cNvSpPr txBox="1"/>
          <p:nvPr/>
        </p:nvSpPr>
        <p:spPr>
          <a:xfrm>
            <a:off x="59436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Tokenization</a:t>
            </a:r>
          </a:p>
        </p:txBody>
      </p:sp>
      <p:sp>
        <p:nvSpPr>
          <p:cNvPr id="9" name="TextBox 8"/>
          <p:cNvSpPr txBox="1"/>
          <p:nvPr/>
        </p:nvSpPr>
        <p:spPr>
          <a:xfrm>
            <a:off x="59436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Text → id
from the vocabulary (BPE)</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7195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pic>
        <p:nvPicPr>
          <p:cNvPr id="14" name="Picture 13" descr="scaling.png"/>
          <p:cNvPicPr>
            <a:picLocks noChangeAspect="1"/>
          </p:cNvPicPr>
          <p:nvPr/>
        </p:nvPicPr>
        <p:blipFill>
          <a:blip r:embed="rId3"/>
          <a:stretch>
            <a:fillRect/>
          </a:stretch>
        </p:blipFill>
        <p:spPr>
          <a:xfrm>
            <a:off x="4286250" y="3337560"/>
            <a:ext cx="548640" cy="548640"/>
          </a:xfrm>
          <a:prstGeom prst="rect">
            <a:avLst/>
          </a:prstGeom>
        </p:spPr>
      </p:pic>
      <p:sp>
        <p:nvSpPr>
          <p:cNvPr id="15" name="TextBox 14"/>
          <p:cNvSpPr txBox="1"/>
          <p:nvPr/>
        </p:nvSpPr>
        <p:spPr>
          <a:xfrm>
            <a:off x="340614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Embedding</a:t>
            </a:r>
          </a:p>
        </p:txBody>
      </p:sp>
      <p:sp>
        <p:nvSpPr>
          <p:cNvPr id="16" name="TextBox 15"/>
          <p:cNvSpPr txBox="1"/>
          <p:nvPr/>
        </p:nvSpPr>
        <p:spPr>
          <a:xfrm>
            <a:off x="340614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id → vector
from the trained table</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8373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pic>
        <p:nvPicPr>
          <p:cNvPr id="21" name="Picture 20" descr="focus.png"/>
          <p:cNvPicPr>
            <a:picLocks noChangeAspect="1"/>
          </p:cNvPicPr>
          <p:nvPr/>
        </p:nvPicPr>
        <p:blipFill>
          <a:blip r:embed="rId4"/>
          <a:stretch>
            <a:fillRect/>
          </a:stretch>
        </p:blipFill>
        <p:spPr>
          <a:xfrm>
            <a:off x="7098030" y="3337560"/>
            <a:ext cx="548640" cy="548640"/>
          </a:xfrm>
          <a:prstGeom prst="rect">
            <a:avLst/>
          </a:prstGeom>
        </p:spPr>
      </p:pic>
      <p:sp>
        <p:nvSpPr>
          <p:cNvPr id="22" name="TextBox 21"/>
          <p:cNvSpPr txBox="1"/>
          <p:nvPr/>
        </p:nvSpPr>
        <p:spPr>
          <a:xfrm>
            <a:off x="621792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Attention</a:t>
            </a:r>
          </a:p>
        </p:txBody>
      </p:sp>
      <p:sp>
        <p:nvSpPr>
          <p:cNvPr id="23" name="TextBox 22"/>
          <p:cNvSpPr txBox="1"/>
          <p:nvPr/>
        </p:nvSpPr>
        <p:spPr>
          <a:xfrm>
            <a:off x="621792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A distribution
of weights over the context</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551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pic>
        <p:nvPicPr>
          <p:cNvPr id="28" name="Picture 27" descr="sparkles.png"/>
          <p:cNvPicPr>
            <a:picLocks noChangeAspect="1"/>
          </p:cNvPicPr>
          <p:nvPr/>
        </p:nvPicPr>
        <p:blipFill>
          <a:blip r:embed="rId5"/>
          <a:stretch>
            <a:fillRect/>
          </a:stretch>
        </p:blipFill>
        <p:spPr>
          <a:xfrm>
            <a:off x="9909810" y="3337560"/>
            <a:ext cx="548640" cy="548640"/>
          </a:xfrm>
          <a:prstGeom prst="rect">
            <a:avLst/>
          </a:prstGeom>
        </p:spPr>
      </p:pic>
      <p:sp>
        <p:nvSpPr>
          <p:cNvPr id="29" name="TextBox 28"/>
          <p:cNvSpPr txBox="1"/>
          <p:nvPr/>
        </p:nvSpPr>
        <p:spPr>
          <a:xfrm>
            <a:off x="902970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Sampling</a:t>
            </a:r>
          </a:p>
        </p:txBody>
      </p:sp>
      <p:sp>
        <p:nvSpPr>
          <p:cNvPr id="30" name="TextBox 29"/>
          <p:cNvSpPr txBox="1"/>
          <p:nvPr/>
        </p:nvSpPr>
        <p:spPr>
          <a:xfrm>
            <a:off x="902970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Distribution →
one token (T / p / k)</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Lecture 1 called this pipeline the "inference model" — a black box. Now it is no longer black.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Answers to the questions from the start of the lecture</a:t>
            </a:r>
          </a:p>
        </p:txBody>
      </p:sp>
      <p:sp>
        <p:nvSpPr>
          <p:cNvPr id="3" name="Rounded Rectangle 2"/>
          <p:cNvSpPr/>
          <p:nvPr/>
        </p:nvSpPr>
        <p:spPr>
          <a:xfrm>
            <a:off x="502920" y="1417320"/>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73936"/>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pic>
        <p:nvPicPr>
          <p:cNvPr id="6" name="Picture 5" descr="focus.png"/>
          <p:cNvPicPr>
            <a:picLocks noChangeAspect="1"/>
          </p:cNvPicPr>
          <p:nvPr/>
        </p:nvPicPr>
        <p:blipFill>
          <a:blip r:embed="rId2"/>
          <a:stretch>
            <a:fillRect/>
          </a:stretch>
        </p:blipFill>
        <p:spPr>
          <a:xfrm>
            <a:off x="10515600" y="1892808"/>
            <a:ext cx="731520" cy="731520"/>
          </a:xfrm>
          <a:prstGeom prst="rect">
            <a:avLst/>
          </a:prstGeom>
        </p:spPr>
      </p:pic>
      <p:sp>
        <p:nvSpPr>
          <p:cNvPr id="7" name="TextBox 6"/>
          <p:cNvSpPr txBox="1"/>
          <p:nvPr/>
        </p:nvSpPr>
        <p:spPr>
          <a:xfrm>
            <a:off x="1965960" y="1645920"/>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Why does a prompt with a role work better than an empty one?</a:t>
            </a:r>
          </a:p>
        </p:txBody>
      </p:sp>
      <p:sp>
        <p:nvSpPr>
          <p:cNvPr id="8" name="TextBox 7"/>
          <p:cNvSpPr txBox="1"/>
          <p:nvPr/>
        </p:nvSpPr>
        <p:spPr>
          <a:xfrm>
            <a:off x="1965960" y="2240280"/>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At the attention level, role tokens get high weight — the model leans on them when choosing the next tokens.</a:t>
            </a:r>
          </a:p>
        </p:txBody>
      </p:sp>
      <p:sp>
        <p:nvSpPr>
          <p:cNvPr id="9" name="Rounded Rectangle 8"/>
          <p:cNvSpPr/>
          <p:nvPr/>
        </p:nvSpPr>
        <p:spPr>
          <a:xfrm>
            <a:off x="502920" y="3273552"/>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11880"/>
            <a:ext cx="1005840" cy="10058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3016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pic>
        <p:nvPicPr>
          <p:cNvPr id="12" name="Picture 11" descr="binary.png"/>
          <p:cNvPicPr>
            <a:picLocks noChangeAspect="1"/>
          </p:cNvPicPr>
          <p:nvPr/>
        </p:nvPicPr>
        <p:blipFill>
          <a:blip r:embed="rId3"/>
          <a:stretch>
            <a:fillRect/>
          </a:stretch>
        </p:blipFill>
        <p:spPr>
          <a:xfrm>
            <a:off x="10515600" y="3749039"/>
            <a:ext cx="731520" cy="731520"/>
          </a:xfrm>
          <a:prstGeom prst="rect">
            <a:avLst/>
          </a:prstGeom>
        </p:spPr>
      </p:pic>
      <p:sp>
        <p:nvSpPr>
          <p:cNvPr id="13" name="TextBox 12"/>
          <p:cNvSpPr txBox="1"/>
          <p:nvPr/>
        </p:nvSpPr>
        <p:spPr>
          <a:xfrm>
            <a:off x="1965960" y="3502152"/>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Why is AI bad at counting letters?</a:t>
            </a:r>
          </a:p>
        </p:txBody>
      </p:sp>
      <p:sp>
        <p:nvSpPr>
          <p:cNvPr id="14" name="TextBox 13"/>
          <p:cNvSpPr txBox="1"/>
          <p:nvPr/>
        </p:nvSpPr>
        <p:spPr>
          <a:xfrm>
            <a:off x="1965960" y="4096512"/>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The tokenizer merges letters into tokens. strawberry — 3 tokens, not 10 letters. The model sees tokens, not letters.</a:t>
            </a:r>
          </a:p>
        </p:txBody>
      </p:sp>
      <p:sp>
        <p:nvSpPr>
          <p:cNvPr id="15" name="Rounded Rectangle 14"/>
          <p:cNvSpPr/>
          <p:nvPr/>
        </p:nvSpPr>
        <p:spPr>
          <a:xfrm>
            <a:off x="502920" y="5129784"/>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468112"/>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486400"/>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pic>
        <p:nvPicPr>
          <p:cNvPr id="18" name="Picture 17" descr="sparkles.png"/>
          <p:cNvPicPr>
            <a:picLocks noChangeAspect="1"/>
          </p:cNvPicPr>
          <p:nvPr/>
        </p:nvPicPr>
        <p:blipFill>
          <a:blip r:embed="rId4"/>
          <a:stretch>
            <a:fillRect/>
          </a:stretch>
        </p:blipFill>
        <p:spPr>
          <a:xfrm>
            <a:off x="10515600" y="5605272"/>
            <a:ext cx="731520" cy="731520"/>
          </a:xfrm>
          <a:prstGeom prst="rect">
            <a:avLst/>
          </a:prstGeom>
        </p:spPr>
      </p:pic>
      <p:sp>
        <p:nvSpPr>
          <p:cNvPr id="19" name="TextBox 18"/>
          <p:cNvSpPr txBox="1"/>
          <p:nvPr/>
        </p:nvSpPr>
        <p:spPr>
          <a:xfrm>
            <a:off x="1965960" y="5358384"/>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Why does the same request give different answers?</a:t>
            </a:r>
          </a:p>
        </p:txBody>
      </p:sp>
      <p:sp>
        <p:nvSpPr>
          <p:cNvPr id="20" name="TextBox 19"/>
          <p:cNvSpPr txBox="1"/>
          <p:nvPr/>
        </p:nvSpPr>
        <p:spPr>
          <a:xfrm>
            <a:off x="1965960" y="5952744"/>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Sampling — a stochastic choice from the distribution when T &gt; 0. Each run may pick a different token.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When an LLM is not the right tool: a decision tree</a:t>
            </a:r>
          </a:p>
        </p:txBody>
      </p:sp>
      <p:sp>
        <p:nvSpPr>
          <p:cNvPr id="3" name="Rounded Rectangle 2"/>
          <p:cNvSpPr/>
          <p:nvPr/>
        </p:nvSpPr>
        <p:spPr>
          <a:xfrm>
            <a:off x="3169767" y="1234440"/>
            <a:ext cx="5852160" cy="73152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69767" y="1234440"/>
            <a:ext cx="5852160" cy="731520"/>
          </a:xfrm>
          <a:prstGeom prst="rect">
            <a:avLst/>
          </a:prstGeom>
          <a:noFill/>
        </p:spPr>
        <p:txBody>
          <a:bodyPr wrap="square" lIns="0" rIns="0" tIns="0" bIns="0" anchor="ctr">
            <a:spAutoFit/>
          </a:bodyPr>
          <a:lstStyle/>
          <a:p>
            <a:pPr algn="ctr">
              <a:lnSpc>
                <a:spcPct val="115000"/>
              </a:lnSpc>
            </a:pPr>
            <a:r>
              <a:rPr sz="1900" b="1" i="0">
                <a:solidFill>
                  <a:srgbClr val="21295C"/>
                </a:solidFill>
                <a:latin typeface="Arial"/>
              </a:rPr>
              <a:t>When is an LLM not the right tool?</a:t>
            </a:r>
          </a:p>
        </p:txBody>
      </p:sp>
      <p:sp>
        <p:nvSpPr>
          <p:cNvPr id="5" name="Rectangle 4"/>
          <p:cNvSpPr/>
          <p:nvPr/>
        </p:nvSpPr>
        <p:spPr>
          <a:xfrm>
            <a:off x="229057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10800000">
            <a:off x="221742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pu.png"/>
          <p:cNvPicPr>
            <a:picLocks noChangeAspect="1"/>
          </p:cNvPicPr>
          <p:nvPr/>
        </p:nvPicPr>
        <p:blipFill>
          <a:blip r:embed="rId2"/>
          <a:stretch>
            <a:fillRect/>
          </a:stretch>
        </p:blipFill>
        <p:spPr>
          <a:xfrm>
            <a:off x="731520" y="2697480"/>
            <a:ext cx="868680" cy="868680"/>
          </a:xfrm>
          <a:prstGeom prst="rect">
            <a:avLst/>
          </a:prstGeom>
        </p:spPr>
      </p:pic>
      <p:sp>
        <p:nvSpPr>
          <p:cNvPr id="9" name="TextBox 8"/>
          <p:cNvSpPr txBox="1"/>
          <p:nvPr/>
        </p:nvSpPr>
        <p:spPr>
          <a:xfrm>
            <a:off x="173736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Fixed classes</a:t>
            </a:r>
          </a:p>
        </p:txBody>
      </p:sp>
      <p:sp>
        <p:nvSpPr>
          <p:cNvPr id="10" name="TextBox 9"/>
          <p:cNvSpPr txBox="1"/>
          <p:nvPr/>
        </p:nvSpPr>
        <p:spPr>
          <a:xfrm>
            <a:off x="73152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Classification over a small set of categories (5–20)?</a:t>
            </a:r>
          </a:p>
        </p:txBody>
      </p:sp>
      <p:sp>
        <p:nvSpPr>
          <p:cNvPr id="11" name="TextBox 10"/>
          <p:cNvSpPr txBox="1"/>
          <p:nvPr/>
        </p:nvSpPr>
        <p:spPr>
          <a:xfrm>
            <a:off x="73152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Classical ML
logistic regression, XGBoost,
LightGBM, fine-tuned BERT</a:t>
            </a:r>
          </a:p>
        </p:txBody>
      </p:sp>
      <p:sp>
        <p:nvSpPr>
          <p:cNvPr id="12" name="Rectangle 11"/>
          <p:cNvSpPr/>
          <p:nvPr/>
        </p:nvSpPr>
        <p:spPr>
          <a:xfrm>
            <a:off x="608533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rot="10800000">
            <a:off x="601218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9768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3"/>
          <a:stretch>
            <a:fillRect/>
          </a:stretch>
        </p:blipFill>
        <p:spPr>
          <a:xfrm>
            <a:off x="4526280" y="2697480"/>
            <a:ext cx="868680" cy="868680"/>
          </a:xfrm>
          <a:prstGeom prst="rect">
            <a:avLst/>
          </a:prstGeom>
        </p:spPr>
      </p:pic>
      <p:sp>
        <p:nvSpPr>
          <p:cNvPr id="16" name="TextBox 15"/>
          <p:cNvSpPr txBox="1"/>
          <p:nvPr/>
        </p:nvSpPr>
        <p:spPr>
          <a:xfrm>
            <a:off x="553212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Interpretability</a:t>
            </a:r>
          </a:p>
        </p:txBody>
      </p:sp>
      <p:sp>
        <p:nvSpPr>
          <p:cNvPr id="17" name="TextBox 16"/>
          <p:cNvSpPr txBox="1"/>
          <p:nvPr/>
        </p:nvSpPr>
        <p:spPr>
          <a:xfrm>
            <a:off x="452628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Interpretability needed
(finance, medicine, insurance)?</a:t>
            </a:r>
          </a:p>
        </p:txBody>
      </p:sp>
      <p:sp>
        <p:nvSpPr>
          <p:cNvPr id="18" name="TextBox 17"/>
          <p:cNvSpPr txBox="1"/>
          <p:nvPr/>
        </p:nvSpPr>
        <p:spPr>
          <a:xfrm>
            <a:off x="452628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Transparent methods
logistic regression + importances,
decision trees, rules</a:t>
            </a:r>
          </a:p>
        </p:txBody>
      </p:sp>
      <p:sp>
        <p:nvSpPr>
          <p:cNvPr id="19" name="Rectangle 18"/>
          <p:cNvSpPr/>
          <p:nvPr/>
        </p:nvSpPr>
        <p:spPr>
          <a:xfrm>
            <a:off x="988009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Isosceles Triangle 19"/>
          <p:cNvSpPr/>
          <p:nvPr/>
        </p:nvSpPr>
        <p:spPr>
          <a:xfrm rot="10800000">
            <a:off x="980694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9244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auge.png"/>
          <p:cNvPicPr>
            <a:picLocks noChangeAspect="1"/>
          </p:cNvPicPr>
          <p:nvPr/>
        </p:nvPicPr>
        <p:blipFill>
          <a:blip r:embed="rId4"/>
          <a:stretch>
            <a:fillRect/>
          </a:stretch>
        </p:blipFill>
        <p:spPr>
          <a:xfrm>
            <a:off x="8321040" y="2697480"/>
            <a:ext cx="868680" cy="868680"/>
          </a:xfrm>
          <a:prstGeom prst="rect">
            <a:avLst/>
          </a:prstGeom>
        </p:spPr>
      </p:pic>
      <p:sp>
        <p:nvSpPr>
          <p:cNvPr id="23" name="TextBox 22"/>
          <p:cNvSpPr txBox="1"/>
          <p:nvPr/>
        </p:nvSpPr>
        <p:spPr>
          <a:xfrm>
            <a:off x="932688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Response speed</a:t>
            </a:r>
          </a:p>
        </p:txBody>
      </p:sp>
      <p:sp>
        <p:nvSpPr>
          <p:cNvPr id="24" name="TextBox 23"/>
          <p:cNvSpPr txBox="1"/>
          <p:nvPr/>
        </p:nvSpPr>
        <p:spPr>
          <a:xfrm>
            <a:off x="832104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Response time &lt; 100 ms critical
(anti-fraud, on the users device)?</a:t>
            </a:r>
          </a:p>
        </p:txBody>
      </p:sp>
      <p:sp>
        <p:nvSpPr>
          <p:cNvPr id="25" name="TextBox 24"/>
          <p:cNvSpPr txBox="1"/>
          <p:nvPr/>
        </p:nvSpPr>
        <p:spPr>
          <a:xfrm>
            <a:off x="832104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A specialized
small model
(not an LLM ≥200 ms)</a:t>
            </a:r>
          </a:p>
        </p:txBody>
      </p:sp>
      <p:sp>
        <p:nvSpPr>
          <p:cNvPr id="26" name="Rectangle 25"/>
          <p:cNvSpPr/>
          <p:nvPr/>
        </p:nvSpPr>
        <p:spPr>
          <a:xfrm>
            <a:off x="229057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533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8009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12367" y="6080760"/>
            <a:ext cx="9966960" cy="594360"/>
          </a:xfrm>
          <a:prstGeom prst="roundRect">
            <a:avLst>
              <a:gd name="adj" fmla="val 5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2367" y="6080760"/>
            <a:ext cx="9966960" cy="594360"/>
          </a:xfrm>
          <a:prstGeom prst="rect">
            <a:avLst/>
          </a:prstGeom>
          <a:noFill/>
        </p:spPr>
        <p:txBody>
          <a:bodyPr wrap="square" lIns="0" rIns="0" tIns="0" bIns="0" anchor="ctr">
            <a:spAutoFit/>
          </a:bodyPr>
          <a:lstStyle/>
          <a:p>
            <a:pPr algn="ctr">
              <a:lnSpc>
                <a:spcPct val="115000"/>
              </a:lnSpc>
            </a:pPr>
            <a:r>
              <a:rPr sz="1600" b="1" i="0">
                <a:solidFill>
                  <a:srgbClr val="21295C"/>
                </a:solidFill>
                <a:latin typeface="Arial"/>
              </a:rPr>
              <a:t>Otherwise — an LLM fits (chat, RAG, generation, multi-step reasoning)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Attention looks at tokens statistically — it does not understand causality</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AI counts correlations in the data, it does not build a causal graph</a:t>
            </a:r>
          </a:p>
        </p:txBody>
      </p:sp>
      <p:sp>
        <p:nvSpPr>
          <p:cNvPr id="4" name="Rounded Rectangle 3"/>
          <p:cNvSpPr/>
          <p:nvPr/>
        </p:nvSpPr>
        <p:spPr>
          <a:xfrm>
            <a:off x="50292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011680"/>
            <a:ext cx="1051560" cy="1051560"/>
          </a:xfrm>
          <a:prstGeom prst="rect">
            <a:avLst/>
          </a:prstGeom>
        </p:spPr>
      </p:pic>
      <p:sp>
        <p:nvSpPr>
          <p:cNvPr id="6" name="TextBox 5"/>
          <p:cNvSpPr txBox="1"/>
          <p:nvPr/>
        </p:nvSpPr>
        <p:spPr>
          <a:xfrm>
            <a:off x="192024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Human</a:t>
            </a:r>
          </a:p>
        </p:txBody>
      </p:sp>
      <p:sp>
        <p:nvSpPr>
          <p:cNvPr id="7" name="TextBox 6"/>
          <p:cNvSpPr txBox="1"/>
          <p:nvPr/>
        </p:nvSpPr>
        <p:spPr>
          <a:xfrm>
            <a:off x="777240"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happened because Y"</a:t>
            </a:r>
          </a:p>
        </p:txBody>
      </p:sp>
      <p:sp>
        <p:nvSpPr>
          <p:cNvPr id="8" name="TextBox 7"/>
          <p:cNvSpPr txBox="1"/>
          <p:nvPr/>
        </p:nvSpPr>
        <p:spPr>
          <a:xfrm>
            <a:off x="777240"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A causal model — it builds mechanisms.</a:t>
            </a:r>
          </a:p>
        </p:txBody>
      </p:sp>
      <p:sp>
        <p:nvSpPr>
          <p:cNvPr id="9" name="TextBox 8"/>
          <p:cNvSpPr txBox="1"/>
          <p:nvPr/>
        </p:nvSpPr>
        <p:spPr>
          <a:xfrm>
            <a:off x="777240" y="4846320"/>
            <a:ext cx="4937760" cy="1463040"/>
          </a:xfrm>
          <a:prstGeom prst="rect">
            <a:avLst/>
          </a:prstGeom>
          <a:noFill/>
        </p:spPr>
        <p:txBody>
          <a:bodyPr wrap="square" lIns="0" rIns="0" tIns="0" bIns="0" anchor="t">
            <a:spAutoFit/>
          </a:bodyPr>
          <a:lstStyle/>
          <a:p>
            <a:pPr algn="l">
              <a:lnSpc>
                <a:spcPct val="128000"/>
              </a:lnSpc>
            </a:pPr>
            <a:r>
              <a:rPr sz="1600" b="0" i="1">
                <a:solidFill>
                  <a:srgbClr val="21295C"/>
                </a:solidFill>
                <a:latin typeface="Arial"/>
              </a:rPr>
              <a:t>Relies on physical intuition, domain knowledge, knowledge of how the world works. For causal conclusions this experience is exactly what is needed — not statistics.</a:t>
            </a:r>
          </a:p>
        </p:txBody>
      </p:sp>
      <p:sp>
        <p:nvSpPr>
          <p:cNvPr id="10" name="Rounded Rectangle 9"/>
          <p:cNvSpPr/>
          <p:nvPr/>
        </p:nvSpPr>
        <p:spPr>
          <a:xfrm>
            <a:off x="6263640" y="1783080"/>
            <a:ext cx="5486400" cy="4709160"/>
          </a:xfrm>
          <a:prstGeom prst="roundRect">
            <a:avLst>
              <a:gd name="adj" fmla="val 64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2011680"/>
            <a:ext cx="1051560" cy="1051560"/>
          </a:xfrm>
          <a:prstGeom prst="rect">
            <a:avLst/>
          </a:prstGeom>
        </p:spPr>
      </p:pic>
      <p:sp>
        <p:nvSpPr>
          <p:cNvPr id="12" name="TextBox 11"/>
          <p:cNvSpPr txBox="1"/>
          <p:nvPr/>
        </p:nvSpPr>
        <p:spPr>
          <a:xfrm>
            <a:off x="768096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AI (via attention)</a:t>
            </a:r>
          </a:p>
        </p:txBody>
      </p:sp>
      <p:sp>
        <p:nvSpPr>
          <p:cNvPr id="13" name="TextBox 12"/>
          <p:cNvSpPr txBox="1"/>
          <p:nvPr/>
        </p:nvSpPr>
        <p:spPr>
          <a:xfrm>
            <a:off x="6537959"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follows Y in the data"</a:t>
            </a:r>
          </a:p>
        </p:txBody>
      </p:sp>
      <p:sp>
        <p:nvSpPr>
          <p:cNvPr id="14" name="TextBox 13"/>
          <p:cNvSpPr txBox="1"/>
          <p:nvPr/>
        </p:nvSpPr>
        <p:spPr>
          <a:xfrm>
            <a:off x="6537959"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A statistical correlation, not causality.</a:t>
            </a:r>
            <a:r>
              <a:rPr sz="936" baseline="30000" b="0" i="1">
                <a:latin typeface="Arial"/>
                <a:cs typeface="Arial"/>
                <a:ea typeface="Arial"/>
                <a:solidFill>
                  <a:srgbClr val="1C7293"/>
                </a:solidFill>
              </a:rPr>
              <a:t>[1]</a:t>
            </a:r>
          </a:p>
        </p:txBody>
      </p:sp>
      <p:sp>
        <p:nvSpPr>
          <p:cNvPr id="15" name="TextBox 14"/>
          <p:cNvSpPr txBox="1"/>
          <p:nvPr/>
        </p:nvSpPr>
        <p:spPr>
          <a:xfrm>
            <a:off x="6537959" y="4846320"/>
            <a:ext cx="4937760" cy="1463040"/>
          </a:xfrm>
          <a:prstGeom prst="rect">
            <a:avLst/>
          </a:prstGeom>
          <a:noFill/>
        </p:spPr>
        <p:txBody>
          <a:bodyPr wrap="square" lIns="0" rIns="0" tIns="0" bIns="0" anchor="t">
            <a:spAutoFit/>
          </a:bodyPr>
          <a:lstStyle/>
          <a:p>
            <a:pPr algn="l">
              <a:lnSpc>
                <a:spcPct val="128000"/>
              </a:lnSpc>
            </a:pPr>
            <a:r>
              <a:rPr sz="1600" b="0" i="1">
                <a:solidFill>
                  <a:srgbClr val="21295C"/>
                </a:solidFill>
                <a:latin typeface="Arial"/>
              </a:rPr>
              <a:t>Notices the pattern "X and Y often co-occur" in the training data. For causal conclusions — bring in a domain expert or causal methods.</a:t>
            </a:r>
          </a:p>
        </p:txBody>
      </p:sp>
      <p:sp>
        <p:nvSpPr>
          <p:cNvPr id="16" name="TextBox 15"/>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Pearl (2018) — The Book of Why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Lecture 3:  "Agents, RAG, API — how AI goes beyond the chat"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All 4 concepts build on top of a single inference pass</a:t>
            </a:r>
          </a:p>
        </p:txBody>
      </p:sp>
      <p:sp>
        <p:nvSpPr>
          <p:cNvPr id="4" name="Rounded Rectangle 3"/>
          <p:cNvSpPr/>
          <p:nvPr/>
        </p:nvSpPr>
        <p:spPr>
          <a:xfrm>
            <a:off x="502920" y="1783080"/>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103120"/>
            <a:ext cx="1005840" cy="1005840"/>
          </a:xfrm>
          <a:prstGeom prst="rect">
            <a:avLst/>
          </a:prstGeom>
        </p:spPr>
      </p:pic>
      <p:sp>
        <p:nvSpPr>
          <p:cNvPr id="6" name="TextBox 5"/>
          <p:cNvSpPr txBox="1"/>
          <p:nvPr/>
        </p:nvSpPr>
        <p:spPr>
          <a:xfrm>
            <a:off x="1874519"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r>
              <a:rPr sz="1092" baseline="30000" b="0" i="1">
                <a:latin typeface="Arial"/>
                <a:cs typeface="Arial"/>
                <a:ea typeface="Arial"/>
                <a:solidFill>
                  <a:srgbClr val="1C7293"/>
                </a:solidFill>
              </a:rPr>
              <a:t>[1]</a:t>
            </a:r>
          </a:p>
        </p:txBody>
      </p:sp>
      <p:sp>
        <p:nvSpPr>
          <p:cNvPr id="7" name="TextBox 6"/>
          <p:cNvSpPr txBox="1"/>
          <p:nvPr/>
        </p:nvSpPr>
        <p:spPr>
          <a:xfrm>
            <a:off x="1874519"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227832"/>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embedding similarity + LLM -&gt; an answer from your own base</a:t>
            </a:r>
          </a:p>
        </p:txBody>
      </p:sp>
      <p:sp>
        <p:nvSpPr>
          <p:cNvPr id="9" name="Rounded Rectangle 8"/>
          <p:cNvSpPr/>
          <p:nvPr/>
        </p:nvSpPr>
        <p:spPr>
          <a:xfrm>
            <a:off x="6117336" y="1783080"/>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345936" y="2103120"/>
            <a:ext cx="1005840" cy="1005840"/>
          </a:xfrm>
          <a:prstGeom prst="rect">
            <a:avLst/>
          </a:prstGeom>
        </p:spPr>
      </p:pic>
      <p:sp>
        <p:nvSpPr>
          <p:cNvPr id="11" name="TextBox 10"/>
          <p:cNvSpPr txBox="1"/>
          <p:nvPr/>
        </p:nvSpPr>
        <p:spPr>
          <a:xfrm>
            <a:off x="7488936"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Tools / Function calling</a:t>
            </a:r>
          </a:p>
        </p:txBody>
      </p:sp>
      <p:sp>
        <p:nvSpPr>
          <p:cNvPr id="12" name="TextBox 11"/>
          <p:cNvSpPr txBox="1"/>
          <p:nvPr/>
        </p:nvSpPr>
        <p:spPr>
          <a:xfrm>
            <a:off x="7488936"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structured JSON</a:t>
            </a:r>
          </a:p>
        </p:txBody>
      </p:sp>
      <p:sp>
        <p:nvSpPr>
          <p:cNvPr id="13" name="TextBox 12"/>
          <p:cNvSpPr txBox="1"/>
          <p:nvPr/>
        </p:nvSpPr>
        <p:spPr>
          <a:xfrm>
            <a:off x="6391655" y="3227832"/>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the LLM generates a call → an external system executes it → the result is returned</a:t>
            </a:r>
          </a:p>
        </p:txBody>
      </p:sp>
      <p:sp>
        <p:nvSpPr>
          <p:cNvPr id="14" name="Rounded Rectangle 13"/>
          <p:cNvSpPr/>
          <p:nvPr/>
        </p:nvSpPr>
        <p:spPr>
          <a:xfrm>
            <a:off x="502920" y="4178808"/>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498848"/>
            <a:ext cx="1005840" cy="1005840"/>
          </a:xfrm>
          <a:prstGeom prst="rect">
            <a:avLst/>
          </a:prstGeom>
        </p:spPr>
      </p:pic>
      <p:sp>
        <p:nvSpPr>
          <p:cNvPr id="16" name="TextBox 15"/>
          <p:cNvSpPr txBox="1"/>
          <p:nvPr/>
        </p:nvSpPr>
        <p:spPr>
          <a:xfrm>
            <a:off x="1874519" y="443484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r>
              <a:rPr sz="1092" baseline="30000" b="0" i="1">
                <a:latin typeface="Arial"/>
                <a:cs typeface="Arial"/>
                <a:ea typeface="Arial"/>
                <a:solidFill>
                  <a:srgbClr val="1C7293"/>
                </a:solidFill>
              </a:rPr>
              <a:t>[2]</a:t>
            </a:r>
          </a:p>
        </p:txBody>
      </p:sp>
      <p:sp>
        <p:nvSpPr>
          <p:cNvPr id="17" name="TextBox 16"/>
          <p:cNvSpPr txBox="1"/>
          <p:nvPr/>
        </p:nvSpPr>
        <p:spPr>
          <a:xfrm>
            <a:off x="1874519" y="5047488"/>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623560"/>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An open standard for connecting tools (Anthropic, 2024)</a:t>
            </a:r>
          </a:p>
        </p:txBody>
      </p:sp>
      <p:sp>
        <p:nvSpPr>
          <p:cNvPr id="19" name="Rounded Rectangle 18"/>
          <p:cNvSpPr/>
          <p:nvPr/>
        </p:nvSpPr>
        <p:spPr>
          <a:xfrm>
            <a:off x="6117336" y="4178808"/>
            <a:ext cx="5486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345936" y="4498848"/>
            <a:ext cx="1005840" cy="1005840"/>
          </a:xfrm>
          <a:prstGeom prst="rect">
            <a:avLst/>
          </a:prstGeom>
        </p:spPr>
      </p:pic>
      <p:sp>
        <p:nvSpPr>
          <p:cNvPr id="21" name="TextBox 20"/>
          <p:cNvSpPr txBox="1"/>
          <p:nvPr/>
        </p:nvSpPr>
        <p:spPr>
          <a:xfrm>
            <a:off x="7488936" y="4434840"/>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Agent loop</a:t>
            </a:r>
            <a:r>
              <a:rPr sz="1092" baseline="30000" b="0" i="1">
                <a:latin typeface="Arial"/>
                <a:cs typeface="Arial"/>
                <a:ea typeface="Arial"/>
                <a:solidFill>
                  <a:srgbClr val="1C7293"/>
                </a:solidFill>
              </a:rPr>
              <a:t>[3]</a:t>
            </a:r>
          </a:p>
        </p:txBody>
      </p:sp>
      <p:sp>
        <p:nvSpPr>
          <p:cNvPr id="22" name="TextBox 21"/>
          <p:cNvSpPr txBox="1"/>
          <p:nvPr/>
        </p:nvSpPr>
        <p:spPr>
          <a:xfrm>
            <a:off x="7488936" y="5047488"/>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act → observe → adjust</a:t>
            </a:r>
          </a:p>
        </p:txBody>
      </p:sp>
      <p:sp>
        <p:nvSpPr>
          <p:cNvPr id="23" name="TextBox 22"/>
          <p:cNvSpPr txBox="1"/>
          <p:nvPr/>
        </p:nvSpPr>
        <p:spPr>
          <a:xfrm>
            <a:off x="6391655" y="5623560"/>
            <a:ext cx="4983480" cy="777240"/>
          </a:xfrm>
          <a:prstGeom prst="rect">
            <a:avLst/>
          </a:prstGeom>
          <a:noFill/>
        </p:spPr>
        <p:txBody>
          <a:bodyPr wrap="square" lIns="0" rIns="0" tIns="0" bIns="0" anchor="t">
            <a:spAutoFit/>
          </a:bodyPr>
          <a:lstStyle/>
          <a:p>
            <a:pPr algn="l">
              <a:lnSpc>
                <a:spcPct val="124000"/>
              </a:lnSpc>
            </a:pPr>
            <a:r>
              <a:rPr sz="1500" b="0" i="0">
                <a:solidFill>
                  <a:srgbClr val="21295C"/>
                </a:solidFill>
                <a:latin typeface="Arial"/>
              </a:rPr>
              <a:t>the model decides an action, sees the result, adjusts the plan</a:t>
            </a:r>
          </a:p>
        </p:txBody>
      </p:sp>
      <p:sp>
        <p:nvSpPr>
          <p:cNvPr id="24" name="TextBox 23"/>
          <p:cNvSpPr txBox="1"/>
          <p:nvPr/>
        </p:nvSpPr>
        <p:spPr>
          <a:xfrm>
            <a:off x="502920" y="6510528"/>
            <a:ext cx="11247120" cy="310896"/>
          </a:xfrm>
          <a:prstGeom prst="rect">
            <a:avLst/>
          </a:prstGeom>
          <a:noFill/>
        </p:spPr>
        <p:txBody>
          <a:bodyPr wrap="square" lIns="0" rIns="0" tIns="0" bIns="0" anchor="t">
            <a:spAutoFit/>
          </a:bodyPr>
          <a:lstStyle/>
          <a:p>
            <a:pPr algn="l">
              <a:lnSpc>
                <a:spcPct val="102000"/>
              </a:lnSpc>
            </a:pPr>
            <a:r>
              <a:rPr sz="800" b="1" i="1">
                <a:solidFill>
                  <a:srgbClr val="065A82"/>
                </a:solidFill>
                <a:latin typeface="Arial"/>
              </a:rPr>
              <a:t>[1] </a:t>
            </a:r>
            <a:r>
              <a:rPr sz="800" i="1">
                <a:solidFill>
                  <a:srgbClr val="1C7293"/>
                </a:solidFill>
                <a:latin typeface="Arial"/>
                <a:hlinkClick r:id="rId6"/>
              </a:rPr>
              <a:t>Lewis et al. (2020) — RAG</a:t>
            </a:r>
            <a:r>
              <a:rPr sz="800" i="1">
                <a:solidFill>
                  <a:srgbClr val="1C7293"/>
                </a:solidFill>
                <a:latin typeface="Arial"/>
              </a:rPr>
              <a:t>   ·   </a:t>
            </a:r>
            <a:r>
              <a:rPr sz="800" b="1" i="1">
                <a:solidFill>
                  <a:srgbClr val="065A82"/>
                </a:solidFill>
                <a:latin typeface="Arial"/>
              </a:rPr>
              <a:t>[2] </a:t>
            </a:r>
            <a:r>
              <a:rPr sz="800" i="1">
                <a:solidFill>
                  <a:srgbClr val="1C7293"/>
                </a:solidFill>
                <a:latin typeface="Arial"/>
                <a:hlinkClick r:id="rId7"/>
              </a:rPr>
              <a:t>Anthropic — Model Context Protocol (Nov 25, 2024)</a:t>
            </a:r>
            <a:r>
              <a:rPr sz="800" i="1">
                <a:solidFill>
                  <a:srgbClr val="1C7293"/>
                </a:solidFill>
                <a:latin typeface="Arial"/>
              </a:rPr>
              <a:t>   ·   </a:t>
            </a:r>
            <a:r>
              <a:rPr sz="800" b="1" i="1">
                <a:solidFill>
                  <a:srgbClr val="065A82"/>
                </a:solidFill>
                <a:latin typeface="Arial"/>
              </a:rPr>
              <a:t>[3] </a:t>
            </a:r>
            <a:r>
              <a:rPr sz="800" i="1">
                <a:solidFill>
                  <a:srgbClr val="1C7293"/>
                </a:solidFill>
                <a:latin typeface="Arial"/>
                <a:hlinkClick r:id="rId8"/>
              </a:rPr>
              <a:t>Yao et al. (2022) — ReAct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737360"/>
            <a:ext cx="11201400" cy="2194560"/>
          </a:xfrm>
          <a:prstGeom prst="rect">
            <a:avLst/>
          </a:prstGeom>
          <a:noFill/>
        </p:spPr>
        <p:txBody>
          <a:bodyPr wrap="square" lIns="0" rIns="0" tIns="0" bIns="0" anchor="ctr">
            <a:spAutoFit/>
          </a:bodyPr>
          <a:lstStyle/>
          <a:p>
            <a:pPr algn="ctr">
              <a:lnSpc>
                <a:spcPct val="100000"/>
              </a:lnSpc>
            </a:pPr>
            <a:r>
              <a:rPr sz="14000" b="1" i="0">
                <a:solidFill>
                  <a:srgbClr val="21295C"/>
                </a:solidFill>
                <a:latin typeface="Arial"/>
              </a:rPr>
              <a:t>Q&amp;A</a:t>
            </a:r>
          </a:p>
        </p:txBody>
      </p:sp>
      <p:sp>
        <p:nvSpPr>
          <p:cNvPr id="3" name="TextBox 2"/>
          <p:cNvSpPr txBox="1"/>
          <p:nvPr/>
        </p:nvSpPr>
        <p:spPr>
          <a:xfrm>
            <a:off x="502920" y="4937760"/>
            <a:ext cx="11201400" cy="640080"/>
          </a:xfrm>
          <a:prstGeom prst="rect">
            <a:avLst/>
          </a:prstGeom>
          <a:noFill/>
        </p:spPr>
        <p:txBody>
          <a:bodyPr wrap="square" lIns="0" rIns="0" tIns="0" bIns="0" anchor="t">
            <a:spAutoFit/>
          </a:bodyPr>
          <a:lstStyle/>
          <a:p>
            <a:pPr algn="ctr">
              <a:lnSpc>
                <a:spcPct val="115000"/>
              </a:lnSpc>
            </a:pPr>
            <a:r>
              <a:rPr sz="3600" b="0" i="1">
                <a:solidFill>
                  <a:srgbClr val="065A82"/>
                </a:solidFill>
                <a:latin typeface="Arial"/>
              </a:rPr>
              <a:t>Thank you</a:t>
            </a:r>
          </a:p>
        </p:txBody>
      </p:sp>
      <p:sp>
        <p:nvSpPr>
          <p:cNvPr id="4" name="TextBox 3"/>
          <p:cNvSpPr txBox="1"/>
          <p:nvPr/>
        </p:nvSpPr>
        <p:spPr>
          <a:xfrm>
            <a:off x="7315200" y="6217920"/>
            <a:ext cx="4434840" cy="365760"/>
          </a:xfrm>
          <a:prstGeom prst="rect">
            <a:avLst/>
          </a:prstGeom>
          <a:noFill/>
        </p:spPr>
        <p:txBody>
          <a:bodyPr wrap="square" lIns="0" rIns="0" tIns="0" bIns="0" anchor="t">
            <a:spAutoFit/>
          </a:bodyPr>
          <a:lstStyle/>
          <a:p>
            <a:pPr algn="r">
              <a:lnSpc>
                <a:spcPct val="115000"/>
              </a:lnSpc>
            </a:pPr>
            <a:r>
              <a:rPr sz="1100" b="0" i="1">
                <a:solidFill>
                  <a:srgbClr val="6B7685"/>
                </a:solidFill>
                <a:latin typeface="Arial"/>
              </a:rPr>
              <a:t>lecturer contacts — filled in before the lecture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