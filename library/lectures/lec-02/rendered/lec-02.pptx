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шесть утверждений о том, как работают большие языковые модели. Все шесть звучат правдоподобно; каждое можно услышать от людей, которые пользуются LLM ежедневно и в целом понимают, что делают. Прочитайте список и честно отметьте, с какими вы согласны. Поднимите руки: кто согласен хотя бы с одним? С тремя? С пятью?</a:t>
            </a:r>
          </a:p>
          <a:p>
            <a:r>
              <a:t>Ответ уже на слайде, и он жёстче, чем обычно бывает в таких проверках: все шесть утверждений ложны. Не «спорны», не «зависят от контекста» — ложны, и для каждого есть конкретный внутренний механизм, который объясняет, почему.</a:t>
            </a:r>
          </a:p>
          <a:p>
            <a:r>
              <a:t>Почему эти заблуждения так устойчивы? Практический опыт формирует представление о модели по наблюдениям, а наблюдения систематически подтверждают «почти правду»: strawberry действительно отвечается правильно, T=0 действительно даёт одинаковые ответы почти всегда, роль действительно ведёт себя как защищённая — пока никто не атакует. Каждое заблуждение — корректная экстраполяция честных наблюдений за границу, где механизм ломается; а границу в повседневной работе видно редко: она проявляется под нагрузкой, под атакой или в счёте за месяц. Сегодня мы пройдём по этим границам. К списку вернёмся в самом конце — и у каждой строки появится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курса. Сегодня мы рассмотрим, как работает большая языковая модель изнутри: систематизируем устройство конвейера и разберём тонкости, которые напрямую влияют на инженерные решения. Кто работает с моделями ежедневно — освежит основы и узнает тонкости; кто встречает эти понятия впервые — узнает всё необходимое.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собирает конвейер целиком и добавляет карту местности: какие модели есть на сентябрь 2026 года и почему выбирать их по бенчмаркам — плохая идея.</a:t>
            </a:r>
          </a:p>
          <a:p>
            <a:r>
              <a:t>А поверх каркаса работает чек-лист, с которого мы начали: шесть правдоподобных ложных утверждений. Каждое закроется в том разделе, где живёт его механизм, и в финале мы соберём весь список заново — уже с ответами. 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текст. Здесь выяснится, почему «исправленный» strawberry ничего не доказывает, и начнётся разговор о том, что роли в запросе — это тоже 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роль работает — и почему подделанная роль работает так же; что на самом деле умеет окно в миллион токенов; откуда берётся экономика кэширования. Раздел 4 — сэмплинг: температура, причина, по которой T=0 не даёт детерминизма, и невидимые токены рассуждения, которые вы оплачиваете. Раздел 5 — сборка: конвейер целиком, карта моделей на сентябрь 2026 года, разбор того, почему бенчмаркам нельзя верить на слово, — и возврат к чек-листу с первого слайда, уже с механизмами.</a:t>
            </a:r>
          </a:p>
          <a:p>
            <a:r>
              <a:t>Маленькие метки на карточках — это позиции чек-листа: видно, в каком разделе закрывается каждое из шести утверждений; M2 закрывается в два шага — начало в Разделе 1, завершение в Разделе 3. 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Объект сегодняшнего разговора — слой «модель».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лекции: рассмотреть, как работает языковая модель, — и разобраться с важными деталями, которые меняют то, как вы строите промпты, агентов и решения. Мы пройдём конвейер инференса от текста до ответа, и на каждой стадии — вместе с механизмом — покажем его границы.</a:t>
            </a:r>
          </a:p>
          <a:p>
            <a:r>
              <a:t>Мы покажем, где именно токенизация ломает арифметику и почему «исправленный» strawberry ничего не доказывает. Покажем механизм, из-за которого роль в промпте работает, и его обратную сторону: тот же механизм делает роль подделываемой. Разберём, почему temperature=0 не даёт воспроизводимости и сколько стоит её получить по-настоящему. Добавим к этому реальную цену невидимых токенов рассуждения и то, чем заменить веру в бенчмарки при выборе модели.</a:t>
            </a:r>
          </a:p>
          <a:p>
            <a:r>
              <a:t>Шесть строк под целью — это те же шесть утверждений чек-листа, переформулированные как обещания: на каждое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инференса,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 И обратите внимание на петлю в схеме: токены генерируются по одному, каждый выбранный токен добавляется ко входу — и конвейер прокручивается заново; ответ строится последовательными оборотами этой петли.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А шесть утверждений чек-листа закрываются по ходу движения по оси — каждое в том разделе, где живёт его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Разберём, как роли system и user на самом деле попадают в модель — и почему это не защищённая структура.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Точное определение.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Сообщения в API имеют роли: system, user, assistant. Роли часто представляют как структурные поля — метаданные, которые модель получает «отдельным каналом». Такого канала не существует: модель принимает один плоский поток токенов, а chat-формат — соглашение поверх него, надстройка, а не часть архитектуры. Прежде чем список сообщений попадает в модель, он прогоняется через chat-шаблон — правило сборки одной плоской последовательности токенов из структурированного диалога. В формате ChatML, ставшем фактическим стандартом, сообщение оборачивается специальными токенами — служебными записями словаря, не встречающимися в обычном тексте. В экосистеме Hugging Face шаблон хранится буквально как Jinja-шаблон в файле настроек токенизатора — его можно открыть и прочитать.</a:t>
            </a:r>
          </a:p>
          <a:p>
            <a:r>
              <a:t>Разведём два значения слова «роль», которые постоянно смешиваются. Протокольные роли system/user/assistant — это структура диалога, «кто говорит»; они собираются спецтокенами chat-шаблона. А «роль» из текста промпта — «ты — лучший разработчик» — это просто содержимое сообщения: обычные токены внутри реплики, никакой протокольной метки у них нет; их влияние на поведение модели — эффект внимания к содержимому контекста, и мы разберём его в разделе про внимание. Деталь протокола: имя роли — обычная строка после спецтокена, а не отдельный спецтокен; именно поэтому провайдеры добавляли новые роли без перевыпуска словаря.</a:t>
            </a:r>
          </a:p>
          <a:p>
            <a:r>
              <a:t>Что с этого на практике — два вывода. Первый: если роль — последовательность токенов, то текст, похожий на разметку роли, может попасть в поток из внешнего контента. Атаки класса Special Token Injection — подделка роли: в страницу или файл вставляют строку вида «начало реплики assistant», и модель в части случаев верит — «кто говорит» она определяет в значительной мере стилистически, а не по формальной метке. Поэтому внешний контент — веб-страницы, файлы, письма — фильтруйте до попадания в контекст: экранирование и детекция спецтокенов. Второй: при локальном запуске проверяйте chat-шаблон — модель, запущенная с чужим шаблоном, не выдаёт ошибку, она просто заметно глупеет; проверка шаблона — первый пункт диагностики. Здесь мы закрыли половину вопроса: роль — не защищённая структура. Почему она вообще работает — увидим в разделе про внимание; разбор prompt injection целиком —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2026 год. GPT-5.2 в декабре 2025-го всё ещё отвечал «две r». GPT-5.5, выпущенный в апреле 2026-го, проходит strawberry — но на вопрос «сколько r в cranberry» отвечает «две»; правильно — три. Проверим прямо сейчас на актуальной модели — спросите свою про cranberry. Диагноз красноречив: навык посимвольного счёта работал бы на любом слове; фикс, который чинит strawberry и не чинит cranberry, — точечный патч на вирусный вопрос. Для систематической проверки появился StrawberryBench — 847 вопросов в семи уровнях сложности.</a:t>
            </a:r>
          </a:p>
          <a:p>
            <a:r>
              <a:t>У явления есть имя: «рваный интеллект» — профиль способностей с резкими провалами рядом с пиками. Причина в том, что уровень навыка задаётся данными обучения, а не «общим умом»: где в данных навык представлен богато — там пик, где представление слова скрывает нужную структуру — там провал.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примере, на котором никто не хайпил: вирусное прохождение — не навык.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инженеру знать, как режутся числа и код: это самые частые «нетекстовые» входы, и от их нарезки напрямую зависят арифметика модели и ваш бюджет токенов на код. Два компактных примера того, как частотная нарезка расходится со структурой данных.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Три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Так были открыты glitch-токены — записи словаря, чьи эмбеддинги остались фактически недообученными.</a:t>
            </a:r>
          </a:p>
          <a:p>
            <a:r>
              <a:t>Механизм возвращает нас к развязке «словарь и модель — два разных артефакта».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модель. Эмбеддинг такого токена остаётся близким к случайной инициализации, и когда токен появляется на входе, модель работает с вектором, который ничего не значит в её выученной геометрии.</a:t>
            </a:r>
          </a:p>
          <a:p>
            <a:r>
              <a:t>Могло показаться, что это курьёз эпохи GPT-3. Данные 2026 года говорят обратное: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она — не баг версии, а системное свойство конвейера, где словарь строится отдельно от модели; масштабом такое не чинится. Практических вывода два. Первый — диагностический: если модель ведёт себя необъяснимо на входе с экзотическими строками — редкие идентификаторы, обфусцированный текст, необычный Unicode, — среди гипотез должна быть «на входе glitch-токен»; проверяется быстро, заменой строки на плейсхолдер: поведение выправилось — виновник найден. Второй — продуктовый: если система принимает произвольный пользовательский ввод, нормализуйте и санитизируйте его до подачи в модель — это отсекает и glitch-токены, и целый класс смежных сюрпризов токенизации.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нередко смешивают; разложим три жизни термина аккуратно — и увидим, что эмбеддинги работают не только внутри инференса, но и как самостоятельный инструмент поиска.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инференсе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Эмбеддинги нужны не только для инференса — это ещё и самостоятельный инструмент поиска. Слово «эмбеддинг» в инженерном обиходе обозначает три разные сущности; разложим три жизни термина и посмотрим, какой из них вы пользуетесь, когда строите поиск.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контекстуальные представления.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контекст. Именно эти представления несут «понимание» модели; входная таблица — лишь стартовая точка. Обе эти жизни — внутренности инференса. А третья жизнь — ваш рабочий инструмент: когда вы вызываете embedding-API для поиска или RAG, вы получаете вектор целого текста от отдельной модели, специально обученной под поиск и сравнение. Это не внутренности вашего чат-LLM: embedding-модель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контекстуальные представления;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Смысл измерений не задаётся вручную — это направления, которые модель выучила из статистики; постфактум многие из них читаются как признаки: тематика, формальность, домен.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Оси проекции подписаны как признаки: одна разводит веб-тематику и кулинарию, другая — инфраструктуру и фронтенд; каждая из полутора с лишним тысяч осей реального пространства — такой же выученный признак, здесь показаны две.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промпт с ролью реально меняет ответ — и почему подделанная роль меняет его точно так же; почему длинный чат тормозит и дорожает — и как кэширование промптов срезает счёт на десятки процентов;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Query/Key/Value; затем рабочий пример и полный механизм эффекта роли; дальше — KV-cache и две фазы генерации; экономика кэширования промптов с живым кейсом;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она была голодна». Числа иллюстративные, реальные веса нормируются так, что сумма по строке равна единице. Качественно картина типична: в строке токена «она» наибольший вес лежит на токене «мышь». Это то, что мы в быту называем «модель поняла, к чему относится местоимение», — технически это статистическая связь, выученная на огромном корпусе, где местоимения женского рода чаще всего разрешаются на ближайшее существительное того же рода.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определение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глубже: он понадобится нам через два слайда. Для каждого токена модель вычисляет три проекции его вектора: Query, Key и Value. Query — «что я сейчас ищу»: запрос текущей позиции к остальному контексту. Key — «что я предлагаю»: визитная карточка токена, по которой его находят чужие запросы. Value — «что я отдам, если меня выбрали»: содержимое, которое реально вмешивается в результат. Вес между двумя позициями — это произведение Query одной на Key другой; итог позиции — взвешенная сумма Value всего контекста. Больше формул не понадобится.</a:t>
            </a:r>
          </a:p>
          <a:p>
            <a:r>
              <a:t>Понадобится одно структурное наблюдение, и я прошу его запомнить: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её, когда дойдём до вопроса, почему длинный чат тормозит. А пока — рабочий пример на знакомом вам эффекте 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она была голодна». Дойдя до токена «она», модель должна разрешить, к кому он относится, — и в карте внимания вес распределён в пользу «мышь».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она забыла обработать null». На большинстве моделей вес уйдёт к «программа» — так подсказывает статистика технических текстов; если ваша интуиция дала тот же ответ, вы уже думаете в терминах корпусной статистики.</a:t>
            </a:r>
          </a:p>
          <a:p>
            <a:r>
              <a:t>Теперь — то, ради чего вы это уже знаете. Вы видели на практике: «Ты эксперт по Python. Объясни асинхронность джуниору» работает лучше пустого промпта. Механизм: токены «эксперт», «Python», «джуниор» получают вес в распределении внимания при генерации каждого токена ответа, и выбор смещается в согласованную с ними сторону. Роль — не просьба «поверь мне», а входной сигнал, физически участвующий во взвешивании. Для точности: вклад вносят и обучение с подкреплением, и внутриконтекстное смещение, но для инженерной практики достаточно внимания как рабочего объяснения.</a:t>
            </a:r>
          </a:p>
          <a:p>
            <a:r>
              <a:t>И вторая половина истории, начатая в разделе про chat-шаблоны: роль — условность из специальных токенов в общем потоке, а внимание не различает «легитимные» и «подделанные» токены разметки — вес получают любые. Роль работает — и ровно поэтому подделанная роль работает тоже: это один механизм, а не два. «Сильнее» у системного промпта обеспечено обучением и позицией, а не контролем доступа. Барьер строится снаружи — фильтрацией входа и правами инструментов; про это подробно в следующей лекции.</a:t>
            </a:r>
          </a:p>
          <a:p>
            <a:r>
              <a:t>И граница самого эффекта: роль смещает распределение, но не добавляет знаний.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Это же объясняет знакомый эффект «длинный чат тормозит и дорожает». История подаётся в модель целиком при каждом обороте — модель без состояния, как мы фиксировали в Лекции 1. Ничего не «засоряется» и не «устаёт» — каждый новый вопрос несёт на спине весь предыдущий разговор. Следствия: суммаризация или обрезка истории в длинных сессиях, вынос стабильной части в кэшируемый префикс — об этом следующий слайд, — и понимание, что новый чат — это сброс груза. Масштаб: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Обратите внимание на структуру тарифов: чтение из кэша — десятая часть базовой ставки входа, у новейших моделей — до одной сороковой, но запись стоит дороже обычного входа — от 1.25 до 2 ставок в зависимости от времени жизни. Кэш не бесплатен — это ставка на повторное использование: окупается со второго-третьего попадания, а нагрузка из уникальных запросов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— точное совпадение префикса: кэш срабатывает, только если всё до контрольной точки совпадает байт-в-байт. Один изменившийся токен инвалидирует кэш для всего, что после него. Теперь вопрос залу: вы добавили в начало системного промпта строку «Сегодня такое-то число и время». Что с кэшем? Правильно: ни один запрос никогда не попадёт в кэш — вся нагрузка платит полную ставку, а при явной записи ещё и надбавку за запись. Классический самострел.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рабочий стандарт флагманов 2026 года — один-два миллиона: Claude Fable 5 — миллион, причём полное окно входит в стандартную цену без наценки за длину; Gemini 3.5 Pro — два миллиона, крупнейшее среди действительно используемых в бою моделей; моделей с окном от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точной. Температура — это делитель логитов: сырые оценки модели делятся на T перед нормализацией в вероятности. При T, стремящейся к нулю, распределение обостряется до argmax — выбора самого вероятного токена; при единице модель сэмплирует пропорционально исходным вероятностям; выше единицы распределение сглаживается, и хвост редких токенов получает реальные шансы. Важно: температура не добавляет знаний и не меняет предпочтения модели — она меняет только остроту выбора из них.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Следствия: не стройте тесты на побитовом сравнении ответов — сравнивайте семантически или по структуре; воспроизводимость фиксируйте датасетом и метрикой;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max_tokens, системный промпт — вы знаете; сценарная таблица не изменилась и остаётся рабочим ориентиром: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на каждом шаге генерации система вычисляет, какие токены оставляют вывод синтаксически валидным относительно заданной схемы, и обнуляет вероятности всех остальных — прямо в том распределении, которое мы разобрали в начале раздела.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 И помните: max_tokens обрывает цикл мгновенно, хоть на середине JSON-поля — постобработка обязана этот случай ловить.</a:t>
            </a:r>
          </a:p>
          <a:p>
            <a:r>
              <a:t>Сквозная трассировка — соберём весь конвейер на одном примере.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— карта местности: ландшафт моделей на сентябрь 2026 года — передний край, открытые веса, цены и российский сегмент; это самая скоропортящаяся часть лекции, и тем важнее уметь её читать. Следом — жёсткий разговор о том, почему цифрам бенчмарков нельзя верить на слово: три механизма искажения с примерами этого года.</a:t>
            </a:r>
          </a:p>
          <a:p>
            <a:r>
              <a:t>После этого вернёмся к шести утверждениям, с которых лекция началась: в начале вы голосовали интуицией — теперь для каждого утверждения у нас есть точный механизм. Замкнём лекцию решением, когда большая языковая модель — не тот инструмент, и когда не нужна именно топовая; границей между корреляцией и причинностью; и мостом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Chat-шаблоны — препроцессор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картина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шести утверждениям, с которых началась лекция. Тогда я попросил поднять руки — сколько из них верны; и сказал, что все шесть ложны. Теперь для каждого у нас есть механизм — по строке. Буквы: модель видит токены, а strawberry починили точечным патчем, который не переносится на cranberry. Роль: это токены chat-шаблона в общем потоке, и внимание не различает их происхождения — подделанная разметка получает тот же вес. Окно: ёмкость приёма, не понимания — без лексических подсказок модели теряют больше половины собственной точности уже на 32 тысячах. Ноль температуры: ядра не batch-инвариантны, и чужая нагрузка на сервере меняет ваш результат. Токены рассуждения: тарифицируются как выход, и именно они делают o3-pro в восемнадцать раз дороже o4-mini. Бенчмарки: контаминация, подгонка витринных версий и жульничество самих моделей — выбирает собственный оценочный набор.</a:t>
            </a:r>
          </a:p>
          <a:p>
            <a:r>
              <a:t>Общий знаменатель шести строк: знать инструмент — значит знать его границы. Каждое из утверждений — не глупость, а правда соседней области, растянутая за свою границу: буквы модель «видит» — но через патчи; роль работает — но не защищена; окно принимает миллион — но не рассуждает на нём; ноль сужает разброс — но не убирает; рассуждение улучшает качество — но за деньги; бенчмарки информативны — но не как рейтинг для слепого доверия.</a:t>
            </a:r>
          </a:p>
          <a:p>
            <a:r>
              <a:t>Самопроверка на минуту: закройте таблицу и восстановите для любых трёх утверждений строку механизма. Если получается — главное содержание лекции у вас с собой. И заметьте: каждая из шести границ — точка, где инженер обязан уметь сказать «нет» неподходящему применению; ни одно из этих «нет» не означает «не используйте модели» — все шесть означают «используйте с точным знанием, что вам гарантировано, а что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роль — это токены, а агент читает внешний контент, prompt injection — не экзотика, а базовый режим угроз агентных систем.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четырёх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ответы; и вопрос про timestamp в системном промпте, ломающий кэш.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четырёх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чек-листу из шести утверждений и спросить, какое из закрытий показалось наименее убедительным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четырёх домашних экспериментов — подсчёт букв, десять запусков при нуле температуры, пара косинусных сходств и аудит кэша в своём проекте, — мы прогоним их через общий чек-лист и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Шесть утверждений о LLM. Вы верите минимум в одно.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183112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Все шесть — ложь.</a:t>
            </a:r>
          </a:p>
        </p:txBody>
      </p:sp>
      <p:pic>
        <p:nvPicPr>
          <p:cNvPr id="4" name="Picture 3" descr="s01-blackbox-c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847088"/>
            <a:ext cx="9326880" cy="481387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6607" y="1938528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2911" y="2089404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6687" y="1993392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«Современные модели уже научились считать буквы в словах — strawberry давно исправили»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607" y="2656332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2911" y="2807208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6687" y="2711196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«Роль system защищена архитектурно — подделать её из пользовательского ввода нельзя»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607" y="3374136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2911" y="3525012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6687" y="3429000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«Окно в миллион токенов — значит, модель одинаково хорошо работает со всем этим объёмом»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607" y="4091940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2911" y="4242816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6687" y="4146804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«temperature=0 даёт детерминированный ответ: одинаковый запрос — одинаковый результат»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607" y="4809744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2911" y="4960620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6687" y="4864608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«Reasoning-токены не видны в ответе — значит, они и не оплачиваются»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6607" y="5527548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2911" y="5678424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6687" y="5582412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«Бенчмарки — надёжный способ выбрать модель»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Конвейер инференса — и шесть границ, которые меняют инженерные решения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6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115568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115568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115568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чек-лист,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956816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956816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956816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511" y="2176272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32439" y="2176272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3727" y="2798064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2798064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3847" y="2798064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3639312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327" y="3639312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847" y="3639312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65511" y="385876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32439" y="385876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3727" y="4480560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327" y="448056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3847" y="448056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5511" y="470001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2439" y="470001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3727" y="5321808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327" y="5321808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3847" y="5321808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сборка конвейера, ландшафт моделей, чек-лист заново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32439" y="5541264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" y="6181344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M1–M6 — шесть утверждений чек-листа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Объект сегодня — слой «модель» из четырёх слоёв Лекции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Слой «модель»: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stateless-инференс —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разбираем, что происходит внутри этого инференса — и где его устройство меняет инженерные решения.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Цель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«Рассмотреть, как работает языковая модель, — и разобраться с </a:t>
            </a:r>
            <a:r>
              <a:rPr sz="2200" b="1" i="0">
                <a:solidFill>
                  <a:srgbClr val="F0AB00"/>
                </a:solidFill>
                <a:latin typeface="Arial"/>
              </a:rPr>
              <a:t>важными деталями</a:t>
            </a:r>
            <a:r>
              <a:rPr sz="2200" b="1" i="0">
                <a:solidFill>
                  <a:srgbClr val="21295C"/>
                </a:solidFill>
                <a:latin typeface="Arial"/>
              </a:rPr>
              <a:t>, которые меняют то, как вы строите промпты, агентов и решения.»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857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487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261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905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4535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309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роль работает — и подделывается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953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8583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357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57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487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61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905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4535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309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сколько стоят невидимые токены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953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583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357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9439939" y="1591056"/>
            <a:ext cx="0" cy="256032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751756" y="1591056"/>
            <a:ext cx="6688183" cy="0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1756" y="1591056"/>
            <a:ext cx="0" cy="237744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980356" y="1261872"/>
            <a:ext cx="62309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⟲ токены генерируются по одному; каждый добавляется ко входу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847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983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687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06005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52893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8029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1453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733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478051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24939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075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499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779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50096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96984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2120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5544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824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22142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69030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4166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7590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870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94188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41076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212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9636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16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66233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13121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8257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1681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5961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9135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135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135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7783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7783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7783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6431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6431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6431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5079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5079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5079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8880" y="5285232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51760" y="5340096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Роли system/user/assistant — те же токены в общем потоке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Модель принимает один плоский поток токенов. Chat-формат — соглашение поверх него, а не часть архитектуры.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98932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1790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Структурированный диалог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"system",  "content": "Ты помощник…" }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"user",  "content": "Объясни…" }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46120" y="2724912"/>
            <a:ext cx="384048" cy="457200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27889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chat-шаблон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5989320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Плоский поток токенов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67328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&lt;|im_start|&gt;system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Ты помощник…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&lt;|im_start|&gt;user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Объясни…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417320"/>
            <a:ext cx="4892040" cy="1627632"/>
          </a:xfrm>
          <a:prstGeom prst="roundRect">
            <a:avLst>
              <a:gd name="adj" fmla="val 1872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53619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Протокольные роли ≠ «роли» из текста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1920240"/>
            <a:ext cx="44348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system/user/assistant — структура диалога, собранная спецтокенами. «Ты — лучший разработчик» в тексте промпта — просто содержимое сообщения, не протокольная роль.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3182112"/>
            <a:ext cx="4892040" cy="14813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3273552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Подделка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3621024"/>
            <a:ext cx="44348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контент (веб-страница, файл, письмо) со строкой, похожей на разметку роли, вливается в тот же поток — отдельного «защищённого канала» нет.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437083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Liberation Mono"/>
              </a:rPr>
              <a:t>&lt;|im_start|&gt;assistant</a:t>
            </a:r>
            <a:r>
              <a:rPr sz="1200" b="0" i="1">
                <a:solidFill>
                  <a:srgbClr val="6B7685"/>
                </a:solidFill>
                <a:latin typeface="Arial"/>
              </a:rPr>
              <a:t> — из письма?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0467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с этого: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фильтруйте внешний контент до попадания в контекст (экранирование, детекция спецтокенов)  ·  при локальном запуске проверяйте chat-шаблон — модель с чужим шаблоном молча глупеет.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5216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Почему роль при этом работает — и почему подделанная работает так же — в разделе про внимание.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GPT-5.5 отвечает на strawberry — и ошибается на cranberry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120640" cy="3456432"/>
          </a:xfrm>
          <a:prstGeom prst="roundRect">
            <a:avLst>
              <a:gd name="adj" fmla="val 88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7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7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984248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«в strawberry две r»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706624"/>
            <a:ext cx="5760720" cy="10058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798064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GPT-5.5 · апр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136391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858768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950207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88536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193792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«Рваный интеллект» (jagged intelligence): уровень навыка задаётся данными обучения, а не «общим умом» — модель берёт олимпиадное золото и проваливает подсчёт букв.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делать: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тестируйте «cranberry своей предметки» — редкие случаи, на которых никто не хайпил; вирусное прохождение ≠ навык.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Числа и код — самые частые «нетекстовые» входы: от их нарезки зависят арифметика модели и ваш бюджет токенов.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Чанки по 3 цифры слева направо ≠ разряды.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5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14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0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990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706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25295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3154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Юзернейм с Reddit, попавший в словарь GPT: модель не могла его повторить и отвечала невпопад — будто слова не существует.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Механизм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корпус словаря ≠ корпус модели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</a:pPr>
            <a:r>
              <a:rPr sz="14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эмбеддинг токена* остаётся у случайной инициализации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</a:pPr>
            <a:r>
              <a:rPr sz="14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«ничего не значит» в выученной геометрии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00" b="0" i="1">
                <a:solidFill>
                  <a:srgbClr val="6B7685"/>
                </a:solidFill>
                <a:latin typeface="Arial"/>
              </a:rPr>
              <a:t>* числовой вектор токена; подробно — следующий раздел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на практике: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Необъяснимое поведение на экзотических строках (редкие идентификаторы, обфусцированный текст, необычный Unicode)? Гипотеза: glitch-токен. Проверка: замените строку плейсхолдером.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продуктах, принимающих произвольный ввод, — нормализация и санитизация входа до модели.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Системная особенность конвейера, не баг версии — масштабом не чинится.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2148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2" y="3950208"/>
            <a:ext cx="3840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Калибруйте лимиты в токенах на своём языке: фрагменты для поиска, max_tokens, бюджет окна.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Пакетная обработка больших объёмов — оцените перевод на английский (≈2× дешевле); в интерактиве разница того не стоит.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4243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опечатка или другой регистр — уже другой токен и другой вектор; нормализуйте вход до эмбеддинга.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Эмбеддинги — не только внутренность инференса, но и инструмент поиска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Когда вы строите поиск или RAG, вы пользуетесь третьей жизнью термина «эмбеддинг» — отдельной embedding-моделью.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14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50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Контекстуальные представления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слоёв внимания: вектор каждой позиции обновлён с учётом окружения. Именно они несут «понимание» модели.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1536192"/>
            <a:ext cx="3611880" cy="33101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326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самостоятельный инструмент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443983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это и есть ваш поиск/RAG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85231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чат-LLM → переиндексировать базу НЕ надо: индекс живёт в координатах embedding-модели.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6184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каждая из 1536+ осей — выученный признак; здесь показаны две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5504688"/>
            <a:ext cx="5468112" cy="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" y="2075688"/>
            <a:ext cx="0" cy="342900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5596127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тематика (веб-разработка ↔ кулинария)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075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инфраструктура ↔ фронтенд</a:t>
            </a:r>
          </a:p>
        </p:txBody>
      </p:sp>
      <p:sp>
        <p:nvSpPr>
          <p:cNvPr id="10" name="Oval 9"/>
          <p:cNvSpPr/>
          <p:nvPr/>
        </p:nvSpPr>
        <p:spPr>
          <a:xfrm>
            <a:off x="1234440" y="2331720"/>
            <a:ext cx="269748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3886200"/>
            <a:ext cx="278892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20" y="260604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4871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14" name="Oval 13"/>
          <p:cNvSpPr/>
          <p:nvPr/>
        </p:nvSpPr>
        <p:spPr>
          <a:xfrm>
            <a:off x="2240280" y="3127248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3017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16052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41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2468880" y="4681728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45720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5166360" y="361188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9776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245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508760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198424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935224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410712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361688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4714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37175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5861304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5916168"/>
            <a:ext cx="448055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Что делать: близость измерима расстоянием — фильтрация и кластеризация без разметки и без LLM возможны прямо на векторах, дёшево.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458968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embedding-модель и индекс обслуживают поиск, кластеризацию и RAG сразу — смена модели означает переиндексацию всего хранилища; выбирайте как инфраструктурное решение.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6263640"/>
            <a:ext cx="7680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«она»: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«мышь».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— матричная операция: каждый токен против каждого. Отсюда квадратичная стоимость длинного контекста.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72237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Распределение весов на токенах контекста — сумма = 1</a:t>
            </a:r>
          </a:p>
        </p:txBody>
      </p:sp>
      <p:pic>
        <p:nvPicPr>
          <p:cNvPr id="13" name="Picture 12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6400800" cy="261257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09560" y="2395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395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538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538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4681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4681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5216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и ровно поэтому подделанная роль работает так же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24128"/>
            <a:ext cx="1120140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33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«Кот съел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мышь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572768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, 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572768"/>
            <a:ext cx="658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голодна»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69080" y="2002536"/>
            <a:ext cx="2331720" cy="365760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37960" y="2002536"/>
            <a:ext cx="731520" cy="365760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002536"/>
            <a:ext cx="1737360" cy="365760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0" y="241401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слоёв. Модель не делает грамматический разбор — она воспроизводит корреляции употребления.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57860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куда уйдёт вес от «она» в «Программа упала, потому что она забыла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Роль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«Ты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эксперт по Python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асинхронность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джуниору</a:t>
            </a:r>
            <a:r>
              <a:rPr sz="1250" b="0" i="0">
                <a:solidFill>
                  <a:srgbClr val="21295C"/>
                </a:solidFill>
                <a:latin typeface="Arial"/>
              </a:rPr>
              <a:t>» — токены роли получают вес при генерации каждого токена ответа → конкретнее, проще, в экспертном регистре.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97763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 i="0">
                <a:solidFill>
                  <a:srgbClr val="F0AB00"/>
                </a:solidFill>
                <a:latin typeface="Arial"/>
              </a:rPr>
              <a:t>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Подделка работает так же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977639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Внедрённая в контекст последовательность, выглядящая как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разметка роли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вливается в то же взвешивание — с той же силой, что настоящая.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041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не различает происхождение токенов. Архитектурного барьера нет — барьер строится снаружи: фильтрация входа + права инструментов.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20440"/>
            <a:ext cx="539496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069080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34340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520440"/>
            <a:ext cx="521208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069080"/>
            <a:ext cx="4709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6928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72414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Почему длинный чат тормозит и дорожает: история подаётся целиком при каждом обороте — больше prefill, толще кэш, медленнее каждый шаг. «Начать новый чат» — буквально сброс груза, а не суеверие.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Тарифы (сентябрь 2026):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55648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Чтение из кэша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0.1× базовой ставки входа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(новейшие — до 0.025×)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22576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Запись в кэш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1.25–2× ставки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дороже обычного входа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Окупается со второго-третьего попадания; уникальные запросы без общего префикса от кэша только дорожают.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844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50208"/>
            <a:ext cx="4206240" cy="3108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3950208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684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52544"/>
            <a:ext cx="749808" cy="31089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35254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526280"/>
            <a:ext cx="470916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45537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Мини-опрос: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добавили динамический timestamp в начало системного промпта — что происходит с кэшем?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Стандарт 2026 — окно 1–2 миллиона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Fable 5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без наценки за длину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крупнейшее среди боевых флагманов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6247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выбирайте модель по эффективному окну задачи (бенчмарки без лексических подсказок), не по маркетинговому максимуму.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470916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90472"/>
            <a:ext cx="4206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Найти дословно (needle-in-a-haystack) — почти решено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Найти вставленную фразу по буквальному совпадению: флагманы —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до 99% на полном окне в 1 млн токенов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«Найди, где в договоре упоминается сумма» — работает почти как обещано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325880"/>
            <a:ext cx="6217920" cy="384048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4630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Узнать по смыслу (NoLiMa, 2025) — обрушение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874519"/>
            <a:ext cx="5669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Бенчмарк убрал буквальное совпадение слов.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11 из 13 моделей — ниже 50% их же собственной точности на коротком контексте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уже на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32 тыс. токенов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(~3% заявленного окна флагмана).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834640"/>
            <a:ext cx="4754880" cy="23289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3800" y="288950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11 из 13 — ниже 50%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85232"/>
            <a:ext cx="11201400" cy="74980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40096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2648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Критические инструкции — в начало или конец промпта · целевой поиск 5–10 фрагментов бьёт «вывалить всё в окно» · тестируйте на рабочей длине вашей задачи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270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13916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35124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56332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77540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0584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61188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40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8746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08676" y="2430303"/>
            <a:ext cx="347472" cy="67865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29884" y="2608897"/>
            <a:ext cx="347472" cy="50006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1092" y="2716053"/>
            <a:ext cx="347472" cy="39290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72300" y="2823210"/>
            <a:ext cx="347472" cy="285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 Естественная вариативность.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222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3436" y="2204085"/>
            <a:ext cx="347472" cy="90487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4644" y="2346960"/>
            <a:ext cx="347472" cy="762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5852" y="2442210"/>
            <a:ext cx="347472" cy="666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7060" y="2537460"/>
            <a:ext cx="347472" cy="5715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2104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от удачных находок до бессвязности.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5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по числу кандидатов. Основная ручка — температура; эти две — тонкая настройка.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349240"/>
            <a:ext cx="822960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534924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один и тот же запрос — 10 раз при T=0 и 10 раз при T=1.5.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016752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T под задачу — 0–0.3 для кода и классификации, 0.7+ для генерации текста.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3611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869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 стройте тесты на побитовом сравнении ответов LLM — сравнивайте семантически или по структуре.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Ручек стало шесть: добавилась ось глубины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34440"/>
          <a:ext cx="112014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737360"/>
                <a:gridCol w="1371600"/>
                <a:gridCol w="1737360"/>
                <a:gridCol w="36118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Сценарий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Системный промпт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Классификация / извлечение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0AB00"/>
                          </a:solidFill>
                          <a:latin typeface="Liberation Mono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50–200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Минимальный, со схемой выхода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Кодогенерация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0.2–0.3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1000+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контекст репозитория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Творческое письмо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28090"/>
                          </a:solidFill>
                          <a:latin typeface="Liberation Mono"/>
                        </a:rPr>
                        <a:t>0.9–1.2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2000+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стиль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effort / reasoning_effort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глубина внутреннего рассуждения: шкала от none до xhigh (OpenAI); effort при адаптивном мышлении (Anthropic); thinking budget (Gemini)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35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verbosity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длина видимого ответа, независимая от глубины: думать глубоко, отвечать коротко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57800"/>
            <a:ext cx="11201400" cy="5943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312664"/>
            <a:ext cx="108356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Заучивайте оси — случайность, длина, глубина, формат; имена параметров сверяйте с документацией текущего месяца.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16168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начинайте с temperature и effort — остальное (top_p/top_k/verbosity) — тонкая настройка поверх.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 (ограниченное декодирование):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на каждом шаге система вычисляет, какие токены оставляют вывод валидным относительно JSON-схемы, — и обнуляет вероятности всех остальных. Модель физически не может нарушить схему.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серые нарушают JSON-схему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гарантия встроена в сэмплинг, а не проверяется постфактум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системный промпт + история + запрос + уже сгенерированная часть ответа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21488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 словаря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по правилам температуры / top-p / схемы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дописан 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76479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3794760"/>
            <a:ext cx="0" cy="3200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4050792"/>
            <a:ext cx="9363455" cy="182880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3794760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42702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возврат к шагу 1 — цикл повторяется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0749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 специального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стоп-токена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или до </a:t>
            </a:r>
            <a:r>
              <a:rPr sz="13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обрыв мгновенный, хоть на середине JSON-поля.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повторную подачу дешёвой, не отменяя её логически).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897880"/>
            <a:ext cx="964692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39" y="5952744"/>
            <a:ext cx="9281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задача умещается в ~30B и данные нельзя выпускать за периметр — берите локальную модель; нужно флагманское качество — берите закрытый API.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карта моделей 2026, цена доверия бенчмаркам — и шесть утверждений заново»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Новые темы не добавили стадий — они встроились в существующие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Left Arrow 17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Chat-шаблоны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препроцессор токенизации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OpenAI: GPT-5.6 — Luna → Terra → Sol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Anthropic: Claude Fable 5 · Opus 5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Google: Gemini 3.5 Pro (окно 2 млн, Deep Think)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xAI: Grok 4.3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 (Pro 1.6 трлн / Flash 284 млрд)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 3.8-Max — первая открытая из линейки Max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Kimi K2.6 (1 трлн) · Kimi K3 (2.8 трлн — крупнейшая открытая)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1201400" cy="84124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7647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74920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7548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46811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9893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0441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пересматривайте выбор модели регулярно — ландшафт живёт месяцами, а не годами.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Шесть утверждений — теперь по строке механизма на каждое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88720"/>
          <a:ext cx="11201399" cy="4041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3977639"/>
                <a:gridCol w="6537960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Утверждение — все ложны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«Модели научились считать буквы»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strawberry починили точечным патчем — cranberry не работает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M2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«Роль system защищена архитектурно»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chat-шаблона в общем потоке; внимание не различает происхождения токенов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M3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«Окно 1M = работа со всем объёмом»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Окно — ёмкость приёма, не понимания: без лексических совпадений 11 из 13 моделей теряют &gt;50% своей точности уже на 32K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M4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«T=0 даёт детерминированный ответ»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размер батча — 80 уникальных ответов из 1000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M5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«Невидимые reasoning-токены не оплачиваются»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output; 3–10× видимого ответа; o3-pro в 18× дороже o4-mini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M6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«Бенчмарки — надёжный способ выбрать модель»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 (87.6% vs 57%), подгонка витрин, жульничество моделей; выбирает свой оценочный набор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5412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Знать инструмент — значит знать его границы. Каждое утверждение — правда соседней области, растянутая за свою границу.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05740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103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92608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7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34440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" y="1673351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269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06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06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сходство ≠ релевантность — главная причина разочарований наивного поиска.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450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675" y="1673351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73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310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310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надёжность формата вызова обеспечивают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46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635" y="4279392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8269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06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06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0AB00"/>
                </a:solidFill>
                <a:latin typeface="Arial"/>
              </a:rPr>
              <a:t>Якорь: стабильный префикс с описаниями инструментов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450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675" y="427939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1773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310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10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агент читает внешний контент — спуфинг ролей превращается в prompt injection; невидимые токены рассуждения умножаются на число шагов.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