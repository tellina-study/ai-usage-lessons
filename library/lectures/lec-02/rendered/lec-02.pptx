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с проверки. Перед вами шесть утверждений о том, как работают большие языковые модели. Все шесть звучат правдоподобно; каждое можно услышать от людей, которые пользуются LLM ежедневно и в целом понимают, что делают. Прочитайте список и честно отметьте, с какими вы согласны. Поднимите руки: кто согласен хотя бы с одним? С тремя? С пятью?</a:t>
            </a:r>
          </a:p>
          <a:p>
            <a:r>
              <a:t>Теперь ответ — и он жёстче, чем обычно бывает в таких проверках: все шесть утверждений ложны. Не «спорны», не «зависят от контекста» — ложны, и для каждого есть конкретный внутренний механизм, который объясняет, почему. Если вы согласились хотя бы с одним — эта лекция для вас. Если не согласились ни с одним, но не можете назвать механизм, — тоже.</a:t>
            </a:r>
          </a:p>
          <a:p>
            <a:r>
              <a:t>Почему такие заблуждения устойчивы именно у опытных пользователей? Практический опыт формирует модель в голове по наблюдениям, а наблюдения систематически подтверждают «почти правду»: strawberry действительно отвечается правильно, T=0 действительно даёт одинаковые ответы почти всегда, роль действительно ведёт себя как защищённая — пока никто не атакует. Каждое заблуждение — корректная экстраполяция честных наблюдений за границу, где механизм ломается; а границу в повседневной работе видно редко: она проявляется под нагрузкой, под атакой или в счёте за месяц. Ровно поэтому сегодняшняя лекция устроена как проверка границ, а не пересказ основ. К этому списку мы вернёмся в самом конце — и у каждой строки появится механизм.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вторая лекция курса, и у неё особый жанр. Обычно лекция «как работают LLM» рассказывается для тех, кто впервые слышит слова «токен» и «температура». У нас другая ситуация: вы — опытные пользователи, многие ежедневно пишут код с LLM-ассистентами. Основы вы знаете — возможно, несистемно; поэтому сегодняшний тон — систематизация и уточнение, а не открытие: «вы знали X — вот где граница X».</a:t>
            </a:r>
          </a:p>
          <a:p>
            <a:r>
              <a:t>Каркас лекции — конвейер inference: путь одного запроса от текста до ответа. Текст режется на токены, токены превращаются в векторы, механизм внимания решает, какие части контекста важны, из распределения вероятностей выбирается очередной токен — и цикл повторяется. Четыре стадии — четыре раздела; пятый раздел собирает конвейер целиком и добавляет карту местности: какие модели есть на сентябрь 2026 года и почему выбирать их по бенчмаркам — плохая идея.</a:t>
            </a:r>
          </a:p>
          <a:p>
            <a:r>
              <a:t>А поверх каркаса работает чек-лист, с которого мы начали: шесть правдоподобных ложных утверждений. Каждое закроется в том разделе, где живёт его механизм, и в финале мы соберём весь список заново — уже с ответами. Двинемся по карте.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Короткая карта маршрута, прежде чем погружаться. Лекция идёт вдоль конвейера inference: порядок разделов повторяет порядок стадий, через которые проходит каждый ваш запрос.</a:t>
            </a:r>
          </a:p>
          <a:p>
            <a:r>
              <a:t>Раздел 1 — токенизация: как модель видит текст. Здесь выяснится, почему «исправленный» strawberry ничего не доказывает, и начнётся разговор о том, что роли в запросе — это тоже токены. Раздел 2 — эмбеддинги: пространство смыслов, три разные вещи, которые называют одним словом «эмбеддинг», и граница, на которой семантическая похожесть перестаёт означать полезность. Раздел 3 — механизм внимания: почему роль работает — и почему подделанная роль работает так же; что на самом деле умеет окно в миллион токенов; откуда берётся экономика кэширования. Раздел 4 — сэмплинг: температура, причина, по которой T=0 не даёт детерминизма, и невидимые токены рассуждения, которые вы оплачиваете. Раздел 5 — сборка: конвейер целиком, карта моделей на сентябрь 2026 года, разбор того, почему бенчмаркам нельзя верить на слово, — и возврат к чек-листу с первого слайда, уже с механизмами.</a:t>
            </a:r>
          </a:p>
          <a:p>
            <a:r>
              <a:t>Маленькие метки на карточках — это позиции чек-листа: видно, в каком разделе закрывается каждое из шести утверждений; M2 закрывается в два шага — начало в Разделе 1, завершение в Разделе 3. Держите карту в голове — она не даст потеряться в деталях.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Фиксируем рамку — не «вспоминаем», а именно фиксируем известное. Лекция 1 дала слоистую картину: внизу модель, над ней цикл чата с системным промптом и историей, над чатом — агентный цикл, сверху — приложение. Модель там описана как stateless-инференс: на вход данные, на выход предсказание, без памяти между вызовами. Оттуда же у нас есть контекстное окно как ограничение, различие локальных и облачных моделей и три уровня причинности Пе́рла — всё это сегодня считается известным и используется без повторного вывода.</a:t>
            </a:r>
          </a:p>
          <a:p>
            <a:r>
              <a:t>С этим описанием мы умеем говорить о том, где модель находится в большей системе. Но вопрос «что именно происходит внутри этой функции между запросом и ответом» Лекция 1 сознательно оставила чёрным ящиком. Сегодня мы этот ящик разбираем — и всё, что произойдёт на этой лекции, происходит внутри одного-единственного слоя, нижнего. Чат, агенты, RAG и приложения строятся поверх и обсуждаются в Лекции 3 и дальше.</a:t>
            </a:r>
          </a:p>
          <a:p>
            <a:r>
              <a:t>Важно понимать жанр этого разбора. Мы не пересказываем устройство трансформера ради полноты — мы идём за границами: в каких местах внутреннее устройство модели меняет то, как вы строите промпты, агентов и решения. Каждый механизм в лекции выбран потому, что у него есть наблюдаемое инженерное следствие — в стоимости, скорости, качестве или воспроизводимости.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Центральный вопрос лекции звучит так: насколько точна ваша ментальная модель LLM — и какие из внутренних механизмов, которые вы знаете приблизительно, при точном понимании меняют то, как вы строите промпты, агентов и решения. Обратите внимание на слово «приблизительно». Эта лекция почти не сообщает опытному пользователю фактов вида «существует такая вещь, как токен» — вы это знаете. Она делает другое: проводит границы.</a:t>
            </a:r>
          </a:p>
          <a:p>
            <a:r>
              <a:t>Вы знаете, что токенизация есть, — мы покажем, где именно она ломает арифметику и почему «исправленный» strawberry ничего не доказывает. Вы знаете, что роль в промпте работает, — мы покажем механизм, из-за которого она работает, и его обратную сторону: тот же механизм делает роль подделываемой. Вы пользуетесь temperature=0 для воспроизводимости — мы покажем, почему воспроизводимости всё равно нет и сколько стоит её получить по-настоящему. Добавим к этому реальную цену невидимых токенов рассуждения и то, чем заменить веру в бенчмарки при выборе модели.</a:t>
            </a:r>
          </a:p>
          <a:p>
            <a:r>
              <a:t>Шесть строк под вопросом — это те же шесть утверждений чек-листа, переформулированные как обещания: на каждое к концу лекции будет ответ через конкретный механизм, а не через интуицию. Если по ходу покажется, что какой-то механизм не влияет на практику, — ловите меня на слове: таких мы сегодня не разбираем.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опорная схема всей лекции — конвейер inference, путь одного запроса от текста до ответа. Посмотрим на него целиком, до первого погружения; дальше мы будем возвращаться к нему на входе в каждый раздел.</a:t>
            </a:r>
          </a:p>
          <a:p>
            <a:r>
              <a:t>Слева — ваш текст. Первое преобразование — токенизация: текст режется на токены, идентификаторы из словаря модели; это Раздел 1. Дальше каждый токен превращается в вектор — список чисел, с которыми нейросеть умеет считать; это Раздел 2. В центре — сама модель: механизм внимания решает, какие части контекста важны для следующего шага; это Раздел 3. На выходе модель выдаёт не ответ, а распределение вероятностей по всему словарю; из него выбирается один очередной токен, он приклеивается к контексту — и цикл повторяется; это Раздел 4. Последний шаг — выбранные токены собираются обратно в текст.</a:t>
            </a:r>
          </a:p>
          <a:p>
            <a:r>
              <a:t>Главное наблюдение: слова существуют только на границах конвейера — на входе и на выходе. Всё внутри — операции над векторами.</a:t>
            </a:r>
          </a:p>
          <a:p>
            <a:r>
              <a:t>Эта ось — не только про сегодня. Все последующие лекции курса лягут на неё же: RAG — это управление тем, что попадает в контекст до конвейера; агенты — цикл вокруг конвейера; оптимизация стоимости — экономика конвейера. А шесть утверждений чек-листа закрываются по ходу движения по оси — каждое в том разделе, где живёт его механизм.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Входим в первую стадию конвейера — токенизацию. Это самый ближний к вам слой: именно с ним сталкивается текст, как только вы нажимаете «отправить». Текст не попадает в модель ни буквами, ни словами — он режется на токены, статистически частые подпоследовательности из словаря модели.</a:t>
            </a:r>
          </a:p>
          <a:p>
            <a:r>
              <a:t>Определение токена вы знаете, поэтому базу мы пройдём быстро и точно — она нужна как общий фундамент. Основное время раздела уйдёт на второй этаж: места, где частотная нарезка расходится со структурой ваших данных. Разберём, как роли system и user на самом деле попадают в модель — и почему это не защищённая структура. Посмотрим на диагноз 2026 года по классическому мему про подсчёт букв: что именно доказывает модель, которая проходит strawberry и ошибается на cranberry. Увидим, что токенизатор делает с числами и кодом и почему это ломает арифметику. Познакомимся с glitch-токенами — недообученными углами словаря, которые никуда не делись и в современных моделях. И закроем раздел экономикой: сколько стоит один и тот же текст на разных языках и что с этим делать при настройке лимитов.</a:t>
            </a:r>
          </a:p>
          <a:p>
            <a:r>
              <a:t>Общий принцип раздела: у каждой странности токенизации есть механизм, а у механизма — проверяемое инженерное следствие.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Зафиксируем точное определение — большинство знает его приблизительно, и именно приблизительность потом мешает. Токен — это идентификатор, целое число из словаря модели; словарь зафиксирован при обучении и не меняется в момент использования. Токен — не буква и не слово, а статистически частая подпоследовательность символов, выученная на корпусе. Частое английское `cat` попадает в словарь целиком; `tokenization` распадается на два токена; `клубника` — на три в том же словаре o200k_base. Размер словаря у современных моделей — порядка сотен тысяч записей: около 200 тысяч у семейства GPT-4o и новее, около 100 тысяч у предыдущих поколений, 128 256 у Llama 3 и новее. Рабочий ориентир стоимости: один токен — примерно четыре символа английского и примерно два символа русского текста.</a:t>
            </a:r>
          </a:p>
          <a:p>
            <a:r>
              <a:t>Одно уточнение, которое часто теряется: словарь и модель — два разных артефакта. Словарь строится отдельным алгоритмом на своём корпусе до обучения модели; модель потом учится работать с этим словарём на своём корпусе. Эта развязка — источник целого класса эффектов, к которым мы вернёмся в этом разделе.</a:t>
            </a:r>
          </a:p>
          <a:p>
            <a:r>
              <a:t>И ответ на резонный вопрос «почему не работать посимвольно»: экономика длины. Посимвольное представление удлиняет вход в три-пять раз, а стоимость внимания растёт с длиной квадратично — вчетверо длиннее вход означает в шестнадцать раз дороже слой внимания. Токенизация со всеми её артефактами — осознанно купленный компромисс, а не недосмотр, который «починят в следующей версии».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Алгоритм построения словарей большинства современных LLM — BPE, байт-парное кодирование. Это компромисс между двумя крайностями. Словарь из отдельных символов представит любой текст, но последовательности получаются длинными. Словарь из целых слов даёт короткие последовательности, но любое незнакомое слово — опечатка, неологизм, имя — выпадает. BPE сидит посередине: начинаем с алфавита, итеративно объединяем самые частые пары соседних единиц; после многих итераций в словаре есть и одиночные символы, и частые слоги, и целые высокочастотные слова.</a:t>
            </a:r>
          </a:p>
          <a:p>
            <a:r>
              <a:t>Ключевая инженерная деталь: словарь строится один раз, до обучения модели. На корпусе запускают BPE, фиксируют словарь и правила слияния — и всё; на inference токенизация — это выборка по готовой таблице за миллисекунды. Отсюда два следствия, которые пригодятся ниже: токенизатор режет по частотной статистике своего корпуса, и эта статистика может не совпадать со структурой вашей задачи; а раз словарь и модель обучаются на разных корпусах — в словаре могут остаться записи, которые модель почти не видела.</a:t>
            </a:r>
          </a:p>
          <a:p>
            <a:r>
              <a:t>Практически важно и другое: разные вендоры считают один и тот же текст по-разному — свои словари, таблицы слияния, обработка пробелов. Один документ у разных провайдеров даст разное число токенов, а значит, разную стоимость и разное заполнение окна. При переносе нагрузки между провайдерами пересчитывайте токен-бюджет: для моделей OpenAI токенизация эмулируется локально библиотекой tiktoken, для открытых моделей — библиотекой tokenizers; токенизатор Claude закрыт, но фактический расход виден в счётчиках любого ответа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знаете, что сообщения в API имеют роли: system, user, assistant. Опытные пользователи часто представляют роли как структурные поля — метаданные, которые модель получает «отдельным каналом». Такого канала не существует: роли — это те же токены в общем линейном потоке.</a:t>
            </a:r>
          </a:p>
          <a:p>
            <a:r>
              <a:t>Прежде чем список сообщений попадает в модель, он прогоняется через chat-шаблон — правило сборки одной плоской последовательности токенов из структурированного диалога. В формате ChatML, ставшем фактическим стандартом, сообщение оборачивается специальными токенами — служебными записями словаря, не встречающимися в обычном тексте. В экосистеме Hugging Face шаблон хранится буквально как Jinja-шаблон в файле настроек токенизатора — его можно открыть и прочитать. Деталь: имя роли — обычная строка после спецтокена, а не отдельный спецтокен; именно поэтому провайдеры добавляли новые роли без перевыпуска словаря. И практический след: локальная модель, запущенная с чужим chat-шаблоном, не выдаёт ошибку — она просто заметно глупеет; проверка шаблона — первый пункт диагностики.</a:t>
            </a:r>
          </a:p>
          <a:p>
            <a:r>
              <a:t>Следствие для всех, кто строит агентов: если роль — последовательность токенов, то текст, похожий на разметку роли, может попасть в поток из внешнего контента. Атаки класса Special Token Injection — подделка роли: в страницу или файл вставляют строку вида «начало реплики assistant», и модель в части случаев верит. Исследования показывают, что «кто говорит» модель определяет в значительной мере стилистически, а не по формальной метке. Защита строится на экранировании и детекции спецтокенов до подачи в модель. Здесь мы закрыли половину вопроса: роль — не защищённая структура. Почему она вообще работает — увидим в разделе про внимание; разбор prompt injection целиком — в Лекции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Мем «сколько r в strawberry» вы знаете; вероятно, знаете и то, что современные модели отвечают на него правильно. Вывод «значит, научились считать буквы» — ложный, и вот почему.</a:t>
            </a:r>
          </a:p>
          <a:p>
            <a:r>
              <a:t>Механизм — слепота к буквам. Слово приходит в модель как три токена, а не десять букв. Внутри выученного вектора токена нет поля «содержит r на такой-то позиции» — там статистика контекстов. Посимвольный подсчёт требует рассуждения поверх токенизированного представления — разворачивания слова по буквам или вызова кода; один прямой проход к надёжному ответу не приводит. Это структурное свойство конвейера.</a:t>
            </a:r>
          </a:p>
          <a:p>
            <a:r>
              <a:t>Теперь 2026 год. GPT-5.2 в декабре 2025-го всё ещё отвечал «две r». GPT-5.5, выпущенный в апреле 2026-го, проходит strawberry — но на вопрос «сколько r в cranberry» отвечает «две»; правильно — три. Проверим прямо сейчас на актуальной модели — спросите свою про cranberry. Диагноз красноречив: навык посимвольного счёта работал бы на любом слове; фикс, который чинит strawberry и не чинит cranberry, — точечный патч на вирусный вопрос. Для систематической проверки появился StrawberryBench — 847 вопросов в семи уровнях сложности.</a:t>
            </a:r>
          </a:p>
          <a:p>
            <a:r>
              <a:t>У явления есть имя: «рваный интеллект» — профиль способностей с резкими провалами рядом с пиками. Та же модель решает олимпиадную математику и проваливает подсчёт букв; на умножении GPT-4 без инструментов давал около 59% на трёхзначных числах, 4% на четырёхзначных и 0% на пятизначных. Урок переносим в практику: если модель прошла ваш тест — проверьте её на «cranberry вашей предметной области», структурно аналогичном, но незнаменитом примере. А для посимвольных операций и арифметики — внешний инструмент, не прямой проход.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компактных примера того, как частотная нарезка расходится со структурой данных, — числа и код.</a:t>
            </a:r>
          </a:p>
          <a:p>
            <a:r>
              <a:t>Числа. Токенизатор cl100k_base стандартизировал нарезку чисел чанками по три цифры слева направо: миллион превращается в группы, границы которых не совпадают с разрядами. Человек читает разряды справа налево — тысячи, миллионы; модель получает нерегулярные блоки — и это прямой источник части арифметических ошибок. Исследования подтверждают диагноз с обеих сторон: принудительная нарезка справа налево заметно улучшает численное рассуждение, а задача-специфичные схемы токенизации чисел давали до плюс тридцати трёх процентов точности на арифметике с большими числами относительно стандартной нарезки.</a:t>
            </a:r>
          </a:p>
          <a:p>
            <a:r>
              <a:t>Код. GPT-2 кодировал каждый пробел отступа отдельным токеном: строка на четвёртом уровне вложенности тратила шестнадцать токенов только на отступ. Токенизаторы поколения GPT-4 группируют пробелы в единые токены, целясь именно в Python-стиль. Это редкий случай, когда проблему токенизации починили изменением словаря, — полезный контраст к strawberry: словарь можно оптимизировать под частый класс входов, но нельзя совместить нарезку со структурой всех задач сразу.</a:t>
            </a:r>
          </a:p>
          <a:p>
            <a:r>
              <a:t>Три приёма на вынос. Значимые числа записывайте с разделителями разрядов — «1 234 567» вместо сплошной строки: разделители выравнивают границы токенов по разрядам. Любую арифметику важнее прикидки выносите в инструмент — модели прекрасно пишут код для вычислений, которые не могут выполнить сами. Для кода — единообразное форматирование и оценка бюджета по измерению на реальных файлах: средний ориентир «четыре символа на токен» для кода систематически врёт.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январе 2023 года исследователи, изучая кластеры в пространстве эмбеддингов GPT-моделей, наткнулись на группу странных записей словаря — строки вроде SolidGoldMagikarp: юзернеймы с Reddit, попавшие в корпус токенизатора при сборе данных. Модели вели себя на этих токенах аномально: не могли их повторить, отвечали невпопад, уходили от темы. Так были открыты glitch-токены — записи словаря, чьи эмбеддинги остались фактически недообученными.</a:t>
            </a:r>
          </a:p>
          <a:p>
            <a:r>
              <a:t>Механизм возвращает нас к развязке «словарь и модель — два разных артефакта». Строка может быть частой в корпусе, на котором строился словарь, и получить собственный токен — но почти не встречаться в корпусе, на котором потом обучалась модель. Эмбеддинг такого токена остаётся близким к случайной инициализации, и когда токен появляется на входе, модель работает с вектором, который ничего не значит в её выученной геометрии.</a:t>
            </a:r>
          </a:p>
          <a:p>
            <a:r>
              <a:t>Могло показаться, что это курьёз эпохи GPT-3. Данные 2026 года говорят обратное: по одной из оценок, порядка четырёх процентов записей словаря протестированных моделей — glitch-токены, а фреймворк GlitchMiner находит их градиентным поиском в десяти открытых LLM семейств Llama, Qwen, Gemma, Phi-3 и Mistral. Проблема воспроизводится во всех проверенных семействах, потому что она — не баг версии, а системное свойство конвейера, где словарь строится отдельно от модели; масштабом такое не чинится. Практический вывод скромный, но полезный: если модель неадекватна на входе с экзотическими строками — редкие идентификаторы, обфусцированный текст, необычный Unicode, — среди гипотез должна быть «на входе glitch-токен»; проверяется заменой строки на плейсхолдер.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 тот же по смыслу текст стоит разное число токенов в зависимости от языка — прямое следствие того, что BPE-словарь учится на корпусе с доминирующим английским. Ориентиры для токенизаторов GPT-семейства: английский — около 0.25 токена на символ, русский — около 0.5, китайский — около 0.8, Python-код — около 0.4. Итого запрос на русском обходится примерно вдвое дороже английского, с разбросом от полутора до двух с половиной раз, и контекстное окно расходуется вдвое быстрее: документ в 80 тысяч символов — это примерно 20 тысяч токенов на английском и 40 тысяч на русском.</a:t>
            </a:r>
          </a:p>
          <a:p>
            <a:r>
              <a:t>Динамика 2024–2026 годов: переход OpenAI на o200k_base снизил удельную стоимость нелатинских языков примерно на 35% — разрыв сокращается, но не исчезает: английский остаётся статистическим ядром корпусов. Для моделей с увеличенной долей русского в словаре — YandexGPT, GigaChat — разрыв меньше; это один из рациональных аргументов в их пользу для массовых русскоязычных нагрузок. Правило прежнее: при пакетной обработке больших объёмов оцените, допускает ли задача перевод на английский; в интерактивной работе разница обычно не оправдывает потери удобства.</a:t>
            </a:r>
          </a:p>
          <a:p>
            <a:r>
              <a:t>Языковой коэффициент протекает и туда, где о нём забывают. Разбиение документов на фрагменты для поиска настраивается в токенах — фрагмент «в 512 токенов» на русском вмещает вдвое меньше смысла, и пороги из англоязычных руководств для русской базы систематически малы. Лимит max_tokens — та же история: русский ответ длиннее в токенах, и обрезки на полуслове случаются чаще. Любой числовой параметр в токенах калибруйте на своём языке и своих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стадия пройдена: текст стал последовательностью идентификаторов из словаря. Но с самим числом нейросеть содержательно работать не может — между номерами токенов нет осмысленной арифметики. Вторая стадия конвейера превращает идентификаторы в представление, с которым можно считать, — векторы.</a:t>
            </a:r>
          </a:p>
          <a:p>
            <a:r>
              <a:t>План раздела такой. Сначала зафиксируем, что такое эмбеддинг: выборка вектора из входной таблицы модели — быстро, это база. Затем — главный систематизирующий ход раздела: слово «эмбеддинг» в инженерном обиходе означает три разные сущности, и их смешение — источник устойчивой путаницы даже у опытных практиков; разложим три жизни термина аккуратно. Дальше — пространство смыслов: как выучиваются координаты, почему близкие по смыслу тексты лежат рядом и как это измеряется косинусным сходством. После этого — единственный, но важный провал раздела: граница похожести, случай, когда высокое сходство приносит практически противоположный по смыслу документ, и что с этим делают в боевых системах поиска. И в конце соберём раздел: почему эмбеддинги — фундамент того, что модель «понимает» переформулировки, и что из этого следует для систем поиска и RAG, к которым мы придём в Лекции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Токен — это идентификатор из словаря, но с числом 48 213 нейросеть содержательно работать не может: между номерами токенов нет осмысленной арифметики. Эмбеддинг, векторное представление, — сопоставленный каждому токену словаря вектор фиксированной длины, список чисел с плавающей точкой, выученный на этапе обучения вместе с остальными весами. После обучения входная таблица «токен → вектор» зафиксирована; на inference модель делает выборку: получает идентификатор, забирает вектор, передаёт дальше.</a:t>
            </a:r>
          </a:p>
          <a:p>
            <a:r>
              <a:t>Главное свойство выученного пространства: геометрическая близость соответствует смысловой. «Кот» близко к «собаке», «SSL» близко к «HTTPS» — не потому, что кто-то это разметил, а потому, что эти слова встречались в похожих контекстах обучающего корпуса. Близость в этом пространстве — статистическое отражение употребления, а не семантический справочник. Размерность — гиперпараметр: у публичных embedding-моделей OpenAI — 1536 и 3072 измерения; внутренние размерности флагманских LLM не публикуются, порядок — тысячи.</a:t>
            </a:r>
          </a:p>
          <a:p>
            <a:r>
              <a:t>И одна оговорка для тех, кто будет работать с векторами руками. Представьте трёхмерное пространство, где близкие по употреблению слова — рядом, и растяните число измерений до тысяч. Интуиции близости в основном переносятся, но в пространствах высокой размерности действует концентрация меры: случайные точки оказываются примерно на одном расстоянии друг от друга, и «сырые» дистанции сжимаются в узкий диапазон. Поэтому абсолютные значения сходств малоинформативны сами по себе — информативны сравнения и распределения значений в вашей задаче. Это первая причина, по которой универсальных порогов сходства не существует; вторая, содержательная, — впереди.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Слово «эмбеддинг» в инженерном обиходе обозначает три разные сущности, и их смешение — источник устойчивой путаницы даже у опытных практиков. Разложим аккуратно — это три жизни термина.</a:t>
            </a:r>
          </a:p>
          <a:p>
            <a:r>
              <a:t>Жизнь первая: входная таблица — статическая таблица «токен → вектор» на входе LLM. Вектор токена «кот» в ней один и тот же в любом предложении. Жизнь вторая: контекстуальные представления. Последовательность входных векторов проходит через десятки слоёв внимания, и на каждом слое вектор каждой позиции обновляется с учётом окружения — на выходе вектор позиции «кот» уже не равен табличному, в него вмешан контекст. Именно эти представления несут «понимание» модели; входная таблица — лишь стартовая точка. Жизнь третья: когда вы вызываете embedding-API, вы получаете вектор целого текста от отдельной модели, специально обученной под поиск и сравнение. Это не внутренности вашего чат-LLM: embedding-модель для RAG — самостоятельный продукт, и чат-модель с embedding-моделью могут быть от разных вендоров — это нормальная практика.</a:t>
            </a:r>
          </a:p>
          <a:p>
            <a:r>
              <a:t>Правило разграничения: речь про стоимость и окно — это токены и входная таблица; про «что модель поняла» — контекстуальные представления; про поиск и векторные базы — выходные эмбеддинги отдельной модели.</a:t>
            </a:r>
          </a:p>
          <a:p>
            <a:r>
              <a:t>И типовые ошибки склейки, ради которых различение вводится. «У нас подписка на чат-модель — зачем платить за embedding-модель?» — затем, что чат-модель векторов для поиска не отдаёт. «Возьмём embedding-модель того же вендора — они совместимее» — совместимости здесь нет как категории: векторы сравниваются только друг с другом внутри одной embedding-модели, LLM их вовсе не видит. И зеркально: «обновили LLM — надо переиндексировать базу» — не надо; переиндексация нужна ровно тогда, когда меняется сама embedding-модель.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устроено пространство, в котором живут векторы. Каждая точка — токен или текст; координаты — те самые сотни или тысячи чисел. У измерений нет очевидного смысла «вверх-вниз»: это абстрактные направления, которые модель выучила из статистики. Цель обучения — устроить пространство так, чтобы единицы, встречавшиеся в похожих контекстах, лежали близко. «Как настроить SSL» и «Установка HTTPS-сертификата» окружены одними и теми же словами — «сертификат», «сервер», «домен» — и их векторы получаются близкими; «Деплой React-компонента» и «Сборка React-приложения» соседствуют со словами про фронтенд и сборку — и тоже оказываются рядом; а «Рецепт борща» живёт в совсем другой области пространства — одинокий выброс среди технических текстов. Структура возникает не из правил, а из миллионов примеров употребления.</a:t>
            </a:r>
          </a:p>
          <a:p>
            <a:r>
              <a:t>На картинке слева — двумерная проекция: два смысловых кластера и выброс — те же пять текстов встретятся дальше в таблице попарных сходств. Помните, что это упрощение: реальная проекция получается из пространства в тысячи измерений алгоритмами вроде метода главных компонент или t-SNE, которые выбирают две оси с максимумом различий. Любая плоская картинка теряет часть многомерной структуры — она годится для интуиции, не для выводов.</a:t>
            </a:r>
          </a:p>
          <a:p>
            <a:r>
              <a:t>И повторим оговорку, потому что она стоит денег на практике: в пространствах высокой размерности «сырые» расстояния сжимаются в узкий диапазон, и абсолютное значение сходства само по себе мало о чём говорит. Работают сравнения — «этот документ ближе того» — и распределения значений в вашей конкретной задаче. Универсального порога «выше 0.8 — значит похожи» не существует; порог калибруется эмпирически на ваших данных. Дальше посмотрим, как эта геометрия работает на целых предложениях — и где у неё проходит граница.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— что похожесть работает. Пять коротких текстов, парная таблица косинусных сходств на современной embedding-модели: синонимичные по задаче пары — «настроить SSL» и «установка HTTPS-сертификата» — около 0.85; тематически близкие React-тексты — около 0.78; борщ против любого технического — 0.05–0.15. Запрос «клубника» находит документы про strawberry и землянику без таблицы синонимов — это то, что эмбеддинги дают поверх полнотекстового поиска.</a:t>
            </a:r>
          </a:p>
          <a:p>
            <a:r>
              <a:t>Теперь граница — и это новый материал даже для тех, кто активно строит семантический поиск. Высокое косинусное сходство означает «об одном и том же», а не «об одном и том же с одинаковым смыслом». Пара «как настроить SSL» и «как отключить SSL» получает очень высокое сходство: одинаковая тема, лексика, синтаксическая рамка — а практический смысл противоположный. Эмбеддинг усредняет контекстную статистику всего текста; короткое отрицание или антонимичный глагол сдвигает вектор слабо. В проде это выглядит болезненно: пользователь спрашивает, как включить проверку сертификатов, поиск уверенно приносит статью, как её отключить, LLM в RAG-конвейере добросовестно пересказывает — и система с высокими метриками похожести выдаёт вредный совет.</a:t>
            </a:r>
          </a:p>
          <a:p>
            <a:r>
              <a:t>Инженерные ответы известны: реранкер — вторая модель, оценивающая пару «запрос-документ» целиком; гибрид с полнотекстовым поиском для точных терминов; фильтры и метаданные для направленных атрибутов. И приём диагностики: соберите проверочный набор пар «запрос → правильный документ» с намеренными ловушками — вкл/выкл, до/после, разные версии — и посмотрите, что стоит на первых позициях. Устройство RAG-конвейера целиком — Лекция 3; отсюда забираем принцип: косинусное сходство — про тематическую близость, релевантность — отдельная задача.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раздел. Модель работает не со словами и не со строками — она работает с векторами; слова существуют только на границах. На входе текст через токенизацию превращается в идентификаторы, через входную таблицу — в векторы; на выходе внутренний вектор через распределение и выбор токена возвращается в текст. Между человеческим вводом и человеческим выводом — путь полностью векторный.</a:t>
            </a:r>
          </a:p>
          <a:p>
            <a:r>
              <a:t>Это объясняет то, что мы интуитивно называем «пониманием». Когда вы спрашиваете «как настроить SSL», а потом «установка HTTPS-сертификата», модель отвечает похоже, потому что оба запроса попадают в близкие точки пространства. То же с синонимами и с межъязыковой близостью: «клубника» и strawberry — близкие векторы, и ответ корректен независимо от языка запроса.</a:t>
            </a:r>
          </a:p>
          <a:p>
            <a:r>
              <a:t>Практическая сторона: на одних и тех же векторах стоят три стандартных применения — поиск похожих, кластеризация без разметки и семантический поиск с RAG. Одна embedding-модель и один индекс обслуживают сразу несколько функций продукта, поэтому выбор embedding-модели — инфраструктурное решение, а смена — дорогая: означает переиндексацию всего хранилища. В боевых системах семантический поиск почти никогда не живёт один: рабочий стандарт — гибрид из полнотекстового индекса для точных совпадений, векторного для понятийной близости и реранкера сверху — прямое следствие границы похожести, которую мы только что разобрали. И помните: обратной операции у эмбеддинга нет — из вектора текст не восстанавливается, это одностороннее сжатие смысла. Как выбирать embedding-модель под язык и бюджет размерности — оставляю вам для самостоятельного чтения.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Сколько из этих утверждений </a:t>
            </a:r>
            <a:r>
              <a:rPr sz="3000" b="1" i="0">
                <a:solidFill>
                  <a:srgbClr val="F0AB00"/>
                </a:solidFill>
                <a:latin typeface="Arial"/>
              </a:rPr>
              <a:t>верны?</a:t>
            </a:r>
          </a:p>
        </p:txBody>
      </p:sp>
      <p:pic>
        <p:nvPicPr>
          <p:cNvPr id="3" name="Picture 2" descr="s01-blackbox-cra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298448"/>
            <a:ext cx="9052560" cy="467228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9467" y="1481328"/>
            <a:ext cx="4892040" cy="1389888"/>
          </a:xfrm>
          <a:prstGeom prst="roundRect">
            <a:avLst>
              <a:gd name="adj" fmla="val 219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7483" y="1984248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9547" y="1572768"/>
            <a:ext cx="4087368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«Современные модели уже научились считать буквы в словах — strawberry давно исправили»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0187" y="1481328"/>
            <a:ext cx="4892040" cy="1389888"/>
          </a:xfrm>
          <a:prstGeom prst="roundRect">
            <a:avLst>
              <a:gd name="adj" fmla="val 219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58203" y="1984248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0267" y="1572768"/>
            <a:ext cx="4087368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«Роль system защищена архитектурно — подделать её из пользовательского ввода нельзя»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467" y="3072384"/>
            <a:ext cx="4892040" cy="1389888"/>
          </a:xfrm>
          <a:prstGeom prst="roundRect">
            <a:avLst>
              <a:gd name="adj" fmla="val 219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7483" y="3575304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9547" y="3163824"/>
            <a:ext cx="4087368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«Окно в миллион токенов — значит, модель одинаково хорошо работает со всем этим объёмом»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0187" y="3072384"/>
            <a:ext cx="4892040" cy="1389888"/>
          </a:xfrm>
          <a:prstGeom prst="roundRect">
            <a:avLst>
              <a:gd name="adj" fmla="val 219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58203" y="3575304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0267" y="3163824"/>
            <a:ext cx="4087368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«temperature=0 даёт детерминированный ответ: одинаковый запрос — одинаковый результат»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9467" y="4663440"/>
            <a:ext cx="4892040" cy="1389888"/>
          </a:xfrm>
          <a:prstGeom prst="roundRect">
            <a:avLst>
              <a:gd name="adj" fmla="val 219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7483" y="5166359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547" y="4754879"/>
            <a:ext cx="4087368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«Reasoning-токены не видны в ответе — значит, они и не оплачиваются»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0187" y="4663440"/>
            <a:ext cx="4892040" cy="1389888"/>
          </a:xfrm>
          <a:prstGeom prst="roundRect">
            <a:avLst>
              <a:gd name="adj" fmla="val 219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58203" y="5166359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0267" y="4754879"/>
            <a:ext cx="4087368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«Бенчмарки — надёжный способ выбрать модель»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84280" y="6547104"/>
            <a:ext cx="731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66760" y="274320"/>
            <a:ext cx="3749039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23000" b="1" i="0">
                <a:ln w="33020">
                  <a:solidFill>
                    <a:srgbClr val="F0AB00"/>
                  </a:solidFill>
                </a:ln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2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8638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Как работают современные
большие модели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160520"/>
            <a:ext cx="45720" cy="56692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160520"/>
            <a:ext cx="9692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Проверяем ментальную модель: конвейер inference и шесть границ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[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9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токен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09928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13432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0.21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вектор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54680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58184" y="5257800"/>
            <a:ext cx="713232" cy="713232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6704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внимание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599432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2936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1456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распределение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84280" y="6547104"/>
            <a:ext cx="731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лекции — 6 разделов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3727" y="1234440"/>
            <a:ext cx="11064240" cy="7680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327" y="1234440"/>
            <a:ext cx="5486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0AB00"/>
                </a:solidFill>
                <a:latin typeface="Arial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3847" y="1234440"/>
            <a:ext cx="8321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Введение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чек-лист, рамка и конвейер целиком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2112264"/>
            <a:ext cx="11064240" cy="7680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2112264"/>
            <a:ext cx="5486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3847" y="2112264"/>
            <a:ext cx="8321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Токенизация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как модель видит ваш текст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65511" y="2350008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32439" y="2350008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3727" y="2990088"/>
            <a:ext cx="11064240" cy="7680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327" y="2990088"/>
            <a:ext cx="5486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3847" y="2990088"/>
            <a:ext cx="8321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Эмбеддинги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пространство смыслов и граница похожести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3727" y="3867912"/>
            <a:ext cx="11064240" cy="7680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327" y="3867912"/>
            <a:ext cx="5486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3847" y="3867912"/>
            <a:ext cx="8321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Механизм внимания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что важно сейчас: роли, кэш, длинный контекст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65511" y="4105656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32439" y="4105656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3727" y="4745736"/>
            <a:ext cx="11064240" cy="7680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327" y="4745736"/>
            <a:ext cx="5486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3847" y="4745736"/>
            <a:ext cx="8321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Сэмплинг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от распределения к токену: температура, детерминизм, невидимые токены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65511" y="4983480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832439" y="4983480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3727" y="5623560"/>
            <a:ext cx="11064240" cy="7680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327" y="5623560"/>
            <a:ext cx="5486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3847" y="5623560"/>
            <a:ext cx="832104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Финал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сборка конвейера, ландшафт моделей, чек-лист заново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832439" y="5861304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84280" y="6547104"/>
            <a:ext cx="731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Фиксируем рамку: всё сегодняшнее — внутри слоя «модель»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600200"/>
            <a:ext cx="502920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550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2606040"/>
            <a:ext cx="4206240" cy="3566160"/>
          </a:xfrm>
          <a:prstGeom prst="roundRect">
            <a:avLst>
              <a:gd name="adj" fmla="val 854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66090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Агент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3611880"/>
            <a:ext cx="3383280" cy="2560320"/>
          </a:xfrm>
          <a:prstGeom prst="roundRect">
            <a:avLst>
              <a:gd name="adj" fmla="val 11904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00200" y="3666744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4617720"/>
            <a:ext cx="2560320" cy="1554480"/>
          </a:xfrm>
          <a:prstGeom prst="roundRect">
            <a:avLst>
              <a:gd name="adj" fmla="val 19607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672583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Модель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548640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Известное: </a:t>
            </a:r>
            <a:r>
              <a:rPr sz="1550" b="0" i="0">
                <a:solidFill>
                  <a:srgbClr val="21295C"/>
                </a:solidFill>
                <a:latin typeface="Arial"/>
              </a:rPr>
              <a:t>модель — stateless-инференс: на вход данные, на выход предсказание, без памяти между вызовами.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657600"/>
            <a:ext cx="5486400" cy="14630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8404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Сегодня: </a:t>
            </a:r>
            <a:r>
              <a:rPr sz="1550" b="0" i="0">
                <a:solidFill>
                  <a:srgbClr val="21295C"/>
                </a:solidFill>
                <a:latin typeface="Arial"/>
              </a:rPr>
              <a:t>границы точного понимания того, что внутри этого инференса.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547104"/>
            <a:ext cx="731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Центральный вопрос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90879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325880"/>
            <a:ext cx="102870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«Насколько точна ваша ментальная модель LLM — и какие из внутренних механизмов, которые вы знаете приблизительно, при точном понимании меняют то, как вы строите промпты, агентов и решения?»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8571" y="3520440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4875" y="3685032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2619" y="3593592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почему исправленный strawberry ничего не доказывает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9051" y="3520440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45355" y="3685032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3099" y="3593592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почему роль работает — и подделывается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9531" y="3520440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85835" y="3685032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23579" y="3593592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что на деле умеет окно 1M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8571" y="4828032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4875" y="4992624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619" y="4901184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почему T=0 не даёт одинаковых ответов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9051" y="4828032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45355" y="4992624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3099" y="4901184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сколько стоят невидимые токены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9531" y="4828032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85835" y="4992624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3579" y="4901184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чем заменить веру в бенчмарки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84280" y="6547104"/>
            <a:ext cx="731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Поток данных в LLM — туда и обратно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0847" y="1600200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5983" y="1709928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9407" y="2167128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«Привет»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3687" y="2907792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слова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806005" y="2144268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52893" y="1600200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98029" y="1709928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1453" y="2167128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[Прив][ет]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15733" y="2907792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id из словаря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78051" y="2144268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4939" y="1600200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0075" y="1709928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3499" y="2167128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vec₁, vec₂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7779" y="2907792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числа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150096" y="2144268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96984" y="1600200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2120" y="1709928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5544" y="2167128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внимание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9824" y="2907792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инференс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22142" y="2144268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69030" y="1600200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4166" y="1709928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7590" y="2167128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 i="0">
                <a:solidFill>
                  <a:srgbClr val="065A82"/>
                </a:solidFill>
                <a:latin typeface="Liberation Mono"/>
              </a:rPr>
              <a:t>p(токен | контекст)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31870" y="2907792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вероятности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494188" y="2144268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741076" y="1600200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212" y="1709928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9636" y="2167128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выбран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03916" y="2907792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выбор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0166233" y="2144268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413121" y="1600200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58257" y="1709928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21681" y="2167128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ответ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75961" y="2907792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обратно в текст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9135" y="3794760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9135" y="3904488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9135" y="425196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Текст → Токены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7783" y="3794760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97783" y="3904488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7783" y="425196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Токены → Векторы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96431" y="3794760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96431" y="3904488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6431" y="425196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LLM: внимание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95079" y="3794760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95079" y="3904488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95079" y="425196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Распределение → Токен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468880" y="5166360"/>
            <a:ext cx="7251192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51760" y="5221224"/>
            <a:ext cx="6885431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Слова — только на границах; внутри — векторы.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84280" y="6547104"/>
            <a:ext cx="731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Токенизация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690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«Как модель видит ваш текст»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3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Векторы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547104"/>
            <a:ext cx="731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Токен — id из словаря модели: не буква и не слово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00200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09928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cat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[cat]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1 токен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24328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734056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tokenization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[token]</a:t>
            </a:r>
            <a:r>
              <a:rPr sz="1600" b="1" i="0">
                <a:solidFill>
                  <a:srgbClr val="028090"/>
                </a:solidFill>
                <a:latin typeface="Liberation Mono"/>
              </a:rPr>
              <a:t>[ization]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2 токена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48456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758184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клубника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[к]</a:t>
            </a:r>
            <a:r>
              <a:rPr sz="1600" b="1" i="0">
                <a:solidFill>
                  <a:srgbClr val="028090"/>
                </a:solidFill>
                <a:latin typeface="Liberation Mono"/>
              </a:rPr>
              <a:t>[луб]</a:t>
            </a:r>
            <a:r>
              <a:rPr sz="1600" b="1" i="0">
                <a:solidFill>
                  <a:srgbClr val="1C7293"/>
                </a:solidFill>
                <a:latin typeface="Liberation Mono"/>
              </a:rPr>
              <a:t>[ника]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3 токена (o200k_base)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92040"/>
            <a:ext cx="1051560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46903"/>
            <a:ext cx="1014984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«В среднем: 1 токен ≈ 4 символа EN ≈ 2 символа RU»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Словарь и модель — два разных артефакта: словарь строится до обучения модели, отдельным алгоритмом на своём корпусе.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547104"/>
            <a:ext cx="731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BPE — компромисс между алфавитом и словарём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Не все буквы (длинно) и не все слова (незнакомое выпадает) — частые подпоследовательности.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74519"/>
            <a:ext cx="4297680" cy="2514600"/>
          </a:xfrm>
          <a:prstGeom prst="roundRect">
            <a:avLst>
              <a:gd name="adj" fmla="val 1212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039112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Обучающий корпус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374903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newest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widest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532120" y="2903220"/>
            <a:ext cx="100584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0" y="1874519"/>
            <a:ext cx="4297680" cy="251460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039112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28090"/>
                </a:solidFill>
                <a:latin typeface="Arial"/>
              </a:rPr>
              <a:t>BPE-словарь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560320"/>
            <a:ext cx="374903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028090"/>
                </a:solidFill>
                <a:latin typeface="Liberation Mono"/>
              </a:rPr>
              <a:t>er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21295C"/>
                </a:solidFill>
                <a:latin typeface="Liberation Mono"/>
              </a:rPr>
              <a:t>new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028090"/>
                </a:solidFill>
                <a:latin typeface="Liberation Mono"/>
              </a:rPr>
              <a:t>est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21295C"/>
                </a:solidFill>
                <a:latin typeface="Liberation Mono"/>
              </a:rPr>
              <a:t>wid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250" b="0" i="1">
                <a:solidFill>
                  <a:srgbClr val="6B7685"/>
                </a:solidFill>
                <a:latin typeface="Arial"/>
              </a:rPr>
              <a:t>+ одиночные символы, частые слоги, целые слова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709160"/>
            <a:ext cx="1024128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764024"/>
            <a:ext cx="987551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Словарь строится один раз до обучения; на inference — выборка готовых правил, не вычисление.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1500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Разные вендоры режут один и тот же текст по-разному: Claude, GPT, Gemini — свои словари и правила.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547104"/>
            <a:ext cx="731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Роли system/user/assistant — те же токены в общем потоке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5989320" cy="1325880"/>
          </a:xfrm>
          <a:prstGeom prst="roundRect">
            <a:avLst>
              <a:gd name="adj" fmla="val 2298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Структурированный диалог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Liberation Mono"/>
              </a:rPr>
              <a:t>{ "role": "system",  "content": "Ты помощник…" }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 i="0">
                <a:solidFill>
                  <a:srgbClr val="21295C"/>
                </a:solidFill>
                <a:latin typeface="Liberation Mono"/>
              </a:rPr>
              <a:t>{ "role": "user",  "content": "Объясни…" }</a:t>
            </a:r>
          </a:p>
        </p:txBody>
      </p:sp>
      <p:sp>
        <p:nvSpPr>
          <p:cNvPr id="6" name="Down Arrow 5"/>
          <p:cNvSpPr/>
          <p:nvPr/>
        </p:nvSpPr>
        <p:spPr>
          <a:xfrm>
            <a:off x="3246120" y="2944368"/>
            <a:ext cx="411480" cy="502920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94760" y="30175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chat-шаблон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11880"/>
            <a:ext cx="59893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730752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Плоский поток токенов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5577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Liberation Mono"/>
              </a:rPr>
              <a:t>&lt;|im_start|&gt;system</a:t>
            </a:r>
            <a:r>
              <a:rPr sz="1250" b="0" i="0">
                <a:solidFill>
                  <a:srgbClr val="21295C"/>
                </a:solidFill>
                <a:latin typeface="Liberation Mono"/>
              </a:rPr>
              <a:t> Ты помощник… </a:t>
            </a:r>
            <a:r>
              <a:rPr sz="1250" b="1" i="0">
                <a:solidFill>
                  <a:srgbClr val="028090"/>
                </a:solidFill>
                <a:latin typeface="Liberation Mono"/>
              </a:rPr>
              <a:t>&lt;|im_end|&gt;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1" i="0">
                <a:solidFill>
                  <a:srgbClr val="028090"/>
                </a:solidFill>
                <a:latin typeface="Liberation Mono"/>
              </a:rPr>
              <a:t>&lt;|im_start|&gt;user</a:t>
            </a:r>
            <a:r>
              <a:rPr sz="1250" b="0" i="0">
                <a:solidFill>
                  <a:srgbClr val="21295C"/>
                </a:solidFill>
                <a:latin typeface="Liberation Mono"/>
              </a:rPr>
              <a:t> Объясни… </a:t>
            </a:r>
            <a:r>
              <a:rPr sz="1250" b="1" i="0">
                <a:solidFill>
                  <a:srgbClr val="028090"/>
                </a:solidFill>
                <a:latin typeface="Liberation Mono"/>
              </a:rPr>
              <a:t>&lt;|im_end|&gt;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1508760"/>
            <a:ext cx="4892040" cy="3520440"/>
          </a:xfrm>
          <a:prstGeom prst="roundRect">
            <a:avLst>
              <a:gd name="adj" fmla="val 6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86600" y="173736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Подделка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240280"/>
            <a:ext cx="4389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Внешний контент (веб-страница, файл, письмо) со строкой, похожей на разметку роли, вливается в тот же поток токенов — отдельного «защищённого канала» для ролей нет.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443484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Liberation Mono"/>
              </a:rPr>
              <a:t>&lt;|im_start|&gt;assistant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— из письма?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064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Почему роль при этом работает — и почему подделанная работает так же — вторая половина ответа в разделе про внимание.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547104"/>
            <a:ext cx="731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GPT-5.5 отвечает на strawberry — и ошибается на cranberry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5120640" cy="3456432"/>
          </a:xfrm>
          <a:prstGeom prst="roundRect">
            <a:avLst>
              <a:gd name="adj" fmla="val 881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Механизм — слепота к буквам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1295C"/>
                </a:solidFill>
                <a:latin typeface="Liberation Mono"/>
              </a:rPr>
              <a:t>strawberry</a:t>
            </a:r>
            <a:r>
              <a:rPr sz="1700" b="0" i="0">
                <a:solidFill>
                  <a:srgbClr val="6B7685"/>
                </a:solidFill>
                <a:latin typeface="Arial"/>
              </a:rPr>
              <a:t>  →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700" b="1" i="0">
                <a:solidFill>
                  <a:srgbClr val="065A82"/>
                </a:solidFill>
                <a:latin typeface="Liberation Mono"/>
              </a:rPr>
              <a:t>[st]</a:t>
            </a:r>
            <a:r>
              <a:rPr sz="1700" b="1" i="0">
                <a:solidFill>
                  <a:srgbClr val="028090"/>
                </a:solidFill>
                <a:latin typeface="Liberation Mono"/>
              </a:rPr>
              <a:t>[raw]</a:t>
            </a:r>
            <a:r>
              <a:rPr sz="1700" b="1" i="0">
                <a:solidFill>
                  <a:srgbClr val="1C7293"/>
                </a:solidFill>
                <a:latin typeface="Liberation Mono"/>
              </a:rPr>
              <a:t>[berry]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1295C"/>
                </a:solidFill>
                <a:latin typeface="Arial"/>
              </a:rPr>
              <a:t>Модель видит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3 токена</a:t>
            </a:r>
            <a:r>
              <a:rPr sz="1700" b="0" i="0">
                <a:solidFill>
                  <a:srgbClr val="21295C"/>
                </a:solidFill>
                <a:latin typeface="Arial"/>
              </a:rPr>
              <a:t>, не 10 букв.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554480"/>
            <a:ext cx="5760720" cy="10058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645920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GPT-5.2 · дек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984248"/>
            <a:ext cx="5349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«в strawberry две r»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706624"/>
            <a:ext cx="5760720" cy="10058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798064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GPT-5.5 · апр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3136391"/>
            <a:ext cx="5349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strawberry ✓  /  cranberry ✗ — «две r» вместо трёх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3858768"/>
            <a:ext cx="5760720" cy="10058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950207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StrawberryBench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4288536"/>
            <a:ext cx="5349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847 вопросов, 7 уровней сложности — системная проверка вместо вирусного вопроса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5780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31266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«Рваный интеллект» (jagged intelligence): успех на впечатляющей задаче ≠ надёжность на простой.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547104"/>
            <a:ext cx="731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Токенизатор режет по частоте, а не по структуре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5486400" cy="3063240"/>
          </a:xfrm>
          <a:prstGeom prst="roundRect">
            <a:avLst>
              <a:gd name="adj" fmla="val 995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19072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Числа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4983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 i="0">
                <a:solidFill>
                  <a:srgbClr val="21295C"/>
                </a:solidFill>
                <a:latin typeface="Liberation Mono"/>
              </a:rPr>
              <a:t>1000000</a:t>
            </a:r>
            <a:r>
              <a:rPr sz="1700" b="0" i="0">
                <a:solidFill>
                  <a:srgbClr val="6B7685"/>
                </a:solidFill>
                <a:latin typeface="Arial"/>
              </a:rPr>
              <a:t> → </a:t>
            </a:r>
            <a:r>
              <a:rPr sz="1700" b="1" i="0">
                <a:solidFill>
                  <a:srgbClr val="065A82"/>
                </a:solidFill>
                <a:latin typeface="Liberation Mono"/>
              </a:rPr>
              <a:t>[100]</a:t>
            </a:r>
            <a:r>
              <a:rPr sz="1700" b="1" i="0">
                <a:solidFill>
                  <a:srgbClr val="028090"/>
                </a:solidFill>
                <a:latin typeface="Liberation Mono"/>
              </a:rPr>
              <a:t>[000]</a:t>
            </a:r>
            <a:r>
              <a:rPr sz="1700" b="1" i="0">
                <a:solidFill>
                  <a:srgbClr val="1C7293"/>
                </a:solidFill>
                <a:latin typeface="Liberation Mono"/>
              </a:rPr>
              <a:t>[0]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>Чанки по 3 цифры слева направо ≠ разряды.</a:t>
            </a:r>
          </a:p>
          <a:p>
            <a:pPr algn="l">
              <a:lnSpc>
                <a:spcPct val="122000"/>
              </a:lnSpc>
              <a:spcBef>
                <a:spcPts val="10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Нарезка справа налево улучшает арифметику; задача-специфичные схемы — </a:t>
            </a:r>
            <a:r>
              <a:rPr sz="1550" b="1" i="0">
                <a:solidFill>
                  <a:srgbClr val="F0AB00"/>
                </a:solidFill>
                <a:latin typeface="Arial"/>
              </a:rPr>
              <a:t>до +33% точности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к стандартной нарезке.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486400" cy="3063240"/>
          </a:xfrm>
          <a:prstGeom prst="roundRect">
            <a:avLst>
              <a:gd name="adj" fmla="val 995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19072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Код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286000"/>
            <a:ext cx="4983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GPT-2: </a:t>
            </a:r>
            <a:r>
              <a:rPr sz="1550" b="1" i="0">
                <a:solidFill>
                  <a:srgbClr val="065A82"/>
                </a:solidFill>
                <a:latin typeface="Arial"/>
              </a:rPr>
              <a:t>16 токенов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отступ 4-го уровня.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1500" b="1" i="0">
                <a:solidFill>
                  <a:srgbClr val="21295C"/>
                </a:solidFill>
                <a:latin typeface="Arial"/>
              </a:rPr>
              <a:t>GPT-4: </a:t>
            </a:r>
            <a:r>
              <a:rPr sz="1500" b="0" i="0">
                <a:solidFill>
                  <a:srgbClr val="21295C"/>
                </a:solidFill>
                <a:latin typeface="Arial"/>
              </a:rPr>
              <a:t>пробелы группами — словарь чинится, но не под все задачи сразу.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5147" y="4983480"/>
            <a:ext cx="3611880" cy="7772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307" y="5056632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Разделители разрядов («1 234 567»)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9907" y="4983480"/>
            <a:ext cx="3611880" cy="7772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7067" y="5056632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Вычисления — в инструмент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4667" y="4983480"/>
            <a:ext cx="3611880" cy="7772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1827" y="5056632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Единообразные отступы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547104"/>
            <a:ext cx="731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Порядка 4% словаря — glitch-токены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361188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64792"/>
            <a:ext cx="3154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Liberation Mono"/>
              </a:rPr>
              <a:t>SolidGoldMagikarp (2023)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31546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Юзернейм с Reddit, попавший в словарь GPT: модель не могла его повторить, отвечала невпопад.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00200"/>
            <a:ext cx="3611880" cy="3383280"/>
          </a:xfrm>
          <a:prstGeom prst="roundRect">
            <a:avLst>
              <a:gd name="adj" fmla="val 9009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764792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Механизм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2240280"/>
            <a:ext cx="31546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корпус словаря ≠ корпус модели</a:t>
            </a:r>
          </a:p>
          <a:p>
            <a:pPr algn="ctr">
              <a:lnSpc>
                <a:spcPct val="115000"/>
              </a:lnSpc>
              <a:spcBef>
                <a:spcPts val="400"/>
              </a:spcBef>
            </a:pPr>
            <a:r>
              <a:rPr sz="1600" b="1" i="0">
                <a:solidFill>
                  <a:srgbClr val="028090"/>
                </a:solidFill>
                <a:latin typeface="Arial"/>
              </a:rPr>
              <a:t>↓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эмбеддинг токена* остаётся у случайной инициализации</a:t>
            </a:r>
          </a:p>
          <a:p>
            <a:pPr algn="ctr">
              <a:lnSpc>
                <a:spcPct val="115000"/>
              </a:lnSpc>
              <a:spcBef>
                <a:spcPts val="400"/>
              </a:spcBef>
            </a:pPr>
            <a:r>
              <a:rPr sz="1600" b="1" i="0">
                <a:solidFill>
                  <a:srgbClr val="028090"/>
                </a:solidFill>
                <a:latin typeface="Arial"/>
              </a:rPr>
              <a:t>↓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вектор «ничего не значит» в выученной геометрии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050" b="0" i="1">
                <a:solidFill>
                  <a:srgbClr val="6B7685"/>
                </a:solidFill>
                <a:latin typeface="Arial"/>
              </a:rPr>
              <a:t>* числовой вектор токена; подробно — следующий раздел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600200"/>
            <a:ext cx="361188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764792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GlitchMiner (AAAI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240280"/>
            <a:ext cx="31546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0AB00"/>
                </a:solidFill>
                <a:latin typeface="Arial"/>
              </a:rPr>
              <a:t>порядка 4% словаря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по одной из оценок;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>воспроизводится в открытых семействах Llama, Qwen, Gemma, Phi-3, Mistral.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4924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404103"/>
            <a:ext cx="1083564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Системная особенность конвейера, не баг версии.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547104"/>
            <a:ext cx="731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Русский текст стоит ≈2× дороже английского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66751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tokens-per-char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10512"/>
            <a:ext cx="6309360" cy="3605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470724"/>
            <a:ext cx="6309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словари GPT-семейства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554480"/>
            <a:ext cx="4251960" cy="2011680"/>
          </a:xfrm>
          <a:prstGeom prst="roundRect">
            <a:avLst>
              <a:gd name="adj" fmla="val 15151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737360"/>
            <a:ext cx="3794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Переход на o200k_base: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>примерно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−35%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нелатинским языкам — разрыв сокращается, но не исчезает.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3794760"/>
            <a:ext cx="4251960" cy="1920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3849624"/>
            <a:ext cx="3886200" cy="1810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Любой лимит в токенах калибруйте на своём языке: разбиение на фрагменты, max_tokens, окно.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547104"/>
            <a:ext cx="731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Эмбеддинги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690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«Пространство смыслов — и граница похожести»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1 провал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547104"/>
            <a:ext cx="731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Каждому токену — вектор из входной таблицы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731520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1005840" cy="5669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Liberation Mono"/>
              </a:rPr>
              <a:t>[кот]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011680" y="2944368"/>
            <a:ext cx="5029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0" y="1901952"/>
            <a:ext cx="2377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входная таблица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7480" y="228600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39" y="228600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97480" y="2788920"/>
            <a:ext cx="1005840" cy="457200"/>
          </a:xfrm>
          <a:prstGeom prst="rect">
            <a:avLst/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49039" y="2788920"/>
            <a:ext cx="1005840" cy="457200"/>
          </a:xfrm>
          <a:prstGeom prst="rect">
            <a:avLst/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97480" y="329184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49039" y="329184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278892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Liberation Mono"/>
              </a:rPr>
              <a:t>[кот]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78892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28090"/>
                </a:solidFill>
                <a:latin typeface="Arial"/>
              </a:rPr>
              <a:t>→ вектор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029200" y="2944368"/>
            <a:ext cx="5029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23560" y="2670048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Liberation Mono"/>
              </a:rPr>
              <a:t>[ 0.21, −0.45,
0.88, …, 0.13 ]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6908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выучен на тренировке вместе с остальными весами; после обучения таблица фиксирована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783080"/>
            <a:ext cx="3611880" cy="2788920"/>
          </a:xfrm>
          <a:prstGeom prst="roundRect">
            <a:avLst>
              <a:gd name="adj" fmla="val 10928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9659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Размерности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377440"/>
            <a:ext cx="31546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Liberation Mono"/>
              </a:rPr>
              <a:t>text-embedding-3-small — 1536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300" b="0" i="0">
                <a:solidFill>
                  <a:srgbClr val="21295C"/>
                </a:solidFill>
                <a:latin typeface="Liberation Mono"/>
              </a:rPr>
              <a:t>text-embedding-3-large — 3072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1">
                <a:solidFill>
                  <a:srgbClr val="6B7685"/>
                </a:solidFill>
                <a:latin typeface="Arial"/>
              </a:rPr>
              <a:t>внутренние размерности флагманов не публикуются; порядок — тысячи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74920"/>
            <a:ext cx="11201400" cy="8229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29783"/>
            <a:ext cx="10835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«Геометрическая близость = смысловая близость»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84280" y="6547104"/>
            <a:ext cx="731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«Эмбеддинг» — это три разные сущности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5147" y="1554480"/>
            <a:ext cx="361188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3747" y="17190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3747" y="2423160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Входная таблица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324612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Статическая: вектор [кот] один и тот же в любом предложении. Выборка по id, контекста ещё нет.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9907" y="1554480"/>
            <a:ext cx="361188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8507" y="17190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8507" y="2423160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Контекстуальные представления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8507" y="324612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 слоёв внимания: вектор каждой позиции обновлён с учётом окружения. Именно они несут «понимание» модели.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4667" y="1554480"/>
            <a:ext cx="3611880" cy="3246120"/>
          </a:xfrm>
          <a:prstGeom prst="roundRect">
            <a:avLst>
              <a:gd name="adj" fmla="val 6000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3267" y="17190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0AB00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3267" y="2423160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Векторы для поиска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267" y="324612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Вектор целого текста от отдельной embedding-модели — не внутренности вашего чат-LLM. Свой продукт, своё обучение, свои лидерборды.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267" y="436168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Arial"/>
              </a:rPr>
              <a:t>самая частая путаница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6636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22122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Обновили LLM → переиндексировать базу НЕ надо: индекс живёт в координатах embedding-модели.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547104"/>
            <a:ext cx="731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Близкие по смыслу токены лежат рядом — в сотнях-тысячах измерений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612648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18488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6B7685"/>
                </a:solidFill>
                <a:latin typeface="Arial"/>
              </a:rPr>
              <a:t>2D-проекция (PCA-стиль)</a:t>
            </a:r>
          </a:p>
        </p:txBody>
      </p:sp>
      <p:sp>
        <p:nvSpPr>
          <p:cNvPr id="5" name="Oval 4"/>
          <p:cNvSpPr/>
          <p:nvPr/>
        </p:nvSpPr>
        <p:spPr>
          <a:xfrm>
            <a:off x="960120" y="2148840"/>
            <a:ext cx="2651760" cy="1417320"/>
          </a:xfrm>
          <a:prstGeom prst="ellipse">
            <a:avLst/>
          </a:prstGeom>
          <a:noFill/>
          <a:ln w="1524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703320" y="3703320"/>
            <a:ext cx="2743200" cy="1417320"/>
          </a:xfrm>
          <a:prstGeom prst="ellipse">
            <a:avLst/>
          </a:prstGeom>
          <a:noFill/>
          <a:ln w="1524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17320" y="2514600"/>
            <a:ext cx="310896" cy="310896"/>
          </a:xfrm>
          <a:prstGeom prst="ellipse">
            <a:avLst/>
          </a:prstGeom>
          <a:solidFill>
            <a:srgbClr val="065A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2395728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Как настроить SSL</a:t>
            </a:r>
          </a:p>
        </p:txBody>
      </p:sp>
      <p:sp>
        <p:nvSpPr>
          <p:cNvPr id="9" name="Oval 8"/>
          <p:cNvSpPr/>
          <p:nvPr/>
        </p:nvSpPr>
        <p:spPr>
          <a:xfrm>
            <a:off x="2103120" y="3017520"/>
            <a:ext cx="310896" cy="310896"/>
          </a:xfrm>
          <a:prstGeom prst="ellipse">
            <a:avLst/>
          </a:prstGeom>
          <a:solidFill>
            <a:srgbClr val="065A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95728" y="2907792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Установка
HTTPS-сертификата</a:t>
            </a:r>
          </a:p>
        </p:txBody>
      </p:sp>
      <p:sp>
        <p:nvSpPr>
          <p:cNvPr id="11" name="Oval 10"/>
          <p:cNvSpPr/>
          <p:nvPr/>
        </p:nvSpPr>
        <p:spPr>
          <a:xfrm>
            <a:off x="4160520" y="4069080"/>
            <a:ext cx="310896" cy="310896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2272" y="3950208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Деплой React-компонента</a:t>
            </a:r>
          </a:p>
        </p:txBody>
      </p:sp>
      <p:sp>
        <p:nvSpPr>
          <p:cNvPr id="13" name="Oval 12"/>
          <p:cNvSpPr/>
          <p:nvPr/>
        </p:nvSpPr>
        <p:spPr>
          <a:xfrm>
            <a:off x="4846320" y="4572000"/>
            <a:ext cx="310896" cy="310896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4462272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Сборка
React-приложения</a:t>
            </a:r>
          </a:p>
        </p:txBody>
      </p:sp>
      <p:sp>
        <p:nvSpPr>
          <p:cNvPr id="15" name="Oval 14"/>
          <p:cNvSpPr/>
          <p:nvPr/>
        </p:nvSpPr>
        <p:spPr>
          <a:xfrm>
            <a:off x="1417320" y="5257800"/>
            <a:ext cx="310896" cy="310896"/>
          </a:xfrm>
          <a:prstGeom prst="ellipse">
            <a:avLst/>
          </a:prstGeom>
          <a:solidFill>
            <a:srgbClr val="F0AB0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37360" y="513892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Рецепт борща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5440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выброс — другая область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1508760"/>
            <a:ext cx="48463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1618488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Размерность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011680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Публичные embedding-модели: </a:t>
            </a:r>
            <a:r>
              <a:rPr sz="1450" b="1" i="0">
                <a:solidFill>
                  <a:srgbClr val="F0AB00"/>
                </a:solidFill>
                <a:latin typeface="Arial"/>
              </a:rPr>
              <a:t>1536–3072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измерения; внутренние у флагманов — порядка тысяч.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3090672"/>
            <a:ext cx="48463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32004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Обучение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3593591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Координаты не задаются вручную: похожие контексты употребления → близкие векторы.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0" y="4672583"/>
            <a:ext cx="48463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478231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Проекция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5175503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Увидеть пространство можно только через PCA/t-SNE — 2D-картинка теряет часть структуры.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84280" y="6547104"/>
            <a:ext cx="731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Высокое сходство — «об одном и том же», не «с одинаковым смыслом»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554480"/>
          <a:ext cx="6537960" cy="3977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41248"/>
                <a:gridCol w="841248"/>
                <a:gridCol w="841248"/>
                <a:gridCol w="841248"/>
                <a:gridCol w="841248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6B7685"/>
                          </a:solidFill>
                          <a:latin typeface="Arial"/>
                        </a:rPr>
                        <a:t>cosine similarity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SSL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HTTPS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React-к.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React-п.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Борщ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Как настроить SSL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27432" marR="27432" marT="18288" marB="18288" anchor="ctr">
                    <a:solidFill>
                      <a:srgbClr val="1F3E6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0,18</a:t>
                      </a:r>
                    </a:p>
                  </a:txBody>
                  <a:tcPr marL="27432" marR="27432" marT="18288" marB="18288" anchor="ctr">
                    <a:solidFill>
                      <a:srgbClr val="A6C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0,20</a:t>
                      </a:r>
                    </a:p>
                  </a:txBody>
                  <a:tcPr marL="27432" marR="27432" marT="18288" marB="18288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0,08</a:t>
                      </a:r>
                    </a:p>
                  </a:txBody>
                  <a:tcPr marL="27432" marR="27432" marT="18288" marB="18288" anchor="ctr">
                    <a:solidFill>
                      <a:srgbClr val="D1E1E9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Установка HTTPS-сертификата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27432" marR="27432" marT="18288" marB="18288" anchor="ctr">
                    <a:solidFill>
                      <a:srgbClr val="1F3E6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0,22</a:t>
                      </a:r>
                    </a:p>
                  </a:txBody>
                  <a:tcPr marL="27432" marR="27432" marT="18288" marB="18288" anchor="ctr">
                    <a:solidFill>
                      <a:srgbClr val="94B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0,19</a:t>
                      </a:r>
                    </a:p>
                  </a:txBody>
                  <a:tcPr marL="27432" marR="27432" marT="18288" marB="18288" anchor="ctr">
                    <a:solidFill>
                      <a:srgbClr val="A1C4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0,07</a:t>
                      </a:r>
                    </a:p>
                  </a:txBody>
                  <a:tcPr marL="27432" marR="27432" marT="18288" marB="18288" anchor="ctr">
                    <a:solidFill>
                      <a:srgbClr val="D5E4EB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Деплой React-компонента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0,18</a:t>
                      </a:r>
                    </a:p>
                  </a:txBody>
                  <a:tcPr marL="27432" marR="27432" marT="18288" marB="18288" anchor="ctr">
                    <a:solidFill>
                      <a:srgbClr val="A6C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0,22</a:t>
                      </a:r>
                    </a:p>
                  </a:txBody>
                  <a:tcPr marL="27432" marR="27432" marT="18288" marB="18288" anchor="ctr">
                    <a:solidFill>
                      <a:srgbClr val="94B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marL="27432" marR="27432" marT="18288" marB="18288" anchor="ctr">
                    <a:solidFill>
                      <a:srgbClr val="1E49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27432" marR="27432" marT="18288" marB="18288" anchor="ctr">
                    <a:solidFill>
                      <a:srgbClr val="C0D7E1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Сборка React-приложения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0,20</a:t>
                      </a:r>
                    </a:p>
                  </a:txBody>
                  <a:tcPr marL="27432" marR="27432" marT="18288" marB="18288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0,19</a:t>
                      </a:r>
                    </a:p>
                  </a:txBody>
                  <a:tcPr marL="27432" marR="27432" marT="18288" marB="18288" anchor="ctr">
                    <a:solidFill>
                      <a:srgbClr val="A1C4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marL="27432" marR="27432" marT="18288" marB="18288" anchor="ctr">
                    <a:solidFill>
                      <a:srgbClr val="1E49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27432" marR="27432" marT="18288" marB="18288" anchor="ctr">
                    <a:solidFill>
                      <a:srgbClr val="C8DCE5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Рецепт борща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0,08</a:t>
                      </a:r>
                    </a:p>
                  </a:txBody>
                  <a:tcPr marL="27432" marR="27432" marT="18288" marB="18288" anchor="ctr">
                    <a:solidFill>
                      <a:srgbClr val="D1E1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0,07</a:t>
                      </a:r>
                    </a:p>
                  </a:txBody>
                  <a:tcPr marL="27432" marR="27432" marT="18288" marB="18288" anchor="ctr">
                    <a:solidFill>
                      <a:srgbClr val="D5E4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27432" marR="27432" marT="18288" marB="18288" anchor="ctr">
                    <a:solidFill>
                      <a:srgbClr val="C0D7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27432" marR="27432" marT="18288" marB="18288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360920" y="1554480"/>
            <a:ext cx="4343400" cy="2377440"/>
          </a:xfrm>
          <a:prstGeom prst="roundRect">
            <a:avLst>
              <a:gd name="adj" fmla="val 7000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35240" y="1783080"/>
            <a:ext cx="38404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«Как настроить SSL»</a:t>
            </a:r>
            <a:r>
              <a:rPr sz="1550" b="1" i="0">
                <a:solidFill>
                  <a:srgbClr val="065A82"/>
                </a:solidFill>
                <a:latin typeface="Arial"/>
              </a:rPr>
              <a:t>  ↔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550" b="1" i="0">
                <a:solidFill>
                  <a:srgbClr val="21295C"/>
                </a:solidFill>
                <a:latin typeface="Arial"/>
              </a:rPr>
              <a:t>«Как отключить SSL»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>Очень высокое сходство — противоположный практический смысл.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411480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шкала: 0 — светлое · 1 — тёмное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76072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15583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Similarity — сигнал кандидатов; релевантность — отдельная задача: реранкер, гибрид, фильтры.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547104"/>
            <a:ext cx="731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Эмбеддинги — фундамент понимания: модель работает с векторами, не строками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3200400" cy="489204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1833372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7909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слова</a:t>
            </a:r>
          </a:p>
        </p:txBody>
      </p:sp>
      <p:sp>
        <p:nvSpPr>
          <p:cNvPr id="6" name="Down Arrow 5"/>
          <p:cNvSpPr/>
          <p:nvPr/>
        </p:nvSpPr>
        <p:spPr>
          <a:xfrm>
            <a:off x="2020824" y="2318003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446020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9173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9" name="Down Arrow 8"/>
          <p:cNvSpPr/>
          <p:nvPr/>
        </p:nvSpPr>
        <p:spPr>
          <a:xfrm>
            <a:off x="2020824" y="2930651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3058668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4387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020824" y="3543299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3671315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717035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020824" y="4155948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4283964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29683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2020824" y="4768596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896612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94233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2020824" y="5381244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509259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55497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слова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23360" y="1463040"/>
            <a:ext cx="7680960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1581912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Перефразирования и синонимы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196596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«Как настроить SSL» и «Установка HTTPS-сертификата» — близкие векторы → модель отвечает одинаково; то же с «авто» и «машина».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23360" y="3063240"/>
            <a:ext cx="7680960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3182112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Межъязыковая близость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56616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«клубника» и strawberry — близкие векторы → ответ корректен независимо от языка запроса.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0" y="4709160"/>
            <a:ext cx="768096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0" y="4764024"/>
            <a:ext cx="731520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Семантическая близость на уровне предложений — основа «понимания» переформулировок.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5806440"/>
            <a:ext cx="7680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Выбор embedding-модели под задачу (MTEB, матрёшечные представления) — материал для самостоятельного чтения.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84280" y="6547104"/>
            <a:ext cx="731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