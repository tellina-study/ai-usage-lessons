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Простой вопрос на разогрев: если поставить temperature на ноль, ответ модели на один и тот же запрос будет каждый раз одинаковым? Интуиция подсказывает «да» — ноль случайности, выбор самого вероятного токена, что тут может пойти не так.</a:t>
            </a:r>
          </a:p>
          <a:p>
            <a:r>
              <a:t>И интуиция почти права. Почти — потому что «почти» на инженерной практике стоит денег: тесты, которые полагаются на побитовую воспроизводимость при T=0, время от времени необъяснимо падают, а причина не в вашем коде. Сегодня разберём, откуда берётся это «но нет» — и ещё несколько похожих мест, где интуиция про модели работает в девяти случаях из десяти, а в десятом ломается предсказуемым и объяснимым образом. Идём по конвейеру инференса от текста до ответа — и на каждой стадии посмотрим, где основанная на наблюдениях интуиция перестаёт быть надёжной картой.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— новый в этой версии курса — разбирает виды и размеры моделей: на чём они запускаются и что умеют; шестой раздел собирает конвейер целиком и подводит итоги.</a:t>
            </a:r>
          </a:p>
          <a:p>
            <a:r>
              <a:t>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текст, почему «исправленный» strawberry ничего не доказывает, откуда берутся числа-чанки и glitch-токены.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промпт с ролью реально меняет ответ; откуда берётся экономика кэширования; что на самом деле умеет окно в миллион токенов. Раздел 4 — сэмплинг: температура, причина, по которой T=0 не даёт детерминизма, структурированный вывод и невидимые токены рассуждения, которые вы оплачиваете. Раздел 5 — новый в этой версии курса: виды и размеры моделей — на чём запускается маленькая модель, а на чём гигант, что каждый класс умеет по мультимодальности, и ландшафт конкретных моделей на сентябрь 2026 года. Раздел 6 — финал: конвейер целиком и сводка разобранных механизмов.</a:t>
            </a:r>
          </a:p>
          <a:p>
            <a:r>
              <a:t>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реально меняет ответ.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рассуждения, критерий выбора между маленькой моделью и гигантом — и то, чем заменить веру в бенчмарки при выборе модели.</a:t>
            </a:r>
          </a:p>
          <a:p>
            <a:r>
              <a:t>Семь строк под целью — по одной на каждый раздел, который сегодня пройдём: на каждую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Сегодняшняя лекция движется по этой же оси — каждый раздел раскрывает свой участок конвейера вместе с границами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смотрите на гонку патчей 2026 года. GPT-5.2 в декабре 2025-го всё ещё отвечал «две r» в strawberry. GPT-5.5, выпущенный в апреле 2026-го, проходит strawberry — но на вопрос «сколько r в cranberry» отвечал «две»; правильно — три. И только GPT-5.6 в июле 2026-го починил уже и cranberry — проверьте актуальную модель прямо сейчас. Обратите внимание на закономерность: каждый вирусный кейс патчится точечно и по очереди, а не единым улучшением навыка — иначе фикс strawberry сразу закрыл бы и cranberry. Для систематической проверки класса задачи появился StrawberryBench — 847 вопросов в семи уровнях сложности; именно на нём, а не на одном вирусном слове, видно, что посимвольный счёт остаётся проблемным местом.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Четыре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 И важная поправка для практики: в готовых чат-продуктах — ChatGPT, Claude в веб-интерфейсе — счёт и арифметика уже автоматически уходят во встроенный инструмент вроде code interpreter, минуя прямой проход модели; то, что мы сейчас разобрали, становится критичным именно тогда, когда вы вызываете модель через API напрямую — в своих приложениях и агентах, где такого автоматического роутинга нет, и в нестандартных случаях, которые готовый продукт не распознал как «нужен инструмент».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Механизм коротко: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модель; эмбеддинг такого токена остаётся близким к случайной инициализации и «ничего не значит» в выученной геометрии.</a:t>
            </a:r>
          </a:p>
          <a:p>
            <a:r>
              <a:t>Данные 2026 года говорят: это не курьёз эпохи GPT-3, а системное свойство.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словарь строится отдельно от модели; масштабом такое не чинится.</a:t>
            </a:r>
          </a:p>
          <a:p>
            <a:r>
              <a:t>Теперь — на что это реально влияет в инженерной практике, и это важнее самого механизма. Первое: сбои парсинга на экзотических строках — модель необъяснимо теряет тему разговора или отказывает именно на конкретном входе, а не в целом на классе задач. Второе: прод-риски — любая система, принимающая произвольный пользовательский ввод, работает с потенциальным источником glitch-токенов: логи, автоматически сгенерированные ID, обфусцированный текст, редкие Unicode-последовательности. Третье: диагностика — если поведение необъяснимо именно на конкретном входе, среди гипотез должна быть «на входе glitch-токен»; проверяется за минуту заменой подозрительной строки на плейсхолдер — поведение выправилось, виновник найден. Четвёртое, продуктовое: нормализуйте и санитизируйте вход до подачи в модель — это отсекает не только glitch-токены, но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представление данных внутри модели.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контекст; это векторы, которые модель пересчитывает по ходу чтения контекста.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представление данных внутри модели;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история чата кешируется и когда кэш перестаёт срабатывать; как устроена экономика кэширования промптов; почему промпт с ролью реально меняет ответ, но не делает ответ более точным;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 на нашем примере; дальше — KV-cache и две фазы генерации; экономика кэширования промптов с живым кейсом; затем рабочий пример и полный механизм эффекта роли;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 был голоден». Числа иллюстративные, реальные веса нормируются так, что сумма по строке равна единице. Качественно картина типична: в строке токена «он» наибольший вес лежит на токене «Кот», а не на «мышь» — местоимение мужского рода разрешается на одушевлённый субъект того же рода, стоящий в начале предложения. Это то, что мы в быту называем «модель поняла, к чему относится местоимение», — технически это статистическая связь, выученная на огромном корпусе.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  <a:p>
            <a:r>
              <a:t>И главное — на что конкретно влияет это распределение весов, а не просто «что-то там взвешивается». Вес каждой связи определяет, какая доля Value-вектора соответствующего токена попадёт в итоговое представление текущей позиции: если «он» отдаёт 0.7 веса «Кот», то именно содержимое «Кот» — его Value — доминирует в обновлённом представлении токена «он». А представление текущего токена — это именно то, из чего на следующем шаге строится распределение вероятностей для предсказания. Другими словами: распределение весов внимания напрямую и механически определяет, каким будет следующий предсказанный токен — это не побочный эффект, а прямая причинная цепочка.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на нашем же предложении, чтобы не потерять конкретику. Для каждого токена модель вычисляет три проекции его вектора: Query, Key и Value. Возьмём токен «он» из «Кот съел мышь, потому что он был голоден». Его Query можно грубо прочитать как «ищу: кто мог быть голоден» — запрос текущей позиции к остальному контексту. Токен «Кот» предлагает свой Key — нечто вроде «я — одушевлённый субъект», визитную карточку, по которой его находят чужие запросы. Когда Query «он» и Key «Кот» хорошо совпадают, вес между ними получается высоким — именно это мы видели в матрице на предыдущем слайде. А дальше в дело вступает Value «Кот» — содержимое, которое реально вливается в обновлённое представление токена «он». Итог позиции «он» — взвешенная сумма Value всего контекста, где Value «Кот» вносит наибольший вклад.</a:t>
            </a:r>
          </a:p>
          <a:p>
            <a:r>
              <a:t>Простыми словами: Query — это вопрос, который задаёт токен; Key — это то, чем токен отвечает на чужие вопросы; Value — это то, что токен реально передаёт, если его выбрали. Запомнить стоит одно структурное наблюдение: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 на следующем слайде, когда разберём, почему длинный чат тормозит.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Здесь важна точная формулировка вывода, потому что она легко искажается в народную мудрость «для новой задачи — новый чат». Пока KV-cache работает — то есть история совпадает с тем, что уже посчитано, — повторная подача истории дешёвая и быстрая: именно ради этого кэш существует. «Тормозит и дорожает» происходит не как свойство длинного чата вообще, а именно тогда, когда кэш не срабатывает — когда контекст меняется в начале, когда сессия истекла, когда провайдер вытеснил ваш кэш из памяти под чужую нагрузку. История подаётся в модель целиком при каждом обороте — модель без состояния, как мы фиксировали в Лекции 1, — но это не значит, что каждый оборот пересчитывается с нуля.</a:t>
            </a:r>
          </a:p>
          <a:p>
            <a:r>
              <a:t>Устройство кэша у провайдеров разное, и это прямо влияет на то, что вам нужно делать руками. У OpenAI и у DeepSeek кэш срабатывает автоматически — без специальной настройки в запросе; у DeepSeek он к тому же дисковый, а не только в памяти ускорителя. У Google Gemini — implicit caching, тоже включён по умолчанию. А у Anthropic кэш явный: нужно расставить маркер `cache_control` в нужных местах промпта самостоятельно — иначе кэш не сработает, даже если содержимое совпадает. Практический вывод: если вы на Anthropic и не видите экономии — проверьте, стоит ли маркер там, где нужно; на остальных трёх — проверьте метрики cache hit rate в ответе API, потому что «автоматический» не значит «гарантированно срабатывающий». Масштаб эффекта: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Проследим механику на трёх последовательных запросах — так виднее, чем на отдельных цифрах. Запрос первый: вы отправляете промпт впервые, кэша ещё нет — префикс записывается в кэш, и запись стоит дороже обычного входа, от 1.25 до 2 ставок в зависимости от времени жизни кэша. Запрос второй: вы отправляете тот же префикс — например, тот же системный промпт и тот же набор документов, только новый вопрос пользователя в конце — префикс совпадает побайтово, кэш срабатывает, и вы платите десятую часть базовой ставки входа, у новейших моделей — до одной сороковой. Запрос третий: кто-то добавил в начало промпта одну строку — например, текущую дату или обновлённую инструкцию — и теперь префикс больше не совпадает с тем, что в кэше, начиная с этой строки. Кэш мимо: вся нагрузка платит полную цену, как будто кэша никогда не было, а если у вас явная запись — ещё и надбавку за неё. Кэш не бесплатен — это ставка на повторное использование: окупается со второго-третьего попадания, а нагрузка из уникальных запросов без общего префикса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видно на третьем запросе — точное совпадение префикса: кэш срабатывает, только если всё до контрольной точки совпадает байт-в-байт. Классический самострел — добавить в начало системного промпта что-то переменное, вроде текущей даты и времени: тогда ни один запрос никогда не попадёт в кэш.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 был голоден». Дойдя до токена «он», модель должна разрешить, к кому он относится, — и в карте внимания вес распределён в пользу «Кот».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 забыл обработать null». На большинстве моделей вес уйдёт к ближайшему подходящему одушевлённому существительному по смыслу контекста — если ваша интуиция дала похожий ответ, вы уже думаете в терминах корпусной статистики.</a:t>
            </a:r>
          </a:p>
          <a:p>
            <a:r>
              <a:t>Теперь — то, ради чего вы это уже знаете. Сравним два одинаковых по сути промпта. «Объясни GIL» без роли — модель отвечает нейтрально, обобщённо. «Ты — опытный Python-разработчик. Объясни GIL» — вы наверняка замечали, что такой промпт работает иначе. Механизм: токены «опытный», «Python-разработчик» получают вес в распределении внимания при генерации каждого токена ответа, и выбор смещается в согласованную с ними сторону — ответ становится конкретнее и увереннее, в экспертном регистре. Роль — не просьба «поверь мне», а входной сигнал, физически участвующий во взвешивании.</a:t>
            </a:r>
          </a:p>
          <a:p>
            <a:r>
              <a:t>И граница эффекта, которую важно знать до того, как вы начнёте злоупотреблять ролями в промптах: Zheng et al. (2024, EMNLP Findings) проверили 2410 вопросов и 162 роли — персона/роль в промпте не повышает точность факта, эффект конкретной роли непредсказуем. Отдельно от этого исследования: по наблюдениям курса роль ощутимо меняет тон, стиль и отбор содержания ответа — это отдельный, не тождественный факту эффект. Роль смещает распределение, не добавляет знаний. Если модель не знает ответа, роль «эксперт» не заставит её узнать — она заставит её увереннее звучать, не будучи более правой. Практический вывод: роль — рабочий инструмент управления стилем и фокусом ответа, полезный и легитимный, но не путайте его с повышением точности. Нужен точный ответ по вашим данным — дайте модели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фронтир-стандарт 2026 года — до одного миллиона: Fable 5, GPT-5.6, Gemini 3.1 Pro и другие держат этот уровень, причём у части моделей полное окно входит в стандартную цену без наценки за длину. Два миллиона у Gemini 3.5 Pro — не стандарт, а полюс: пока единственная модель на этом уровне, а не типичный флагман; моделей с окном до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 формулы. При T=0 выбор — это argmax P(токен): детерминированно берём токен с максимальной вероятностью, без всякого сэмплирования. При T&gt;0 модель сэмплирует из распределения, преобразованного по правилу P в степени 1/T — технически это означает, что сырые логиты делятся на T перед тем, как пройти через softmax и превратиться в вероятности.</a:t>
            </a:r>
          </a:p>
          <a:p>
            <a:r>
              <a:t>Здесь стоит остановиться на вопросе, который часто вызывает путаницу: порядок токенов по вероятности не меняется от температуры — самый вероятный токен остаётся самым вероятным при любой T. Тогда почему температура вообще на что-то влияет, если ранжирование одно и то же? Ответ в том, что выбор токена — это не «взять топ-1 из списка», а случайная выборка, где вероятность выбора каждого токена пропорциональна его вероятности в распределении. А температура меняет сами эти вероятности, не их порядок: при T меньше единицы распределение заостряется — лидер получает ещё больше массы вероятности, аутсайдеры теряют шансы почти до нуля; при T больше единицы распределение выравнивается — разрыв между лидером и остальными токенами сокращается, и у токенов, которые раньше были почти невозможны, появляется реальный шанс быть выбранными. Именно поэтому T=0 — предельный случай: заострение доведено до предела, и вероятность лидера становится равна единице — argmax.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Главный вывод формулируем так, и порядок здесь важен: получить гарантированно детерминированный ответ от облачной LLM сегодня нельзя — это не временный баг, а следствие экономического выбора провайдеров, и проектировать процессы нужно с учётом этого факта, а не в надежде, что «в следующей версии починят». Отсюда, как следствие, а не как главный тезис: не стройте тесты на побитовом сравнении ответов — сравнивайте семантически или по структуре; воспроизводимость фиксируйте датасетом и метрикой.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 — вы знаете; таблица параметров на слайде фиксирует диапазон и типичное значение для каждого: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заданная схема компилируется в конечный автомат над токенами; при потокенной генерации автомат отслеживает состояние уже сгенерированного префикса и на каждом шаге маскирует — обнуляет вероятность — токены, ведущие к невалидному продолжению, прямо в том распределении, которое мы разобрали в начале раздела. Поэтому выход валиден по построению, а не «проверен постфактум».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</a:t>
            </a:r>
          </a:p>
          <a:p>
            <a:r>
              <a:t>Цикл может остановиться правильно — а может сломаться. Правильная остановка — специальный стоп-токен или лимит max_tokens; обрыв по лимиту мгновенный, хоть на середине JSON-поля, и постобработка обязана этот случай ловить. Поломка — вырожденный цикл повторов: модель зацикливается на одном токене или короткой фразе и генерирует полотно повторов вместо содержательного продолжения — «горшочек, не вари!» из сказки, только горшочек — это модель, а каша — токены. [Место для личной истории лектора: если у вас был реальный случай, когда модель ушла в такой цикл на проде или в тесте, — расскажите его здесь своими словами.] Механизм тот же цикл: если распределение на каком-то шаге сильно смещено в сторону уже сгенерированного текста (например, из-за низкой температуры или структуры промпта), модель раз за разом выбирает похожий токен, и авторегрессия закрепляет паттерн. Практика: repetition_penalty и frequency_penalty снижают вероятность буквальных повторов уже сгенерированных токенов; max_tokens в любом случае остаётся страховкой — даже если модель зациклилась, генерация не продолжится бесконечно.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из четырёх разделов — токенизация, эмбеддинги, внимание, сэмплинг — один и тот же независимо от того, какая по размеру модель его исполняет. Но размер модели определяет, где и как вы её запускаете, и это отдельный практический вопрос, который стоит разобрать явно.</a:t>
            </a:r>
          </a:p>
          <a:p>
            <a:r>
              <a:t>В этом разделе — четыре разбора. Сначала классификация по размеру: маленькие модели, которые помещаются на ноутбук или смартфон, средние на одну игровую видеокарту, большие на сервер с несколькими картами, и модели-гиганты, которые физически существуют только в облаке или на кластере, — с примерами конкретных моделей на сентябрь 2026 года и тем, что каждый класс умеет по мультимодальности. Затем — местозапуска отдельно от размера: тот же вопрос под другим углом, критерий выбора между локальным развёртыванием и облачным API. После этого — карта местности: ландшафт конкретных моделей на сентябрь 2026 года, передний край и открытые веса, цены. И завершит раздел жёсткий разговор о том, почему цифрам бенчмарков нельзя верить на слово при выборе модели.</a:t>
            </a:r>
          </a:p>
          <a:p>
            <a:r>
              <a:t>Это последний содержательный раздел перед финалом лекции — дальше мы соберём весь конвейер и все разобранные механизмы в одну картину.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говорить, где запускать модель — локально или в облаке, — разберём другую ось: сам размер модели. Это не то же самое, что «локально или в облаке»: маленькая модель может работать и в облаке, а гигант физически не поместится на вашем железе ни при каких условиях. Классифицируем по числу параметров — от миллиардов до триллионов.</a:t>
            </a:r>
          </a:p>
          <a:p>
            <a:r>
              <a:t>Малые модели — до 8–10 миллиардов параметров — это класс, который реально работает на ноутбуке или смартфоне: Qwen3.8 в вариантах 4B и 8B, модели Llama-класса. По мультимодальности это обычно текстовые модели или модели с базовой поддержкой изображений — обучающая выборка и архитектура таких размеров ограничивают широту навыков. Средние модели — в районе 30 миллиардов параметров — это Muse Glimmer 30B, верхняя граница этого класса: такая модель умещается на одну игровую видеокарту с 24–32 гигабайтами памяти, и здесь уже часто встречается полноценная поддержка изображений на входе.</a:t>
            </a:r>
          </a:p>
          <a:p>
            <a:r>
              <a:t>Большие модели — от 70 миллиардов параметров — требуют нескольких видеокарт или полноценного сервера; здесь мультимодальность, как правило, уже полная — текст, изображение, иногда аудио. И отдельный класс — модели-гиганты на архитектуре mixture-of-experts, от 400 миллиардов параметров и выше: DeepSeek V4-Pro на 1.6 триллиона параметров, Kimi K3 на 2.8 триллиона — крупнейшая открытая модель в истории. Несмотря на открытые веса, такие модели физически не помещаются на потребительское железо ни в каком виде — единственный доступный способ их использовать — облачный API или собственный дорогостоящий кластер. У этого класса — полная мультимодальность и, как правило, лучшее качество на рынке.</a:t>
            </a:r>
          </a:p>
          <a:p>
            <a:r>
              <a:t>Общая закономерность, которую стоит унести: чем крупнее модель, тем шире её возможности по мультимодальности и качеству ответа, но тем меньше шансов запустить её у себя — лимитирующий фактор всегда объём памяти, а не вычислительная мощность как таковая. Этот критерий размера — независимая ось от вопроса «локально или в облаке», который разберём на следующем слайде: там речь пойдёт о том, что даже открытые веса гигантов не решают вопрос локального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 — и вдобавок рассмотрены виды и размеры моделей.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подведём итоги: сводная таблица «механизм → граница → что делать» по всему, что сегодня разобрали.</a:t>
            </a:r>
          </a:p>
          <a:p>
            <a:r>
              <a:t>После этого — решение, когда большая языковая модель не тот инструмент, и когда не нужна именно топовая; граница между корреляцией и причинностью; и мост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Glitch-токены — свойство словаря на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итоги. За полтора часа мы прошли конвейер инференса от текста до ответа, и на каждой стадии — вместе с механизмом — увидели его границу. Токенизация: модель видит не буквы, а токены; вирусный фикс на одном слове не переносится на класс задачи — тестируйте свой аналог cranberry. Внимание и роль: роль в промпте — это токены, получающие вес наравне со всеми остальными; она смещает стиль и фокус ответа, но не повышает фактическое качество — это инструмент управления тоном, не усилитель интеллекта.</a:t>
            </a:r>
          </a:p>
          <a:p>
            <a:r>
              <a:t>Кэш: KV-cache и кэш промптов экономят только на совпадающем префиксе, и один изменившийся в начале токен рушит экономию для всего, что после него, — стабильное в начало, переменное в конец. Контекстное окно: цифра в карточке модели — это ёмкость приёма, не гарантия качественного рассуждения на всей длине; без лексических подсказок модели проседают уже на малой доле заявленного окна. Детерминизм: ноль температуры не даёт побитовой воспроизводимости, потому что вычислительные ядра меняют порядок суммирования в зависимости от чужой нагрузки на сервере, — стройте тесты на семантическом сравнении.</a:t>
            </a:r>
          </a:p>
          <a:p>
            <a:r>
              <a:t>Reasoning-токены оплачиваются как выход и не имеют встроенного потолка объёма — бюджет нужно закладывать отдельно. Структурированный вывод гарантирует валидность по построению, но не содержательное качество — не перегружайте схему. Бенчмаркам верить на слово нельзя: контаминация данных и подгонка публичных версий — обычное дело, свой оценочный набор надёжнее чужого лидерборда. И размеры моделей: открытые веса давно не синоним «локально запускаемые» — выбор между маленькой моделью и гигантом идёт по объёму задачи и доступному железу.</a:t>
            </a:r>
          </a:p>
          <a:p>
            <a:r>
              <a:t>Общий знаменатель: знать инструмент — значит знать его границы. Каждый из этих механизмов работает и приносит пользу — но не безгранично; и в каждой строке есть точка, где инженер обязан уметь сказать «нет» неподходящему применению. Ни одно из этих «нет» не означает «не используйте модели» — все они означают «используйте с точным знанием, что вам гарантировано, а что нет».</a:t>
            </a:r>
          </a:p>
          <a:p>
            <a:r>
              <a:t>Самопроверка на минуту: закройте таблицу и восстановите для любых трёх строк пару «граница → что делать». Если получается — главное содержание лекции у вас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инструкции для модели — те же токены, получающие вес во внимании наравне с любым другим текстом, а агент читает внешний контент, prompt injection — не экзотика, а базовый режим угроз агентных систем; подробный разбор ролей протокола и их подделки — в следующей лекции.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сводной таблице механизмов из финала и спросить, какая граница показалась наименее убедительной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домашних экспериментов — подсчёт букв, несколько запусков при нуле температуры, пара косинусных сходств и аудит кэша в своём проекте, — мы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127" y="502920"/>
            <a:ext cx="6949440" cy="52902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41167" y="594360"/>
            <a:ext cx="6309359" cy="9473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temperature=0 — значит, ответ всегда одинаковый?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84621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1">
                <a:solidFill>
                  <a:srgbClr val="F0AB00"/>
                </a:solidFill>
                <a:latin typeface="Arial"/>
              </a:rPr>
              <a:t>Да, формально детерминирован. Но нет — на практике нет. Почему — сегодня.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границы,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00584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00584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00584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75564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75564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75564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2505456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2505456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3847" y="2505456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27" y="3255263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3255263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3847" y="3255263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727" y="4005072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327" y="4005072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3847" y="4005072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3727" y="475488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327" y="475488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3847" y="475488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на чём модели запускаются, мультимодальность, ландшафт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3727" y="550468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550468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3847" y="550468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сборка конвейера, итоги механизмов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298448"/>
            <a:ext cx="1028700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4291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307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763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4933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2949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2405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промпт с ролью реально меняет ответ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3591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6217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84233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3689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3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019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475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сколько стоят невидимые токены рассуждения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9051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7067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6523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маленькая модель или гигант — по какому критерию выбирать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2099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0115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9571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3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urprised-pikachu-token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085" y="923544"/>
            <a:ext cx="3135548" cy="38679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Гонка патчей: strawberry починили в апреле, cranberry — только в июле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457200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91056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35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250" b="1" i="0">
                <a:solidFill>
                  <a:srgbClr val="065A82"/>
                </a:solidFill>
                <a:latin typeface="Liberation Mono"/>
              </a:rPr>
              <a:t>[st][raw][berry]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Модель видит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3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6679" y="2697479"/>
            <a:ext cx="1924480" cy="2331720"/>
          </a:xfrm>
          <a:prstGeom prst="roundRect">
            <a:avLst>
              <a:gd name="adj" fmla="val 1583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panding-brain-strawber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119" y="2788920"/>
            <a:ext cx="1741600" cy="214884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532120" y="1645920"/>
            <a:ext cx="0" cy="30632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40680" y="17830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852160" y="14173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813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8013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✗ — «в strawberry две r»</a:t>
            </a:r>
          </a:p>
        </p:txBody>
      </p:sp>
      <p:sp>
        <p:nvSpPr>
          <p:cNvPr id="13" name="Oval 12"/>
          <p:cNvSpPr/>
          <p:nvPr/>
        </p:nvSpPr>
        <p:spPr>
          <a:xfrm>
            <a:off x="5440680" y="2697479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3957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GPT-5.5 · апр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7157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7" name="Oval 16"/>
          <p:cNvSpPr/>
          <p:nvPr/>
        </p:nvSpPr>
        <p:spPr>
          <a:xfrm>
            <a:off x="5440680" y="3611879"/>
            <a:ext cx="182880" cy="1828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3246120"/>
            <a:ext cx="5852160" cy="84124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3101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GPT-5.6 · июль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6301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cranberry ✓ — очередной вирусный кейс запатчен</a:t>
            </a:r>
          </a:p>
        </p:txBody>
      </p:sp>
      <p:sp>
        <p:nvSpPr>
          <p:cNvPr id="21" name="Oval 20"/>
          <p:cNvSpPr/>
          <p:nvPr/>
        </p:nvSpPr>
        <p:spPr>
          <a:xfrm>
            <a:off x="5440680" y="45262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2160" y="41605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42245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5445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Чанки слева направо — а математические разряды считаются справа налево: границы не совпадают, сложение в столбик ломается.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14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0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990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706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Готовые чат-продукты уже сами уводят счёт во встроенные инструменты (code interpreter); звать инструмент самому — нестандартные случаи и свои приложения поверх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07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72768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Юзернейм с Reddit в словаре GPT — модель не могла его повторить (имя токена — отсылка к покемону Magikarp).</a:t>
            </a:r>
          </a:p>
        </p:txBody>
      </p:sp>
      <p:pic>
        <p:nvPicPr>
          <p:cNvPr id="6" name="Picture 5" descr="magikarp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386" y="2212848"/>
            <a:ext cx="1344947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401568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028090"/>
                </a:solidFill>
                <a:latin typeface="Arial"/>
              </a:rPr>
              <a:t>Механизм: </a:t>
            </a:r>
            <a:r>
              <a:rPr sz="1000" b="0" i="0">
                <a:solidFill>
                  <a:srgbClr val="21295C"/>
                </a:solidFill>
                <a:latin typeface="Arial"/>
              </a:rPr>
              <a:t>корпус словаря ≠ корпус модели → эмбеддинг токена остаётся у случайной инициализации.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На что влияет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Сбои парсинга экзотических строк — редкие идентификаторы, обфусцированный текст, необычный Unicode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Риски в проде — логи, user-generated ID, произвольный пользовательский ввод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Необъяснимые ответы «невпопад» без ошибки в коде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2" y="395020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m-same-pi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512474"/>
            <a:ext cx="4782312" cy="26900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424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опечатка или другой регистр — уже другой токен и другой вектор; нормализуйте вход до эмбеддинга.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Представление данных внутри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Векторы, которые модель пересчитывает по ходу чтения контекста — после слоёв внимания.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1508760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198424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2935224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41071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361688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44714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37175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0" y="5861304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5916168"/>
            <a:ext cx="448055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делать: близость измерима расстоянием — фильтрация и кластеризация без разметки и без LLM возможны прямо на векторах, дёшево.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458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embedding-модель и индекс обслуживают поиск, кластеризацию и RAG сразу — смена модели означает переиндексацию всего хранилища; выбирайте как инфраструктурное решение.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62636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otlight-cle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89612"/>
            <a:ext cx="4782312" cy="353577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«Кот» (мужской род).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 что влияют веса: они определяют, чьи Value попадут в представление текущего токена — и напрямую формируют следующее предсказание.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580644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«Кот съел мышь, потому что </a:t>
            </a:r>
            <a:r>
              <a:rPr sz="1450" b="1" i="0">
                <a:solidFill>
                  <a:srgbClr val="065A82"/>
                </a:solidFill>
                <a:latin typeface="Arial"/>
              </a:rPr>
              <a:t>он</a:t>
            </a:r>
            <a:r>
              <a:rPr sz="1450" b="0" i="0">
                <a:solidFill>
                  <a:srgbClr val="21295C"/>
                </a:solidFill>
                <a:latin typeface="Arial"/>
              </a:rPr>
              <a:t> был голоден»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Q(«он»)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«ищу: кто мог быть голоден»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«я — одушевлённый субъект»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содержимое, которое вольётся в представление «он»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Совпадение Q(«он») и K(«Кот») даёт высокий вес → V(«Кот») определяет обновлённое представление токена «он».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95728"/>
            <a:ext cx="525780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05456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Распределение весов — сумма = 1, лидер «Кот»</a:t>
            </a:r>
          </a:p>
        </p:txBody>
      </p:sp>
      <p:pic>
        <p:nvPicPr>
          <p:cNvPr id="17" name="Picture 16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07792"/>
            <a:ext cx="4800600" cy="1959429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0292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533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401568"/>
            <a:ext cx="539496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51129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895344"/>
            <a:ext cx="48920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16052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401568"/>
            <a:ext cx="521208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51129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895344"/>
            <a:ext cx="47091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30352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03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Кэш у провайдеров: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OpenAI — авто  ·  Gemini — implicit (авто)  ·  DeepSeek — авто-дисковый  ·  Anthropic — явный (cache_control)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6188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016751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KV-cache делает повторную подачу истории дешёвой и быстрой; «тормозит и дорожает» — когда кэш НЕ срабатывает (длинный чат без кэша, нестабильный префикс).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98448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Три запроса подряд: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00784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28216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1: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префикс пишется в кэш — запись 1.25–2× ставки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59152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86584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2: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тот же префикс → cache hit — чтение 0.1× (новейшие — 0.025×)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044951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3: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строка добавлена в начало → префикс не совпал → мимо кэша, полная цена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14800"/>
            <a:ext cx="4206240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41148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33087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98848"/>
            <a:ext cx="749808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49884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Динамический элемент в начале (timestamp) рушит кэш всех блоков после него — это и есть «запрос 3».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но не повышает фактическое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17904"/>
            <a:ext cx="777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«Кот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51790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съел мышь,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517904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1790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51790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517904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голоден»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423160" y="1947672"/>
            <a:ext cx="3840480" cy="338328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00800" y="1947672"/>
            <a:ext cx="502920" cy="338328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92240" y="1947672"/>
            <a:ext cx="1600200" cy="338328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23160" y="23408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 — модель воспроизводит корреляции употребления, не грамматический разбор.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50592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куда уйдёт вес от «он» в «Программа упала, потому что он забыл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Без роли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«Объясни GIL»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нейтральный, обобщённый ответ.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33872" y="3703320"/>
            <a:ext cx="548640" cy="31089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 ролью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657600"/>
            <a:ext cx="4709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«Ты — опытный Python-разработчик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GIL» — токены роли получают вес → смещают распределение следующих токенов: конкретнее, в экспертном регистре.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74980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72584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Zheng et al. (2024, EMNLP Findings; 2410 вопросов, 162 роли): персона/роль в промпте не повышает точность факта — эффект конкретной роли непредсказуем.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Отдельно от этого исследования — по наблюдениям курса: роль ощутимо меняет тон, стиль и отбор содержания ответа.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864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5412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Роль — инструмент управления стилем и фокусом, а не «усилитель ума».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Фронтир-стандарт 2026 — окно до 1 млн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Фронтир-стандарт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до 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Fable 5, GPT-5.6, Gemini 3.1 Pro и др.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единичная модель, не стандарт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выбирайте модель по эффективному окну задачи (бенчмарки без лексических подсказок), не по маркетинговому максимуму.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32688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Забывание победили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— найти дословную вставку (needle-in-a-haystack)</a:t>
            </a:r>
          </a:p>
        </p:txBody>
      </p:sp>
      <p:pic>
        <p:nvPicPr>
          <p:cNvPr id="5" name="Picture 4" descr="s25-u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26464"/>
            <a:ext cx="5669280" cy="1700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72768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U-кривая 2023 распрямилась: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single-needle — до 99% на полном окне 1 млн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(Gemini Deep Think).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73552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Работу со смыслом — нет </a:t>
            </a:r>
            <a:r>
              <a:rPr sz="1250" b="0" i="0">
                <a:solidFill>
                  <a:srgbClr val="6B7685"/>
                </a:solidFill>
                <a:latin typeface="Arial"/>
              </a:rPr>
              <a:t>(NoLiMa, 2025: бенчмарк убрал буквальное совпадение слов)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67328"/>
            <a:ext cx="4206240" cy="20601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800" y="3886200"/>
            <a:ext cx="62179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лексических совпадений качество падает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ниже 50% от базового уже на 32K</a:t>
            </a:r>
            <a:r>
              <a:rPr sz="1300" b="1" i="0">
                <a:solidFill>
                  <a:srgbClr val="21295C"/>
                </a:solidFill>
                <a:latin typeface="Arial"/>
              </a:rPr>
              <a:t> — у 11 из 13 моделей.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32 тыс. токенов ≈ 3% заявленного окна флагмана; база — точность той же модели на коротком контексте.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044183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ce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96112"/>
            <a:ext cx="1120140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21295C"/>
                </a:solidFill>
                <a:latin typeface="Liberation Mono"/>
              </a:rPr>
              <a:t>T = 0  ⇒  выбор = argmax P(токен)</a:t>
            </a:r>
            <a:r>
              <a:rPr sz="1450" b="1" i="0">
                <a:solidFill>
                  <a:srgbClr val="065A82"/>
                </a:solidFill>
                <a:latin typeface="Liberation Mono"/>
              </a:rPr>
              <a:t>      T &gt; 0  ⇒  сэмплинг из P^(1/T)-образного распределения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логиты делятся на T до softmax: T&lt;1 заостряет распределение, T&gt;1 выравнивает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13916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5124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6332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77540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584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35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8746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8676" y="2822924"/>
            <a:ext cx="347472" cy="62436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9884" y="2987230"/>
            <a:ext cx="347472" cy="460057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1092" y="3085814"/>
            <a:ext cx="347472" cy="36147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72300" y="3184398"/>
            <a:ext cx="347472" cy="26289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0060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2628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222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3436" y="2614803"/>
            <a:ext cx="347472" cy="83248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4644" y="2746248"/>
            <a:ext cx="347472" cy="701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5852" y="2833878"/>
            <a:ext cx="347472" cy="61341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67060" y="2921508"/>
            <a:ext cx="347472" cy="5257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59536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104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до бессвязности.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63440"/>
            <a:ext cx="11201400" cy="71323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18303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Почему T влияет, хотя порядок кандидатов не меняется: выбор — не «взять топ-1», а случайная выборка пропорционально вероятностям; T перекраивает сами вероятности.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486400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0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по числу кандидатов · T под задачу: 0–0.3 код и классификация, 0.7+ генерация.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23160" y="5961888"/>
            <a:ext cx="731520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5961888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запрос — 10 раз при T=0 и 10 раз при T=1.5.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53312"/>
            <a:ext cx="3703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84831"/>
            <a:ext cx="3611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pic>
        <p:nvPicPr>
          <p:cNvPr id="6" name="Picture 5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1" y="3291840"/>
            <a:ext cx="1297277" cy="9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07693" y="3310128"/>
            <a:ext cx="1150972" cy="175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T=0 = детерминизм?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58698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Получить гарантированно детерминированный ответ от облачной LLM сегодня нельзя — стройте процессы с учётом этого. Следствие: тесты — не на побитовом сравнении, а семантически или по структуре.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Ручки API: к случайности и длине добавилась глубина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201399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691640"/>
                <a:gridCol w="3749039"/>
                <a:gridCol w="310896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Диапазон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На что влияет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Типичное значение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0–2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Детерминизм ↔ хаос выбора токена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 классификация; 0.7–1.2 текст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0.1–1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Ширина хвоста кандидатов при сэмплинге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0.9–0.95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целое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Жёсткий обрыв генерации — может прервать на середине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под задачу, с запасом на JSON/код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effort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none → xhigh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Глубина внутреннего рассуждения — и его цена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 у большинства провайдеров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verbosity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low → high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Длина видимого ответа, независимо от глубины мышления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44068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effort / reasoning_effort — новая ось 2026: OpenAI — шкала effort; Anthropic — адаптивное мышление; Gemini — thinking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8521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9070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Что делать: начинайте настройку с temperature и effort — две главные ручки; top_p / top_k / verbosity — тонкая настройка поверх.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JSON-схема компилируется в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конечный автомат над токенами</a:t>
            </a:r>
            <a:r>
              <a:rPr sz="1300" b="0" i="0">
                <a:solidFill>
                  <a:srgbClr val="21295C"/>
                </a:solidFill>
                <a:latin typeface="Arial"/>
              </a:rPr>
              <a:t>. При потокенной генерации автомат отслеживает состояние префикса и на каждом шаге МАСКИРУЕТ (обнуляет вероятность) токены, ведущие к невалидному продолжению.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автомат маскирует серые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выход валиден по построению, а не «проверен постфактум»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промпт + история + запрос + уже сгенерированное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1572768"/>
            <a:ext cx="2121408" cy="1417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температура / top-p / схема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20700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2990088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3209544"/>
            <a:ext cx="9363455" cy="164592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2990088"/>
            <a:ext cx="0" cy="237744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3392424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⟲ возврат к шагу 1 — цикл повторяется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5440680" cy="160020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04487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Как цикл останавливается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27939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Специальный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стоп-токен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модель сама решает «ответ закончен» — или </a:t>
            </a:r>
            <a:r>
              <a:rPr sz="12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250" b="0" i="0">
                <a:solidFill>
                  <a:srgbClr val="21295C"/>
                </a:solidFill>
                <a:latin typeface="Arial"/>
              </a:rPr>
              <a:t>: обрыв мгновенный, хоть на середине JSON-поля.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94760"/>
            <a:ext cx="5486400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904487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Как цикл ломается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79392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Вырожденный цикл повторов: модель «зацикливается» на одном токене или фразе и генерирует полотно повторов вместо остановки.</a:t>
            </a:r>
          </a:p>
        </p:txBody>
      </p:sp>
      <p:pic>
        <p:nvPicPr>
          <p:cNvPr id="33" name="Picture 32" descr="gorshochek-1984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4005072"/>
            <a:ext cx="1981200" cy="137160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502920" y="55321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869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Практика: repetition_penalty / frequency_penalty снижают вероятность буквальных повторов; max_tokens — страховка от бесконечного цикла.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3620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подачу дешёвой, не отменяя её логически).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«На чём запускаются модели разных размеров — и что каждый класс умеет»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tryoshka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класса моделей по размеру — от ноутбука до кластера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33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03" y="1316736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2287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Малые — до 8–10B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727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Qwen3.8-4B / 8B, модели Llama-класса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ноутбук, смартфон, edge-устройство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обычно text-only или базовый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0351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3-g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207" y="1316736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61791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Средние — около 30B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3231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Muse Glimmer 30B — верх среднего 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GPU 24–32 ГБ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часто есть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855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3-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11" y="1316736"/>
            <a:ext cx="493776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1295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Большие — 70B+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2735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модели Llama-класса 70B, Qwen3.5-397B-A17B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мульти-GPU / сервер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как правило полная (текст + изображение, иногда аудио)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9359" y="1170432"/>
            <a:ext cx="2761488" cy="3794760"/>
          </a:xfrm>
          <a:prstGeom prst="roundRect">
            <a:avLst>
              <a:gd name="adj" fmla="val 5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3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5" y="1316736"/>
            <a:ext cx="493776" cy="493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0799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Гиганты-MoE — 400B+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2239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DeepSeek V4-Pro (1.6 трлн), Kimi K3 (2.8 трлн)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Железо: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ТОЛЬКО облако или кластер — на потребительское железо не помещаются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полная, топ качество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292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840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Лимитирующий фактор — объём памяти, не вычисления. Чем крупнее модель, тем шире мультимодальность и качество — и тем меньше шансов запустить её у себя.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897880"/>
            <a:ext cx="964692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39" y="5952744"/>
            <a:ext cx="9281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задача умещается в ~30B и данные нельзя выпускать за периметр — берите локальную модель; нужно флагманское качество — берите закрытый API.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pic>
        <p:nvPicPr>
          <p:cNvPr id="5" name="Picture 4" descr="open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23110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95681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OpenAI: GPT-5.6 — Luna → Terra → Sol</a:t>
            </a:r>
          </a:p>
        </p:txBody>
      </p:sp>
      <p:pic>
        <p:nvPicPr>
          <p:cNvPr id="7" name="Picture 6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11729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9848" y="234543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Anthropic: Claude Fable 5 · Opus 5</a:t>
            </a:r>
          </a:p>
        </p:txBody>
      </p:sp>
      <p:pic>
        <p:nvPicPr>
          <p:cNvPr id="9" name="Picture 8" descr="goo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00349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73405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Google: Gemini 3.5 Pro (окно 2 млн, Deep Think)</a:t>
            </a:r>
          </a:p>
        </p:txBody>
      </p:sp>
      <p:pic>
        <p:nvPicPr>
          <p:cNvPr id="11" name="Picture 10" descr="x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188969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9848" y="3122675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xAI: Grok 4.3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pic>
        <p:nvPicPr>
          <p:cNvPr id="15" name="Picture 14" descr="deepsee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087880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84848" y="195681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V4 (Pro 1.6 трлн / Flash 284 млрд)</a:t>
            </a:r>
          </a:p>
        </p:txBody>
      </p:sp>
      <p:pic>
        <p:nvPicPr>
          <p:cNvPr id="17" name="Picture 16" descr="qw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2606040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4848" y="247497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 3.8-Max — первая открытая из линейки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93136"/>
            <a:ext cx="5029200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Kimi K2.6 (1 трлн) · Kimi K3 (2.8 трлн — крупнейшая открытая)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0332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074920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548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68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893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пересматривайте выбор модели регулярно — ландшафт живёт месяцами, а не годами.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сводка механизмов и границ — и решение, когда LLM не тот инструмент»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6 разборов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epe-silv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064132"/>
            <a:ext cx="4782312" cy="35867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Мы рассмотрели, как работает модель, — соберём картину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Новые темы не добавили стадий — они встроились в существующие.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Arrow 18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Glitch-токены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свойство словаря на стадии токенизации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Подведём итоги: по каждому механизму — граница и что с ней делать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78992"/>
          <a:ext cx="11201400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663440"/>
                <a:gridCol w="42062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Граница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Что делать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Токенизация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вирусный фикс не переносится на класс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Тестируйте «cranberry своей предметки»; счёт — в инструмент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Внимание и роль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с весом; смещает стиль и фокус, не качество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инструмент тона/фокуса; для фактов — давайте данные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KV-cache и кэш промптов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Экономит только на повторном префиксе; токен в начале рушит всё после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Стабильное — в начало, переменное — в конец; следите за cache hit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Контекстное окно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Заявленное ≠ полезное: 11 из 13 моделей теряют половину уже на 32K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Выбирайте по бенчмаркам без лексических подсказок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Детерминизм при T=0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ваш ответ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Тесты — не на побитовом сравнении; стройте процессы с учётом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Reasoning-токены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output, без естественного потолка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Закладывайте бюджет отдельно; effort/verbosity — явно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Структурированный вывод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Валидность по построению — но не содержательное качество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Не перегружайте схему; значения валидируете вы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Бенчмарки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Контаминация, подгонка витрин, жульничество моделей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Свой оценочный набор; лидерборды — ориентир, не гарантия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Размеры моделей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«Открытые веса» ≠ «локально запускаемые»: гиганты — только облако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Класс модели — по задаче и железу, не по лицензии весов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77900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833872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Каждый механизм работает — но не безгранично.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822960"/>
            <a:ext cx="6766560" cy="2673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951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" y="3752874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20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3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3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сходство ≠ релевантность.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387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339" y="375287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056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99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надёжность формата даёт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1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" y="536221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20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3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3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F0AB00"/>
                </a:solidFill>
                <a:latin typeface="Arial"/>
              </a:rPr>
              <a:t>Якорь: стабильный префикс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87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339" y="5362218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056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99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99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агент читает внешний контент → prompt injection.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