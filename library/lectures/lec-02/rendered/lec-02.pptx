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AI, а с вас. Пока вы читаете это предложение, ваш мозг непрерывно решает маленькую, но важную задачу: что сейчас важно держать в фокусе, а что можно оставить фоном. Где-то на периферии — уведомление на телефоне, недодуманная мысль про вечерние планы, ощущение неудобного стула. Всё это конкурирует за один и тот же ограниченный ресурс — ваше внимание. Вы не осознаёте выбор в моменте, но он происходит постоянно.</a:t>
            </a:r>
          </a:p>
          <a:p/>
          <a:p>
            <a:r>
              <a:t>На слайде — персонаж, которого одновременно тянут в три стороны: уведомление, посторонняя мысль, незакрытая задача. Это не про рассеянность как недостаток — это нормальная работа механизма внимания. У человека внимание ограничено: мы физически не можем одинаково полно обрабатывать всё одновременно, поэтому мозг постоянно расставляет приоритеты — что в фокус, что в фон.</a:t>
            </a:r>
          </a:p>
          <a:p/>
          <a:p>
            <a:r>
              <a:t>Сегодняшняя лекция — про то, что происходит внутри AI-модели между вашим запросом и её ответом. И один из четырёх внутренних этапов, которые мы разберём, называется буквально так же, как то, что вы только что почувствовали — **механизм внимания**. Когда модель обрабатывает ваш текст, она тоже решает, на какие части входа «смотреть» внимательнее, а какие оставить фоном. Важная оговорка, к которой мы вернёмся в Разделе 3: сходство здесь — по названию и по общей идее «выбора приоритета», а не по устройству. Внутри модели это не психологический процесс, а конкретная вычислимая операция — матрица весов, которую можно посчитать и посмотреть. Разберём это подробно, когда дойдём до сути.</a:t>
            </a:r>
          </a:p>
          <a:p/>
          <a:p>
            <a:r>
              <a:t>Прежде чем туда дойти — пройдём весь путь запроса через модель: токенизацию, эмбеддинги, внимание, сэмплинг. У каждого этапа — своё конкретное инженерное следствие для того, как вы работаете с AI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оставила без ответа: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внимания,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введение: что такое токен,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внимания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На Лекции 1 модель называлась «чёрным ящиком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без ответа.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они получат явный ответ — три «почему» через конкретные внутренние механизмы.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Темп в разделе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(o1-класс,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a:p/>
          <a:p>
            <a:r>
              <a:t>Та же природа объясняет вторую, менее очевидную проблему — арифметику. Числа тоже проходят через токенизатор, и разбиение на токены непредсказуемо совпадает с разрядами: `1234` может разрезаться на `12`+`34` (совпадает с сотнями), а `55688` — на `556`+`88` (уже не совпадает). Модель не видит цифры по отдельности — она видит эти нерегулярные группы. Следствие измеримо: на 3-значном умножении GPT-4 без внешних инструментов даёт около 59% точности, на 4-значном — уже 4%, а на 5-значном — 0% (arXiv 2410.19730). Решение то же самое, что и для букв: внешний калькулятор или код, либо явный пошаговый вывод, а не один прямой проход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внимания. И завершим раздел разбором эффекта «lost in the middle» — почему большое окно не значит хорошее использование контекста.</a:t>
            </a:r>
          </a:p>
          <a:p/>
          <a:p>
            <a:r>
              <a:t>Раздел — самый концептуально насыщенный в лекции. Это сделано осознанно: механизм внимания — самая плотная по содержанию часть, и её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внимание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веса внимания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внимание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внимание.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внимания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(многоголовое внимание).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внимание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механизм внимания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механизм внимания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 многоголовое внимание,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внимания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Реальная карта внимания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внимание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внимания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распределении внимания при генерации первых токенов ответа. Роль в промпте — не просьба «поверь мне», а явный input-сигнал, прямо влияющий на распределение внимания. Это первый из трёх вопросов «почему», поставленных в начале лекции, и теперь мы объясняем его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*Цифры приведены на май 2026 года; темп роста контекстного окна — примерно ×10 каждые 1-2 года. Перед лекцией стоит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Базовый механизм внимания требует, чтобы каждый из N токенов посмотрел на каждый — это N² операций на каждом слое внимания.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ванильного механизма внимания,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во внимании.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внимания,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третий из трёх вопросов «почему», поставленных в начале лекции: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ключевая практическая цель этого раздела: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внимание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тому, что говорила Лекция 1: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внимание,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и оплатой за токены — которая для русского текста выше, чем для английского, как мы видели ранее сегодня.</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практический итог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вниманием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внимания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сегодняшней лекции мы поставили три вопроса «почему» — и обещали ответить на них не интуицией, а конкретным механизмом. Теперь у нас есть всё нужное, чтобы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распределении внимания.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главный практический итог сегодняшней лекции. Если вы можете назвать механизм для каждого «почему» в одном-двух предложениях, главное содержание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классификацию задача × модальность из Лекции 1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феномен, описанный ещё в Лекции 1: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 Практический вывод: там, где решения требуют именно причинного вывода, привлекайте эксперта предметной области или отдельные причинные методы — механизм внимания сам по себе для этого не предназначен.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разделе про эмбеддинги сегодняшней лекции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в Лекции 3 разберём подробнее.</a:t>
            </a:r>
          </a:p>
          <a:p/>
          <a:p>
            <a:r>
              <a:t>**Agent loop.** Цикл act → observe → reflect, рассмотренный ещё в Лекции 1. На каждом шаге модель решает действие, видит результат, корректирует план — и так до достижения цели. Все четыре концепта надстраиваются над single-shot inference, который мы собрали сегодня.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Пока вы читаете это предложение — на что вы НЕ обращаете внимания?</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Ваш мозг ежесекундно выбирает, что важно, а что — фон.</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8714"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Механизм, который сегодня разберём внутри модели ИИ, называется точно так же — «внимание». Он работает похоже — но не так, как ваш.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(из Лекции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ошибается в «сколько r в strawberry» — слова не из букв, а из 3 токенов</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Подсчёт символов</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Опечатки</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Регистр и пробелы</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разные токены, разные id.</a:t>
            </a:r>
          </a:p>
        </p:txBody>
      </p:sp>
      <p:sp>
        <p:nvSpPr>
          <p:cNvPr id="14" name="Rounded Rectangle 13"/>
          <p:cNvSpPr/>
          <p:nvPr/>
        </p:nvSpPr>
        <p:spPr>
          <a:xfrm>
            <a:off x="502920" y="5440680"/>
            <a:ext cx="11247120"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550408"/>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Буквы: внешний инструмент (Python, regex) или посимвольный запрос. Топ-модели 2026 сами вызывают код вместо одного прохода.</a:t>
            </a:r>
          </a:p>
        </p:txBody>
      </p:sp>
      <p:sp>
        <p:nvSpPr>
          <p:cNvPr id="16" name="TextBox 15"/>
          <p:cNvSpPr txBox="1"/>
          <p:nvPr/>
        </p:nvSpPr>
        <p:spPr>
          <a:xfrm>
            <a:off x="731520" y="6062472"/>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Числа: тоже режутся непредсказуемо (1234→12+34, но 55688→556+88) → GPT-4: 59% точности на 3-знач. умножении, 4% на 4-знач., 0% на 5-знач. без калькулятора (arXiv 2410.19730).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сверка каждого токена со всеми остальными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внимания.</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Внимание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весах внимания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Разбор примера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реальная карта внимания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весах внимания)</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весах внимания)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контекстного окна + квадратичная стоимость внимания</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базовое внимание</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внимания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стандартный выбор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внимание</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Ответы на вопросы из начала лекции</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внимания role-токены получают высокий вес — модель опирается на них при выборе следующих токенов.</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Когда LLM — не правильный инструмент: дерево решений</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Когда LLM — не правильный инструмент?</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Фиксированные классы</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Классификация на маленьком наборе категорий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Классический ML
лог. регрессия, XGBoost,
LightGBM, дообученный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Интерпрети- руемость</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Нужна интерпретируемость
(финансы, медицина, страхование)?</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Прозрачные методы
лог. регрессия + важность,
деревья решений, правила</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Скорость отклика</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Время отклика &lt; 100 мс критично
(антифрод, устройство пользователя)?</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Специализированная
маленькая модель
(не LLM ≥200 мс)</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ИИ считает корреляции в данных, не строит каузальный граф</a:t>
            </a:r>
          </a:p>
        </p:txBody>
      </p:sp>
      <p:sp>
        <p:nvSpPr>
          <p:cNvPr id="4" name="Rounded Rectangle 3"/>
          <p:cNvSpPr/>
          <p:nvPr/>
        </p:nvSpPr>
        <p:spPr>
          <a:xfrm>
            <a:off x="50292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 Для причинных выводов нужен именно этот опыт — не статистика.</a:t>
            </a:r>
          </a:p>
        </p:txBody>
      </p:sp>
      <p:sp>
        <p:nvSpPr>
          <p:cNvPr id="10" name="Rounded Rectangle 9"/>
          <p:cNvSpPr/>
          <p:nvPr/>
        </p:nvSpPr>
        <p:spPr>
          <a:xfrm>
            <a:off x="626364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ИИ (через внимание)</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Для причинных выводов — привлекайте эксперта предметной области или причинные 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близость эмбеддингов + LLM → ответ из вашей базы</a:t>
            </a:r>
          </a:p>
        </p:txBody>
      </p:sp>
      <p:sp>
        <p:nvSpPr>
          <p:cNvPr id="9" name="Rounded Rectangle 8"/>
          <p:cNvSpPr/>
          <p:nvPr/>
        </p:nvSpPr>
        <p:spPr>
          <a:xfrm>
            <a:off x="6135624"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64224" y="2103120"/>
            <a:ext cx="1005840" cy="1005840"/>
          </a:xfrm>
          <a:prstGeom prst="rect">
            <a:avLst/>
          </a:prstGeom>
        </p:spPr>
      </p:pic>
      <p:sp>
        <p:nvSpPr>
          <p:cNvPr id="11" name="TextBox 10"/>
          <p:cNvSpPr txBox="1"/>
          <p:nvPr/>
        </p:nvSpPr>
        <p:spPr>
          <a:xfrm>
            <a:off x="7507224"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07224"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09944"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700016"/>
            <a:ext cx="1005840" cy="1005840"/>
          </a:xfrm>
          <a:prstGeom prst="rect">
            <a:avLst/>
          </a:prstGeom>
        </p:spPr>
      </p:pic>
      <p:sp>
        <p:nvSpPr>
          <p:cNvPr id="16" name="TextBox 15"/>
          <p:cNvSpPr txBox="1"/>
          <p:nvPr/>
        </p:nvSpPr>
        <p:spPr>
          <a:xfrm>
            <a:off x="1874519"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35624"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64224" y="4700016"/>
            <a:ext cx="1005840" cy="1005840"/>
          </a:xfrm>
          <a:prstGeom prst="rect">
            <a:avLst/>
          </a:prstGeom>
        </p:spPr>
      </p:pic>
      <p:sp>
        <p:nvSpPr>
          <p:cNvPr id="21" name="TextBox 20"/>
          <p:cNvSpPr txBox="1"/>
          <p:nvPr/>
        </p:nvSpPr>
        <p:spPr>
          <a:xfrm>
            <a:off x="7507224"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07224"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09944"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Модель решает действие, видит результат, корректирует план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Спасибо</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контакты лектора — заполняется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