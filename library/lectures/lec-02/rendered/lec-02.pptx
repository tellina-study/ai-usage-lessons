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Открытие лекции — простая, но контринтуитивная мысль: когда вы отправляете запрос в LLM, модель не видит ваш текст так, как видите его вы. До того, как любая «магия» — ответы, рассуждения, генерация кода — может произойти, ваш текст проходит через первую обязательную операцию, которая называется **токенизация**. Текст разрезается на единицы, которые называются токенами. И именно с этими токенами — не с буквами и не со словами — дальше работает модель.</a:t>
            </a:r>
          </a:p>
          <a:p/>
          <a:p>
            <a:r>
              <a:t>На слайде — три параллельных примера на трёх типах входа. Английская фраза `tokenization is fascinating` режется на пять токенов: `[token]`, `[ization]`, `[ is]`, `[ fascin]`, `[ating]`. Заметьте, что пробел становится частью следующего токена, а не отдельной единицей; это особенность семейства BPE-токенизаторов. Русская фраза `Привет, как дела?` — короче по количеству символов, но даёт уже шесть токенов, потому что для русского словарь модели не содержит готовых сборок типа `[Привет]` целиком: слово приходится разрезать на `[Прив]` и `[ет]`. Третий пример — программный код: `def hello(name):` — режется на шесть токенов, причём специальные символы вроде скобок и двоеточия — это отдельные токены.</a:t>
            </a:r>
          </a:p>
          <a:p/>
          <a:p>
            <a:r>
              <a:t>Главное практическое следствие, к которому мы вернёмся в Разделе 1: один и тот же смысл стоит **разное число токенов** в зависимости от языка и формата. Английский — почти в два раза дешевле русского, потому что в обучающем корпусе LLM английского текста на порядок больше, и BPE выучил для него более крупные сборки. Это инженерный факт со стоимостной интерпретацией: один и тот же запрос в API на русском обойдётся примерно вдвое дороже, чем на английском.</a:t>
            </a:r>
          </a:p>
          <a:p/>
          <a:p>
            <a:r>
              <a:t>Тема сегодняшней лекции — что происходит внутри LLM между моим запросом и ответом. Мы разберём четыре внутренних этапа: токенизацию, эмбеддинги, внимание, сэмплинг. И каждый этап будет связан с инженерной практикой через конкретные следствия — вроде того, что мы только что увидели на стоимости запросов.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открытие: живая токенизация слова strawberry,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Открытие лекции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attention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attention weights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attention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attention.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attention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payoff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731520"/>
          </a:xfrm>
          <a:prstGeom prst="rect">
            <a:avLst/>
          </a:prstGeom>
          <a:noFill/>
        </p:spPr>
        <p:txBody>
          <a:bodyPr wrap="square" lIns="0" rIns="0" tIns="0" bIns="0" anchor="ctr">
            <a:spAutoFit/>
          </a:bodyPr>
          <a:lstStyle/>
          <a:p>
            <a:pPr algn="ctr">
              <a:lnSpc>
                <a:spcPct val="110000"/>
              </a:lnSpc>
            </a:pPr>
            <a:r>
              <a:rPr sz="3000" b="1" i="0">
                <a:solidFill>
                  <a:srgbClr val="21295C"/>
                </a:solidFill>
                <a:latin typeface="Arial"/>
              </a:rPr>
              <a:t>Модель видит ваш запрос не словами — а фрагментами</a:t>
            </a:r>
          </a:p>
        </p:txBody>
      </p:sp>
      <p:sp>
        <p:nvSpPr>
          <p:cNvPr id="3" name="TextBox 2"/>
          <p:cNvSpPr txBox="1"/>
          <p:nvPr/>
        </p:nvSpPr>
        <p:spPr>
          <a:xfrm>
            <a:off x="502920" y="1188720"/>
            <a:ext cx="11247120" cy="365760"/>
          </a:xfrm>
          <a:prstGeom prst="rect">
            <a:avLst/>
          </a:prstGeom>
          <a:noFill/>
        </p:spPr>
        <p:txBody>
          <a:bodyPr wrap="square" lIns="0" rIns="0" tIns="0" bIns="0" anchor="ctr">
            <a:spAutoFit/>
          </a:bodyPr>
          <a:lstStyle/>
          <a:p>
            <a:pPr algn="ctr">
              <a:lnSpc>
                <a:spcPct val="120000"/>
              </a:lnSpc>
            </a:pPr>
            <a:r>
              <a:rPr sz="1500" b="0" i="1">
                <a:solidFill>
                  <a:srgbClr val="028090"/>
                </a:solidFill>
                <a:latin typeface="Arial"/>
              </a:rPr>
              <a:t>Эти фрагменты называются токенами. Они — единственное, что попадает в LLM.</a:t>
            </a:r>
          </a:p>
        </p:txBody>
      </p:sp>
      <p:sp>
        <p:nvSpPr>
          <p:cNvPr id="4" name="Rounded Rectangle 3"/>
          <p:cNvSpPr/>
          <p:nvPr/>
        </p:nvSpPr>
        <p:spPr>
          <a:xfrm>
            <a:off x="502920" y="16916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48840"/>
            <a:ext cx="77724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EN</a:t>
            </a:r>
          </a:p>
        </p:txBody>
      </p:sp>
      <p:sp>
        <p:nvSpPr>
          <p:cNvPr id="6" name="TextBox 5"/>
          <p:cNvSpPr txBox="1"/>
          <p:nvPr/>
        </p:nvSpPr>
        <p:spPr>
          <a:xfrm>
            <a:off x="1600200" y="18745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"tokenization is fascinating"</a:t>
            </a:r>
          </a:p>
        </p:txBody>
      </p:sp>
      <p:sp>
        <p:nvSpPr>
          <p:cNvPr id="7" name="TextBox 6"/>
          <p:cNvSpPr txBox="1"/>
          <p:nvPr/>
        </p:nvSpPr>
        <p:spPr>
          <a:xfrm>
            <a:off x="1600200" y="22860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8" name="Rounded Rectangle 7"/>
          <p:cNvSpPr/>
          <p:nvPr/>
        </p:nvSpPr>
        <p:spPr>
          <a:xfrm>
            <a:off x="1600200" y="2468880"/>
            <a:ext cx="91440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[token]</a:t>
            </a:r>
          </a:p>
        </p:txBody>
      </p:sp>
      <p:sp>
        <p:nvSpPr>
          <p:cNvPr id="9" name="Rounded Rectangle 8"/>
          <p:cNvSpPr/>
          <p:nvPr/>
        </p:nvSpPr>
        <p:spPr>
          <a:xfrm>
            <a:off x="2587752" y="2468880"/>
            <a:ext cx="1152144"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[ization]</a:t>
            </a:r>
          </a:p>
        </p:txBody>
      </p:sp>
      <p:sp>
        <p:nvSpPr>
          <p:cNvPr id="10" name="Rounded Rectangle 9"/>
          <p:cNvSpPr/>
          <p:nvPr/>
        </p:nvSpPr>
        <p:spPr>
          <a:xfrm>
            <a:off x="3813048" y="2468880"/>
            <a:ext cx="676656"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is]</a:t>
            </a:r>
          </a:p>
        </p:txBody>
      </p:sp>
      <p:sp>
        <p:nvSpPr>
          <p:cNvPr id="11" name="Rounded Rectangle 10"/>
          <p:cNvSpPr/>
          <p:nvPr/>
        </p:nvSpPr>
        <p:spPr>
          <a:xfrm>
            <a:off x="4562856" y="2468880"/>
            <a:ext cx="1152144"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fascin]</a:t>
            </a:r>
          </a:p>
        </p:txBody>
      </p:sp>
      <p:sp>
        <p:nvSpPr>
          <p:cNvPr id="12" name="Rounded Rectangle 11"/>
          <p:cNvSpPr/>
          <p:nvPr/>
        </p:nvSpPr>
        <p:spPr>
          <a:xfrm>
            <a:off x="5788152" y="2468880"/>
            <a:ext cx="914400"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[ating]</a:t>
            </a:r>
          </a:p>
        </p:txBody>
      </p:sp>
      <p:sp>
        <p:nvSpPr>
          <p:cNvPr id="13" name="TextBox 12"/>
          <p:cNvSpPr txBox="1"/>
          <p:nvPr/>
        </p:nvSpPr>
        <p:spPr>
          <a:xfrm>
            <a:off x="9738360" y="21031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5 токенов</a:t>
            </a:r>
          </a:p>
        </p:txBody>
      </p:sp>
      <p:sp>
        <p:nvSpPr>
          <p:cNvPr id="14" name="Rounded Rectangle 13"/>
          <p:cNvSpPr/>
          <p:nvPr/>
        </p:nvSpPr>
        <p:spPr>
          <a:xfrm>
            <a:off x="502920" y="30632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520440"/>
            <a:ext cx="77724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RU</a:t>
            </a:r>
          </a:p>
        </p:txBody>
      </p:sp>
      <p:sp>
        <p:nvSpPr>
          <p:cNvPr id="16" name="TextBox 15"/>
          <p:cNvSpPr txBox="1"/>
          <p:nvPr/>
        </p:nvSpPr>
        <p:spPr>
          <a:xfrm>
            <a:off x="1600200" y="32461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"Привет, как дела?"</a:t>
            </a:r>
          </a:p>
        </p:txBody>
      </p:sp>
      <p:sp>
        <p:nvSpPr>
          <p:cNvPr id="17" name="TextBox 16"/>
          <p:cNvSpPr txBox="1"/>
          <p:nvPr/>
        </p:nvSpPr>
        <p:spPr>
          <a:xfrm>
            <a:off x="1600200" y="36576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18" name="Rounded Rectangle 17"/>
          <p:cNvSpPr/>
          <p:nvPr/>
        </p:nvSpPr>
        <p:spPr>
          <a:xfrm>
            <a:off x="1600200" y="3840480"/>
            <a:ext cx="795528"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[Прив]</a:t>
            </a:r>
          </a:p>
        </p:txBody>
      </p:sp>
      <p:sp>
        <p:nvSpPr>
          <p:cNvPr id="19" name="Rounded Rectangle 18"/>
          <p:cNvSpPr/>
          <p:nvPr/>
        </p:nvSpPr>
        <p:spPr>
          <a:xfrm>
            <a:off x="2468880" y="3840480"/>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[ет]</a:t>
            </a:r>
          </a:p>
        </p:txBody>
      </p:sp>
      <p:sp>
        <p:nvSpPr>
          <p:cNvPr id="20" name="Rounded Rectangle 19"/>
          <p:cNvSpPr/>
          <p:nvPr/>
        </p:nvSpPr>
        <p:spPr>
          <a:xfrm>
            <a:off x="3136392" y="3840480"/>
            <a:ext cx="91440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как]</a:t>
            </a:r>
          </a:p>
        </p:txBody>
      </p:sp>
      <p:sp>
        <p:nvSpPr>
          <p:cNvPr id="21" name="Rounded Rectangle 20"/>
          <p:cNvSpPr/>
          <p:nvPr/>
        </p:nvSpPr>
        <p:spPr>
          <a:xfrm>
            <a:off x="4123944" y="3840480"/>
            <a:ext cx="914400"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дела]</a:t>
            </a:r>
          </a:p>
        </p:txBody>
      </p:sp>
      <p:sp>
        <p:nvSpPr>
          <p:cNvPr id="22" name="Rounded Rectangle 21"/>
          <p:cNvSpPr/>
          <p:nvPr/>
        </p:nvSpPr>
        <p:spPr>
          <a:xfrm>
            <a:off x="5111496" y="3840480"/>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
            </a:r>
          </a:p>
        </p:txBody>
      </p:sp>
      <p:sp>
        <p:nvSpPr>
          <p:cNvPr id="23" name="TextBox 22"/>
          <p:cNvSpPr txBox="1"/>
          <p:nvPr/>
        </p:nvSpPr>
        <p:spPr>
          <a:xfrm>
            <a:off x="9738360" y="34747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5 токенов</a:t>
            </a:r>
          </a:p>
        </p:txBody>
      </p:sp>
      <p:sp>
        <p:nvSpPr>
          <p:cNvPr id="24" name="Rounded Rectangle 23"/>
          <p:cNvSpPr/>
          <p:nvPr/>
        </p:nvSpPr>
        <p:spPr>
          <a:xfrm>
            <a:off x="502920" y="44348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892040"/>
            <a:ext cx="777240"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Code</a:t>
            </a:r>
          </a:p>
        </p:txBody>
      </p:sp>
      <p:sp>
        <p:nvSpPr>
          <p:cNvPr id="26" name="TextBox 25"/>
          <p:cNvSpPr txBox="1"/>
          <p:nvPr/>
        </p:nvSpPr>
        <p:spPr>
          <a:xfrm>
            <a:off x="1600200" y="46177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"def hello(name):"</a:t>
            </a:r>
          </a:p>
        </p:txBody>
      </p:sp>
      <p:sp>
        <p:nvSpPr>
          <p:cNvPr id="27" name="TextBox 26"/>
          <p:cNvSpPr txBox="1"/>
          <p:nvPr/>
        </p:nvSpPr>
        <p:spPr>
          <a:xfrm>
            <a:off x="1600200" y="50292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28" name="Rounded Rectangle 27"/>
          <p:cNvSpPr/>
          <p:nvPr/>
        </p:nvSpPr>
        <p:spPr>
          <a:xfrm>
            <a:off x="1600200" y="5212079"/>
            <a:ext cx="676656"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[def]</a:t>
            </a:r>
          </a:p>
        </p:txBody>
      </p:sp>
      <p:sp>
        <p:nvSpPr>
          <p:cNvPr id="29" name="Rounded Rectangle 28"/>
          <p:cNvSpPr/>
          <p:nvPr/>
        </p:nvSpPr>
        <p:spPr>
          <a:xfrm>
            <a:off x="2350008" y="5212079"/>
            <a:ext cx="1033271"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hello]</a:t>
            </a:r>
          </a:p>
        </p:txBody>
      </p:sp>
      <p:sp>
        <p:nvSpPr>
          <p:cNvPr id="30" name="Rounded Rectangle 29"/>
          <p:cNvSpPr/>
          <p:nvPr/>
        </p:nvSpPr>
        <p:spPr>
          <a:xfrm>
            <a:off x="3456432" y="5212079"/>
            <a:ext cx="1033271"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[(name)]</a:t>
            </a:r>
          </a:p>
        </p:txBody>
      </p:sp>
      <p:sp>
        <p:nvSpPr>
          <p:cNvPr id="31" name="Rounded Rectangle 30"/>
          <p:cNvSpPr/>
          <p:nvPr/>
        </p:nvSpPr>
        <p:spPr>
          <a:xfrm>
            <a:off x="4562856" y="5212079"/>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
            </a:r>
          </a:p>
        </p:txBody>
      </p:sp>
      <p:sp>
        <p:nvSpPr>
          <p:cNvPr id="32" name="TextBox 31"/>
          <p:cNvSpPr txBox="1"/>
          <p:nvPr/>
        </p:nvSpPr>
        <p:spPr>
          <a:xfrm>
            <a:off x="9738360" y="48463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4 токена</a:t>
            </a:r>
          </a:p>
        </p:txBody>
      </p:sp>
      <p:sp>
        <p:nvSpPr>
          <p:cNvPr id="33" name="Rounded Rectangle 32"/>
          <p:cNvSpPr/>
          <p:nvPr/>
        </p:nvSpPr>
        <p:spPr>
          <a:xfrm>
            <a:off x="502920" y="585216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925312"/>
            <a:ext cx="10881360" cy="493775"/>
          </a:xfrm>
          <a:prstGeom prst="rect">
            <a:avLst/>
          </a:prstGeom>
          <a:noFill/>
        </p:spPr>
        <p:txBody>
          <a:bodyPr wrap="square" lIns="0" rIns="0" tIns="0" bIns="0" anchor="ctr">
            <a:spAutoFit/>
          </a:bodyPr>
          <a:lstStyle/>
          <a:p>
            <a:pPr algn="l">
              <a:lnSpc>
                <a:spcPct val="125000"/>
              </a:lnSpc>
            </a:pPr>
            <a:r>
              <a:rPr sz="1700" b="1" i="0">
                <a:solidFill>
                  <a:srgbClr val="21295C"/>
                </a:solidFill>
                <a:latin typeface="Arial"/>
              </a:rPr>
              <a:t>Один и тот же смысл — разное число токенов. EN дешевле RU почти в 2×.</a:t>
            </a:r>
          </a:p>
        </p:txBody>
      </p:sp>
      <p:sp>
        <p:nvSpPr>
          <p:cNvPr id="35" name="TextBox 34"/>
          <p:cNvSpPr txBox="1"/>
          <p:nvPr/>
        </p:nvSpPr>
        <p:spPr>
          <a:xfrm>
            <a:off x="502920" y="6583680"/>
            <a:ext cx="11247120" cy="274320"/>
          </a:xfrm>
          <a:prstGeom prst="rect">
            <a:avLst/>
          </a:prstGeom>
          <a:noFill/>
        </p:spPr>
        <p:txBody>
          <a:bodyPr wrap="square" lIns="0" rIns="0" tIns="0" bIns="0" anchor="t">
            <a:spAutoFit/>
          </a:bodyPr>
          <a:lstStyle/>
          <a:p>
            <a:pPr algn="ctr">
              <a:lnSpc>
                <a:spcPct val="125000"/>
              </a:lnSpc>
            </a:pPr>
            <a:r>
              <a:rPr sz="1200" b="0" i="1">
                <a:solidFill>
                  <a:srgbClr val="1C7293"/>
                </a:solidFill>
                <a:latin typeface="Arial"/>
              </a:rPr>
              <a:t>Реальные разрезы в токенизаторе o200k_base (GPT-4o, Claude 4.x). Подробно — в Разделе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Открытие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Hook + recap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75564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19456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3774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2918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0632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8862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6575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4805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2519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0749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8463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68046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19456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3774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2644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0632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130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118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36168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1605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103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091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589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578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матрица, не линейная операция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attention.</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Attention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attention)</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attention)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5" name="Rounded Rectangle 4"/>
          <p:cNvSpPr/>
          <p:nvPr/>
        </p:nvSpPr>
        <p:spPr>
          <a:xfrm>
            <a:off x="502920" y="1828800"/>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103120"/>
            <a:ext cx="1005840" cy="10058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8" name="Picture 7" descr="focus.png"/>
          <p:cNvPicPr>
            <a:picLocks noChangeAspect="1"/>
          </p:cNvPicPr>
          <p:nvPr/>
        </p:nvPicPr>
        <p:blipFill>
          <a:blip r:embed="rId2"/>
          <a:stretch>
            <a:fillRect/>
          </a:stretch>
        </p:blipFill>
        <p:spPr>
          <a:xfrm>
            <a:off x="10515600" y="2240280"/>
            <a:ext cx="731520" cy="731520"/>
          </a:xfrm>
          <a:prstGeom prst="rect">
            <a:avLst/>
          </a:prstGeom>
        </p:spPr>
      </p:pic>
      <p:sp>
        <p:nvSpPr>
          <p:cNvPr id="9" name="TextBox 8"/>
          <p:cNvSpPr txBox="1"/>
          <p:nvPr/>
        </p:nvSpPr>
        <p:spPr>
          <a:xfrm>
            <a:off x="1965960" y="2011680"/>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10" name="TextBox 9"/>
          <p:cNvSpPr txBox="1"/>
          <p:nvPr/>
        </p:nvSpPr>
        <p:spPr>
          <a:xfrm>
            <a:off x="1965960" y="2560320"/>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1" name="Rounded Rectangle 10"/>
          <p:cNvSpPr/>
          <p:nvPr/>
        </p:nvSpPr>
        <p:spPr>
          <a:xfrm>
            <a:off x="502920" y="352043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794759"/>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1304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4" name="Picture 13" descr="binary.png"/>
          <p:cNvPicPr>
            <a:picLocks noChangeAspect="1"/>
          </p:cNvPicPr>
          <p:nvPr/>
        </p:nvPicPr>
        <p:blipFill>
          <a:blip r:embed="rId3"/>
          <a:stretch>
            <a:fillRect/>
          </a:stretch>
        </p:blipFill>
        <p:spPr>
          <a:xfrm>
            <a:off x="10515600" y="3931920"/>
            <a:ext cx="731520" cy="731520"/>
          </a:xfrm>
          <a:prstGeom prst="rect">
            <a:avLst/>
          </a:prstGeom>
        </p:spPr>
      </p:pic>
      <p:sp>
        <p:nvSpPr>
          <p:cNvPr id="15" name="TextBox 14"/>
          <p:cNvSpPr txBox="1"/>
          <p:nvPr/>
        </p:nvSpPr>
        <p:spPr>
          <a:xfrm>
            <a:off x="1965960" y="3703320"/>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6" name="TextBox 15"/>
          <p:cNvSpPr txBox="1"/>
          <p:nvPr/>
        </p:nvSpPr>
        <p:spPr>
          <a:xfrm>
            <a:off x="1965960" y="4251959"/>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7" name="Rounded Rectangle 16"/>
          <p:cNvSpPr/>
          <p:nvPr/>
        </p:nvSpPr>
        <p:spPr>
          <a:xfrm>
            <a:off x="502920" y="521207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486399"/>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50468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20" name="Picture 19" descr="sparkles.png"/>
          <p:cNvPicPr>
            <a:picLocks noChangeAspect="1"/>
          </p:cNvPicPr>
          <p:nvPr/>
        </p:nvPicPr>
        <p:blipFill>
          <a:blip r:embed="rId4"/>
          <a:stretch>
            <a:fillRect/>
          </a:stretch>
        </p:blipFill>
        <p:spPr>
          <a:xfrm>
            <a:off x="10515600" y="5623559"/>
            <a:ext cx="731520" cy="731520"/>
          </a:xfrm>
          <a:prstGeom prst="rect">
            <a:avLst/>
          </a:prstGeom>
        </p:spPr>
      </p:pic>
      <p:sp>
        <p:nvSpPr>
          <p:cNvPr id="21" name="TextBox 20"/>
          <p:cNvSpPr txBox="1"/>
          <p:nvPr/>
        </p:nvSpPr>
        <p:spPr>
          <a:xfrm>
            <a:off x="1965960" y="5394959"/>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2" name="TextBox 21"/>
          <p:cNvSpPr txBox="1"/>
          <p:nvPr/>
        </p:nvSpPr>
        <p:spPr>
          <a:xfrm>
            <a:off x="1965960" y="5943599"/>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3" name="Rounded Rectangle 2"/>
          <p:cNvSpPr/>
          <p:nvPr/>
        </p:nvSpPr>
        <p:spPr>
          <a:xfrm>
            <a:off x="3352647" y="1417320"/>
            <a:ext cx="5486400" cy="86868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52647" y="1554480"/>
            <a:ext cx="5486400" cy="64008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Когда LLM — не правильный инструмент?</a:t>
            </a:r>
          </a:p>
        </p:txBody>
      </p:sp>
      <p:sp>
        <p:nvSpPr>
          <p:cNvPr id="5" name="Rectangle 4"/>
          <p:cNvSpPr/>
          <p:nvPr/>
        </p:nvSpPr>
        <p:spPr>
          <a:xfrm>
            <a:off x="229057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788920"/>
            <a:ext cx="1005840" cy="1005840"/>
          </a:xfrm>
          <a:prstGeom prst="rect">
            <a:avLst/>
          </a:prstGeom>
        </p:spPr>
      </p:pic>
      <p:sp>
        <p:nvSpPr>
          <p:cNvPr id="8" name="TextBox 7"/>
          <p:cNvSpPr txBox="1"/>
          <p:nvPr/>
        </p:nvSpPr>
        <p:spPr>
          <a:xfrm>
            <a:off x="182880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Фиксированные классы</a:t>
            </a:r>
          </a:p>
        </p:txBody>
      </p:sp>
      <p:sp>
        <p:nvSpPr>
          <p:cNvPr id="9" name="TextBox 8"/>
          <p:cNvSpPr txBox="1"/>
          <p:nvPr/>
        </p:nvSpPr>
        <p:spPr>
          <a:xfrm>
            <a:off x="73152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Классификация на маленьком наборе категорий (5–20)?</a:t>
            </a:r>
          </a:p>
        </p:txBody>
      </p:sp>
      <p:sp>
        <p:nvSpPr>
          <p:cNvPr id="10" name="TextBox 9"/>
          <p:cNvSpPr txBox="1"/>
          <p:nvPr/>
        </p:nvSpPr>
        <p:spPr>
          <a:xfrm>
            <a:off x="73152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Классический ML
лог. регрессия, XGBoost,
LightGBM, дообученный BERT</a:t>
            </a:r>
          </a:p>
        </p:txBody>
      </p:sp>
      <p:sp>
        <p:nvSpPr>
          <p:cNvPr id="11" name="Rectangle 10"/>
          <p:cNvSpPr/>
          <p:nvPr/>
        </p:nvSpPr>
        <p:spPr>
          <a:xfrm>
            <a:off x="608533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788920"/>
            <a:ext cx="1005840" cy="1005840"/>
          </a:xfrm>
          <a:prstGeom prst="rect">
            <a:avLst/>
          </a:prstGeom>
        </p:spPr>
      </p:pic>
      <p:sp>
        <p:nvSpPr>
          <p:cNvPr id="14" name="TextBox 13"/>
          <p:cNvSpPr txBox="1"/>
          <p:nvPr/>
        </p:nvSpPr>
        <p:spPr>
          <a:xfrm>
            <a:off x="562356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Интерпретируемость</a:t>
            </a:r>
          </a:p>
        </p:txBody>
      </p:sp>
      <p:sp>
        <p:nvSpPr>
          <p:cNvPr id="15" name="TextBox 14"/>
          <p:cNvSpPr txBox="1"/>
          <p:nvPr/>
        </p:nvSpPr>
        <p:spPr>
          <a:xfrm>
            <a:off x="452628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Прозрачные методы
лог. регрессия + важность,
деревья решений, правила</a:t>
            </a:r>
          </a:p>
        </p:txBody>
      </p:sp>
      <p:sp>
        <p:nvSpPr>
          <p:cNvPr id="17" name="Rectangle 16"/>
          <p:cNvSpPr/>
          <p:nvPr/>
        </p:nvSpPr>
        <p:spPr>
          <a:xfrm>
            <a:off x="988009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788920"/>
            <a:ext cx="1005840" cy="1005840"/>
          </a:xfrm>
          <a:prstGeom prst="rect">
            <a:avLst/>
          </a:prstGeom>
        </p:spPr>
      </p:pic>
      <p:sp>
        <p:nvSpPr>
          <p:cNvPr id="20" name="TextBox 19"/>
          <p:cNvSpPr txBox="1"/>
          <p:nvPr/>
        </p:nvSpPr>
        <p:spPr>
          <a:xfrm>
            <a:off x="941832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Скорость отклика</a:t>
            </a:r>
          </a:p>
        </p:txBody>
      </p:sp>
      <p:sp>
        <p:nvSpPr>
          <p:cNvPr id="21" name="TextBox 20"/>
          <p:cNvSpPr txBox="1"/>
          <p:nvPr/>
        </p:nvSpPr>
        <p:spPr>
          <a:xfrm>
            <a:off x="832104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Время отклика &lt; 100 мс критично
(антифрод, устройство пользователя)?</a:t>
            </a:r>
          </a:p>
        </p:txBody>
      </p:sp>
      <p:sp>
        <p:nvSpPr>
          <p:cNvPr id="22" name="TextBox 21"/>
          <p:cNvSpPr txBox="1"/>
          <p:nvPr/>
        </p:nvSpPr>
        <p:spPr>
          <a:xfrm>
            <a:off x="832104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Специализированная
маленькая модель
(не LLM ≥200 мс)</a:t>
            </a:r>
          </a:p>
        </p:txBody>
      </p:sp>
      <p:sp>
        <p:nvSpPr>
          <p:cNvPr id="23" name="Rounded Rectangle 22"/>
          <p:cNvSpPr/>
          <p:nvPr/>
        </p:nvSpPr>
        <p:spPr>
          <a:xfrm>
            <a:off x="1295247" y="5989320"/>
            <a:ext cx="96012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5247" y="6126480"/>
            <a:ext cx="96012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1965960"/>
            <a:ext cx="1051560" cy="1051560"/>
          </a:xfrm>
          <a:prstGeom prst="rect">
            <a:avLst/>
          </a:prstGeom>
        </p:spPr>
      </p:pic>
      <p:sp>
        <p:nvSpPr>
          <p:cNvPr id="6" name="TextBox 5"/>
          <p:cNvSpPr txBox="1"/>
          <p:nvPr/>
        </p:nvSpPr>
        <p:spPr>
          <a:xfrm>
            <a:off x="192024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1965960"/>
            <a:ext cx="1051560" cy="1051560"/>
          </a:xfrm>
          <a:prstGeom prst="rect">
            <a:avLst/>
          </a:prstGeom>
        </p:spPr>
      </p:pic>
      <p:sp>
        <p:nvSpPr>
          <p:cNvPr id="12" name="TextBox 11"/>
          <p:cNvSpPr txBox="1"/>
          <p:nvPr/>
        </p:nvSpPr>
        <p:spPr>
          <a:xfrm>
            <a:off x="768096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(через attention)</a:t>
            </a:r>
          </a:p>
        </p:txBody>
      </p:sp>
      <p:sp>
        <p:nvSpPr>
          <p:cNvPr id="13" name="TextBox 12"/>
          <p:cNvSpPr txBox="1"/>
          <p:nvPr/>
        </p:nvSpPr>
        <p:spPr>
          <a:xfrm>
            <a:off x="6537959"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331720"/>
          </a:xfrm>
          <a:prstGeom prst="roundRect">
            <a:avLst>
              <a:gd name="adj" fmla="val 130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057400"/>
            <a:ext cx="1005840" cy="1005840"/>
          </a:xfrm>
          <a:prstGeom prst="rect">
            <a:avLst/>
          </a:prstGeom>
        </p:spPr>
      </p:pic>
      <p:sp>
        <p:nvSpPr>
          <p:cNvPr id="6" name="TextBox 5"/>
          <p:cNvSpPr txBox="1"/>
          <p:nvPr/>
        </p:nvSpPr>
        <p:spPr>
          <a:xfrm>
            <a:off x="1874519"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близость эмбеддингов + LLM → ответ из вашей базы</a:t>
            </a:r>
          </a:p>
        </p:txBody>
      </p:sp>
      <p:sp>
        <p:nvSpPr>
          <p:cNvPr id="9" name="Rounded Rectangle 8"/>
          <p:cNvSpPr/>
          <p:nvPr/>
        </p:nvSpPr>
        <p:spPr>
          <a:xfrm>
            <a:off x="6172200" y="17830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057400"/>
            <a:ext cx="1005840" cy="1005840"/>
          </a:xfrm>
          <a:prstGeom prst="rect">
            <a:avLst/>
          </a:prstGeom>
        </p:spPr>
      </p:pic>
      <p:sp>
        <p:nvSpPr>
          <p:cNvPr id="11" name="TextBox 10"/>
          <p:cNvSpPr txBox="1"/>
          <p:nvPr/>
        </p:nvSpPr>
        <p:spPr>
          <a:xfrm>
            <a:off x="7543800" y="20116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43800" y="26517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46520" y="32004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572000"/>
            <a:ext cx="1005840" cy="1005840"/>
          </a:xfrm>
          <a:prstGeom prst="rect">
            <a:avLst/>
          </a:prstGeom>
        </p:spPr>
      </p:pic>
      <p:sp>
        <p:nvSpPr>
          <p:cNvPr id="16" name="TextBox 15"/>
          <p:cNvSpPr txBox="1"/>
          <p:nvPr/>
        </p:nvSpPr>
        <p:spPr>
          <a:xfrm>
            <a:off x="1874519"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72200" y="429768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572000"/>
            <a:ext cx="1005840" cy="1005840"/>
          </a:xfrm>
          <a:prstGeom prst="rect">
            <a:avLst/>
          </a:prstGeom>
        </p:spPr>
      </p:pic>
      <p:sp>
        <p:nvSpPr>
          <p:cNvPr id="21" name="TextBox 20"/>
          <p:cNvSpPr txBox="1"/>
          <p:nvPr/>
        </p:nvSpPr>
        <p:spPr>
          <a:xfrm>
            <a:off x="7543800" y="452628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43800" y="516636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46520" y="5715000"/>
            <a:ext cx="4983480" cy="86868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6446520"/>
            <a:ext cx="11247120" cy="365760"/>
          </a:xfrm>
          <a:prstGeom prst="roundRect">
            <a:avLst>
              <a:gd name="adj" fmla="val 3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73952"/>
            <a:ext cx="1828800" cy="320040"/>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Q&amp;A</a:t>
            </a:r>
          </a:p>
        </p:txBody>
      </p:sp>
      <p:sp>
        <p:nvSpPr>
          <p:cNvPr id="26" name="TextBox 25"/>
          <p:cNvSpPr txBox="1"/>
          <p:nvPr/>
        </p:nvSpPr>
        <p:spPr>
          <a:xfrm>
            <a:off x="2606040" y="6473952"/>
            <a:ext cx="9144000"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