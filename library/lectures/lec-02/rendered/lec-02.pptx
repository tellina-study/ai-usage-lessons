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вы отправляете запрос в ChatGPT, Claude или любую другую большую языковую модель, модель не видит ваш текст так, как видите его вы. Прежде чем что-либо обработать, она разрезает входной текст на единицы, которые называются **токенами**. Токен — это идентификатор, целое число из словаря модели; этот словарь был зафиксирован на этапе обучения и не меняется в момент использования.</a:t>
            </a:r>
          </a:p>
          <a:p/>
          <a:p>
            <a:r>
              <a:t>На экране — четыре примера, выполненных в популярном сервисе Tiktokenizer. Короткое английское слово `cat` укладывается в один токен — оно достаточно часто встречалось в обучающем корпусе, чтобы попасть в словарь целиком. Слово `tokenization` распадается уже на два токена: `[token]` и `[ization]`. Слово `strawberry`, на котором мы построим следующий пример в лекции, разрезается на три токена: `[st]`, `[raw]`, `[berry]` — модель видит три единицы, а не десять букв. Русское слово `клубника` тоже разрезается на три токена — `[к]`, `[луб]`, `[ника]` — но обратите внимание, что для аналогичного по смыслу английского текста токенов в среднем меньше.</a:t>
            </a:r>
          </a:p>
          <a:p/>
          <a:p>
            <a:r>
              <a:t>Этот наблюдаемый перекос — следствие того, что обучающий корпус современных LLM содержит больше английского, чем других языков. Простой инженерный ориентир: в среднем один токен соответствует примерно четырём символам английского текста или двум символам русского. Когда мы говорим про стоимость API, длину контекстного окна или скорость генерации, мы всегда говорим в токенах, а не в словах. Сегодняшняя лекция целиком про то, как из этих токенов и через какие внутренние механизмы получается ответ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Сегодняшняя лекция — вторая в курсе. Лекция 1 заложила слоистую картину «модель → чат → агент → приложение» и описала самый нижний слой, модель, как stateless-инференс: на вход данные, на выход предсказание, без памяти между вызовами. Этого описания было достаточно, чтобы говорить, где именно используется модель в большей системе, но недостаточно, чтобы говорить, что внутри этой модели происходит. Сегодня мы аккуратно разбираем чёрный ящик на четыре этапа.</a:t>
            </a:r>
          </a:p>
          <a:p/>
          <a:p>
            <a:r>
              <a:t>Дорожная карта внизу слайда соответствует этим четырём этапам: токенизация, эмбеддинги, механизм внимания, сэмплинг. Каждому посвящён отдельный раздел. После четырёх разделов мы возвращаемся к трём практическим вопросам, которые Лекция 1 §5.3 оставила как обещанный payoff: почему промпт с ролью работает лучше пустого, почему AI плохо считает буквы, почему один и тот же запрос даёт разные ответы. На все три ответим через конкретный внутренний механизм, не через интуицию.</a:t>
            </a:r>
          </a:p>
          <a:p/>
          <a:p>
            <a:r>
              <a:t>Тон лекции — объяснительно-инженерный. Мы не описываем устройство трансформера во всей полноте: формулы attention, матрицы Q/K/V, многоголовое внимание, позиционное кодирование — останется за рамками лекции. Студенту, которому нужна полная техническая картина, дальше дорога в курсы по deep learning и в каноническую статью Vaswani et al. (2017). Здесь мы целенаправленно держим уровень детализации такой, чтобы каждый внутренний механизм связывался с практикой — с тем, как вы будете ставить задачи модели в своей инженерной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не терять контекст, на одну минуту вернёмся к Лекции 1. На той лекции мы построили слоистую картину работы AI в продукте: внизу модель, над ней чат-цикл, над чатом — агентный цикл, и сверху — приложение, в которое всё это упаковывается. Лекция 1 §3.2 описала самый нижний слой, модель, как stateless-функцию: на вход данные, на выход предсказание, и никакой памяти между двумя вызовами. С этим описанием мы умеем говорить о том, **где** модель находится в большей системе, но мы оставили в стороне вопрос — **что именно** происходит внутри этой stateless-функции, когда вы пишете в чат «Сегодня я съел яблоко» и получаете ответ.</a:t>
            </a:r>
          </a:p>
          <a:p/>
          <a:p>
            <a:r>
              <a:t>Сегодня мы аккуратно открываем этот чёрный ящик. Главное содержание лекции — четыре внутренних этапа, через которые проходит ваш запрос между моментом отправки и моментом получения ответа. Эти четыре этапа: токенизация (как модель разрезает текст на единицы, с которыми умеет работать), эмбеддинг (как каждой единице сопоставляется численное представление смысла), механизм внимания (как модель решает, на что опираться в текущем контексте), сэмплинг (как из распределения вероятностей выбирается один конкретный токен).</a:t>
            </a:r>
          </a:p>
          <a:p/>
          <a:p>
            <a:r>
              <a:t>Лекция 1 §3.2 говорила: «модель — это чёрный ящик stateless inference». Сегодня мы перестаём держать его чёрным. После этой лекции в этом ящике останутся уже не четыре механизма, а четыре отдельных этапа с понятной ролью каждого — и с конкретными инженерными следствиями для того, как вы будете ставить задачи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сегодняшней лекции один центральный вопрос, и он сформулирован коротко: что происходит внутри LLM между моим запросом и ответом, и какие из этих внутренних механизмов меняют, как я её использую. Заметьте, что вопрос двусоставный. Первая часть — описательная: понять, что технически устроено внутри. Вторая часть — прагматическая: из всего внутреннего устройства выделить то, что меняет инженерную практику. Если внутренний механизм не влияет на то, как вы ставите задачу модели или интерпретируете её ответ, мы его сегодня не разбираем.</a:t>
            </a:r>
          </a:p>
          <a:p/>
          <a:p>
            <a:r>
              <a:t>В ответе на этот вопрос участвуют три обещания, которые Лекция 1 оставила в §5.3 как payoff курса. Первое — почему промпт с ролью работает лучше пустого. Тот, кто пробовал, знает, что «Ты эксперт по Python, объясни асинхронность джуниору» даёт качественно другой ответ, чем просто «Объясни асинхронность». Сегодня мы поймём механизм этого эффекта на уровне внимания. Второе — почему AI плохо считает буквы. Классический пример со словом `strawberry` и подсчётом буквы `r` — не баг и не пробел в обучении, а структурное следствие того, как устроена токенизация. Сегодня разберём это в Разделе 1. Третье — почему один и тот же запрос может давать разные ответы. Источник — стохастический сэмплинг при температуре больше нуля, и в Разделе 4 мы увидим механизм.</a:t>
            </a:r>
          </a:p>
          <a:p/>
          <a:p>
            <a:r>
              <a:t>Эти три обещания работают как якоря лекции: к ним мы будем возвращаться в каждом из четырёх разделов, и в самом конце, на слайде 24, они получат явный payoff — три ответа на три «почему» через конкретные внутренние механизмы. Это и есть LO7 главной четвёрки учебных целей курса.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факт первого раздела: LLM видит ваш запрос не буквами и не словами, а токенами. Токен — это идентификатор, целое число из словаря модели; этот словарь зафиксирован при обучении и не меняется в момент использования. Когда вы пишете в чат «Сегодня я съел яблоко», ваш текст сначала разрезается на токены, каждый токен превращается в число — id из словаря — и дальше модель работает только с этой последовательностью чисел. Для удобства мы записываем токены в квадратных скобках, но в памяти модели это всегда числа.</a:t>
            </a:r>
          </a:p>
          <a:p/>
          <a:p>
            <a:r>
              <a:t>На слайде — три примера, иллюстрирующих основное наблюдение. Короткое распространённое английское слово `cat` попадает в словарь как единый токен. Слово `tokenization` распадается на два токена: общая основа `[token]` и часто встречающийся суффикс `[ization]`. Слово `клубника`, тестированное на токенизаторе GPT-4o `o200k_base`, разрезается на три токена. Закономерность простая: чем чаще подпоследовательность встречалась в обучающем корпусе, тем выше шанс, что она попадёт в словарь целиком; редкие или специфические для других языков последовательности дробятся мельче.</a:t>
            </a:r>
          </a:p>
          <a:p/>
          <a:p>
            <a:r>
              <a:t>Из этого следует практический ориентир, которым пользуются инженеры на этапе оценки стоимости API: в среднем один токен соответствует примерно четырём символам английского текста или примерно двум символам русского. Это не точная формула, а порядок, но его достаточно для большинства бюджетных оценок. Полезное упражнение: попробуйте угадать, на сколько токенов разрежется слово `сильнее` — на один, два или три? Ваша интуиция может ошибиться: для русского даже короткое слово часто получается из 2-3 токенов. Точный ответ можно проверить на сервисе Tiktokenizer. Маленькое следствие, важное для практики: на числах токенизация ведёт себя непредсказуемо. Строка `1234567` может быть разрезана как `[123][4567]`, `[12][345][67]` или ещё как-то — в зависимости от того, какие подпоследовательности цифр часто встречались в корпусе. Для арифметики это означает: чистый LLM-инференс — плохой калькулятор; правильный паттерн — внешний инструмент, Code Interpreter или Python sandbox.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Алгоритм, которым строятся словари большинства современных LLM, называется BPE — Byte-Pair Encoding. По сути, это компромисс между двумя крайностями. Можно было бы взять словарём отдельные символы — тогда любой текст представим, но последовательности получаются очень длинные, и модели тяжело учить долгие зависимости. Можно было бы, наоборот, взять словарём целые слова — тогда последовательности короткие, но любое незнакомое слово, опечатка или имя собственное становится `&lt;unknown&gt;`, и модель не способна с ним работать. BPE сидит ровно посередине: словарь состоит из подпоследовательностей разной длины, которые алгоритм нашёл как самые частые в обучающем корпусе.</a:t>
            </a:r>
          </a:p>
          <a:p/>
          <a:p>
            <a:r>
              <a:t>Идея алгоритма проста: начинаем с алфавита из отдельных символов и итеративно объединяем пары, которые встречаются вместе чаще всего, добавляя пару в словарь как новый «составной» символ. На небольшом учебном корпусе из слов `low / lower / newest / widest` BPE может выучить словарь вроде `low / er / new / est / wid` — отдельно частые корни и отдельно частые суффиксы. После многих итераций на большом корпусе получаются словари в десятки и сотни тысяч записей.</a:t>
            </a:r>
          </a:p>
          <a:p/>
          <a:p>
            <a:r>
              <a:t>Важная инженерная деталь, которая часто упускается, — это **момент построения словаря**. BPE-словарь строится один раз, до обучения модели. Это шаг подготовки данных: на корпусе обучения запускают BPE-алгоритм, фиксируют итоговый словарь и набор merge-правил, и после этого ничего не меняется. В момент работы модели токенизация — это lookup готовых правил, а не runtime-вычисление. Когда вы отправляете запрос в API, текст разрезается за миллисекунды по предзаписанной таблице.</a:t>
            </a:r>
          </a:p>
          <a:p/>
          <a:p>
            <a:r>
              <a:t>Современных алгоритмов для подсловарных токенизаторов на практике три: BPE используется в GPT-семействе и в Llama 3+; WordPiece — в BERT и потомках; SentencePiece — в Llama 2, Mistral, T5 и многих open-weight моделях. Технически они отличаются способом выбора пар и обработкой пробелов, но для пользователя LLM эти различия не критичны — нужно лишь помнить, что токенизатор поставляется вместе с моделью и его нельзя «поменять на ходу».</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Классическая ошибка LLM, которую можно воспроизвести почти любой моделью: на вопрос «сколько букв `r` в слове `strawberry`» модель часто отвечает «два». Правильный ответ — три. Почему так получается? Слово `strawberry` в современных tiktoken-токенизаторах разрезается на три токена: `[st]`, `[raw]`, `[berry]`. На входе в модель — три числовые единицы, не десять букв. Когда модель «отвечает» на вопрос о количестве буквы `r`, она не имеет прямого доступа к посимвольному представлению; она работает с тремя id, для каждого из которых в её памяти лежит выученный вектор. Внутри этих векторов нет явного списка «вот тут стоит буква `r` на позициях 3 и 8» — внутри векторов лежит статистическая информация о том, в каких контекстах токен `[raw]` встречается. **Модель видит токены, не буквы.**</a:t>
            </a:r>
          </a:p>
          <a:p/>
          <a:p>
            <a:r>
              <a:t>Это явление мы будем называть **слепотой к буквам**. Это не баг и не плохое обучение — это прямое структурное следствие того, как устроена токенизация. Из той же природы вытекают три практических следствия. Первое — подсчёт символов: задачи такого вида ломают LLM не всегда, но систематически и неочевидно для пользователя. Второе — точная обработка опечаток: когда модель видит слово с опечаткой, оно может разрезаться на совершенно другие токены, чем правильное слово, и модель «видит» иной набор id; это объясняет, почему мелкие опечатки иногда вызывают неожиданно большие изменения в ответе. Третье — чувствительность к регистру и пробелам: `cat`, ` cat` с ведущим пробелом, `Cat`, `CAT` могут оказаться разными токенами с разными выученными векторами.</a:t>
            </a:r>
          </a:p>
          <a:p/>
          <a:p>
            <a:r>
              <a:t>Инженерный вывод: если ваша задача требует точной посимвольной операции — подсчёта символов, поиска подстроки по точному совпадению, преобразования регистра, проверки соответствия регулярному выражению — не делайте её чистым LLM-инференсом. Используйте внешний инструмент: код в Python sandbox, регулярное выражение, специализированный микросервис. Современные топ-модели (Claude 4.7, GPT-5) часто отвечают на `strawberry` правильно — но не потому, что один forward-pass через нейросеть умеет посимвольно работать со строкой, а потому, что модель внутри вызывает Python-инструмент или генерирует явный пошаговый подсчёт. Структурный факт «AI не видит букв, видит токены» при этом не меняется.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и то же текстовое сообщение в API стоит разное число токенов в зависимости от языка. Это прямое следствие того, что BPE-словарь учится на корпусе, в котором английский язык представлен заметно шире других. Для английского много частых подпоследовательностей укладывается в одиночные токены; для русского, китайского, японского, кода — токенов в среднем больше на тот же по смыслу текст.</a:t>
            </a:r>
          </a:p>
          <a:p/>
          <a:p>
            <a:r>
              <a:t>Ориентировочные цифры в токенах на символ для современных токенизаторов GPT-семейства. Для естественного английского — около 0.25 токена на символ: текст из 100 символов занимает примерно 25 токенов. Для русского — около 0.5 токена на символ: тот же по смыслу текст из 100 символов занимает примерно 50 токенов. Для китайского — около 0.8 токена на символ, потому что один иероглиф часто соответствует одному или нескольким токенам. Для Python-кода — около 0.4 токена на символ. Эти числа — порядок, не точная формула: разные источники дают разброс от 1.5× до 2.5× в зависимости от характера текста и версии токенизатора.</a:t>
            </a:r>
          </a:p>
          <a:p/>
          <a:p>
            <a:r>
              <a:t>Инженерное следствие важно: обращение к API на русском обходится примерно в два раза дороже, чем на английском, за один и тот же по смыслу запрос. Если у вас batch-задача — массовая обработка тысяч документов — и предметная область допускает работу на английском, имеет смысл перевести входы и выходы на английский для экономии. Это не означает «всегда работать на английском»: для большинства интерактивных задач удобство и качество ответа важнее разницы в стоимости. Но при больших объёмах это значимый фактор бюджета.</a:t>
            </a:r>
          </a:p>
          <a:p/>
          <a:p>
            <a:r>
              <a:t>Дополнительное следствие — контекстное окно тоже расходуется неравномерно. Контекстное окно у современных моделей измеряется в токенах, не в словах и не в символах. Документ объёмом 80 тысяч символов на английском уместится в 20 тысяч токенов; тот же документ на русском займёт примерно 40 тысяч. Для модели с окном 32 тысячи второй вариант не поместится. Цифра «в 2 раза дороже» относится к актуальным токенизаторам GPT-семейства; для специализированных моделей с увеличенной долей русского в обучающих данных (YandexGPT, GigaChat) разрыв может быть меньше.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мы сказали «токен — это id из словаря», осталась открытая часть: как модель работает с этим id. Прямо с числом она не работает — между токенами нет осмысленной арифметики, и модели нужен способ представить «значение» каждого токена в форме, пригодной для нейросети. Этот способ — **эмбеддинг**, или **векторное представление**.</a:t>
            </a:r>
          </a:p>
          <a:p/>
          <a:p>
            <a:r>
              <a:t>Каждому токену словаря модели сопоставлен вектор фиксированной длины — список чисел с плавающей точкой. Для токена `[кот]` в гипотетической модели вектор может выглядеть как `[0.21, -0.45, 0.88, ..., 0.13]` — несколько сотен или несколько тысяч чисел. Вектор не назначается вручную; он выучивается на этапе обучения модели вместе со всеми остальными весами нейросети. Когда обучение заканчивается, таблица «токен → вектор» — embedding table — фиксируется и в дальнейшем не меняется. На inference модель просто делает lookup: получает id токена, забирает соответствующий вектор из таблицы, передаёт в следующий слой.</a:t>
            </a:r>
          </a:p>
          <a:p/>
          <a:p>
            <a:r>
              <a:t>Размер вектора — гиперпараметр конкретной модели. Несколько публичных ориентиров для специализированных embedding-моделей OpenAI: `text-embedding-3-small` — 1536 измерений; `text-embedding-3-large` — 3072 измерения. Размерности внутренних embedding-таблиц у flagship-LLM (GPT-4, Claude и т.п.) официально не публикуются; по неофициальным оценкам их порядок — несколько тысяч до десяти с лишним тысяч измерений. Для целей этой лекции важен не точный размер, а порядок: тысячи измерений.</a:t>
            </a:r>
          </a:p>
          <a:p/>
          <a:p>
            <a:r>
              <a:t>Главное свойство эмбеддингов: геометрическая близость в этом пространстве соответствует смысловой близости. «Кот» близко к «собаке»; «врач» близко к «терапевту»; «SSL» близко к «HTTPS». При этом модель никем не была явно обучена «кот и собака — одна категория» — это свойство возникло само из того, что в обучающем корпусе оба слова часто появлялись в похожих контекстах. Близость в эмбеддинг-пространстве — это статистическое отражение того, как слова используются, не семантический справочник, написанный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Word2Vec в 2013 году — историческая отправная точка для разговора об эмбеддингах: первая широко известная модель, в которой выученные векторы слов показывали семантические аналогии. С тех пор поле прошло несколько поколений моделей, и в 2026 году инженерная практика опирается на эмбеддинги **предложений и документов**, а не на эмбеддинги отдельных слов. Это качественный сдвиг: теперь мы можем сравнивать смысл целых формулировок, не выдёргивая отдельные слова.</a:t>
            </a:r>
          </a:p>
          <a:p/>
          <a:p>
            <a:r>
              <a:t>На слайде — таблица 5×5 cosine similarity для пяти коротких предложений. Парная картина типична для современных embedding-моделей. Предложения 1 и 2 — «Как настроить SSL» и «Установка HTTPS-сертификата» — синонимы в домене веб-безопасности; их cosine similarity около 0.85. Предложения 3 и 4 — «Деплой React-компонента» и «Сборка React-приложения» — оба про работу с React; cosine около 0.78. Предложение 5 — «Рецепт борща» — против любого технического даёт значения в диапазоне 0.05–0.15. Низкие, но не нулевые: даже совершенно разные домены имеют немного общей лексической структуры.</a:t>
            </a:r>
          </a:p>
          <a:p/>
          <a:p>
            <a:r>
              <a:t>Этот пример показывает главное: современный эмбеддинг захватывает смысл, а не точное совпадение строк. «SSL» и «HTTPS» — разные строки, но они близкие в эмбеддинг-пространстве, потому что в обучающем корпусе они появлялись в одних и тех же контекстах. То же касается «React» в разных формулировках задач и любых пар синонимов в техническом языке.</a:t>
            </a:r>
          </a:p>
          <a:p/>
          <a:p>
            <a:r>
              <a:t>Технический момент про cosine similarity: формально это скалярное произведение векторов, делённое на произведение их длин. Геометрический смысл — косинус угла между векторами. Если векторы сонаправлены, cosine равен 1; ортогональны — 0; противоположны — минус 1. На практике в эмбеддинг-пространствах LLM значения почти всегда лежат в диапазоне от 0 до 1, и инженер интерпретирует их как «насколько A похоже на B по смыслу». Точные пороги — выше какого значения считать документы похожими — зависят от задачи и подбираются эмпирически. Конкретные числа на слайде — illustrative; их можно воспроизвести бесплатно через open-source модель `sentence-transformers/all-MiniLM-L6-v2`.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того, что эмбеддинги дают численную меру семантической близости, естественно вырастают три практических применения. Это рамка, на которую опирается весь Раздел 3 курса — Лекция 3 про RAG, Семинар 3, Лекция 4 и далее.</a:t>
            </a:r>
          </a:p>
          <a:p/>
          <a:p>
            <a:r>
              <a:t>Первое применение — **similarity**, поиск похожих. У вас есть документ и хранилище из тысяч похожих документов; нужно найти, на какие из них новый документ наиболее похож. Для каждого документа из хранилища предвычислены эмбеддинги; для нового документа эмбеддинг считается на лету; парные cosine similarity ранжируют хранилище по убыванию. Это базовый механизм поиска похожих тикетов в системе поддержки, похожих кейсов в юридической базе, похожих резюме в HR-системе.</a:t>
            </a:r>
          </a:p>
          <a:p/>
          <a:p>
            <a:r>
              <a:t>Второе применение — **clustering**, кластеризация. У вас есть набор документов без явной разметки, и нужно автоматически разбить их на группы. Каждый документ переведён в эмбеддинг; алгоритм кластеризации — например, k-means, итеративный алгоритм, разбивающий точки на заданное число групп так, чтобы точки внутри группы были близки — находит группы в эмбеддинг-пространстве. На выходе получаются кластеры документов, объединённых по смыслу. Это используется для анализа жалоб клиентов («какие типы проблем встречаются»), для тематической группировки больших корпусов, для exploratory analysis новых данных.</a:t>
            </a:r>
          </a:p>
          <a:p/>
          <a:p>
            <a:r>
              <a:t>Третье применение — **search**, семантический поиск. Это расширение similarity на сценарий «вопрос → база ответов». Пользователь задаёт вопрос в свободной форме; вопрос переводится в эмбеддинг; ищем близкие эмбеддинги в проиндексированной базе документов; возвращаем top-K. Это основа RAG (Retrieval-Augmented Generation), который мы разбираем в Лекции 3. На уровне эмбеддингов RAG — это просто семантический поиск с последующей передачей найденного как контекст в LLM.</a:t>
            </a:r>
          </a:p>
          <a:p/>
          <a:p>
            <a:r>
              <a:t>Эти три применения часто комбинируются: корпоративная база знаний может одновременно использовать similarity для рекомендаций, clustering для автоматических разделов и search для интерактивного поиска. Под капотом — одни и те же эмбеддинги. Это объясняет, почему эмбеддинг-модель — это инфраструктурный выбор, а не «одна из фич»: один выбор обслуживает сразу несколько продуктовых функций.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понять, что именно даёт семантический поиск по сравнению с традиционным, возьмём конкретный запрос: пользователь ищет в корпоративном wiki слово «клубника».</a:t>
            </a:r>
          </a:p>
          <a:p/>
          <a:p>
            <a:r>
              <a:t>Полнотекстовый поиск — классический подход, реализованный в Elasticsearch, Lucene, в обратных индексах — находит документы, в которых дословно встречается строка `клубника`. С учётом **стемминга** (приведения слова к его основе при индексации: `клубники`, `клубнику`, `клубнике` все сводятся к корню `клубник-`) — также её морфологические формы. Если в документе написано `strawberry`, или `ягода`, или `лесная земляника`, полнотекстовый поиск не вернёт его как релевантный — если только нет специальной таблицы синонимов, которую кто-то вручную поддерживает.</a:t>
            </a:r>
          </a:p>
          <a:p/>
          <a:p>
            <a:r>
              <a:t>Семантический поиск — эмбеддинги плюс поиск ближайших соседей — считает эмбеддинг запроса `клубника` и сравнивает его с предвычисленными эмбеддингами документов. На выходе он находит, в первую очередь, документы с буквальным совпадением (они окажутся очень близкими), но дополнительно возвращает документы про `strawberry` (английский эквивалент, цепляется через cross-lingual embeddings), про `ягоду` (родовое понятие), про `лесную землянику` (близкий по смыслу плод). Без таблицы синонимов, без ручной разметки — это получается «бесплатно» из того, что эмбеддинг захватывает смысл.</a:t>
            </a:r>
          </a:p>
          <a:p/>
          <a:p>
            <a:r>
              <a:t>Семантический поиск не заменяет полнотекстовый; он его дополняет. На практике в production-системах часто используют гибридный подход: полнотекстовый индекс для точных совпадений — имена, артикулы, технические термины, которые должны находиться буквально — плюс семантический индекс для понятийной близости. Финальный ранжированный список — комбинация результатов двух способов поиска с весами, подобранными под задачу.</a:t>
            </a:r>
          </a:p>
          <a:p/>
          <a:p>
            <a:r>
              <a:t>Этот раздел — преддверие Лекции 3, в которой мы подробно разберём, как из семантического поиска и LLM собрать систему, отвечающую на вопросы по вашей корпоративной базе знаний. Здесь важно зафиксировать: базовый слой RAG — эмбеддинги, и они принадлежат именно этому, второму этапу inference конвейера.</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два этапа конвейера inference. Первый — токенизация: текст разрезается на токены, каждый получает id из словаря модели. Второй — эмбеддинги: каждому id ставится в соответствие выученный вектор, и геометрическая близость в этом пространстве отражает смысловую близость.</a:t>
            </a:r>
          </a:p>
          <a:p/>
          <a:p>
            <a:r>
              <a:t>Раздел 3 — про третий этап и про самый плотный для понимания механизм лекции: **механизм внимания**, или **attention**. На вход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 От него зависит, почему промпт с ролью работает лучше пустого, что такое контекстное окно и какие у него ограничения, почему важная информация в середине длинного промпта систематически теряется.</a:t>
            </a:r>
          </a:p>
          <a:p/>
          <a:p>
            <a:r>
              <a:t>В этом разделе четыре слайда плюс этот разделитель. Сначала мы зафиксируем базовое определение через метафору фонарика в тёмной комнате — без формул, без матриц Q/K/V, без многоголового внимания. Потом разберём рабочий пример на конкретном предложении и из него выведем эффект роли в промпте — первое из трёх «почему» Лекции 1. Затем поговорим про контекстное окно как физический предел и про квадратичную стоимость attention. И завершим раздел разбором эффекта «lost in the middle» — почему большое окно не значит хорошее использование контекста.</a:t>
            </a:r>
          </a:p>
          <a:p/>
          <a:p>
            <a:r>
              <a:t>Раздел один из самых длинных в лекции — 18 минут на пять слайдов. Это сделано осознанно: механизм внимания — наиболее концептуально насыщенная часть, и его стоит проходить медленно. Один section divider на всю лекцию — здесь — чтобы дать паузу перед самым плотным куском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этап конвейера — механизм внимания. На входе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a:t>
            </a:r>
          </a:p>
          <a:p/>
          <a:p>
            <a:r>
              <a:t>Удобная метафора — **фонарик в тёмной комнате**. Представьте, что вы стоите в комнате с большим количеством предметов — это все токены контекста, — и вам нужно ответить на конкретный вопрос (предсказать следующий токен). Вы не можете одновременно ярко осветить всё; вы направляете фонарик на те предметы, которые сейчас релевантны вопросу. То, что в центре луча, видно ярко; то, что на периферии, — тускло. Метафора удерживается в одном слове: attention — это распределение света по сцене, и это распределение меняется в зависимости от того, что мы сейчас спрашиваем.</a:t>
            </a:r>
          </a:p>
          <a:p/>
          <a:p>
            <a:r>
              <a:t>Формально на каждом шаге для каждой позиции attention возвращает распределение весов на все остальные токены контекста. Сумма весов равна единице. Один большой вес означает «я сильно опираюсь на этот токен»; маленький вес — «этот токен сейчас мне почти не важен». Никакой явной формулы здесь приводить не будем — для понимания пользователя достаточно зафиксировать три факта: на вход attention получает все токены контекста (не один и не часть, а все, сколько их есть); на выходе для каждого токена есть распределение весов с суммой 1; это распределение пересчитывается на каждом шаге генерации.</a:t>
            </a:r>
          </a:p>
          <a:p/>
          <a:p>
            <a:r>
              <a:t>В реальной модели механизм внимания устроен сложнее: в каждом слое работает не один, а несколько параллельных «голов» внимания (multi-head attention, типично 32–128 голов в современных моделях), и каждая голова смотрит на свой аспект — кто-то ловит грамматические связи, кто-то семантические, кто-то длинные дальнодействующие зависимости. Слоёв в современной модели — десятки и сотни. Для нашего уровня детализации эти числа — справочный факт; полная техническая конструкция с матрицами Q, K, V, скейлингом через корень из размерности, маскированием и residual connections — выходит за рамки лекции; полная картина — в каноническом источнике Vaswani et al. (2017).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конкретное предложение: «Кот съел мышь, потому что она была голодна». Когда модель доходит до токена «она», ей нужно определить, к чему этот токен относится. На уровне attention это видно: над токеном «она» оказывается распределение весов, в котором наибольший вес — на токене «мышь» (по контексту так предложение и понимается), средний — на «была», тонкий — на «голодна». Если визуализировать, это три стрелки разной толщины.</a:t>
            </a:r>
          </a:p>
          <a:p/>
          <a:p>
            <a:r>
              <a:t>Важная оговорка: картинка с тремя стрелками — сильное упрощение. Реальный attention map содержит сотни связей сразу, и в каждом из десятков слоёв рисунок свой. Когда мы говорим «модель смотрит на мышь», мы агрегируем сотни значений в одну толстую стрелку. И ещё важнее: модель не делает грамматический разбор. Она статистически смотрит на токены, для которых статистика говорит «вот эти обычно связаны с "она" в подобных контекстах». Корреляция, не парсинг. Маленькое упражнение: куда смотрит модель в «Программа упала, потому что она забыла обработать null»? На большинстве современных моделей attention здесь даёт максимум на токене «программа» — это согласуется и с грамматикой, и со статистикой технических текстов.</a:t>
            </a:r>
          </a:p>
          <a:p/>
          <a:p>
            <a:r>
              <a:t>Теперь — главное практическое следствие, отвечающее на первое из трёх «почему» Лекции 1. Сравним два промпта. «Объясни асинхронность» — без роли. «Ты эксперт по Python. Объясни асинхронность джуниору» — с ролью. На уровне attention второй даёт качественно другую картину. В первом случае контекст короткий, и модель опирается на самую общую статистику. Во втором в контексте есть токены «Python», «эксперт», «джуниор», и они получают существенный вес в распределении внимания. Следующий генерируемый токен выбирается из распределения, смещённого этими токенами: ответ окажется более конкретным, с более простыми объяснениями, в более экспертном регистре.</a:t>
            </a:r>
          </a:p>
          <a:p/>
          <a:p>
            <a:r>
              <a:t>Рабочее объяснение: role-токены получают повышенный вес в attention-распределении при генерации первых токенов ответа. Роль в промпте — не просьба «поверь мне», а явный input-сигнал, прямо влияющий на распределение внимания. Это первое из трёх «почему» Лекции 1 §5.3, и его мы теперь объясняем через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Механизм внимания работает на всех токенах контекста, что приводит к естественному ограничению: контекстное окно — это максимальное количество токенов, которое модель может обработать за один запрос. Лекция 1 §3.3.1 уже вводила понятие на уровне «когда история чата плюс новое сообщение перестают помещаться, старые сообщения выпадают». Сейчас мы углубляем: почему именно есть верхний предел и почему он стоит денег.</a:t>
            </a:r>
          </a:p>
          <a:p/>
          <a:p>
            <a:r>
              <a:t>Контекстное окно за последние три года выросло на порядки. Несколько ключевых точек на момент верификации в мае 2026. GPT-3.5 в момент релиза ChatGPT в 2022 году — около 4 тысяч токенов. Claude 3.5 в середине 2024 года — 200 тысяч токенов. Claude 4.7 и актуальные flagship-модели OpenAI в 2026 году — порядка одного миллиона токенов. Если к моменту чтения какие-то цифры уже сдвинулись — это нормально, индустрия движется быстро. Важен порядок (тысячи → сотни тысяч → миллион) и темп роста (увеличение примерно на порядок каждые один-два года), а не конкретные числа.</a:t>
            </a:r>
          </a:p>
          <a:p/>
          <a:p>
            <a:r>
              <a:t>Один миллион токенов — это, очень грубо, 1500–2000 страниц текста на английском. Кажется, что теперь модель «видит всё» и проблема исчезла. Это впечатление обманчиво по двум причинам.</a:t>
            </a:r>
          </a:p>
          <a:p/>
          <a:p>
            <a:r>
              <a:t>Первая — стоимость растёт квадратично. Базовая версия attention требует, чтобы каждый из N токенов посмотрел на каждый — это N² операций на каждом attention-слое. Удваиваем длину контекста — учетверяется стоимость inference. На практике инженерные оптимизации (FlashAttention, sparse attention, sliding-window, KV-кэш) снижают константу, но квадратичная зависимость остаётся доминирующей для текущих архитектур. В цене API это видно прямо: миллион токенов входа стоит порядка в шестнадцать раз дороже, чем сто тысяч, при той же по сложности задаче. Это структурное свойство ванильной attention, и оно не зависит от того, какая именно цифра контекста на текущий момент актуальна. Любой следующий шаг отрасли — 1M, 10M, дальше — будет упираться в ту же квадратичную стенку, пока не появится принципиально другая архитектура.</a:t>
            </a:r>
          </a:p>
          <a:p/>
          <a:p>
            <a:r>
              <a:t>Вторая причина, по которой большое окно не панацея, — модель не одинаково хорошо использует все позиции в окне. Этому посвящён следующий слайд.</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2023 году группа из Stanford и UC Berkeley опубликовала работу с провокационным названием «Lost in the Middle: How Language Models Use Long Contexts». Эмпирический вопрос: если модель умеет принимать 100 тысяч токенов на вход, одинаково ли хорошо она использует разные позиции в этом окне?</a:t>
            </a:r>
          </a:p>
          <a:p/>
          <a:p>
            <a:r>
              <a:t>Эксперимент. В большой контекст — десятки тысяч токенов из произвольных документов — вставляется один значимый факт: в начале, в середине или в конце. Затем модель спрашивают факт и считают точность ответа. Результаты дают характерную U-образную кривую: точность около 70–80% когда факт лежит в начале, проваливается до 30–40% в середине, и снова поднимается до 70–80% к концу. Феномен авторы назвали «потеря в середине».</a:t>
            </a:r>
          </a:p>
          <a:p/>
          <a:p>
            <a:r>
              <a:t>Природа эффекта — в том, как модели учатся работать с длинным контекстом. На обучающем корпусе типичные документы устроены так, что важные утверждения находятся либо в начале (тезис), либо в конце (вывод); статистика положения важных токенов имеет U-форму. Модель усваивает эту статистику и переносит её на inference: даже если важный токен лежит в середине, модель «по привычке» меньше его взвешивает в attention. Это не баг — это inductive bias обучения, отражение того, как устроены реальные тексты.</a:t>
            </a:r>
          </a:p>
          <a:p/>
          <a:p>
            <a:r>
              <a:t>Инженерный вывод. Если у вас длинный промпт с инструкциями или данными — самое важное помещайте в начало или в конец, не в середину. Частая ошибка — длинная преамбула с критическим ограничением, утопленным посередине; такую инструкцию модель будет систематически игнорировать. Решение: переписать промпт так, чтобы критические инструкции стояли в самом начале (system prompt) или были повторены явно в конце прямо перед задачей. Это объясняет также, почему «просто засунуть всю документацию в большое окно» — плохая стратегия для RAG. Хороший retrieval, возвращающий 5–10 целевых фрагментов в начале промпта, систематически работает лучше, чем загрузка всей базы в гигантское окно. К этому вернёмся в Лекции 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Перейдём к четвёртому, последнему этапу inference: сэмплингу. На входе сэмплинга — то, что произвели предыдущие три этапа: модель прошла токенизацию, эмбеддинги, все слои attention, и на выходе у неё распределение вероятностей на все токены словаря. То есть для каждого из ста или двухсот тысяч токенов словаря модель сказала: «вероятность того, что следующим окажется именно этот, равна такому-то значению». Сумма всех вероятностей равна единице.</a:t>
            </a:r>
          </a:p>
          <a:p/>
          <a:p>
            <a:r>
              <a:t>Возьмём конкретный пример. Пользователь написал в чат «Сегодня я съел …» и ждёт продолжения. Внутри модели появляется распределение вероятностей следующего токена. На бар-диаграмме это выглядит примерно так: `яблоко` — 0.32, `пиццу` — 0.19, `салат` — 0.14, `булочку` — 0.11, `огурец` — 0.08, и остальные двести тысяч токенов — каждый с вероятностью меньше 0.05. Числа на слайде иллюстративные; конкретные значения зависят от модели и от контекста, но общая картина устойчива.</a:t>
            </a:r>
          </a:p>
          <a:p/>
          <a:p>
            <a:r>
              <a:t>Видно две вещи. Первая — распределение **не равномерное**: модель имеет статистические предпочтения, основанные на том, какие токены часто следовали за «съел» в обучающем корпусе. Это и есть «знание» модели — статистика следующего токена для каждого возможного контекста. Вторая — распределение **не точечное**: есть несколько правдоподобных кандидатов, и среди них вероятности заметно различаются. Модель не «знает» один правильный ответ; у неё есть множество кандидатов с убывающими вероятностями.</a:t>
            </a:r>
          </a:p>
          <a:p/>
          <a:p>
            <a:r>
              <a:t>Дальше начинается сэмплинг. Сэмплинг — это правило, по которому модель из этого распределения выбирает один токен, который и пойдёт в ответ. От правила сэмплинга зависит, насколько «творческим» или «детерминированным» будет ответ. На следующем слайде разберём главный параметр сэмплинга — температуру — и попутно затронем top-p и top-k как альтернативные ручки тонкой настройки. Заметьте: даже на этом слайде уже видно ключевое условие того, что один и тот же запрос может давать разные ответы — есть распределение, из которого что-то выбирается. Это и есть третье из трёх «почему» Лекции 1, и сейчас мы аккуратно раскроем его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параметр сэмплинга — температура, обозначается T. Температура управляет, насколько «острым» будет выбор. Это параметр API: `temperature=0.0`, `temperature=0.7`, `temperature=2.0`. Технически температура — это коэффициент, на который делят логиты (внутренние «сырые» оценки модели до нормализации в вероятности) перед операцией нормализации; вводить формулу здесь не будем, важно следствие.</a:t>
            </a:r>
          </a:p>
          <a:p/>
          <a:p>
            <a:r>
              <a:t>При T = 0 модель выбирает токен с самой высокой вероятностью. Это операция argmax — «возьми тот, у которого вероятность максимальна». В нашем примере про «съел …» модель практически всегда выберет `яблоко` (0.32 — максимум). Ответ предсказуем и почти детерминированный — повторите запрос десять раз, получите одно и то же. Маленькая оговорка: в production может быть микро-вариативность из-за того, что серверный батчинг и floating-point на GPU не дают побитово одинаковых результатов между запусками; для большинства задач эта вариативность игнорируема.</a:t>
            </a:r>
          </a:p>
          <a:p/>
          <a:p>
            <a:r>
              <a:t>При T = 1.0 — стандартный режим. Модель сэмплирует пропорционально исходным вероятностям: `яблоко` будет выбрано примерно в 32% случаев, `пиццу` в 19%, `салат` в 14% и так далее. Это даёт естественную вариативность — каждый запуск может вернуть разный ответ, но все ответы лежат в зоне правдоподобных.</a:t>
            </a:r>
          </a:p>
          <a:p/>
          <a:p>
            <a:r>
              <a:t>При T = 2.0 распределение «сглаживается»: разница между самыми вероятными и редкими токенами уменьшается, и модель начинает чаще выбирать неожиданные варианты. В крайних случаях ответы получаются почти хаотичными — выбираются токены, которые в реальном языке маловероятны после «съел».</a:t>
            </a:r>
          </a:p>
          <a:p/>
          <a:p>
            <a:r>
              <a:t>Кроме температуры, есть две альтернативные ручки: top-p (nucleus sampling) — параметр, отрезающий «хвост» редких токенов: модель оставляет минимальное подмножество самых вероятных токенов, у которого суммарная вероятность не меньше p, и сэмплирует только из них. И top-k — параметр-предел количества кандидатов: модель оставляет top-k самых вероятных токенов. На практике для большинства задач достаточно настраивать температуру; top-p и top-k — это второй слой контроля.</a:t>
            </a:r>
          </a:p>
          <a:p/>
          <a:p>
            <a:r>
              <a:t>Этот слайд отвечает на третье из трёх «почему» Лекции 1 §5.3: почему один и тот же запрос даёт разные ответы. Ответ короткий: потому что при T больше нуля сэмплинг — стохастический процесс, и из одного и того же распределения каждый запуск может выбрать разный токен. Это не баг; это инженерное решение, дающее моделям естественную вариативность, что для большинства интерактивных задач воспринимается как «человекоподобность».</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основных параметра, которыми инженер управляет работой LLM через API. Эти четыре параметра — `temperature`, `top_p`, `max_tokens`, **системный промпт** — это и есть LO4 курса: после этого слайда вы должны уметь подобрать их под конкретный сценарий, не наугад, а с обоснованием.</a:t>
            </a:r>
          </a:p>
          <a:p/>
          <a:p>
            <a:r>
              <a:t>Краткое определение каждого. **Temperature** — острота сэмплинга, от 0 до примерно 2. **Top_p** — параметр nucleus-отрезания (типичные значения 0.9–0.95). **Max_tokens** — максимальная длина ответа модели в токенах (не в словах); если ответ упирается в лимит, он обрезается на полуслове. **Системный промпт** — отдельное сообщение, задающее роль и ограничения модели до пользовательского запроса.</a:t>
            </a:r>
          </a:p>
          <a:p/>
          <a:p>
            <a:r>
              <a:t>Сводная таблица под четыре типовых сценария. Логика последовательная. **Классификация.** Когда задача — присвоить документу одну из конечного набора меток, любая стохастичность вредна: если на одном и том же документе модель в одном запуске говорит «жалоба», а в другом — «вопрос», воспроизводимость нарушена. T = 0 обеспечивает детерминированный argmax. Max_tokens маленький — ответ короткий. Системный промпт минимальный, но со схемой выхода: «отвечай в формате JSON `{label: ..., confidence: ...}`», чтобы постпроцессинг легко парсил результат.</a:t>
            </a:r>
          </a:p>
          <a:p/>
          <a:p>
            <a:r>
              <a:t>**Кодогенерация.** Здесь нужна слегка ненулевая температура. T = 0 даёт повторяющийся, иногда чрезмерно «учебниковый» код; T = 0.2–0.3 оставляет вариативность только в выборе между почти одинаково хорошими решениями. Top_p = 0.9 отрезает редкие токены, которые в коде почти всегда означают синтаксическую ошибку. Max_tokens большой. Системный промпт — роль и контекст репозитория.</a:t>
            </a:r>
          </a:p>
          <a:p/>
          <a:p>
            <a:r>
              <a:t>**Чат-объяснение.** Стандартный режим. T = 0.7 даёт разнообразие формулировок при сохранении смысла; top_p = 0.9 оставляет естественные варианты. Системный промпт описывает роль и аудиторию.</a:t>
            </a:r>
          </a:p>
          <a:p/>
          <a:p>
            <a:r>
              <a:t>**Творческое письмо.** Стохастичность — желаемое свойство. T = 0.9–1.2 даёт неожиданные обороты и метафоры. Top_p = 0.95 ослабляет отсечение «хвоста». Системный промпт — роль и стиль.</a:t>
            </a:r>
          </a:p>
          <a:p/>
          <a:p>
            <a:r>
              <a:t>Эта таблица — не предписание; она ориентир. В реальной работе вы будете калибровать значения под свою задачу. Важно понимать рамку: четыре ручки, и они дёргаются согласованно — нет смысла ставить T = 0 и top_p = 0.5 (top_p при T = 0 не имеет смысла); нет смысла ставить T = 1.5 и max_tokens = 50 (модель только разогнётся, и её обрежет).</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этапа inference в единый цикл. Лекция 1 §3.2 описывала модель как stateless-функцию: «вход — данные, выход — предсказание, между вызовами состояния нет». Но в чате с LLM мы наблюдаем не одну функцию, а длинный ответ — фразу, абзац, страницу. Откуда берётся длинный ответ из stateless-вызовов?</a:t>
            </a:r>
          </a:p>
          <a:p/>
          <a:p>
            <a:r>
              <a:t>Ответ — авторегрессионная генерация. От латинского «само-регрессирующий»: модель опирается на свои предыдущие выводы. Это циклический процесс из пяти шагов. Первый — текущий контекст: системный промпт плюс история диалога плюс новый запрос плюс всё, что модель уже сгенерировала за этот ответ. Второй — forward pass: полный проход всего контекста через четыре этапа inference, которые мы разобрали в первых трёх разделах лекции — токенизация, эмбеддинги, attention через все слои, финальный слой. На выходе forward pass — распределение вероятностей следующего токена. Третий — сэмплинг: по правилу температуры и top-p из распределения выбирается один токен. Четвёртый — добавление в контекст: выбранный токен дописывается к ответу и становится частью контекста для следующего шага. Пятый — возврат к шагу 1.</a:t>
            </a:r>
          </a:p>
          <a:p/>
          <a:p>
            <a:r>
              <a:t>Цикл повторяется, пока модель не сгенерирует специальный токен «конец ответа» или пока не упрётся в `max_tokens`. Каждый отдельный шаг этого цикла — stateless: модель ничего не «помнит» между шагами; всю «память» несёт сам контекст, который каждый раз подаётся целиком. Это уточнение к Лекции 1 §3.2: модель действительно stateless, но из stateless-шагов собирается процесс, имеющий вид связного ответа, за счёт того, что каждый следующий шаг видит весь предыдущий контекст. Иллюзия «памяти» внутри одного ответа создаётся не моделью, а оркестратором, который собирает и подаёт контекст.</a:t>
            </a:r>
          </a:p>
          <a:p/>
          <a:p>
            <a:r>
              <a:t>Это объясняет несколько практических наблюдений. Скорость генерации: длинный ответ модель пишет по одному токену за раз, десятки токенов в секунду; длинные ответы видны как «текст печатается на ваших глазах» — это физический темп генерации. Поведение `max_tokens`: когда счётчик токенов достигает лимита, цикл обрывается мгновенно — на полуслове, на середине JSON. Стриминг: API современных LLM поддерживают режим, в котором токены возвращаются клиенту по мере генерации, не пакетом в конце.</a:t>
            </a:r>
          </a:p>
          <a:p/>
          <a:p>
            <a:r>
              <a:t>Терминологически: каноническая русская форма — «авторегрессионный» (по модели «регрессионный»). Форма «авторегрессивный» допустима, но менее распространена в современной русской документации.</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Описанный выше цикл inference — токенизация, эмбеддинги, attention, сэмплинг, возврат к началу — один и тот же в облачных LLM-сервисах и в локально развёрнутых моделях. С точки зрения механизма ChatGPT, Claude, GigaChat, локальная Llama 3.1 на ноутбуке или Qwen 2.5 на edge-устройстве работают одинаково. Различаются они размером модели (и, как следствие, качеством ответов) и средой исполнения.</a:t>
            </a:r>
          </a:p>
          <a:p/>
          <a:p>
            <a:r>
              <a:t>Локальное развёртывание — Ollama, llama.cpp, LM Studio, vLLM — обычно работает с моделями размером 1–13 миллиардов параметров: Qwen 2.5 1.5B, Llama 3.2 1B, Llama 3.1 8B, Mistral 7B на 2026 год. Преимущества — приватность данных (запросы не уходят к стороннему провайдеру), отсутствие платы за токен, независимость от интернета. Недостатки — скорость на consumer-hardware заметно ниже, чем у облачных провайдеров; контекстное окно у локальных моделей часто меньше; качество ответов на сложных задачах уступает большим моделям.</a:t>
            </a:r>
          </a:p>
          <a:p/>
          <a:p>
            <a:r>
              <a:t>Облачные сервисы — OpenAI, Anthropic, Google, российские Yandex и Сбер — работают с моделями значительно большего размера (порядка сотен миллиардов параметров и больше). Качество ответов на сложных задачах — выше; контекстное окно — больше (сотни тысяч и миллион токенов); типичная задержка ответа — 200–500 мс. Платится это передачей данных через API провайдера (со всеми вопросами политики хранения и использования, которые мы разбирали в Лекции 1 §4.2) и оплатой за токены — которая для русского текста выше, чем для английского, как мы видели в §1.4.</a:t>
            </a:r>
          </a:p>
          <a:p/>
          <a:p>
            <a:r>
              <a:t>Глубокая дискуссия о локальных и облачных моделях — со схемой принятия решения, точкой безубыточности по объёму запросов, регуляторными аспектами — была в Лекции 1 §4.2 и здесь не повторяется. Сюда важно унести один тезис: архитектурно inference выглядит одинаково; различия — в размере модели и в среде. Когда вы выбираете между «локально» и «в облаке», вы выбираете не разные технологии, а разные точки на шкале «качество × приватность × стоимость», и эта шкала не зависит от того, как именно устроен цикл inference внутри.</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всё, что мы разобрали, в одну схему. Конвейер inference LLM состоит из четырёх этапов.</a:t>
            </a:r>
          </a:p>
          <a:p/>
          <a:p>
            <a:r>
              <a:t>**Первый — токенизация.** Текст пользователя разрезается на токены — id из фиксированного словаря модели. Словарь построен один раз до обучения BPE-алгоритмом. Конкретное разбиение зависит от частотности подпоследовательностей в обучающем корпусе.</a:t>
            </a:r>
          </a:p>
          <a:p/>
          <a:p>
            <a:r>
              <a:t>**Второй — эмбеддинг.** Каждому токену сопоставлен выученный вектор из embedding-таблицы. Геометрическая близость векторов отражает семантическую близость токенов в обучающем корпусе.</a:t>
            </a:r>
          </a:p>
          <a:p/>
          <a:p>
            <a:r>
              <a:t>**Третий — механизм внимания.** Через десятки слоёв attention модель строит распределения весов на токены контекста — какие токены сейчас важны для предсказания следующего. На выходе — распределение вероятностей на все токены словаря.</a:t>
            </a:r>
          </a:p>
          <a:p/>
          <a:p>
            <a:r>
              <a:t>**Четвёртый — сэмплинг.** Из этого распределения по правилу, заданному температурой и top-p / top-k, выбирается один токен. Он добавляется в контекст, и цикл повторяется до конца ответа.</a:t>
            </a:r>
          </a:p>
          <a:p/>
          <a:p>
            <a:r>
              <a:t>Этот конвейер — то, что Лекция 1 §3.2 называла «inference моделью». Тогда мы оставили его как чёрный ящик; теперь он перестал быть чёрным. Полезно зафиксировать: каждый из четырёх этапов имеет хотя бы одно прямое следствие на уровне инженерной практики. Токенизация даёт слепоту к буквам, разную стоимость на разных языках, требование внешнего инструмента для точной посимвольной работы. Эмбеддинг даёт семантический поиск, базовый слой RAG, кластеризацию. Механизм внимания даёт эффект роли в промпте, контекстное окно как ограничение, «lost in the middle». Сэмплинг даёт стохастичность ответа, четыре ручки API под сценарий, авторегрессионную природу длинного ответа. Эти восемь следствий — основное полезное содержание лекции; если на них вы можете опереться при принятии решений в своей инженерной работе, главное усвоено.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1 §5.3 оставила три обещанных вопроса, на которые курс должен научить отвечать через механизм. Теперь мы можем это сделать.</a:t>
            </a:r>
          </a:p>
          <a:p/>
          <a:p>
            <a:r>
              <a:t>**Первое «почему»: почему промпт с ролью работает лучше пустого?** На уровне механизма внимания role-токены — «ты эксперт по X», «отвечай как Y» — получают существенный вес в attention-распределении. Модель опирается на них при выборе следующих токенов; выбор оказывается смещённым в сторону, согласованную с ролью. Это упрощённое объяснение; альтернативно тот же эффект объясняется через in-context steering и через эффекты RLHF-обучения. В любом случае: роль в промпте — это не просьба «поверь мне», а конкретный input-сигнал, влияющий на распределение внимания.</a:t>
            </a:r>
          </a:p>
          <a:p/>
          <a:p>
            <a:r>
              <a:t>**Второе «почему»: почему AI плохо считает буквы?** Потому что модель видит не буквы, а токены. Слово `strawberry` для неё — три токена `[st][raw][berry]`, а не десять букв; внутри каждого токена нет явного перечисления букв на позициях. Слепота к буквам — структурное следствие BPE-токенизации, и оно не исправляется ни fine-tuning, ни более крупной моделью на чистом inference. Для точной посимвольной работы нужен внешний инструмент: Code Interpreter, Python, регулярное выражение.</a:t>
            </a:r>
          </a:p>
          <a:p/>
          <a:p>
            <a:r>
              <a:t>**Третье «почему»: почему один и тот же запрос даёт разные ответы?** Потому что при temperature больше нуля сэмплинг — стохастический процесс, выбирающий один из правдоподобных кандидатов из распределения вероятностей следующего токена. Каждый запуск может выбрать иначе. При temperature равной нулю ответ практически детерминированный, с микро-вариативностью из-за серверного батчинга; при единице — естественно вариативный; при больше единицы — всё более хаотичный.</a:t>
            </a:r>
          </a:p>
          <a:p/>
          <a:p>
            <a:r>
              <a:t>Эти три ответа — payoff Лекции 1, и одновременно — LO7 этой лекции. Если после неё вы можете назвать механизм для каждого «почему» в одном-двух предложениях, главное содержание лекции усвоено. Заметьте: ответы не интуитивные («модель такая, потому что её плохо обучили»), а механистические — каждое «почему» прицельно сводится к конкретному внутреннему этапу конвейера. Эта механистичность — то, что отличает инженерное понимание LLM от пользовательского.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Расширим Лекцию 1 §1.4 — классификацию задача × модальность — одним практическим вопросом: когда LLM — не правильный инструмент. Универсальное использование больших моделей привлекательно, но в значимом числе сценариев оно проигрывает по эффективности классическим методам ML.</a:t>
            </a:r>
          </a:p>
          <a:p/>
          <a:p>
            <a:r>
              <a:t>Простое решение в форме decision tree из трёх веток. **Первая ветка.** Задача — классификация на маленьком фиксированном наборе категорий: 5–20 классов, тысячи или десятки тысяч примеров с разметкой? Скорее всего, выбор — классический ML: логистическая регрессия, gradient boosting (популярные библиотеки XGBoost, LightGBM, CatBoost), маленький transformer-классификатор вроде BERT-base, донастроенный под конкретную задачу (это называется fine-tuning). LLM здесь будет более дорогой и менее точный.</a:t>
            </a:r>
          </a:p>
          <a:p/>
          <a:p>
            <a:r>
              <a:t>**Вторая ветка.** Нужна интерпретируемость или регулируемость — финансы, страхование, медицина, юридическая сфера, всё, где нужно объяснить регулятору, почему модель приняла такое решение? Здесь выбор — классические методы с прозрачной структурой: логистическая регрессия с feature importance, deciion trees, rule-based системы. LLM в смысле объяснимости отдельного предсказания — «чёрный ящик».</a:t>
            </a:r>
          </a:p>
          <a:p/>
          <a:p>
            <a:r>
              <a:t>**Третья ветка.** Критическое время отклика — меньше 100 миллисекунд? Real-time персонализация ленты, антифрод на платёжном шлюзе, edge-устройства? Здесь — специализированная маленькая модель (классический ML или маленькая нейросеть), а не вызов LLM с задержкой 200–500 миллисекунд.</a:t>
            </a:r>
          </a:p>
          <a:p/>
          <a:p>
            <a:r>
              <a:t>Во всех остальных случаях LLM применима, и часто оптимальна. Особенно для задач, требующих обработки естественного языка, гибкого формата запроса, многошагового рассуждения, генерации новых текстов или кода. Эта схема — верхний уровень. Реальный инженерный выбор глубже, и в курсе мы будем возвращаться к нему многократно: Лекции 4–7 пройдут по конкретным индустриям — ПО, финансы, ритейл, медицина — и для каждой обсудим, где LLM оптимум, а где over-engineering. Здесь важно зафиксировать одно: LLM — не универсальный молоток. Знать механику внутренностей LLM нужно в том числе для того, чтобы аккуратно понимать, где она не нужна.</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короткий кросс-сюжетный фрейм — возврат к одному из самых концептуально важных мест Лекции 1, §4.8: трём уровням причинности Перла. Лекция 1 показала, что современные AI-системы устойчиво работают на уровне 1 (ассоциация), частично — на уровне 2 (вмешательство), и не справляются с уровнем 3 (контрфактуальность). Теперь у нас есть механистическое основание для этого тезиса.</a:t>
            </a:r>
          </a:p>
          <a:p/>
          <a:p>
            <a:r>
              <a:t>Механизм внимания статистически смотрит на токены — он не строит каузальный граф. Когда модель видит в контексте предложение «X произошло, потому что Y», она замечает, что токены X и Y часто соседствуют в обучающем корпусе в подобных конструкциях. Она усваивает корреляцию, не причинность. Конструкция «потому что» для модели — это паттерн в данных, не указание на каузальный механизм реального мира.</a:t>
            </a:r>
          </a:p>
          <a:p/>
          <a:p>
            <a:r>
              <a:t>Сравним два процесса. Человек: «X произошло, потому что Y» — модель причинности, включающая уровни 1 (наблюдение корреляции), 2 (что произойдёт, если изменить Y) и 3 (что было бы, если бы Y не было). Эта модель опирается на физическую интуицию, на доменные знания, на знание механизмов мира. AI на основе механизма внимания: «X следует за Y в данных» — статистическая корреляция между токенами. Сильный сигнал на уровне 1; на уровень 2 модель частично переходит, если в обучающем корпусе было много примеров изменения Y; на уровень 3 в общем виде — нет.</a:t>
            </a:r>
          </a:p>
          <a:p/>
          <a:p>
            <a:r>
              <a:t>Это объясняет описанный в Лекции 1 §4.8 феномен: модель прекрасно отвечает на «что коррелирует с чем» (анализ данных). Хуже — на «что произойдёт, если я изменю X» (оценка вмешательства). И почти никак — на «было бы Y, если бы X не случилось» (контрфактуальный анализ). Контрфактуальные вопросы остаются зоной человеческого экспертного суждения — это не временный технический недостаток, а ограничение текущей парадигмы.</a:t>
            </a:r>
          </a:p>
          <a:p/>
          <a:p>
            <a:r>
              <a:t>Тон замечания — фактический, не алармистский. Механизм внимания — мощный инструмент в области, в которой он работает. Эта область — корреляционная статистика над данными, и инженер обязан помнить границу при проектировании систем, в которых от AI ожидают каузальных выводов.</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семинара 2 — «Эффект температуры: как стохастичность сэмплинга меняет ответ LLM». На семинаре соберём результаты ваших домашних экспериментов и обсудим, какую температуру каждый выбрал бы для production своей задачи.</a:t>
            </a:r>
          </a:p>
          <a:p/>
          <a:p>
            <a:r>
              <a:t>Задание из трёх шагов. Первый — возьмите типовую задачу из своей предметной области. Конкретный, воспроизводимый запрос — не «помоги мне думать», а «классифицируй эту жалобу клиента» или «напиши Python-функцию, которая делает X». Запрос подбирается так, чтобы вы могли честно сравнить ответы на разных температурах.</a:t>
            </a:r>
          </a:p>
          <a:p/>
          <a:p>
            <a:r>
              <a:t>Второй шаг — запустите запрос в playground с явным контролем температуры. Три значения: T = 0, 0.7 и 1.5. Для каждого — по три запуска, чтобы оценить вариативность. Один запуск на значение не даст представления о variance: на T = 0 одинаковый ответ, на T = 1.5 — каждый раз разный. Три запуска позволяют это увидеть.</a:t>
            </a:r>
          </a:p>
          <a:p/>
          <a:p>
            <a:r>
              <a:t>Третий шаг — одностраничный разбор (1 A4): что изменилось от T = 0 к T = 1.5, что осталось одинаковым, и какую T вы бы выбрали для production с обоснованием. Это короткий рефлексивный текст, не отчёт.</a:t>
            </a:r>
          </a:p>
          <a:p/>
          <a:p>
            <a:r>
              <a:t>Playground — Hugging Face Inference Playground (бесплатный, T-slider в UI). Модель `Meta-Llama-3-8B-Instruct`: даёт единое основание для сравнения. Резервные: Together.ai playground или локальная Ollama с Llama 3 — оба поддерживают T. Не подойдут UI ChatGPT Free и Claude.ai — нет регулятора температуры. Если конкретные сервисы устареют, общий критерий: любой playground с явным регулируемым T, стабильным открытым доступом и стабильной моделью.</a:t>
            </a:r>
          </a:p>
          <a:p/>
          <a:p>
            <a:r>
              <a:t>Бонусный челлендж — два вопроса на слепоту к буквам из §1.3 главы, проверьте на трёх моделях. Объясните результат через токенизацию. Задание покрывает LO4, LO6 и LO7 на уровне apply.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следующей лекции — «Агенты, RAG, API: как AI выходит за пределы чата». В нашем конвейере inference, который мы только что собрали, есть жёсткое ограничение: модель видит только то, что есть в контексте, и не может пойти за информацией наружу. Лекция 3 покажет, как это ограничение обходится через четыре класса инструментов.</a:t>
            </a:r>
          </a:p>
          <a:p/>
          <a:p>
            <a:r>
              <a:t>**RAG — Retrieval-Augmented Generation.** Это расширение, в котором перед обращением к LLM выполняется семантический поиск по вашей базе знаний на эмбеддингах — точно тех, что мы разбирали в §§2.3–2.4 — и top-K релевантных фрагментов добавляются в контекст. На уровне inference это всё тот же конвейер из четырёх этапов, только с обогащённым контекстом. RAG — самый прямой способ дать модели доступ к информации, которой нет в её весах.</a:t>
            </a:r>
          </a:p>
          <a:p/>
          <a:p>
            <a:r>
              <a:t>**Tools или function calling.** Механизм, через который модель генерирует специально структурированный вызов — обычно в формате JSON, иногда в других форматах в зависимости от API-провайдера — указывающий, какой инструмент она хочет вызвать и с какими параметрами. Внешняя система видит этот вызов, выполняет его, и результат возвращается модели как часть контекста. Это канонический способ обойти ограничения слепоты к буквам (для арифметики — Python sandbox) и stateless-природы (для актуальной информации — веб-поиск).</a:t>
            </a:r>
          </a:p>
          <a:p/>
          <a:p>
            <a:r>
              <a:t>**MCP — Model Context Protocol.** Открытый стандарт подключения инструментов к LLM, представленный Anthropic в ноябре 2024 года. Решает проблему «каждое сочетание модели и инструмента — отдельная интеграция»: один протокол, переиспользуемое подключение. Мы упоминали MCP в Лекции 1 §2.2; в Лекции 3 разберём подробнее.</a:t>
            </a:r>
          </a:p>
          <a:p/>
          <a:p>
            <a:r>
              <a:t>**Agent loop.** Цикл act → observe → reflect, рассмотренный в Лекции 1 §3.4.1. На каждом шаге модель решает действие, видит результат, корректирует план — и так до достижения цели. Все четыре концепта надстраиваются над single-shot inference из §4.4 нашей лекции. Multimodal-расширения — CLIP-эмбеддинги для изображений, аудио-эмбеддинги, унифицированные модели типа GPT-4o, обрабатывающие текст и изображение совместно — там же, в составе RAG для нетекстовых модальностей.</a:t>
            </a:r>
          </a:p>
          <a:p/>
          <a:p>
            <a:r>
              <a:t>На сегодня всё. До пяти минут на вопросы в зале. Дополнительные вопросы — на Семинар 2 или по e-mail. На семинаре будем разбирать ваши домашние эксперименты с температурой; постарайтесь успеть прогнать запросы заранее.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18.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Модель видит ваш запрос не буквами — а токенами</a:t>
            </a:r>
          </a:p>
        </p:txBody>
      </p:sp>
      <p:sp>
        <p:nvSpPr>
          <p:cNvPr id="3" name="TextBox 2"/>
          <p:cNvSpPr txBox="1"/>
          <p:nvPr/>
        </p:nvSpPr>
        <p:spPr>
          <a:xfrm>
            <a:off x="502920" y="1417320"/>
            <a:ext cx="11247120" cy="411480"/>
          </a:xfrm>
          <a:prstGeom prst="rect">
            <a:avLst/>
          </a:prstGeom>
          <a:noFill/>
        </p:spPr>
        <p:txBody>
          <a:bodyPr wrap="square" lIns="0" rIns="0" tIns="0" bIns="0" anchor="t">
            <a:spAutoFit/>
          </a:bodyPr>
          <a:lstStyle/>
          <a:p>
            <a:pPr algn="l">
              <a:lnSpc>
                <a:spcPct val="120000"/>
              </a:lnSpc>
            </a:pPr>
            <a:r>
              <a:rPr sz="1600" b="0" i="1">
                <a:solidFill>
                  <a:srgbClr val="065A82"/>
                </a:solidFill>
                <a:latin typeface="Arial"/>
              </a:rPr>
              <a:t>Live tokenizer — 4 коротких примера разметки</a:t>
            </a:r>
          </a:p>
        </p:txBody>
      </p:sp>
      <p:sp>
        <p:nvSpPr>
          <p:cNvPr id="4" name="Rounded Rectangle 3"/>
          <p:cNvSpPr/>
          <p:nvPr/>
        </p:nvSpPr>
        <p:spPr>
          <a:xfrm>
            <a:off x="502920" y="1920240"/>
            <a:ext cx="11247120" cy="4023360"/>
          </a:xfrm>
          <a:prstGeom prst="roundRect">
            <a:avLst>
              <a:gd name="adj" fmla="val 75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tiktokenizer-mock.png"/>
          <p:cNvPicPr>
            <a:picLocks noChangeAspect="1"/>
          </p:cNvPicPr>
          <p:nvPr/>
        </p:nvPicPr>
        <p:blipFill>
          <a:blip r:embed="rId2"/>
          <a:stretch>
            <a:fillRect/>
          </a:stretch>
        </p:blipFill>
        <p:spPr>
          <a:xfrm>
            <a:off x="685800" y="2057400"/>
            <a:ext cx="10881360" cy="3794760"/>
          </a:xfrm>
          <a:prstGeom prst="rect">
            <a:avLst/>
          </a:prstGeom>
        </p:spPr>
      </p:pic>
      <p:sp>
        <p:nvSpPr>
          <p:cNvPr id="6" name="TextBox 5"/>
          <p:cNvSpPr txBox="1"/>
          <p:nvPr/>
        </p:nvSpPr>
        <p:spPr>
          <a:xfrm>
            <a:off x="502920" y="6126480"/>
            <a:ext cx="11247120" cy="411480"/>
          </a:xfrm>
          <a:prstGeom prst="rect">
            <a:avLst/>
          </a:prstGeom>
          <a:noFill/>
        </p:spPr>
        <p:txBody>
          <a:bodyPr wrap="square" lIns="0" rIns="0" tIns="0" bIns="0" anchor="t">
            <a:spAutoFit/>
          </a:bodyPr>
          <a:lstStyle/>
          <a:p>
            <a:pPr algn="l">
              <a:lnSpc>
                <a:spcPct val="125000"/>
              </a:lnSpc>
            </a:pPr>
            <a:r>
              <a:rPr sz="1200" b="0" i="1">
                <a:solidFill>
                  <a:srgbClr val="1C7293"/>
                </a:solidFill>
                <a:latin typeface="Arial"/>
              </a:rPr>
              <a:t>Источник: tiktokenizer.vercel.app (o200k_base, GPT-4o). Live demo доступен, статическая версия — fallback.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8686800" y="182880"/>
            <a:ext cx="3657600" cy="4572000"/>
          </a:xfrm>
          <a:prstGeom prst="rect">
            <a:avLst/>
          </a:prstGeom>
          <a:noFill/>
        </p:spPr>
        <p:txBody>
          <a:bodyPr wrap="square" lIns="0" rIns="0" tIns="0" bIns="0" anchor="t">
            <a:spAutoFit/>
          </a:bodyPr>
          <a:lstStyle/>
          <a:p>
            <a:pPr algn="l">
              <a:lnSpc>
                <a:spcPct val="100000"/>
              </a:lnSpc>
            </a:pPr>
            <a:r>
              <a:rPr sz="42000" b="1" i="0">
                <a:solidFill>
                  <a:srgbClr val="D9E2EC"/>
                </a:solidFill>
                <a:latin typeface="Arial"/>
              </a:rPr>
              <a:t>2</a:t>
            </a:r>
          </a:p>
        </p:txBody>
      </p:sp>
      <p:sp>
        <p:nvSpPr>
          <p:cNvPr id="3" name="TextBox 2"/>
          <p:cNvSpPr txBox="1"/>
          <p:nvPr/>
        </p:nvSpPr>
        <p:spPr>
          <a:xfrm>
            <a:off x="640080" y="914400"/>
            <a:ext cx="7315200" cy="50292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2</a:t>
            </a:r>
          </a:p>
        </p:txBody>
      </p:sp>
      <p:sp>
        <p:nvSpPr>
          <p:cNvPr id="4" name="Rectangle 3"/>
          <p:cNvSpPr/>
          <p:nvPr/>
        </p:nvSpPr>
        <p:spPr>
          <a:xfrm>
            <a:off x="658368" y="1417320"/>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8229600" cy="2377440"/>
          </a:xfrm>
          <a:prstGeom prst="rect">
            <a:avLst/>
          </a:prstGeom>
          <a:noFill/>
        </p:spPr>
        <p:txBody>
          <a:bodyPr wrap="square" lIns="0" rIns="0" tIns="0" bIns="0" anchor="t">
            <a:spAutoFit/>
          </a:bodyPr>
          <a:lstStyle/>
          <a:p>
            <a:pPr algn="l">
              <a:lnSpc>
                <a:spcPct val="108000"/>
              </a:lnSpc>
            </a:pPr>
            <a:r>
              <a:rPr sz="5200" b="1" i="0">
                <a:solidFill>
                  <a:srgbClr val="21295C"/>
                </a:solidFill>
                <a:latin typeface="Arial"/>
              </a:rPr>
              <a:t>Как работают
современные большие модели</a:t>
            </a:r>
          </a:p>
        </p:txBody>
      </p:sp>
      <p:sp>
        <p:nvSpPr>
          <p:cNvPr id="6" name="Rectangle 5"/>
          <p:cNvSpPr/>
          <p:nvPr/>
        </p:nvSpPr>
        <p:spPr>
          <a:xfrm>
            <a:off x="640080" y="4572000"/>
            <a:ext cx="45720"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572000"/>
            <a:ext cx="10515600" cy="640080"/>
          </a:xfrm>
          <a:prstGeom prst="rect">
            <a:avLst/>
          </a:prstGeom>
          <a:noFill/>
        </p:spPr>
        <p:txBody>
          <a:bodyPr wrap="square" lIns="0" rIns="0" tIns="0" bIns="0" anchor="t">
            <a:spAutoFit/>
          </a:bodyPr>
          <a:lstStyle/>
          <a:p>
            <a:pPr algn="l">
              <a:lnSpc>
                <a:spcPct val="125000"/>
              </a:lnSpc>
            </a:pPr>
            <a:r>
              <a:rPr sz="2000" b="0" i="0">
                <a:solidFill>
                  <a:srgbClr val="065A82"/>
                </a:solidFill>
                <a:latin typeface="Arial"/>
              </a:rPr>
              <a:t>4 этапа inference: токенизация · эмбеддинг · внимание · сэмплинг</a:t>
            </a:r>
          </a:p>
        </p:txBody>
      </p:sp>
      <p:sp>
        <p:nvSpPr>
          <p:cNvPr id="8" name="Rounded Rectangle 7"/>
          <p:cNvSpPr/>
          <p:nvPr/>
        </p:nvSpPr>
        <p:spPr>
          <a:xfrm>
            <a:off x="868680" y="521208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257800"/>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Tk</a:t>
            </a:r>
          </a:p>
        </p:txBody>
      </p:sp>
      <p:sp>
        <p:nvSpPr>
          <p:cNvPr id="10" name="TextBox 9"/>
          <p:cNvSpPr txBox="1"/>
          <p:nvPr/>
        </p:nvSpPr>
        <p:spPr>
          <a:xfrm>
            <a:off x="1371600" y="5257800"/>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1" name="Rounded Rectangle 10"/>
          <p:cNvSpPr/>
          <p:nvPr/>
        </p:nvSpPr>
        <p:spPr>
          <a:xfrm>
            <a:off x="1645919" y="521208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19" y="5257800"/>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Em</a:t>
            </a:r>
          </a:p>
        </p:txBody>
      </p:sp>
      <p:sp>
        <p:nvSpPr>
          <p:cNvPr id="13" name="TextBox 12"/>
          <p:cNvSpPr txBox="1"/>
          <p:nvPr/>
        </p:nvSpPr>
        <p:spPr>
          <a:xfrm>
            <a:off x="2148839" y="5257800"/>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4" name="Rounded Rectangle 13"/>
          <p:cNvSpPr/>
          <p:nvPr/>
        </p:nvSpPr>
        <p:spPr>
          <a:xfrm>
            <a:off x="2423160" y="521208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5257800"/>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a:t>
            </a:r>
          </a:p>
        </p:txBody>
      </p:sp>
      <p:sp>
        <p:nvSpPr>
          <p:cNvPr id="16" name="TextBox 15"/>
          <p:cNvSpPr txBox="1"/>
          <p:nvPr/>
        </p:nvSpPr>
        <p:spPr>
          <a:xfrm>
            <a:off x="2926080" y="5257800"/>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7" name="Rounded Rectangle 16"/>
          <p:cNvSpPr/>
          <p:nvPr/>
        </p:nvSpPr>
        <p:spPr>
          <a:xfrm>
            <a:off x="3200400" y="521208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0" y="5257800"/>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Sm</a:t>
            </a:r>
          </a:p>
        </p:txBody>
      </p:sp>
      <p:sp>
        <p:nvSpPr>
          <p:cNvPr id="19" name="Rounded Rectangle 18"/>
          <p:cNvSpPr/>
          <p:nvPr/>
        </p:nvSpPr>
        <p:spPr>
          <a:xfrm>
            <a:off x="502920" y="626364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3679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0  Открытие</a:t>
            </a:r>
          </a:p>
        </p:txBody>
      </p:sp>
      <p:sp>
        <p:nvSpPr>
          <p:cNvPr id="21" name="Rounded Rectangle 20"/>
          <p:cNvSpPr/>
          <p:nvPr/>
        </p:nvSpPr>
        <p:spPr>
          <a:xfrm>
            <a:off x="2389632"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89632"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23" name="Rounded Rectangle 22"/>
          <p:cNvSpPr/>
          <p:nvPr/>
        </p:nvSpPr>
        <p:spPr>
          <a:xfrm>
            <a:off x="4276344"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6344"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25" name="Rounded Rectangle 24"/>
          <p:cNvSpPr/>
          <p:nvPr/>
        </p:nvSpPr>
        <p:spPr>
          <a:xfrm>
            <a:off x="6163056"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63056"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27" name="Rounded Rectangle 26"/>
          <p:cNvSpPr/>
          <p:nvPr/>
        </p:nvSpPr>
        <p:spPr>
          <a:xfrm>
            <a:off x="8049768"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9768"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29" name="Rounded Rectangle 28"/>
          <p:cNvSpPr/>
          <p:nvPr/>
        </p:nvSpPr>
        <p:spPr>
          <a:xfrm>
            <a:off x="9936480" y="626364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36480" y="633679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Сегодня углубляем слой «модель» из четырёх слоёв Лекции 1</a:t>
            </a:r>
          </a:p>
        </p:txBody>
      </p:sp>
      <p:sp>
        <p:nvSpPr>
          <p:cNvPr id="3" name="Rounded Rectangle 2"/>
          <p:cNvSpPr/>
          <p:nvPr/>
        </p:nvSpPr>
        <p:spPr>
          <a:xfrm>
            <a:off x="502920" y="5349240"/>
            <a:ext cx="5486400" cy="914400"/>
          </a:xfrm>
          <a:prstGeom prst="roundRect">
            <a:avLst>
              <a:gd name="adj" fmla="val 2500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623559"/>
            <a:ext cx="5486400" cy="45720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МОДЕЛЬ — углубляем сегодня</a:t>
            </a:r>
          </a:p>
        </p:txBody>
      </p:sp>
      <p:sp>
        <p:nvSpPr>
          <p:cNvPr id="5" name="Rounded Rectangle 4"/>
          <p:cNvSpPr/>
          <p:nvPr/>
        </p:nvSpPr>
        <p:spPr>
          <a:xfrm>
            <a:off x="777240" y="4434840"/>
            <a:ext cx="493776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663440"/>
            <a:ext cx="493776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Чат</a:t>
            </a:r>
          </a:p>
        </p:txBody>
      </p:sp>
      <p:sp>
        <p:nvSpPr>
          <p:cNvPr id="7" name="Rounded Rectangle 6"/>
          <p:cNvSpPr/>
          <p:nvPr/>
        </p:nvSpPr>
        <p:spPr>
          <a:xfrm>
            <a:off x="1051560" y="3566159"/>
            <a:ext cx="4389120" cy="82296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767327"/>
            <a:ext cx="438912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Агент</a:t>
            </a:r>
          </a:p>
        </p:txBody>
      </p:sp>
      <p:sp>
        <p:nvSpPr>
          <p:cNvPr id="9" name="Rounded Rectangle 8"/>
          <p:cNvSpPr/>
          <p:nvPr/>
        </p:nvSpPr>
        <p:spPr>
          <a:xfrm>
            <a:off x="1325880" y="2743199"/>
            <a:ext cx="384048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5880" y="2926079"/>
            <a:ext cx="384048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Приложение</a:t>
            </a:r>
          </a:p>
        </p:txBody>
      </p:sp>
      <p:sp>
        <p:nvSpPr>
          <p:cNvPr id="11" name="TextBox 10"/>
          <p:cNvSpPr txBox="1"/>
          <p:nvPr/>
        </p:nvSpPr>
        <p:spPr>
          <a:xfrm>
            <a:off x="502920" y="2331719"/>
            <a:ext cx="5486400" cy="365760"/>
          </a:xfrm>
          <a:prstGeom prst="rect">
            <a:avLst/>
          </a:prstGeom>
          <a:noFill/>
        </p:spPr>
        <p:txBody>
          <a:bodyPr wrap="square" lIns="0" rIns="0" tIns="0" bIns="0" anchor="ctr">
            <a:spAutoFit/>
          </a:bodyPr>
          <a:lstStyle/>
          <a:p>
            <a:pPr algn="ctr">
              <a:lnSpc>
                <a:spcPct val="115000"/>
              </a:lnSpc>
            </a:pPr>
            <a:r>
              <a:rPr sz="1200" b="0" i="1">
                <a:solidFill>
                  <a:srgbClr val="1C7293"/>
                </a:solidFill>
                <a:latin typeface="Arial"/>
              </a:rPr>
              <a:t>(Лекция 1 §3.2)</a:t>
            </a:r>
          </a:p>
        </p:txBody>
      </p:sp>
      <p:sp>
        <p:nvSpPr>
          <p:cNvPr id="12" name="Rounded Rectangle 11"/>
          <p:cNvSpPr/>
          <p:nvPr/>
        </p:nvSpPr>
        <p:spPr>
          <a:xfrm>
            <a:off x="6355080" y="169164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828800"/>
            <a:ext cx="5029200" cy="45720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мы знаем (Лекция 1 §3.2):</a:t>
            </a:r>
          </a:p>
        </p:txBody>
      </p:sp>
      <p:sp>
        <p:nvSpPr>
          <p:cNvPr id="14" name="TextBox 13"/>
          <p:cNvSpPr txBox="1"/>
          <p:nvPr/>
        </p:nvSpPr>
        <p:spPr>
          <a:xfrm>
            <a:off x="6583680" y="2331720"/>
            <a:ext cx="5029200" cy="128016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Модель = stateless inference. Вход — данные, выход — предсказание. Между вызовами памяти нет.</a:t>
            </a:r>
          </a:p>
        </p:txBody>
      </p:sp>
      <p:sp>
        <p:nvSpPr>
          <p:cNvPr id="15" name="Rounded Rectangle 14"/>
          <p:cNvSpPr/>
          <p:nvPr/>
        </p:nvSpPr>
        <p:spPr>
          <a:xfrm>
            <a:off x="6355080" y="3931920"/>
            <a:ext cx="5486400" cy="2194560"/>
          </a:xfrm>
          <a:prstGeom prst="roundRect">
            <a:avLst>
              <a:gd name="adj" fmla="val 1388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4069080"/>
            <a:ext cx="5029200" cy="45720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Что узнаем сегодня:</a:t>
            </a:r>
          </a:p>
        </p:txBody>
      </p:sp>
      <p:sp>
        <p:nvSpPr>
          <p:cNvPr id="17" name="TextBox 16"/>
          <p:cNvSpPr txBox="1"/>
          <p:nvPr/>
        </p:nvSpPr>
        <p:spPr>
          <a:xfrm>
            <a:off x="6583680" y="4572000"/>
            <a:ext cx="5029200" cy="1463040"/>
          </a:xfrm>
          <a:prstGeom prst="rect">
            <a:avLst/>
          </a:prstGeom>
          <a:noFill/>
        </p:spPr>
        <p:txBody>
          <a:bodyPr wrap="square" lIns="0" rIns="0" tIns="0" bIns="0" anchor="t">
            <a:spAutoFit/>
          </a:bodyPr>
          <a:lstStyle/>
          <a:p>
            <a:pPr algn="l">
              <a:lnSpc>
                <a:spcPct val="140000"/>
              </a:lnSpc>
            </a:pPr>
            <a:r>
              <a:rPr sz="1500" b="0" i="0">
                <a:solidFill>
                  <a:srgbClr val="21295C"/>
                </a:solidFill>
                <a:latin typeface="Arial"/>
              </a:rPr>
              <a:t>Что внутри inference. 4 этапа:
токенизация → эмбеддинг → внимание → сэмплинг</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47120" cy="36576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Главный вопрос лекции</a:t>
            </a:r>
          </a:p>
        </p:txBody>
      </p:sp>
      <p:sp>
        <p:nvSpPr>
          <p:cNvPr id="3" name="Rounded Rectangle 2"/>
          <p:cNvSpPr/>
          <p:nvPr/>
        </p:nvSpPr>
        <p:spPr>
          <a:xfrm>
            <a:off x="502920" y="960120"/>
            <a:ext cx="1124712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424160" cy="1508760"/>
          </a:xfrm>
          <a:prstGeom prst="rect">
            <a:avLst/>
          </a:prstGeom>
          <a:noFill/>
        </p:spPr>
        <p:txBody>
          <a:bodyPr wrap="square" lIns="0" rIns="0" tIns="0" bIns="0" anchor="ctr">
            <a:spAutoFit/>
          </a:bodyPr>
          <a:lstStyle/>
          <a:p>
            <a:pPr algn="ctr">
              <a:lnSpc>
                <a:spcPct val="130000"/>
              </a:lnSpc>
            </a:pPr>
            <a:r>
              <a:rPr sz="2400" b="1" i="0">
                <a:solidFill>
                  <a:srgbClr val="21295C"/>
                </a:solidFill>
                <a:latin typeface="Arial"/>
              </a:rPr>
              <a:t>«Что происходит внутри LLM между моим запросом и ответом —
и какие из этих внутренних механизмов меняют, как я её использую?»</a:t>
            </a:r>
          </a:p>
        </p:txBody>
      </p:sp>
      <p:sp>
        <p:nvSpPr>
          <p:cNvPr id="5" name="Rounded Rectangle 4"/>
          <p:cNvSpPr/>
          <p:nvPr/>
        </p:nvSpPr>
        <p:spPr>
          <a:xfrm>
            <a:off x="4023360" y="2971800"/>
            <a:ext cx="4114800" cy="365760"/>
          </a:xfrm>
          <a:prstGeom prst="roundRect">
            <a:avLst>
              <a:gd name="adj" fmla="val 5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0" y="3017520"/>
            <a:ext cx="4114800" cy="274320"/>
          </a:xfrm>
          <a:prstGeom prst="rect">
            <a:avLst/>
          </a:prstGeom>
          <a:noFill/>
        </p:spPr>
        <p:txBody>
          <a:bodyPr wrap="square" lIns="0" rIns="0" tIns="0" bIns="0" anchor="ctr">
            <a:spAutoFit/>
          </a:bodyPr>
          <a:lstStyle/>
          <a:p>
            <a:pPr algn="ctr">
              <a:lnSpc>
                <a:spcPct val="115000"/>
              </a:lnSpc>
            </a:pPr>
            <a:r>
              <a:rPr sz="1200" b="1" i="1">
                <a:solidFill>
                  <a:srgbClr val="21295C"/>
                </a:solidFill>
                <a:latin typeface="Arial"/>
              </a:rPr>
              <a:t>3 ответа — payoff на s24</a:t>
            </a:r>
          </a:p>
        </p:txBody>
      </p:sp>
      <p:sp>
        <p:nvSpPr>
          <p:cNvPr id="7" name="Rounded Rectangle 6"/>
          <p:cNvSpPr/>
          <p:nvPr/>
        </p:nvSpPr>
        <p:spPr>
          <a:xfrm>
            <a:off x="50292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388620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904488"/>
            <a:ext cx="502920" cy="45720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sp>
        <p:nvSpPr>
          <p:cNvPr id="10" name="TextBox 9"/>
          <p:cNvSpPr txBox="1"/>
          <p:nvPr/>
        </p:nvSpPr>
        <p:spPr>
          <a:xfrm>
            <a:off x="1463040" y="3886200"/>
            <a:ext cx="2468880" cy="1371600"/>
          </a:xfrm>
          <a:prstGeom prst="rect">
            <a:avLst/>
          </a:prstGeom>
          <a:noFill/>
        </p:spPr>
        <p:txBody>
          <a:bodyPr wrap="square" lIns="0" rIns="0" tIns="0" bIns="0" anchor="t">
            <a:spAutoFit/>
          </a:bodyPr>
          <a:lstStyle/>
          <a:p>
            <a:pPr algn="l">
              <a:lnSpc>
                <a:spcPct val="125000"/>
              </a:lnSpc>
            </a:pPr>
            <a:r>
              <a:rPr sz="1600" b="1" i="0">
                <a:solidFill>
                  <a:srgbClr val="21295C"/>
                </a:solidFill>
                <a:latin typeface="Arial"/>
              </a:rPr>
              <a:t>Почему промпт с ролью
работает лучше пустого?</a:t>
            </a:r>
          </a:p>
        </p:txBody>
      </p:sp>
      <p:sp>
        <p:nvSpPr>
          <p:cNvPr id="11" name="TextBox 10"/>
          <p:cNvSpPr txBox="1"/>
          <p:nvPr/>
        </p:nvSpPr>
        <p:spPr>
          <a:xfrm>
            <a:off x="777240" y="5394960"/>
            <a:ext cx="3063240" cy="365760"/>
          </a:xfrm>
          <a:prstGeom prst="rect">
            <a:avLst/>
          </a:prstGeom>
          <a:noFill/>
        </p:spPr>
        <p:txBody>
          <a:bodyPr wrap="square" lIns="0" rIns="0" tIns="0" bIns="0" anchor="t">
            <a:spAutoFit/>
          </a:bodyPr>
          <a:lstStyle/>
          <a:p>
            <a:pPr algn="l">
              <a:lnSpc>
                <a:spcPct val="120000"/>
              </a:lnSpc>
            </a:pPr>
            <a:r>
              <a:rPr sz="1400" b="0" i="1">
                <a:solidFill>
                  <a:srgbClr val="065A82"/>
                </a:solidFill>
                <a:latin typeface="Arial"/>
              </a:rPr>
              <a:t>→ Раздел 3 — внимание</a:t>
            </a:r>
          </a:p>
        </p:txBody>
      </p:sp>
      <p:sp>
        <p:nvSpPr>
          <p:cNvPr id="12" name="TextBox 11"/>
          <p:cNvSpPr txBox="1"/>
          <p:nvPr/>
        </p:nvSpPr>
        <p:spPr>
          <a:xfrm>
            <a:off x="777240" y="5760720"/>
            <a:ext cx="3063240"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якорь: s15</a:t>
            </a:r>
          </a:p>
        </p:txBody>
      </p:sp>
      <p:sp>
        <p:nvSpPr>
          <p:cNvPr id="13" name="Rounded Rectangle 12"/>
          <p:cNvSpPr/>
          <p:nvPr/>
        </p:nvSpPr>
        <p:spPr>
          <a:xfrm>
            <a:off x="429768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72000" y="388620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3904488"/>
            <a:ext cx="502920" cy="45720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sp>
        <p:nvSpPr>
          <p:cNvPr id="16" name="TextBox 15"/>
          <p:cNvSpPr txBox="1"/>
          <p:nvPr/>
        </p:nvSpPr>
        <p:spPr>
          <a:xfrm>
            <a:off x="5257800" y="3886200"/>
            <a:ext cx="2468880" cy="1371600"/>
          </a:xfrm>
          <a:prstGeom prst="rect">
            <a:avLst/>
          </a:prstGeom>
          <a:noFill/>
        </p:spPr>
        <p:txBody>
          <a:bodyPr wrap="square" lIns="0" rIns="0" tIns="0" bIns="0" anchor="t">
            <a:spAutoFit/>
          </a:bodyPr>
          <a:lstStyle/>
          <a:p>
            <a:pPr algn="l">
              <a:lnSpc>
                <a:spcPct val="125000"/>
              </a:lnSpc>
            </a:pPr>
            <a:r>
              <a:rPr sz="1600" b="1" i="0">
                <a:solidFill>
                  <a:srgbClr val="21295C"/>
                </a:solidFill>
                <a:latin typeface="Arial"/>
              </a:rPr>
              <a:t>Почему AI плохо
считает буквы?</a:t>
            </a:r>
          </a:p>
        </p:txBody>
      </p:sp>
      <p:sp>
        <p:nvSpPr>
          <p:cNvPr id="17" name="TextBox 16"/>
          <p:cNvSpPr txBox="1"/>
          <p:nvPr/>
        </p:nvSpPr>
        <p:spPr>
          <a:xfrm>
            <a:off x="4572000" y="5394960"/>
            <a:ext cx="3063240" cy="365760"/>
          </a:xfrm>
          <a:prstGeom prst="rect">
            <a:avLst/>
          </a:prstGeom>
          <a:noFill/>
        </p:spPr>
        <p:txBody>
          <a:bodyPr wrap="square" lIns="0" rIns="0" tIns="0" bIns="0" anchor="t">
            <a:spAutoFit/>
          </a:bodyPr>
          <a:lstStyle/>
          <a:p>
            <a:pPr algn="l">
              <a:lnSpc>
                <a:spcPct val="120000"/>
              </a:lnSpc>
            </a:pPr>
            <a:r>
              <a:rPr sz="1400" b="0" i="1">
                <a:solidFill>
                  <a:srgbClr val="065A82"/>
                </a:solidFill>
                <a:latin typeface="Arial"/>
              </a:rPr>
              <a:t>→ Раздел 1 — токенизация</a:t>
            </a:r>
          </a:p>
        </p:txBody>
      </p:sp>
      <p:sp>
        <p:nvSpPr>
          <p:cNvPr id="18" name="TextBox 17"/>
          <p:cNvSpPr txBox="1"/>
          <p:nvPr/>
        </p:nvSpPr>
        <p:spPr>
          <a:xfrm>
            <a:off x="4572000" y="5760720"/>
            <a:ext cx="3063240"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якорь: s07</a:t>
            </a:r>
          </a:p>
        </p:txBody>
      </p:sp>
      <p:sp>
        <p:nvSpPr>
          <p:cNvPr id="19" name="Rounded Rectangle 18"/>
          <p:cNvSpPr/>
          <p:nvPr/>
        </p:nvSpPr>
        <p:spPr>
          <a:xfrm>
            <a:off x="809244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366760" y="388620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3904488"/>
            <a:ext cx="502920" cy="45720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sp>
        <p:nvSpPr>
          <p:cNvPr id="22" name="TextBox 21"/>
          <p:cNvSpPr txBox="1"/>
          <p:nvPr/>
        </p:nvSpPr>
        <p:spPr>
          <a:xfrm>
            <a:off x="9052560" y="3886200"/>
            <a:ext cx="2468880" cy="1371600"/>
          </a:xfrm>
          <a:prstGeom prst="rect">
            <a:avLst/>
          </a:prstGeom>
          <a:noFill/>
        </p:spPr>
        <p:txBody>
          <a:bodyPr wrap="square" lIns="0" rIns="0" tIns="0" bIns="0" anchor="t">
            <a:spAutoFit/>
          </a:bodyPr>
          <a:lstStyle/>
          <a:p>
            <a:pPr algn="l">
              <a:lnSpc>
                <a:spcPct val="125000"/>
              </a:lnSpc>
            </a:pPr>
            <a:r>
              <a:rPr sz="1600" b="1" i="0">
                <a:solidFill>
                  <a:srgbClr val="21295C"/>
                </a:solidFill>
                <a:latin typeface="Arial"/>
              </a:rPr>
              <a:t>Почему один запрос
даёт разные ответы?</a:t>
            </a:r>
          </a:p>
        </p:txBody>
      </p:sp>
      <p:sp>
        <p:nvSpPr>
          <p:cNvPr id="23" name="TextBox 22"/>
          <p:cNvSpPr txBox="1"/>
          <p:nvPr/>
        </p:nvSpPr>
        <p:spPr>
          <a:xfrm>
            <a:off x="8366760" y="5394960"/>
            <a:ext cx="3063240" cy="365760"/>
          </a:xfrm>
          <a:prstGeom prst="rect">
            <a:avLst/>
          </a:prstGeom>
          <a:noFill/>
        </p:spPr>
        <p:txBody>
          <a:bodyPr wrap="square" lIns="0" rIns="0" tIns="0" bIns="0" anchor="t">
            <a:spAutoFit/>
          </a:bodyPr>
          <a:lstStyle/>
          <a:p>
            <a:pPr algn="l">
              <a:lnSpc>
                <a:spcPct val="120000"/>
              </a:lnSpc>
            </a:pPr>
            <a:r>
              <a:rPr sz="1400" b="0" i="1">
                <a:solidFill>
                  <a:srgbClr val="065A82"/>
                </a:solidFill>
                <a:latin typeface="Arial"/>
              </a:rPr>
              <a:t>→ Раздел 4 — сэмплинг</a:t>
            </a:r>
          </a:p>
        </p:txBody>
      </p:sp>
      <p:sp>
        <p:nvSpPr>
          <p:cNvPr id="24" name="TextBox 23"/>
          <p:cNvSpPr txBox="1"/>
          <p:nvPr/>
        </p:nvSpPr>
        <p:spPr>
          <a:xfrm>
            <a:off x="8366760" y="5760720"/>
            <a:ext cx="3063240"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якорь: s19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Токен — id из словаря модели. Не буква и не слово.</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Статистически частая подпоследовательность</a:t>
            </a:r>
          </a:p>
        </p:txBody>
      </p:sp>
      <p:sp>
        <p:nvSpPr>
          <p:cNvPr id="4" name="Rounded Rectangle 3"/>
          <p:cNvSpPr/>
          <p:nvPr/>
        </p:nvSpPr>
        <p:spPr>
          <a:xfrm>
            <a:off x="502920" y="187451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39112"/>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1.</a:t>
            </a:r>
          </a:p>
        </p:txBody>
      </p:sp>
      <p:sp>
        <p:nvSpPr>
          <p:cNvPr id="6" name="TextBox 5"/>
          <p:cNvSpPr txBox="1"/>
          <p:nvPr/>
        </p:nvSpPr>
        <p:spPr>
          <a:xfrm>
            <a:off x="2194560" y="2039112"/>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cat</a:t>
            </a:r>
          </a:p>
        </p:txBody>
      </p:sp>
      <p:sp>
        <p:nvSpPr>
          <p:cNvPr id="7" name="TextBox 6"/>
          <p:cNvSpPr txBox="1"/>
          <p:nvPr/>
        </p:nvSpPr>
        <p:spPr>
          <a:xfrm>
            <a:off x="4526280" y="2039112"/>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8" name="Rounded Rectangle 7"/>
          <p:cNvSpPr/>
          <p:nvPr/>
        </p:nvSpPr>
        <p:spPr>
          <a:xfrm>
            <a:off x="5029200" y="2103120"/>
            <a:ext cx="859536"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[cat]</a:t>
            </a:r>
          </a:p>
        </p:txBody>
      </p:sp>
      <p:sp>
        <p:nvSpPr>
          <p:cNvPr id="9" name="TextBox 8"/>
          <p:cNvSpPr txBox="1"/>
          <p:nvPr/>
        </p:nvSpPr>
        <p:spPr>
          <a:xfrm>
            <a:off x="9601200" y="2039112"/>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1 токен / 1 id</a:t>
            </a:r>
          </a:p>
        </p:txBody>
      </p:sp>
      <p:sp>
        <p:nvSpPr>
          <p:cNvPr id="10" name="Rounded Rectangle 9"/>
          <p:cNvSpPr/>
          <p:nvPr/>
        </p:nvSpPr>
        <p:spPr>
          <a:xfrm>
            <a:off x="502920" y="288035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4495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2.</a:t>
            </a:r>
          </a:p>
        </p:txBody>
      </p:sp>
      <p:sp>
        <p:nvSpPr>
          <p:cNvPr id="12" name="TextBox 11"/>
          <p:cNvSpPr txBox="1"/>
          <p:nvPr/>
        </p:nvSpPr>
        <p:spPr>
          <a:xfrm>
            <a:off x="2194560" y="304495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tokenization</a:t>
            </a:r>
          </a:p>
        </p:txBody>
      </p:sp>
      <p:sp>
        <p:nvSpPr>
          <p:cNvPr id="13" name="TextBox 12"/>
          <p:cNvSpPr txBox="1"/>
          <p:nvPr/>
        </p:nvSpPr>
        <p:spPr>
          <a:xfrm>
            <a:off x="4526280" y="304495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14" name="Rounded Rectangle 13"/>
          <p:cNvSpPr/>
          <p:nvPr/>
        </p:nvSpPr>
        <p:spPr>
          <a:xfrm>
            <a:off x="5029200" y="3108959"/>
            <a:ext cx="1188719"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[token]</a:t>
            </a:r>
          </a:p>
        </p:txBody>
      </p:sp>
      <p:sp>
        <p:nvSpPr>
          <p:cNvPr id="15" name="Rounded Rectangle 14"/>
          <p:cNvSpPr/>
          <p:nvPr/>
        </p:nvSpPr>
        <p:spPr>
          <a:xfrm>
            <a:off x="6309360" y="3108959"/>
            <a:ext cx="1517904"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[ization]</a:t>
            </a:r>
          </a:p>
        </p:txBody>
      </p:sp>
      <p:sp>
        <p:nvSpPr>
          <p:cNvPr id="16" name="TextBox 15"/>
          <p:cNvSpPr txBox="1"/>
          <p:nvPr/>
        </p:nvSpPr>
        <p:spPr>
          <a:xfrm>
            <a:off x="9601200" y="304495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2 токена</a:t>
            </a:r>
          </a:p>
        </p:txBody>
      </p:sp>
      <p:sp>
        <p:nvSpPr>
          <p:cNvPr id="17" name="Rounded Rectangle 16"/>
          <p:cNvSpPr/>
          <p:nvPr/>
        </p:nvSpPr>
        <p:spPr>
          <a:xfrm>
            <a:off x="502920" y="3886200"/>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05079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3.</a:t>
            </a:r>
          </a:p>
        </p:txBody>
      </p:sp>
      <p:sp>
        <p:nvSpPr>
          <p:cNvPr id="19" name="TextBox 18"/>
          <p:cNvSpPr txBox="1"/>
          <p:nvPr/>
        </p:nvSpPr>
        <p:spPr>
          <a:xfrm>
            <a:off x="2194560" y="405079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клубника</a:t>
            </a:r>
          </a:p>
        </p:txBody>
      </p:sp>
      <p:sp>
        <p:nvSpPr>
          <p:cNvPr id="20" name="TextBox 19"/>
          <p:cNvSpPr txBox="1"/>
          <p:nvPr/>
        </p:nvSpPr>
        <p:spPr>
          <a:xfrm>
            <a:off x="4526280" y="405079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21" name="Rounded Rectangle 20"/>
          <p:cNvSpPr/>
          <p:nvPr/>
        </p:nvSpPr>
        <p:spPr>
          <a:xfrm>
            <a:off x="5029200" y="4114800"/>
            <a:ext cx="731520"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[к]</a:t>
            </a:r>
          </a:p>
        </p:txBody>
      </p:sp>
      <p:sp>
        <p:nvSpPr>
          <p:cNvPr id="22" name="Rounded Rectangle 21"/>
          <p:cNvSpPr/>
          <p:nvPr/>
        </p:nvSpPr>
        <p:spPr>
          <a:xfrm>
            <a:off x="5852160" y="4114800"/>
            <a:ext cx="859536"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[луб]</a:t>
            </a:r>
          </a:p>
        </p:txBody>
      </p:sp>
      <p:sp>
        <p:nvSpPr>
          <p:cNvPr id="23" name="Rounded Rectangle 22"/>
          <p:cNvSpPr/>
          <p:nvPr/>
        </p:nvSpPr>
        <p:spPr>
          <a:xfrm>
            <a:off x="6803136" y="4114800"/>
            <a:ext cx="1024128" cy="4114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[ника]</a:t>
            </a:r>
          </a:p>
        </p:txBody>
      </p:sp>
      <p:sp>
        <p:nvSpPr>
          <p:cNvPr id="24" name="TextBox 23"/>
          <p:cNvSpPr txBox="1"/>
          <p:nvPr/>
        </p:nvSpPr>
        <p:spPr>
          <a:xfrm>
            <a:off x="9601200" y="405079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3 токена · o200k_base</a:t>
            </a:r>
          </a:p>
        </p:txBody>
      </p:sp>
      <p:sp>
        <p:nvSpPr>
          <p:cNvPr id="25" name="Rounded Rectangle 24"/>
          <p:cNvSpPr/>
          <p:nvPr/>
        </p:nvSpPr>
        <p:spPr>
          <a:xfrm>
            <a:off x="502920" y="4937760"/>
            <a:ext cx="11247120" cy="6858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10912"/>
            <a:ext cx="10881360" cy="53949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В среднем: 1 токен ≈ 4 символа в EN ≈ 2 символа в RU</a:t>
            </a:r>
          </a:p>
        </p:txBody>
      </p:sp>
      <p:sp>
        <p:nvSpPr>
          <p:cNvPr id="27" name="Rounded Rectangle 26"/>
          <p:cNvSpPr/>
          <p:nvPr/>
        </p:nvSpPr>
        <p:spPr>
          <a:xfrm>
            <a:off x="502920" y="5806440"/>
            <a:ext cx="11247120" cy="68580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5879592"/>
            <a:ext cx="10917936" cy="53949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Подумайте 15 сек: «сильнее» — 1, 2 или 3 токена? (Проверить через tiktokenizer)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BPE — компромисс между алфавитом и словарём</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Словарь строится один раз перед обучением; в inference — lookup</a:t>
            </a:r>
          </a:p>
        </p:txBody>
      </p:sp>
      <p:sp>
        <p:nvSpPr>
          <p:cNvPr id="4" name="Rounded Rectangle 3"/>
          <p:cNvSpPr/>
          <p:nvPr/>
        </p:nvSpPr>
        <p:spPr>
          <a:xfrm>
            <a:off x="914400" y="1965960"/>
            <a:ext cx="50292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148840"/>
            <a:ext cx="4480560" cy="45720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Before (обучающий корпус)</a:t>
            </a:r>
          </a:p>
        </p:txBody>
      </p:sp>
      <p:sp>
        <p:nvSpPr>
          <p:cNvPr id="6" name="Rounded Rectangle 5"/>
          <p:cNvSpPr/>
          <p:nvPr/>
        </p:nvSpPr>
        <p:spPr>
          <a:xfrm>
            <a:off x="1325880" y="306323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00200" y="283463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8" name="Rounded Rectangle 7"/>
          <p:cNvSpPr/>
          <p:nvPr/>
        </p:nvSpPr>
        <p:spPr>
          <a:xfrm>
            <a:off x="1325880" y="365759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342899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lower</a:t>
            </a:r>
          </a:p>
        </p:txBody>
      </p:sp>
      <p:sp>
        <p:nvSpPr>
          <p:cNvPr id="10" name="Rounded Rectangle 9"/>
          <p:cNvSpPr/>
          <p:nvPr/>
        </p:nvSpPr>
        <p:spPr>
          <a:xfrm>
            <a:off x="1325880" y="425195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00200" y="402335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newest</a:t>
            </a:r>
          </a:p>
        </p:txBody>
      </p:sp>
      <p:sp>
        <p:nvSpPr>
          <p:cNvPr id="12" name="Rounded Rectangle 11"/>
          <p:cNvSpPr/>
          <p:nvPr/>
        </p:nvSpPr>
        <p:spPr>
          <a:xfrm>
            <a:off x="1325880" y="484632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00200" y="461772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widest</a:t>
            </a:r>
          </a:p>
        </p:txBody>
      </p:sp>
      <p:sp>
        <p:nvSpPr>
          <p:cNvPr id="14" name="Right Arrow 13"/>
          <p:cNvSpPr/>
          <p:nvPr/>
        </p:nvSpPr>
        <p:spPr>
          <a:xfrm>
            <a:off x="5989320" y="3543300"/>
            <a:ext cx="182880" cy="5486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17920" y="1965960"/>
            <a:ext cx="5029200" cy="3703320"/>
          </a:xfrm>
          <a:prstGeom prst="roundRect">
            <a:avLst>
              <a:gd name="adj" fmla="val 823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2148840"/>
            <a:ext cx="448056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After (BPE-словарь)</a:t>
            </a:r>
          </a:p>
        </p:txBody>
      </p:sp>
      <p:sp>
        <p:nvSpPr>
          <p:cNvPr id="17" name="Rounded Rectangle 16"/>
          <p:cNvSpPr/>
          <p:nvPr/>
        </p:nvSpPr>
        <p:spPr>
          <a:xfrm>
            <a:off x="6629400" y="303580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03720" y="283463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19" name="Rounded Rectangle 18"/>
          <p:cNvSpPr/>
          <p:nvPr/>
        </p:nvSpPr>
        <p:spPr>
          <a:xfrm>
            <a:off x="6629400" y="358444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03720" y="338327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er</a:t>
            </a:r>
          </a:p>
        </p:txBody>
      </p:sp>
      <p:sp>
        <p:nvSpPr>
          <p:cNvPr id="21" name="Rounded Rectangle 20"/>
          <p:cNvSpPr/>
          <p:nvPr/>
        </p:nvSpPr>
        <p:spPr>
          <a:xfrm>
            <a:off x="6629400" y="4133087"/>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393192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a:t>
            </a:r>
          </a:p>
        </p:txBody>
      </p:sp>
      <p:sp>
        <p:nvSpPr>
          <p:cNvPr id="23" name="Rounded Rectangle 22"/>
          <p:cNvSpPr/>
          <p:nvPr/>
        </p:nvSpPr>
        <p:spPr>
          <a:xfrm>
            <a:off x="6629400" y="4681727"/>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03720" y="448055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est</a:t>
            </a:r>
          </a:p>
        </p:txBody>
      </p:sp>
      <p:sp>
        <p:nvSpPr>
          <p:cNvPr id="25" name="Rounded Rectangle 24"/>
          <p:cNvSpPr/>
          <p:nvPr/>
        </p:nvSpPr>
        <p:spPr>
          <a:xfrm>
            <a:off x="6629400" y="523036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03720" y="502920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a:t>
            </a:r>
          </a:p>
        </p:txBody>
      </p:sp>
      <p:sp>
        <p:nvSpPr>
          <p:cNvPr id="27" name="Rounded Rectangle 26"/>
          <p:cNvSpPr/>
          <p:nvPr/>
        </p:nvSpPr>
        <p:spPr>
          <a:xfrm>
            <a:off x="502920" y="585216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92531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BPE-словарь строится один раз до обучения. В inference — lookup готовых правил, не runtime-вычисление.</a:t>
            </a:r>
          </a:p>
        </p:txBody>
      </p:sp>
      <p:sp>
        <p:nvSpPr>
          <p:cNvPr id="29" name="TextBox 28"/>
          <p:cNvSpPr txBox="1"/>
          <p:nvPr/>
        </p:nvSpPr>
        <p:spPr>
          <a:xfrm>
            <a:off x="502920" y="6492240"/>
            <a:ext cx="11247120" cy="27432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Sennrich et al. (2016). Альтернативы: WordPiece (BERT), SentencePiece (Llama 2, 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AI ошибается в «сколько r в strawberry» — слова не из букв, а из 2-3 токенов</a:t>
            </a:r>
          </a:p>
        </p:txBody>
      </p:sp>
      <p:sp>
        <p:nvSpPr>
          <p:cNvPr id="3" name="Rounded Rectangle 2"/>
          <p:cNvSpPr/>
          <p:nvPr/>
        </p:nvSpPr>
        <p:spPr>
          <a:xfrm>
            <a:off x="502920" y="1417320"/>
            <a:ext cx="5669280" cy="4389120"/>
          </a:xfrm>
          <a:prstGeom prst="roundRect">
            <a:avLst>
              <a:gd name="adj" fmla="val 694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strawberry-split.png"/>
          <p:cNvPicPr>
            <a:picLocks noChangeAspect="1"/>
          </p:cNvPicPr>
          <p:nvPr/>
        </p:nvPicPr>
        <p:blipFill>
          <a:blip r:embed="rId2"/>
          <a:stretch>
            <a:fillRect/>
          </a:stretch>
        </p:blipFill>
        <p:spPr>
          <a:xfrm>
            <a:off x="685800" y="1554480"/>
            <a:ext cx="5303520" cy="4114800"/>
          </a:xfrm>
          <a:prstGeom prst="rect">
            <a:avLst/>
          </a:prstGeom>
        </p:spPr>
      </p:pic>
      <p:sp>
        <p:nvSpPr>
          <p:cNvPr id="5" name="Rounded Rectangle 4"/>
          <p:cNvSpPr/>
          <p:nvPr/>
        </p:nvSpPr>
        <p:spPr>
          <a:xfrm>
            <a:off x="6400800" y="1417320"/>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1554480"/>
            <a:ext cx="48920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(1) Подсчёт символов</a:t>
            </a:r>
          </a:p>
        </p:txBody>
      </p:sp>
      <p:sp>
        <p:nvSpPr>
          <p:cNvPr id="7" name="TextBox 6"/>
          <p:cNvSpPr txBox="1"/>
          <p:nvPr/>
        </p:nvSpPr>
        <p:spPr>
          <a:xfrm>
            <a:off x="6629400" y="1965960"/>
            <a:ext cx="4892040" cy="822960"/>
          </a:xfrm>
          <a:prstGeom prst="rect">
            <a:avLst/>
          </a:prstGeom>
          <a:noFill/>
        </p:spPr>
        <p:txBody>
          <a:bodyPr wrap="square" lIns="0" rIns="0" tIns="0" bIns="0" anchor="t">
            <a:spAutoFit/>
          </a:bodyPr>
          <a:lstStyle/>
          <a:p>
            <a:pPr algn="l">
              <a:lnSpc>
                <a:spcPct val="125000"/>
              </a:lnSpc>
            </a:pPr>
            <a:r>
              <a:rPr sz="1300" b="0" i="0">
                <a:solidFill>
                  <a:srgbClr val="21295C"/>
                </a:solidFill>
                <a:latin typeface="Arial"/>
              </a:rPr>
              <a:t>«Сколько r в strawberry?» — ломается систематически, неочевидно для пользователя.</a:t>
            </a:r>
          </a:p>
        </p:txBody>
      </p:sp>
      <p:sp>
        <p:nvSpPr>
          <p:cNvPr id="8" name="Rounded Rectangle 7"/>
          <p:cNvSpPr/>
          <p:nvPr/>
        </p:nvSpPr>
        <p:spPr>
          <a:xfrm>
            <a:off x="6400800" y="2907791"/>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3044951"/>
            <a:ext cx="48920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Опечатки</a:t>
            </a:r>
          </a:p>
        </p:txBody>
      </p:sp>
      <p:sp>
        <p:nvSpPr>
          <p:cNvPr id="10" name="TextBox 9"/>
          <p:cNvSpPr txBox="1"/>
          <p:nvPr/>
        </p:nvSpPr>
        <p:spPr>
          <a:xfrm>
            <a:off x="6629400" y="3456432"/>
            <a:ext cx="4892040" cy="822960"/>
          </a:xfrm>
          <a:prstGeom prst="rect">
            <a:avLst/>
          </a:prstGeom>
          <a:noFill/>
        </p:spPr>
        <p:txBody>
          <a:bodyPr wrap="square" lIns="0" rIns="0" tIns="0" bIns="0" anchor="t">
            <a:spAutoFit/>
          </a:bodyPr>
          <a:lstStyle/>
          <a:p>
            <a:pPr algn="l">
              <a:lnSpc>
                <a:spcPct val="125000"/>
              </a:lnSpc>
            </a:pPr>
            <a:r>
              <a:rPr sz="1300" b="0" i="0">
                <a:solidFill>
                  <a:srgbClr val="21295C"/>
                </a:solidFill>
                <a:latin typeface="Arial"/>
              </a:rPr>
              <a:t>methodlogy ↦ другие токены, чем methodology. Маленькая опечатка → большой сдвиг в ответе.</a:t>
            </a:r>
          </a:p>
        </p:txBody>
      </p:sp>
      <p:sp>
        <p:nvSpPr>
          <p:cNvPr id="11" name="Rounded Rectangle 10"/>
          <p:cNvSpPr/>
          <p:nvPr/>
        </p:nvSpPr>
        <p:spPr>
          <a:xfrm>
            <a:off x="6400800" y="4398264"/>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4535424"/>
            <a:ext cx="48920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(3) Регистр и пробелы</a:t>
            </a:r>
          </a:p>
        </p:txBody>
      </p:sp>
      <p:sp>
        <p:nvSpPr>
          <p:cNvPr id="13" name="TextBox 12"/>
          <p:cNvSpPr txBox="1"/>
          <p:nvPr/>
        </p:nvSpPr>
        <p:spPr>
          <a:xfrm>
            <a:off x="6629400" y="4946903"/>
            <a:ext cx="4892040" cy="822960"/>
          </a:xfrm>
          <a:prstGeom prst="rect">
            <a:avLst/>
          </a:prstGeom>
          <a:noFill/>
        </p:spPr>
        <p:txBody>
          <a:bodyPr wrap="square" lIns="0" rIns="0" tIns="0" bIns="0" anchor="t">
            <a:spAutoFit/>
          </a:bodyPr>
          <a:lstStyle/>
          <a:p>
            <a:pPr algn="l">
              <a:lnSpc>
                <a:spcPct val="125000"/>
              </a:lnSpc>
            </a:pPr>
            <a:r>
              <a:rPr sz="1300" b="0" i="0">
                <a:solidFill>
                  <a:srgbClr val="21295C"/>
                </a:solidFill>
                <a:latin typeface="Arial"/>
              </a:rPr>
              <a:t>cat, ` cat`, Cat, CAT — разные токены, разные id.</a:t>
            </a:r>
          </a:p>
        </p:txBody>
      </p:sp>
      <p:sp>
        <p:nvSpPr>
          <p:cNvPr id="14" name="Rounded Rectangle 13"/>
          <p:cNvSpPr/>
          <p:nvPr/>
        </p:nvSpPr>
        <p:spPr>
          <a:xfrm>
            <a:off x="502920" y="594360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01675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Для побитово-точных операций — внешний инструмент (Python, regex), не чистый LLM-инференс.</a:t>
            </a:r>
          </a:p>
        </p:txBody>
      </p:sp>
      <p:sp>
        <p:nvSpPr>
          <p:cNvPr id="16" name="TextBox 15"/>
          <p:cNvSpPr txBox="1"/>
          <p:nvPr/>
        </p:nvSpPr>
        <p:spPr>
          <a:xfrm>
            <a:off x="502920" y="6583680"/>
            <a:ext cx="11247120" cy="22860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Retrieval: «сколько r в strawberry?» — попробуйте на телефоне.</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Один и тот же текст по-русски стоит в 2× дороже, чем по-английски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Токены на символ — следствие распределения языков в обучающем корпусе</a:t>
            </a:r>
          </a:p>
        </p:txBody>
      </p:sp>
      <p:sp>
        <p:nvSpPr>
          <p:cNvPr id="4" name="Rounded Rectangle 3"/>
          <p:cNvSpPr/>
          <p:nvPr/>
        </p:nvSpPr>
        <p:spPr>
          <a:xfrm>
            <a:off x="502920" y="1874519"/>
            <a:ext cx="6858000" cy="4251960"/>
          </a:xfrm>
          <a:prstGeom prst="roundRect">
            <a:avLst>
              <a:gd name="adj" fmla="val 716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tokens-per-char.png"/>
          <p:cNvPicPr>
            <a:picLocks noChangeAspect="1"/>
          </p:cNvPicPr>
          <p:nvPr/>
        </p:nvPicPr>
        <p:blipFill>
          <a:blip r:embed="rId2"/>
          <a:stretch>
            <a:fillRect/>
          </a:stretch>
        </p:blipFill>
        <p:spPr>
          <a:xfrm>
            <a:off x="685800" y="2011680"/>
            <a:ext cx="6492240" cy="3977639"/>
          </a:xfrm>
          <a:prstGeom prst="rect">
            <a:avLst/>
          </a:prstGeom>
        </p:spPr>
      </p:pic>
      <p:sp>
        <p:nvSpPr>
          <p:cNvPr id="6" name="Rounded Rectangle 5"/>
          <p:cNvSpPr/>
          <p:nvPr/>
        </p:nvSpPr>
        <p:spPr>
          <a:xfrm>
            <a:off x="7589520" y="1874519"/>
            <a:ext cx="4160520" cy="425196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0" y="2011680"/>
            <a:ext cx="3794759"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Ориентир токены/символ</a:t>
            </a:r>
          </a:p>
        </p:txBody>
      </p:sp>
      <p:sp>
        <p:nvSpPr>
          <p:cNvPr id="8" name="TextBox 7"/>
          <p:cNvSpPr txBox="1"/>
          <p:nvPr/>
        </p:nvSpPr>
        <p:spPr>
          <a:xfrm>
            <a:off x="7818120" y="260604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Английский</a:t>
            </a:r>
          </a:p>
        </p:txBody>
      </p:sp>
      <p:sp>
        <p:nvSpPr>
          <p:cNvPr id="9" name="TextBox 8"/>
          <p:cNvSpPr txBox="1"/>
          <p:nvPr/>
        </p:nvSpPr>
        <p:spPr>
          <a:xfrm>
            <a:off x="9877806" y="260604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0.25</a:t>
            </a:r>
          </a:p>
        </p:txBody>
      </p:sp>
      <p:sp>
        <p:nvSpPr>
          <p:cNvPr id="10" name="TextBox 9"/>
          <p:cNvSpPr txBox="1"/>
          <p:nvPr/>
        </p:nvSpPr>
        <p:spPr>
          <a:xfrm>
            <a:off x="7818120" y="338328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Русский (gold)</a:t>
            </a:r>
          </a:p>
        </p:txBody>
      </p:sp>
      <p:sp>
        <p:nvSpPr>
          <p:cNvPr id="11" name="TextBox 10"/>
          <p:cNvSpPr txBox="1"/>
          <p:nvPr/>
        </p:nvSpPr>
        <p:spPr>
          <a:xfrm>
            <a:off x="9877806" y="3383280"/>
            <a:ext cx="1664208" cy="411480"/>
          </a:xfrm>
          <a:prstGeom prst="rect">
            <a:avLst/>
          </a:prstGeom>
          <a:noFill/>
        </p:spPr>
        <p:txBody>
          <a:bodyPr wrap="square" lIns="0" rIns="0" tIns="0" bIns="0" anchor="ctr">
            <a:spAutoFit/>
          </a:bodyPr>
          <a:lstStyle/>
          <a:p>
            <a:pPr algn="r">
              <a:lnSpc>
                <a:spcPct val="115000"/>
              </a:lnSpc>
            </a:pPr>
            <a:r>
              <a:rPr sz="1800" b="1" i="0">
                <a:solidFill>
                  <a:srgbClr val="F0AB00"/>
                </a:solidFill>
                <a:latin typeface="Arial"/>
              </a:rPr>
              <a:t>0.50</a:t>
            </a:r>
          </a:p>
        </p:txBody>
      </p:sp>
      <p:sp>
        <p:nvSpPr>
          <p:cNvPr id="12" name="TextBox 11"/>
          <p:cNvSpPr txBox="1"/>
          <p:nvPr/>
        </p:nvSpPr>
        <p:spPr>
          <a:xfrm>
            <a:off x="7818120" y="416052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Китайский</a:t>
            </a:r>
          </a:p>
        </p:txBody>
      </p:sp>
      <p:sp>
        <p:nvSpPr>
          <p:cNvPr id="13" name="TextBox 12"/>
          <p:cNvSpPr txBox="1"/>
          <p:nvPr/>
        </p:nvSpPr>
        <p:spPr>
          <a:xfrm>
            <a:off x="9877806" y="416052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0.80</a:t>
            </a:r>
          </a:p>
        </p:txBody>
      </p:sp>
      <p:sp>
        <p:nvSpPr>
          <p:cNvPr id="14" name="TextBox 13"/>
          <p:cNvSpPr txBox="1"/>
          <p:nvPr/>
        </p:nvSpPr>
        <p:spPr>
          <a:xfrm>
            <a:off x="7818120" y="493776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Python-код</a:t>
            </a:r>
          </a:p>
        </p:txBody>
      </p:sp>
      <p:sp>
        <p:nvSpPr>
          <p:cNvPr id="15" name="TextBox 14"/>
          <p:cNvSpPr txBox="1"/>
          <p:nvPr/>
        </p:nvSpPr>
        <p:spPr>
          <a:xfrm>
            <a:off x="9877806" y="4937760"/>
            <a:ext cx="1664208" cy="411480"/>
          </a:xfrm>
          <a:prstGeom prst="rect">
            <a:avLst/>
          </a:prstGeom>
          <a:noFill/>
        </p:spPr>
        <p:txBody>
          <a:bodyPr wrap="square" lIns="0" rIns="0" tIns="0" bIns="0" anchor="ctr">
            <a:spAutoFit/>
          </a:bodyPr>
          <a:lstStyle/>
          <a:p>
            <a:pPr algn="r">
              <a:lnSpc>
                <a:spcPct val="115000"/>
              </a:lnSpc>
            </a:pPr>
            <a:r>
              <a:rPr sz="1800" b="1" i="0">
                <a:solidFill>
                  <a:srgbClr val="028090"/>
                </a:solidFill>
                <a:latin typeface="Arial"/>
              </a:rPr>
              <a:t>0.40</a:t>
            </a:r>
          </a:p>
        </p:txBody>
      </p:sp>
      <p:sp>
        <p:nvSpPr>
          <p:cNvPr id="16" name="Rounded Rectangle 15"/>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API-стоимость RU ≈ 2× от EN. Для batch — переводить в EN, если допустимо.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Каждому токену сопоставлен вектор — выучен на тренировке, фиксирован</a:t>
            </a:r>
          </a:p>
        </p:txBody>
      </p:sp>
      <p:sp>
        <p:nvSpPr>
          <p:cNvPr id="3" name="Rounded Rectangle 2"/>
          <p:cNvSpPr/>
          <p:nvPr/>
        </p:nvSpPr>
        <p:spPr>
          <a:xfrm>
            <a:off x="502920" y="1417320"/>
            <a:ext cx="11247120" cy="3291840"/>
          </a:xfrm>
          <a:prstGeom prst="roundRect">
            <a:avLst>
              <a:gd name="adj" fmla="val 925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9-token-to-vector.png"/>
          <p:cNvPicPr>
            <a:picLocks noChangeAspect="1"/>
          </p:cNvPicPr>
          <p:nvPr/>
        </p:nvPicPr>
        <p:blipFill>
          <a:blip r:embed="rId2"/>
          <a:stretch>
            <a:fillRect/>
          </a:stretch>
        </p:blipFill>
        <p:spPr>
          <a:xfrm>
            <a:off x="685800" y="1554480"/>
            <a:ext cx="10881360" cy="3017520"/>
          </a:xfrm>
          <a:prstGeom prst="rect">
            <a:avLst/>
          </a:prstGeom>
        </p:spPr>
      </p:pic>
      <p:sp>
        <p:nvSpPr>
          <p:cNvPr id="5" name="Rounded Rectangle 4"/>
          <p:cNvSpPr/>
          <p:nvPr/>
        </p:nvSpPr>
        <p:spPr>
          <a:xfrm>
            <a:off x="502920" y="4983480"/>
            <a:ext cx="54864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74920"/>
            <a:ext cx="512064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Размерности (ориентир)</a:t>
            </a:r>
          </a:p>
        </p:txBody>
      </p:sp>
      <p:sp>
        <p:nvSpPr>
          <p:cNvPr id="7" name="TextBox 6"/>
          <p:cNvSpPr txBox="1"/>
          <p:nvPr/>
        </p:nvSpPr>
        <p:spPr>
          <a:xfrm>
            <a:off x="777240" y="5440680"/>
            <a:ext cx="35661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text-embedding-3-small</a:t>
            </a:r>
          </a:p>
        </p:txBody>
      </p:sp>
      <p:sp>
        <p:nvSpPr>
          <p:cNvPr id="8" name="TextBox 7"/>
          <p:cNvSpPr txBox="1"/>
          <p:nvPr/>
        </p:nvSpPr>
        <p:spPr>
          <a:xfrm>
            <a:off x="4178807" y="5440680"/>
            <a:ext cx="1755648" cy="274320"/>
          </a:xfrm>
          <a:prstGeom prst="rect">
            <a:avLst/>
          </a:prstGeom>
          <a:noFill/>
        </p:spPr>
        <p:txBody>
          <a:bodyPr wrap="square" lIns="0" rIns="0" tIns="0" bIns="0" anchor="ctr">
            <a:spAutoFit/>
          </a:bodyPr>
          <a:lstStyle/>
          <a:p>
            <a:pPr algn="r">
              <a:lnSpc>
                <a:spcPct val="115000"/>
              </a:lnSpc>
            </a:pPr>
            <a:r>
              <a:rPr sz="1200" b="1" i="0">
                <a:solidFill>
                  <a:srgbClr val="028090"/>
                </a:solidFill>
                <a:latin typeface="Arial"/>
              </a:rPr>
              <a:t>1536 dim</a:t>
            </a:r>
          </a:p>
        </p:txBody>
      </p:sp>
      <p:sp>
        <p:nvSpPr>
          <p:cNvPr id="9" name="TextBox 8"/>
          <p:cNvSpPr txBox="1"/>
          <p:nvPr/>
        </p:nvSpPr>
        <p:spPr>
          <a:xfrm>
            <a:off x="777240" y="5733288"/>
            <a:ext cx="35661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text-embedding-3-large</a:t>
            </a:r>
          </a:p>
        </p:txBody>
      </p:sp>
      <p:sp>
        <p:nvSpPr>
          <p:cNvPr id="10" name="TextBox 9"/>
          <p:cNvSpPr txBox="1"/>
          <p:nvPr/>
        </p:nvSpPr>
        <p:spPr>
          <a:xfrm>
            <a:off x="4178807" y="5733288"/>
            <a:ext cx="1755648" cy="274320"/>
          </a:xfrm>
          <a:prstGeom prst="rect">
            <a:avLst/>
          </a:prstGeom>
          <a:noFill/>
        </p:spPr>
        <p:txBody>
          <a:bodyPr wrap="square" lIns="0" rIns="0" tIns="0" bIns="0" anchor="ctr">
            <a:spAutoFit/>
          </a:bodyPr>
          <a:lstStyle/>
          <a:p>
            <a:pPr algn="r">
              <a:lnSpc>
                <a:spcPct val="115000"/>
              </a:lnSpc>
            </a:pPr>
            <a:r>
              <a:rPr sz="1200" b="1" i="0">
                <a:solidFill>
                  <a:srgbClr val="028090"/>
                </a:solidFill>
                <a:latin typeface="Arial"/>
              </a:rPr>
              <a:t>3072 dim</a:t>
            </a:r>
          </a:p>
        </p:txBody>
      </p:sp>
      <p:sp>
        <p:nvSpPr>
          <p:cNvPr id="11" name="TextBox 10"/>
          <p:cNvSpPr txBox="1"/>
          <p:nvPr/>
        </p:nvSpPr>
        <p:spPr>
          <a:xfrm>
            <a:off x="777240" y="6025896"/>
            <a:ext cx="3566160" cy="2743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Внутренний эмбеддинг flagship LLM</a:t>
            </a:r>
          </a:p>
        </p:txBody>
      </p:sp>
      <p:sp>
        <p:nvSpPr>
          <p:cNvPr id="12" name="TextBox 11"/>
          <p:cNvSpPr txBox="1"/>
          <p:nvPr/>
        </p:nvSpPr>
        <p:spPr>
          <a:xfrm>
            <a:off x="4178807" y="6025896"/>
            <a:ext cx="1755648" cy="274320"/>
          </a:xfrm>
          <a:prstGeom prst="rect">
            <a:avLst/>
          </a:prstGeom>
          <a:noFill/>
        </p:spPr>
        <p:txBody>
          <a:bodyPr wrap="square" lIns="0" rIns="0" tIns="0" bIns="0" anchor="ctr">
            <a:spAutoFit/>
          </a:bodyPr>
          <a:lstStyle/>
          <a:p>
            <a:pPr algn="r">
              <a:lnSpc>
                <a:spcPct val="115000"/>
              </a:lnSpc>
            </a:pPr>
            <a:r>
              <a:rPr sz="1200" b="1" i="0">
                <a:solidFill>
                  <a:srgbClr val="028090"/>
                </a:solidFill>
                <a:latin typeface="Arial"/>
              </a:rPr>
              <a:t>тысячи dim</a:t>
            </a:r>
          </a:p>
        </p:txBody>
      </p:sp>
      <p:sp>
        <p:nvSpPr>
          <p:cNvPr id="13" name="Rounded Rectangle 12"/>
          <p:cNvSpPr/>
          <p:nvPr/>
        </p:nvSpPr>
        <p:spPr>
          <a:xfrm>
            <a:off x="6400800" y="4983480"/>
            <a:ext cx="5486400" cy="14173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5056632"/>
            <a:ext cx="5120640" cy="12710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Геометрическая близость векторов = семантическая близость токенов.
«Кот» близко к «собаке» — выучилось из контекстов корпуса.</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Близость в пространстве эмбеддингов = семантическая близость</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 2026 это работает на уровне предложений, не только слов</a:t>
            </a:r>
          </a:p>
        </p:txBody>
      </p:sp>
      <p:sp>
        <p:nvSpPr>
          <p:cNvPr id="4" name="Rounded Rectangle 3"/>
          <p:cNvSpPr/>
          <p:nvPr/>
        </p:nvSpPr>
        <p:spPr>
          <a:xfrm>
            <a:off x="1554480" y="1874519"/>
            <a:ext cx="91440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0-heatmap.png"/>
          <p:cNvPicPr>
            <a:picLocks noChangeAspect="1"/>
          </p:cNvPicPr>
          <p:nvPr/>
        </p:nvPicPr>
        <p:blipFill>
          <a:blip r:embed="rId2"/>
          <a:stretch>
            <a:fillRect/>
          </a:stretch>
        </p:blipFill>
        <p:spPr>
          <a:xfrm>
            <a:off x="1828800" y="2011680"/>
            <a:ext cx="8595360" cy="3931920"/>
          </a:xfrm>
          <a:prstGeom prst="rect">
            <a:avLst/>
          </a:prstGeom>
        </p:spPr>
      </p:pic>
      <p:sp>
        <p:nvSpPr>
          <p:cNvPr id="6" name="TextBox 5"/>
          <p:cNvSpPr txBox="1"/>
          <p:nvPr/>
        </p:nvSpPr>
        <p:spPr>
          <a:xfrm>
            <a:off x="502920" y="6172200"/>
            <a:ext cx="11247120" cy="365760"/>
          </a:xfrm>
          <a:prstGeom prst="rect">
            <a:avLst/>
          </a:prstGeom>
          <a:noFill/>
        </p:spPr>
        <p:txBody>
          <a:bodyPr wrap="square" lIns="0" rIns="0" tIns="0" bIns="0" anchor="t">
            <a:spAutoFit/>
          </a:bodyPr>
          <a:lstStyle/>
          <a:p>
            <a:pPr algn="ctr">
              <a:lnSpc>
                <a:spcPct val="115000"/>
              </a:lnSpc>
            </a:pPr>
            <a:r>
              <a:rPr sz="1300" b="0" i="1">
                <a:solidFill>
                  <a:srgbClr val="21295C"/>
                </a:solidFill>
                <a:latin typeface="Arial"/>
              </a:rPr>
              <a:t>Cosine similarity — мера угла между векторами; диапазон [−1, 1], ближе к 1 — более похожи.</a:t>
            </a:r>
          </a:p>
        </p:txBody>
      </p:sp>
      <p:sp>
        <p:nvSpPr>
          <p:cNvPr id="7" name="TextBox 6"/>
          <p:cNvSpPr txBox="1"/>
          <p:nvPr/>
        </p:nvSpPr>
        <p:spPr>
          <a:xfrm>
            <a:off x="502920" y="6537960"/>
            <a:ext cx="1124712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Числа illustrative; воспроизводимы на sentence-transformers/all-MiniLM-L6-v2 (384-dim) или OpenAI text-embedding-3-small (1536-dim).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3 применения эмбеддингов: similarity, clustering, search</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Карта для Раздела 3 курса (Лекции 3+ — RAG, retrieval, generation)</a:t>
            </a:r>
          </a:p>
        </p:txBody>
      </p:sp>
      <p:sp>
        <p:nvSpPr>
          <p:cNvPr id="4" name="Rounded Rectangle 3"/>
          <p:cNvSpPr/>
          <p:nvPr/>
        </p:nvSpPr>
        <p:spPr>
          <a:xfrm>
            <a:off x="502920" y="2011680"/>
            <a:ext cx="3611880" cy="411480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agnet.png"/>
          <p:cNvPicPr>
            <a:picLocks noChangeAspect="1"/>
          </p:cNvPicPr>
          <p:nvPr/>
        </p:nvPicPr>
        <p:blipFill>
          <a:blip r:embed="rId2"/>
          <a:stretch>
            <a:fillRect/>
          </a:stretch>
        </p:blipFill>
        <p:spPr>
          <a:xfrm>
            <a:off x="1851660" y="2331720"/>
            <a:ext cx="914400" cy="914400"/>
          </a:xfrm>
          <a:prstGeom prst="rect">
            <a:avLst/>
          </a:prstGeom>
        </p:spPr>
      </p:pic>
      <p:sp>
        <p:nvSpPr>
          <p:cNvPr id="6" name="TextBox 5"/>
          <p:cNvSpPr txBox="1"/>
          <p:nvPr/>
        </p:nvSpPr>
        <p:spPr>
          <a:xfrm>
            <a:off x="685800" y="3429000"/>
            <a:ext cx="3246120" cy="457200"/>
          </a:xfrm>
          <a:prstGeom prst="rect">
            <a:avLst/>
          </a:prstGeom>
          <a:noFill/>
        </p:spPr>
        <p:txBody>
          <a:bodyPr wrap="square" lIns="0" rIns="0" tIns="0" bIns="0" anchor="t">
            <a:spAutoFit/>
          </a:bodyPr>
          <a:lstStyle/>
          <a:p>
            <a:pPr algn="ctr">
              <a:lnSpc>
                <a:spcPct val="115000"/>
              </a:lnSpc>
            </a:pPr>
            <a:r>
              <a:rPr sz="2200" b="1" i="0">
                <a:solidFill>
                  <a:srgbClr val="21295C"/>
                </a:solidFill>
                <a:latin typeface="Arial"/>
              </a:rPr>
              <a:t>Similarity</a:t>
            </a:r>
          </a:p>
        </p:txBody>
      </p:sp>
      <p:sp>
        <p:nvSpPr>
          <p:cNvPr id="7" name="TextBox 6"/>
          <p:cNvSpPr txBox="1"/>
          <p:nvPr/>
        </p:nvSpPr>
        <p:spPr>
          <a:xfrm>
            <a:off x="685800" y="3931920"/>
            <a:ext cx="3246120" cy="365760"/>
          </a:xfrm>
          <a:prstGeom prst="rect">
            <a:avLst/>
          </a:prstGeom>
          <a:noFill/>
        </p:spPr>
        <p:txBody>
          <a:bodyPr wrap="square" lIns="0" rIns="0" tIns="0" bIns="0" anchor="t">
            <a:spAutoFit/>
          </a:bodyPr>
          <a:lstStyle/>
          <a:p>
            <a:pPr algn="ctr">
              <a:lnSpc>
                <a:spcPct val="115000"/>
              </a:lnSpc>
            </a:pPr>
            <a:r>
              <a:rPr sz="1500" b="0" i="1">
                <a:solidFill>
                  <a:srgbClr val="065A82"/>
                </a:solidFill>
                <a:latin typeface="Arial"/>
              </a:rPr>
              <a:t>Поиск похожих</a:t>
            </a:r>
          </a:p>
        </p:txBody>
      </p:sp>
      <p:sp>
        <p:nvSpPr>
          <p:cNvPr id="8" name="TextBox 7"/>
          <p:cNvSpPr txBox="1"/>
          <p:nvPr/>
        </p:nvSpPr>
        <p:spPr>
          <a:xfrm>
            <a:off x="731520" y="4434840"/>
            <a:ext cx="3154680" cy="1554480"/>
          </a:xfrm>
          <a:prstGeom prst="rect">
            <a:avLst/>
          </a:prstGeom>
          <a:noFill/>
        </p:spPr>
        <p:txBody>
          <a:bodyPr wrap="square" lIns="0" rIns="0" tIns="0" bIns="0" anchor="t">
            <a:spAutoFit/>
          </a:bodyPr>
          <a:lstStyle/>
          <a:p>
            <a:pPr algn="ctr">
              <a:lnSpc>
                <a:spcPct val="130000"/>
              </a:lnSpc>
            </a:pPr>
            <a:r>
              <a:rPr sz="1400" b="0" i="0">
                <a:solidFill>
                  <a:srgbClr val="21295C"/>
                </a:solidFill>
                <a:latin typeface="Arial"/>
              </a:rPr>
              <a:t>Похожие тикеты в support,
кейсы в юр-базе,
резюме в HR-системе.</a:t>
            </a:r>
          </a:p>
        </p:txBody>
      </p:sp>
      <p:sp>
        <p:nvSpPr>
          <p:cNvPr id="9" name="Rounded Rectangle 8"/>
          <p:cNvSpPr/>
          <p:nvPr/>
        </p:nvSpPr>
        <p:spPr>
          <a:xfrm>
            <a:off x="4297680" y="2011680"/>
            <a:ext cx="3611880" cy="411480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ox.png"/>
          <p:cNvPicPr>
            <a:picLocks noChangeAspect="1"/>
          </p:cNvPicPr>
          <p:nvPr/>
        </p:nvPicPr>
        <p:blipFill>
          <a:blip r:embed="rId3"/>
          <a:stretch>
            <a:fillRect/>
          </a:stretch>
        </p:blipFill>
        <p:spPr>
          <a:xfrm>
            <a:off x="5646420" y="2331720"/>
            <a:ext cx="914400" cy="914400"/>
          </a:xfrm>
          <a:prstGeom prst="rect">
            <a:avLst/>
          </a:prstGeom>
        </p:spPr>
      </p:pic>
      <p:sp>
        <p:nvSpPr>
          <p:cNvPr id="11" name="TextBox 10"/>
          <p:cNvSpPr txBox="1"/>
          <p:nvPr/>
        </p:nvSpPr>
        <p:spPr>
          <a:xfrm>
            <a:off x="4480560" y="3429000"/>
            <a:ext cx="3246120" cy="457200"/>
          </a:xfrm>
          <a:prstGeom prst="rect">
            <a:avLst/>
          </a:prstGeom>
          <a:noFill/>
        </p:spPr>
        <p:txBody>
          <a:bodyPr wrap="square" lIns="0" rIns="0" tIns="0" bIns="0" anchor="t">
            <a:spAutoFit/>
          </a:bodyPr>
          <a:lstStyle/>
          <a:p>
            <a:pPr algn="ctr">
              <a:lnSpc>
                <a:spcPct val="115000"/>
              </a:lnSpc>
            </a:pPr>
            <a:r>
              <a:rPr sz="2200" b="1" i="0">
                <a:solidFill>
                  <a:srgbClr val="21295C"/>
                </a:solidFill>
                <a:latin typeface="Arial"/>
              </a:rPr>
              <a:t>Clustering</a:t>
            </a:r>
          </a:p>
        </p:txBody>
      </p:sp>
      <p:sp>
        <p:nvSpPr>
          <p:cNvPr id="12" name="TextBox 11"/>
          <p:cNvSpPr txBox="1"/>
          <p:nvPr/>
        </p:nvSpPr>
        <p:spPr>
          <a:xfrm>
            <a:off x="4480560" y="3931920"/>
            <a:ext cx="3246120" cy="365760"/>
          </a:xfrm>
          <a:prstGeom prst="rect">
            <a:avLst/>
          </a:prstGeom>
          <a:noFill/>
        </p:spPr>
        <p:txBody>
          <a:bodyPr wrap="square" lIns="0" rIns="0" tIns="0" bIns="0" anchor="t">
            <a:spAutoFit/>
          </a:bodyPr>
          <a:lstStyle/>
          <a:p>
            <a:pPr algn="ctr">
              <a:lnSpc>
                <a:spcPct val="115000"/>
              </a:lnSpc>
            </a:pPr>
            <a:r>
              <a:rPr sz="1500" b="0" i="1">
                <a:solidFill>
                  <a:srgbClr val="065A82"/>
                </a:solidFill>
                <a:latin typeface="Arial"/>
              </a:rPr>
              <a:t>Кластеризация</a:t>
            </a:r>
          </a:p>
        </p:txBody>
      </p:sp>
      <p:sp>
        <p:nvSpPr>
          <p:cNvPr id="13" name="TextBox 12"/>
          <p:cNvSpPr txBox="1"/>
          <p:nvPr/>
        </p:nvSpPr>
        <p:spPr>
          <a:xfrm>
            <a:off x="4526280" y="4434840"/>
            <a:ext cx="3154680" cy="1554480"/>
          </a:xfrm>
          <a:prstGeom prst="rect">
            <a:avLst/>
          </a:prstGeom>
          <a:noFill/>
        </p:spPr>
        <p:txBody>
          <a:bodyPr wrap="square" lIns="0" rIns="0" tIns="0" bIns="0" anchor="t">
            <a:spAutoFit/>
          </a:bodyPr>
          <a:lstStyle/>
          <a:p>
            <a:pPr algn="ctr">
              <a:lnSpc>
                <a:spcPct val="130000"/>
              </a:lnSpc>
            </a:pPr>
            <a:r>
              <a:rPr sz="1400" b="0" i="0">
                <a:solidFill>
                  <a:srgbClr val="21295C"/>
                </a:solidFill>
                <a:latin typeface="Arial"/>
              </a:rPr>
              <a:t>k-means — анализ
жалоб клиентов,
тематика корпусов.</a:t>
            </a:r>
          </a:p>
        </p:txBody>
      </p:sp>
      <p:sp>
        <p:nvSpPr>
          <p:cNvPr id="14" name="Rounded Rectangle 13"/>
          <p:cNvSpPr/>
          <p:nvPr/>
        </p:nvSpPr>
        <p:spPr>
          <a:xfrm>
            <a:off x="8092440" y="2011680"/>
            <a:ext cx="3611880" cy="4114800"/>
          </a:xfrm>
          <a:prstGeom prst="roundRect">
            <a:avLst>
              <a:gd name="adj" fmla="val 8438"/>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earch-check.png"/>
          <p:cNvPicPr>
            <a:picLocks noChangeAspect="1"/>
          </p:cNvPicPr>
          <p:nvPr/>
        </p:nvPicPr>
        <p:blipFill>
          <a:blip r:embed="rId4"/>
          <a:stretch>
            <a:fillRect/>
          </a:stretch>
        </p:blipFill>
        <p:spPr>
          <a:xfrm>
            <a:off x="9441180" y="2331720"/>
            <a:ext cx="914400" cy="914400"/>
          </a:xfrm>
          <a:prstGeom prst="rect">
            <a:avLst/>
          </a:prstGeom>
        </p:spPr>
      </p:pic>
      <p:sp>
        <p:nvSpPr>
          <p:cNvPr id="16" name="TextBox 15"/>
          <p:cNvSpPr txBox="1"/>
          <p:nvPr/>
        </p:nvSpPr>
        <p:spPr>
          <a:xfrm>
            <a:off x="8275320" y="3429000"/>
            <a:ext cx="3246120" cy="457200"/>
          </a:xfrm>
          <a:prstGeom prst="rect">
            <a:avLst/>
          </a:prstGeom>
          <a:noFill/>
        </p:spPr>
        <p:txBody>
          <a:bodyPr wrap="square" lIns="0" rIns="0" tIns="0" bIns="0" anchor="t">
            <a:spAutoFit/>
          </a:bodyPr>
          <a:lstStyle/>
          <a:p>
            <a:pPr algn="ctr">
              <a:lnSpc>
                <a:spcPct val="115000"/>
              </a:lnSpc>
            </a:pPr>
            <a:r>
              <a:rPr sz="2200" b="1" i="0">
                <a:solidFill>
                  <a:srgbClr val="21295C"/>
                </a:solidFill>
                <a:latin typeface="Arial"/>
              </a:rPr>
              <a:t>Search</a:t>
            </a:r>
          </a:p>
        </p:txBody>
      </p:sp>
      <p:sp>
        <p:nvSpPr>
          <p:cNvPr id="17" name="TextBox 16"/>
          <p:cNvSpPr txBox="1"/>
          <p:nvPr/>
        </p:nvSpPr>
        <p:spPr>
          <a:xfrm>
            <a:off x="8275320" y="3931920"/>
            <a:ext cx="3246120" cy="365760"/>
          </a:xfrm>
          <a:prstGeom prst="rect">
            <a:avLst/>
          </a:prstGeom>
          <a:noFill/>
        </p:spPr>
        <p:txBody>
          <a:bodyPr wrap="square" lIns="0" rIns="0" tIns="0" bIns="0" anchor="t">
            <a:spAutoFit/>
          </a:bodyPr>
          <a:lstStyle/>
          <a:p>
            <a:pPr algn="ctr">
              <a:lnSpc>
                <a:spcPct val="115000"/>
              </a:lnSpc>
            </a:pPr>
            <a:r>
              <a:rPr sz="1500" b="0" i="1">
                <a:solidFill>
                  <a:srgbClr val="065A82"/>
                </a:solidFill>
                <a:latin typeface="Arial"/>
              </a:rPr>
              <a:t>Семантический поиск</a:t>
            </a:r>
          </a:p>
        </p:txBody>
      </p:sp>
      <p:sp>
        <p:nvSpPr>
          <p:cNvPr id="18" name="TextBox 17"/>
          <p:cNvSpPr txBox="1"/>
          <p:nvPr/>
        </p:nvSpPr>
        <p:spPr>
          <a:xfrm>
            <a:off x="8321040" y="4434840"/>
            <a:ext cx="3154680" cy="1554480"/>
          </a:xfrm>
          <a:prstGeom prst="rect">
            <a:avLst/>
          </a:prstGeom>
          <a:noFill/>
        </p:spPr>
        <p:txBody>
          <a:bodyPr wrap="square" lIns="0" rIns="0" tIns="0" bIns="0" anchor="t">
            <a:spAutoFit/>
          </a:bodyPr>
          <a:lstStyle/>
          <a:p>
            <a:pPr algn="ctr">
              <a:lnSpc>
                <a:spcPct val="130000"/>
              </a:lnSpc>
            </a:pPr>
            <a:r>
              <a:rPr sz="1400" b="1" i="0">
                <a:solidFill>
                  <a:srgbClr val="21295C"/>
                </a:solidFill>
                <a:latin typeface="Arial"/>
              </a:rPr>
              <a:t>Запрос → top-K
похожих документов.
→ Основа RAG (Лекция 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Semantic search находит то, что full-text пропустит</a:t>
            </a:r>
          </a:p>
        </p:txBody>
      </p:sp>
      <p:sp>
        <p:nvSpPr>
          <p:cNvPr id="3" name="Rounded Rectangle 2"/>
          <p:cNvSpPr/>
          <p:nvPr/>
        </p:nvSpPr>
        <p:spPr>
          <a:xfrm>
            <a:off x="3657600" y="1325880"/>
            <a:ext cx="4846320" cy="640080"/>
          </a:xfrm>
          <a:prstGeom prst="roundRect">
            <a:avLst>
              <a:gd name="adj" fmla="val 25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0" y="1371600"/>
            <a:ext cx="4846320" cy="27432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Запрос</a:t>
            </a:r>
          </a:p>
        </p:txBody>
      </p:sp>
      <p:sp>
        <p:nvSpPr>
          <p:cNvPr id="5" name="TextBox 4"/>
          <p:cNvSpPr txBox="1"/>
          <p:nvPr/>
        </p:nvSpPr>
        <p:spPr>
          <a:xfrm>
            <a:off x="3657600" y="1600200"/>
            <a:ext cx="4846320" cy="320040"/>
          </a:xfrm>
          <a:prstGeom prst="rect">
            <a:avLst/>
          </a:prstGeom>
          <a:noFill/>
        </p:spPr>
        <p:txBody>
          <a:bodyPr wrap="square" lIns="0" rIns="0" tIns="0" bIns="0" anchor="ctr">
            <a:spAutoFit/>
          </a:bodyPr>
          <a:lstStyle/>
          <a:p>
            <a:pPr algn="ctr">
              <a:lnSpc>
                <a:spcPct val="115000"/>
              </a:lnSpc>
            </a:pPr>
            <a:r>
              <a:rPr sz="2200" b="1" i="0">
                <a:solidFill>
                  <a:srgbClr val="21295C"/>
                </a:solidFill>
                <a:latin typeface="Liberation Mono"/>
              </a:rPr>
              <a:t>клубника</a:t>
            </a:r>
          </a:p>
        </p:txBody>
      </p:sp>
      <p:sp>
        <p:nvSpPr>
          <p:cNvPr id="6" name="Rounded Rectangle 5"/>
          <p:cNvSpPr/>
          <p:nvPr/>
        </p:nvSpPr>
        <p:spPr>
          <a:xfrm>
            <a:off x="502920" y="2286000"/>
            <a:ext cx="5303520" cy="3840480"/>
          </a:xfrm>
          <a:prstGeom prst="roundRect">
            <a:avLst>
              <a:gd name="adj" fmla="val 79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423160"/>
            <a:ext cx="475488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Full-text (Elasticsearch, Lucene)</a:t>
            </a:r>
          </a:p>
        </p:txBody>
      </p:sp>
      <p:sp>
        <p:nvSpPr>
          <p:cNvPr id="8" name="TextBox 7"/>
          <p:cNvSpPr txBox="1"/>
          <p:nvPr/>
        </p:nvSpPr>
        <p:spPr>
          <a:xfrm>
            <a:off x="822960" y="2926080"/>
            <a:ext cx="411480" cy="411480"/>
          </a:xfrm>
          <a:prstGeom prst="rect">
            <a:avLst/>
          </a:prstGeom>
          <a:noFill/>
        </p:spPr>
        <p:txBody>
          <a:bodyPr wrap="square" lIns="0" rIns="0" tIns="0" bIns="0" anchor="ctr">
            <a:spAutoFit/>
          </a:bodyPr>
          <a:lstStyle/>
          <a:p>
            <a:pPr algn="ctr">
              <a:lnSpc>
                <a:spcPct val="115000"/>
              </a:lnSpc>
            </a:pPr>
            <a:r>
              <a:rPr sz="2000" b="1" i="0">
                <a:solidFill>
                  <a:srgbClr val="028090"/>
                </a:solidFill>
                <a:latin typeface="Arial"/>
              </a:rPr>
              <a:t>✓</a:t>
            </a:r>
          </a:p>
        </p:txBody>
      </p:sp>
      <p:sp>
        <p:nvSpPr>
          <p:cNvPr id="9" name="TextBox 8"/>
          <p:cNvSpPr txBox="1"/>
          <p:nvPr/>
        </p:nvSpPr>
        <p:spPr>
          <a:xfrm>
            <a:off x="1280160" y="2926080"/>
            <a:ext cx="4297679"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клубника</a:t>
            </a:r>
          </a:p>
        </p:txBody>
      </p:sp>
      <p:sp>
        <p:nvSpPr>
          <p:cNvPr id="10" name="TextBox 9"/>
          <p:cNvSpPr txBox="1"/>
          <p:nvPr/>
        </p:nvSpPr>
        <p:spPr>
          <a:xfrm>
            <a:off x="822960" y="3383280"/>
            <a:ext cx="411480" cy="411480"/>
          </a:xfrm>
          <a:prstGeom prst="rect">
            <a:avLst/>
          </a:prstGeom>
          <a:noFill/>
        </p:spPr>
        <p:txBody>
          <a:bodyPr wrap="square" lIns="0" rIns="0" tIns="0" bIns="0" anchor="ctr">
            <a:spAutoFit/>
          </a:bodyPr>
          <a:lstStyle/>
          <a:p>
            <a:pPr algn="ctr">
              <a:lnSpc>
                <a:spcPct val="115000"/>
              </a:lnSpc>
            </a:pPr>
            <a:r>
              <a:rPr sz="2000" b="1" i="0">
                <a:solidFill>
                  <a:srgbClr val="028090"/>
                </a:solidFill>
                <a:latin typeface="Arial"/>
              </a:rPr>
              <a:t>✓</a:t>
            </a:r>
          </a:p>
        </p:txBody>
      </p:sp>
      <p:sp>
        <p:nvSpPr>
          <p:cNvPr id="11" name="TextBox 10"/>
          <p:cNvSpPr txBox="1"/>
          <p:nvPr/>
        </p:nvSpPr>
        <p:spPr>
          <a:xfrm>
            <a:off x="1280160" y="3383280"/>
            <a:ext cx="4297679"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клубники (стемминг)</a:t>
            </a:r>
          </a:p>
        </p:txBody>
      </p:sp>
      <p:sp>
        <p:nvSpPr>
          <p:cNvPr id="12" name="TextBox 11"/>
          <p:cNvSpPr txBox="1"/>
          <p:nvPr/>
        </p:nvSpPr>
        <p:spPr>
          <a:xfrm>
            <a:off x="822960" y="3840480"/>
            <a:ext cx="411480" cy="411480"/>
          </a:xfrm>
          <a:prstGeom prst="rect">
            <a:avLst/>
          </a:prstGeom>
          <a:noFill/>
        </p:spPr>
        <p:txBody>
          <a:bodyPr wrap="square" lIns="0" rIns="0" tIns="0" bIns="0" anchor="ctr">
            <a:spAutoFit/>
          </a:bodyPr>
          <a:lstStyle/>
          <a:p>
            <a:pPr algn="ctr">
              <a:lnSpc>
                <a:spcPct val="115000"/>
              </a:lnSpc>
            </a:pPr>
            <a:r>
              <a:rPr sz="2000" b="1" i="0">
                <a:solidFill>
                  <a:srgbClr val="028090"/>
                </a:solidFill>
                <a:latin typeface="Arial"/>
              </a:rPr>
              <a:t>✓</a:t>
            </a:r>
          </a:p>
        </p:txBody>
      </p:sp>
      <p:sp>
        <p:nvSpPr>
          <p:cNvPr id="13" name="TextBox 12"/>
          <p:cNvSpPr txBox="1"/>
          <p:nvPr/>
        </p:nvSpPr>
        <p:spPr>
          <a:xfrm>
            <a:off x="1280160" y="3840480"/>
            <a:ext cx="4297679"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клубнику</a:t>
            </a:r>
          </a:p>
        </p:txBody>
      </p:sp>
      <p:sp>
        <p:nvSpPr>
          <p:cNvPr id="14" name="TextBox 13"/>
          <p:cNvSpPr txBox="1"/>
          <p:nvPr/>
        </p:nvSpPr>
        <p:spPr>
          <a:xfrm>
            <a:off x="822960" y="4297680"/>
            <a:ext cx="411480" cy="411480"/>
          </a:xfrm>
          <a:prstGeom prst="rect">
            <a:avLst/>
          </a:prstGeom>
          <a:noFill/>
        </p:spPr>
        <p:txBody>
          <a:bodyPr wrap="square" lIns="0" rIns="0" tIns="0" bIns="0" anchor="ctr">
            <a:spAutoFit/>
          </a:bodyPr>
          <a:lstStyle/>
          <a:p>
            <a:pPr algn="ctr">
              <a:lnSpc>
                <a:spcPct val="115000"/>
              </a:lnSpc>
            </a:pPr>
            <a:r>
              <a:rPr sz="2000" b="1" i="0">
                <a:solidFill>
                  <a:srgbClr val="6B7685"/>
                </a:solidFill>
                <a:latin typeface="Arial"/>
              </a:rPr>
              <a:t>✗</a:t>
            </a:r>
          </a:p>
        </p:txBody>
      </p:sp>
      <p:sp>
        <p:nvSpPr>
          <p:cNvPr id="15" name="TextBox 14"/>
          <p:cNvSpPr txBox="1"/>
          <p:nvPr/>
        </p:nvSpPr>
        <p:spPr>
          <a:xfrm>
            <a:off x="1280160" y="4297680"/>
            <a:ext cx="4297679" cy="411480"/>
          </a:xfrm>
          <a:prstGeom prst="rect">
            <a:avLst/>
          </a:prstGeom>
          <a:noFill/>
        </p:spPr>
        <p:txBody>
          <a:bodyPr wrap="square" lIns="0" rIns="0" tIns="0" bIns="0" anchor="ctr">
            <a:spAutoFit/>
          </a:bodyPr>
          <a:lstStyle/>
          <a:p>
            <a:pPr algn="l">
              <a:lnSpc>
                <a:spcPct val="115000"/>
              </a:lnSpc>
            </a:pPr>
            <a:r>
              <a:rPr sz="1400" b="0" i="1">
                <a:solidFill>
                  <a:srgbClr val="6B7685"/>
                </a:solidFill>
                <a:latin typeface="Arial"/>
              </a:rPr>
              <a:t>strawberry</a:t>
            </a:r>
          </a:p>
        </p:txBody>
      </p:sp>
      <p:sp>
        <p:nvSpPr>
          <p:cNvPr id="16" name="TextBox 15"/>
          <p:cNvSpPr txBox="1"/>
          <p:nvPr/>
        </p:nvSpPr>
        <p:spPr>
          <a:xfrm>
            <a:off x="822960" y="4754880"/>
            <a:ext cx="411480" cy="411480"/>
          </a:xfrm>
          <a:prstGeom prst="rect">
            <a:avLst/>
          </a:prstGeom>
          <a:noFill/>
        </p:spPr>
        <p:txBody>
          <a:bodyPr wrap="square" lIns="0" rIns="0" tIns="0" bIns="0" anchor="ctr">
            <a:spAutoFit/>
          </a:bodyPr>
          <a:lstStyle/>
          <a:p>
            <a:pPr algn="ctr">
              <a:lnSpc>
                <a:spcPct val="115000"/>
              </a:lnSpc>
            </a:pPr>
            <a:r>
              <a:rPr sz="2000" b="1" i="0">
                <a:solidFill>
                  <a:srgbClr val="6B7685"/>
                </a:solidFill>
                <a:latin typeface="Arial"/>
              </a:rPr>
              <a:t>✗</a:t>
            </a:r>
          </a:p>
        </p:txBody>
      </p:sp>
      <p:sp>
        <p:nvSpPr>
          <p:cNvPr id="17" name="TextBox 16"/>
          <p:cNvSpPr txBox="1"/>
          <p:nvPr/>
        </p:nvSpPr>
        <p:spPr>
          <a:xfrm>
            <a:off x="1280160" y="4754880"/>
            <a:ext cx="4297679" cy="411480"/>
          </a:xfrm>
          <a:prstGeom prst="rect">
            <a:avLst/>
          </a:prstGeom>
          <a:noFill/>
        </p:spPr>
        <p:txBody>
          <a:bodyPr wrap="square" lIns="0" rIns="0" tIns="0" bIns="0" anchor="ctr">
            <a:spAutoFit/>
          </a:bodyPr>
          <a:lstStyle/>
          <a:p>
            <a:pPr algn="l">
              <a:lnSpc>
                <a:spcPct val="115000"/>
              </a:lnSpc>
            </a:pPr>
            <a:r>
              <a:rPr sz="1400" b="0" i="1">
                <a:solidFill>
                  <a:srgbClr val="6B7685"/>
                </a:solidFill>
                <a:latin typeface="Arial"/>
              </a:rPr>
              <a:t>ягода</a:t>
            </a:r>
          </a:p>
        </p:txBody>
      </p:sp>
      <p:sp>
        <p:nvSpPr>
          <p:cNvPr id="18" name="TextBox 17"/>
          <p:cNvSpPr txBox="1"/>
          <p:nvPr/>
        </p:nvSpPr>
        <p:spPr>
          <a:xfrm>
            <a:off x="822960" y="5212080"/>
            <a:ext cx="411480" cy="411480"/>
          </a:xfrm>
          <a:prstGeom prst="rect">
            <a:avLst/>
          </a:prstGeom>
          <a:noFill/>
        </p:spPr>
        <p:txBody>
          <a:bodyPr wrap="square" lIns="0" rIns="0" tIns="0" bIns="0" anchor="ctr">
            <a:spAutoFit/>
          </a:bodyPr>
          <a:lstStyle/>
          <a:p>
            <a:pPr algn="ctr">
              <a:lnSpc>
                <a:spcPct val="115000"/>
              </a:lnSpc>
            </a:pPr>
            <a:r>
              <a:rPr sz="2000" b="1" i="0">
                <a:solidFill>
                  <a:srgbClr val="6B7685"/>
                </a:solidFill>
                <a:latin typeface="Arial"/>
              </a:rPr>
              <a:t>✗</a:t>
            </a:r>
          </a:p>
        </p:txBody>
      </p:sp>
      <p:sp>
        <p:nvSpPr>
          <p:cNvPr id="19" name="TextBox 18"/>
          <p:cNvSpPr txBox="1"/>
          <p:nvPr/>
        </p:nvSpPr>
        <p:spPr>
          <a:xfrm>
            <a:off x="1280160" y="5212080"/>
            <a:ext cx="4297679" cy="411480"/>
          </a:xfrm>
          <a:prstGeom prst="rect">
            <a:avLst/>
          </a:prstGeom>
          <a:noFill/>
        </p:spPr>
        <p:txBody>
          <a:bodyPr wrap="square" lIns="0" rIns="0" tIns="0" bIns="0" anchor="ctr">
            <a:spAutoFit/>
          </a:bodyPr>
          <a:lstStyle/>
          <a:p>
            <a:pPr algn="l">
              <a:lnSpc>
                <a:spcPct val="115000"/>
              </a:lnSpc>
            </a:pPr>
            <a:r>
              <a:rPr sz="1400" b="0" i="1">
                <a:solidFill>
                  <a:srgbClr val="6B7685"/>
                </a:solidFill>
                <a:latin typeface="Arial"/>
              </a:rPr>
              <a:t>лесная земляника</a:t>
            </a:r>
          </a:p>
        </p:txBody>
      </p:sp>
      <p:sp>
        <p:nvSpPr>
          <p:cNvPr id="20" name="Rounded Rectangle 19"/>
          <p:cNvSpPr/>
          <p:nvPr/>
        </p:nvSpPr>
        <p:spPr>
          <a:xfrm>
            <a:off x="6355080" y="2286000"/>
            <a:ext cx="5303520" cy="3840480"/>
          </a:xfrm>
          <a:prstGeom prst="roundRect">
            <a:avLst>
              <a:gd name="adj" fmla="val 7936"/>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423160"/>
            <a:ext cx="4754880"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Semantic (эмбеддинги + ближайшие соседи)</a:t>
            </a:r>
          </a:p>
        </p:txBody>
      </p:sp>
      <p:sp>
        <p:nvSpPr>
          <p:cNvPr id="22" name="TextBox 21"/>
          <p:cNvSpPr txBox="1"/>
          <p:nvPr/>
        </p:nvSpPr>
        <p:spPr>
          <a:xfrm>
            <a:off x="6675120" y="29260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23" name="TextBox 22"/>
          <p:cNvSpPr txBox="1"/>
          <p:nvPr/>
        </p:nvSpPr>
        <p:spPr>
          <a:xfrm>
            <a:off x="7132320" y="29260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клубника</a:t>
            </a:r>
          </a:p>
        </p:txBody>
      </p:sp>
      <p:sp>
        <p:nvSpPr>
          <p:cNvPr id="24" name="TextBox 23"/>
          <p:cNvSpPr txBox="1"/>
          <p:nvPr/>
        </p:nvSpPr>
        <p:spPr>
          <a:xfrm>
            <a:off x="10049256" y="29260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точное</a:t>
            </a:r>
          </a:p>
        </p:txBody>
      </p:sp>
      <p:sp>
        <p:nvSpPr>
          <p:cNvPr id="25" name="TextBox 24"/>
          <p:cNvSpPr txBox="1"/>
          <p:nvPr/>
        </p:nvSpPr>
        <p:spPr>
          <a:xfrm>
            <a:off x="6675120" y="33832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26" name="TextBox 25"/>
          <p:cNvSpPr txBox="1"/>
          <p:nvPr/>
        </p:nvSpPr>
        <p:spPr>
          <a:xfrm>
            <a:off x="7132320" y="33832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клубники</a:t>
            </a:r>
          </a:p>
        </p:txBody>
      </p:sp>
      <p:sp>
        <p:nvSpPr>
          <p:cNvPr id="27" name="TextBox 26"/>
          <p:cNvSpPr txBox="1"/>
          <p:nvPr/>
        </p:nvSpPr>
        <p:spPr>
          <a:xfrm>
            <a:off x="10049256" y="33832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морфология</a:t>
            </a:r>
          </a:p>
        </p:txBody>
      </p:sp>
      <p:sp>
        <p:nvSpPr>
          <p:cNvPr id="28" name="TextBox 27"/>
          <p:cNvSpPr txBox="1"/>
          <p:nvPr/>
        </p:nvSpPr>
        <p:spPr>
          <a:xfrm>
            <a:off x="6675120" y="38404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29" name="TextBox 28"/>
          <p:cNvSpPr txBox="1"/>
          <p:nvPr/>
        </p:nvSpPr>
        <p:spPr>
          <a:xfrm>
            <a:off x="7132320" y="38404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strawberry</a:t>
            </a:r>
          </a:p>
        </p:txBody>
      </p:sp>
      <p:sp>
        <p:nvSpPr>
          <p:cNvPr id="30" name="TextBox 29"/>
          <p:cNvSpPr txBox="1"/>
          <p:nvPr/>
        </p:nvSpPr>
        <p:spPr>
          <a:xfrm>
            <a:off x="10049256" y="38404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cross-lang</a:t>
            </a:r>
          </a:p>
        </p:txBody>
      </p:sp>
      <p:sp>
        <p:nvSpPr>
          <p:cNvPr id="31" name="TextBox 30"/>
          <p:cNvSpPr txBox="1"/>
          <p:nvPr/>
        </p:nvSpPr>
        <p:spPr>
          <a:xfrm>
            <a:off x="6675120" y="42976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32" name="TextBox 31"/>
          <p:cNvSpPr txBox="1"/>
          <p:nvPr/>
        </p:nvSpPr>
        <p:spPr>
          <a:xfrm>
            <a:off x="7132320" y="42976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ягода</a:t>
            </a:r>
          </a:p>
        </p:txBody>
      </p:sp>
      <p:sp>
        <p:nvSpPr>
          <p:cNvPr id="33" name="TextBox 32"/>
          <p:cNvSpPr txBox="1"/>
          <p:nvPr/>
        </p:nvSpPr>
        <p:spPr>
          <a:xfrm>
            <a:off x="10049256" y="42976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родовое</a:t>
            </a:r>
          </a:p>
        </p:txBody>
      </p:sp>
      <p:sp>
        <p:nvSpPr>
          <p:cNvPr id="34" name="TextBox 33"/>
          <p:cNvSpPr txBox="1"/>
          <p:nvPr/>
        </p:nvSpPr>
        <p:spPr>
          <a:xfrm>
            <a:off x="6675120" y="47548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35" name="TextBox 34"/>
          <p:cNvSpPr txBox="1"/>
          <p:nvPr/>
        </p:nvSpPr>
        <p:spPr>
          <a:xfrm>
            <a:off x="7132320" y="47548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лесная земляника</a:t>
            </a:r>
          </a:p>
        </p:txBody>
      </p:sp>
      <p:sp>
        <p:nvSpPr>
          <p:cNvPr id="36" name="TextBox 35"/>
          <p:cNvSpPr txBox="1"/>
          <p:nvPr/>
        </p:nvSpPr>
        <p:spPr>
          <a:xfrm>
            <a:off x="10049256" y="47548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близкий смысл</a:t>
            </a:r>
          </a:p>
        </p:txBody>
      </p:sp>
      <p:sp>
        <p:nvSpPr>
          <p:cNvPr id="37" name="TextBox 36"/>
          <p:cNvSpPr txBox="1"/>
          <p:nvPr/>
        </p:nvSpPr>
        <p:spPr>
          <a:xfrm>
            <a:off x="6675120" y="5212080"/>
            <a:ext cx="411480" cy="411480"/>
          </a:xfrm>
          <a:prstGeom prst="rect">
            <a:avLst/>
          </a:prstGeom>
          <a:noFill/>
        </p:spPr>
        <p:txBody>
          <a:bodyPr wrap="square" lIns="0" rIns="0" tIns="0" bIns="0" anchor="ctr">
            <a:spAutoFit/>
          </a:bodyPr>
          <a:lstStyle/>
          <a:p>
            <a:pPr algn="ctr">
              <a:lnSpc>
                <a:spcPct val="115000"/>
              </a:lnSpc>
            </a:pPr>
            <a:r>
              <a:rPr sz="2000" b="1" i="0">
                <a:solidFill>
                  <a:srgbClr val="F0AB00"/>
                </a:solidFill>
                <a:latin typeface="Arial"/>
              </a:rPr>
              <a:t>✓</a:t>
            </a:r>
          </a:p>
        </p:txBody>
      </p:sp>
      <p:sp>
        <p:nvSpPr>
          <p:cNvPr id="38" name="TextBox 37"/>
          <p:cNvSpPr txBox="1"/>
          <p:nvPr/>
        </p:nvSpPr>
        <p:spPr>
          <a:xfrm>
            <a:off x="7132320" y="5212080"/>
            <a:ext cx="2916936" cy="41148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a:t>
            </a:r>
          </a:p>
        </p:txBody>
      </p:sp>
      <p:sp>
        <p:nvSpPr>
          <p:cNvPr id="39" name="TextBox 38"/>
          <p:cNvSpPr txBox="1"/>
          <p:nvPr/>
        </p:nvSpPr>
        <p:spPr>
          <a:xfrm>
            <a:off x="10049256" y="5212080"/>
            <a:ext cx="1344167" cy="41148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 ещё близкие</a:t>
            </a:r>
          </a:p>
        </p:txBody>
      </p:sp>
      <p:sp>
        <p:nvSpPr>
          <p:cNvPr id="40" name="Rounded Rectangle 39"/>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Base layer RAG — реализация в Лекции 3 (Retrieval-Augmented Generation).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3</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Механизм внимания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решает, что важно сейчас</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Открытие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Attention выдаёт распределение весов на все токены контекста (сумма = 1)</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Какие токены сейчас важны для предсказания следующего</a:t>
            </a:r>
          </a:p>
        </p:txBody>
      </p:sp>
      <p:sp>
        <p:nvSpPr>
          <p:cNvPr id="4" name="Rounded Rectangle 3"/>
          <p:cNvSpPr/>
          <p:nvPr/>
        </p:nvSpPr>
        <p:spPr>
          <a:xfrm>
            <a:off x="502920" y="1874519"/>
            <a:ext cx="548640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4-flashlight.png"/>
          <p:cNvPicPr>
            <a:picLocks noChangeAspect="1"/>
          </p:cNvPicPr>
          <p:nvPr/>
        </p:nvPicPr>
        <p:blipFill>
          <a:blip r:embed="rId2"/>
          <a:stretch>
            <a:fillRect/>
          </a:stretch>
        </p:blipFill>
        <p:spPr>
          <a:xfrm>
            <a:off x="685800" y="2011680"/>
            <a:ext cx="5120640" cy="3383280"/>
          </a:xfrm>
          <a:prstGeom prst="rect">
            <a:avLst/>
          </a:prstGeom>
        </p:spPr>
      </p:pic>
      <p:sp>
        <p:nvSpPr>
          <p:cNvPr id="6" name="TextBox 5"/>
          <p:cNvSpPr txBox="1"/>
          <p:nvPr/>
        </p:nvSpPr>
        <p:spPr>
          <a:xfrm>
            <a:off x="502920" y="5577840"/>
            <a:ext cx="5486400" cy="365760"/>
          </a:xfrm>
          <a:prstGeom prst="rect">
            <a:avLst/>
          </a:prstGeom>
          <a:noFill/>
        </p:spPr>
        <p:txBody>
          <a:bodyPr wrap="square" lIns="0" rIns="0" tIns="0" bIns="0" anchor="t">
            <a:spAutoFit/>
          </a:bodyPr>
          <a:lstStyle/>
          <a:p>
            <a:pPr algn="ctr">
              <a:lnSpc>
                <a:spcPct val="115000"/>
              </a:lnSpc>
            </a:pPr>
            <a:r>
              <a:rPr sz="1300" b="0" i="1">
                <a:solidFill>
                  <a:srgbClr val="065A82"/>
                </a:solidFill>
                <a:latin typeface="Arial"/>
              </a:rPr>
              <a:t>Метафора: фонарик в тёмной комнате</a:t>
            </a:r>
          </a:p>
        </p:txBody>
      </p:sp>
      <p:sp>
        <p:nvSpPr>
          <p:cNvPr id="7" name="Rounded Rectangle 6"/>
          <p:cNvSpPr/>
          <p:nvPr/>
        </p:nvSpPr>
        <p:spPr>
          <a:xfrm>
            <a:off x="6263640" y="1874519"/>
            <a:ext cx="548640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4-attention-bars.png"/>
          <p:cNvPicPr>
            <a:picLocks noChangeAspect="1"/>
          </p:cNvPicPr>
          <p:nvPr/>
        </p:nvPicPr>
        <p:blipFill>
          <a:blip r:embed="rId3"/>
          <a:stretch>
            <a:fillRect/>
          </a:stretch>
        </p:blipFill>
        <p:spPr>
          <a:xfrm>
            <a:off x="6446520" y="2011680"/>
            <a:ext cx="5120640" cy="2286000"/>
          </a:xfrm>
          <a:prstGeom prst="rect">
            <a:avLst/>
          </a:prstGeom>
        </p:spPr>
      </p:pic>
      <p:sp>
        <p:nvSpPr>
          <p:cNvPr id="9" name="Rounded Rectangle 8"/>
          <p:cNvSpPr/>
          <p:nvPr/>
        </p:nvSpPr>
        <p:spPr>
          <a:xfrm>
            <a:off x="6492240" y="4407408"/>
            <a:ext cx="228600" cy="22860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4416552"/>
            <a:ext cx="228600" cy="201168"/>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1</a:t>
            </a:r>
          </a:p>
        </p:txBody>
      </p:sp>
      <p:sp>
        <p:nvSpPr>
          <p:cNvPr id="11" name="TextBox 10"/>
          <p:cNvSpPr txBox="1"/>
          <p:nvPr/>
        </p:nvSpPr>
        <p:spPr>
          <a:xfrm>
            <a:off x="6858000" y="4343400"/>
            <a:ext cx="4846320" cy="320040"/>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На вход — все токены контекста (не часть).</a:t>
            </a:r>
          </a:p>
        </p:txBody>
      </p:sp>
      <p:sp>
        <p:nvSpPr>
          <p:cNvPr id="12" name="Rounded Rectangle 11"/>
          <p:cNvSpPr/>
          <p:nvPr/>
        </p:nvSpPr>
        <p:spPr>
          <a:xfrm>
            <a:off x="6492240" y="4727448"/>
            <a:ext cx="228600" cy="22860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4736592"/>
            <a:ext cx="228600" cy="201168"/>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2</a:t>
            </a:r>
          </a:p>
        </p:txBody>
      </p:sp>
      <p:sp>
        <p:nvSpPr>
          <p:cNvPr id="14" name="TextBox 13"/>
          <p:cNvSpPr txBox="1"/>
          <p:nvPr/>
        </p:nvSpPr>
        <p:spPr>
          <a:xfrm>
            <a:off x="6858000" y="4663440"/>
            <a:ext cx="4846320" cy="320040"/>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На выходе — распределение, сумма = 1.</a:t>
            </a:r>
          </a:p>
        </p:txBody>
      </p:sp>
      <p:sp>
        <p:nvSpPr>
          <p:cNvPr id="15" name="Rounded Rectangle 14"/>
          <p:cNvSpPr/>
          <p:nvPr/>
        </p:nvSpPr>
        <p:spPr>
          <a:xfrm>
            <a:off x="6492240" y="5047488"/>
            <a:ext cx="228600" cy="22860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5056632"/>
            <a:ext cx="228600" cy="201168"/>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3</a:t>
            </a:r>
          </a:p>
        </p:txBody>
      </p:sp>
      <p:sp>
        <p:nvSpPr>
          <p:cNvPr id="17" name="TextBox 16"/>
          <p:cNvSpPr txBox="1"/>
          <p:nvPr/>
        </p:nvSpPr>
        <p:spPr>
          <a:xfrm>
            <a:off x="6858000" y="4983480"/>
            <a:ext cx="4846320" cy="320040"/>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Пересчитывается на каждом шаге генерации.</a:t>
            </a:r>
          </a:p>
        </p:txBody>
      </p:sp>
      <p:sp>
        <p:nvSpPr>
          <p:cNvPr id="18" name="TextBox 17"/>
          <p:cNvSpPr txBox="1"/>
          <p:nvPr/>
        </p:nvSpPr>
        <p:spPr>
          <a:xfrm>
            <a:off x="502920" y="5989320"/>
            <a:ext cx="11247120" cy="457200"/>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Без формул. Multi-head, Q/K/V — доп. чтение (Vaswani et al. 2017).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Role-токены получают повышенный вес в attention</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Часть A — рабочий пример; часть B — эффект роли (1-е из 3 «почему»)</a:t>
            </a:r>
          </a:p>
        </p:txBody>
      </p:sp>
      <p:sp>
        <p:nvSpPr>
          <p:cNvPr id="4" name="Rounded Rectangle 3"/>
          <p:cNvSpPr/>
          <p:nvPr/>
        </p:nvSpPr>
        <p:spPr>
          <a:xfrm>
            <a:off x="502920" y="1828800"/>
            <a:ext cx="11247120"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38528"/>
            <a:ext cx="1097280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A. Worked example — куда смотрит «она»</a:t>
            </a:r>
          </a:p>
        </p:txBody>
      </p:sp>
      <p:sp>
        <p:nvSpPr>
          <p:cNvPr id="6" name="TextBox 5"/>
          <p:cNvSpPr txBox="1"/>
          <p:nvPr/>
        </p:nvSpPr>
        <p:spPr>
          <a:xfrm>
            <a:off x="685800" y="2423160"/>
            <a:ext cx="10972800" cy="457200"/>
          </a:xfrm>
          <a:prstGeom prst="rect">
            <a:avLst/>
          </a:prstGeom>
          <a:noFill/>
        </p:spPr>
        <p:txBody>
          <a:bodyPr wrap="square" lIns="0" rIns="0" tIns="0" bIns="0" anchor="ctr">
            <a:spAutoFit/>
          </a:bodyPr>
          <a:lstStyle/>
          <a:p>
            <a:pPr algn="ctr">
              <a:lnSpc>
                <a:spcPct val="115000"/>
              </a:lnSpc>
            </a:pPr>
            <a:r>
              <a:rPr sz="2200" b="1" i="0">
                <a:solidFill>
                  <a:srgbClr val="21295C"/>
                </a:solidFill>
                <a:latin typeface="Liberation Mono"/>
              </a:rPr>
              <a:t>«Кот съел мышь, потому что она была голодна»</a:t>
            </a:r>
          </a:p>
        </p:txBody>
      </p:sp>
      <p:sp>
        <p:nvSpPr>
          <p:cNvPr id="7" name="Rounded Rectangle 6"/>
          <p:cNvSpPr/>
          <p:nvPr/>
        </p:nvSpPr>
        <p:spPr>
          <a:xfrm>
            <a:off x="708659" y="3154680"/>
            <a:ext cx="3520440" cy="411480"/>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8659" y="3200400"/>
            <a:ext cx="3520440" cy="32004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она → мышь</a:t>
            </a:r>
          </a:p>
        </p:txBody>
      </p:sp>
      <p:sp>
        <p:nvSpPr>
          <p:cNvPr id="9" name="TextBox 8"/>
          <p:cNvSpPr txBox="1"/>
          <p:nvPr/>
        </p:nvSpPr>
        <p:spPr>
          <a:xfrm>
            <a:off x="708659" y="3611880"/>
            <a:ext cx="3520440" cy="3200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толстая · главный вес</a:t>
            </a:r>
          </a:p>
        </p:txBody>
      </p:sp>
      <p:sp>
        <p:nvSpPr>
          <p:cNvPr id="10" name="Rounded Rectangle 9"/>
          <p:cNvSpPr/>
          <p:nvPr/>
        </p:nvSpPr>
        <p:spPr>
          <a:xfrm>
            <a:off x="4366259" y="3154680"/>
            <a:ext cx="3520440" cy="411480"/>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66259" y="3200400"/>
            <a:ext cx="3520440" cy="32004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она → была</a:t>
            </a:r>
          </a:p>
        </p:txBody>
      </p:sp>
      <p:sp>
        <p:nvSpPr>
          <p:cNvPr id="12" name="TextBox 11"/>
          <p:cNvSpPr txBox="1"/>
          <p:nvPr/>
        </p:nvSpPr>
        <p:spPr>
          <a:xfrm>
            <a:off x="4366259" y="3611880"/>
            <a:ext cx="3520440" cy="3200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средняя</a:t>
            </a:r>
          </a:p>
        </p:txBody>
      </p:sp>
      <p:sp>
        <p:nvSpPr>
          <p:cNvPr id="13" name="Rounded Rectangle 12"/>
          <p:cNvSpPr/>
          <p:nvPr/>
        </p:nvSpPr>
        <p:spPr>
          <a:xfrm>
            <a:off x="8023860" y="3154680"/>
            <a:ext cx="3520440" cy="411480"/>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3860" y="3200400"/>
            <a:ext cx="3520440" cy="32004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она → голодна</a:t>
            </a:r>
          </a:p>
        </p:txBody>
      </p:sp>
      <p:sp>
        <p:nvSpPr>
          <p:cNvPr id="15" name="TextBox 14"/>
          <p:cNvSpPr txBox="1"/>
          <p:nvPr/>
        </p:nvSpPr>
        <p:spPr>
          <a:xfrm>
            <a:off x="8023860" y="3611880"/>
            <a:ext cx="3520440" cy="3200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тонкая</a:t>
            </a:r>
          </a:p>
        </p:txBody>
      </p:sp>
      <p:sp>
        <p:nvSpPr>
          <p:cNvPr id="16" name="TextBox 15"/>
          <p:cNvSpPr txBox="1"/>
          <p:nvPr/>
        </p:nvSpPr>
        <p:spPr>
          <a:xfrm>
            <a:off x="685800" y="3794760"/>
            <a:ext cx="10972800" cy="22860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Упрощение: реальный attention map содержит сотни связей. Модель смотрит статистически, не делает грамматический разбор.</a:t>
            </a:r>
          </a:p>
        </p:txBody>
      </p:sp>
      <p:sp>
        <p:nvSpPr>
          <p:cNvPr id="17" name="Rounded Rectangle 16"/>
          <p:cNvSpPr/>
          <p:nvPr/>
        </p:nvSpPr>
        <p:spPr>
          <a:xfrm>
            <a:off x="502920" y="4206240"/>
            <a:ext cx="548640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315968"/>
            <a:ext cx="51206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B1. Без роли</a:t>
            </a:r>
          </a:p>
        </p:txBody>
      </p:sp>
      <p:sp>
        <p:nvSpPr>
          <p:cNvPr id="19" name="TextBox 18"/>
          <p:cNvSpPr txBox="1"/>
          <p:nvPr/>
        </p:nvSpPr>
        <p:spPr>
          <a:xfrm>
            <a:off x="685800" y="4754879"/>
            <a:ext cx="5120640" cy="502920"/>
          </a:xfrm>
          <a:prstGeom prst="rect">
            <a:avLst/>
          </a:prstGeom>
          <a:noFill/>
        </p:spPr>
        <p:txBody>
          <a:bodyPr wrap="square" lIns="0" rIns="0" tIns="0" bIns="0" anchor="ctr">
            <a:spAutoFit/>
          </a:bodyPr>
          <a:lstStyle/>
          <a:p>
            <a:pPr algn="l">
              <a:lnSpc>
                <a:spcPct val="115000"/>
              </a:lnSpc>
            </a:pPr>
            <a:r>
              <a:rPr sz="1700" b="0" i="0">
                <a:solidFill>
                  <a:srgbClr val="21295C"/>
                </a:solidFill>
                <a:latin typeface="Liberation Mono"/>
              </a:rPr>
              <a:t>«Объясни асинхронность»</a:t>
            </a:r>
          </a:p>
        </p:txBody>
      </p:sp>
      <p:sp>
        <p:nvSpPr>
          <p:cNvPr id="20" name="TextBox 19"/>
          <p:cNvSpPr txBox="1"/>
          <p:nvPr/>
        </p:nvSpPr>
        <p:spPr>
          <a:xfrm>
            <a:off x="685800" y="5349240"/>
            <a:ext cx="5120640" cy="822960"/>
          </a:xfrm>
          <a:prstGeom prst="rect">
            <a:avLst/>
          </a:prstGeom>
          <a:noFill/>
        </p:spPr>
        <p:txBody>
          <a:bodyPr wrap="square" lIns="0" rIns="0" tIns="0" bIns="0" anchor="t">
            <a:spAutoFit/>
          </a:bodyPr>
          <a:lstStyle/>
          <a:p>
            <a:pPr algn="l">
              <a:lnSpc>
                <a:spcPct val="130000"/>
              </a:lnSpc>
            </a:pPr>
            <a:r>
              <a:rPr sz="1300" b="0" i="1">
                <a:solidFill>
                  <a:srgbClr val="21295C"/>
                </a:solidFill>
                <a:latin typeface="Arial"/>
              </a:rPr>
              <a:t>→ generic ответ
(низкий вес role-токенов в attention)</a:t>
            </a:r>
          </a:p>
        </p:txBody>
      </p:sp>
      <p:sp>
        <p:nvSpPr>
          <p:cNvPr id="21" name="Rounded Rectangle 20"/>
          <p:cNvSpPr/>
          <p:nvPr/>
        </p:nvSpPr>
        <p:spPr>
          <a:xfrm>
            <a:off x="6263640" y="4206240"/>
            <a:ext cx="5486400" cy="2103120"/>
          </a:xfrm>
          <a:prstGeom prst="roundRect">
            <a:avLst>
              <a:gd name="adj" fmla="val 14492"/>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315968"/>
            <a:ext cx="5120640"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B2. С ролью</a:t>
            </a:r>
          </a:p>
        </p:txBody>
      </p:sp>
      <p:sp>
        <p:nvSpPr>
          <p:cNvPr id="23" name="TextBox 22"/>
          <p:cNvSpPr txBox="1"/>
          <p:nvPr/>
        </p:nvSpPr>
        <p:spPr>
          <a:xfrm>
            <a:off x="6446520" y="4754879"/>
            <a:ext cx="5120640" cy="548640"/>
          </a:xfrm>
          <a:prstGeom prst="rect">
            <a:avLst/>
          </a:prstGeom>
          <a:noFill/>
        </p:spPr>
        <p:txBody>
          <a:bodyPr wrap="square" lIns="0" rIns="0" tIns="0" bIns="0" anchor="ctr">
            <a:spAutoFit/>
          </a:bodyPr>
          <a:lstStyle/>
          <a:p>
            <a:pPr algn="l">
              <a:lnSpc>
                <a:spcPct val="115000"/>
              </a:lnSpc>
            </a:pPr>
            <a:r>
              <a:rPr sz="1700" b="0" i="0">
                <a:solidFill>
                  <a:srgbClr val="21295C"/>
                </a:solidFill>
                <a:latin typeface="Liberation Mono"/>
              </a:rPr>
              <a:t>«Ты </a:t>
            </a:r>
            <a:r>
              <a:rPr sz="1700" b="1" i="0">
                <a:solidFill>
                  <a:srgbClr val="F0AB00"/>
                </a:solidFill>
                <a:latin typeface="Liberation Mono"/>
              </a:rPr>
              <a:t>эксперт по Python</a:t>
            </a:r>
            <a:r>
              <a:rPr sz="1700" b="0" i="0">
                <a:solidFill>
                  <a:srgbClr val="21295C"/>
                </a:solidFill>
                <a:latin typeface="Liberation Mono"/>
              </a:rPr>
              <a:t>. Объясни асинхронность </a:t>
            </a:r>
            <a:r>
              <a:rPr sz="1700" b="1" i="0">
                <a:solidFill>
                  <a:srgbClr val="F0AB00"/>
                </a:solidFill>
                <a:latin typeface="Liberation Mono"/>
              </a:rPr>
              <a:t>джуниору</a:t>
            </a:r>
            <a:r>
              <a:rPr sz="1700" b="0" i="0">
                <a:solidFill>
                  <a:srgbClr val="21295C"/>
                </a:solidFill>
                <a:latin typeface="Liberation Mono"/>
              </a:rPr>
              <a:t>.»</a:t>
            </a:r>
          </a:p>
        </p:txBody>
      </p:sp>
      <p:sp>
        <p:nvSpPr>
          <p:cNvPr id="24" name="TextBox 23"/>
          <p:cNvSpPr txBox="1"/>
          <p:nvPr/>
        </p:nvSpPr>
        <p:spPr>
          <a:xfrm>
            <a:off x="6446520" y="5349240"/>
            <a:ext cx="5120640" cy="822960"/>
          </a:xfrm>
          <a:prstGeom prst="rect">
            <a:avLst/>
          </a:prstGeom>
          <a:noFill/>
        </p:spPr>
        <p:txBody>
          <a:bodyPr wrap="square" lIns="0" rIns="0" tIns="0" bIns="0" anchor="t">
            <a:spAutoFit/>
          </a:bodyPr>
          <a:lstStyle/>
          <a:p>
            <a:pPr algn="l">
              <a:lnSpc>
                <a:spcPct val="130000"/>
              </a:lnSpc>
            </a:pPr>
            <a:r>
              <a:rPr sz="1300" b="1" i="1">
                <a:solidFill>
                  <a:srgbClr val="21295C"/>
                </a:solidFill>
                <a:latin typeface="Arial"/>
              </a:rPr>
              <a:t>→ role-токены подсвечены
(высокий вес в attention)</a:t>
            </a:r>
          </a:p>
        </p:txBody>
      </p:sp>
      <p:sp>
        <p:nvSpPr>
          <p:cNvPr id="25" name="Rounded Rectangle 24"/>
          <p:cNvSpPr/>
          <p:nvPr/>
        </p:nvSpPr>
        <p:spPr>
          <a:xfrm>
            <a:off x="502920" y="6400800"/>
            <a:ext cx="11247120" cy="3657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6473952"/>
            <a:ext cx="10881360" cy="219456"/>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1-е из 3 «почему» Лекции 1 §5.3 — payoff на s24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Контекстное окно — физический предел того, сколько модель видит одновременно</a:t>
            </a:r>
          </a:p>
        </p:txBody>
      </p:sp>
      <p:sp>
        <p:nvSpPr>
          <p:cNvPr id="3" name="TextBox 2"/>
          <p:cNvSpPr txBox="1"/>
          <p:nvPr/>
        </p:nvSpPr>
        <p:spPr>
          <a:xfrm>
            <a:off x="502920" y="141732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Эволюция context window + квадратичная стоимость attention</a:t>
            </a:r>
          </a:p>
        </p:txBody>
      </p:sp>
      <p:sp>
        <p:nvSpPr>
          <p:cNvPr id="4" name="Rounded Rectangle 3"/>
          <p:cNvSpPr/>
          <p:nvPr/>
        </p:nvSpPr>
        <p:spPr>
          <a:xfrm>
            <a:off x="502920" y="1920240"/>
            <a:ext cx="731520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6-context-window.png"/>
          <p:cNvPicPr>
            <a:picLocks noChangeAspect="1"/>
          </p:cNvPicPr>
          <p:nvPr/>
        </p:nvPicPr>
        <p:blipFill>
          <a:blip r:embed="rId2"/>
          <a:stretch>
            <a:fillRect/>
          </a:stretch>
        </p:blipFill>
        <p:spPr>
          <a:xfrm>
            <a:off x="685800" y="2057400"/>
            <a:ext cx="6949440" cy="3794760"/>
          </a:xfrm>
          <a:prstGeom prst="rect">
            <a:avLst/>
          </a:prstGeom>
        </p:spPr>
      </p:pic>
      <p:sp>
        <p:nvSpPr>
          <p:cNvPr id="6" name="Rounded Rectangle 5"/>
          <p:cNvSpPr/>
          <p:nvPr/>
        </p:nvSpPr>
        <p:spPr>
          <a:xfrm>
            <a:off x="8092440" y="1920240"/>
            <a:ext cx="3657600" cy="406908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75319" y="2057400"/>
            <a:ext cx="32918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Эволюция и стоимость</a:t>
            </a:r>
          </a:p>
        </p:txBody>
      </p:sp>
      <p:sp>
        <p:nvSpPr>
          <p:cNvPr id="8" name="TextBox 7"/>
          <p:cNvSpPr txBox="1"/>
          <p:nvPr/>
        </p:nvSpPr>
        <p:spPr>
          <a:xfrm>
            <a:off x="8321040" y="260604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2022 → 2026:</a:t>
            </a:r>
          </a:p>
        </p:txBody>
      </p:sp>
      <p:sp>
        <p:nvSpPr>
          <p:cNvPr id="9" name="TextBox 8"/>
          <p:cNvSpPr txBox="1"/>
          <p:nvPr/>
        </p:nvSpPr>
        <p:spPr>
          <a:xfrm>
            <a:off x="9738360" y="260604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×250 рост</a:t>
            </a:r>
          </a:p>
        </p:txBody>
      </p:sp>
      <p:sp>
        <p:nvSpPr>
          <p:cNvPr id="10" name="TextBox 9"/>
          <p:cNvSpPr txBox="1"/>
          <p:nvPr/>
        </p:nvSpPr>
        <p:spPr>
          <a:xfrm>
            <a:off x="8321040" y="310896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Темп:</a:t>
            </a:r>
          </a:p>
        </p:txBody>
      </p:sp>
      <p:sp>
        <p:nvSpPr>
          <p:cNvPr id="11" name="TextBox 10"/>
          <p:cNvSpPr txBox="1"/>
          <p:nvPr/>
        </p:nvSpPr>
        <p:spPr>
          <a:xfrm>
            <a:off x="9738360" y="310896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×10 / 1-2 года</a:t>
            </a:r>
          </a:p>
        </p:txBody>
      </p:sp>
      <p:sp>
        <p:nvSpPr>
          <p:cNvPr id="12" name="TextBox 11"/>
          <p:cNvSpPr txBox="1"/>
          <p:nvPr/>
        </p:nvSpPr>
        <p:spPr>
          <a:xfrm>
            <a:off x="8321040" y="361188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Cost N²:</a:t>
            </a:r>
          </a:p>
        </p:txBody>
      </p:sp>
      <p:sp>
        <p:nvSpPr>
          <p:cNvPr id="13" name="TextBox 12"/>
          <p:cNvSpPr txBox="1"/>
          <p:nvPr/>
        </p:nvSpPr>
        <p:spPr>
          <a:xfrm>
            <a:off x="9738360" y="361188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1M ≈ 16× от 100k</a:t>
            </a:r>
          </a:p>
        </p:txBody>
      </p:sp>
      <p:sp>
        <p:nvSpPr>
          <p:cNvPr id="14" name="TextBox 13"/>
          <p:cNvSpPr txBox="1"/>
          <p:nvPr/>
        </p:nvSpPr>
        <p:spPr>
          <a:xfrm>
            <a:off x="8321040" y="411480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Архитектура:</a:t>
            </a:r>
          </a:p>
        </p:txBody>
      </p:sp>
      <p:sp>
        <p:nvSpPr>
          <p:cNvPr id="15" name="TextBox 14"/>
          <p:cNvSpPr txBox="1"/>
          <p:nvPr/>
        </p:nvSpPr>
        <p:spPr>
          <a:xfrm>
            <a:off x="9738360" y="411480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ванильная attention</a:t>
            </a:r>
          </a:p>
        </p:txBody>
      </p:sp>
      <p:sp>
        <p:nvSpPr>
          <p:cNvPr id="16" name="Rounded Rectangle 15"/>
          <p:cNvSpPr/>
          <p:nvPr/>
        </p:nvSpPr>
        <p:spPr>
          <a:xfrm>
            <a:off x="8549640" y="4709160"/>
            <a:ext cx="2743200" cy="914400"/>
          </a:xfrm>
          <a:prstGeom prst="roundRect">
            <a:avLst>
              <a:gd name="adj" fmla="val 1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4754880"/>
            <a:ext cx="2743200" cy="86868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N²</a:t>
            </a:r>
          </a:p>
        </p:txBody>
      </p:sp>
      <p:sp>
        <p:nvSpPr>
          <p:cNvPr id="18" name="Rounded Rectangle 17"/>
          <p:cNvSpPr/>
          <p:nvPr/>
        </p:nvSpPr>
        <p:spPr>
          <a:xfrm>
            <a:off x="502920" y="6172200"/>
            <a:ext cx="11247120" cy="3657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6245352"/>
            <a:ext cx="10881360" cy="21945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Стоимость attention растёт квадратично от длины. 1M ≈ 16× дороже 100k.</a:t>
            </a:r>
          </a:p>
        </p:txBody>
      </p:sp>
      <p:sp>
        <p:nvSpPr>
          <p:cNvPr id="20" name="TextBox 19"/>
          <p:cNvSpPr txBox="1"/>
          <p:nvPr/>
        </p:nvSpPr>
        <p:spPr>
          <a:xfrm>
            <a:off x="502920" y="6583680"/>
            <a:ext cx="11247120" cy="22860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[VERIFY-DAY-OF] Цифры на момент мая 2026. Темп роста ~×10 каждые 1-2 года.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Большое контекстное окно ≠ хорошее использование контекста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Lost-in-the-middle effect — модель забывает середину</a:t>
            </a:r>
          </a:p>
        </p:txBody>
      </p:sp>
      <p:sp>
        <p:nvSpPr>
          <p:cNvPr id="4" name="Rounded Rectangle 3"/>
          <p:cNvSpPr/>
          <p:nvPr/>
        </p:nvSpPr>
        <p:spPr>
          <a:xfrm>
            <a:off x="502920" y="1828800"/>
            <a:ext cx="7772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7-u-shape.png"/>
          <p:cNvPicPr>
            <a:picLocks noChangeAspect="1"/>
          </p:cNvPicPr>
          <p:nvPr/>
        </p:nvPicPr>
        <p:blipFill>
          <a:blip r:embed="rId2"/>
          <a:stretch>
            <a:fillRect/>
          </a:stretch>
        </p:blipFill>
        <p:spPr>
          <a:xfrm>
            <a:off x="685800" y="1965960"/>
            <a:ext cx="7406640" cy="3840480"/>
          </a:xfrm>
          <a:prstGeom prst="rect">
            <a:avLst/>
          </a:prstGeom>
        </p:spPr>
      </p:pic>
      <p:sp>
        <p:nvSpPr>
          <p:cNvPr id="6" name="Rounded Rectangle 5"/>
          <p:cNvSpPr/>
          <p:nvPr/>
        </p:nvSpPr>
        <p:spPr>
          <a:xfrm>
            <a:off x="8549640" y="1828800"/>
            <a:ext cx="3246120" cy="411480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196596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Эксперимент</a:t>
            </a:r>
          </a:p>
        </p:txBody>
      </p:sp>
      <p:sp>
        <p:nvSpPr>
          <p:cNvPr id="8" name="TextBox 7"/>
          <p:cNvSpPr txBox="1"/>
          <p:nvPr/>
        </p:nvSpPr>
        <p:spPr>
          <a:xfrm>
            <a:off x="8732519" y="2331720"/>
            <a:ext cx="2880360" cy="155448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Factoid вставлен в позицию X (начало / середина / конец) 100k-контекста. Модель отвечает на факт.</a:t>
            </a:r>
          </a:p>
        </p:txBody>
      </p:sp>
      <p:sp>
        <p:nvSpPr>
          <p:cNvPr id="9" name="TextBox 8"/>
          <p:cNvSpPr txBox="1"/>
          <p:nvPr/>
        </p:nvSpPr>
        <p:spPr>
          <a:xfrm>
            <a:off x="8732519" y="384048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Результаты</a:t>
            </a:r>
          </a:p>
        </p:txBody>
      </p:sp>
      <p:sp>
        <p:nvSpPr>
          <p:cNvPr id="10" name="TextBox 9"/>
          <p:cNvSpPr txBox="1"/>
          <p:nvPr/>
        </p:nvSpPr>
        <p:spPr>
          <a:xfrm>
            <a:off x="8732519" y="4251960"/>
            <a:ext cx="1947672" cy="32004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Начало:</a:t>
            </a:r>
          </a:p>
        </p:txBody>
      </p:sp>
      <p:sp>
        <p:nvSpPr>
          <p:cNvPr id="11" name="TextBox 10"/>
          <p:cNvSpPr txBox="1"/>
          <p:nvPr/>
        </p:nvSpPr>
        <p:spPr>
          <a:xfrm>
            <a:off x="10335006" y="4251960"/>
            <a:ext cx="1298448" cy="320040"/>
          </a:xfrm>
          <a:prstGeom prst="rect">
            <a:avLst/>
          </a:prstGeom>
          <a:noFill/>
        </p:spPr>
        <p:txBody>
          <a:bodyPr wrap="square" lIns="0" rIns="0" tIns="0" bIns="0" anchor="ctr">
            <a:spAutoFit/>
          </a:bodyPr>
          <a:lstStyle/>
          <a:p>
            <a:pPr algn="r">
              <a:lnSpc>
                <a:spcPct val="115000"/>
              </a:lnSpc>
            </a:pPr>
            <a:r>
              <a:rPr sz="1400" b="1" i="0">
                <a:solidFill>
                  <a:srgbClr val="1C7293"/>
                </a:solidFill>
                <a:latin typeface="Arial"/>
              </a:rPr>
              <a:t>~75%</a:t>
            </a:r>
          </a:p>
        </p:txBody>
      </p:sp>
      <p:sp>
        <p:nvSpPr>
          <p:cNvPr id="12" name="TextBox 11"/>
          <p:cNvSpPr txBox="1"/>
          <p:nvPr/>
        </p:nvSpPr>
        <p:spPr>
          <a:xfrm>
            <a:off x="8732519" y="4617720"/>
            <a:ext cx="1947672" cy="32004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Середина:</a:t>
            </a:r>
          </a:p>
        </p:txBody>
      </p:sp>
      <p:sp>
        <p:nvSpPr>
          <p:cNvPr id="13" name="TextBox 12"/>
          <p:cNvSpPr txBox="1"/>
          <p:nvPr/>
        </p:nvSpPr>
        <p:spPr>
          <a:xfrm>
            <a:off x="10335006" y="4617720"/>
            <a:ext cx="1298448" cy="320040"/>
          </a:xfrm>
          <a:prstGeom prst="rect">
            <a:avLst/>
          </a:prstGeom>
          <a:noFill/>
        </p:spPr>
        <p:txBody>
          <a:bodyPr wrap="square" lIns="0" rIns="0" tIns="0" bIns="0" anchor="ctr">
            <a:spAutoFit/>
          </a:bodyPr>
          <a:lstStyle/>
          <a:p>
            <a:pPr algn="r">
              <a:lnSpc>
                <a:spcPct val="115000"/>
              </a:lnSpc>
            </a:pPr>
            <a:r>
              <a:rPr sz="1400" b="1" i="0">
                <a:solidFill>
                  <a:srgbClr val="F0AB00"/>
                </a:solidFill>
                <a:latin typeface="Arial"/>
              </a:rPr>
              <a:t>~30%</a:t>
            </a:r>
          </a:p>
        </p:txBody>
      </p:sp>
      <p:sp>
        <p:nvSpPr>
          <p:cNvPr id="14" name="TextBox 13"/>
          <p:cNvSpPr txBox="1"/>
          <p:nvPr/>
        </p:nvSpPr>
        <p:spPr>
          <a:xfrm>
            <a:off x="8732519" y="4983480"/>
            <a:ext cx="1947672" cy="320040"/>
          </a:xfrm>
          <a:prstGeom prst="rect">
            <a:avLst/>
          </a:prstGeom>
          <a:noFill/>
        </p:spPr>
        <p:txBody>
          <a:bodyPr wrap="square" lIns="0" rIns="0" tIns="0" bIns="0" anchor="ctr">
            <a:spAutoFit/>
          </a:bodyPr>
          <a:lstStyle/>
          <a:p>
            <a:pPr algn="l">
              <a:lnSpc>
                <a:spcPct val="115000"/>
              </a:lnSpc>
            </a:pPr>
            <a:r>
              <a:rPr sz="1300" b="0" i="1">
                <a:solidFill>
                  <a:srgbClr val="21295C"/>
                </a:solidFill>
                <a:latin typeface="Arial"/>
              </a:rPr>
              <a:t>Конец:</a:t>
            </a:r>
          </a:p>
        </p:txBody>
      </p:sp>
      <p:sp>
        <p:nvSpPr>
          <p:cNvPr id="15" name="TextBox 14"/>
          <p:cNvSpPr txBox="1"/>
          <p:nvPr/>
        </p:nvSpPr>
        <p:spPr>
          <a:xfrm>
            <a:off x="10335006" y="4983480"/>
            <a:ext cx="1298448" cy="320040"/>
          </a:xfrm>
          <a:prstGeom prst="rect">
            <a:avLst/>
          </a:prstGeom>
          <a:noFill/>
        </p:spPr>
        <p:txBody>
          <a:bodyPr wrap="square" lIns="0" rIns="0" tIns="0" bIns="0" anchor="ctr">
            <a:spAutoFit/>
          </a:bodyPr>
          <a:lstStyle/>
          <a:p>
            <a:pPr algn="r">
              <a:lnSpc>
                <a:spcPct val="115000"/>
              </a:lnSpc>
            </a:pPr>
            <a:r>
              <a:rPr sz="1400" b="1" i="0">
                <a:solidFill>
                  <a:srgbClr val="1C7293"/>
                </a:solidFill>
                <a:latin typeface="Arial"/>
              </a:rPr>
              <a:t>~75%</a:t>
            </a:r>
          </a:p>
        </p:txBody>
      </p:sp>
      <p:sp>
        <p:nvSpPr>
          <p:cNvPr id="16" name="TextBox 15"/>
          <p:cNvSpPr txBox="1"/>
          <p:nvPr/>
        </p:nvSpPr>
        <p:spPr>
          <a:xfrm>
            <a:off x="8732519" y="5440680"/>
            <a:ext cx="2880360" cy="457200"/>
          </a:xfrm>
          <a:prstGeom prst="rect">
            <a:avLst/>
          </a:prstGeom>
          <a:noFill/>
        </p:spPr>
        <p:txBody>
          <a:bodyPr wrap="square" lIns="0" rIns="0" tIns="0" bIns="0" anchor="t">
            <a:spAutoFit/>
          </a:bodyPr>
          <a:lstStyle/>
          <a:p>
            <a:pPr algn="l">
              <a:lnSpc>
                <a:spcPct val="120000"/>
              </a:lnSpc>
            </a:pPr>
            <a:r>
              <a:rPr sz="1000" b="0" i="1">
                <a:solidFill>
                  <a:srgbClr val="1C7293"/>
                </a:solidFill>
                <a:latin typeface="Arial"/>
              </a:rPr>
              <a:t>Liu et al. 2023.
Lost in the Middle.
arXiv:2307.03172</a:t>
            </a:r>
          </a:p>
        </p:txBody>
      </p:sp>
      <p:sp>
        <p:nvSpPr>
          <p:cNvPr id="17" name="Rounded Rectangle 16"/>
          <p:cNvSpPr/>
          <p:nvPr/>
        </p:nvSpPr>
        <p:spPr>
          <a:xfrm>
            <a:off x="502920" y="612648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619963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Инженерный вывод: важное помещайте в начало или в конец промпта, не в середину.</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200" b="1" i="0">
                <a:solidFill>
                  <a:srgbClr val="21295C"/>
                </a:solidFill>
                <a:latin typeface="Arial"/>
              </a:rPr>
              <a:t>На каждом шаге модель выдаёт распределение вероятностей на все токены — выбирает один</a:t>
            </a:r>
          </a:p>
        </p:txBody>
      </p:sp>
      <p:sp>
        <p:nvSpPr>
          <p:cNvPr id="3" name="Rounded Rectangle 2"/>
          <p:cNvSpPr/>
          <p:nvPr/>
        </p:nvSpPr>
        <p:spPr>
          <a:xfrm>
            <a:off x="4114800" y="1325880"/>
            <a:ext cx="3931920" cy="594360"/>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0" y="1371600"/>
            <a:ext cx="3931920" cy="274320"/>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Контекст</a:t>
            </a:r>
          </a:p>
        </p:txBody>
      </p:sp>
      <p:sp>
        <p:nvSpPr>
          <p:cNvPr id="5" name="TextBox 4"/>
          <p:cNvSpPr txBox="1"/>
          <p:nvPr/>
        </p:nvSpPr>
        <p:spPr>
          <a:xfrm>
            <a:off x="4114800" y="1554480"/>
            <a:ext cx="3931920" cy="320040"/>
          </a:xfrm>
          <a:prstGeom prst="rect">
            <a:avLst/>
          </a:prstGeom>
          <a:noFill/>
        </p:spPr>
        <p:txBody>
          <a:bodyPr wrap="square" lIns="0" rIns="0" tIns="0" bIns="0" anchor="ctr">
            <a:spAutoFit/>
          </a:bodyPr>
          <a:lstStyle/>
          <a:p>
            <a:pPr algn="ctr">
              <a:lnSpc>
                <a:spcPct val="115000"/>
              </a:lnSpc>
            </a:pPr>
            <a:r>
              <a:rPr sz="1800" b="1" i="0">
                <a:solidFill>
                  <a:srgbClr val="21295C"/>
                </a:solidFill>
                <a:latin typeface="Liberation Mono"/>
              </a:rPr>
              <a:t>«Сегодня я съел …»</a:t>
            </a:r>
          </a:p>
        </p:txBody>
      </p:sp>
      <p:sp>
        <p:nvSpPr>
          <p:cNvPr id="6" name="Rounded Rectangle 5"/>
          <p:cNvSpPr/>
          <p:nvPr/>
        </p:nvSpPr>
        <p:spPr>
          <a:xfrm>
            <a:off x="502920" y="2103120"/>
            <a:ext cx="77724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8-distribution.png"/>
          <p:cNvPicPr>
            <a:picLocks noChangeAspect="1"/>
          </p:cNvPicPr>
          <p:nvPr/>
        </p:nvPicPr>
        <p:blipFill>
          <a:blip r:embed="rId2"/>
          <a:stretch>
            <a:fillRect/>
          </a:stretch>
        </p:blipFill>
        <p:spPr>
          <a:xfrm>
            <a:off x="685800" y="2240280"/>
            <a:ext cx="7406640" cy="3429000"/>
          </a:xfrm>
          <a:prstGeom prst="rect">
            <a:avLst/>
          </a:prstGeom>
        </p:spPr>
      </p:pic>
      <p:sp>
        <p:nvSpPr>
          <p:cNvPr id="8" name="Rounded Rectangle 7"/>
          <p:cNvSpPr/>
          <p:nvPr/>
        </p:nvSpPr>
        <p:spPr>
          <a:xfrm>
            <a:off x="8549640" y="2103120"/>
            <a:ext cx="3246120" cy="37033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24028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Top-5 кандидатов</a:t>
            </a:r>
          </a:p>
        </p:txBody>
      </p:sp>
      <p:sp>
        <p:nvSpPr>
          <p:cNvPr id="10" name="TextBox 9"/>
          <p:cNvSpPr txBox="1"/>
          <p:nvPr/>
        </p:nvSpPr>
        <p:spPr>
          <a:xfrm>
            <a:off x="8732519" y="2697480"/>
            <a:ext cx="178536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яблоко</a:t>
            </a:r>
          </a:p>
        </p:txBody>
      </p:sp>
      <p:sp>
        <p:nvSpPr>
          <p:cNvPr id="11" name="TextBox 10"/>
          <p:cNvSpPr txBox="1"/>
          <p:nvPr/>
        </p:nvSpPr>
        <p:spPr>
          <a:xfrm>
            <a:off x="10335006" y="2697480"/>
            <a:ext cx="1298448" cy="411480"/>
          </a:xfrm>
          <a:prstGeom prst="rect">
            <a:avLst/>
          </a:prstGeom>
          <a:noFill/>
        </p:spPr>
        <p:txBody>
          <a:bodyPr wrap="square" lIns="0" rIns="0" tIns="0" bIns="0" anchor="ctr">
            <a:spAutoFit/>
          </a:bodyPr>
          <a:lstStyle/>
          <a:p>
            <a:pPr algn="r">
              <a:lnSpc>
                <a:spcPct val="115000"/>
              </a:lnSpc>
            </a:pPr>
            <a:r>
              <a:rPr sz="1600" b="1" i="0">
                <a:solidFill>
                  <a:srgbClr val="F0AB00"/>
                </a:solidFill>
                <a:latin typeface="Arial"/>
              </a:rPr>
              <a:t>0.32</a:t>
            </a:r>
          </a:p>
        </p:txBody>
      </p:sp>
      <p:sp>
        <p:nvSpPr>
          <p:cNvPr id="12" name="TextBox 11"/>
          <p:cNvSpPr txBox="1"/>
          <p:nvPr/>
        </p:nvSpPr>
        <p:spPr>
          <a:xfrm>
            <a:off x="8732519" y="3200400"/>
            <a:ext cx="178536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пиццу</a:t>
            </a:r>
          </a:p>
        </p:txBody>
      </p:sp>
      <p:sp>
        <p:nvSpPr>
          <p:cNvPr id="13" name="TextBox 12"/>
          <p:cNvSpPr txBox="1"/>
          <p:nvPr/>
        </p:nvSpPr>
        <p:spPr>
          <a:xfrm>
            <a:off x="10335006" y="3200400"/>
            <a:ext cx="1298448" cy="41148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0.19</a:t>
            </a:r>
          </a:p>
        </p:txBody>
      </p:sp>
      <p:sp>
        <p:nvSpPr>
          <p:cNvPr id="14" name="TextBox 13"/>
          <p:cNvSpPr txBox="1"/>
          <p:nvPr/>
        </p:nvSpPr>
        <p:spPr>
          <a:xfrm>
            <a:off x="8732519" y="3703320"/>
            <a:ext cx="178536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салат</a:t>
            </a:r>
          </a:p>
        </p:txBody>
      </p:sp>
      <p:sp>
        <p:nvSpPr>
          <p:cNvPr id="15" name="TextBox 14"/>
          <p:cNvSpPr txBox="1"/>
          <p:nvPr/>
        </p:nvSpPr>
        <p:spPr>
          <a:xfrm>
            <a:off x="10335006" y="3703320"/>
            <a:ext cx="1298448" cy="41148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0.14</a:t>
            </a:r>
          </a:p>
        </p:txBody>
      </p:sp>
      <p:sp>
        <p:nvSpPr>
          <p:cNvPr id="16" name="TextBox 15"/>
          <p:cNvSpPr txBox="1"/>
          <p:nvPr/>
        </p:nvSpPr>
        <p:spPr>
          <a:xfrm>
            <a:off x="8732519" y="4206240"/>
            <a:ext cx="178536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булочку</a:t>
            </a:r>
          </a:p>
        </p:txBody>
      </p:sp>
      <p:sp>
        <p:nvSpPr>
          <p:cNvPr id="17" name="TextBox 16"/>
          <p:cNvSpPr txBox="1"/>
          <p:nvPr/>
        </p:nvSpPr>
        <p:spPr>
          <a:xfrm>
            <a:off x="10335006" y="4206240"/>
            <a:ext cx="1298448" cy="41148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0.11</a:t>
            </a:r>
          </a:p>
        </p:txBody>
      </p:sp>
      <p:sp>
        <p:nvSpPr>
          <p:cNvPr id="18" name="TextBox 17"/>
          <p:cNvSpPr txBox="1"/>
          <p:nvPr/>
        </p:nvSpPr>
        <p:spPr>
          <a:xfrm>
            <a:off x="8732519" y="4709160"/>
            <a:ext cx="178536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огурец</a:t>
            </a:r>
          </a:p>
        </p:txBody>
      </p:sp>
      <p:sp>
        <p:nvSpPr>
          <p:cNvPr id="19" name="TextBox 18"/>
          <p:cNvSpPr txBox="1"/>
          <p:nvPr/>
        </p:nvSpPr>
        <p:spPr>
          <a:xfrm>
            <a:off x="10335006" y="4709160"/>
            <a:ext cx="1298448" cy="41148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0.08</a:t>
            </a:r>
          </a:p>
        </p:txBody>
      </p:sp>
      <p:sp>
        <p:nvSpPr>
          <p:cNvPr id="20" name="TextBox 19"/>
          <p:cNvSpPr txBox="1"/>
          <p:nvPr/>
        </p:nvSpPr>
        <p:spPr>
          <a:xfrm>
            <a:off x="8732519" y="5349240"/>
            <a:ext cx="2880360" cy="411480"/>
          </a:xfrm>
          <a:prstGeom prst="rect">
            <a:avLst/>
          </a:prstGeom>
          <a:noFill/>
        </p:spPr>
        <p:txBody>
          <a:bodyPr wrap="square" lIns="0" rIns="0" tIns="0" bIns="0" anchor="t">
            <a:spAutoFit/>
          </a:bodyPr>
          <a:lstStyle/>
          <a:p>
            <a:pPr algn="l">
              <a:lnSpc>
                <a:spcPct val="120000"/>
              </a:lnSpc>
            </a:pPr>
            <a:r>
              <a:rPr sz="1100" b="0" i="1">
                <a:solidFill>
                  <a:srgbClr val="1C7293"/>
                </a:solidFill>
                <a:latin typeface="Arial"/>
              </a:rPr>
              <a:t>… остальные ~200k
токенов: каждый &lt;0.05
Σ = 1</a:t>
            </a:r>
          </a:p>
        </p:txBody>
      </p:sp>
      <p:sp>
        <p:nvSpPr>
          <p:cNvPr id="21" name="Rounded Rectangle 20"/>
          <p:cNvSpPr/>
          <p:nvPr/>
        </p:nvSpPr>
        <p:spPr>
          <a:xfrm>
            <a:off x="502920" y="598932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06247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Сэмплинг = правило, по которому из распределения выбирается один токен. Дальше — температура.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Температура: насколько острым будет выбор</a:t>
            </a:r>
          </a:p>
        </p:txBody>
      </p:sp>
      <p:sp>
        <p:nvSpPr>
          <p:cNvPr id="3" name="TextBox 2"/>
          <p:cNvSpPr txBox="1"/>
          <p:nvPr/>
        </p:nvSpPr>
        <p:spPr>
          <a:xfrm>
            <a:off x="502920" y="128016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T=0 (argmax) · T=0.7 (стандарт) · T=2.0 (хаос) — 3-е из 3 «почему» Лекции 1 §5.3</a:t>
            </a:r>
          </a:p>
        </p:txBody>
      </p:sp>
      <p:sp>
        <p:nvSpPr>
          <p:cNvPr id="4" name="Rounded Rectangle 3"/>
          <p:cNvSpPr/>
          <p:nvPr/>
        </p:nvSpPr>
        <p:spPr>
          <a:xfrm>
            <a:off x="502920" y="1783080"/>
            <a:ext cx="3749039" cy="3474720"/>
          </a:xfrm>
          <a:prstGeom prst="roundRect">
            <a:avLst>
              <a:gd name="adj" fmla="val 8771"/>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92807"/>
            <a:ext cx="3383279" cy="365760"/>
          </a:xfrm>
          <a:prstGeom prst="rect">
            <a:avLst/>
          </a:prstGeom>
          <a:noFill/>
        </p:spPr>
        <p:txBody>
          <a:bodyPr wrap="square" lIns="0" rIns="0" tIns="0" bIns="0" anchor="t">
            <a:spAutoFit/>
          </a:bodyPr>
          <a:lstStyle/>
          <a:p>
            <a:pPr algn="ctr">
              <a:lnSpc>
                <a:spcPct val="115000"/>
              </a:lnSpc>
            </a:pPr>
            <a:r>
              <a:rPr sz="1600" b="1" i="0">
                <a:solidFill>
                  <a:srgbClr val="F0AB00"/>
                </a:solidFill>
                <a:latin typeface="Arial"/>
              </a:rPr>
              <a:t>T = 0  ·  argmax</a:t>
            </a:r>
          </a:p>
        </p:txBody>
      </p:sp>
      <p:pic>
        <p:nvPicPr>
          <p:cNvPr id="6" name="Picture 5" descr="s19-T0.png"/>
          <p:cNvPicPr>
            <a:picLocks noChangeAspect="1"/>
          </p:cNvPicPr>
          <p:nvPr/>
        </p:nvPicPr>
        <p:blipFill>
          <a:blip r:embed="rId2"/>
          <a:stretch>
            <a:fillRect/>
          </a:stretch>
        </p:blipFill>
        <p:spPr>
          <a:xfrm>
            <a:off x="777240" y="2331720"/>
            <a:ext cx="3200399" cy="1920240"/>
          </a:xfrm>
          <a:prstGeom prst="rect">
            <a:avLst/>
          </a:prstGeom>
        </p:spPr>
      </p:pic>
      <p:sp>
        <p:nvSpPr>
          <p:cNvPr id="7" name="TextBox 6"/>
          <p:cNvSpPr txBox="1"/>
          <p:nvPr/>
        </p:nvSpPr>
        <p:spPr>
          <a:xfrm>
            <a:off x="685800" y="4389120"/>
            <a:ext cx="3383279" cy="868680"/>
          </a:xfrm>
          <a:prstGeom prst="rect">
            <a:avLst/>
          </a:prstGeom>
          <a:noFill/>
        </p:spPr>
        <p:txBody>
          <a:bodyPr wrap="square" lIns="0" rIns="0" tIns="0" bIns="0" anchor="t">
            <a:spAutoFit/>
          </a:bodyPr>
          <a:lstStyle/>
          <a:p>
            <a:pPr algn="ctr">
              <a:lnSpc>
                <a:spcPct val="130000"/>
              </a:lnSpc>
            </a:pPr>
            <a:r>
              <a:rPr sz="1200" b="0" i="1">
                <a:solidFill>
                  <a:srgbClr val="21295C"/>
                </a:solidFill>
                <a:latin typeface="Arial"/>
              </a:rPr>
              <a:t>Детерминированный
выбор — яблоко.
10 запусков → одинаково.</a:t>
            </a:r>
          </a:p>
        </p:txBody>
      </p:sp>
      <p:sp>
        <p:nvSpPr>
          <p:cNvPr id="8" name="Rounded Rectangle 7"/>
          <p:cNvSpPr/>
          <p:nvPr/>
        </p:nvSpPr>
        <p:spPr>
          <a:xfrm>
            <a:off x="4343399" y="1783080"/>
            <a:ext cx="3749039" cy="3474720"/>
          </a:xfrm>
          <a:prstGeom prst="roundRect">
            <a:avLst>
              <a:gd name="adj" fmla="val 87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79" y="1892807"/>
            <a:ext cx="3383279" cy="365760"/>
          </a:xfrm>
          <a:prstGeom prst="rect">
            <a:avLst/>
          </a:prstGeom>
          <a:noFill/>
        </p:spPr>
        <p:txBody>
          <a:bodyPr wrap="square" lIns="0" rIns="0" tIns="0" bIns="0" anchor="t">
            <a:spAutoFit/>
          </a:bodyPr>
          <a:lstStyle/>
          <a:p>
            <a:pPr algn="ctr">
              <a:lnSpc>
                <a:spcPct val="115000"/>
              </a:lnSpc>
            </a:pPr>
            <a:r>
              <a:rPr sz="1600" b="1" i="0">
                <a:solidFill>
                  <a:srgbClr val="065A82"/>
                </a:solidFill>
                <a:latin typeface="Arial"/>
              </a:rPr>
              <a:t>T = 0.7  ·  стандарт</a:t>
            </a:r>
          </a:p>
        </p:txBody>
      </p:sp>
      <p:pic>
        <p:nvPicPr>
          <p:cNvPr id="10" name="Picture 9" descr="s19-T1.png"/>
          <p:cNvPicPr>
            <a:picLocks noChangeAspect="1"/>
          </p:cNvPicPr>
          <p:nvPr/>
        </p:nvPicPr>
        <p:blipFill>
          <a:blip r:embed="rId3"/>
          <a:stretch>
            <a:fillRect/>
          </a:stretch>
        </p:blipFill>
        <p:spPr>
          <a:xfrm>
            <a:off x="4617719" y="2331720"/>
            <a:ext cx="3200399" cy="1920240"/>
          </a:xfrm>
          <a:prstGeom prst="rect">
            <a:avLst/>
          </a:prstGeom>
        </p:spPr>
      </p:pic>
      <p:sp>
        <p:nvSpPr>
          <p:cNvPr id="11" name="TextBox 10"/>
          <p:cNvSpPr txBox="1"/>
          <p:nvPr/>
        </p:nvSpPr>
        <p:spPr>
          <a:xfrm>
            <a:off x="4526279" y="4389120"/>
            <a:ext cx="3383279" cy="868680"/>
          </a:xfrm>
          <a:prstGeom prst="rect">
            <a:avLst/>
          </a:prstGeom>
          <a:noFill/>
        </p:spPr>
        <p:txBody>
          <a:bodyPr wrap="square" lIns="0" rIns="0" tIns="0" bIns="0" anchor="t">
            <a:spAutoFit/>
          </a:bodyPr>
          <a:lstStyle/>
          <a:p>
            <a:pPr algn="ctr">
              <a:lnSpc>
                <a:spcPct val="130000"/>
              </a:lnSpc>
            </a:pPr>
            <a:r>
              <a:rPr sz="1200" b="0" i="1">
                <a:solidFill>
                  <a:srgbClr val="21295C"/>
                </a:solidFill>
                <a:latin typeface="Arial"/>
              </a:rPr>
              <a:t>Сэмплирование
пропорционально P.
Естественная вариативность.</a:t>
            </a:r>
          </a:p>
        </p:txBody>
      </p:sp>
      <p:sp>
        <p:nvSpPr>
          <p:cNvPr id="12" name="Rounded Rectangle 11"/>
          <p:cNvSpPr/>
          <p:nvPr/>
        </p:nvSpPr>
        <p:spPr>
          <a:xfrm>
            <a:off x="8183879" y="1783080"/>
            <a:ext cx="3749039" cy="3474720"/>
          </a:xfrm>
          <a:prstGeom prst="roundRect">
            <a:avLst>
              <a:gd name="adj" fmla="val 87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59" y="1892807"/>
            <a:ext cx="3383279" cy="365760"/>
          </a:xfrm>
          <a:prstGeom prst="rect">
            <a:avLst/>
          </a:prstGeom>
          <a:noFill/>
        </p:spPr>
        <p:txBody>
          <a:bodyPr wrap="square" lIns="0" rIns="0" tIns="0" bIns="0" anchor="t">
            <a:spAutoFit/>
          </a:bodyPr>
          <a:lstStyle/>
          <a:p>
            <a:pPr algn="ctr">
              <a:lnSpc>
                <a:spcPct val="115000"/>
              </a:lnSpc>
            </a:pPr>
            <a:r>
              <a:rPr sz="1600" b="1" i="0">
                <a:solidFill>
                  <a:srgbClr val="028090"/>
                </a:solidFill>
                <a:latin typeface="Arial"/>
              </a:rPr>
              <a:t>T = 2.0  ·  хаос</a:t>
            </a:r>
          </a:p>
        </p:txBody>
      </p:sp>
      <p:pic>
        <p:nvPicPr>
          <p:cNvPr id="14" name="Picture 13" descr="s19-T2.png"/>
          <p:cNvPicPr>
            <a:picLocks noChangeAspect="1"/>
          </p:cNvPicPr>
          <p:nvPr/>
        </p:nvPicPr>
        <p:blipFill>
          <a:blip r:embed="rId4"/>
          <a:stretch>
            <a:fillRect/>
          </a:stretch>
        </p:blipFill>
        <p:spPr>
          <a:xfrm>
            <a:off x="8458200" y="2331720"/>
            <a:ext cx="3200399" cy="1920240"/>
          </a:xfrm>
          <a:prstGeom prst="rect">
            <a:avLst/>
          </a:prstGeom>
        </p:spPr>
      </p:pic>
      <p:sp>
        <p:nvSpPr>
          <p:cNvPr id="15" name="TextBox 14"/>
          <p:cNvSpPr txBox="1"/>
          <p:nvPr/>
        </p:nvSpPr>
        <p:spPr>
          <a:xfrm>
            <a:off x="8366759" y="4389120"/>
            <a:ext cx="3383279" cy="868680"/>
          </a:xfrm>
          <a:prstGeom prst="rect">
            <a:avLst/>
          </a:prstGeom>
          <a:noFill/>
        </p:spPr>
        <p:txBody>
          <a:bodyPr wrap="square" lIns="0" rIns="0" tIns="0" bIns="0" anchor="t">
            <a:spAutoFit/>
          </a:bodyPr>
          <a:lstStyle/>
          <a:p>
            <a:pPr algn="ctr">
              <a:lnSpc>
                <a:spcPct val="130000"/>
              </a:lnSpc>
            </a:pPr>
            <a:r>
              <a:rPr sz="1200" b="0" i="1">
                <a:solidFill>
                  <a:srgbClr val="21295C"/>
                </a:solidFill>
                <a:latin typeface="Arial"/>
              </a:rPr>
              <a:t>Распределение сглажено;
часто выбираются
неожиданные варианты.</a:t>
            </a:r>
          </a:p>
        </p:txBody>
      </p:sp>
      <p:sp>
        <p:nvSpPr>
          <p:cNvPr id="16" name="Rounded Rectangle 15"/>
          <p:cNvSpPr/>
          <p:nvPr/>
        </p:nvSpPr>
        <p:spPr>
          <a:xfrm>
            <a:off x="502920" y="5440680"/>
            <a:ext cx="11247120" cy="64008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5513832"/>
            <a:ext cx="10917936" cy="493775"/>
          </a:xfrm>
          <a:prstGeom prst="rect">
            <a:avLst/>
          </a:prstGeom>
          <a:noFill/>
        </p:spPr>
        <p:txBody>
          <a:bodyPr wrap="square" lIns="0" rIns="0" tIns="0" bIns="0" anchor="ctr">
            <a:spAutoFit/>
          </a:bodyPr>
          <a:lstStyle/>
          <a:p>
            <a:pPr algn="l">
              <a:lnSpc>
                <a:spcPct val="125000"/>
              </a:lnSpc>
            </a:pPr>
            <a:r>
              <a:rPr sz="1400" b="0" i="0">
                <a:solidFill>
                  <a:srgbClr val="21295C"/>
                </a:solidFill>
                <a:latin typeface="Arial"/>
              </a:rPr>
              <a:t>Альтернативные ручки: top-p (nucleus) отрезает редкие токены по Σ; top-k — по числу кандидатов. Достаточно T для start, top-p/k — для тонкой настройки.</a:t>
            </a:r>
          </a:p>
        </p:txBody>
      </p:sp>
      <p:sp>
        <p:nvSpPr>
          <p:cNvPr id="18" name="Rounded Rectangle 17"/>
          <p:cNvSpPr/>
          <p:nvPr/>
        </p:nvSpPr>
        <p:spPr>
          <a:xfrm>
            <a:off x="502920" y="6217920"/>
            <a:ext cx="11247120" cy="4114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6291072"/>
            <a:ext cx="10881360" cy="265176"/>
          </a:xfrm>
          <a:prstGeom prst="rect">
            <a:avLst/>
          </a:prstGeom>
          <a:noFill/>
        </p:spPr>
        <p:txBody>
          <a:bodyPr wrap="square" lIns="0" rIns="0" tIns="0" bIns="0" anchor="ctr">
            <a:spAutoFit/>
          </a:bodyPr>
          <a:lstStyle/>
          <a:p>
            <a:pPr algn="l">
              <a:lnSpc>
                <a:spcPct val="125000"/>
              </a:lnSpc>
            </a:pPr>
            <a:r>
              <a:rPr sz="1300" b="1" i="0">
                <a:solidFill>
                  <a:srgbClr val="21295C"/>
                </a:solidFill>
                <a:latin typeface="Arial"/>
              </a:rPr>
              <a:t>3-е из 3 «почему» Лекции 1 §5.3: стохастический сэмплинг при T&gt;0 даёт разные ответы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4 ручки API под задачу: temperature, top_p, max_tokens, system prompt</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LO4 — подобрать параметры под сценарий обоснованно</a:t>
            </a:r>
          </a:p>
        </p:txBody>
      </p:sp>
      <p:sp>
        <p:nvSpPr>
          <p:cNvPr id="4" name="Rounded Rectangle 3"/>
          <p:cNvSpPr/>
          <p:nvPr/>
        </p:nvSpPr>
        <p:spPr>
          <a:xfrm>
            <a:off x="502920" y="1874519"/>
            <a:ext cx="1124712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11680"/>
            <a:ext cx="27432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11680"/>
            <a:ext cx="265176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Сценарий</a:t>
            </a:r>
          </a:p>
        </p:txBody>
      </p:sp>
      <p:sp>
        <p:nvSpPr>
          <p:cNvPr id="7" name="Rectangle 6"/>
          <p:cNvSpPr/>
          <p:nvPr/>
        </p:nvSpPr>
        <p:spPr>
          <a:xfrm>
            <a:off x="33832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temperature</a:t>
            </a:r>
          </a:p>
        </p:txBody>
      </p:sp>
      <p:sp>
        <p:nvSpPr>
          <p:cNvPr id="9" name="Rectangle 8"/>
          <p:cNvSpPr/>
          <p:nvPr/>
        </p:nvSpPr>
        <p:spPr>
          <a:xfrm>
            <a:off x="4937760" y="2011680"/>
            <a:ext cx="118872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83480" y="2011680"/>
            <a:ext cx="109728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top_p</a:t>
            </a:r>
          </a:p>
        </p:txBody>
      </p:sp>
      <p:sp>
        <p:nvSpPr>
          <p:cNvPr id="11" name="Rectangle 10"/>
          <p:cNvSpPr/>
          <p:nvPr/>
        </p:nvSpPr>
        <p:spPr>
          <a:xfrm>
            <a:off x="61264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max_tokens</a:t>
            </a:r>
          </a:p>
        </p:txBody>
      </p:sp>
      <p:sp>
        <p:nvSpPr>
          <p:cNvPr id="13" name="Rectangle 12"/>
          <p:cNvSpPr/>
          <p:nvPr/>
        </p:nvSpPr>
        <p:spPr>
          <a:xfrm>
            <a:off x="7680960" y="2011680"/>
            <a:ext cx="3840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80" y="2011680"/>
            <a:ext cx="374904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system_prompt</a:t>
            </a:r>
          </a:p>
        </p:txBody>
      </p:sp>
      <p:sp>
        <p:nvSpPr>
          <p:cNvPr id="15" name="Rectangle 14"/>
          <p:cNvSpPr/>
          <p:nvPr/>
        </p:nvSpPr>
        <p:spPr>
          <a:xfrm>
            <a:off x="640080" y="251460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37760" y="251460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80960" y="251460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19" y="251460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Классификация / точное извлечение</a:t>
            </a:r>
          </a:p>
        </p:txBody>
      </p:sp>
      <p:sp>
        <p:nvSpPr>
          <p:cNvPr id="21" name="TextBox 20"/>
          <p:cNvSpPr txBox="1"/>
          <p:nvPr/>
        </p:nvSpPr>
        <p:spPr>
          <a:xfrm>
            <a:off x="3474720" y="2514600"/>
            <a:ext cx="1371600" cy="777240"/>
          </a:xfrm>
          <a:prstGeom prst="rect">
            <a:avLst/>
          </a:prstGeom>
          <a:noFill/>
        </p:spPr>
        <p:txBody>
          <a:bodyPr wrap="square" lIns="0" rIns="0" tIns="0" bIns="0" anchor="ctr">
            <a:spAutoFit/>
          </a:bodyPr>
          <a:lstStyle/>
          <a:p>
            <a:pPr algn="ctr">
              <a:lnSpc>
                <a:spcPct val="118000"/>
              </a:lnSpc>
            </a:pPr>
            <a:r>
              <a:rPr sz="1500" b="1" i="0">
                <a:solidFill>
                  <a:srgbClr val="F0AB00"/>
                </a:solidFill>
                <a:latin typeface="Arial"/>
              </a:rPr>
              <a:t>0</a:t>
            </a:r>
          </a:p>
        </p:txBody>
      </p:sp>
      <p:sp>
        <p:nvSpPr>
          <p:cNvPr id="22" name="TextBox 21"/>
          <p:cNvSpPr txBox="1"/>
          <p:nvPr/>
        </p:nvSpPr>
        <p:spPr>
          <a:xfrm>
            <a:off x="5029200" y="251460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a:t>
            </a:r>
          </a:p>
        </p:txBody>
      </p:sp>
      <p:sp>
        <p:nvSpPr>
          <p:cNvPr id="23" name="TextBox 22"/>
          <p:cNvSpPr txBox="1"/>
          <p:nvPr/>
        </p:nvSpPr>
        <p:spPr>
          <a:xfrm>
            <a:off x="6217920" y="251460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50–200</a:t>
            </a:r>
          </a:p>
        </p:txBody>
      </p:sp>
      <p:sp>
        <p:nvSpPr>
          <p:cNvPr id="24" name="TextBox 23"/>
          <p:cNvSpPr txBox="1"/>
          <p:nvPr/>
        </p:nvSpPr>
        <p:spPr>
          <a:xfrm>
            <a:off x="7772400" y="251460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Минимальный, со схемой выхода</a:t>
            </a:r>
          </a:p>
        </p:txBody>
      </p:sp>
      <p:sp>
        <p:nvSpPr>
          <p:cNvPr id="25" name="Rectangle 24"/>
          <p:cNvSpPr/>
          <p:nvPr/>
        </p:nvSpPr>
        <p:spPr>
          <a:xfrm>
            <a:off x="640080" y="329184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832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937760" y="329184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64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80960" y="329184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19" y="329184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Кодогенерация</a:t>
            </a:r>
          </a:p>
        </p:txBody>
      </p:sp>
      <p:sp>
        <p:nvSpPr>
          <p:cNvPr id="31" name="TextBox 30"/>
          <p:cNvSpPr txBox="1"/>
          <p:nvPr/>
        </p:nvSpPr>
        <p:spPr>
          <a:xfrm>
            <a:off x="3474720" y="329184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0.2–0.3</a:t>
            </a:r>
          </a:p>
        </p:txBody>
      </p:sp>
      <p:sp>
        <p:nvSpPr>
          <p:cNvPr id="32" name="TextBox 31"/>
          <p:cNvSpPr txBox="1"/>
          <p:nvPr/>
        </p:nvSpPr>
        <p:spPr>
          <a:xfrm>
            <a:off x="5029200" y="329184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33" name="TextBox 32"/>
          <p:cNvSpPr txBox="1"/>
          <p:nvPr/>
        </p:nvSpPr>
        <p:spPr>
          <a:xfrm>
            <a:off x="6217920" y="329184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1000+</a:t>
            </a:r>
          </a:p>
        </p:txBody>
      </p:sp>
      <p:sp>
        <p:nvSpPr>
          <p:cNvPr id="34" name="TextBox 33"/>
          <p:cNvSpPr txBox="1"/>
          <p:nvPr/>
        </p:nvSpPr>
        <p:spPr>
          <a:xfrm>
            <a:off x="7772400" y="329184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контекст репозитория</a:t>
            </a:r>
          </a:p>
        </p:txBody>
      </p:sp>
      <p:sp>
        <p:nvSpPr>
          <p:cNvPr id="35" name="Rectangle 34"/>
          <p:cNvSpPr/>
          <p:nvPr/>
        </p:nvSpPr>
        <p:spPr>
          <a:xfrm>
            <a:off x="640080" y="406908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3832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37760" y="406908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264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680960" y="406908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19" y="406908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Чат-объяснение пользователю</a:t>
            </a:r>
          </a:p>
        </p:txBody>
      </p:sp>
      <p:sp>
        <p:nvSpPr>
          <p:cNvPr id="41" name="TextBox 40"/>
          <p:cNvSpPr txBox="1"/>
          <p:nvPr/>
        </p:nvSpPr>
        <p:spPr>
          <a:xfrm>
            <a:off x="3474720" y="406908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0.7</a:t>
            </a:r>
          </a:p>
        </p:txBody>
      </p:sp>
      <p:sp>
        <p:nvSpPr>
          <p:cNvPr id="42" name="TextBox 41"/>
          <p:cNvSpPr txBox="1"/>
          <p:nvPr/>
        </p:nvSpPr>
        <p:spPr>
          <a:xfrm>
            <a:off x="5029200" y="406908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43" name="TextBox 42"/>
          <p:cNvSpPr txBox="1"/>
          <p:nvPr/>
        </p:nvSpPr>
        <p:spPr>
          <a:xfrm>
            <a:off x="6217920" y="406908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500–1000</a:t>
            </a:r>
          </a:p>
        </p:txBody>
      </p:sp>
      <p:sp>
        <p:nvSpPr>
          <p:cNvPr id="44" name="TextBox 43"/>
          <p:cNvSpPr txBox="1"/>
          <p:nvPr/>
        </p:nvSpPr>
        <p:spPr>
          <a:xfrm>
            <a:off x="7772400" y="406908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аудитории</a:t>
            </a:r>
          </a:p>
        </p:txBody>
      </p:sp>
      <p:sp>
        <p:nvSpPr>
          <p:cNvPr id="45" name="Rectangle 44"/>
          <p:cNvSpPr/>
          <p:nvPr/>
        </p:nvSpPr>
        <p:spPr>
          <a:xfrm>
            <a:off x="640080" y="484632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3832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937760" y="484632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64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80960" y="484632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19" y="484632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Творческое письмо</a:t>
            </a:r>
          </a:p>
        </p:txBody>
      </p:sp>
      <p:sp>
        <p:nvSpPr>
          <p:cNvPr id="51" name="TextBox 50"/>
          <p:cNvSpPr txBox="1"/>
          <p:nvPr/>
        </p:nvSpPr>
        <p:spPr>
          <a:xfrm>
            <a:off x="3474720" y="4846320"/>
            <a:ext cx="1371600" cy="777240"/>
          </a:xfrm>
          <a:prstGeom prst="rect">
            <a:avLst/>
          </a:prstGeom>
          <a:noFill/>
        </p:spPr>
        <p:txBody>
          <a:bodyPr wrap="square" lIns="0" rIns="0" tIns="0" bIns="0" anchor="ctr">
            <a:spAutoFit/>
          </a:bodyPr>
          <a:lstStyle/>
          <a:p>
            <a:pPr algn="ctr">
              <a:lnSpc>
                <a:spcPct val="118000"/>
              </a:lnSpc>
            </a:pPr>
            <a:r>
              <a:rPr sz="1500" b="1" i="0">
                <a:solidFill>
                  <a:srgbClr val="028090"/>
                </a:solidFill>
                <a:latin typeface="Arial"/>
              </a:rPr>
              <a:t>0.9–1.2</a:t>
            </a:r>
          </a:p>
        </p:txBody>
      </p:sp>
      <p:sp>
        <p:nvSpPr>
          <p:cNvPr id="52" name="TextBox 51"/>
          <p:cNvSpPr txBox="1"/>
          <p:nvPr/>
        </p:nvSpPr>
        <p:spPr>
          <a:xfrm>
            <a:off x="5029200" y="484632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0.95</a:t>
            </a:r>
          </a:p>
        </p:txBody>
      </p:sp>
      <p:sp>
        <p:nvSpPr>
          <p:cNvPr id="53" name="TextBox 52"/>
          <p:cNvSpPr txBox="1"/>
          <p:nvPr/>
        </p:nvSpPr>
        <p:spPr>
          <a:xfrm>
            <a:off x="6217920" y="484632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2000+</a:t>
            </a:r>
          </a:p>
        </p:txBody>
      </p:sp>
      <p:sp>
        <p:nvSpPr>
          <p:cNvPr id="54" name="TextBox 53"/>
          <p:cNvSpPr txBox="1"/>
          <p:nvPr/>
        </p:nvSpPr>
        <p:spPr>
          <a:xfrm>
            <a:off x="7772400" y="484632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стиля</a:t>
            </a:r>
          </a:p>
        </p:txBody>
      </p:sp>
      <p:sp>
        <p:nvSpPr>
          <p:cNvPr id="55" name="TextBox 54"/>
          <p:cNvSpPr txBox="1"/>
          <p:nvPr/>
        </p:nvSpPr>
        <p:spPr>
          <a:xfrm>
            <a:off x="502920" y="6172200"/>
            <a:ext cx="11247120" cy="457200"/>
          </a:xfrm>
          <a:prstGeom prst="rect">
            <a:avLst/>
          </a:prstGeom>
          <a:noFill/>
        </p:spPr>
        <p:txBody>
          <a:bodyPr wrap="square" lIns="0" rIns="0" tIns="0" bIns="0" anchor="t">
            <a:spAutoFit/>
          </a:bodyPr>
          <a:lstStyle/>
          <a:p>
            <a:pPr algn="ctr">
              <a:lnSpc>
                <a:spcPct val="130000"/>
              </a:lnSpc>
            </a:pPr>
            <a:r>
              <a:rPr sz="1100" b="0" i="1">
                <a:solidFill>
                  <a:srgbClr val="1C7293"/>
                </a:solidFill>
                <a:latin typeface="Arial"/>
              </a:rPr>
              <a:t>T = 0 практически детерминирует выбор; в production возможна микро-вариативность из-за batching — для большинства задач игнорируема.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Loop: предсказали токен → добавили в контекст → предсказываем следующий</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Авторегрессионная генерация — длинный ответ из stateless-вызовов</a:t>
            </a:r>
          </a:p>
        </p:txBody>
      </p:sp>
      <p:sp>
        <p:nvSpPr>
          <p:cNvPr id="4" name="Rounded Rectangle 3"/>
          <p:cNvSpPr/>
          <p:nvPr/>
        </p:nvSpPr>
        <p:spPr>
          <a:xfrm>
            <a:off x="502920" y="2194560"/>
            <a:ext cx="2139696" cy="237744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331720"/>
            <a:ext cx="1956816" cy="86868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(1) Текущий
контекст</a:t>
            </a:r>
          </a:p>
        </p:txBody>
      </p:sp>
      <p:sp>
        <p:nvSpPr>
          <p:cNvPr id="6" name="TextBox 5"/>
          <p:cNvSpPr txBox="1"/>
          <p:nvPr/>
        </p:nvSpPr>
        <p:spPr>
          <a:xfrm>
            <a:off x="594360" y="3291839"/>
            <a:ext cx="1956816" cy="1188720"/>
          </a:xfrm>
          <a:prstGeom prst="rect">
            <a:avLst/>
          </a:prstGeom>
          <a:noFill/>
        </p:spPr>
        <p:txBody>
          <a:bodyPr wrap="square" lIns="0" rIns="0" tIns="0" bIns="0" anchor="t">
            <a:spAutoFit/>
          </a:bodyPr>
          <a:lstStyle/>
          <a:p>
            <a:pPr algn="ctr">
              <a:lnSpc>
                <a:spcPct val="130000"/>
              </a:lnSpc>
            </a:pPr>
            <a:r>
              <a:rPr sz="1200" b="0" i="1">
                <a:solidFill>
                  <a:srgbClr val="21295C"/>
                </a:solidFill>
                <a:latin typeface="Arial"/>
              </a:rPr>
              <a:t>system + история
+ запрос + already
сгенерированное</a:t>
            </a:r>
          </a:p>
        </p:txBody>
      </p:sp>
      <p:sp>
        <p:nvSpPr>
          <p:cNvPr id="7" name="Right Arrow 6"/>
          <p:cNvSpPr/>
          <p:nvPr/>
        </p:nvSpPr>
        <p:spPr>
          <a:xfrm>
            <a:off x="2651760" y="3246120"/>
            <a:ext cx="109728" cy="3200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79776" y="2194560"/>
            <a:ext cx="2139696" cy="2377440"/>
          </a:xfrm>
          <a:prstGeom prst="roundRect">
            <a:avLst>
              <a:gd name="adj" fmla="val 14245"/>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71216" y="2331720"/>
            <a:ext cx="1956816" cy="86868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(2) Forward pass</a:t>
            </a:r>
          </a:p>
        </p:txBody>
      </p:sp>
      <p:sp>
        <p:nvSpPr>
          <p:cNvPr id="10" name="TextBox 9"/>
          <p:cNvSpPr txBox="1"/>
          <p:nvPr/>
        </p:nvSpPr>
        <p:spPr>
          <a:xfrm>
            <a:off x="2871216" y="3291839"/>
            <a:ext cx="1956816" cy="1188720"/>
          </a:xfrm>
          <a:prstGeom prst="rect">
            <a:avLst/>
          </a:prstGeom>
          <a:noFill/>
        </p:spPr>
        <p:txBody>
          <a:bodyPr wrap="square" lIns="0" rIns="0" tIns="0" bIns="0" anchor="t">
            <a:spAutoFit/>
          </a:bodyPr>
          <a:lstStyle/>
          <a:p>
            <a:pPr algn="ctr">
              <a:lnSpc>
                <a:spcPct val="130000"/>
              </a:lnSpc>
            </a:pPr>
            <a:r>
              <a:rPr sz="1200" b="0" i="1">
                <a:solidFill>
                  <a:srgbClr val="21295C"/>
                </a:solidFill>
                <a:latin typeface="Arial"/>
              </a:rPr>
              <a:t>токенизация →
эмбеддинг →
attention</a:t>
            </a:r>
          </a:p>
        </p:txBody>
      </p:sp>
      <p:sp>
        <p:nvSpPr>
          <p:cNvPr id="11" name="Right Arrow 10"/>
          <p:cNvSpPr/>
          <p:nvPr/>
        </p:nvSpPr>
        <p:spPr>
          <a:xfrm>
            <a:off x="4928616" y="3246120"/>
            <a:ext cx="109728" cy="3200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56632" y="2194560"/>
            <a:ext cx="2139696" cy="237744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8072" y="2331720"/>
            <a:ext cx="1956816" cy="86868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(3) Distribution</a:t>
            </a:r>
          </a:p>
        </p:txBody>
      </p:sp>
      <p:sp>
        <p:nvSpPr>
          <p:cNvPr id="14" name="TextBox 13"/>
          <p:cNvSpPr txBox="1"/>
          <p:nvPr/>
        </p:nvSpPr>
        <p:spPr>
          <a:xfrm>
            <a:off x="5148072" y="3291839"/>
            <a:ext cx="1956816" cy="1188720"/>
          </a:xfrm>
          <a:prstGeom prst="rect">
            <a:avLst/>
          </a:prstGeom>
          <a:noFill/>
        </p:spPr>
        <p:txBody>
          <a:bodyPr wrap="square" lIns="0" rIns="0" tIns="0" bIns="0" anchor="t">
            <a:spAutoFit/>
          </a:bodyPr>
          <a:lstStyle/>
          <a:p>
            <a:pPr algn="ctr">
              <a:lnSpc>
                <a:spcPct val="130000"/>
              </a:lnSpc>
            </a:pPr>
            <a:r>
              <a:rPr sz="1200" b="0" i="1">
                <a:solidFill>
                  <a:srgbClr val="21295C"/>
                </a:solidFill>
                <a:latin typeface="Arial"/>
              </a:rPr>
              <a:t>вероятности
на ~200k токенов
словаря</a:t>
            </a:r>
          </a:p>
        </p:txBody>
      </p:sp>
      <p:sp>
        <p:nvSpPr>
          <p:cNvPr id="15" name="Right Arrow 14"/>
          <p:cNvSpPr/>
          <p:nvPr/>
        </p:nvSpPr>
        <p:spPr>
          <a:xfrm>
            <a:off x="7205472" y="3246120"/>
            <a:ext cx="109728" cy="3200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33488" y="2194560"/>
            <a:ext cx="2139696" cy="237744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24928" y="2331720"/>
            <a:ext cx="1956816" cy="86868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(4) Сэмплинг</a:t>
            </a:r>
          </a:p>
        </p:txBody>
      </p:sp>
      <p:sp>
        <p:nvSpPr>
          <p:cNvPr id="18" name="TextBox 17"/>
          <p:cNvSpPr txBox="1"/>
          <p:nvPr/>
        </p:nvSpPr>
        <p:spPr>
          <a:xfrm>
            <a:off x="7424928" y="3291839"/>
            <a:ext cx="1956816" cy="1188720"/>
          </a:xfrm>
          <a:prstGeom prst="rect">
            <a:avLst/>
          </a:prstGeom>
          <a:noFill/>
        </p:spPr>
        <p:txBody>
          <a:bodyPr wrap="square" lIns="0" rIns="0" tIns="0" bIns="0" anchor="t">
            <a:spAutoFit/>
          </a:bodyPr>
          <a:lstStyle/>
          <a:p>
            <a:pPr algn="ctr">
              <a:lnSpc>
                <a:spcPct val="130000"/>
              </a:lnSpc>
            </a:pPr>
            <a:r>
              <a:rPr sz="1200" b="0" i="1">
                <a:solidFill>
                  <a:srgbClr val="21295C"/>
                </a:solidFill>
                <a:latin typeface="Arial"/>
              </a:rPr>
              <a:t>один токен
по правилу
T / top-p / top-k</a:t>
            </a:r>
          </a:p>
        </p:txBody>
      </p:sp>
      <p:sp>
        <p:nvSpPr>
          <p:cNvPr id="19" name="Right Arrow 18"/>
          <p:cNvSpPr/>
          <p:nvPr/>
        </p:nvSpPr>
        <p:spPr>
          <a:xfrm>
            <a:off x="9482328" y="3246120"/>
            <a:ext cx="109728" cy="3200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10344" y="2194560"/>
            <a:ext cx="2139696" cy="237744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01784" y="2331720"/>
            <a:ext cx="1956816" cy="86868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(5) Новый токен
добавлен в контекст</a:t>
            </a:r>
          </a:p>
        </p:txBody>
      </p:sp>
      <p:sp>
        <p:nvSpPr>
          <p:cNvPr id="22" name="TextBox 21"/>
          <p:cNvSpPr txBox="1"/>
          <p:nvPr/>
        </p:nvSpPr>
        <p:spPr>
          <a:xfrm>
            <a:off x="9701784" y="3291839"/>
            <a:ext cx="1956816" cy="1188720"/>
          </a:xfrm>
          <a:prstGeom prst="rect">
            <a:avLst/>
          </a:prstGeom>
          <a:noFill/>
        </p:spPr>
        <p:txBody>
          <a:bodyPr wrap="square" lIns="0" rIns="0" tIns="0" bIns="0" anchor="t">
            <a:spAutoFit/>
          </a:bodyPr>
          <a:lstStyle/>
          <a:p>
            <a:pPr algn="ctr">
              <a:lnSpc>
                <a:spcPct val="130000"/>
              </a:lnSpc>
            </a:pPr>
            <a:r>
              <a:rPr sz="1200" b="0" i="1">
                <a:solidFill>
                  <a:srgbClr val="21295C"/>
                </a:solidFill>
                <a:latin typeface="Arial"/>
              </a:rPr>
              <a:t>...и цикл
продолжается</a:t>
            </a:r>
          </a:p>
        </p:txBody>
      </p:sp>
      <p:sp>
        <p:nvSpPr>
          <p:cNvPr id="23" name="Rounded Rectangle 22"/>
          <p:cNvSpPr/>
          <p:nvPr/>
        </p:nvSpPr>
        <p:spPr>
          <a:xfrm>
            <a:off x="914400" y="4846320"/>
            <a:ext cx="10424160" cy="457200"/>
          </a:xfrm>
          <a:prstGeom prst="roundRect">
            <a:avLst>
              <a:gd name="adj" fmla="val 3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892040"/>
            <a:ext cx="10424160" cy="365760"/>
          </a:xfrm>
          <a:prstGeom prst="rect">
            <a:avLst/>
          </a:prstGeom>
          <a:noFill/>
        </p:spPr>
        <p:txBody>
          <a:bodyPr wrap="square" lIns="0" rIns="0" tIns="0" bIns="0" anchor="ctr">
            <a:spAutoFit/>
          </a:bodyPr>
          <a:lstStyle/>
          <a:p>
            <a:pPr algn="ctr">
              <a:lnSpc>
                <a:spcPct val="115000"/>
              </a:lnSpc>
            </a:pPr>
            <a:r>
              <a:rPr sz="1400" b="1" i="1">
                <a:solidFill>
                  <a:srgbClr val="065A82"/>
                </a:solidFill>
                <a:latin typeface="Arial"/>
              </a:rPr>
              <a:t>↺ возврат к шагу (1) — пока не дойдём до токена «конец ответа» ИЛИ до max_tokens</a:t>
            </a:r>
          </a:p>
        </p:txBody>
      </p:sp>
      <p:sp>
        <p:nvSpPr>
          <p:cNvPr id="25" name="TextBox 24"/>
          <p:cNvSpPr txBox="1"/>
          <p:nvPr/>
        </p:nvSpPr>
        <p:spPr>
          <a:xfrm>
            <a:off x="502920" y="6035040"/>
            <a:ext cx="11247120" cy="502920"/>
          </a:xfrm>
          <a:prstGeom prst="rect">
            <a:avLst/>
          </a:prstGeom>
          <a:noFill/>
        </p:spPr>
        <p:txBody>
          <a:bodyPr wrap="square" lIns="0" rIns="0" tIns="0" bIns="0" anchor="t">
            <a:spAutoFit/>
          </a:bodyPr>
          <a:lstStyle/>
          <a:p>
            <a:pPr algn="ctr">
              <a:lnSpc>
                <a:spcPct val="130000"/>
              </a:lnSpc>
            </a:pPr>
            <a:r>
              <a:rPr sz="1200" b="0" i="1">
                <a:solidFill>
                  <a:srgbClr val="1C7293"/>
                </a:solidFill>
                <a:latin typeface="Arial"/>
              </a:rPr>
              <a:t>Каждый шаг — stateless (callback Lec-1 §3.2). «Память» одного ответа несёт сам контекст, не модель.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Inference loop одинаков локально и в облаке — но размер модели определяет качество</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Архитектурно — тот же конвейер s05-s17. Различия — в размере и среде.</a:t>
            </a:r>
          </a:p>
        </p:txBody>
      </p:sp>
      <p:sp>
        <p:nvSpPr>
          <p:cNvPr id="4" name="Rounded Rectangle 3"/>
          <p:cNvSpPr/>
          <p:nvPr/>
        </p:nvSpPr>
        <p:spPr>
          <a:xfrm>
            <a:off x="502920" y="1920240"/>
            <a:ext cx="5486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057400"/>
            <a:ext cx="4937760" cy="45720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Local (Ollama, llama.cpp, LM Studio)</a:t>
            </a:r>
          </a:p>
        </p:txBody>
      </p:sp>
      <p:sp>
        <p:nvSpPr>
          <p:cNvPr id="6" name="TextBox 5"/>
          <p:cNvSpPr txBox="1"/>
          <p:nvPr/>
        </p:nvSpPr>
        <p:spPr>
          <a:xfrm>
            <a:off x="777240" y="2514600"/>
            <a:ext cx="4937760" cy="41148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Размер: 1–13B параметров</a:t>
            </a:r>
          </a:p>
        </p:txBody>
      </p:sp>
      <p:sp>
        <p:nvSpPr>
          <p:cNvPr id="7" name="TextBox 6"/>
          <p:cNvSpPr txBox="1"/>
          <p:nvPr/>
        </p:nvSpPr>
        <p:spPr>
          <a:xfrm>
            <a:off x="777240" y="2926080"/>
            <a:ext cx="4937760" cy="914400"/>
          </a:xfrm>
          <a:prstGeom prst="rect">
            <a:avLst/>
          </a:prstGeom>
          <a:noFill/>
        </p:spPr>
        <p:txBody>
          <a:bodyPr wrap="square" lIns="0" rIns="0" tIns="0" bIns="0" anchor="t">
            <a:spAutoFit/>
          </a:bodyPr>
          <a:lstStyle/>
          <a:p>
            <a:pPr algn="l">
              <a:lnSpc>
                <a:spcPct val="140000"/>
              </a:lnSpc>
            </a:pPr>
            <a:r>
              <a:rPr sz="1300" b="0" i="0">
                <a:solidFill>
                  <a:srgbClr val="21295C"/>
                </a:solidFill>
                <a:latin typeface="Liberation Mono"/>
              </a:rPr>
              <a:t>• Qwen 2.5 1.5B  · Llama 3.2 1B
• Llama 3.1 8B  · Mistral 7B</a:t>
            </a:r>
          </a:p>
        </p:txBody>
      </p:sp>
      <p:sp>
        <p:nvSpPr>
          <p:cNvPr id="8" name="Rounded Rectangle 7"/>
          <p:cNvSpPr/>
          <p:nvPr/>
        </p:nvSpPr>
        <p:spPr>
          <a:xfrm>
            <a:off x="777240" y="4133088"/>
            <a:ext cx="164592" cy="16459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023360"/>
            <a:ext cx="1920239" cy="365760"/>
          </a:xfrm>
          <a:prstGeom prst="rect">
            <a:avLst/>
          </a:prstGeom>
          <a:noFill/>
        </p:spPr>
        <p:txBody>
          <a:bodyPr wrap="square" lIns="0" rIns="0" tIns="0" bIns="0" anchor="ctr">
            <a:spAutoFit/>
          </a:bodyPr>
          <a:lstStyle/>
          <a:p>
            <a:pPr algn="l">
              <a:lnSpc>
                <a:spcPct val="115000"/>
              </a:lnSpc>
            </a:pPr>
            <a:r>
              <a:rPr sz="1300" b="1" i="0">
                <a:solidFill>
                  <a:srgbClr val="21295C"/>
                </a:solidFill>
                <a:latin typeface="Arial"/>
              </a:rPr>
              <a:t>Приватность</a:t>
            </a:r>
          </a:p>
        </p:txBody>
      </p:sp>
      <p:sp>
        <p:nvSpPr>
          <p:cNvPr id="10" name="TextBox 9"/>
          <p:cNvSpPr txBox="1"/>
          <p:nvPr/>
        </p:nvSpPr>
        <p:spPr>
          <a:xfrm>
            <a:off x="2971800" y="4023360"/>
            <a:ext cx="3017520" cy="365760"/>
          </a:xfrm>
          <a:prstGeom prst="rect">
            <a:avLst/>
          </a:prstGeom>
          <a:noFill/>
        </p:spPr>
        <p:txBody>
          <a:bodyPr wrap="square" lIns="0" rIns="0" tIns="0" bIns="0" anchor="ctr">
            <a:spAutoFit/>
          </a:bodyPr>
          <a:lstStyle/>
          <a:p>
            <a:pPr algn="l">
              <a:lnSpc>
                <a:spcPct val="115000"/>
              </a:lnSpc>
            </a:pPr>
            <a:r>
              <a:rPr sz="1200" b="0" i="1">
                <a:solidFill>
                  <a:srgbClr val="21295C"/>
                </a:solidFill>
                <a:latin typeface="Arial"/>
              </a:rPr>
              <a:t>запросы не уходят провайдеру</a:t>
            </a:r>
          </a:p>
        </p:txBody>
      </p:sp>
      <p:sp>
        <p:nvSpPr>
          <p:cNvPr id="11" name="Rounded Rectangle 10"/>
          <p:cNvSpPr/>
          <p:nvPr/>
        </p:nvSpPr>
        <p:spPr>
          <a:xfrm>
            <a:off x="777240" y="4590288"/>
            <a:ext cx="164592" cy="16459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480560"/>
            <a:ext cx="1920239" cy="365760"/>
          </a:xfrm>
          <a:prstGeom prst="rect">
            <a:avLst/>
          </a:prstGeom>
          <a:noFill/>
        </p:spPr>
        <p:txBody>
          <a:bodyPr wrap="square" lIns="0" rIns="0" tIns="0" bIns="0" anchor="ctr">
            <a:spAutoFit/>
          </a:bodyPr>
          <a:lstStyle/>
          <a:p>
            <a:pPr algn="l">
              <a:lnSpc>
                <a:spcPct val="115000"/>
              </a:lnSpc>
            </a:pPr>
            <a:r>
              <a:rPr sz="1300" b="1" i="0">
                <a:solidFill>
                  <a:srgbClr val="21295C"/>
                </a:solidFill>
                <a:latin typeface="Arial"/>
              </a:rPr>
              <a:t>Скорость</a:t>
            </a:r>
          </a:p>
        </p:txBody>
      </p:sp>
      <p:sp>
        <p:nvSpPr>
          <p:cNvPr id="13" name="TextBox 12"/>
          <p:cNvSpPr txBox="1"/>
          <p:nvPr/>
        </p:nvSpPr>
        <p:spPr>
          <a:xfrm>
            <a:off x="2971800" y="4480560"/>
            <a:ext cx="3017520" cy="365760"/>
          </a:xfrm>
          <a:prstGeom prst="rect">
            <a:avLst/>
          </a:prstGeom>
          <a:noFill/>
        </p:spPr>
        <p:txBody>
          <a:bodyPr wrap="square" lIns="0" rIns="0" tIns="0" bIns="0" anchor="ctr">
            <a:spAutoFit/>
          </a:bodyPr>
          <a:lstStyle/>
          <a:p>
            <a:pPr algn="l">
              <a:lnSpc>
                <a:spcPct val="115000"/>
              </a:lnSpc>
            </a:pPr>
            <a:r>
              <a:rPr sz="1200" b="0" i="1">
                <a:solidFill>
                  <a:srgbClr val="21295C"/>
                </a:solidFill>
                <a:latin typeface="Arial"/>
              </a:rPr>
              <a:t>медленнее на consumer hardware</a:t>
            </a:r>
          </a:p>
        </p:txBody>
      </p:sp>
      <p:sp>
        <p:nvSpPr>
          <p:cNvPr id="14" name="Rounded Rectangle 13"/>
          <p:cNvSpPr/>
          <p:nvPr/>
        </p:nvSpPr>
        <p:spPr>
          <a:xfrm>
            <a:off x="777240" y="5047488"/>
            <a:ext cx="164592" cy="16459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4937760"/>
            <a:ext cx="1920239" cy="365760"/>
          </a:xfrm>
          <a:prstGeom prst="rect">
            <a:avLst/>
          </a:prstGeom>
          <a:noFill/>
        </p:spPr>
        <p:txBody>
          <a:bodyPr wrap="square" lIns="0" rIns="0" tIns="0" bIns="0" anchor="ctr">
            <a:spAutoFit/>
          </a:bodyPr>
          <a:lstStyle/>
          <a:p>
            <a:pPr algn="l">
              <a:lnSpc>
                <a:spcPct val="115000"/>
              </a:lnSpc>
            </a:pPr>
            <a:r>
              <a:rPr sz="1300" b="1" i="0">
                <a:solidFill>
                  <a:srgbClr val="21295C"/>
                </a:solidFill>
                <a:latin typeface="Arial"/>
              </a:rPr>
              <a:t>Контекст</a:t>
            </a:r>
          </a:p>
        </p:txBody>
      </p:sp>
      <p:sp>
        <p:nvSpPr>
          <p:cNvPr id="16" name="TextBox 15"/>
          <p:cNvSpPr txBox="1"/>
          <p:nvPr/>
        </p:nvSpPr>
        <p:spPr>
          <a:xfrm>
            <a:off x="2971800" y="4937760"/>
            <a:ext cx="3017520" cy="365760"/>
          </a:xfrm>
          <a:prstGeom prst="rect">
            <a:avLst/>
          </a:prstGeom>
          <a:noFill/>
        </p:spPr>
        <p:txBody>
          <a:bodyPr wrap="square" lIns="0" rIns="0" tIns="0" bIns="0" anchor="ctr">
            <a:spAutoFit/>
          </a:bodyPr>
          <a:lstStyle/>
          <a:p>
            <a:pPr algn="l">
              <a:lnSpc>
                <a:spcPct val="115000"/>
              </a:lnSpc>
            </a:pPr>
            <a:r>
              <a:rPr sz="1200" b="0" i="1">
                <a:solidFill>
                  <a:srgbClr val="21295C"/>
                </a:solidFill>
                <a:latin typeface="Arial"/>
              </a:rPr>
              <a:t>ограниченное окно</a:t>
            </a:r>
          </a:p>
        </p:txBody>
      </p:sp>
      <p:sp>
        <p:nvSpPr>
          <p:cNvPr id="17" name="Rounded Rectangle 16"/>
          <p:cNvSpPr/>
          <p:nvPr/>
        </p:nvSpPr>
        <p:spPr>
          <a:xfrm>
            <a:off x="777240" y="5504688"/>
            <a:ext cx="164592" cy="1645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394960"/>
            <a:ext cx="1920239" cy="365760"/>
          </a:xfrm>
          <a:prstGeom prst="rect">
            <a:avLst/>
          </a:prstGeom>
          <a:noFill/>
        </p:spPr>
        <p:txBody>
          <a:bodyPr wrap="square" lIns="0" rIns="0" tIns="0" bIns="0" anchor="ctr">
            <a:spAutoFit/>
          </a:bodyPr>
          <a:lstStyle/>
          <a:p>
            <a:pPr algn="l">
              <a:lnSpc>
                <a:spcPct val="115000"/>
              </a:lnSpc>
            </a:pPr>
            <a:r>
              <a:rPr sz="1300" b="1" i="0">
                <a:solidFill>
                  <a:srgbClr val="21295C"/>
                </a:solidFill>
                <a:latin typeface="Arial"/>
              </a:rPr>
              <a:t>Цена</a:t>
            </a:r>
          </a:p>
        </p:txBody>
      </p:sp>
      <p:sp>
        <p:nvSpPr>
          <p:cNvPr id="19" name="TextBox 18"/>
          <p:cNvSpPr txBox="1"/>
          <p:nvPr/>
        </p:nvSpPr>
        <p:spPr>
          <a:xfrm>
            <a:off x="2971800" y="5394960"/>
            <a:ext cx="3017520" cy="365760"/>
          </a:xfrm>
          <a:prstGeom prst="rect">
            <a:avLst/>
          </a:prstGeom>
          <a:noFill/>
        </p:spPr>
        <p:txBody>
          <a:bodyPr wrap="square" lIns="0" rIns="0" tIns="0" bIns="0" anchor="ctr">
            <a:spAutoFit/>
          </a:bodyPr>
          <a:lstStyle/>
          <a:p>
            <a:pPr algn="l">
              <a:lnSpc>
                <a:spcPct val="115000"/>
              </a:lnSpc>
            </a:pPr>
            <a:r>
              <a:rPr sz="1200" b="0" i="1">
                <a:solidFill>
                  <a:srgbClr val="21295C"/>
                </a:solidFill>
                <a:latin typeface="Arial"/>
              </a:rPr>
              <a:t>0 за токен (своё железо)</a:t>
            </a:r>
          </a:p>
        </p:txBody>
      </p:sp>
      <p:sp>
        <p:nvSpPr>
          <p:cNvPr id="20" name="Rounded Rectangle 19"/>
          <p:cNvSpPr/>
          <p:nvPr/>
        </p:nvSpPr>
        <p:spPr>
          <a:xfrm>
            <a:off x="6263640" y="1920240"/>
            <a:ext cx="5486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59" y="2057400"/>
            <a:ext cx="4937760" cy="45720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Cloud (OpenAI, Anthropic, Yandex, Сбер)</a:t>
            </a:r>
          </a:p>
        </p:txBody>
      </p:sp>
      <p:sp>
        <p:nvSpPr>
          <p:cNvPr id="22" name="TextBox 21"/>
          <p:cNvSpPr txBox="1"/>
          <p:nvPr/>
        </p:nvSpPr>
        <p:spPr>
          <a:xfrm>
            <a:off x="6537959" y="2514600"/>
            <a:ext cx="4937760" cy="41148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Размер: 200B+ параметров</a:t>
            </a:r>
          </a:p>
        </p:txBody>
      </p:sp>
      <p:sp>
        <p:nvSpPr>
          <p:cNvPr id="23" name="TextBox 22"/>
          <p:cNvSpPr txBox="1"/>
          <p:nvPr/>
        </p:nvSpPr>
        <p:spPr>
          <a:xfrm>
            <a:off x="6537959" y="2926080"/>
            <a:ext cx="4937760" cy="914400"/>
          </a:xfrm>
          <a:prstGeom prst="rect">
            <a:avLst/>
          </a:prstGeom>
          <a:noFill/>
        </p:spPr>
        <p:txBody>
          <a:bodyPr wrap="square" lIns="0" rIns="0" tIns="0" bIns="0" anchor="t">
            <a:spAutoFit/>
          </a:bodyPr>
          <a:lstStyle/>
          <a:p>
            <a:pPr algn="l">
              <a:lnSpc>
                <a:spcPct val="140000"/>
              </a:lnSpc>
            </a:pPr>
            <a:r>
              <a:rPr sz="1300" b="0" i="0">
                <a:solidFill>
                  <a:srgbClr val="21295C"/>
                </a:solidFill>
                <a:latin typeface="Liberation Mono"/>
              </a:rPr>
              <a:t>• GPT-5, Claude 4.7
• YandexGPT, GigaChat
• Gemini</a:t>
            </a:r>
          </a:p>
        </p:txBody>
      </p:sp>
      <p:sp>
        <p:nvSpPr>
          <p:cNvPr id="24" name="Rounded Rectangle 23"/>
          <p:cNvSpPr/>
          <p:nvPr/>
        </p:nvSpPr>
        <p:spPr>
          <a:xfrm>
            <a:off x="6537959" y="4133088"/>
            <a:ext cx="164592" cy="16459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12279" y="4023360"/>
            <a:ext cx="1920239" cy="365760"/>
          </a:xfrm>
          <a:prstGeom prst="rect">
            <a:avLst/>
          </a:prstGeom>
          <a:noFill/>
        </p:spPr>
        <p:txBody>
          <a:bodyPr wrap="square" lIns="0" rIns="0" tIns="0" bIns="0" anchor="ctr">
            <a:spAutoFit/>
          </a:bodyPr>
          <a:lstStyle/>
          <a:p>
            <a:pPr algn="l">
              <a:lnSpc>
                <a:spcPct val="115000"/>
              </a:lnSpc>
            </a:pPr>
            <a:r>
              <a:rPr sz="1300" b="1" i="0">
                <a:solidFill>
                  <a:srgbClr val="21295C"/>
                </a:solidFill>
                <a:latin typeface="Arial"/>
              </a:rPr>
              <a:t>Качество</a:t>
            </a:r>
          </a:p>
        </p:txBody>
      </p:sp>
      <p:sp>
        <p:nvSpPr>
          <p:cNvPr id="26" name="TextBox 25"/>
          <p:cNvSpPr txBox="1"/>
          <p:nvPr/>
        </p:nvSpPr>
        <p:spPr>
          <a:xfrm>
            <a:off x="8732520" y="4023360"/>
            <a:ext cx="3017520" cy="365760"/>
          </a:xfrm>
          <a:prstGeom prst="rect">
            <a:avLst/>
          </a:prstGeom>
          <a:noFill/>
        </p:spPr>
        <p:txBody>
          <a:bodyPr wrap="square" lIns="0" rIns="0" tIns="0" bIns="0" anchor="ctr">
            <a:spAutoFit/>
          </a:bodyPr>
          <a:lstStyle/>
          <a:p>
            <a:pPr algn="l">
              <a:lnSpc>
                <a:spcPct val="115000"/>
              </a:lnSpc>
            </a:pPr>
            <a:r>
              <a:rPr sz="1200" b="0" i="1">
                <a:solidFill>
                  <a:srgbClr val="21295C"/>
                </a:solidFill>
                <a:latin typeface="Arial"/>
              </a:rPr>
              <a:t>лучше на сложных задачах</a:t>
            </a:r>
          </a:p>
        </p:txBody>
      </p:sp>
      <p:sp>
        <p:nvSpPr>
          <p:cNvPr id="27" name="Rounded Rectangle 26"/>
          <p:cNvSpPr/>
          <p:nvPr/>
        </p:nvSpPr>
        <p:spPr>
          <a:xfrm>
            <a:off x="6537959" y="4590288"/>
            <a:ext cx="164592" cy="16459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12279" y="4480560"/>
            <a:ext cx="1920239" cy="365760"/>
          </a:xfrm>
          <a:prstGeom prst="rect">
            <a:avLst/>
          </a:prstGeom>
          <a:noFill/>
        </p:spPr>
        <p:txBody>
          <a:bodyPr wrap="square" lIns="0" rIns="0" tIns="0" bIns="0" anchor="ctr">
            <a:spAutoFit/>
          </a:bodyPr>
          <a:lstStyle/>
          <a:p>
            <a:pPr algn="l">
              <a:lnSpc>
                <a:spcPct val="115000"/>
              </a:lnSpc>
            </a:pPr>
            <a:r>
              <a:rPr sz="1300" b="1" i="0">
                <a:solidFill>
                  <a:srgbClr val="21295C"/>
                </a:solidFill>
                <a:latin typeface="Arial"/>
              </a:rPr>
              <a:t>Задержка</a:t>
            </a:r>
          </a:p>
        </p:txBody>
      </p:sp>
      <p:sp>
        <p:nvSpPr>
          <p:cNvPr id="29" name="TextBox 28"/>
          <p:cNvSpPr txBox="1"/>
          <p:nvPr/>
        </p:nvSpPr>
        <p:spPr>
          <a:xfrm>
            <a:off x="8732520" y="4480560"/>
            <a:ext cx="3017520" cy="365760"/>
          </a:xfrm>
          <a:prstGeom prst="rect">
            <a:avLst/>
          </a:prstGeom>
          <a:noFill/>
        </p:spPr>
        <p:txBody>
          <a:bodyPr wrap="square" lIns="0" rIns="0" tIns="0" bIns="0" anchor="ctr">
            <a:spAutoFit/>
          </a:bodyPr>
          <a:lstStyle/>
          <a:p>
            <a:pPr algn="l">
              <a:lnSpc>
                <a:spcPct val="115000"/>
              </a:lnSpc>
            </a:pPr>
            <a:r>
              <a:rPr sz="1200" b="0" i="1">
                <a:solidFill>
                  <a:srgbClr val="21295C"/>
                </a:solidFill>
                <a:latin typeface="Arial"/>
              </a:rPr>
              <a:t>200–500 мс</a:t>
            </a:r>
          </a:p>
        </p:txBody>
      </p:sp>
      <p:sp>
        <p:nvSpPr>
          <p:cNvPr id="30" name="Rounded Rectangle 29"/>
          <p:cNvSpPr/>
          <p:nvPr/>
        </p:nvSpPr>
        <p:spPr>
          <a:xfrm>
            <a:off x="6537959" y="5047488"/>
            <a:ext cx="164592" cy="1645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12279" y="4937760"/>
            <a:ext cx="1920239" cy="365760"/>
          </a:xfrm>
          <a:prstGeom prst="rect">
            <a:avLst/>
          </a:prstGeom>
          <a:noFill/>
        </p:spPr>
        <p:txBody>
          <a:bodyPr wrap="square" lIns="0" rIns="0" tIns="0" bIns="0" anchor="ctr">
            <a:spAutoFit/>
          </a:bodyPr>
          <a:lstStyle/>
          <a:p>
            <a:pPr algn="l">
              <a:lnSpc>
                <a:spcPct val="115000"/>
              </a:lnSpc>
            </a:pPr>
            <a:r>
              <a:rPr sz="1300" b="1" i="0">
                <a:solidFill>
                  <a:srgbClr val="21295C"/>
                </a:solidFill>
                <a:latin typeface="Arial"/>
              </a:rPr>
              <a:t>Контекст</a:t>
            </a:r>
          </a:p>
        </p:txBody>
      </p:sp>
      <p:sp>
        <p:nvSpPr>
          <p:cNvPr id="32" name="TextBox 31"/>
          <p:cNvSpPr txBox="1"/>
          <p:nvPr/>
        </p:nvSpPr>
        <p:spPr>
          <a:xfrm>
            <a:off x="8732520" y="4937760"/>
            <a:ext cx="3017520" cy="365760"/>
          </a:xfrm>
          <a:prstGeom prst="rect">
            <a:avLst/>
          </a:prstGeom>
          <a:noFill/>
        </p:spPr>
        <p:txBody>
          <a:bodyPr wrap="square" lIns="0" rIns="0" tIns="0" bIns="0" anchor="ctr">
            <a:spAutoFit/>
          </a:bodyPr>
          <a:lstStyle/>
          <a:p>
            <a:pPr algn="l">
              <a:lnSpc>
                <a:spcPct val="115000"/>
              </a:lnSpc>
            </a:pPr>
            <a:r>
              <a:rPr sz="1200" b="0" i="1">
                <a:solidFill>
                  <a:srgbClr val="21295C"/>
                </a:solidFill>
                <a:latin typeface="Arial"/>
              </a:rPr>
              <a:t>до 1M токенов</a:t>
            </a:r>
          </a:p>
        </p:txBody>
      </p:sp>
      <p:sp>
        <p:nvSpPr>
          <p:cNvPr id="33" name="Rounded Rectangle 32"/>
          <p:cNvSpPr/>
          <p:nvPr/>
        </p:nvSpPr>
        <p:spPr>
          <a:xfrm>
            <a:off x="6537959" y="5504688"/>
            <a:ext cx="164592" cy="16459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12279" y="5394960"/>
            <a:ext cx="1920239" cy="365760"/>
          </a:xfrm>
          <a:prstGeom prst="rect">
            <a:avLst/>
          </a:prstGeom>
          <a:noFill/>
        </p:spPr>
        <p:txBody>
          <a:bodyPr wrap="square" lIns="0" rIns="0" tIns="0" bIns="0" anchor="ctr">
            <a:spAutoFit/>
          </a:bodyPr>
          <a:lstStyle/>
          <a:p>
            <a:pPr algn="l">
              <a:lnSpc>
                <a:spcPct val="115000"/>
              </a:lnSpc>
            </a:pPr>
            <a:r>
              <a:rPr sz="1300" b="1" i="0">
                <a:solidFill>
                  <a:srgbClr val="21295C"/>
                </a:solidFill>
                <a:latin typeface="Arial"/>
              </a:rPr>
              <a:t>Цена</a:t>
            </a:r>
          </a:p>
        </p:txBody>
      </p:sp>
      <p:sp>
        <p:nvSpPr>
          <p:cNvPr id="35" name="TextBox 34"/>
          <p:cNvSpPr txBox="1"/>
          <p:nvPr/>
        </p:nvSpPr>
        <p:spPr>
          <a:xfrm>
            <a:off x="8732520" y="5394960"/>
            <a:ext cx="3017520" cy="365760"/>
          </a:xfrm>
          <a:prstGeom prst="rect">
            <a:avLst/>
          </a:prstGeom>
          <a:noFill/>
        </p:spPr>
        <p:txBody>
          <a:bodyPr wrap="square" lIns="0" rIns="0" tIns="0" bIns="0" anchor="ctr">
            <a:spAutoFit/>
          </a:bodyPr>
          <a:lstStyle/>
          <a:p>
            <a:pPr algn="l">
              <a:lnSpc>
                <a:spcPct val="115000"/>
              </a:lnSpc>
            </a:pPr>
            <a:r>
              <a:rPr sz="1200" b="0" i="1">
                <a:solidFill>
                  <a:srgbClr val="21295C"/>
                </a:solidFill>
                <a:latin typeface="Arial"/>
              </a:rPr>
              <a:t>оплата за токены, RU ≈ 2× EN</a:t>
            </a:r>
          </a:p>
        </p:txBody>
      </p:sp>
      <p:sp>
        <p:nvSpPr>
          <p:cNvPr id="36" name="TextBox 35"/>
          <p:cNvSpPr txBox="1"/>
          <p:nvPr/>
        </p:nvSpPr>
        <p:spPr>
          <a:xfrm>
            <a:off x="502920" y="6263640"/>
            <a:ext cx="11247120" cy="365760"/>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Глубже про trade-off (приватность × качество × стоимость) — Лекция 1 §4.2 (без повтора).</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4 этапа inference сложились в pipeline</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Тот же чёрный ящик из Лекции 1 §3.2 — теперь распакован</a:t>
            </a:r>
          </a:p>
        </p:txBody>
      </p:sp>
      <p:sp>
        <p:nvSpPr>
          <p:cNvPr id="4" name="Rounded Rectangle 3"/>
          <p:cNvSpPr/>
          <p:nvPr/>
        </p:nvSpPr>
        <p:spPr>
          <a:xfrm>
            <a:off x="50292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428750" y="25146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78608"/>
            <a:ext cx="2491740" cy="502920"/>
          </a:xfrm>
          <a:prstGeom prst="rect">
            <a:avLst/>
          </a:prstGeom>
          <a:noFill/>
        </p:spPr>
        <p:txBody>
          <a:bodyPr wrap="square" lIns="0" rIns="0" tIns="0" bIns="0" anchor="ctr">
            <a:spAutoFit/>
          </a:bodyPr>
          <a:lstStyle/>
          <a:p>
            <a:pPr algn="ctr">
              <a:lnSpc>
                <a:spcPct val="115000"/>
              </a:lnSpc>
            </a:pPr>
            <a:r>
              <a:rPr sz="2400" b="1" i="0">
                <a:solidFill>
                  <a:srgbClr val="FFFFFF"/>
                </a:solidFill>
                <a:latin typeface="Arial"/>
              </a:rPr>
              <a:t>1</a:t>
            </a:r>
          </a:p>
        </p:txBody>
      </p:sp>
      <p:sp>
        <p:nvSpPr>
          <p:cNvPr id="7" name="TextBox 6"/>
          <p:cNvSpPr txBox="1"/>
          <p:nvPr/>
        </p:nvSpPr>
        <p:spPr>
          <a:xfrm>
            <a:off x="594360" y="3291840"/>
            <a:ext cx="2308860" cy="45720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Токенизация</a:t>
            </a:r>
          </a:p>
        </p:txBody>
      </p:sp>
      <p:sp>
        <p:nvSpPr>
          <p:cNvPr id="8" name="TextBox 7"/>
          <p:cNvSpPr txBox="1"/>
          <p:nvPr/>
        </p:nvSpPr>
        <p:spPr>
          <a:xfrm>
            <a:off x="594360" y="3840480"/>
            <a:ext cx="2308860" cy="777240"/>
          </a:xfrm>
          <a:prstGeom prst="rect">
            <a:avLst/>
          </a:prstGeom>
          <a:noFill/>
        </p:spPr>
        <p:txBody>
          <a:bodyPr wrap="square" lIns="0" rIns="0" tIns="0" bIns="0" anchor="t">
            <a:spAutoFit/>
          </a:bodyPr>
          <a:lstStyle/>
          <a:p>
            <a:pPr algn="ctr">
              <a:lnSpc>
                <a:spcPct val="130000"/>
              </a:lnSpc>
            </a:pPr>
            <a:r>
              <a:rPr sz="1300" b="0" i="1">
                <a:solidFill>
                  <a:srgbClr val="21295C"/>
                </a:solidFill>
                <a:latin typeface="Arial"/>
              </a:rPr>
              <a:t>Текст → id
из словаря (BPE)</a:t>
            </a:r>
          </a:p>
        </p:txBody>
      </p:sp>
      <p:sp>
        <p:nvSpPr>
          <p:cNvPr id="9" name="TextBox 8"/>
          <p:cNvSpPr txBox="1"/>
          <p:nvPr/>
        </p:nvSpPr>
        <p:spPr>
          <a:xfrm>
            <a:off x="594360" y="4663440"/>
            <a:ext cx="2308860" cy="32004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 s05–s08</a:t>
            </a:r>
          </a:p>
        </p:txBody>
      </p:sp>
      <p:sp>
        <p:nvSpPr>
          <p:cNvPr id="10" name="Right Arrow 9"/>
          <p:cNvSpPr/>
          <p:nvPr/>
        </p:nvSpPr>
        <p:spPr>
          <a:xfrm>
            <a:off x="304038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31470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40530" y="25146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2578608"/>
            <a:ext cx="2491740" cy="502920"/>
          </a:xfrm>
          <a:prstGeom prst="rect">
            <a:avLst/>
          </a:prstGeom>
          <a:noFill/>
        </p:spPr>
        <p:txBody>
          <a:bodyPr wrap="square" lIns="0" rIns="0" tIns="0" bIns="0" anchor="ctr">
            <a:spAutoFit/>
          </a:bodyPr>
          <a:lstStyle/>
          <a:p>
            <a:pPr algn="ctr">
              <a:lnSpc>
                <a:spcPct val="115000"/>
              </a:lnSpc>
            </a:pPr>
            <a:r>
              <a:rPr sz="2400" b="1" i="0">
                <a:solidFill>
                  <a:srgbClr val="FFFFFF"/>
                </a:solidFill>
                <a:latin typeface="Arial"/>
              </a:rPr>
              <a:t>2</a:t>
            </a:r>
          </a:p>
        </p:txBody>
      </p:sp>
      <p:sp>
        <p:nvSpPr>
          <p:cNvPr id="14" name="TextBox 13"/>
          <p:cNvSpPr txBox="1"/>
          <p:nvPr/>
        </p:nvSpPr>
        <p:spPr>
          <a:xfrm>
            <a:off x="3406140" y="3291840"/>
            <a:ext cx="2308860" cy="45720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Эмбеддинг</a:t>
            </a:r>
          </a:p>
        </p:txBody>
      </p:sp>
      <p:sp>
        <p:nvSpPr>
          <p:cNvPr id="15" name="TextBox 14"/>
          <p:cNvSpPr txBox="1"/>
          <p:nvPr/>
        </p:nvSpPr>
        <p:spPr>
          <a:xfrm>
            <a:off x="3406140" y="3840480"/>
            <a:ext cx="2308860" cy="777240"/>
          </a:xfrm>
          <a:prstGeom prst="rect">
            <a:avLst/>
          </a:prstGeom>
          <a:noFill/>
        </p:spPr>
        <p:txBody>
          <a:bodyPr wrap="square" lIns="0" rIns="0" tIns="0" bIns="0" anchor="t">
            <a:spAutoFit/>
          </a:bodyPr>
          <a:lstStyle/>
          <a:p>
            <a:pPr algn="ctr">
              <a:lnSpc>
                <a:spcPct val="130000"/>
              </a:lnSpc>
            </a:pPr>
            <a:r>
              <a:rPr sz="1300" b="0" i="1">
                <a:solidFill>
                  <a:srgbClr val="21295C"/>
                </a:solidFill>
                <a:latin typeface="Arial"/>
              </a:rPr>
              <a:t>id → вектор
из learned table</a:t>
            </a:r>
          </a:p>
        </p:txBody>
      </p:sp>
      <p:sp>
        <p:nvSpPr>
          <p:cNvPr id="16" name="TextBox 15"/>
          <p:cNvSpPr txBox="1"/>
          <p:nvPr/>
        </p:nvSpPr>
        <p:spPr>
          <a:xfrm>
            <a:off x="3406140" y="4663440"/>
            <a:ext cx="2308860" cy="32004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 s09–s12</a:t>
            </a:r>
          </a:p>
        </p:txBody>
      </p:sp>
      <p:sp>
        <p:nvSpPr>
          <p:cNvPr id="17" name="Right Arrow 16"/>
          <p:cNvSpPr/>
          <p:nvPr/>
        </p:nvSpPr>
        <p:spPr>
          <a:xfrm>
            <a:off x="5852159"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12648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052310" y="25146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2578608"/>
            <a:ext cx="2491740" cy="502920"/>
          </a:xfrm>
          <a:prstGeom prst="rect">
            <a:avLst/>
          </a:prstGeom>
          <a:noFill/>
        </p:spPr>
        <p:txBody>
          <a:bodyPr wrap="square" lIns="0" rIns="0" tIns="0" bIns="0" anchor="ctr">
            <a:spAutoFit/>
          </a:bodyPr>
          <a:lstStyle/>
          <a:p>
            <a:pPr algn="ctr">
              <a:lnSpc>
                <a:spcPct val="115000"/>
              </a:lnSpc>
            </a:pPr>
            <a:r>
              <a:rPr sz="2400" b="1" i="0">
                <a:solidFill>
                  <a:srgbClr val="FFFFFF"/>
                </a:solidFill>
                <a:latin typeface="Arial"/>
              </a:rPr>
              <a:t>3</a:t>
            </a:r>
          </a:p>
        </p:txBody>
      </p:sp>
      <p:sp>
        <p:nvSpPr>
          <p:cNvPr id="21" name="TextBox 20"/>
          <p:cNvSpPr txBox="1"/>
          <p:nvPr/>
        </p:nvSpPr>
        <p:spPr>
          <a:xfrm>
            <a:off x="6217920" y="3291840"/>
            <a:ext cx="2308860" cy="45720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Внимание</a:t>
            </a:r>
          </a:p>
        </p:txBody>
      </p:sp>
      <p:sp>
        <p:nvSpPr>
          <p:cNvPr id="22" name="TextBox 21"/>
          <p:cNvSpPr txBox="1"/>
          <p:nvPr/>
        </p:nvSpPr>
        <p:spPr>
          <a:xfrm>
            <a:off x="6217920" y="3840480"/>
            <a:ext cx="2308860" cy="777240"/>
          </a:xfrm>
          <a:prstGeom prst="rect">
            <a:avLst/>
          </a:prstGeom>
          <a:noFill/>
        </p:spPr>
        <p:txBody>
          <a:bodyPr wrap="square" lIns="0" rIns="0" tIns="0" bIns="0" anchor="t">
            <a:spAutoFit/>
          </a:bodyPr>
          <a:lstStyle/>
          <a:p>
            <a:pPr algn="ctr">
              <a:lnSpc>
                <a:spcPct val="130000"/>
              </a:lnSpc>
            </a:pPr>
            <a:r>
              <a:rPr sz="1300" b="0" i="1">
                <a:solidFill>
                  <a:srgbClr val="21295C"/>
                </a:solidFill>
                <a:latin typeface="Arial"/>
              </a:rPr>
              <a:t>Распределение
весов на контекст</a:t>
            </a:r>
          </a:p>
        </p:txBody>
      </p:sp>
      <p:sp>
        <p:nvSpPr>
          <p:cNvPr id="23" name="TextBox 22"/>
          <p:cNvSpPr txBox="1"/>
          <p:nvPr/>
        </p:nvSpPr>
        <p:spPr>
          <a:xfrm>
            <a:off x="6217920" y="4663440"/>
            <a:ext cx="2308860" cy="32004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 s13–s17</a:t>
            </a:r>
          </a:p>
        </p:txBody>
      </p:sp>
      <p:sp>
        <p:nvSpPr>
          <p:cNvPr id="24" name="Right Arrow 23"/>
          <p:cNvSpPr/>
          <p:nvPr/>
        </p:nvSpPr>
        <p:spPr>
          <a:xfrm>
            <a:off x="866394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93826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864090" y="25146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38260" y="2578608"/>
            <a:ext cx="2491740" cy="502920"/>
          </a:xfrm>
          <a:prstGeom prst="rect">
            <a:avLst/>
          </a:prstGeom>
          <a:noFill/>
        </p:spPr>
        <p:txBody>
          <a:bodyPr wrap="square" lIns="0" rIns="0" tIns="0" bIns="0" anchor="ctr">
            <a:spAutoFit/>
          </a:bodyPr>
          <a:lstStyle/>
          <a:p>
            <a:pPr algn="ctr">
              <a:lnSpc>
                <a:spcPct val="115000"/>
              </a:lnSpc>
            </a:pPr>
            <a:r>
              <a:rPr sz="2400" b="1" i="0">
                <a:solidFill>
                  <a:srgbClr val="FFFFFF"/>
                </a:solidFill>
                <a:latin typeface="Arial"/>
              </a:rPr>
              <a:t>4</a:t>
            </a:r>
          </a:p>
        </p:txBody>
      </p:sp>
      <p:sp>
        <p:nvSpPr>
          <p:cNvPr id="28" name="TextBox 27"/>
          <p:cNvSpPr txBox="1"/>
          <p:nvPr/>
        </p:nvSpPr>
        <p:spPr>
          <a:xfrm>
            <a:off x="9029700" y="3291840"/>
            <a:ext cx="2308860" cy="45720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Сэмплинг</a:t>
            </a:r>
          </a:p>
        </p:txBody>
      </p:sp>
      <p:sp>
        <p:nvSpPr>
          <p:cNvPr id="29" name="TextBox 28"/>
          <p:cNvSpPr txBox="1"/>
          <p:nvPr/>
        </p:nvSpPr>
        <p:spPr>
          <a:xfrm>
            <a:off x="9029700" y="3840480"/>
            <a:ext cx="2308860" cy="777240"/>
          </a:xfrm>
          <a:prstGeom prst="rect">
            <a:avLst/>
          </a:prstGeom>
          <a:noFill/>
        </p:spPr>
        <p:txBody>
          <a:bodyPr wrap="square" lIns="0" rIns="0" tIns="0" bIns="0" anchor="t">
            <a:spAutoFit/>
          </a:bodyPr>
          <a:lstStyle/>
          <a:p>
            <a:pPr algn="ctr">
              <a:lnSpc>
                <a:spcPct val="130000"/>
              </a:lnSpc>
            </a:pPr>
            <a:r>
              <a:rPr sz="1300" b="0" i="1">
                <a:solidFill>
                  <a:srgbClr val="21295C"/>
                </a:solidFill>
                <a:latin typeface="Arial"/>
              </a:rPr>
              <a:t>Распределение →
один токен (T/p/k)</a:t>
            </a:r>
          </a:p>
        </p:txBody>
      </p:sp>
      <p:sp>
        <p:nvSpPr>
          <p:cNvPr id="30" name="TextBox 29"/>
          <p:cNvSpPr txBox="1"/>
          <p:nvPr/>
        </p:nvSpPr>
        <p:spPr>
          <a:xfrm>
            <a:off x="9029700" y="4663440"/>
            <a:ext cx="2308860" cy="32004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 s18–s20</a:t>
            </a:r>
          </a:p>
        </p:txBody>
      </p:sp>
      <p:sp>
        <p:nvSpPr>
          <p:cNvPr id="31" name="TextBox 30"/>
          <p:cNvSpPr txBox="1"/>
          <p:nvPr/>
        </p:nvSpPr>
        <p:spPr>
          <a:xfrm>
            <a:off x="502920" y="6263640"/>
            <a:ext cx="11247120" cy="365760"/>
          </a:xfrm>
          <a:prstGeom prst="rect">
            <a:avLst/>
          </a:prstGeom>
          <a:noFill/>
        </p:spPr>
        <p:txBody>
          <a:bodyPr wrap="square" lIns="0" rIns="0" tIns="0" bIns="0" anchor="t">
            <a:spAutoFit/>
          </a:bodyPr>
          <a:lstStyle/>
          <a:p>
            <a:pPr algn="ctr">
              <a:lnSpc>
                <a:spcPct val="130000"/>
              </a:lnSpc>
            </a:pPr>
            <a:r>
              <a:rPr sz="1300" b="0" i="1">
                <a:solidFill>
                  <a:srgbClr val="21295C"/>
                </a:solidFill>
                <a:latin typeface="Arial"/>
              </a:rPr>
              <a:t>Лекция 1 §3.2 называла этот pipeline «inference моделью» — чёрным ящиком. Теперь он перестал быть чёрным.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3 промиса Лекции 1 — 3 ответа из Лекции 2</a:t>
            </a:r>
          </a:p>
        </p:txBody>
      </p:sp>
      <p:sp>
        <p:nvSpPr>
          <p:cNvPr id="3" name="Rounded Rectangle 2"/>
          <p:cNvSpPr/>
          <p:nvPr/>
        </p:nvSpPr>
        <p:spPr>
          <a:xfrm>
            <a:off x="502920" y="1325880"/>
            <a:ext cx="11247120" cy="411480"/>
          </a:xfrm>
          <a:prstGeom prst="roundRect">
            <a:avLst>
              <a:gd name="adj" fmla="val 25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353312"/>
            <a:ext cx="11247120" cy="365760"/>
          </a:xfrm>
          <a:prstGeom prst="rect">
            <a:avLst/>
          </a:prstGeom>
          <a:noFill/>
        </p:spPr>
        <p:txBody>
          <a:bodyPr wrap="square" lIns="0" rIns="0" tIns="0" bIns="0" anchor="ctr">
            <a:spAutoFit/>
          </a:bodyPr>
          <a:lstStyle/>
          <a:p>
            <a:pPr algn="ctr">
              <a:lnSpc>
                <a:spcPct val="115000"/>
              </a:lnSpc>
            </a:pPr>
            <a:r>
              <a:rPr sz="1400" b="1" i="1">
                <a:solidFill>
                  <a:srgbClr val="21295C"/>
                </a:solidFill>
                <a:latin typeface="Arial"/>
              </a:rPr>
              <a:t>Payoff Лекции 1 §5.3  —  LO7</a:t>
            </a:r>
          </a:p>
        </p:txBody>
      </p:sp>
      <p:sp>
        <p:nvSpPr>
          <p:cNvPr id="5" name="Rounded Rectangle 4"/>
          <p:cNvSpPr/>
          <p:nvPr/>
        </p:nvSpPr>
        <p:spPr>
          <a:xfrm>
            <a:off x="502920" y="1965960"/>
            <a:ext cx="11247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2258568"/>
            <a:ext cx="777240" cy="7772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286000"/>
            <a:ext cx="777240" cy="731520"/>
          </a:xfrm>
          <a:prstGeom prst="rect">
            <a:avLst/>
          </a:prstGeom>
          <a:noFill/>
        </p:spPr>
        <p:txBody>
          <a:bodyPr wrap="square" lIns="0" rIns="0" tIns="0" bIns="0" anchor="ctr">
            <a:spAutoFit/>
          </a:bodyPr>
          <a:lstStyle/>
          <a:p>
            <a:pPr algn="ctr">
              <a:lnSpc>
                <a:spcPct val="115000"/>
              </a:lnSpc>
            </a:pPr>
            <a:r>
              <a:rPr sz="3800" b="1" i="0">
                <a:solidFill>
                  <a:srgbClr val="FFFFFF"/>
                </a:solidFill>
                <a:latin typeface="Arial"/>
              </a:rPr>
              <a:t>1</a:t>
            </a:r>
          </a:p>
        </p:txBody>
      </p:sp>
      <p:sp>
        <p:nvSpPr>
          <p:cNvPr id="8" name="TextBox 7"/>
          <p:cNvSpPr txBox="1"/>
          <p:nvPr/>
        </p:nvSpPr>
        <p:spPr>
          <a:xfrm>
            <a:off x="1783080" y="2148840"/>
            <a:ext cx="8229600" cy="41148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Почему промпт с ролью работает лучше пустого?</a:t>
            </a:r>
          </a:p>
        </p:txBody>
      </p:sp>
      <p:sp>
        <p:nvSpPr>
          <p:cNvPr id="9" name="TextBox 8"/>
          <p:cNvSpPr txBox="1"/>
          <p:nvPr/>
        </p:nvSpPr>
        <p:spPr>
          <a:xfrm>
            <a:off x="1783080" y="2606039"/>
            <a:ext cx="8229600" cy="731520"/>
          </a:xfrm>
          <a:prstGeom prst="rect">
            <a:avLst/>
          </a:prstGeom>
          <a:noFill/>
        </p:spPr>
        <p:txBody>
          <a:bodyPr wrap="square" lIns="0" rIns="0" tIns="0" bIns="0" anchor="t">
            <a:spAutoFit/>
          </a:bodyPr>
          <a:lstStyle/>
          <a:p>
            <a:pPr algn="l">
              <a:lnSpc>
                <a:spcPct val="130000"/>
              </a:lnSpc>
            </a:pPr>
            <a:r>
              <a:rPr sz="1300" b="0" i="1">
                <a:solidFill>
                  <a:srgbClr val="21295C"/>
                </a:solidFill>
                <a:latin typeface="Arial"/>
              </a:rPr>
              <a:t>На уровне attention role-токены получают высокий вес — модель опирается на них при выборе следующих токенов.</a:t>
            </a:r>
          </a:p>
        </p:txBody>
      </p:sp>
      <p:sp>
        <p:nvSpPr>
          <p:cNvPr id="10" name="TextBox 9"/>
          <p:cNvSpPr txBox="1"/>
          <p:nvPr/>
        </p:nvSpPr>
        <p:spPr>
          <a:xfrm>
            <a:off x="10149840" y="2423160"/>
            <a:ext cx="1005840" cy="457200"/>
          </a:xfrm>
          <a:prstGeom prst="rect">
            <a:avLst/>
          </a:prstGeom>
          <a:noFill/>
        </p:spPr>
        <p:txBody>
          <a:bodyPr wrap="square" lIns="0" rIns="0" tIns="0" bIns="0" anchor="ctr">
            <a:spAutoFit/>
          </a:bodyPr>
          <a:lstStyle/>
          <a:p>
            <a:pPr algn="r">
              <a:lnSpc>
                <a:spcPct val="115000"/>
              </a:lnSpc>
            </a:pPr>
            <a:r>
              <a:rPr sz="1400" b="1" i="0">
                <a:solidFill>
                  <a:srgbClr val="F0AB00"/>
                </a:solidFill>
                <a:latin typeface="Arial"/>
              </a:rPr>
              <a:t>→ s15</a:t>
            </a:r>
          </a:p>
        </p:txBody>
      </p:sp>
      <p:sp>
        <p:nvSpPr>
          <p:cNvPr id="11" name="Rounded Rectangle 10"/>
          <p:cNvSpPr/>
          <p:nvPr/>
        </p:nvSpPr>
        <p:spPr>
          <a:xfrm>
            <a:off x="502920" y="3520439"/>
            <a:ext cx="11247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3813048"/>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40479"/>
            <a:ext cx="777240" cy="731520"/>
          </a:xfrm>
          <a:prstGeom prst="rect">
            <a:avLst/>
          </a:prstGeom>
          <a:noFill/>
        </p:spPr>
        <p:txBody>
          <a:bodyPr wrap="square" lIns="0" rIns="0" tIns="0" bIns="0" anchor="ctr">
            <a:spAutoFit/>
          </a:bodyPr>
          <a:lstStyle/>
          <a:p>
            <a:pPr algn="ctr">
              <a:lnSpc>
                <a:spcPct val="115000"/>
              </a:lnSpc>
            </a:pPr>
            <a:r>
              <a:rPr sz="3800" b="1" i="0">
                <a:solidFill>
                  <a:srgbClr val="FFFFFF"/>
                </a:solidFill>
                <a:latin typeface="Arial"/>
              </a:rPr>
              <a:t>2</a:t>
            </a:r>
          </a:p>
        </p:txBody>
      </p:sp>
      <p:sp>
        <p:nvSpPr>
          <p:cNvPr id="14" name="TextBox 13"/>
          <p:cNvSpPr txBox="1"/>
          <p:nvPr/>
        </p:nvSpPr>
        <p:spPr>
          <a:xfrm>
            <a:off x="1783080" y="3703320"/>
            <a:ext cx="8229600" cy="41148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Почему AI плохо считает буквы?</a:t>
            </a:r>
          </a:p>
        </p:txBody>
      </p:sp>
      <p:sp>
        <p:nvSpPr>
          <p:cNvPr id="15" name="TextBox 14"/>
          <p:cNvSpPr txBox="1"/>
          <p:nvPr/>
        </p:nvSpPr>
        <p:spPr>
          <a:xfrm>
            <a:off x="1783080" y="4160520"/>
            <a:ext cx="8229600" cy="731520"/>
          </a:xfrm>
          <a:prstGeom prst="rect">
            <a:avLst/>
          </a:prstGeom>
          <a:noFill/>
        </p:spPr>
        <p:txBody>
          <a:bodyPr wrap="square" lIns="0" rIns="0" tIns="0" bIns="0" anchor="t">
            <a:spAutoFit/>
          </a:bodyPr>
          <a:lstStyle/>
          <a:p>
            <a:pPr algn="l">
              <a:lnSpc>
                <a:spcPct val="130000"/>
              </a:lnSpc>
            </a:pPr>
            <a:r>
              <a:rPr sz="1300" b="0" i="1">
                <a:solidFill>
                  <a:srgbClr val="21295C"/>
                </a:solidFill>
                <a:latin typeface="Arial"/>
              </a:rPr>
              <a:t>Токенизатор объединяет буквы в токены. strawberry — 3 токена, не 10 букв. Модель видит токены, не буквы.</a:t>
            </a:r>
          </a:p>
        </p:txBody>
      </p:sp>
      <p:sp>
        <p:nvSpPr>
          <p:cNvPr id="16" name="TextBox 15"/>
          <p:cNvSpPr txBox="1"/>
          <p:nvPr/>
        </p:nvSpPr>
        <p:spPr>
          <a:xfrm>
            <a:off x="10149840" y="3977639"/>
            <a:ext cx="1005840" cy="457200"/>
          </a:xfrm>
          <a:prstGeom prst="rect">
            <a:avLst/>
          </a:prstGeom>
          <a:noFill/>
        </p:spPr>
        <p:txBody>
          <a:bodyPr wrap="square" lIns="0" rIns="0" tIns="0" bIns="0" anchor="ctr">
            <a:spAutoFit/>
          </a:bodyPr>
          <a:lstStyle/>
          <a:p>
            <a:pPr algn="r">
              <a:lnSpc>
                <a:spcPct val="115000"/>
              </a:lnSpc>
            </a:pPr>
            <a:r>
              <a:rPr sz="1400" b="1" i="0">
                <a:solidFill>
                  <a:srgbClr val="065A82"/>
                </a:solidFill>
                <a:latin typeface="Arial"/>
              </a:rPr>
              <a:t>→ s05–s07</a:t>
            </a:r>
          </a:p>
        </p:txBody>
      </p:sp>
      <p:sp>
        <p:nvSpPr>
          <p:cNvPr id="17" name="Rounded Rectangle 16"/>
          <p:cNvSpPr/>
          <p:nvPr/>
        </p:nvSpPr>
        <p:spPr>
          <a:xfrm>
            <a:off x="502920" y="5074920"/>
            <a:ext cx="11247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77240" y="5367528"/>
            <a:ext cx="777240" cy="7772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394959"/>
            <a:ext cx="777240" cy="731520"/>
          </a:xfrm>
          <a:prstGeom prst="rect">
            <a:avLst/>
          </a:prstGeom>
          <a:noFill/>
        </p:spPr>
        <p:txBody>
          <a:bodyPr wrap="square" lIns="0" rIns="0" tIns="0" bIns="0" anchor="ctr">
            <a:spAutoFit/>
          </a:bodyPr>
          <a:lstStyle/>
          <a:p>
            <a:pPr algn="ctr">
              <a:lnSpc>
                <a:spcPct val="115000"/>
              </a:lnSpc>
            </a:pPr>
            <a:r>
              <a:rPr sz="3800" b="1" i="0">
                <a:solidFill>
                  <a:srgbClr val="FFFFFF"/>
                </a:solidFill>
                <a:latin typeface="Arial"/>
              </a:rPr>
              <a:t>3</a:t>
            </a:r>
          </a:p>
        </p:txBody>
      </p:sp>
      <p:sp>
        <p:nvSpPr>
          <p:cNvPr id="20" name="TextBox 19"/>
          <p:cNvSpPr txBox="1"/>
          <p:nvPr/>
        </p:nvSpPr>
        <p:spPr>
          <a:xfrm>
            <a:off x="1783080" y="5257800"/>
            <a:ext cx="8229600" cy="41148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Почему один и тот же запрос даёт разные ответы?</a:t>
            </a:r>
          </a:p>
        </p:txBody>
      </p:sp>
      <p:sp>
        <p:nvSpPr>
          <p:cNvPr id="21" name="TextBox 20"/>
          <p:cNvSpPr txBox="1"/>
          <p:nvPr/>
        </p:nvSpPr>
        <p:spPr>
          <a:xfrm>
            <a:off x="1783080" y="5715000"/>
            <a:ext cx="8229600" cy="731520"/>
          </a:xfrm>
          <a:prstGeom prst="rect">
            <a:avLst/>
          </a:prstGeom>
          <a:noFill/>
        </p:spPr>
        <p:txBody>
          <a:bodyPr wrap="square" lIns="0" rIns="0" tIns="0" bIns="0" anchor="t">
            <a:spAutoFit/>
          </a:bodyPr>
          <a:lstStyle/>
          <a:p>
            <a:pPr algn="l">
              <a:lnSpc>
                <a:spcPct val="130000"/>
              </a:lnSpc>
            </a:pPr>
            <a:r>
              <a:rPr sz="1300" b="0" i="1">
                <a:solidFill>
                  <a:srgbClr val="21295C"/>
                </a:solidFill>
                <a:latin typeface="Arial"/>
              </a:rPr>
              <a:t>Сэмплинг — стохастический выбор из distribution при T&gt;0. Каждый запуск может выбрать разный токен.</a:t>
            </a:r>
          </a:p>
        </p:txBody>
      </p:sp>
      <p:sp>
        <p:nvSpPr>
          <p:cNvPr id="22" name="TextBox 21"/>
          <p:cNvSpPr txBox="1"/>
          <p:nvPr/>
        </p:nvSpPr>
        <p:spPr>
          <a:xfrm>
            <a:off x="10149840" y="5532120"/>
            <a:ext cx="1005840" cy="457200"/>
          </a:xfrm>
          <a:prstGeom prst="rect">
            <a:avLst/>
          </a:prstGeom>
          <a:noFill/>
        </p:spPr>
        <p:txBody>
          <a:bodyPr wrap="square" lIns="0" rIns="0" tIns="0" bIns="0" anchor="ctr">
            <a:spAutoFit/>
          </a:bodyPr>
          <a:lstStyle/>
          <a:p>
            <a:pPr algn="r">
              <a:lnSpc>
                <a:spcPct val="115000"/>
              </a:lnSpc>
            </a:pPr>
            <a:r>
              <a:rPr sz="1400" b="1" i="0">
                <a:solidFill>
                  <a:srgbClr val="028090"/>
                </a:solidFill>
                <a:latin typeface="Arial"/>
              </a:rPr>
              <a:t>→ s18–s19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LLM — не всегда правильный инструмент. Decision tree: когда не LLM</a:t>
            </a:r>
          </a:p>
        </p:txBody>
      </p:sp>
      <p:sp>
        <p:nvSpPr>
          <p:cNvPr id="3" name="Rounded Rectangle 2"/>
          <p:cNvSpPr/>
          <p:nvPr/>
        </p:nvSpPr>
        <p:spPr>
          <a:xfrm>
            <a:off x="3581247" y="1508760"/>
            <a:ext cx="5029200" cy="685800"/>
          </a:xfrm>
          <a:prstGeom prst="roundRect">
            <a:avLst>
              <a:gd name="adj" fmla="val 25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581247" y="1600200"/>
            <a:ext cx="5029200" cy="50292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Когда LLM — не правильный инструмент?</a:t>
            </a:r>
          </a:p>
        </p:txBody>
      </p:sp>
      <p:sp>
        <p:nvSpPr>
          <p:cNvPr id="5" name="Rectangle 4"/>
          <p:cNvSpPr/>
          <p:nvPr/>
        </p:nvSpPr>
        <p:spPr>
          <a:xfrm>
            <a:off x="2290572" y="2194560"/>
            <a:ext cx="36576"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2743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pu.png"/>
          <p:cNvPicPr>
            <a:picLocks noChangeAspect="1"/>
          </p:cNvPicPr>
          <p:nvPr/>
        </p:nvPicPr>
        <p:blipFill>
          <a:blip r:embed="rId2"/>
          <a:stretch>
            <a:fillRect/>
          </a:stretch>
        </p:blipFill>
        <p:spPr>
          <a:xfrm>
            <a:off x="731520" y="2926080"/>
            <a:ext cx="640080" cy="640080"/>
          </a:xfrm>
          <a:prstGeom prst="rect">
            <a:avLst/>
          </a:prstGeom>
        </p:spPr>
      </p:pic>
      <p:sp>
        <p:nvSpPr>
          <p:cNvPr id="8" name="TextBox 7"/>
          <p:cNvSpPr txBox="1"/>
          <p:nvPr/>
        </p:nvSpPr>
        <p:spPr>
          <a:xfrm>
            <a:off x="1463040" y="2926080"/>
            <a:ext cx="251460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Ветка 1</a:t>
            </a:r>
          </a:p>
        </p:txBody>
      </p:sp>
      <p:sp>
        <p:nvSpPr>
          <p:cNvPr id="9" name="TextBox 8"/>
          <p:cNvSpPr txBox="1"/>
          <p:nvPr/>
        </p:nvSpPr>
        <p:spPr>
          <a:xfrm>
            <a:off x="731520" y="3657600"/>
            <a:ext cx="3154680" cy="868680"/>
          </a:xfrm>
          <a:prstGeom prst="rect">
            <a:avLst/>
          </a:prstGeom>
          <a:noFill/>
        </p:spPr>
        <p:txBody>
          <a:bodyPr wrap="square" lIns="0" rIns="0" tIns="0" bIns="0" anchor="t">
            <a:spAutoFit/>
          </a:bodyPr>
          <a:lstStyle/>
          <a:p>
            <a:pPr algn="l">
              <a:lnSpc>
                <a:spcPct val="130000"/>
              </a:lnSpc>
            </a:pPr>
            <a:r>
              <a:rPr sz="1200" b="0" i="1">
                <a:solidFill>
                  <a:srgbClr val="21295C"/>
                </a:solidFill>
                <a:latin typeface="Arial"/>
              </a:rPr>
              <a:t>Классификация на маленьком фиксированном наборе категорий (5–20)?</a:t>
            </a:r>
          </a:p>
        </p:txBody>
      </p:sp>
      <p:sp>
        <p:nvSpPr>
          <p:cNvPr id="10" name="TextBox 9"/>
          <p:cNvSpPr txBox="1"/>
          <p:nvPr/>
        </p:nvSpPr>
        <p:spPr>
          <a:xfrm>
            <a:off x="731520" y="4572000"/>
            <a:ext cx="3154680" cy="731520"/>
          </a:xfrm>
          <a:prstGeom prst="rect">
            <a:avLst/>
          </a:prstGeom>
          <a:noFill/>
        </p:spPr>
        <p:txBody>
          <a:bodyPr wrap="square" lIns="0" rIns="0" tIns="0" bIns="0" anchor="t">
            <a:spAutoFit/>
          </a:bodyPr>
          <a:lstStyle/>
          <a:p>
            <a:pPr algn="l">
              <a:lnSpc>
                <a:spcPct val="130000"/>
              </a:lnSpc>
            </a:pPr>
            <a:r>
              <a:rPr sz="1200" b="1" i="0">
                <a:solidFill>
                  <a:srgbClr val="21295C"/>
                </a:solidFill>
                <a:latin typeface="Arial"/>
              </a:rPr>
              <a:t>→ Классический ML
logistic, XGBoost,
LightGBM, BERT fine-tuned</a:t>
            </a:r>
          </a:p>
        </p:txBody>
      </p:sp>
      <p:sp>
        <p:nvSpPr>
          <p:cNvPr id="11" name="Rectangle 10"/>
          <p:cNvSpPr/>
          <p:nvPr/>
        </p:nvSpPr>
        <p:spPr>
          <a:xfrm>
            <a:off x="6085332" y="2194560"/>
            <a:ext cx="36576"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97680" y="2743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png"/>
          <p:cNvPicPr>
            <a:picLocks noChangeAspect="1"/>
          </p:cNvPicPr>
          <p:nvPr/>
        </p:nvPicPr>
        <p:blipFill>
          <a:blip r:embed="rId3"/>
          <a:stretch>
            <a:fillRect/>
          </a:stretch>
        </p:blipFill>
        <p:spPr>
          <a:xfrm>
            <a:off x="4526280" y="2926080"/>
            <a:ext cx="640080" cy="640080"/>
          </a:xfrm>
          <a:prstGeom prst="rect">
            <a:avLst/>
          </a:prstGeom>
        </p:spPr>
      </p:pic>
      <p:sp>
        <p:nvSpPr>
          <p:cNvPr id="14" name="TextBox 13"/>
          <p:cNvSpPr txBox="1"/>
          <p:nvPr/>
        </p:nvSpPr>
        <p:spPr>
          <a:xfrm>
            <a:off x="5257800" y="2926080"/>
            <a:ext cx="251460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Ветка 2</a:t>
            </a:r>
          </a:p>
        </p:txBody>
      </p:sp>
      <p:sp>
        <p:nvSpPr>
          <p:cNvPr id="15" name="TextBox 14"/>
          <p:cNvSpPr txBox="1"/>
          <p:nvPr/>
        </p:nvSpPr>
        <p:spPr>
          <a:xfrm>
            <a:off x="4526280" y="3657600"/>
            <a:ext cx="3154680" cy="868680"/>
          </a:xfrm>
          <a:prstGeom prst="rect">
            <a:avLst/>
          </a:prstGeom>
          <a:noFill/>
        </p:spPr>
        <p:txBody>
          <a:bodyPr wrap="square" lIns="0" rIns="0" tIns="0" bIns="0" anchor="t">
            <a:spAutoFit/>
          </a:bodyPr>
          <a:lstStyle/>
          <a:p>
            <a:pPr algn="l">
              <a:lnSpc>
                <a:spcPct val="130000"/>
              </a:lnSpc>
            </a:pPr>
            <a:r>
              <a:rPr sz="1200" b="0" i="1">
                <a:solidFill>
                  <a:srgbClr val="21295C"/>
                </a:solidFill>
                <a:latin typeface="Arial"/>
              </a:rPr>
              <a:t>Нужна интерпретируемость (regulated: финансы, медицина, страхование)?</a:t>
            </a:r>
          </a:p>
        </p:txBody>
      </p:sp>
      <p:sp>
        <p:nvSpPr>
          <p:cNvPr id="16" name="TextBox 15"/>
          <p:cNvSpPr txBox="1"/>
          <p:nvPr/>
        </p:nvSpPr>
        <p:spPr>
          <a:xfrm>
            <a:off x="4526280" y="4572000"/>
            <a:ext cx="3154680" cy="731520"/>
          </a:xfrm>
          <a:prstGeom prst="rect">
            <a:avLst/>
          </a:prstGeom>
          <a:noFill/>
        </p:spPr>
        <p:txBody>
          <a:bodyPr wrap="square" lIns="0" rIns="0" tIns="0" bIns="0" anchor="t">
            <a:spAutoFit/>
          </a:bodyPr>
          <a:lstStyle/>
          <a:p>
            <a:pPr algn="l">
              <a:lnSpc>
                <a:spcPct val="130000"/>
              </a:lnSpc>
            </a:pPr>
            <a:r>
              <a:rPr sz="1200" b="1" i="0">
                <a:solidFill>
                  <a:srgbClr val="21295C"/>
                </a:solidFill>
                <a:latin typeface="Arial"/>
              </a:rPr>
              <a:t>→ Прозрачные методы
logistic + feature imp,
decision trees, правила</a:t>
            </a:r>
          </a:p>
        </p:txBody>
      </p:sp>
      <p:sp>
        <p:nvSpPr>
          <p:cNvPr id="17" name="Rectangle 16"/>
          <p:cNvSpPr/>
          <p:nvPr/>
        </p:nvSpPr>
        <p:spPr>
          <a:xfrm>
            <a:off x="9880092" y="2194560"/>
            <a:ext cx="36576"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92440" y="2743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auge.png"/>
          <p:cNvPicPr>
            <a:picLocks noChangeAspect="1"/>
          </p:cNvPicPr>
          <p:nvPr/>
        </p:nvPicPr>
        <p:blipFill>
          <a:blip r:embed="rId4"/>
          <a:stretch>
            <a:fillRect/>
          </a:stretch>
        </p:blipFill>
        <p:spPr>
          <a:xfrm>
            <a:off x="8321040" y="2926080"/>
            <a:ext cx="640080" cy="640080"/>
          </a:xfrm>
          <a:prstGeom prst="rect">
            <a:avLst/>
          </a:prstGeom>
        </p:spPr>
      </p:pic>
      <p:sp>
        <p:nvSpPr>
          <p:cNvPr id="20" name="TextBox 19"/>
          <p:cNvSpPr txBox="1"/>
          <p:nvPr/>
        </p:nvSpPr>
        <p:spPr>
          <a:xfrm>
            <a:off x="9052560" y="2926080"/>
            <a:ext cx="251460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Ветка 3</a:t>
            </a:r>
          </a:p>
        </p:txBody>
      </p:sp>
      <p:sp>
        <p:nvSpPr>
          <p:cNvPr id="21" name="TextBox 20"/>
          <p:cNvSpPr txBox="1"/>
          <p:nvPr/>
        </p:nvSpPr>
        <p:spPr>
          <a:xfrm>
            <a:off x="8321040" y="3657600"/>
            <a:ext cx="3154680" cy="868680"/>
          </a:xfrm>
          <a:prstGeom prst="rect">
            <a:avLst/>
          </a:prstGeom>
          <a:noFill/>
        </p:spPr>
        <p:txBody>
          <a:bodyPr wrap="square" lIns="0" rIns="0" tIns="0" bIns="0" anchor="t">
            <a:spAutoFit/>
          </a:bodyPr>
          <a:lstStyle/>
          <a:p>
            <a:pPr algn="l">
              <a:lnSpc>
                <a:spcPct val="130000"/>
              </a:lnSpc>
            </a:pPr>
            <a:r>
              <a:rPr sz="1200" b="0" i="1">
                <a:solidFill>
                  <a:srgbClr val="21295C"/>
                </a:solidFill>
                <a:latin typeface="Arial"/>
              </a:rPr>
              <a:t>Время отклика &lt; 100 ms критично (real-time, антифрод, edge)?</a:t>
            </a:r>
          </a:p>
        </p:txBody>
      </p:sp>
      <p:sp>
        <p:nvSpPr>
          <p:cNvPr id="22" name="TextBox 21"/>
          <p:cNvSpPr txBox="1"/>
          <p:nvPr/>
        </p:nvSpPr>
        <p:spPr>
          <a:xfrm>
            <a:off x="8321040" y="4572000"/>
            <a:ext cx="3154680" cy="731520"/>
          </a:xfrm>
          <a:prstGeom prst="rect">
            <a:avLst/>
          </a:prstGeom>
          <a:noFill/>
        </p:spPr>
        <p:txBody>
          <a:bodyPr wrap="square" lIns="0" rIns="0" tIns="0" bIns="0" anchor="t">
            <a:spAutoFit/>
          </a:bodyPr>
          <a:lstStyle/>
          <a:p>
            <a:pPr algn="l">
              <a:lnSpc>
                <a:spcPct val="130000"/>
              </a:lnSpc>
            </a:pPr>
            <a:r>
              <a:rPr sz="1200" b="1" i="0">
                <a:solidFill>
                  <a:srgbClr val="21295C"/>
                </a:solidFill>
                <a:latin typeface="Arial"/>
              </a:rPr>
              <a:t>→ Специализированная
маленькая модель
(не LLM ≥200 мс)</a:t>
            </a:r>
          </a:p>
        </p:txBody>
      </p:sp>
      <p:sp>
        <p:nvSpPr>
          <p:cNvPr id="23" name="Rounded Rectangle 22"/>
          <p:cNvSpPr/>
          <p:nvPr/>
        </p:nvSpPr>
        <p:spPr>
          <a:xfrm>
            <a:off x="2438247" y="5577840"/>
            <a:ext cx="7315200" cy="548640"/>
          </a:xfrm>
          <a:prstGeom prst="roundRect">
            <a:avLst>
              <a:gd name="adj" fmla="val 4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38247" y="5650992"/>
            <a:ext cx="7315200" cy="411480"/>
          </a:xfrm>
          <a:prstGeom prst="rect">
            <a:avLst/>
          </a:prstGeom>
          <a:noFill/>
        </p:spPr>
        <p:txBody>
          <a:bodyPr wrap="square" lIns="0" rIns="0" tIns="0" bIns="0" anchor="ctr">
            <a:spAutoFit/>
          </a:bodyPr>
          <a:lstStyle/>
          <a:p>
            <a:pPr algn="ctr">
              <a:lnSpc>
                <a:spcPct val="115000"/>
              </a:lnSpc>
            </a:pPr>
            <a:r>
              <a:rPr sz="1500" b="1" i="0">
                <a:solidFill>
                  <a:srgbClr val="21295C"/>
                </a:solidFill>
                <a:latin typeface="Arial"/>
              </a:rPr>
              <a:t>Иначе — LLM подходит (chat, RAG, generation, многошаговое рассуждение)</a:t>
            </a:r>
          </a:p>
        </p:txBody>
      </p:sp>
      <p:sp>
        <p:nvSpPr>
          <p:cNvPr id="25" name="TextBox 24"/>
          <p:cNvSpPr txBox="1"/>
          <p:nvPr/>
        </p:nvSpPr>
        <p:spPr>
          <a:xfrm>
            <a:off x="502920" y="6309360"/>
            <a:ext cx="11247120" cy="365760"/>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Верхний уровень. Глубже — Лекции 4–7 (индустрии).</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Attention статистически смотрит на токены — не понимает причинности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Cross-cutting frame: human vs AI (callback Lec-1 §4.8 Pearl)</a:t>
            </a:r>
          </a:p>
        </p:txBody>
      </p:sp>
      <p:sp>
        <p:nvSpPr>
          <p:cNvPr id="4" name="Rounded Rectangle 3"/>
          <p:cNvSpPr/>
          <p:nvPr/>
        </p:nvSpPr>
        <p:spPr>
          <a:xfrm>
            <a:off x="502920" y="1874519"/>
            <a:ext cx="5486400" cy="4434840"/>
          </a:xfrm>
          <a:prstGeom prst="roundRect">
            <a:avLst>
              <a:gd name="adj" fmla="val 68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2"/>
          <a:stretch>
            <a:fillRect/>
          </a:stretch>
        </p:blipFill>
        <p:spPr>
          <a:xfrm>
            <a:off x="777240" y="2103120"/>
            <a:ext cx="731520" cy="731520"/>
          </a:xfrm>
          <a:prstGeom prst="rect">
            <a:avLst/>
          </a:prstGeom>
        </p:spPr>
      </p:pic>
      <p:sp>
        <p:nvSpPr>
          <p:cNvPr id="6" name="TextBox 5"/>
          <p:cNvSpPr txBox="1"/>
          <p:nvPr/>
        </p:nvSpPr>
        <p:spPr>
          <a:xfrm>
            <a:off x="1600200" y="2103120"/>
            <a:ext cx="4206240" cy="731520"/>
          </a:xfrm>
          <a:prstGeom prst="rect">
            <a:avLst/>
          </a:prstGeom>
          <a:noFill/>
        </p:spPr>
        <p:txBody>
          <a:bodyPr wrap="square" lIns="0" rIns="0" tIns="0" bIns="0" anchor="ctr">
            <a:spAutoFit/>
          </a:bodyPr>
          <a:lstStyle/>
          <a:p>
            <a:pPr algn="l">
              <a:lnSpc>
                <a:spcPct val="115000"/>
              </a:lnSpc>
            </a:pPr>
            <a:r>
              <a:rPr sz="2200" b="1" i="0">
                <a:solidFill>
                  <a:srgbClr val="21295C"/>
                </a:solidFill>
                <a:latin typeface="Arial"/>
              </a:rPr>
              <a:t>Человек</a:t>
            </a:r>
          </a:p>
        </p:txBody>
      </p:sp>
      <p:sp>
        <p:nvSpPr>
          <p:cNvPr id="7" name="TextBox 6"/>
          <p:cNvSpPr txBox="1"/>
          <p:nvPr/>
        </p:nvSpPr>
        <p:spPr>
          <a:xfrm>
            <a:off x="777240" y="2971800"/>
            <a:ext cx="4937760" cy="502920"/>
          </a:xfrm>
          <a:prstGeom prst="rect">
            <a:avLst/>
          </a:prstGeom>
          <a:noFill/>
        </p:spPr>
        <p:txBody>
          <a:bodyPr wrap="square" lIns="0" rIns="0" tIns="0" bIns="0" anchor="t">
            <a:spAutoFit/>
          </a:bodyPr>
          <a:lstStyle/>
          <a:p>
            <a:pPr algn="l">
              <a:lnSpc>
                <a:spcPct val="125000"/>
              </a:lnSpc>
            </a:pPr>
            <a:r>
              <a:rPr sz="1600" b="1" i="1">
                <a:solidFill>
                  <a:srgbClr val="065A82"/>
                </a:solidFill>
                <a:latin typeface="Liberation Mono"/>
              </a:rPr>
              <a:t>«X произошло, потому что Y»</a:t>
            </a:r>
          </a:p>
        </p:txBody>
      </p:sp>
      <p:sp>
        <p:nvSpPr>
          <p:cNvPr id="8" name="TextBox 7"/>
          <p:cNvSpPr txBox="1"/>
          <p:nvPr/>
        </p:nvSpPr>
        <p:spPr>
          <a:xfrm>
            <a:off x="777240" y="3566160"/>
            <a:ext cx="4937760" cy="365760"/>
          </a:xfrm>
          <a:prstGeom prst="rect">
            <a:avLst/>
          </a:prstGeom>
          <a:noFill/>
        </p:spPr>
        <p:txBody>
          <a:bodyPr wrap="square" lIns="0" rIns="0" tIns="0" bIns="0" anchor="t">
            <a:spAutoFit/>
          </a:bodyPr>
          <a:lstStyle/>
          <a:p>
            <a:pPr algn="l">
              <a:lnSpc>
                <a:spcPct val="115000"/>
              </a:lnSpc>
            </a:pPr>
            <a:r>
              <a:rPr sz="1400" b="0" i="1">
                <a:solidFill>
                  <a:srgbClr val="21295C"/>
                </a:solidFill>
                <a:latin typeface="Arial"/>
              </a:rPr>
              <a:t>Модель причинности.</a:t>
            </a:r>
          </a:p>
        </p:txBody>
      </p:sp>
      <p:sp>
        <p:nvSpPr>
          <p:cNvPr id="9" name="TextBox 8"/>
          <p:cNvSpPr txBox="1"/>
          <p:nvPr/>
        </p:nvSpPr>
        <p:spPr>
          <a:xfrm>
            <a:off x="777240" y="4023360"/>
            <a:ext cx="4937760"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Уровни Перла:</a:t>
            </a:r>
          </a:p>
        </p:txBody>
      </p:sp>
      <p:sp>
        <p:nvSpPr>
          <p:cNvPr id="10" name="Rounded Rectangle 9"/>
          <p:cNvSpPr/>
          <p:nvPr/>
        </p:nvSpPr>
        <p:spPr>
          <a:xfrm>
            <a:off x="868680" y="4480559"/>
            <a:ext cx="164592" cy="16459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389120"/>
            <a:ext cx="46634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1. Ассоциация</a:t>
            </a:r>
          </a:p>
        </p:txBody>
      </p:sp>
      <p:sp>
        <p:nvSpPr>
          <p:cNvPr id="12" name="Rounded Rectangle 11"/>
          <p:cNvSpPr/>
          <p:nvPr/>
        </p:nvSpPr>
        <p:spPr>
          <a:xfrm>
            <a:off x="868680" y="4846320"/>
            <a:ext cx="164592" cy="16459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754880"/>
            <a:ext cx="46634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2. Вмешательство</a:t>
            </a:r>
          </a:p>
        </p:txBody>
      </p:sp>
      <p:sp>
        <p:nvSpPr>
          <p:cNvPr id="14" name="Rounded Rectangle 13"/>
          <p:cNvSpPr/>
          <p:nvPr/>
        </p:nvSpPr>
        <p:spPr>
          <a:xfrm>
            <a:off x="868680" y="5212079"/>
            <a:ext cx="164592" cy="1645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5120640"/>
            <a:ext cx="46634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3. Контрфактуальность</a:t>
            </a:r>
          </a:p>
        </p:txBody>
      </p:sp>
      <p:sp>
        <p:nvSpPr>
          <p:cNvPr id="16" name="TextBox 15"/>
          <p:cNvSpPr txBox="1"/>
          <p:nvPr/>
        </p:nvSpPr>
        <p:spPr>
          <a:xfrm>
            <a:off x="777240" y="5623559"/>
            <a:ext cx="4937760" cy="594360"/>
          </a:xfrm>
          <a:prstGeom prst="rect">
            <a:avLst/>
          </a:prstGeom>
          <a:noFill/>
        </p:spPr>
        <p:txBody>
          <a:bodyPr wrap="square" lIns="0" rIns="0" tIns="0" bIns="0" anchor="t">
            <a:spAutoFit/>
          </a:bodyPr>
          <a:lstStyle/>
          <a:p>
            <a:pPr algn="l">
              <a:lnSpc>
                <a:spcPct val="130000"/>
              </a:lnSpc>
            </a:pPr>
            <a:r>
              <a:rPr sz="1200" b="0" i="1">
                <a:solidFill>
                  <a:srgbClr val="21295C"/>
                </a:solidFill>
                <a:latin typeface="Arial"/>
              </a:rPr>
              <a:t>Опирается на физическую интуицию, доменные знания, знание механизмов мира.</a:t>
            </a:r>
          </a:p>
        </p:txBody>
      </p:sp>
      <p:sp>
        <p:nvSpPr>
          <p:cNvPr id="17" name="Rounded Rectangle 16"/>
          <p:cNvSpPr/>
          <p:nvPr/>
        </p:nvSpPr>
        <p:spPr>
          <a:xfrm>
            <a:off x="6263640" y="1874519"/>
            <a:ext cx="5486400" cy="4434840"/>
          </a:xfrm>
          <a:prstGeom prst="roundRect">
            <a:avLst>
              <a:gd name="adj" fmla="val 68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brain.png"/>
          <p:cNvPicPr>
            <a:picLocks noChangeAspect="1"/>
          </p:cNvPicPr>
          <p:nvPr/>
        </p:nvPicPr>
        <p:blipFill>
          <a:blip r:embed="rId3"/>
          <a:stretch>
            <a:fillRect/>
          </a:stretch>
        </p:blipFill>
        <p:spPr>
          <a:xfrm>
            <a:off x="6537959" y="2103120"/>
            <a:ext cx="731520" cy="731520"/>
          </a:xfrm>
          <a:prstGeom prst="rect">
            <a:avLst/>
          </a:prstGeom>
        </p:spPr>
      </p:pic>
      <p:sp>
        <p:nvSpPr>
          <p:cNvPr id="19" name="TextBox 18"/>
          <p:cNvSpPr txBox="1"/>
          <p:nvPr/>
        </p:nvSpPr>
        <p:spPr>
          <a:xfrm>
            <a:off x="7360919" y="2103120"/>
            <a:ext cx="4206240" cy="731520"/>
          </a:xfrm>
          <a:prstGeom prst="rect">
            <a:avLst/>
          </a:prstGeom>
          <a:noFill/>
        </p:spPr>
        <p:txBody>
          <a:bodyPr wrap="square" lIns="0" rIns="0" tIns="0" bIns="0" anchor="ctr">
            <a:spAutoFit/>
          </a:bodyPr>
          <a:lstStyle/>
          <a:p>
            <a:pPr algn="l">
              <a:lnSpc>
                <a:spcPct val="115000"/>
              </a:lnSpc>
            </a:pPr>
            <a:r>
              <a:rPr sz="2200" b="1" i="0">
                <a:solidFill>
                  <a:srgbClr val="21295C"/>
                </a:solidFill>
                <a:latin typeface="Arial"/>
              </a:rPr>
              <a:t>AI (через attention)</a:t>
            </a:r>
          </a:p>
        </p:txBody>
      </p:sp>
      <p:sp>
        <p:nvSpPr>
          <p:cNvPr id="20" name="TextBox 19"/>
          <p:cNvSpPr txBox="1"/>
          <p:nvPr/>
        </p:nvSpPr>
        <p:spPr>
          <a:xfrm>
            <a:off x="6537959" y="2971800"/>
            <a:ext cx="4937760" cy="502920"/>
          </a:xfrm>
          <a:prstGeom prst="rect">
            <a:avLst/>
          </a:prstGeom>
          <a:noFill/>
        </p:spPr>
        <p:txBody>
          <a:bodyPr wrap="square" lIns="0" rIns="0" tIns="0" bIns="0" anchor="t">
            <a:spAutoFit/>
          </a:bodyPr>
          <a:lstStyle/>
          <a:p>
            <a:pPr algn="l">
              <a:lnSpc>
                <a:spcPct val="125000"/>
              </a:lnSpc>
            </a:pPr>
            <a:r>
              <a:rPr sz="1600" b="1" i="1">
                <a:solidFill>
                  <a:srgbClr val="065A82"/>
                </a:solidFill>
                <a:latin typeface="Liberation Mono"/>
              </a:rPr>
              <a:t>«X следует за Y в данных»</a:t>
            </a:r>
          </a:p>
        </p:txBody>
      </p:sp>
      <p:sp>
        <p:nvSpPr>
          <p:cNvPr id="21" name="TextBox 20"/>
          <p:cNvSpPr txBox="1"/>
          <p:nvPr/>
        </p:nvSpPr>
        <p:spPr>
          <a:xfrm>
            <a:off x="6537959" y="3566160"/>
            <a:ext cx="4937760" cy="365760"/>
          </a:xfrm>
          <a:prstGeom prst="rect">
            <a:avLst/>
          </a:prstGeom>
          <a:noFill/>
        </p:spPr>
        <p:txBody>
          <a:bodyPr wrap="square" lIns="0" rIns="0" tIns="0" bIns="0" anchor="t">
            <a:spAutoFit/>
          </a:bodyPr>
          <a:lstStyle/>
          <a:p>
            <a:pPr algn="l">
              <a:lnSpc>
                <a:spcPct val="115000"/>
              </a:lnSpc>
            </a:pPr>
            <a:r>
              <a:rPr sz="1400" b="0" i="1">
                <a:solidFill>
                  <a:srgbClr val="21295C"/>
                </a:solidFill>
                <a:latin typeface="Arial"/>
              </a:rPr>
              <a:t>Статистическая корреляция.</a:t>
            </a:r>
          </a:p>
        </p:txBody>
      </p:sp>
      <p:sp>
        <p:nvSpPr>
          <p:cNvPr id="22" name="TextBox 21"/>
          <p:cNvSpPr txBox="1"/>
          <p:nvPr/>
        </p:nvSpPr>
        <p:spPr>
          <a:xfrm>
            <a:off x="6537959" y="4023360"/>
            <a:ext cx="4937760"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Уровни Перла:</a:t>
            </a:r>
          </a:p>
        </p:txBody>
      </p:sp>
      <p:sp>
        <p:nvSpPr>
          <p:cNvPr id="23" name="Rounded Rectangle 22"/>
          <p:cNvSpPr/>
          <p:nvPr/>
        </p:nvSpPr>
        <p:spPr>
          <a:xfrm>
            <a:off x="6629400" y="4480559"/>
            <a:ext cx="164592" cy="16459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03720" y="4389120"/>
            <a:ext cx="46634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1. Ассоциация — да</a:t>
            </a:r>
          </a:p>
        </p:txBody>
      </p:sp>
      <p:sp>
        <p:nvSpPr>
          <p:cNvPr id="25" name="Rounded Rectangle 24"/>
          <p:cNvSpPr/>
          <p:nvPr/>
        </p:nvSpPr>
        <p:spPr>
          <a:xfrm>
            <a:off x="6629400" y="4846320"/>
            <a:ext cx="164592" cy="16459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03720" y="4754880"/>
            <a:ext cx="46634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2. Вмешательство — частично</a:t>
            </a:r>
          </a:p>
        </p:txBody>
      </p:sp>
      <p:sp>
        <p:nvSpPr>
          <p:cNvPr id="27" name="Rounded Rectangle 26"/>
          <p:cNvSpPr/>
          <p:nvPr/>
        </p:nvSpPr>
        <p:spPr>
          <a:xfrm>
            <a:off x="6629400" y="5212079"/>
            <a:ext cx="164592" cy="164592"/>
          </a:xfrm>
          <a:prstGeom prst="roundRect">
            <a:avLst>
              <a:gd name="adj" fmla="val 50000"/>
            </a:avLst>
          </a:prstGeom>
          <a:solidFill>
            <a:srgbClr val="6B76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3720" y="5120640"/>
            <a:ext cx="46634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3. Контрфактуальность — нет</a:t>
            </a:r>
          </a:p>
        </p:txBody>
      </p:sp>
      <p:sp>
        <p:nvSpPr>
          <p:cNvPr id="29" name="TextBox 28"/>
          <p:cNvSpPr txBox="1"/>
          <p:nvPr/>
        </p:nvSpPr>
        <p:spPr>
          <a:xfrm>
            <a:off x="6537959" y="5623559"/>
            <a:ext cx="4937760" cy="594360"/>
          </a:xfrm>
          <a:prstGeom prst="rect">
            <a:avLst/>
          </a:prstGeom>
          <a:noFill/>
        </p:spPr>
        <p:txBody>
          <a:bodyPr wrap="square" lIns="0" rIns="0" tIns="0" bIns="0" anchor="t">
            <a:spAutoFit/>
          </a:bodyPr>
          <a:lstStyle/>
          <a:p>
            <a:pPr algn="l">
              <a:lnSpc>
                <a:spcPct val="130000"/>
              </a:lnSpc>
            </a:pPr>
            <a:r>
              <a:rPr sz="1200" b="0" i="1">
                <a:solidFill>
                  <a:srgbClr val="21295C"/>
                </a:solidFill>
                <a:latin typeface="Arial"/>
              </a:rPr>
              <a:t>Замечает паттерн «X и Y часто соседствуют» — корреляция, не каузальный граф.</a:t>
            </a:r>
          </a:p>
        </p:txBody>
      </p:sp>
      <p:sp>
        <p:nvSpPr>
          <p:cNvPr id="30" name="TextBox 29"/>
          <p:cNvSpPr txBox="1"/>
          <p:nvPr/>
        </p:nvSpPr>
        <p:spPr>
          <a:xfrm>
            <a:off x="502920" y="6355080"/>
            <a:ext cx="11247120" cy="365760"/>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Lec-1 §4.8 разбирала 3 уровня Перла. Теперь — механизм: attention считает веса в данных, не строит каузальный граф.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Принесите: 1 запрос × 3 температуры × 3 запуска × анализ</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ДЗ к Семинару 2  —  apply LO4 + LO6 + LO7</a:t>
            </a:r>
          </a:p>
        </p:txBody>
      </p:sp>
      <p:sp>
        <p:nvSpPr>
          <p:cNvPr id="4" name="Rounded Rectangle 3"/>
          <p:cNvSpPr/>
          <p:nvPr/>
        </p:nvSpPr>
        <p:spPr>
          <a:xfrm>
            <a:off x="502920" y="1920240"/>
            <a:ext cx="361188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png"/>
          <p:cNvPicPr>
            <a:picLocks noChangeAspect="1"/>
          </p:cNvPicPr>
          <p:nvPr/>
        </p:nvPicPr>
        <p:blipFill>
          <a:blip r:embed="rId2"/>
          <a:stretch>
            <a:fillRect/>
          </a:stretch>
        </p:blipFill>
        <p:spPr>
          <a:xfrm>
            <a:off x="1851660" y="2194560"/>
            <a:ext cx="914400" cy="914400"/>
          </a:xfrm>
          <a:prstGeom prst="rect">
            <a:avLst/>
          </a:prstGeom>
        </p:spPr>
      </p:pic>
      <p:sp>
        <p:nvSpPr>
          <p:cNvPr id="6" name="TextBox 5"/>
          <p:cNvSpPr txBox="1"/>
          <p:nvPr/>
        </p:nvSpPr>
        <p:spPr>
          <a:xfrm>
            <a:off x="685800" y="3200400"/>
            <a:ext cx="3246120" cy="411480"/>
          </a:xfrm>
          <a:prstGeom prst="rect">
            <a:avLst/>
          </a:prstGeom>
          <a:noFill/>
        </p:spPr>
        <p:txBody>
          <a:bodyPr wrap="square" lIns="0" rIns="0" tIns="0" bIns="0" anchor="t">
            <a:spAutoFit/>
          </a:bodyPr>
          <a:lstStyle/>
          <a:p>
            <a:pPr algn="ctr">
              <a:lnSpc>
                <a:spcPct val="115000"/>
              </a:lnSpc>
            </a:pPr>
            <a:r>
              <a:rPr sz="1800" b="1" i="0">
                <a:solidFill>
                  <a:srgbClr val="065A82"/>
                </a:solidFill>
                <a:latin typeface="Arial"/>
              </a:rPr>
              <a:t>Шаг 1</a:t>
            </a:r>
          </a:p>
        </p:txBody>
      </p:sp>
      <p:sp>
        <p:nvSpPr>
          <p:cNvPr id="7" name="TextBox 6"/>
          <p:cNvSpPr txBox="1"/>
          <p:nvPr/>
        </p:nvSpPr>
        <p:spPr>
          <a:xfrm>
            <a:off x="731520" y="3657600"/>
            <a:ext cx="3154680" cy="594360"/>
          </a:xfrm>
          <a:prstGeom prst="rect">
            <a:avLst/>
          </a:prstGeom>
          <a:noFill/>
        </p:spPr>
        <p:txBody>
          <a:bodyPr wrap="square" lIns="0" rIns="0" tIns="0" bIns="0" anchor="t">
            <a:spAutoFit/>
          </a:bodyPr>
          <a:lstStyle/>
          <a:p>
            <a:pPr algn="ctr">
              <a:lnSpc>
                <a:spcPct val="130000"/>
              </a:lnSpc>
            </a:pPr>
            <a:r>
              <a:rPr sz="1300" b="1" i="0">
                <a:solidFill>
                  <a:srgbClr val="21295C"/>
                </a:solidFill>
                <a:latin typeface="Arial"/>
              </a:rPr>
              <a:t>Возьмите типовую задачу из своей предметной области.</a:t>
            </a:r>
          </a:p>
        </p:txBody>
      </p:sp>
      <p:sp>
        <p:nvSpPr>
          <p:cNvPr id="8" name="TextBox 7"/>
          <p:cNvSpPr txBox="1"/>
          <p:nvPr/>
        </p:nvSpPr>
        <p:spPr>
          <a:xfrm>
            <a:off x="731520" y="4251960"/>
            <a:ext cx="3154680" cy="640080"/>
          </a:xfrm>
          <a:prstGeom prst="rect">
            <a:avLst/>
          </a:prstGeom>
          <a:noFill/>
        </p:spPr>
        <p:txBody>
          <a:bodyPr wrap="square" lIns="0" rIns="0" tIns="0" bIns="0" anchor="t">
            <a:spAutoFit/>
          </a:bodyPr>
          <a:lstStyle/>
          <a:p>
            <a:pPr algn="ctr">
              <a:lnSpc>
                <a:spcPct val="135000"/>
              </a:lnSpc>
            </a:pPr>
            <a:r>
              <a:rPr sz="1200" b="0" i="1">
                <a:solidFill>
                  <a:srgbClr val="21295C"/>
                </a:solidFill>
                <a:latin typeface="Arial"/>
              </a:rPr>
              <a:t>Конкретный воспроизводимый запрос (не «помоги думать»).</a:t>
            </a:r>
          </a:p>
        </p:txBody>
      </p:sp>
      <p:sp>
        <p:nvSpPr>
          <p:cNvPr id="9" name="Rounded Rectangle 8"/>
          <p:cNvSpPr/>
          <p:nvPr/>
        </p:nvSpPr>
        <p:spPr>
          <a:xfrm>
            <a:off x="4297680" y="1920240"/>
            <a:ext cx="361188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rs-horizontal.png"/>
          <p:cNvPicPr>
            <a:picLocks noChangeAspect="1"/>
          </p:cNvPicPr>
          <p:nvPr/>
        </p:nvPicPr>
        <p:blipFill>
          <a:blip r:embed="rId3"/>
          <a:stretch>
            <a:fillRect/>
          </a:stretch>
        </p:blipFill>
        <p:spPr>
          <a:xfrm>
            <a:off x="5646420" y="2194560"/>
            <a:ext cx="914400" cy="914400"/>
          </a:xfrm>
          <a:prstGeom prst="rect">
            <a:avLst/>
          </a:prstGeom>
        </p:spPr>
      </p:pic>
      <p:sp>
        <p:nvSpPr>
          <p:cNvPr id="11" name="TextBox 10"/>
          <p:cNvSpPr txBox="1"/>
          <p:nvPr/>
        </p:nvSpPr>
        <p:spPr>
          <a:xfrm>
            <a:off x="4480560" y="3200400"/>
            <a:ext cx="3246120" cy="411480"/>
          </a:xfrm>
          <a:prstGeom prst="rect">
            <a:avLst/>
          </a:prstGeom>
          <a:noFill/>
        </p:spPr>
        <p:txBody>
          <a:bodyPr wrap="square" lIns="0" rIns="0" tIns="0" bIns="0" anchor="t">
            <a:spAutoFit/>
          </a:bodyPr>
          <a:lstStyle/>
          <a:p>
            <a:pPr algn="ctr">
              <a:lnSpc>
                <a:spcPct val="115000"/>
              </a:lnSpc>
            </a:pPr>
            <a:r>
              <a:rPr sz="1800" b="1" i="0">
                <a:solidFill>
                  <a:srgbClr val="065A82"/>
                </a:solidFill>
                <a:latin typeface="Arial"/>
              </a:rPr>
              <a:t>Шаг 2</a:t>
            </a:r>
          </a:p>
        </p:txBody>
      </p:sp>
      <p:sp>
        <p:nvSpPr>
          <p:cNvPr id="12" name="TextBox 11"/>
          <p:cNvSpPr txBox="1"/>
          <p:nvPr/>
        </p:nvSpPr>
        <p:spPr>
          <a:xfrm>
            <a:off x="4526280" y="3657600"/>
            <a:ext cx="3154680" cy="594360"/>
          </a:xfrm>
          <a:prstGeom prst="rect">
            <a:avLst/>
          </a:prstGeom>
          <a:noFill/>
        </p:spPr>
        <p:txBody>
          <a:bodyPr wrap="square" lIns="0" rIns="0" tIns="0" bIns="0" anchor="t">
            <a:spAutoFit/>
          </a:bodyPr>
          <a:lstStyle/>
          <a:p>
            <a:pPr algn="ctr">
              <a:lnSpc>
                <a:spcPct val="130000"/>
              </a:lnSpc>
            </a:pPr>
            <a:r>
              <a:rPr sz="1300" b="1" i="0">
                <a:solidFill>
                  <a:srgbClr val="21295C"/>
                </a:solidFill>
                <a:latin typeface="Arial"/>
              </a:rPr>
              <a:t>Запустите в playground на 3 температурах.</a:t>
            </a:r>
          </a:p>
        </p:txBody>
      </p:sp>
      <p:sp>
        <p:nvSpPr>
          <p:cNvPr id="13" name="TextBox 12"/>
          <p:cNvSpPr txBox="1"/>
          <p:nvPr/>
        </p:nvSpPr>
        <p:spPr>
          <a:xfrm>
            <a:off x="4526280" y="4251960"/>
            <a:ext cx="3154680" cy="640080"/>
          </a:xfrm>
          <a:prstGeom prst="rect">
            <a:avLst/>
          </a:prstGeom>
          <a:noFill/>
        </p:spPr>
        <p:txBody>
          <a:bodyPr wrap="square" lIns="0" rIns="0" tIns="0" bIns="0" anchor="t">
            <a:spAutoFit/>
          </a:bodyPr>
          <a:lstStyle/>
          <a:p>
            <a:pPr algn="ctr">
              <a:lnSpc>
                <a:spcPct val="135000"/>
              </a:lnSpc>
            </a:pPr>
            <a:r>
              <a:rPr sz="1200" b="0" i="1">
                <a:solidFill>
                  <a:srgbClr val="21295C"/>
                </a:solidFill>
                <a:latin typeface="Arial"/>
              </a:rPr>
              <a:t>T = 0  ·  T = 0.7  ·  T = 1.5
по 3 запуска каждой
(для оценки variance)</a:t>
            </a:r>
          </a:p>
        </p:txBody>
      </p:sp>
      <p:sp>
        <p:nvSpPr>
          <p:cNvPr id="14" name="Rounded Rectangle 13"/>
          <p:cNvSpPr/>
          <p:nvPr/>
        </p:nvSpPr>
        <p:spPr>
          <a:xfrm>
            <a:off x="8092440" y="1920240"/>
            <a:ext cx="361188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le-text.png"/>
          <p:cNvPicPr>
            <a:picLocks noChangeAspect="1"/>
          </p:cNvPicPr>
          <p:nvPr/>
        </p:nvPicPr>
        <p:blipFill>
          <a:blip r:embed="rId4"/>
          <a:stretch>
            <a:fillRect/>
          </a:stretch>
        </p:blipFill>
        <p:spPr>
          <a:xfrm>
            <a:off x="9441180" y="2194560"/>
            <a:ext cx="914400" cy="914400"/>
          </a:xfrm>
          <a:prstGeom prst="rect">
            <a:avLst/>
          </a:prstGeom>
        </p:spPr>
      </p:pic>
      <p:sp>
        <p:nvSpPr>
          <p:cNvPr id="16" name="TextBox 15"/>
          <p:cNvSpPr txBox="1"/>
          <p:nvPr/>
        </p:nvSpPr>
        <p:spPr>
          <a:xfrm>
            <a:off x="8275320" y="3200400"/>
            <a:ext cx="3246120" cy="411480"/>
          </a:xfrm>
          <a:prstGeom prst="rect">
            <a:avLst/>
          </a:prstGeom>
          <a:noFill/>
        </p:spPr>
        <p:txBody>
          <a:bodyPr wrap="square" lIns="0" rIns="0" tIns="0" bIns="0" anchor="t">
            <a:spAutoFit/>
          </a:bodyPr>
          <a:lstStyle/>
          <a:p>
            <a:pPr algn="ctr">
              <a:lnSpc>
                <a:spcPct val="115000"/>
              </a:lnSpc>
            </a:pPr>
            <a:r>
              <a:rPr sz="1800" b="1" i="0">
                <a:solidFill>
                  <a:srgbClr val="065A82"/>
                </a:solidFill>
                <a:latin typeface="Arial"/>
              </a:rPr>
              <a:t>Шаг 3</a:t>
            </a:r>
          </a:p>
        </p:txBody>
      </p:sp>
      <p:sp>
        <p:nvSpPr>
          <p:cNvPr id="17" name="TextBox 16"/>
          <p:cNvSpPr txBox="1"/>
          <p:nvPr/>
        </p:nvSpPr>
        <p:spPr>
          <a:xfrm>
            <a:off x="8321040" y="3657600"/>
            <a:ext cx="3154680" cy="594360"/>
          </a:xfrm>
          <a:prstGeom prst="rect">
            <a:avLst/>
          </a:prstGeom>
          <a:noFill/>
        </p:spPr>
        <p:txBody>
          <a:bodyPr wrap="square" lIns="0" rIns="0" tIns="0" bIns="0" anchor="t">
            <a:spAutoFit/>
          </a:bodyPr>
          <a:lstStyle/>
          <a:p>
            <a:pPr algn="ctr">
              <a:lnSpc>
                <a:spcPct val="130000"/>
              </a:lnSpc>
            </a:pPr>
            <a:r>
              <a:rPr sz="1300" b="1" i="0">
                <a:solidFill>
                  <a:srgbClr val="21295C"/>
                </a:solidFill>
                <a:latin typeface="Arial"/>
              </a:rPr>
              <a:t>Принесите одностраничный разбор (1 A4).</a:t>
            </a:r>
          </a:p>
        </p:txBody>
      </p:sp>
      <p:sp>
        <p:nvSpPr>
          <p:cNvPr id="18" name="TextBox 17"/>
          <p:cNvSpPr txBox="1"/>
          <p:nvPr/>
        </p:nvSpPr>
        <p:spPr>
          <a:xfrm>
            <a:off x="8321040" y="4251960"/>
            <a:ext cx="3154680" cy="640080"/>
          </a:xfrm>
          <a:prstGeom prst="rect">
            <a:avLst/>
          </a:prstGeom>
          <a:noFill/>
        </p:spPr>
        <p:txBody>
          <a:bodyPr wrap="square" lIns="0" rIns="0" tIns="0" bIns="0" anchor="t">
            <a:spAutoFit/>
          </a:bodyPr>
          <a:lstStyle/>
          <a:p>
            <a:pPr algn="ctr">
              <a:lnSpc>
                <a:spcPct val="135000"/>
              </a:lnSpc>
            </a:pPr>
            <a:r>
              <a:rPr sz="1200" b="0" i="1">
                <a:solidFill>
                  <a:srgbClr val="21295C"/>
                </a:solidFill>
                <a:latin typeface="Arial"/>
              </a:rPr>
              <a:t>Что изменилось / осталось / какую T для production.</a:t>
            </a:r>
          </a:p>
        </p:txBody>
      </p:sp>
      <p:sp>
        <p:nvSpPr>
          <p:cNvPr id="19" name="Rounded Rectangle 18"/>
          <p:cNvSpPr/>
          <p:nvPr/>
        </p:nvSpPr>
        <p:spPr>
          <a:xfrm>
            <a:off x="502920" y="5166360"/>
            <a:ext cx="7680960"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5276088"/>
            <a:ext cx="731520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Playground:  Hugging Face Inference Playground</a:t>
            </a:r>
          </a:p>
        </p:txBody>
      </p:sp>
      <p:sp>
        <p:nvSpPr>
          <p:cNvPr id="21" name="TextBox 20"/>
          <p:cNvSpPr txBox="1"/>
          <p:nvPr/>
        </p:nvSpPr>
        <p:spPr>
          <a:xfrm>
            <a:off x="685800" y="5669280"/>
            <a:ext cx="7315200" cy="365760"/>
          </a:xfrm>
          <a:prstGeom prst="rect">
            <a:avLst/>
          </a:prstGeom>
          <a:noFill/>
        </p:spPr>
        <p:txBody>
          <a:bodyPr wrap="square" lIns="0" rIns="0" tIns="0" bIns="0" anchor="t">
            <a:spAutoFit/>
          </a:bodyPr>
          <a:lstStyle/>
          <a:p>
            <a:pPr algn="l">
              <a:lnSpc>
                <a:spcPct val="115000"/>
              </a:lnSpc>
            </a:pPr>
            <a:r>
              <a:rPr sz="1200" b="0" i="0">
                <a:solidFill>
                  <a:srgbClr val="21295C"/>
                </a:solidFill>
                <a:latin typeface="Arial"/>
              </a:rPr>
              <a:t>Модель: Meta-Llama-3-8B-Instruct (apples-to-apples)</a:t>
            </a:r>
          </a:p>
        </p:txBody>
      </p:sp>
      <p:sp>
        <p:nvSpPr>
          <p:cNvPr id="22" name="TextBox 21"/>
          <p:cNvSpPr txBox="1"/>
          <p:nvPr/>
        </p:nvSpPr>
        <p:spPr>
          <a:xfrm>
            <a:off x="685800" y="6007608"/>
            <a:ext cx="7315200"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Fallback: Together.ai / Ollama локально с Llama 3   ·   НЕ подойдут: ChatGPT Free, Claude.ai</a:t>
            </a:r>
          </a:p>
        </p:txBody>
      </p:sp>
      <p:sp>
        <p:nvSpPr>
          <p:cNvPr id="23" name="Rounded Rectangle 22"/>
          <p:cNvSpPr/>
          <p:nvPr/>
        </p:nvSpPr>
        <p:spPr>
          <a:xfrm>
            <a:off x="8366760" y="5166360"/>
            <a:ext cx="3383280" cy="1188720"/>
          </a:xfrm>
          <a:prstGeom prst="roundRect">
            <a:avLst>
              <a:gd name="adj" fmla="val 12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3920" y="5257800"/>
            <a:ext cx="3200400"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БОНУС</a:t>
            </a:r>
          </a:p>
        </p:txBody>
      </p:sp>
      <p:sp>
        <p:nvSpPr>
          <p:cNvPr id="25" name="TextBox 24"/>
          <p:cNvSpPr txBox="1"/>
          <p:nvPr/>
        </p:nvSpPr>
        <p:spPr>
          <a:xfrm>
            <a:off x="8503920" y="5623560"/>
            <a:ext cx="3200400" cy="731520"/>
          </a:xfrm>
          <a:prstGeom prst="rect">
            <a:avLst/>
          </a:prstGeom>
          <a:noFill/>
        </p:spPr>
        <p:txBody>
          <a:bodyPr wrap="square" lIns="0" rIns="0" tIns="0" bIns="0" anchor="t">
            <a:spAutoFit/>
          </a:bodyPr>
          <a:lstStyle/>
          <a:p>
            <a:pPr algn="l">
              <a:lnSpc>
                <a:spcPct val="130000"/>
              </a:lnSpc>
            </a:pPr>
            <a:r>
              <a:rPr sz="1100" b="0" i="1">
                <a:solidFill>
                  <a:srgbClr val="21295C"/>
                </a:solidFill>
                <a:latin typeface="Arial"/>
              </a:rPr>
              <a:t>«Сколько р в "строгая регуляризация"» × 3 модели. Объяснить через §1.3 (токенизация).</a:t>
            </a:r>
          </a:p>
        </p:txBody>
      </p:sp>
      <p:sp>
        <p:nvSpPr>
          <p:cNvPr id="26" name="TextBox 25"/>
          <p:cNvSpPr txBox="1"/>
          <p:nvPr/>
        </p:nvSpPr>
        <p:spPr>
          <a:xfrm>
            <a:off x="502920" y="6446520"/>
            <a:ext cx="1124712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[VERIFY-DAY-OF] доступность HF Playground за день до семинара.</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Лекция 3:  «Агенты, RAG, API — как AI выходит за пределы чата»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Все 4 надстраиваются над single-shot inference (s21)</a:t>
            </a:r>
          </a:p>
        </p:txBody>
      </p:sp>
      <p:sp>
        <p:nvSpPr>
          <p:cNvPr id="4" name="Rounded Rectangle 3"/>
          <p:cNvSpPr/>
          <p:nvPr/>
        </p:nvSpPr>
        <p:spPr>
          <a:xfrm>
            <a:off x="502920" y="1874519"/>
            <a:ext cx="5486400" cy="1920240"/>
          </a:xfrm>
          <a:prstGeom prst="roundRect">
            <a:avLst>
              <a:gd name="adj" fmla="val 15873"/>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arch-check.png"/>
          <p:cNvPicPr>
            <a:picLocks noChangeAspect="1"/>
          </p:cNvPicPr>
          <p:nvPr/>
        </p:nvPicPr>
        <p:blipFill>
          <a:blip r:embed="rId2"/>
          <a:stretch>
            <a:fillRect/>
          </a:stretch>
        </p:blipFill>
        <p:spPr>
          <a:xfrm>
            <a:off x="731520" y="2148839"/>
            <a:ext cx="777240" cy="777240"/>
          </a:xfrm>
          <a:prstGeom prst="rect">
            <a:avLst/>
          </a:prstGeom>
        </p:spPr>
      </p:pic>
      <p:sp>
        <p:nvSpPr>
          <p:cNvPr id="6" name="TextBox 5"/>
          <p:cNvSpPr txBox="1"/>
          <p:nvPr/>
        </p:nvSpPr>
        <p:spPr>
          <a:xfrm>
            <a:off x="1645920" y="2057400"/>
            <a:ext cx="4206240" cy="457200"/>
          </a:xfrm>
          <a:prstGeom prst="rect">
            <a:avLst/>
          </a:prstGeom>
          <a:noFill/>
        </p:spPr>
        <p:txBody>
          <a:bodyPr wrap="square" lIns="0" rIns="0" tIns="0" bIns="0" anchor="t">
            <a:spAutoFit/>
          </a:bodyPr>
          <a:lstStyle/>
          <a:p>
            <a:pPr algn="l">
              <a:lnSpc>
                <a:spcPct val="115000"/>
              </a:lnSpc>
            </a:pPr>
            <a:r>
              <a:rPr sz="2000" b="1" i="0">
                <a:solidFill>
                  <a:srgbClr val="21295C"/>
                </a:solidFill>
                <a:latin typeface="Arial"/>
              </a:rPr>
              <a:t>RAG</a:t>
            </a:r>
          </a:p>
        </p:txBody>
      </p:sp>
      <p:sp>
        <p:nvSpPr>
          <p:cNvPr id="7" name="TextBox 6"/>
          <p:cNvSpPr txBox="1"/>
          <p:nvPr/>
        </p:nvSpPr>
        <p:spPr>
          <a:xfrm>
            <a:off x="1645920" y="2514600"/>
            <a:ext cx="4206240" cy="365760"/>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Retrieval-Augmented Generation</a:t>
            </a:r>
          </a:p>
        </p:txBody>
      </p:sp>
      <p:sp>
        <p:nvSpPr>
          <p:cNvPr id="8" name="TextBox 7"/>
          <p:cNvSpPr txBox="1"/>
          <p:nvPr/>
        </p:nvSpPr>
        <p:spPr>
          <a:xfrm>
            <a:off x="777240" y="2971800"/>
            <a:ext cx="5029200" cy="777240"/>
          </a:xfrm>
          <a:prstGeom prst="rect">
            <a:avLst/>
          </a:prstGeom>
          <a:noFill/>
        </p:spPr>
        <p:txBody>
          <a:bodyPr wrap="square" lIns="0" rIns="0" tIns="0" bIns="0" anchor="t">
            <a:spAutoFit/>
          </a:bodyPr>
          <a:lstStyle/>
          <a:p>
            <a:pPr algn="l">
              <a:lnSpc>
                <a:spcPct val="130000"/>
              </a:lnSpc>
            </a:pPr>
            <a:r>
              <a:rPr sz="1300" b="0" i="0">
                <a:solidFill>
                  <a:srgbClr val="21295C"/>
                </a:solidFill>
                <a:latin typeface="Arial"/>
              </a:rPr>
              <a:t>embedding similarity (s10–s12) + LLM → ответ из вашей базы</a:t>
            </a:r>
          </a:p>
        </p:txBody>
      </p:sp>
      <p:sp>
        <p:nvSpPr>
          <p:cNvPr id="9" name="Rounded Rectangle 8"/>
          <p:cNvSpPr/>
          <p:nvPr/>
        </p:nvSpPr>
        <p:spPr>
          <a:xfrm>
            <a:off x="6172200" y="1874519"/>
            <a:ext cx="5486400" cy="1920240"/>
          </a:xfrm>
          <a:prstGeom prst="roundRect">
            <a:avLst>
              <a:gd name="adj" fmla="val 1587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orkflow.png"/>
          <p:cNvPicPr>
            <a:picLocks noChangeAspect="1"/>
          </p:cNvPicPr>
          <p:nvPr/>
        </p:nvPicPr>
        <p:blipFill>
          <a:blip r:embed="rId3"/>
          <a:stretch>
            <a:fillRect/>
          </a:stretch>
        </p:blipFill>
        <p:spPr>
          <a:xfrm>
            <a:off x="6400800" y="2148839"/>
            <a:ext cx="777240" cy="777240"/>
          </a:xfrm>
          <a:prstGeom prst="rect">
            <a:avLst/>
          </a:prstGeom>
        </p:spPr>
      </p:pic>
      <p:sp>
        <p:nvSpPr>
          <p:cNvPr id="11" name="TextBox 10"/>
          <p:cNvSpPr txBox="1"/>
          <p:nvPr/>
        </p:nvSpPr>
        <p:spPr>
          <a:xfrm>
            <a:off x="7315200" y="2057400"/>
            <a:ext cx="4206240" cy="457200"/>
          </a:xfrm>
          <a:prstGeom prst="rect">
            <a:avLst/>
          </a:prstGeom>
          <a:noFill/>
        </p:spPr>
        <p:txBody>
          <a:bodyPr wrap="square" lIns="0" rIns="0" tIns="0" bIns="0" anchor="t">
            <a:spAutoFit/>
          </a:bodyPr>
          <a:lstStyle/>
          <a:p>
            <a:pPr algn="l">
              <a:lnSpc>
                <a:spcPct val="115000"/>
              </a:lnSpc>
            </a:pPr>
            <a:r>
              <a:rPr sz="2000" b="1" i="0">
                <a:solidFill>
                  <a:srgbClr val="21295C"/>
                </a:solidFill>
                <a:latin typeface="Arial"/>
              </a:rPr>
              <a:t>Tools / Function calling</a:t>
            </a:r>
          </a:p>
        </p:txBody>
      </p:sp>
      <p:sp>
        <p:nvSpPr>
          <p:cNvPr id="12" name="TextBox 11"/>
          <p:cNvSpPr txBox="1"/>
          <p:nvPr/>
        </p:nvSpPr>
        <p:spPr>
          <a:xfrm>
            <a:off x="7315200" y="2514600"/>
            <a:ext cx="4206240" cy="365760"/>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структурированный JSON</a:t>
            </a:r>
          </a:p>
        </p:txBody>
      </p:sp>
      <p:sp>
        <p:nvSpPr>
          <p:cNvPr id="13" name="TextBox 12"/>
          <p:cNvSpPr txBox="1"/>
          <p:nvPr/>
        </p:nvSpPr>
        <p:spPr>
          <a:xfrm>
            <a:off x="6446520" y="2971800"/>
            <a:ext cx="5029200" cy="777240"/>
          </a:xfrm>
          <a:prstGeom prst="rect">
            <a:avLst/>
          </a:prstGeom>
          <a:noFill/>
        </p:spPr>
        <p:txBody>
          <a:bodyPr wrap="square" lIns="0" rIns="0" tIns="0" bIns="0" anchor="t">
            <a:spAutoFit/>
          </a:bodyPr>
          <a:lstStyle/>
          <a:p>
            <a:pPr algn="l">
              <a:lnSpc>
                <a:spcPct val="130000"/>
              </a:lnSpc>
            </a:pPr>
            <a:r>
              <a:rPr sz="1300" b="0" i="0">
                <a:solidFill>
                  <a:srgbClr val="21295C"/>
                </a:solidFill>
                <a:latin typeface="Arial"/>
              </a:rPr>
              <a:t>LLM генерирует вызов → выполняет внешняя система → результат возвращается</a:t>
            </a:r>
          </a:p>
        </p:txBody>
      </p:sp>
      <p:sp>
        <p:nvSpPr>
          <p:cNvPr id="14" name="Rounded Rectangle 13"/>
          <p:cNvSpPr/>
          <p:nvPr/>
        </p:nvSpPr>
        <p:spPr>
          <a:xfrm>
            <a:off x="502920" y="3977639"/>
            <a:ext cx="5486400" cy="1920240"/>
          </a:xfrm>
          <a:prstGeom prst="roundRect">
            <a:avLst>
              <a:gd name="adj" fmla="val 1587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rrow-right-left.png"/>
          <p:cNvPicPr>
            <a:picLocks noChangeAspect="1"/>
          </p:cNvPicPr>
          <p:nvPr/>
        </p:nvPicPr>
        <p:blipFill>
          <a:blip r:embed="rId4"/>
          <a:stretch>
            <a:fillRect/>
          </a:stretch>
        </p:blipFill>
        <p:spPr>
          <a:xfrm>
            <a:off x="731520" y="4251959"/>
            <a:ext cx="777240" cy="777240"/>
          </a:xfrm>
          <a:prstGeom prst="rect">
            <a:avLst/>
          </a:prstGeom>
        </p:spPr>
      </p:pic>
      <p:sp>
        <p:nvSpPr>
          <p:cNvPr id="16" name="TextBox 15"/>
          <p:cNvSpPr txBox="1"/>
          <p:nvPr/>
        </p:nvSpPr>
        <p:spPr>
          <a:xfrm>
            <a:off x="1645920" y="4160520"/>
            <a:ext cx="4206240" cy="457200"/>
          </a:xfrm>
          <a:prstGeom prst="rect">
            <a:avLst/>
          </a:prstGeom>
          <a:noFill/>
        </p:spPr>
        <p:txBody>
          <a:bodyPr wrap="square" lIns="0" rIns="0" tIns="0" bIns="0" anchor="t">
            <a:spAutoFit/>
          </a:bodyPr>
          <a:lstStyle/>
          <a:p>
            <a:pPr algn="l">
              <a:lnSpc>
                <a:spcPct val="115000"/>
              </a:lnSpc>
            </a:pPr>
            <a:r>
              <a:rPr sz="2000" b="1" i="0">
                <a:solidFill>
                  <a:srgbClr val="21295C"/>
                </a:solidFill>
                <a:latin typeface="Arial"/>
              </a:rPr>
              <a:t>MCP</a:t>
            </a:r>
          </a:p>
        </p:txBody>
      </p:sp>
      <p:sp>
        <p:nvSpPr>
          <p:cNvPr id="17" name="TextBox 16"/>
          <p:cNvSpPr txBox="1"/>
          <p:nvPr/>
        </p:nvSpPr>
        <p:spPr>
          <a:xfrm>
            <a:off x="1645920" y="4617720"/>
            <a:ext cx="4206240" cy="365760"/>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Model Context Protocol</a:t>
            </a:r>
          </a:p>
        </p:txBody>
      </p:sp>
      <p:sp>
        <p:nvSpPr>
          <p:cNvPr id="18" name="TextBox 17"/>
          <p:cNvSpPr txBox="1"/>
          <p:nvPr/>
        </p:nvSpPr>
        <p:spPr>
          <a:xfrm>
            <a:off x="777240" y="5074920"/>
            <a:ext cx="5029200" cy="777240"/>
          </a:xfrm>
          <a:prstGeom prst="rect">
            <a:avLst/>
          </a:prstGeom>
          <a:noFill/>
        </p:spPr>
        <p:txBody>
          <a:bodyPr wrap="square" lIns="0" rIns="0" tIns="0" bIns="0" anchor="t">
            <a:spAutoFit/>
          </a:bodyPr>
          <a:lstStyle/>
          <a:p>
            <a:pPr algn="l">
              <a:lnSpc>
                <a:spcPct val="130000"/>
              </a:lnSpc>
            </a:pPr>
            <a:r>
              <a:rPr sz="1300" b="0" i="0">
                <a:solidFill>
                  <a:srgbClr val="21295C"/>
                </a:solidFill>
                <a:latin typeface="Arial"/>
              </a:rPr>
              <a:t>Открытый стандарт подключения инструментов (Anthropic, 2024; Lec-1 §2.2)</a:t>
            </a:r>
          </a:p>
        </p:txBody>
      </p:sp>
      <p:sp>
        <p:nvSpPr>
          <p:cNvPr id="19" name="Rounded Rectangle 18"/>
          <p:cNvSpPr/>
          <p:nvPr/>
        </p:nvSpPr>
        <p:spPr>
          <a:xfrm>
            <a:off x="6172200" y="3977639"/>
            <a:ext cx="5486400" cy="1920240"/>
          </a:xfrm>
          <a:prstGeom prst="roundRect">
            <a:avLst>
              <a:gd name="adj" fmla="val 1587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epeat-2.png"/>
          <p:cNvPicPr>
            <a:picLocks noChangeAspect="1"/>
          </p:cNvPicPr>
          <p:nvPr/>
        </p:nvPicPr>
        <p:blipFill>
          <a:blip r:embed="rId5"/>
          <a:stretch>
            <a:fillRect/>
          </a:stretch>
        </p:blipFill>
        <p:spPr>
          <a:xfrm>
            <a:off x="6400800" y="4251959"/>
            <a:ext cx="777240" cy="777240"/>
          </a:xfrm>
          <a:prstGeom prst="rect">
            <a:avLst/>
          </a:prstGeom>
        </p:spPr>
      </p:pic>
      <p:sp>
        <p:nvSpPr>
          <p:cNvPr id="21" name="TextBox 20"/>
          <p:cNvSpPr txBox="1"/>
          <p:nvPr/>
        </p:nvSpPr>
        <p:spPr>
          <a:xfrm>
            <a:off x="7315200" y="4160520"/>
            <a:ext cx="4206240" cy="457200"/>
          </a:xfrm>
          <a:prstGeom prst="rect">
            <a:avLst/>
          </a:prstGeom>
          <a:noFill/>
        </p:spPr>
        <p:txBody>
          <a:bodyPr wrap="square" lIns="0" rIns="0" tIns="0" bIns="0" anchor="t">
            <a:spAutoFit/>
          </a:bodyPr>
          <a:lstStyle/>
          <a:p>
            <a:pPr algn="l">
              <a:lnSpc>
                <a:spcPct val="115000"/>
              </a:lnSpc>
            </a:pPr>
            <a:r>
              <a:rPr sz="2000" b="1" i="0">
                <a:solidFill>
                  <a:srgbClr val="21295C"/>
                </a:solidFill>
                <a:latin typeface="Arial"/>
              </a:rPr>
              <a:t>Agent loop</a:t>
            </a:r>
          </a:p>
        </p:txBody>
      </p:sp>
      <p:sp>
        <p:nvSpPr>
          <p:cNvPr id="22" name="TextBox 21"/>
          <p:cNvSpPr txBox="1"/>
          <p:nvPr/>
        </p:nvSpPr>
        <p:spPr>
          <a:xfrm>
            <a:off x="7315200" y="4617720"/>
            <a:ext cx="4206240" cy="365760"/>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act → observe → reflect</a:t>
            </a:r>
          </a:p>
        </p:txBody>
      </p:sp>
      <p:sp>
        <p:nvSpPr>
          <p:cNvPr id="23" name="TextBox 22"/>
          <p:cNvSpPr txBox="1"/>
          <p:nvPr/>
        </p:nvSpPr>
        <p:spPr>
          <a:xfrm>
            <a:off x="6446520" y="5074920"/>
            <a:ext cx="5029200" cy="777240"/>
          </a:xfrm>
          <a:prstGeom prst="rect">
            <a:avLst/>
          </a:prstGeom>
          <a:noFill/>
        </p:spPr>
        <p:txBody>
          <a:bodyPr wrap="square" lIns="0" rIns="0" tIns="0" bIns="0" anchor="t">
            <a:spAutoFit/>
          </a:bodyPr>
          <a:lstStyle/>
          <a:p>
            <a:pPr algn="l">
              <a:lnSpc>
                <a:spcPct val="130000"/>
              </a:lnSpc>
            </a:pPr>
            <a:r>
              <a:rPr sz="1300" b="0" i="0">
                <a:solidFill>
                  <a:srgbClr val="21295C"/>
                </a:solidFill>
                <a:latin typeface="Arial"/>
              </a:rPr>
              <a:t>Модель решает действие, видит результат, корректирует план</a:t>
            </a:r>
          </a:p>
        </p:txBody>
      </p:sp>
      <p:sp>
        <p:nvSpPr>
          <p:cNvPr id="24" name="Rounded Rectangle 23"/>
          <p:cNvSpPr/>
          <p:nvPr/>
        </p:nvSpPr>
        <p:spPr>
          <a:xfrm>
            <a:off x="502920" y="5989320"/>
            <a:ext cx="11247120" cy="731520"/>
          </a:xfrm>
          <a:prstGeom prst="roundRect">
            <a:avLst>
              <a:gd name="adj" fmla="val 2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6080759"/>
            <a:ext cx="10972800"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Q&amp;A</a:t>
            </a:r>
          </a:p>
        </p:txBody>
      </p:sp>
      <p:sp>
        <p:nvSpPr>
          <p:cNvPr id="26" name="TextBox 25"/>
          <p:cNvSpPr txBox="1"/>
          <p:nvPr/>
        </p:nvSpPr>
        <p:spPr>
          <a:xfrm>
            <a:off x="777240" y="6355080"/>
            <a:ext cx="10972800" cy="320040"/>
          </a:xfrm>
          <a:prstGeom prst="rect">
            <a:avLst/>
          </a:prstGeom>
          <a:noFill/>
        </p:spPr>
        <p:txBody>
          <a:bodyPr wrap="square" lIns="0" rIns="0" tIns="0" bIns="0" anchor="t">
            <a:spAutoFit/>
          </a:bodyPr>
          <a:lstStyle/>
          <a:p>
            <a:pPr algn="l">
              <a:lnSpc>
                <a:spcPct val="115000"/>
              </a:lnSpc>
            </a:pPr>
            <a:r>
              <a:rPr sz="1400" b="0" i="1">
                <a:solidFill>
                  <a:srgbClr val="21295C"/>
                </a:solidFill>
                <a:latin typeface="Arial"/>
              </a:rPr>
              <a:t>До 5 минут на вопросы в зале. Дополнительные — на Семинар 2 или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