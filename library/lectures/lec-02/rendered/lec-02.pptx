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Простой вопрос, которым открывается лекция: почему мощная современная языковая модель — ChatGPT, Claude, GigaChat — не может надёжно посчитать, сколько букв `r` в слове `strawberry`? Это не редкий частный баг и не следствие плохого обучения. Если задать этот вопрос десяти разным LLM, половина ответит «две», часть — «три», часть — попытается перечислить буквы и ошибётся. И это не лечится ни более крупной моделью, ни fine-tuning.</a:t>
            </a:r>
          </a:p>
          <a:p/>
          <a:p>
            <a:r>
              <a:t>Ответ — структурный, и он лежит в самом первом этапе работы модели. Когда вы отправляете запрос, модель не видит ваш текст так, как видите его вы. Прежде чем что-либо обработать, она разрезает входной текст на единицы, которые называются **токенами**. Токен — это идентификатор, целое число из словаря модели; этот словарь зафиксирован на этапе обучения и не меняется во время использования.</a:t>
            </a:r>
          </a:p>
          <a:p/>
          <a:p>
            <a:r>
              <a:t>Для слова `strawberry` популярный токенизатор `o200k_base`, который используется в GPT-4o, Claude 4.x и многих других современных LLM, выдаёт три токена: `[st]`, `[raw]`, `[berry]`. Вы видите десять букв; модель видит три единицы. Внутри каждой такой единицы нет явного перечисления букв на позициях — модель не «знает», что в токене `[berry]` две `r`, она знает только, что это один из ~200 000 элементов её словаря. Подсчёт букв требует операции, которой у модели на этом уровне просто нет.</a:t>
            </a:r>
          </a:p>
          <a:p/>
          <a:p>
            <a:r>
              <a:t>Это и есть тема сегодняшней лекции. Мы разберём четыре внутренних этапа работы LLM — токенизация, эмбеддинги, внимание, сэмплинг — и каждый этап будет связан с инженерной практикой через конкретные следствия вроде того, что мы только что увидели. К слову `strawberry` мы вернёмся в первом разделе про токенизацию.</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Открытие лекции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того, что эмбеддинги дают численную меру семантической близости, естественно вырастают три практических применения. Это рамка, на которую опирается весь Раздел 3 курса — Лекция 3 про RAG, Семинар 3, Лекция 4 и далее.</a:t>
            </a:r>
          </a:p>
          <a:p/>
          <a:p>
            <a:r>
              <a:t>Первое применение — **similarity**, поиск похожих. У вас есть документ и хранилище из тысяч похожих документов; нужно найти, на какие из них новый документ наиболее похож. Для каждого документа из хранилища предвычислены эмбеддинги; для нового документа эмбеддинг считается на лету; парные cosine similarity ранжируют хранилище по убыванию. Это базовый механизм поиска похожих тикетов в системе поддержки, похожих кейсов в юридической базе, похожих резюме в HR-системе.</a:t>
            </a:r>
          </a:p>
          <a:p/>
          <a:p>
            <a:r>
              <a:t>Второе применение — **clustering**, кластеризация. У вас есть набор документов без явной разметки, и нужно автоматически разбить их на группы. Каждый документ переведён в эмбеддинг; алгоритм кластеризации — например, k-means, итеративный алгоритм, разбивающий точки на заданное число групп так, чтобы точки внутри группы были близки — находит группы в эмбеддинг-пространстве. На выходе получаются кластеры документов, объединённых по смыслу. Это используется для анализа жалоб клиентов («какие типы проблем встречаются»), для тематической группировки больших корпусов, для exploratory analysis новых данных.</a:t>
            </a:r>
          </a:p>
          <a:p/>
          <a:p>
            <a:r>
              <a:t>Третье применение — **search**, семантический поиск. Это расширение similarity на сценарий «вопрос → база ответов». Пользователь задаёт вопрос в свободной форме; вопрос переводится в эмбеддинг; ищем близкие эмбеддинги в проиндексированной базе документов; возвращаем top-K. Это основа RAG (Retrieval-Augmented Generation), который мы разбираем в Лекции 3. На уровне эмбеддингов RAG — это просто семантический поиск с последующей передачей найденного как контекст в LLM.</a:t>
            </a:r>
          </a:p>
          <a:p/>
          <a:p>
            <a:r>
              <a:t>Эти три применения часто комбинируются: корпоративная база знаний может одновременно использовать similarity для рекомендаций, clustering для автоматических разделов и search для интерактивного поиска. Под капотом — одни и те же эмбеддинги. Это объясняет, почему эмбеддинг-модель — это инфраструктурный выбор, а не «одна из фич»: один выбор обслуживает сразу несколько продуктовых функций.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именно даёт семантический поиск по сравнению с традиционным, возьмём конкретный запрос: пользователь ищет в корпоративном wiki слово «клубника».</a:t>
            </a:r>
          </a:p>
          <a:p/>
          <a:p>
            <a:r>
              <a:t>Полнотекстовый поиск — классический подход, реализованный в Elasticsearch, Lucene, в обратных индексах — находит документы, в которых дословно встречается строка `клубника`. С учётом **стемминга** (приведения слова к его основе при индексации: `клубники`, `клубнику`, `клубнике` все сводятся к корню `клубник-`) — также её морфологические формы. Если в документе написано `strawberry`, или `ягода`, или `лесная земляника`, полнотекстовый поиск не вернёт его как релевантный — если только нет специальной таблицы синонимов, которую кто-то вручную поддерживает.</a:t>
            </a:r>
          </a:p>
          <a:p/>
          <a:p>
            <a:r>
              <a:t>Семантический поиск — эмбеддинги плюс поиск ближайших соседей — считает эмбеддинг запроса `клубника` и сравнивает его с предвычисленными эмбеддингами документов. На выходе он находит, в первую очередь, документы с буквальным совпадением (они окажутся очень близкими), но дополнительно возвращает документы про `strawberry` (английский эквивалент, цепляется через cross-lingual embeddings), про `ягоду` (родовое понятие), про `лесную землянику` (близкий по смыслу плод). Без таблицы синонимов, без ручной разметки — это получается «бесплатно» из того, что эмбеддинг захватывает смысл.</a:t>
            </a:r>
          </a:p>
          <a:p/>
          <a:p>
            <a:r>
              <a:t>Семантический поиск не заменяет полнотекстовый; он его дополняет. На практике в production-системах часто используют гибридный подход: полнотекстовый индекс для точных совпадений — имена, артикулы, технические термины, которые должны находиться буквально — плюс семантический индекс для понятийной близости. Финальный ранжированный список — комбинация результатов двух способов поиска с весами, подобранными под задачу.</a:t>
            </a:r>
          </a:p>
          <a:p/>
          <a:p>
            <a:r>
              <a:t>Этот раздел — преддверие Лекции 3, в которой мы подробно разберём, как из семантического поиска и LLM собрать систему, отвечающую на вопросы по вашей корпоративной базе знаний. Здесь важно зафиксировать: базовый слой RAG — эмбеддинги, и они принадлежат именно этому, второму этапу inference конвейера.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payoff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attention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За день до семинара — проверить доступность HF Playground и наличие Meta-Llama-3-8B-Instruct. Резервы: Together.ai, локальная Ollama.*</a:t>
            </a:r>
          </a:p>
          <a:p/>
          <a:p/>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сегодня всё. До пяти минут на вопросы в зале. Дополнительные вопросы — на Семинар 2 или по e-mail. На семинаре будем разбирать ваши домашние эксперименты с температурой; постарайтесь успеть прогнать запросы заранее.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7.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777240"/>
            <a:ext cx="11247120" cy="2606040"/>
          </a:xfrm>
          <a:prstGeom prst="rect">
            <a:avLst/>
          </a:prstGeom>
          <a:noFill/>
        </p:spPr>
        <p:txBody>
          <a:bodyPr wrap="square" lIns="0" rIns="0" tIns="0" bIns="0" anchor="ctr">
            <a:spAutoFit/>
          </a:bodyPr>
          <a:lstStyle/>
          <a:p>
            <a:pPr algn="ctr">
              <a:lnSpc>
                <a:spcPct val="118000"/>
              </a:lnSpc>
            </a:pPr>
            <a:r>
              <a:rPr sz="4600" b="1" i="0">
                <a:solidFill>
                  <a:srgbClr val="21295C"/>
                </a:solidFill>
                <a:latin typeface="Arial"/>
              </a:rPr>
              <a:t>Почему ChatGPT не может посчитать,
сколько букв «r» в слове  strawberry?</a:t>
            </a:r>
          </a:p>
        </p:txBody>
      </p:sp>
      <p:sp>
        <p:nvSpPr>
          <p:cNvPr id="3" name="TextBox 2"/>
          <p:cNvSpPr txBox="1"/>
          <p:nvPr/>
        </p:nvSpPr>
        <p:spPr>
          <a:xfrm>
            <a:off x="502920" y="3337560"/>
            <a:ext cx="11247120" cy="457200"/>
          </a:xfrm>
          <a:prstGeom prst="rect">
            <a:avLst/>
          </a:prstGeom>
          <a:noFill/>
        </p:spPr>
        <p:txBody>
          <a:bodyPr wrap="square" lIns="0" rIns="0" tIns="0" bIns="0" anchor="t">
            <a:spAutoFit/>
          </a:bodyPr>
          <a:lstStyle/>
          <a:p>
            <a:pPr algn="ctr">
              <a:lnSpc>
                <a:spcPct val="125000"/>
              </a:lnSpc>
            </a:pPr>
            <a:r>
              <a:rPr sz="1800" b="0" i="1">
                <a:solidFill>
                  <a:srgbClr val="065A82"/>
                </a:solidFill>
                <a:latin typeface="Arial"/>
              </a:rPr>
              <a:t>Спросите любую LLM — половина случаев ответит «2».</a:t>
            </a:r>
          </a:p>
        </p:txBody>
      </p:sp>
      <p:sp>
        <p:nvSpPr>
          <p:cNvPr id="4" name="Rounded Rectangle 3"/>
          <p:cNvSpPr/>
          <p:nvPr/>
        </p:nvSpPr>
        <p:spPr>
          <a:xfrm>
            <a:off x="1554480" y="4160520"/>
            <a:ext cx="9144000" cy="1783080"/>
          </a:xfrm>
          <a:prstGeom prst="roundRect">
            <a:avLst>
              <a:gd name="adj" fmla="val 17094"/>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4270248"/>
            <a:ext cx="9144000" cy="32004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Ответ:</a:t>
            </a:r>
          </a:p>
        </p:txBody>
      </p:sp>
      <p:sp>
        <p:nvSpPr>
          <p:cNvPr id="6" name="TextBox 5"/>
          <p:cNvSpPr txBox="1"/>
          <p:nvPr/>
        </p:nvSpPr>
        <p:spPr>
          <a:xfrm>
            <a:off x="1737360" y="4663440"/>
            <a:ext cx="2377440" cy="5029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Вы видите:</a:t>
            </a:r>
          </a:p>
        </p:txBody>
      </p:sp>
      <p:sp>
        <p:nvSpPr>
          <p:cNvPr id="7" name="TextBox 6"/>
          <p:cNvSpPr txBox="1"/>
          <p:nvPr/>
        </p:nvSpPr>
        <p:spPr>
          <a:xfrm>
            <a:off x="4023360" y="4663440"/>
            <a:ext cx="5029200" cy="502920"/>
          </a:xfrm>
          <a:prstGeom prst="rect">
            <a:avLst/>
          </a:prstGeom>
          <a:noFill/>
        </p:spPr>
        <p:txBody>
          <a:bodyPr wrap="square" lIns="0" rIns="0" tIns="0" bIns="0" anchor="ctr">
            <a:spAutoFit/>
          </a:bodyPr>
          <a:lstStyle/>
          <a:p>
            <a:pPr algn="l">
              <a:lnSpc>
                <a:spcPct val="115000"/>
              </a:lnSpc>
            </a:pPr>
            <a:r>
              <a:rPr sz="1700" b="1" i="0">
                <a:solidFill>
                  <a:srgbClr val="21295C"/>
                </a:solidFill>
                <a:latin typeface="Liberation Mono"/>
              </a:rPr>
              <a:t>s · t · r · a · w · b · e · r · r · y</a:t>
            </a:r>
          </a:p>
        </p:txBody>
      </p:sp>
      <p:sp>
        <p:nvSpPr>
          <p:cNvPr id="8" name="TextBox 7"/>
          <p:cNvSpPr txBox="1"/>
          <p:nvPr/>
        </p:nvSpPr>
        <p:spPr>
          <a:xfrm>
            <a:off x="9098280" y="4663440"/>
            <a:ext cx="1463040" cy="50292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(10 букв)</a:t>
            </a:r>
          </a:p>
        </p:txBody>
      </p:sp>
      <p:sp>
        <p:nvSpPr>
          <p:cNvPr id="9" name="TextBox 8"/>
          <p:cNvSpPr txBox="1"/>
          <p:nvPr/>
        </p:nvSpPr>
        <p:spPr>
          <a:xfrm>
            <a:off x="1737360" y="5212079"/>
            <a:ext cx="2377440" cy="5029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AI видит:</a:t>
            </a:r>
          </a:p>
        </p:txBody>
      </p:sp>
      <p:sp>
        <p:nvSpPr>
          <p:cNvPr id="10" name="Rounded Rectangle 9"/>
          <p:cNvSpPr/>
          <p:nvPr/>
        </p:nvSpPr>
        <p:spPr>
          <a:xfrm>
            <a:off x="4023360" y="5257799"/>
            <a:ext cx="77724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[st]</a:t>
            </a:r>
          </a:p>
        </p:txBody>
      </p:sp>
      <p:sp>
        <p:nvSpPr>
          <p:cNvPr id="11" name="Rounded Rectangle 10"/>
          <p:cNvSpPr/>
          <p:nvPr/>
        </p:nvSpPr>
        <p:spPr>
          <a:xfrm>
            <a:off x="4910328" y="5257799"/>
            <a:ext cx="960120" cy="45720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[raw]</a:t>
            </a:r>
          </a:p>
        </p:txBody>
      </p:sp>
      <p:sp>
        <p:nvSpPr>
          <p:cNvPr id="12" name="Rounded Rectangle 11"/>
          <p:cNvSpPr/>
          <p:nvPr/>
        </p:nvSpPr>
        <p:spPr>
          <a:xfrm>
            <a:off x="5980176" y="5257799"/>
            <a:ext cx="1097280" cy="4572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500" b="1">
                <a:solidFill>
                  <a:srgbClr val="FFFFFF"/>
                </a:solidFill>
                <a:latin typeface="Arial"/>
              </a:rPr>
              <a:t>[berry]</a:t>
            </a:r>
          </a:p>
        </p:txBody>
      </p:sp>
      <p:sp>
        <p:nvSpPr>
          <p:cNvPr id="13" name="TextBox 12"/>
          <p:cNvSpPr txBox="1"/>
          <p:nvPr/>
        </p:nvSpPr>
        <p:spPr>
          <a:xfrm>
            <a:off x="7278624" y="5212079"/>
            <a:ext cx="1645920" cy="50292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(3 токена)</a:t>
            </a:r>
          </a:p>
        </p:txBody>
      </p:sp>
      <p:sp>
        <p:nvSpPr>
          <p:cNvPr id="14" name="TextBox 13"/>
          <p:cNvSpPr txBox="1"/>
          <p:nvPr/>
        </p:nvSpPr>
        <p:spPr>
          <a:xfrm>
            <a:off x="502920" y="6263640"/>
            <a:ext cx="11247120" cy="365760"/>
          </a:xfrm>
          <a:prstGeom prst="rect">
            <a:avLst/>
          </a:prstGeom>
          <a:noFill/>
        </p:spPr>
        <p:txBody>
          <a:bodyPr wrap="square" lIns="0" rIns="0" tIns="0" bIns="0" anchor="t">
            <a:spAutoFit/>
          </a:bodyPr>
          <a:lstStyle/>
          <a:p>
            <a:pPr algn="ctr">
              <a:lnSpc>
                <a:spcPct val="125000"/>
              </a:lnSpc>
            </a:pPr>
            <a:r>
              <a:rPr sz="1200" b="0" i="1">
                <a:solidFill>
                  <a:srgbClr val="1C7293"/>
                </a:solidFill>
                <a:latin typeface="Arial"/>
              </a:rPr>
              <a:t>Слово strawberry в токенизаторе o200k_base (GPT-4o, Claude 4.x) разрезается на 3 токена. Модель не «видит» буквы.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
        <p:nvSpPr>
          <p:cNvPr id="19" name="Rounded Rectangle 18"/>
          <p:cNvSpPr/>
          <p:nvPr/>
        </p:nvSpPr>
        <p:spPr>
          <a:xfrm>
            <a:off x="502920" y="626364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3679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0  Открытие</a:t>
            </a:r>
          </a:p>
        </p:txBody>
      </p:sp>
      <p:sp>
        <p:nvSpPr>
          <p:cNvPr id="21" name="Rounded Rectangle 20"/>
          <p:cNvSpPr/>
          <p:nvPr/>
        </p:nvSpPr>
        <p:spPr>
          <a:xfrm>
            <a:off x="2389632"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89632"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23" name="Rounded Rectangle 22"/>
          <p:cNvSpPr/>
          <p:nvPr/>
        </p:nvSpPr>
        <p:spPr>
          <a:xfrm>
            <a:off x="4276344"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6344"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25" name="Rounded Rectangle 24"/>
          <p:cNvSpPr/>
          <p:nvPr/>
        </p:nvSpPr>
        <p:spPr>
          <a:xfrm>
            <a:off x="6163056"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6"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27" name="Rounded Rectangle 26"/>
          <p:cNvSpPr/>
          <p:nvPr/>
        </p:nvSpPr>
        <p:spPr>
          <a:xfrm>
            <a:off x="8049768"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9768"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29" name="Rounded Rectangle 28"/>
          <p:cNvSpPr/>
          <p:nvPr/>
        </p:nvSpPr>
        <p:spPr>
          <a:xfrm>
            <a:off x="9936480"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36480"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Rounded Rectangle 26"/>
          <p:cNvSpPr/>
          <p:nvPr/>
        </p:nvSpPr>
        <p:spPr>
          <a:xfrm>
            <a:off x="502920" y="5806440"/>
            <a:ext cx="11247120" cy="68580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5879592"/>
            <a:ext cx="10917936" cy="5394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Подумайте 15 сек: «сильнее» — 1, 2 или 3 токена? (Проверить через tiktokenizer)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Словарь строится один раз перед обучением; в inference — lookup</a:t>
            </a:r>
          </a:p>
        </p:txBody>
      </p:sp>
      <p:sp>
        <p:nvSpPr>
          <p:cNvPr id="4" name="Rounded Rectangle 3"/>
          <p:cNvSpPr/>
          <p:nvPr/>
        </p:nvSpPr>
        <p:spPr>
          <a:xfrm>
            <a:off x="914400" y="1965960"/>
            <a:ext cx="50292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488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6" name="Rounded Rectangle 5"/>
          <p:cNvSpPr/>
          <p:nvPr/>
        </p:nvSpPr>
        <p:spPr>
          <a:xfrm>
            <a:off x="1325880" y="30632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00200" y="28346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8" name="Rounded Rectangle 7"/>
          <p:cNvSpPr/>
          <p:nvPr/>
        </p:nvSpPr>
        <p:spPr>
          <a:xfrm>
            <a:off x="1325880" y="365759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34289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0" name="Rounded Rectangle 9"/>
          <p:cNvSpPr/>
          <p:nvPr/>
        </p:nvSpPr>
        <p:spPr>
          <a:xfrm>
            <a:off x="1325880" y="42519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40233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2" name="Rounded Rectangle 11"/>
          <p:cNvSpPr/>
          <p:nvPr/>
        </p:nvSpPr>
        <p:spPr>
          <a:xfrm>
            <a:off x="1325880" y="48463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46177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4" name="Right Arrow 13"/>
          <p:cNvSpPr/>
          <p:nvPr/>
        </p:nvSpPr>
        <p:spPr>
          <a:xfrm>
            <a:off x="5989320" y="35433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1965960"/>
            <a:ext cx="5029200" cy="3703320"/>
          </a:xfrm>
          <a:prstGeom prst="roundRect">
            <a:avLst>
              <a:gd name="adj" fmla="val 823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1488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7" name="Rounded Rectangle 16"/>
          <p:cNvSpPr/>
          <p:nvPr/>
        </p:nvSpPr>
        <p:spPr>
          <a:xfrm>
            <a:off x="6629400" y="30358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8346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19" name="Rounded Rectangle 18"/>
          <p:cNvSpPr/>
          <p:nvPr/>
        </p:nvSpPr>
        <p:spPr>
          <a:xfrm>
            <a:off x="6629400" y="35844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3720" y="33832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1" name="Rounded Rectangle 20"/>
          <p:cNvSpPr/>
          <p:nvPr/>
        </p:nvSpPr>
        <p:spPr>
          <a:xfrm>
            <a:off x="6629400" y="413308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39319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3" name="Rounded Rectangle 22"/>
          <p:cNvSpPr/>
          <p:nvPr/>
        </p:nvSpPr>
        <p:spPr>
          <a:xfrm>
            <a:off x="6629400" y="46817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4805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5" name="Rounded Rectangle 24"/>
          <p:cNvSpPr/>
          <p:nvPr/>
        </p:nvSpPr>
        <p:spPr>
          <a:xfrm>
            <a:off x="6629400" y="52303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50292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7" name="Rounded Rectangle 26"/>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29" name="TextBox 28"/>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5" name="Rounded Rectangle 4"/>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527048"/>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Подсчёт символов</a:t>
            </a:r>
          </a:p>
        </p:txBody>
      </p:sp>
      <p:sp>
        <p:nvSpPr>
          <p:cNvPr id="7" name="TextBox 6"/>
          <p:cNvSpPr txBox="1"/>
          <p:nvPr/>
        </p:nvSpPr>
        <p:spPr>
          <a:xfrm>
            <a:off x="6629400" y="1984248"/>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017520"/>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Опечатки</a:t>
            </a:r>
          </a:p>
        </p:txBody>
      </p:sp>
      <p:sp>
        <p:nvSpPr>
          <p:cNvPr id="10" name="TextBox 9"/>
          <p:cNvSpPr txBox="1"/>
          <p:nvPr/>
        </p:nvSpPr>
        <p:spPr>
          <a:xfrm>
            <a:off x="6629400" y="3474720"/>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507992"/>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Регистр и пробелы</a:t>
            </a:r>
          </a:p>
        </p:txBody>
      </p:sp>
      <p:sp>
        <p:nvSpPr>
          <p:cNvPr id="13" name="TextBox 12"/>
          <p:cNvSpPr txBox="1"/>
          <p:nvPr/>
        </p:nvSpPr>
        <p:spPr>
          <a:xfrm>
            <a:off x="6629400" y="4965192"/>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cat, ` cat`, Cat, CAT — разные токены, разные id.</a:t>
            </a:r>
          </a:p>
        </p:txBody>
      </p:sp>
      <p:sp>
        <p:nvSpPr>
          <p:cNvPr id="14" name="Rounded Rectangle 13"/>
          <p:cNvSpPr/>
          <p:nvPr/>
        </p:nvSpPr>
        <p:spPr>
          <a:xfrm>
            <a:off x="502920" y="5943600"/>
            <a:ext cx="1124712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16752"/>
            <a:ext cx="10881360" cy="63093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Для побитово-точных операций — внешний инструмент (Python, regex), не чистый LLM-инференс.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1554480" y="1874519"/>
            <a:ext cx="9144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1828800" y="2011680"/>
            <a:ext cx="8595360" cy="3931920"/>
          </a:xfrm>
          <a:prstGeom prst="rect">
            <a:avLst/>
          </a:prstGeom>
        </p:spPr>
      </p:pic>
      <p:sp>
        <p:nvSpPr>
          <p:cNvPr id="6" name="TextBox 5"/>
          <p:cNvSpPr txBox="1"/>
          <p:nvPr/>
        </p:nvSpPr>
        <p:spPr>
          <a:xfrm>
            <a:off x="502920" y="6172200"/>
            <a:ext cx="11247120" cy="365760"/>
          </a:xfrm>
          <a:prstGeom prst="rect">
            <a:avLst/>
          </a:prstGeom>
          <a:noFill/>
        </p:spPr>
        <p:txBody>
          <a:bodyPr wrap="square" lIns="0" rIns="0" tIns="0" bIns="0" anchor="t">
            <a:spAutoFit/>
          </a:bodyPr>
          <a:lstStyle/>
          <a:p>
            <a:pPr algn="ctr">
              <a:lnSpc>
                <a:spcPct val="115000"/>
              </a:lnSpc>
            </a:pPr>
            <a:r>
              <a:rPr sz="1300" b="0" i="1">
                <a:solidFill>
                  <a:srgbClr val="21295C"/>
                </a:solidFill>
                <a:latin typeface="Arial"/>
              </a:rPr>
              <a:t>Cosine similarity — мера угла между векторами; диапазон [−1, 1], ближе к 1 — более похожи.</a:t>
            </a:r>
          </a:p>
        </p:txBody>
      </p:sp>
      <p:sp>
        <p:nvSpPr>
          <p:cNvPr id="7" name="TextBox 6"/>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дают similarity, clustering и search — основу RAG</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Три практических применения, надстраиваемых над одной embedding-таблицей</a:t>
            </a:r>
          </a:p>
        </p:txBody>
      </p:sp>
      <p:sp>
        <p:nvSpPr>
          <p:cNvPr id="4" name="Rounded Rectangle 3"/>
          <p:cNvSpPr/>
          <p:nvPr/>
        </p:nvSpPr>
        <p:spPr>
          <a:xfrm>
            <a:off x="502920" y="1874519"/>
            <a:ext cx="3611880" cy="461772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gnet.png"/>
          <p:cNvPicPr>
            <a:picLocks noChangeAspect="1"/>
          </p:cNvPicPr>
          <p:nvPr/>
        </p:nvPicPr>
        <p:blipFill>
          <a:blip r:embed="rId2"/>
          <a:stretch>
            <a:fillRect/>
          </a:stretch>
        </p:blipFill>
        <p:spPr>
          <a:xfrm>
            <a:off x="1714500" y="2240279"/>
            <a:ext cx="1188720" cy="1188720"/>
          </a:xfrm>
          <a:prstGeom prst="rect">
            <a:avLst/>
          </a:prstGeom>
        </p:spPr>
      </p:pic>
      <p:sp>
        <p:nvSpPr>
          <p:cNvPr id="6" name="TextBox 5"/>
          <p:cNvSpPr txBox="1"/>
          <p:nvPr/>
        </p:nvSpPr>
        <p:spPr>
          <a:xfrm>
            <a:off x="685800" y="3657600"/>
            <a:ext cx="3246120" cy="502920"/>
          </a:xfrm>
          <a:prstGeom prst="rect">
            <a:avLst/>
          </a:prstGeom>
          <a:noFill/>
        </p:spPr>
        <p:txBody>
          <a:bodyPr wrap="square" lIns="0" rIns="0" tIns="0" bIns="0" anchor="t">
            <a:spAutoFit/>
          </a:bodyPr>
          <a:lstStyle/>
          <a:p>
            <a:pPr algn="ctr">
              <a:lnSpc>
                <a:spcPct val="115000"/>
              </a:lnSpc>
            </a:pPr>
            <a:r>
              <a:rPr sz="2400" b="1" i="0">
                <a:solidFill>
                  <a:srgbClr val="21295C"/>
                </a:solidFill>
                <a:latin typeface="Arial"/>
              </a:rPr>
              <a:t>Similarity</a:t>
            </a:r>
          </a:p>
        </p:txBody>
      </p:sp>
      <p:sp>
        <p:nvSpPr>
          <p:cNvPr id="7" name="TextBox 6"/>
          <p:cNvSpPr txBox="1"/>
          <p:nvPr/>
        </p:nvSpPr>
        <p:spPr>
          <a:xfrm>
            <a:off x="685800" y="4206240"/>
            <a:ext cx="3246120" cy="411480"/>
          </a:xfrm>
          <a:prstGeom prst="rect">
            <a:avLst/>
          </a:prstGeom>
          <a:noFill/>
        </p:spPr>
        <p:txBody>
          <a:bodyPr wrap="square" lIns="0" rIns="0" tIns="0" bIns="0" anchor="t">
            <a:spAutoFit/>
          </a:bodyPr>
          <a:lstStyle/>
          <a:p>
            <a:pPr algn="ctr">
              <a:lnSpc>
                <a:spcPct val="115000"/>
              </a:lnSpc>
            </a:pPr>
            <a:r>
              <a:rPr sz="1600" b="0" i="1">
                <a:solidFill>
                  <a:srgbClr val="065A82"/>
                </a:solidFill>
                <a:latin typeface="Arial"/>
              </a:rPr>
              <a:t>Поиск похожих</a:t>
            </a:r>
          </a:p>
        </p:txBody>
      </p:sp>
      <p:sp>
        <p:nvSpPr>
          <p:cNvPr id="8" name="TextBox 7"/>
          <p:cNvSpPr txBox="1"/>
          <p:nvPr/>
        </p:nvSpPr>
        <p:spPr>
          <a:xfrm>
            <a:off x="731520" y="4754879"/>
            <a:ext cx="3154680" cy="1645920"/>
          </a:xfrm>
          <a:prstGeom prst="rect">
            <a:avLst/>
          </a:prstGeom>
          <a:noFill/>
        </p:spPr>
        <p:txBody>
          <a:bodyPr wrap="square" lIns="0" rIns="0" tIns="0" bIns="0" anchor="t">
            <a:spAutoFit/>
          </a:bodyPr>
          <a:lstStyle/>
          <a:p>
            <a:pPr algn="ctr">
              <a:lnSpc>
                <a:spcPct val="135000"/>
              </a:lnSpc>
            </a:pPr>
            <a:r>
              <a:rPr sz="1600" b="0" i="0">
                <a:solidFill>
                  <a:srgbClr val="21295C"/>
                </a:solidFill>
                <a:latin typeface="Arial"/>
              </a:rPr>
              <a:t>Похожие тикеты в support,
кейсы в юр-базе,
резюме в HR-системе.</a:t>
            </a:r>
          </a:p>
        </p:txBody>
      </p:sp>
      <p:sp>
        <p:nvSpPr>
          <p:cNvPr id="9" name="Rounded Rectangle 8"/>
          <p:cNvSpPr/>
          <p:nvPr/>
        </p:nvSpPr>
        <p:spPr>
          <a:xfrm>
            <a:off x="4297680" y="1874519"/>
            <a:ext cx="3611880" cy="461772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x.png"/>
          <p:cNvPicPr>
            <a:picLocks noChangeAspect="1"/>
          </p:cNvPicPr>
          <p:nvPr/>
        </p:nvPicPr>
        <p:blipFill>
          <a:blip r:embed="rId3"/>
          <a:stretch>
            <a:fillRect/>
          </a:stretch>
        </p:blipFill>
        <p:spPr>
          <a:xfrm>
            <a:off x="5509260" y="2240279"/>
            <a:ext cx="1188720" cy="1188720"/>
          </a:xfrm>
          <a:prstGeom prst="rect">
            <a:avLst/>
          </a:prstGeom>
        </p:spPr>
      </p:pic>
      <p:sp>
        <p:nvSpPr>
          <p:cNvPr id="11" name="TextBox 10"/>
          <p:cNvSpPr txBox="1"/>
          <p:nvPr/>
        </p:nvSpPr>
        <p:spPr>
          <a:xfrm>
            <a:off x="4480560" y="3657600"/>
            <a:ext cx="3246120" cy="502920"/>
          </a:xfrm>
          <a:prstGeom prst="rect">
            <a:avLst/>
          </a:prstGeom>
          <a:noFill/>
        </p:spPr>
        <p:txBody>
          <a:bodyPr wrap="square" lIns="0" rIns="0" tIns="0" bIns="0" anchor="t">
            <a:spAutoFit/>
          </a:bodyPr>
          <a:lstStyle/>
          <a:p>
            <a:pPr algn="ctr">
              <a:lnSpc>
                <a:spcPct val="115000"/>
              </a:lnSpc>
            </a:pPr>
            <a:r>
              <a:rPr sz="2400" b="1" i="0">
                <a:solidFill>
                  <a:srgbClr val="21295C"/>
                </a:solidFill>
                <a:latin typeface="Arial"/>
              </a:rPr>
              <a:t>Clustering</a:t>
            </a:r>
          </a:p>
        </p:txBody>
      </p:sp>
      <p:sp>
        <p:nvSpPr>
          <p:cNvPr id="12" name="TextBox 11"/>
          <p:cNvSpPr txBox="1"/>
          <p:nvPr/>
        </p:nvSpPr>
        <p:spPr>
          <a:xfrm>
            <a:off x="4480560" y="4206240"/>
            <a:ext cx="3246120" cy="411480"/>
          </a:xfrm>
          <a:prstGeom prst="rect">
            <a:avLst/>
          </a:prstGeom>
          <a:noFill/>
        </p:spPr>
        <p:txBody>
          <a:bodyPr wrap="square" lIns="0" rIns="0" tIns="0" bIns="0" anchor="t">
            <a:spAutoFit/>
          </a:bodyPr>
          <a:lstStyle/>
          <a:p>
            <a:pPr algn="ctr">
              <a:lnSpc>
                <a:spcPct val="115000"/>
              </a:lnSpc>
            </a:pPr>
            <a:r>
              <a:rPr sz="1600" b="0" i="1">
                <a:solidFill>
                  <a:srgbClr val="065A82"/>
                </a:solidFill>
                <a:latin typeface="Arial"/>
              </a:rPr>
              <a:t>Кластеризация</a:t>
            </a:r>
          </a:p>
        </p:txBody>
      </p:sp>
      <p:sp>
        <p:nvSpPr>
          <p:cNvPr id="13" name="TextBox 12"/>
          <p:cNvSpPr txBox="1"/>
          <p:nvPr/>
        </p:nvSpPr>
        <p:spPr>
          <a:xfrm>
            <a:off x="4526280" y="4754879"/>
            <a:ext cx="3154680" cy="1645920"/>
          </a:xfrm>
          <a:prstGeom prst="rect">
            <a:avLst/>
          </a:prstGeom>
          <a:noFill/>
        </p:spPr>
        <p:txBody>
          <a:bodyPr wrap="square" lIns="0" rIns="0" tIns="0" bIns="0" anchor="t">
            <a:spAutoFit/>
          </a:bodyPr>
          <a:lstStyle/>
          <a:p>
            <a:pPr algn="ctr">
              <a:lnSpc>
                <a:spcPct val="135000"/>
              </a:lnSpc>
            </a:pPr>
            <a:r>
              <a:rPr sz="1600" b="0" i="0">
                <a:solidFill>
                  <a:srgbClr val="21295C"/>
                </a:solidFill>
                <a:latin typeface="Arial"/>
              </a:rPr>
              <a:t>k-means — анализ
жалоб клиентов,
тематика корпусов.</a:t>
            </a:r>
          </a:p>
        </p:txBody>
      </p:sp>
      <p:sp>
        <p:nvSpPr>
          <p:cNvPr id="14" name="Rounded Rectangle 13"/>
          <p:cNvSpPr/>
          <p:nvPr/>
        </p:nvSpPr>
        <p:spPr>
          <a:xfrm>
            <a:off x="8092440" y="1874519"/>
            <a:ext cx="3611880" cy="4617720"/>
          </a:xfrm>
          <a:prstGeom prst="roundRect">
            <a:avLst>
              <a:gd name="adj" fmla="val 8438"/>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arch-check.png"/>
          <p:cNvPicPr>
            <a:picLocks noChangeAspect="1"/>
          </p:cNvPicPr>
          <p:nvPr/>
        </p:nvPicPr>
        <p:blipFill>
          <a:blip r:embed="rId4"/>
          <a:stretch>
            <a:fillRect/>
          </a:stretch>
        </p:blipFill>
        <p:spPr>
          <a:xfrm>
            <a:off x="9304020" y="2240279"/>
            <a:ext cx="1188720" cy="1188720"/>
          </a:xfrm>
          <a:prstGeom prst="rect">
            <a:avLst/>
          </a:prstGeom>
        </p:spPr>
      </p:pic>
      <p:sp>
        <p:nvSpPr>
          <p:cNvPr id="16" name="TextBox 15"/>
          <p:cNvSpPr txBox="1"/>
          <p:nvPr/>
        </p:nvSpPr>
        <p:spPr>
          <a:xfrm>
            <a:off x="8275320" y="3657600"/>
            <a:ext cx="3246120" cy="502920"/>
          </a:xfrm>
          <a:prstGeom prst="rect">
            <a:avLst/>
          </a:prstGeom>
          <a:noFill/>
        </p:spPr>
        <p:txBody>
          <a:bodyPr wrap="square" lIns="0" rIns="0" tIns="0" bIns="0" anchor="t">
            <a:spAutoFit/>
          </a:bodyPr>
          <a:lstStyle/>
          <a:p>
            <a:pPr algn="ctr">
              <a:lnSpc>
                <a:spcPct val="115000"/>
              </a:lnSpc>
            </a:pPr>
            <a:r>
              <a:rPr sz="2400" b="1" i="0">
                <a:solidFill>
                  <a:srgbClr val="21295C"/>
                </a:solidFill>
                <a:latin typeface="Arial"/>
              </a:rPr>
              <a:t>Search</a:t>
            </a:r>
          </a:p>
        </p:txBody>
      </p:sp>
      <p:sp>
        <p:nvSpPr>
          <p:cNvPr id="17" name="TextBox 16"/>
          <p:cNvSpPr txBox="1"/>
          <p:nvPr/>
        </p:nvSpPr>
        <p:spPr>
          <a:xfrm>
            <a:off x="8275320" y="4206240"/>
            <a:ext cx="3246120" cy="411480"/>
          </a:xfrm>
          <a:prstGeom prst="rect">
            <a:avLst/>
          </a:prstGeom>
          <a:noFill/>
        </p:spPr>
        <p:txBody>
          <a:bodyPr wrap="square" lIns="0" rIns="0" tIns="0" bIns="0" anchor="t">
            <a:spAutoFit/>
          </a:bodyPr>
          <a:lstStyle/>
          <a:p>
            <a:pPr algn="ctr">
              <a:lnSpc>
                <a:spcPct val="115000"/>
              </a:lnSpc>
            </a:pPr>
            <a:r>
              <a:rPr sz="1600" b="0" i="1">
                <a:solidFill>
                  <a:srgbClr val="065A82"/>
                </a:solidFill>
                <a:latin typeface="Arial"/>
              </a:rPr>
              <a:t>Семантический поиск</a:t>
            </a:r>
          </a:p>
        </p:txBody>
      </p:sp>
      <p:sp>
        <p:nvSpPr>
          <p:cNvPr id="18" name="TextBox 17"/>
          <p:cNvSpPr txBox="1"/>
          <p:nvPr/>
        </p:nvSpPr>
        <p:spPr>
          <a:xfrm>
            <a:off x="8321040" y="4754879"/>
            <a:ext cx="3154680" cy="1645920"/>
          </a:xfrm>
          <a:prstGeom prst="rect">
            <a:avLst/>
          </a:prstGeom>
          <a:noFill/>
        </p:spPr>
        <p:txBody>
          <a:bodyPr wrap="square" lIns="0" rIns="0" tIns="0" bIns="0" anchor="t">
            <a:spAutoFit/>
          </a:bodyPr>
          <a:lstStyle/>
          <a:p>
            <a:pPr algn="ctr">
              <a:lnSpc>
                <a:spcPct val="135000"/>
              </a:lnSpc>
            </a:pPr>
            <a:r>
              <a:rPr sz="1600" b="1" i="0">
                <a:solidFill>
                  <a:srgbClr val="21295C"/>
                </a:solidFill>
                <a:latin typeface="Arial"/>
              </a:rPr>
              <a:t>Запрос → top-K
похожих документов.
→ Основа RAG (Лекция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Semantic search находит то, что full-text пропустит</a:t>
            </a:r>
          </a:p>
        </p:txBody>
      </p:sp>
      <p:sp>
        <p:nvSpPr>
          <p:cNvPr id="3" name="Rounded Rectangle 2"/>
          <p:cNvSpPr/>
          <p:nvPr/>
        </p:nvSpPr>
        <p:spPr>
          <a:xfrm>
            <a:off x="3657600" y="1325880"/>
            <a:ext cx="4846320" cy="640080"/>
          </a:xfrm>
          <a:prstGeom prst="roundRect">
            <a:avLst>
              <a:gd name="adj" fmla="val 2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0" y="1371600"/>
            <a:ext cx="4846320" cy="27432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Запрос</a:t>
            </a:r>
          </a:p>
        </p:txBody>
      </p:sp>
      <p:sp>
        <p:nvSpPr>
          <p:cNvPr id="5" name="TextBox 4"/>
          <p:cNvSpPr txBox="1"/>
          <p:nvPr/>
        </p:nvSpPr>
        <p:spPr>
          <a:xfrm>
            <a:off x="3657600" y="1600200"/>
            <a:ext cx="4846320" cy="32004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клубника</a:t>
            </a:r>
          </a:p>
        </p:txBody>
      </p:sp>
      <p:sp>
        <p:nvSpPr>
          <p:cNvPr id="6" name="Rounded Rectangle 5"/>
          <p:cNvSpPr/>
          <p:nvPr/>
        </p:nvSpPr>
        <p:spPr>
          <a:xfrm>
            <a:off x="502920" y="2286000"/>
            <a:ext cx="530352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475488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Full-text (Elasticsearch, Lucene)</a:t>
            </a:r>
          </a:p>
        </p:txBody>
      </p:sp>
      <p:sp>
        <p:nvSpPr>
          <p:cNvPr id="8" name="TextBox 7"/>
          <p:cNvSpPr txBox="1"/>
          <p:nvPr/>
        </p:nvSpPr>
        <p:spPr>
          <a:xfrm>
            <a:off x="822960" y="29260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9" name="TextBox 8"/>
          <p:cNvSpPr txBox="1"/>
          <p:nvPr/>
        </p:nvSpPr>
        <p:spPr>
          <a:xfrm>
            <a:off x="1280160" y="29260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клубника</a:t>
            </a:r>
          </a:p>
        </p:txBody>
      </p:sp>
      <p:sp>
        <p:nvSpPr>
          <p:cNvPr id="10" name="TextBox 9"/>
          <p:cNvSpPr txBox="1"/>
          <p:nvPr/>
        </p:nvSpPr>
        <p:spPr>
          <a:xfrm>
            <a:off x="822960" y="33832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1" name="TextBox 10"/>
          <p:cNvSpPr txBox="1"/>
          <p:nvPr/>
        </p:nvSpPr>
        <p:spPr>
          <a:xfrm>
            <a:off x="1280160" y="33832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клубники (стемминг)</a:t>
            </a:r>
          </a:p>
        </p:txBody>
      </p:sp>
      <p:sp>
        <p:nvSpPr>
          <p:cNvPr id="12" name="TextBox 11"/>
          <p:cNvSpPr txBox="1"/>
          <p:nvPr/>
        </p:nvSpPr>
        <p:spPr>
          <a:xfrm>
            <a:off x="822960" y="38404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3" name="TextBox 12"/>
          <p:cNvSpPr txBox="1"/>
          <p:nvPr/>
        </p:nvSpPr>
        <p:spPr>
          <a:xfrm>
            <a:off x="1280160" y="38404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клубнику</a:t>
            </a:r>
          </a:p>
        </p:txBody>
      </p:sp>
      <p:sp>
        <p:nvSpPr>
          <p:cNvPr id="14" name="TextBox 13"/>
          <p:cNvSpPr txBox="1"/>
          <p:nvPr/>
        </p:nvSpPr>
        <p:spPr>
          <a:xfrm>
            <a:off x="822960" y="42976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5" name="TextBox 14"/>
          <p:cNvSpPr txBox="1"/>
          <p:nvPr/>
        </p:nvSpPr>
        <p:spPr>
          <a:xfrm>
            <a:off x="1280160" y="42976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strawberry</a:t>
            </a:r>
          </a:p>
        </p:txBody>
      </p:sp>
      <p:sp>
        <p:nvSpPr>
          <p:cNvPr id="16" name="TextBox 15"/>
          <p:cNvSpPr txBox="1"/>
          <p:nvPr/>
        </p:nvSpPr>
        <p:spPr>
          <a:xfrm>
            <a:off x="822960" y="47548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7" name="TextBox 16"/>
          <p:cNvSpPr txBox="1"/>
          <p:nvPr/>
        </p:nvSpPr>
        <p:spPr>
          <a:xfrm>
            <a:off x="1280160" y="47548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ягода</a:t>
            </a:r>
          </a:p>
        </p:txBody>
      </p:sp>
      <p:sp>
        <p:nvSpPr>
          <p:cNvPr id="18" name="TextBox 17"/>
          <p:cNvSpPr txBox="1"/>
          <p:nvPr/>
        </p:nvSpPr>
        <p:spPr>
          <a:xfrm>
            <a:off x="822960" y="52120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9" name="TextBox 18"/>
          <p:cNvSpPr txBox="1"/>
          <p:nvPr/>
        </p:nvSpPr>
        <p:spPr>
          <a:xfrm>
            <a:off x="1280160" y="52120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лесная земляника</a:t>
            </a:r>
          </a:p>
        </p:txBody>
      </p:sp>
      <p:sp>
        <p:nvSpPr>
          <p:cNvPr id="20" name="Rounded Rectangle 19"/>
          <p:cNvSpPr/>
          <p:nvPr/>
        </p:nvSpPr>
        <p:spPr>
          <a:xfrm>
            <a:off x="6355080" y="2286000"/>
            <a:ext cx="5303520" cy="3840480"/>
          </a:xfrm>
          <a:prstGeom prst="roundRect">
            <a:avLst>
              <a:gd name="adj" fmla="val 7936"/>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423160"/>
            <a:ext cx="475488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Semantic (эмбеддинги + ближайшие соседи)</a:t>
            </a:r>
          </a:p>
        </p:txBody>
      </p:sp>
      <p:sp>
        <p:nvSpPr>
          <p:cNvPr id="22" name="TextBox 21"/>
          <p:cNvSpPr txBox="1"/>
          <p:nvPr/>
        </p:nvSpPr>
        <p:spPr>
          <a:xfrm>
            <a:off x="6675120" y="2926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3" name="TextBox 22"/>
          <p:cNvSpPr txBox="1"/>
          <p:nvPr/>
        </p:nvSpPr>
        <p:spPr>
          <a:xfrm>
            <a:off x="7132320" y="2926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клубника</a:t>
            </a:r>
          </a:p>
        </p:txBody>
      </p:sp>
      <p:sp>
        <p:nvSpPr>
          <p:cNvPr id="24" name="TextBox 23"/>
          <p:cNvSpPr txBox="1"/>
          <p:nvPr/>
        </p:nvSpPr>
        <p:spPr>
          <a:xfrm>
            <a:off x="10049256" y="2926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точное</a:t>
            </a:r>
          </a:p>
        </p:txBody>
      </p:sp>
      <p:sp>
        <p:nvSpPr>
          <p:cNvPr id="25" name="TextBox 24"/>
          <p:cNvSpPr txBox="1"/>
          <p:nvPr/>
        </p:nvSpPr>
        <p:spPr>
          <a:xfrm>
            <a:off x="6675120" y="33832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6" name="TextBox 25"/>
          <p:cNvSpPr txBox="1"/>
          <p:nvPr/>
        </p:nvSpPr>
        <p:spPr>
          <a:xfrm>
            <a:off x="7132320" y="33832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клубники</a:t>
            </a:r>
          </a:p>
        </p:txBody>
      </p:sp>
      <p:sp>
        <p:nvSpPr>
          <p:cNvPr id="27" name="TextBox 26"/>
          <p:cNvSpPr txBox="1"/>
          <p:nvPr/>
        </p:nvSpPr>
        <p:spPr>
          <a:xfrm>
            <a:off x="10049256" y="33832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морфология</a:t>
            </a:r>
          </a:p>
        </p:txBody>
      </p:sp>
      <p:sp>
        <p:nvSpPr>
          <p:cNvPr id="28" name="TextBox 27"/>
          <p:cNvSpPr txBox="1"/>
          <p:nvPr/>
        </p:nvSpPr>
        <p:spPr>
          <a:xfrm>
            <a:off x="6675120" y="38404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9" name="TextBox 28"/>
          <p:cNvSpPr txBox="1"/>
          <p:nvPr/>
        </p:nvSpPr>
        <p:spPr>
          <a:xfrm>
            <a:off x="7132320" y="38404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strawberry</a:t>
            </a:r>
          </a:p>
        </p:txBody>
      </p:sp>
      <p:sp>
        <p:nvSpPr>
          <p:cNvPr id="30" name="TextBox 29"/>
          <p:cNvSpPr txBox="1"/>
          <p:nvPr/>
        </p:nvSpPr>
        <p:spPr>
          <a:xfrm>
            <a:off x="10049256" y="38404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cross-lang</a:t>
            </a:r>
          </a:p>
        </p:txBody>
      </p:sp>
      <p:sp>
        <p:nvSpPr>
          <p:cNvPr id="31" name="TextBox 30"/>
          <p:cNvSpPr txBox="1"/>
          <p:nvPr/>
        </p:nvSpPr>
        <p:spPr>
          <a:xfrm>
            <a:off x="6675120" y="42976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2" name="TextBox 31"/>
          <p:cNvSpPr txBox="1"/>
          <p:nvPr/>
        </p:nvSpPr>
        <p:spPr>
          <a:xfrm>
            <a:off x="7132320" y="42976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ягода</a:t>
            </a:r>
          </a:p>
        </p:txBody>
      </p:sp>
      <p:sp>
        <p:nvSpPr>
          <p:cNvPr id="33" name="TextBox 32"/>
          <p:cNvSpPr txBox="1"/>
          <p:nvPr/>
        </p:nvSpPr>
        <p:spPr>
          <a:xfrm>
            <a:off x="10049256" y="42976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родовое</a:t>
            </a:r>
          </a:p>
        </p:txBody>
      </p:sp>
      <p:sp>
        <p:nvSpPr>
          <p:cNvPr id="34" name="TextBox 33"/>
          <p:cNvSpPr txBox="1"/>
          <p:nvPr/>
        </p:nvSpPr>
        <p:spPr>
          <a:xfrm>
            <a:off x="6675120" y="47548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5" name="TextBox 34"/>
          <p:cNvSpPr txBox="1"/>
          <p:nvPr/>
        </p:nvSpPr>
        <p:spPr>
          <a:xfrm>
            <a:off x="7132320" y="47548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лесная земляника</a:t>
            </a:r>
          </a:p>
        </p:txBody>
      </p:sp>
      <p:sp>
        <p:nvSpPr>
          <p:cNvPr id="36" name="TextBox 35"/>
          <p:cNvSpPr txBox="1"/>
          <p:nvPr/>
        </p:nvSpPr>
        <p:spPr>
          <a:xfrm>
            <a:off x="10049256" y="47548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близкий смысл</a:t>
            </a:r>
          </a:p>
        </p:txBody>
      </p:sp>
      <p:sp>
        <p:nvSpPr>
          <p:cNvPr id="37" name="TextBox 36"/>
          <p:cNvSpPr txBox="1"/>
          <p:nvPr/>
        </p:nvSpPr>
        <p:spPr>
          <a:xfrm>
            <a:off x="6675120" y="5212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8" name="TextBox 37"/>
          <p:cNvSpPr txBox="1"/>
          <p:nvPr/>
        </p:nvSpPr>
        <p:spPr>
          <a:xfrm>
            <a:off x="7132320" y="5212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a:t>
            </a:r>
          </a:p>
        </p:txBody>
      </p:sp>
      <p:sp>
        <p:nvSpPr>
          <p:cNvPr id="39" name="TextBox 38"/>
          <p:cNvSpPr txBox="1"/>
          <p:nvPr/>
        </p:nvSpPr>
        <p:spPr>
          <a:xfrm>
            <a:off x="10049256" y="5212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ещё близкие</a:t>
            </a:r>
          </a:p>
        </p:txBody>
      </p:sp>
      <p:sp>
        <p:nvSpPr>
          <p:cNvPr id="40" name="Rounded Rectangle 39"/>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Base layer RAG — реализация в Лекции 3 (Retrieval-Augmented Generation).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Worked example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attention)</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attention)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consensus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attention</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9436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8" name="TextBox 7"/>
          <p:cNvSpPr txBox="1"/>
          <p:nvPr/>
        </p:nvSpPr>
        <p:spPr>
          <a:xfrm>
            <a:off x="59436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Текст → id
из словаря (BPE)</a:t>
            </a:r>
          </a:p>
        </p:txBody>
      </p:sp>
      <p:sp>
        <p:nvSpPr>
          <p:cNvPr id="9" name="Right Arrow 8"/>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7195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470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3" name="TextBox 12"/>
          <p:cNvSpPr txBox="1"/>
          <p:nvPr/>
        </p:nvSpPr>
        <p:spPr>
          <a:xfrm>
            <a:off x="340614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4" name="TextBox 13"/>
          <p:cNvSpPr txBox="1"/>
          <p:nvPr/>
        </p:nvSpPr>
        <p:spPr>
          <a:xfrm>
            <a:off x="340614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id → вектор
из обученной таблицы</a:t>
            </a:r>
          </a:p>
        </p:txBody>
      </p:sp>
      <p:sp>
        <p:nvSpPr>
          <p:cNvPr id="15" name="Right Arrow 14"/>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8373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9" name="TextBox 18"/>
          <p:cNvSpPr txBox="1"/>
          <p:nvPr/>
        </p:nvSpPr>
        <p:spPr>
          <a:xfrm>
            <a:off x="621792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0" name="TextBox 19"/>
          <p:cNvSpPr txBox="1"/>
          <p:nvPr/>
        </p:nvSpPr>
        <p:spPr>
          <a:xfrm>
            <a:off x="621792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весов на контекст</a:t>
            </a:r>
          </a:p>
        </p:txBody>
      </p:sp>
      <p:sp>
        <p:nvSpPr>
          <p:cNvPr id="21" name="Right Arrow 20"/>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9551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3826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5" name="TextBox 24"/>
          <p:cNvSpPr txBox="1"/>
          <p:nvPr/>
        </p:nvSpPr>
        <p:spPr>
          <a:xfrm>
            <a:off x="902970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26" name="TextBox 25"/>
          <p:cNvSpPr txBox="1"/>
          <p:nvPr/>
        </p:nvSpPr>
        <p:spPr>
          <a:xfrm>
            <a:off x="902970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
один токен (T / p / k)</a:t>
            </a:r>
          </a:p>
        </p:txBody>
      </p:sp>
      <p:sp>
        <p:nvSpPr>
          <p:cNvPr id="27" name="TextBox 26"/>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конвейер «inference моделью» — чёрным ящиком. Теперь он перестал быть чёрным.</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3" name="Rounded Rectangle 2"/>
          <p:cNvSpPr/>
          <p:nvPr/>
        </p:nvSpPr>
        <p:spPr>
          <a:xfrm>
            <a:off x="502920" y="1325880"/>
            <a:ext cx="11247120" cy="45720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71600"/>
            <a:ext cx="11247120" cy="365760"/>
          </a:xfrm>
          <a:prstGeom prst="rect">
            <a:avLst/>
          </a:prstGeom>
          <a:noFill/>
        </p:spPr>
        <p:txBody>
          <a:bodyPr wrap="square" lIns="0" rIns="0" tIns="0" bIns="0" anchor="ctr">
            <a:spAutoFit/>
          </a:bodyPr>
          <a:lstStyle/>
          <a:p>
            <a:pPr algn="ctr">
              <a:lnSpc>
                <a:spcPct val="115000"/>
              </a:lnSpc>
            </a:pPr>
            <a:r>
              <a:rPr sz="1600" b="1" i="1">
                <a:solidFill>
                  <a:srgbClr val="21295C"/>
                </a:solidFill>
                <a:latin typeface="Arial"/>
              </a:rPr>
              <a:t>Payoff Лекции 1 §5.3 — связь обещаний и механизмов</a:t>
            </a:r>
          </a:p>
        </p:txBody>
      </p:sp>
      <p:sp>
        <p:nvSpPr>
          <p:cNvPr id="5" name="Rounded Rectangle 4"/>
          <p:cNvSpPr/>
          <p:nvPr/>
        </p:nvSpPr>
        <p:spPr>
          <a:xfrm>
            <a:off x="502920" y="1828800"/>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103120"/>
            <a:ext cx="1005840" cy="10058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2140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sp>
        <p:nvSpPr>
          <p:cNvPr id="8" name="TextBox 7"/>
          <p:cNvSpPr txBox="1"/>
          <p:nvPr/>
        </p:nvSpPr>
        <p:spPr>
          <a:xfrm>
            <a:off x="1965960" y="2011680"/>
            <a:ext cx="90982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9" name="TextBox 8"/>
          <p:cNvSpPr txBox="1"/>
          <p:nvPr/>
        </p:nvSpPr>
        <p:spPr>
          <a:xfrm>
            <a:off x="1965960" y="2560320"/>
            <a:ext cx="90982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10" name="Rounded Rectangle 9"/>
          <p:cNvSpPr/>
          <p:nvPr/>
        </p:nvSpPr>
        <p:spPr>
          <a:xfrm>
            <a:off x="502920" y="352043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794759"/>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81304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sp>
        <p:nvSpPr>
          <p:cNvPr id="13" name="TextBox 12"/>
          <p:cNvSpPr txBox="1"/>
          <p:nvPr/>
        </p:nvSpPr>
        <p:spPr>
          <a:xfrm>
            <a:off x="1965960" y="3703320"/>
            <a:ext cx="90982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251959"/>
            <a:ext cx="90982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21207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86399"/>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0468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sp>
        <p:nvSpPr>
          <p:cNvPr id="18" name="TextBox 17"/>
          <p:cNvSpPr txBox="1"/>
          <p:nvPr/>
        </p:nvSpPr>
        <p:spPr>
          <a:xfrm>
            <a:off x="1965960" y="5394959"/>
            <a:ext cx="90982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19" name="TextBox 18"/>
          <p:cNvSpPr txBox="1"/>
          <p:nvPr/>
        </p:nvSpPr>
        <p:spPr>
          <a:xfrm>
            <a:off x="1965960" y="5943599"/>
            <a:ext cx="90982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Дерево решений: когда не LLM</a:t>
            </a:r>
          </a:p>
        </p:txBody>
      </p:sp>
      <p:sp>
        <p:nvSpPr>
          <p:cNvPr id="3" name="Rounded Rectangle 2"/>
          <p:cNvSpPr/>
          <p:nvPr/>
        </p:nvSpPr>
        <p:spPr>
          <a:xfrm>
            <a:off x="3352647" y="1417320"/>
            <a:ext cx="5486400" cy="86868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352647" y="1554480"/>
            <a:ext cx="5486400" cy="64008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Когда LLM — не правильный инструмент?</a:t>
            </a:r>
          </a:p>
        </p:txBody>
      </p:sp>
      <p:sp>
        <p:nvSpPr>
          <p:cNvPr id="5" name="Rectangle 4"/>
          <p:cNvSpPr/>
          <p:nvPr/>
        </p:nvSpPr>
        <p:spPr>
          <a:xfrm>
            <a:off x="229057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731520" y="2788920"/>
            <a:ext cx="1005840" cy="1005840"/>
          </a:xfrm>
          <a:prstGeom prst="rect">
            <a:avLst/>
          </a:prstGeom>
        </p:spPr>
      </p:pic>
      <p:sp>
        <p:nvSpPr>
          <p:cNvPr id="8" name="TextBox 7"/>
          <p:cNvSpPr txBox="1"/>
          <p:nvPr/>
        </p:nvSpPr>
        <p:spPr>
          <a:xfrm>
            <a:off x="182880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Фиксированные классы</a:t>
            </a:r>
          </a:p>
        </p:txBody>
      </p:sp>
      <p:sp>
        <p:nvSpPr>
          <p:cNvPr id="9" name="TextBox 8"/>
          <p:cNvSpPr txBox="1"/>
          <p:nvPr/>
        </p:nvSpPr>
        <p:spPr>
          <a:xfrm>
            <a:off x="73152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Классификация на маленьком наборе категорий (5–20)?</a:t>
            </a:r>
          </a:p>
        </p:txBody>
      </p:sp>
      <p:sp>
        <p:nvSpPr>
          <p:cNvPr id="10" name="TextBox 9"/>
          <p:cNvSpPr txBox="1"/>
          <p:nvPr/>
        </p:nvSpPr>
        <p:spPr>
          <a:xfrm>
            <a:off x="73152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Классический ML
лог. регрессия, XGBoost,
LightGBM, дообученный BERT</a:t>
            </a:r>
          </a:p>
        </p:txBody>
      </p:sp>
      <p:sp>
        <p:nvSpPr>
          <p:cNvPr id="11" name="Rectangle 10"/>
          <p:cNvSpPr/>
          <p:nvPr/>
        </p:nvSpPr>
        <p:spPr>
          <a:xfrm>
            <a:off x="608533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png"/>
          <p:cNvPicPr>
            <a:picLocks noChangeAspect="1"/>
          </p:cNvPicPr>
          <p:nvPr/>
        </p:nvPicPr>
        <p:blipFill>
          <a:blip r:embed="rId3"/>
          <a:stretch>
            <a:fillRect/>
          </a:stretch>
        </p:blipFill>
        <p:spPr>
          <a:xfrm>
            <a:off x="4526280" y="2788920"/>
            <a:ext cx="1005840" cy="1005840"/>
          </a:xfrm>
          <a:prstGeom prst="rect">
            <a:avLst/>
          </a:prstGeom>
        </p:spPr>
      </p:pic>
      <p:sp>
        <p:nvSpPr>
          <p:cNvPr id="14" name="TextBox 13"/>
          <p:cNvSpPr txBox="1"/>
          <p:nvPr/>
        </p:nvSpPr>
        <p:spPr>
          <a:xfrm>
            <a:off x="562356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Интерпретируемость</a:t>
            </a:r>
          </a:p>
        </p:txBody>
      </p:sp>
      <p:sp>
        <p:nvSpPr>
          <p:cNvPr id="15" name="TextBox 14"/>
          <p:cNvSpPr txBox="1"/>
          <p:nvPr/>
        </p:nvSpPr>
        <p:spPr>
          <a:xfrm>
            <a:off x="452628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Нужна интерпретируемость
(финансы, медицина, страхование)?</a:t>
            </a:r>
          </a:p>
        </p:txBody>
      </p:sp>
      <p:sp>
        <p:nvSpPr>
          <p:cNvPr id="16" name="TextBox 15"/>
          <p:cNvSpPr txBox="1"/>
          <p:nvPr/>
        </p:nvSpPr>
        <p:spPr>
          <a:xfrm>
            <a:off x="452628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Прозрачные методы
лог. регрессия + важность,
деревья решений, правила</a:t>
            </a:r>
          </a:p>
        </p:txBody>
      </p:sp>
      <p:sp>
        <p:nvSpPr>
          <p:cNvPr id="17" name="Rectangle 16"/>
          <p:cNvSpPr/>
          <p:nvPr/>
        </p:nvSpPr>
        <p:spPr>
          <a:xfrm>
            <a:off x="988009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auge.png"/>
          <p:cNvPicPr>
            <a:picLocks noChangeAspect="1"/>
          </p:cNvPicPr>
          <p:nvPr/>
        </p:nvPicPr>
        <p:blipFill>
          <a:blip r:embed="rId4"/>
          <a:stretch>
            <a:fillRect/>
          </a:stretch>
        </p:blipFill>
        <p:spPr>
          <a:xfrm>
            <a:off x="8321040" y="2788920"/>
            <a:ext cx="1005840" cy="1005840"/>
          </a:xfrm>
          <a:prstGeom prst="rect">
            <a:avLst/>
          </a:prstGeom>
        </p:spPr>
      </p:pic>
      <p:sp>
        <p:nvSpPr>
          <p:cNvPr id="20" name="TextBox 19"/>
          <p:cNvSpPr txBox="1"/>
          <p:nvPr/>
        </p:nvSpPr>
        <p:spPr>
          <a:xfrm>
            <a:off x="941832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Скорость отклика</a:t>
            </a:r>
          </a:p>
        </p:txBody>
      </p:sp>
      <p:sp>
        <p:nvSpPr>
          <p:cNvPr id="21" name="TextBox 20"/>
          <p:cNvSpPr txBox="1"/>
          <p:nvPr/>
        </p:nvSpPr>
        <p:spPr>
          <a:xfrm>
            <a:off x="832104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Время отклика &lt; 100 мс критично
(антифрод, устройство пользователя)?</a:t>
            </a:r>
          </a:p>
        </p:txBody>
      </p:sp>
      <p:sp>
        <p:nvSpPr>
          <p:cNvPr id="22" name="TextBox 21"/>
          <p:cNvSpPr txBox="1"/>
          <p:nvPr/>
        </p:nvSpPr>
        <p:spPr>
          <a:xfrm>
            <a:off x="832104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Специализированная
маленькая модель
(не LLM ≥200 мс)</a:t>
            </a:r>
          </a:p>
        </p:txBody>
      </p:sp>
      <p:sp>
        <p:nvSpPr>
          <p:cNvPr id="23" name="Rounded Rectangle 22"/>
          <p:cNvSpPr/>
          <p:nvPr/>
        </p:nvSpPr>
        <p:spPr>
          <a:xfrm>
            <a:off x="1295247" y="5989320"/>
            <a:ext cx="9601200" cy="7772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5247" y="6126480"/>
            <a:ext cx="9601200" cy="50292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1965960"/>
            <a:ext cx="1051560" cy="1051560"/>
          </a:xfrm>
          <a:prstGeom prst="rect">
            <a:avLst/>
          </a:prstGeom>
        </p:spPr>
      </p:pic>
      <p:sp>
        <p:nvSpPr>
          <p:cNvPr id="6" name="TextBox 5"/>
          <p:cNvSpPr txBox="1"/>
          <p:nvPr/>
        </p:nvSpPr>
        <p:spPr>
          <a:xfrm>
            <a:off x="192024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a:t>
            </a:r>
          </a:p>
        </p:txBody>
      </p:sp>
      <p:sp>
        <p:nvSpPr>
          <p:cNvPr id="10" name="Rounded Rectangle 9"/>
          <p:cNvSpPr/>
          <p:nvPr/>
        </p:nvSpPr>
        <p:spPr>
          <a:xfrm>
            <a:off x="626364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1965960"/>
            <a:ext cx="1051560" cy="1051560"/>
          </a:xfrm>
          <a:prstGeom prst="rect">
            <a:avLst/>
          </a:prstGeom>
        </p:spPr>
      </p:pic>
      <p:sp>
        <p:nvSpPr>
          <p:cNvPr id="12" name="TextBox 11"/>
          <p:cNvSpPr txBox="1"/>
          <p:nvPr/>
        </p:nvSpPr>
        <p:spPr>
          <a:xfrm>
            <a:off x="768096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AI (через attention)</a:t>
            </a:r>
          </a:p>
        </p:txBody>
      </p:sp>
      <p:sp>
        <p:nvSpPr>
          <p:cNvPr id="13" name="TextBox 12"/>
          <p:cNvSpPr txBox="1"/>
          <p:nvPr/>
        </p:nvSpPr>
        <p:spPr>
          <a:xfrm>
            <a:off x="6537959"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 корреляция, не каузальный граф.</a:t>
            </a:r>
          </a:p>
        </p:txBody>
      </p:sp>
      <p:sp>
        <p:nvSpPr>
          <p:cNvPr id="16" name="Rounded Rectangle 15"/>
          <p:cNvSpPr/>
          <p:nvPr/>
        </p:nvSpPr>
        <p:spPr>
          <a:xfrm>
            <a:off x="502920" y="644652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51967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для причинных выводов привлекайте domain-эксперта или causal-методы.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ДЗ к Семинару 2 — apply температуры на своей задаче</a:t>
            </a:r>
          </a:p>
        </p:txBody>
      </p:sp>
      <p:sp>
        <p:nvSpPr>
          <p:cNvPr id="4" name="Rounded Rectangle 3"/>
          <p:cNvSpPr/>
          <p:nvPr/>
        </p:nvSpPr>
        <p:spPr>
          <a:xfrm>
            <a:off x="50292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png"/>
          <p:cNvPicPr>
            <a:picLocks noChangeAspect="1"/>
          </p:cNvPicPr>
          <p:nvPr/>
        </p:nvPicPr>
        <p:blipFill>
          <a:blip r:embed="rId2"/>
          <a:stretch>
            <a:fillRect/>
          </a:stretch>
        </p:blipFill>
        <p:spPr>
          <a:xfrm>
            <a:off x="1805940" y="2148839"/>
            <a:ext cx="1005840" cy="1005840"/>
          </a:xfrm>
          <a:prstGeom prst="rect">
            <a:avLst/>
          </a:prstGeom>
        </p:spPr>
      </p:pic>
      <p:sp>
        <p:nvSpPr>
          <p:cNvPr id="6" name="TextBox 5"/>
          <p:cNvSpPr txBox="1"/>
          <p:nvPr/>
        </p:nvSpPr>
        <p:spPr>
          <a:xfrm>
            <a:off x="68580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1</a:t>
            </a:r>
          </a:p>
        </p:txBody>
      </p:sp>
      <p:sp>
        <p:nvSpPr>
          <p:cNvPr id="7" name="TextBox 6"/>
          <p:cNvSpPr txBox="1"/>
          <p:nvPr/>
        </p:nvSpPr>
        <p:spPr>
          <a:xfrm>
            <a:off x="73152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Возьмите типовую задачу из своей предметной области.</a:t>
            </a:r>
          </a:p>
        </p:txBody>
      </p:sp>
      <p:sp>
        <p:nvSpPr>
          <p:cNvPr id="8" name="TextBox 7"/>
          <p:cNvSpPr txBox="1"/>
          <p:nvPr/>
        </p:nvSpPr>
        <p:spPr>
          <a:xfrm>
            <a:off x="73152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Конкретный воспроизводимый запрос (не «помоги думать»).</a:t>
            </a:r>
          </a:p>
        </p:txBody>
      </p:sp>
      <p:sp>
        <p:nvSpPr>
          <p:cNvPr id="9" name="Rounded Rectangle 8"/>
          <p:cNvSpPr/>
          <p:nvPr/>
        </p:nvSpPr>
        <p:spPr>
          <a:xfrm>
            <a:off x="429768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png"/>
          <p:cNvPicPr>
            <a:picLocks noChangeAspect="1"/>
          </p:cNvPicPr>
          <p:nvPr/>
        </p:nvPicPr>
        <p:blipFill>
          <a:blip r:embed="rId3"/>
          <a:stretch>
            <a:fillRect/>
          </a:stretch>
        </p:blipFill>
        <p:spPr>
          <a:xfrm>
            <a:off x="5600700" y="2148839"/>
            <a:ext cx="1005840" cy="1005840"/>
          </a:xfrm>
          <a:prstGeom prst="rect">
            <a:avLst/>
          </a:prstGeom>
        </p:spPr>
      </p:pic>
      <p:sp>
        <p:nvSpPr>
          <p:cNvPr id="11" name="TextBox 10"/>
          <p:cNvSpPr txBox="1"/>
          <p:nvPr/>
        </p:nvSpPr>
        <p:spPr>
          <a:xfrm>
            <a:off x="448056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2</a:t>
            </a:r>
          </a:p>
        </p:txBody>
      </p:sp>
      <p:sp>
        <p:nvSpPr>
          <p:cNvPr id="12" name="TextBox 11"/>
          <p:cNvSpPr txBox="1"/>
          <p:nvPr/>
        </p:nvSpPr>
        <p:spPr>
          <a:xfrm>
            <a:off x="452628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Запустите в playground на 3 температурах.</a:t>
            </a:r>
          </a:p>
        </p:txBody>
      </p:sp>
      <p:sp>
        <p:nvSpPr>
          <p:cNvPr id="13" name="TextBox 12"/>
          <p:cNvSpPr txBox="1"/>
          <p:nvPr/>
        </p:nvSpPr>
        <p:spPr>
          <a:xfrm>
            <a:off x="452628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T = 0  ·  T = 0.7  ·  T = 1.5
по 3 запуска каждой
(для оценки variance)</a:t>
            </a:r>
          </a:p>
        </p:txBody>
      </p:sp>
      <p:sp>
        <p:nvSpPr>
          <p:cNvPr id="14" name="Rounded Rectangle 13"/>
          <p:cNvSpPr/>
          <p:nvPr/>
        </p:nvSpPr>
        <p:spPr>
          <a:xfrm>
            <a:off x="809244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4"/>
          <a:stretch>
            <a:fillRect/>
          </a:stretch>
        </p:blipFill>
        <p:spPr>
          <a:xfrm>
            <a:off x="9395460" y="2148839"/>
            <a:ext cx="1005840" cy="1005840"/>
          </a:xfrm>
          <a:prstGeom prst="rect">
            <a:avLst/>
          </a:prstGeom>
        </p:spPr>
      </p:pic>
      <p:sp>
        <p:nvSpPr>
          <p:cNvPr id="16" name="TextBox 15"/>
          <p:cNvSpPr txBox="1"/>
          <p:nvPr/>
        </p:nvSpPr>
        <p:spPr>
          <a:xfrm>
            <a:off x="827532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3</a:t>
            </a:r>
          </a:p>
        </p:txBody>
      </p:sp>
      <p:sp>
        <p:nvSpPr>
          <p:cNvPr id="17" name="TextBox 16"/>
          <p:cNvSpPr txBox="1"/>
          <p:nvPr/>
        </p:nvSpPr>
        <p:spPr>
          <a:xfrm>
            <a:off x="832104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Принесите одностраничный разбор (1 A4).</a:t>
            </a:r>
          </a:p>
        </p:txBody>
      </p:sp>
      <p:sp>
        <p:nvSpPr>
          <p:cNvPr id="18" name="TextBox 17"/>
          <p:cNvSpPr txBox="1"/>
          <p:nvPr/>
        </p:nvSpPr>
        <p:spPr>
          <a:xfrm>
            <a:off x="832104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Что изменилось / осталось / какую T для production.</a:t>
            </a:r>
          </a:p>
        </p:txBody>
      </p:sp>
      <p:sp>
        <p:nvSpPr>
          <p:cNvPr id="19" name="Rounded Rectangle 18"/>
          <p:cNvSpPr/>
          <p:nvPr/>
        </p:nvSpPr>
        <p:spPr>
          <a:xfrm>
            <a:off x="502920" y="5349240"/>
            <a:ext cx="768096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77255"/>
            <a:ext cx="7315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Playground:  Hugging Face Inference Playground</a:t>
            </a:r>
          </a:p>
        </p:txBody>
      </p:sp>
      <p:sp>
        <p:nvSpPr>
          <p:cNvPr id="21" name="TextBox 20"/>
          <p:cNvSpPr txBox="1"/>
          <p:nvPr/>
        </p:nvSpPr>
        <p:spPr>
          <a:xfrm>
            <a:off x="685800" y="5879592"/>
            <a:ext cx="7315200" cy="365760"/>
          </a:xfrm>
          <a:prstGeom prst="rect">
            <a:avLst/>
          </a:prstGeom>
          <a:noFill/>
        </p:spPr>
        <p:txBody>
          <a:bodyPr wrap="square" lIns="0" rIns="0" tIns="0" bIns="0" anchor="t">
            <a:spAutoFit/>
          </a:bodyPr>
          <a:lstStyle/>
          <a:p>
            <a:pPr algn="l">
              <a:lnSpc>
                <a:spcPct val="115000"/>
              </a:lnSpc>
            </a:pPr>
            <a:r>
              <a:rPr sz="1300" b="0" i="0">
                <a:solidFill>
                  <a:srgbClr val="21295C"/>
                </a:solidFill>
                <a:latin typeface="Arial"/>
              </a:rPr>
              <a:t>Модель: Meta-Llama-3-8B-Instruct (apples-to-apples)</a:t>
            </a:r>
          </a:p>
        </p:txBody>
      </p:sp>
      <p:sp>
        <p:nvSpPr>
          <p:cNvPr id="22" name="TextBox 21"/>
          <p:cNvSpPr txBox="1"/>
          <p:nvPr/>
        </p:nvSpPr>
        <p:spPr>
          <a:xfrm>
            <a:off x="685800" y="6263640"/>
            <a:ext cx="7315200" cy="32004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Fallback: Together.ai / Ollama локально   ·   НЕ подойдут: ChatGPT Free, Claude.ai</a:t>
            </a:r>
          </a:p>
        </p:txBody>
      </p:sp>
      <p:sp>
        <p:nvSpPr>
          <p:cNvPr id="23" name="Rounded Rectangle 22"/>
          <p:cNvSpPr/>
          <p:nvPr/>
        </p:nvSpPr>
        <p:spPr>
          <a:xfrm>
            <a:off x="8366760" y="5349240"/>
            <a:ext cx="3383280" cy="128016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0" y="5458968"/>
            <a:ext cx="320040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БОНУС</a:t>
            </a:r>
          </a:p>
        </p:txBody>
      </p:sp>
      <p:sp>
        <p:nvSpPr>
          <p:cNvPr id="25" name="TextBox 24"/>
          <p:cNvSpPr txBox="1"/>
          <p:nvPr/>
        </p:nvSpPr>
        <p:spPr>
          <a:xfrm>
            <a:off x="8503920" y="5843016"/>
            <a:ext cx="3200400" cy="7315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«Сколько р в "строгая регуляризация"» × 3 модели. Объяснить через токенизацию.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331720"/>
          </a:xfrm>
          <a:prstGeom prst="roundRect">
            <a:avLst>
              <a:gd name="adj" fmla="val 1307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057400"/>
            <a:ext cx="1005840" cy="1005840"/>
          </a:xfrm>
          <a:prstGeom prst="rect">
            <a:avLst/>
          </a:prstGeom>
        </p:spPr>
      </p:pic>
      <p:sp>
        <p:nvSpPr>
          <p:cNvPr id="6" name="TextBox 5"/>
          <p:cNvSpPr txBox="1"/>
          <p:nvPr/>
        </p:nvSpPr>
        <p:spPr>
          <a:xfrm>
            <a:off x="1874519" y="20116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004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близость эмбеддингов + LLM → ответ из вашей базы</a:t>
            </a:r>
          </a:p>
        </p:txBody>
      </p:sp>
      <p:sp>
        <p:nvSpPr>
          <p:cNvPr id="9" name="Rounded Rectangle 8"/>
          <p:cNvSpPr/>
          <p:nvPr/>
        </p:nvSpPr>
        <p:spPr>
          <a:xfrm>
            <a:off x="6172200" y="17830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00800" y="2057400"/>
            <a:ext cx="1005840" cy="1005840"/>
          </a:xfrm>
          <a:prstGeom prst="rect">
            <a:avLst/>
          </a:prstGeom>
        </p:spPr>
      </p:pic>
      <p:sp>
        <p:nvSpPr>
          <p:cNvPr id="11" name="TextBox 10"/>
          <p:cNvSpPr txBox="1"/>
          <p:nvPr/>
        </p:nvSpPr>
        <p:spPr>
          <a:xfrm>
            <a:off x="7543800" y="20116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43800" y="26517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46520" y="32004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2976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572000"/>
            <a:ext cx="1005840" cy="1005840"/>
          </a:xfrm>
          <a:prstGeom prst="rect">
            <a:avLst/>
          </a:prstGeom>
        </p:spPr>
      </p:pic>
      <p:sp>
        <p:nvSpPr>
          <p:cNvPr id="16" name="TextBox 15"/>
          <p:cNvSpPr txBox="1"/>
          <p:nvPr/>
        </p:nvSpPr>
        <p:spPr>
          <a:xfrm>
            <a:off x="1874519" y="45262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1663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7150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72200" y="42976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00800" y="4572000"/>
            <a:ext cx="1005840" cy="1005840"/>
          </a:xfrm>
          <a:prstGeom prst="rect">
            <a:avLst/>
          </a:prstGeom>
        </p:spPr>
      </p:pic>
      <p:sp>
        <p:nvSpPr>
          <p:cNvPr id="21" name="TextBox 20"/>
          <p:cNvSpPr txBox="1"/>
          <p:nvPr/>
        </p:nvSpPr>
        <p:spPr>
          <a:xfrm>
            <a:off x="7543800" y="45262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43800" y="51663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46520" y="57150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Модель решает действие, видит результат, корректирует план</a:t>
            </a:r>
          </a:p>
        </p:txBody>
      </p:sp>
      <p:sp>
        <p:nvSpPr>
          <p:cNvPr id="24" name="Rounded Rectangle 23"/>
          <p:cNvSpPr/>
          <p:nvPr/>
        </p:nvSpPr>
        <p:spPr>
          <a:xfrm>
            <a:off x="502920" y="6446520"/>
            <a:ext cx="11247120" cy="365760"/>
          </a:xfrm>
          <a:prstGeom prst="roundRect">
            <a:avLst>
              <a:gd name="adj" fmla="val 3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73952"/>
            <a:ext cx="1828800" cy="320040"/>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Q&amp;A</a:t>
            </a:r>
          </a:p>
        </p:txBody>
      </p:sp>
      <p:sp>
        <p:nvSpPr>
          <p:cNvPr id="26" name="TextBox 25"/>
          <p:cNvSpPr txBox="1"/>
          <p:nvPr/>
        </p:nvSpPr>
        <p:spPr>
          <a:xfrm>
            <a:off x="2606040" y="6473952"/>
            <a:ext cx="9144000"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До 5 минут на вопросы в зале. Дополнительные — на Семинар 2 или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