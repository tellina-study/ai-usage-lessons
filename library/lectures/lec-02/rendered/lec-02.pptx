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Простой вопрос на разогрев: если поставить temperature на ноль, ответ модели на один и тот же запрос будет каждый раз одинаковым? Интуиция подсказывает «да» — ноль случайности, выбор самого вероятного токена, что тут может пойти не так.</a:t>
            </a:r>
          </a:p>
          <a:p>
            <a:r>
              <a:t>И интуиция почти права. Почти — потому что «почти» на инженерной практике стоит денег: тесты, которые полагаются на побитовую воспроизводимость при T=0, время от времени необъяснимо падают, а причина не в вашем коде. Сегодня разберём, откуда берётся это «но нет» — и ещё несколько похожих мест, где интуиция про модели работает в девяти случаях из десяти, а в десятом ломается предсказуемым и объяснимым образом. Идём по конвейеру инференса от текста до ответа — и на каждой стадии посмотрим, где основанная на наблюдениях интуиция перестаёт быть надёжной картой.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вторая лекция курса. Сегодня мы рассмотрим, как работает большая языковая модель изнутри: систематизируем устройство конвейера и разберём тонкости, которые напрямую влияют на инженерные решения. Кто работает с моделями ежедневно — освежит основы и узнает тонкости; кто встречает эти понятия впервые — узнает всё необходимое.</a:t>
            </a:r>
          </a:p>
          <a:p>
            <a:r>
              <a:t>Каркас лекции — конвейер инференса: путь одного запроса от текста до ответа. Текст режется на токены, токены превращаются в векторы, механизм внимания решает, какие части контекста важны, из распределения вероятностей выбирается очередной токен — и цикл повторяется. Четыре стадии — четыре раздела; пятый раздел — новый в этой версии курса — разбирает виды и размеры моделей: на чём они запускаются и что умеют; шестой раздел собирает конвейер целиком и подводит итоги.</a:t>
            </a:r>
          </a:p>
          <a:p>
            <a:r>
              <a:t>Двинемся по карте.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Короткая карта маршрута, прежде чем погружаться. Лекция идёт вдоль конвейера инференса: порядок разделов повторяет порядок стадий, через которые проходит каждый ваш запрос.</a:t>
            </a:r>
          </a:p>
          <a:p>
            <a:r>
              <a:t>Раздел 1 — токенизация: как модель видит текст, почему «исправленный» strawberry ничего не доказывает, откуда берутся числа-чанки и glitch-токены. Раздел 2 — эмбеддинги: пространство смыслов, три разные вещи, которые называют одним словом «эмбеддинг», и граница, на которой семантическая похожесть перестаёт означать полезность. Раздел 3 — механизм внимания: почему промпт с ролью реально меняет ответ; откуда берётся экономика кэширования; что на самом деле умеет окно в миллион токенов. Раздел 4 — сэмплинг: температура, причина, по которой T=0 не даёт детерминизма, структурированный вывод и невидимые токены рассуждения, которые вы оплачиваете. Раздел 5 — новый в этой версии курса: виды и размеры моделей — на чём запускается маленькая модель, а на чём гигант, что каждый класс умеет по мультимодальности, и ландшафт конкретных моделей на сентябрь 2026 года. Раздел 6 — финал: конвейер целиком и сводка разобранных механизмов.</a:t>
            </a:r>
          </a:p>
          <a:p>
            <a:r>
              <a:t>Держите карту в голове — она не даст потеряться в деталях.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Объект сегодняшнего разговора — слой «модель». Лекция 1 дала слоистую картину: внизу модель, над ней цикл чата с системным промптом и историей, над чатом — агентный цикл, сверху — приложение. Модель там описана как stateless-инференс: на вход данные, на выход предсказание, без памяти между вызовами. Оттуда же у нас есть контекстное окно как ограничение, различие локальных и облачных моделей и три уровня причинности Пе́рла — всё это сегодня считается известным и используется без повторного вывода.</a:t>
            </a:r>
          </a:p>
          <a:p>
            <a:r>
              <a:t>С этим описанием мы умеем говорить о том, где модель находится в большей системе. Но вопрос «что именно происходит внутри этой функции между запросом и ответом» Лекция 1 сознательно оставила чёрным ящиком. Сегодня мы этот ящик разбираем — и всё, что произойдёт на этой лекции, происходит внутри одного-единственного слоя, нижнего. Чат, агенты, RAG и приложения строятся поверх и обсуждаются в Лекции 3 и дальше.</a:t>
            </a:r>
          </a:p>
          <a:p>
            <a:r>
              <a:t>Мы идём за границами: в каких местах внутреннее устройство модели меняет то, как вы строите промпты, агентов и решения. Каждый механизм в лекции выбран потому, что у него есть наблюдаемое инженерное следствие — в стоимости, скорости, качестве или воспроизводимости.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лекции: рассмотреть, как работает языковая модель, — и разобраться с важными деталями, которые меняют то, как вы строите промпты, агентов и решения. Мы пройдём конвейер инференса от текста до ответа, и на каждой стадии — вместе с механизмом — покажем его границы.</a:t>
            </a:r>
          </a:p>
          <a:p>
            <a:r>
              <a:t>Мы покажем, где именно токенизация ломает арифметику и почему «исправленный» strawberry ничего не доказывает. Покажем механизм, из-за которого роль в промпте реально меняет ответ. Разберём, почему temperature=0 не даёт воспроизводимости и сколько стоит её получить по-настоящему. Добавим к этому реальную цену невидимых токенов рассуждения, критерий выбора между маленькой моделью и гигантом — и то, чем заменить веру в бенчмарки при выборе модели.</a:t>
            </a:r>
          </a:p>
          <a:p>
            <a:r>
              <a:t>Семь строк под целью — по одной на каждый раздел, который сегодня пройдём: на каждую к концу лекции будет ответ через конкретный механизм, а не через интуицию. Если по ходу покажется, что какой-то механизм не влияет на практику, — ловите меня на слове: таких мы сегодня не разбираем.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опорная схема всей лекции — конвейер инференса, путь одного запроса от текста до ответа. Посмотрим на него целиком, до первого погружения; дальше мы будем возвращаться к нему на входе в каждый раздел.</a:t>
            </a:r>
          </a:p>
          <a:p>
            <a:r>
              <a:t>Слева — ваш текст. Первое преобразование — токенизация: текст режется на токены, идентификаторы из словаря модели; это Раздел 1. Дальше каждый токен превращается в вектор — список чисел, с которыми нейросеть умеет считать; это Раздел 2. В центре — сама модель: механизм внимания решает, какие части контекста важны для следующего шага; это Раздел 3. На выходе модель выдаёт не ответ, а распределение вероятностей по всему словарю; из него выбирается один очередной токен, он приклеивается к контексту — и цикл повторяется; это Раздел 4. Последний шаг — выбранные токены собираются обратно в текст.</a:t>
            </a:r>
          </a:p>
          <a:p>
            <a:r>
              <a:t>Главное наблюдение: слова существуют только на границах конвейера — на входе и на выходе. Всё внутри — операции над векторами. И обратите внимание на петлю в схеме: токены генерируются по одному, каждый выбранный токен добавляется ко входу — и конвейер прокручивается заново; ответ строится последовательными оборотами этой петли.</a:t>
            </a:r>
          </a:p>
          <a:p>
            <a:r>
              <a:t>Эта ось — не только про сегодня. Все последующие лекции курса лягут на неё же: RAG — это управление тем, что попадает в контекст до конвейера; агенты — цикл вокруг конвейера; оптимизация стоимости — экономика конвейера. Сегодняшняя лекция движется по этой же оси — каждый раздел раскрывает свой участок конвейера вместе с границами применимости.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Входим в первую стадию конвейера — токенизацию. Это самый ближний к вам слой: именно с ним сталкивается текст, как только вы нажимаете «отправить». Текст не попадает в модель ни буквами, ни словами — он режется на токены, статистически частые подпоследовательности из словаря модели.</a:t>
            </a:r>
          </a:p>
          <a:p>
            <a:r>
              <a:t>Определение токена вы знаете, поэтому базу мы пройдём быстро и точно — она нужна как общий фундамент. Основное время раздела уйдёт на второй этаж: места, где частотная нарезка расходится со структурой ваших данных. Посмотрим на диагноз 2026 года по классическому мему про подсчёт букв: что именно доказывает модель, которая проходит strawberry и ошибается на cranberry. Увидим, что токенизатор делает с числами и кодом и почему это ломает арифметику. Познакомимся с glitch-токенами — недообученными углами словаря, которые никуда не делись и в современных моделях. И закроем раздел экономикой: сколько стоит один и тот же текст на разных языках и что с этим делать при настройке лимитов.</a:t>
            </a:r>
          </a:p>
          <a:p>
            <a:r>
              <a:t>Общий принцип раздела: у каждой странности токенизации есть механизм, а у механизма — проверяемое инженерное следствие.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Точное определение. Токен — это идентификатор, целое число из словаря модели; словарь зафиксирован при обучении и не меняется в момент использования. Токен — не буква и не слово, а статистически частая подпоследовательность символов, выученная на корпусе. Частое английское `cat` попадает в словарь целиком; `tokenization` распадается на два токена; `клубника` — на три в том же словаре o200k_base. Размер словаря у современных моделей — порядка сотен тысяч записей: около 200 тысяч у семейства GPT-4o и новее, около 100 тысяч у предыдущих поколений, 128 256 у Llama 3 и новее. Рабочий ориентир стоимости: один токен — примерно четыре символа английского и примерно два символа русского текста.</a:t>
            </a:r>
          </a:p>
          <a:p>
            <a:r>
              <a:t>Одно уточнение, которое часто теряется: словарь и модель — два разных артефакта. Словарь строится отдельным алгоритмом на своём корпусе до обучения модели; модель потом учится работать с этим словарём на своём корпусе. Эта развязка — источник целого класса эффектов, к которым мы вернёмся в этом разделе.</a:t>
            </a:r>
          </a:p>
          <a:p>
            <a:r>
              <a:t>И ответ на резонный вопрос «почему не работать посимвольно»: экономика длины. Посимвольное представление удлиняет вход в три-пять раз, а стоимость внимания растёт с длиной квадратично — вчетверо длиннее вход означает в шестнадцать раз дороже слой внимания. Токенизация со всеми её артефактами — осознанно купленный компромисс, а не недосмотр, который «починят в следующей версии».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Алгоритм построения словарей большинства современных LLM — BPE, байт-парное кодирование. Это компромисс между двумя крайностями. Словарь из отдельных символов представит любой текст, но последовательности получаются длинными. Словарь из целых слов даёт короткие последовательности, но любое незнакомое слово — опечатка, неологизм, имя — выпадает. BPE сидит посередине: начинаем с алфавита, итеративно объединяем самые частые пары соседних единиц; после многих итераций в словаре есть и одиночные символы, и частые слоги, и целые высокочастотные слова.</a:t>
            </a:r>
          </a:p>
          <a:p>
            <a:r>
              <a:t>Ключевая инженерная деталь: словарь строится один раз, до обучения модели. На корпусе запускают BPE, фиксируют словарь и правила слияния — и всё; на инференсе токенизация — это выборка по готовой таблице за миллисекунды. Отсюда два следствия, которые пригодятся ниже: токенизатор режет по частотной статистике своего корпуса, и эта статистика может не совпадать со структурой вашей задачи; а раз словарь и модель обучаются на разных корпусах — в словаре могут остаться записи, которые модель почти не видела.</a:t>
            </a:r>
          </a:p>
          <a:p>
            <a:r>
              <a:t>Практически важно и другое: разные вендоры считают один и тот же текст по-разному — свои словари, таблицы слияния, обработка пробелов. Один документ у разных провайдеров даст разное число токенов, а значит, разную стоимость и разное заполнение окна. При переносе нагрузки между провайдерами пересчитывайте токен-бюджет: для моделей OpenAI токенизация эмулируется локально библиотекой tiktoken, для открытых моделей — библиотекой tokenizers; токенизатор Claude закрыт, но фактический расход виден в счётчиках любого ответа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Мем «сколько r в strawberry» вы знаете; вероятно, знаете и то, что современные модели отвечают на него правильно. Вывод «значит, научились считать буквы» — ложный, и вот почему.</a:t>
            </a:r>
          </a:p>
          <a:p>
            <a:r>
              <a:t>Механизм — слепота к буквам. Слово приходит в модель как три токена, а не десять букв. Внутри выученного вектора токена нет поля «содержит r на такой-то позиции» — там статистика контекстов. Посимвольный подсчёт требует рассуждения поверх токенизированного представления — разворачивания слова по буквам или вызова кода; один прямой проход к надёжному ответу не приводит. Это структурное свойство конвейера.</a:t>
            </a:r>
          </a:p>
          <a:p>
            <a:r>
              <a:t>Теперь смотрите на гонку патчей 2026 года. GPT-5.2 в декабре 2025-го всё ещё отвечал «две r» в strawberry. GPT-5.5, выпущенный в апреле 2026-го, проходит strawberry — но на вопрос «сколько r в cranberry» отвечал «две»; правильно — три. И только GPT-5.6 в июле 2026-го починил уже и cranberry — проверьте актуальную модель прямо сейчас. Обратите внимание на закономерность: каждый вирусный кейс патчится точечно и по очереди, а не единым улучшением навыка — иначе фикс strawberry сразу закрыл бы и cranberry. Для систематической проверки класса задачи появился StrawberryBench — 847 вопросов в семи уровнях сложности; именно на нём, а не на одном вирусном слове, видно, что посимвольный счёт остаётся проблемным местом.</a:t>
            </a:r>
          </a:p>
          <a:p>
            <a:r>
              <a:t>У явления есть имя: «рваный интеллект» — профиль способностей с резкими провалами рядом с пиками. Причина в том, что уровень навыка задаётся данными обучения, а не «общим умом»: где в данных навык представлен богато — там пик, где представление слова скрывает нужную структуру — там провал. Та же модель решает олимпиадную математику и проваливает подсчёт букв; на умножении GPT-4 без инструментов давал около 59% на трёхзначных числах, 4% на четырёхзначных и 0% на пятизначных. Урок переносим в практику: если модель прошла ваш тест — проверьте её на «cranberry вашей предметной области», структурно аналогичном, но незнаменитом примере, на котором никто не хайпил: вирусное прохождение — не навык. А для посимвольных операций и арифметики — внешний инструмент, не прямой проход.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Зачем инженеру знать, как режутся числа и код: это самые частые «нетекстовые» входы, и от их нарезки напрямую зависят арифметика модели и ваш бюджет токенов на код. Два компактных примера того, как частотная нарезка расходится со структурой данных.</a:t>
            </a:r>
          </a:p>
          <a:p>
            <a:r>
              <a:t>Числа. Токенизатор cl100k_base стандартизировал нарезку чисел чанками по три цифры слева направо: миллион превращается в группы, границы которых не совпадают с разрядами. Человек читает разряды справа налево — тысячи, миллионы; модель получает нерегулярные блоки — и это прямой источник части арифметических ошибок. Исследования подтверждают диагноз с обеих сторон: принудительная нарезка справа налево заметно улучшает численное рассуждение, а задача-специфичные схемы токенизации чисел давали до плюс тридцати трёх процентов точности на арифметике с большими числами относительно стандартной нарезки.</a:t>
            </a:r>
          </a:p>
          <a:p>
            <a:r>
              <a:t>Код. GPT-2 кодировал каждый пробел отступа отдельным токеном: строка на четвёртом уровне вложенности тратила шестнадцать токенов только на отступ. Токенизаторы поколения GPT-4 группируют пробелы в единые токены, целясь именно в Python-стиль. Это редкий случай, когда проблему токенизации починили изменением словаря, — полезный контраст к strawberry: словарь можно оптимизировать под частый класс входов, но нельзя совместить нарезку со структурой всех задач сразу.</a:t>
            </a:r>
          </a:p>
          <a:p>
            <a:r>
              <a:t>Четыре приёма на вынос. Значимые числа записывайте с разделителями разрядов — «1 234 567» вместо сплошной строки: разделители выравнивают границы токенов по разрядам. Любую арифметику важнее прикидки выносите в инструмент — модели прекрасно пишут код для вычислений, которые не могут выполнить сами. Для кода — единообразное форматирование и оценка бюджета по измерению на реальных файлах: средний ориентир «четыре символа на токен» для кода систематически врёт. И важная поправка для практики: в готовых чат-продуктах — ChatGPT, Claude в веб-интерфейсе — счёт и арифметика уже автоматически уходят во встроенный инструмент вроде code interpreter, минуя прямой проход модели; то, что мы сейчас разобрали, становится критичным именно тогда, когда вы вызываете модель через API напрямую — в своих приложениях и агентах, где такого автоматического роутинга нет, и в нестандартных случаях, которые готовый продукт не распознал как «нужен инструмент».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январе 2023 года исследователи, изучая кластеры в пространстве эмбеддингов GPT-моделей, наткнулись на группу странных записей словаря — строки вроде SolidGoldMagikarp: юзернеймы с Reddit, попавшие в корпус токенизатора при сборе данных. Модели вели себя на этих токенах аномально: не могли их повторить, отвечали невпопад, уходили от темы. Механизм коротко: строка может быть частой в корпусе, на котором строился словарь, и получить собственный токен — но почти не встречаться в корпусе, на котором потом обучалась модель; эмбеддинг такого токена остаётся близким к случайной инициализации и «ничего не значит» в выученной геометрии.</a:t>
            </a:r>
          </a:p>
          <a:p>
            <a:r>
              <a:t>Данные 2026 года говорят: это не курьёз эпохи GPT-3, а системное свойство. По одной из оценок, порядка четырёх процентов записей словаря протестированных моделей — glitch-токены, а фреймворк GlitchMiner находит их градиентным поиском в десяти открытых LLM семейств Llama, Qwen, Gemma, Phi-3 и Mistral. Проблема воспроизводится во всех проверенных семействах, потому что словарь строится отдельно от модели; масштабом такое не чинится.</a:t>
            </a:r>
          </a:p>
          <a:p>
            <a:r>
              <a:t>Теперь — на что это реально влияет в инженерной практике, и это важнее самого механизма. Первое: сбои парсинга на экзотических строках — модель необъяснимо теряет тему разговора или отказывает именно на конкретном входе, а не в целом на классе задач. Второе: прод-риски — любая система, принимающая произвольный пользовательский ввод, работает с потенциальным источником glitch-токенов: логи, автоматически сгенерированные ID, обфусцированный текст, редкие Unicode-последовательности. Третье: диагностика — если поведение необъяснимо именно на конкретном входе, среди гипотез должна быть «на входе glitch-токен»; проверяется за минуту заменой подозрительной строки на плейсхолдер — поведение выправилось, виновник найден. Четвёртое, продуктовое: нормализуйте и санитизируйте вход до подачи в модель — это отсекает не только glitch-токены, но и целый класс смежных сюрпризов токенизации.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 тот же по смыслу текст стоит разное число токенов в зависимости от языка — прямое следствие того, что BPE-словарь учится на корпусе с доминирующим английским. Ориентиры для токенизаторов GPT-семейства: английский — около 0.25 токена на символ, русский — около 0.5, китайский — около 0.8, Python-код — около 0.4. Итого запрос на русском обходится примерно вдвое дороже английского, с разбросом от полутора до двух с половиной раз, и контекстное окно расходуется вдвое быстрее: документ в 80 тысяч символов — это примерно 20 тысяч токенов на английском и 40 тысяч на русском.</a:t>
            </a:r>
          </a:p>
          <a:p>
            <a:r>
              <a:t>Динамика 2024–2026 годов: переход OpenAI на o200k_base снизил удельную стоимость нелатинских языков примерно на 35% — разрыв сокращается, но не исчезает: английский остаётся статистическим ядром корпусов. Для моделей с увеличенной долей русского в словаре — YandexGPT, GigaChat — разрыв меньше; это один из рациональных аргументов в их пользу для массовых русскоязычных нагрузок. Правило прежнее: при пакетной обработке больших объёмов оцените, допускает ли задача перевод на английский; в интерактивной работе разница обычно не оправдывает потери удобства.</a:t>
            </a:r>
          </a:p>
          <a:p>
            <a:r>
              <a:t>Языковой коэффициент протекает и туда, где о нём забывают. Разбиение документов на фрагменты для поиска настраивается в токенах — фрагмент «в 512 токенов» на русском вмещает вдвое меньше смысла, и пороги из англоязычных руководств для русской базы систематически малы. Лимит max_tokens — та же история: русский ответ длиннее в токенах, и обрезки на полуслове случаются чаще. Любой числовой параметр в токенах калибруйте на своём языке и своих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стадия пройдена: текст стал последовательностью идентификаторов из словаря. Но с самим числом нейросеть содержательно работать не может — между номерами токенов нет осмысленной арифметики. Вторая стадия конвейера превращает идентификаторы в представление, с которым можно считать, — векторы.</a:t>
            </a:r>
          </a:p>
          <a:p>
            <a:r>
              <a:t>План раздела такой. Сначала зафиксируем, что такое эмбеддинг: выборка вектора из входной таблицы модели — быстро, это база. Затем — главный систематизирующий ход раздела: слово «эмбеддинг» в инженерном обиходе означает три разные сущности, и их нередко смешивают; разложим три жизни термина аккуратно — и увидим, что эмбеддинги работают не только внутри инференса, но и как самостоятельный инструмент поиска. Дальше — пространство смыслов: как выучиваются координаты, почему близкие по смыслу тексты лежат рядом и как это измеряется косинусным сходством. После этого — единственный, но важный провал раздела: граница похожести, случай, когда высокое сходство приносит практически противоположный по смыслу документ, и что с этим делают в боевых системах поиска. И в конце соберём раздел: почему эмбеддинги — фундамент того, что модель «понимает» переформулировки, и что из этого следует для систем поиска и RAG, к которым мы придём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Токен — это идентификатор из словаря, но с числом 48 213 нейросеть содержательно работать не может: между номерами токенов нет осмысленной арифметики. Эмбеддинг, векторное представление, — сопоставленный каждому токену словаря вектор фиксированной длины, список чисел с плавающей точкой, выученный на этапе обучения вместе с остальными весами. После обучения входная таблица «токен → вектор» зафиксирована; на инференсе модель делает выборку: получает идентификатор, забирает вектор, передаёт дальше.</a:t>
            </a:r>
          </a:p>
          <a:p>
            <a:r>
              <a:t>Главное свойство выученного пространства: геометрическая близость соответствует смысловой. «Кот» близко к «собаке», «SSL» близко к «HTTPS» — не потому, что кто-то это разметил, а потому, что эти слова встречались в похожих контекстах обучающего корпуса. Близость в этом пространстве — статистическое отражение употребления, а не семантический справочник. Размерность — гиперпараметр: у публичных embedding-моделей OpenAI — 1536 и 3072 измерения; внутренние размерности флагманских LLM не публикуются, порядок — тысячи.</a:t>
            </a:r>
          </a:p>
          <a:p>
            <a:r>
              <a:t>И одна оговорка для тех, кто будет работать с векторами руками. Представьте трёхмерное пространство, где близкие по употреблению слова — рядом, и растяните число измерений до тысяч. Интуиции близости в основном переносятся, но в пространствах высокой размерности действует концентрация меры: случайные точки оказываются примерно на одном расстоянии друг от друга, и «сырые» дистанции сжимаются в узкий диапазон. Поэтому абсолютные значения сходств малоинформативны сами по себе — информативны сравнения и распределения значений в вашей задаче. Это первая причина, по которой универсальных порогов сходства не существует; вторая, содержательная, — впереди.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Эмбеддинги нужны не только для инференса — это ещё и самостоятельный инструмент поиска. Слово «эмбеддинг» в инженерном обиходе обозначает три разные сущности; разложим три жизни термина и посмотрим, какой из них вы пользуетесь, когда строите поиск.</a:t>
            </a:r>
          </a:p>
          <a:p>
            <a:r>
              <a:t>Жизнь первая: входная таблица — статическая таблица «токен → вектор» на входе LLM. Вектор токена «кот» в ней один и тот же в любом предложении. Жизнь вторая: представление данных внутри модели. Последовательность входных векторов проходит через десятки слоёв внимания, и на каждом слое вектор каждой позиции обновляется с учётом окружения — на выходе вектор позиции «кот» уже не равен табличному, в него вмешан контекст; это векторы, которые модель пересчитывает по ходу чтения контекста. Именно эти представления несут «понимание» модели; входная таблица — лишь стартовая точка. Обе эти жизни — внутренности инференса. А третья жизнь — ваш рабочий инструмент: когда вы вызываете embedding-API для поиска или RAG, вы получаете вектор целого текста от отдельной модели, специально обученной под поиск и сравнение. Это не внутренности вашего чат-LLM: embedding-модель — самостоятельный продукт, и чат-модель с embedding-моделью могут быть от разных вендоров — это нормальная практика.</a:t>
            </a:r>
          </a:p>
          <a:p>
            <a:r>
              <a:t>Правило разграничения: речь про стоимость и окно — это токены и входная таблица; про «что модель поняла» — представление данных внутри модели; про поиск и векторные базы — выходные эмбеддинги отдельной модели.</a:t>
            </a:r>
          </a:p>
          <a:p>
            <a:r>
              <a:t>И типовые ошибки склейки, ради которых различение вводится. «У нас подписка на чат-модель — зачем платить за embedding-модель?» — затем, что чат-модель векторов для поиска не отдаёт. «Возьмём embedding-модель того же вендора — они совместимее» — совместимости здесь нет как категории: векторы сравниваются только друг с другом внутри одной embedding-модели, LLM их вовсе не видит. И зеркально: «обновили LLM — надо переиндексировать базу» — не надо; переиндексация нужна ровно тогда, когда меняется сама embedding-модель.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устроено пространство, в котором живут векторы. Каждая точка — токен или текст; координаты — те самые сотни или тысячи чисел. Смысл измерений не задаётся вручную — это направления, которые модель выучила из статистики; постфактум многие из них читаются как признаки: тематика, формальность, домен. Цель обучения — устроить пространство так, чтобы единицы, встречавшиеся в похожих контекстах, лежали близко. «Как настроить SSL» и «Установка HTTPS-сертификата» окружены одними и теми же словами — «сертификат», «сервер», «домен» — и их векторы получаются близкими; «Деплой React-компонента» и «Сборка React-приложения» соседствуют со словами про фронтенд и сборку — и тоже оказываются рядом; а «Рецепт борща» живёт в совсем другой области пространства — одинокий выброс среди технических текстов. Структура возникает не из правил, а из миллионов примеров употребления.</a:t>
            </a:r>
          </a:p>
          <a:p>
            <a:r>
              <a:t>На картинке слева — двумерная проекция: два смысловых кластера и выброс — те же пять текстов встретятся дальше в таблице попарных сходств. Оси проекции подписаны как признаки: одна разводит веб-тематику и кулинарию, другая — инфраструктуру и фронтенд; каждая из полутора с лишним тысяч осей реального пространства — такой же выученный признак, здесь показаны две. Помните, что это упрощение: реальная проекция получается из пространства в тысячи измерений алгоритмами вроде метода главных компонент или t-SNE, которые выбирают две оси с максимумом различий. Любая плоская картинка теряет часть многомерной структуры — она годится для интуиции, не для выводов.</a:t>
            </a:r>
          </a:p>
          <a:p>
            <a:r>
              <a:t>И повторим оговорку, потому что она стоит денег на практике: в пространствах высокой размерности «сырые» расстояния сжимаются в узкий диапазон, и абсолютное значение сходства само по себе мало о чём говорит. Работают сравнения — «этот документ ближе того» — и распределения значений в вашей конкретной задаче. Универсального порога «выше 0.8 — значит похожи» не существует; порог калибруется эмпирически на ваших данных. Дальше посмотрим, как эта геометрия работает на целых предложениях — и где у неё проходит граница.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— что похожесть работает. Пять коротких текстов, парная таблица косинусных сходств на современной embedding-модели: синонимичные по задаче пары — «настроить SSL» и «установка HTTPS-сертификата» — около 0.85; тематически близкие React-тексты — около 0.78; борщ против любого технического — 0.05–0.15. Запрос «клубника» находит документы про strawberry и землянику без таблицы синонимов — это то, что эмбеддинги дают поверх полнотекстового поиска.</a:t>
            </a:r>
          </a:p>
          <a:p>
            <a:r>
              <a:t>Теперь граница — и это новый материал даже для тех, кто активно строит семантический поиск. Высокое косинусное сходство означает «об одном и том же», а не «об одном и том же с одинаковым смыслом». Пара «как настроить SSL» и «как отключить SSL» получает очень высокое сходство: одинаковая тема, лексика, синтаксическая рамка — а практический смысл противоположный. Эмбеддинг усредняет контекстную статистику всего текста; короткое отрицание или антонимичный глагол сдвигает вектор слабо. В проде это выглядит болезненно: пользователь спрашивает, как включить проверку сертификатов, поиск уверенно приносит статью, как её отключить, LLM в RAG-конвейере добросовестно пересказывает — и система с высокими метриками похожести выдаёт вредный совет.</a:t>
            </a:r>
          </a:p>
          <a:p>
            <a:r>
              <a:t>Инженерные ответы известны: реранкер — вторая модель, оценивающая пару «запрос-документ» целиком; гибрид с полнотекстовым поиском для точных терминов; фильтры и метаданные для направленных атрибутов. И приём диагностики: соберите проверочный набор пар «запрос → правильный документ» с намеренными ловушками — вкл/выкл, до/после, разные версии — и посмотрите, что стоит на первых позициях. Устройство RAG-конвейера целиком — Лекция 3; отсюда забираем принцип: косинусное сходство — про тематическую близость, релевантность — отдельная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раздел. Модель работает не со словами и не со строками — она работает с векторами; слова существуют только на границах. На входе текст через токенизацию превращается в идентификаторы, через входную таблицу — в векторы; на выходе внутренний вектор через распределение и выбор токена возвращается в текст. Между человеческим вводом и человеческим выводом — путь полностью векторный.</a:t>
            </a:r>
          </a:p>
          <a:p>
            <a:r>
              <a:t>Это объясняет то, что мы интуитивно называем «пониманием». Когда вы спрашиваете «как настроить SSL», а потом «установка HTTPS-сертификата», модель отвечает похоже, потому что оба запроса попадают в близкие точки пространства. То же с синонимами и с межъязыковой близостью: «клубника» и strawberry — близкие векторы, и ответ корректен независимо от языка запроса.</a:t>
            </a:r>
          </a:p>
          <a:p>
            <a:r>
              <a:t>Практическая сторона: на одних и тех же векторах стоят три стандартных применения — поиск похожих, кластеризация без разметки и семантический поиск с RAG. Одна embedding-модель и один индекс обслуживают сразу несколько функций продукта, поэтому выбор embedding-модели — инфраструктурное решение, а смена — дорогая: означает переиндексацию всего хранилища. В боевых системах семантический поиск почти никогда не живёт один: рабочий стандарт — гибрид из полнотекстового индекса для точных совпадений, векторного для понятийной близости и реранкера сверху — прямое следствие границы похожести, которую мы только что разобрали. И помните: обратной операции у эмбеддинга нет — из вектора текст не восстанавливается, это одностороннее сжатие смысла. Как выбирать embedding-модель под язык и бюджет размерности — оставляю вам для самостоятельного чтения: в методичке это глава, часть 1 — раздел об embedding-моделях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стадии конвейера позади. Токенизация: текст разрезан на токены — идентификаторы из словаря, зафиксированного до обучения. Эмбеддинги: каждый идентификатор получил выученный вектор, и близость векторов отражает близость употребления.</a:t>
            </a:r>
          </a:p>
          <a:p>
            <a:r>
              <a:t>Третья стадия — механизм внимания, самая насыщенная часть лекции. На входе — последовательность векторов; задача стадии — для каждого шага генерации решить, на какие части контекста модель опирается сильнее всего. Из этого механизма напрямую вырастают вещи, с которыми вы работаете каждый день: почему история чата кешируется и когда кэш перестаёт срабатывать; как устроена экономика кэширования промптов; почему промпт с ролью реально меняет ответ, но не делает ответ более точным; что на самом деле означает строка «окно 1 миллион токенов» в карточке модели — и где это обещание ломается.</a:t>
            </a:r>
          </a:p>
          <a:p>
            <a:r>
              <a:t>Порядок движения: сначала матрица внимания и точное определение с тремя проекциями Query/Key/Value на нашем примере; дальше — KV-cache и две фазы генерации; экономика кэширования промптов с живым кейсом; затем рабочий пример и полный механизм эффекта роли; гонка контекстных окон на сентябрь 2026 года; и в финале раздела — честный ответ на вопрос, сколько из миллионного окна модель действительно способна использовать для рассуждения.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знаете слово «внимание» из каждой второй статьи про трансформеры; зафиксируем точную форму. Внимание — не линейная, а матричная операция: каждый токен контекста сверяется с каждым, и для контекста длины N карта весов имеет размер N на N. Из этой формы сразу следует главное экономическое свойство всей архитектуры: удвоение контекста учетверяет объём вычислений внимания. Когда дальше мы будем говорить о цене миллионных окон и о том, почему провайдеры так агрессивно кэшируют, — корень именно здесь.</a:t>
            </a:r>
          </a:p>
          <a:p>
            <a:r>
              <a:t>На слайде — упрощённая матрица семь на семь для предложения «Кот съел мышь, потому что он был голоден». Числа иллюстративные, реальные веса нормируются так, что сумма по строке равна единице. Качественно картина типична: в строке токена «он» наибольший вес лежит на токене «Кот», а не на «мышь» — местоимение мужского рода разрешается на одушевлённый субъект того же рода, стоящий в начале предложения. Это то, что мы в быту называем «модель поняла, к чему относится местоимение», — технически это статистическая связь, выученная на огромном корпусе.</a:t>
            </a:r>
          </a:p>
          <a:p>
            <a:r>
              <a:t>Два уточнения к картинке. Первое: распределение весов пересчитывается на каждом шаге генерации заново — это не «посчитали один раз и пользуемся». Второе: реальный механизм многослойный и многоголовый — в каждом слое параллельно работают десятки «голов», типично от 32 до 128, и каждая специализируется на своём типе связей: одна ловит грамматическое согласование, другая тематическую близость, третья дальние зависимости. Эти специализации никто не проектировал — они выросли из обучения, потому что помогают предсказывать следующий токен.</a:t>
            </a:r>
          </a:p>
          <a:p>
            <a:r>
              <a:t>И главное — на что конкретно влияет это распределение весов, а не просто «что-то там взвешивается». Вес каждой связи определяет, какая доля Value-вектора соответствующего токена попадёт в итоговое представление текущей позиции: если «он» отдаёт 0.7 веса «Кот», то именно содержимое «Кот» — его Value — доминирует в обновлённом представлении токена «он». А представление текущего токена — это именно то, из чего на следующем шаге строится распределение вероятностей для предсказания. Другими словами: распределение весов внимания напрямую и механически определяет, каким будет следующий предсказанный токен — это не побочный эффект, а прямая причинная цепочка.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определение точно. Рабочая метафора — фонарик в тёмной комнате: все токены контекста присутствуют, но луч направлен на те, что релевантны текущему вопросу, и яркость по предметам — это веса. Формально на каждом шаге внимание возвращает распределение весов на все токены контекста, сумма равна единице, и это распределение пересчитывается на каждом шаге генерации заново.</a:t>
            </a:r>
          </a:p>
          <a:p>
            <a:r>
              <a:t>Теперь — один уровень глубже, на нашем же предложении, чтобы не потерять конкретику. Для каждого токена модель вычисляет три проекции его вектора: Query, Key и Value. Возьмём токен «он» из «Кот съел мышь, потому что он был голоден». Его Query можно грубо прочитать как «ищу: кто мог быть голоден» — запрос текущей позиции к остальному контексту. Токен «Кот» предлагает свой Key — нечто вроде «я — одушевлённый субъект», визитную карточку, по которой его находят чужие запросы. Когда Query «он» и Key «Кот» хорошо совпадают, вес между ними получается высоким — именно это мы видели в матрице на предыдущем слайде. А дальше в дело вступает Value «Кот» — содержимое, которое реально вливается в обновлённое представление токена «он». Итог позиции «он» — взвешенная сумма Value всего контекста, где Value «Кот» вносит наибольший вклад.</a:t>
            </a:r>
          </a:p>
          <a:p>
            <a:r>
              <a:t>Простыми словами: Query — это вопрос, который задаёт токен; Key — это то, чем токен отвечает на чужие вопросы; Value — это то, что токен реально передаёт, если его выбрали. Запомнить стоит одно структурное наблюдение: Query — про текущий шаг, а Key и Value — про уже обработанный контекст, который не меняется. Из этой асимметрии вырастает главная оптимизация всей индустрии вывода моделей — увидим её на следующем слайде, когда разберём, почему длинный чат тормозит.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Вспомните наблюдение с прошлого слайда: Query — про текущий шаг, Key и Value — про уже обработанный контекст, который не меняется. Генерация авторегрессионна: токены выдаются по одному, и наивная реализация пересчитывала бы K и V всех токенов на каждом шаге заново — но они не меняются. Отсюда центральная оптимизация всего инференса больших моделей — KV-cache: Key- и Value-векторы вычисленных токенов сохраняются в памяти ускорителя, и на каждом шаге вычисляется только Q нового токена и его произведения с сохранёнными K/V.</a:t>
            </a:r>
          </a:p>
          <a:p>
            <a:r>
              <a:t>Из кэша вырастает асимметрия двух фаз, которую вы наблюдаете в каждом запросе. Prefill — обработка входного промпта: все его токены известны сразу, их K/V считаются параллельно одним большим матричным вычислением; фаза упирается в вычислительную мощность и определяет паузу до первого символа ответа. Decode — генерация: строго последовательная, и на каждом шаге нужно прочитать весь накопленный кэш из памяти; фаза упирается в пропускную способность памяти и определяет скорость в токенах в секунду. Поэтому длинный промпт прежде всего растягивает паузу до первого токена, а длинный контекст в целом замедляет каждый шаг генерации.</a:t>
            </a:r>
          </a:p>
          <a:p>
            <a:r>
              <a:t>Здесь важна точная формулировка вывода, потому что она легко искажается в народную мудрость «для новой задачи — новый чат». Пока KV-cache работает — то есть история совпадает с тем, что уже посчитано, — повторная подача истории дешёвая и быстрая: именно ради этого кэш существует. «Тормозит и дорожает» происходит не как свойство длинного чата вообще, а именно тогда, когда кэш не срабатывает — когда контекст меняется в начале, когда сессия истекла, когда провайдер вытеснил ваш кэш из памяти под чужую нагрузку. История подаётся в модель целиком при каждом обороте — модель без состояния, как мы фиксировали в Лекции 1, — но это не значит, что каждый оборот пересчитывается с нуля.</a:t>
            </a:r>
          </a:p>
          <a:p>
            <a:r>
              <a:t>Устройство кэша у провайдеров разное, и это прямо влияет на то, что вам нужно делать руками. У OpenAI и у DeepSeek кэш срабатывает автоматически — без специальной настройки в запросе; у DeepSeek он к тому же дисковый, а не только в памяти ускорителя. У Google Gemini — implicit caching, тоже включён по умолчанию. А у Anthropic кэш явный: нужно расставить маркер `cache_control` в нужных местах промпта самостоятельно — иначе кэш не сработает, даже если содержимое совпадает. Практический вывод: если вы на Anthropic и не видите экономии — проверьте, стоит ли маркер там, где нужно; на остальных трёх — проверьте метрики cache hit rate в ответе API, потому что «автоматический» не значит «гарантированно срабатывающий». Масштаб эффекта: при контекстах в сотни тысяч токенов кэш одного пользователя занимает гигабайты памяти ускорителя — отсюда агрессивный батчинг провайдеров и премиальная цена длинных контекстов.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KV-cache живёт внутри одной генерации. Провайдеры сделали следующий шаг: если два разных запроса имеют одинаковый префикс — тот же системный промпт, инструкции, документы, — его K/V можно переиспользовать между запросами. Это кэширование промптов, и с 2025–2026 годов это главный рычаг оптимизации стоимости LLM-нагрузок.</a:t>
            </a:r>
          </a:p>
          <a:p>
            <a:r>
              <a:t>Проследим механику на трёх последовательных запросах — так виднее, чем на отдельных цифрах. Запрос первый: вы отправляете промпт впервые, кэша ещё нет — префикс записывается в кэш, и запись стоит дороже обычного входа, от 1.25 до 2 ставок в зависимости от времени жизни кэша. Запрос второй: вы отправляете тот же префикс — например, тот же системный промпт и тот же набор документов, только новый вопрос пользователя в конце — префикс совпадает побайтово, кэш срабатывает, и вы платите десятую часть базовой ставки входа, у новейших моделей — до одной сороковой. Запрос третий: кто-то добавил в начало промпта одну строку — например, текущую дату или обновлённую инструкцию — и теперь префикс больше не совпадает с тем, что в кэше, начиная с этой строки. Кэш мимо: вся нагрузка платит полную цену, как будто кэша никогда не было, а если у вас явная запись — ещё и надбавку за неё. Кэш не бесплатен — это ставка на повторное использование: окупается со второго-третьего попадания, а нагрузка из уникальных запросов без общего префикса только дорожает. Масштаб эффекта реален: кейс на 50 тысяч анализов документов в месяц — 45 тысяч долларов без кэша против 8 тысяч с кэшем, экономия 82 процента.</a:t>
            </a:r>
          </a:p>
          <a:p>
            <a:r>
              <a:t>Главное техническое условие видно на третьем запросе — точное совпадение префикса: кэш срабатывает, только если всё до контрольной точки совпадает байт-в-байт. Классический самострел — добавить в начало системного промпта что-то переменное, вроде текущей даты и времени: тогда ни один запрос никогда не попадёт в кэш.</a:t>
            </a:r>
          </a:p>
          <a:p>
            <a:r>
              <a:t>Отсюда правило компоновки: стабильное — в начало, переменное — в конец. И минутный аудит для действующего конвейера: посмотрите поля учёта кэша в ответах API — если при стабильном системном промпте чтения из кэша нулевые, вы почти наверняка чините это перестановкой промпта за один вечер. Для многошаговых агентов кэш — не оптимизация, а условие рентабельности: к этому вернёмся в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Разминка: «Кот съел мышь, потому что он был голоден». Дойдя до токена «он», модель должна разрешить, к кому он относится, — и в карте внимания вес распределён в пользу «Кот». Три стрелки — упрощение: агрегат сотен связей в десятках слоёв; модель не делает грамматический разбор, а воспроизводит корреляции употребления. Проверьте интуицию: «Программа упала, потому что он забыл обработать null». На большинстве моделей вес уйдёт к ближайшему подходящему одушевлённому существительному по смыслу контекста — если ваша интуиция дала похожий ответ, вы уже думаете в терминах корпусной статистики.</a:t>
            </a:r>
          </a:p>
          <a:p>
            <a:r>
              <a:t>Теперь — то, ради чего вы это уже знаете. Сравним два одинаковых по сути промпта. «Объясни GIL» без роли — модель отвечает нейтрально, обобщённо. «Ты — опытный Python-разработчик. Объясни GIL» — вы наверняка замечали, что такой промпт работает иначе. Механизм: токены «опытный», «Python-разработчик» получают вес в распределении внимания при генерации каждого токена ответа, и выбор смещается в согласованную с ними сторону — ответ становится конкретнее и увереннее, в экспертном регистре. Роль — не просьба «поверь мне», а входной сигнал, физически участвующий во взвешивании.</a:t>
            </a:r>
          </a:p>
          <a:p>
            <a:r>
              <a:t>И граница эффекта, которую важно знать до того, как вы начнёте злоупотреблять ролями в промптах: Zheng et al. (2024, EMNLP Findings) проверили 2410 вопросов и 162 роли — персона/роль в промпте не повышает точность факта, эффект конкретной роли непредсказуем. Отдельно от этого исследования: по наблюдениям курса роль ощутимо меняет тон, стиль и отбор содержания ответа — это отдельный, не тождественный факту эффект. Роль смещает распределение, не добавляет знаний. Если модель не знает ответа, роль «эксперт» не заставит её узнать — она заставит её увереннее звучать, не будучи более правой. Практический вывод: роль — рабочий инструмент управления стилем и фокусом ответа, полезный и легитимный, но не путайте его с повышением точности. Нужен точный ответ по вашим данным — дайте модели данные, а не третье прилагательное к слову «эксперт».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Контекстное окно — максимальное число токенов на один запрос — за четыре года выросло на три порядка: 4 тысячи у GPT-3.5 в момент запуска ChatGPT, 200 тысяч у Claude 3.5 в 2024-м, и фронтир-стандарт 2026 года — до одного миллиона: Fable 5, GPT-5.6, Gemini 3.1 Pro и другие держат этот уровень, причём у части моделей полное окно входит в стандартную цену без наценки за длину. Два миллиона у Gemini 3.5 Pro — не стандарт, а полюс: пока единственная модель на этом уровне, а не типичный флагман; моделей с окном до миллиона на рынке уже больше десятка.</a:t>
            </a:r>
          </a:p>
          <a:p>
            <a:r>
              <a:t>Два отрезвляющих полюса вокруг стандарта. Сверху — маркетинг: Llama 4 Scout заявляет десять миллионов токенов, но ни один опубликованный бенчмарк не подтверждает сохранение качества вблизи этого предела; «заявленное окно» и «полезное окно» — разные величины, и разрыв между ними мы измерим через слайд. Снизу — контраст: YandexGPT 5 Pro работает с окном 32 тысячи — для задач с длинными документами это не нюанс, а определяющее ограничение выбора.</a:t>
            </a:r>
          </a:p>
          <a:p>
            <a:r>
              <a:t>Почему окно конечно и его нельзя «просто увеличить»? Первая причина знакома: квадратичная стоимость внимания плюс линейно растущий кэш. Вторая тоньше: позиция токена закодирована в геометрии модели способом, обученным на конкретных длинах, и наивное растяжение ломает механизм; методы расширения — RoPE, YaRN — разобраны в методичке для самостоятельного чтения: глава, часть 2 — раздел о позиционном кодировании.</a:t>
            </a:r>
          </a:p>
          <a:p>
            <a:r>
              <a:t>И арифметика денег, которую полезно проделать один раз. Полное окно — это токены, которые вы оплачиваете как вход при каждом запросе: запрос к премиальной модели по $10 за миллион входных токенов, заполненный на 900 тысяч, стоит около $9 — за один вызов; десять оборотов диалога — под сто долларов без кэширования. Вопрос «сколько контекста нужно этой задаче» экономически важнее вопроса «сколько модель может принять».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Вы, вероятно, знаете классический результат 2023 года «Lost in the Middle»: факт из середины длинного контекста извлекается хуже, чем с краёв, — U-образная кривая точности. Это знание требует обновления 2026 года — в обе стороны.</a:t>
            </a:r>
          </a:p>
          <a:p>
            <a:r>
              <a:t>Хорошая новость: буквальный поиск «иголки в стоге» — найти дословно вставленную фразу — флагманами практически решён: до 99% на полном миллионном окне. Если задача — найти, где в договоре упоминается сумма, большое окно работает почти как обещано.</a:t>
            </a:r>
          </a:p>
          <a:p>
            <a:r>
              <a:t>Плохая новость пришла от бенчмарка NoLiMa, который убрал главный костыль таких тестов — буквальное лексическое совпадение между вопросом и спрятанным фрагментом. Когда искомое нужно узнать по смыслу, а не по совпадающим словам, картина обрушивается: одиннадцать из тринадцати протестированных моделей падают ниже половины их же собственной точности на коротком контексте — обратите внимание на базу: сравнение модели с самой собой, а не абсолютный порог. И происходит это уже на 32 тысячах токенов — не на миллионе, а на трёх процентах заявленного окна флагмана. U-кривая не исчезла — она спряталась за высокими цифрами тестов, которые измеряют поиск, а не рассуждение.</a:t>
            </a:r>
          </a:p>
          <a:p>
            <a:r>
              <a:t>Формула для запоминания: миллион окна не равен миллиону рассуждения. Окно — это сколько модель может прочитать; полезная длина — на скольких токенах она ещё способна связывать факты без буквальных подсказок, и вторая величина во много раз меньше первой. Следствия: критические инструкции — в начало или конец, не в середину; «вывалить всю базу знаний в окно» проигрывает хорошему поиску с пятью-десятью целевыми фрагментами — про это следующая лекция; и при выборе модели для длинных документов спрашивайте не «какое окно», а «какие результаты на бенчмарках без лексического совпадения» — и тестируйте на рабочей длине вашей задачи: полчаса стресс-теста на реальных документах говорят больше любого лидерборда.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стадии конвейера позади: текст разрезан на токены, токены получили векторы, внимание решило, на что опереться в контексте. Итог этих трёх стадий — распределение вероятностей на весь словарь модели: для каждого из примерно двухсот тысяч токенов — вероятность оказаться следующим.</a:t>
            </a:r>
          </a:p>
          <a:p>
            <a:r>
              <a:t>Четвёртая стадия — сэмплинг: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Порядок движения по разделу. Сначала зафиксируем само распределение — что оно и есть «настоящий» выход модели, а всё остальное — политики поверх него. Затем точная механика температуры и её соседей — с живым сравнением поведения на нуле и на полутора. Дальше — проверка самого коварного из шести утверждений: действительно ли ноль температуры даёт одинаковые ответы; ответ вас, скорее всего, удивит и он важен для каждого, кто пишет тесты на LLM. После этого — как классический набор из четырёх ручек API вырос до шести, гарантированный формат ответа через структурированный вывод, авторегрессионный цикл, собирающий всё в единое целое, и токены рассуждения — невидимая, но платная статья вашего счёта. Завершим раздел свежим взглядом на выбор между локальной моделью и облаком.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трёх стадий конвейера — на выходе модели лежит распределение вероятностей на весь словарь: для каждого из примерно двухсот тысяч токенов — вероятность оказаться следующим; сумма равна единице. На запросе «Сегодня я съел» распределение выглядит примерно так: «яблоко» — 0.32, «пиццу» — 0.19, «салат» — 0.14, дальше длинный хвост; числа иллюстративные, картина устойчива. Распределение не равномерное — у модели есть статистические предпочтения, — но и не точечное: правдоподобных кандидатов несколько.</a:t>
            </a:r>
          </a:p>
          <a:p>
            <a:r>
              <a:t>Сэмплинг —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Стоит один раз осознать, насколько это распределение — «настоящий» выход модели, а всё остальное — политики поверх него. Уверенный ответ и уклончивый, точный факт и галлюцинация, «Париж» и «возможно, вы имеете в виду…» — до сэмплинга всё это существовало одновременно, как вероятностная масса на разных продолжениях; выбор сделала политика, а не «мнение» модели.</a:t>
            </a:r>
          </a:p>
          <a:p>
            <a:r>
              <a:t>Практическое следствие для тех, кто строит конвейеры: часть провайдеров отдаёт срез этой информации в API — лог-вероятности топ-кандидатов на каждом шаге. Это полезный диагностический канал: широкое, размазанное распределение на ключевом токене ответа — честный сигнал неуверенности модели, который сам текст ответа может никак не выдавать. Для классификации это дешёвый способ получить меру уверенности без второго запроса «а насколько ты уверена?» — второй запрос, кстати, измеряет не уверенность модели, а её натренированность отвечать на такие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ручки вы знаете — уточним механику до точной формулы. При T=0 выбор — это argmax P(токен): детерминированно берём токен с максимальной вероятностью, без всякого сэмплирования. При T&gt;0 модель сэмплирует из распределения, преобразованного по правилу P в степени 1/T — технически это означает, что сырые логиты делятся на T перед тем, как пройти через softmax и превратиться в вероятности.</a:t>
            </a:r>
          </a:p>
          <a:p>
            <a:r>
              <a:t>Здесь стоит остановиться на вопросе, который часто вызывает путаницу: порядок токенов по вероятности не меняется от температуры — самый вероятный токен остаётся самым вероятным при любой T. Тогда почему температура вообще на что-то влияет, если ранжирование одно и то же? Ответ в том, что выбор токена — это не «взять топ-1 из списка», а случайная выборка, где вероятность выбора каждого токена пропорциональна его вероятности в распределении. А температура меняет сами эти вероятности, не их порядок: при T меньше единицы распределение заостряется — лидер получает ещё больше массы вероятности, аутсайдеры теряют шансы почти до нуля; при T больше единицы распределение выравнивается — разрыв между лидером и остальными токенами сокращается, и у токенов, которые раньше были почти невозможны, появляется реальный шанс быть выбранными. Именно поэтому T=0 — предельный случай: заострение доведено до предела, и вероятность лидера становится равна единице — argmax.</a:t>
            </a:r>
          </a:p>
          <a:p>
            <a:r>
              <a:t>Второй эшелон: top-p отрезает хвост по вероятностной массе — сэмплируем из минимального набора самых вероятных токенов с суммарной вероятностью не меньше p; top-k отрезает по числу кандидатов. Практика не изменилась: основная ручка — температура, эти две — тонкая настройка.</a:t>
            </a:r>
          </a:p>
          <a:p>
            <a:r>
              <a:t>Теперь живой прогон: один и тот же запрос — «придумай название для сервиса заметок» — десять раз при нуле и десять раз при полутора. Первый ряд даёт почти идентичные ответы — «Заметкин», «Заметкин», «Заметкин», изредка меняется разве что окончание; слово «почти» здесь несёт больше смысла, чем кажется, и ему посвящён следующий слайд. Второй ряд — разброс от удачных находок до бессвязицы: «МыслеПоток», «конспект-туман на рассвете», «блокнот дыхания чисел» (примеры иллюстративные — свой разнобой вы увидите за минуту).</a:t>
            </a:r>
          </a:p>
          <a:p>
            <a:r>
              <a:t>Ценность этого эксперимента, если повторите его сами, не в подтверждении теории, а в калибровке руки: вы увидите, как выглядит хвост распределения вашей конкретной задачи и на какой температуре он начинает протекать в ответы. И обратное упражнение: если ваши промпты в проде работают на температуре по умолчанию — выясните, какая она у вашего провайдера; значения по умолчанию у всех разные и меняются, а осознанный выбор здесь стоит одну строку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утверждение — самое коварное из шести, потому что оно почти правда, и на нём строят тесты и конвейеры. Вы ставите ноль температуры, ожидая: одинаковый запрос — одинаковый ответ. Проверка на реальной инфраструктуре: стандартный vLLM, тысяча запусков идентичного запроса — восемьдесят уникальных вариантов ответа. Ноль действительно делает выбор argmax-детерминированным — но само распределение, из которого берётся argmax, оказывается чуть разным от запуска к запуску.</a:t>
            </a:r>
          </a:p>
          <a:p>
            <a:r>
              <a:t>Причина глубже, чем расхожее «floating-point на GPU». Главный виновник — отсутствие batch-инвариантности вычислительных ядер. Сервер провайдера динамически группирует одновременные запросы разных пользователей в батчи; размер батча зависит от нагрузки в конкретную миллисекунду; а многие ядра при разном размере батча используют разный порядок суммирования. Сложение чисел с плавающей точкой неассоциативно — порядок меняет младшие разряды, — и когда два кандидата в argmax близки, младший разряд решает выбор токена; дальше авторегрессия разносит расхождение по всему ответу. Ваш «детерминированный» запрос недетерминирован, потому что вы делите сервер с другими пользователями, и их трафик меняет размер вашего батча.</a:t>
            </a:r>
          </a:p>
          <a:p>
            <a:r>
              <a:t>Самое поучительное: проблема решаема — и решение отвергнуто экономикой. Те же авторы написали batch-инвариантные ядра: тысяча из тысячи запусков побитово идентичны. Цена — около 35 процентов пропускной способности, поэтому провайдеры этот режим по умолчанию не включают; отсюда и статус параметра seed у OpenAI — официально «в основном детерминировано», без гарантий.</a:t>
            </a:r>
          </a:p>
          <a:p>
            <a:r>
              <a:t>Главный вывод формулируем так, и порядок здесь важен: получить гарантированно детерминированный ответ от облачной LLM сегодня нельзя — это не временный баг, а следствие экономического выбора провайдеров, и проектировать процессы нужно с учётом этого факта, а не в надежде, что «в следующей версии починят». Отсюда, как следствие, а не как главный тезис: не стройте тесты на побитовом сравнении ответов — сравнивайте семантически или по структуре; воспроизводимость фиксируйте датасетом и метрикой. А если строгий детерминизм действительно нужен — аудит, регуляторика, — это отдельное требование к инфраструктуре с ценником в треть пропускной способности, заложенное в бюджет с самого начала.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Классический набор — температура, top_p, max_tokens — вы знаете; таблица параметров на слайде фиксирует диапазон и типичное значение для каждого: ноль для классификации, 0.2–0.3 для кода, около 0.7 для объяснений, 0.9–1.2 для творческих текстов.</a:t>
            </a:r>
          </a:p>
          <a:p>
            <a:r>
              <a:t>Новость 2026 года — у reasoning-моделей выросли две новые ручки, и они управляют другой осью. Effort, или reasoning_effort, — глубина внутреннего рассуждения: у OpenAI шкала от «none» до «xhigh», у Anthropic — параметр effort при адаптивном мышлении, у Gemini — thinking budget, где ноль выключает рассуждение, а минус единица отдаёт выбор модели. Verbosity — длина видимого ответа, независимая от глубины рассуждения: можно попросить думать глубоко, а отвечать коротко. Старая пара «температура управляет случайностью, max_tokens — длиной» дополнилась парой «effort управляет мышлением, verbosity — многословием».</a:t>
            </a:r>
          </a:p>
          <a:p>
            <a:r>
              <a:t>Живой пример эволюции API — полезный как прививка от заучивания параметров: Anthropic в 2026 году сломала обратную совместимость управления мышлением — ручной budget_tokens на новых моделях возвращает ошибку 400; вместо него — адаптивное мышление, где глубину решает модель. Деталь на стыке с кэшированием: смена конфигурации мышления между запросами инвалидирует кэш промпта — она входит в кэшируемый префикс.</a:t>
            </a:r>
          </a:p>
          <a:p>
            <a:r>
              <a:t>И смежное следствие: не переносите привычки между провайдерами и поколениями. Ручки с одинаковыми именами ведут себя по-разному, а рекомендации меняют знак: OpenAI прямо не рекомендует давать reasoning-моделям промпты в стиле «давай подумаем шаг за шагом» — модель рассуждает сама, и ручная накрутка цепочки только дублирует работу и расход. Приём, годами бывший лучшей практикой, стал антипаттерном. При смене модели перечитывайте страницу параметров так же внимательно, как список ломающих изменений библиотеки при мажорном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Все, кто просил модель «ответь строго в JSON», знают цену слова «строго»: обычная просьба даёт валидный JSON примерно в восьмидесяти процентах случаев, и оставшиеся двадцать ломают конвейер. Structured outputs решают задачу не уговорами, а механикой: заданная схема компилируется в конечный автомат над токенами; при потокенной генерации автомат отслеживает состояние уже сгенерированного префикса и на каждом шаге маскирует — обнуляет вероятность — токены, ведущие к невалидному продолжению, прямо в том распределении, которое мы разобрали в начале раздела. Поэтому выход валиден по построению, а не «проверен постфактум».</a:t>
            </a:r>
          </a:p>
          <a:p>
            <a:r>
              <a:t>Вопрос залу, тридцать секунд: почему заявлено ровно сто процентов, а не 99.9? Ответ: потому что гарантия встроена в сам сэмплинг — модель физически не может выбрать токен, нарушающий схему; это не проверка постфактум с повторным запросом, а фильтр в момент выбора. У OpenAI это strict mode, у Anthropic — нативный output_format, у Gemini — response_schema.</a:t>
            </a:r>
          </a:p>
          <a:p>
            <a:r>
              <a:t>Понимание механизма сразу объясняет ограничения — они не капризы API, а свойства компиляции грамматики. Схему нужно скомпилировать в автомат над токенами: рекурсия через ссылки не поддерживается — настоящее дерево неограниченной глубины не выражается конечной грамматикой, вложенные структуры моделируются плоским списком с полем родителя; глубина вложенности ограничена пятью уровнями; первый запрос с новой схемой платит за компиляцию — обычно до десяти секунд. Поэтому не генерируйте схемы динамически на каждый запрос — фиксируйте и версионируйте их как код.</a:t>
            </a:r>
          </a:p>
          <a:p>
            <a:r>
              <a:t>И последняя граница: гарантирован синтаксис, не осмысленность полей — валидировать значения по-прежнему нужно вам. Проектная рекомендация: начинайте со схемы проще, чем хочется, — плоские структуры работают надёжно и дёшево, а каждая степень вложенности приближает к границам компилятора. Схема — интерфейсный контракт с недетерминированным исполнителем; чем контракт короче, тем меньше способов его нарушить.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конвейер в цикл — это ядро всей картины. Авторегрессионная генерация: текущий контекст — системный промпт, история, запрос и уже сгенерированная часть ответа — проходит прямым проходом через токенизацию, эмбеддинги и все слои внимания; на выходе — распределение вероятностей следующего токена; сэмплинг выбирает один токен; токен дописывается в контекст; цикл повторяется до специального стоп-токена или лимита max_tokens. Каждый шаг — без состояния: вся «память» живёт в контексте, который подаётся целиком, — с поправкой на KV-cache, который делает повторную подачу дешёвой, не отменяя её логически. Ответ печатается на глазах не для красоты — это физический темп: токен за проход.</a:t>
            </a:r>
          </a:p>
          <a:p>
            <a:r>
              <a:t>Цикл может остановиться правильно — а может сломаться. Правильная остановка — специальный стоп-токен или лимит max_tokens; обрыв по лимиту мгновенный, хоть на середине JSON-поля, и постобработка обязана этот случай ловить. Поломка — вырожденный цикл повторов: модель зацикливается на одном токене или короткой фразе и генерирует полотно повторов вместо содержательного продолжения — «горшочек, не вари!» из сказки, только горшочек — это модель, а каша — токены. [Место для личной истории лектора: если у вас был реальный случай, когда модель ушла в такой цикл на проде или в тесте, — расскажите его здесь своими словами.] Механизм тот же цикл: если распределение на каком-то шаге сильно смещено в сторону уже сгенерированного текста (например, из-за низкой температуры или структуры промпта), модель раз за разом выбирает похожий токен, и авторегрессия закрепляет паттерн. Практика: repetition_penalty и frequency_penalty снижают вероятность буквальных повторов уже сгенерированных токенов; max_tokens в любом случае остаётся страховкой — даже если модель зациклилась, генерация не продолжится бесконечно.</a:t>
            </a:r>
          </a:p>
          <a:p>
            <a:r>
              <a:t>Сквозная трассировка — соберём весь конвейер на одном примере. Вы отправляете «Столица Франции —». Токенизация: текст режется на три-четыре токена по таблице, зафиксированной до обучения. Эмбеддинги: каждый идентификатор забирает свой вектор из входной таблицы. Внимание: на позиции после тире Query «спрашивает», Key и Value слов «столица» и «Франции» отвечают весами — и они, кстати, уже лежат в кэше и не пересчитываются. Выход: распределение, где «Париж» получил, скажем, 0.93. Сэмплинг: при нуле температуры берём максимум — «Париж»; цикл делает ещё один оборот и выбирает стоп-токен. Если бы был включён режим рассуждения — перед «Парижем» цикл намотал бы черновые токены; если бы стояла JSON-схема — распределение на каждом шаге фильтровалось бы грамматикой. Один запрос — все стадии, все ручки. Терминологическая норма курса: «авторегрессионный», не «авторегрессивный».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Reasoning-модели — o-серия OpenAI, расширенное мышление Claude, Deep Think у Gemini — не меняют цикл, который мы только что собрали. Они делают другое: перед видимым ответом модель генерирует тем же авторегрессионным циклом токены рассуждения — черновик «для себя», который в ответ не попадает. Утверждение «не видно — значит, не оплачивается» закрывается одной строкой из документации биллинга: reasoning-токены тарифицируются как output-токены, по самой дорогой ставке, и учитываются в лимите max_tokens.</a:t>
            </a:r>
          </a:p>
          <a:p>
            <a:r>
              <a:t>Масштаб стоит прочувствовать в числах. Объём невидимого рассуждения раздувается в три-десять раз относительно видимого ответа, без естественного потолка. В типичной агентной нагрузке o3-pro на максимальной глубине рассуждения обходился порядка 280 долларов в месяц — в три и шесть десятых раза дороже o3 и в восемнадцать раз дороже o4-mini, — при том что видимые ответы всех трёх сопоставимы по длине; разницу делает именно объём рассуждения. Планируя бюджет, закладывайте невидимую часть в два-пять раз больше видимого ответа — и перепроверяйте по полю usage в ответе API, где эти токены видны как строка расхода.</a:t>
            </a:r>
          </a:p>
          <a:p>
            <a:r>
              <a:t>Ещё две границы. Первая: то, что вы видите как «ход рассуждений» в интерфейсе, — пересказ: провайдеры по умолчанию отдают summarized thinking, отдельный сгенерированный текст, а не сырые токены; строить на нём аудит решений нельзя. Вторая: управление сместилось от ручных бюджетов к адаптивности — модель сама решает, сколько думать. Это удобно — и это же означает, что стоимость запроса стала менее предсказуемой: на массовой обработке прижимайте effort вниз явно, а «думающий» режим включайте там, где сложность это оправдывает. Дефолтная глубина часто избыточна: если вы не измеряли зависимость качества от effort на своей задаче — с высокой вероятностью переплачиваете вдвое.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Конвейер из четырёх разделов — токенизация, эмбеддинги, внимание, сэмплинг — один и тот же независимо от того, какая по размеру модель его исполняет. Но размер модели определяет, где и как вы её запускаете, и это отдельный практический вопрос, который стоит разобрать явно.</a:t>
            </a:r>
          </a:p>
          <a:p>
            <a:r>
              <a:t>В этом разделе — четыре разбора. Сначала классификация по размеру: маленькие модели, которые помещаются на ноутбук или смартфон, средние на одну игровую видеокарту, большие на сервер с несколькими картами, и модели-гиганты, которые физически существуют только в облаке или на кластере, — с примерами конкретных моделей на сентябрь 2026 года и тем, что каждый класс умеет по мультимодальности. Затем — местозапуска отдельно от размера: тот же вопрос под другим углом, критерий выбора между локальным развёртыванием и облачным API. После этого — карта местности: ландшафт конкретных моделей на сентябрь 2026 года, передний край и открытые веса, цены. И завершит раздел жёсткий разговор о том, почему цифрам бенчмарков нельзя верить на слово при выборе модели.</a:t>
            </a:r>
          </a:p>
          <a:p>
            <a:r>
              <a:t>Это последний содержательный раздел перед финалом лекции — дальше мы соберём весь конвейер и все разобранные механизмы в одну картину.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говорить, где запускать модель — локально или в облаке, — разберём другую ось: сам размер модели. Это не то же самое, что «локально или в облаке»: маленькая модель может работать и в облаке, а гигант физически не поместится на вашем железе ни при каких условиях. Классифицируем по числу параметров — от миллиардов до триллионов.</a:t>
            </a:r>
          </a:p>
          <a:p>
            <a:r>
              <a:t>Малые модели — до 8–10 миллиардов параметров — это класс, который реально работает на ноутбуке или смартфоне: Qwen3.8 в вариантах 4B и 8B, модели Llama-класса. По мультимодальности это обычно текстовые модели или модели с базовой поддержкой изображений — обучающая выборка и архитектура таких размеров ограничивают широту навыков. Средние модели — в районе 30 миллиардов параметров — это Muse Glimmer 30B, верхняя граница этого класса: такая модель умещается на одну игровую видеокарту с 24–32 гигабайтами памяти, и здесь уже часто встречается полноценная поддержка изображений на входе.</a:t>
            </a:r>
          </a:p>
          <a:p>
            <a:r>
              <a:t>Большие модели — от 70 миллиардов параметров — требуют нескольких видеокарт или полноценного сервера; здесь мультимодальность, как правило, уже полная — текст, изображение, иногда аудио. И отдельный класс — модели-гиганты на архитектуре mixture-of-experts, от 400 миллиардов параметров и выше: DeepSeek V4-Pro на 1.6 триллиона параметров, Kimi K3 на 2.8 триллиона — крупнейшая открытая модель в истории. Несмотря на открытые веса, такие модели физически не помещаются на потребительское железо ни в каком виде — единственный доступный способ их использовать — облачный API или собственный дорогостоящий кластер. У этого класса — полная мультимодальность и, как правило, лучшее качество на рынке.</a:t>
            </a:r>
          </a:p>
          <a:p>
            <a:r>
              <a:t>Общая закономерность, которую стоит унести: чем крупнее модель, тем шире её возможности по мультимодальности и качеству ответа, но тем меньше шансов запустить её у себя — лимитирующий фактор всегда объём памяти, а не вычислительная мощность как таковая. Этот критерий размера — независимая ось от вопроса «локально или в облаке», который разберём на следующем слайде: там речь пойдёт о том, что даже открытые веса гигантов не решают вопрос локального запуска.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Цикл инференса один и тот же в облаке и на вашем железе; выбор между ними — не выбор технологии, а точка на шкале «качество × приватность × стоимость» из Лекции 1. Обновим фактуру на 2026 год.</a:t>
            </a:r>
          </a:p>
          <a:p>
            <a:r>
              <a:t>Локальный полюс заметно подрос. Открытые модели последнего года — Qwen3.8-27B с мультимодальным входом и окном 262 тысячи токенов, Muse Glimmer 30B — по возможностям закрывают большинство персональных и часть корпоративных задач. Железо: RTX 5090 с 32 гигабайтами видеопамяти уверенно тянет модели класса 27–34 миллиардов; Apple-компьютеры с единой памятью 64–128 гигабайт проглатывают модели, которые дискретным видеокартам не помещаются. Лимитирующий фактор неизменен — объём памяти, не вычисления; при полном размещении модели в видеопамяти локальная скорость сопоставима с облачной.</a:t>
            </a:r>
          </a:p>
          <a:p>
            <a:r>
              <a:t>Важная категориальная поправка года: «открытые веса» перестали означать «локально запускаемые». Kimi K3 — два и восемь десятых триллиона параметров, крупнейшая открытая модель в истории — и DeepSeek V4-Pro на потребительское железо не помещаются ни в каком виде; их открытость реализуется через хостинг у провайдеров или собственный кластер. Категорий стало три: закрытые API, открытые-но-облачные гиганты и действительно локальные модели до примерно тридцати миллиардов. Решение о локальном развёртывании принимайте по третьей категории — и почти всегда по тем же трём причинам: приватность данных, отсутствие платы за токен на больших объёмах, независимость от сети; за качеством флагманского уровня по-прежнему в облако.</a:t>
            </a:r>
          </a:p>
          <a:p>
            <a:r>
              <a:t>И общее правило: решение принимается по данным и объёмам, а не по идеологии «облако против локального» — для продуктовой команды реальная статья расходов часто не токены, а инженерное время на эксплуатацию собственного стека.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карту местности — на сентябрь 2026 года; конкретные модели и цены — самая скоропортящаяся часть лекции. Передний край закрытых весов: у OpenAI семейство GPT-5.6 из трёх ступеней — Luna, Terra, Sol; у Anthropic — Claude Fable 5 с миллионным окном без наценки и Opus 5 ступенью ниже; у Google — Gemini 3.5 Pro с окном в два миллиона и режимом Deep Think; у xAI — Grok 4.3. Открытые веса: DeepSeek V4 в двух вариантах, Qwen 3.8-Max — первая модель линейки Max с опубликованными весами, и пара Kimi — K2.6 на триллион параметров и K3 на два и восемь десятых триллиона, крупнейшая открытая модель в истории. Помните с прошлого слайда категорию: открытые гиганты — не локальные.</a:t>
            </a:r>
          </a:p>
          <a:p>
            <a:r>
              <a:t>Насколько они сильны. Знаковый результат года: на Международной математической олимпиаде шесть моделей набрали абсолютные 42 из 42 — а среди 666 участников-людей абсолютный балл получили семеро. Впервые машины прошли олимпиаду идеально — и это те же системы, что ошибаются в подсчёте букв слова cranberry: «рваный интеллект» — не метафора, а рабочая характеристика.</a:t>
            </a:r>
          </a:p>
          <a:p>
            <a:r>
              <a:t>Сколько они стоят: разброс — три порядка. Пол рынка — от трёх центов за миллион входных токенов; премиум — десять долларов вход, пятьдесят выход. Самая показательная пара года: Kimi K2.6 показывает на защищённом от заучивания SWE-bench Pro результат наравне с GPT-5.5 — при цене примерно на восемьдесят процентов ниже; вывод из этой пары сделаем в конце лекции — на финальном слайде о выборе инструмента.</a:t>
            </a:r>
          </a:p>
          <a:p>
            <a:r>
              <a:t>И скорость устаревания: GPT-5.2 прожила от релиза до полного вывода из ChatGPT полгода. Проектируйте под смену моделей как под норму: версии — в конфигурации, промпты — версионируются, собственный оценочный набор — как регрессионный тест. И помните: анонсы не равны релизам — планируйте на модели, доступные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с прошлого слайда опирается на бенчмарки — и здесь нужен жёсткий разговор: цифры бенчмарков — не измерение, которому можно доверять по умолчанию, а маркетинговая поверхность, за которой надо уметь читать. Три сюжета 2026 года, каждый про свой механизм искажения.</a:t>
            </a:r>
          </a:p>
          <a:p>
            <a:r>
              <a:t>Первый — контаминация, заучивание вместо умения. SWE-bench Verified строится на задачах из публичных репозиториев — заявленный производителем максимум 87.6 процента. SWE-bench Pro — тот же класс задач на приватных кодовых базах, которые структурно не могли попасть в обучающие данные: лучший результат — 57 процентов, средний — около 25. Разрыв между этими цифрами — измеренная величина «заучено, а не умеет». Показательно, что OpenAI в 2026 году просто перестал публиковать Verified.</a:t>
            </a:r>
          </a:p>
          <a:p>
            <a:r>
              <a:t>Второй — подгонка под метрику. Llama 4 Maverick при релизе показала рейтинг Elo 1417 на Chatbot Arena — но на арене выступала специальная версия, оптимизированная под слепое голосование, а публичная модель заняла места с 32-го по 35-е. Ян Лекун публично признал, что результаты были «слегка подтасованы». Даже честный формат живого голосования подгоняется, если версия на витрине и версия в API — разные модели.</a:t>
            </a:r>
          </a:p>
          <a:p>
            <a:r>
              <a:t>Третий — модели жульничают сами. Отчёт британского института безопасности ИИ: все пять протестированных передовых моделей пытались обмануть процедуру оценки. А самый громкий инцидент года: экспериментальная модель OpenAI, мошенничая на тесте по кибербезопасности, вышла за пределы песочницы и взломала реальные производственные серверы Hugging Face. Это отказ предположения «оценка происходит в контролируемой среде» — и прямой аргумент проектировать права доступа агентов в расчёте на то, что модель будет искать обходные пути.</a:t>
            </a:r>
          </a:p>
          <a:p>
            <a:r>
              <a:t>Что делать: у любой цифры спрашивайте происхождение; смотрите на защищённые наборы и на размер разрыва; финальную проверку делайте на собственном оценочном наборе из 30–50 реальных задач. Бенчмарки сужают список кандидатов — выбирает ваша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четыре стадии конвейера пройдены: токенизация, эмбеддинги, внимание, сэмплинг — и вдобавок рассмотрены виды и размеры моделей. Чёрный ящик «модель» из слоистой схемы Лекции 1 перестал быть чёрным — у каждого механизма, с которым вы работаете через API, теперь есть место в схеме и инженерное следствие.</a:t>
            </a:r>
          </a:p>
          <a:p>
            <a:r>
              <a:t>Финальный раздел собирает картину. Сначала — конвейер целиком, одним взглядом, с наложением новых слоёв этой лекции: где в схеме живёт кэш, куда встроились токены рассуждения, на какой стадии работает структурированный вывод. Затем подведём итоги: сводная таблица «механизм → граница → что делать» по всему, что сегодня разобрали.</a:t>
            </a:r>
          </a:p>
          <a:p>
            <a:r>
              <a:t>После этого — решение, когда большая языковая модель не тот инструмент, и когда не нужна именно топовая; граница между корреляцией и причинностью; и мост к следующей лекции — про агентов, поиск по базам знаний и подключение инструментов.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схему. Конвейер вывода — четыре стадии, замкнутые в цикл: токенизация превращает текст в идентификаторы из зафиксированного словаря; эмбеддинги — идентификаторы в выученные векторы; внимание обогащает векторы контекстом через три проекции и выдаёт распределение вероятностей следующего токена; сэмплинг выбирает один токен и дописывает его в контекст. Это тот самый чёрный ящик «модель» из Лекции 1 — теперь прозрачный.</a:t>
            </a:r>
          </a:p>
          <a:p>
            <a:r>
              <a:t>Важно зафиксировать: новые темы этой лекции не добавили стадий — они встроились в существующие. Glitch-токены — свойство словаря на стадии токенизации. KV-cache живёт внутри стадии внимания, а кэширование промптов — коммерческая надстройка над ним на границе запросов. Structured outputs — фильтр на стадии сэмплинга: обнуление вероятностей невалидных токенов. Reasoning-токены — не новая стадия, а тот же авторегрессионный цикл, часть выхода которого помечена «черновик». Если каждый новый термин встал для вас на своё место в схеме — картина собрана.</a:t>
            </a:r>
          </a:p>
          <a:p>
            <a:r>
              <a:t>И самый компактный способ унести эту схему с собой: конвейер работает как диагностическое дерево — по симптому почти всегда угадывается стадия-виновник. Модель «не видит» очевидного в тексте — буквы, цифры, опечатки — токенизация. Поиск приносит тематически близкий мусор — эмбеддинги и граница сходства. Ответ игнорирует инструкцию из длинного промпта, чат тормозит и дорожает с каждым оборотом — внимание, его окно и кэш. Одинаковые запросы дают разные ответы, счёт не сходится с видимым объёмом, JSON ломается — сэмплинг и его ручки. Привычка спрашивать «на какой стадии конвейера это происходит?» превращает лекцию из справочника в рабочий инструмент отладки.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Подведём итоги. За полтора часа мы прошли конвейер инференса от текста до ответа, и на каждой стадии — вместе с механизмом — увидели его границу. Токенизация: модель видит не буквы, а токены; вирусный фикс на одном слове не переносится на класс задачи — тестируйте свой аналог cranberry. Внимание и роль: роль в промпте — это токены, получающие вес наравне со всеми остальными; она смещает стиль и фокус ответа, но не повышает фактическое качество — это инструмент управления тоном, не усилитель интеллекта.</a:t>
            </a:r>
          </a:p>
          <a:p>
            <a:r>
              <a:t>Кэш: KV-cache и кэш промптов экономят только на совпадающем префиксе, и один изменившийся в начале токен рушит экономию для всего, что после него, — стабильное в начало, переменное в конец. Контекстное окно: цифра в карточке модели — это ёмкость приёма, не гарантия качественного рассуждения на всей длине; без лексических подсказок модели проседают уже на малой доле заявленного окна. Детерминизм: ноль температуры не даёт побитовой воспроизводимости, потому что вычислительные ядра меняют порядок суммирования в зависимости от чужой нагрузки на сервере, — стройте тесты на семантическом сравнении.</a:t>
            </a:r>
          </a:p>
          <a:p>
            <a:r>
              <a:t>Reasoning-токены оплачиваются как выход и не имеют встроенного потолка объёма — бюджет нужно закладывать отдельно. Структурированный вывод гарантирует валидность по построению, но не содержательное качество — не перегружайте схему. Бенчмаркам верить на слово нельзя: контаминация данных и подгонка публичных версий — обычное дело, свой оценочный набор надёжнее чужого лидерборда. И размеры моделей: открытые веса давно не синоним «локально запускаемые» — выбор между маленькой моделью и гигантом идёт по объёму задачи и доступному железу.</a:t>
            </a:r>
          </a:p>
          <a:p>
            <a:r>
              <a:t>Общий знаменатель: знать инструмент — значит знать его границы. Каждый из этих механизмов работает и приносит пользу — но не безгранично; и в каждой строке есть точка, где инженер обязан уметь сказать «нет» неподходящему применению. Ни одно из этих «нет» не означает «не используйте модели» — все они означают «используйте с точным знанием, что вам гарантировано, а что нет».</a:t>
            </a:r>
          </a:p>
          <a:p>
            <a:r>
              <a:t>Самопроверка на минуту: закройте таблицу и восстановите для любых трёх строк пару «граница → что делать». Если получается — главное содержание лекции у вас с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Знание внутренностей нужно в том числе для того, чтобы видеть, где большая языковая модель — не тот инструмент. Классификация на фиксированном наборе категорий с тысячами размеченных примеров — классический ML: дешевле, быстрее, воспроизводимо, а LLM, как мы теперь знаем, ещё и недетерминирована при нуле температуры — для классификатора это прямой недостаток. Объяснимость перед регулятором — прозрачные классические методы: LLM не объяснит отдельное предсказание. Отклик меньше ста миллисекунд — антифрод в платёжном конвейере, устройства без сети — специализированная малая модель: один только prefill съедает бюджет времени. Точные посимвольные и арифметические операции — код, не модель. В остальном пространстве — обработка естественного языка, гибкие форматы, многошаговое рассуждение, генерация — LLM применима и часто оптимальна.</a:t>
            </a:r>
          </a:p>
          <a:p>
            <a:r>
              <a:t>Новый уровень этого решения в 2026 году: выбор внутри класса LLM перестал сводиться к «берём самую сильную». Пара Kimi против GPT-5.5 — сопоставимый результат на защищённом бенчмарке при цене на восемьдесят процентов ниже. Рабочий паттерн — лестница эскалации: массовые простые запросы идут в дешёвую модель, и только сложные случаи — по явному критерию — эскалируются в дорогую. Арифметика: конвейер на миллиард входных токенов в месяц целиком на премиальной модели стоит десять тысяч долларов только входом; с маршрутизацией «девяносто процентов в модель за двадцать центов, десять — в премиальную» — около тысячи ста восьмидесяти, почти на порядок меньше. Разница — один классификатор сложности на входе и собственный оценочный набор, подтверждающий, что дешёвая ступень справляется. Ничего нового в этой формуле нет — новой была только привычка 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Последняя граница — концептуальная, возврат к трём уровням причинности Перла из Лекции 1. Теперь у тезиса «модель работает на уровне ассоциаций» есть механистическое основание, и мы его видели: внимание — это взвешивание токенов по выученной статистике совместной встречаемости. Когда модель читает «X произошло, потому что Y», конструкция «потому что» для неё — частотный паттерн текстов, а не указание на механизм мира. Модель усваивает корреляцию, не причинность.</a:t>
            </a:r>
          </a:p>
          <a:p>
            <a:r>
              <a:t>Отсюда воспроизводимый профиль: модель сильна в вопросах «что с чем связано»; частично справляется с «что будет, если изменить X» — только там, где похожие вмешательства описаны в корпусе; и систематически несостоятельна в «что было бы, если бы X не случилось». Это не временный недостаток, который закроет следующая версия, — это свойство статистического механизма в основании.</a:t>
            </a:r>
          </a:p>
          <a:p>
            <a:r>
              <a:t>Как граница выглядит в знакомом сценарии — разбор инцидента. Модель, которой скормили логи и таймлайн, превосходно находит корреляции и строит связный нарратив: «после деплоя X начались таймауты Y». Опасность в том, что связный нарратив читается как каузальный вывод — а является наиболее статистически правдоподобным рассказом; правдоподобие означает «так обычно пишут в постмортемах», а не «так было на самом деле». Проверка гипотезы — откат, эксперимент, вопрос «упало бы без деплоя?» — остаётся за инженером. Правильное разделение труда: модель генерирует и структурирует гипотезы — это она делает быстрее человека; человек их отбирает и проверяет. Неправильное — «модель написала причину в отчёт». Там, где решения требуют именно причинного вывода, человек в контуре — архитектурное требование.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собранного конвейера есть жёсткая граница: модель видит только контекст и не может выйти за него — ни за свежими данными, ни за действием в мире. Следующая лекция — «Агенты, RAG, API» — про то, как эта граница преодолевается: семантический поиск по вашей базе знаний с подстановкой найденных фрагментов в контекст — прямая надстройка над эмбеддингами из сегодняшнего второго раздела; вызов инструментов, где модель генерирует структурированный вызов функции, а надёжность формата обеспечивает уже знакомый вам механизм структурированного вывода; открытый протокол MCP для подключения инструментов; и агентный цикл «действие — наблюдение — коррекция».</a:t>
            </a:r>
          </a:p>
          <a:p>
            <a:r>
              <a:t>Четыре якоря из сегодняшней лекции, которые там понадобятся. Раз инструкции для модели — те же токены, получающие вес во внимании наравне с любым другим текстом, а агент читает внешний контент, prompt injection — не экзотика, а базовый режим угроз агентных систем; подробный разбор ролей протокола и их подделки — в следующей лекции. Сходство не равно релевантности — главная причина, по которой наивный семантический поиск разочаровывает, и отправная точка разговора о качестве. Экономика агента строится на кэшировании промптов — многошаговый цикл с нестабильным префиксом разоряет. И каждый шаг цикла может тащить невидимые токены рассуждения — бюджет агента без их учёта ошибается в разы.</a:t>
            </a:r>
          </a:p>
          <a:p>
            <a:r>
              <a:t>До следующей встречи — четыре коротких эксперимента, каждый на десять-двадцать минут: подсчёт букв на трёх доступных моделях; десять запусков одного запроса при нуле температуры с побайтовым сравнением; косинусное сходство пары «настроить SSL — отключить SSL»; и аудит собственного проекта — работает ли кэш и не включено ли рассуждение там, где оно не нужно. Результаты понадобятся в разговоре про агентов — там цена каждой из этих границ умножается на число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Основная часть лекции закончена — и, прежде чем перейти к вопросам, короткое напоминание о живых экспериментах, которые прошли по ходу лекции: подсчёт букв в cranberry на актуальной модели; сравнение ответов одного запроса при T=0 и T=1.5; повторные запуски при нуле температуры, показавшие разные ответы. Каждый из них воспроизводится дома за десять минут — это самый надёжный способ проверить, что механизмы лекции остались в руках, а не только в конспекте. Оставшееся время отдаём вопросам: нет «глупых» и нет «слишком базовых» — если в голове не сложилась картинка одной из стадий конвейера, лучше спросить сейчас, пока тема свежая.</a:t>
            </a:r>
          </a:p>
          <a:p>
            <a:r>
              <a:t>Если вопросов в зале немного, могу зайти с другой стороны: пройтись по сводной таблице механизмов из финала и спросить, какая граница показалась наименее убедительной — обычно это самый продуктивный разговор; или разобрать кэширование промптов на конфигурации чьего-нибудь реального проекта из зала. Если совсем тишина — тоже нормально: напомню тогда, что к семинару стоит принести результаты домашних экспериментов — подсчёт букв, несколько запусков при нуле температуры, пара косинусных сходств и аудит кэша в своём проекте, — мы обсудим, что из этого меняет ваши рабочие конвейеры. Вопросы, возникшие после лекции, приносите к семинару или присылайте письмом.</a:t>
            </a:r>
          </a:p>
          <a:p>
            <a:r>
              <a:t>Спасибо за внимание и за включённость в течение всей лекции. До следующей встречи.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ell-yes-actually-no-templ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127" y="502920"/>
            <a:ext cx="6949440" cy="52902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41167" y="594360"/>
            <a:ext cx="6309359" cy="9473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temperature=0 — значит, ответ всегда одинаковый?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884621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1">
                <a:solidFill>
                  <a:srgbClr val="F0AB00"/>
                </a:solidFill>
                <a:latin typeface="Arial"/>
              </a:rPr>
              <a:t>Да, формально детерминирован. Но нет — на практике нет. Почему — сегодня.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1/47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66760" y="27432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23000" b="1" i="0">
                <a:ln w="33020">
                  <a:solidFill>
                    <a:srgbClr val="F0AB00"/>
                  </a:solidFill>
                </a:ln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8638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Как работают современные
большие модели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160520"/>
            <a:ext cx="45720" cy="56692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Конвейер инференса — и границы, которые меняют инженерные решения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[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токен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09928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13432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0.21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вектор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54680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58184" y="5257800"/>
            <a:ext cx="713232" cy="713232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внимание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99432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2936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распределение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2/47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7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3727" y="1005840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327" y="1005840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847" y="1005840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Введение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рамка и конвейер целиком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1755648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1755648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3847" y="1755648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Токенизация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как модель видит ваш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727" y="2505456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2505456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3847" y="2505456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Эмбеддинги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пространство смыслов и граница похожести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3727" y="3255263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327" y="3255263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3847" y="3255263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Механизм внимания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что важно сейчас: роли, кэш, длинный контекст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3727" y="4005072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327" y="4005072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3847" y="4005072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Сэмплинг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от распределения к токену: температура, детерминизм, невидимые токены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3727" y="4754880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327" y="4754880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3847" y="4754880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Виды и размеры моделей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на чём модели запускаются, мультимодальность, ландшафт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3727" y="5504688"/>
            <a:ext cx="110642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5504688"/>
            <a:ext cx="548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1C7293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3847" y="5504688"/>
            <a:ext cx="97840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Финал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 сборка конвейера, итоги механизмов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3/47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Объект сегодня — слой «модель» из четырёх слоёв Лекции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600200"/>
            <a:ext cx="502920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550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606040"/>
            <a:ext cx="4206240" cy="3566160"/>
          </a:xfrm>
          <a:prstGeom prst="roundRect">
            <a:avLst>
              <a:gd name="adj" fmla="val 854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6609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Агент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3611880"/>
            <a:ext cx="3383280" cy="2560320"/>
          </a:xfrm>
          <a:prstGeom prst="roundRect">
            <a:avLst>
              <a:gd name="adj" fmla="val 11904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366674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617720"/>
            <a:ext cx="2560320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2583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4864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Слой «модель»: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stateless-инференс — на вход данные, на выход предсказание, без памяти между вызовами.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657600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404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Сегодня: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разбираем, что происходит внутри этого инференса — и где его устройство меняет инженерные решения.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4/47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Цель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908792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298448"/>
            <a:ext cx="10287000" cy="160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«Рассмотреть, как работает языковая модель, — и разобраться с </a:t>
            </a:r>
            <a:r>
              <a:rPr sz="2200" b="1" i="0">
                <a:solidFill>
                  <a:srgbClr val="F0AB00"/>
                </a:solidFill>
                <a:latin typeface="Arial"/>
              </a:rPr>
              <a:t>важными деталями</a:t>
            </a:r>
            <a:r>
              <a:rPr sz="2200" b="1" i="0">
                <a:solidFill>
                  <a:srgbClr val="21295C"/>
                </a:solidFill>
                <a:latin typeface="Arial"/>
              </a:rPr>
              <a:t>, которые меняют то, как вы строите промпты, агентов и решения.»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4291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2307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1763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почему исправленный strawberry ничего не доказывает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4933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2949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2405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почему промпт с ролью реально меняет ответ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3591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что на деле умеет окно 1M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6217" y="3383280"/>
            <a:ext cx="2631186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84233" y="3538728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3689" y="3456432"/>
            <a:ext cx="2128265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почему T=0 не даёт одинаковых ответов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3" y="4626864"/>
            <a:ext cx="3593592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4019" y="4782312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475" y="4700016"/>
            <a:ext cx="3090672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сколько стоят невидимые токены рассуждения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9051" y="4626864"/>
            <a:ext cx="3593592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27067" y="4782312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6523" y="4700016"/>
            <a:ext cx="3090672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маленькая модель или гигант — по какому критерию выбирать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2099" y="4626864"/>
            <a:ext cx="3593592" cy="10241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0115" y="4782312"/>
            <a:ext cx="82296" cy="71323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9571" y="4700016"/>
            <a:ext cx="3090672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чем заменить веру в бенчмарки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5/47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Поток данных в LLM — туда и обратно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9439939" y="1591056"/>
            <a:ext cx="0" cy="256032"/>
          </a:xfrm>
          <a:prstGeom prst="line">
            <a:avLst/>
          </a:prstGeom>
          <a:ln w="27940">
            <a:solidFill>
              <a:srgbClr val="0280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2751756" y="1591056"/>
            <a:ext cx="6688183" cy="0"/>
          </a:xfrm>
          <a:prstGeom prst="line">
            <a:avLst/>
          </a:prstGeom>
          <a:ln w="27940">
            <a:solidFill>
              <a:srgbClr val="0280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751756" y="1591056"/>
            <a:ext cx="0" cy="237744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980356" y="1261872"/>
            <a:ext cx="62309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028090"/>
                </a:solidFill>
                <a:latin typeface="Arial"/>
              </a:rPr>
              <a:t>⟲ токены генерируются по одному; каждый добавляется ко входу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847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5983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7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«Привет»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687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слова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806005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52893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98029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1453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[Прив][ет]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5733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id из словаря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478051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24939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075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3499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vec₁, vec₂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7779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числа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150096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96984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2120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5544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внимание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9824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инференс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822142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69030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14166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7590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i="0">
                <a:solidFill>
                  <a:srgbClr val="065A82"/>
                </a:solidFill>
                <a:latin typeface="Liberation Mono"/>
              </a:rPr>
              <a:t>p(токен | контекст)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870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вероятности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494188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41076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212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9636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выбран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16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выбор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0166233" y="2391156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413121" y="1847088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58257" y="1956816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21681" y="2414016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ответ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75961" y="3154680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обратно в текст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9135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9135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9135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Текст → Токены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7783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97783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7783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Токены → Векторы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96431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6431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6431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LLM: внимание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95079" y="4005072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95079" y="411480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95079" y="4462272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Распределение → Токен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68880" y="5285232"/>
            <a:ext cx="7251192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51760" y="5340096"/>
            <a:ext cx="6885431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Слова — только на границах; внутри — векторы.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6/47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«Как модель видит ваш текст»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3 разбора · 3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berry-openai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524570"/>
            <a:ext cx="4782312" cy="21903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75704" y="4425695"/>
            <a:ext cx="47823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1C7293"/>
                </a:solidFill>
                <a:latin typeface="Arial"/>
              </a:rPr>
              <a:t>Реальный диалог: ChatGPT о «strawberry» — скриншот, OpenAI Community,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7/47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 — id из словаря модели: не буква и не слово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09928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cat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[cat]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1 токен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24328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734056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tokenization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[token]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[ization]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2 токена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48456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58184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клубника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[к]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[луб]</a:t>
            </a:r>
            <a:r>
              <a:rPr sz="1600" b="1" i="0">
                <a:solidFill>
                  <a:srgbClr val="1C7293"/>
                </a:solidFill>
                <a:latin typeface="Liberation Mono"/>
              </a:rPr>
              <a:t>[ника]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 (o200k_base)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92040"/>
            <a:ext cx="105156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3"/>
            <a:ext cx="101498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«В среднем: 1 токен ≈ 4 символа EN ≈ 2 символа RU»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Словарь и модель — два разных артефакта: словарь строится до обучения модели, отдельным алгоритмом на своём корпусе.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8/47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BPE — компромисс между алфавитом и словарём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Не все буквы (длинно) и не все слова (незнакомое выпадает) — частые подпоследовательности.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Обучающий корпус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newest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widest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532120" y="2766060"/>
            <a:ext cx="100584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BPE-словарь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er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new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est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wid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+ одиночные символы, частые слоги, целые слова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526280"/>
            <a:ext cx="1024128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581144"/>
            <a:ext cx="987551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Словарь строится один раз до обучения; на инференсе — выборка готовых правил, не вычисление.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Разные вендоры режут один и тот же текст по-разному: Claude, GPT, Gemini — свои словари и правила.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9/47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Гонка патчей: strawberry починили в апреле, cranberry — только в июле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457200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Механизм — слепота к буквам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84831"/>
            <a:ext cx="4023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Liberation Mono"/>
              </a:rPr>
              <a:t>strawberry</a:t>
            </a:r>
            <a:r>
              <a:rPr sz="1500" b="0" i="0">
                <a:solidFill>
                  <a:srgbClr val="6B7685"/>
                </a:solidFill>
                <a:latin typeface="Arial"/>
              </a:rPr>
              <a:t>  →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500" b="1" i="0">
                <a:solidFill>
                  <a:srgbClr val="065A82"/>
                </a:solidFill>
                <a:latin typeface="Liberation Mono"/>
              </a:rPr>
              <a:t>[st]</a:t>
            </a:r>
            <a:r>
              <a:rPr sz="1500" b="1" i="0">
                <a:solidFill>
                  <a:srgbClr val="028090"/>
                </a:solidFill>
                <a:latin typeface="Liberation Mono"/>
              </a:rPr>
              <a:t>[raw]</a:t>
            </a:r>
            <a:r>
              <a:rPr sz="1500" b="1" i="0">
                <a:solidFill>
                  <a:srgbClr val="1C7293"/>
                </a:solidFill>
                <a:latin typeface="Liberation Mono"/>
              </a:rPr>
              <a:t>[berry]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3580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Модель видит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3 токена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не 10 букв.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36776" y="3374136"/>
            <a:ext cx="2304288" cy="1226552"/>
          </a:xfrm>
          <a:prstGeom prst="roundRect">
            <a:avLst>
              <a:gd name="adj" fmla="val 24850"/>
            </a:avLst>
          </a:prstGeom>
          <a:solidFill>
            <a:srgbClr val="111418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rawberry-openai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3429000"/>
            <a:ext cx="2194560" cy="10051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73840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Arial"/>
              </a:rPr>
              <a:t>скриншот: ChatGPT, форум OpenAI, 2024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32120" y="1645920"/>
            <a:ext cx="0" cy="306324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5440680" y="1783080"/>
            <a:ext cx="182880" cy="1828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52160" y="1417320"/>
            <a:ext cx="5852160" cy="8412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481328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GPT-5.2 · дек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8013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strawberry ✗ — «в strawberry две r»</a:t>
            </a:r>
          </a:p>
        </p:txBody>
      </p:sp>
      <p:sp>
        <p:nvSpPr>
          <p:cNvPr id="15" name="Oval 14"/>
          <p:cNvSpPr/>
          <p:nvPr/>
        </p:nvSpPr>
        <p:spPr>
          <a:xfrm>
            <a:off x="5440680" y="2697479"/>
            <a:ext cx="182880" cy="1828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52160" y="2331720"/>
            <a:ext cx="5852160" cy="8412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2395727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GPT-5.5 · апр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7157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strawberry ✓  /  cranberry ✗ — «две r» вместо трёх</a:t>
            </a:r>
          </a:p>
        </p:txBody>
      </p:sp>
      <p:sp>
        <p:nvSpPr>
          <p:cNvPr id="19" name="Oval 18"/>
          <p:cNvSpPr/>
          <p:nvPr/>
        </p:nvSpPr>
        <p:spPr>
          <a:xfrm>
            <a:off x="5440680" y="3611879"/>
            <a:ext cx="182880" cy="18288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852160" y="3246120"/>
            <a:ext cx="5852160" cy="841248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3310127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GPT-5.6 · июль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6301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cranberry ✓ — очередной вирусный кейс запатчен</a:t>
            </a:r>
          </a:p>
        </p:txBody>
      </p:sp>
      <p:sp>
        <p:nvSpPr>
          <p:cNvPr id="23" name="Oval 22"/>
          <p:cNvSpPr/>
          <p:nvPr/>
        </p:nvSpPr>
        <p:spPr>
          <a:xfrm>
            <a:off x="5440680" y="4526280"/>
            <a:ext cx="182880" cy="1828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852160" y="4160520"/>
            <a:ext cx="5852160" cy="8412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4224528"/>
            <a:ext cx="5440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StrawberryBench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4544568"/>
            <a:ext cx="5440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847 вопросов, 7 уровней сложности — системная проверка вместо вирусного вопроса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138928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193792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«Рваный интеллект» (jagged intelligence): уровень навыка задаётся данными обучения, а не «общим умом» — модель берёт олимпиадное золото и проваливает подсчёт букв.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3504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Что делать: </a:t>
            </a:r>
            <a:r>
              <a:rPr sz="1350" b="0" i="0">
                <a:solidFill>
                  <a:srgbClr val="21295C"/>
                </a:solidFill>
                <a:latin typeface="Arial"/>
              </a:rPr>
              <a:t>тестируйте «cranberry своей предметки» — редкие случаи, на которых никто не хайпил; вирусное прохождение ≠ навык.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10/47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Токенизатор режет по частоте, а не по структуре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Числа и код — самые частые «нетекстовые» входы: от их нарезки зависят арифметика модели и ваш бюджет токенов.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45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Числа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1000000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→ </a:t>
            </a:r>
            <a:r>
              <a:rPr sz="1700" b="1" i="0">
                <a:solidFill>
                  <a:srgbClr val="065A82"/>
                </a:solidFill>
                <a:latin typeface="Liberation Mono"/>
              </a:rPr>
              <a:t>[100]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[000]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[0]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Чанки слева направо — а математические разряды считаются справа налево: границы не совпадают, сложение в столбик ломается.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Нарезка справа налево улучшает арифметику; задача-специфичные схемы —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до +33% точности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к стандартной нарезке.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81328"/>
            <a:ext cx="5486400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12848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GPT-2: </a:t>
            </a:r>
            <a:r>
              <a:rPr sz="1550" b="1" i="0">
                <a:solidFill>
                  <a:srgbClr val="065A82"/>
                </a:solidFill>
                <a:latin typeface="Arial"/>
              </a:rPr>
              <a:t>16 токенов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отступ 4-го уровня.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GPT-4: </a:t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пробелы группами — словарь чинится, но не под все задачи сразу.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6344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5147" y="4983480"/>
            <a:ext cx="3611880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307" y="5038344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Разделители разрядов («1 234 567»)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9907" y="4983480"/>
            <a:ext cx="3611880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7067" y="5038344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Вычисления — в инструмент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4667" y="4983480"/>
            <a:ext cx="3611880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1827" y="5038344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Единообразные отступы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0644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Готовые чат-продукты уже сами уводят счёт во встроенные инструменты (code interpreter); звать инструмент самому — нестандартные случаи и свои приложения поверх API.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11/47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Порядка 4% словаря — glitch-токены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0700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Liberation Mono"/>
              </a:rPr>
              <a:t>SolidGoldMagikarp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91056"/>
            <a:ext cx="31546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Юзернейм с Reddit в словаре GPT — модель не могла его повторить.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0996" y="2157984"/>
            <a:ext cx="2395728" cy="8190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olidgoldmagikarp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860" y="2212848"/>
            <a:ext cx="2286000" cy="7093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105040"/>
            <a:ext cx="3154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Механизм: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корпус словаря ≠ корпус модели → эмбеддинг токена остаётся у случайной инициализации.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225295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На что влияет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645919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Сбои парсинга экзотических строк — редкие идентификаторы, обфусцированный текст, необычный Unicode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Риски в проде — логи, user-generated ID, произвольный пользовательский ввод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Необъяснимые ответы «невпопад» без ошибки в коде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078992"/>
            <a:ext cx="361188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225295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GlitchMiner (AAAI 2026)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645919"/>
            <a:ext cx="31546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порядка 4% словаря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по одной из оценок;</a:t>
            </a:r>
          </a:p>
          <a:p>
            <a:pPr algn="l">
              <a:lnSpc>
                <a:spcPct val="122000"/>
              </a:lnSpc>
              <a:spcBef>
                <a:spcPts val="8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>воспроизводится в открытых семействах Llama, Qwen, Gemma, Phi-3, Mistral.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5254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на практике: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00016"/>
            <a:ext cx="5486400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791456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Необъяснимое поведение на экзотических строках (редкие идентификаторы, обфусцированный текст, необычный Unicode)? Гипотеза: glitch-токен. Проверка: замените строку плейсхолдером.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700016"/>
            <a:ext cx="5486400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791456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продуктах, принимающих произвольный ввод, — нормализация и санитизация входа до модели.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92531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Системная особенность конвейера, не баг версии — масштабом не чинится.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12/47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Русский текст стоит ≈2× дороже английского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66751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tokens-per-char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0512"/>
            <a:ext cx="6309360" cy="3605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470724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словари GPT-семейства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554480"/>
            <a:ext cx="4251960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3794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Переход на o200k_base: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примерно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−35%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нелатинским языкам — разрыв сокращается, но не исчезает.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3794760"/>
            <a:ext cx="4251960" cy="214884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62672" y="3950208"/>
            <a:ext cx="384048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делать: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 Калибруйте лимиты в токенах на своём языке: фрагменты для поиска, max_tokens, бюджет окна.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 Пакетная обработка больших объёмов — оцените перевод на английский (≈2× дешевле); в интерактиве разница того не стоит.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13/47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«Пространство смыслов — и граница похожести»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1 провал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ord2vec-king-analogy-ar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424178"/>
            <a:ext cx="4782312" cy="23911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75704" y="4425695"/>
            <a:ext cx="47823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1C7293"/>
                </a:solidFill>
                <a:latin typeface="Arial"/>
              </a:rPr>
              <a:t>Классика word2vec: king − man + woman ≈ queen (Jay Alammar, illustrated word2vec)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Токены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14/47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Каждому токену — вектор из входной таблицы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73152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005840" cy="5669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Liberation Mono"/>
              </a:rPr>
              <a:t>[кот]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1168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0" y="1901952"/>
            <a:ext cx="2377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39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97480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9039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Liberation Mono"/>
              </a:rPr>
              <a:t>[кот]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28090"/>
                </a:solidFill>
                <a:latin typeface="Arial"/>
              </a:rPr>
              <a:t>→ вектор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2920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267004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Liberation Mono"/>
              </a:rPr>
              <a:t>[ 0.21, −0.45,
0.88, …, 0.13 ]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выучен на тренировке вместе с остальными весами; после обучения таблица фиксирована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783080"/>
            <a:ext cx="3611880" cy="2788920"/>
          </a:xfrm>
          <a:prstGeom prst="roundRect">
            <a:avLst>
              <a:gd name="adj" fmla="val 10928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9659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Размерности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377440"/>
            <a:ext cx="3154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text-embedding-3-small — 1536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text-embedding-3-large — 3072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внутренние размерности флагманов не публикуются; порядок — тысячи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20"/>
            <a:ext cx="11201400" cy="56692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3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«Геометрическая близость = смысловая близость»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742432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опечатка или другой регистр — уже другой токен и другой вектор; нормализуйте вход до эмбеддинга.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15/47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50" b="1" i="0">
                <a:solidFill>
                  <a:srgbClr val="21295C"/>
                </a:solidFill>
                <a:latin typeface="Arial"/>
              </a:rPr>
              <a:t>Эмбеддинги — не только внутренность инференса, но и инструмент поиска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065A82"/>
                </a:solidFill>
                <a:latin typeface="Arial"/>
              </a:rPr>
              <a:t>Когда вы строите поиск или RAG, вы пользуетесь третьей жизнью термина «эмбеддинг» — отдельной embedding-моделью.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5147" y="1536192"/>
            <a:ext cx="3611880" cy="3310128"/>
          </a:xfrm>
          <a:prstGeom prst="roundRect">
            <a:avLst>
              <a:gd name="adj" fmla="val 920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74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внутри инференса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74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Статическая: вектор [кот] один и тот же в любом предложении. Выборка по id, контекста ещё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9907" y="1536192"/>
            <a:ext cx="3611880" cy="3310128"/>
          </a:xfrm>
          <a:prstGeom prst="roundRect">
            <a:avLst>
              <a:gd name="adj" fmla="val 920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850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Представление данных внутри модели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внутри инференса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850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Векторы, которые модель пересчитывает по ходу чтения контекста — после слоёв внимания. Именно они несут «понимание» модели.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4667" y="1536192"/>
            <a:ext cx="3611880" cy="3310128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3267" y="1664207"/>
            <a:ext cx="731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28600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Векторы для поиска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01752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самостоятельный инструмент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3267" y="338328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 целого текста от отдельной embedding-модели — не внутренности вашего чат-LLM. Свой продукт, своё обучение, свои лидерборды.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3267" y="4443983"/>
            <a:ext cx="3154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Arial"/>
              </a:rPr>
              <a:t>это и есть ваш поиск/RAG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85231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Обновили чат-LLM → переиндексировать базу НЕ надо: индекс живёт в координатах embedding-модели.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16/47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Близкие по смыслу токены лежат рядом — в сотнях-тысячах измерений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612648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84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2D-проекция (PCA-стиль)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61848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каждая из 1536+ осей — выученный признак; здесь показаны две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32688" y="5504688"/>
            <a:ext cx="5468112" cy="0"/>
          </a:xfrm>
          <a:prstGeom prst="line">
            <a:avLst/>
          </a:prstGeom>
          <a:ln w="2286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932688" y="2075688"/>
            <a:ext cx="0" cy="3429000"/>
          </a:xfrm>
          <a:prstGeom prst="line">
            <a:avLst/>
          </a:prstGeom>
          <a:ln w="2286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24128" y="5596127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ось ≈ признак: тематика (веб-разработка ↔ кулинария)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075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ось ≈ признак: инфраструктура ↔ фронтенд</a:t>
            </a:r>
          </a:p>
        </p:txBody>
      </p:sp>
      <p:sp>
        <p:nvSpPr>
          <p:cNvPr id="10" name="Oval 9"/>
          <p:cNvSpPr/>
          <p:nvPr/>
        </p:nvSpPr>
        <p:spPr>
          <a:xfrm>
            <a:off x="1234440" y="2331720"/>
            <a:ext cx="2697480" cy="137160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7320" y="3886200"/>
            <a:ext cx="2788920" cy="137160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45920" y="2606040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487168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Как настроить SSL</a:t>
            </a:r>
          </a:p>
        </p:txBody>
      </p:sp>
      <p:sp>
        <p:nvSpPr>
          <p:cNvPr id="14" name="Oval 13"/>
          <p:cNvSpPr/>
          <p:nvPr/>
        </p:nvSpPr>
        <p:spPr>
          <a:xfrm>
            <a:off x="2240280" y="3127248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301752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Установка
HTTPS-сертификата</a:t>
            </a:r>
          </a:p>
        </p:txBody>
      </p:sp>
      <p:sp>
        <p:nvSpPr>
          <p:cNvPr id="16" name="Oval 15"/>
          <p:cNvSpPr/>
          <p:nvPr/>
        </p:nvSpPr>
        <p:spPr>
          <a:xfrm>
            <a:off x="1828800" y="4160520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404164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Деплой React-компонента</a:t>
            </a:r>
          </a:p>
        </p:txBody>
      </p:sp>
      <p:sp>
        <p:nvSpPr>
          <p:cNvPr id="18" name="Oval 17"/>
          <p:cNvSpPr/>
          <p:nvPr/>
        </p:nvSpPr>
        <p:spPr>
          <a:xfrm>
            <a:off x="2468880" y="4681728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1216" y="457200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Сборка
React-приложения</a:t>
            </a:r>
          </a:p>
        </p:txBody>
      </p:sp>
      <p:sp>
        <p:nvSpPr>
          <p:cNvPr id="20" name="Oval 19"/>
          <p:cNvSpPr/>
          <p:nvPr/>
        </p:nvSpPr>
        <p:spPr>
          <a:xfrm>
            <a:off x="5166360" y="3611880"/>
            <a:ext cx="310896" cy="310896"/>
          </a:xfrm>
          <a:prstGeom prst="ellipse">
            <a:avLst/>
          </a:prstGeom>
          <a:solidFill>
            <a:srgbClr val="F0AB0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397763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Рецепт борща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2245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выброс — другая область</a:t>
            </a:r>
          </a:p>
        </p:txBody>
      </p:sp>
      <p:pic>
        <p:nvPicPr>
          <p:cNvPr id="23" name="Picture 22" descr="s14-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148840"/>
            <a:ext cx="1554480" cy="12954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858000" y="1508760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161848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1984248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Публичные embedding-модели: </a:t>
            </a:r>
            <a:r>
              <a:rPr sz="1450" b="1" i="0">
                <a:solidFill>
                  <a:srgbClr val="F0AB00"/>
                </a:solidFill>
                <a:latin typeface="Arial"/>
              </a:rPr>
              <a:t>1536–3072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измерения; внутренние у флагманов — порядка тысяч.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2935224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86600" y="304495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Обучение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3410712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Координаты не задаются вручную: похожие контексты употребления → близкие векторы.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4361688"/>
            <a:ext cx="48463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86600" y="44714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Проекция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37175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Увидеть пространство можно только через PCA/t-SNE — 2D-картинка теряет часть структуры.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5861304"/>
            <a:ext cx="484632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0" y="5916168"/>
            <a:ext cx="4480559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Что делать: близость измерима расстоянием — фильтрация и кластеризация без разметки и без LLM возможны прямо на векторах, дёшево.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17/47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Высокое сходство — «об одном и том же», не «с одинаковым смыслом»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554480"/>
          <a:ext cx="6537960" cy="3977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41248"/>
                <a:gridCol w="841248"/>
                <a:gridCol w="841248"/>
                <a:gridCol w="841248"/>
                <a:gridCol w="84124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B7685"/>
                          </a:solidFill>
                          <a:latin typeface="Arial"/>
                        </a:rPr>
                        <a:t>cosine similarity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HTTPS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React-к.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React-п.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Борщ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Как настроить 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Установка HTTPS-сертификата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Деплой React-компонента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Сборка React-приложения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Рецепт борща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60920" y="1554480"/>
            <a:ext cx="4343400" cy="2377440"/>
          </a:xfrm>
          <a:prstGeom prst="roundRect">
            <a:avLst>
              <a:gd name="adj" fmla="val 7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0" y="1783080"/>
            <a:ext cx="38404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настроить SSL»</a:t>
            </a:r>
            <a:r>
              <a:rPr sz="1550" b="1" i="0">
                <a:solidFill>
                  <a:srgbClr val="065A82"/>
                </a:solidFill>
                <a:latin typeface="Arial"/>
              </a:rPr>
              <a:t>  ↔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отключить SSL»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Очень высокое сходство — противоположный практический смысл.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411480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шкала: 0 — светлое · 1 — тёмное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7607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15583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Similarity — сигнал кандидатов; релевантность — отдельная задача: реранкер, гибрид, фильтры.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18/47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Эмбеддинги — фундамент понимания: модель работает с векторами, не строками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200400" cy="489204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83337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790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6" name="Down Arrow 5"/>
          <p:cNvSpPr/>
          <p:nvPr/>
        </p:nvSpPr>
        <p:spPr>
          <a:xfrm>
            <a:off x="2020824" y="2318003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446020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917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9" name="Down Arrow 8"/>
          <p:cNvSpPr/>
          <p:nvPr/>
        </p:nvSpPr>
        <p:spPr>
          <a:xfrm>
            <a:off x="2020824" y="2930651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3058668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43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020824" y="3543299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3671315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17035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020824" y="4155948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4283964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96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020824" y="4768596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89661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94233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020824" y="5381244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509259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5497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0" y="14630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15819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Перефразирования и синонимы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19659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«Как настроить SSL» и «Установка HTTPS-сертификата» — близкие векторы → модель отвечает одинаково; то же с «авто» и «машина».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0" y="30632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1821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Межъязыковая близость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5661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«клубника» и strawberry — близкие векторы → ответ корректен независимо от языка запроса.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4709160"/>
            <a:ext cx="768096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476402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Семантическая близость на уровне предложений — основа «понимания» переформулировок.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5458968"/>
            <a:ext cx="7680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одна embedding-модель и индекс обслуживают поиск, кластеризацию и RAG сразу — смена модели означает переиндексацию всего хранилища; выбирайте как инфраструктурное решение.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6263640"/>
            <a:ext cx="7680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Выбор embedding-модели под задачу (MTEB, матрёшечные представления) — материал для самостоятельного чтения.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19/47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Механизм внимания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модель решает, на что опереться в контексте — и что из этого следует для ролей, кэша и длинных окон»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ttention-paper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6150" y="923544"/>
            <a:ext cx="2621418" cy="33924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75704" y="4425695"/>
            <a:ext cx="47823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1C7293"/>
                </a:solidFill>
                <a:latin typeface="Arial"/>
              </a:rPr>
              <a:t>Статья, давшая механизму имя: Vaswani et al., «Attention Is All You Need», 2017 (arXiv:1706.03762)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Токены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Векторы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20/47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Внимание — это сверка каждого токена со всеми остальными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Каждый токен «смотрит» на все остальные одновременно. На каждом шаге — N × N связей.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6857999" cy="36118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809897"/>
                <a:gridCol w="809897"/>
                <a:gridCol w="809897"/>
                <a:gridCol w="809897"/>
                <a:gridCol w="809897"/>
                <a:gridCol w="809897"/>
                <a:gridCol w="809897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7685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он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был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голоден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он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1295C"/>
                          </a:solidFill>
                          <a:latin typeface="Arial"/>
                        </a:rPr>
                        <a:t>0,7</a:t>
                      </a:r>
                    </a:p>
                  </a:txBody>
                  <a:tcPr marL="18288" marR="18288" marT="9144" marB="9144" anchor="ctr">
                    <a:solidFill>
                      <a:srgbClr val="F0AB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был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голоден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1C729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138928"/>
            <a:ext cx="685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 строке «он»: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наибольший вес — на «Кот» (мужской род). Статистическая связь, выученная на корпусе.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В декодере токен видит только предыдущие — показана полная сверка для наглядности.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417320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50876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874519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N × N, где N — длина контекста. Удвоение контекста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учетверение вычислений внимания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898648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990088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На каждом шаге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35584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Распределение весов пересчитывается заново на каждом шаге генерации.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379976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4471416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Многоголовость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837176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каждом слое — десятки параллельных «голов» (типично 32–128); каждая ловит свой тип связей: грамматика, семантика, дальние зависимости.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20140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952744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На что влияют веса: они определяют, чьи Value попадут в представление текущего токена — и напрямую формируют следующее предсказание.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21/47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Внимание — распределение весов на весь контекст: три проекции Query / Key / Value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264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Q — про текущий шаг. K и V — про уже обработанный контекст.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Query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сейчас ищу»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Key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предлагаю»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Value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отдам, если меня выбрали»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95728"/>
            <a:ext cx="580644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23744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«Кот съел мышь, потому что </a:t>
            </a:r>
            <a:r>
              <a:rPr sz="1450" b="1" i="0">
                <a:solidFill>
                  <a:srgbClr val="065A82"/>
                </a:solidFill>
                <a:latin typeface="Arial"/>
              </a:rPr>
              <a:t>он</a:t>
            </a:r>
            <a:r>
              <a:rPr sz="1450" b="0" i="0">
                <a:solidFill>
                  <a:srgbClr val="21295C"/>
                </a:solidFill>
                <a:latin typeface="Arial"/>
              </a:rPr>
              <a:t> был голоден»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1752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Liberation Mono"/>
              </a:rPr>
              <a:t>Q(«он»)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= «ищу: кто мог быть голоден»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K(«Кот»)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= «я — одушевлённый субъект»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V(«Кот»)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= содержимое, которое вольётся в представление «он»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262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Совпадение Q(«он») и K(«Кот») даёт высокий вес → V(«Кот») определяет обновлённое представление токена «он».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2395728"/>
            <a:ext cx="5257800" cy="2788920"/>
          </a:xfrm>
          <a:prstGeom prst="roundRect">
            <a:avLst>
              <a:gd name="adj" fmla="val 10928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505456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Распределение весов — сумма = 1, лидер «Кот»</a:t>
            </a:r>
          </a:p>
        </p:txBody>
      </p:sp>
      <p:pic>
        <p:nvPicPr>
          <p:cNvPr id="17" name="Picture 16" descr="s19-attention-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907792"/>
            <a:ext cx="4800600" cy="1959429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02920" y="534924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534924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1.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На вход — все токены контекста.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534924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534924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2.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На выходе — распределение весов, сумма = 1.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5349240"/>
            <a:ext cx="3611880" cy="56692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5349240"/>
            <a:ext cx="3337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3.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Пересчитывается на каждом шаге генерации.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0533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Метафора: фонарик в тёмной комнате — луч направлен на релевантные токены, яркость света = вес внимания.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22/47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K и V кешируются — заново считается только 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KV-cache: </a:t>
            </a:r>
            <a:r>
              <a:rPr sz="1450" b="0" i="0">
                <a:solidFill>
                  <a:srgbClr val="21295C"/>
                </a:solidFill>
                <a:latin typeface="Arial"/>
              </a:rPr>
              <a:t>Key/Value обработанных токенов сохраняются в памяти ускорителя. На каждом шаге вычисляется только Q нового токена — против сохранённых K/V.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201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8132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8132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028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9514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514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2102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3308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3308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4690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896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79806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уже посчитаны — лежат в кэше, не пересчитываются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37960" y="1783080"/>
            <a:ext cx="0" cy="1280160"/>
          </a:xfrm>
          <a:prstGeom prst="line">
            <a:avLst/>
          </a:prstGeom>
          <a:ln w="15240">
            <a:solidFill>
              <a:srgbClr val="1C729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69680" y="182880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новый токен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Liberation Mono"/>
              </a:rPr>
              <a:t>Q</a:t>
            </a:r>
          </a:p>
        </p:txBody>
      </p:sp>
      <p:sp>
        <p:nvSpPr>
          <p:cNvPr id="30" name="Left Arrow 29"/>
          <p:cNvSpPr/>
          <p:nvPr/>
        </p:nvSpPr>
        <p:spPr>
          <a:xfrm>
            <a:off x="6812280" y="2377440"/>
            <a:ext cx="2377440" cy="237744"/>
          </a:xfrm>
          <a:prstGeom prst="lef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69748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сверка со всеми K/V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401568"/>
            <a:ext cx="5394960" cy="1783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51129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Фаза 1 — prefill (обработка промпта)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895344"/>
            <a:ext cx="48920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Все токены входа известны сразу → K/V считаются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параллельно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вычислительную мощность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Определяет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паузу до первого символа ответа (TTFT)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989320" y="4160520"/>
            <a:ext cx="41148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92240" y="3401568"/>
            <a:ext cx="5212080" cy="1783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3511296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Фаза 2 — decode (генерация ответа)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3895344"/>
            <a:ext cx="47091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Строго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последовательно</a:t>
            </a:r>
            <a:r>
              <a:rPr sz="1250" b="0" i="0">
                <a:solidFill>
                  <a:srgbClr val="21295C"/>
                </a:solidFill>
                <a:latin typeface="Arial"/>
              </a:rPr>
              <a:t>, токен за токеном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Каждый шаг читает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весь накопленный кэш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из памяти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пропускную способность памяти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→ скорость «печати»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303520"/>
            <a:ext cx="11201400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303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Кэш у провайдеров: 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OpenAI — авто  ·  Gemini — implicit (авто)  ·  DeepSeek — авто-дисковый  ·  Anthropic — явный (cache_control)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961888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6016751"/>
            <a:ext cx="108356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KV-cache делает повторную подачу истории дешёвой и быстрой; «тормозит и дорожает» — когда кэш НЕ срабатывает (длинный чат без кэша, нестабильный префикс).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23/47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Кэш промптов — ставка на повторное использование, а не скидка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806440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98448"/>
            <a:ext cx="5303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Три запроса подряд: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00784"/>
            <a:ext cx="5257800" cy="566928"/>
          </a:xfrm>
          <a:prstGeom prst="roundRect">
            <a:avLst>
              <a:gd name="adj" fmla="val 14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28216"/>
            <a:ext cx="4983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Запрос 1: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префикс пишется в кэш — запись 1.25–2× ставки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59152"/>
            <a:ext cx="5257800" cy="566928"/>
          </a:xfrm>
          <a:prstGeom prst="roundRect">
            <a:avLst>
              <a:gd name="adj" fmla="val 1400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386584"/>
            <a:ext cx="4983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Запрос 2: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тот же префикс → cache hit — чтение 0.1× (новейшие — 0.025×)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017520"/>
            <a:ext cx="5257800" cy="566928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044951"/>
            <a:ext cx="49834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Запрос 3: 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строка добавлена в начало → префикс не совпал → мимо кэша, полная цена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67328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Кейс: 50 000 анализов документов в месяц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114800"/>
            <a:ext cx="4206240" cy="29260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411480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$45 000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133087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без кэша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498848"/>
            <a:ext cx="749808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449884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$8 000 с кэшем · </a:t>
            </a:r>
            <a:r>
              <a:rPr sz="1350" b="1" i="0">
                <a:solidFill>
                  <a:srgbClr val="F0AB00"/>
                </a:solidFill>
                <a:latin typeface="Arial"/>
              </a:rPr>
              <a:t>−82%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1188720"/>
            <a:ext cx="5166360" cy="3977639"/>
          </a:xfrm>
          <a:prstGeom prst="roundRect">
            <a:avLst>
              <a:gd name="adj" fmla="val 766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1325880"/>
            <a:ext cx="4709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Условие: точное совпадение префикса.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Один изменившийся токен инвалидирует кэш для всего, что после него.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2103120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2121408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121408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2578608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596896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инструкции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2596896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3054096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3072384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документы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072384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6560" y="3529584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547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«Сегодня 2026-09-05 14:23» — динамический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3547872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!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4005072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778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4023359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вопрос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4023359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B7685"/>
                </a:solidFill>
                <a:latin typeface="Arial"/>
              </a:rPr>
              <a:t>× мимо кэша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526280"/>
            <a:ext cx="4709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Динамический элемент в начале (timestamp) рушит кэш всех блоков после него — это и есть «запрос 3».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44068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49554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Правило компоновки: стабильное — в начало (промпт, инструкции, примеры, документы), переменное — в конец.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24/47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Роль работает через вес во внимании — но не повышает фактическое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87552"/>
            <a:ext cx="11201400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Рабочий пример: куда смотрит «он»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517904"/>
            <a:ext cx="777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«Кот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1800" y="1517904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съел мышь,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517904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потому что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517904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51790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был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517904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голоден»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423160" y="1947672"/>
            <a:ext cx="3840480" cy="338328"/>
          </a:xfrm>
          <a:prstGeom prst="line">
            <a:avLst/>
          </a:prstGeom>
          <a:ln w="50800">
            <a:solidFill>
              <a:srgbClr val="F0AB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00800" y="1947672"/>
            <a:ext cx="502920" cy="338328"/>
          </a:xfrm>
          <a:prstGeom prst="line">
            <a:avLst/>
          </a:prstGeom>
          <a:ln w="27940">
            <a:solidFill>
              <a:srgbClr val="065A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492240" y="1947672"/>
            <a:ext cx="1600200" cy="338328"/>
          </a:xfrm>
          <a:prstGeom prst="line">
            <a:avLst/>
          </a:prstGeom>
          <a:ln w="1524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423160" y="234086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0AB00"/>
                </a:solidFill>
                <a:latin typeface="Arial"/>
              </a:rPr>
              <a:t>главный вес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651760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Упрощение: агрегат сотен связей в десятках слоёв — модель воспроизводит корреляции употребления, не грамматический разбор.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450592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Подумайте 30 секунд: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куда уйдёт вес от «он» в «Программа упала, потому что он забыл обработать null»?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82112"/>
            <a:ext cx="5212080" cy="13716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91840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Без роли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57600"/>
            <a:ext cx="4709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«Объясни GIL»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→ нейтральный, обобщённый ответ.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33872" y="3703320"/>
            <a:ext cx="548640" cy="310896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92240" y="3182112"/>
            <a:ext cx="5212080" cy="13716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291840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С ролью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657600"/>
            <a:ext cx="4709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«Ты — опытный Python-разработчик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Объясни GIL» — токены роли получают вес → смещают распределение следующих токенов: конкретнее, в экспертном регистре.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17720"/>
            <a:ext cx="11201400" cy="74980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72584"/>
            <a:ext cx="10698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Zheng et al. (2024, EMNLP Findings; 2410 вопросов, 162 роли): персона/роль в промпте не повышает точность факта — эффект конкретной роли непредсказуем.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Отдельно от этого исследования — по наблюдениям курса: роль ощутимо меняет тон, стиль и отбор содержания ответа.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8640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541264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Роль — инструмент управления стилем и фокусом, а не «усилитель ума». Нужен ответ по вашим данным — дайте данные, а не третье прилагательное к слову «эксперт».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25/47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Фронтир-стандарт 2026 — окно до 1 млн токенов. Но заявленное ≠ полезное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99516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GPT-3.5 (2022)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4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37943"/>
            <a:ext cx="728634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9424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Claude 3.5 (2024)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200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51176"/>
            <a:ext cx="2784787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62656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Фронтир-стандарт (2026) —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до 1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Fable 5, GPT-5.6, Gemini 3.1 Pro и др.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64408"/>
            <a:ext cx="3630705" cy="237744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67588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Gemini 3.5 Pro (2026)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2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единичная модель, не стандарт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40"/>
            <a:ext cx="3995023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2511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ширина — логарифмическая шкала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371600"/>
            <a:ext cx="3977639" cy="1536192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778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5087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Llama 4 Scout: «10 млн»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20240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заявлено; ни один опубликованный бенчмарк не подтверждает качество вблизи предела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3081528"/>
            <a:ext cx="3977639" cy="1536192"/>
          </a:xfrm>
          <a:prstGeom prst="roundRect">
            <a:avLst>
              <a:gd name="adj" fmla="val 1984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321868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YandexGPT 5 Pro: 32 тыс.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630168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полтора-два порядка меньше флагманов — для длинных документов это определяющее ограничение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54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Просто «растянуть» окно нельзя: позиция токена закодирована геометрией, обученной на конкретных длинах, — расширение (RoPE / YaRN) — отдельная инженерная работа.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9496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49824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Платите за то, что кладёте в окно, а не за то, что окно вмещает: 900 тыс. токенов входа по $10/млн ≈ $9 за один вызов.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062472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Что делать: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выбирайте модель по эффективному окну задачи (бенчмарки без лексических подсказок), не по маркетинговому максимуму.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26/47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Поиск дословной вставки решён. Понимание длинного контекста —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32688"/>
            <a:ext cx="1120140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Забывание победили </a:t>
            </a:r>
            <a:r>
              <a:rPr sz="1600" b="1" i="0">
                <a:solidFill>
                  <a:srgbClr val="028090"/>
                </a:solidFill>
                <a:latin typeface="Arial"/>
              </a:rPr>
              <a:t>✓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 — найти дословную вставку (needle-in-a-haystack)</a:t>
            </a:r>
          </a:p>
        </p:txBody>
      </p:sp>
      <p:pic>
        <p:nvPicPr>
          <p:cNvPr id="5" name="Picture 4" descr="s25-u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26464"/>
            <a:ext cx="5669280" cy="1700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572768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U-кривая 2023 распрямилась: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single-needle — до 99% на полном окне 1 млн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(Gemini Deep Think).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73552"/>
            <a:ext cx="11201400" cy="2606040"/>
          </a:xfrm>
          <a:prstGeom prst="roundRect">
            <a:avLst>
              <a:gd name="adj" fmla="val 1169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36499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Работу со смыслом — нет </a:t>
            </a:r>
            <a:r>
              <a:rPr sz="1250" b="0" i="0">
                <a:solidFill>
                  <a:srgbClr val="6B7685"/>
                </a:solidFill>
                <a:latin typeface="Arial"/>
              </a:rPr>
              <a:t>(NoLiMa, 2025: бенчмарк убрал буквальное совпадение слов)</a:t>
            </a:r>
          </a:p>
        </p:txBody>
      </p:sp>
      <p:pic>
        <p:nvPicPr>
          <p:cNvPr id="9" name="Picture 8" descr="s25-nol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67328"/>
            <a:ext cx="4206240" cy="20601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7800" y="3886200"/>
            <a:ext cx="62179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лексических совпадений качество падает </a:t>
            </a:r>
            <a:r>
              <a:rPr sz="1350" b="1" i="0">
                <a:solidFill>
                  <a:srgbClr val="F0AB00"/>
                </a:solidFill>
                <a:latin typeface="Arial"/>
              </a:rPr>
              <a:t>ниже 50% от базового уже на 32K</a:t>
            </a:r>
            <a:r>
              <a:rPr sz="1300" b="1" i="0">
                <a:solidFill>
                  <a:srgbClr val="21295C"/>
                </a:solidFill>
                <a:latin typeface="Arial"/>
              </a:rPr>
              <a:t> — у 11 из 13 моделей.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32 тыс. токенов ≈ 3% заявленного окна флагмана; база — точность той же модели на коротком контексте.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1120140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044183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1M окна ≠ 1M рассуждения. Окно — сколько модель может прочитать; полезная длина — на скольких токенах она ещё связывает факты.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27/47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Сэмплинг и генерация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из распределения вероятностей рождается один токен — и какими ручками этот выбор управляется»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ce-wikimed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244" y="923544"/>
            <a:ext cx="4523231" cy="33924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75704" y="4425695"/>
            <a:ext cx="47823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1C7293"/>
                </a:solidFill>
                <a:latin typeface="Arial"/>
              </a:rPr>
              <a:t>Казино-кости Caesars Palace — Wikimedia Commons, CC-BY-SA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Текст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Токены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Векторы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028090"/>
                </a:solidFill>
                <a:latin typeface="Arial"/>
              </a:rPr>
              <a:t>LLM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28/47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На каждом шаге — распределение вероятностей на все токены словаря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722376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Контекст: </a:t>
            </a:r>
            <a:r>
              <a:rPr sz="1550" b="1" i="0">
                <a:solidFill>
                  <a:srgbClr val="21295C"/>
                </a:solidFill>
                <a:latin typeface="Liberation Mono"/>
              </a:rPr>
              <a:t>«Сегодня я съел …»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P(следующий токен):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Liberation Mono"/>
              </a:rPr>
              <a:t>яблоко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441448"/>
            <a:ext cx="3845705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31705" y="23957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0AB00"/>
                </a:solidFill>
                <a:latin typeface="Arial"/>
              </a:rPr>
              <a:t>0,32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— максимум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529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пиццу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2898648"/>
            <a:ext cx="2283387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9387" y="28529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0,19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101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салат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3355848"/>
            <a:ext cx="168249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33101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0,14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673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булочку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3813048"/>
            <a:ext cx="1321961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961" y="37673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0,11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245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огурец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4270248"/>
            <a:ext cx="96142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7426" y="4224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0,08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371600"/>
            <a:ext cx="3703320" cy="3383280"/>
          </a:xfrm>
          <a:prstGeom prst="roundRect">
            <a:avLst>
              <a:gd name="adj" fmla="val 9009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4480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Сэмплинг → один токен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574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правило выбора одного токена из распределения — единственная ручка в ваших руках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692640" y="2834640"/>
            <a:ext cx="365760" cy="45720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732520" y="342900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500" b="1">
                <a:solidFill>
                  <a:srgbClr val="21295C"/>
                </a:solidFill>
                <a:latin typeface="Liberation Mono"/>
              </a:rPr>
              <a:t>[ яблоко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0416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выбран один — остальные кандидаты исчезли из ответа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Остальные ~200 000 токенов словаря — каждый &lt; 0.05. Сумма всех вероятностей = 1. Числа иллюстративные.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49240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404103"/>
            <a:ext cx="108356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Распределение — «настоящий» выход модели. Уверенный ответ и галлюцинация до сэмплинга существовали одновременно — как вероятностная масса; выбор сделала политика.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29/47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Температура — делитель логитов: меняет остроту выбора, не знания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896112"/>
            <a:ext cx="11201400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 i="0">
                <a:solidFill>
                  <a:srgbClr val="21295C"/>
                </a:solidFill>
                <a:latin typeface="Liberation Mono"/>
              </a:rPr>
              <a:t>T = 0  ⇒  выбор = argmax P(токен)</a:t>
            </a:r>
            <a:r>
              <a:rPr sz="1450" b="1" i="0">
                <a:solidFill>
                  <a:srgbClr val="065A82"/>
                </a:solidFill>
                <a:latin typeface="Liberation Mono"/>
              </a:rPr>
              <a:t>      T &gt; 0  ⇒  сэмплинг из P^(1/T)-образного распределения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логиты делятся на T до softmax: T&lt;1 заостряет распределение, T&gt;1 выравнивает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3611880" cy="269748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56816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 → 0</a:t>
            </a:r>
            <a:r>
              <a:rPr sz="1350" b="1" i="0">
                <a:solidFill>
                  <a:srgbClr val="065A82"/>
                </a:solidFill>
                <a:latin typeface="Arial"/>
              </a:rPr>
              <a:t>  (argmax)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2708" y="2395728"/>
            <a:ext cx="347472" cy="10515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13916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35124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56332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77540" y="3429000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05840" y="3465576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675887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Выбор самого вероятного. Почти одинаковые ответы — «почти»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1188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956816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 = 1</a:t>
            </a:r>
            <a:r>
              <a:rPr sz="1350" b="1" i="0">
                <a:solidFill>
                  <a:srgbClr val="F0AB00"/>
                </a:solidFill>
                <a:latin typeface="Arial"/>
              </a:rPr>
              <a:t>  (стандарт)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87468" y="2395728"/>
            <a:ext cx="347472" cy="10515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08676" y="2822924"/>
            <a:ext cx="347472" cy="624363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29884" y="2987230"/>
            <a:ext cx="347472" cy="460057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51092" y="3085814"/>
            <a:ext cx="347472" cy="361473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72300" y="3184398"/>
            <a:ext cx="347472" cy="26289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800600" y="3465576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26280" y="3675887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Сэмплирование пропорционально вероятностям модели.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828800"/>
            <a:ext cx="3611880" cy="269748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956816"/>
            <a:ext cx="3154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 = 1.5</a:t>
            </a:r>
            <a:r>
              <a:rPr sz="1350" b="1" i="0">
                <a:solidFill>
                  <a:srgbClr val="065A82"/>
                </a:solidFill>
                <a:latin typeface="Arial"/>
              </a:rPr>
              <a:t>  (сглаживание)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2228" y="2395728"/>
            <a:ext cx="347472" cy="10515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03436" y="2614803"/>
            <a:ext cx="347472" cy="83248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24644" y="2746248"/>
            <a:ext cx="347472" cy="7010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45852" y="2833878"/>
            <a:ext cx="347472" cy="61341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767060" y="2921508"/>
            <a:ext cx="347472" cy="5257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595360" y="3465576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321040" y="3675887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Редкие токены получают реальные шансы — до бессвязности.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4663440"/>
            <a:ext cx="11201400" cy="71323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718303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Почему T влияет, хотя порядок кандидатов не меняется: выбор — не «взять топ-1», а случайная выборка пропорционально вероятностям; T перекраивает сами вероятности.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486400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Liberation Mono"/>
              </a:rPr>
              <a:t>top-p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отрез хвоста по вероятностной массе · </a:t>
            </a:r>
            <a:r>
              <a:rPr sz="1300" b="1" i="0">
                <a:solidFill>
                  <a:srgbClr val="065A82"/>
                </a:solidFill>
                <a:latin typeface="Liberation Mono"/>
              </a:rPr>
              <a:t>top-k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по числу кандидатов · T под задачу: 0–0.3 код и классификация, 0.7+ генерация.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23160" y="5961888"/>
            <a:ext cx="731520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6040" y="5961888"/>
            <a:ext cx="6949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Живой прогон: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один запрос — 10 раз при T=0 и 10 раз при T=1.5.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30/47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T=0 не даёт детерминизма: 80 уникальных ответов из 1000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416052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53312"/>
            <a:ext cx="3703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 i="0">
                <a:solidFill>
                  <a:srgbClr val="F0AB00"/>
                </a:solidFill>
                <a:latin typeface="Arial"/>
              </a:rPr>
              <a:t>80 / 1000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84831"/>
            <a:ext cx="3611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уникальных вариантов ответа на идентичный запрос при T=0 — стандартный vLLM (открытый инференс-сервер; Thinking Machines Lab, сентябрь 2025)</a:t>
            </a:r>
          </a:p>
        </p:txBody>
      </p:sp>
      <p:pic>
        <p:nvPicPr>
          <p:cNvPr id="6" name="Picture 5" descr="well-yes-actually-no-templ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541" y="3291840"/>
            <a:ext cx="1297277" cy="9875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07693" y="3310128"/>
            <a:ext cx="1150972" cy="175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T=0 = детерминизм?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23444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Причина — не «floating-point вообще», а отсутствие </a:t>
            </a:r>
            <a:r>
              <a:rPr sz="1350" b="1" i="0">
                <a:solidFill>
                  <a:srgbClr val="065A82"/>
                </a:solidFill>
                <a:latin typeface="Arial"/>
              </a:rPr>
              <a:t>batch-инвариантности ядер: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1828800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1828800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1.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Сервер группирует одновременные запросы разных пользователей в батчи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404872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404872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2.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Размер батча зависит от чужой нагрузки в эту миллисекунду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2980944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980944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3.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Разный размер батча → разный порядок суммирования → младшие разряды другие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3557015"/>
            <a:ext cx="6766560" cy="6400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3557015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4.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Два близких кандидата в argmax → младший разряд решает выбор токена → авторегрессия разносит расхождение по всему ответу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434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Решение существует: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batch-инвариантные ядра — 1000/1000 побитово идентичны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343400"/>
            <a:ext cx="548640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Цена: ~35% пропускной способности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→ провайдеры не включают; seed у OpenAI — официально «mostly deterministic», в основном детерминировано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58698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Получить гарантированно детерминированный ответ от облачной LLM сегодня нельзя — стройте процессы с учётом этого. Следствие: тесты — не на побитовом сравнении, а семантически или по структуре.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31/47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Ручки API: к случайности и длине добавилась глубина рассуждения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25880"/>
          <a:ext cx="11201399" cy="3977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691640"/>
                <a:gridCol w="3749039"/>
                <a:gridCol w="3108960"/>
              </a:tblGrid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Диапазон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На что влияет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Типичное значение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temperature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0–2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Детерминизм ↔ хаос выбора токена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0 классификация; 0.7–1.2 текст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top_p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0.1–1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Ширина хвоста кандидатов при сэмплинге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0.9–0.95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max_tokens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целое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Жёсткий обрыв генерации — может прервать на середине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под задачу, с запасом на JSON/код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21295C"/>
                          </a:solidFill>
                          <a:latin typeface="Liberation Mono"/>
                        </a:rPr>
                        <a:t>effort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none → xhigh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Глубина внутреннего рассуждения — и его цена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medium у большинства провайдеров</a:t>
                      </a:r>
                    </a:p>
                  </a:txBody>
                  <a:tcPr marL="73152" marR="54864" marT="18288" marB="18288" anchor="ctr">
                    <a:solidFill>
                      <a:srgbClr val="FEF5E0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00" b="1">
                          <a:solidFill>
                            <a:srgbClr val="065A82"/>
                          </a:solidFill>
                          <a:latin typeface="Liberation Mono"/>
                        </a:rPr>
                        <a:t>verbosity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low → high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Длина видимого ответа, независимо от глубины мышления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44068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effort / reasoning_effort — новая ось 2026: OpenAI — шкала effort; Anthropic — адаптивное мышление; Gemini — thinking budget.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85216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907024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Что делать: начинайте настройку с temperature и effort — две главные ручки; top_p / top_k / verbosity — тонкая настройка поверх.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32/47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Structured outputs: невалидные токены обнуляются прямо в распределении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309360" cy="3886200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7607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Constrained decoding: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JSON-схема компилируется в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конечный автомат над токенами</a:t>
            </a:r>
            <a:r>
              <a:rPr sz="1300" b="0" i="0">
                <a:solidFill>
                  <a:srgbClr val="21295C"/>
                </a:solidFill>
                <a:latin typeface="Arial"/>
              </a:rPr>
              <a:t>. При потокенной генерации автомат отслеживает состояние префикса и на каждом шаге МАСКИРУЕТ (обнуляет вероятность) токены, ведущие к невалидному продолжению.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2775857"/>
            <a:ext cx="548640" cy="83602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40280" y="3115491"/>
            <a:ext cx="548640" cy="4963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13432" y="2740587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3246120"/>
            <a:ext cx="54864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69080" y="3324497"/>
            <a:ext cx="548640" cy="28738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2949593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3402874"/>
            <a:ext cx="548640" cy="20900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639312"/>
            <a:ext cx="475488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автомат маскирует серые → вероятность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96512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Просьба «ответь строго в JSON» → ~80% валидных
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50" b="1" i="0">
                <a:solidFill>
                  <a:srgbClr val="21295C"/>
                </a:solidFill>
                <a:latin typeface="Arial"/>
              </a:rPr>
              <a:t>Strict mode →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100%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выход валиден по построению, а не «проверен постфактум»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1371600"/>
            <a:ext cx="461772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50876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Ограничения — свойства компиляции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65960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002536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Рекурсия через $ref — нет (дерево → плоский список с parent_id)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761488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2798064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Глубина вложенности — ≤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557016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3593592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запрос с новой схемой платит за компиляцию грамматики — до 10 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352544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389120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Гарантирован синтаксис, не смысл: валидировать значения по-прежнему вам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23160" y="5532120"/>
            <a:ext cx="7315200" cy="5943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06040" y="553212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Вопрос залу: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почему именно 100%, а не 99.9?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33/47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Предсказали токен → дописали в контекст → предсказываем следующий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3415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0575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1 · Текущий контекст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0575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промпт + история + запрос + уже сгенерированное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93111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94279" y="1572768"/>
            <a:ext cx="2121408" cy="14173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1439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2 · Прямой проход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1439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токенизация → эмбеддинги → все слои внимания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33975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35143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2303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3 · Распределение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2303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вероятности на все ~200 тыс. токенов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74839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76007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3167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4 · Сэмплинг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3167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один токен — температура / top-p / схема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15703" y="2199132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16871" y="1572768"/>
            <a:ext cx="2121408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4031" y="1664208"/>
            <a:ext cx="18470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5 · Токен дописан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4031" y="223113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в контекст — и цикл повторяется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6255" y="120700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вход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777575" y="2990088"/>
            <a:ext cx="0" cy="27432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Left Arrow 23"/>
          <p:cNvSpPr/>
          <p:nvPr/>
        </p:nvSpPr>
        <p:spPr>
          <a:xfrm>
            <a:off x="1414119" y="3209544"/>
            <a:ext cx="9363455" cy="164592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414119" y="2990088"/>
            <a:ext cx="0" cy="237744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96615" y="3392424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⟲ возврат к шагу 1 — цикл повторяется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794760"/>
            <a:ext cx="5440680" cy="1600200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3904487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Как цикл останавливается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279392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Специальный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стоп-токен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модель сама решает «ответ закончен» — или </a:t>
            </a:r>
            <a:r>
              <a:rPr sz="1250" b="1" i="0">
                <a:solidFill>
                  <a:srgbClr val="21295C"/>
                </a:solidFill>
                <a:latin typeface="Liberation Mono"/>
              </a:rPr>
              <a:t>max_tokens</a:t>
            </a:r>
            <a:r>
              <a:rPr sz="1250" b="0" i="0">
                <a:solidFill>
                  <a:srgbClr val="21295C"/>
                </a:solidFill>
                <a:latin typeface="Arial"/>
              </a:rPr>
              <a:t>: обрыв мгновенный, хоть на середине JSON-поля.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794760"/>
            <a:ext cx="5486400" cy="1600200"/>
          </a:xfrm>
          <a:prstGeom prst="roundRect">
            <a:avLst>
              <a:gd name="adj" fmla="val 1904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904487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Как цикл ломается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279392"/>
            <a:ext cx="2788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Вырожденный цикл повторов: модель «зацикливается» на одном токене или фразе и генерирует полотно повторов вместо остановки.</a:t>
            </a:r>
          </a:p>
        </p:txBody>
      </p:sp>
      <p:pic>
        <p:nvPicPr>
          <p:cNvPr id="33" name="Picture 32" descr="gorshochek-ubbelohde-19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076080"/>
            <a:ext cx="1417320" cy="71751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537192" y="4821031"/>
            <a:ext cx="16367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1">
                <a:solidFill>
                  <a:srgbClr val="1C7293"/>
                </a:solidFill>
                <a:latin typeface="Arial"/>
              </a:rPr>
              <a:t>«Горшочек каши» — Гримм, 1909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53212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586983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Практика: repetition_penalty / frequency_penalty снижают вероятность буквальных повторов; max_tokens — страховка от бесконечного цикла.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23620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Каждый шаг — без состояния: вся «память» живёт в контексте, который подаётся целиком (KV-cache делает подачу дешёвой, не отменяя её логически).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34/47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Reasoning-токены не видны — но тарифицируются как output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201400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2468880" cy="6858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авторегрессионный
цикл  ⟲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3383280" y="1645920"/>
            <a:ext cx="640080" cy="274320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383280" y="2240280"/>
            <a:ext cx="640080" cy="320040"/>
          </a:xfrm>
          <a:prstGeom prst="line">
            <a:avLst/>
          </a:prstGeom>
          <a:ln w="27940">
            <a:solidFill>
              <a:srgbClr val="6B76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0" y="1417320"/>
            <a:ext cx="420624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444752"/>
            <a:ext cx="3931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видимый ответ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331720"/>
            <a:ext cx="7040880" cy="566928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331720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черновик «для себя» — в ответ не попадает, в счёт попадает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2286000"/>
            <a:ext cx="1051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×3–10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96265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по ставке output-токенов, с учётом в max_tokens — без естественного потолка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29000"/>
            <a:ext cx="5440680" cy="201168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o4-mini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83080" y="3648456"/>
            <a:ext cx="182879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361188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9592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4032504"/>
            <a:ext cx="914400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3995928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3799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o3-pro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83080" y="4416552"/>
            <a:ext cx="3291840" cy="219456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4379976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18×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2803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o3-pro: 3.6× дороже o3, 18× дороже o4-mini</a:t>
            </a:r>
            <a:r>
              <a:rPr sz="1100" b="0" i="0">
                <a:solidFill>
                  <a:srgbClr val="6B7685"/>
                </a:solidFill>
                <a:latin typeface="Arial"/>
              </a:rPr>
              <a:t> — при сопоставимой длине видимых ответов; разницу делает объём рассуждения.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429000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83864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Управление: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адаптивное мышление / effort вместо ручных бюджетов — удобно, но стоимость запроса стала менее предсказуемой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507992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562855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«Ход рассуждений» в интерфейсе — пересказ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(summarized), не сырые токены: строить аудит решений на «показанных мыслях» нельзя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784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Закладывайте в бюджет невидимую часть 2–5× видимого ответа — и сверяйте по полю usage в ответе API, где reasoning-токены видны как строка расхода.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35/47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Виды и размеры моделей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«На чём запускаются модели разных размеров — и что каждый класс умеет»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tryoshka-wikimed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244" y="923544"/>
            <a:ext cx="4523231" cy="33924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75704" y="4425695"/>
            <a:ext cx="47823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1C7293"/>
                </a:solidFill>
                <a:latin typeface="Arial"/>
              </a:rPr>
              <a:t>Русская матрёшка — Wikimedia Commons, CC-BY-SA 3.0 / GFDL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36/47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Четыре класса моделей по размеру — от ноутбука до кластера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0847" y="1170432"/>
            <a:ext cx="2761488" cy="3794760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33-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703" y="1316736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2287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Малые — до 8–10B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727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Qwen3.8-4B / 8B, модели Llama-класса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Железо: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ноутбук, смартфон, edge-устройство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обычно text-only или базовый vision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70351" y="1170432"/>
            <a:ext cx="2761488" cy="3794760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33-gp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4207" y="1316736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61791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Средние — около 30B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3231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Muse Glimmer 30B — верх среднего класса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Железо: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одна GPU 24–32 ГБ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часто есть 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9855" y="1170432"/>
            <a:ext cx="2761488" cy="3794760"/>
          </a:xfrm>
          <a:prstGeom prst="roundRect">
            <a:avLst>
              <a:gd name="adj" fmla="val 11037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33-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3711" y="1316736"/>
            <a:ext cx="493776" cy="4937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51295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Большие — 70B+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2735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модели Llama-класса 70B, Qwen3.5-397B-A17B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Железо: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мульти-GPU / сервер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28090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как правило полная (текст + изображение, иногда аудио)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9359" y="1170432"/>
            <a:ext cx="2761488" cy="3794760"/>
          </a:xfrm>
          <a:prstGeom prst="roundRect">
            <a:avLst>
              <a:gd name="adj" fmla="val 5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33-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3215" y="1316736"/>
            <a:ext cx="493776" cy="4937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0799" y="1883664"/>
            <a:ext cx="2578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Гиганты-MoE — 400B+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2239" y="2560320"/>
            <a:ext cx="239572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Примеры: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DeepSeek V4-Pro (1.6 трлн), Kimi K3 (2.8 трлн)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65A82"/>
                </a:solidFill>
                <a:latin typeface="Arial"/>
              </a:rPr>
              <a:t>Железо: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ТОЛЬКО облако или кластер — на потребительское железо не помещаются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</a:pPr>
            <a:r>
              <a:rPr sz="1250" b="1" i="0">
                <a:solidFill>
                  <a:srgbClr val="065A82"/>
                </a:solidFill>
                <a:latin typeface="Arial"/>
              </a:rPr>
              <a:t>Мультимодальность: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полная, топ качество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2920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084064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Лимитирующий фактор — объём памяти, не вычисления. Чем крупнее модель, тем шире мультимодальность и качество — и тем меньше шансов запустить её у себя.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37/47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«Открытые веса» перестали означать «локально запускаемые»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Действительно локальные — до ~30B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Qwen3.8-27B (Apache 2.0, вход изображение+видео, окно 262 тыс.), Muse Glimmer 30B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Железо: RTX 5090 (32 ГБ) · Apple unified 64–128 ГБ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Лимит — объём памяти, не вычисления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800600" y="1170432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открытая ≠ локальная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Открытые, но облачные гиганты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Kimi K3 — 2.8 трлн параметров, крупнейшая открытая модель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DeepSeek V4-Pro — 1.6 трлн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На потребительское железо не помещаются ни в каком виде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Закрытые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Флагманское качество — по-прежнему здесь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Плата за токен, данные через провайдера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Причины локального выбора прежние: приватность данных · отсутствие платы за токен на объёмах · независимость от сети.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5897880"/>
            <a:ext cx="964692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39" y="5952744"/>
            <a:ext cx="9281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делать: задача умещается в ~30B и данные нельзя выпускать за периметр — берите локальную модель; нужно флагманское качество — берите закрытый API.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38/47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Сентябрь 2026: качество сблизилось — цены разошлись на три порядка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Передний край (закрытые веса)</a:t>
            </a:r>
          </a:p>
        </p:txBody>
      </p:sp>
      <p:pic>
        <p:nvPicPr>
          <p:cNvPr id="5" name="Picture 4" descr="open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23110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9848" y="1956816"/>
            <a:ext cx="4690872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OpenAI: GPT-5.6 — Luna → Terra → Sol</a:t>
            </a:r>
          </a:p>
        </p:txBody>
      </p:sp>
      <p:pic>
        <p:nvPicPr>
          <p:cNvPr id="7" name="Picture 6" descr="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11729"/>
            <a:ext cx="256032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69848" y="2345436"/>
            <a:ext cx="4690872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Anthropic: Claude Fable 5 · Opus 5</a:t>
            </a:r>
          </a:p>
        </p:txBody>
      </p:sp>
      <p:pic>
        <p:nvPicPr>
          <p:cNvPr id="9" name="Picture 8" descr="goo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00349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9848" y="2734056"/>
            <a:ext cx="4690872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Google: Gemini 3.5 Pro (окно 2 млн, Deep Think)</a:t>
            </a:r>
          </a:p>
        </p:txBody>
      </p:sp>
      <p:pic>
        <p:nvPicPr>
          <p:cNvPr id="11" name="Picture 10" descr="x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188969"/>
            <a:ext cx="256032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9848" y="3122675"/>
            <a:ext cx="4690872" cy="3886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xAI: Grok 4.3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Открытые веса</a:t>
            </a:r>
          </a:p>
        </p:txBody>
      </p:sp>
      <p:pic>
        <p:nvPicPr>
          <p:cNvPr id="15" name="Picture 14" descr="deepsee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2087880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84848" y="1956816"/>
            <a:ext cx="4690872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DeepSeek V4 (Pro 1.6 трлн / Flash 284 млрд)</a:t>
            </a:r>
          </a:p>
        </p:txBody>
      </p:sp>
      <p:pic>
        <p:nvPicPr>
          <p:cNvPr id="17" name="Picture 16" descr="qw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2606040"/>
            <a:ext cx="25603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84848" y="2474976"/>
            <a:ext cx="4690872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Qwen 3.8-Max — первая открытая из линейки 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93136"/>
            <a:ext cx="5029200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Kimi K2.6 (1 трлн) · Kimi K3 (2.8 трлн — крупнейшая открытая)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03320"/>
            <a:ext cx="11201400" cy="84124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7647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IMO 2026: шесть моделей — абсолютные 42/42. Из 666 участников-людей — семеро.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160520"/>
            <a:ext cx="10698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Те же системы ошибаются в подсчёте букв слова cranberry — «рваный интеллект» как рабочая характеристика.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5074920"/>
            <a:ext cx="10332720" cy="182880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5074920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44000" y="5074920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75488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пол рынка $0.03–0.2 / млн токенов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75488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премиум $10 вход / $50 выход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46811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Kimi K2.6 ≈ GPT-5.5 на защищённом SWE-bench Pro — </a:t>
            </a:r>
            <a:r>
              <a:rPr sz="1300" b="1" i="0">
                <a:solidFill>
                  <a:srgbClr val="F0AB00"/>
                </a:solidFill>
                <a:latin typeface="Arial"/>
              </a:rPr>
              <a:t>при цене на ~80% ниже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989320"/>
            <a:ext cx="11201400" cy="621792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044183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делать: пересматривайте выбор модели регулярно — ландшафт живёт месяцами, а не годами.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39/47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Бенчмарки: контаминация, подгонка — и модели, которые жульничают сами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49961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Контаминация: заучено, 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65376"/>
            <a:ext cx="74980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SWE-bench: публичные репозитории (Verified) vs приватные базы (Pro)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разрыв и есть величина заучивания.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OpenAI в 2026 перестал публиковать Verified.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0" y="153619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87.6%</a:t>
            </a:r>
            <a:r>
              <a:rPr sz="1400" b="0" i="0">
                <a:solidFill>
                  <a:srgbClr val="6B7685"/>
                </a:solidFill>
                <a:latin typeface="Arial"/>
              </a:rPr>
              <a:t> vs </a:t>
            </a:r>
            <a:r>
              <a:rPr sz="2400" b="1" i="0">
                <a:solidFill>
                  <a:srgbClr val="21295C"/>
                </a:solidFill>
                <a:latin typeface="Arial"/>
              </a:rPr>
              <a:t>57%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24942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заявка производителя vs защищённый · средний ~25%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0720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9864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1693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Подгонка под метрику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8269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Llama 4 Maverick: на Chatbot Arena — специальная версия, Elo 1417; публичная модель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места 32–35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Ян Лекун: результаты «слегка подтасованы».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2452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1596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3425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Модели жульничают сами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70001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UK AI Security Institute: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все 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передовых моделей пытались обмануть процедуру оценки; одна модель OpenAI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вышла из песочницы и взломала производственные серверы Hugging Face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71500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76986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Бенчмарки сужают список кандидатов. Выбирает — собственный оценочный набор: 30–50 примеров из ваших реальных задач.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40/47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85800"/>
            <a:ext cx="58064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0AB00"/>
                </a:solidFill>
                <a:latin typeface="Arial"/>
              </a:rPr>
              <a:t>Раздел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5806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300" b="1" i="0">
                <a:solidFill>
                  <a:srgbClr val="21295C"/>
                </a:solidFill>
                <a:latin typeface="Arial"/>
              </a:rPr>
              <a:t>Финал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«Конвейер собран целиком: сводка механизмов и границ — и решение, когда LLM не тот инструмент»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5806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6 разборов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777240"/>
            <a:ext cx="50749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his-is-fine-meme-f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280708"/>
            <a:ext cx="4782312" cy="26780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75704" y="4425695"/>
            <a:ext cx="47823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1C7293"/>
                </a:solidFill>
                <a:latin typeface="Arial"/>
              </a:rPr>
              <a:t>«This is fine» — K.C. Green, комикс Gunshow #648, 2013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4271" y="5943600"/>
            <a:ext cx="11503152" cy="658368"/>
          </a:xfrm>
          <a:prstGeom prst="roundRect">
            <a:avLst>
              <a:gd name="adj" fmla="val 35000"/>
            </a:avLst>
          </a:prstGeom>
          <a:noFill/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41/47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Мы рассмотрели, как работает модель, — соберём картину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Новые темы не добавили стадий — они встроились в существующие.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79191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26079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79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038344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85231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85231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Внимание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397495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44383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4383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Сэмплинг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03535" y="3090672"/>
            <a:ext cx="1691640" cy="630936"/>
          </a:xfrm>
          <a:prstGeom prst="roundRect">
            <a:avLst>
              <a:gd name="adj" fmla="val 15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03535" y="3127248"/>
            <a:ext cx="169164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следующий</a:t>
            </a:r>
          </a:p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56647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0844783" y="3721607"/>
            <a:ext cx="0" cy="365761"/>
          </a:xfrm>
          <a:prstGeom prst="line">
            <a:avLst/>
          </a:prstGeom>
          <a:ln w="2286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eft Arrow 18"/>
          <p:cNvSpPr/>
          <p:nvPr/>
        </p:nvSpPr>
        <p:spPr>
          <a:xfrm>
            <a:off x="1609343" y="4032503"/>
            <a:ext cx="9235439" cy="146304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0" y="4215383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⟲ цикл — токен дописан в контекст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1417320"/>
            <a:ext cx="306324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1463040"/>
            <a:ext cx="273405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Glitch-токены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свойство словаря на стадии токенизации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609343" y="2286000"/>
            <a:ext cx="489205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480560" y="141732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1463040"/>
            <a:ext cx="378561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KV-cache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внутри внимания; prompt caching — надстройка над ним на границе запросов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327647" y="2286000"/>
            <a:ext cx="210313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949440" y="4572000"/>
            <a:ext cx="36576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1" y="4617720"/>
            <a:ext cx="332841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Structured outputs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фильтр на стадии сэмплинга</a:t>
            </a:r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8686799" y="3794759"/>
            <a:ext cx="91441" cy="77724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651760" y="4572000"/>
            <a:ext cx="393192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16352" y="4617720"/>
            <a:ext cx="360273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Reasoning-токены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тот же цикл; часть выхода помечена «черновик»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2523744" y="4069079"/>
            <a:ext cx="2093976" cy="50292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02920" y="57150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7698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Конвейер — диагностическое дерево: по симптому почти всегда угадывается стадия-виновник. Спрашивайте: «на какой стадии это происходит?»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42/47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Подведём итоги: по каждому механизму — граница и что с ней делать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078992"/>
          <a:ext cx="11201400" cy="4526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663440"/>
                <a:gridCol w="42062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065A82"/>
                          </a:solidFill>
                          <a:latin typeface="Arial"/>
                        </a:rPr>
                        <a:t>Механизм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065A82"/>
                          </a:solidFill>
                          <a:latin typeface="Arial"/>
                        </a:rPr>
                        <a:t>Граница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200" b="1">
                          <a:solidFill>
                            <a:srgbClr val="065A82"/>
                          </a:solidFill>
                          <a:latin typeface="Arial"/>
                        </a:rPr>
                        <a:t>Что делать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Токенизация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Модель видит токены, не буквы; вирусный фикс не переносится на класс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Тестируйте «cranberry своей предметки»; счёт — в инструмент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Внимание и роль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Роль — токены с весом; смещает стиль и фокус, не качество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Роль — инструмент тона/фокуса; для фактов — давайте данные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KV-cache и кэш промптов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Экономит только на повторном префиксе; токен в начале рушит всё после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Стабильное — в начало, переменное — в конец; следите за cache hit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Контекстное окно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Заявленное ≠ полезное: 11 из 13 моделей теряют половину уже на 32K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Выбирайте по бенчмаркам без лексических подсказок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Детерминизм при T=0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Ядра не batch-инвариантны: чужая нагрузка меняет ваш ответ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Тесты — не на побитовом сравнении; стройте процессы с учётом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Reasoning-токены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Тарифицируются как output, без естественного потолка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Закладывайте бюджет отдельно; effort/verbosity — явно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Структурированный вывод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Валидность по построению — но не содержательное качество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Не перегружайте схему; значения валидируете вы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Бенчмарки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Контаминация, подгонка витрин, жульничество моделей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Свой оценочный набор; лидерборды — ориентир, не гарантия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100" b="1">
                          <a:solidFill>
                            <a:srgbClr val="065A82"/>
                          </a:solidFill>
                          <a:latin typeface="Arial"/>
                        </a:rPr>
                        <a:t>Размеры моделей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«Открытые веса» ≠ «локально запускаемые»: гиганты — только облако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050" b="0">
                          <a:solidFill>
                            <a:srgbClr val="21295C"/>
                          </a:solidFill>
                          <a:latin typeface="Arial"/>
                        </a:rPr>
                        <a:t>Класс модели — по задаче и железу, не по лицензии весов</a:t>
                      </a:r>
                    </a:p>
                  </a:txBody>
                  <a:tcPr marL="64008" marR="45720" marT="9144" marB="9144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5779008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833872"/>
            <a:ext cx="108356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Знать инструмент — значит знать его границы. Каждый механизм работает — но не безгранично.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43/47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Когда не LLM — и когда не топ-LLM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Когда LLM — не тот инструмент: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27048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Классификация на фиксированных категориях с тысячами размеченных примеров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классический ML: дешевле, быстрее, воспроизводимо — а LLM ещё и недетерминирована при T=0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14016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Объяснимость перед регулятором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прозрачные классические методы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46704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92424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Отклик &lt; 100 мс (антифрод, устройства без сети)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специализированная малая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79392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325112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Точные посимвольные и арифметические операции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код, не модель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79"/>
            <a:ext cx="6949440" cy="77724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248655"/>
            <a:ext cx="658368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Иначе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обработка языка, гибкие форматы, многошаговое рассуждение, генерация →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LLM применима и часто оптимальна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051560"/>
            <a:ext cx="4023360" cy="507492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188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…и не всегда топ-LLM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2057400"/>
            <a:ext cx="2057400" cy="731520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8048" y="21031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10% сложных →
премиум $10/млн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926080"/>
            <a:ext cx="3566160" cy="82296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9718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90% запросов →
модель за $0.20/млн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16052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Миллиард токенов/мес: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400" b="1" i="0">
                <a:solidFill>
                  <a:srgbClr val="21295C"/>
                </a:solidFill>
                <a:latin typeface="Arial"/>
              </a:rPr>
              <a:t>$10 000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целиком на премиуме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6B7685"/>
                </a:solidFill>
                <a:latin typeface="Arial"/>
              </a:rPr>
              <a:t>vs  </a:t>
            </a:r>
            <a:r>
              <a:rPr sz="1600" b="1" i="0">
                <a:solidFill>
                  <a:srgbClr val="F0AB00"/>
                </a:solidFill>
                <a:latin typeface="Arial"/>
              </a:rPr>
              <a:t>$1 180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с маршрутизацией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44/47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Внимание усваивает корреляцию, не причинность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065A82"/>
                </a:solidFill>
                <a:latin typeface="Arial"/>
              </a:rPr>
              <a:t>Человек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произошло, потому что Y»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модель механизмов мира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ассоциация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вмешательство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контрфактуальность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Модель (через внимание)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следует за Y в текстах»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«потому что» для модели — частотный паттерн, не указание на механизм мира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ассоциация — сильна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~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вмешательство — только похожие на описанные в корпусе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6B7685"/>
                </a:solidFill>
                <a:latin typeface="Arial"/>
              </a:rPr>
              <a:t>×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контрфактуальность — систематически нет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4690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Там, где от модели ждут каузальных выводов, человек в контуре — архитектурное требование, а не вежливая оговорка.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45/47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Лекция 3: </a:t>
            </a:r>
            <a:r>
              <a:rPr sz="2400" b="1" i="0">
                <a:solidFill>
                  <a:srgbClr val="21295C"/>
                </a:solidFill>
                <a:latin typeface="Arial"/>
              </a:rPr>
              <a:t>как модель выходит за пределы контекста</a:t>
            </a:r>
          </a:p>
        </p:txBody>
      </p:sp>
      <p:pic>
        <p:nvPicPr>
          <p:cNvPr id="3" name="Picture 2" descr="s41-bridge-lec3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2567" y="822960"/>
            <a:ext cx="6766560" cy="267388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95147" y="3624858"/>
            <a:ext cx="5257800" cy="1481328"/>
          </a:xfrm>
          <a:prstGeom prst="roundRect">
            <a:avLst>
              <a:gd name="adj" fmla="val 205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41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" y="3752874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2075" y="3725442"/>
            <a:ext cx="4544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6315" y="4082058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Семантический поиск по вашей базе → найденные фрагменты в контекст.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6315" y="459412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28090"/>
                </a:solidFill>
                <a:latin typeface="Arial"/>
              </a:rPr>
              <a:t>Якорь: сходство ≠ релевантность.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38747" y="3624858"/>
            <a:ext cx="5257800" cy="1481328"/>
          </a:xfrm>
          <a:prstGeom prst="roundRect">
            <a:avLst>
              <a:gd name="adj" fmla="val 205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41-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339" y="3752874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05675" y="3725442"/>
            <a:ext cx="4544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Инструменты / вызов функций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9915" y="4082058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Модель генерирует структурированный вызов → внешняя система исполняет.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9915" y="4594122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28090"/>
                </a:solidFill>
                <a:latin typeface="Arial"/>
              </a:rPr>
              <a:t>Якорь: надёжность формата даёт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147" y="5234202"/>
            <a:ext cx="5257800" cy="1481328"/>
          </a:xfrm>
          <a:prstGeom prst="roundRect">
            <a:avLst>
              <a:gd name="adj" fmla="val 205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41-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39" y="536221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2075" y="5334786"/>
            <a:ext cx="4544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315" y="5691402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Открытый протокол подключения инструментов.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315" y="6203466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F0AB00"/>
                </a:solidFill>
                <a:latin typeface="Arial"/>
              </a:rPr>
              <a:t>Якорь: стабильный префикс → кэш промптов, экономика агента.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38747" y="5234202"/>
            <a:ext cx="5257800" cy="1481328"/>
          </a:xfrm>
          <a:prstGeom prst="roundRect">
            <a:avLst>
              <a:gd name="adj" fmla="val 205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41-refresh-c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3339" y="5362218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05675" y="5334786"/>
            <a:ext cx="45445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Агентный цикл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39915" y="5691402"/>
            <a:ext cx="4855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Действие → наблюдение → коррекция.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9915" y="6203466"/>
            <a:ext cx="48554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028090"/>
                </a:solidFill>
                <a:latin typeface="Arial"/>
              </a:rPr>
              <a:t>Якорь: агент читает внешний контент → prompt injection.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46/47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55448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0" b="1" i="0">
                <a:solidFill>
                  <a:srgbClr val="21295C"/>
                </a:solidFill>
                <a:latin typeface="Arial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114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