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вы отправляете запрос в ChatGPT, Claude или любую другую большую языковую модель, модель не видит ваш текст так, как видите его вы. Прежде чем что-либо обработать, она разрезает входной текст на единицы, которые называются **токенами**. Токен — это идентификатор, целое число из словаря модели; этот словарь был зафиксирован на этапе обучения и не меняется в момент использования.</a:t>
            </a:r>
          </a:p>
          <a:p/>
          <a:p>
            <a:r>
              <a:t>На экране — четыре примера, выполненных в популярном сервисе Tiktokenizer. Короткое английское слово `cat` укладывается в один токен — оно достаточно часто встречалось в обучающем корпусе, чтобы попасть в словарь целиком. Слово `tokenization` распадается уже на два токена: `[token]` и `[ization]`. Слово `strawberry`, на котором мы построим следующий пример в лекции, разрезается на три токена: `[st]`, `[raw]`, `[berry]` — модель видит три единицы, а не десять букв. Русское слово `клубника` тоже разрезается на три токена — `[к]`, `[луб]`, `[ника]` — но обратите внимание, что для аналогичного по смыслу английского текста токенов в среднем меньше.</a:t>
            </a:r>
          </a:p>
          <a:p/>
          <a:p>
            <a:r>
              <a:t>Этот наблюдаемый перекос — следствие того, что обучающий корпус современных LLM содержит больше английского, чем других языков. Простой инженерный ориентир: в среднем один токен соответствует примерно четырём символам английского текста или двум символам русского. Когда мы говорим про стоимость API, длину контекстного окна или скорость генерации, мы всегда говорим в токенах, а не в словах. Сегодняшняя лекция целиком про то, как из этих токенов и через какие внутренние механизмы получается ответ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того, что эмбеддинги дают численную меру семантической близости, естественно вырастают три практических применения. Это рамка, на которую опирается весь Раздел 3 курса — Лекция 3 про RAG, Семинар 3, Лекция 4 и далее.</a:t>
            </a:r>
          </a:p>
          <a:p/>
          <a:p>
            <a:r>
              <a:t>Первое применение — **similarity**, поиск похожих. У вас есть документ и хранилище из тысяч похожих документов; нужно найти, на какие из них новый документ наиболее похож. Для каждого документа из хранилища предвычислены эмбеддинги; для нового документа эмбеддинг считается на лету; парные cosine similarity ранжируют хранилище по убыванию. Это базовый механизм поиска похожих тикетов в системе поддержки, похожих кейсов в юридической базе, похожих резюме в HR-системе.</a:t>
            </a:r>
          </a:p>
          <a:p/>
          <a:p>
            <a:r>
              <a:t>Второе применение — **clustering**, кластеризация. У вас есть набор документов без явной разметки, и нужно автоматически разбить их на группы. Каждый документ переведён в эмбеддинг; алгоритм кластеризации — например, k-means, итеративный алгоритм, разбивающий точки на заданное число групп так, чтобы точки внутри группы были близки — находит группы в эмбеддинг-пространстве. На выходе получаются кластеры документов, объединённых по смыслу. Это используется для анализа жалоб клиентов («какие типы проблем встречаются»), для тематической группировки больших корпусов, для exploratory analysis новых данных.</a:t>
            </a:r>
          </a:p>
          <a:p/>
          <a:p>
            <a:r>
              <a:t>Третье применение — **search**, семантический поиск. Это расширение similarity на сценарий «вопрос → база ответов». Пользователь задаёт вопрос в свободной форме; вопрос переводится в эмбеддинг; ищем близкие эмбеддинги в проиндексированной базе документов; возвращаем top-K. Это основа RAG (Retrieval-Augmented Generation), который мы разбираем в Лекции 3. На уровне эмбеддингов RAG — это просто семантический поиск с последующей передачей найденного как контекст в LLM.</a:t>
            </a:r>
          </a:p>
          <a:p/>
          <a:p>
            <a:r>
              <a:t>Эти три применения часто комбинируются: корпоративная база знаний может одновременно использовать similarity для рекомендаций, clustering для автоматических разделов и search для интерактивного поиска. Под капотом — одни и те же эмбеддинги. Это объясняет, почему эмбеддинг-модель — это инфраструктурный выбор, а не «одна из фич»: один выбор обслуживает сразу несколько продуктовых функций.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именно даёт семантический поиск по сравнению с традиционным, возьмём конкретный запрос: пользователь ищет в корпоративном wiki слово «клубника».</a:t>
            </a:r>
          </a:p>
          <a:p/>
          <a:p>
            <a:r>
              <a:t>Полнотекстовый поиск — классический подход, реализованный в Elasticsearch, Lucene, в обратных индексах — находит документы, в которых дословно встречается строка `клубника`. С учётом **стемминга** (приведения слова к его основе при индексации: `клубники`, `клубнику`, `клубнике` все сводятся к корню `клубник-`) — также её морфологические формы. Если в документе написано `strawberry`, или `ягода`, или `лесная земляника`, полнотекстовый поиск не вернёт его как релевантный — если только нет специальной таблицы синонимов, которую кто-то вручную поддерживает.</a:t>
            </a:r>
          </a:p>
          <a:p/>
          <a:p>
            <a:r>
              <a:t>Семантический поиск — эмбеддинги плюс поиск ближайших соседей — считает эмбеддинг запроса `клубника` и сравнивает его с предвычисленными эмбеддингами документов. На выходе он находит, в первую очередь, документы с буквальным совпадением (они окажутся очень близкими), но дополнительно возвращает документы про `strawberry` (английский эквивалент, цепляется через cross-lingual embeddings), про `ягоду` (родовое понятие), про `лесную землянику` (близкий по смыслу плод). Без таблицы синонимов, без ручной разметки — это получается «бесплатно» из того, что эмбеддинг захватывает смысл.</a:t>
            </a:r>
          </a:p>
          <a:p/>
          <a:p>
            <a:r>
              <a:t>Семантический поиск не заменяет полнотекстовый; он его дополняет. На практике в production-системах часто используют гибридный подход: полнотекстовый индекс для точных совпадений — имена, артикулы, технические термины, которые должны находиться буквально — плюс семантический индекс для понятийной близости. Финальный ранжированный список — комбинация результатов двух способов поиска с весами, подобранными под задачу.</a:t>
            </a:r>
          </a:p>
          <a:p/>
          <a:p>
            <a:r>
              <a:t>Этот раздел — преддверие Лекции 3, в которой мы подробно разберём, как из семантического поиска и LLM собрать систему, отвечающую на вопросы по вашей корпоративной базе знаний. Здесь важно зафиксировать: базовый слой RAG — эмбеддинги, и они принадлежат именно этому, второму этапу inference конвейера.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Модель видит ваш запрос не буквами — а токенами</a:t>
            </a:r>
          </a:p>
        </p:txBody>
      </p:sp>
      <p:sp>
        <p:nvSpPr>
          <p:cNvPr id="3" name="TextBox 2"/>
          <p:cNvSpPr txBox="1"/>
          <p:nvPr/>
        </p:nvSpPr>
        <p:spPr>
          <a:xfrm>
            <a:off x="502920" y="1417320"/>
            <a:ext cx="11247120" cy="411480"/>
          </a:xfrm>
          <a:prstGeom prst="rect">
            <a:avLst/>
          </a:prstGeom>
          <a:noFill/>
        </p:spPr>
        <p:txBody>
          <a:bodyPr wrap="square" lIns="0" rIns="0" tIns="0" bIns="0" anchor="t">
            <a:spAutoFit/>
          </a:bodyPr>
          <a:lstStyle/>
          <a:p>
            <a:pPr algn="l">
              <a:lnSpc>
                <a:spcPct val="120000"/>
              </a:lnSpc>
            </a:pPr>
            <a:r>
              <a:rPr sz="1600" b="0" i="1">
                <a:solidFill>
                  <a:srgbClr val="065A82"/>
                </a:solidFill>
                <a:latin typeface="Arial"/>
              </a:rPr>
              <a:t>Live tokenizer — 4 коротких примера разметки</a:t>
            </a:r>
          </a:p>
        </p:txBody>
      </p:sp>
      <p:sp>
        <p:nvSpPr>
          <p:cNvPr id="4" name="Rounded Rectangle 3"/>
          <p:cNvSpPr/>
          <p:nvPr/>
        </p:nvSpPr>
        <p:spPr>
          <a:xfrm>
            <a:off x="502920" y="1920240"/>
            <a:ext cx="1124712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tiktokenizer-mock.png"/>
          <p:cNvPicPr>
            <a:picLocks noChangeAspect="1"/>
          </p:cNvPicPr>
          <p:nvPr/>
        </p:nvPicPr>
        <p:blipFill>
          <a:blip r:embed="rId2"/>
          <a:stretch>
            <a:fillRect/>
          </a:stretch>
        </p:blipFill>
        <p:spPr>
          <a:xfrm>
            <a:off x="685800" y="2057400"/>
            <a:ext cx="10881360" cy="3794760"/>
          </a:xfrm>
          <a:prstGeom prst="rect">
            <a:avLst/>
          </a:prstGeom>
        </p:spPr>
      </p:pic>
      <p:sp>
        <p:nvSpPr>
          <p:cNvPr id="6" name="TextBox 5"/>
          <p:cNvSpPr txBox="1"/>
          <p:nvPr/>
        </p:nvSpPr>
        <p:spPr>
          <a:xfrm>
            <a:off x="502920" y="6126480"/>
            <a:ext cx="11247120" cy="411480"/>
          </a:xfrm>
          <a:prstGeom prst="rect">
            <a:avLst/>
          </a:prstGeom>
          <a:noFill/>
        </p:spPr>
        <p:txBody>
          <a:bodyPr wrap="square" lIns="0" rIns="0" tIns="0" bIns="0" anchor="t">
            <a:spAutoFit/>
          </a:bodyPr>
          <a:lstStyle/>
          <a:p>
            <a:pPr algn="l">
              <a:lnSpc>
                <a:spcPct val="125000"/>
              </a:lnSpc>
            </a:pPr>
            <a:r>
              <a:rPr sz="1200" b="0" i="1">
                <a:solidFill>
                  <a:srgbClr val="1C7293"/>
                </a:solidFill>
                <a:latin typeface="Arial"/>
              </a:rPr>
              <a:t>Источник: tiktokenizer.vercel.app (o200k_base, GPT-4o). Live demo доступен, статическая версия — fallback.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8229600" cy="2377440"/>
          </a:xfrm>
          <a:prstGeom prst="rect">
            <a:avLst/>
          </a:prstGeom>
          <a:noFill/>
        </p:spPr>
        <p:txBody>
          <a:bodyPr wrap="square" lIns="0" rIns="0" tIns="0" bIns="0" anchor="t">
            <a:spAutoFit/>
          </a:bodyPr>
          <a:lstStyle/>
          <a:p>
            <a:pPr algn="l">
              <a:lnSpc>
                <a:spcPct val="108000"/>
              </a:lnSpc>
            </a:pPr>
            <a:r>
              <a:rPr sz="52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Rounded Rectangle 18"/>
          <p:cNvSpPr/>
          <p:nvPr/>
        </p:nvSpPr>
        <p:spPr>
          <a:xfrm>
            <a:off x="502920" y="626364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3679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0  Открытие</a:t>
            </a:r>
          </a:p>
        </p:txBody>
      </p:sp>
      <p:sp>
        <p:nvSpPr>
          <p:cNvPr id="21" name="Rounded Rectangle 20"/>
          <p:cNvSpPr/>
          <p:nvPr/>
        </p:nvSpPr>
        <p:spPr>
          <a:xfrm>
            <a:off x="2389632"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89632"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23" name="Rounded Rectangle 22"/>
          <p:cNvSpPr/>
          <p:nvPr/>
        </p:nvSpPr>
        <p:spPr>
          <a:xfrm>
            <a:off x="4276344"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6344"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25" name="Rounded Rectangle 24"/>
          <p:cNvSpPr/>
          <p:nvPr/>
        </p:nvSpPr>
        <p:spPr>
          <a:xfrm>
            <a:off x="6163056"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6"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27" name="Rounded Rectangle 26"/>
          <p:cNvSpPr/>
          <p:nvPr/>
        </p:nvSpPr>
        <p:spPr>
          <a:xfrm>
            <a:off x="8049768"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9768"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29" name="Rounded Rectangle 28"/>
          <p:cNvSpPr/>
          <p:nvPr/>
        </p:nvSpPr>
        <p:spPr>
          <a:xfrm>
            <a:off x="9936480"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36480"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внутренних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594360" cy="5943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594360" cy="54864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1</a:t>
            </a:r>
          </a:p>
        </p:txBody>
      </p:sp>
      <p:sp>
        <p:nvSpPr>
          <p:cNvPr id="10" name="TextBox 9"/>
          <p:cNvSpPr txBox="1"/>
          <p:nvPr/>
        </p:nvSpPr>
        <p:spPr>
          <a:xfrm>
            <a:off x="1554480" y="3886200"/>
            <a:ext cx="2377440" cy="1371600"/>
          </a:xfrm>
          <a:prstGeom prst="rect">
            <a:avLst/>
          </a:prstGeom>
          <a:noFill/>
        </p:spPr>
        <p:txBody>
          <a:bodyPr wrap="square" lIns="0" rIns="0" tIns="0" bIns="0" anchor="t">
            <a:spAutoFit/>
          </a:bodyPr>
          <a:lstStyle/>
          <a:p>
            <a:pPr algn="l">
              <a:lnSpc>
                <a:spcPct val="125000"/>
              </a:lnSpc>
            </a:pPr>
            <a:r>
              <a:rPr sz="1700" b="1" i="0">
                <a:solidFill>
                  <a:srgbClr val="21295C"/>
                </a:solidFill>
                <a:latin typeface="Arial"/>
              </a:rPr>
              <a:t>Почему промпт с ролью
работает лучше пустого?</a:t>
            </a:r>
          </a:p>
        </p:txBody>
      </p:sp>
      <p:sp>
        <p:nvSpPr>
          <p:cNvPr id="11" name="TextBox 10"/>
          <p:cNvSpPr txBox="1"/>
          <p:nvPr/>
        </p:nvSpPr>
        <p:spPr>
          <a:xfrm>
            <a:off x="777240" y="5532120"/>
            <a:ext cx="306324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594360" cy="5943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594360" cy="54864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2</a:t>
            </a:r>
          </a:p>
        </p:txBody>
      </p:sp>
      <p:sp>
        <p:nvSpPr>
          <p:cNvPr id="15" name="TextBox 14"/>
          <p:cNvSpPr txBox="1"/>
          <p:nvPr/>
        </p:nvSpPr>
        <p:spPr>
          <a:xfrm>
            <a:off x="5349240" y="3886200"/>
            <a:ext cx="2377440" cy="1371600"/>
          </a:xfrm>
          <a:prstGeom prst="rect">
            <a:avLst/>
          </a:prstGeom>
          <a:noFill/>
        </p:spPr>
        <p:txBody>
          <a:bodyPr wrap="square" lIns="0" rIns="0" tIns="0" bIns="0" anchor="t">
            <a:spAutoFit/>
          </a:bodyPr>
          <a:lstStyle/>
          <a:p>
            <a:pPr algn="l">
              <a:lnSpc>
                <a:spcPct val="125000"/>
              </a:lnSpc>
            </a:pPr>
            <a:r>
              <a:rPr sz="1700" b="1" i="0">
                <a:solidFill>
                  <a:srgbClr val="21295C"/>
                </a:solidFill>
                <a:latin typeface="Arial"/>
              </a:rPr>
              <a:t>Почему AI плохо
считает буквы?</a:t>
            </a:r>
          </a:p>
        </p:txBody>
      </p:sp>
      <p:sp>
        <p:nvSpPr>
          <p:cNvPr id="16" name="TextBox 15"/>
          <p:cNvSpPr txBox="1"/>
          <p:nvPr/>
        </p:nvSpPr>
        <p:spPr>
          <a:xfrm>
            <a:off x="4572000" y="5532120"/>
            <a:ext cx="306324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594360" cy="5943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594360" cy="54864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3</a:t>
            </a:r>
          </a:p>
        </p:txBody>
      </p:sp>
      <p:sp>
        <p:nvSpPr>
          <p:cNvPr id="20" name="TextBox 19"/>
          <p:cNvSpPr txBox="1"/>
          <p:nvPr/>
        </p:nvSpPr>
        <p:spPr>
          <a:xfrm>
            <a:off x="9144000" y="3886200"/>
            <a:ext cx="2377440" cy="1371600"/>
          </a:xfrm>
          <a:prstGeom prst="rect">
            <a:avLst/>
          </a:prstGeom>
          <a:noFill/>
        </p:spPr>
        <p:txBody>
          <a:bodyPr wrap="square" lIns="0" rIns="0" tIns="0" bIns="0" anchor="t">
            <a:spAutoFit/>
          </a:bodyPr>
          <a:lstStyle/>
          <a:p>
            <a:pPr algn="l">
              <a:lnSpc>
                <a:spcPct val="125000"/>
              </a:lnSpc>
            </a:pPr>
            <a:r>
              <a:rPr sz="1700" b="1" i="0">
                <a:solidFill>
                  <a:srgbClr val="21295C"/>
                </a:solidFill>
                <a:latin typeface="Arial"/>
              </a:rPr>
              <a:t>Почему один запрос
даёт разные ответы?</a:t>
            </a:r>
          </a:p>
        </p:txBody>
      </p:sp>
      <p:sp>
        <p:nvSpPr>
          <p:cNvPr id="21" name="TextBox 20"/>
          <p:cNvSpPr txBox="1"/>
          <p:nvPr/>
        </p:nvSpPr>
        <p:spPr>
          <a:xfrm>
            <a:off x="8366760" y="5532120"/>
            <a:ext cx="306324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Rounded Rectangle 26"/>
          <p:cNvSpPr/>
          <p:nvPr/>
        </p:nvSpPr>
        <p:spPr>
          <a:xfrm>
            <a:off x="502920" y="5806440"/>
            <a:ext cx="11247120" cy="68580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879592"/>
            <a:ext cx="10917936" cy="5394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Подумайте 15 сек: «сильнее» — 1, 2 или 3 токена? (Проверить через tiktokenizer)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Словарь строится один раз перед обучением; в inference — lookup</a:t>
            </a:r>
          </a:p>
        </p:txBody>
      </p:sp>
      <p:sp>
        <p:nvSpPr>
          <p:cNvPr id="4" name="Rounded Rectangle 3"/>
          <p:cNvSpPr/>
          <p:nvPr/>
        </p:nvSpPr>
        <p:spPr>
          <a:xfrm>
            <a:off x="914400" y="1965960"/>
            <a:ext cx="5029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488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6" name="Rounded Rectangle 5"/>
          <p:cNvSpPr/>
          <p:nvPr/>
        </p:nvSpPr>
        <p:spPr>
          <a:xfrm>
            <a:off x="1325880" y="30632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00200" y="28346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8" name="Rounded Rectangle 7"/>
          <p:cNvSpPr/>
          <p:nvPr/>
        </p:nvSpPr>
        <p:spPr>
          <a:xfrm>
            <a:off x="1325880" y="365759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34289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0" name="Rounded Rectangle 9"/>
          <p:cNvSpPr/>
          <p:nvPr/>
        </p:nvSpPr>
        <p:spPr>
          <a:xfrm>
            <a:off x="1325880" y="42519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0233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2" name="Rounded Rectangle 11"/>
          <p:cNvSpPr/>
          <p:nvPr/>
        </p:nvSpPr>
        <p:spPr>
          <a:xfrm>
            <a:off x="1325880" y="48463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46177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4" name="Right Arrow 13"/>
          <p:cNvSpPr/>
          <p:nvPr/>
        </p:nvSpPr>
        <p:spPr>
          <a:xfrm>
            <a:off x="5989320" y="35433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965960"/>
            <a:ext cx="5029200" cy="3703320"/>
          </a:xfrm>
          <a:prstGeom prst="roundRect">
            <a:avLst>
              <a:gd name="adj" fmla="val 823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488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7" name="Rounded Rectangle 16"/>
          <p:cNvSpPr/>
          <p:nvPr/>
        </p:nvSpPr>
        <p:spPr>
          <a:xfrm>
            <a:off x="6629400" y="30358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8346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19" name="Rounded Rectangle 18"/>
          <p:cNvSpPr/>
          <p:nvPr/>
        </p:nvSpPr>
        <p:spPr>
          <a:xfrm>
            <a:off x="6629400" y="35844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33832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1" name="Rounded Rectangle 20"/>
          <p:cNvSpPr/>
          <p:nvPr/>
        </p:nvSpPr>
        <p:spPr>
          <a:xfrm>
            <a:off x="6629400" y="413308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39319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3" name="Rounded Rectangle 22"/>
          <p:cNvSpPr/>
          <p:nvPr/>
        </p:nvSpPr>
        <p:spPr>
          <a:xfrm>
            <a:off x="6629400" y="46817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4805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5" name="Rounded Rectangle 24"/>
          <p:cNvSpPr/>
          <p:nvPr/>
        </p:nvSpPr>
        <p:spPr>
          <a:xfrm>
            <a:off x="6629400" y="52303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50292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7" name="Rounded Rectangle 26"/>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29" name="TextBox 28"/>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7" name="TextBox 6"/>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10" name="TextBox 9"/>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13" name="TextBox 12"/>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017520"/>
          </a:xfrm>
          <a:prstGeom prst="rect">
            <a:avLst/>
          </a:prstGeom>
        </p:spPr>
      </p:pic>
      <p:sp>
        <p:nvSpPr>
          <p:cNvPr id="5" name="Rounded Rectangle 4"/>
          <p:cNvSpPr/>
          <p:nvPr/>
        </p:nvSpPr>
        <p:spPr>
          <a:xfrm>
            <a:off x="502920" y="498348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74920"/>
            <a:ext cx="51206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Размерности (ориентир)</a:t>
            </a:r>
          </a:p>
        </p:txBody>
      </p:sp>
      <p:sp>
        <p:nvSpPr>
          <p:cNvPr id="7" name="TextBox 6"/>
          <p:cNvSpPr txBox="1"/>
          <p:nvPr/>
        </p:nvSpPr>
        <p:spPr>
          <a:xfrm>
            <a:off x="777240" y="5440680"/>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text-embedding-3-small</a:t>
            </a:r>
          </a:p>
        </p:txBody>
      </p:sp>
      <p:sp>
        <p:nvSpPr>
          <p:cNvPr id="8" name="TextBox 7"/>
          <p:cNvSpPr txBox="1"/>
          <p:nvPr/>
        </p:nvSpPr>
        <p:spPr>
          <a:xfrm>
            <a:off x="4178807" y="5440680"/>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1536 dim</a:t>
            </a:r>
          </a:p>
        </p:txBody>
      </p:sp>
      <p:sp>
        <p:nvSpPr>
          <p:cNvPr id="9" name="TextBox 8"/>
          <p:cNvSpPr txBox="1"/>
          <p:nvPr/>
        </p:nvSpPr>
        <p:spPr>
          <a:xfrm>
            <a:off x="777240" y="5733288"/>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text-embedding-3-large</a:t>
            </a:r>
          </a:p>
        </p:txBody>
      </p:sp>
      <p:sp>
        <p:nvSpPr>
          <p:cNvPr id="10" name="TextBox 9"/>
          <p:cNvSpPr txBox="1"/>
          <p:nvPr/>
        </p:nvSpPr>
        <p:spPr>
          <a:xfrm>
            <a:off x="4178807" y="5733288"/>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3072 dim</a:t>
            </a:r>
          </a:p>
        </p:txBody>
      </p:sp>
      <p:sp>
        <p:nvSpPr>
          <p:cNvPr id="11" name="TextBox 10"/>
          <p:cNvSpPr txBox="1"/>
          <p:nvPr/>
        </p:nvSpPr>
        <p:spPr>
          <a:xfrm>
            <a:off x="777240" y="6025896"/>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Внутренний эмбеддинг flagship LLM</a:t>
            </a:r>
          </a:p>
        </p:txBody>
      </p:sp>
      <p:sp>
        <p:nvSpPr>
          <p:cNvPr id="12" name="TextBox 11"/>
          <p:cNvSpPr txBox="1"/>
          <p:nvPr/>
        </p:nvSpPr>
        <p:spPr>
          <a:xfrm>
            <a:off x="4178807" y="6025896"/>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тысячи dim</a:t>
            </a:r>
          </a:p>
        </p:txBody>
      </p:sp>
      <p:sp>
        <p:nvSpPr>
          <p:cNvPr id="13" name="Rounded Rectangle 12"/>
          <p:cNvSpPr/>
          <p:nvPr/>
        </p:nvSpPr>
        <p:spPr>
          <a:xfrm>
            <a:off x="6400800" y="498348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056632"/>
            <a:ext cx="5120640" cy="12710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1554480" y="1874519"/>
            <a:ext cx="9144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1828800" y="2011680"/>
            <a:ext cx="8595360" cy="3931920"/>
          </a:xfrm>
          <a:prstGeom prst="rect">
            <a:avLst/>
          </a:prstGeom>
        </p:spPr>
      </p:pic>
      <p:sp>
        <p:nvSpPr>
          <p:cNvPr id="6" name="TextBox 5"/>
          <p:cNvSpPr txBox="1"/>
          <p:nvPr/>
        </p:nvSpPr>
        <p:spPr>
          <a:xfrm>
            <a:off x="502920" y="6172200"/>
            <a:ext cx="11247120" cy="365760"/>
          </a:xfrm>
          <a:prstGeom prst="rect">
            <a:avLst/>
          </a:prstGeom>
          <a:noFill/>
        </p:spPr>
        <p:txBody>
          <a:bodyPr wrap="square" lIns="0" rIns="0" tIns="0" bIns="0" anchor="t">
            <a:spAutoFit/>
          </a:bodyPr>
          <a:lstStyle/>
          <a:p>
            <a:pPr algn="ctr">
              <a:lnSpc>
                <a:spcPct val="115000"/>
              </a:lnSpc>
            </a:pPr>
            <a:r>
              <a:rPr sz="1300" b="0" i="1">
                <a:solidFill>
                  <a:srgbClr val="21295C"/>
                </a:solidFill>
                <a:latin typeface="Arial"/>
              </a:rPr>
              <a:t>Cosine similarity — мера угла между векторами; диапазон [−1, 1], ближе к 1 — более похожи.</a:t>
            </a:r>
          </a:p>
        </p:txBody>
      </p:sp>
      <p:sp>
        <p:nvSpPr>
          <p:cNvPr id="7" name="TextBox 6"/>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дают similarity, clustering и search — основу RAG</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Три практических применения, надстраиваемых над одной embedding-таблицей</a:t>
            </a:r>
          </a:p>
        </p:txBody>
      </p:sp>
      <p:sp>
        <p:nvSpPr>
          <p:cNvPr id="4" name="Rounded Rectangle 3"/>
          <p:cNvSpPr/>
          <p:nvPr/>
        </p:nvSpPr>
        <p:spPr>
          <a:xfrm>
            <a:off x="50292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gnet.png"/>
          <p:cNvPicPr>
            <a:picLocks noChangeAspect="1"/>
          </p:cNvPicPr>
          <p:nvPr/>
        </p:nvPicPr>
        <p:blipFill>
          <a:blip r:embed="rId2"/>
          <a:stretch>
            <a:fillRect/>
          </a:stretch>
        </p:blipFill>
        <p:spPr>
          <a:xfrm>
            <a:off x="1851660" y="2331720"/>
            <a:ext cx="914400" cy="914400"/>
          </a:xfrm>
          <a:prstGeom prst="rect">
            <a:avLst/>
          </a:prstGeom>
        </p:spPr>
      </p:pic>
      <p:sp>
        <p:nvSpPr>
          <p:cNvPr id="6" name="TextBox 5"/>
          <p:cNvSpPr txBox="1"/>
          <p:nvPr/>
        </p:nvSpPr>
        <p:spPr>
          <a:xfrm>
            <a:off x="68580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Similarity</a:t>
            </a:r>
          </a:p>
        </p:txBody>
      </p:sp>
      <p:sp>
        <p:nvSpPr>
          <p:cNvPr id="7" name="TextBox 6"/>
          <p:cNvSpPr txBox="1"/>
          <p:nvPr/>
        </p:nvSpPr>
        <p:spPr>
          <a:xfrm>
            <a:off x="68580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Поиск похожих</a:t>
            </a:r>
          </a:p>
        </p:txBody>
      </p:sp>
      <p:sp>
        <p:nvSpPr>
          <p:cNvPr id="8" name="TextBox 7"/>
          <p:cNvSpPr txBox="1"/>
          <p:nvPr/>
        </p:nvSpPr>
        <p:spPr>
          <a:xfrm>
            <a:off x="73152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Похожие тикеты в support,
кейсы в юр-базе,
резюме в HR-системе.</a:t>
            </a:r>
          </a:p>
        </p:txBody>
      </p:sp>
      <p:sp>
        <p:nvSpPr>
          <p:cNvPr id="9" name="Rounded Rectangle 8"/>
          <p:cNvSpPr/>
          <p:nvPr/>
        </p:nvSpPr>
        <p:spPr>
          <a:xfrm>
            <a:off x="429768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x.png"/>
          <p:cNvPicPr>
            <a:picLocks noChangeAspect="1"/>
          </p:cNvPicPr>
          <p:nvPr/>
        </p:nvPicPr>
        <p:blipFill>
          <a:blip r:embed="rId3"/>
          <a:stretch>
            <a:fillRect/>
          </a:stretch>
        </p:blipFill>
        <p:spPr>
          <a:xfrm>
            <a:off x="5646420" y="2331720"/>
            <a:ext cx="914400" cy="914400"/>
          </a:xfrm>
          <a:prstGeom prst="rect">
            <a:avLst/>
          </a:prstGeom>
        </p:spPr>
      </p:pic>
      <p:sp>
        <p:nvSpPr>
          <p:cNvPr id="11" name="TextBox 10"/>
          <p:cNvSpPr txBox="1"/>
          <p:nvPr/>
        </p:nvSpPr>
        <p:spPr>
          <a:xfrm>
            <a:off x="448056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Clustering</a:t>
            </a:r>
          </a:p>
        </p:txBody>
      </p:sp>
      <p:sp>
        <p:nvSpPr>
          <p:cNvPr id="12" name="TextBox 11"/>
          <p:cNvSpPr txBox="1"/>
          <p:nvPr/>
        </p:nvSpPr>
        <p:spPr>
          <a:xfrm>
            <a:off x="448056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Кластеризация</a:t>
            </a:r>
          </a:p>
        </p:txBody>
      </p:sp>
      <p:sp>
        <p:nvSpPr>
          <p:cNvPr id="13" name="TextBox 12"/>
          <p:cNvSpPr txBox="1"/>
          <p:nvPr/>
        </p:nvSpPr>
        <p:spPr>
          <a:xfrm>
            <a:off x="452628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k-means — анализ
жалоб клиентов,
тематика корпусов.</a:t>
            </a:r>
          </a:p>
        </p:txBody>
      </p:sp>
      <p:sp>
        <p:nvSpPr>
          <p:cNvPr id="14" name="Rounded Rectangle 13"/>
          <p:cNvSpPr/>
          <p:nvPr/>
        </p:nvSpPr>
        <p:spPr>
          <a:xfrm>
            <a:off x="8092440" y="2011680"/>
            <a:ext cx="3611880" cy="4114800"/>
          </a:xfrm>
          <a:prstGeom prst="roundRect">
            <a:avLst>
              <a:gd name="adj" fmla="val 8438"/>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arch-check.png"/>
          <p:cNvPicPr>
            <a:picLocks noChangeAspect="1"/>
          </p:cNvPicPr>
          <p:nvPr/>
        </p:nvPicPr>
        <p:blipFill>
          <a:blip r:embed="rId4"/>
          <a:stretch>
            <a:fillRect/>
          </a:stretch>
        </p:blipFill>
        <p:spPr>
          <a:xfrm>
            <a:off x="9441180" y="2331720"/>
            <a:ext cx="914400" cy="914400"/>
          </a:xfrm>
          <a:prstGeom prst="rect">
            <a:avLst/>
          </a:prstGeom>
        </p:spPr>
      </p:pic>
      <p:sp>
        <p:nvSpPr>
          <p:cNvPr id="16" name="TextBox 15"/>
          <p:cNvSpPr txBox="1"/>
          <p:nvPr/>
        </p:nvSpPr>
        <p:spPr>
          <a:xfrm>
            <a:off x="827532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Search</a:t>
            </a:r>
          </a:p>
        </p:txBody>
      </p:sp>
      <p:sp>
        <p:nvSpPr>
          <p:cNvPr id="17" name="TextBox 16"/>
          <p:cNvSpPr txBox="1"/>
          <p:nvPr/>
        </p:nvSpPr>
        <p:spPr>
          <a:xfrm>
            <a:off x="827532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Семантический поиск</a:t>
            </a:r>
          </a:p>
        </p:txBody>
      </p:sp>
      <p:sp>
        <p:nvSpPr>
          <p:cNvPr id="18" name="TextBox 17"/>
          <p:cNvSpPr txBox="1"/>
          <p:nvPr/>
        </p:nvSpPr>
        <p:spPr>
          <a:xfrm>
            <a:off x="8321040" y="4434840"/>
            <a:ext cx="3154680" cy="155448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Запрос → top-K
похожих документов.
→ Основа RAG (Лекция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Semantic search находит то, что full-text пропустит</a:t>
            </a:r>
          </a:p>
        </p:txBody>
      </p:sp>
      <p:sp>
        <p:nvSpPr>
          <p:cNvPr id="3" name="Rounded Rectangle 2"/>
          <p:cNvSpPr/>
          <p:nvPr/>
        </p:nvSpPr>
        <p:spPr>
          <a:xfrm>
            <a:off x="3657600" y="1325880"/>
            <a:ext cx="4846320" cy="6400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0" y="1371600"/>
            <a:ext cx="4846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Запрос</a:t>
            </a:r>
          </a:p>
        </p:txBody>
      </p:sp>
      <p:sp>
        <p:nvSpPr>
          <p:cNvPr id="5" name="TextBox 4"/>
          <p:cNvSpPr txBox="1"/>
          <p:nvPr/>
        </p:nvSpPr>
        <p:spPr>
          <a:xfrm>
            <a:off x="3657600" y="1600200"/>
            <a:ext cx="4846320" cy="32004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клубника</a:t>
            </a:r>
          </a:p>
        </p:txBody>
      </p:sp>
      <p:sp>
        <p:nvSpPr>
          <p:cNvPr id="6" name="Rounded Rectangle 5"/>
          <p:cNvSpPr/>
          <p:nvPr/>
        </p:nvSpPr>
        <p:spPr>
          <a:xfrm>
            <a:off x="502920" y="2286000"/>
            <a:ext cx="530352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475488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Full-text (Elasticsearch, Lucene)</a:t>
            </a:r>
          </a:p>
        </p:txBody>
      </p:sp>
      <p:sp>
        <p:nvSpPr>
          <p:cNvPr id="8" name="TextBox 7"/>
          <p:cNvSpPr txBox="1"/>
          <p:nvPr/>
        </p:nvSpPr>
        <p:spPr>
          <a:xfrm>
            <a:off x="822960" y="29260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9" name="TextBox 8"/>
          <p:cNvSpPr txBox="1"/>
          <p:nvPr/>
        </p:nvSpPr>
        <p:spPr>
          <a:xfrm>
            <a:off x="1280160" y="29260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клубника</a:t>
            </a:r>
          </a:p>
        </p:txBody>
      </p:sp>
      <p:sp>
        <p:nvSpPr>
          <p:cNvPr id="10" name="TextBox 9"/>
          <p:cNvSpPr txBox="1"/>
          <p:nvPr/>
        </p:nvSpPr>
        <p:spPr>
          <a:xfrm>
            <a:off x="822960" y="33832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1" name="TextBox 10"/>
          <p:cNvSpPr txBox="1"/>
          <p:nvPr/>
        </p:nvSpPr>
        <p:spPr>
          <a:xfrm>
            <a:off x="1280160" y="33832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клубники (стемминг)</a:t>
            </a:r>
          </a:p>
        </p:txBody>
      </p:sp>
      <p:sp>
        <p:nvSpPr>
          <p:cNvPr id="12" name="TextBox 11"/>
          <p:cNvSpPr txBox="1"/>
          <p:nvPr/>
        </p:nvSpPr>
        <p:spPr>
          <a:xfrm>
            <a:off x="822960" y="38404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3" name="TextBox 12"/>
          <p:cNvSpPr txBox="1"/>
          <p:nvPr/>
        </p:nvSpPr>
        <p:spPr>
          <a:xfrm>
            <a:off x="1280160" y="38404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клубнику</a:t>
            </a:r>
          </a:p>
        </p:txBody>
      </p:sp>
      <p:sp>
        <p:nvSpPr>
          <p:cNvPr id="14" name="TextBox 13"/>
          <p:cNvSpPr txBox="1"/>
          <p:nvPr/>
        </p:nvSpPr>
        <p:spPr>
          <a:xfrm>
            <a:off x="822960" y="42976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5" name="TextBox 14"/>
          <p:cNvSpPr txBox="1"/>
          <p:nvPr/>
        </p:nvSpPr>
        <p:spPr>
          <a:xfrm>
            <a:off x="1280160" y="42976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strawberry</a:t>
            </a:r>
          </a:p>
        </p:txBody>
      </p:sp>
      <p:sp>
        <p:nvSpPr>
          <p:cNvPr id="16" name="TextBox 15"/>
          <p:cNvSpPr txBox="1"/>
          <p:nvPr/>
        </p:nvSpPr>
        <p:spPr>
          <a:xfrm>
            <a:off x="822960" y="47548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7" name="TextBox 16"/>
          <p:cNvSpPr txBox="1"/>
          <p:nvPr/>
        </p:nvSpPr>
        <p:spPr>
          <a:xfrm>
            <a:off x="1280160" y="47548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ягода</a:t>
            </a:r>
          </a:p>
        </p:txBody>
      </p:sp>
      <p:sp>
        <p:nvSpPr>
          <p:cNvPr id="18" name="TextBox 17"/>
          <p:cNvSpPr txBox="1"/>
          <p:nvPr/>
        </p:nvSpPr>
        <p:spPr>
          <a:xfrm>
            <a:off x="822960" y="52120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9" name="TextBox 18"/>
          <p:cNvSpPr txBox="1"/>
          <p:nvPr/>
        </p:nvSpPr>
        <p:spPr>
          <a:xfrm>
            <a:off x="1280160" y="52120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лесная земляника</a:t>
            </a:r>
          </a:p>
        </p:txBody>
      </p:sp>
      <p:sp>
        <p:nvSpPr>
          <p:cNvPr id="20" name="Rounded Rectangle 19"/>
          <p:cNvSpPr/>
          <p:nvPr/>
        </p:nvSpPr>
        <p:spPr>
          <a:xfrm>
            <a:off x="6355080" y="2286000"/>
            <a:ext cx="5303520" cy="3840480"/>
          </a:xfrm>
          <a:prstGeom prst="roundRect">
            <a:avLst>
              <a:gd name="adj" fmla="val 7936"/>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423160"/>
            <a:ext cx="475488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Semantic (эмбеддинги + ближайшие соседи)</a:t>
            </a:r>
          </a:p>
        </p:txBody>
      </p:sp>
      <p:sp>
        <p:nvSpPr>
          <p:cNvPr id="22" name="TextBox 21"/>
          <p:cNvSpPr txBox="1"/>
          <p:nvPr/>
        </p:nvSpPr>
        <p:spPr>
          <a:xfrm>
            <a:off x="6675120" y="2926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3" name="TextBox 22"/>
          <p:cNvSpPr txBox="1"/>
          <p:nvPr/>
        </p:nvSpPr>
        <p:spPr>
          <a:xfrm>
            <a:off x="7132320" y="2926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клубника</a:t>
            </a:r>
          </a:p>
        </p:txBody>
      </p:sp>
      <p:sp>
        <p:nvSpPr>
          <p:cNvPr id="24" name="TextBox 23"/>
          <p:cNvSpPr txBox="1"/>
          <p:nvPr/>
        </p:nvSpPr>
        <p:spPr>
          <a:xfrm>
            <a:off x="10049256" y="2926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точное</a:t>
            </a:r>
          </a:p>
        </p:txBody>
      </p:sp>
      <p:sp>
        <p:nvSpPr>
          <p:cNvPr id="25" name="TextBox 24"/>
          <p:cNvSpPr txBox="1"/>
          <p:nvPr/>
        </p:nvSpPr>
        <p:spPr>
          <a:xfrm>
            <a:off x="6675120" y="33832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6" name="TextBox 25"/>
          <p:cNvSpPr txBox="1"/>
          <p:nvPr/>
        </p:nvSpPr>
        <p:spPr>
          <a:xfrm>
            <a:off x="7132320" y="33832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клубники</a:t>
            </a:r>
          </a:p>
        </p:txBody>
      </p:sp>
      <p:sp>
        <p:nvSpPr>
          <p:cNvPr id="27" name="TextBox 26"/>
          <p:cNvSpPr txBox="1"/>
          <p:nvPr/>
        </p:nvSpPr>
        <p:spPr>
          <a:xfrm>
            <a:off x="10049256" y="33832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морфология</a:t>
            </a:r>
          </a:p>
        </p:txBody>
      </p:sp>
      <p:sp>
        <p:nvSpPr>
          <p:cNvPr id="28" name="TextBox 27"/>
          <p:cNvSpPr txBox="1"/>
          <p:nvPr/>
        </p:nvSpPr>
        <p:spPr>
          <a:xfrm>
            <a:off x="6675120" y="38404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9" name="TextBox 28"/>
          <p:cNvSpPr txBox="1"/>
          <p:nvPr/>
        </p:nvSpPr>
        <p:spPr>
          <a:xfrm>
            <a:off x="7132320" y="38404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strawberry</a:t>
            </a:r>
          </a:p>
        </p:txBody>
      </p:sp>
      <p:sp>
        <p:nvSpPr>
          <p:cNvPr id="30" name="TextBox 29"/>
          <p:cNvSpPr txBox="1"/>
          <p:nvPr/>
        </p:nvSpPr>
        <p:spPr>
          <a:xfrm>
            <a:off x="10049256" y="38404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cross-lang</a:t>
            </a:r>
          </a:p>
        </p:txBody>
      </p:sp>
      <p:sp>
        <p:nvSpPr>
          <p:cNvPr id="31" name="TextBox 30"/>
          <p:cNvSpPr txBox="1"/>
          <p:nvPr/>
        </p:nvSpPr>
        <p:spPr>
          <a:xfrm>
            <a:off x="6675120" y="42976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2" name="TextBox 31"/>
          <p:cNvSpPr txBox="1"/>
          <p:nvPr/>
        </p:nvSpPr>
        <p:spPr>
          <a:xfrm>
            <a:off x="7132320" y="42976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ягода</a:t>
            </a:r>
          </a:p>
        </p:txBody>
      </p:sp>
      <p:sp>
        <p:nvSpPr>
          <p:cNvPr id="33" name="TextBox 32"/>
          <p:cNvSpPr txBox="1"/>
          <p:nvPr/>
        </p:nvSpPr>
        <p:spPr>
          <a:xfrm>
            <a:off x="10049256" y="42976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родовое</a:t>
            </a:r>
          </a:p>
        </p:txBody>
      </p:sp>
      <p:sp>
        <p:nvSpPr>
          <p:cNvPr id="34" name="TextBox 33"/>
          <p:cNvSpPr txBox="1"/>
          <p:nvPr/>
        </p:nvSpPr>
        <p:spPr>
          <a:xfrm>
            <a:off x="6675120" y="47548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5" name="TextBox 34"/>
          <p:cNvSpPr txBox="1"/>
          <p:nvPr/>
        </p:nvSpPr>
        <p:spPr>
          <a:xfrm>
            <a:off x="7132320" y="47548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лесная земляника</a:t>
            </a:r>
          </a:p>
        </p:txBody>
      </p:sp>
      <p:sp>
        <p:nvSpPr>
          <p:cNvPr id="36" name="TextBox 35"/>
          <p:cNvSpPr txBox="1"/>
          <p:nvPr/>
        </p:nvSpPr>
        <p:spPr>
          <a:xfrm>
            <a:off x="10049256" y="47548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близкий смысл</a:t>
            </a:r>
          </a:p>
        </p:txBody>
      </p:sp>
      <p:sp>
        <p:nvSpPr>
          <p:cNvPr id="37" name="TextBox 36"/>
          <p:cNvSpPr txBox="1"/>
          <p:nvPr/>
        </p:nvSpPr>
        <p:spPr>
          <a:xfrm>
            <a:off x="6675120" y="5212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8" name="TextBox 37"/>
          <p:cNvSpPr txBox="1"/>
          <p:nvPr/>
        </p:nvSpPr>
        <p:spPr>
          <a:xfrm>
            <a:off x="7132320" y="5212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a:t>
            </a:r>
          </a:p>
        </p:txBody>
      </p:sp>
      <p:sp>
        <p:nvSpPr>
          <p:cNvPr id="39" name="TextBox 38"/>
          <p:cNvSpPr txBox="1"/>
          <p:nvPr/>
        </p:nvSpPr>
        <p:spPr>
          <a:xfrm>
            <a:off x="10049256" y="5212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ещё близкие</a:t>
            </a:r>
          </a:p>
        </p:txBody>
      </p:sp>
      <p:sp>
        <p:nvSpPr>
          <p:cNvPr id="40" name="Rounded Rectangle 39"/>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Base layer RAG — реализация в Лекции 3 (Retrieval-Augmented Generation).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3931920"/>
          </a:xfrm>
          <a:prstGeom prst="rect">
            <a:avLst/>
          </a:prstGeom>
        </p:spPr>
      </p:pic>
      <p:sp>
        <p:nvSpPr>
          <p:cNvPr id="6" name="TextBox 5"/>
          <p:cNvSpPr txBox="1"/>
          <p:nvPr/>
        </p:nvSpPr>
        <p:spPr>
          <a:xfrm>
            <a:off x="502920" y="6126480"/>
            <a:ext cx="7772400" cy="365760"/>
          </a:xfrm>
          <a:prstGeom prst="rect">
            <a:avLst/>
          </a:prstGeom>
          <a:noFill/>
        </p:spPr>
        <p:txBody>
          <a:bodyPr wrap="square" lIns="0" rIns="0" tIns="0" bIns="0" anchor="t">
            <a:spAutoFit/>
          </a:bodyPr>
          <a:lstStyle/>
          <a:p>
            <a:pPr algn="ctr">
              <a:lnSpc>
                <a:spcPct val="115000"/>
              </a:lnSpc>
            </a:pPr>
            <a:r>
              <a:rPr sz="1400" b="0" i="1">
                <a:solidFill>
                  <a:srgbClr val="065A82"/>
                </a:solidFill>
                <a:latin typeface="Arial"/>
              </a:rPr>
              <a:t>Distribution на токенах контекста — основное содержание</a:t>
            </a:r>
          </a:p>
        </p:txBody>
      </p:sp>
      <p:sp>
        <p:nvSpPr>
          <p:cNvPr id="7" name="Rounded Rectangle 6"/>
          <p:cNvSpPr/>
          <p:nvPr/>
        </p:nvSpPr>
        <p:spPr>
          <a:xfrm>
            <a:off x="8549640" y="1874519"/>
            <a:ext cx="3246120" cy="2926080"/>
          </a:xfrm>
          <a:prstGeom prst="roundRect">
            <a:avLst>
              <a:gd name="adj" fmla="val 104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3 свойства</a:t>
            </a:r>
          </a:p>
        </p:txBody>
      </p:sp>
      <p:sp>
        <p:nvSpPr>
          <p:cNvPr id="9" name="Rounded Rectangle 8"/>
          <p:cNvSpPr/>
          <p:nvPr/>
        </p:nvSpPr>
        <p:spPr>
          <a:xfrm>
            <a:off x="8732519" y="2514600"/>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32519" y="2523744"/>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11" name="TextBox 10"/>
          <p:cNvSpPr txBox="1"/>
          <p:nvPr/>
        </p:nvSpPr>
        <p:spPr>
          <a:xfrm>
            <a:off x="9098280" y="2468880"/>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2" name="Rounded Rectangle 11"/>
          <p:cNvSpPr/>
          <p:nvPr/>
        </p:nvSpPr>
        <p:spPr>
          <a:xfrm>
            <a:off x="8732519" y="3227832"/>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32519" y="3236976"/>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4" name="TextBox 13"/>
          <p:cNvSpPr txBox="1"/>
          <p:nvPr/>
        </p:nvSpPr>
        <p:spPr>
          <a:xfrm>
            <a:off x="9098280" y="3182112"/>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5" name="Rounded Rectangle 14"/>
          <p:cNvSpPr/>
          <p:nvPr/>
        </p:nvSpPr>
        <p:spPr>
          <a:xfrm>
            <a:off x="8732519" y="3941063"/>
            <a:ext cx="292608"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32519" y="3950207"/>
            <a:ext cx="292608" cy="2743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9098280" y="3895344"/>
            <a:ext cx="2514600"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8" name="Rounded Rectangle 17"/>
          <p:cNvSpPr/>
          <p:nvPr/>
        </p:nvSpPr>
        <p:spPr>
          <a:xfrm>
            <a:off x="8549640" y="4892040"/>
            <a:ext cx="324612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14-flashlight.png"/>
          <p:cNvPicPr>
            <a:picLocks noChangeAspect="1"/>
          </p:cNvPicPr>
          <p:nvPr/>
        </p:nvPicPr>
        <p:blipFill>
          <a:blip r:embed="rId3"/>
          <a:stretch>
            <a:fillRect/>
          </a:stretch>
        </p:blipFill>
        <p:spPr>
          <a:xfrm>
            <a:off x="8686800" y="4983480"/>
            <a:ext cx="1188720" cy="1188720"/>
          </a:xfrm>
          <a:prstGeom prst="rect">
            <a:avLst/>
          </a:prstGeom>
        </p:spPr>
      </p:pic>
      <p:sp>
        <p:nvSpPr>
          <p:cNvPr id="20" name="TextBox 19"/>
          <p:cNvSpPr txBox="1"/>
          <p:nvPr/>
        </p:nvSpPr>
        <p:spPr>
          <a:xfrm>
            <a:off x="9921240" y="5074920"/>
            <a:ext cx="1737360" cy="1005840"/>
          </a:xfrm>
          <a:prstGeom prst="rect">
            <a:avLst/>
          </a:prstGeom>
          <a:noFill/>
        </p:spPr>
        <p:txBody>
          <a:bodyPr wrap="square" lIns="0" rIns="0" tIns="0" bIns="0" anchor="ctr">
            <a:spAutoFit/>
          </a:bodyPr>
          <a:lstStyle/>
          <a:p>
            <a:pPr algn="l">
              <a:lnSpc>
                <a:spcPct val="130000"/>
              </a:lnSpc>
            </a:pPr>
            <a:r>
              <a:rPr sz="1200" b="0" i="1">
                <a:solidFill>
                  <a:srgbClr val="21295C"/>
                </a:solidFill>
                <a:latin typeface="Arial"/>
              </a:rPr>
              <a:t>Метафора: фонарик в тёмной комнате — модель «подсвечивает» одни токены ярче других.</a:t>
            </a:r>
          </a:p>
        </p:txBody>
      </p:sp>
      <p:sp>
        <p:nvSpPr>
          <p:cNvPr id="21" name="TextBox 20"/>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Без формул. Multi-head, Q/K/V — доп. чтение (Vaswani et al. 2017).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828800"/>
            <a:ext cx="1124712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38528"/>
            <a:ext cx="109728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Worked example — куда смотрит «она»</a:t>
            </a:r>
          </a:p>
        </p:txBody>
      </p:sp>
      <p:sp>
        <p:nvSpPr>
          <p:cNvPr id="6" name="TextBox 5"/>
          <p:cNvSpPr txBox="1"/>
          <p:nvPr/>
        </p:nvSpPr>
        <p:spPr>
          <a:xfrm>
            <a:off x="685800" y="2423160"/>
            <a:ext cx="10972800" cy="45720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108960"/>
            <a:ext cx="3520440" cy="45720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мышь</a:t>
            </a:r>
          </a:p>
        </p:txBody>
      </p:sp>
      <p:sp>
        <p:nvSpPr>
          <p:cNvPr id="9" name="TextBox 8"/>
          <p:cNvSpPr txBox="1"/>
          <p:nvPr/>
        </p:nvSpPr>
        <p:spPr>
          <a:xfrm>
            <a:off x="708659"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108960"/>
            <a:ext cx="3520440" cy="45720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была</a:t>
            </a:r>
          </a:p>
        </p:txBody>
      </p:sp>
      <p:sp>
        <p:nvSpPr>
          <p:cNvPr id="12" name="TextBox 11"/>
          <p:cNvSpPr txBox="1"/>
          <p:nvPr/>
        </p:nvSpPr>
        <p:spPr>
          <a:xfrm>
            <a:off x="4366259"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108960"/>
            <a:ext cx="3520440" cy="45720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154679"/>
            <a:ext cx="3520440" cy="36576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она → голодна</a:t>
            </a:r>
          </a:p>
        </p:txBody>
      </p:sp>
      <p:sp>
        <p:nvSpPr>
          <p:cNvPr id="15" name="TextBox 14"/>
          <p:cNvSpPr txBox="1"/>
          <p:nvPr/>
        </p:nvSpPr>
        <p:spPr>
          <a:xfrm>
            <a:off x="8023860" y="3584448"/>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3794760"/>
            <a:ext cx="10972800" cy="22860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20624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79"/>
            <a:ext cx="512064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Без роли</a:t>
            </a:r>
          </a:p>
        </p:txBody>
      </p:sp>
      <p:sp>
        <p:nvSpPr>
          <p:cNvPr id="19" name="TextBox 18"/>
          <p:cNvSpPr txBox="1"/>
          <p:nvPr/>
        </p:nvSpPr>
        <p:spPr>
          <a:xfrm>
            <a:off x="685800" y="4754879"/>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349240"/>
            <a:ext cx="5120640" cy="86868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 generic ответ
(низкий вес role-токенов в attention)</a:t>
            </a:r>
          </a:p>
        </p:txBody>
      </p:sp>
      <p:sp>
        <p:nvSpPr>
          <p:cNvPr id="21" name="Rounded Rectangle 20"/>
          <p:cNvSpPr/>
          <p:nvPr/>
        </p:nvSpPr>
        <p:spPr>
          <a:xfrm>
            <a:off x="6263640" y="4206240"/>
            <a:ext cx="5486400" cy="2103120"/>
          </a:xfrm>
          <a:prstGeom prst="roundRect">
            <a:avLst>
              <a:gd name="adj" fmla="val 14492"/>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297679"/>
            <a:ext cx="5120640" cy="36576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С ролью</a:t>
            </a:r>
          </a:p>
        </p:txBody>
      </p:sp>
      <p:sp>
        <p:nvSpPr>
          <p:cNvPr id="23" name="TextBox 22"/>
          <p:cNvSpPr txBox="1"/>
          <p:nvPr/>
        </p:nvSpPr>
        <p:spPr>
          <a:xfrm>
            <a:off x="6446520" y="4754879"/>
            <a:ext cx="5120640" cy="54864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«Ты </a:t>
            </a:r>
            <a:r>
              <a:rPr sz="1800" b="1" i="0">
                <a:solidFill>
                  <a:srgbClr val="F0AB00"/>
                </a:solidFill>
                <a:latin typeface="Liberation Mono"/>
              </a:rPr>
              <a:t>эксперт по Python</a:t>
            </a:r>
            <a:r>
              <a:rPr sz="1800" b="0" i="0">
                <a:solidFill>
                  <a:srgbClr val="21295C"/>
                </a:solidFill>
                <a:latin typeface="Liberation Mono"/>
              </a:rPr>
              <a:t>. Объясни асинхронность </a:t>
            </a:r>
            <a:r>
              <a:rPr sz="1800" b="1" i="0">
                <a:solidFill>
                  <a:srgbClr val="F0AB00"/>
                </a:solidFill>
                <a:latin typeface="Liberation Mono"/>
              </a:rPr>
              <a:t>джуниору</a:t>
            </a:r>
            <a:r>
              <a:rPr sz="1800" b="0" i="0">
                <a:solidFill>
                  <a:srgbClr val="21295C"/>
                </a:solidFill>
                <a:latin typeface="Liberation Mono"/>
              </a:rPr>
              <a:t>.»</a:t>
            </a:r>
          </a:p>
        </p:txBody>
      </p:sp>
      <p:sp>
        <p:nvSpPr>
          <p:cNvPr id="24" name="TextBox 23"/>
          <p:cNvSpPr txBox="1"/>
          <p:nvPr/>
        </p:nvSpPr>
        <p:spPr>
          <a:xfrm>
            <a:off x="6446520" y="5349240"/>
            <a:ext cx="5120640" cy="868680"/>
          </a:xfrm>
          <a:prstGeom prst="rect">
            <a:avLst/>
          </a:prstGeom>
          <a:noFill/>
        </p:spPr>
        <p:txBody>
          <a:bodyPr wrap="square" lIns="0" rIns="0" tIns="0" bIns="0" anchor="t">
            <a:spAutoFit/>
          </a:bodyPr>
          <a:lstStyle/>
          <a:p>
            <a:pPr algn="l">
              <a:lnSpc>
                <a:spcPct val="130000"/>
              </a:lnSpc>
            </a:pPr>
            <a:r>
              <a:rPr sz="1500" b="1" i="1">
                <a:solidFill>
                  <a:srgbClr val="21295C"/>
                </a:solidFill>
                <a:latin typeface="Arial"/>
              </a:rPr>
              <a:t>→ role-токены подсвечены
(высокий вес в attention)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Эксперимент</a:t>
            </a:r>
          </a:p>
        </p:txBody>
      </p:sp>
      <p:sp>
        <p:nvSpPr>
          <p:cNvPr id="8" name="TextBox 7"/>
          <p:cNvSpPr txBox="1"/>
          <p:nvPr/>
        </p:nvSpPr>
        <p:spPr>
          <a:xfrm>
            <a:off x="8732519" y="2331720"/>
            <a:ext cx="2880360" cy="15544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Factoid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Результаты</a:t>
            </a:r>
          </a:p>
        </p:txBody>
      </p:sp>
      <p:sp>
        <p:nvSpPr>
          <p:cNvPr id="10" name="TextBox 9"/>
          <p:cNvSpPr txBox="1"/>
          <p:nvPr/>
        </p:nvSpPr>
        <p:spPr>
          <a:xfrm>
            <a:off x="8732519" y="425196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Начало:</a:t>
            </a:r>
          </a:p>
        </p:txBody>
      </p:sp>
      <p:sp>
        <p:nvSpPr>
          <p:cNvPr id="11" name="TextBox 10"/>
          <p:cNvSpPr txBox="1"/>
          <p:nvPr/>
        </p:nvSpPr>
        <p:spPr>
          <a:xfrm>
            <a:off x="10335006" y="4251960"/>
            <a:ext cx="1298448" cy="320040"/>
          </a:xfrm>
          <a:prstGeom prst="rect">
            <a:avLst/>
          </a:prstGeom>
          <a:noFill/>
        </p:spPr>
        <p:txBody>
          <a:bodyPr wrap="square" lIns="0" rIns="0" tIns="0" bIns="0" anchor="ctr">
            <a:spAutoFit/>
          </a:bodyPr>
          <a:lstStyle/>
          <a:p>
            <a:pPr algn="r">
              <a:lnSpc>
                <a:spcPct val="115000"/>
              </a:lnSpc>
            </a:pPr>
            <a:r>
              <a:rPr sz="1400" b="1" i="0">
                <a:solidFill>
                  <a:srgbClr val="F0AB00"/>
                </a:solidFill>
                <a:latin typeface="Arial"/>
              </a:rPr>
              <a:t>~75%</a:t>
            </a:r>
          </a:p>
        </p:txBody>
      </p:sp>
      <p:sp>
        <p:nvSpPr>
          <p:cNvPr id="12" name="TextBox 11"/>
          <p:cNvSpPr txBox="1"/>
          <p:nvPr/>
        </p:nvSpPr>
        <p:spPr>
          <a:xfrm>
            <a:off x="8732519" y="461772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Середина:</a:t>
            </a:r>
          </a:p>
        </p:txBody>
      </p:sp>
      <p:sp>
        <p:nvSpPr>
          <p:cNvPr id="13" name="TextBox 12"/>
          <p:cNvSpPr txBox="1"/>
          <p:nvPr/>
        </p:nvSpPr>
        <p:spPr>
          <a:xfrm>
            <a:off x="10335006" y="4617720"/>
            <a:ext cx="1298448" cy="320040"/>
          </a:xfrm>
          <a:prstGeom prst="rect">
            <a:avLst/>
          </a:prstGeom>
          <a:noFill/>
        </p:spPr>
        <p:txBody>
          <a:bodyPr wrap="square" lIns="0" rIns="0" tIns="0" bIns="0" anchor="ctr">
            <a:spAutoFit/>
          </a:bodyPr>
          <a:lstStyle/>
          <a:p>
            <a:pPr algn="r">
              <a:lnSpc>
                <a:spcPct val="115000"/>
              </a:lnSpc>
            </a:pPr>
            <a:r>
              <a:rPr sz="1400" b="1" i="0">
                <a:solidFill>
                  <a:srgbClr val="1C7293"/>
                </a:solidFill>
                <a:latin typeface="Arial"/>
              </a:rPr>
              <a:t>~50%</a:t>
            </a:r>
          </a:p>
        </p:txBody>
      </p:sp>
      <p:sp>
        <p:nvSpPr>
          <p:cNvPr id="14" name="TextBox 13"/>
          <p:cNvSpPr txBox="1"/>
          <p:nvPr/>
        </p:nvSpPr>
        <p:spPr>
          <a:xfrm>
            <a:off x="8732519" y="498348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Конец:</a:t>
            </a:r>
          </a:p>
        </p:txBody>
      </p:sp>
      <p:sp>
        <p:nvSpPr>
          <p:cNvPr id="15" name="TextBox 14"/>
          <p:cNvSpPr txBox="1"/>
          <p:nvPr/>
        </p:nvSpPr>
        <p:spPr>
          <a:xfrm>
            <a:off x="10335006" y="4983480"/>
            <a:ext cx="1298448" cy="320040"/>
          </a:xfrm>
          <a:prstGeom prst="rect">
            <a:avLst/>
          </a:prstGeom>
          <a:noFill/>
        </p:spPr>
        <p:txBody>
          <a:bodyPr wrap="square" lIns="0" rIns="0" tIns="0" bIns="0" anchor="ctr">
            <a:spAutoFit/>
          </a:bodyPr>
          <a:lstStyle/>
          <a:p>
            <a:pPr algn="r">
              <a:lnSpc>
                <a:spcPct val="115000"/>
              </a:lnSpc>
            </a:pPr>
            <a:r>
              <a:rPr sz="1400" b="1" i="0">
                <a:solidFill>
                  <a:srgbClr val="F0AB00"/>
                </a:solidFill>
                <a:latin typeface="Arial"/>
              </a:rPr>
              <a:t>~75%</a:t>
            </a:r>
          </a:p>
        </p:txBody>
      </p:sp>
      <p:sp>
        <p:nvSpPr>
          <p:cNvPr id="16" name="TextBox 15"/>
          <p:cNvSpPr txBox="1"/>
          <p:nvPr/>
        </p:nvSpPr>
        <p:spPr>
          <a:xfrm>
            <a:off x="8732519" y="5440680"/>
            <a:ext cx="2880360" cy="457200"/>
          </a:xfrm>
          <a:prstGeom prst="rect">
            <a:avLst/>
          </a:prstGeom>
          <a:noFill/>
        </p:spPr>
        <p:txBody>
          <a:bodyPr wrap="square" lIns="0" rIns="0" tIns="0" bIns="0" anchor="t">
            <a:spAutoFit/>
          </a:bodyPr>
          <a:lstStyle/>
          <a:p>
            <a:pPr algn="l">
              <a:lnSpc>
                <a:spcPct val="120000"/>
              </a:lnSpc>
            </a:pPr>
            <a:r>
              <a:rPr sz="1000" b="0" i="1">
                <a:solidFill>
                  <a:srgbClr val="1C7293"/>
                </a:solidFill>
                <a:latin typeface="Arial"/>
              </a:rPr>
              <a:t>Liu et al. 2023.
Lost in the Middle.
arXiv:2307.03172</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828800"/>
            <a:ext cx="3749039" cy="416052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3383279" cy="41148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468880"/>
            <a:ext cx="3200399" cy="2103120"/>
          </a:xfrm>
          <a:prstGeom prst="rect">
            <a:avLst/>
          </a:prstGeom>
        </p:spPr>
      </p:pic>
      <p:sp>
        <p:nvSpPr>
          <p:cNvPr id="7" name="TextBox 6"/>
          <p:cNvSpPr txBox="1"/>
          <p:nvPr/>
        </p:nvSpPr>
        <p:spPr>
          <a:xfrm>
            <a:off x="685800" y="4663440"/>
            <a:ext cx="3383279" cy="12801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828800"/>
            <a:ext cx="3749039" cy="416052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65960"/>
            <a:ext cx="3383279" cy="41148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468880"/>
            <a:ext cx="3200399" cy="2103120"/>
          </a:xfrm>
          <a:prstGeom prst="rect">
            <a:avLst/>
          </a:prstGeom>
        </p:spPr>
      </p:pic>
      <p:sp>
        <p:nvSpPr>
          <p:cNvPr id="11" name="TextBox 10"/>
          <p:cNvSpPr txBox="1"/>
          <p:nvPr/>
        </p:nvSpPr>
        <p:spPr>
          <a:xfrm>
            <a:off x="4526279" y="4663440"/>
            <a:ext cx="3383279" cy="12801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828800"/>
            <a:ext cx="3749039" cy="416052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65960"/>
            <a:ext cx="3383279" cy="411480"/>
          </a:xfrm>
          <a:prstGeom prst="rect">
            <a:avLst/>
          </a:prstGeom>
          <a:noFill/>
        </p:spPr>
        <p:txBody>
          <a:bodyPr wrap="square" lIns="0" rIns="0" tIns="0" bIns="0" anchor="t">
            <a:spAutoFit/>
          </a:bodyPr>
          <a:lstStyle/>
          <a:p>
            <a:pPr algn="ctr">
              <a:lnSpc>
                <a:spcPct val="115000"/>
              </a:lnSpc>
            </a:pPr>
            <a:r>
              <a:rPr sz="18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468880"/>
            <a:ext cx="3200399" cy="2103120"/>
          </a:xfrm>
          <a:prstGeom prst="rect">
            <a:avLst/>
          </a:prstGeom>
        </p:spPr>
      </p:pic>
      <p:sp>
        <p:nvSpPr>
          <p:cNvPr id="15" name="TextBox 14"/>
          <p:cNvSpPr txBox="1"/>
          <p:nvPr/>
        </p:nvSpPr>
        <p:spPr>
          <a:xfrm>
            <a:off x="8366759" y="4663440"/>
            <a:ext cx="3383279" cy="12801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172200"/>
            <a:ext cx="11247120" cy="5943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245352"/>
            <a:ext cx="10917936" cy="448056"/>
          </a:xfrm>
          <a:prstGeom prst="rect">
            <a:avLst/>
          </a:prstGeom>
          <a:noFill/>
        </p:spPr>
        <p:txBody>
          <a:bodyPr wrap="square" lIns="0" rIns="0" tIns="0" bIns="0" anchor="ctr">
            <a:spAutoFit/>
          </a:bodyPr>
          <a:lstStyle/>
          <a:p>
            <a:pPr algn="l">
              <a:lnSpc>
                <a:spcPct val="125000"/>
              </a:lnSpc>
            </a:pPr>
            <a:r>
              <a:rPr sz="15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LO4 — 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Loop: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(1) Текущий
контекст</a:t>
            </a:r>
          </a:p>
        </p:txBody>
      </p:sp>
      <p:sp>
        <p:nvSpPr>
          <p:cNvPr id="6" name="TextBox 5"/>
          <p:cNvSpPr txBox="1"/>
          <p:nvPr/>
        </p:nvSpPr>
        <p:spPr>
          <a:xfrm>
            <a:off x="594360"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system + история
+ запрос + already
сгенерированное</a:t>
            </a:r>
          </a:p>
        </p:txBody>
      </p:sp>
      <p:sp>
        <p:nvSpPr>
          <p:cNvPr id="7" name="Right Arrow 6"/>
          <p:cNvSpPr/>
          <p:nvPr/>
        </p:nvSpPr>
        <p:spPr>
          <a:xfrm>
            <a:off x="2651760"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2194560"/>
            <a:ext cx="2139696" cy="237744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(2) Forward pass</a:t>
            </a:r>
          </a:p>
        </p:txBody>
      </p:sp>
      <p:sp>
        <p:nvSpPr>
          <p:cNvPr id="10" name="TextBox 9"/>
          <p:cNvSpPr txBox="1"/>
          <p:nvPr/>
        </p:nvSpPr>
        <p:spPr>
          <a:xfrm>
            <a:off x="2871216"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токенизация →
эмбеддинг →
attention</a:t>
            </a:r>
          </a:p>
        </p:txBody>
      </p:sp>
      <p:sp>
        <p:nvSpPr>
          <p:cNvPr id="11" name="Right Arrow 10"/>
          <p:cNvSpPr/>
          <p:nvPr/>
        </p:nvSpPr>
        <p:spPr>
          <a:xfrm>
            <a:off x="4928616"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(3) Distribution</a:t>
            </a:r>
          </a:p>
        </p:txBody>
      </p:sp>
      <p:sp>
        <p:nvSpPr>
          <p:cNvPr id="14" name="TextBox 13"/>
          <p:cNvSpPr txBox="1"/>
          <p:nvPr/>
        </p:nvSpPr>
        <p:spPr>
          <a:xfrm>
            <a:off x="5148072"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вероятности
на ~200k токенов
словаря</a:t>
            </a:r>
          </a:p>
        </p:txBody>
      </p:sp>
      <p:sp>
        <p:nvSpPr>
          <p:cNvPr id="15" name="Right Arrow 14"/>
          <p:cNvSpPr/>
          <p:nvPr/>
        </p:nvSpPr>
        <p:spPr>
          <a:xfrm>
            <a:off x="7205472"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(4) Сэмплинг</a:t>
            </a:r>
          </a:p>
        </p:txBody>
      </p:sp>
      <p:sp>
        <p:nvSpPr>
          <p:cNvPr id="18" name="TextBox 17"/>
          <p:cNvSpPr txBox="1"/>
          <p:nvPr/>
        </p:nvSpPr>
        <p:spPr>
          <a:xfrm>
            <a:off x="7424928"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один токен
по правилу
T / top-p / top-k</a:t>
            </a:r>
          </a:p>
        </p:txBody>
      </p:sp>
      <p:sp>
        <p:nvSpPr>
          <p:cNvPr id="19" name="Right Arrow 18"/>
          <p:cNvSpPr/>
          <p:nvPr/>
        </p:nvSpPr>
        <p:spPr>
          <a:xfrm>
            <a:off x="9482328"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377440"/>
            <a:ext cx="1956816" cy="9601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(5) Новый токен
добавлен в контекст</a:t>
            </a:r>
          </a:p>
        </p:txBody>
      </p:sp>
      <p:sp>
        <p:nvSpPr>
          <p:cNvPr id="22" name="TextBox 21"/>
          <p:cNvSpPr txBox="1"/>
          <p:nvPr/>
        </p:nvSpPr>
        <p:spPr>
          <a:xfrm>
            <a:off x="9701784" y="3383280"/>
            <a:ext cx="1956816" cy="11887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...и цикл
продолжается</a:t>
            </a:r>
          </a:p>
        </p:txBody>
      </p:sp>
      <p:sp>
        <p:nvSpPr>
          <p:cNvPr id="23" name="Rounded Rectangle 22"/>
          <p:cNvSpPr/>
          <p:nvPr/>
        </p:nvSpPr>
        <p:spPr>
          <a:xfrm>
            <a:off x="914400" y="4846320"/>
            <a:ext cx="10424160" cy="54864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937759"/>
            <a:ext cx="10424160" cy="411480"/>
          </a:xfrm>
          <a:prstGeom prst="rect">
            <a:avLst/>
          </a:prstGeom>
          <a:noFill/>
        </p:spPr>
        <p:txBody>
          <a:bodyPr wrap="square" lIns="0" rIns="0" tIns="0" bIns="0" anchor="ctr">
            <a:spAutoFit/>
          </a:bodyPr>
          <a:lstStyle/>
          <a:p>
            <a:pPr algn="ctr">
              <a:lnSpc>
                <a:spcPct val="115000"/>
              </a:lnSpc>
            </a:pPr>
            <a:r>
              <a:rPr sz="16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080760"/>
            <a:ext cx="11247120" cy="50292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loop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4937760" cy="45720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Local (Ollama, llama.cpp, LM Studio)</a:t>
            </a:r>
          </a:p>
        </p:txBody>
      </p:sp>
      <p:sp>
        <p:nvSpPr>
          <p:cNvPr id="6" name="TextBox 5"/>
          <p:cNvSpPr txBox="1"/>
          <p:nvPr/>
        </p:nvSpPr>
        <p:spPr>
          <a:xfrm>
            <a:off x="777240" y="2560320"/>
            <a:ext cx="49377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Размер: 1–13B параметров</a:t>
            </a:r>
          </a:p>
        </p:txBody>
      </p:sp>
      <p:sp>
        <p:nvSpPr>
          <p:cNvPr id="7" name="TextBox 6"/>
          <p:cNvSpPr txBox="1"/>
          <p:nvPr/>
        </p:nvSpPr>
        <p:spPr>
          <a:xfrm>
            <a:off x="777240" y="2971800"/>
            <a:ext cx="4937760" cy="914400"/>
          </a:xfrm>
          <a:prstGeom prst="rect">
            <a:avLst/>
          </a:prstGeom>
          <a:noFill/>
        </p:spPr>
        <p:txBody>
          <a:bodyPr wrap="square" lIns="0" rIns="0" tIns="0" bIns="0" anchor="t">
            <a:spAutoFit/>
          </a:bodyPr>
          <a:lstStyle/>
          <a:p>
            <a:pPr algn="l">
              <a:lnSpc>
                <a:spcPct val="140000"/>
              </a:lnSpc>
            </a:pPr>
            <a:r>
              <a:rPr sz="1400" b="0" i="0">
                <a:solidFill>
                  <a:srgbClr val="21295C"/>
                </a:solidFill>
                <a:latin typeface="Liberation Mono"/>
              </a:rPr>
              <a:t>• Qwen 2.5 1.5B  · Llama 3.2 1B
• Llama 3.1 8B  · Mistral 7B</a:t>
            </a:r>
          </a:p>
        </p:txBody>
      </p:sp>
      <p:sp>
        <p:nvSpPr>
          <p:cNvPr id="8" name="Rounded Rectangle 7"/>
          <p:cNvSpPr/>
          <p:nvPr/>
        </p:nvSpPr>
        <p:spPr>
          <a:xfrm>
            <a:off x="777240" y="4242816"/>
            <a:ext cx="182880" cy="1828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41148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Приватность</a:t>
            </a:r>
          </a:p>
        </p:txBody>
      </p:sp>
      <p:sp>
        <p:nvSpPr>
          <p:cNvPr id="10" name="TextBox 9"/>
          <p:cNvSpPr txBox="1"/>
          <p:nvPr/>
        </p:nvSpPr>
        <p:spPr>
          <a:xfrm>
            <a:off x="2971800" y="41148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запросы не уходят провайдеру</a:t>
            </a:r>
          </a:p>
        </p:txBody>
      </p:sp>
      <p:sp>
        <p:nvSpPr>
          <p:cNvPr id="11" name="Rounded Rectangle 10"/>
          <p:cNvSpPr/>
          <p:nvPr/>
        </p:nvSpPr>
        <p:spPr>
          <a:xfrm>
            <a:off x="777240" y="47000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45720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Скорость</a:t>
            </a:r>
          </a:p>
        </p:txBody>
      </p:sp>
      <p:sp>
        <p:nvSpPr>
          <p:cNvPr id="13" name="TextBox 12"/>
          <p:cNvSpPr txBox="1"/>
          <p:nvPr/>
        </p:nvSpPr>
        <p:spPr>
          <a:xfrm>
            <a:off x="2971800" y="45720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медленнее на consumer hardware</a:t>
            </a:r>
          </a:p>
        </p:txBody>
      </p:sp>
      <p:sp>
        <p:nvSpPr>
          <p:cNvPr id="14" name="Rounded Rectangle 13"/>
          <p:cNvSpPr/>
          <p:nvPr/>
        </p:nvSpPr>
        <p:spPr>
          <a:xfrm>
            <a:off x="777240" y="51572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50292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Контекст</a:t>
            </a:r>
          </a:p>
        </p:txBody>
      </p:sp>
      <p:sp>
        <p:nvSpPr>
          <p:cNvPr id="16" name="TextBox 15"/>
          <p:cNvSpPr txBox="1"/>
          <p:nvPr/>
        </p:nvSpPr>
        <p:spPr>
          <a:xfrm>
            <a:off x="2971800" y="50292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ограниченное окно</a:t>
            </a:r>
          </a:p>
        </p:txBody>
      </p:sp>
      <p:sp>
        <p:nvSpPr>
          <p:cNvPr id="17" name="Rounded Rectangle 16"/>
          <p:cNvSpPr/>
          <p:nvPr/>
        </p:nvSpPr>
        <p:spPr>
          <a:xfrm>
            <a:off x="777240" y="5614416"/>
            <a:ext cx="182880" cy="1828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54864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Цена</a:t>
            </a:r>
          </a:p>
        </p:txBody>
      </p:sp>
      <p:sp>
        <p:nvSpPr>
          <p:cNvPr id="19" name="TextBox 18"/>
          <p:cNvSpPr txBox="1"/>
          <p:nvPr/>
        </p:nvSpPr>
        <p:spPr>
          <a:xfrm>
            <a:off x="2971800" y="54864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0 за токен (своё железо)</a:t>
            </a:r>
          </a:p>
        </p:txBody>
      </p:sp>
      <p:sp>
        <p:nvSpPr>
          <p:cNvPr id="20" name="Rounded Rectangle 19"/>
          <p:cNvSpPr/>
          <p:nvPr/>
        </p:nvSpPr>
        <p:spPr>
          <a:xfrm>
            <a:off x="626364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2057400"/>
            <a:ext cx="4937760" cy="45720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Cloud (OpenAI, Anthropic, Yandex, Сбер)</a:t>
            </a:r>
          </a:p>
        </p:txBody>
      </p:sp>
      <p:sp>
        <p:nvSpPr>
          <p:cNvPr id="22" name="TextBox 21"/>
          <p:cNvSpPr txBox="1"/>
          <p:nvPr/>
        </p:nvSpPr>
        <p:spPr>
          <a:xfrm>
            <a:off x="6537959" y="2560320"/>
            <a:ext cx="49377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Размер: 200B+ параметров</a:t>
            </a:r>
          </a:p>
        </p:txBody>
      </p:sp>
      <p:sp>
        <p:nvSpPr>
          <p:cNvPr id="23" name="TextBox 22"/>
          <p:cNvSpPr txBox="1"/>
          <p:nvPr/>
        </p:nvSpPr>
        <p:spPr>
          <a:xfrm>
            <a:off x="6537959" y="2971800"/>
            <a:ext cx="4937760" cy="914400"/>
          </a:xfrm>
          <a:prstGeom prst="rect">
            <a:avLst/>
          </a:prstGeom>
          <a:noFill/>
        </p:spPr>
        <p:txBody>
          <a:bodyPr wrap="square" lIns="0" rIns="0" tIns="0" bIns="0" anchor="t">
            <a:spAutoFit/>
          </a:bodyPr>
          <a:lstStyle/>
          <a:p>
            <a:pPr algn="l">
              <a:lnSpc>
                <a:spcPct val="140000"/>
              </a:lnSpc>
            </a:pPr>
            <a:r>
              <a:rPr sz="1400" b="0" i="0">
                <a:solidFill>
                  <a:srgbClr val="21295C"/>
                </a:solidFill>
                <a:latin typeface="Liberation Mono"/>
              </a:rPr>
              <a:t>• GPT-5, Claude 4.7
• YandexGPT, GigaChat
• Gemini</a:t>
            </a:r>
          </a:p>
        </p:txBody>
      </p:sp>
      <p:sp>
        <p:nvSpPr>
          <p:cNvPr id="24" name="Rounded Rectangle 23"/>
          <p:cNvSpPr/>
          <p:nvPr/>
        </p:nvSpPr>
        <p:spPr>
          <a:xfrm>
            <a:off x="6537959" y="4242816"/>
            <a:ext cx="182880" cy="1828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41148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Качество</a:t>
            </a:r>
          </a:p>
        </p:txBody>
      </p:sp>
      <p:sp>
        <p:nvSpPr>
          <p:cNvPr id="26" name="TextBox 25"/>
          <p:cNvSpPr txBox="1"/>
          <p:nvPr/>
        </p:nvSpPr>
        <p:spPr>
          <a:xfrm>
            <a:off x="8732520" y="41148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лучше на сложных задачах</a:t>
            </a:r>
          </a:p>
        </p:txBody>
      </p:sp>
      <p:sp>
        <p:nvSpPr>
          <p:cNvPr id="27" name="Rounded Rectangle 26"/>
          <p:cNvSpPr/>
          <p:nvPr/>
        </p:nvSpPr>
        <p:spPr>
          <a:xfrm>
            <a:off x="6537959" y="47000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0568" y="45720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Задержка</a:t>
            </a:r>
          </a:p>
        </p:txBody>
      </p:sp>
      <p:sp>
        <p:nvSpPr>
          <p:cNvPr id="29" name="TextBox 28"/>
          <p:cNvSpPr txBox="1"/>
          <p:nvPr/>
        </p:nvSpPr>
        <p:spPr>
          <a:xfrm>
            <a:off x="8732520" y="45720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200–500 мс</a:t>
            </a:r>
          </a:p>
        </p:txBody>
      </p:sp>
      <p:sp>
        <p:nvSpPr>
          <p:cNvPr id="30" name="Rounded Rectangle 29"/>
          <p:cNvSpPr/>
          <p:nvPr/>
        </p:nvSpPr>
        <p:spPr>
          <a:xfrm>
            <a:off x="6537959" y="5157216"/>
            <a:ext cx="182880" cy="1828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50292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Контекст</a:t>
            </a:r>
          </a:p>
        </p:txBody>
      </p:sp>
      <p:sp>
        <p:nvSpPr>
          <p:cNvPr id="32" name="TextBox 31"/>
          <p:cNvSpPr txBox="1"/>
          <p:nvPr/>
        </p:nvSpPr>
        <p:spPr>
          <a:xfrm>
            <a:off x="8732520" y="50292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до 1M токенов</a:t>
            </a:r>
          </a:p>
        </p:txBody>
      </p:sp>
      <p:sp>
        <p:nvSpPr>
          <p:cNvPr id="33" name="Rounded Rectangle 32"/>
          <p:cNvSpPr/>
          <p:nvPr/>
        </p:nvSpPr>
        <p:spPr>
          <a:xfrm>
            <a:off x="6537959" y="5614416"/>
            <a:ext cx="182880" cy="1828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30568" y="5486400"/>
            <a:ext cx="1920239" cy="36576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Цена</a:t>
            </a:r>
          </a:p>
        </p:txBody>
      </p:sp>
      <p:sp>
        <p:nvSpPr>
          <p:cNvPr id="35" name="TextBox 34"/>
          <p:cNvSpPr txBox="1"/>
          <p:nvPr/>
        </p:nvSpPr>
        <p:spPr>
          <a:xfrm>
            <a:off x="8732520" y="5486400"/>
            <a:ext cx="3017520" cy="36576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оплата за токены, RU ≈ 2× 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pipeline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9436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8" name="TextBox 7"/>
          <p:cNvSpPr txBox="1"/>
          <p:nvPr/>
        </p:nvSpPr>
        <p:spPr>
          <a:xfrm>
            <a:off x="59436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Текст → id
из словаря (BPE)</a:t>
            </a:r>
          </a:p>
        </p:txBody>
      </p:sp>
      <p:sp>
        <p:nvSpPr>
          <p:cNvPr id="9" name="Right Arrow 8"/>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7195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470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3" name="TextBox 12"/>
          <p:cNvSpPr txBox="1"/>
          <p:nvPr/>
        </p:nvSpPr>
        <p:spPr>
          <a:xfrm>
            <a:off x="340614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4" name="TextBox 13"/>
          <p:cNvSpPr txBox="1"/>
          <p:nvPr/>
        </p:nvSpPr>
        <p:spPr>
          <a:xfrm>
            <a:off x="340614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id → вектор
из обученной таблицы</a:t>
            </a:r>
          </a:p>
        </p:txBody>
      </p:sp>
      <p:sp>
        <p:nvSpPr>
          <p:cNvPr id="15" name="Right Arrow 14"/>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8373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9" name="TextBox 18"/>
          <p:cNvSpPr txBox="1"/>
          <p:nvPr/>
        </p:nvSpPr>
        <p:spPr>
          <a:xfrm>
            <a:off x="621792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0" name="TextBox 19"/>
          <p:cNvSpPr txBox="1"/>
          <p:nvPr/>
        </p:nvSpPr>
        <p:spPr>
          <a:xfrm>
            <a:off x="621792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весов на контекст</a:t>
            </a:r>
          </a:p>
        </p:txBody>
      </p:sp>
      <p:sp>
        <p:nvSpPr>
          <p:cNvPr id="21" name="Right Arrow 20"/>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95510" y="256032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8260" y="262432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5" name="TextBox 24"/>
          <p:cNvSpPr txBox="1"/>
          <p:nvPr/>
        </p:nvSpPr>
        <p:spPr>
          <a:xfrm>
            <a:off x="9029700" y="3474720"/>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26" name="TextBox 25"/>
          <p:cNvSpPr txBox="1"/>
          <p:nvPr/>
        </p:nvSpPr>
        <p:spPr>
          <a:xfrm>
            <a:off x="9029700" y="4069080"/>
            <a:ext cx="2308860" cy="914400"/>
          </a:xfrm>
          <a:prstGeom prst="rect">
            <a:avLst/>
          </a:prstGeom>
          <a:noFill/>
        </p:spPr>
        <p:txBody>
          <a:bodyPr wrap="square" lIns="0" rIns="0" tIns="0" bIns="0" anchor="t">
            <a:spAutoFit/>
          </a:bodyPr>
          <a:lstStyle/>
          <a:p>
            <a:pPr algn="ctr">
              <a:lnSpc>
                <a:spcPct val="130000"/>
              </a:lnSpc>
            </a:pPr>
            <a:r>
              <a:rPr sz="1500" b="0" i="1">
                <a:solidFill>
                  <a:srgbClr val="21295C"/>
                </a:solidFill>
                <a:latin typeface="Arial"/>
              </a:rPr>
              <a:t>Распределение →
один токен (T / p / k)</a:t>
            </a:r>
          </a:p>
        </p:txBody>
      </p:sp>
      <p:sp>
        <p:nvSpPr>
          <p:cNvPr id="27" name="TextBox 26"/>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pipeline «inference моделью» — чёрным ящиком. Теперь он перестал быть чёрным.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трёх «почему» — связь обещаний и механизмов</a:t>
            </a:r>
          </a:p>
        </p:txBody>
      </p:sp>
      <p:sp>
        <p:nvSpPr>
          <p:cNvPr id="5" name="Rounded Rectangle 4"/>
          <p:cNvSpPr/>
          <p:nvPr/>
        </p:nvSpPr>
        <p:spPr>
          <a:xfrm>
            <a:off x="502920" y="201168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331720"/>
            <a:ext cx="868680" cy="868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59152"/>
            <a:ext cx="868680" cy="82296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8" name="TextBox 7"/>
          <p:cNvSpPr txBox="1"/>
          <p:nvPr/>
        </p:nvSpPr>
        <p:spPr>
          <a:xfrm>
            <a:off x="1874519" y="2194560"/>
            <a:ext cx="914400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Почему промпт с ролью работает лучше пустого?</a:t>
            </a:r>
          </a:p>
        </p:txBody>
      </p:sp>
      <p:sp>
        <p:nvSpPr>
          <p:cNvPr id="9" name="TextBox 8"/>
          <p:cNvSpPr txBox="1"/>
          <p:nvPr/>
        </p:nvSpPr>
        <p:spPr>
          <a:xfrm>
            <a:off x="1874519" y="2743200"/>
            <a:ext cx="9144000" cy="77724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0" name="Rounded Rectangle 9"/>
          <p:cNvSpPr/>
          <p:nvPr/>
        </p:nvSpPr>
        <p:spPr>
          <a:xfrm>
            <a:off x="502920" y="365760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3977639"/>
            <a:ext cx="868680" cy="8686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05072"/>
            <a:ext cx="868680" cy="82296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3" name="TextBox 12"/>
          <p:cNvSpPr txBox="1"/>
          <p:nvPr/>
        </p:nvSpPr>
        <p:spPr>
          <a:xfrm>
            <a:off x="1874519" y="3840480"/>
            <a:ext cx="914400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Почему AI плохо считает буквы?</a:t>
            </a:r>
          </a:p>
        </p:txBody>
      </p:sp>
      <p:sp>
        <p:nvSpPr>
          <p:cNvPr id="14" name="TextBox 13"/>
          <p:cNvSpPr txBox="1"/>
          <p:nvPr/>
        </p:nvSpPr>
        <p:spPr>
          <a:xfrm>
            <a:off x="1874519" y="4389120"/>
            <a:ext cx="9144000" cy="77724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303520"/>
            <a:ext cx="1124712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5623559"/>
            <a:ext cx="868680" cy="8686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650992"/>
            <a:ext cx="868680" cy="82296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1874519" y="5486400"/>
            <a:ext cx="9144000" cy="5029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Почему один и тот же запрос даёт разные ответы?</a:t>
            </a:r>
          </a:p>
        </p:txBody>
      </p:sp>
      <p:sp>
        <p:nvSpPr>
          <p:cNvPr id="19" name="TextBox 18"/>
          <p:cNvSpPr txBox="1"/>
          <p:nvPr/>
        </p:nvSpPr>
        <p:spPr>
          <a:xfrm>
            <a:off x="1874519" y="6035040"/>
            <a:ext cx="9144000" cy="77724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Сэмплинг — стохастический выбор из distribution при T &gt; 0. Каждый запуск может выбрать разный токен.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Decision tree: когда не LLM</a:t>
            </a:r>
          </a:p>
        </p:txBody>
      </p:sp>
      <p:sp>
        <p:nvSpPr>
          <p:cNvPr id="3" name="Rounded Rectangle 2"/>
          <p:cNvSpPr/>
          <p:nvPr/>
        </p:nvSpPr>
        <p:spPr>
          <a:xfrm>
            <a:off x="3581247" y="1508760"/>
            <a:ext cx="5029200" cy="68580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581247" y="1600200"/>
            <a:ext cx="5029200" cy="50292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Когда LLM — не правильный инструмент?</a:t>
            </a:r>
          </a:p>
        </p:txBody>
      </p:sp>
      <p:sp>
        <p:nvSpPr>
          <p:cNvPr id="5" name="Rectangle 4"/>
          <p:cNvSpPr/>
          <p:nvPr/>
        </p:nvSpPr>
        <p:spPr>
          <a:xfrm>
            <a:off x="229057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926080"/>
            <a:ext cx="731520" cy="731520"/>
          </a:xfrm>
          <a:prstGeom prst="rect">
            <a:avLst/>
          </a:prstGeom>
        </p:spPr>
      </p:pic>
      <p:sp>
        <p:nvSpPr>
          <p:cNvPr id="8" name="TextBox 7"/>
          <p:cNvSpPr txBox="1"/>
          <p:nvPr/>
        </p:nvSpPr>
        <p:spPr>
          <a:xfrm>
            <a:off x="1554480" y="3017520"/>
            <a:ext cx="2423160"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Фиксированные классы</a:t>
            </a:r>
          </a:p>
        </p:txBody>
      </p:sp>
      <p:sp>
        <p:nvSpPr>
          <p:cNvPr id="9" name="TextBox 8"/>
          <p:cNvSpPr txBox="1"/>
          <p:nvPr/>
        </p:nvSpPr>
        <p:spPr>
          <a:xfrm>
            <a:off x="731520" y="3840480"/>
            <a:ext cx="3154680" cy="86868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Классификация на маленьком наборе категорий (5–20)?</a:t>
            </a:r>
          </a:p>
        </p:txBody>
      </p:sp>
      <p:sp>
        <p:nvSpPr>
          <p:cNvPr id="10" name="TextBox 9"/>
          <p:cNvSpPr txBox="1"/>
          <p:nvPr/>
        </p:nvSpPr>
        <p:spPr>
          <a:xfrm>
            <a:off x="731520" y="4663440"/>
            <a:ext cx="3154680" cy="7315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Классический ML
logistic, XGBoost,
LightGBM, BERT fine-tuned</a:t>
            </a:r>
          </a:p>
        </p:txBody>
      </p:sp>
      <p:sp>
        <p:nvSpPr>
          <p:cNvPr id="11" name="Rectangle 10"/>
          <p:cNvSpPr/>
          <p:nvPr/>
        </p:nvSpPr>
        <p:spPr>
          <a:xfrm>
            <a:off x="608533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926080"/>
            <a:ext cx="731520" cy="731520"/>
          </a:xfrm>
          <a:prstGeom prst="rect">
            <a:avLst/>
          </a:prstGeom>
        </p:spPr>
      </p:pic>
      <p:sp>
        <p:nvSpPr>
          <p:cNvPr id="14" name="TextBox 13"/>
          <p:cNvSpPr txBox="1"/>
          <p:nvPr/>
        </p:nvSpPr>
        <p:spPr>
          <a:xfrm>
            <a:off x="5349240" y="3017520"/>
            <a:ext cx="2423160"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Интерпретируемость</a:t>
            </a:r>
          </a:p>
        </p:txBody>
      </p:sp>
      <p:sp>
        <p:nvSpPr>
          <p:cNvPr id="15" name="TextBox 14"/>
          <p:cNvSpPr txBox="1"/>
          <p:nvPr/>
        </p:nvSpPr>
        <p:spPr>
          <a:xfrm>
            <a:off x="4526280" y="3840480"/>
            <a:ext cx="3154680" cy="86868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Нужна интерпретируемость
(финансы, медицина, страхование)?</a:t>
            </a:r>
          </a:p>
        </p:txBody>
      </p:sp>
      <p:sp>
        <p:nvSpPr>
          <p:cNvPr id="16" name="TextBox 15"/>
          <p:cNvSpPr txBox="1"/>
          <p:nvPr/>
        </p:nvSpPr>
        <p:spPr>
          <a:xfrm>
            <a:off x="4526280" y="4663440"/>
            <a:ext cx="3154680" cy="7315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Прозрачные методы
logistic + feature imp,
decision trees, правила</a:t>
            </a:r>
          </a:p>
        </p:txBody>
      </p:sp>
      <p:sp>
        <p:nvSpPr>
          <p:cNvPr id="17" name="Rectangle 16"/>
          <p:cNvSpPr/>
          <p:nvPr/>
        </p:nvSpPr>
        <p:spPr>
          <a:xfrm>
            <a:off x="988009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926080"/>
            <a:ext cx="731520" cy="731520"/>
          </a:xfrm>
          <a:prstGeom prst="rect">
            <a:avLst/>
          </a:prstGeom>
        </p:spPr>
      </p:pic>
      <p:sp>
        <p:nvSpPr>
          <p:cNvPr id="20" name="TextBox 19"/>
          <p:cNvSpPr txBox="1"/>
          <p:nvPr/>
        </p:nvSpPr>
        <p:spPr>
          <a:xfrm>
            <a:off x="9144000" y="3017520"/>
            <a:ext cx="2423160"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Real-time</a:t>
            </a:r>
          </a:p>
        </p:txBody>
      </p:sp>
      <p:sp>
        <p:nvSpPr>
          <p:cNvPr id="21" name="TextBox 20"/>
          <p:cNvSpPr txBox="1"/>
          <p:nvPr/>
        </p:nvSpPr>
        <p:spPr>
          <a:xfrm>
            <a:off x="8321040" y="3840480"/>
            <a:ext cx="3154680" cy="868680"/>
          </a:xfrm>
          <a:prstGeom prst="rect">
            <a:avLst/>
          </a:prstGeom>
          <a:noFill/>
        </p:spPr>
        <p:txBody>
          <a:bodyPr wrap="square" lIns="0" rIns="0" tIns="0" bIns="0" anchor="t">
            <a:spAutoFit/>
          </a:bodyPr>
          <a:lstStyle/>
          <a:p>
            <a:pPr algn="l">
              <a:lnSpc>
                <a:spcPct val="130000"/>
              </a:lnSpc>
            </a:pPr>
            <a:r>
              <a:rPr sz="1400" b="0" i="1">
                <a:solidFill>
                  <a:srgbClr val="21295C"/>
                </a:solidFill>
                <a:latin typeface="Arial"/>
              </a:rPr>
              <a:t>Время отклика &lt; 100 ms критично
(антифрод, edge)?</a:t>
            </a:r>
          </a:p>
        </p:txBody>
      </p:sp>
      <p:sp>
        <p:nvSpPr>
          <p:cNvPr id="22" name="TextBox 21"/>
          <p:cNvSpPr txBox="1"/>
          <p:nvPr/>
        </p:nvSpPr>
        <p:spPr>
          <a:xfrm>
            <a:off x="8321040" y="4663440"/>
            <a:ext cx="3154680" cy="7315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 Специализированная
маленькая модель
(не LLM ≥200 мс)</a:t>
            </a:r>
          </a:p>
        </p:txBody>
      </p:sp>
      <p:sp>
        <p:nvSpPr>
          <p:cNvPr id="23" name="Rounded Rectangle 22"/>
          <p:cNvSpPr/>
          <p:nvPr/>
        </p:nvSpPr>
        <p:spPr>
          <a:xfrm>
            <a:off x="1981047" y="5760720"/>
            <a:ext cx="82296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81047" y="5897880"/>
            <a:ext cx="82296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103120"/>
            <a:ext cx="822960" cy="822960"/>
          </a:xfrm>
          <a:prstGeom prst="rect">
            <a:avLst/>
          </a:prstGeom>
        </p:spPr>
      </p:pic>
      <p:sp>
        <p:nvSpPr>
          <p:cNvPr id="6" name="TextBox 5"/>
          <p:cNvSpPr txBox="1"/>
          <p:nvPr/>
        </p:nvSpPr>
        <p:spPr>
          <a:xfrm>
            <a:off x="1691640" y="2103120"/>
            <a:ext cx="4114800" cy="822960"/>
          </a:xfrm>
          <a:prstGeom prst="rect">
            <a:avLst/>
          </a:prstGeom>
          <a:noFill/>
        </p:spPr>
        <p:txBody>
          <a:bodyPr wrap="square" lIns="0" rIns="0" tIns="0" bIns="0" anchor="ctr">
            <a:spAutoFit/>
          </a:bodyPr>
          <a:lstStyle/>
          <a:p>
            <a:pPr algn="l">
              <a:lnSpc>
                <a:spcPct val="115000"/>
              </a:lnSpc>
            </a:pPr>
            <a:r>
              <a:rPr sz="2400" b="1" i="0">
                <a:solidFill>
                  <a:srgbClr val="21295C"/>
                </a:solidFill>
                <a:latin typeface="Arial"/>
              </a:rPr>
              <a:t>Человек</a:t>
            </a:r>
          </a:p>
        </p:txBody>
      </p:sp>
      <p:sp>
        <p:nvSpPr>
          <p:cNvPr id="7" name="TextBox 6"/>
          <p:cNvSpPr txBox="1"/>
          <p:nvPr/>
        </p:nvSpPr>
        <p:spPr>
          <a:xfrm>
            <a:off x="777240" y="315467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3886200"/>
            <a:ext cx="4937760" cy="457200"/>
          </a:xfrm>
          <a:prstGeom prst="rect">
            <a:avLst/>
          </a:prstGeom>
          <a:noFill/>
        </p:spPr>
        <p:txBody>
          <a:bodyPr wrap="square" lIns="0" rIns="0" tIns="0" bIns="0" anchor="t">
            <a:spAutoFit/>
          </a:bodyPr>
          <a:lstStyle/>
          <a:p>
            <a:pPr algn="l">
              <a:lnSpc>
                <a:spcPct val="115000"/>
              </a:lnSpc>
            </a:pPr>
            <a:r>
              <a:rPr sz="1600" b="0" i="1">
                <a:solidFill>
                  <a:srgbClr val="21295C"/>
                </a:solidFill>
                <a:latin typeface="Arial"/>
              </a:rPr>
              <a:t>Модель причинности — строит механизмы.</a:t>
            </a:r>
          </a:p>
        </p:txBody>
      </p:sp>
      <p:sp>
        <p:nvSpPr>
          <p:cNvPr id="9" name="TextBox 8"/>
          <p:cNvSpPr txBox="1"/>
          <p:nvPr/>
        </p:nvSpPr>
        <p:spPr>
          <a:xfrm>
            <a:off x="777240" y="4709160"/>
            <a:ext cx="4937760" cy="141732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Опирается на физическую интуицию, доменные знания, знание механизмов мира.</a:t>
            </a:r>
          </a:p>
        </p:txBody>
      </p:sp>
      <p:sp>
        <p:nvSpPr>
          <p:cNvPr id="10" name="Rounded Rectangle 9"/>
          <p:cNvSpPr/>
          <p:nvPr/>
        </p:nvSpPr>
        <p:spPr>
          <a:xfrm>
            <a:off x="626364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103120"/>
            <a:ext cx="822960" cy="822960"/>
          </a:xfrm>
          <a:prstGeom prst="rect">
            <a:avLst/>
          </a:prstGeom>
        </p:spPr>
      </p:pic>
      <p:sp>
        <p:nvSpPr>
          <p:cNvPr id="12" name="TextBox 11"/>
          <p:cNvSpPr txBox="1"/>
          <p:nvPr/>
        </p:nvSpPr>
        <p:spPr>
          <a:xfrm>
            <a:off x="7452360" y="2103120"/>
            <a:ext cx="4114800" cy="822960"/>
          </a:xfrm>
          <a:prstGeom prst="rect">
            <a:avLst/>
          </a:prstGeom>
          <a:noFill/>
        </p:spPr>
        <p:txBody>
          <a:bodyPr wrap="square" lIns="0" rIns="0" tIns="0" bIns="0" anchor="ctr">
            <a:spAutoFit/>
          </a:bodyPr>
          <a:lstStyle/>
          <a:p>
            <a:pPr algn="l">
              <a:lnSpc>
                <a:spcPct val="115000"/>
              </a:lnSpc>
            </a:pPr>
            <a:r>
              <a:rPr sz="2400" b="1" i="0">
                <a:solidFill>
                  <a:srgbClr val="21295C"/>
                </a:solidFill>
                <a:latin typeface="Arial"/>
              </a:rPr>
              <a:t>AI (через attention)</a:t>
            </a:r>
          </a:p>
        </p:txBody>
      </p:sp>
      <p:sp>
        <p:nvSpPr>
          <p:cNvPr id="13" name="TextBox 12"/>
          <p:cNvSpPr txBox="1"/>
          <p:nvPr/>
        </p:nvSpPr>
        <p:spPr>
          <a:xfrm>
            <a:off x="6537959" y="315467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3886200"/>
            <a:ext cx="4937760" cy="457200"/>
          </a:xfrm>
          <a:prstGeom prst="rect">
            <a:avLst/>
          </a:prstGeom>
          <a:noFill/>
        </p:spPr>
        <p:txBody>
          <a:bodyPr wrap="square" lIns="0" rIns="0" tIns="0" bIns="0" anchor="t">
            <a:spAutoFit/>
          </a:bodyPr>
          <a:lstStyle/>
          <a:p>
            <a:pPr algn="l">
              <a:lnSpc>
                <a:spcPct val="115000"/>
              </a:lnSpc>
            </a:pPr>
            <a:r>
              <a:rPr sz="1600" b="0" i="1">
                <a:solidFill>
                  <a:srgbClr val="21295C"/>
                </a:solidFill>
                <a:latin typeface="Arial"/>
              </a:rPr>
              <a:t>Статистическая корреляция, не причинность.</a:t>
            </a:r>
          </a:p>
        </p:txBody>
      </p:sp>
      <p:sp>
        <p:nvSpPr>
          <p:cNvPr id="15" name="TextBox 14"/>
          <p:cNvSpPr txBox="1"/>
          <p:nvPr/>
        </p:nvSpPr>
        <p:spPr>
          <a:xfrm>
            <a:off x="6537959" y="4709160"/>
            <a:ext cx="4937760" cy="1417320"/>
          </a:xfrm>
          <a:prstGeom prst="rect">
            <a:avLst/>
          </a:prstGeom>
          <a:noFill/>
        </p:spPr>
        <p:txBody>
          <a:bodyPr wrap="square" lIns="0" rIns="0" tIns="0" bIns="0" anchor="t">
            <a:spAutoFit/>
          </a:bodyPr>
          <a:lstStyle/>
          <a:p>
            <a:pPr algn="l">
              <a:lnSpc>
                <a:spcPct val="130000"/>
              </a:lnSpc>
            </a:pPr>
            <a:r>
              <a:rPr sz="15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16" name="Rounded Rectangle 15"/>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4" name="Rounded Rectangle 3"/>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05940" y="2148839"/>
            <a:ext cx="1005840" cy="1005840"/>
          </a:xfrm>
          <a:prstGeom prst="rect">
            <a:avLst/>
          </a:prstGeom>
        </p:spPr>
      </p:pic>
      <p:sp>
        <p:nvSpPr>
          <p:cNvPr id="6" name="TextBox 5"/>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7" name="TextBox 6"/>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11" name="TextBox 10"/>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12" name="TextBox 11"/>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13" name="TextBox 12"/>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395460" y="2148839"/>
            <a:ext cx="1005840" cy="1005840"/>
          </a:xfrm>
          <a:prstGeom prst="rect">
            <a:avLst/>
          </a:prstGeom>
        </p:spPr>
      </p:pic>
      <p:sp>
        <p:nvSpPr>
          <p:cNvPr id="16" name="TextBox 15"/>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17" name="TextBox 16"/>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18" name="TextBox 17"/>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19" name="Rounded Rectangle 18"/>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21" name="TextBox 20"/>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22" name="TextBox 21"/>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23" name="Rounded Rectangle 22"/>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25" name="TextBox 24"/>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single-shot inference</a:t>
            </a:r>
          </a:p>
        </p:txBody>
      </p:sp>
      <p:sp>
        <p:nvSpPr>
          <p:cNvPr id="4" name="Rounded Rectangle 3"/>
          <p:cNvSpPr/>
          <p:nvPr/>
        </p:nvSpPr>
        <p:spPr>
          <a:xfrm>
            <a:off x="502920" y="1874519"/>
            <a:ext cx="5486400" cy="2011680"/>
          </a:xfrm>
          <a:prstGeom prst="roundRect">
            <a:avLst>
              <a:gd name="adj" fmla="val 1515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48839"/>
            <a:ext cx="868680" cy="868680"/>
          </a:xfrm>
          <a:prstGeom prst="rect">
            <a:avLst/>
          </a:prstGeom>
        </p:spPr>
      </p:pic>
      <p:sp>
        <p:nvSpPr>
          <p:cNvPr id="6" name="TextBox 5"/>
          <p:cNvSpPr txBox="1"/>
          <p:nvPr/>
        </p:nvSpPr>
        <p:spPr>
          <a:xfrm>
            <a:off x="1737360" y="205740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RAG</a:t>
            </a:r>
          </a:p>
        </p:txBody>
      </p:sp>
      <p:sp>
        <p:nvSpPr>
          <p:cNvPr id="7" name="TextBox 6"/>
          <p:cNvSpPr txBox="1"/>
          <p:nvPr/>
        </p:nvSpPr>
        <p:spPr>
          <a:xfrm>
            <a:off x="1737360" y="256032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063239"/>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embedding similarity + LLM → ответ из вашей базы</a:t>
            </a:r>
          </a:p>
        </p:txBody>
      </p:sp>
      <p:sp>
        <p:nvSpPr>
          <p:cNvPr id="9" name="Rounded Rectangle 8"/>
          <p:cNvSpPr/>
          <p:nvPr/>
        </p:nvSpPr>
        <p:spPr>
          <a:xfrm>
            <a:off x="6172200" y="1874519"/>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00800" y="2148839"/>
            <a:ext cx="868680" cy="868680"/>
          </a:xfrm>
          <a:prstGeom prst="rect">
            <a:avLst/>
          </a:prstGeom>
        </p:spPr>
      </p:pic>
      <p:sp>
        <p:nvSpPr>
          <p:cNvPr id="11" name="TextBox 10"/>
          <p:cNvSpPr txBox="1"/>
          <p:nvPr/>
        </p:nvSpPr>
        <p:spPr>
          <a:xfrm>
            <a:off x="7406640" y="205740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Tools / Function calling</a:t>
            </a:r>
          </a:p>
        </p:txBody>
      </p:sp>
      <p:sp>
        <p:nvSpPr>
          <p:cNvPr id="12" name="TextBox 11"/>
          <p:cNvSpPr txBox="1"/>
          <p:nvPr/>
        </p:nvSpPr>
        <p:spPr>
          <a:xfrm>
            <a:off x="7406640" y="256032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46520" y="3063239"/>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06908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343400"/>
            <a:ext cx="868680" cy="868680"/>
          </a:xfrm>
          <a:prstGeom prst="rect">
            <a:avLst/>
          </a:prstGeom>
        </p:spPr>
      </p:pic>
      <p:sp>
        <p:nvSpPr>
          <p:cNvPr id="16" name="TextBox 15"/>
          <p:cNvSpPr txBox="1"/>
          <p:nvPr/>
        </p:nvSpPr>
        <p:spPr>
          <a:xfrm>
            <a:off x="1737360" y="425196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MCP</a:t>
            </a:r>
          </a:p>
        </p:txBody>
      </p:sp>
      <p:sp>
        <p:nvSpPr>
          <p:cNvPr id="17" name="TextBox 16"/>
          <p:cNvSpPr txBox="1"/>
          <p:nvPr/>
        </p:nvSpPr>
        <p:spPr>
          <a:xfrm>
            <a:off x="1737360" y="475488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257800"/>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72200" y="406908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00800" y="4343400"/>
            <a:ext cx="868680" cy="868680"/>
          </a:xfrm>
          <a:prstGeom prst="rect">
            <a:avLst/>
          </a:prstGeom>
        </p:spPr>
      </p:pic>
      <p:sp>
        <p:nvSpPr>
          <p:cNvPr id="21" name="TextBox 20"/>
          <p:cNvSpPr txBox="1"/>
          <p:nvPr/>
        </p:nvSpPr>
        <p:spPr>
          <a:xfrm>
            <a:off x="7406640" y="4251960"/>
            <a:ext cx="41148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Agent loop</a:t>
            </a:r>
          </a:p>
        </p:txBody>
      </p:sp>
      <p:sp>
        <p:nvSpPr>
          <p:cNvPr id="22" name="TextBox 21"/>
          <p:cNvSpPr txBox="1"/>
          <p:nvPr/>
        </p:nvSpPr>
        <p:spPr>
          <a:xfrm>
            <a:off x="7406640" y="4754880"/>
            <a:ext cx="41148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act → observe → reflect</a:t>
            </a:r>
          </a:p>
        </p:txBody>
      </p:sp>
      <p:sp>
        <p:nvSpPr>
          <p:cNvPr id="23" name="TextBox 22"/>
          <p:cNvSpPr txBox="1"/>
          <p:nvPr/>
        </p:nvSpPr>
        <p:spPr>
          <a:xfrm>
            <a:off x="6446520" y="5257800"/>
            <a:ext cx="5029200" cy="77724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Модель решает действие, видит результат, корректирует план</a:t>
            </a:r>
          </a:p>
        </p:txBody>
      </p:sp>
      <p:sp>
        <p:nvSpPr>
          <p:cNvPr id="24" name="Rounded Rectangle 23"/>
          <p:cNvSpPr/>
          <p:nvPr/>
        </p:nvSpPr>
        <p:spPr>
          <a:xfrm>
            <a:off x="502920" y="6172200"/>
            <a:ext cx="11247120" cy="594360"/>
          </a:xfrm>
          <a:prstGeom prst="roundRect">
            <a:avLst>
              <a:gd name="adj" fmla="val 3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217920"/>
            <a:ext cx="10972800" cy="27432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Q&amp;A</a:t>
            </a:r>
          </a:p>
        </p:txBody>
      </p:sp>
      <p:sp>
        <p:nvSpPr>
          <p:cNvPr id="26" name="TextBox 25"/>
          <p:cNvSpPr txBox="1"/>
          <p:nvPr/>
        </p:nvSpPr>
        <p:spPr>
          <a:xfrm>
            <a:off x="777240" y="6464808"/>
            <a:ext cx="10972800" cy="274320"/>
          </a:xfrm>
          <a:prstGeom prst="rect">
            <a:avLst/>
          </a:prstGeom>
          <a:noFill/>
        </p:spPr>
        <p:txBody>
          <a:bodyPr wrap="square" lIns="0" rIns="0" tIns="0" bIns="0" anchor="t">
            <a:spAutoFit/>
          </a:bodyPr>
          <a:lstStyle/>
          <a:p>
            <a:pPr algn="l">
              <a:lnSpc>
                <a:spcPct val="115000"/>
              </a:lnSpc>
            </a:pPr>
            <a:r>
              <a:rPr sz="14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