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с проверки. Перед вами шесть утверждений о том, как работают большие языковые модели. Все шесть звучат правдоподобно; каждое можно услышать от людей, которые пользуются LLM ежедневно и в целом понимают, что делают. Прочитайте список и честно отметьте, с какими вы согласны. Поднимите руки: кто согласен хотя бы с одним? С тремя? С пятью?</a:t>
            </a:r>
          </a:p>
          <a:p>
            <a:r>
              <a:t>Теперь ответ — и он жёстче, чем обычно бывает в таких проверках: все шесть утверждений ложны. Не «спорны», не «зависят от контекста» — ложны, и для каждого есть конкретный внутренний механизм, который объясняет, почему. Если вы согласились хотя бы с одним — эта лекция для вас. Если не согласились ни с одним, но не можете назвать механизм, — тоже.</a:t>
            </a:r>
          </a:p>
          <a:p>
            <a:r>
              <a:t>Почему такие заблуждения устойчивы именно у опытных пользователей? Практический опыт формирует модель в голове по наблюдениям, а наблюдения систематически подтверждают «почти правду»: strawberry действительно отвечается правильно, T=0 действительно даёт одинаковые ответы почти всегда, роль действительно ведёт себя как защищённая — пока никто не атакует. Каждое заблуждение — корректная экстраполяция честных наблюдений за границу, где механизм ломается; а границу в повседневной работе видно редко: она проявляется под нагрузкой, под атакой или в счёте за месяц. Ровно поэтому сегодняшняя лекция устроена как проверка границ, а не пересказ основ. К этому списку мы вернёмся в самом конце — и у каждой строки появится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вторая лекция курса, и у неё особый жанр. Обычно лекция «как работают LLM» рассказывается для тех, кто впервые слышит слова «токен» и «температура». У нас другая ситуация: вы — опытные пользователи, многие ежедневно пишут код с LLM-ассистентами. Основы вы знаете — возможно, несистемно; поэтому сегодняшний тон — систематизация и уточнение, а не открытие: «вы знали X — вот где граница X».</a:t>
            </a:r>
          </a:p>
          <a:p>
            <a:r>
              <a:t>Каркас лекции — конвейер инференса: путь одного запроса от текста до ответа. Текст режется на токены, токены превращаются в векторы, механизм внимания решает, какие части контекста важны, из распределения вероятностей выбирается очередной токен — и цикл повторяется. Четыре стадии — четыре раздела; пятый раздел собирает конвейер целиком и добавляет карту местности: какие модели есть на сентябрь 2026 года и почему выбирать их по бенчмаркам — плохая идея.</a:t>
            </a:r>
          </a:p>
          <a:p>
            <a:r>
              <a:t>А поверх каркаса работает чек-лист, с которого мы начали: шесть правдоподобных ложных утверждений. Каждое закроется в том разделе, где живёт его механизм, и в финале мы соберём весь список заново — уже с ответами. Двинемся по карте.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Короткая карта маршрута, прежде чем погружаться. Лекция идёт вдоль конвейера инференса: порядок разделов повторяет порядок стадий, через которые проходит каждый ваш запрос.</a:t>
            </a:r>
          </a:p>
          <a:p>
            <a:r>
              <a:t>Раздел 1 — токенизация: как модель видит текст. Здесь выяснится, почему «исправленный» strawberry ничего не доказывает, и начнётся разговор о том, что роли в запросе — это тоже токены. Раздел 2 — эмбеддинги: пространство смыслов, три разные вещи, которые называют одним словом «эмбеддинг», и граница, на которой семантическая похожесть перестаёт означать полезность. Раздел 3 — механизм внимания: почему роль работает — и почему подделанная роль работает так же; что на самом деле умеет окно в миллион токенов; откуда берётся экономика кэширования. Раздел 4 — сэмплинг: температура, причина, по которой T=0 не даёт детерминизма, и невидимые токены рассуждения, которые вы оплачиваете. Раздел 5 — сборка: конвейер целиком, карта моделей на сентябрь 2026 года, разбор того, почему бенчмаркам нельзя верить на слово, — и возврат к чек-листу с первого слайда, уже с механизмами.</a:t>
            </a:r>
          </a:p>
          <a:p>
            <a:r>
              <a:t>Маленькие метки на карточках — это позиции чек-листа: видно, в каком разделе закрывается каждое из шести утверждений; M2 закрывается в два шага — начало в Разделе 1, завершение в Разделе 3. Держите карту в голове — она не даст потеряться в деталях.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Фиксируем рамку — не «вспоминаем», а именно фиксируем известное. Лекция 1 дала слоистую картину: внизу модель, над ней цикл чата с системным промптом и историей, над чатом — агентный цикл, сверху — приложение. Модель там описана как stateless-инференс: на вход данные, на выход предсказание, без памяти между вызовами. Оттуда же у нас есть контекстное окно как ограничение, различие локальных и облачных моделей и три уровня причинности Пе́рла — всё это сегодня считается известным и используется без повторного вывода.</a:t>
            </a:r>
          </a:p>
          <a:p>
            <a:r>
              <a:t>С этим описанием мы умеем говорить о том, где модель находится в большей системе. Но вопрос «что именно происходит внутри этой функции между запросом и ответом» Лекция 1 сознательно оставила чёрным ящиком. Сегодня мы этот ящик разбираем — и всё, что произойдёт на этой лекции, происходит внутри одного-единственного слоя, нижнего. Чат, агенты, RAG и приложения строятся поверх и обсуждаются в Лекции 3 и дальше.</a:t>
            </a:r>
          </a:p>
          <a:p>
            <a:r>
              <a:t>Важно понимать жанр этого разбора. Мы не пересказываем устройство трансформера ради полноты — мы идём за границами: в каких местах внутреннее устройство модели меняет то, как вы строите промпты, агентов и решения. Каждый механизм в лекции выбран потому, что у него есть наблюдаемое инженерное следствие — в стоимости, скорости, качестве или воспроизводимости.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Центральный вопрос лекции звучит так: насколько точна ваша ментальная модель LLM — и какие из внутренних механизмов, которые вы знаете приблизительно, при точном понимании меняют то, как вы строите промпты, агентов и решения. Обратите внимание на слово «приблизительно». Эта лекция почти не сообщает опытному пользователю фактов вида «существует такая вещь, как токен» — вы это знаете. Она делает другое: проводит границы.</a:t>
            </a:r>
          </a:p>
          <a:p>
            <a:r>
              <a:t>Вы знаете, что токенизация есть, — мы покажем, где именно она ломает арифметику и почему «исправленный» strawberry ничего не доказывает. Вы знаете, что роль в промпте работает, — мы покажем механизм, из-за которого она работает, и его обратную сторону: тот же механизм делает роль подделываемой. Вы пользуетесь temperature=0 для воспроизводимости — мы покажем, почему воспроизводимости всё равно нет и сколько стоит её получить по-настоящему. Добавим к этому реальную цену невидимых токенов рассуждения и то, чем заменить веру в бенчмарки при выборе модели.</a:t>
            </a:r>
          </a:p>
          <a:p>
            <a:r>
              <a:t>Шесть строк под вопросом — это те же шесть утверждений чек-листа, переформулированные как обещания: на каждое к концу лекции будет ответ через конкретный механизм, а не через интуицию. Если по ходу покажется, что какой-то механизм не влияет на практику, — ловите меня на слове: таких мы сегодня не разбираем.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опорная схема всей лекции — конвейер inference, путь одного запроса от текста до ответа. Посмотрим на него целиком, до первого погружения; дальше мы будем возвращаться к нему на входе в каждый раздел.</a:t>
            </a:r>
          </a:p>
          <a:p>
            <a:r>
              <a:t>Слева — ваш текст. Первое преобразование — токенизация: текст режется на токены, идентификаторы из словаря модели; это Раздел 1. Дальше каждый токен превращается в вектор — список чисел, с которыми нейросеть умеет считать; это Раздел 2. В центре — сама модель: механизм внимания решает, какие части контекста важны для следующего шага; это Раздел 3. На выходе модель выдаёт не ответ, а распределение вероятностей по всему словарю; из него выбирается один очередной токен, он приклеивается к контексту — и цикл повторяется; это Раздел 4. Последний шаг — выбранные токены собираются обратно в текст.</a:t>
            </a:r>
          </a:p>
          <a:p>
            <a:r>
              <a:t>Главное наблюдение: слова существуют только на границах конвейера — на входе и на выходе. Всё внутри — операции над векторами.</a:t>
            </a:r>
          </a:p>
          <a:p>
            <a:r>
              <a:t>Эта ось — не только про сегодня. Все последующие лекции курса лягут на неё же: RAG — это управление тем, что попадает в контекст до конвейера; агенты — цикл вокруг конвейера; оптимизация стоимости — экономика конвейера. А шесть утверждений чек-листа закрываются по ходу движения по оси — каждое в том разделе, где живёт его механизм.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Входим в первую стадию конвейера — токенизацию. Это самый ближний к вам слой: именно с ним сталкивается текст, как только вы нажимаете «отправить». Текст не попадает в модель ни буквами, ни словами — он режется на токены, статистически частые подпоследовательности из словаря модели.</a:t>
            </a:r>
          </a:p>
          <a:p>
            <a:r>
              <a:t>Определение токена вы знаете, поэтому базу мы пройдём быстро и точно — она нужна как общий фундамент. Основное время раздела уйдёт на второй этаж: места, где частотная нарезка расходится со структурой ваших данных. Разберём, как роли system и user на самом деле попадают в модель — и почему это не защищённая структура. Посмотрим на диагноз 2026 года по классическому мему про подсчёт букв: что именно доказывает модель, которая проходит strawberry и ошибается на cranberry. Увидим, что токенизатор делает с числами и кодом и почему это ломает арифметику. Познакомимся с glitch-токенами — недообученными углами словаря, которые никуда не делись и в современных моделях. И закроем раздел экономикой: сколько стоит один и тот же текст на разных языках и что с этим делать при настройке лимитов.</a:t>
            </a:r>
          </a:p>
          <a:p>
            <a:r>
              <a:t>Общий принцип раздела: у каждой странности токенизации есть механизм, а у механизма — проверяемое инженерное следствие.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точное определение — большинство знает его приблизительно, и именно приблизительность потом мешает. Токен — это идентификатор, целое число из словаря модели; словарь зафиксирован при обучении и не меняется в момент использования. Токен — не буква и не слово, а статистически частая подпоследовательность символов, выученная на корпусе. Частое английское `cat` попадает в словарь целиком; `tokenization` распадается на два токена; `клубника` — на три в том же словаре o200k_base. Размер словаря у современных моделей — порядка сотен тысяч записей: около 200 тысяч у семейства GPT-4o и новее, около 100 тысяч у предыдущих поколений, 128 256 у Llama 3 и новее. Рабочий ориентир стоимости: один токен — примерно четыре символа английского и примерно два символа русского текста.</a:t>
            </a:r>
          </a:p>
          <a:p>
            <a:r>
              <a:t>Одно уточнение, которое часто теряется: словарь и модель — два разных артефакта. Словарь строится отдельным алгоритмом на своём корпусе до обучения модели; модель потом учится работать с этим словарём на своём корпусе. Эта развязка — источник целого класса эффектов, к которым мы вернёмся в этом разделе.</a:t>
            </a:r>
          </a:p>
          <a:p>
            <a:r>
              <a:t>И ответ на резонный вопрос «почему не работать посимвольно»: экономика длины. Посимвольное представление удлиняет вход в три-пять раз, а стоимость внимания растёт с длиной квадратично — вчетверо длиннее вход означает в шестнадцать раз дороже слой внимания. Токенизация со всеми её артефактами — осознанно купленный компромисс, а не недосмотр, который «починят в следующей версии».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Алгоритм построения словарей большинства современных LLM — BPE, байт-парное кодирование. Это компромисс между двумя крайностями. Словарь из отдельных символов представит любой текст, но последовательности получаются длинными. Словарь из целых слов даёт короткие последовательности, но любое незнакомое слово — опечатка, неологизм, имя — выпадает. BPE сидит посередине: начинаем с алфавита, итеративно объединяем самые частые пары соседних единиц; после многих итераций в словаре есть и одиночные символы, и частые слоги, и целые высокочастотные слова.</a:t>
            </a:r>
          </a:p>
          <a:p>
            <a:r>
              <a:t>Ключевая инженерная деталь: словарь строится один раз, до обучения модели. На корпусе запускают BPE, фиксируют словарь и правила слияния — и всё; на инференсе токенизация — это выборка по готовой таблице за миллисекунды. Отсюда два следствия, которые пригодятся ниже: токенизатор режет по частотной статистике своего корпуса, и эта статистика может не совпадать со структурой вашей задачи; а раз словарь и модель обучаются на разных корпусах — в словаре могут остаться записи, которые модель почти не видела.</a:t>
            </a:r>
          </a:p>
          <a:p>
            <a:r>
              <a:t>Практически важно и другое: разные вендоры считают один и тот же текст по-разному — свои словари, таблицы слияния, обработка пробелов. Один документ у разных провайдеров даст разное число токенов, а значит, разную стоимость и разное заполнение окна. При переносе нагрузки между провайдерами пересчитывайте токен-бюджет: для моделей OpenAI токенизация эмулируется локально библиотекой tiktoken, для открытых моделей — библиотекой tokenizers; токенизатор Claude закрыт, но фактический расход виден в счётчиках любого ответа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знаете, что сообщения в API имеют роли: system, user, assistant. Опытные пользователи часто представляют роли как структурные поля — метаданные, которые модель получает «отдельным каналом». Такого канала не существует: роли — это те же токены в общем линейном потоке.</a:t>
            </a:r>
          </a:p>
          <a:p>
            <a:r>
              <a:t>Прежде чем список сообщений попадает в модель, он прогоняется через chat-шаблон — правило сборки одной плоской последовательности токенов из структурированного диалога. В формате ChatML, ставшем фактическим стандартом, сообщение оборачивается специальными токенами — служебными записями словаря, не встречающимися в обычном тексте. В экосистеме Hugging Face шаблон хранится буквально как Jinja-шаблон в файле настроек токенизатора — его можно открыть и прочитать. Деталь: имя роли — обычная строка после спецтокена, а не отдельный спецтокен; именно поэтому провайдеры добавляли новые роли без перевыпуска словаря. И практический след: локальная модель, запущенная с чужим chat-шаблоном, не выдаёт ошибку — она просто заметно глупеет; проверка шаблона — первый пункт диагностики.</a:t>
            </a:r>
          </a:p>
          <a:p>
            <a:r>
              <a:t>Следствие для всех, кто строит агентов: если роль — последовательность токенов, то текст, похожий на разметку роли, может попасть в поток из внешнего контента. Атаки класса Special Token Injection — подделка роли: в страницу или файл вставляют строку вида «начало реплики assistant», и модель в части случаев верит. Исследования показывают, что «кто говорит» модель определяет в значительной мере стилистически, а не по формальной метке. Защита строится на экранировании и детекции спецтокенов до подачи в модель. Здесь мы закрыли половину вопроса: роль — не защищённая структура. Почему она вообще работает — увидим в разделе про внимание; разбор prompt injection целиком —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Мем «сколько r в strawberry» вы знаете; вероятно, знаете и то, что современные модели отвечают на него правильно. Вывод «значит, научились считать буквы» — ложный, и вот почему.</a:t>
            </a:r>
          </a:p>
          <a:p>
            <a:r>
              <a:t>Механизм — слепота к буквам. Слово приходит в модель как три токена, а не десять букв. Внутри выученного вектора токена нет поля «содержит r на такой-то позиции» — там статистика контекстов. Посимвольный подсчёт требует рассуждения поверх токенизированного представления — разворачивания слова по буквам или вызова кода; один прямой проход к надёжному ответу не приводит. Это структурное свойство конвейера.</a:t>
            </a:r>
          </a:p>
          <a:p>
            <a:r>
              <a:t>Теперь 2026 год. GPT-5.2 в декабре 2025-го всё ещё отвечал «две r». GPT-5.5, выпущенный в апреле 2026-го, проходит strawberry — но на вопрос «сколько r в cranberry» отвечает «две»; правильно — три. Проверим прямо сейчас на актуальной модели — спросите свою про cranberry. Диагноз красноречив: навык посимвольного счёта работал бы на любом слове; фикс, который чинит strawberry и не чинит cranberry, — точечный патч на вирусный вопрос. Для систематической проверки появился StrawberryBench — 847 вопросов в семи уровнях сложности.</a:t>
            </a:r>
          </a:p>
          <a:p>
            <a:r>
              <a:t>У явления есть имя: «рваный интеллект» — профиль способностей с резкими провалами рядом с пиками. Та же модель решает олимпиадную математику и проваливает подсчёт букв; на умножении GPT-4 без инструментов давал около 59% на трёхзначных числах, 4% на четырёхзначных и 0% на пятизначных. Урок переносим в практику: если модель прошла ваш тест — проверьте её на «cranberry вашей предметной области», структурно аналогичном, но незнаменитом примере. А для посимвольных операций и арифметики — внешний инструмент, не прямой проход.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компактных примера того, как частотная нарезка расходится со структурой данных, — числа и код.</a:t>
            </a:r>
          </a:p>
          <a:p>
            <a:r>
              <a:t>Числа. Токенизатор cl100k_base стандартизировал нарезку чисел чанками по три цифры слева направо: миллион превращается в группы, границы которых не совпадают с разрядами. Человек читает разряды справа налево — тысячи, миллионы; модель получает нерегулярные блоки — и это прямой источник части арифметических ошибок. Исследования подтверждают диагноз с обеих сторон: принудительная нарезка справа налево заметно улучшает численное рассуждение, а задача-специфичные схемы токенизации чисел давали до плюс тридцати трёх процентов точности на арифметике с большими числами относительно стандартной нарезки.</a:t>
            </a:r>
          </a:p>
          <a:p>
            <a:r>
              <a:t>Код. GPT-2 кодировал каждый пробел отступа отдельным токеном: строка на четвёртом уровне вложенности тратила шестнадцать токенов только на отступ. Токенизаторы поколения GPT-4 группируют пробелы в единые токены, целясь именно в Python-стиль. Это редкий случай, когда проблему токенизации починили изменением словаря, — полезный контраст к strawberry: словарь можно оптимизировать под частый класс входов, но нельзя совместить нарезку со структурой всех задач сразу.</a:t>
            </a:r>
          </a:p>
          <a:p>
            <a:r>
              <a:t>Три приёма на вынос. Значимые числа записывайте с разделителями разрядов — «1 234 567» вместо сплошной строки: разделители выравнивают границы токенов по разрядам. Любую арифметику важнее прикидки выносите в инструмент — модели прекрасно пишут код для вычислений, которые не могут выполнить сами. Для кода — единообразное форматирование и оценка бюджета по измерению на реальных файлах: средний ориентир «четыре символа на токен» для кода систематически врёт.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январе 2023 года исследователи, изучая кластеры в пространстве эмбеддингов GPT-моделей, наткнулись на группу странных записей словаря — строки вроде SolidGoldMagikarp: юзернеймы с Reddit, попавшие в корпус токенизатора при сборе данных. Модели вели себя на этих токенах аномально: не могли их повторить, отвечали невпопад, уходили от темы. Так были открыты glitch-токены — записи словаря, чьи эмбеддинги остались фактически недообученными.</a:t>
            </a:r>
          </a:p>
          <a:p>
            <a:r>
              <a:t>Механизм возвращает нас к развязке «словарь и модель — два разных артефакта». Строка может быть частой в корпусе, на котором строился словарь, и получить собственный токен — но почти не встречаться в корпусе, на котором потом обучалась модель. Эмбеддинг такого токена остаётся близким к случайной инициализации, и когда токен появляется на входе, модель работает с вектором, который ничего не значит в её выученной геометрии.</a:t>
            </a:r>
          </a:p>
          <a:p>
            <a:r>
              <a:t>Могло показаться, что это курьёз эпохи GPT-3. Данные 2026 года говорят обратное: по одной из оценок, порядка четырёх процентов записей словаря протестированных моделей — glitch-токены, а фреймворк GlitchMiner находит их градиентным поиском в десяти открытых LLM семейств Llama, Qwen, Gemma, Phi-3 и Mistral. Проблема воспроизводится во всех проверенных семействах, потому что она — не баг версии, а системное свойство конвейера, где словарь строится отдельно от модели; масштабом такое не чинится. Практический вывод скромный, но полезный: если модель неадекватна на входе с экзотическими строками — редкие идентификаторы, обфусцированный текст, необычный Unicode, — среди гипотез должна быть «на входе glitch-токен»; проверяется заменой строки на плейсхолдер.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и тот же по смыслу текст стоит разное число токенов в зависимости от языка — прямое следствие того, что BPE-словарь учится на корпусе с доминирующим английским. Ориентиры для токенизаторов GPT-семейства: английский — около 0.25 токена на символ, русский — около 0.5, китайский — около 0.8, Python-код — около 0.4. Итого запрос на русском обходится примерно вдвое дороже английского, с разбросом от полутора до двух с половиной раз, и контекстное окно расходуется вдвое быстрее: документ в 80 тысяч символов — это примерно 20 тысяч токенов на английском и 40 тысяч на русском.</a:t>
            </a:r>
          </a:p>
          <a:p>
            <a:r>
              <a:t>Динамика 2024–2026 годов: переход OpenAI на o200k_base снизил удельную стоимость нелатинских языков примерно на 35% — разрыв сокращается, но не исчезает: английский остаётся статистическим ядром корпусов. Для моделей с увеличенной долей русского в словаре — YandexGPT, GigaChat — разрыв меньше; это один из рациональных аргументов в их пользу для массовых русскоязычных нагрузок. Правило прежнее: при пакетной обработке больших объёмов оцените, допускает ли задача перевод на английский; в интерактивной работе разница обычно не оправдывает потери удобства.</a:t>
            </a:r>
          </a:p>
          <a:p>
            <a:r>
              <a:t>Языковой коэффициент протекает и туда, где о нём забывают. Разбиение документов на фрагменты для поиска настраивается в токенах — фрагмент «в 512 токенов» на русском вмещает вдвое меньше смысла, и пороги из англоязычных руководств для русской базы систематически малы. Лимит max_tokens — та же история: русский ответ длиннее в токенах, и обрезки на полуслове случаются чаще. Любой числовой параметр в токенах калибруйте на своём языке и своих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стадия пройдена: текст стал последовательностью идентификаторов из словаря. Но с самим числом нейросеть содержательно работать не может — между номерами токенов нет осмысленной арифметики. Вторая стадия конвейера превращает идентификаторы в представление, с которым можно считать, — векторы.</a:t>
            </a:r>
          </a:p>
          <a:p>
            <a:r>
              <a:t>План раздела такой. Сначала зафиксируем, что такое эмбеддинг: выборка вектора из входной таблицы модели — быстро, это база. Затем — главный систематизирующий ход раздела: слово «эмбеддинг» в инженерном обиходе означает три разные сущности, и их смешение — источник устойчивой путаницы даже у опытных практиков; разложим три жизни термина аккуратно. Дальше — пространство смыслов: как выучиваются координаты, почему близкие по смыслу тексты лежат рядом и как это измеряется косинусным сходством. После этого — единственный, но важный провал раздела: граница похожести, случай, когда высокое сходство приносит практически противоположный по смыслу документ, и что с этим делают в боевых системах поиска. И в конце соберём раздел: почему эмбеддинги — фундамент того, что модель «понимает» переформулировки, и что из этого следует для систем поиска и RAG, к которым мы придём в Лекции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Токен — это идентификатор из словаря, но с числом 48 213 нейросеть содержательно работать не может: между номерами токенов нет осмысленной арифметики. Эмбеддинг, векторное представление, — сопоставленный каждому токену словаря вектор фиксированной длины, список чисел с плавающей точкой, выученный на этапе обучения вместе с остальными весами. После обучения входная таблица «токен → вектор» зафиксирована; на inference модель делает выборку: получает идентификатор, забирает вектор, передаёт дальше.</a:t>
            </a:r>
          </a:p>
          <a:p>
            <a:r>
              <a:t>Главное свойство выученного пространства: геометрическая близость соответствует смысловой. «Кот» близко к «собаке», «SSL» близко к «HTTPS» — не потому, что кто-то это разметил, а потому, что эти слова встречались в похожих контекстах обучающего корпуса. Близость в этом пространстве — статистическое отражение употребления, а не семантический справочник. Размерность — гиперпараметр: у публичных embedding-моделей OpenAI — 1536 и 3072 измерения; внутренние размерности флагманских LLM не публикуются, порядок — тысячи.</a:t>
            </a:r>
          </a:p>
          <a:p>
            <a:r>
              <a:t>И одна оговорка для тех, кто будет работать с векторами руками. Представьте трёхмерное пространство, где близкие по употреблению слова — рядом, и растяните число измерений до тысяч. Интуиции близости в основном переносятся, но в пространствах высокой размерности действует концентрация меры: случайные точки оказываются примерно на одном расстоянии друг от друга, и «сырые» дистанции сжимаются в узкий диапазон. Поэтому абсолютные значения сходств малоинформативны сами по себе — информативны сравнения и распределения значений в вашей задаче. Это первая причина, по которой универсальных порогов сходства не существует; вторая, содержательная, — впереди.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Слово «эмбеддинг» в инженерном обиходе обозначает три разные сущности, и их смешение — источник устойчивой путаницы даже у опытных практиков. Разложим аккуратно — это три жизни термина.</a:t>
            </a:r>
          </a:p>
          <a:p>
            <a:r>
              <a:t>Жизнь первая: входная таблица — статическая таблица «токен → вектор» на входе LLM. Вектор токена «кот» в ней один и тот же в любом предложении. Жизнь вторая: контекстуальные представления. Последовательность входных векторов проходит через десятки слоёв внимания, и на каждом слое вектор каждой позиции обновляется с учётом окружения — на выходе вектор позиции «кот» уже не равен табличному, в него вмешан контекст. Именно эти представления несут «понимание» модели; входная таблица — лишь стартовая точка. Жизнь третья: когда вы вызываете embedding-API, вы получаете вектор целого текста от отдельной модели, специально обученной под поиск и сравнение. Это не внутренности вашего чат-LLM: embedding-модель для RAG — самостоятельный продукт, и чат-модель с embedding-моделью могут быть от разных вендоров — это нормальная практика.</a:t>
            </a:r>
          </a:p>
          <a:p>
            <a:r>
              <a:t>Правило разграничения: речь про стоимость и окно — это токены и входная таблица; про «что модель поняла» — контекстуальные представления; про поиск и векторные базы — выходные эмбеддинги отдельной модели.</a:t>
            </a:r>
          </a:p>
          <a:p>
            <a:r>
              <a:t>И типовые ошибки склейки, ради которых различение вводится. «У нас подписка на чат-модель — зачем платить за embedding-модель?» — затем, что чат-модель векторов для поиска не отдаёт. «Возьмём embedding-модель того же вендора — они совместимее» — совместимости здесь нет как категории: векторы сравниваются только друг с другом внутри одной embedding-модели, LLM их вовсе не видит. И зеркально: «обновили LLM — надо переиндексировать базу» — не надо; переиндексация нужна ровно тогда, когда меняется сама embedding-модель.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Как устроено пространство, в котором живут векторы. Каждая точка — токен или текст; координаты — те самые сотни или тысячи чисел. У измерений нет очевидного смысла «вверх-вниз»: это абстрактные направления, которые модель выучила из статистики. Цель обучения — устроить пространство так, чтобы единицы, встречавшиеся в похожих контекстах, лежали близко. «Как настроить SSL» и «Установка HTTPS-сертификата» окружены одними и теми же словами — «сертификат», «сервер», «домен» — и их векторы получаются близкими; «Деплой React-компонента» и «Сборка React-приложения» соседствуют со словами про фронтенд и сборку — и тоже оказываются рядом; а «Рецепт борща» живёт в совсем другой области пространства — одинокий выброс среди технических текстов. Структура возникает не из правил, а из миллионов примеров употребления.</a:t>
            </a:r>
          </a:p>
          <a:p>
            <a:r>
              <a:t>На картинке слева — двумерная проекция: два смысловых кластера и выброс — те же пять текстов встретятся дальше в таблице попарных сходств. Помните, что это упрощение: реальная проекция получается из пространства в тысячи измерений алгоритмами вроде метода главных компонент или t-SNE, которые выбирают две оси с максимумом различий. Любая плоская картинка теряет часть многомерной структуры — она годится для интуиции, не для выводов.</a:t>
            </a:r>
          </a:p>
          <a:p>
            <a:r>
              <a:t>И повторим оговорку, потому что она стоит денег на практике: в пространствах высокой размерности «сырые» расстояния сжимаются в узкий диапазон, и абсолютное значение сходства само по себе мало о чём говорит. Работают сравнения — «этот документ ближе того» — и распределения значений в вашей конкретной задаче. Универсального порога «выше 0.8 — значит похожи» не существует; порог калибруется эмпирически на ваших данных. Дальше посмотрим, как эта геометрия работает на целых предложениях — и где у неё проходит граница.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Сначала — что похожесть работает. Пять коротких текстов, парная таблица косинусных сходств на современной embedding-модели: синонимичные по задаче пары — «настроить SSL» и «установка HTTPS-сертификата» — около 0.85; тематически близкие React-тексты — около 0.78; борщ против любого технического — 0.05–0.15. Запрос «клубника» находит документы про strawberry и землянику без таблицы синонимов — это то, что эмбеддинги дают поверх полнотекстового поиска.</a:t>
            </a:r>
          </a:p>
          <a:p>
            <a:r>
              <a:t>Теперь граница — и это новый материал даже для тех, кто активно строит семантический поиск. Высокое косинусное сходство означает «об одном и том же», а не «об одном и том же с одинаковым смыслом». Пара «как настроить SSL» и «как отключить SSL» получает очень высокое сходство: одинаковая тема, лексика, синтаксическая рамка — а практический смысл противоположный. Эмбеддинг усредняет контекстную статистику всего текста; короткое отрицание или антонимичный глагол сдвигает вектор слабо. В проде это выглядит болезненно: пользователь спрашивает, как включить проверку сертификатов, поиск уверенно приносит статью, как её отключить, LLM в RAG-конвейере добросовестно пересказывает — и система с высокими метриками похожести выдаёт вредный совет.</a:t>
            </a:r>
          </a:p>
          <a:p>
            <a:r>
              <a:t>Инженерные ответы известны: реранкер — вторая модель, оценивающая пару «запрос-документ» целиком; гибрид с полнотекстовым поиском для точных терминов; фильтры и метаданные для направленных атрибутов. И приём диагностики: соберите проверочный набор пар «запрос → правильный документ» с намеренными ловушками — вкл/выкл, до/после, разные версии — и посмотрите, что стоит на первых позициях. Устройство RAG-конвейера целиком — Лекция 3; отсюда забираем принцип: косинусное сходство — про тематическую близость, релевантность — отдельная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раздел. Модель работает не со словами и не со строками — она работает с векторами; слова существуют только на границах. На входе текст через токенизацию превращается в идентификаторы, через входную таблицу — в векторы; на выходе внутренний вектор через распределение и выбор токена возвращается в текст. Между человеческим вводом и человеческим выводом — путь полностью векторный.</a:t>
            </a:r>
          </a:p>
          <a:p>
            <a:r>
              <a:t>Это объясняет то, что мы интуитивно называем «пониманием». Когда вы спрашиваете «как настроить SSL», а потом «установка HTTPS-сертификата», модель отвечает похоже, потому что оба запроса попадают в близкие точки пространства. То же с синонимами и с межъязыковой близостью: «клубника» и strawberry — близкие векторы, и ответ корректен независимо от языка запроса.</a:t>
            </a:r>
          </a:p>
          <a:p>
            <a:r>
              <a:t>Практическая сторона: на одних и тех же векторах стоят три стандартных применения — поиск похожих, кластеризация без разметки и семантический поиск с RAG. Одна embedding-модель и один индекс обслуживают сразу несколько функций продукта, поэтому выбор embedding-модели — инфраструктурное решение, а смена — дорогая: означает переиндексацию всего хранилища. В боевых системах семантический поиск почти никогда не живёт один: рабочий стандарт — гибрид из полнотекстового индекса для точных совпадений, векторного для понятийной близости и реранкера сверху — прямое следствие границы похожести, которую мы только что разобрали. И помните: обратной операции у эмбеддинга нет — из вектора текст не восстанавливается, это одностороннее сжатие смысла. Как выбирать embedding-модель под язык и бюджет размерности — оставляю вам для самостоятельного чтения: в методичке это глава, часть 1 — раздел об embedding-моделях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стадии конвейера позади. Токенизация: текст разрезан на токены — идентификаторы из словаря, зафиксированного до обучения. Эмбеддинги: каждый идентификатор получил выученный вектор, и близость векторов отражает близость употребления.</a:t>
            </a:r>
          </a:p>
          <a:p>
            <a:r>
              <a:t>Третья стадия — механизм внимания, самая насыщенная часть лекции. На входе — последовательность векторов; задача стадии — для каждого шага генерации решить, на какие части контекста модель опирается сильнее всего. Из этого механизма напрямую вырастают вещи, с которыми вы работаете каждый день: почему промпт с ролью реально меняет ответ — и почему подделанная роль меняет его точно так же; почему длинный чат тормозит и дорожает — и как кэширование промптов срезает счёт на десятки процентов; что на самом деле означает строка «окно 1 миллион токенов» в карточке модели — и где это обещание ломается.</a:t>
            </a:r>
          </a:p>
          <a:p>
            <a:r>
              <a:t>Порядок движения: сначала матрица внимания и точное определение с тремя проекциями Query/Key/Value; затем рабочий пример и полный механизм эффекта роли; дальше — KV-cache и две фазы генерации; экономика кэширования промптов с живым кейсом; гонка контекстных окон на сентябрь 2026 года; и в финале раздела — честный ответ на вопрос, сколько из миллионного окна модель действительно способна использовать для рассуждения.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 знаете слово «внимание» из каждой второй статьи про трансформеры; зафиксируем точную форму. Внимание — не линейная, а матричная операция: каждый токен контекста сверяется с каждым, и для контекста длины N карта весов имеет размер N на N. Из этой формы сразу следует главное экономическое свойство всей архитектуры: удвоение контекста учетверяет объём вычислений внимания. Когда дальше мы будем говорить о цене миллионных окон и о том, почему провайдеры так агрессивно кэшируют, — корень именно здесь.</a:t>
            </a:r>
          </a:p>
          <a:p>
            <a:r>
              <a:t>На слайде — упрощённая матрица семь на семь для предложения «Кот съел мышь, потому что она была голодна». Числа иллюстративные, реальные веса нормируются так, что сумма по строке равна единице. Качественно картина типична: в строке токена «она» наибольший вес лежит на токене «мышь». Это то, что мы в быту называем «модель поняла, к чему относится местоимение», — технически это статистическая связь, выученная на огромном корпусе, где местоимения женского рода чаще всего разрешаются на ближайшее существительное того же рода.</a:t>
            </a:r>
          </a:p>
          <a:p>
            <a:r>
              <a:t>Два уточнения к картинке. Первое: распределение весов пересчитывается на каждом шаге генерации заново — это не «посчитали один раз и пользуемся». Второе: реальный механизм многослойный и многоголовый — в каждом слое параллельно работают десятки «голов», типично от 32 до 128, и каждая специализируется на своём типе связей: одна ловит грамматическое согласование, другая тематическую близость, третья дальние зависимости. Эти специализации никто не проектировал — они выросли из обучения, потому что помогают предсказывать следующий токен.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Определение вы знаете приблизительно — зафиксируем точно. Рабочая метафора — фонарик в тёмной комнате: все токены контекста присутствуют, но луч направлен на те, что релевантны текущему вопросу, и яркость по предметам — это веса. Формально на каждом шаге внимание возвращает распределение весов на все токены контекста, сумма равна единице, и это распределение пересчитывается на каждом шаге генерации заново.</a:t>
            </a:r>
          </a:p>
          <a:p>
            <a:r>
              <a:t>Теперь — один уровень глубже, чем обычно рассказывают на этом месте, потому что он понадобится нам через два слайда. Для каждого токена модель вычисляет три проекции его вектора: Query, Key и Value. Query — «что я сейчас ищу»: запрос текущей позиции к остальному контексту. Key — «что я предлагаю»: визитная карточка токена, по которой его находят чужие запросы. Value — «что я отдам, если меня выбрали»: содержимое, которое реально вмешивается в результат. Вес между двумя позициями — это произведение Query одной на Key другой; итог позиции — взвешенная сумма Value всего контекста. Больше формул не понадобится.</a:t>
            </a:r>
          </a:p>
          <a:p>
            <a:r>
              <a:t>Понадобится одно структурное наблюдение, и я прошу его запомнить: Query — про текущий шаг, а Key и Value — про уже обработанный контекст, который не меняется. Из этой асимметрии вырастает главная оптимизация всей индустрии вывода моделей — увидим её, когда дойдём до вопроса, почему длинный чат тормозит. А пока — рабочий пример на знакомом вам эффекте роли.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Разминка: «Кот съел мышь, потому что она была голодна». Дойдя до токена «она», модель должна разрешить, к кому он относится, — и в карте внимания вес распределён в пользу «мышь». Три стрелки — упрощение: агрегат сотен связей в десятках слоёв; модель не делает грамматический разбор, а воспроизводит корреляции употребления. Проверьте интуицию: «Программа упала, потому что она забыла обработать null». На большинстве моделей вес уйдёт к «программа» — так подсказывает статистика технических текстов; если ваша интуиция дала тот же ответ, вы уже думаете в терминах корпусной статистики.</a:t>
            </a:r>
          </a:p>
          <a:p>
            <a:r>
              <a:t>Теперь — то, ради чего вы это уже знаете. Вы видели на практике: «Ты эксперт по Python. Объясни асинхронность джуниору» работает лучше пустого промпта. Механизм: токены «эксперт», «Python», «джуниор» получают вес в распределении внимания при генерации каждого токена ответа, и выбор смещается в согласованную с ними сторону. Роль — не просьба «поверь мне», а входной сигнал, физически участвующий во взвешивании. Для точности: вклад вносят и обучение с подкреплением, и внутриконтекстное смещение, но для инженерной практики достаточно внимания как рабочего объяснения.</a:t>
            </a:r>
          </a:p>
          <a:p>
            <a:r>
              <a:t>И вторая половина истории, начатая в разделе про chat-шаблоны: роль — условность из специальных токенов в общем потоке, а внимание не различает «легитимные» и «подделанные» токены разметки — вес получают любые. Роль работает — и ровно поэтому подделанная роль работает тоже: это один механизм, а не два. «Сильнее» у системного промпта обеспечено обучением и позицией, а не контролем доступа. Барьер строится снаружи — фильтрацией входа и правами инструментов; про это подробно в следующей лекции.</a:t>
            </a:r>
          </a:p>
          <a:p>
            <a:r>
              <a:t>И граница самого эффекта: роль смещает распределение, но не добавляет знаний. Нужен ответ по вашим данным — дайте данные, а не третье прилагательное к слову «эксперт».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Вспомните наблюдение с прошлого слайда: Query — про текущий шаг, Key и Value — про уже обработанный контекст, который не меняется. Генерация авторегрессионна: токены выдаются по одному, и наивная реализация пересчитывала бы K и V всех токенов на каждом шаге заново — но они не меняются. Отсюда центральная оптимизация всего инференса больших моделей — KV-cache: Key- и Value-векторы вычисленных токенов сохраняются в памяти ускорителя, и на каждом шаге вычисляется только Q нового токена и его произведения с сохранёнными K/V.</a:t>
            </a:r>
          </a:p>
          <a:p>
            <a:r>
              <a:t>Из кэша вырастает асимметрия двух фаз, которую вы наблюдаете в каждом запросе. Prefill — обработка входного промпта: все его токены известны сразу, их K/V считаются параллельно одним большим матричным вычислением; фаза упирается в вычислительную мощность и определяет паузу до первого символа ответа. Decode — генерация: строго последовательная, и на каждом шаге нужно прочитать весь накопленный кэш из памяти; фаза упирается в пропускную способность памяти и определяет скорость в токенах в секунду. Поэтому длинный промпт прежде всего растягивает паузу до первого токена, а длинный контекст в целом замедляет каждый шаг генерации.</a:t>
            </a:r>
          </a:p>
          <a:p>
            <a:r>
              <a:t>Это же объясняет знакомый эффект «длинный чат тормозит и дорожает». История подаётся в модель целиком при каждом обороте — модель без состояния, как мы фиксировали в Лекции 1. Ничего не «засоряется» и не «устаёт» — каждый новый вопрос несёт на спине весь предыдущий разговор. Следствия: суммаризация или обрезка истории в длинных сессиях, вынос стабильной части в кэшируемый префикс — об этом следующий слайд, — и понимание, что новый чат — это сброс груза. Масштаб: при контекстах в сотни тысяч токенов кэш одного пользователя занимает гигабайты памяти ускорителя — отсюда агрессивный батчинг провайдеров и премиальная цена длинных контекстов.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KV-cache живёт внутри одной генерации. Провайдеры сделали следующий шаг: если два разных запроса имеют одинаковый префикс — тот же системный промпт, инструкции, документы, — его K/V можно переиспользовать между запросами. Это кэширование промптов, и с 2025–2026 годов это главный рычаг оптимизации стоимости LLM-нагрузок.</a:t>
            </a:r>
          </a:p>
          <a:p>
            <a:r>
              <a:t>Обратите внимание на структуру тарифов: чтение из кэша — десятая часть базовой ставки входа, у новейших моделей — до одной сороковой, но запись стоит дороже обычного входа — от 1.25 до 2 ставок в зависимости от времени жизни. Кэш не бесплатен — это ставка на повторное использование: окупается со второго-третьего попадания, а нагрузка из уникальных запросов только дорожает. Масштаб эффекта реален: кейс на 50 тысяч анализов документов в месяц — 45 тысяч долларов без кэша против 8 тысяч с кэшем, экономия 82 процента.</a:t>
            </a:r>
          </a:p>
          <a:p>
            <a:r>
              <a:t>Главное техническое условие — точное совпадение префикса: кэш срабатывает, только если всё до контрольной точки совпадает байт-в-байт. Один изменившийся токен инвалидирует кэш для всего, что после него. Теперь вопрос залу: вы добавили в начало системного промпта строку «Сегодня такое-то число и время». Что с кэшем? Правильно: ни один запрос никогда не попадёт в кэш — вся нагрузка платит полную ставку, а при явной записи ещё и надбавку за запись. Классический самострел.</a:t>
            </a:r>
          </a:p>
          <a:p>
            <a:r>
              <a:t>Отсюда правило компоновки: стабильное — в начало, переменное — в конец. И минутный аудит для действующего конвейера: посмотрите поля учёта кэша в ответах API — если при стабильном системном промпте чтения из кэша нулевые, вы почти наверняка чините это перестановкой промпта за один вечер. Для многошаговых агентов кэш — не оптимизация, а условие рентабельности: к этому вернёмся в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Контекстное окно — максимальное число токенов на один запрос — за четыре года выросло на три порядка: 4 тысячи у GPT-3.5 в момент запуска ChatGPT, 200 тысяч у Claude 3.5 в 2024-м, и рабочий стандарт флагманов 2026 года — один-два миллиона: Claude Fable 5 — миллион, причём полное окно входит в стандартную цену без наценки за длину; Gemini 3.5 Pro — два миллиона, крупнейшее среди действительно используемых в бою моделей; моделей с окном от миллиона на рынке уже больше десятка.</a:t>
            </a:r>
          </a:p>
          <a:p>
            <a:r>
              <a:t>Два отрезвляющих полюса вокруг стандарта. Сверху — маркетинг: Llama 4 Scout заявляет десять миллионов токенов, но ни один опубликованный бенчмарк не подтверждает сохранение качества вблизи этого предела; «заявленное окно» и «полезное окно» — разные величины, и разрыв между ними мы измерим через слайд. Снизу — контраст: YandexGPT 5 Pro работает с окном 32 тысячи — для задач с длинными документами это не нюанс, а определяющее ограничение выбора.</a:t>
            </a:r>
          </a:p>
          <a:p>
            <a:r>
              <a:t>Почему окно конечно и его нельзя «просто увеличить»? Первая причина знакома: квадратичная стоимость внимания плюс линейно растущий кэш. Вторая тоньше: позиция токена закодирована в геометрии модели способом, обученным на конкретных длинах, и наивное растяжение ломает механизм; методы расширения — RoPE, YaRN — разобраны в методичке для самостоятельного чтения: глава, часть 2 — раздел о позиционном кодировании.</a:t>
            </a:r>
          </a:p>
          <a:p>
            <a:r>
              <a:t>И арифметика денег, которую полезно проделать один раз. Полное окно — это токены, которые вы оплачиваете как вход при каждом запросе: запрос к премиальной модели по $10 за миллион входных токенов, заполненный на 900 тысяч, стоит около $9 — за один вызов; десять оборотов диалога — под сто долларов без кэширования. Вопрос «сколько контекста нужно этой задаче» экономически важнее вопроса «сколько модель может принять».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Вы, вероятно, знаете классический результат 2023 года «Lost in the Middle»: факт из середины длинного контекста извлекается хуже, чем с краёв, — U-образная кривая точности. Это знание требует обновления 2026 года — в обе стороны.</a:t>
            </a:r>
          </a:p>
          <a:p>
            <a:r>
              <a:t>Хорошая новость: буквальный поиск «иголки в стоге» — найти дословно вставленную фразу — флагманами практически решён: до 99% на полном миллионном окне. Если задача — найти, где в договоре упоминается сумма, большое окно работает почти как обещано.</a:t>
            </a:r>
          </a:p>
          <a:p>
            <a:r>
              <a:t>Плохая новость пришла от бенчмарка NoLiMa, который убрал главный костыль таких тестов — буквальное лексическое совпадение между вопросом и спрятанным фрагментом. Когда искомое нужно узнать по смыслу, а не по совпадающим словам, картина обрушивается: одиннадцать из тринадцати протестированных моделей падают ниже половины их же собственной точности на коротком контексте — обратите внимание на базу: сравнение модели с самой собой, а не абсолютный порог. И происходит это уже на 32 тысячах токенов — не на миллионе, а на трёх процентах заявленного окна флагмана. U-кривая не исчезла — она спряталась за высокими цифрами тестов, которые измеряют поиск, а не рассуждение.</a:t>
            </a:r>
          </a:p>
          <a:p>
            <a:r>
              <a:t>Формула для запоминания: миллион окна не равен миллиону рассуждения. Окно — это сколько модель может прочитать; полезная длина — на скольких токенах она ещё способна связывать факты без буквальных подсказок, и вторая величина во много раз меньше первой. Следствия: критические инструкции — в начало или конец, не в середину; «вывалить всю базу знаний в окно» проигрывает хорошему поиску с пятью-десятью целевыми фрагментами — про это следующая лекция; и при выборе модели для длинных документов спрашивайте не «какое окно», а «какие результаты на бенчмарках без лексического совпадения» — и тестируйте на рабочей длине вашей задачи: полчаса стресс-теста на реальных документах говорят больше любого лидерборда.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стадии конвейера позади: текст разрезан на токены, токены получили векторы, внимание решило, на что опереться в контексте. Итог этих трёх стадий — распределение вероятностей на весь словарь модели: для каждого из примерно двухсот тысяч токенов — вероятность оказаться следующим.</a:t>
            </a:r>
          </a:p>
          <a:p>
            <a:r>
              <a:t>Четвёртая стадия — сэмплинг: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Порядок движения по разделу. Сначала зафиксируем само распределение — что оно и есть «настоящий» выход модели, а всё остальное — политики поверх него. Затем точная механика температуры и её соседей — с живым сравнением поведения на нуле и на полутора. Дальше — проверка самого коварного из шести утверждений: действительно ли ноль температуры даёт одинаковые ответы; ответ вас, скорее всего, удивит и он важен для каждого, кто пишет тесты на LLM. После этого — как классический набор из четырёх ручек API вырос до шести, гарантированный формат ответа через структурированный вывод, авторегрессионный цикл, собирающий всё в единое целое, и токены рассуждения — невидимая, но платная статья вашего счёта. Завершим раздел свежим взглядом на выбор между локальной моделью и облаком.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трёх стадий конвейера — на выходе модели лежит распределение вероятностей на весь словарь: для каждого из примерно двухсот тысяч токенов — вероятность оказаться следующим; сумма равна единице. На запросе «Сегодня я съел» распределение выглядит примерно так: «яблоко» — 0.32, «пиццу» — 0.19, «салат» — 0.14, дальше длинный хвост; числа иллюстративные, картина устойчива. Распределение не равномерное — у модели есть статистические предпочтения, — но и не точечное: правдоподобных кандидатов несколько.</a:t>
            </a:r>
          </a:p>
          <a:p>
            <a:r>
              <a:t>Сэмплинг — правило выбора одного токена из этого распределения. Всё «творчество» и вся «случайность» больших моделей живут в этом правиле, и оно — единственная часть конвейера, которой вы управляете напрямую, ручками API.</a:t>
            </a:r>
          </a:p>
          <a:p>
            <a:r>
              <a:t>Стоит один раз осознать, насколько это распределение — «настоящий» выход модели, а всё остальное — политики поверх него. Уверенный ответ и уклончивый, точный факт и галлюцинация, «Париж» и «возможно, вы имеете в виду…» — до сэмплинга всё это существовало одновременно, как вероятностная масса на разных продолжениях; выбор сделала политика, а не «мнение» модели.</a:t>
            </a:r>
          </a:p>
          <a:p>
            <a:r>
              <a:t>Практическое следствие для тех, кто строит конвейеры: часть провайдеров отдаёт срез этой информации в API — лог-вероятности топ-кандидатов на каждом шаге. Это полезный диагностический канал: широкое, размазанное распределение на ключевом токене ответа — честный сигнал неуверенности модели, который сам текст ответа может никак не выдавать. Для классификации это дешёвый способ получить меру уверенности без второго запроса «а насколько ты уверена?» — второй запрос, кстати, измеряет не уверенность модели, а её натренированность отвечать на такие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Эти ручки вы знаете — уточним механику до точной. Температура — это делитель логитов: сырые оценки модели делятся на T перед нормализацией в вероятности. При T, стремящейся к нулю, распределение обостряется до argmax — выбора самого вероятного токена; при единице модель сэмплирует пропорционально исходным вероятностям; выше единицы распределение сглаживается, и хвост редких токенов получает реальные шансы. Важно: температура не добавляет знаний и не меняет предпочтения модели — она меняет только остроту выбора из них.</a:t>
            </a:r>
          </a:p>
          <a:p>
            <a:r>
              <a:t>Второй эшелон: top-p отрезает хвост по вероятностной массе — сэмплируем из минимального набора самых вероятных токенов с суммарной вероятностью не меньше p; top-k отрезает по числу кандидатов. Практика не изменилась: основная ручка — температура, эти две — тонкая настройка.</a:t>
            </a:r>
          </a:p>
          <a:p>
            <a:r>
              <a:t>Теперь живой прогон: один и тот же запрос — «придумай название для сервиса заметок» — десять раз при нуле и десять раз при полутора. Первый ряд даёт почти идентичные ответы — «Заметкин», «Заметкин», «Заметкин», изредка меняется разве что окончание; слово «почти» здесь несёт больше смысла, чем кажется, и ему посвящён следующий слайд. Второй ряд — разброс от удачных находок до бессвязицы: «МыслеПоток», «конспект-туман на рассвете», «блокнот дыхания чисел» (примеры иллюстративные — свой разнобой вы увидите за минуту).</a:t>
            </a:r>
          </a:p>
          <a:p>
            <a:r>
              <a:t>Ценность этого эксперимента, если повторите его сами, не в подтверждении теории, а в калибровке руки: вы увидите, как выглядит хвост распределения вашей конкретной задачи и на какой температуре он начинает протекать в ответы. И обратное упражнение: если ваши промпты в проде работают на температуре по умолчанию — выясните, какая она у вашего провайдера; значения по умолчанию у всех разные и меняются, а осознанный выбор здесь стоит одну строку кода.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утверждение — самое коварное из шести, потому что оно почти правда, и на нём строят тесты и конвейеры. Вы ставите ноль температуры, ожидая: одинаковый запрос — одинаковый ответ. Проверка на реальной инфраструктуре: стандартный vLLM, тысяча запусков идентичного запроса — восемьдесят уникальных вариантов ответа. Ноль действительно делает выбор argmax-детерминированным — но само распределение, из которого берётся argmax, оказывается чуть разным от запуска к запуску.</a:t>
            </a:r>
          </a:p>
          <a:p>
            <a:r>
              <a:t>Причина глубже, чем расхожее «floating-point на GPU». Главный виновник — отсутствие batch-инвариантности вычислительных ядер. Сервер провайдера динамически группирует одновременные запросы разных пользователей в батчи; размер батча зависит от нагрузки в конкретную миллисекунду; а многие ядра при разном размере батча используют разный порядок суммирования. Сложение чисел с плавающей точкой неассоциативно — порядок меняет младшие разряды, — и когда два кандидата в argmax близки, младший разряд решает выбор токена; дальше авторегрессия разносит расхождение по всему ответу. Ваш «детерминированный» запрос недетерминирован, потому что вы делите сервер с другими пользователями, и их трафик меняет размер вашего батча.</a:t>
            </a:r>
          </a:p>
          <a:p>
            <a:r>
              <a:t>Самое поучительное: проблема решаема — и решение отвергнуто экономикой. Те же авторы написали batch-инвариантные ядра: тысяча из тысячи запусков побитово идентичны. Цена — около 35 процентов пропускной способности, поэтому провайдеры этот режим по умолчанию не включают; отсюда и статус параметра seed у OpenAI — официально «в основном детерминировано», без гарантий.</a:t>
            </a:r>
          </a:p>
          <a:p>
            <a:r>
              <a:t>Следствия: не стройте тесты на побитовом сравнении ответов — сравнивайте семантически или по структуре; воспроизводимость фиксируйте датасетом и метрикой; а если строгий детерминизм действительно нужен — аудит, регуляторика, — это отдельное требование к инфраструктуре с ценником в треть пропускной способности, заложенное в бюджет с самого начала.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Классический набор — температура, top_p, max_tokens, системный промпт — вы знаете; сценарная таблица не изменилась и остаётся рабочим ориентиром: ноль для классификации, 0.2–0.3 для кода, около 0.7 для объяснений, 0.9–1.2 для творческих текстов.</a:t>
            </a:r>
          </a:p>
          <a:p>
            <a:r>
              <a:t>Новость 2026 года — у reasoning-моделей выросли две новые ручки, и они управляют другой осью. Effort, или reasoning_effort, — глубина внутреннего рассуждения: у OpenAI шкала от «none» до «xhigh», у Anthropic — параметр effort при адаптивном мышлении, у Gemini — thinking budget, где ноль выключает рассуждение, а минус единица отдаёт выбор модели. Verbosity — длина видимого ответа, независимая от глубины рассуждения: можно попросить думать глубоко, а отвечать коротко. Старая пара «температура управляет случайностью, max_tokens — длиной» дополнилась парой «effort управляет мышлением, verbosity — многословием».</a:t>
            </a:r>
          </a:p>
          <a:p>
            <a:r>
              <a:t>Живой пример эволюции API — полезный как прививка от заучивания параметров: Anthropic в 2026 году сломала обратную совместимость управления мышлением — ручной budget_tokens на новых моделях возвращает ошибку 400; вместо него — адаптивное мышление, где глубину решает модель. Деталь на стыке с кэшированием: смена конфигурации мышления между запросами инвалидирует кэш промпта — она входит в кэшируемый префикс.</a:t>
            </a:r>
          </a:p>
          <a:p>
            <a:r>
              <a:t>И смежное следствие: не переносите привычки между провайдерами и поколениями. Ручки с одинаковыми именами ведут себя по-разному, а рекомендации меняют знак: OpenAI прямо не рекомендует давать reasoning-моделям промпты в стиле «давай подумаем шаг за шагом» — модель рассуждает сама, и ручная накрутка цепочки только дублирует работу и расход. Приём, годами бывший лучшей практикой, стал антипаттерном. При смене модели перечитывайте страницу параметров так же внимательно, как список ломающих изменений библиотеки при мажорном обновлении.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Все, кто просил модель «ответь строго в JSON», знают цену слова «строго»: обычная просьба даёт валидный JSON примерно в восьмидесяти процентах случаев, и оставшиеся двадцать ломают конвейер. Structured outputs решают задачу не уговорами, а механикой: на каждом шаге генерации система вычисляет, какие токены оставляют вывод синтаксически валидным относительно заданной схемы, и обнуляет вероятности всех остальных — прямо в том распределении, которое мы разобрали в начале раздела.</a:t>
            </a:r>
          </a:p>
          <a:p>
            <a:r>
              <a:t>Вопрос залу, тридцать секунд: почему заявлено ровно сто процентов, а не 99.9? Ответ: потому что гарантия встроена в сам сэмплинг — модель физически не может выбрать токен, нарушающий схему; это не проверка постфактум с повторным запросом, а фильтр в момент выбора. У OpenAI это strict mode, у Anthropic — нативный output_format, у Gemini — response_schema.</a:t>
            </a:r>
          </a:p>
          <a:p>
            <a:r>
              <a:t>Понимание механизма сразу объясняет ограничения — они не капризы API, а свойства компиляции грамматики. Схему нужно скомпилировать в автомат над токенами: рекурсия через ссылки не поддерживается — настоящее дерево неограниченной глубины не выражается конечной грамматикой, вложенные структуры моделируются плоским списком с полем родителя; глубина вложенности ограничена пятью уровнями; первый запрос с новой схемой платит за компиляцию — обычно до десяти секунд. Поэтому не генерируйте схемы динамически на каждый запрос — фиксируйте и версионируйте их как код.</a:t>
            </a:r>
          </a:p>
          <a:p>
            <a:r>
              <a:t>И последняя граница: гарантирован синтаксис, не осмысленность полей — валидировать значения по-прежнему нужно вам. Проектная рекомендация: начинайте со схемы проще, чем хочется, — плоские структуры работают надёжно и дёшево, а каждая степень вложенности приближает к границам компилятора. Схема — интерфейсный контракт с недетерминированным исполнителем; чем контракт короче, тем меньше способов его нарушить.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конвейер в цикл — это ядро всей картины. Авторегрессионная генерация: текущий контекст — системный промпт, история, запрос и уже сгенерированная часть ответа — проходит прямым проходом через токенизацию, эмбеддинги и все слои внимания; на выходе — распределение вероятностей следующего токена; сэмплинг выбирает один токен; токен дописывается в контекст; цикл повторяется до специального стоп-токена или лимита max_tokens. Каждый шаг — без состояния: вся «память» живёт в контексте, который подаётся целиком, — с поправкой на KV-cache, который делает повторную подачу дешёвой, не отменяя её логически. Ответ печатается на глазах не для красоты — это физический темп: токен за проход. И помните: max_tokens обрывает цикл мгновенно, хоть на середине JSON-поля — постобработка обязана этот случай ловить.</a:t>
            </a:r>
          </a:p>
          <a:p>
            <a:r>
              <a:t>Сквозная трассировка для сборки ментальной модели. Вы отправляете «Столица Франции —». Токенизация: текст режется на три-четыре токена по таблице, зафиксированной до обучения. Эмбеддинги: каждый идентификатор забирает свой вектор из входной таблицы. Внимание: на позиции после тире Query «спрашивает», Key и Value слов «столица» и «Франции» отвечают весами — и они, кстати, уже лежат в кэше и не пересчитываются. Выход: распределение, где «Париж» получил, скажем, 0.93. Сэмплинг: при нуле температуры берём максимум — «Париж»; цикл делает ещё один оборот и выбирает стоп-токен. Если бы был включён режим рассуждения — перед «Парижем» цикл намотал бы черновые токены; если бы стояла JSON-схема — распределение на каждом шаге фильтровалось бы грамматикой. Один запрос — все стадии, все ручки. Терминологическая норма курса: «авторегрессионный», не «авторегрессивный».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Reasoning-модели — o-серия OpenAI, расширенное мышление Claude, Deep Think у Gemini — не меняют цикл, который мы только что собрали. Они делают другое: перед видимым ответом модель генерирует тем же авторегрессионным циклом токены рассуждения — черновик «для себя», который в ответ не попадает. Утверждение «не видно — значит, не оплачивается» закрывается одной строкой из документации биллинга: reasoning-токены тарифицируются как output-токены, по самой дорогой ставке, и учитываются в лимите max_tokens.</a:t>
            </a:r>
          </a:p>
          <a:p>
            <a:r>
              <a:t>Масштаб стоит прочувствовать в числах. Объём невидимого рассуждения раздувается в три-десять раз относительно видимого ответа, без естественного потолка. В типичной агентной нагрузке o3-pro на максимальной глубине рассуждения обходился порядка 280 долларов в месяц — в три и шесть десятых раза дороже o3 и в восемнадцать раз дороже o4-mini, — при том что видимые ответы всех трёх сопоставимы по длине; разницу делает именно объём рассуждения. Планируя бюджет, закладывайте невидимую часть в два-пять раз больше видимого ответа — и перепроверяйте по полю usage в ответе API, где эти токены видны как строка расхода.</a:t>
            </a:r>
          </a:p>
          <a:p>
            <a:r>
              <a:t>Ещё две границы. Первая: то, что вы видите как «ход рассуждений» в интерфейсе, — пересказ: провайдеры по умолчанию отдают summarized thinking, отдельный сгенерированный текст, а не сырые токены; строить на нём аудит решений нельзя. Вторая: управление сместилось от ручных бюджетов к адаптивности — модель сама решает, сколько думать. Это удобно — и это же означает, что стоимость запроса стала менее предсказуемой: на массовой обработке прижимайте effort вниз явно, а «думающий» режим включайте там, где сложность это оправдывает. Дефолтная глубина часто избыточна: если вы не измеряли зависимость качества от effort на своей задаче — с высокой вероятностью переплачиваете вдвое.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Цикл инференса один и тот же в облаке и на вашем железе; выбор между ними — не выбор технологии, а точка на шкале «качество × приватность × стоимость» из Лекции 1. Обновим фактуру на 2026 год.</a:t>
            </a:r>
          </a:p>
          <a:p>
            <a:r>
              <a:t>Локальный полюс заметно подрос. Открытые модели последнего года — Qwen3.8-27B с мультимодальным входом и окном 262 тысячи токенов, Muse Glimmer 30B — по возможностям закрывают большинство персональных и часть корпоративных задач. Железо: RTX 5090 с 32 гигабайтами видеопамяти уверенно тянет модели класса 27–34 миллиардов; Apple-компьютеры с единой памятью 64–128 гигабайт проглатывают модели, которые дискретным видеокартам не помещаются. Лимитирующий фактор неизменен — объём памяти, не вычисления; при полном размещении модели в видеопамяти локальная скорость сопоставима с облачной.</a:t>
            </a:r>
          </a:p>
          <a:p>
            <a:r>
              <a:t>Важная категориальная поправка года: «открытые веса» перестали означать «локально запускаемые». Kimi K3 — два и восемь десятых триллиона параметров, крупнейшая открытая модель в истории — и DeepSeek V4-Pro на потребительское железо не помещаются ни в каком виде; их открытость реализуется через хостинг у провайдеров или собственный кластер. Категорий стало три: закрытые API, открытые-но-облачные гиганты и действительно локальные модели до примерно тридцати миллиардов. Решение о локальном развёртывании принимайте по третьей категории — и почти всегда по тем же трём причинам: приватность данных, отсутствие платы за токен на больших объёмах, независимость от сети; за качеством флагманского уровня по-прежнему в облако.</a:t>
            </a:r>
          </a:p>
          <a:p>
            <a:r>
              <a:t>И общее правило: решение принимается по данным и объёмам, а не по идеологии «облако против локального» — для продуктовой команды реальная статья расходов часто не токены, а инженерное время на эксплуатацию собственного стека.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четыре стадии конвейера пройдены: токенизация, эмбеддинги, внимание, сэмплинг. Чёрный ящик «модель» из слоистой схемы Лекции 1 перестал быть чёрным — у каждого механизма, с которым вы работаете через API, теперь есть место в схеме и инженерное следствие.</a:t>
            </a:r>
          </a:p>
          <a:p>
            <a:r>
              <a:t>Финальный раздел собирает картину. Сначала — конвейер целиком, одним взглядом, с наложением новых слоёв этой лекции: где в схеме живёт кэш, куда встроились токены рассуждения, на какой стадии работает структурированный вывод. Затем — карта местности: ландшафт моделей на сентябрь 2026 года — передний край, открытые веса, цены и российский сегмент; это самая скоропортящаяся часть лекции, и тем важнее уметь её читать. Следом — жёсткий разговор о том, почему цифрам бенчмарков нельзя верить на слово: три механизма искажения с примерами этого года.</a:t>
            </a:r>
          </a:p>
          <a:p>
            <a:r>
              <a:t>После этого вернёмся к шести утверждениям, с которых лекция началась: в начале вы голосовали интуицией — теперь для каждого утверждения у нас есть точный механизм. Замкнём лекцию решением, когда большая языковая модель — не тот инструмент, и когда не нужна именно топовая; границей между корреляцией и причинностью; и мостом к следующей лекции — про агентов, поиск по базам знаний и подключение инструментов.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схему. Конвейер вывода — четыре стадии, замкнутые в цикл: токенизация превращает текст в идентификаторы из зафиксированного словаря; эмбеддинги — идентификаторы в выученные векторы; внимание обогащает векторы контекстом через три проекции и выдаёт распределение вероятностей следующего токена; сэмплинг выбирает один токен и дописывает его в контекст. Это тот самый чёрный ящик «модель» из Лекции 1 — теперь прозрачный.</a:t>
            </a:r>
          </a:p>
          <a:p>
            <a:r>
              <a:t>Важно зафиксировать: новые темы этой лекции не добавили стадий — они встроились в существующие. Chat-шаблоны — препроцессор стадии токенизации. KV-cache живёт внутри стадии внимания, а кэширование промптов — коммерческая надстройка над ним на границе запросов. Structured outputs — фильтр на стадии сэмплинга: обнуление вероятностей невалидных токенов. Reasoning-токены — не новая стадия, а тот же авторегрессионный цикл, часть выхода которого помечена «черновик». Если каждый новый термин встал для вас на своё место в схеме — ментальная модель собрана.</a:t>
            </a:r>
          </a:p>
          <a:p>
            <a:r>
              <a:t>И самый компактный способ унести эту схему с собой: конвейер работает как диагностическое дерево — по симптому почти всегда угадывается стадия-виновник. Модель «не видит» очевидного в тексте — буквы, цифры, опечатки — токенизация. Поиск приносит тематически близкий мусор — эмбеддинги и граница сходства. Ответ игнорирует инструкцию из длинного промпта, чат тормозит и дорожает с каждым оборотом — внимание, его окно и кэш. Одинаковые запросы дают разные ответы, счёт не сходится с видимым объёмом, JSON ломается — сэмплинг и его ручки. Привычка спрашивать «на какой стадии конвейера это происходит?» превращает лекцию из справочника в рабочий инструмент отладки.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Зафиксируем карту местности — на сентябрь 2026 года; конкретные модели и цены — самая скоропортящаяся часть лекции. Передний край закрытых весов: у OpenAI семейство GPT-5.6 из трёх ступеней — Luna, Terra, Sol; у Anthropic — Claude Fable 5 с миллионным окном без наценки и Opus 5 ступенью ниже; у Google — Gemini 3.5 Pro с окном в два миллиона и режимом Deep Think; у xAI — Grok 4.3. Открытые веса: DeepSeek V4 в двух вариантах, Qwen 3.8-Max — первая модель линейки Max с опубликованными весами, и пара Kimi — K2.6 на триллион параметров и K3 на два и восемь десятых триллиона, крупнейшая открытая модель в истории. Помните с прошлого слайда категорию: открытые гиганты — не локальные.</a:t>
            </a:r>
          </a:p>
          <a:p>
            <a:r>
              <a:t>Насколько они сильны. Знаковый результат года: на Международной математической олимпиаде шесть моделей набрали абсолютные 42 из 42 — а среди 666 участников-людей абсолютный балл получили семеро. Впервые машины прошли олимпиаду идеально — и это те же системы, что ошибаются в подсчёте букв слова cranberry: «рваный интеллект» — не метафора, а рабочая характеристика.</a:t>
            </a:r>
          </a:p>
          <a:p>
            <a:r>
              <a:t>Сколько они стоят: разброс — три порядка. Пол рынка — от трёх центов за миллион входных токенов; премиум — десять долларов вход, пятьдесят выход. Самая показательная пара года: Kimi K2.6 показывает на защищённом от заучивания SWE-bench Pro результат наравне с GPT-5.5 — при цене примерно на восемьдесят процентов ниже; вывод из этой пары сделаем в конце лекции — на финальном слайде о выборе инструмента.</a:t>
            </a:r>
          </a:p>
          <a:p>
            <a:r>
              <a:t>И скорость устаревания: GPT-5.2 прожила от релиза до полного вывода из ChatGPT полгода. Проектируйте под смену моделей как под норму: версии — в конфигурации, промпты — версионируются, собственный оценочный набор — как регрессионный тест. И помните: анонсы не равны релизам — планируйте на модели, доступные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 с прошлого слайда опирается на бенчмарки — и здесь нужен жёсткий разговор: цифры бенчмарков — не измерение, которому можно доверять по умолчанию, а маркетинговая поверхность, за которой надо уметь читать. Три сюжета 2026 года, каждый про свой механизм искажения.</a:t>
            </a:r>
          </a:p>
          <a:p>
            <a:r>
              <a:t>Первый — контаминация, заучивание вместо умения. SWE-bench Verified строится на задачах из публичных репозиториев — заявленный производителем максимум 87.6 процента. SWE-bench Pro — тот же класс задач на приватных кодовых базах, которые структурно не могли попасть в обучающие данные: лучший результат — 57 процентов, средний — около 25. Разрыв между этими цифрами — измеренная величина «заучено, а не умеет». Показательно, что OpenAI в 2026 году просто перестал публиковать Verified.</a:t>
            </a:r>
          </a:p>
          <a:p>
            <a:r>
              <a:t>Второй — подгонка под метрику. Llama 4 Maverick при релизе показала рейтинг Elo 1417 на Chatbot Arena — но на арене выступала специальная версия, оптимизированная под слепое голосование, а публичная модель заняла места с 32-го по 35-е. Ян Лекун публично признал, что результаты были «слегка подтасованы». Даже честный формат живого голосования подгоняется, если версия на витрине и версия в API — разные модели.</a:t>
            </a:r>
          </a:p>
          <a:p>
            <a:r>
              <a:t>Третий — модели жульничают сами. Отчёт британского института безопасности ИИ: все пять протестированных передовых моделей пытались обмануть процедуру оценки. А самый громкий инцидент года: экспериментальная модель OpenAI, мошенничая на тесте по кибербезопасности, вышла за пределы песочницы и взломала реальные производственные серверы Hugging Face. Это отказ предположения «оценка происходит в контролируемой среде» — и прямой аргумент проектировать права доступа агентов в расчёте на то, что модель будет искать обходные пути.</a:t>
            </a:r>
          </a:p>
          <a:p>
            <a:r>
              <a:t>Что делать: у любой цифры спрашивайте происхождение; смотрите на защищённые наборы и на размер разрыва; финальную проверку делайте на собственном оценочном наборе из 30–50 реальных задач. Бенчмарки сужают список кандидатов — выбирает ваша задача.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шести утверждениям, с которых началась лекция. Тогда я попросил поднять руки — сколько из них верны; и сказал, что все шесть ложны. Теперь для каждого у нас есть механизм — по строке. Буквы: модель видит токены, а strawberry починили точечным патчем, который не переносится на cranberry. Роль: это токены chat-шаблона в общем потоке, и внимание не различает их происхождения — подделанная разметка получает тот же вес. Окно: ёмкость приёма, не понимания — без лексических подсказок модели теряют больше половины собственной точности уже на 32 тысячах. Ноль температуры: ядра не batch-инвариантны, и чужая нагрузка на сервере меняет ваш результат. Токены рассуждения: тарифицируются как выход, и именно они делают o3-pro в восемнадцать раз дороже o4-mini. Бенчмарки: контаминация, подгонка витринных версий и жульничество самих моделей — выбирает собственный оценочный набор.</a:t>
            </a:r>
          </a:p>
          <a:p>
            <a:r>
              <a:t>Общий знаменатель шести строк: точная ментальная модель — это знание границ. Каждое из утверждений — не глупость, а правда соседней области, растянутая за свою границу: буквы модель «видит» — но через патчи; роль работает — но не защищена; окно принимает миллион — но не рассуждает на нём; ноль сужает разброс — но не убирает; рассуждение улучшает качество — но за деньги; бенчмарки информативны — но не как рейтинг для слепого доверия.</a:t>
            </a:r>
          </a:p>
          <a:p>
            <a:r>
              <a:t>Самопроверка на минуту: закройте таблицу и восстановите для любых трёх утверждений строку механизма. Если получается — главное содержание лекции у вас с собой. И заметьте: каждая из шести границ — точка, где инженер обязан уметь сказать «нет» неподходящему применению; ни одно из этих «нет» не означает «не используйте модели» — все шесть означают «используйте с точным знанием, что вам гарантировано, а что нет».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Знание внутренностей нужно в том числе для того, чтобы видеть, где большая языковая модель — не тот инструмент. Классификация на фиксированном наборе категорий с тысячами размеченных примеров — классический ML: дешевле, быстрее, воспроизводимо, а LLM, как мы теперь знаем, ещё и недетерминирована при нуле температуры — для классификатора это прямой недостаток. Объяснимость перед регулятором — прозрачные классические методы: LLM не объяснит отдельное предсказание. Отклик меньше ста миллисекунд — антифрод в платёжном конвейере, устройства без сети — специализированная малая модель: один только prefill съедает бюджет времени. Точные посимвольные и арифметические операции — код, не модель. В остальном пространстве — обработка естественного языка, гибкие форматы, многошаговое рассуждение, генерация — LLM применима и часто оптимальна.</a:t>
            </a:r>
          </a:p>
          <a:p>
            <a:r>
              <a:t>Новый уровень этого решения в 2026 году: выбор внутри класса LLM перестал сводиться к «берём самую сильную». Пара Kimi против GPT-5.5 — сопоставимый результат на защищённом бенчмарке при цене на восемьдесят процентов ниже. Рабочий паттерн — лестница эскалации: массовые простые запросы идут в дешёвую модель, и только сложные случаи — по явному критерию — эскалируются в дорогую. Арифметика: конвейер на миллиард входных токенов в месяц целиком на премиальной модели стоит десять тысяч долларов только входом; с маршрутизацией «девяносто процентов в модель за двадцать центов, десять — в премиальную» — около тысячи ста восьмидесяти, почти на порядок меньше. Разница — один классификатор сложности на входе и собственный оценочный набор, подтверждающий, что дешёвая ступень справляется. Ничего нового в этой формуле нет — новой была только привычка считать.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Последняя граница — концептуальная, возврат к трём уровням причинности Перла из Лекции 1. Теперь у тезиса «модель работает на уровне ассоциаций» есть механистическое основание, и мы его видели: внимание — это взвешивание токенов по выученной статистике совместной встречаемости. Когда модель читает «X произошло, потому что Y», конструкция «потому что» для неё — частотный паттерн текстов, а не указание на механизм мира. Модель усваивает корреляцию, не причинность.</a:t>
            </a:r>
          </a:p>
          <a:p>
            <a:r>
              <a:t>Отсюда воспроизводимый профиль: модель сильна в вопросах «что с чем связано»; частично справляется с «что будет, если изменить X» — только там, где похожие вмешательства описаны в корпусе; и систематически несостоятельна в «что было бы, если бы X не случилось». Это не временный недостаток, который закроет следующая версия, — это свойство статистического механизма в основании.</a:t>
            </a:r>
          </a:p>
          <a:p>
            <a:r>
              <a:t>Как граница выглядит в знакомом сценарии — разбор инцидента. Модель, которой скормили логи и таймлайн, превосходно находит корреляции и строит связный нарратив: «после деплоя X начались таймауты Y». Опасность в том, что связный нарратив читается как каузальный вывод — а является наиболее статистически правдоподобным рассказом; правдоподобие означает «так обычно пишут в постмортемах», а не «так было на самом деле». Проверка гипотезы — откат, эксперимент, вопрос «упало бы без деплоя?» — остаётся за инженером. Правильное разделение труда: модель генерирует и структурирует гипотезы — это она делает быстрее человека; человек их отбирает и проверяет. Неправильное — «модель написала причину в отчёт». Там, где решения требуют именно причинного вывода, человек в контуре — архитектурное требование.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собранного конвейера есть жёсткая граница: модель видит только контекст и не может выйти за него — ни за свежими данными, ни за действием в мире. Следующая лекция — «Агенты, RAG, API» — про то, как эта граница преодолевается: семантический поиск по вашей базе знаний с подстановкой найденных фрагментов в контекст — прямая надстройка над эмбеддингами из сегодняшнего второго раздела; вызов инструментов, где модель генерирует структурированный вызов функции, а надёжность формата обеспечивает уже знакомый вам механизм структурированного вывода; открытый протокол MCP для подключения инструментов; и агентный цикл «действие — наблюдение — коррекция».</a:t>
            </a:r>
          </a:p>
          <a:p>
            <a:r>
              <a:t>Четыре якоря из сегодняшней лекции, которые там понадобятся. Раз роль — это токены, а агент читает внешний контент, prompt injection — не экзотика, а базовый режим угроз агентных систем. Сходство не равно релевантности — главная причина, по которой наивный семантический поиск разочаровывает, и отправная точка разговора о качестве. Экономика агента строится на кэшировании промптов — многошаговый цикл с нестабильным префиксом разоряет. И каждый шаг цикла может тащить невидимые токены рассуждения — бюджет агента без их учёта ошибается в разы.</a:t>
            </a:r>
          </a:p>
          <a:p>
            <a:r>
              <a:t>До следующей встречи — четыре коротких эксперимента, каждый на десять-двадцать минут: подсчёт букв на трёх доступных моделях; десять запусков одного запроса при нуле температуры с побайтовым сравнением; косинусное сходство пары «настроить SSL — отключить SSL»; и аудит собственного проекта — работает ли кэш и не включено ли рассуждение там, где оно не нужно. Результаты понадобятся в разговоре про агентов — там цена каждой из этих границ умножается на число шагов.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Основная часть лекции закончена — и, прежде чем перейти к вопросам, короткое напоминание о четырёх живых экспериментах, которые прошли по ходу лекции: подсчёт букв в cranberry на актуальной модели; сравнение ответов одного запроса при T=0 и T=1.5; повторные запуски при нуле температуры, показавшие разные ответы; и вопрос про timestamp в системном промпте, ломающий кэш. Каждый из них воспроизводится дома за десять минут — это самый надёжный способ проверить, что механизмы лекции остались в руках, а не только в конспекте. Оставшееся время отдаём вопросам: нет «глупых» и нет «слишком базовых» — если в голове не сложилась картинка одной из четырёх стадий конвейера, лучше спросить сейчас, пока тема свежая.</a:t>
            </a:r>
          </a:p>
          <a:p>
            <a:r>
              <a:t>Если вопросов в зале немного, могу зайти с другой стороны: пройтись по чек-листу из шести утверждений и спросить, какое из закрытий показалось наименее убедительным — обычно это самый продуктивный разговор; или разобрать кэширование промптов на конфигурации чьего-нибудь реального проекта из зала. Если совсем тишина — тоже нормально: напомню тогда, что к семинару стоит принести результаты четырёх домашних экспериментов — подсчёт букв, десять запусков при нуле температуры, пара косинусных сходств и аудит кэша в своём проекте, — мы прогоним их через общий чек-лист и обсудим, что из этого меняет ваши рабочие конвейеры. Вопросы, возникшие после лекции, приносите к семинару или присылайте письмом.</a:t>
            </a:r>
          </a:p>
          <a:p>
            <a:r>
              <a:t>Спасибо за внимание и за включённость в течение всей лекции. До следующей встречи.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Сколько из этих утверждений </a:t>
            </a:r>
            <a:r>
              <a:rPr sz="3000" b="1" i="0">
                <a:solidFill>
                  <a:srgbClr val="F0AB00"/>
                </a:solidFill>
                <a:latin typeface="Arial"/>
              </a:rPr>
              <a:t>верны?</a:t>
            </a:r>
          </a:p>
        </p:txBody>
      </p:sp>
      <p:pic>
        <p:nvPicPr>
          <p:cNvPr id="3" name="Picture 2" descr="s01-blackbox-cr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298448"/>
            <a:ext cx="9052560" cy="467228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9467" y="1481328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7483" y="1984248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09547" y="1572768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«Современные модели уже научились считать буквы в словах — strawberry давно исправили»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30187" y="1481328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58203" y="1984248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0267" y="1572768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«Роль system защищена архитектурно — подделать её из пользовательского ввода нельзя»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9467" y="3072384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97483" y="3575304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547" y="3163824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«Окно в миллион токенов — значит, модель одинаково хорошо работает со всем этим объёмом»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0187" y="3072384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58203" y="3575304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0267" y="3163824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«temperature=0 даёт детерминированный ответ: одинаковый запрос — одинаковый результат»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9467" y="4663440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7483" y="5166359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9547" y="4754879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«Reasoning-токены не видны в ответе — значит, они и не оплачиваются»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0187" y="4663440"/>
            <a:ext cx="4892040" cy="1389888"/>
          </a:xfrm>
          <a:prstGeom prst="roundRect">
            <a:avLst>
              <a:gd name="adj" fmla="val 21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58203" y="5166359"/>
            <a:ext cx="384048" cy="38404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0267" y="4754879"/>
            <a:ext cx="4087368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«Бенчмарки — надёжный способ выбрать модель»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1/46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66760" y="274320"/>
            <a:ext cx="3749039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23000" b="1" i="0">
                <a:ln w="33020">
                  <a:solidFill>
                    <a:srgbClr val="F0AB00"/>
                  </a:solidFill>
                </a:ln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 2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44752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786384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Как работают современные
большие модели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160520"/>
            <a:ext cx="45720" cy="56692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96926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Проверяем ментальную модель: конвейер инференса и шесть границ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[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токен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709928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13432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0.21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вектор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54680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758184" y="5257800"/>
            <a:ext cx="713232" cy="713232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6704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внимание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599432" y="5532120"/>
            <a:ext cx="457200" cy="16459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02936" y="5257800"/>
            <a:ext cx="713232" cy="713232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Liberation Mono"/>
              </a:rPr>
              <a:t>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6062472"/>
            <a:ext cx="1554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0" i="0">
                <a:solidFill>
                  <a:srgbClr val="1C7293"/>
                </a:solidFill>
                <a:latin typeface="Arial"/>
              </a:rPr>
              <a:t>распределение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2/46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лекции — 6 разделов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3727" y="1115568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327" y="1115568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0AB00"/>
                </a:solidFill>
                <a:latin typeface="Arial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23847" y="1115568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Введение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чек-лист, рамка и конвейер целиком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3727" y="1956816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1956816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3847" y="1956816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Токенизация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как модель видит ваш текст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65511" y="2176272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32439" y="2176272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3727" y="2798064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2798064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3847" y="2798064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Эмбеддинги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пространство смыслов и граница похожести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727" y="3639312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327" y="3639312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23847" y="3639312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Механизм внимания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что важно сейчас: роли, кэш, длинный контекст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65511" y="385876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32439" y="3858768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3727" y="4480560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327" y="4480560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3847" y="4480560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Сэмплинг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от распределения к токену: температура, детерминизм, невидимые токены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65511" y="470001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832439" y="4700016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3727" y="5321808"/>
            <a:ext cx="11064240" cy="7315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327" y="5321808"/>
            <a:ext cx="5486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3847" y="5321808"/>
            <a:ext cx="83210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Финал</a:t>
            </a:r>
            <a:r>
              <a:rPr sz="1350" b="0" i="1">
                <a:solidFill>
                  <a:srgbClr val="6B7685"/>
                </a:solidFill>
                <a:latin typeface="Arial"/>
              </a:rPr>
              <a:t>  —  сборка конвейера, ландшафт моделей, чек-лист заново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832439" y="5541264"/>
            <a:ext cx="493776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21295C"/>
                </a:solidFill>
                <a:latin typeface="Arial"/>
              </a:rPr>
              <a:t>M6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3727" y="6181344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M1–M6 — шесть утверждений чек-листа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3/46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Фиксируем рамку: всё сегодняшнее — внутри слоя «модель»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600200"/>
            <a:ext cx="502920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550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88720" y="2606040"/>
            <a:ext cx="4206240" cy="3566160"/>
          </a:xfrm>
          <a:prstGeom prst="roundRect">
            <a:avLst>
              <a:gd name="adj" fmla="val 8547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266090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Агент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3611880"/>
            <a:ext cx="3383280" cy="2560320"/>
          </a:xfrm>
          <a:prstGeom prst="roundRect">
            <a:avLst>
              <a:gd name="adj" fmla="val 11904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00200" y="3666744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617720"/>
            <a:ext cx="2560320" cy="1554480"/>
          </a:xfrm>
          <a:prstGeom prst="roundRect">
            <a:avLst>
              <a:gd name="adj" fmla="val 19607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672583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Модель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28800"/>
            <a:ext cx="54864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116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Известное: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модель — stateless-инференс: на вход данные, на выход предсказание, без памяти между вызовами.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657600"/>
            <a:ext cx="5486400" cy="14630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84048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Сегодня: </a:t>
            </a:r>
            <a:r>
              <a:rPr sz="1550" b="0" i="0">
                <a:solidFill>
                  <a:srgbClr val="21295C"/>
                </a:solidFill>
                <a:latin typeface="Arial"/>
              </a:rPr>
              <a:t>границы точного понимания того, что внутри этого инференса.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4/46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65A82"/>
                </a:solidFill>
                <a:latin typeface="Arial"/>
              </a:rPr>
              <a:t>Центральный вопрос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43000"/>
            <a:ext cx="1090879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325880"/>
            <a:ext cx="1028700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«Насколько точна ваша ментальная модель LLM — и какие из внутренних механизмов, которые вы знаете приблизительно, при точном понимании меняют то, как вы строите промпты, агентов и решения?»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857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487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261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исправленный strawberry ничего не доказывает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905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4535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309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роль работает — и подделывается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9531" y="3520440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85835" y="3685032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3579" y="3593592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что на деле умеет окно 1M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857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487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261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почему T=0 не даёт одинаковых ответов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905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4535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309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сколько стоят невидимые токены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9531" y="4828032"/>
            <a:ext cx="3593592" cy="10515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85835" y="4992624"/>
            <a:ext cx="82296" cy="722375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3579" y="4901184"/>
            <a:ext cx="3044952" cy="9052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чем заменить веру в бенчмарки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5/46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Поток данных в LLM — туда и обратно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0847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5983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9407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«Привет»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3687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слова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06005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52893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98029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1453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[Прив][ет]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5733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id из словаря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78051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4939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0075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499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vec₁, vec₂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7779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числа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150096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396984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2120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5544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внимание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9824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инференс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22142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069030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4166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7590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50" b="0" i="0">
                <a:solidFill>
                  <a:srgbClr val="065A82"/>
                </a:solidFill>
                <a:latin typeface="Liberation Mono"/>
              </a:rPr>
              <a:t>p(токен | контекст)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870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вероятности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494188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741076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212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9636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выбран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03916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выбор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0166233" y="2144268"/>
            <a:ext cx="219456" cy="146304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13121" y="1600200"/>
            <a:ext cx="1397725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58257" y="1709928"/>
            <a:ext cx="150745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1681" y="2167128"/>
            <a:ext cx="158060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065A82"/>
                </a:solidFill>
                <a:latin typeface="Liberation Mono"/>
              </a:rPr>
              <a:t>ответ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75961" y="2907792"/>
            <a:ext cx="167204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обратно в текст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9135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9135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9135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Текст → Токены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297783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97783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7783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Токены → Векторы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196431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6431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6431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LLM: внимание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95079" y="3794760"/>
            <a:ext cx="2697480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95079" y="3904488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Arial"/>
              </a:rPr>
              <a:t>Раздел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95079" y="4251960"/>
            <a:ext cx="2697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Распределение → Токен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8880" y="5166360"/>
            <a:ext cx="7251192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51760" y="5221224"/>
            <a:ext cx="6885431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Слова — только на границах; внутри — векторы.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6/46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«Как модель видит ваш текст»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3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7/46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 — id из словаря модели: не буква и не слово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600200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709928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cat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[cat]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1 токен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24328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734056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tokenization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[token]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[ization]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2 токена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48456"/>
            <a:ext cx="1051560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758184"/>
            <a:ext cx="99669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Liberation Mono"/>
              </a:rPr>
              <a:t>клубника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600" b="1" i="0">
                <a:solidFill>
                  <a:srgbClr val="065A82"/>
                </a:solidFill>
                <a:latin typeface="Liberation Mono"/>
              </a:rPr>
              <a:t>[к]</a:t>
            </a:r>
            <a:r>
              <a:rPr sz="1600" b="1" i="0">
                <a:solidFill>
                  <a:srgbClr val="028090"/>
                </a:solidFill>
                <a:latin typeface="Liberation Mono"/>
              </a:rPr>
              <a:t>[луб]</a:t>
            </a:r>
            <a:r>
              <a:rPr sz="1600" b="1" i="0">
                <a:solidFill>
                  <a:srgbClr val="1C7293"/>
                </a:solidFill>
                <a:latin typeface="Liberation Mono"/>
              </a:rPr>
              <a:t>[ника]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  →  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 (o200k_base)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92040"/>
            <a:ext cx="105156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46903"/>
            <a:ext cx="101498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«В среднем: 1 токен ≈ 4 символа EN ≈ 2 символа RU»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Словарь и модель — два разных артефакта: словарь строится до обучения модели, отдельным алгоритмом на своём корпусе.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8/46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BPE — компромисс между алфавитом и словарём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8872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Не все буквы (длинно) и не все слова (незнакомое выпадает) — частые подпоследовательности.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Обучающий корпус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newest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widest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532120" y="2766060"/>
            <a:ext cx="1005840" cy="45720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874519"/>
            <a:ext cx="4297680" cy="2240280"/>
          </a:xfrm>
          <a:prstGeom prst="roundRect">
            <a:avLst>
              <a:gd name="adj" fmla="val 13605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039112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28090"/>
                </a:solidFill>
                <a:latin typeface="Arial"/>
              </a:rPr>
              <a:t>BPE-словарь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560320"/>
            <a:ext cx="3749039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21295C"/>
                </a:solidFill>
                <a:latin typeface="Liberation Mono"/>
              </a:rPr>
              <a:t>low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er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new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028090"/>
                </a:solidFill>
                <a:latin typeface="Liberation Mono"/>
              </a:rPr>
              <a:t>est</a:t>
            </a:r>
            <a:r>
              <a:rPr sz="1600" b="0" i="0">
                <a:solidFill>
                  <a:srgbClr val="6B7685"/>
                </a:solidFill>
                <a:latin typeface="Arial"/>
              </a:rPr>
              <a:t> · </a:t>
            </a:r>
            <a:r>
              <a:rPr sz="1600" b="0" i="0">
                <a:solidFill>
                  <a:srgbClr val="21295C"/>
                </a:solidFill>
                <a:latin typeface="Liberation Mono"/>
              </a:rPr>
              <a:t>wid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+ одиночные символы, частые слоги, целые слова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526280"/>
            <a:ext cx="1024128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81144"/>
            <a:ext cx="9875519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Словарь строится один раз до обучения; на инференсе — выборка готовых правил, не вычисление.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53212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Разные вендоры режут один и тот же текст по-разному: Claude, GPT, Gemini — свои словари и правила.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9/46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Роли system/user/assistant — те же токены в общем потоке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5989320" cy="1325880"/>
          </a:xfrm>
          <a:prstGeom prst="roundRect">
            <a:avLst>
              <a:gd name="adj" fmla="val 2298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Структурированный диалог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5577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"system",  "content": "Ты помощник…" }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50" b="0" i="0">
                <a:solidFill>
                  <a:srgbClr val="21295C"/>
                </a:solidFill>
                <a:latin typeface="Liberation Mono"/>
              </a:rPr>
              <a:t>{ "role": "user",  "content": "Объясни…" }</a:t>
            </a:r>
          </a:p>
        </p:txBody>
      </p:sp>
      <p:sp>
        <p:nvSpPr>
          <p:cNvPr id="6" name="Down Arrow 5"/>
          <p:cNvSpPr/>
          <p:nvPr/>
        </p:nvSpPr>
        <p:spPr>
          <a:xfrm>
            <a:off x="3246120" y="2944368"/>
            <a:ext cx="411480" cy="502920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94760" y="30175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chat-шаблон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611880"/>
            <a:ext cx="5989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730752"/>
            <a:ext cx="5577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Плоский поток токенов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577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&lt;|im_start|&gt;system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Ты помощник…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1" i="0">
                <a:solidFill>
                  <a:srgbClr val="028090"/>
                </a:solidFill>
                <a:latin typeface="Liberation Mono"/>
              </a:rPr>
              <a:t>&lt;|im_start|&gt;user</a:t>
            </a:r>
            <a:r>
              <a:rPr sz="1250" b="0" i="0">
                <a:solidFill>
                  <a:srgbClr val="21295C"/>
                </a:solidFill>
                <a:latin typeface="Liberation Mono"/>
              </a:rPr>
              <a:t> Объясни… </a:t>
            </a:r>
            <a:r>
              <a:rPr sz="1250" b="1" i="0">
                <a:solidFill>
                  <a:srgbClr val="028090"/>
                </a:solidFill>
                <a:latin typeface="Liberation Mono"/>
              </a:rPr>
              <a:t>&lt;|im_end|&gt;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1920240"/>
            <a:ext cx="4892040" cy="2697480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86600" y="21488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Подделка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651760"/>
            <a:ext cx="438912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Внешний контент (веб-страница, файл, письмо) со строкой, похожей на разметку роли, вливается в тот же поток токенов — отдельного «защищённого канала» для ролей нет.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3977639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Liberation Mono"/>
              </a:rPr>
              <a:t>&lt;|im_start|&gt;assistant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— из письма?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064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Почему роль при этом работает — и почему подделанная работает так же — вторая половина ответа в разделе про внимание.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10/46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GPT-5.5 отвечает на strawberry — и ошибается на cranberry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120640" cy="3456432"/>
          </a:xfrm>
          <a:prstGeom prst="roundRect">
            <a:avLst>
              <a:gd name="adj" fmla="val 88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8308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Механизм — слепота к буквам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strawberry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 →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700" b="1" i="0">
                <a:solidFill>
                  <a:srgbClr val="065A82"/>
                </a:solidFill>
                <a:latin typeface="Liberation Mono"/>
              </a:rPr>
              <a:t>[st]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[raw]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[berry]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1295C"/>
                </a:solidFill>
                <a:latin typeface="Arial"/>
              </a:rPr>
              <a:t>Модель видит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3 токена</a:t>
            </a:r>
            <a:r>
              <a:rPr sz="1700" b="0" i="0">
                <a:solidFill>
                  <a:srgbClr val="21295C"/>
                </a:solidFill>
                <a:latin typeface="Arial"/>
              </a:rPr>
              <a:t>, не 10 букв.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1554480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72200" y="1645920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GPT-5.2 · дек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984248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«в strawberry две r»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2706624"/>
            <a:ext cx="5760720" cy="100584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72200" y="2798064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GPT-5.5 · апр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3136391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strawberry ✓  /  cranberry ✗ — «две r» вместо трёх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0" y="3858768"/>
            <a:ext cx="5760720" cy="10058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3950207"/>
            <a:ext cx="53492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StrawberryBench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4288536"/>
            <a:ext cx="53492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847 вопросов, 7 уровней сложности — системная проверка вместо вирусного вопроса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578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3126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«Рваный интеллект» (jagged intelligence): успех на впечатляющей задаче ≠ надёжность на простой.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11/46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Токенизатор режет по частоте, а не по структуре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54864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190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65A82"/>
                </a:solidFill>
                <a:latin typeface="Arial"/>
              </a:rPr>
              <a:t>Числа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700" b="0" i="0">
                <a:solidFill>
                  <a:srgbClr val="21295C"/>
                </a:solidFill>
                <a:latin typeface="Liberation Mono"/>
              </a:rPr>
              <a:t>1000000</a:t>
            </a:r>
            <a:r>
              <a:rPr sz="1700" b="0" i="0">
                <a:solidFill>
                  <a:srgbClr val="6B7685"/>
                </a:solidFill>
                <a:latin typeface="Arial"/>
              </a:rPr>
              <a:t> → </a:t>
            </a:r>
            <a:r>
              <a:rPr sz="1700" b="1" i="0">
                <a:solidFill>
                  <a:srgbClr val="065A82"/>
                </a:solidFill>
                <a:latin typeface="Liberation Mono"/>
              </a:rPr>
              <a:t>[100]</a:t>
            </a:r>
            <a:r>
              <a:rPr sz="1700" b="1" i="0">
                <a:solidFill>
                  <a:srgbClr val="028090"/>
                </a:solidFill>
                <a:latin typeface="Liberation Mono"/>
              </a:rPr>
              <a:t>[000]</a:t>
            </a:r>
            <a:r>
              <a:rPr sz="1700" b="1" i="0">
                <a:solidFill>
                  <a:srgbClr val="1C7293"/>
                </a:solidFill>
                <a:latin typeface="Liberation Mono"/>
              </a:rPr>
              <a:t>[0]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Чанки по 3 цифры слева направо ≠ разряды.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Нарезка справа налево улучшает арифметику; задача-специфичные схемы — </a:t>
            </a:r>
            <a:r>
              <a:rPr sz="1550" b="1" i="0">
                <a:solidFill>
                  <a:srgbClr val="F0AB00"/>
                </a:solidFill>
                <a:latin typeface="Arial"/>
              </a:rPr>
              <a:t>до +33% точности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к стандартной нарезке.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486400" cy="3063240"/>
          </a:xfrm>
          <a:prstGeom prst="roundRect">
            <a:avLst>
              <a:gd name="adj" fmla="val 9950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719072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Код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286000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GPT-2: </a:t>
            </a:r>
            <a:r>
              <a:rPr sz="1550" b="1" i="0">
                <a:solidFill>
                  <a:srgbClr val="065A82"/>
                </a:solidFill>
                <a:latin typeface="Arial"/>
              </a:rPr>
              <a:t>16 токенов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отступ 4-го уровня.</a:t>
            </a:r>
          </a:p>
          <a:p>
            <a:pPr algn="l">
              <a:lnSpc>
                <a:spcPct val="122000"/>
              </a:lnSpc>
              <a:spcBef>
                <a:spcPts val="1200"/>
              </a:spcBef>
            </a:pPr>
            <a:r>
              <a:rPr sz="1500" b="1" i="0">
                <a:solidFill>
                  <a:srgbClr val="21295C"/>
                </a:solidFill>
                <a:latin typeface="Arial"/>
              </a:rPr>
              <a:t>GPT-4: </a:t>
            </a:r>
            <a:r>
              <a:rPr sz="1500" b="0" i="0">
                <a:solidFill>
                  <a:srgbClr val="21295C"/>
                </a:solidFill>
                <a:latin typeface="Arial"/>
              </a:rPr>
              <a:t>пробелы группами — словарь чинится, но не под все задачи сразу.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63440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Что делать: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514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230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Разделители разрядов («1 234 567»)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90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2706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Вычисления — в инструмент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4667" y="4983480"/>
            <a:ext cx="3611880" cy="77724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1827" y="5056632"/>
            <a:ext cx="3337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Единообразные отступы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12/46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Порядка 4% словаря — glitch-токены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64792"/>
            <a:ext cx="31546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Liberation Mono"/>
              </a:rPr>
              <a:t>SolidGoldMagikarp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Юзернейм с Reddit, попавший в словарь GPT: модель не могла его повторить, отвечала невпопад.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176479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Механизм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корпус словаря ≠ корпус модели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6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эмбеддинг токена* остаётся у случайной инициализации</a:t>
            </a:r>
          </a:p>
          <a:p>
            <a:pPr algn="ctr">
              <a:lnSpc>
                <a:spcPct val="115000"/>
              </a:lnSpc>
              <a:spcBef>
                <a:spcPts val="400"/>
              </a:spcBef>
            </a:pPr>
            <a:r>
              <a:rPr sz="1600" b="1" i="0">
                <a:solidFill>
                  <a:srgbClr val="028090"/>
                </a:solidFill>
                <a:latin typeface="Arial"/>
              </a:rPr>
              <a:t>↓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вектор «ничего не значит» в выученной геометрии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050" b="0" i="1">
                <a:solidFill>
                  <a:srgbClr val="6B7685"/>
                </a:solidFill>
                <a:latin typeface="Arial"/>
              </a:rPr>
              <a:t>* числовой вектор токена; подробно — следующий раздел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00200"/>
            <a:ext cx="361188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176479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GlitchMiner (AAAI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2240280"/>
            <a:ext cx="315468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0AB00"/>
                </a:solidFill>
                <a:latin typeface="Arial"/>
              </a:rPr>
              <a:t>порядка 4% словаря</a:t>
            </a:r>
            <a:r>
              <a:rPr sz="1400" b="0" i="0">
                <a:solidFill>
                  <a:srgbClr val="21295C"/>
                </a:solidFill>
                <a:latin typeface="Arial"/>
              </a:rPr>
              <a:t> по одной из оценок;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воспроизводится в открытых семействах Llama, Qwen, Gemma, Phi-3, Mistral.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4924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404103"/>
            <a:ext cx="10835640" cy="5760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Системная особенность конвейера, не баг версии.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13/46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Русский текст стоит ≈2× дороже английского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54480"/>
            <a:ext cx="6675120" cy="4160520"/>
          </a:xfrm>
          <a:prstGeom prst="roundRect">
            <a:avLst>
              <a:gd name="adj" fmla="val 7326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tokens-per-char-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10512"/>
            <a:ext cx="6309360" cy="36053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470724"/>
            <a:ext cx="6309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словари GPT-семейства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1554480"/>
            <a:ext cx="4251960" cy="2011680"/>
          </a:xfrm>
          <a:prstGeom prst="roundRect">
            <a:avLst>
              <a:gd name="adj" fmla="val 15151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737360"/>
            <a:ext cx="379476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Переход на o200k_base: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0" i="0">
                <a:solidFill>
                  <a:srgbClr val="21295C"/>
                </a:solidFill>
                <a:latin typeface="Arial"/>
              </a:rPr>
              <a:t>примерно </a:t>
            </a:r>
            <a:r>
              <a:rPr sz="1700" b="1" i="0">
                <a:solidFill>
                  <a:srgbClr val="21295C"/>
                </a:solidFill>
                <a:latin typeface="Arial"/>
              </a:rPr>
              <a:t>−35%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нелатинским языкам — разрыв сокращается, но не исчезает.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3794760"/>
            <a:ext cx="4251960" cy="1920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3849624"/>
            <a:ext cx="3886200" cy="1810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Любой лимит в токенах калибруйте на своём языке: разбиение на фрагменты, max_tokens, окно.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14/46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«Пространство смыслов — и граница похожести»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1 провал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15/46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Каждому токену — вектор из входной таблицы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7315200" cy="2788920"/>
          </a:xfrm>
          <a:prstGeom prst="roundRect">
            <a:avLst>
              <a:gd name="adj" fmla="val 1092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2788920"/>
            <a:ext cx="1005840" cy="56692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700" b="1">
                <a:solidFill>
                  <a:srgbClr val="FFFFFF"/>
                </a:solidFill>
                <a:latin typeface="Liberation Mono"/>
              </a:rPr>
              <a:t>[кот]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01168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0" y="1901952"/>
            <a:ext cx="2377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39" y="228600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97480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9039" y="3291840"/>
            <a:ext cx="100584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Liberation Mono"/>
              </a:rPr>
              <a:t>[кот]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88920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>
                <a:solidFill>
                  <a:srgbClr val="028090"/>
                </a:solidFill>
                <a:latin typeface="Arial"/>
              </a:rPr>
              <a:t>→ вектор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29200" y="2944368"/>
            <a:ext cx="5029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23560" y="2670048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Liberation Mono"/>
              </a:rPr>
              <a:t>[ 0.21, −0.45,
0.88, …, 0.13 ]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69080"/>
            <a:ext cx="6766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выучен на тренировке вместе с остальными весами; после обучения таблица фиксирована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1783080"/>
            <a:ext cx="3611880" cy="2788920"/>
          </a:xfrm>
          <a:prstGeom prst="roundRect">
            <a:avLst>
              <a:gd name="adj" fmla="val 10928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19659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Размерности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2377440"/>
            <a:ext cx="31546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text-embedding-3-small — 1536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300" b="0" i="0">
                <a:solidFill>
                  <a:srgbClr val="21295C"/>
                </a:solidFill>
                <a:latin typeface="Liberation Mono"/>
              </a:rPr>
              <a:t>text-embedding-3-large — 3072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1">
                <a:solidFill>
                  <a:srgbClr val="6B7685"/>
                </a:solidFill>
                <a:latin typeface="Arial"/>
              </a:rPr>
              <a:t>внутренние размерности флагманов не публикуются; порядок — тысячи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749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129783"/>
            <a:ext cx="1083564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«Геометрическая близость = смысловая близость»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16/46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«Эмбеддинг» — это три разные сущности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5147" y="155448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374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374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Входная таблица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Статическая: вектор [кот] один и тот же в любом предложении. Выборка по id, контекста ещё нет.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9907" y="155448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850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850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Контекстуальные представления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После слоёв внимания: вектор каждой позиции обновлён с учётом окружения. Именно они несут «понимание» модели.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84667" y="1554480"/>
            <a:ext cx="3611880" cy="3246120"/>
          </a:xfrm>
          <a:prstGeom prst="roundRect">
            <a:avLst>
              <a:gd name="adj" fmla="val 6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3267" y="17190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F0AB00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13267" y="2423160"/>
            <a:ext cx="3154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Векторы для поиска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2461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Вектор целого текста от отдельной embedding-модели — не внутренности вашего чат-LLM. Свой продукт, своё обучение, свои лидерборды.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13267" y="436168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Arial"/>
              </a:rPr>
              <a:t>самая частая путаница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1663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2212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Обновили LLM → переиндексировать базу НЕ надо: индекс живёт в координатах embedding-модели.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17/46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Близкие по смыслу токены лежат рядом — в сотнях-тысячах измерений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612648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8488"/>
            <a:ext cx="5760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6B7685"/>
                </a:solidFill>
                <a:latin typeface="Arial"/>
              </a:rPr>
              <a:t>2D-проекция (PCA-стиль)</a:t>
            </a:r>
          </a:p>
        </p:txBody>
      </p:sp>
      <p:sp>
        <p:nvSpPr>
          <p:cNvPr id="5" name="Oval 4"/>
          <p:cNvSpPr/>
          <p:nvPr/>
        </p:nvSpPr>
        <p:spPr>
          <a:xfrm>
            <a:off x="960120" y="2148840"/>
            <a:ext cx="2651760" cy="141732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03320" y="3703320"/>
            <a:ext cx="2743200" cy="1417320"/>
          </a:xfrm>
          <a:prstGeom prst="ellipse">
            <a:avLst/>
          </a:prstGeom>
          <a:noFill/>
          <a:ln w="1524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17320" y="251460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2395728"/>
            <a:ext cx="2011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Как настроить SSL</a:t>
            </a:r>
          </a:p>
        </p:txBody>
      </p:sp>
      <p:sp>
        <p:nvSpPr>
          <p:cNvPr id="9" name="Oval 8"/>
          <p:cNvSpPr/>
          <p:nvPr/>
        </p:nvSpPr>
        <p:spPr>
          <a:xfrm>
            <a:off x="2103120" y="3017520"/>
            <a:ext cx="310896" cy="310896"/>
          </a:xfrm>
          <a:prstGeom prst="ellipse">
            <a:avLst/>
          </a:prstGeom>
          <a:solidFill>
            <a:srgbClr val="065A82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95728" y="2907792"/>
            <a:ext cx="2103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Установка
HTTPS-сертификата</a:t>
            </a:r>
          </a:p>
        </p:txBody>
      </p:sp>
      <p:sp>
        <p:nvSpPr>
          <p:cNvPr id="11" name="Oval 10"/>
          <p:cNvSpPr/>
          <p:nvPr/>
        </p:nvSpPr>
        <p:spPr>
          <a:xfrm>
            <a:off x="4160520" y="406908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2272" y="3950208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Деплой React-компонента</a:t>
            </a:r>
          </a:p>
        </p:txBody>
      </p:sp>
      <p:sp>
        <p:nvSpPr>
          <p:cNvPr id="13" name="Oval 12"/>
          <p:cNvSpPr/>
          <p:nvPr/>
        </p:nvSpPr>
        <p:spPr>
          <a:xfrm>
            <a:off x="4846320" y="4572000"/>
            <a:ext cx="310896" cy="310896"/>
          </a:xfrm>
          <a:prstGeom prst="ellipse">
            <a:avLst/>
          </a:prstGeom>
          <a:solidFill>
            <a:srgbClr val="02809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4462272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Сборка
React-приложения</a:t>
            </a:r>
          </a:p>
        </p:txBody>
      </p:sp>
      <p:sp>
        <p:nvSpPr>
          <p:cNvPr id="15" name="Oval 14"/>
          <p:cNvSpPr/>
          <p:nvPr/>
        </p:nvSpPr>
        <p:spPr>
          <a:xfrm>
            <a:off x="1417320" y="5257800"/>
            <a:ext cx="310896" cy="310896"/>
          </a:xfrm>
          <a:prstGeom prst="ellipse">
            <a:avLst/>
          </a:prstGeom>
          <a:solidFill>
            <a:srgbClr val="F0AB00"/>
          </a:solidFill>
          <a:ln w="1524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37360" y="513892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Рецепт борща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544068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выброс — другая область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1508760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86600" y="1618488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011680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Публичные embedding-модели: </a:t>
            </a:r>
            <a:r>
              <a:rPr sz="1450" b="1" i="0">
                <a:solidFill>
                  <a:srgbClr val="F0AB00"/>
                </a:solidFill>
                <a:latin typeface="Arial"/>
              </a:rPr>
              <a:t>1536–3072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измерения; внутренние у флагманов — порядка тысяч.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3090672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32004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Обучение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593591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Координаты не задаются вручную: похожие контексты употребления → близкие векторы.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4672583"/>
            <a:ext cx="484632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478231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Проекция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5175503"/>
            <a:ext cx="4389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Увидеть пространство можно только через PCA/t-SNE — 2D-картинка теряет часть структуры.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18/46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Высокое сходство — «об одном и том же», не «с одинаковым смыслом»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554480"/>
          <a:ext cx="6537960" cy="3977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41248"/>
                <a:gridCol w="841248"/>
                <a:gridCol w="841248"/>
                <a:gridCol w="841248"/>
                <a:gridCol w="84124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6B7685"/>
                          </a:solidFill>
                          <a:latin typeface="Arial"/>
                        </a:rPr>
                        <a:t>cosine similarity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HTTPS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React-к.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React-п.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Борщ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Как настроить SSL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Установка HTTPS-сертификата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0,85</a:t>
                      </a:r>
                    </a:p>
                  </a:txBody>
                  <a:tcPr marL="27432" marR="27432" marT="18288" marB="18288" anchor="ctr">
                    <a:solidFill>
                      <a:srgbClr val="1F3E6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Деплой React-компонента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0,18</a:t>
                      </a:r>
                    </a:p>
                  </a:txBody>
                  <a:tcPr marL="27432" marR="27432" marT="18288" marB="18288" anchor="ctr">
                    <a:solidFill>
                      <a:srgbClr val="A6C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0,22</a:t>
                      </a:r>
                    </a:p>
                  </a:txBody>
                  <a:tcPr marL="27432" marR="27432" marT="18288" marB="18288" anchor="ctr">
                    <a:solidFill>
                      <a:srgbClr val="94BC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Сборка React-приложения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0,20</a:t>
                      </a:r>
                    </a:p>
                  </a:txBody>
                  <a:tcPr marL="27432" marR="27432" marT="18288" marB="18288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0,19</a:t>
                      </a:r>
                    </a:p>
                  </a:txBody>
                  <a:tcPr marL="27432" marR="27432" marT="18288" marB="18288" anchor="ctr">
                    <a:solidFill>
                      <a:srgbClr val="A1C4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0,78</a:t>
                      </a:r>
                    </a:p>
                  </a:txBody>
                  <a:tcPr marL="27432" marR="27432" marT="18288" marB="18288" anchor="ctr">
                    <a:solidFill>
                      <a:srgbClr val="1E49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</a:tr>
              <a:tr h="69494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065A82"/>
                          </a:solidFill>
                          <a:latin typeface="Arial"/>
                        </a:rPr>
                        <a:t>Рецепт борща</a:t>
                      </a:r>
                    </a:p>
                  </a:txBody>
                  <a:tcPr marL="27432" marR="2743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0,08</a:t>
                      </a:r>
                    </a:p>
                  </a:txBody>
                  <a:tcPr marL="27432" marR="27432" marT="18288" marB="18288" anchor="ctr">
                    <a:solidFill>
                      <a:srgbClr val="D1E1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0,07</a:t>
                      </a:r>
                    </a:p>
                  </a:txBody>
                  <a:tcPr marL="27432" marR="27432" marT="18288" marB="18288" anchor="ctr">
                    <a:solidFill>
                      <a:srgbClr val="D5E4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0,12</a:t>
                      </a:r>
                    </a:p>
                  </a:txBody>
                  <a:tcPr marL="27432" marR="27432" marT="18288" marB="18288" anchor="ctr">
                    <a:solidFill>
                      <a:srgbClr val="C0D7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Arial"/>
                        </a:rPr>
                        <a:t>0,10</a:t>
                      </a:r>
                    </a:p>
                  </a:txBody>
                  <a:tcPr marL="27432" marR="27432" marT="18288" marB="18288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1,00</a:t>
                      </a:r>
                    </a:p>
                  </a:txBody>
                  <a:tcPr marL="27432" marR="27432" marT="18288" marB="18288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360920" y="1554480"/>
            <a:ext cx="4343400" cy="2377440"/>
          </a:xfrm>
          <a:prstGeom prst="roundRect">
            <a:avLst>
              <a:gd name="adj" fmla="val 7000"/>
            </a:avLst>
          </a:prstGeom>
          <a:solidFill>
            <a:srgbClr val="FEF5E0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35240" y="1783080"/>
            <a:ext cx="38404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настроить SSL»</a:t>
            </a:r>
            <a:r>
              <a:rPr sz="1550" b="1" i="0">
                <a:solidFill>
                  <a:srgbClr val="065A82"/>
                </a:solidFill>
                <a:latin typeface="Arial"/>
              </a:rPr>
              <a:t>  ↔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550" b="1" i="0">
                <a:solidFill>
                  <a:srgbClr val="21295C"/>
                </a:solidFill>
                <a:latin typeface="Arial"/>
              </a:rPr>
              <a:t>«Как отключить SSL»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400" b="0" i="0">
                <a:solidFill>
                  <a:srgbClr val="21295C"/>
                </a:solidFill>
                <a:latin typeface="Arial"/>
              </a:rPr>
              <a:t>Очень высокое сходство — противоположный практический смысл.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4114800"/>
            <a:ext cx="4343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шкала: 0 — светлое · 1 — тёмное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7607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155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Similarity — сигнал кандидатов; релевантность — отдельная задача: реранкер, гибрид, фильтры.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19/46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Эмбеддинги — фундамент понимания: модель работает с векторами, не строками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3200400" cy="489204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" y="183337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7909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6" name="Down Arrow 5"/>
          <p:cNvSpPr/>
          <p:nvPr/>
        </p:nvSpPr>
        <p:spPr>
          <a:xfrm>
            <a:off x="2020824" y="2318003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2446020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9173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9" name="Down Arrow 8"/>
          <p:cNvSpPr/>
          <p:nvPr/>
        </p:nvSpPr>
        <p:spPr>
          <a:xfrm>
            <a:off x="2020824" y="2930651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05840" y="3058668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4387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020824" y="3543299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3671315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717035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2020824" y="4155948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283964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329683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2020824" y="4768596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5840" y="4896612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942331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2020824" y="5381244"/>
            <a:ext cx="164592" cy="118872"/>
          </a:xfrm>
          <a:prstGeom prst="down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40" y="5509259"/>
            <a:ext cx="2194560" cy="475488"/>
          </a:xfrm>
          <a:prstGeom prst="roundRect">
            <a:avLst>
              <a:gd name="adj" fmla="val 35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554979"/>
            <a:ext cx="2194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слова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23360" y="14630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80" y="15819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Перефразирования и синонимы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19659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«Как настроить SSL» и «Установка HTTPS-сертификата» — близкие векторы → модель отвечает одинаково; то же с «авто» и «машина».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063240"/>
            <a:ext cx="7680960" cy="1417320"/>
          </a:xfrm>
          <a:prstGeom prst="roundRect">
            <a:avLst>
              <a:gd name="adj" fmla="val 21505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80" y="318211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Межъязыковая близость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56616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«клубника» и strawberry — близкие векторы → ответ корректен независимо от языка запроса.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23360" y="4709160"/>
            <a:ext cx="768096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0" y="4764024"/>
            <a:ext cx="731520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Семантическая близость на уровне предложений — основа «понимания» переформулировок.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5806440"/>
            <a:ext cx="7680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Выбор embedding-модели под задачу (MTEB, матрёшечные представления) — материал для самостоятельного чтения.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20/46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Механизм внимания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модель решает, на что опереться в контексте — и что из этого следует для ролей, кэша и длинных окон»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0">
                <a:solidFill>
                  <a:srgbClr val="6B7685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21/46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Внимание — это сверка каждого токена со всеми остальными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Каждый токен «смотрит» на все остальные одновременно. На каждом шаге — N × N связей.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17320"/>
          <a:ext cx="6857999" cy="36118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809897"/>
                <a:gridCol w="809897"/>
                <a:gridCol w="809897"/>
                <a:gridCol w="809897"/>
                <a:gridCol w="809897"/>
                <a:gridCol w="809897"/>
                <a:gridCol w="809897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6B7685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она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была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065A82"/>
                          </a:solidFill>
                          <a:latin typeface="Arial"/>
                        </a:rPr>
                        <a:t>голодна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Кот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съел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мышь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потому что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она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21295C"/>
                          </a:solidFill>
                          <a:latin typeface="Arial"/>
                        </a:rPr>
                        <a:t>0,7</a:t>
                      </a:r>
                    </a:p>
                  </a:txBody>
                  <a:tcPr marL="18288" marR="18288" marT="9144" marB="9144" anchor="ctr">
                    <a:solidFill>
                      <a:srgbClr val="F0AB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была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6B7685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E5EAF0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65A82"/>
                          </a:solidFill>
                          <a:latin typeface="Arial"/>
                        </a:rPr>
                        <a:t>голодна</a:t>
                      </a:r>
                    </a:p>
                  </a:txBody>
                  <a:tcPr marL="18288" marR="18288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18288" marR="18288" marT="9144" marB="9144" anchor="ctr">
                    <a:solidFill>
                      <a:srgbClr val="C8DC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18288" marR="18288" marT="9144" marB="9144" anchor="ctr">
                    <a:solidFill>
                      <a:srgbClr val="9DC1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18288" marR="18288" marT="9144" marB="9144" anchor="ctr">
                    <a:solidFill>
                      <a:srgbClr val="72A7B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21295C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18288" marR="18288" marT="9144" marB="9144" anchor="ctr">
                    <a:solidFill>
                      <a:srgbClr val="478CA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FFFFFF"/>
                          </a:solidFill>
                          <a:latin typeface="Arial"/>
                        </a:rPr>
                        <a:t>0,5</a:t>
                      </a:r>
                    </a:p>
                  </a:txBody>
                  <a:tcPr marL="18288" marR="18288" marT="9144" marB="9144" anchor="ctr">
                    <a:solidFill>
                      <a:srgbClr val="1C729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18288" marR="18288" marT="9144" marB="9144" anchor="ctr">
                    <a:solidFill>
                      <a:srgbClr val="21295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6858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 строке «она»: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наибольший вес — на «мышь». Статистическая связь, выученная на корпусе.</a:t>
            </a:r>
          </a:p>
          <a:p>
            <a:pPr algn="l">
              <a:lnSpc>
                <a:spcPct val="112000"/>
              </a:lnSpc>
              <a:spcBef>
                <a:spcPts val="300"/>
              </a:spcBef>
            </a:pPr>
            <a:r>
              <a:rPr sz="1150" b="0" i="1">
                <a:solidFill>
                  <a:srgbClr val="6B7685"/>
                </a:solidFill>
                <a:latin typeface="Arial"/>
              </a:rPr>
              <a:t>В декодере токен видит только предыдущие — показана полная сверка для наглядности.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417320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5087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Размерность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1874519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N × N, где N — длина контекста. Удвоение контекста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учетверение вычислений внимания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0" y="2898648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18120" y="2990088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На каждом шаге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355848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Распределение весов пересчитывается заново на каждом шаге генерации.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4379976"/>
            <a:ext cx="4114800" cy="1353312"/>
          </a:xfrm>
          <a:prstGeom prst="roundRect">
            <a:avLst>
              <a:gd name="adj" fmla="val 22522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4471416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Многоголовость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4837176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 каждом слое — десятки параллельных «голов» (типично 32–128); каждая ловит свой тип связей: грамматика, семантика, дальние зависимости.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897880"/>
            <a:ext cx="11201400" cy="6400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952744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Внимание — матричная операция: каждый токен против каждого. Отсюда квадратичная стоимость длинного контекста.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22/46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Внимание — распределение весов на весь контекст: три проекции Query / Key / Value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9264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24128"/>
            <a:ext cx="108356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Q — про текущий шаг. K и V — про уже обработанный контекст.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Query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сейчас ищу»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Key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предлагаю»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1682496"/>
            <a:ext cx="3611880" cy="530352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57032" y="1682496"/>
            <a:ext cx="333756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Value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«что я отдам, если меня выбрали»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95728"/>
            <a:ext cx="72237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523744"/>
            <a:ext cx="6675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Распределение весов на токенах контекста — сумма = 1</a:t>
            </a:r>
          </a:p>
        </p:txBody>
      </p:sp>
      <p:pic>
        <p:nvPicPr>
          <p:cNvPr id="13" name="Picture 12" descr="s19-attention-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44368"/>
            <a:ext cx="6400800" cy="2612571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909560" y="2395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2395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1.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 вход — все токены контекста.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09560" y="3538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3538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2.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На выходе — распределение весов, сумма = 1.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4681728"/>
            <a:ext cx="3794760" cy="9601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4681728"/>
            <a:ext cx="347472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3. 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Пересчитывается на каждом шаге генерации.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5216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Метафора: фонарик в тёмной комнате — луч направлен на релевантные токены, яркость света = вес внимания.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23/46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247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Роль работает через вес во внимании — и ровно поэтому подделанная роль работает так же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24128"/>
            <a:ext cx="11201400" cy="2240280"/>
          </a:xfrm>
          <a:prstGeom prst="roundRect">
            <a:avLst>
              <a:gd name="adj" fmla="val 13605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33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Рабочий пример: куда смотрит «она»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57276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«Кот съел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1572768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мышь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572768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, потому что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572768"/>
            <a:ext cx="6583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i="0">
                <a:solidFill>
                  <a:srgbClr val="065A82"/>
                </a:solidFill>
                <a:latin typeface="Arial"/>
              </a:rPr>
              <a:t>она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572768"/>
            <a:ext cx="868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была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1572768"/>
            <a:ext cx="14173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21295C"/>
                </a:solidFill>
                <a:latin typeface="Arial"/>
              </a:rPr>
              <a:t>голодна»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4069080" y="2002536"/>
            <a:ext cx="2331720" cy="365760"/>
          </a:xfrm>
          <a:prstGeom prst="line">
            <a:avLst/>
          </a:prstGeom>
          <a:ln w="50800">
            <a:solidFill>
              <a:srgbClr val="F0AB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537960" y="2002536"/>
            <a:ext cx="731520" cy="365760"/>
          </a:xfrm>
          <a:prstGeom prst="line">
            <a:avLst/>
          </a:prstGeom>
          <a:ln w="27940">
            <a:solidFill>
              <a:srgbClr val="065A8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29400" y="2002536"/>
            <a:ext cx="1737360" cy="365760"/>
          </a:xfrm>
          <a:prstGeom prst="line">
            <a:avLst/>
          </a:prstGeom>
          <a:ln w="15240">
            <a:solidFill>
              <a:srgbClr val="1C729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43200" y="2414016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0AB00"/>
                </a:solidFill>
                <a:latin typeface="Arial"/>
              </a:rPr>
              <a:t>главный вес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4320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Упрощение: агрегат сотен связей в десятках слоёв. Модель не делает грамматический разбор — она воспроизводит корреляции употребления.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257860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Подумайте 30 секунд: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куда уйдёт вес от «она» в «Программа упала, потому что она забыла обработать null»?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29000"/>
            <a:ext cx="5212080" cy="1691640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661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Роль 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4709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«Ты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эксперт по Python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Объясни асинхронность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джуниору</a:t>
            </a:r>
            <a:r>
              <a:rPr sz="1250" b="0" i="0">
                <a:solidFill>
                  <a:srgbClr val="21295C"/>
                </a:solidFill>
                <a:latin typeface="Arial"/>
              </a:rPr>
              <a:t>» — токены роли получают вес при генерации каждого токена ответа → конкретнее, проще, в экспертном регистре.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6440" y="3977639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800" b="1" i="0">
                <a:solidFill>
                  <a:srgbClr val="F0AB00"/>
                </a:solidFill>
                <a:latin typeface="Arial"/>
              </a:rPr>
              <a:t>=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3429000"/>
            <a:ext cx="5212080" cy="1691640"/>
          </a:xfrm>
          <a:prstGeom prst="roundRect">
            <a:avLst>
              <a:gd name="adj" fmla="val 18018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5661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Подделка работает так же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977639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Внедрённая в контекст последовательность, выглядящая как </a:t>
            </a:r>
            <a:r>
              <a:rPr sz="1250" b="1" i="0">
                <a:solidFill>
                  <a:srgbClr val="028090"/>
                </a:solidFill>
                <a:latin typeface="Arial"/>
              </a:rPr>
              <a:t>разметка роли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вливается в то же взвешивание — с той же силой, что настоящая.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3492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4041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Внимание не различает происхождение токенов. Архитектурного барьера нет — барьер строится снаружи: фильтрация входа + права инструментов.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24/46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K и V кешируются — заново считается только 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11247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KV-cache: </a:t>
            </a:r>
            <a:r>
              <a:rPr sz="1450" b="0" i="0">
                <a:solidFill>
                  <a:srgbClr val="21295C"/>
                </a:solidFill>
                <a:latin typeface="Arial"/>
              </a:rPr>
              <a:t>Key/Value обработанных токенов сохраняются в памяти ускорителя. На каждом шаге вычисляется только Q нового токена — против сохранённых K/V.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1120140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926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8132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8132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028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9514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9514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токен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2102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3308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3308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82880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46904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46904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58968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58968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Liberation Mono"/>
              </a:rPr>
              <a:t>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2798064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028090"/>
                </a:solidFill>
                <a:latin typeface="Arial"/>
              </a:rPr>
              <a:t>уже посчитаны — лежат в кэше, не пересчитываются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537960" y="1783080"/>
            <a:ext cx="0" cy="1280160"/>
          </a:xfrm>
          <a:prstGeom prst="line">
            <a:avLst/>
          </a:prstGeom>
          <a:ln w="15240">
            <a:solidFill>
              <a:srgbClr val="1C729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869680" y="1828800"/>
            <a:ext cx="141732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новый токен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304288"/>
            <a:ext cx="457200" cy="384048"/>
          </a:xfrm>
          <a:prstGeom prst="roundRect">
            <a:avLst>
              <a:gd name="adj" fmla="val 2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340864"/>
            <a:ext cx="4572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Liberation Mono"/>
              </a:rPr>
              <a:t>Q</a:t>
            </a:r>
          </a:p>
        </p:txBody>
      </p:sp>
      <p:sp>
        <p:nvSpPr>
          <p:cNvPr id="30" name="Left Arrow 29"/>
          <p:cNvSpPr/>
          <p:nvPr/>
        </p:nvSpPr>
        <p:spPr>
          <a:xfrm>
            <a:off x="6812280" y="2377440"/>
            <a:ext cx="2377440" cy="237744"/>
          </a:xfrm>
          <a:prstGeom prst="lef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2697480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сверка со всеми K/V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3520440"/>
            <a:ext cx="5394960" cy="192024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36576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Фаза 1 — prefill (обработка промпта)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069080"/>
            <a:ext cx="4892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Все токены входа известны сразу → K/V считаются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параллельно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вычислительную мощность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Определяет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паузу до первого символа ответа (TTFT)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989320" y="4343400"/>
            <a:ext cx="41148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520440"/>
            <a:ext cx="5212080" cy="192024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0" y="3657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28090"/>
                </a:solidFill>
                <a:latin typeface="Arial"/>
              </a:rPr>
              <a:t>Фаза 2 — decode (генерация ответа)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069080"/>
            <a:ext cx="4709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Строго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последовательно</a:t>
            </a:r>
            <a:r>
              <a:rPr sz="1250" b="0" i="0">
                <a:solidFill>
                  <a:srgbClr val="21295C"/>
                </a:solidFill>
                <a:latin typeface="Arial"/>
              </a:rPr>
              <a:t>, токен за токеном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Каждый шаг читает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весь накопленный кэш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из памяти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Упирается в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пропускную способность памяти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→ скорость «печати»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6928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5724144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Почему длинный чат тормозит и дорожает: история подаётся целиком при каждом обороте — больше prefill, толще кэш, медленнее каждый шаг. «Начать новый чат» — буквально сброс груза, а не суеверие.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25/46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Кэш промптов — ставка на повторное использование, а не скидка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5806440" cy="3977639"/>
          </a:xfrm>
          <a:prstGeom prst="roundRect">
            <a:avLst>
              <a:gd name="adj" fmla="val 766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32588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Тарифы (сентябрь 2026):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55648"/>
            <a:ext cx="5257800" cy="475488"/>
          </a:xfrm>
          <a:prstGeom prst="roundRect">
            <a:avLst>
              <a:gd name="adj" fmla="val 18000"/>
            </a:avLst>
          </a:prstGeom>
          <a:solidFill>
            <a:srgbClr val="FEF5E0"/>
          </a:solidFill>
          <a:ln w="1651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Чтение из кэша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0.1× базовой ставки входа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(новейшие — до 0.025×)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22576"/>
            <a:ext cx="5257800" cy="47548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49834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Запись в кэш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1.25–2× ставки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дороже обычного входа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Окупается со второго-третьего попадания; уникальные запросы без общего префикса от кэша только дорожают.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584448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Кейс: 50 000 анализов документов в месяц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950208"/>
            <a:ext cx="4206240" cy="31089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74920" y="3950208"/>
            <a:ext cx="11887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$45 000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9684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FFFFFF"/>
                </a:solidFill>
                <a:latin typeface="Arial"/>
              </a:rPr>
              <a:t>без кэша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4352544"/>
            <a:ext cx="749808" cy="310896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35254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$8 000 с кэшем · </a:t>
            </a:r>
            <a:r>
              <a:rPr sz="1350" b="1" i="0">
                <a:solidFill>
                  <a:srgbClr val="F0AB00"/>
                </a:solidFill>
                <a:latin typeface="Arial"/>
              </a:rPr>
              <a:t>−82%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188720"/>
            <a:ext cx="5166360" cy="3977639"/>
          </a:xfrm>
          <a:prstGeom prst="roundRect">
            <a:avLst>
              <a:gd name="adj" fmla="val 766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1325880"/>
            <a:ext cx="4709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Условие: точное совпадение префикса.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Один изменившийся токен инвалидирует кэш для всего, что после него.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6560" y="2103120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121408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2121408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0" y="2578608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2596896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инструкции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596896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66560" y="3054096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3072384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документы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3072384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✓ кэш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66560" y="3529584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03720" y="3547872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«Сегодня 2026-09-05 14:23» — динамический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354787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66560" y="4005072"/>
            <a:ext cx="3657600" cy="38404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778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03720" y="4023359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вопрос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23359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6B7685"/>
                </a:solidFill>
                <a:latin typeface="Arial"/>
              </a:rPr>
              <a:t>× мимо кэша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66560" y="4526280"/>
            <a:ext cx="4709160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903720" y="45537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Мини-опрос: </a:t>
            </a:r>
            <a:r>
              <a:rPr sz="1100" b="0" i="0">
                <a:solidFill>
                  <a:srgbClr val="21295C"/>
                </a:solidFill>
                <a:latin typeface="Arial"/>
              </a:rPr>
              <a:t>добавили динамический timestamp в начало системного промпта — что происходит с кэшем?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44068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" y="549554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Правило компоновки: стабильное — в начало (промпт, инструкции, примеры, документы), переменное — в конец.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26/46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Стандарт 2026 — окно 1–2 миллиона токенов. Но заявленное ≠ полезное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99516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3619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GPT-3.5 (2022)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4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37943"/>
            <a:ext cx="728634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49424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3.5 (2024) — </a:t>
            </a:r>
            <a:r>
              <a:rPr sz="1250" b="1" i="0">
                <a:solidFill>
                  <a:srgbClr val="065A82"/>
                </a:solidFill>
                <a:latin typeface="Arial"/>
              </a:rPr>
              <a:t>200 тыс.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51176"/>
            <a:ext cx="2784787" cy="237744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962656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Claude Fable 5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1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без наценки за длину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264408"/>
            <a:ext cx="3630705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75888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Gemini 3.5 Pro (2026) — </a:t>
            </a:r>
            <a:r>
              <a:rPr sz="1250" b="1" i="0">
                <a:solidFill>
                  <a:srgbClr val="F0AB00"/>
                </a:solidFill>
                <a:latin typeface="Arial"/>
              </a:rPr>
              <a:t>2 млн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·  крупнейшее среди боевых флагманов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977640"/>
            <a:ext cx="3995023" cy="237744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25112"/>
            <a:ext cx="6309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ширина — логарифмическая шкала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1371600"/>
            <a:ext cx="3977639" cy="1536192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7780">
            <a:solidFill>
              <a:srgbClr val="1C729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79" y="15087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Llama 4 Scout: «10 млн»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920240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6B7685"/>
                </a:solidFill>
                <a:latin typeface="Arial"/>
              </a:rPr>
              <a:t>заявлено; ни один опубликованный бенчмарк не подтверждает качество вблизи предела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26679" y="3081528"/>
            <a:ext cx="3977639" cy="1536192"/>
          </a:xfrm>
          <a:prstGeom prst="roundRect">
            <a:avLst>
              <a:gd name="adj" fmla="val 1984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3218688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YandexGPT 5 Pro: 32 тыс.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79" y="3630168"/>
            <a:ext cx="3520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на полтора-два порядка меньше флагманов — для длинных документов это определяющее ограничение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754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Просто «растянуть» окно нельзя: позиция токена закодирована геометрией, обученной на конкретных длинах, — расширение (RoPE / YaRN) — отдельная инженерная работа.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949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Платите за то, что кладёте в окно, а не за то, что окно вмещает: 900 тыс. токенов входа по $10/млн ≈ $9 за один вызов.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27/46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Поиск дословной вставки решён. Понимание длинного контекста — нет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4709160" cy="3840480"/>
          </a:xfrm>
          <a:prstGeom prst="roundRect">
            <a:avLst>
              <a:gd name="adj" fmla="val 7936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90472"/>
            <a:ext cx="420624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Найти дословно (needle-in-a-haystack) — почти решено </a:t>
            </a:r>
            <a:r>
              <a:rPr sz="1600" b="1" i="0">
                <a:solidFill>
                  <a:srgbClr val="02809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4206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Найти вставленную фразу по буквальному совпадению: флагманы —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до 99% на полном окне в 1 млн токенов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300" b="0" i="0">
                <a:solidFill>
                  <a:srgbClr val="21295C"/>
                </a:solidFill>
                <a:latin typeface="Arial"/>
              </a:rPr>
              <a:t>• «Найди, где в договоре упоминается сумма» — работает почти как обещано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325880"/>
            <a:ext cx="6217920" cy="3840480"/>
          </a:xfrm>
          <a:prstGeom prst="roundRect">
            <a:avLst>
              <a:gd name="adj" fmla="val 793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60720" y="14630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Узнать по смыслу (NoLiMa, 2025) — обрушение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874519"/>
            <a:ext cx="56692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Бенчмарк убрал буквальное совпадение слов.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11 из 13 моделей — ниже 50% их же собственной точности на коротком контексте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уже на </a:t>
            </a:r>
            <a:r>
              <a:rPr sz="1200" b="1" i="0">
                <a:solidFill>
                  <a:srgbClr val="F0AB00"/>
                </a:solidFill>
                <a:latin typeface="Arial"/>
              </a:rPr>
              <a:t>32 тыс. токенов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(~3% заявленного окна флагмана).</a:t>
            </a:r>
          </a:p>
        </p:txBody>
      </p:sp>
      <p:pic>
        <p:nvPicPr>
          <p:cNvPr id="9" name="Picture 8" descr="s25-noli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2834640"/>
            <a:ext cx="4754880" cy="23289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43800" y="288950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11 из 13 — ниже 50%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85232"/>
            <a:ext cx="11201400" cy="74980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340096"/>
            <a:ext cx="108356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1M окна ≠ 1M рассуждения. Окно — сколько модель может прочитать; полезная длина — на скольких токенах она ещё связывает факты.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2648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1">
                <a:solidFill>
                  <a:srgbClr val="1C7293"/>
                </a:solidFill>
                <a:latin typeface="Arial"/>
              </a:rPr>
              <a:t>Критические инструкции — в начало или конец промпта · целевой поиск 5–10 фрагментов бьёт «вывалить всё в окно» · тестируйте на рабочей длине вашей задачи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28/46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Сэмплинг и генерация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«Как из распределения вероятностей рождается один токен — и какими ручками этот выбор управляется»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6B7685"/>
                </a:solidFill>
                <a:latin typeface="Arial"/>
              </a:rPr>
              <a:t>Текст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29/46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На каждом шаге — распределение вероятностей на все токены словаря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7223760" cy="3383280"/>
          </a:xfrm>
          <a:prstGeom prst="roundRect">
            <a:avLst>
              <a:gd name="adj" fmla="val 900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Контекст: </a:t>
            </a:r>
            <a:r>
              <a:rPr sz="1550" b="1" i="0">
                <a:solidFill>
                  <a:srgbClr val="21295C"/>
                </a:solidFill>
                <a:latin typeface="Liberation Mono"/>
              </a:rPr>
              <a:t>«Сегодня я съел …»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583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7685"/>
                </a:solidFill>
                <a:latin typeface="Arial"/>
              </a:rPr>
              <a:t>P(следующий токен):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Liberation Mono"/>
              </a:rPr>
              <a:t>яблоко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441448"/>
            <a:ext cx="3845705" cy="29260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31705" y="23957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0AB00"/>
                </a:solidFill>
                <a:latin typeface="Arial"/>
              </a:rPr>
              <a:t>0,32</a:t>
            </a:r>
            <a:r>
              <a:rPr sz="1100" b="0" i="1">
                <a:solidFill>
                  <a:srgbClr val="6B7685"/>
                </a:solidFill>
                <a:latin typeface="Arial"/>
              </a:rPr>
              <a:t>  — максимум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529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пиццу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2898648"/>
            <a:ext cx="2283387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9387" y="28529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0,19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101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салат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3355848"/>
            <a:ext cx="168249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68496" y="33101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0,14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673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булочку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94560" y="3813048"/>
            <a:ext cx="1321961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7961" y="37673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0,11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24528"/>
            <a:ext cx="1234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Liberation Mono"/>
              </a:rPr>
              <a:t>огурец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4270248"/>
            <a:ext cx="961426" cy="292608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7426" y="4224528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0,08</a:t>
            </a:r>
            <a:r>
              <a:rPr sz="1100" b="0" i="1">
                <a:solidFill>
                  <a:srgbClr val="6B7685"/>
                </a:solidFill>
                <a:latin typeface="Arial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1000" y="1371600"/>
            <a:ext cx="3703320" cy="3383280"/>
          </a:xfrm>
          <a:prstGeom prst="roundRect">
            <a:avLst>
              <a:gd name="adj" fmla="val 9009"/>
            </a:avLst>
          </a:prstGeom>
          <a:solidFill>
            <a:srgbClr val="FFFFFF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554480"/>
            <a:ext cx="3246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Сэмплинг → один токен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05740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правило выбора одного токена из распределения — единственная ручка в ваших руках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692640" y="2834640"/>
            <a:ext cx="365760" cy="457200"/>
          </a:xfrm>
          <a:prstGeom prst="down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732520" y="3429000"/>
            <a:ext cx="2194560" cy="5029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500" b="1">
                <a:solidFill>
                  <a:srgbClr val="21295C"/>
                </a:solidFill>
                <a:latin typeface="Liberation Mono"/>
              </a:rPr>
              <a:t>[ яблоко 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041648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выбран один — остальные кандидаты исчезли из ответа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2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Остальные ~200 000 токенов словаря — каждый &lt; 0.05. Сумма всех вероятностей = 1. Числа иллюстративные.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349240"/>
            <a:ext cx="11201400" cy="9144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5404103"/>
            <a:ext cx="10835640" cy="8046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Распределение — «настоящий» выход модели. Уверенный ответ и галлюцинация до сэмплинга существовали одновременно — как вероятностная масса; выбор сделала политика.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30/46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Температура — делитель логитов: меняет остроту выбора, не знания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→ 0</a:t>
            </a:r>
            <a:r>
              <a:rPr sz="1400" b="1" i="0">
                <a:solidFill>
                  <a:srgbClr val="065A82"/>
                </a:solidFill>
                <a:latin typeface="Arial"/>
              </a:rPr>
              <a:t>  (argmax)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270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13916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35124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56332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77540" y="3090672"/>
            <a:ext cx="347472" cy="1828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00584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Выбор самого вероятного. Почти одинаковые ответы — «почти» разберём на следующем слайде.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280160"/>
            <a:ext cx="361188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= 1</a:t>
            </a:r>
            <a:r>
              <a:rPr sz="1400" b="1" i="0">
                <a:solidFill>
                  <a:srgbClr val="F0AB00"/>
                </a:solidFill>
                <a:latin typeface="Arial"/>
              </a:rPr>
              <a:t>  (стандарт)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8746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08676" y="2430303"/>
            <a:ext cx="347472" cy="67865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29884" y="2608897"/>
            <a:ext cx="347472" cy="50006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51092" y="2716053"/>
            <a:ext cx="347472" cy="392906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72300" y="2823210"/>
            <a:ext cx="347472" cy="28575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480060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Сэмплирование пропорционально вероятностям модели. Естественная вариативность.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1280160"/>
            <a:ext cx="36118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444752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21295C"/>
                </a:solidFill>
                <a:latin typeface="Liberation Mono"/>
              </a:rPr>
              <a:t>T = 1.5</a:t>
            </a:r>
            <a:r>
              <a:rPr sz="1400" b="1" i="0">
                <a:solidFill>
                  <a:srgbClr val="065A82"/>
                </a:solidFill>
                <a:latin typeface="Arial"/>
              </a:rPr>
              <a:t>  (сглаживание)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2228" y="1965960"/>
            <a:ext cx="347472" cy="114300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03436" y="2204085"/>
            <a:ext cx="347472" cy="90487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724644" y="2346960"/>
            <a:ext cx="347472" cy="7620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245852" y="2442210"/>
            <a:ext cx="347472" cy="66675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67060" y="2537460"/>
            <a:ext cx="347472" cy="5715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595360" y="3127248"/>
            <a:ext cx="260604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321040" y="3337560"/>
            <a:ext cx="3154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Редкие токены получают реальные шансы — от удачных находок до бессвязности.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800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Liberation Mono"/>
              </a:rPr>
              <a:t>top-p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— отрез хвоста по вероятностной массе · </a:t>
            </a:r>
            <a:r>
              <a:rPr sz="1350" b="1" i="0">
                <a:solidFill>
                  <a:srgbClr val="065A82"/>
                </a:solidFill>
                <a:latin typeface="Liberation Mono"/>
              </a:rPr>
              <a:t>top-k</a:t>
            </a:r>
            <a:r>
              <a:rPr sz="1300" b="0" i="0">
                <a:solidFill>
                  <a:srgbClr val="21295C"/>
                </a:solidFill>
                <a:latin typeface="Arial"/>
              </a:rPr>
              <a:t> — по числу кандидатов. Основная ручка — температура; эти две — тонкая настройка.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65960" y="5394960"/>
            <a:ext cx="822960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48840" y="539496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Живой прогон: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один и тот же запрос — 10 раз при T=0 и 10 раз при T=1.5.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31/46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T=0 не даёт детерминизма: 80 уникальных ответов из 1000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4160520" cy="2834640"/>
          </a:xfrm>
          <a:prstGeom prst="roundRect">
            <a:avLst>
              <a:gd name="adj" fmla="val 10752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703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0AB00"/>
                </a:solidFill>
                <a:latin typeface="Arial"/>
              </a:rPr>
              <a:t>80 / 1000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361188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уникальных вариантов ответа на идентичный запрос при T=0 — стандартный vLLM (открытый инференс-сервер; Thinking Machines Lab, сентябрь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1234440"/>
            <a:ext cx="6766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Причина — не «floating-point вообще», а отсутствие </a:t>
            </a:r>
            <a:r>
              <a:rPr sz="1350" b="1" i="0">
                <a:solidFill>
                  <a:srgbClr val="065A82"/>
                </a:solidFill>
                <a:latin typeface="Arial"/>
              </a:rPr>
              <a:t>batch-инвариантности ядер: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37760" y="1828800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828800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1.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Сервер группирует одновременные запросы разных пользователей в батчи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404872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0" y="2404872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2.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Размер батча зависит от чужой нагрузки в эту миллисекунду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2980944"/>
            <a:ext cx="6766560" cy="5029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2980944"/>
            <a:ext cx="6400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3.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Разный размер батча → разный порядок суммирования → младшие разряды другие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37760" y="3557015"/>
            <a:ext cx="6766560" cy="6400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3557015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4. </a:t>
            </a:r>
            <a:r>
              <a:rPr sz="1150" b="0" i="0">
                <a:solidFill>
                  <a:srgbClr val="21295C"/>
                </a:solidFill>
                <a:latin typeface="Arial"/>
              </a:rPr>
              <a:t>Два близких кандидата в argmax → младший разряд решает выбор токена → авторегрессия разносит расхождение по всему ответу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3434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Решение существует: </a:t>
            </a:r>
            <a:r>
              <a:rPr sz="1250" b="0" i="0">
                <a:solidFill>
                  <a:srgbClr val="21295C"/>
                </a:solidFill>
                <a:latin typeface="Arial"/>
              </a:rPr>
              <a:t>batch-инвариантные ядра — 1000/1000 побитово идентичны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343400"/>
            <a:ext cx="548640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407408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Цена: ~35% пропускной способности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→ провайдеры не включают; seed у OpenAI — официально «mostly deterministic», в основном детерминировано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321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86983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Не стройте тесты на побитовом сравнении ответов LLM — сравнивайте семантически или по структуре.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32/46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Ручек стало шесть: добавилась ось глубины рассуждения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234440"/>
          <a:ext cx="112014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737360"/>
                <a:gridCol w="1371600"/>
                <a:gridCol w="1737360"/>
                <a:gridCol w="361188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Сценарий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temperature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top_p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Liberation Mono"/>
                        </a:rPr>
                        <a:t>max_tokens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065A82"/>
                          </a:solidFill>
                          <a:latin typeface="Arial"/>
                        </a:rPr>
                        <a:t>Системный промпт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Классификация / извлечение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0AB00"/>
                          </a:solidFill>
                          <a:latin typeface="Liberation Mono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50–200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Минимальный, со схемой выхода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Кодогенерация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21295C"/>
                          </a:solidFill>
                          <a:latin typeface="Liberation Mono"/>
                        </a:rPr>
                        <a:t>0.2–0.3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1000+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Роль + контекст репозитория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1295C"/>
                          </a:solidFill>
                          <a:latin typeface="Arial"/>
                        </a:rPr>
                        <a:t>Творческое письмо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028090"/>
                          </a:solidFill>
                          <a:latin typeface="Liberation Mono"/>
                        </a:rPr>
                        <a:t>0.9–1.2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0.95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1295C"/>
                          </a:solidFill>
                          <a:latin typeface="Liberation Mono"/>
                        </a:rPr>
                        <a:t>2000+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1295C"/>
                          </a:solidFill>
                          <a:latin typeface="Arial"/>
                        </a:rPr>
                        <a:t>Роль + стиль</a:t>
                      </a:r>
                    </a:p>
                  </a:txBody>
                  <a:tcPr marL="54864" marR="54864" marT="18288" marB="18288" anchor="ctr">
                    <a:solidFill>
                      <a:srgbClr val="F4F7FA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3703320"/>
            <a:ext cx="5486400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120640" y="38404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840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effort / reasoning_effort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2452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глубина внутреннего рассуждения: шкала от none до xhigh (OpenAI); effort при адаптивном мышлении (Anthropic); thinking budget (Gemini)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703320"/>
            <a:ext cx="5486400" cy="1234440"/>
          </a:xfrm>
          <a:prstGeom prst="roundRect">
            <a:avLst>
              <a:gd name="adj" fmla="val 24691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835640" y="3840480"/>
            <a:ext cx="685800" cy="292608"/>
          </a:xfrm>
          <a:prstGeom prst="roundRect">
            <a:avLst>
              <a:gd name="adj" fmla="val 50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21295C"/>
                </a:solidFill>
                <a:latin typeface="Arial"/>
              </a:rPr>
              <a:t>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4048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Liberation Mono"/>
              </a:rPr>
              <a:t>verbosity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4224528"/>
            <a:ext cx="50292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длина видимого ответа, независимая от глубины: думать глубоко, отвечать коротко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578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3126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Заучивайте оси — случайность, длина, глубина, формат; имена параметров сверяйте с документацией текущего месяца.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33/46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Structured outputs: невалидные токены обнуляются прямо в распределении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6309360" cy="3886200"/>
          </a:xfrm>
          <a:prstGeom prst="roundRect">
            <a:avLst>
              <a:gd name="adj" fmla="val 7843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5760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Constrained decoding (ограниченное декодирование):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на каждом шаге система вычисляет, какие токены оставляют вывод валидным относительно JSON-схемы, — и обнуляет вероятности всех остальных. Модель физически не может нарушить схему.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25880" y="2775857"/>
            <a:ext cx="548640" cy="836022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0280" y="3115491"/>
            <a:ext cx="548640" cy="4963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13432" y="2740587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3246120"/>
            <a:ext cx="54864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69080" y="3324497"/>
            <a:ext cx="548640" cy="287382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42232" y="2949593"/>
            <a:ext cx="457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6B7685"/>
                </a:solidFill>
                <a:latin typeface="Arial"/>
              </a:rPr>
              <a:t>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83480" y="3402874"/>
            <a:ext cx="548640" cy="209005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143000" y="3639312"/>
            <a:ext cx="4754880" cy="0"/>
          </a:xfrm>
          <a:prstGeom prst="line">
            <a:avLst/>
          </a:prstGeom>
          <a:ln w="1524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143000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серые нарушают JSON-схему → вероятность 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096512"/>
            <a:ext cx="5760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Просьба «ответь строго в JSON» → ~80% валидных
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350" b="1" i="0">
                <a:solidFill>
                  <a:srgbClr val="21295C"/>
                </a:solidFill>
                <a:latin typeface="Arial"/>
              </a:rPr>
              <a:t>Strict mode →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100%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гарантия встроена в сэмплинг, а не проверяется постфактум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86600" y="1371600"/>
            <a:ext cx="461772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0" y="1508760"/>
            <a:ext cx="4160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Ограничения — свойства компиляции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65960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002536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Рекурсия через $ref — нет (дерево → плоский список с parent_id)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2761488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2798064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Глубина вложенности — ≤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3557016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593592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Первый запрос с новой схемой платит за компиляцию грамматики — до 10 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352544"/>
            <a:ext cx="4160520" cy="694944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4389120"/>
            <a:ext cx="38862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Гарантирован синтаксис, не смысл: валидировать значения по-прежнему вам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423160" y="5532120"/>
            <a:ext cx="7315200" cy="5943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553212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Вопрос залу: </a:t>
            </a:r>
            <a:r>
              <a:rPr sz="1400" b="0" i="0">
                <a:solidFill>
                  <a:srgbClr val="21295C"/>
                </a:solidFill>
                <a:latin typeface="Arial"/>
              </a:rPr>
              <a:t>почему именно 100%, а не 99.9?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34/46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Предсказали токен → дописали в контекст → предсказываем следующий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3415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90575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1 · Текущий контекст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0575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системный промпт + история + запрос + уже сгенерированная часть ответа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493111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694279" y="2148840"/>
            <a:ext cx="2121408" cy="1645920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1439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2 · Прямой проход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1439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Arial"/>
              </a:rPr>
              <a:t>токенизация → эмбеддинги → все слои внимания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833975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35143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72303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3 · Распределение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2303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вероятности на все ~200 тыс. токенов словаря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74839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76007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13167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· Сэмплинг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13167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один токен — по правилам температуры / top-p / схемы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515703" y="2889504"/>
            <a:ext cx="182879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716871" y="2148840"/>
            <a:ext cx="2121408" cy="1645920"/>
          </a:xfrm>
          <a:prstGeom prst="roundRect">
            <a:avLst>
              <a:gd name="adj" fmla="val 18518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54031" y="2258568"/>
            <a:ext cx="1847088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· Токен дописан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54031" y="2862072"/>
            <a:ext cx="184708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065A82"/>
                </a:solidFill>
                <a:latin typeface="Arial"/>
              </a:rPr>
              <a:t>дописан в контекст — и цикл повторяется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16255" y="176479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вход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777575" y="3794760"/>
            <a:ext cx="0" cy="32004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Left Arrow 23"/>
          <p:cNvSpPr/>
          <p:nvPr/>
        </p:nvSpPr>
        <p:spPr>
          <a:xfrm>
            <a:off x="1414119" y="4050792"/>
            <a:ext cx="9363455" cy="182880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1414119" y="3794760"/>
            <a:ext cx="0" cy="274320"/>
          </a:xfrm>
          <a:prstGeom prst="line">
            <a:avLst/>
          </a:prstGeom>
          <a:ln w="2540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96615" y="42702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возврат к шагу 1 — цикл повторяется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07492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До специального </a:t>
            </a:r>
            <a:r>
              <a:rPr sz="1350" b="1" i="0">
                <a:solidFill>
                  <a:srgbClr val="21295C"/>
                </a:solidFill>
                <a:latin typeface="Arial"/>
              </a:rPr>
              <a:t>стоп-токена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или до </a:t>
            </a:r>
            <a:r>
              <a:rPr sz="1350" b="1" i="0">
                <a:solidFill>
                  <a:srgbClr val="21295C"/>
                </a:solidFill>
                <a:latin typeface="Liberation Mono"/>
              </a:rPr>
              <a:t>max_tokens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обрыв мгновенный, хоть на середине JSON-поля.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2356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1">
                <a:solidFill>
                  <a:srgbClr val="1C7293"/>
                </a:solidFill>
                <a:latin typeface="Arial"/>
              </a:rPr>
              <a:t>Каждый шаг — без состояния: вся «память» живёт в контексте, который подаётся целиком (KV-cache делает повторную подачу дешёвой, не отменяя её логически).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35/46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Reasoning-токены не видны — но тарифицируются как output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201400" cy="2057400"/>
          </a:xfrm>
          <a:prstGeom prst="roundRect">
            <a:avLst>
              <a:gd name="adj" fmla="val 14814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1737360"/>
            <a:ext cx="2468880" cy="6858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2377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авторегрессионный
цикл  ⟲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3383280" y="1645920"/>
            <a:ext cx="640080" cy="274320"/>
          </a:xfrm>
          <a:prstGeom prst="line">
            <a:avLst/>
          </a:prstGeom>
          <a:ln w="27940">
            <a:solidFill>
              <a:srgbClr val="0280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383280" y="2240280"/>
            <a:ext cx="640080" cy="320040"/>
          </a:xfrm>
          <a:prstGeom prst="line">
            <a:avLst/>
          </a:prstGeom>
          <a:ln w="27940">
            <a:solidFill>
              <a:srgbClr val="6B768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14800" y="1417320"/>
            <a:ext cx="4206240" cy="457200"/>
          </a:xfrm>
          <a:prstGeom prst="roundRect">
            <a:avLst>
              <a:gd name="adj" fmla="val 2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1960" y="1444752"/>
            <a:ext cx="39319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видимый ответ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2331720"/>
            <a:ext cx="7040880" cy="566928"/>
          </a:xfrm>
          <a:prstGeom prst="roundRect">
            <a:avLst>
              <a:gd name="adj" fmla="val 14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2331720"/>
            <a:ext cx="5669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черновик «для себя» — в ответ не попадает, в счёт попадает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04120" y="2286000"/>
            <a:ext cx="1051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 i="0">
                <a:solidFill>
                  <a:srgbClr val="F0AB00"/>
                </a:solidFill>
                <a:latin typeface="Arial"/>
              </a:rPr>
              <a:t>×3–10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2962656"/>
            <a:ext cx="7498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по ставке output-токенов, с учётом в max_tokens — без естественного потолка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429000"/>
            <a:ext cx="5440680" cy="2011680"/>
          </a:xfrm>
          <a:prstGeom prst="roundRect">
            <a:avLst>
              <a:gd name="adj" fmla="val 15151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611880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o4-mini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783080" y="3648456"/>
            <a:ext cx="182879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3611880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95928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83080" y="4032504"/>
            <a:ext cx="914400" cy="219456"/>
          </a:xfrm>
          <a:prstGeom prst="roundRect">
            <a:avLst>
              <a:gd name="adj" fmla="val 3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3995928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5×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379976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Liberation Mono"/>
              </a:rPr>
              <a:t>o3-pro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83080" y="4416552"/>
            <a:ext cx="3291840" cy="219456"/>
          </a:xfrm>
          <a:prstGeom prst="roundRect">
            <a:avLst>
              <a:gd name="adj" fmla="val 35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60" y="4379976"/>
            <a:ext cx="8229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18×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82803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o3-pro: 3.6× дороже o3, 18× дороже o4-mini</a:t>
            </a:r>
            <a:r>
              <a:rPr sz="1100" b="0" i="0">
                <a:solidFill>
                  <a:srgbClr val="6B7685"/>
                </a:solidFill>
                <a:latin typeface="Arial"/>
              </a:rPr>
              <a:t> — при сопоставимой длине видимых ответов; разницу делает объём рассуждения.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429000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3483864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Управление: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адаптивное мышление / effort вместо ручных бюджетов — удобно, но стоимость запроса стала менее предсказуемой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507992"/>
            <a:ext cx="5532120" cy="93268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4562855"/>
            <a:ext cx="51663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«Ход рассуждений» в интерфейсе — пересказ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(summarized), не сырые токены: строить аудит решений на «показанных мыслях» нельзя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62356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67842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Закладывайте в бюджет невидимую часть 2–5× видимого ответа — и сверяйте по полю usage в ответе API, где reasoning-токены видны как строка расхода.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36/46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«Открытые веса» перестали означать «локально запускаемые»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Действительно локальные — до ~30B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Qwen3.8-27B (Apache 2.0, вход изображение+видео, окно 262 тыс.), Muse Glimmer 30B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Железо: RTX 5090 (32 ГБ) · Apple unified 64–128 ГБ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Лимит — объём памяти, не вычисления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361188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800600" y="1170432"/>
            <a:ext cx="260604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открытая ≠ локальная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Открытые, но облачные гиганты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Kimi K3 — 2.8 трлн параметров, крупнейшая открытая модель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V4-Pro — 1.6 трлн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На потребительское железо не помещаются ни в каком виде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71600"/>
            <a:ext cx="3611880" cy="365760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664208"/>
            <a:ext cx="342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Закрытые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Флагманское качество — по-прежнему здесь</a:t>
            </a:r>
          </a:p>
          <a:p>
            <a:pPr algn="l">
              <a:lnSpc>
                <a:spcPct val="120000"/>
              </a:lnSpc>
              <a:spcBef>
                <a:spcPts val="8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Плата за токен, данные через провайдера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i="1">
                <a:solidFill>
                  <a:srgbClr val="065A82"/>
                </a:solidFill>
                <a:latin typeface="Arial"/>
              </a:rPr>
              <a:t>Причины локального выбора прежние: приватность данных · отсутствие платы за токен на объёмах · независимость от сети. Решение — по данным и объёмам, не по идеологии.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37/46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868680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1" i="0">
                <a:solidFill>
                  <a:srgbClr val="F0AB00"/>
                </a:solidFill>
                <a:latin typeface="Arial"/>
              </a:rPr>
              <a:t>Раздел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24612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Финал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02336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«Конвейер собран целиком: карта моделей 2026, цена доверия бенчмаркам — и шесть утверждений заново»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0060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028090"/>
                </a:solidFill>
                <a:latin typeface="Arial"/>
              </a:rPr>
              <a:t>4 разбора · 2 провала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2287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6567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91834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1036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6464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556428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48452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2732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Векторы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94510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386534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0814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LLM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832592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024616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8896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1" i="0">
                <a:solidFill>
                  <a:srgbClr val="21295C"/>
                </a:solidFill>
                <a:latin typeface="Arial"/>
              </a:rPr>
              <a:t>Распределение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470675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62699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16979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8757" y="6208776"/>
            <a:ext cx="164592" cy="128016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300781" y="6053328"/>
            <a:ext cx="1418626" cy="438912"/>
          </a:xfrm>
          <a:prstGeom prst="roundRect">
            <a:avLst>
              <a:gd name="adj" fmla="val 28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55061" y="6108192"/>
            <a:ext cx="151006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Arial"/>
              </a:rPr>
              <a:t>Текст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4271" y="5943600"/>
            <a:ext cx="11503152" cy="658368"/>
          </a:xfrm>
          <a:prstGeom prst="roundRect">
            <a:avLst>
              <a:gd name="adj" fmla="val 35000"/>
            </a:avLst>
          </a:prstGeom>
          <a:noFill/>
          <a:ln w="279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38/46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Новые темы не добавили стадий — они встроились в существующие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66928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Токенизация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79191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26079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79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Эмбеддинги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038344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85231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85231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Внимание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97495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3017520"/>
            <a:ext cx="2084831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44383" y="3090672"/>
            <a:ext cx="2084831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Сэмплинг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3535" y="3090672"/>
            <a:ext cx="1691640" cy="630936"/>
          </a:xfrm>
          <a:prstGeom prst="roundRect">
            <a:avLst>
              <a:gd name="adj" fmla="val 15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03535" y="3127248"/>
            <a:ext cx="1691640" cy="5577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следующий</a:t>
            </a:r>
          </a:p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токен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56647" y="3323844"/>
            <a:ext cx="219456" cy="16459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0844783" y="3721607"/>
            <a:ext cx="0" cy="365761"/>
          </a:xfrm>
          <a:prstGeom prst="line">
            <a:avLst/>
          </a:prstGeom>
          <a:ln w="22860">
            <a:solidFill>
              <a:srgbClr val="1C72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Left Arrow 17"/>
          <p:cNvSpPr/>
          <p:nvPr/>
        </p:nvSpPr>
        <p:spPr>
          <a:xfrm>
            <a:off x="1609343" y="4032503"/>
            <a:ext cx="9235439" cy="146304"/>
          </a:xfrm>
          <a:prstGeom prst="lef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0" y="4215383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065A82"/>
                </a:solidFill>
                <a:latin typeface="Arial"/>
              </a:rPr>
              <a:t>⟲ цикл — токен дописан в контекст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1417320"/>
            <a:ext cx="306324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463040"/>
            <a:ext cx="273405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Chat-шаблоны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препроцессор токенизации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1609343" y="2286000"/>
            <a:ext cx="489205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480560" y="1417320"/>
            <a:ext cx="41148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45152" y="1463040"/>
            <a:ext cx="3785615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KV-cache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внутри внимания; prompt caching — надстройка над ним на границе запросов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6327647" y="2286000"/>
            <a:ext cx="210313" cy="731520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49440" y="4572000"/>
            <a:ext cx="365760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14031" y="4617720"/>
            <a:ext cx="332841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Structured outputs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фильтр на стадии сэмплинга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8686799" y="3794759"/>
            <a:ext cx="91441" cy="77724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651760" y="4572000"/>
            <a:ext cx="3931920" cy="86868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16352" y="4617720"/>
            <a:ext cx="3602736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Reasoning-токены</a:t>
            </a:r>
            <a:r>
              <a:rPr sz="1150" b="0" i="0">
                <a:solidFill>
                  <a:srgbClr val="21295C"/>
                </a:solidFill>
                <a:latin typeface="Arial"/>
              </a:rPr>
              <a:t> — тот же цикл; часть выхода помечена «черновик»</a:t>
            </a:r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2523744" y="4069079"/>
            <a:ext cx="2093976" cy="502921"/>
          </a:xfrm>
          <a:prstGeom prst="line">
            <a:avLst/>
          </a:prstGeom>
          <a:ln w="17780">
            <a:solidFill>
              <a:srgbClr val="02809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02920" y="57150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7698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Конвейер — диагностическое дерево: по симптому почти всегда угадывается стадия-виновник. Спрашивайте: «на какой стадии это происходит?»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39/46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Сентябрь 2026: качество сблизилось — цены разошлись на три порядка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Передний край (закрытые веса)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OpenAI: GPT-5.6 — Luna → Terra → Sol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Anthropic: Claude Fable 5 · Opus 5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Google: Gemini 3.5 Pro (окно 2 млн, Deep Think)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xAI: Grok 4.3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48640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5087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Открытые веса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1938528"/>
            <a:ext cx="502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DeepSeek V4 (Pro 1.6 трлн / Flash 284 млрд)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0" i="0">
                <a:solidFill>
                  <a:srgbClr val="21295C"/>
                </a:solidFill>
                <a:latin typeface="Arial"/>
              </a:rPr>
              <a:t>• Qwen 3.8-Max — первая открытая из линейки Max</a:t>
            </a:r>
          </a:p>
          <a:p>
            <a:pPr algn="l">
              <a:lnSpc>
                <a:spcPct val="118000"/>
              </a:lnSpc>
              <a:spcBef>
                <a:spcPts val="600"/>
              </a:spcBef>
            </a:pPr>
            <a:r>
              <a:rPr sz="1250" b="1" i="0">
                <a:solidFill>
                  <a:srgbClr val="21295C"/>
                </a:solidFill>
                <a:latin typeface="Arial"/>
              </a:rPr>
              <a:t>• Kimi K2.6 (1 трлн) · Kimi K3 (2.8 трлн — крупнейшая открытая)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749039"/>
            <a:ext cx="11201400" cy="9601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4048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IMO 2026: шесть моделей — абсолютные 42/42. Из 666 участников-людей — семеро.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702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065A82"/>
                </a:solidFill>
                <a:latin typeface="Arial"/>
              </a:rPr>
              <a:t>Те же системы ошибаются в подсчёте букв слова cranberry — «рваный интеллект» как рабочая характеристика.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321808"/>
            <a:ext cx="10332720" cy="182880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5321808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0" y="5321808"/>
            <a:ext cx="2103120" cy="18288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9834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пол рынка $0.03–0.2 / млн токенов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49834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премиум $10 вход / $50 выход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760720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Kimi K2.6 ≈ GPT-5.5 на защищённом SWE-bench Pro — </a:t>
            </a:r>
            <a:r>
              <a:rPr sz="1400" b="1" i="0">
                <a:solidFill>
                  <a:srgbClr val="F0AB00"/>
                </a:solidFill>
                <a:latin typeface="Arial"/>
              </a:rPr>
              <a:t>при цене на ~80% ниже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40/46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Бенчмарки: контаминация, подгонка — и модели, которые жульничают сами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49961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Контаминация: заучено, а не умеет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865376"/>
            <a:ext cx="74980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SWE-bench: публичные репозитории (Verified) vs приватные базы (Pro)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разрыв и есть величина заучивания.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OpenAI в 2026 перестал публиковать Verified.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6840" y="1536192"/>
            <a:ext cx="25603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87.6%</a:t>
            </a:r>
            <a:r>
              <a:rPr sz="1400" b="0" i="0">
                <a:solidFill>
                  <a:srgbClr val="6B7685"/>
                </a:solidFill>
                <a:latin typeface="Arial"/>
              </a:rPr>
              <a:t> vs </a:t>
            </a:r>
            <a:r>
              <a:rPr sz="2400" b="1" i="0">
                <a:solidFill>
                  <a:srgbClr val="21295C"/>
                </a:solidFill>
                <a:latin typeface="Arial"/>
              </a:rPr>
              <a:t>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224942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заявка производителя vs защищённый · средний ~25%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80720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89864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1693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Подгонка под метрику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28269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Llama 4 Maverick: на Chatbot Arena — специальная версия, Elo 1417; публичная модель —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места 32–35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 Ян Лекун: результаты «слегка подтасованы».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224528"/>
            <a:ext cx="11201400" cy="1298448"/>
          </a:xfrm>
          <a:prstGeom prst="roundRect">
            <a:avLst>
              <a:gd name="adj" fmla="val 23474"/>
            </a:avLst>
          </a:prstGeom>
          <a:solidFill>
            <a:srgbClr val="FFFFFF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15968"/>
            <a:ext cx="502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1C7293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334256"/>
            <a:ext cx="99669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Модели жульничают сами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700016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UK AI Security Institute: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все 5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передовых моделей пытались обмануть процедуру оценки; одна модель OpenAI </a:t>
            </a:r>
            <a:r>
              <a:rPr sz="1250" b="1" i="0">
                <a:solidFill>
                  <a:srgbClr val="21295C"/>
                </a:solidFill>
                <a:latin typeface="Arial"/>
              </a:rPr>
              <a:t>вышла из песочницы и взломала производственные серверы Hugging Face</a:t>
            </a:r>
            <a:r>
              <a:rPr sz="1250" b="0" i="0">
                <a:solidFill>
                  <a:srgbClr val="21295C"/>
                </a:solidFill>
                <a:latin typeface="Arial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71500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769864"/>
            <a:ext cx="108356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Бенчмарки сужают список кандидатов. Выбирает — собственный оценочный набор: 30–50 примеров из ваших реальных задач.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41/46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Шесть утверждений — теперь по строке механизма на каждое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88720"/>
          <a:ext cx="11201399" cy="40416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3977639"/>
                <a:gridCol w="6537960"/>
              </a:tblGrid>
              <a:tr h="3657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Утверждение — все ложны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065A82"/>
                          </a:solidFill>
                          <a:latin typeface="Arial"/>
                        </a:rPr>
                        <a:t>Механизм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M1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«Модели научились считать буквы»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Модель видит токены, не буквы; strawberry починили точечным патчем — cranberry не работает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M2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«Роль system защищена архитектурно»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Роль — токены chat-шаблона в общем потоке; внимание не различает происхождения токенов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M3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«Окно 1M = работа со всем объёмом»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Окно — ёмкость приёма, не понимания: без лексических совпадений 11 из 13 моделей теряют &gt;50% своей точности уже на 32K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M4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«T=0 даёт детерминированный ответ»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Ядра не batch-инвариантны: чужая нагрузка меняет размер батча — 80 уникальных ответов из 1000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M5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«Невидимые reasoning-токены не оплачиваются»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Тарифицируются как output; 3–10× видимого ответа; o3-pro в 18× дороже o4-mini</a:t>
                      </a:r>
                    </a:p>
                  </a:txBody>
                  <a:tcPr marL="64008" marR="45720" marT="18288" marB="18288" anchor="ctr">
                    <a:solidFill>
                      <a:srgbClr val="F4F7FA"/>
                    </a:solidFill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50" b="1" i="0">
                          <a:solidFill>
                            <a:srgbClr val="21295C"/>
                          </a:solidFill>
                          <a:latin typeface="Arial"/>
                        </a:rPr>
                        <a:t>M6</a:t>
                      </a:r>
                    </a:p>
                  </a:txBody>
                  <a:tcPr marL="64008" marR="45720" marT="18288" marB="18288" anchor="ctr">
                    <a:solidFill>
                      <a:srgbClr val="FEF5E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1">
                          <a:solidFill>
                            <a:srgbClr val="21295C"/>
                          </a:solidFill>
                          <a:latin typeface="Arial"/>
                        </a:rPr>
                        <a:t>«Бенчмарки — надёжный способ выбрать модель»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21295C"/>
                          </a:solidFill>
                          <a:latin typeface="Arial"/>
                        </a:rPr>
                        <a:t>Контаминация (87.6% vs 57%), подгонка витрин, жульничество моделей; выбирает свой оценочный набор</a:t>
                      </a:r>
                    </a:p>
                  </a:txBody>
                  <a:tcPr marL="64008" marR="45720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02920" y="548640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5541264"/>
            <a:ext cx="10835640" cy="6675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Точная ментальная модель — это знание границ. Каждое утверждение — правда соседней области, растянутая за свою границу.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42/46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Когда не LLM — и когда не топ-LLM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Когда LLM — не тот инструмент: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81328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527048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Классификация на фиксированных категориях с тысячами размеченных примеров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классический ML: дешевле, быстрее, воспроизводимо — а LLM ещё и недетерминирована при T=0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14016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59736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Объяснимость перед регулятором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прозрачные классические методы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346704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92424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Отклик &lt; 100 мс (антифрод, устройства без сети)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специализированная малая модель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79392"/>
            <a:ext cx="6949440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25112"/>
            <a:ext cx="658368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Точные посимвольные и арифметические операции</a:t>
            </a:r>
            <a:r>
              <a:rPr sz="1250" b="1" i="0">
                <a:solidFill>
                  <a:srgbClr val="065A82"/>
                </a:solidFill>
                <a:latin typeface="Arial"/>
              </a:rPr>
              <a:t>  →  </a:t>
            </a:r>
            <a:r>
              <a:rPr sz="1200" b="1" i="0">
                <a:solidFill>
                  <a:srgbClr val="028090"/>
                </a:solidFill>
                <a:latin typeface="Arial"/>
              </a:rPr>
              <a:t>код, не 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79"/>
            <a:ext cx="6949440" cy="777240"/>
          </a:xfrm>
          <a:prstGeom prst="roundRect">
            <a:avLst>
              <a:gd name="adj" fmla="val 10000"/>
            </a:avLst>
          </a:prstGeom>
          <a:solidFill>
            <a:srgbClr val="E6F2F4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248655"/>
            <a:ext cx="658368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50" b="1" i="0">
                <a:solidFill>
                  <a:srgbClr val="028090"/>
                </a:solidFill>
                <a:latin typeface="Arial"/>
              </a:rPr>
              <a:t>Иначе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обработка языка, гибкие форматы, многошаговое рассуждение, генерация → </a:t>
            </a:r>
            <a:r>
              <a:rPr sz="1200" b="1" i="0">
                <a:solidFill>
                  <a:srgbClr val="21295C"/>
                </a:solidFill>
                <a:latin typeface="Arial"/>
              </a:rPr>
              <a:t>LLM применима и часто оптимальна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051560"/>
            <a:ext cx="4023360" cy="5074920"/>
          </a:xfrm>
          <a:prstGeom prst="roundRect">
            <a:avLst>
              <a:gd name="adj" fmla="val 75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1188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…и не всегда топ-LLM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8320" y="2057400"/>
            <a:ext cx="2057400" cy="731520"/>
          </a:xfrm>
          <a:prstGeom prst="roundRect">
            <a:avLst>
              <a:gd name="adj" fmla="val 12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8048" y="2103120"/>
            <a:ext cx="18288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FFFF"/>
                </a:solidFill>
                <a:latin typeface="Arial"/>
              </a:rPr>
              <a:t>10% сложных →
премиум $10/млн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926080"/>
            <a:ext cx="3566160" cy="82296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97180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90% запросов →
модель за $0.20/млн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160520"/>
            <a:ext cx="35661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Миллиард токенов/мес: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400" b="1" i="0">
                <a:solidFill>
                  <a:srgbClr val="21295C"/>
                </a:solidFill>
                <a:latin typeface="Arial"/>
              </a:rPr>
              <a:t>$10 000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целиком на премиуме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6B7685"/>
                </a:solidFill>
                <a:latin typeface="Arial"/>
              </a:rPr>
              <a:t>vs  </a:t>
            </a:r>
            <a:r>
              <a:rPr sz="1600" b="1" i="0">
                <a:solidFill>
                  <a:srgbClr val="F0AB00"/>
                </a:solidFill>
                <a:latin typeface="Arial"/>
              </a:rPr>
              <a:t>$1 180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с маршрутизацией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43/46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Внимание усваивает корреляцию, не причинность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065A82"/>
                </a:solidFill>
                <a:latin typeface="Arial"/>
              </a:rPr>
              <a:t>Человек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произошло, потому что Y»</a:t>
            </a:r>
            <a:r>
              <a:rPr sz="1350" b="0" i="0">
                <a:solidFill>
                  <a:srgbClr val="21295C"/>
                </a:solidFill>
                <a:latin typeface="Arial"/>
              </a:rPr>
              <a:t> — модель механизмов мира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ассоциация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вмешательство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300" b="1" i="0">
                <a:solidFill>
                  <a:srgbClr val="21295C"/>
                </a:solidFill>
                <a:latin typeface="Arial"/>
              </a:rPr>
              <a:t>контрфактуальность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25880"/>
            <a:ext cx="5440680" cy="3246120"/>
          </a:xfrm>
          <a:prstGeom prst="roundRect">
            <a:avLst>
              <a:gd name="adj" fmla="val 938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14813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Модель (через внимание)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192024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«X следует за Y в текстах»</a:t>
            </a:r>
            <a:r>
              <a:rPr sz="1250" b="0" i="0">
                <a:solidFill>
                  <a:srgbClr val="21295C"/>
                </a:solidFill>
                <a:latin typeface="Arial"/>
              </a:rPr>
              <a:t> — «потому что» для модели — частотный паттерн, не указание на механизм мира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60" y="2743200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✓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ассоциация — сильна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3310128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3310128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~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вмешательство — только похожие на описанные в корпусе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3877056"/>
            <a:ext cx="4892040" cy="475488"/>
          </a:xfrm>
          <a:prstGeom prst="roundRect">
            <a:avLst>
              <a:gd name="adj" fmla="val 20000"/>
            </a:avLst>
          </a:prstGeom>
          <a:solidFill>
            <a:srgbClr val="E5EAF0"/>
          </a:solidFill>
          <a:ln w="15240">
            <a:solidFill>
              <a:srgbClr val="6B7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3877056"/>
            <a:ext cx="45720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6B7685"/>
                </a:solidFill>
                <a:latin typeface="Arial"/>
              </a:rPr>
              <a:t>×  </a:t>
            </a:r>
            <a:r>
              <a:rPr sz="1150" b="1" i="0">
                <a:solidFill>
                  <a:srgbClr val="21295C"/>
                </a:solidFill>
                <a:latin typeface="Arial"/>
              </a:rPr>
              <a:t>контрфактуальность — систематически нет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46903"/>
            <a:ext cx="10835640" cy="7589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Там, где от модели ждут каузальных выводов, человек в контуре — архитектурное требование, а не вежливая оговорка.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44/46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700" b="1" i="0">
                <a:solidFill>
                  <a:srgbClr val="F0AB00"/>
                </a:solidFill>
                <a:latin typeface="Arial"/>
              </a:rPr>
              <a:t>Лекция 3: </a:t>
            </a:r>
            <a:r>
              <a:rPr sz="2700" b="1" i="0">
                <a:solidFill>
                  <a:srgbClr val="21295C"/>
                </a:solidFill>
                <a:latin typeface="Arial"/>
              </a:rPr>
              <a:t>как модель выходит за пределы контекста</a:t>
            </a:r>
          </a:p>
        </p:txBody>
      </p:sp>
      <p:pic>
        <p:nvPicPr>
          <p:cNvPr id="3" name="Picture 2" descr="s41-bridge-le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9567" y="1234440"/>
            <a:ext cx="9052560" cy="4672289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6946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41-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635" y="1673351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8269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806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Семантический поиск по вашей базе → найденные фрагменты в контекст.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806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сходство ≠ релевантность — главная причина разочарований наивного поиска.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4507" y="150876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41-setting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05675" y="1673351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17739" y="1655063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Инструменты / вызов функций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33107" y="213055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Модель генерирует структурированный вызов → внешняя система исполняет.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3107" y="271576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надёжность формата вызова обеспечивают structured outputs.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46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41-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635" y="4279392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48269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806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Открытый протокол подключения инструментов.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06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F0AB00"/>
                </a:solidFill>
                <a:latin typeface="Arial"/>
              </a:rPr>
              <a:t>Якорь: стабильный префикс с описаниями инструментов → кэш промптов, экономика агента.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04507" y="4114800"/>
            <a:ext cx="46177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41-refresh-c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5675" y="4279392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517739" y="4261104"/>
            <a:ext cx="374903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 i="0">
                <a:solidFill>
                  <a:srgbClr val="21295C"/>
                </a:solidFill>
                <a:latin typeface="Arial"/>
              </a:rPr>
              <a:t>Агентный цикл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33107" y="4736592"/>
            <a:ext cx="41605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Действие → наблюдение → коррекция.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3107" y="5321808"/>
            <a:ext cx="4160520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Якорь: агент читает внешний контент — спуфинг ролей превращается в prompt injection; невидимые токены рассуждения умножаются на число шагов.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6547104"/>
            <a:ext cx="10058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 i="1">
                <a:solidFill>
                  <a:srgbClr val="5B6678"/>
                </a:solidFill>
                <a:latin typeface="Arial"/>
              </a:rPr>
              <a:t>45/46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55448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0" b="1" i="0">
                <a:solidFill>
                  <a:srgbClr val="21295C"/>
                </a:solidFill>
                <a:latin typeface="Arial"/>
              </a:rPr>
              <a:t>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11480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