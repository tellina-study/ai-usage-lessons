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AI, а с вас. Пока вы читаете это предложение, ваш мозг непрерывно решает маленькую, но важную задачу: что сейчас важно держать в фокусе, а что можно оставить фоном. Где-то на периферии — уведомление на телефоне, недодуманная мысль про вечерние планы, ощущение неудобного стула. Всё это конкурирует за один и тот же ограниченный ресурс — ваше внимание. Вы не осознаёте выбор в моменте, но он происходит постоянно.</a:t>
            </a:r>
          </a:p>
          <a:p>
            <a:r>
              <a:t>На слайде — персонаж, которого одновременно тянут в три стороны: уведомление, посторонняя мысль, незакрытая задача. Это не про рассеянность как недостаток — это нормальная работа механизма внимания. У человека внимание ограничено: мы физически не можем одинаково полно обрабатывать всё одновременно, поэтому мозг постоянно расставляет приоритеты — что в фокус, что в фон.</a:t>
            </a:r>
          </a:p>
          <a:p>
            <a:r>
              <a:t>Сегодняшняя лекция — про то, что происходит внутри AI-модели между вашим запросом и её ответом. И один из четырёх внутренних этапов, которые мы разберём, называется буквально так же, как то, что вы только что почувствовали — **механизм внимания**. Когда модель обрабатывает ваш текст, она тоже решает, на какие части входа «смотреть» внимательнее, а какие оставить фоном. Важная оговорка, к которой мы вернёмся в Разделе 3: сходство здесь — по названию и по общей идее «выбора приоритета», а не по устройству. Внутри модели это не психологический процесс, а конкретная вычислимая операция — матрица весов, которую можно посчитать и посмотреть. Разберём это подробно, когда дойдём до сути.</a:t>
            </a:r>
          </a:p>
          <a:p>
            <a:r>
              <a:t>Прежде чем туда дойти — пройдём весь путь запроса через модель: токенизацию, эмбеддинги, внимание, сэмплинг. У каждого этапа — своё конкретное инженерное следствие для того, как вы работаете с AI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оставила без ответа: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r>
              <a:t>Тон лекции — объяснительно-инженерный. Мы не описываем устройство трансформера во всей полноте: формулы внимания,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погружаться в механику больших моделей — короткая карта маршрута. Лекция состоит из шести разделов, и каждый отвечает на свой вопрос.</a:t>
            </a:r>
          </a:p>
          <a:p>
            <a:r>
              <a:t>Раздел 0, в котором мы сейчас, — введение: что такое токен, краткий recap Лекции 1 и центральный вопрос, ради которого мы здесь.</a:t>
            </a:r>
          </a:p>
          <a:p>
            <a:r>
              <a:t>Раздел 1 — токенизация. Как модель «видит» ваш текст. Что такое токен, как работает BPE, почему strawberry дробится на три части, и почему русский текст стоит модели в два раза дороже английского.</a:t>
            </a:r>
          </a:p>
          <a:p>
            <a:r>
              <a:t>Раздел 2 — эмбеддинги. Пространство смыслов: как слова превращаются в векторы, что такое семантическое сходство, и как из этой математики получается семантический поиск и мост к RAG.</a:t>
            </a:r>
          </a:p>
          <a:p>
            <a:r>
              <a:t>Раздел 3 — внимание. Как модель решает, на какие токены смотреть сейчас. Разберём механизм внимания на конкретном примере и поймём, почему промпт с ролью «ты эксперт» действительно меняет ответ.</a:t>
            </a:r>
          </a:p>
          <a:p>
            <a:r>
              <a:t>Раздел 4 — сэмплинг. От распределения вероятностей к одному токену. Температура, top-p, top-k, max_tokens — четыре ручки API, которые вы будете крутить каждый раз, когда вызываете LLM.</a:t>
            </a:r>
          </a:p>
          <a:p>
            <a:r>
              <a:t>Раздел 5 — финал. Закрытие трёх «почему», поставленных в центральном вопросе. Сравнение ML и LLM как двух парадигм, отличия Human vs AI, домашнее задание к семинару и анонс Лекции 3.</a:t>
            </a:r>
          </a:p>
          <a:p>
            <a:r>
              <a:t>Держите эту карту в голове — она поможет не потеряться в деталях. После каждого раздела мы будем останавливаться и фиксировать главное.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r>
              <a:t>На Лекции 1 модель называлась «чёрным ящиком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r>
              <a:t>В ответе на этот вопрос участвуют три обещания, которые Лекция 1 оставила без ответа.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r>
              <a:t>Эти три обещания работают как якоря лекции: к ним мы будем возвращаться в каждом из четырёх разделов, и в самом конце они получат явный ответ — три «почему» через конкретные внутренние механизмы.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Введение закончено: мы зафиксировали центральный вопрос — что внутри LLM меняет то, как вы её используете, — и три промиса-якоря, на которые получим ответы к финалу.</a:t>
            </a:r>
          </a:p>
          <a:p>
            <a:r>
              <a:t>Дальше — первый из четырёх внутренних этапов inference: токенизация. Это самый ближний к пользователю слой; именно с ним сталкивается ваш текст, как только вы нажимаете «отправить». Текст не попадает в модель буквами и не попадает словами. Он сначала разрезается на токены — короткие подпоследовательности, которые модель «знает» из своего обучающего корпуса.</a:t>
            </a:r>
          </a:p>
          <a:p>
            <a:r>
              <a:t>В этом разделе четыре слайда. Сначала мы зафиксируем базовое определение токена через три коротких примера на английском и русском. Потом — почему модель использует BPE как компромисс между алфавитом и словарём, и одна инженерная деталь, важная для понимания цены: словарь строится один раз перед обучением, в inference происходит только lookup. Дальше — самый показательный случай слепоты к буквам: «сколько r в strawberry», и через него — три класса задач, в которых LLM ошибается систематически. И завершим раздел сравнением стоимости одного и того же текста на разных языках — почему русский дороже английского примерно в два раза, и что с этим делать в production.</a:t>
            </a:r>
          </a:p>
          <a:p>
            <a:r>
              <a:t>Темп в разделе держим практический: на каждом слайде есть проверяемая инженерная импликация.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детали каждого этапа, посмотрим на полную картину — что происходит между вашим запросом и ответом модели. Это карта, к которой мы будем возвращаться: с правой стороны каждого следующего раздела вы будете видеть, какая именно стадия этого pipeline сейчас в фокусе.</a:t>
            </a:r>
          </a:p>
          <a:p>
            <a:r>
              <a:t>Слева — ваш входной текст: например, `«Привет, мир»`. Первое преобразование — **токенизация**: текст разрезается на единицы из словаря модели; `«Привет»` превращается в, условно, `[Прив][ет]`. Эти токены — целые числа, id из словаря. Это первый из четырёх этапов, и именно ему посвящён ближайший Раздел 1.</a:t>
            </a:r>
          </a:p>
          <a:p>
            <a:r>
              <a:t>Следующий шаг — **embedding lookup**: каждому id токена сопоставлен выученный вектор в памяти модели. Слово исчезает; остаётся последовательность векторов. Это входит в Раздел 2.</a:t>
            </a:r>
          </a:p>
          <a:p>
            <a:r>
              <a:t>Дальше — **LLM-инференс**: серия слоёв с механизмом внимания, который мы разберём в Разделе 3. Здесь модель «думает» — но думает она над векторами, не над словами. Из этой обработки на выходе появляется ещё один вектор — кандидат на следующий токен.</a:t>
            </a:r>
          </a:p>
          <a:p>
            <a:r>
              <a:t>Этот вектор-кандидат превращается в **распределение вероятностей** по всему словарю модели: «насколько правдоподобно, что следующий токен — этот? а этот? а вот этот?». Из распределения выбирается **один токен** через сэмплинг — это Раздел 4.</a:t>
            </a:r>
          </a:p>
          <a:p>
            <a:r>
              <a:t>И последний шаг — **обратное преобразование**: id токена через де-токенизацию превращается обратно в текст. Этот шаг почти симметричен токенизации в самом начале, и обычно его относят к тому же первому этапу.</a:t>
            </a:r>
          </a:p>
          <a:p>
            <a:r>
              <a:t>Главное наблюдение для практики: «слово» появляется только на границах — на входе и на выходе. Всё, что происходит внутри модели — это операции над векторами. Сегодняшняя лекция — про эти внутренние операции, без формул, но с инженерным пониманием, что и где происходит.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a:p>
            <a:r>
              <a:t>Источники:</a:t>
            </a:r>
          </a:p>
          <a:p>
            <a:r>
              <a:t>[1] Sennrich et al. (2016) — NMT of Rare Words / BPE — BPE — компромисс: словарь из частых подпоследовательностей, не букв и не слов. https://arxiv.org/abs/1508.07909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(o1-класс,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a:p>
            <a:r>
              <a:t>Та же природа объясняет вторую, менее очевидную проблему — арифметику. Числа тоже проходят через токенизатор, и разбиение на токены непредсказуемо совпадает с разрядами: `1234` может разрезаться на `12`+`34` (совпадает с сотнями), а `55688` — на `556`+`88` (уже не совпадает). Модель не видит цифры по отдельности — она видит эти нерегулярные группы. Следствие измеримо: на 3-значном умножении GPT-4 без внешних инструментов даёт около 59% точности, на 4-значном — уже 4%, а на 5-значном — 0% (arXiv 2410.19730). Решение то же самое, что и для букв: внешний калькулятор или код, либо явный пошаговый вывод, а не один прямой проход модели.</a:t>
            </a:r>
          </a:p>
          <a:p>
            <a:r>
              <a:t>Источники:</a:t>
            </a:r>
          </a:p>
          <a:p>
            <a:r>
              <a:t>[1] Counting Ability of LLMs &amp; Impact of Tokenization (2024) — GPT-4 без калькулятора: 59%/4%/0% на 3-/4-/5-значном умножении — тот же tokenizer-cut механизм. https://arxiv.org/abs/2410.19730 [VFY-day-of]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первый этап — токенизация. Текст превращается в последовательность id из словаря модели. Дальше — второй этап, эмбеддинги. Это шаг, на котором каждый id из словаря заменяется на вектор в многомерном пространстве: для маленьких embedding-моделей это 384 или 1536 измерений, для внутренних слоёв больших LLM — тысячи. И ключевое свойство этого пространства, которое было выучено на тренировке: геометрическая близость векторов отражает семантическую близость токенов и фрагментов.</a:t>
            </a:r>
          </a:p>
          <a:p>
            <a:r>
              <a:t>Эмбеддинги — это не интересный сам по себе слой; модель внутри использует их как промежуточный шаг к вниманию и сэмплингу. Зачем нам про них говорить отдельно? Потому что на них стоит целое прикладное направление: similarity, кластеризация и семантический поиск. И семантический поиск — это базовый слой RAG, Retrieval-Augmented Generation, к которому мы вернёмся в Лекции 3.</a:t>
            </a:r>
          </a:p>
          <a:p>
            <a:r>
              <a:t>В этом разделе четыре слайда плюс этот разделитель. Сначала зафиксируем, что такое эмбеддинг через схему «токен → вектор». Потом разберём sentence similarity — близость на уровне предложений на современных embeddings 2026 года, не только на уровне слов. Затем три практических применения: similarity, clustering, search, — карта для последующих лекций. И завершим разделом сравнением семантического поиска с full-text поиском на простом запросе «клубника» — что находит один, а что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a:p>
            <a:r>
              <a:t>Источники:</a:t>
            </a:r>
          </a:p>
          <a:p>
            <a:r>
              <a:t>[1] OpenAI — Embeddings API — публичные эмбеддинги: text-embedding-3-small 1536, large 3072 измерения. https://platform.openai.com/docs/guides/embeddings [VFY-day-of]</a:t>
            </a:r>
          </a:p>
          <a:p>
            <a:r>
              <a:t>[2] Mikolov et al. (2013) — word2vec — исторический контекст: геометрическая близость = смысловая близость. https://arxiv.org/abs/1301.3781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sentence similarity, важно понять, в каком именно пространстве живут эмбеддинги. Это первый момент в лекции, когда мы говорим про «многомерные пространства», и интуиция здесь обычно сбивает.</a:t>
            </a:r>
          </a:p>
          <a:p>
            <a:r>
              <a:t>Когда мы говорим «пространство эмбеддингов», мы имеем в виду математическое пространство — векторное пространство, в котором каждой точкой является один вектор. Этот вектор состоит из чисел: 1536 чисел для OpenAI `text-embedding-3-small`, 3072 для `text-embedding-3-large`, и тысячи для внутренних эмбеддингов flagship-моделей. Каждое число — это координата по своему «направлению» или «измерению». В отличие от трёхмерного пространства, к которому мы привыкли по физическому миру, у этих измерений нет очевидного смысла «вверх-вниз» или «вправо-влево». Это абстрактные направления, которые модель выучила в процессе обучения.</a:t>
            </a:r>
          </a:p>
          <a:p>
            <a:r>
              <a:t>Что значит «выучила»? Цель обучения — устроить пространство так, чтобы токены, которые в обучающем корпусе появлялись в похожих контекстах, лежали близко друг к другу. Слова `кот` и `собака` встречаются рядом со словами типа `кормить`, `гладить`, `питомец` — и в результате их эмбеддинги получаются близкими. То же самое со словами `Python` и `JavaScript` — они появляются рядом со словами `код`, `функция`, `переменная`. Эта структура возникает не из правил, а из статистики: модель видела миллионы примеров и подстроила числа так, чтобы геометрия пространства отражала семантику языка.</a:t>
            </a:r>
          </a:p>
          <a:p>
            <a:r>
              <a:t>Чтобы такое пространство хоть как-то увидеть — нужна **проекция**. На слайде слева — упрощённая 2D-проекция: 8 точек, разделённых на три смысловых кластера. Реальная проекция получается из 1536-мерного пространства через алгоритмы PCA (главных компонент) или t-SNE; они выбирают такие две оси, на которых видно максимум различий между точками. Но любая 2D-проекция теряет часть информации — реальная структура многомерна, и красиво нарисовать её на плоскости невозможно.</a:t>
            </a:r>
          </a:p>
          <a:p>
            <a:r>
              <a:t>Главное практическое следствие: семантическая близость = геометрическая близость векторов. Дальше, на следующем слайде, мы измерим эту близость числом — через cosine similarity — и увидим, что это работает не только на словах, но и на целых предложениях.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a:p>
            <a:r>
              <a:t>Источники:</a:t>
            </a:r>
          </a:p>
          <a:p>
            <a:r>
              <a:t>[1] воспроизводимо: all-MiniLM-L6-v2 / text-embedding-3-small — числа illustrative; cosine близость — статистика употребления, не семантический справочник. https://platform.openai.com/docs/guides/embeddings [VFY-day-of]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то, что мы прошли в этом разделе, и переформулируем главное практическое следствие. Эмбеддинги — это не отдельный «слой» LLM, это **фундамент**, на котором стоит всё остальное. Модель внутри работает не со словами и не со строками — она работает с векторами в высокоразмерном пространстве. Слова появляются только на самой границе: на входе они через токенизацию превращаются в id из словаря, дальше через lookup в embedding table — в векторы. И обратно: на выходе модель выдаёт распределение по векторам, из распределения сэмплируется один — это становится id токена, и через de-tokenize выходит обратно в слова.</a:t>
            </a:r>
          </a:p>
          <a:p>
            <a:r>
              <a:t>На слайде — схема в обе стороны. Вход: `Привет, мир` → токенизация → `[Прив][ет][,][ мир]` → lookup → векторы. Сами векторы попадают в основной механизм inference, который мы разберём в Разделе 3. Выход: внутренний вектор-кандидат → distribution → выбор одного токена через сэмплинг → de-tokenize → слово. Между «человеческим» вводом и «человеческим» выводом — путь полностью векторный.</a:t>
            </a:r>
          </a:p>
          <a:p>
            <a:r>
              <a:t>И это объясняет, что мы интуитивно называем «пониманием» LLM. Когда вы спрашиваете «Как настроить SSL», а потом — «Установка HTTPS-сертификата», модель отвечает похоже, потому что эти два предложения попадают в близкие точки векторного пространства, и весь внутренний механизм работает на этих векторах одинаково. То же про синонимы — «авто» и «машина» — и про cross-lingual: «клубника» и `strawberry` дают близкие эмбеддинги, и модель отвечает корректно независимо от того, на каком языке к ней обратились.</a:t>
            </a:r>
          </a:p>
          <a:p>
            <a:r>
              <a:t>Что важно для практики: всё, что вы делаете с LLM — построение промптов, RAG-системы, рассуждения над документами, кросс-язык — упирается в то, как эмбеддинги выучены. Это инженерный фундамент, и инвестиции в правильную embedding-модель для вашего домена окупаются на следующих слоях. К конкретному применению эмбеддингов в системах поиска и retrieval мы вернёмся в Лекции 3 — RAG.</a:t>
            </a:r>
          </a:p>
          <a:p>
            <a:r>
              <a:t>Источники:</a:t>
            </a:r>
          </a:p>
          <a:p>
            <a:r>
              <a:t>[1] Lewis et al. (2020) — RAG — эмбеддинг ловит смысл, а не строку: основа semantic search / RAG.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внимания. И завершим раздел разбором эффекта «lost in the middle» — почему большое окно не значит хорошее использование контекста.</a:t>
            </a:r>
          </a:p>
          <a:p>
            <a:r>
              <a:t>Раздел — самый концептуально насыщенный в лекции. Это сделано осознанно: механизм внимания — самая плотная по содержанию часть, и её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предыдущем слайде раздела — заголовке — мы сказали, что внимание выдаёт «распределение весов на все токены контекста». Этот слайд раскрывает важную деталь: внимание — не линейная операция, а **матричная**. Это значит, что каждый токен в контексте смотрит на каждый — и для контекста длины N матрица имеет размер N × N. Эта деталь принципиальна для понимания того, что будет дальше про context window.</a:t>
            </a:r>
          </a:p>
          <a:p>
            <a:r>
              <a:t>На слайде слева — упрощённая 7×7 матрица для предложения «Кот съел мышь, потому что она была голодна». Каждая строка — это «один токен запроса смотрит на все остальные», каждый столбец — «насколько именно этот токен влияет». Числа условные, illustrative — реальные веса внимания выглядят сложнее, и сумма по строке должна равняться единице (нормировка через softmax). Но качественно картина типична: токен «она» имеет наибольший вес — 0.7 — на токен «мышь». Это и есть, что мы интуитивно называем «модель поняла, на что ссылается местоимение». Технически — это статистическая связь, выученная на огромном корпусе текстов, в которых местоимения женского рода чаще всего относятся к ближайшему существительному женского рода.</a:t>
            </a:r>
          </a:p>
          <a:p>
            <a:r>
              <a:t>Три важных следствия от того, что внимание — это матрица.</a:t>
            </a:r>
          </a:p>
          <a:p>
            <a:r>
              <a:t>Первое — **квадратичная стоимость**. Для контекста из 100 000 токенов матрица содержит 10 миллиардов чисел. Это объясняет, почему длинные контексты дорогие: даже линейное увеличение длины контекста даёт квадратичное увеличение объёма вычислений и памяти под внимание. Эту тему мы разовьём через слайд — про context window.</a:t>
            </a:r>
          </a:p>
          <a:p>
            <a:r>
              <a:t>Второе — **пересчёт на каждом шаге**. LLM генерирует токен за токеном, и на каждой новой генерации матрица внимания заново строится на текущем расширенном контексте. Это не «один раз посчитали — пользуемся весь генерацию»; это «на каждый новый токен — новая матрица».</a:t>
            </a:r>
          </a:p>
          <a:p>
            <a:r>
              <a:t>Третье — **multi-head**. На самом деле в одном слое внимания работает не одна матрица, а десятки параллельно. Это называется multi-head attention (многоголовое внимание). Разные «головы» смотрят на разные паттерны: одна может фокусироваться на грамматических связях, другая — на тематической близости, третья — на длинных зависимостях. Разделение работы между головами — одна из ключевых архитектурных идей трансформера. Для пользователя LLM это деталь, но она объясняет, почему механизм внимания справляется с разными типами зависимостей одновременно — потому что под капотом параллельно работает несколько разных «взглядов» на одни и те же токены.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внимание — это распределение света по сцене, и это распределение меняется в зависимости от того, что мы сейчас спрашиваем.</a:t>
            </a:r>
          </a:p>
          <a:p>
            <a:r>
              <a:t>Формально на каждом шаге для каждой позиции механизм внимания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механизм внимания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r>
              <a:t>В реальной модели механизм внимания устроен сложнее: в каждом слое работает не один, а несколько параллельных «голов» внимания (multi-head attention — многоголовое внимание,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a:p>
            <a:r>
              <a:t>Источники:</a:t>
            </a:r>
          </a:p>
          <a:p>
            <a:r>
              <a:t>[1] Vaswani et al. (2017) — Attention Is All You Need — attention выдаёт распределение весов на токены контекста (Σ=1); 32–128 голов на слой.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внимания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r>
              <a:t>Важная оговорка: картинка с тремя стрелками — сильное упрощение. Реальная карта внимания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внимание здесь даёт максимум на токене «программа» — это согласуется и с грамматикой, и со статистикой технических текстов.</a:t>
            </a:r>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внимания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r>
              <a:t>Рабочее объяснение: role-токены получают повышенный вес в распределении внимания при генерации первых токенов ответа. Роль в промпте — не просьба «поверь мне», а явный input-сигнал, прямо влияющий на распределение внимания. Это первый из трёх вопросов «почему», поставленных в начале лекции, и теперь мы объясняем его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*Цифры приведены на май 2026 года; темп роста контекстного окна — примерно ×10 каждые 1-2 года. Перед лекцией стоит проверить актуальные значения для GPT-5, Claude 4.7 и Gemini.*</a:t>
            </a:r>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r>
              <a:t>Первая — стоимость растёт квадратично. Базовый механизм внимания требует, чтобы каждый из N токенов посмотрел на каждый — это N² операций на каждом слое внимания.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ванильного механизма внимания,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r>
              <a:t>Вторая причина, по которой большое окно не панацея, — модель не одинаково хорошо использует все позиции в окне. Этому посвящён следующий слайд.</a:t>
            </a:r>
          </a:p>
          <a:p>
            <a:r>
              <a:t>Источники:</a:t>
            </a:r>
          </a:p>
          <a:p>
            <a:r>
              <a:t>[1] Anthropic — контекстное окно моделей Claude — рост окна 4k→200k→1M; порядок важнее точной цифры. https://www.anthropic.com/news/model-context-protocol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во внимании. Это не баг — это inductive bias обучения, отражение того, как устроены реальные тексты.</a:t>
            </a:r>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a:p>
            <a:r>
              <a:t>Источники:</a:t>
            </a:r>
          </a:p>
          <a:p>
            <a:r>
              <a:t>[1] Liu et al. (2023) — Lost in the Middle — U-shape: точность проседает в середине окна; важное — в начало/конец промпта. https://arxiv.org/abs/2307.03172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закрыли раздел про внимание: модель умеет распределять важность по токенам контекста. Но на этом inference ещё не закончен. У модели есть промежуточный внутренний результат — распределение вероятностей на все ~200 тысяч токенов словаря, — и она должна из этого распределения выбрать ровно один токен, который и станет следующим в ответе.</a:t>
            </a:r>
          </a:p>
          <a:p>
            <a:r>
              <a:t>Этот шаг и называется сэмплингом. От него зависит то, что воспринимается пользователем как «стиль» модели: насколько детерминированно она отвечает на одинаковые запросы, насколько креативна или скучна, насколько предсказуема. И именно сэмплинг закрывает третье из трёх «почему» Лекции 1: почему один и тот же запрос даёт разные ответы.</a:t>
            </a:r>
          </a:p>
          <a:p>
            <a:r>
              <a:t>В этом разделе пять слайдов. Сначала зафиксируем, что такое распределение вероятностей на конкретном примере с предсказанием следующего токена. Потом разберём главную ручку API — температуру — на трёх режимах: T=0 (детерминированный argmax), T≈1 (стандарт для чата), T=2 (хаос). Дальше — практическая матрица из четырёх параметров API под четыре сценария: классификация, кодогенерация, чат-объяснение, творческое письмо. Затем покажем сэмплинг в контексте полного цикла авторегрессионной генерации — где он стоит между двумя forward-проходами модели. И завершим разделом сравнением inference локально и в облаке: тот же конвейер, но разный размер модели и среда.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внимания,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r>
              <a:t>Этот слайд отвечает на третий из трёх вопросов «почему», поставленных в начале лекции: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a:p>
            <a:r>
              <a:t>Источники:</a:t>
            </a:r>
          </a:p>
          <a:p>
            <a:r>
              <a:t>[1] Holtzman et al. (2019) — nucleus sampling (top-p) — температура и top-p управляют формой распределения при сэмплинге. https://arxiv.org/abs/1904.09751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ключевая практическая цель этого раздела: после этого слайда вы должны уметь подобрать их под конкретный сценарий, не наугад, а с обоснованием.</a:t>
            </a:r>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внимание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тому, что говорила Лекция 1: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внимание,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и оплатой за токены — которая для русского текста выше, чем для английского, как мы видели ранее сегодня.</a:t>
            </a:r>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a:p>
            <a:r>
              <a:t>Источники:</a:t>
            </a:r>
          </a:p>
          <a:p>
            <a:r>
              <a:t>[1] Mistral AI — Mistral 7B — локальные open-weight модели 1–13B vs cloud 200B+. https://mistral.ai/news/announcing-mistral-7b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все четыре этапа inference: токенизация, эмбеддинги, внимание, сэмплинг. Чёрный ящик из Лекции 1 параграфа 3.2, который мы тогда называли «inference моделью», перестал быть чёрным. Дальше — финальный раздел лекции, в котором мы собираем картину воедино и закрываем цикл.</a:t>
            </a:r>
          </a:p>
          <a:p>
            <a:r>
              <a:t>В этом разделе шесть слайдов. Сначала — короткий recap: те же четыре этапа теперь сложены в горизонтальный конвейер; одна строка определения под каждой стадией. Потом — главный практический итог лекции: явные ответы на три «почему» из Лекции 1. Почему промпт с ролью работает лучше пустого. Почему AI плохо считает буквы. Почему один и тот же запрос даёт разные ответы. На каждом «почему» ставим явную ссылку на механизм, который мы только что разобрали.</a:t>
            </a:r>
          </a:p>
          <a:p>
            <a:r>
              <a:t>Дальше — три кросс-режущих фрейма. Первый — дерево решений «когда не LLM»: ситуации, в которых классический ML, прозрачные методы или специализированная маленькая модель работают лучше большого языкового. Второй — концептуальная разница между вниманием как корреляционным механизмом и человеческой моделью причинности; callback на трёхуровневую иерархию Перла из Лекции 1. После этого — задание к Семинару 2 и краткий тизер Лекции 3 про агенты, RAG и MCP. И в финале — Q&amp;A на вопросы в зале.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r>
              <a:t>**Третий — механизм внимания.** Через десятки слоёв внимания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r>
              <a:t>Этот конвейер — то, что Лекция 1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сегодняшней лекции мы поставили три вопроса «почему» — и обещали ответить на них не интуицией, а конкретным механизмом. Теперь у нас есть всё нужное, чтобы это сделать.</a:t>
            </a:r>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распределении внимания.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r>
              <a:t>Эти три ответа — главный практический итог сегодняшней лекции. Если вы можете назвать механизм для каждого «почему» в одном-двух предложениях, главное содержание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классификацию задача × модальность из Лекции 1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r>
              <a:t>Это объясняет феномен, описанный ещё в Лекции 1: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 Практический вывод: там, где решения требуют именно причинного вывода, привлекайте эксперта предметной области или отдельные причинные методы — механизм внимания сам по себе для этого не предназначен.</a:t>
            </a:r>
          </a:p>
          <a:p>
            <a:r>
              <a:t>Источники:</a:t>
            </a:r>
          </a:p>
          <a:p>
            <a:r>
              <a:t>[1] Pearl (2018) — The Book of Why — attention ловит ассоциацию, не причинность (3 уровня причинной лестницы). http://bayes.cs.ucla.edu/WHY/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разделе про эмбеддинги сегодняшней лекции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в Лекции 3 разберём подробнее.</a:t>
            </a:r>
          </a:p>
          <a:p>
            <a:r>
              <a:t>**Agent loop.** Цикл act → observe → reflect, рассмотренный ещё в Лекции 1. На каждом шаге модель решает действие, видит результат, корректирует план — и так до достижения цели. Все четыре концепта надстраиваются над single-shot inference, который мы собрали сегодня.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r>
              <a:t>На семинаре будем разбирать ваши домашние эксперименты с температурой; постарайтесь успеть прогнать запросы заранее. А пока — оставшееся время мы посвящаем вашим вопросам.</a:t>
            </a:r>
          </a:p>
          <a:p>
            <a:r>
              <a:t>Источники:</a:t>
            </a:r>
          </a:p>
          <a:p>
            <a:r>
              <a:t>[1] Lewis et al. (2020) — RAG — как AI выходит за пределы чата: retrieval-augmented generation. https://arxiv.org/abs/2005.11401</a:t>
            </a:r>
          </a:p>
          <a:p>
            <a:r>
              <a:t>[2] Anthropic — Model Context Protocol (25 ноя 2024) — открытый стандарт подключения инструментов к LLM. https://www.anthropic.com/news/model-context-protocol</a:t>
            </a:r>
          </a:p>
          <a:p>
            <a:r>
              <a:t>[3] Yao et al. (2022) — ReAct — agent loop: act → observe → reflect. https://arxiv.org/abs/2210.03629 [VFY-day-of]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этом основная часть лекции закончена. Дальше — оставшееся время отдаём вашим вопросам. Нет «глупых» вопросов и нет «слишком базовых» — если что-то прозвучало неясно или у вас в голове не сложилась картинка одного из четырёх этапов, лучше спросить сейчас, пока тема свежая.</a:t>
            </a:r>
          </a:p>
          <a:p>
            <a:r>
              <a:t>Если вопросов в зале немного, я могу зайти с другой стороны: рассказать, какие из четырёх этапов чаще всего вызывают трудности на следующих занятиях, или показать дополнительный пример токенизации на ваших словах. Если совсем тишина — это тоже нормально, и тогда напомню, что на семинар через неделю мы принесём результаты домашнего задания по температуре, прогоним их через простой чек-лист и обсудим, какую температуру стоит ставить в production. Если по ходу обсуждения возникнут вопросы — приносите их к семинару или пишите по e-mail.</a:t>
            </a:r>
          </a:p>
          <a:p>
            <a:r>
              <a:t>Спасибо за внимание и за вашу включённость в течение всей лекции. До следующей встречи.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508.07909"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arxiv.org/abs/2410.19730"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platform.openai.com/docs/guides/embeddings" TargetMode="External"/><Relationship Id="rId4" Type="http://schemas.openxmlformats.org/officeDocument/2006/relationships/hyperlink" Target="https://arxiv.org/abs/1301.3781"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hyperlink" Target="https://platform.openai.com/docs/guides/embeddings" TargetMode="Externa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hyperlink" Target="https://arxiv.org/abs/2005.11401" TargetMode="Externa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hyperlink" Target="https://arxiv.org/abs/1706.03762"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www.anthropic.com/news/model-context-protocol"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arxiv.org/abs/2307.03172"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hyperlink" Target="https://arxiv.org/abs/1904.09751" TargetMode="Externa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istral.ai/news/announcing-mistral-7b"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hyperlink" Target="http://bayes.cs.ucla.edu/WHY/" TargetMode="Externa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hyperlink" Target="https://arxiv.org/abs/2005.11401" TargetMode="External"/><Relationship Id="rId7" Type="http://schemas.openxmlformats.org/officeDocument/2006/relationships/hyperlink" Target="https://www.anthropic.com/news/model-context-protocol" TargetMode="External"/><Relationship Id="rId8" Type="http://schemas.openxmlformats.org/officeDocument/2006/relationships/hyperlink" Target="https://arxiv.org/abs/2210.03629" TargetMode="External"/><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Пока вы читаете это предложение — на что вы НЕ обращаете внимания?</a:t>
            </a:r>
          </a:p>
        </p:txBody>
      </p:sp>
      <p:sp>
        <p:nvSpPr>
          <p:cNvPr id="3" name="TextBox 2"/>
          <p:cNvSpPr txBox="1"/>
          <p:nvPr/>
        </p:nvSpPr>
        <p:spPr>
          <a:xfrm>
            <a:off x="502920" y="1417320"/>
            <a:ext cx="11247120" cy="411480"/>
          </a:xfrm>
          <a:prstGeom prst="rect">
            <a:avLst/>
          </a:prstGeom>
          <a:noFill/>
        </p:spPr>
        <p:txBody>
          <a:bodyPr wrap="square" lIns="0" rIns="0" tIns="0" bIns="0" anchor="ctr">
            <a:spAutoFit/>
          </a:bodyPr>
          <a:lstStyle/>
          <a:p>
            <a:pPr algn="ctr">
              <a:lnSpc>
                <a:spcPct val="120000"/>
              </a:lnSpc>
            </a:pPr>
            <a:r>
              <a:rPr sz="1700" b="0" i="1">
                <a:solidFill>
                  <a:srgbClr val="028090"/>
                </a:solidFill>
                <a:latin typeface="Arial"/>
              </a:rPr>
              <a:t>Ваш мозг ежесекундно выбирает, что важно, а что — фон.</a:t>
            </a:r>
          </a:p>
        </p:txBody>
      </p:sp>
      <p:sp>
        <p:nvSpPr>
          <p:cNvPr id="4" name="Rounded Rectangle 3"/>
          <p:cNvSpPr/>
          <p:nvPr/>
        </p:nvSpPr>
        <p:spPr>
          <a:xfrm>
            <a:off x="3246120" y="1965960"/>
            <a:ext cx="566928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attention-character.png"/>
          <p:cNvPicPr>
            <a:picLocks noChangeAspect="1"/>
          </p:cNvPicPr>
          <p:nvPr/>
        </p:nvPicPr>
        <p:blipFill>
          <a:blip r:embed="rId2"/>
          <a:stretch>
            <a:fillRect/>
          </a:stretch>
        </p:blipFill>
        <p:spPr>
          <a:xfrm>
            <a:off x="3876402" y="2167128"/>
            <a:ext cx="4408714" cy="3429000"/>
          </a:xfrm>
          <a:prstGeom prst="rect">
            <a:avLst/>
          </a:prstGeom>
        </p:spPr>
      </p:pic>
      <p:sp>
        <p:nvSpPr>
          <p:cNvPr id="6" name="TextBox 5"/>
          <p:cNvSpPr txBox="1"/>
          <p:nvPr/>
        </p:nvSpPr>
        <p:spPr>
          <a:xfrm>
            <a:off x="502920" y="6080760"/>
            <a:ext cx="11247120" cy="502920"/>
          </a:xfrm>
          <a:prstGeom prst="rect">
            <a:avLst/>
          </a:prstGeom>
          <a:noFill/>
        </p:spPr>
        <p:txBody>
          <a:bodyPr wrap="square" lIns="0" rIns="0" tIns="0" bIns="0" anchor="t">
            <a:spAutoFit/>
          </a:bodyPr>
          <a:lstStyle/>
          <a:p>
            <a:pPr algn="ctr">
              <a:lnSpc>
                <a:spcPct val="125000"/>
              </a:lnSpc>
            </a:pPr>
            <a:r>
              <a:rPr sz="1300" b="0" i="1">
                <a:solidFill>
                  <a:srgbClr val="1C7293"/>
                </a:solidFill>
                <a:latin typeface="Arial"/>
              </a:rPr>
              <a:t>Механизм, который сегодня разберём внутри модели ИИ, называется точно так же — «внимание». Он работает похоже — но не так, как ваш.</a:t>
            </a:r>
          </a:p>
        </p:txBody>
      </p:sp>
      <p:sp>
        <p:nvSpPr>
          <p:cNvPr id="7" name="TextBox 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Карта лекции — 6 разделов</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Введение</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Что такое токен +
центральный вопрос</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Токенизация</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Как модель видит
ваш текст</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Эмбеддинги</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Пространство
смыслов</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Внимание</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Что важно
сейчас</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Сэмплинг</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От распределения
к токену</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Финал</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Закрытие,
мост к Л3</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(из Лекции 1)</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Токенизация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видит ваш текст</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Поток данных в LLM — туда и обратно</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Каждый из этапов разберём отдельно. Сейчас — карта целиком.</a:t>
            </a:r>
          </a:p>
        </p:txBody>
      </p:sp>
      <p:sp>
        <p:nvSpPr>
          <p:cNvPr id="4" name="Rounded Rectangle 3"/>
          <p:cNvSpPr/>
          <p:nvPr/>
        </p:nvSpPr>
        <p:spPr>
          <a:xfrm>
            <a:off x="502920" y="1874519"/>
            <a:ext cx="112471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4b-data-flow.png"/>
          <p:cNvPicPr>
            <a:picLocks noChangeAspect="1"/>
          </p:cNvPicPr>
          <p:nvPr/>
        </p:nvPicPr>
        <p:blipFill>
          <a:blip r:embed="rId2"/>
          <a:stretch>
            <a:fillRect/>
          </a:stretch>
        </p:blipFill>
        <p:spPr>
          <a:xfrm>
            <a:off x="685800" y="2011680"/>
            <a:ext cx="10881360" cy="3931920"/>
          </a:xfrm>
          <a:prstGeom prst="rect">
            <a:avLst/>
          </a:prstGeom>
        </p:spPr>
      </p:pic>
      <p:sp>
        <p:nvSpPr>
          <p:cNvPr id="6" name="Rounded Rectangle 5"/>
          <p:cNvSpPr/>
          <p:nvPr/>
        </p:nvSpPr>
        <p:spPr>
          <a:xfrm>
            <a:off x="502920" y="61722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453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Слово существует только на границах. Внутри модели — только векторы. Сегодня разбираем 4 этапа.</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TextBox 26"/>
          <p:cNvSpPr txBox="1"/>
          <p:nvPr/>
        </p:nvSpPr>
        <p:spPr>
          <a:xfrm>
            <a:off x="502920" y="5806440"/>
            <a:ext cx="11247120" cy="411480"/>
          </a:xfrm>
          <a:prstGeom prst="rect">
            <a:avLst/>
          </a:prstGeom>
          <a:noFill/>
        </p:spPr>
        <p:txBody>
          <a:bodyPr wrap="square" lIns="0" rIns="0" tIns="0" bIns="0" anchor="t">
            <a:spAutoFit/>
          </a:bodyPr>
          <a:lstStyle/>
          <a:p>
            <a:pPr algn="ctr">
              <a:lnSpc>
                <a:spcPct val="130000"/>
              </a:lnSpc>
            </a:pPr>
            <a:r>
              <a:rPr sz="1400" b="0" i="1">
                <a:solidFill>
                  <a:srgbClr val="1C7293"/>
                </a:solidFill>
                <a:latin typeface="Arial"/>
              </a:rPr>
              <a:t>Для русского inference обходится примерно вдвое дороже — мы вернёмся к этому через 2 слайда.</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566928"/>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Словарь не из всех слов (как лемматизация) и не из всех букв (как character-level) — а из частых подпоследовательностей.</a:t>
            </a:r>
            <a:r>
              <a:rPr sz="780" baseline="30000" b="0" i="1">
                <a:latin typeface="Arial"/>
                <a:cs typeface="Arial"/>
                <a:ea typeface="Arial"/>
                <a:solidFill>
                  <a:srgbClr val="1C7293"/>
                </a:solidFill>
              </a:rPr>
              <a:t>[1]</a:t>
            </a:r>
          </a:p>
        </p:txBody>
      </p:sp>
      <p:sp>
        <p:nvSpPr>
          <p:cNvPr id="4" name="TextBox 3"/>
          <p:cNvSpPr txBox="1"/>
          <p:nvPr/>
        </p:nvSpPr>
        <p:spPr>
          <a:xfrm>
            <a:off x="502920" y="1938528"/>
            <a:ext cx="11247120" cy="2743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Словарь строится один раз перед обучением; в inference — lookup готовых правил.</a:t>
            </a:r>
          </a:p>
        </p:txBody>
      </p:sp>
      <p:sp>
        <p:nvSpPr>
          <p:cNvPr id="5" name="Rounded Rectangle 4"/>
          <p:cNvSpPr/>
          <p:nvPr/>
        </p:nvSpPr>
        <p:spPr>
          <a:xfrm>
            <a:off x="914400" y="2286000"/>
            <a:ext cx="50292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46888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7" name="Rounded Rectangle 6"/>
          <p:cNvSpPr/>
          <p:nvPr/>
        </p:nvSpPr>
        <p:spPr>
          <a:xfrm>
            <a:off x="1325880" y="338328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15468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9" name="Rounded Rectangle 8"/>
          <p:cNvSpPr/>
          <p:nvPr/>
        </p:nvSpPr>
        <p:spPr>
          <a:xfrm>
            <a:off x="1325880" y="397764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74904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1" name="Rounded Rectangle 10"/>
          <p:cNvSpPr/>
          <p:nvPr/>
        </p:nvSpPr>
        <p:spPr>
          <a:xfrm>
            <a:off x="1325880" y="457200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34340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3" name="Rounded Rectangle 12"/>
          <p:cNvSpPr/>
          <p:nvPr/>
        </p:nvSpPr>
        <p:spPr>
          <a:xfrm>
            <a:off x="1325880" y="516636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93776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5" name="Right Arrow 14"/>
          <p:cNvSpPr/>
          <p:nvPr/>
        </p:nvSpPr>
        <p:spPr>
          <a:xfrm>
            <a:off x="5989320" y="37719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286000"/>
            <a:ext cx="5029200" cy="3520440"/>
          </a:xfrm>
          <a:prstGeom prst="roundRect">
            <a:avLst>
              <a:gd name="adj" fmla="val 865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46888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8" name="Rounded Rectangle 17"/>
          <p:cNvSpPr/>
          <p:nvPr/>
        </p:nvSpPr>
        <p:spPr>
          <a:xfrm>
            <a:off x="6629400" y="33558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03720" y="315468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6629400" y="3886200"/>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3685032"/>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2" name="Rounded Rectangle 21"/>
          <p:cNvSpPr/>
          <p:nvPr/>
        </p:nvSpPr>
        <p:spPr>
          <a:xfrm>
            <a:off x="6629400" y="4416552"/>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215384"/>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4" name="Rounded Rectangle 23"/>
          <p:cNvSpPr/>
          <p:nvPr/>
        </p:nvSpPr>
        <p:spPr>
          <a:xfrm>
            <a:off x="6629400" y="4946903"/>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745736"/>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6" name="Rounded Rectangle 25"/>
          <p:cNvSpPr/>
          <p:nvPr/>
        </p:nvSpPr>
        <p:spPr>
          <a:xfrm>
            <a:off x="6629400" y="5477255"/>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5276088"/>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8" name="Rounded Rectangle 27"/>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30" name="TextBox 29"/>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Sennrich et al. (2016) — NMT of Rare Words / BPE</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AI ошибается в «сколько r в strawberry» — слова не из букв, а из 3 токенов</a:t>
            </a:r>
          </a:p>
        </p:txBody>
      </p:sp>
      <p:sp>
        <p:nvSpPr>
          <p:cNvPr id="3" name="Rounded Rectangle 2"/>
          <p:cNvSpPr/>
          <p:nvPr/>
        </p:nvSpPr>
        <p:spPr>
          <a:xfrm>
            <a:off x="502920" y="1325880"/>
            <a:ext cx="5669280" cy="3977639"/>
          </a:xfrm>
          <a:prstGeom prst="roundRect">
            <a:avLst>
              <a:gd name="adj" fmla="val 76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444752"/>
            <a:ext cx="5303520" cy="3749039"/>
          </a:xfrm>
          <a:prstGeom prst="rect">
            <a:avLst/>
          </a:prstGeom>
        </p:spPr>
      </p:pic>
      <p:sp>
        <p:nvSpPr>
          <p:cNvPr id="5" name="Rounded Rectangle 4"/>
          <p:cNvSpPr/>
          <p:nvPr/>
        </p:nvSpPr>
        <p:spPr>
          <a:xfrm>
            <a:off x="6400800" y="1325880"/>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417320"/>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Подсчёт символов</a:t>
            </a:r>
          </a:p>
        </p:txBody>
      </p:sp>
      <p:sp>
        <p:nvSpPr>
          <p:cNvPr id="7" name="TextBox 6"/>
          <p:cNvSpPr txBox="1"/>
          <p:nvPr/>
        </p:nvSpPr>
        <p:spPr>
          <a:xfrm>
            <a:off x="6629400" y="1828800"/>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660904"/>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752344"/>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Опечатки</a:t>
            </a:r>
          </a:p>
        </p:txBody>
      </p:sp>
      <p:sp>
        <p:nvSpPr>
          <p:cNvPr id="10" name="TextBox 9"/>
          <p:cNvSpPr txBox="1"/>
          <p:nvPr/>
        </p:nvSpPr>
        <p:spPr>
          <a:xfrm>
            <a:off x="6629400" y="3163824"/>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3995928"/>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087368"/>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Регистр и пробелы</a:t>
            </a:r>
          </a:p>
        </p:txBody>
      </p:sp>
      <p:sp>
        <p:nvSpPr>
          <p:cNvPr id="13" name="TextBox 12"/>
          <p:cNvSpPr txBox="1"/>
          <p:nvPr/>
        </p:nvSpPr>
        <p:spPr>
          <a:xfrm>
            <a:off x="6629400" y="4498848"/>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cat, ` cat`, Cat, CAT — разные токены, разные id.</a:t>
            </a:r>
          </a:p>
        </p:txBody>
      </p:sp>
      <p:sp>
        <p:nvSpPr>
          <p:cNvPr id="14" name="Rounded Rectangle 13"/>
          <p:cNvSpPr/>
          <p:nvPr/>
        </p:nvSpPr>
        <p:spPr>
          <a:xfrm>
            <a:off x="502920" y="5358384"/>
            <a:ext cx="11247120" cy="107899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449824"/>
            <a:ext cx="10789920" cy="457200"/>
          </a:xfrm>
          <a:prstGeom prst="rect">
            <a:avLst/>
          </a:prstGeom>
          <a:noFill/>
        </p:spPr>
        <p:txBody>
          <a:bodyPr wrap="square" lIns="0" rIns="0" tIns="0" bIns="0" anchor="t">
            <a:spAutoFit/>
          </a:bodyPr>
          <a:lstStyle/>
          <a:p>
            <a:pPr algn="l">
              <a:lnSpc>
                <a:spcPct val="122000"/>
              </a:lnSpc>
            </a:pPr>
            <a:r>
              <a:rPr sz="1400" b="1" i="0">
                <a:solidFill>
                  <a:srgbClr val="21295C"/>
                </a:solidFill>
                <a:latin typeface="Arial"/>
              </a:rPr>
              <a:t>Буквы: внешний инструмент (Python, regex) или посимвольный запрос. Топ-модели 2026 сами вызывают код вместо одного прохода.</a:t>
            </a:r>
          </a:p>
        </p:txBody>
      </p:sp>
      <p:sp>
        <p:nvSpPr>
          <p:cNvPr id="16" name="TextBox 15"/>
          <p:cNvSpPr txBox="1"/>
          <p:nvPr/>
        </p:nvSpPr>
        <p:spPr>
          <a:xfrm>
            <a:off x="731520" y="5907024"/>
            <a:ext cx="10789920" cy="457200"/>
          </a:xfrm>
          <a:prstGeom prst="rect">
            <a:avLst/>
          </a:prstGeom>
          <a:noFill/>
        </p:spPr>
        <p:txBody>
          <a:bodyPr wrap="square" lIns="0" rIns="0" tIns="0" bIns="0" anchor="t">
            <a:spAutoFit/>
          </a:bodyPr>
          <a:lstStyle/>
          <a:p>
            <a:pPr algn="l">
              <a:lnSpc>
                <a:spcPct val="122000"/>
              </a:lnSpc>
            </a:pPr>
            <a:r>
              <a:rPr sz="1400" b="1" i="0">
                <a:solidFill>
                  <a:srgbClr val="21295C"/>
                </a:solidFill>
                <a:latin typeface="Arial"/>
              </a:rPr>
              <a:t>Числа: тоже режутся непредсказуемо (1234→12+34, но 55688→556+88) → GPT-4: 59% точности на 3-знач. умножении, 4% на 4-знач., 0% на 5-знач. без калькулятора.</a:t>
            </a:r>
            <a:r>
              <a:rPr sz="728" baseline="30000" b="0" i="1">
                <a:latin typeface="Arial"/>
                <a:cs typeface="Arial"/>
                <a:ea typeface="Arial"/>
                <a:solidFill>
                  <a:srgbClr val="1C7293"/>
                </a:solidFill>
              </a:rPr>
              <a:t>[1]</a:t>
            </a:r>
          </a:p>
        </p:txBody>
      </p:sp>
      <p:sp>
        <p:nvSpPr>
          <p:cNvPr id="17" name="TextBox 16"/>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Counting Ability of LLMs &amp; Impact of Tokenization (2024)</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Эмбеддинги</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Пространство смыслов</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193792"/>
            <a:ext cx="5486400"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285231"/>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Размерности (ориентир)</a:t>
            </a:r>
            <a:r>
              <a:rPr sz="780" baseline="30000" b="0" i="1">
                <a:latin typeface="Arial"/>
                <a:cs typeface="Arial"/>
                <a:ea typeface="Arial"/>
                <a:solidFill>
                  <a:srgbClr val="1C7293"/>
                </a:solidFill>
              </a:rPr>
              <a:t>[1]</a:t>
            </a:r>
          </a:p>
        </p:txBody>
      </p:sp>
      <p:sp>
        <p:nvSpPr>
          <p:cNvPr id="7" name="TextBox 6"/>
          <p:cNvSpPr txBox="1"/>
          <p:nvPr/>
        </p:nvSpPr>
        <p:spPr>
          <a:xfrm>
            <a:off x="777240" y="5669279"/>
            <a:ext cx="3566160" cy="256032"/>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669279"/>
            <a:ext cx="1755648" cy="256032"/>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5925312"/>
            <a:ext cx="3566160" cy="256032"/>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5925312"/>
            <a:ext cx="1755648" cy="256032"/>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181344"/>
            <a:ext cx="3566160" cy="256032"/>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Внутренний эмбеддинг flagship LLM</a:t>
            </a:r>
          </a:p>
        </p:txBody>
      </p:sp>
      <p:sp>
        <p:nvSpPr>
          <p:cNvPr id="12" name="TextBox 11"/>
          <p:cNvSpPr txBox="1"/>
          <p:nvPr/>
        </p:nvSpPr>
        <p:spPr>
          <a:xfrm>
            <a:off x="4178807" y="6181344"/>
            <a:ext cx="1755648" cy="256032"/>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тысячи dim</a:t>
            </a:r>
          </a:p>
        </p:txBody>
      </p:sp>
      <p:sp>
        <p:nvSpPr>
          <p:cNvPr id="13" name="Rounded Rectangle 12"/>
          <p:cNvSpPr/>
          <p:nvPr/>
        </p:nvSpPr>
        <p:spPr>
          <a:xfrm>
            <a:off x="6400800" y="5193792"/>
            <a:ext cx="5486400" cy="1298448"/>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266944"/>
            <a:ext cx="5120640" cy="1152144"/>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Геометрическая близость векторов = семантическая близость токенов.</a:t>
            </a:r>
            <a:r>
              <a:rPr sz="780" baseline="30000" b="0" i="1">
                <a:latin typeface="Arial"/>
                <a:cs typeface="Arial"/>
                <a:ea typeface="Arial"/>
                <a:solidFill>
                  <a:srgbClr val="1C7293"/>
                </a:solidFill>
              </a:rPr>
              <a:t>[2]</a:t>
            </a:r>
            <a:r>
              <a:rPr sz="1500" b="1" i="0">
                <a:latin typeface="Arial"/>
                <a:cs typeface="Arial"/>
                <a:ea typeface="Arial"/>
                <a:solidFill>
                  <a:srgbClr val="21295C"/>
                </a:solidFill>
              </a:rPr>
              <a:t>
«Кот» близко к «собаке» — выучилось из контекстов корпуса.</a:t>
            </a:r>
          </a:p>
        </p:txBody>
      </p:sp>
      <p:sp>
        <p:nvSpPr>
          <p:cNvPr id="15" name="TextBox 14"/>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OpenAI — Embeddings API</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Mikolov et al. (2013) — word2vec</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Пространство эмбеддингов — где живут векторы</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Перед тем как сравнивать векторы — посмотрим, в каком пространстве они находятся.</a:t>
            </a:r>
          </a:p>
        </p:txBody>
      </p:sp>
      <p:sp>
        <p:nvSpPr>
          <p:cNvPr id="4" name="Rounded Rectangle 3"/>
          <p:cNvSpPr/>
          <p:nvPr/>
        </p:nvSpPr>
        <p:spPr>
          <a:xfrm>
            <a:off x="502920" y="1828800"/>
            <a:ext cx="6858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9a-embedding-space.png"/>
          <p:cNvPicPr>
            <a:picLocks noChangeAspect="1"/>
          </p:cNvPicPr>
          <p:nvPr/>
        </p:nvPicPr>
        <p:blipFill>
          <a:blip r:embed="rId2"/>
          <a:stretch>
            <a:fillRect/>
          </a:stretch>
        </p:blipFill>
        <p:spPr>
          <a:xfrm>
            <a:off x="640080" y="1965960"/>
            <a:ext cx="6583680" cy="3931920"/>
          </a:xfrm>
          <a:prstGeom prst="rect">
            <a:avLst/>
          </a:prstGeom>
        </p:spPr>
      </p:pic>
      <p:sp>
        <p:nvSpPr>
          <p:cNvPr id="6" name="Rounded Rectangle 5"/>
          <p:cNvSpPr/>
          <p:nvPr/>
        </p:nvSpPr>
        <p:spPr>
          <a:xfrm>
            <a:off x="7543800" y="182880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0839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0839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138160" y="194767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Размерность</a:t>
            </a:r>
          </a:p>
        </p:txBody>
      </p:sp>
      <p:sp>
        <p:nvSpPr>
          <p:cNvPr id="10" name="TextBox 9"/>
          <p:cNvSpPr txBox="1"/>
          <p:nvPr/>
        </p:nvSpPr>
        <p:spPr>
          <a:xfrm>
            <a:off x="7726679" y="2331720"/>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OpenAI text-embedding-3-small: 1536 dim.
text-embedding-3-large: 3072 dim.
Flagship LLM: тысячи.</a:t>
            </a:r>
          </a:p>
        </p:txBody>
      </p:sp>
      <p:sp>
        <p:nvSpPr>
          <p:cNvPr id="11" name="Rounded Rectangle 10"/>
          <p:cNvSpPr/>
          <p:nvPr/>
        </p:nvSpPr>
        <p:spPr>
          <a:xfrm>
            <a:off x="7543800" y="324612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08392" y="341071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341985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138160" y="3364991"/>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Обучение</a:t>
            </a:r>
          </a:p>
        </p:txBody>
      </p:sp>
      <p:sp>
        <p:nvSpPr>
          <p:cNvPr id="15" name="TextBox 14"/>
          <p:cNvSpPr txBox="1"/>
          <p:nvPr/>
        </p:nvSpPr>
        <p:spPr>
          <a:xfrm>
            <a:off x="7726679" y="374903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Координаты не задаются вручную. Модель учится:
токены в похожих контекстах → близкие векторы.</a:t>
            </a:r>
          </a:p>
        </p:txBody>
      </p:sp>
      <p:sp>
        <p:nvSpPr>
          <p:cNvPr id="16" name="Rounded Rectangle 15"/>
          <p:cNvSpPr/>
          <p:nvPr/>
        </p:nvSpPr>
        <p:spPr>
          <a:xfrm>
            <a:off x="7543800" y="466344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08392" y="4828031"/>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392" y="483717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138160" y="478231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Проекция</a:t>
            </a:r>
          </a:p>
        </p:txBody>
      </p:sp>
      <p:sp>
        <p:nvSpPr>
          <p:cNvPr id="20" name="TextBox 19"/>
          <p:cNvSpPr txBox="1"/>
          <p:nvPr/>
        </p:nvSpPr>
        <p:spPr>
          <a:xfrm>
            <a:off x="7726679" y="516635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Чтобы увидеть пространство — PCA или t-SNE
снижают размерность до 2D/3D.
Часть структуры теряется.</a:t>
            </a:r>
          </a:p>
        </p:txBody>
      </p:sp>
      <p:sp>
        <p:nvSpPr>
          <p:cNvPr id="21" name="Rounded Rectangle 20"/>
          <p:cNvSpPr/>
          <p:nvPr/>
        </p:nvSpPr>
        <p:spPr>
          <a:xfrm>
            <a:off x="502920" y="61722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453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Семантическая близость = геометрическая близость векторов. На следующем слайде — мера.</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502920" y="1874519"/>
            <a:ext cx="690372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640080" y="1993392"/>
            <a:ext cx="6629400" cy="3703320"/>
          </a:xfrm>
          <a:prstGeom prst="rect">
            <a:avLst/>
          </a:prstGeom>
        </p:spPr>
      </p:pic>
      <p:sp>
        <p:nvSpPr>
          <p:cNvPr id="6" name="Rounded Rectangle 5"/>
          <p:cNvSpPr/>
          <p:nvPr/>
        </p:nvSpPr>
        <p:spPr>
          <a:xfrm>
            <a:off x="7543800" y="1874519"/>
            <a:ext cx="425196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0-vector-scatter.png"/>
          <p:cNvPicPr>
            <a:picLocks noChangeAspect="1"/>
          </p:cNvPicPr>
          <p:nvPr/>
        </p:nvPicPr>
        <p:blipFill>
          <a:blip r:embed="rId3"/>
          <a:stretch>
            <a:fillRect/>
          </a:stretch>
        </p:blipFill>
        <p:spPr>
          <a:xfrm>
            <a:off x="7635240" y="1993392"/>
            <a:ext cx="4069080" cy="3703320"/>
          </a:xfrm>
          <a:prstGeom prst="rect">
            <a:avLst/>
          </a:prstGeom>
        </p:spPr>
      </p:pic>
      <p:sp>
        <p:nvSpPr>
          <p:cNvPr id="8" name="Rounded Rectangle 7"/>
          <p:cNvSpPr/>
          <p:nvPr/>
        </p:nvSpPr>
        <p:spPr>
          <a:xfrm>
            <a:off x="502920" y="59436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0167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Cosine similarity — мера угла между векторами; диапазон [−1, 1], ближе к 1 — более похожи. Числа illustrative.</a:t>
            </a:r>
            <a:r>
              <a:rPr sz="728" baseline="30000" b="0" i="1">
                <a:latin typeface="Arial"/>
                <a:cs typeface="Arial"/>
                <a:ea typeface="Arial"/>
                <a:solidFill>
                  <a:srgbClr val="1C7293"/>
                </a:solidFill>
              </a:rPr>
              <a:t>[1]</a:t>
            </a:r>
          </a:p>
        </p:txBody>
      </p:sp>
      <p:sp>
        <p:nvSpPr>
          <p:cNvPr id="10" name="TextBox 9"/>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воспроизводимо: all-MiniLM-L6-v2 / text-embedding-3-small</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 фундамент понимания LLM</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Внутри модель работает только с векторами; слова — только на входе и на выходе.</a:t>
            </a:r>
          </a:p>
        </p:txBody>
      </p:sp>
      <p:sp>
        <p:nvSpPr>
          <p:cNvPr id="4" name="Rounded Rectangle 3"/>
          <p:cNvSpPr/>
          <p:nvPr/>
        </p:nvSpPr>
        <p:spPr>
          <a:xfrm>
            <a:off x="502920" y="1828800"/>
            <a:ext cx="5486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01952"/>
            <a:ext cx="5303520" cy="292608"/>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Вход → LLM → Выход</a:t>
            </a:r>
          </a:p>
        </p:txBody>
      </p:sp>
      <p:sp>
        <p:nvSpPr>
          <p:cNvPr id="6" name="TextBox 5"/>
          <p:cNvSpPr txBox="1"/>
          <p:nvPr/>
        </p:nvSpPr>
        <p:spPr>
          <a:xfrm>
            <a:off x="685800" y="2267712"/>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слова →</a:t>
            </a:r>
          </a:p>
        </p:txBody>
      </p:sp>
      <p:sp>
        <p:nvSpPr>
          <p:cNvPr id="7" name="Rounded Rectangle 6"/>
          <p:cNvSpPr/>
          <p:nvPr/>
        </p:nvSpPr>
        <p:spPr>
          <a:xfrm>
            <a:off x="2011680" y="2267712"/>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«Привет, мир»</a:t>
            </a:r>
          </a:p>
        </p:txBody>
      </p:sp>
      <p:sp>
        <p:nvSpPr>
          <p:cNvPr id="8" name="TextBox 7"/>
          <p:cNvSpPr txBox="1"/>
          <p:nvPr/>
        </p:nvSpPr>
        <p:spPr>
          <a:xfrm>
            <a:off x="2011680" y="2578608"/>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токенизация</a:t>
            </a:r>
          </a:p>
        </p:txBody>
      </p:sp>
      <p:sp>
        <p:nvSpPr>
          <p:cNvPr id="9" name="TextBox 8"/>
          <p:cNvSpPr txBox="1"/>
          <p:nvPr/>
        </p:nvSpPr>
        <p:spPr>
          <a:xfrm>
            <a:off x="685800" y="277977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токены →</a:t>
            </a:r>
          </a:p>
        </p:txBody>
      </p:sp>
      <p:sp>
        <p:nvSpPr>
          <p:cNvPr id="10" name="Rounded Rectangle 9"/>
          <p:cNvSpPr/>
          <p:nvPr/>
        </p:nvSpPr>
        <p:spPr>
          <a:xfrm>
            <a:off x="2011680" y="2779776"/>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[Прив][ет][,][ мир]</a:t>
            </a:r>
          </a:p>
        </p:txBody>
      </p:sp>
      <p:sp>
        <p:nvSpPr>
          <p:cNvPr id="11" name="TextBox 10"/>
          <p:cNvSpPr txBox="1"/>
          <p:nvPr/>
        </p:nvSpPr>
        <p:spPr>
          <a:xfrm>
            <a:off x="2011680" y="309067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embedding lookup</a:t>
            </a:r>
          </a:p>
        </p:txBody>
      </p:sp>
      <p:sp>
        <p:nvSpPr>
          <p:cNvPr id="12" name="TextBox 11"/>
          <p:cNvSpPr txBox="1"/>
          <p:nvPr/>
        </p:nvSpPr>
        <p:spPr>
          <a:xfrm>
            <a:off x="685800" y="329184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векторы →</a:t>
            </a:r>
          </a:p>
        </p:txBody>
      </p:sp>
      <p:sp>
        <p:nvSpPr>
          <p:cNvPr id="13" name="Rounded Rectangle 12"/>
          <p:cNvSpPr/>
          <p:nvPr/>
        </p:nvSpPr>
        <p:spPr>
          <a:xfrm>
            <a:off x="2011680" y="3291840"/>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[vec₁, vec₂, vec₃, vec₄]</a:t>
            </a:r>
          </a:p>
        </p:txBody>
      </p:sp>
      <p:sp>
        <p:nvSpPr>
          <p:cNvPr id="14" name="Rounded Rectangle 13"/>
          <p:cNvSpPr/>
          <p:nvPr/>
        </p:nvSpPr>
        <p:spPr>
          <a:xfrm>
            <a:off x="868680" y="3602736"/>
            <a:ext cx="4754880" cy="457200"/>
          </a:xfrm>
          <a:prstGeom prst="roundRect">
            <a:avLst>
              <a:gd name="adj" fmla="val 1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57600"/>
            <a:ext cx="475488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(attention + forward — Раздел 3)</a:t>
            </a:r>
          </a:p>
        </p:txBody>
      </p:sp>
      <p:sp>
        <p:nvSpPr>
          <p:cNvPr id="16" name="TextBox 15"/>
          <p:cNvSpPr txBox="1"/>
          <p:nvPr/>
        </p:nvSpPr>
        <p:spPr>
          <a:xfrm>
            <a:off x="685800" y="410565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векторы</a:t>
            </a:r>
          </a:p>
        </p:txBody>
      </p:sp>
      <p:sp>
        <p:nvSpPr>
          <p:cNvPr id="17" name="Rounded Rectangle 16"/>
          <p:cNvSpPr/>
          <p:nvPr/>
        </p:nvSpPr>
        <p:spPr>
          <a:xfrm>
            <a:off x="2011680" y="4105656"/>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[vec_out]</a:t>
            </a:r>
          </a:p>
        </p:txBody>
      </p:sp>
      <p:sp>
        <p:nvSpPr>
          <p:cNvPr id="18" name="TextBox 17"/>
          <p:cNvSpPr txBox="1"/>
          <p:nvPr/>
        </p:nvSpPr>
        <p:spPr>
          <a:xfrm>
            <a:off x="2011680" y="441655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distribution + sampling</a:t>
            </a:r>
          </a:p>
        </p:txBody>
      </p:sp>
      <p:sp>
        <p:nvSpPr>
          <p:cNvPr id="19" name="TextBox 18"/>
          <p:cNvSpPr txBox="1"/>
          <p:nvPr/>
        </p:nvSpPr>
        <p:spPr>
          <a:xfrm>
            <a:off x="685800" y="461772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токены</a:t>
            </a:r>
          </a:p>
        </p:txBody>
      </p:sp>
      <p:sp>
        <p:nvSpPr>
          <p:cNvPr id="20" name="Rounded Rectangle 19"/>
          <p:cNvSpPr/>
          <p:nvPr/>
        </p:nvSpPr>
        <p:spPr>
          <a:xfrm>
            <a:off x="2011680" y="4617720"/>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[Здра][вствуй]</a:t>
            </a:r>
          </a:p>
        </p:txBody>
      </p:sp>
      <p:sp>
        <p:nvSpPr>
          <p:cNvPr id="21" name="TextBox 20"/>
          <p:cNvSpPr txBox="1"/>
          <p:nvPr/>
        </p:nvSpPr>
        <p:spPr>
          <a:xfrm>
            <a:off x="2011680" y="4928616"/>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de-tokenize</a:t>
            </a:r>
          </a:p>
        </p:txBody>
      </p:sp>
      <p:sp>
        <p:nvSpPr>
          <p:cNvPr id="22" name="TextBox 21"/>
          <p:cNvSpPr txBox="1"/>
          <p:nvPr/>
        </p:nvSpPr>
        <p:spPr>
          <a:xfrm>
            <a:off x="685800" y="5129783"/>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слова</a:t>
            </a:r>
          </a:p>
        </p:txBody>
      </p:sp>
      <p:sp>
        <p:nvSpPr>
          <p:cNvPr id="23" name="Rounded Rectangle 22"/>
          <p:cNvSpPr/>
          <p:nvPr/>
        </p:nvSpPr>
        <p:spPr>
          <a:xfrm>
            <a:off x="2011680" y="5129783"/>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«Здравствуй»</a:t>
            </a:r>
          </a:p>
        </p:txBody>
      </p:sp>
      <p:sp>
        <p:nvSpPr>
          <p:cNvPr id="24" name="TextBox 23"/>
          <p:cNvSpPr txBox="1"/>
          <p:nvPr/>
        </p:nvSpPr>
        <p:spPr>
          <a:xfrm>
            <a:off x="6172200" y="1938528"/>
            <a:ext cx="56235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это даёт «понимание»</a:t>
            </a:r>
          </a:p>
        </p:txBody>
      </p:sp>
      <p:sp>
        <p:nvSpPr>
          <p:cNvPr id="25" name="Rounded Rectangle 24"/>
          <p:cNvSpPr/>
          <p:nvPr/>
        </p:nvSpPr>
        <p:spPr>
          <a:xfrm>
            <a:off x="6172200" y="2377440"/>
            <a:ext cx="5623560" cy="1170432"/>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essage-square-text.png"/>
          <p:cNvPicPr>
            <a:picLocks noChangeAspect="1"/>
          </p:cNvPicPr>
          <p:nvPr/>
        </p:nvPicPr>
        <p:blipFill>
          <a:blip r:embed="rId2"/>
          <a:stretch>
            <a:fillRect/>
          </a:stretch>
        </p:blipFill>
        <p:spPr>
          <a:xfrm>
            <a:off x="6309360" y="2651760"/>
            <a:ext cx="685800" cy="685800"/>
          </a:xfrm>
          <a:prstGeom prst="rect">
            <a:avLst/>
          </a:prstGeom>
        </p:spPr>
      </p:pic>
      <p:sp>
        <p:nvSpPr>
          <p:cNvPr id="27" name="TextBox 26"/>
          <p:cNvSpPr txBox="1"/>
          <p:nvPr/>
        </p:nvSpPr>
        <p:spPr>
          <a:xfrm>
            <a:off x="7132320" y="2487168"/>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Перефразирования</a:t>
            </a:r>
          </a:p>
        </p:txBody>
      </p:sp>
      <p:sp>
        <p:nvSpPr>
          <p:cNvPr id="28" name="TextBox 27"/>
          <p:cNvSpPr txBox="1"/>
          <p:nvPr/>
        </p:nvSpPr>
        <p:spPr>
          <a:xfrm>
            <a:off x="7132320" y="2880360"/>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«Как настроить SSL» и «Установка HTTPS» → близкие векторы → одинаковый ответ.</a:t>
            </a:r>
          </a:p>
        </p:txBody>
      </p:sp>
      <p:sp>
        <p:nvSpPr>
          <p:cNvPr id="29" name="Rounded Rectangle 28"/>
          <p:cNvSpPr/>
          <p:nvPr/>
        </p:nvSpPr>
        <p:spPr>
          <a:xfrm>
            <a:off x="6172200" y="3639312"/>
            <a:ext cx="5623560" cy="1170432"/>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globe-2.png"/>
          <p:cNvPicPr>
            <a:picLocks noChangeAspect="1"/>
          </p:cNvPicPr>
          <p:nvPr/>
        </p:nvPicPr>
        <p:blipFill>
          <a:blip r:embed="rId3"/>
          <a:stretch>
            <a:fillRect/>
          </a:stretch>
        </p:blipFill>
        <p:spPr>
          <a:xfrm>
            <a:off x="6309360" y="3913632"/>
            <a:ext cx="685800" cy="685800"/>
          </a:xfrm>
          <a:prstGeom prst="rect">
            <a:avLst/>
          </a:prstGeom>
        </p:spPr>
      </p:pic>
      <p:sp>
        <p:nvSpPr>
          <p:cNvPr id="31" name="TextBox 30"/>
          <p:cNvSpPr txBox="1"/>
          <p:nvPr/>
        </p:nvSpPr>
        <p:spPr>
          <a:xfrm>
            <a:off x="7132320" y="3749040"/>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Синонимы</a:t>
            </a:r>
          </a:p>
        </p:txBody>
      </p:sp>
      <p:sp>
        <p:nvSpPr>
          <p:cNvPr id="32" name="TextBox 31"/>
          <p:cNvSpPr txBox="1"/>
          <p:nvPr/>
        </p:nvSpPr>
        <p:spPr>
          <a:xfrm>
            <a:off x="7132320" y="4142232"/>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«авто» и «машина» → близкие векторы → одна и та же реакция.</a:t>
            </a:r>
          </a:p>
        </p:txBody>
      </p:sp>
      <p:sp>
        <p:nvSpPr>
          <p:cNvPr id="33" name="Rounded Rectangle 32"/>
          <p:cNvSpPr/>
          <p:nvPr/>
        </p:nvSpPr>
        <p:spPr>
          <a:xfrm>
            <a:off x="6172200" y="4901184"/>
            <a:ext cx="5623560" cy="1170432"/>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anguages.png"/>
          <p:cNvPicPr>
            <a:picLocks noChangeAspect="1"/>
          </p:cNvPicPr>
          <p:nvPr/>
        </p:nvPicPr>
        <p:blipFill>
          <a:blip r:embed="rId4"/>
          <a:stretch>
            <a:fillRect/>
          </a:stretch>
        </p:blipFill>
        <p:spPr>
          <a:xfrm>
            <a:off x="6309360" y="5175504"/>
            <a:ext cx="685800" cy="685800"/>
          </a:xfrm>
          <a:prstGeom prst="rect">
            <a:avLst/>
          </a:prstGeom>
        </p:spPr>
      </p:pic>
      <p:sp>
        <p:nvSpPr>
          <p:cNvPr id="35" name="TextBox 34"/>
          <p:cNvSpPr txBox="1"/>
          <p:nvPr/>
        </p:nvSpPr>
        <p:spPr>
          <a:xfrm>
            <a:off x="7132320" y="5010912"/>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Cross-lang</a:t>
            </a:r>
          </a:p>
        </p:txBody>
      </p:sp>
      <p:sp>
        <p:nvSpPr>
          <p:cNvPr id="36" name="TextBox 35"/>
          <p:cNvSpPr txBox="1"/>
          <p:nvPr/>
        </p:nvSpPr>
        <p:spPr>
          <a:xfrm>
            <a:off x="7132320" y="5404104"/>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«клубника» и strawberry → близкие векторы → корректный ответ на любом языке.</a:t>
            </a:r>
          </a:p>
        </p:txBody>
      </p:sp>
      <p:sp>
        <p:nvSpPr>
          <p:cNvPr id="37" name="Rounded Rectangle 36"/>
          <p:cNvSpPr/>
          <p:nvPr/>
        </p:nvSpPr>
        <p:spPr>
          <a:xfrm>
            <a:off x="502920" y="6163056"/>
            <a:ext cx="11247120" cy="3200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6236208"/>
            <a:ext cx="10881360" cy="173735"/>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Семантическая близость на уровне предложений — основа того, что LLM «понимает» переформулировки.</a:t>
            </a:r>
            <a:r>
              <a:rPr sz="624" baseline="30000" b="0" i="1">
                <a:latin typeface="Arial"/>
                <a:cs typeface="Arial"/>
                <a:ea typeface="Arial"/>
                <a:solidFill>
                  <a:srgbClr val="1C7293"/>
                </a:solidFill>
              </a:rPr>
              <a:t>[1]</a:t>
            </a:r>
          </a:p>
        </p:txBody>
      </p:sp>
      <p:sp>
        <p:nvSpPr>
          <p:cNvPr id="39" name="TextBox 38"/>
          <p:cNvSpPr txBox="1"/>
          <p:nvPr/>
        </p:nvSpPr>
        <p:spPr>
          <a:xfrm>
            <a:off x="502920" y="6547104"/>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Lewis et al. (2020) — RAG</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Внимание — это сверка каждого токена со всеми остальными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Каждый токен «смотрит» на все остальные одновременно. На каждом шаге — N × N связей.</a:t>
            </a:r>
          </a:p>
        </p:txBody>
      </p:sp>
      <p:sp>
        <p:nvSpPr>
          <p:cNvPr id="4" name="Rounded Rectangle 3"/>
          <p:cNvSpPr/>
          <p:nvPr/>
        </p:nvSpPr>
        <p:spPr>
          <a:xfrm>
            <a:off x="502920" y="1828800"/>
            <a:ext cx="717804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a-attention-matrix.png"/>
          <p:cNvPicPr>
            <a:picLocks noChangeAspect="1"/>
          </p:cNvPicPr>
          <p:nvPr/>
        </p:nvPicPr>
        <p:blipFill>
          <a:blip r:embed="rId2"/>
          <a:stretch>
            <a:fillRect/>
          </a:stretch>
        </p:blipFill>
        <p:spPr>
          <a:xfrm>
            <a:off x="640080" y="1965960"/>
            <a:ext cx="6903720" cy="4434840"/>
          </a:xfrm>
          <a:prstGeom prst="rect">
            <a:avLst/>
          </a:prstGeom>
        </p:spPr>
      </p:pic>
      <p:sp>
        <p:nvSpPr>
          <p:cNvPr id="6" name="Rounded Rectangle 5"/>
          <p:cNvSpPr/>
          <p:nvPr/>
        </p:nvSpPr>
        <p:spPr>
          <a:xfrm>
            <a:off x="7818120" y="182880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8271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8271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412480" y="194767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Размерность</a:t>
            </a:r>
          </a:p>
        </p:txBody>
      </p:sp>
      <p:sp>
        <p:nvSpPr>
          <p:cNvPr id="10" name="TextBox 9"/>
          <p:cNvSpPr txBox="1"/>
          <p:nvPr/>
        </p:nvSpPr>
        <p:spPr>
          <a:xfrm>
            <a:off x="8001000" y="233172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N × N, где N — длина контекста.
Контекст 100k → матрица из ~10 млрд чисел.
→ квадратичная стоимость внимания.</a:t>
            </a:r>
          </a:p>
        </p:txBody>
      </p:sp>
      <p:sp>
        <p:nvSpPr>
          <p:cNvPr id="11" name="Rounded Rectangle 10"/>
          <p:cNvSpPr/>
          <p:nvPr/>
        </p:nvSpPr>
        <p:spPr>
          <a:xfrm>
            <a:off x="7818120" y="338328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354787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355701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412480" y="350215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На каждом шаге</a:t>
            </a:r>
          </a:p>
        </p:txBody>
      </p:sp>
      <p:sp>
        <p:nvSpPr>
          <p:cNvPr id="15" name="TextBox 14"/>
          <p:cNvSpPr txBox="1"/>
          <p:nvPr/>
        </p:nvSpPr>
        <p:spPr>
          <a:xfrm>
            <a:off x="8001000" y="388620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Матрица пересчитывается на каждом
новом токене генерации (не один раз).</a:t>
            </a:r>
          </a:p>
        </p:txBody>
      </p:sp>
      <p:sp>
        <p:nvSpPr>
          <p:cNvPr id="16" name="Rounded Rectangle 15"/>
          <p:cNvSpPr/>
          <p:nvPr/>
        </p:nvSpPr>
        <p:spPr>
          <a:xfrm>
            <a:off x="7818120" y="493776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82712" y="510235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511149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412480" y="505663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20" name="TextBox 19"/>
          <p:cNvSpPr txBox="1"/>
          <p:nvPr/>
        </p:nvSpPr>
        <p:spPr>
          <a:xfrm>
            <a:off x="8001000" y="544068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 одном слое — десятки таких матриц
параллельно. Разные «головы» смотрят
на грамматику, тему, дистанцию.</a:t>
            </a:r>
          </a:p>
        </p:txBody>
      </p:sp>
      <p:sp>
        <p:nvSpPr>
          <p:cNvPr id="21" name="Rounded Rectangle 20"/>
          <p:cNvSpPr/>
          <p:nvPr/>
        </p:nvSpPr>
        <p:spPr>
          <a:xfrm>
            <a:off x="502920" y="6629400"/>
            <a:ext cx="11247120" cy="1828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702552"/>
            <a:ext cx="10881360" cy="3657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Внимание — матричная, не линейная операция. Каждый токен сравнивается со всеми.</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r>
              <a:rPr sz="780" baseline="30000" b="0" i="1">
                <a:latin typeface="Arial"/>
                <a:cs typeface="Arial"/>
                <a:ea typeface="Arial"/>
                <a:solidFill>
                  <a:srgbClr val="1C7293"/>
                </a:solidFill>
              </a:rPr>
              <a:t>[1]</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свойства</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Метафора:
фонарик в тёмной
комнате — модель
«подсвечивает» одни
токены ярче других.</a:t>
            </a:r>
          </a:p>
        </p:txBody>
      </p:sp>
      <p:sp>
        <p:nvSpPr>
          <p:cNvPr id="20" name="TextBox 19"/>
          <p:cNvSpPr txBox="1"/>
          <p:nvPr/>
        </p:nvSpPr>
        <p:spPr>
          <a:xfrm>
            <a:off x="502920" y="6327648"/>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Без формул. Multi-head, Q/K/V — дополнительное чтение.</a:t>
            </a:r>
          </a:p>
        </p:txBody>
      </p:sp>
      <p:sp>
        <p:nvSpPr>
          <p:cNvPr id="21" name="TextBox 20"/>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Vaswani et al. (2017) — Attention Is All You Need</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весах внимания</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Разбор примера — куда смотрит «она»</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мышь</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была</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голодна</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реальная карта внимания — сотни связей. Модель смотрит статистически, не делает грамматический разбор.</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Без роли</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обобщённый ответ
(низкий вес role-токенов в весах внимания)</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С ролью</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role-токены подсвечены
(высокий вес в весах внимания)</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контекстного окна + квадратичная стоимость внимания</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базовое внимание</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Стоимость внимания растёт квадратично от длины. 1M ≈ 16× дороже 100k — production-pricing с batching; чистая N²-теория дала бы 100×.</a:t>
            </a:r>
            <a:r>
              <a:rPr sz="728" baseline="30000" b="0" i="1">
                <a:latin typeface="Arial"/>
                <a:cs typeface="Arial"/>
                <a:ea typeface="Arial"/>
                <a:solidFill>
                  <a:srgbClr val="1C7293"/>
                </a:solidFill>
              </a:rPr>
              <a:t>[1]</a:t>
            </a:r>
          </a:p>
        </p:txBody>
      </p:sp>
      <p:sp>
        <p:nvSpPr>
          <p:cNvPr id="20" name="TextBox 19"/>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контекстное окно моделей Claude</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r>
              <a:rPr sz="780" baseline="30000" b="0" i="1">
                <a:latin typeface="Arial"/>
                <a:cs typeface="Arial"/>
                <a:ea typeface="Arial"/>
                <a:solidFill>
                  <a:srgbClr val="1C7293"/>
                </a:solidFill>
              </a:rPr>
              <a:t>[1]</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5998464"/>
            <a:ext cx="11247120" cy="4572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071616"/>
            <a:ext cx="10881360" cy="31089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Инженерный вывод: важное помещайте в начало или в конец промпта, не в середину.</a:t>
            </a:r>
          </a:p>
        </p:txBody>
      </p:sp>
      <p:sp>
        <p:nvSpPr>
          <p:cNvPr id="19" name="TextBox 18"/>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Liu et al. (2023) — Lost in the Middle</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Сэмплинг</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От распределения к токену</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719072"/>
            <a:ext cx="3749039" cy="4498848"/>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83664"/>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496312"/>
            <a:ext cx="3200399" cy="2331720"/>
          </a:xfrm>
          <a:prstGeom prst="rect">
            <a:avLst/>
          </a:prstGeom>
        </p:spPr>
      </p:pic>
      <p:sp>
        <p:nvSpPr>
          <p:cNvPr id="7" name="TextBox 6"/>
          <p:cNvSpPr txBox="1"/>
          <p:nvPr/>
        </p:nvSpPr>
        <p:spPr>
          <a:xfrm>
            <a:off x="685800" y="4828031"/>
            <a:ext cx="3383279" cy="1325880"/>
          </a:xfrm>
          <a:prstGeom prst="rect">
            <a:avLst/>
          </a:prstGeom>
          <a:noFill/>
        </p:spPr>
        <p:txBody>
          <a:bodyPr wrap="square" lIns="0" rIns="0" tIns="0" bIns="0" anchor="t">
            <a:spAutoFit/>
          </a:bodyPr>
          <a:lstStyle/>
          <a:p>
            <a:pPr algn="ctr">
              <a:lnSpc>
                <a:spcPct val="124000"/>
              </a:lnSpc>
            </a:pPr>
            <a:r>
              <a:rPr sz="14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19072"/>
            <a:ext cx="3749039" cy="4498848"/>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883664"/>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496312"/>
            <a:ext cx="3200399" cy="2331720"/>
          </a:xfrm>
          <a:prstGeom prst="rect">
            <a:avLst/>
          </a:prstGeom>
        </p:spPr>
      </p:pic>
      <p:sp>
        <p:nvSpPr>
          <p:cNvPr id="11" name="TextBox 10"/>
          <p:cNvSpPr txBox="1"/>
          <p:nvPr/>
        </p:nvSpPr>
        <p:spPr>
          <a:xfrm>
            <a:off x="4526279" y="4828031"/>
            <a:ext cx="3383279" cy="1325880"/>
          </a:xfrm>
          <a:prstGeom prst="rect">
            <a:avLst/>
          </a:prstGeom>
          <a:noFill/>
        </p:spPr>
        <p:txBody>
          <a:bodyPr wrap="square" lIns="0" rIns="0" tIns="0" bIns="0" anchor="t">
            <a:spAutoFit/>
          </a:bodyPr>
          <a:lstStyle/>
          <a:p>
            <a:pPr algn="ctr">
              <a:lnSpc>
                <a:spcPct val="124000"/>
              </a:lnSpc>
            </a:pPr>
            <a:r>
              <a:rPr sz="1400" b="0" i="1">
                <a:solidFill>
                  <a:srgbClr val="21295C"/>
                </a:solidFill>
                <a:latin typeface="Arial"/>
              </a:rPr>
              <a:t>Сэмплирование
пропорционально P.
Естественная вариативность.
(T = 0.7 — стандартный выбор для чата)</a:t>
            </a:r>
          </a:p>
        </p:txBody>
      </p:sp>
      <p:sp>
        <p:nvSpPr>
          <p:cNvPr id="12" name="Rounded Rectangle 11"/>
          <p:cNvSpPr/>
          <p:nvPr/>
        </p:nvSpPr>
        <p:spPr>
          <a:xfrm>
            <a:off x="8183879" y="1719072"/>
            <a:ext cx="3749039" cy="4498848"/>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883664"/>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496312"/>
            <a:ext cx="3200399" cy="2331720"/>
          </a:xfrm>
          <a:prstGeom prst="rect">
            <a:avLst/>
          </a:prstGeom>
        </p:spPr>
      </p:pic>
      <p:sp>
        <p:nvSpPr>
          <p:cNvPr id="15" name="TextBox 14"/>
          <p:cNvSpPr txBox="1"/>
          <p:nvPr/>
        </p:nvSpPr>
        <p:spPr>
          <a:xfrm>
            <a:off x="8366759" y="4828031"/>
            <a:ext cx="3383279" cy="1325880"/>
          </a:xfrm>
          <a:prstGeom prst="rect">
            <a:avLst/>
          </a:prstGeom>
          <a:noFill/>
        </p:spPr>
        <p:txBody>
          <a:bodyPr wrap="square" lIns="0" rIns="0" tIns="0" bIns="0" anchor="t">
            <a:spAutoFit/>
          </a:bodyPr>
          <a:lstStyle/>
          <a:p>
            <a:pPr algn="ctr">
              <a:lnSpc>
                <a:spcPct val="124000"/>
              </a:lnSpc>
            </a:pPr>
            <a:r>
              <a:rPr sz="14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272784"/>
            <a:ext cx="11247120" cy="27432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345936"/>
            <a:ext cx="10917936" cy="128015"/>
          </a:xfrm>
          <a:prstGeom prst="rect">
            <a:avLst/>
          </a:prstGeom>
          <a:noFill/>
        </p:spPr>
        <p:txBody>
          <a:bodyPr wrap="square" lIns="0" rIns="0" tIns="0" bIns="0" anchor="ctr">
            <a:spAutoFit/>
          </a:bodyPr>
          <a:lstStyle/>
          <a:p>
            <a:pPr algn="l">
              <a:lnSpc>
                <a:spcPct val="125000"/>
              </a:lnSpc>
            </a:pPr>
            <a:r>
              <a:rPr sz="1200" b="0" i="0">
                <a:solidFill>
                  <a:srgbClr val="21295C"/>
                </a:solidFill>
                <a:latin typeface="Arial"/>
              </a:rPr>
              <a:t>Альтернативные ручки: top-p (nucleus) — отрезает редкие токены по Σ; top-k — по числу кандидатов. Достаточно T для start.</a:t>
            </a:r>
            <a:r>
              <a:rPr sz="624" baseline="30000" b="0" i="1">
                <a:latin typeface="Arial"/>
                <a:cs typeface="Arial"/>
                <a:ea typeface="Arial"/>
                <a:solidFill>
                  <a:srgbClr val="1C7293"/>
                </a:solidFill>
              </a:rPr>
              <a:t>[1]</a:t>
            </a:r>
          </a:p>
        </p:txBody>
      </p:sp>
      <p:sp>
        <p:nvSpPr>
          <p:cNvPr id="18" name="TextBox 17"/>
          <p:cNvSpPr txBox="1"/>
          <p:nvPr/>
        </p:nvSpPr>
        <p:spPr>
          <a:xfrm>
            <a:off x="502920" y="6583680"/>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Holtzman et al. (2019) — nucleus sampling (top-p)</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
        <p:nvSpPr>
          <p:cNvPr id="56" name="TextBox 5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Текущий
контекст</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история
+ запрос + уже
сгенерированное</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Прямой
проход</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токенизация →
эмбеддинг →
внимание</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Распределение</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вероятности
на ~200k токенов
словаря</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Сэмплинг</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один токен
по правилу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Новый токен
добавлен в контекст</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...и цикл
продолжается</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828800"/>
            <a:ext cx="5486400" cy="4526280"/>
          </a:xfrm>
          <a:prstGeom prst="roundRect">
            <a:avLst>
              <a:gd name="adj" fmla="val 6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1–13B параметров</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r>
              <a:rPr sz="780" baseline="30000" b="0" i="1">
                <a:latin typeface="Liberation Mono"/>
                <a:cs typeface="Liberation Mono"/>
                <a:ea typeface="Liberation Mono"/>
                <a:solidFill>
                  <a:srgbClr val="1C7293"/>
                </a:solidFill>
              </a:rPr>
              <a:t>[1]</a:t>
            </a:r>
          </a:p>
        </p:txBody>
      </p:sp>
      <p:sp>
        <p:nvSpPr>
          <p:cNvPr id="8" name="Rounded Rectangle 7"/>
          <p:cNvSpPr/>
          <p:nvPr/>
        </p:nvSpPr>
        <p:spPr>
          <a:xfrm>
            <a:off x="777240" y="453542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38912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Приватность</a:t>
            </a:r>
          </a:p>
        </p:txBody>
      </p:sp>
      <p:sp>
        <p:nvSpPr>
          <p:cNvPr id="10" name="TextBox 9"/>
          <p:cNvSpPr txBox="1"/>
          <p:nvPr/>
        </p:nvSpPr>
        <p:spPr>
          <a:xfrm>
            <a:off x="2971800" y="438912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запросы не уходят провайдеру</a:t>
            </a:r>
          </a:p>
        </p:txBody>
      </p:sp>
      <p:sp>
        <p:nvSpPr>
          <p:cNvPr id="11" name="Rounded Rectangle 10"/>
          <p:cNvSpPr/>
          <p:nvPr/>
        </p:nvSpPr>
        <p:spPr>
          <a:xfrm>
            <a:off x="777240" y="5010912"/>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864608"/>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Скорость</a:t>
            </a:r>
          </a:p>
        </p:txBody>
      </p:sp>
      <p:sp>
        <p:nvSpPr>
          <p:cNvPr id="13" name="TextBox 12"/>
          <p:cNvSpPr txBox="1"/>
          <p:nvPr/>
        </p:nvSpPr>
        <p:spPr>
          <a:xfrm>
            <a:off x="2971800" y="4864608"/>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медленнее на consumer hardware</a:t>
            </a:r>
          </a:p>
        </p:txBody>
      </p:sp>
      <p:sp>
        <p:nvSpPr>
          <p:cNvPr id="14" name="Rounded Rectangle 13"/>
          <p:cNvSpPr/>
          <p:nvPr/>
        </p:nvSpPr>
        <p:spPr>
          <a:xfrm>
            <a:off x="777240" y="54864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3400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16" name="TextBox 15"/>
          <p:cNvSpPr txBox="1"/>
          <p:nvPr/>
        </p:nvSpPr>
        <p:spPr>
          <a:xfrm>
            <a:off x="2971800" y="53400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ограниченное окно</a:t>
            </a:r>
          </a:p>
        </p:txBody>
      </p:sp>
      <p:sp>
        <p:nvSpPr>
          <p:cNvPr id="17" name="Rounded Rectangle 16"/>
          <p:cNvSpPr/>
          <p:nvPr/>
        </p:nvSpPr>
        <p:spPr>
          <a:xfrm>
            <a:off x="777240" y="596188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5815583"/>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19" name="TextBox 18"/>
          <p:cNvSpPr txBox="1"/>
          <p:nvPr/>
        </p:nvSpPr>
        <p:spPr>
          <a:xfrm>
            <a:off x="2971800" y="5815583"/>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за токен (своё железо)</a:t>
            </a:r>
          </a:p>
        </p:txBody>
      </p:sp>
      <p:sp>
        <p:nvSpPr>
          <p:cNvPr id="20" name="Rounded Rectangle 19"/>
          <p:cNvSpPr/>
          <p:nvPr/>
        </p:nvSpPr>
        <p:spPr>
          <a:xfrm>
            <a:off x="6263640" y="1828800"/>
            <a:ext cx="5486400" cy="4526280"/>
          </a:xfrm>
          <a:prstGeom prst="roundRect">
            <a:avLst>
              <a:gd name="adj" fmla="val 6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Сбер)</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200B+ параметров</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3542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38912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Качество</a:t>
            </a:r>
          </a:p>
        </p:txBody>
      </p:sp>
      <p:sp>
        <p:nvSpPr>
          <p:cNvPr id="26" name="TextBox 25"/>
          <p:cNvSpPr txBox="1"/>
          <p:nvPr/>
        </p:nvSpPr>
        <p:spPr>
          <a:xfrm>
            <a:off x="8732520" y="438912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лучше на сложных задачах</a:t>
            </a:r>
          </a:p>
        </p:txBody>
      </p:sp>
      <p:sp>
        <p:nvSpPr>
          <p:cNvPr id="27" name="Rounded Rectangle 26"/>
          <p:cNvSpPr/>
          <p:nvPr/>
        </p:nvSpPr>
        <p:spPr>
          <a:xfrm>
            <a:off x="6537959" y="5010912"/>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864608"/>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Задержка</a:t>
            </a:r>
          </a:p>
        </p:txBody>
      </p:sp>
      <p:sp>
        <p:nvSpPr>
          <p:cNvPr id="29" name="TextBox 28"/>
          <p:cNvSpPr txBox="1"/>
          <p:nvPr/>
        </p:nvSpPr>
        <p:spPr>
          <a:xfrm>
            <a:off x="8732520" y="4864608"/>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мс</a:t>
            </a:r>
          </a:p>
        </p:txBody>
      </p:sp>
      <p:sp>
        <p:nvSpPr>
          <p:cNvPr id="30" name="Rounded Rectangle 29"/>
          <p:cNvSpPr/>
          <p:nvPr/>
        </p:nvSpPr>
        <p:spPr>
          <a:xfrm>
            <a:off x="6537959" y="54864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3400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32" name="TextBox 31"/>
          <p:cNvSpPr txBox="1"/>
          <p:nvPr/>
        </p:nvSpPr>
        <p:spPr>
          <a:xfrm>
            <a:off x="8732520" y="53400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до 1M токенов</a:t>
            </a:r>
          </a:p>
        </p:txBody>
      </p:sp>
      <p:sp>
        <p:nvSpPr>
          <p:cNvPr id="33" name="Rounded Rectangle 32"/>
          <p:cNvSpPr/>
          <p:nvPr/>
        </p:nvSpPr>
        <p:spPr>
          <a:xfrm>
            <a:off x="6537959" y="596188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5815583"/>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35" name="TextBox 34"/>
          <p:cNvSpPr txBox="1"/>
          <p:nvPr/>
        </p:nvSpPr>
        <p:spPr>
          <a:xfrm>
            <a:off x="8732520" y="5815583"/>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оплата за токены, RU ≈ 2× EN</a:t>
            </a:r>
          </a:p>
        </p:txBody>
      </p:sp>
      <p:sp>
        <p:nvSpPr>
          <p:cNvPr id="36" name="TextBox 35"/>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Mistral AI — Mistral 7B</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Финал</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Закрытие 3 «почему» + мост к Лекции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Финал</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pic>
        <p:nvPicPr>
          <p:cNvPr id="7" name="Picture 6" descr="binary.png"/>
          <p:cNvPicPr>
            <a:picLocks noChangeAspect="1"/>
          </p:cNvPicPr>
          <p:nvPr/>
        </p:nvPicPr>
        <p:blipFill>
          <a:blip r:embed="rId2"/>
          <a:stretch>
            <a:fillRect/>
          </a:stretch>
        </p:blipFill>
        <p:spPr>
          <a:xfrm>
            <a:off x="1474470" y="3337560"/>
            <a:ext cx="548640" cy="548640"/>
          </a:xfrm>
          <a:prstGeom prst="rect">
            <a:avLst/>
          </a:prstGeom>
        </p:spPr>
      </p:pic>
      <p:sp>
        <p:nvSpPr>
          <p:cNvPr id="8" name="TextBox 7"/>
          <p:cNvSpPr txBox="1"/>
          <p:nvPr/>
        </p:nvSpPr>
        <p:spPr>
          <a:xfrm>
            <a:off x="59436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9" name="TextBox 8"/>
          <p:cNvSpPr txBox="1"/>
          <p:nvPr/>
        </p:nvSpPr>
        <p:spPr>
          <a:xfrm>
            <a:off x="59436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Текст → id
из словаря (BPE)</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7195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pic>
        <p:nvPicPr>
          <p:cNvPr id="14" name="Picture 13" descr="scaling.png"/>
          <p:cNvPicPr>
            <a:picLocks noChangeAspect="1"/>
          </p:cNvPicPr>
          <p:nvPr/>
        </p:nvPicPr>
        <p:blipFill>
          <a:blip r:embed="rId3"/>
          <a:stretch>
            <a:fillRect/>
          </a:stretch>
        </p:blipFill>
        <p:spPr>
          <a:xfrm>
            <a:off x="4286250" y="3337560"/>
            <a:ext cx="548640" cy="548640"/>
          </a:xfrm>
          <a:prstGeom prst="rect">
            <a:avLst/>
          </a:prstGeom>
        </p:spPr>
      </p:pic>
      <p:sp>
        <p:nvSpPr>
          <p:cNvPr id="15" name="TextBox 14"/>
          <p:cNvSpPr txBox="1"/>
          <p:nvPr/>
        </p:nvSpPr>
        <p:spPr>
          <a:xfrm>
            <a:off x="340614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6" name="TextBox 15"/>
          <p:cNvSpPr txBox="1"/>
          <p:nvPr/>
        </p:nvSpPr>
        <p:spPr>
          <a:xfrm>
            <a:off x="340614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id → вектор
из обученной таблицы</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8373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pic>
        <p:nvPicPr>
          <p:cNvPr id="21" name="Picture 20" descr="focus.png"/>
          <p:cNvPicPr>
            <a:picLocks noChangeAspect="1"/>
          </p:cNvPicPr>
          <p:nvPr/>
        </p:nvPicPr>
        <p:blipFill>
          <a:blip r:embed="rId4"/>
          <a:stretch>
            <a:fillRect/>
          </a:stretch>
        </p:blipFill>
        <p:spPr>
          <a:xfrm>
            <a:off x="7098030" y="3337560"/>
            <a:ext cx="548640" cy="548640"/>
          </a:xfrm>
          <a:prstGeom prst="rect">
            <a:avLst/>
          </a:prstGeom>
        </p:spPr>
      </p:pic>
      <p:sp>
        <p:nvSpPr>
          <p:cNvPr id="22" name="TextBox 21"/>
          <p:cNvSpPr txBox="1"/>
          <p:nvPr/>
        </p:nvSpPr>
        <p:spPr>
          <a:xfrm>
            <a:off x="621792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3" name="TextBox 22"/>
          <p:cNvSpPr txBox="1"/>
          <p:nvPr/>
        </p:nvSpPr>
        <p:spPr>
          <a:xfrm>
            <a:off x="621792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весов на контекст</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551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pic>
        <p:nvPicPr>
          <p:cNvPr id="28" name="Picture 27" descr="sparkles.png"/>
          <p:cNvPicPr>
            <a:picLocks noChangeAspect="1"/>
          </p:cNvPicPr>
          <p:nvPr/>
        </p:nvPicPr>
        <p:blipFill>
          <a:blip r:embed="rId5"/>
          <a:stretch>
            <a:fillRect/>
          </a:stretch>
        </p:blipFill>
        <p:spPr>
          <a:xfrm>
            <a:off x="9909810" y="3337560"/>
            <a:ext cx="548640" cy="548640"/>
          </a:xfrm>
          <a:prstGeom prst="rect">
            <a:avLst/>
          </a:prstGeom>
        </p:spPr>
      </p:pic>
      <p:sp>
        <p:nvSpPr>
          <p:cNvPr id="29" name="TextBox 28"/>
          <p:cNvSpPr txBox="1"/>
          <p:nvPr/>
        </p:nvSpPr>
        <p:spPr>
          <a:xfrm>
            <a:off x="902970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30" name="TextBox 29"/>
          <p:cNvSpPr txBox="1"/>
          <p:nvPr/>
        </p:nvSpPr>
        <p:spPr>
          <a:xfrm>
            <a:off x="902970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
один токен (T / p / k)</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называла этот конвейер «inference моделью» — чёрным ящиком. Теперь он перестал быть чёрным.</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Ответы на вопросы из начала лекции</a:t>
            </a:r>
          </a:p>
        </p:txBody>
      </p:sp>
      <p:sp>
        <p:nvSpPr>
          <p:cNvPr id="3" name="Rounded Rectangle 2"/>
          <p:cNvSpPr/>
          <p:nvPr/>
        </p:nvSpPr>
        <p:spPr>
          <a:xfrm>
            <a:off x="502920" y="1417320"/>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73936"/>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pic>
        <p:nvPicPr>
          <p:cNvPr id="6" name="Picture 5" descr="focus.png"/>
          <p:cNvPicPr>
            <a:picLocks noChangeAspect="1"/>
          </p:cNvPicPr>
          <p:nvPr/>
        </p:nvPicPr>
        <p:blipFill>
          <a:blip r:embed="rId2"/>
          <a:stretch>
            <a:fillRect/>
          </a:stretch>
        </p:blipFill>
        <p:spPr>
          <a:xfrm>
            <a:off x="10515600" y="1892808"/>
            <a:ext cx="731520" cy="731520"/>
          </a:xfrm>
          <a:prstGeom prst="rect">
            <a:avLst/>
          </a:prstGeom>
        </p:spPr>
      </p:pic>
      <p:sp>
        <p:nvSpPr>
          <p:cNvPr id="7" name="TextBox 6"/>
          <p:cNvSpPr txBox="1"/>
          <p:nvPr/>
        </p:nvSpPr>
        <p:spPr>
          <a:xfrm>
            <a:off x="1965960" y="1645920"/>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промпт с ролью работает лучше пустого?</a:t>
            </a:r>
          </a:p>
        </p:txBody>
      </p:sp>
      <p:sp>
        <p:nvSpPr>
          <p:cNvPr id="8" name="TextBox 7"/>
          <p:cNvSpPr txBox="1"/>
          <p:nvPr/>
        </p:nvSpPr>
        <p:spPr>
          <a:xfrm>
            <a:off x="1965960" y="2240280"/>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На уровне внимания role-токены получают высокий вес — модель опирается на них при выборе следующих токенов.</a:t>
            </a:r>
          </a:p>
        </p:txBody>
      </p:sp>
      <p:sp>
        <p:nvSpPr>
          <p:cNvPr id="9" name="Rounded Rectangle 8"/>
          <p:cNvSpPr/>
          <p:nvPr/>
        </p:nvSpPr>
        <p:spPr>
          <a:xfrm>
            <a:off x="502920" y="3273552"/>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11880"/>
            <a:ext cx="1005840" cy="10058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3016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pic>
        <p:nvPicPr>
          <p:cNvPr id="12" name="Picture 11" descr="binary.png"/>
          <p:cNvPicPr>
            <a:picLocks noChangeAspect="1"/>
          </p:cNvPicPr>
          <p:nvPr/>
        </p:nvPicPr>
        <p:blipFill>
          <a:blip r:embed="rId3"/>
          <a:stretch>
            <a:fillRect/>
          </a:stretch>
        </p:blipFill>
        <p:spPr>
          <a:xfrm>
            <a:off x="10515600" y="3749039"/>
            <a:ext cx="731520" cy="731520"/>
          </a:xfrm>
          <a:prstGeom prst="rect">
            <a:avLst/>
          </a:prstGeom>
        </p:spPr>
      </p:pic>
      <p:sp>
        <p:nvSpPr>
          <p:cNvPr id="13" name="TextBox 12"/>
          <p:cNvSpPr txBox="1"/>
          <p:nvPr/>
        </p:nvSpPr>
        <p:spPr>
          <a:xfrm>
            <a:off x="1965960" y="3502152"/>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AI плохо считает буквы?</a:t>
            </a:r>
          </a:p>
        </p:txBody>
      </p:sp>
      <p:sp>
        <p:nvSpPr>
          <p:cNvPr id="14" name="TextBox 13"/>
          <p:cNvSpPr txBox="1"/>
          <p:nvPr/>
        </p:nvSpPr>
        <p:spPr>
          <a:xfrm>
            <a:off x="1965960" y="4096512"/>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5" name="Rounded Rectangle 14"/>
          <p:cNvSpPr/>
          <p:nvPr/>
        </p:nvSpPr>
        <p:spPr>
          <a:xfrm>
            <a:off x="502920" y="5129784"/>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468112"/>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486400"/>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pic>
        <p:nvPicPr>
          <p:cNvPr id="18" name="Picture 17" descr="sparkles.png"/>
          <p:cNvPicPr>
            <a:picLocks noChangeAspect="1"/>
          </p:cNvPicPr>
          <p:nvPr/>
        </p:nvPicPr>
        <p:blipFill>
          <a:blip r:embed="rId4"/>
          <a:stretch>
            <a:fillRect/>
          </a:stretch>
        </p:blipFill>
        <p:spPr>
          <a:xfrm>
            <a:off x="10515600" y="5605272"/>
            <a:ext cx="731520" cy="731520"/>
          </a:xfrm>
          <a:prstGeom prst="rect">
            <a:avLst/>
          </a:prstGeom>
        </p:spPr>
      </p:pic>
      <p:sp>
        <p:nvSpPr>
          <p:cNvPr id="19" name="TextBox 18"/>
          <p:cNvSpPr txBox="1"/>
          <p:nvPr/>
        </p:nvSpPr>
        <p:spPr>
          <a:xfrm>
            <a:off x="1965960" y="5358384"/>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один и тот же запрос даёт разные ответы?</a:t>
            </a:r>
          </a:p>
        </p:txBody>
      </p:sp>
      <p:sp>
        <p:nvSpPr>
          <p:cNvPr id="20" name="TextBox 19"/>
          <p:cNvSpPr txBox="1"/>
          <p:nvPr/>
        </p:nvSpPr>
        <p:spPr>
          <a:xfrm>
            <a:off x="1965960" y="5952744"/>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Когда LLM — не правильный инструмент: дерево решений</a:t>
            </a:r>
          </a:p>
        </p:txBody>
      </p:sp>
      <p:sp>
        <p:nvSpPr>
          <p:cNvPr id="3" name="Rounded Rectangle 2"/>
          <p:cNvSpPr/>
          <p:nvPr/>
        </p:nvSpPr>
        <p:spPr>
          <a:xfrm>
            <a:off x="3169767" y="1234440"/>
            <a:ext cx="5852160" cy="73152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69767" y="1234440"/>
            <a:ext cx="5852160" cy="731520"/>
          </a:xfrm>
          <a:prstGeom prst="rect">
            <a:avLst/>
          </a:prstGeom>
          <a:noFill/>
        </p:spPr>
        <p:txBody>
          <a:bodyPr wrap="square" lIns="0" rIns="0" tIns="0" bIns="0" anchor="ctr">
            <a:spAutoFit/>
          </a:bodyPr>
          <a:lstStyle/>
          <a:p>
            <a:pPr algn="ctr">
              <a:lnSpc>
                <a:spcPct val="115000"/>
              </a:lnSpc>
            </a:pPr>
            <a:r>
              <a:rPr sz="1900" b="1" i="0">
                <a:solidFill>
                  <a:srgbClr val="21295C"/>
                </a:solidFill>
                <a:latin typeface="Arial"/>
              </a:rPr>
              <a:t>Когда LLM — не правильный инструмент?</a:t>
            </a:r>
          </a:p>
        </p:txBody>
      </p:sp>
      <p:sp>
        <p:nvSpPr>
          <p:cNvPr id="5" name="Rectangle 4"/>
          <p:cNvSpPr/>
          <p:nvPr/>
        </p:nvSpPr>
        <p:spPr>
          <a:xfrm>
            <a:off x="229057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10800000">
            <a:off x="221742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pu.png"/>
          <p:cNvPicPr>
            <a:picLocks noChangeAspect="1"/>
          </p:cNvPicPr>
          <p:nvPr/>
        </p:nvPicPr>
        <p:blipFill>
          <a:blip r:embed="rId2"/>
          <a:stretch>
            <a:fillRect/>
          </a:stretch>
        </p:blipFill>
        <p:spPr>
          <a:xfrm>
            <a:off x="731520" y="2697480"/>
            <a:ext cx="868680" cy="868680"/>
          </a:xfrm>
          <a:prstGeom prst="rect">
            <a:avLst/>
          </a:prstGeom>
        </p:spPr>
      </p:pic>
      <p:sp>
        <p:nvSpPr>
          <p:cNvPr id="9" name="TextBox 8"/>
          <p:cNvSpPr txBox="1"/>
          <p:nvPr/>
        </p:nvSpPr>
        <p:spPr>
          <a:xfrm>
            <a:off x="173736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Фиксированные классы</a:t>
            </a:r>
          </a:p>
        </p:txBody>
      </p:sp>
      <p:sp>
        <p:nvSpPr>
          <p:cNvPr id="10" name="TextBox 9"/>
          <p:cNvSpPr txBox="1"/>
          <p:nvPr/>
        </p:nvSpPr>
        <p:spPr>
          <a:xfrm>
            <a:off x="73152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Классификация на маленьком наборе категорий (5–20)?</a:t>
            </a:r>
          </a:p>
        </p:txBody>
      </p:sp>
      <p:sp>
        <p:nvSpPr>
          <p:cNvPr id="11" name="TextBox 10"/>
          <p:cNvSpPr txBox="1"/>
          <p:nvPr/>
        </p:nvSpPr>
        <p:spPr>
          <a:xfrm>
            <a:off x="73152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Классический ML
лог. регрессия, XGBoost,
LightGBM, дообученный BERT</a:t>
            </a:r>
          </a:p>
        </p:txBody>
      </p:sp>
      <p:sp>
        <p:nvSpPr>
          <p:cNvPr id="12" name="Rectangle 11"/>
          <p:cNvSpPr/>
          <p:nvPr/>
        </p:nvSpPr>
        <p:spPr>
          <a:xfrm>
            <a:off x="608533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rot="10800000">
            <a:off x="601218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9768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3"/>
          <a:stretch>
            <a:fillRect/>
          </a:stretch>
        </p:blipFill>
        <p:spPr>
          <a:xfrm>
            <a:off x="4526280" y="2697480"/>
            <a:ext cx="868680" cy="868680"/>
          </a:xfrm>
          <a:prstGeom prst="rect">
            <a:avLst/>
          </a:prstGeom>
        </p:spPr>
      </p:pic>
      <p:sp>
        <p:nvSpPr>
          <p:cNvPr id="16" name="TextBox 15"/>
          <p:cNvSpPr txBox="1"/>
          <p:nvPr/>
        </p:nvSpPr>
        <p:spPr>
          <a:xfrm>
            <a:off x="553212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Интерпрети- руемость</a:t>
            </a:r>
          </a:p>
        </p:txBody>
      </p:sp>
      <p:sp>
        <p:nvSpPr>
          <p:cNvPr id="17" name="TextBox 16"/>
          <p:cNvSpPr txBox="1"/>
          <p:nvPr/>
        </p:nvSpPr>
        <p:spPr>
          <a:xfrm>
            <a:off x="452628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Нужна интерпретируемость
(финансы, медицина, страхование)?</a:t>
            </a:r>
          </a:p>
        </p:txBody>
      </p:sp>
      <p:sp>
        <p:nvSpPr>
          <p:cNvPr id="18" name="TextBox 17"/>
          <p:cNvSpPr txBox="1"/>
          <p:nvPr/>
        </p:nvSpPr>
        <p:spPr>
          <a:xfrm>
            <a:off x="452628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Прозрачные методы
лог. регрессия + важность,
деревья решений, правила</a:t>
            </a:r>
          </a:p>
        </p:txBody>
      </p:sp>
      <p:sp>
        <p:nvSpPr>
          <p:cNvPr id="19" name="Rectangle 18"/>
          <p:cNvSpPr/>
          <p:nvPr/>
        </p:nvSpPr>
        <p:spPr>
          <a:xfrm>
            <a:off x="988009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Isosceles Triangle 19"/>
          <p:cNvSpPr/>
          <p:nvPr/>
        </p:nvSpPr>
        <p:spPr>
          <a:xfrm rot="10800000">
            <a:off x="980694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9244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auge.png"/>
          <p:cNvPicPr>
            <a:picLocks noChangeAspect="1"/>
          </p:cNvPicPr>
          <p:nvPr/>
        </p:nvPicPr>
        <p:blipFill>
          <a:blip r:embed="rId4"/>
          <a:stretch>
            <a:fillRect/>
          </a:stretch>
        </p:blipFill>
        <p:spPr>
          <a:xfrm>
            <a:off x="8321040" y="2697480"/>
            <a:ext cx="868680" cy="868680"/>
          </a:xfrm>
          <a:prstGeom prst="rect">
            <a:avLst/>
          </a:prstGeom>
        </p:spPr>
      </p:pic>
      <p:sp>
        <p:nvSpPr>
          <p:cNvPr id="23" name="TextBox 22"/>
          <p:cNvSpPr txBox="1"/>
          <p:nvPr/>
        </p:nvSpPr>
        <p:spPr>
          <a:xfrm>
            <a:off x="932688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Скорость отклика</a:t>
            </a:r>
          </a:p>
        </p:txBody>
      </p:sp>
      <p:sp>
        <p:nvSpPr>
          <p:cNvPr id="24" name="TextBox 23"/>
          <p:cNvSpPr txBox="1"/>
          <p:nvPr/>
        </p:nvSpPr>
        <p:spPr>
          <a:xfrm>
            <a:off x="832104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Время отклика &lt; 100 мс критично
(антифрод, устройство пользователя)?</a:t>
            </a:r>
          </a:p>
        </p:txBody>
      </p:sp>
      <p:sp>
        <p:nvSpPr>
          <p:cNvPr id="25" name="TextBox 24"/>
          <p:cNvSpPr txBox="1"/>
          <p:nvPr/>
        </p:nvSpPr>
        <p:spPr>
          <a:xfrm>
            <a:off x="832104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Специализированная
маленькая модель
(не LLM ≥200 мс)</a:t>
            </a:r>
          </a:p>
        </p:txBody>
      </p:sp>
      <p:sp>
        <p:nvSpPr>
          <p:cNvPr id="26" name="Rectangle 25"/>
          <p:cNvSpPr/>
          <p:nvPr/>
        </p:nvSpPr>
        <p:spPr>
          <a:xfrm>
            <a:off x="229057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533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8009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12367" y="6080760"/>
            <a:ext cx="9966960" cy="594360"/>
          </a:xfrm>
          <a:prstGeom prst="roundRect">
            <a:avLst>
              <a:gd name="adj" fmla="val 5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2367" y="6080760"/>
            <a:ext cx="9966960" cy="594360"/>
          </a:xfrm>
          <a:prstGeom prst="rect">
            <a:avLst/>
          </a:prstGeom>
          <a:noFill/>
        </p:spPr>
        <p:txBody>
          <a:bodyPr wrap="square" lIns="0" rIns="0" tIns="0" bIns="0" anchor="ctr">
            <a:spAutoFit/>
          </a:bodyPr>
          <a:lstStyle/>
          <a:p>
            <a:pPr algn="ctr">
              <a:lnSpc>
                <a:spcPct val="115000"/>
              </a:lnSpc>
            </a:pPr>
            <a:r>
              <a:rPr sz="1600" b="1" i="0">
                <a:solidFill>
                  <a:srgbClr val="21295C"/>
                </a:solidFill>
                <a:latin typeface="Arial"/>
              </a:rPr>
              <a:t>Иначе — LLM подходит (chat, RAG, generation, многошаговое рассуждение)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ИИ считает корреляции в данных, не строит каузальный граф</a:t>
            </a:r>
          </a:p>
        </p:txBody>
      </p:sp>
      <p:sp>
        <p:nvSpPr>
          <p:cNvPr id="4" name="Rounded Rectangle 3"/>
          <p:cNvSpPr/>
          <p:nvPr/>
        </p:nvSpPr>
        <p:spPr>
          <a:xfrm>
            <a:off x="50292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011680"/>
            <a:ext cx="1051560" cy="1051560"/>
          </a:xfrm>
          <a:prstGeom prst="rect">
            <a:avLst/>
          </a:prstGeom>
        </p:spPr>
      </p:pic>
      <p:sp>
        <p:nvSpPr>
          <p:cNvPr id="6" name="TextBox 5"/>
          <p:cNvSpPr txBox="1"/>
          <p:nvPr/>
        </p:nvSpPr>
        <p:spPr>
          <a:xfrm>
            <a:off x="192024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Человек</a:t>
            </a:r>
          </a:p>
        </p:txBody>
      </p:sp>
      <p:sp>
        <p:nvSpPr>
          <p:cNvPr id="7" name="TextBox 6"/>
          <p:cNvSpPr txBox="1"/>
          <p:nvPr/>
        </p:nvSpPr>
        <p:spPr>
          <a:xfrm>
            <a:off x="777240"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9" name="TextBox 8"/>
          <p:cNvSpPr txBox="1"/>
          <p:nvPr/>
        </p:nvSpPr>
        <p:spPr>
          <a:xfrm>
            <a:off x="777240" y="4846320"/>
            <a:ext cx="4937760" cy="1463040"/>
          </a:xfrm>
          <a:prstGeom prst="rect">
            <a:avLst/>
          </a:prstGeom>
          <a:noFill/>
        </p:spPr>
        <p:txBody>
          <a:bodyPr wrap="square" lIns="0" rIns="0" tIns="0" bIns="0" anchor="t">
            <a:spAutoFit/>
          </a:bodyPr>
          <a:lstStyle/>
          <a:p>
            <a:pPr algn="l">
              <a:lnSpc>
                <a:spcPct val="128000"/>
              </a:lnSpc>
            </a:pPr>
            <a:r>
              <a:rPr sz="1600" b="0" i="1">
                <a:solidFill>
                  <a:srgbClr val="21295C"/>
                </a:solidFill>
                <a:latin typeface="Arial"/>
              </a:rPr>
              <a:t>Опирается на физическую интуицию, доменные знания, знание механизмов мира. Для причинных выводов нужен именно этот опыт — не статистика.</a:t>
            </a:r>
          </a:p>
        </p:txBody>
      </p:sp>
      <p:sp>
        <p:nvSpPr>
          <p:cNvPr id="10" name="Rounded Rectangle 9"/>
          <p:cNvSpPr/>
          <p:nvPr/>
        </p:nvSpPr>
        <p:spPr>
          <a:xfrm>
            <a:off x="626364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2011680"/>
            <a:ext cx="1051560" cy="1051560"/>
          </a:xfrm>
          <a:prstGeom prst="rect">
            <a:avLst/>
          </a:prstGeom>
        </p:spPr>
      </p:pic>
      <p:sp>
        <p:nvSpPr>
          <p:cNvPr id="12" name="TextBox 11"/>
          <p:cNvSpPr txBox="1"/>
          <p:nvPr/>
        </p:nvSpPr>
        <p:spPr>
          <a:xfrm>
            <a:off x="768096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ИИ (через внимание)</a:t>
            </a:r>
          </a:p>
        </p:txBody>
      </p:sp>
      <p:sp>
        <p:nvSpPr>
          <p:cNvPr id="13" name="TextBox 12"/>
          <p:cNvSpPr txBox="1"/>
          <p:nvPr/>
        </p:nvSpPr>
        <p:spPr>
          <a:xfrm>
            <a:off x="6537959"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r>
              <a:rPr sz="936" baseline="30000" b="0" i="1">
                <a:latin typeface="Arial"/>
                <a:cs typeface="Arial"/>
                <a:ea typeface="Arial"/>
                <a:solidFill>
                  <a:srgbClr val="1C7293"/>
                </a:solidFill>
              </a:rPr>
              <a:t>[1]</a:t>
            </a:r>
          </a:p>
        </p:txBody>
      </p:sp>
      <p:sp>
        <p:nvSpPr>
          <p:cNvPr id="15" name="TextBox 14"/>
          <p:cNvSpPr txBox="1"/>
          <p:nvPr/>
        </p:nvSpPr>
        <p:spPr>
          <a:xfrm>
            <a:off x="6537959" y="4846320"/>
            <a:ext cx="4937760" cy="1463040"/>
          </a:xfrm>
          <a:prstGeom prst="rect">
            <a:avLst/>
          </a:prstGeom>
          <a:noFill/>
        </p:spPr>
        <p:txBody>
          <a:bodyPr wrap="square" lIns="0" rIns="0" tIns="0" bIns="0" anchor="t">
            <a:spAutoFit/>
          </a:bodyPr>
          <a:lstStyle/>
          <a:p>
            <a:pPr algn="l">
              <a:lnSpc>
                <a:spcPct val="128000"/>
              </a:lnSpc>
            </a:pPr>
            <a:r>
              <a:rPr sz="1600" b="0" i="1">
                <a:solidFill>
                  <a:srgbClr val="21295C"/>
                </a:solidFill>
                <a:latin typeface="Arial"/>
              </a:rPr>
              <a:t>Замечает паттерн «X и Y часто соседствуют» в обучающих данных. Для причинных выводов — привлекайте эксперта предметной области или причинные методы.</a:t>
            </a:r>
          </a:p>
        </p:txBody>
      </p:sp>
      <p:sp>
        <p:nvSpPr>
          <p:cNvPr id="16" name="TextBox 15"/>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Pearl (2018) — The Book of Why</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783080"/>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103120"/>
            <a:ext cx="1005840" cy="1005840"/>
          </a:xfrm>
          <a:prstGeom prst="rect">
            <a:avLst/>
          </a:prstGeom>
        </p:spPr>
      </p:pic>
      <p:sp>
        <p:nvSpPr>
          <p:cNvPr id="6" name="TextBox 5"/>
          <p:cNvSpPr txBox="1"/>
          <p:nvPr/>
        </p:nvSpPr>
        <p:spPr>
          <a:xfrm>
            <a:off x="1874519"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r>
              <a:rPr sz="1092" baseline="30000" b="0" i="1">
                <a:latin typeface="Arial"/>
                <a:cs typeface="Arial"/>
                <a:ea typeface="Arial"/>
                <a:solidFill>
                  <a:srgbClr val="1C7293"/>
                </a:solidFill>
              </a:rPr>
              <a:t>[1]</a:t>
            </a:r>
          </a:p>
        </p:txBody>
      </p:sp>
      <p:sp>
        <p:nvSpPr>
          <p:cNvPr id="7" name="TextBox 6"/>
          <p:cNvSpPr txBox="1"/>
          <p:nvPr/>
        </p:nvSpPr>
        <p:spPr>
          <a:xfrm>
            <a:off x="1874519"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227832"/>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близость эмбеддингов + LLM → ответ из вашей базы</a:t>
            </a:r>
          </a:p>
        </p:txBody>
      </p:sp>
      <p:sp>
        <p:nvSpPr>
          <p:cNvPr id="9" name="Rounded Rectangle 8"/>
          <p:cNvSpPr/>
          <p:nvPr/>
        </p:nvSpPr>
        <p:spPr>
          <a:xfrm>
            <a:off x="6117336" y="1783080"/>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345936" y="2103120"/>
            <a:ext cx="1005840" cy="1005840"/>
          </a:xfrm>
          <a:prstGeom prst="rect">
            <a:avLst/>
          </a:prstGeom>
        </p:spPr>
      </p:pic>
      <p:sp>
        <p:nvSpPr>
          <p:cNvPr id="11" name="TextBox 10"/>
          <p:cNvSpPr txBox="1"/>
          <p:nvPr/>
        </p:nvSpPr>
        <p:spPr>
          <a:xfrm>
            <a:off x="7488936"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Инструменты / Вызов функций</a:t>
            </a:r>
          </a:p>
        </p:txBody>
      </p:sp>
      <p:sp>
        <p:nvSpPr>
          <p:cNvPr id="12" name="TextBox 11"/>
          <p:cNvSpPr txBox="1"/>
          <p:nvPr/>
        </p:nvSpPr>
        <p:spPr>
          <a:xfrm>
            <a:off x="7488936"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391655" y="3227832"/>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178808"/>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498848"/>
            <a:ext cx="1005840" cy="1005840"/>
          </a:xfrm>
          <a:prstGeom prst="rect">
            <a:avLst/>
          </a:prstGeom>
        </p:spPr>
      </p:pic>
      <p:sp>
        <p:nvSpPr>
          <p:cNvPr id="16" name="TextBox 15"/>
          <p:cNvSpPr txBox="1"/>
          <p:nvPr/>
        </p:nvSpPr>
        <p:spPr>
          <a:xfrm>
            <a:off x="1874519" y="443484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r>
              <a:rPr sz="1092" baseline="30000" b="0" i="1">
                <a:latin typeface="Arial"/>
                <a:cs typeface="Arial"/>
                <a:ea typeface="Arial"/>
                <a:solidFill>
                  <a:srgbClr val="1C7293"/>
                </a:solidFill>
              </a:rPr>
              <a:t>[2]</a:t>
            </a:r>
          </a:p>
        </p:txBody>
      </p:sp>
      <p:sp>
        <p:nvSpPr>
          <p:cNvPr id="17" name="TextBox 16"/>
          <p:cNvSpPr txBox="1"/>
          <p:nvPr/>
        </p:nvSpPr>
        <p:spPr>
          <a:xfrm>
            <a:off x="1874519" y="5047488"/>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623560"/>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17336" y="4178808"/>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345936" y="4498848"/>
            <a:ext cx="1005840" cy="1005840"/>
          </a:xfrm>
          <a:prstGeom prst="rect">
            <a:avLst/>
          </a:prstGeom>
        </p:spPr>
      </p:pic>
      <p:sp>
        <p:nvSpPr>
          <p:cNvPr id="21" name="TextBox 20"/>
          <p:cNvSpPr txBox="1"/>
          <p:nvPr/>
        </p:nvSpPr>
        <p:spPr>
          <a:xfrm>
            <a:off x="7488936" y="443484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Цикл агента</a:t>
            </a:r>
            <a:r>
              <a:rPr sz="1092" baseline="30000" b="0" i="1">
                <a:latin typeface="Arial"/>
                <a:cs typeface="Arial"/>
                <a:ea typeface="Arial"/>
                <a:solidFill>
                  <a:srgbClr val="1C7293"/>
                </a:solidFill>
              </a:rPr>
              <a:t>[3]</a:t>
            </a:r>
          </a:p>
        </p:txBody>
      </p:sp>
      <p:sp>
        <p:nvSpPr>
          <p:cNvPr id="22" name="TextBox 21"/>
          <p:cNvSpPr txBox="1"/>
          <p:nvPr/>
        </p:nvSpPr>
        <p:spPr>
          <a:xfrm>
            <a:off x="7488936" y="5047488"/>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391655" y="5623560"/>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Модель решает действие, видит результат, корректирует план</a:t>
            </a:r>
          </a:p>
        </p:txBody>
      </p:sp>
      <p:sp>
        <p:nvSpPr>
          <p:cNvPr id="24" name="TextBox 23"/>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00" b="1" i="1">
                <a:solidFill>
                  <a:srgbClr val="065A82"/>
                </a:solidFill>
                <a:latin typeface="Arial"/>
              </a:rPr>
              <a:t>[1] </a:t>
            </a:r>
            <a:r>
              <a:rPr sz="800" i="1">
                <a:solidFill>
                  <a:srgbClr val="1C7293"/>
                </a:solidFill>
                <a:latin typeface="Arial"/>
                <a:hlinkClick r:id="rId6"/>
              </a:rPr>
              <a:t>Lewis et al. (2020) — RAG</a:t>
            </a:r>
            <a:r>
              <a:rPr sz="800" i="1">
                <a:solidFill>
                  <a:srgbClr val="1C7293"/>
                </a:solidFill>
                <a:latin typeface="Arial"/>
              </a:rPr>
              <a:t>   ·   </a:t>
            </a:r>
            <a:r>
              <a:rPr sz="800" b="1" i="1">
                <a:solidFill>
                  <a:srgbClr val="065A82"/>
                </a:solidFill>
                <a:latin typeface="Arial"/>
              </a:rPr>
              <a:t>[2] </a:t>
            </a:r>
            <a:r>
              <a:rPr sz="800" i="1">
                <a:solidFill>
                  <a:srgbClr val="1C7293"/>
                </a:solidFill>
                <a:latin typeface="Arial"/>
                <a:hlinkClick r:id="rId7"/>
              </a:rPr>
              <a:t>Anthropic — Model Context Protocol (25 ноя 2024)</a:t>
            </a:r>
            <a:r>
              <a:rPr sz="800" i="1">
                <a:solidFill>
                  <a:srgbClr val="1C7293"/>
                </a:solidFill>
                <a:latin typeface="Arial"/>
              </a:rPr>
              <a:t>   ·   </a:t>
            </a:r>
            <a:r>
              <a:rPr sz="800" b="1" i="1">
                <a:solidFill>
                  <a:srgbClr val="065A82"/>
                </a:solidFill>
                <a:latin typeface="Arial"/>
              </a:rPr>
              <a:t>[3] </a:t>
            </a:r>
            <a:r>
              <a:rPr sz="800" i="1">
                <a:solidFill>
                  <a:srgbClr val="1C7293"/>
                </a:solidFill>
                <a:latin typeface="Arial"/>
                <a:hlinkClick r:id="rId8"/>
              </a:rPr>
              <a:t>Yao et al. (2022) — ReAct</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737360"/>
            <a:ext cx="11201400" cy="2194560"/>
          </a:xfrm>
          <a:prstGeom prst="rect">
            <a:avLst/>
          </a:prstGeom>
          <a:noFill/>
        </p:spPr>
        <p:txBody>
          <a:bodyPr wrap="square" lIns="0" rIns="0" tIns="0" bIns="0" anchor="ctr">
            <a:spAutoFit/>
          </a:bodyPr>
          <a:lstStyle/>
          <a:p>
            <a:pPr algn="ctr">
              <a:lnSpc>
                <a:spcPct val="100000"/>
              </a:lnSpc>
            </a:pPr>
            <a:r>
              <a:rPr sz="14000" b="1" i="0">
                <a:solidFill>
                  <a:srgbClr val="21295C"/>
                </a:solidFill>
                <a:latin typeface="Arial"/>
              </a:rPr>
              <a:t>Q&amp;A</a:t>
            </a:r>
          </a:p>
        </p:txBody>
      </p:sp>
      <p:sp>
        <p:nvSpPr>
          <p:cNvPr id="3" name="TextBox 2"/>
          <p:cNvSpPr txBox="1"/>
          <p:nvPr/>
        </p:nvSpPr>
        <p:spPr>
          <a:xfrm>
            <a:off x="502920" y="4937760"/>
            <a:ext cx="11201400" cy="640080"/>
          </a:xfrm>
          <a:prstGeom prst="rect">
            <a:avLst/>
          </a:prstGeom>
          <a:noFill/>
        </p:spPr>
        <p:txBody>
          <a:bodyPr wrap="square" lIns="0" rIns="0" tIns="0" bIns="0" anchor="t">
            <a:spAutoFit/>
          </a:bodyPr>
          <a:lstStyle/>
          <a:p>
            <a:pPr algn="ctr">
              <a:lnSpc>
                <a:spcPct val="115000"/>
              </a:lnSpc>
            </a:pPr>
            <a:r>
              <a:rPr sz="3600" b="0" i="1">
                <a:solidFill>
                  <a:srgbClr val="065A82"/>
                </a:solidFill>
                <a:latin typeface="Arial"/>
              </a:rPr>
              <a:t>Спасибо</a:t>
            </a:r>
          </a:p>
        </p:txBody>
      </p:sp>
      <p:sp>
        <p:nvSpPr>
          <p:cNvPr id="4" name="TextBox 3"/>
          <p:cNvSpPr txBox="1"/>
          <p:nvPr/>
        </p:nvSpPr>
        <p:spPr>
          <a:xfrm>
            <a:off x="7315200" y="6217920"/>
            <a:ext cx="4434840" cy="365760"/>
          </a:xfrm>
          <a:prstGeom prst="rect">
            <a:avLst/>
          </a:prstGeom>
          <a:noFill/>
        </p:spPr>
        <p:txBody>
          <a:bodyPr wrap="square" lIns="0" rIns="0" tIns="0" bIns="0" anchor="t">
            <a:spAutoFit/>
          </a:bodyPr>
          <a:lstStyle/>
          <a:p>
            <a:pPr algn="r">
              <a:lnSpc>
                <a:spcPct val="115000"/>
              </a:lnSpc>
            </a:pPr>
            <a:r>
              <a:rPr sz="1100" b="0" i="1">
                <a:solidFill>
                  <a:srgbClr val="6B7685"/>
                </a:solidFill>
                <a:latin typeface="Arial"/>
              </a:rPr>
              <a:t>контакты лектора — заполняется перед лекцией</a:t>
            </a:r>
          </a:p>
        </p:txBody>
      </p:sp>
      <p:sp>
        <p:nvSpPr>
          <p:cNvPr id="5" name="TextBox 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