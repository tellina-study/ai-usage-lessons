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AI, а с вас. Пока вы читаете это предложение, ваш мозг непрерывно решает маленькую, но важную задачу: что сейчас важно держать в фокусе, а что можно оставить фоном. Где-то на периферии — уведомление на телефоне, недодуманная мысль про вечерние планы, ощущение неудобного стула. Всё это конкурирует за один и тот же ограниченный ресурс — ваше внимание. Вы не осознаёте выбор в моменте, но он происходит постоянно.</a:t>
            </a:r>
          </a:p>
          <a:p/>
          <a:p>
            <a:r>
              <a:t>На слайде — персонаж, которого одновременно тянут в три стороны: уведомление, посторонняя мысль, незакрытая задача. Это не про рассеянность как недостаток — это нормальная работа механизма внимания. У человека внимание ограничено: мы физически не можем одинаково полно обрабатывать всё одновременно, поэтому мозг постоянно расставляет приоритеты — что в фокус, что в фон.</a:t>
            </a:r>
          </a:p>
          <a:p/>
          <a:p>
            <a:r>
              <a:t>Сегодняшняя лекция — про то, что происходит внутри AI-модели между вашим запросом и её ответом. И один из четырёх внутренних этапов, которые мы разберём, называется буквально так же, как то, что вы только что почувствовали — **механизм внимания**. Когда модель обрабатывает ваш текст, она тоже решает, на какие части входа «смотреть» внимательнее, а какие оставить фоном. Важная оговорка, к которой мы вернёмся в Разделе 3: сходство здесь — по названию и по общей идее «выбора приоритета», а не по устройству. Внутри модели это не психологический процесс, а конкретная вычислимая операция — матрица весов, которую можно посчитать и посмотреть. Разберём это подробно, когда дойдём до сути.</a:t>
            </a:r>
          </a:p>
          <a:p/>
          <a:p>
            <a:r>
              <a:t>Прежде чем туда дойти — пройдём весь путь запроса через модель: токенизацию, эмбеддинги, внимание, сэмплинг. У каждого этапа — своё конкретное инженерное следствие для того, как вы работаете с AI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оставила без ответа: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внимания,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p>
            <a:r>
              <a:t>Раздел 0, в котором мы сейчас, — введение: что такое токен, краткий recap Лекции 1 и центральный вопрос, ради которого мы здесь.</a:t>
            </a:r>
          </a:p>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p>
            <a:r>
              <a:t>Раздел 3 — внимание. Как модель решает, на какие токены смотреть сейчас. Разберём механизм внимания на конкретном примере и поймём, почему промпт с ролью «ты эксперт» действительно меняет ответ.</a:t>
            </a:r>
          </a:p>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На Лекции 1 модель называлась «чёрным ящиком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без ответа.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они получат явный ответ — три «почему» через конкретные внутренние механизмы.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Введение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Раздел занимает около одиннадцати минут. Темп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детали каждого этапа, посмотрим на полную картину — что происходит между вашим запросом и ответом модели. Это карта, к которой мы будем возвращаться: с правой стороны каждого следующего раздела вы будете видеть, какая именно стадия этого pipeline сейчас в фокусе.</a:t>
            </a:r>
          </a:p>
          <a:p/>
          <a:p>
            <a:r>
              <a:t>Слева — ваш входной текст: например, `«Привет, мир»`. Первое преобразование — **токенизация**: текст разрезается на единицы из словаря модели; `«Привет»` превращается в, условно, `[Прив][ет]`. Эти токены — целые числа, id из словаря. Это первый из четырёх этапов, и именно ему посвящён ближайший Раздел 1.</a:t>
            </a:r>
          </a:p>
          <a:p/>
          <a:p>
            <a:r>
              <a:t>Следующий шаг — **embedding lookup**: каждому id токена сопоставлен выученный вектор в памяти модели. Слово исчезает; остаётся последовательность векторов. Это входит в Раздел 2.</a:t>
            </a:r>
          </a:p>
          <a:p/>
          <a:p>
            <a:r>
              <a:t>Дальше — **LLM-инференс**: серия слоёв с механизмом внимания, который мы разберём в Разделе 3. Здесь модель «думает» — но думает она над векторами, не над словами. Из этой обработки на выходе появляется ещё один вектор — кандидат на следующий токен.</a:t>
            </a:r>
          </a:p>
          <a:p/>
          <a:p>
            <a:r>
              <a:t>Этот вектор-кандидат превращается в **распределение вероятностей** по всему словарю модели: «насколько правдоподобно, что следующий токен — этот? а этот? а вот этот?». Из распределения выбирается **один токен** через сэмплинг — это Раздел 4.</a:t>
            </a:r>
          </a:p>
          <a:p/>
          <a:p>
            <a:r>
              <a:t>И последний шаг — **обратное преобразование**: id токена через де-токенизацию превращается обратно в текст. Этот шаг почти симметричен токенизации в самом начале, и обычно его относят к тому же первому этапу.</a:t>
            </a:r>
          </a:p>
          <a:p/>
          <a:p>
            <a:r>
              <a:t>Главное наблюдение для практики: «слово» появляется только на границах — на входе и на выходе. Всё, что происходит внутри модели — это операции над векторами. Сегодняшняя лекция — про эти внутренние операции, без формул, но с инженерным пониманием, что и где происходит.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(o1-класс,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a:p/>
          <a:p>
            <a:r>
              <a:t>Та же природа объясняет вторую, менее очевидную проблему — арифметику. Числа тоже проходят через токенизатор, и разбиение на токены непредсказуемо совпадает с разрядами: `1234` может разрезаться на `12`+`34` (совпадает с сотнями), а `55688` — на `556`+`88` (уже не совпадает). Модель не видит цифры по отдельности — она видит эти нерегулярные группы. Следствие измеримо: на 3-значном умножении GPT-4 без внешних инструментов даёт около 59% точности, на 4-значном — уже 4%, а на 5-значном — 0% (arXiv 2410.19730). Решение то же самое, что и для букв: внешний калькулятор или код, либо явный пошаговый вывод, а не один прямой проход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sentence similarity, важно понять, в каком именно пространстве живут эмбеддинги. Это первый момент в лекции, когда мы говорим про «многомерные пространства», и интуиция здесь обычно сбивает.</a:t>
            </a:r>
          </a:p>
          <a:p/>
          <a:p>
            <a:r>
              <a:t>Когда мы говорим «пространство эмбеддингов», мы имеем в виду математическое пространство — векторное пространство, в котором каждой точкой является один вектор. Этот вектор состоит из чисел: 1536 чисел для OpenAI `text-embedding-3-small`, 3072 для `text-embedding-3-large`, и тысячи для внутренних эмбеддингов flagship-моделей. Каждое число — это координата по своему «направлению» или «измерению». В отличие от трёхмерного пространства, к которому мы привыкли по физическому миру, у этих измерений нет очевидного смысла «вверх-вниз» или «вправо-влево». Это абстрактные направления, которые модель выучила в процессе обучения.</a:t>
            </a:r>
          </a:p>
          <a:p/>
          <a:p>
            <a:r>
              <a:t>Что значит «выучила»? Цель обучения — устроить пространство так, чтобы токены, которые в обучающем корпусе появлялись в похожих контекстах, лежали близко друг к другу. Слова `кот` и `собака` встречаются рядом со словами типа `кормить`, `гладить`, `питомец` — и в результате их эмбеддинги получаются близкими. То же самое со словами `Python` и `JavaScript` — они появляются рядом со словами `код`, `функция`, `переменная`. Эта структура возникает не из правил, а из статистики: модель видела миллионы примеров и подстроила числа так, чтобы геометрия пространства отражала семантику языка.</a:t>
            </a:r>
          </a:p>
          <a:p/>
          <a:p>
            <a:r>
              <a:t>Чтобы такое пространство хоть как-то увидеть — нужна **проекция**. На слайде слева — упрощённая 2D-проекция: 8 точек, разделённых на три смысловых кластера. Реальная проекция получается из 1536-мерного пространства через алгоритмы PCA (главных компонент) или t-SNE; они выбирают такие две оси, на которых видно максимум различий между точками. Но любая 2D-проекция теряет часть информации — реальная структура многомерна, и красиво нарисовать её на плоскости невозможно.</a:t>
            </a:r>
          </a:p>
          <a:p/>
          <a:p>
            <a:r>
              <a:t>Главное практическое следствие: семантическая близость = геометрическая близость векторов. Дальше, на следующем слайде, мы измерим эту близость числом — через cosine similarity — и увидим, что это работает не только на словах, но и на целых предложениях.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мы прошли в этом разделе, и переформулируем главное практическое следствие. Эмбеддинги — это не отдельный «слой» LLM, это **фундамент**, на котором стоит всё остальное. Модель внутри работает не со словами и не со строками — она работает с векторами в высокоразмерном пространстве. Слова появляются только на самой границе: на входе они через токенизацию превращаются в id из словаря, дальше через lookup в embedding table — в векторы. И обратно: на выходе модель выдаёт распределение по векторам, из распределения сэмплируется один — это становится id токена, и через de-tokenize выходит обратно в слова.</a:t>
            </a:r>
          </a:p>
          <a:p/>
          <a:p>
            <a:r>
              <a:t>На слайде — схема в обе стороны. Вход: `Привет, мир` → токенизация → `[Прив][ет][,][ мир]` → lookup → векторы. Сами векторы попадают в основной механизм inference, который мы разберём в Разделе 3. Выход: внутренний вектор-кандидат → distribution → выбор одного токена через сэмплинг → de-tokenize → слово. Между «человеческим» вводом и «человеческим» выводом — путь полностью векторный.</a:t>
            </a:r>
          </a:p>
          <a:p/>
          <a:p>
            <a:r>
              <a:t>И это объясняет, что мы интуитивно называем «пониманием» LLM. Когда вы спрашиваете «Как настроить SSL», а потом — «Установка HTTPS-сертификата», модель отвечает похоже, потому что эти два предложения попадают в близкие точки векторного пространства, и весь внутренний механизм работает на этих векторах одинаково. То же про синонимы — «авто» и «машина» — и про cross-lingual: «клубника» и `strawberry` дают близкие эмбеддинги, и модель отвечает корректно независимо от того, на каком языке к ней обратились.</a:t>
            </a:r>
          </a:p>
          <a:p/>
          <a:p>
            <a:r>
              <a:t>Что важно для практики: всё, что вы делаете с LLM — построение промптов, RAG-системы, рассуждения над документами, кросс-язык — упирается в то, как эмбеддинги выучены. Это инженерный фундамент, и инвестиции в правильную embedding-модель для вашего домена окупаются на следующих слоях. К конкретному применению эмбеддингов в системах поиска и retrieval мы вернёмся в Лекции 3 — RAG.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внимания.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предыдущем слайде раздела — заголовке — мы сказали, что внимание выдаёт «распределение весов на все токены контекста». Этот слайд раскрывает важную деталь: внимание — не линейная операция, а **матричная**. Это значит, что каждый токен в контексте смотрит на каждый — и для контекста длины N матрица имеет размер N × N. Эта деталь принципиальна для понимания того, что будет дальше про context window.</a:t>
            </a:r>
          </a:p>
          <a:p/>
          <a:p>
            <a:r>
              <a:t>На слайде слева — упрощённая 7×7 матрица для предложения «Кот съел мышь, потому что она была голодна». Каждая строка — это «один токен запроса смотрит на все остальные», каждый столбец — «насколько именно этот токен влияет». Числа условные, illustrative — реальные веса внимания выглядят сложнее, и сумма по строке должна равняться единице (нормировка через softmax). Но качественно картина типична: токен «она» имеет наибольший вес — 0.7 — на токен «мышь». Это и есть, что мы интуитивно называем «модель поняла, на что ссылается местоимение». Технически — это статистическая связь, выученная на огромном корпусе текстов, в которых местоимения женского рода чаще всего относятся к ближайшему существительному женского рода.</a:t>
            </a:r>
          </a:p>
          <a:p/>
          <a:p>
            <a:r>
              <a:t>Три важных следствия от того, что внимание — это матрица.</a:t>
            </a:r>
          </a:p>
          <a:p/>
          <a:p>
            <a:r>
              <a:t>Первое — **квадратичная стоимость**. Для контекста из 100 000 токенов матрица содержит 10 миллиардов чисел. Это объясняет, почему длинные контексты дорогие: даже линейное увеличение длины контекста даёт квадратичное увеличение объёма вычислений и памяти под внимание. Эту тему мы разовьём через слайд — про context window.</a:t>
            </a:r>
          </a:p>
          <a:p/>
          <a:p>
            <a:r>
              <a:t>Второе — **пересчёт на каждом шаге**. LLM генерирует токен за токеном, и на каждой новой генерации матрица внимания заново строится на текущем расширенном контексте. Это не «один раз посчитали — пользуемся весь генерацию»; это «на каждый новый токен — новая матрица».</a:t>
            </a:r>
          </a:p>
          <a:p/>
          <a:p>
            <a:r>
              <a:t>Третье — **multi-head**. На самом деле в одном слое внимания работает не одна матрица, а десятки параллельно. Это называется multi-head attention (многоголовое внимание). Разные «головы» смотрят на разные паттерны: одна может фокусироваться на грамматических связях, другая — на тематической близости, третья — на длинных зависимостях. Разделение работы между головами — одна из ключевых архитектурных идей трансформера. Для пользователя LLM это деталь, но она объясняет, почему механизм внимания справляется с разными типами зависимостей одновременно — потому что под капотом параллельно работает несколько разных «взглядов» на одни и те же токены.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внимание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механизм внимания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механизм внимания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 многоголовое внимание,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внимания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Реальная карта внимания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внимание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внимания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распределении внимания при генерации первых токенов ответа. Роль в промпте — не просьба «поверь мне», а явный input-сигнал, прямо влияющий на распределение внимания. Это первый из трёх вопросов «почему», поставленных в начале лекции, и теперь мы объясняем его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Базовый механизм внимания требует, чтобы каждый из N токенов посмотрел на каждый — это N² операций на каждом слое внимания.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ванильного механизма внимания,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во внимании.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внимания,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третий из трёх вопросов «почему», поставленных в начале лекции: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внимание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тому, что говорила Лекция 1: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внимание,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и оплатой за токены — которая для русского текста выше, чем для английского, как мы видели ранее сегодня.</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практический итог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вниманием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до пяти минут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внимания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сегодняшней лекции мы поставили три вопроса «почему» — и обещали ответить на них не интуицией, а конкретным механизмом. Теперь у нас есть всё нужное, чтобы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распределении внимания.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главный практический итог сегодняшней лекции. Если вы можете назвать механизм для каждого «почему» в одном-двух предложениях, главное содержание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классификацию задача × модальность из Лекции 1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феномен, описанный ещё в Лекции 1: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 Практический вывод: там, где решения требуют именно причинного вывода, привлекайте эксперта предметной области или отдельные причинные методы — механизм внимания сам по себе для этого не предназначен.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разделе про эмбеддинги сегодняшней лекции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в Лекции 3 разберём подробнее.</a:t>
            </a:r>
          </a:p>
          <a:p/>
          <a:p>
            <a:r>
              <a:t>**Agent loop.** Цикл act → observe → reflect, рассмотренный ещё в Лекции 1. На каждом шаге модель решает действие, видит результат, корректирует план — и так до достижения цели. Все четыре концепта надстраиваются над single-shot inference, который мы собрали сегодня.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семинаре будем разбирать ваши домашние эксперименты с температурой; постарайтесь успеть прогнать запросы заранее. А пока — оставшееся время мы посвящаем вашим вопросам.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основная часть лекции закончена. Дальше — оставшееся время отдаём вашим вопросам. Нет «глупых» вопросов и нет «слишком базовых» — если что-то прозвучало неясно или у вас в голове не сложилась картинка одного из четырёх этапов, лучше спросить сейчас, пока тема свежая.</a:t>
            </a:r>
          </a:p>
          <a:p/>
          <a:p>
            <a:r>
              <a:t>Если вопросов в зале немного, я могу зайти с другой стороны: рассказать, какие из четырёх этапов чаще всего вызывают трудности на следующих занятиях, или показать дополнительный пример токенизации на ваших словах. Если совсем тишина — это тоже нормально, и тогда напомню, что на семинар через неделю мы принесём результаты домашнего задания по температуре, прогоним их через простой чек-лист и обсудим, какую температуру стоит ставить в production. Если по ходу обсуждения возникнут вопросы — приносите их к семинару или пишите по e-mail.</a:t>
            </a:r>
          </a:p>
          <a:p/>
          <a:p>
            <a:r>
              <a:t>Спасибо за внимание и за вашу включённость в течение всей лекции. До следующей встречи.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Пока вы читаете это предложение — на что вы НЕ обращаете внимания?</a:t>
            </a:r>
          </a:p>
        </p:txBody>
      </p:sp>
      <p:sp>
        <p:nvSpPr>
          <p:cNvPr id="3" name="TextBox 2"/>
          <p:cNvSpPr txBox="1"/>
          <p:nvPr/>
        </p:nvSpPr>
        <p:spPr>
          <a:xfrm>
            <a:off x="502920" y="1417320"/>
            <a:ext cx="11247120" cy="411480"/>
          </a:xfrm>
          <a:prstGeom prst="rect">
            <a:avLst/>
          </a:prstGeom>
          <a:noFill/>
        </p:spPr>
        <p:txBody>
          <a:bodyPr wrap="square" lIns="0" rIns="0" tIns="0" bIns="0" anchor="ctr">
            <a:spAutoFit/>
          </a:bodyPr>
          <a:lstStyle/>
          <a:p>
            <a:pPr algn="ctr">
              <a:lnSpc>
                <a:spcPct val="120000"/>
              </a:lnSpc>
            </a:pPr>
            <a:r>
              <a:rPr sz="1700" b="0" i="1">
                <a:solidFill>
                  <a:srgbClr val="028090"/>
                </a:solidFill>
                <a:latin typeface="Arial"/>
              </a:rPr>
              <a:t>Ваш мозг ежесекундно выбирает, что важно, а что — фон.</a:t>
            </a:r>
          </a:p>
        </p:txBody>
      </p:sp>
      <p:sp>
        <p:nvSpPr>
          <p:cNvPr id="4" name="Rounded Rectangle 3"/>
          <p:cNvSpPr/>
          <p:nvPr/>
        </p:nvSpPr>
        <p:spPr>
          <a:xfrm>
            <a:off x="3246120" y="1965960"/>
            <a:ext cx="566928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attention-character.png"/>
          <p:cNvPicPr>
            <a:picLocks noChangeAspect="1"/>
          </p:cNvPicPr>
          <p:nvPr/>
        </p:nvPicPr>
        <p:blipFill>
          <a:blip r:embed="rId2"/>
          <a:stretch>
            <a:fillRect/>
          </a:stretch>
        </p:blipFill>
        <p:spPr>
          <a:xfrm>
            <a:off x="3876402" y="2167128"/>
            <a:ext cx="4408714" cy="3429000"/>
          </a:xfrm>
          <a:prstGeom prst="rect">
            <a:avLst/>
          </a:prstGeom>
        </p:spPr>
      </p:pic>
      <p:sp>
        <p:nvSpPr>
          <p:cNvPr id="6" name="TextBox 5"/>
          <p:cNvSpPr txBox="1"/>
          <p:nvPr/>
        </p:nvSpPr>
        <p:spPr>
          <a:xfrm>
            <a:off x="502920" y="6080760"/>
            <a:ext cx="11247120" cy="502920"/>
          </a:xfrm>
          <a:prstGeom prst="rect">
            <a:avLst/>
          </a:prstGeom>
          <a:noFill/>
        </p:spPr>
        <p:txBody>
          <a:bodyPr wrap="square" lIns="0" rIns="0" tIns="0" bIns="0" anchor="t">
            <a:spAutoFit/>
          </a:bodyPr>
          <a:lstStyle/>
          <a:p>
            <a:pPr algn="ctr">
              <a:lnSpc>
                <a:spcPct val="125000"/>
              </a:lnSpc>
            </a:pPr>
            <a:r>
              <a:rPr sz="1300" b="0" i="1">
                <a:solidFill>
                  <a:srgbClr val="1C7293"/>
                </a:solidFill>
                <a:latin typeface="Arial"/>
              </a:rPr>
              <a:t>Механизм, который сегодня разберём внутри модели ИИ, называется точно так же — «внимание». Он работает похоже — но не так, как ваш.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Введение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Что такое токен +
центральный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ДЗ,
мост к Л3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(из Лекции 1)</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Поток данных в LLM — туда и обратно</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Каждый из этапов разберём отдельно. Сейчас — карта целиком.</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Слово существует только на границах. Внутри модели — только векторы. Сегодня разбираем 4 этапа.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Для русского inference обходится примерно вдвое дороже — мы вернёмся к этому через 2 слайда.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566928"/>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Словарь не из всех слов (как лемматизация) и не из всех букв (как character-level) — а из частых подпоследовательностей.</a:t>
            </a:r>
          </a:p>
        </p:txBody>
      </p:sp>
      <p:sp>
        <p:nvSpPr>
          <p:cNvPr id="4" name="TextBox 3"/>
          <p:cNvSpPr txBox="1"/>
          <p:nvPr/>
        </p:nvSpPr>
        <p:spPr>
          <a:xfrm>
            <a:off x="502920" y="193852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Словарь строится один раз перед обучением; в inference — lookup готовых правил.</a:t>
            </a:r>
          </a:p>
        </p:txBody>
      </p:sp>
      <p:sp>
        <p:nvSpPr>
          <p:cNvPr id="5" name="Rounded Rectangle 4"/>
          <p:cNvSpPr/>
          <p:nvPr/>
        </p:nvSpPr>
        <p:spPr>
          <a:xfrm>
            <a:off x="914400" y="228600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7" name="Rounded Rectangle 6"/>
          <p:cNvSpPr/>
          <p:nvPr/>
        </p:nvSpPr>
        <p:spPr>
          <a:xfrm>
            <a:off x="1325880" y="338328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15468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97764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74904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5720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34340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16636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93776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7719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28600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46888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8" name="Rounded Rectangle 17"/>
          <p:cNvSpPr/>
          <p:nvPr/>
        </p:nvSpPr>
        <p:spPr>
          <a:xfrm>
            <a:off x="6629400" y="33558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15468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86200"/>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85032"/>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416552"/>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215384"/>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46903"/>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45736"/>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77255"/>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76088"/>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30" name="TextBox 29"/>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AI ошибается в «сколько r в strawberry» — слова не из букв, а из 3 токенов</a:t>
            </a:r>
          </a:p>
        </p:txBody>
      </p:sp>
      <p:sp>
        <p:nvSpPr>
          <p:cNvPr id="3" name="Rounded Rectangle 2"/>
          <p:cNvSpPr/>
          <p:nvPr/>
        </p:nvSpPr>
        <p:spPr>
          <a:xfrm>
            <a:off x="502920" y="1325880"/>
            <a:ext cx="5669280" cy="3977639"/>
          </a:xfrm>
          <a:prstGeom prst="roundRect">
            <a:avLst>
              <a:gd name="adj" fmla="val 76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444752"/>
            <a:ext cx="5303520" cy="3749039"/>
          </a:xfrm>
          <a:prstGeom prst="rect">
            <a:avLst/>
          </a:prstGeom>
        </p:spPr>
      </p:pic>
      <p:sp>
        <p:nvSpPr>
          <p:cNvPr id="5" name="Rounded Rectangle 4"/>
          <p:cNvSpPr/>
          <p:nvPr/>
        </p:nvSpPr>
        <p:spPr>
          <a:xfrm>
            <a:off x="6400800" y="1325880"/>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417320"/>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Подсчёт символов</a:t>
            </a:r>
          </a:p>
        </p:txBody>
      </p:sp>
      <p:sp>
        <p:nvSpPr>
          <p:cNvPr id="7" name="TextBox 6"/>
          <p:cNvSpPr txBox="1"/>
          <p:nvPr/>
        </p:nvSpPr>
        <p:spPr>
          <a:xfrm>
            <a:off x="6629400" y="1828800"/>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660904"/>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752344"/>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Опечатки</a:t>
            </a:r>
          </a:p>
        </p:txBody>
      </p:sp>
      <p:sp>
        <p:nvSpPr>
          <p:cNvPr id="10" name="TextBox 9"/>
          <p:cNvSpPr txBox="1"/>
          <p:nvPr/>
        </p:nvSpPr>
        <p:spPr>
          <a:xfrm>
            <a:off x="6629400" y="3163824"/>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3995928"/>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087368"/>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Регистр и пробелы</a:t>
            </a:r>
          </a:p>
        </p:txBody>
      </p:sp>
      <p:sp>
        <p:nvSpPr>
          <p:cNvPr id="13" name="TextBox 12"/>
          <p:cNvSpPr txBox="1"/>
          <p:nvPr/>
        </p:nvSpPr>
        <p:spPr>
          <a:xfrm>
            <a:off x="6629400" y="4498848"/>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cat, ` cat`, Cat, CAT — разные токены, разные id.</a:t>
            </a:r>
          </a:p>
        </p:txBody>
      </p:sp>
      <p:sp>
        <p:nvSpPr>
          <p:cNvPr id="14" name="Rounded Rectangle 13"/>
          <p:cNvSpPr/>
          <p:nvPr/>
        </p:nvSpPr>
        <p:spPr>
          <a:xfrm>
            <a:off x="502920" y="5440680"/>
            <a:ext cx="11247120"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550408"/>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Буквы: внешний инструмент (Python, regex) или посимвольный запрос. Топ-модели 2026 сами вызывают код вместо одного прохода.</a:t>
            </a:r>
          </a:p>
        </p:txBody>
      </p:sp>
      <p:sp>
        <p:nvSpPr>
          <p:cNvPr id="16" name="TextBox 15"/>
          <p:cNvSpPr txBox="1"/>
          <p:nvPr/>
        </p:nvSpPr>
        <p:spPr>
          <a:xfrm>
            <a:off x="731520" y="6062472"/>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Числа: тоже режутся непредсказуемо (1234→12+34, но 55688→556+88) → GPT-4: 59% точности на 3-знач. умножении, 4% на 4-знач., 0% на 5-знач. без калькулятора (arXiv 2410.19730).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Пространство эмбеддингов — где живут векторы</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Перед тем как сравнивать векторы — посмотрим, в каком пространстве они находятся.</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Размерность</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тысячи.</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Обучение</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Координаты не задаются вручную. Модель учится:
токены в похожих контекстах → близкие векторы.</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Проекция</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Чтобы увидеть пространство — PCA или t-SNE
снижают размерность до 2D/3D.
Часть структуры теряется.</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Семантическая близость = геометрическая близость векторов. На следующем слайде — мера.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мера угла между векторами; диапазон [−1, 1], ближе к 1 — более похожи.</a:t>
            </a:r>
          </a:p>
        </p:txBody>
      </p:sp>
      <p:sp>
        <p:nvSpPr>
          <p:cNvPr id="10" name="TextBox 9"/>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 фундамент понимания LLM</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Внутри модель работает только с векторами; слова — только на входе и на выходе.</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Вход → LLM → Выход</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слова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«Привет, мир»</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токенизация</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токены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[Прив][ет][,][ мир]</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векторы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Раздел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векторы</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токены</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[Здра][вствуй]</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слова</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«Здравствуй»</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это даёт «понимание»</a:t>
            </a:r>
          </a:p>
        </p:txBody>
      </p:sp>
      <p:sp>
        <p:nvSpPr>
          <p:cNvPr id="25" name="Rounded Rectangle 24"/>
          <p:cNvSpPr/>
          <p:nvPr/>
        </p:nvSpPr>
        <p:spPr>
          <a:xfrm>
            <a:off x="6172200" y="2377440"/>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Перефразирования</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«Как настроить SSL» и «Установка HTTPS» → близкие векторы → одинаковый ответ.</a:t>
            </a:r>
          </a:p>
        </p:txBody>
      </p:sp>
      <p:sp>
        <p:nvSpPr>
          <p:cNvPr id="29" name="Rounded Rectangle 28"/>
          <p:cNvSpPr/>
          <p:nvPr/>
        </p:nvSpPr>
        <p:spPr>
          <a:xfrm>
            <a:off x="6172200" y="3721608"/>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95928"/>
            <a:ext cx="685800" cy="685800"/>
          </a:xfrm>
          <a:prstGeom prst="rect">
            <a:avLst/>
          </a:prstGeom>
        </p:spPr>
      </p:pic>
      <p:sp>
        <p:nvSpPr>
          <p:cNvPr id="31" name="TextBox 30"/>
          <p:cNvSpPr txBox="1"/>
          <p:nvPr/>
        </p:nvSpPr>
        <p:spPr>
          <a:xfrm>
            <a:off x="7132320" y="3831336"/>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Синонимы</a:t>
            </a:r>
          </a:p>
        </p:txBody>
      </p:sp>
      <p:sp>
        <p:nvSpPr>
          <p:cNvPr id="32" name="TextBox 31"/>
          <p:cNvSpPr txBox="1"/>
          <p:nvPr/>
        </p:nvSpPr>
        <p:spPr>
          <a:xfrm>
            <a:off x="7132320" y="4224528"/>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«авто» и «машина» → близкие векторы → одна и та же реакция.</a:t>
            </a:r>
          </a:p>
        </p:txBody>
      </p:sp>
      <p:sp>
        <p:nvSpPr>
          <p:cNvPr id="33" name="Rounded Rectangle 32"/>
          <p:cNvSpPr/>
          <p:nvPr/>
        </p:nvSpPr>
        <p:spPr>
          <a:xfrm>
            <a:off x="6172200" y="5065776"/>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340096"/>
            <a:ext cx="685800" cy="685800"/>
          </a:xfrm>
          <a:prstGeom prst="rect">
            <a:avLst/>
          </a:prstGeom>
        </p:spPr>
      </p:pic>
      <p:sp>
        <p:nvSpPr>
          <p:cNvPr id="35" name="TextBox 34"/>
          <p:cNvSpPr txBox="1"/>
          <p:nvPr/>
        </p:nvSpPr>
        <p:spPr>
          <a:xfrm>
            <a:off x="7132320" y="5175504"/>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568696"/>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«клубника» и strawberry → близкие векторы → корректный ответ на любом языке.</a:t>
            </a:r>
          </a:p>
        </p:txBody>
      </p:sp>
      <p:sp>
        <p:nvSpPr>
          <p:cNvPr id="37" name="Rounded Rectangle 36"/>
          <p:cNvSpPr/>
          <p:nvPr/>
        </p:nvSpPr>
        <p:spPr>
          <a:xfrm>
            <a:off x="502920" y="6492240"/>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565392"/>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Семантическая близость на уровне предложений — основа того, что LLM «понимает» переформулировки.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Внимание — это сверка каждого токена со всеми остальными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Каждый токен «смотрит» на все остальные одновременно. На каждом шаге — N × N связей.</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Размерность</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где N — длина контекста.
Контекст 100k → матрица из ~10 млрд чисел.
→ квадратичная стоимость внимания.</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На каждом шаге</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Матрица пересчитывается на каждом
новом токене генерации (не один раз).</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 одном слое — десятки таких матриц
параллельно. Разные «головы» смотрят
на грамматику, тему, дистанцию.</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Внимание — матричная, не линейная операция. Каждый токен сравнивается со всеми.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весах внимания</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Разбор примера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реальная карта внимания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весах внимания)</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весах внимания)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контекстного окна + квадратичная стоимость внимания</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базовое внимание</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внимания растёт квадратично от длины. 1M ≈ 16× дороже 100k — production-pricing с batching; чистая N²-теория дала бы 100×.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стандартный выбор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внимание</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Текст → id
из словаря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вектор
из обученной таблицы</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весов на контекст</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
один токен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называла этот конвейер «inference моделью» — чёрным ящиком. Теперь он перестал быть чёрным.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Ответы на вопросы из начала лекции</a:t>
            </a:r>
          </a:p>
        </p:txBody>
      </p:sp>
      <p:sp>
        <p:nvSpPr>
          <p:cNvPr id="3" name="Rounded Rectangle 2"/>
          <p:cNvSpPr/>
          <p:nvPr/>
        </p:nvSpPr>
        <p:spPr>
          <a:xfrm>
            <a:off x="502920" y="1417320"/>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73936"/>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6" name="Picture 5" descr="focus.png"/>
          <p:cNvPicPr>
            <a:picLocks noChangeAspect="1"/>
          </p:cNvPicPr>
          <p:nvPr/>
        </p:nvPicPr>
        <p:blipFill>
          <a:blip r:embed="rId2"/>
          <a:stretch>
            <a:fillRect/>
          </a:stretch>
        </p:blipFill>
        <p:spPr>
          <a:xfrm>
            <a:off x="10515600" y="1892808"/>
            <a:ext cx="731520" cy="731520"/>
          </a:xfrm>
          <a:prstGeom prst="rect">
            <a:avLst/>
          </a:prstGeom>
        </p:spPr>
      </p:pic>
      <p:sp>
        <p:nvSpPr>
          <p:cNvPr id="7" name="TextBox 6"/>
          <p:cNvSpPr txBox="1"/>
          <p:nvPr/>
        </p:nvSpPr>
        <p:spPr>
          <a:xfrm>
            <a:off x="1965960" y="1645920"/>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8" name="TextBox 7"/>
          <p:cNvSpPr txBox="1"/>
          <p:nvPr/>
        </p:nvSpPr>
        <p:spPr>
          <a:xfrm>
            <a:off x="1965960" y="2240280"/>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внимания role-токены получают высокий вес — модель опирается на них при выборе следующих токенов.</a:t>
            </a:r>
          </a:p>
        </p:txBody>
      </p:sp>
      <p:sp>
        <p:nvSpPr>
          <p:cNvPr id="9" name="Rounded Rectangle 8"/>
          <p:cNvSpPr/>
          <p:nvPr/>
        </p:nvSpPr>
        <p:spPr>
          <a:xfrm>
            <a:off x="502920" y="3273552"/>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11880"/>
            <a:ext cx="1005840" cy="10058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3016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2" name="Picture 11" descr="binary.png"/>
          <p:cNvPicPr>
            <a:picLocks noChangeAspect="1"/>
          </p:cNvPicPr>
          <p:nvPr/>
        </p:nvPicPr>
        <p:blipFill>
          <a:blip r:embed="rId3"/>
          <a:stretch>
            <a:fillRect/>
          </a:stretch>
        </p:blipFill>
        <p:spPr>
          <a:xfrm>
            <a:off x="10515600" y="3749039"/>
            <a:ext cx="731520" cy="731520"/>
          </a:xfrm>
          <a:prstGeom prst="rect">
            <a:avLst/>
          </a:prstGeom>
        </p:spPr>
      </p:pic>
      <p:sp>
        <p:nvSpPr>
          <p:cNvPr id="13" name="TextBox 12"/>
          <p:cNvSpPr txBox="1"/>
          <p:nvPr/>
        </p:nvSpPr>
        <p:spPr>
          <a:xfrm>
            <a:off x="1965960" y="3502152"/>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4" name="TextBox 13"/>
          <p:cNvSpPr txBox="1"/>
          <p:nvPr/>
        </p:nvSpPr>
        <p:spPr>
          <a:xfrm>
            <a:off x="1965960" y="4096512"/>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129784"/>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68112"/>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486400"/>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18" name="Picture 17" descr="sparkles.png"/>
          <p:cNvPicPr>
            <a:picLocks noChangeAspect="1"/>
          </p:cNvPicPr>
          <p:nvPr/>
        </p:nvPicPr>
        <p:blipFill>
          <a:blip r:embed="rId4"/>
          <a:stretch>
            <a:fillRect/>
          </a:stretch>
        </p:blipFill>
        <p:spPr>
          <a:xfrm>
            <a:off x="10515600" y="5605272"/>
            <a:ext cx="731520" cy="731520"/>
          </a:xfrm>
          <a:prstGeom prst="rect">
            <a:avLst/>
          </a:prstGeom>
        </p:spPr>
      </p:pic>
      <p:sp>
        <p:nvSpPr>
          <p:cNvPr id="19" name="TextBox 18"/>
          <p:cNvSpPr txBox="1"/>
          <p:nvPr/>
        </p:nvSpPr>
        <p:spPr>
          <a:xfrm>
            <a:off x="1965960" y="5358384"/>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20" name="TextBox 19"/>
          <p:cNvSpPr txBox="1"/>
          <p:nvPr/>
        </p:nvSpPr>
        <p:spPr>
          <a:xfrm>
            <a:off x="1965960" y="5952744"/>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Когда LLM — не правильный инструмент: дерево решений</a:t>
            </a:r>
          </a:p>
        </p:txBody>
      </p:sp>
      <p:sp>
        <p:nvSpPr>
          <p:cNvPr id="3" name="Rounded Rectangle 2"/>
          <p:cNvSpPr/>
          <p:nvPr/>
        </p:nvSpPr>
        <p:spPr>
          <a:xfrm>
            <a:off x="3169767" y="1234440"/>
            <a:ext cx="5852160" cy="73152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9767" y="1234440"/>
            <a:ext cx="5852160" cy="731520"/>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Когда LLM — не правильный инструмент?</a:t>
            </a:r>
          </a:p>
        </p:txBody>
      </p:sp>
      <p:sp>
        <p:nvSpPr>
          <p:cNvPr id="5" name="Rectangle 4"/>
          <p:cNvSpPr/>
          <p:nvPr/>
        </p:nvSpPr>
        <p:spPr>
          <a:xfrm>
            <a:off x="229057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10800000">
            <a:off x="221742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pu.png"/>
          <p:cNvPicPr>
            <a:picLocks noChangeAspect="1"/>
          </p:cNvPicPr>
          <p:nvPr/>
        </p:nvPicPr>
        <p:blipFill>
          <a:blip r:embed="rId2"/>
          <a:stretch>
            <a:fillRect/>
          </a:stretch>
        </p:blipFill>
        <p:spPr>
          <a:xfrm>
            <a:off x="731520" y="2697480"/>
            <a:ext cx="868680" cy="868680"/>
          </a:xfrm>
          <a:prstGeom prst="rect">
            <a:avLst/>
          </a:prstGeom>
        </p:spPr>
      </p:pic>
      <p:sp>
        <p:nvSpPr>
          <p:cNvPr id="9" name="TextBox 8"/>
          <p:cNvSpPr txBox="1"/>
          <p:nvPr/>
        </p:nvSpPr>
        <p:spPr>
          <a:xfrm>
            <a:off x="173736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Фиксированные классы</a:t>
            </a:r>
          </a:p>
        </p:txBody>
      </p:sp>
      <p:sp>
        <p:nvSpPr>
          <p:cNvPr id="10" name="TextBox 9"/>
          <p:cNvSpPr txBox="1"/>
          <p:nvPr/>
        </p:nvSpPr>
        <p:spPr>
          <a:xfrm>
            <a:off x="73152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Классификация на маленьком наборе категорий (5–20)?</a:t>
            </a:r>
          </a:p>
        </p:txBody>
      </p:sp>
      <p:sp>
        <p:nvSpPr>
          <p:cNvPr id="11" name="TextBox 10"/>
          <p:cNvSpPr txBox="1"/>
          <p:nvPr/>
        </p:nvSpPr>
        <p:spPr>
          <a:xfrm>
            <a:off x="73152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Классический ML
лог. регрессия, XGBoost,
LightGBM, дообученный BERT</a:t>
            </a:r>
          </a:p>
        </p:txBody>
      </p:sp>
      <p:sp>
        <p:nvSpPr>
          <p:cNvPr id="12" name="Rectangle 11"/>
          <p:cNvSpPr/>
          <p:nvPr/>
        </p:nvSpPr>
        <p:spPr>
          <a:xfrm>
            <a:off x="608533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rot="10800000">
            <a:off x="601218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3"/>
          <a:stretch>
            <a:fillRect/>
          </a:stretch>
        </p:blipFill>
        <p:spPr>
          <a:xfrm>
            <a:off x="4526280" y="2697480"/>
            <a:ext cx="868680" cy="868680"/>
          </a:xfrm>
          <a:prstGeom prst="rect">
            <a:avLst/>
          </a:prstGeom>
        </p:spPr>
      </p:pic>
      <p:sp>
        <p:nvSpPr>
          <p:cNvPr id="16" name="TextBox 15"/>
          <p:cNvSpPr txBox="1"/>
          <p:nvPr/>
        </p:nvSpPr>
        <p:spPr>
          <a:xfrm>
            <a:off x="553212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Интерпрети- руемость</a:t>
            </a:r>
          </a:p>
        </p:txBody>
      </p:sp>
      <p:sp>
        <p:nvSpPr>
          <p:cNvPr id="17" name="TextBox 16"/>
          <p:cNvSpPr txBox="1"/>
          <p:nvPr/>
        </p:nvSpPr>
        <p:spPr>
          <a:xfrm>
            <a:off x="452628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Нужна интерпретируемость
(финансы, медицина, страхование)?</a:t>
            </a:r>
          </a:p>
        </p:txBody>
      </p:sp>
      <p:sp>
        <p:nvSpPr>
          <p:cNvPr id="18" name="TextBox 17"/>
          <p:cNvSpPr txBox="1"/>
          <p:nvPr/>
        </p:nvSpPr>
        <p:spPr>
          <a:xfrm>
            <a:off x="452628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Прозрачные методы
лог. регрессия + важность,
деревья решений, правила</a:t>
            </a:r>
          </a:p>
        </p:txBody>
      </p:sp>
      <p:sp>
        <p:nvSpPr>
          <p:cNvPr id="19" name="Rectangle 18"/>
          <p:cNvSpPr/>
          <p:nvPr/>
        </p:nvSpPr>
        <p:spPr>
          <a:xfrm>
            <a:off x="988009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sosceles Triangle 19"/>
          <p:cNvSpPr/>
          <p:nvPr/>
        </p:nvSpPr>
        <p:spPr>
          <a:xfrm rot="10800000">
            <a:off x="980694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9244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auge.png"/>
          <p:cNvPicPr>
            <a:picLocks noChangeAspect="1"/>
          </p:cNvPicPr>
          <p:nvPr/>
        </p:nvPicPr>
        <p:blipFill>
          <a:blip r:embed="rId4"/>
          <a:stretch>
            <a:fillRect/>
          </a:stretch>
        </p:blipFill>
        <p:spPr>
          <a:xfrm>
            <a:off x="8321040" y="2697480"/>
            <a:ext cx="868680" cy="868680"/>
          </a:xfrm>
          <a:prstGeom prst="rect">
            <a:avLst/>
          </a:prstGeom>
        </p:spPr>
      </p:pic>
      <p:sp>
        <p:nvSpPr>
          <p:cNvPr id="23" name="TextBox 22"/>
          <p:cNvSpPr txBox="1"/>
          <p:nvPr/>
        </p:nvSpPr>
        <p:spPr>
          <a:xfrm>
            <a:off x="932688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Скорость отклика</a:t>
            </a:r>
          </a:p>
        </p:txBody>
      </p:sp>
      <p:sp>
        <p:nvSpPr>
          <p:cNvPr id="24" name="TextBox 23"/>
          <p:cNvSpPr txBox="1"/>
          <p:nvPr/>
        </p:nvSpPr>
        <p:spPr>
          <a:xfrm>
            <a:off x="832104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Время отклика &lt; 100 мс критично
(антифрод, устройство пользователя)?</a:t>
            </a:r>
          </a:p>
        </p:txBody>
      </p:sp>
      <p:sp>
        <p:nvSpPr>
          <p:cNvPr id="25" name="TextBox 24"/>
          <p:cNvSpPr txBox="1"/>
          <p:nvPr/>
        </p:nvSpPr>
        <p:spPr>
          <a:xfrm>
            <a:off x="832104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Специализированная
маленькая модель
(не LLM ≥200 мс)</a:t>
            </a:r>
          </a:p>
        </p:txBody>
      </p:sp>
      <p:sp>
        <p:nvSpPr>
          <p:cNvPr id="26" name="Rectangle 25"/>
          <p:cNvSpPr/>
          <p:nvPr/>
        </p:nvSpPr>
        <p:spPr>
          <a:xfrm>
            <a:off x="229057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533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8009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12367" y="6080760"/>
            <a:ext cx="9966960" cy="594360"/>
          </a:xfrm>
          <a:prstGeom prst="roundRect">
            <a:avLst>
              <a:gd name="adj" fmla="val 5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2367" y="6080760"/>
            <a:ext cx="9966960" cy="594360"/>
          </a:xfrm>
          <a:prstGeom prst="rect">
            <a:avLst/>
          </a:prstGeom>
          <a:noFill/>
        </p:spPr>
        <p:txBody>
          <a:bodyPr wrap="square" lIns="0" rIns="0" tIns="0" bIns="0" anchor="ctr">
            <a:spAutoFit/>
          </a:bodyPr>
          <a:lstStyle/>
          <a:p>
            <a:pPr algn="ctr">
              <a:lnSpc>
                <a:spcPct val="115000"/>
              </a:lnSpc>
            </a:pPr>
            <a:r>
              <a:rPr sz="16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ИИ считает корреляции в данных, не строит каузальный граф</a:t>
            </a:r>
          </a:p>
        </p:txBody>
      </p:sp>
      <p:sp>
        <p:nvSpPr>
          <p:cNvPr id="4" name="Rounded Rectangle 3"/>
          <p:cNvSpPr/>
          <p:nvPr/>
        </p:nvSpPr>
        <p:spPr>
          <a:xfrm>
            <a:off x="50292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011680"/>
            <a:ext cx="1051560" cy="1051560"/>
          </a:xfrm>
          <a:prstGeom prst="rect">
            <a:avLst/>
          </a:prstGeom>
        </p:spPr>
      </p:pic>
      <p:sp>
        <p:nvSpPr>
          <p:cNvPr id="6" name="TextBox 5"/>
          <p:cNvSpPr txBox="1"/>
          <p:nvPr/>
        </p:nvSpPr>
        <p:spPr>
          <a:xfrm>
            <a:off x="192024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 Для причинных выводов нужен именно этот опыт — не статистика.</a:t>
            </a:r>
          </a:p>
        </p:txBody>
      </p:sp>
      <p:sp>
        <p:nvSpPr>
          <p:cNvPr id="10" name="Rounded Rectangle 9"/>
          <p:cNvSpPr/>
          <p:nvPr/>
        </p:nvSpPr>
        <p:spPr>
          <a:xfrm>
            <a:off x="626364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011680"/>
            <a:ext cx="1051560" cy="1051560"/>
          </a:xfrm>
          <a:prstGeom prst="rect">
            <a:avLst/>
          </a:prstGeom>
        </p:spPr>
      </p:pic>
      <p:sp>
        <p:nvSpPr>
          <p:cNvPr id="12" name="TextBox 11"/>
          <p:cNvSpPr txBox="1"/>
          <p:nvPr/>
        </p:nvSpPr>
        <p:spPr>
          <a:xfrm>
            <a:off x="768096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ИИ (через внимание)</a:t>
            </a:r>
          </a:p>
        </p:txBody>
      </p:sp>
      <p:sp>
        <p:nvSpPr>
          <p:cNvPr id="13" name="TextBox 12"/>
          <p:cNvSpPr txBox="1"/>
          <p:nvPr/>
        </p:nvSpPr>
        <p:spPr>
          <a:xfrm>
            <a:off x="6537959"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Для причинных выводов — привлекайте эксперта предметной области или причинные методы.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03120"/>
            <a:ext cx="1005840" cy="1005840"/>
          </a:xfrm>
          <a:prstGeom prst="rect">
            <a:avLst/>
          </a:prstGeom>
        </p:spPr>
      </p:pic>
      <p:sp>
        <p:nvSpPr>
          <p:cNvPr id="6" name="TextBox 5"/>
          <p:cNvSpPr txBox="1"/>
          <p:nvPr/>
        </p:nvSpPr>
        <p:spPr>
          <a:xfrm>
            <a:off x="1874519"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близость эмбеддингов + LLM → ответ из вашей базы</a:t>
            </a:r>
          </a:p>
        </p:txBody>
      </p:sp>
      <p:sp>
        <p:nvSpPr>
          <p:cNvPr id="9" name="Rounded Rectangle 8"/>
          <p:cNvSpPr/>
          <p:nvPr/>
        </p:nvSpPr>
        <p:spPr>
          <a:xfrm>
            <a:off x="6135624"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364224" y="2103120"/>
            <a:ext cx="1005840" cy="1005840"/>
          </a:xfrm>
          <a:prstGeom prst="rect">
            <a:avLst/>
          </a:prstGeom>
        </p:spPr>
      </p:pic>
      <p:sp>
        <p:nvSpPr>
          <p:cNvPr id="11" name="TextBox 10"/>
          <p:cNvSpPr txBox="1"/>
          <p:nvPr/>
        </p:nvSpPr>
        <p:spPr>
          <a:xfrm>
            <a:off x="7507224"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07224"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09944"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700016"/>
            <a:ext cx="1005840" cy="1005840"/>
          </a:xfrm>
          <a:prstGeom prst="rect">
            <a:avLst/>
          </a:prstGeom>
        </p:spPr>
      </p:pic>
      <p:sp>
        <p:nvSpPr>
          <p:cNvPr id="16" name="TextBox 15"/>
          <p:cNvSpPr txBox="1"/>
          <p:nvPr/>
        </p:nvSpPr>
        <p:spPr>
          <a:xfrm>
            <a:off x="1874519"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35624"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364224" y="4700016"/>
            <a:ext cx="1005840" cy="1005840"/>
          </a:xfrm>
          <a:prstGeom prst="rect">
            <a:avLst/>
          </a:prstGeom>
        </p:spPr>
      </p:pic>
      <p:sp>
        <p:nvSpPr>
          <p:cNvPr id="21" name="TextBox 20"/>
          <p:cNvSpPr txBox="1"/>
          <p:nvPr/>
        </p:nvSpPr>
        <p:spPr>
          <a:xfrm>
            <a:off x="7507224"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07224"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09944"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Модель решает действие, видит результат, корректирует план</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73736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Спасибо</a:t>
            </a:r>
          </a:p>
        </p:txBody>
      </p:sp>
      <p:sp>
        <p:nvSpPr>
          <p:cNvPr id="4" name="TextBox 3"/>
          <p:cNvSpPr txBox="1"/>
          <p:nvPr/>
        </p:nvSpPr>
        <p:spPr>
          <a:xfrm>
            <a:off x="7315200" y="6217920"/>
            <a:ext cx="4434840" cy="365760"/>
          </a:xfrm>
          <a:prstGeom prst="rect">
            <a:avLst/>
          </a:prstGeom>
          <a:noFill/>
        </p:spPr>
        <p:txBody>
          <a:bodyPr wrap="square" lIns="0" rIns="0" tIns="0" bIns="0" anchor="t">
            <a:spAutoFit/>
          </a:bodyPr>
          <a:lstStyle/>
          <a:p>
            <a:pPr algn="r">
              <a:lnSpc>
                <a:spcPct val="115000"/>
              </a:lnSpc>
            </a:pPr>
            <a:r>
              <a:rPr sz="1100" b="0" i="1">
                <a:solidFill>
                  <a:srgbClr val="6B7685"/>
                </a:solidFill>
                <a:latin typeface="Arial"/>
              </a:rPr>
              <a:t>контакты лектора — заполняется перед лекцией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