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7560259" cy="10692079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560259" cy="91440"/>
          </a:xfrm>
          <a:prstGeom prst="rect">
            <a:avLst/>
          </a:prstGeom>
          <a:solidFill>
            <a:srgbClr val="F0A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37744"/>
            <a:ext cx="545713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200" b="1" i="0">
                <a:solidFill>
                  <a:srgbClr val="21295C"/>
                </a:solidFill>
                <a:latin typeface="Arial"/>
              </a:rPr>
              <a:t>12 провалов и противоядия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594299" y="256032"/>
            <a:ext cx="1554480" cy="384048"/>
          </a:xfrm>
          <a:prstGeom prst="roundRect">
            <a:avLst>
              <a:gd name="adj" fmla="val 30000"/>
            </a:avLst>
          </a:prstGeom>
          <a:solidFill>
            <a:srgbClr val="F0A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594299" y="256032"/>
            <a:ext cx="15544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000" b="1" i="0">
                <a:solidFill>
                  <a:srgbClr val="21295C"/>
                </a:solidFill>
                <a:latin typeface="Arial"/>
              </a:rPr>
              <a:t>ГЛАВНАЯ КАРТОЧКА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731520"/>
            <a:ext cx="673729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1">
                <a:solidFill>
                  <a:srgbClr val="1C7293"/>
                </a:solidFill>
                <a:latin typeface="Arial"/>
              </a:rPr>
              <a:t>Опорная карточка #3 · реестр провалов и альтернатив · итоговая лекция v1.0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170432"/>
            <a:ext cx="6828739" cy="420624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02336" y="1170432"/>
            <a:ext cx="237744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000" b="1" i="0">
                <a:solidFill>
                  <a:srgbClr val="FFFFFF"/>
                </a:solidFill>
                <a:latin typeface="Arial"/>
              </a:rPr>
              <a:t>#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1170432"/>
            <a:ext cx="1709928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1" i="0">
                <a:solidFill>
                  <a:srgbClr val="FFFFFF"/>
                </a:solidFill>
                <a:latin typeface="Arial"/>
              </a:rPr>
              <a:t>Провал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96312" y="1170432"/>
            <a:ext cx="1481328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1" i="0">
                <a:solidFill>
                  <a:srgbClr val="FFFFFF"/>
                </a:solidFill>
                <a:latin typeface="Arial"/>
              </a:rPr>
              <a:t>Источник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50791" y="1170432"/>
            <a:ext cx="1709928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1" i="0">
                <a:solidFill>
                  <a:srgbClr val="FFFFFF"/>
                </a:solidFill>
                <a:latin typeface="Arial"/>
              </a:rPr>
              <a:t>Урок одной фразой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33872" y="1170432"/>
            <a:ext cx="1324051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1" i="0">
                <a:solidFill>
                  <a:srgbClr val="FFFFFF"/>
                </a:solidFill>
                <a:latin typeface="Arial"/>
              </a:rPr>
              <a:t>Альтернатива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1591056"/>
            <a:ext cx="6828739" cy="630936"/>
          </a:xfrm>
          <a:prstGeom prst="rect">
            <a:avLst/>
          </a:prstGeom>
          <a:solidFill>
            <a:srgbClr val="F4F7FA"/>
          </a:solidFill>
          <a:ln w="7620">
            <a:solidFill>
              <a:srgbClr val="DD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" y="1591056"/>
            <a:ext cx="310896" cy="6309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1" i="0">
                <a:solidFill>
                  <a:srgbClr val="F0AB00"/>
                </a:solidFill>
                <a:latin typeface="Arial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1591056"/>
            <a:ext cx="1673352" cy="6309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21295C"/>
                </a:solidFill>
                <a:latin typeface="Arial"/>
              </a:rPr>
              <a:t>Открытый мир без закрытой петли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14600" y="1591056"/>
            <a:ext cx="1444752" cy="6309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i="1">
                <a:solidFill>
                  <a:srgbClr val="6B7685"/>
                </a:solidFill>
                <a:latin typeface="Arial"/>
              </a:rPr>
              <a:t>Zillow · Monarch · Cruise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69079" y="1591056"/>
            <a:ext cx="1673352" cy="6309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065A82"/>
                </a:solidFill>
                <a:latin typeface="Arial"/>
              </a:rPr>
              <a:t>Сдвиг распределения убивает ML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52159" y="1591056"/>
            <a:ext cx="1287475" cy="6309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028090"/>
                </a:solidFill>
                <a:latin typeface="Arial"/>
              </a:rPr>
              <a:t>Сузить домен · человек-советник · не-ИИ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2221991"/>
            <a:ext cx="6828739" cy="630936"/>
          </a:xfrm>
          <a:prstGeom prst="rect">
            <a:avLst/>
          </a:prstGeom>
          <a:solidFill>
            <a:srgbClr val="FFFFFF"/>
          </a:solidFill>
          <a:ln w="7620">
            <a:solidFill>
              <a:srgbClr val="DD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5760" y="2221991"/>
            <a:ext cx="310896" cy="6309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1" i="0">
                <a:solidFill>
                  <a:srgbClr val="F0AB00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2221991"/>
            <a:ext cx="1673352" cy="6309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21295C"/>
                </a:solidFill>
                <a:latin typeface="Arial"/>
              </a:rPr>
              <a:t>Накопление ненадёжности (агент)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514600" y="2221991"/>
            <a:ext cx="1444752" cy="6309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i="1">
                <a:solidFill>
                  <a:srgbClr val="6B7685"/>
                </a:solidFill>
                <a:latin typeface="Arial"/>
              </a:rPr>
              <a:t>$4 200-петля · агент-SE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069079" y="2221991"/>
            <a:ext cx="1673352" cy="6309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065A82"/>
                </a:solidFill>
                <a:latin typeface="Arial"/>
              </a:rPr>
              <a:t>p^N → 0 при N &gt; 10 шагов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852159" y="2221991"/>
            <a:ext cx="1287475" cy="6309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028090"/>
                </a:solidFill>
                <a:latin typeface="Arial"/>
              </a:rPr>
              <a:t>Лимит бюджета + макс. шагов + точки HITL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2852927"/>
            <a:ext cx="6828739" cy="630936"/>
          </a:xfrm>
          <a:prstGeom prst="rect">
            <a:avLst/>
          </a:prstGeom>
          <a:solidFill>
            <a:srgbClr val="F4F7FA"/>
          </a:solidFill>
          <a:ln w="7620">
            <a:solidFill>
              <a:srgbClr val="DD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5760" y="2852927"/>
            <a:ext cx="310896" cy="6309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1" i="0">
                <a:solidFill>
                  <a:srgbClr val="F0AB00"/>
                </a:solidFill>
                <a:latin typeface="Arial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2852927"/>
            <a:ext cx="1673352" cy="6309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21295C"/>
                </a:solidFill>
                <a:latin typeface="Arial"/>
              </a:rPr>
              <a:t>Демо ≠ промышленная эксплуатация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514600" y="2852927"/>
            <a:ext cx="1444752" cy="6309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i="1">
                <a:solidFill>
                  <a:srgbClr val="6B7685"/>
                </a:solidFill>
                <a:latin typeface="Arial"/>
              </a:rPr>
              <a:t>Devin · Watson · Epic · Klarna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069079" y="2852927"/>
            <a:ext cx="1673352" cy="6309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065A82"/>
                </a:solidFill>
                <a:latin typeface="Arial"/>
              </a:rPr>
              <a:t>Бенчмарк вендора ≠ ваша среда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852159" y="2852927"/>
            <a:ext cx="1287475" cy="6309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028090"/>
                </a:solidFill>
                <a:latin typeface="Arial"/>
              </a:rPr>
              <a:t>Повторить замер на ваших данных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65760" y="3483863"/>
            <a:ext cx="6828739" cy="630936"/>
          </a:xfrm>
          <a:prstGeom prst="rect">
            <a:avLst/>
          </a:prstGeom>
          <a:solidFill>
            <a:srgbClr val="FFFFFF"/>
          </a:solidFill>
          <a:ln w="7620">
            <a:solidFill>
              <a:srgbClr val="DD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65760" y="3483863"/>
            <a:ext cx="310896" cy="6309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1" i="0">
                <a:solidFill>
                  <a:srgbClr val="F0AB00"/>
                </a:solidFill>
                <a:latin typeface="Arial"/>
              </a:rPr>
              <a:t>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20" y="3483863"/>
            <a:ext cx="1673352" cy="6309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21295C"/>
                </a:solidFill>
                <a:latin typeface="Arial"/>
              </a:rPr>
              <a:t>Скучный человек-в-петле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514600" y="3483863"/>
            <a:ext cx="1444752" cy="6309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i="1">
                <a:solidFill>
                  <a:srgbClr val="6B7685"/>
                </a:solidFill>
                <a:latin typeface="Arial"/>
              </a:rPr>
              <a:t>Uber Tempe · F-35 ALIS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069079" y="3483863"/>
            <a:ext cx="1673352" cy="6309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065A82"/>
                </a:solidFill>
                <a:latin typeface="Arial"/>
              </a:rPr>
              <a:t>Монотонный надзор проваливается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852159" y="3483863"/>
            <a:ext cx="1287475" cy="6309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028090"/>
                </a:solidFill>
                <a:latin typeface="Arial"/>
              </a:rPr>
              <a:t>Надзор с алертом · снизить ложн. срабат.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65760" y="4114800"/>
            <a:ext cx="6828739" cy="630936"/>
          </a:xfrm>
          <a:prstGeom prst="rect">
            <a:avLst/>
          </a:prstGeom>
          <a:solidFill>
            <a:srgbClr val="F4F7FA"/>
          </a:solidFill>
          <a:ln w="7620">
            <a:solidFill>
              <a:srgbClr val="DD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65760" y="4114800"/>
            <a:ext cx="310896" cy="6309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1" i="0">
                <a:solidFill>
                  <a:srgbClr val="F0AB00"/>
                </a:solidFill>
                <a:latin typeface="Arial"/>
              </a:rPr>
              <a:t>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1520" y="4114800"/>
            <a:ext cx="1673352" cy="6309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21295C"/>
                </a:solidFill>
                <a:latin typeface="Arial"/>
              </a:rPr>
              <a:t>Переавтоматизация вариативных зон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514600" y="4114800"/>
            <a:ext cx="1444752" cy="6309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i="1">
                <a:solidFill>
                  <a:srgbClr val="6B7685"/>
                </a:solidFill>
                <a:latin typeface="Arial"/>
              </a:rPr>
              <a:t>Tesla 2018 · Boeing MAX 9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069079" y="4114800"/>
            <a:ext cx="1673352" cy="6309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065A82"/>
                </a:solidFill>
                <a:latin typeface="Arial"/>
              </a:rPr>
              <a:t>Парадокс автоматизации (Bainbridge 1983)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852159" y="4114800"/>
            <a:ext cx="1287475" cy="6309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028090"/>
                </a:solidFill>
                <a:latin typeface="Arial"/>
              </a:rPr>
              <a:t>Jidoka: усиление, не замена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65760" y="4745736"/>
            <a:ext cx="6828739" cy="630936"/>
          </a:xfrm>
          <a:prstGeom prst="rect">
            <a:avLst/>
          </a:prstGeom>
          <a:solidFill>
            <a:srgbClr val="FFFFFF"/>
          </a:solidFill>
          <a:ln w="7620">
            <a:solidFill>
              <a:srgbClr val="DD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65760" y="4745736"/>
            <a:ext cx="310896" cy="6309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1" i="0">
                <a:solidFill>
                  <a:srgbClr val="F0AB00"/>
                </a:solidFill>
                <a:latin typeface="Arial"/>
              </a:rPr>
              <a:t>6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31520" y="4745736"/>
            <a:ext cx="1673352" cy="6309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21295C"/>
                </a:solidFill>
                <a:latin typeface="Arial"/>
              </a:rPr>
              <a:t>Действие без канарейки и отката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514600" y="4745736"/>
            <a:ext cx="1444752" cy="6309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i="1">
                <a:solidFill>
                  <a:srgbClr val="6B7685"/>
                </a:solidFill>
                <a:latin typeface="Arial"/>
              </a:rPr>
              <a:t>CrowdStrike · Cloudflare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069079" y="4745736"/>
            <a:ext cx="1673352" cy="6309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065A82"/>
                </a:solidFill>
                <a:latin typeface="Arial"/>
              </a:rPr>
              <a:t>Широкий домен = большой радиус поражения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852159" y="4745736"/>
            <a:ext cx="1287475" cy="6309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028090"/>
                </a:solidFill>
                <a:latin typeface="Arial"/>
              </a:rPr>
              <a:t>Канарейка + телеметрия + откат в 1 клик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65760" y="5376671"/>
            <a:ext cx="6828739" cy="630936"/>
          </a:xfrm>
          <a:prstGeom prst="rect">
            <a:avLst/>
          </a:prstGeom>
          <a:solidFill>
            <a:srgbClr val="F4F7FA"/>
          </a:solidFill>
          <a:ln w="7620">
            <a:solidFill>
              <a:srgbClr val="DD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65760" y="5376671"/>
            <a:ext cx="310896" cy="6309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1" i="0">
                <a:solidFill>
                  <a:srgbClr val="F0AB00"/>
                </a:solidFill>
                <a:latin typeface="Arial"/>
              </a:rPr>
              <a:t>7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31520" y="5376671"/>
            <a:ext cx="1673352" cy="6309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21295C"/>
                </a:solidFill>
                <a:latin typeface="Arial"/>
              </a:rPr>
              <a:t>Научная галлюцинация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514600" y="5376671"/>
            <a:ext cx="1444752" cy="6309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i="1">
                <a:solidFill>
                  <a:srgbClr val="6B7685"/>
                </a:solidFill>
                <a:latin typeface="Arial"/>
              </a:rPr>
              <a:t>Meta Galactica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069079" y="5376671"/>
            <a:ext cx="1673352" cy="6309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065A82"/>
                </a:solidFill>
                <a:latin typeface="Arial"/>
              </a:rPr>
              <a:t>Текст ≠ эксперимент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852159" y="5376671"/>
            <a:ext cx="1287475" cy="6309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028090"/>
                </a:solidFill>
                <a:latin typeface="Arial"/>
              </a:rPr>
              <a:t>RAG-заземление + рецензирование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65760" y="6007607"/>
            <a:ext cx="6828739" cy="630936"/>
          </a:xfrm>
          <a:prstGeom prst="rect">
            <a:avLst/>
          </a:prstGeom>
          <a:solidFill>
            <a:srgbClr val="FFFFFF"/>
          </a:solidFill>
          <a:ln w="7620">
            <a:solidFill>
              <a:srgbClr val="DD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65760" y="6007607"/>
            <a:ext cx="310896" cy="6309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1" i="0">
                <a:solidFill>
                  <a:srgbClr val="F0AB00"/>
                </a:solidFill>
                <a:latin typeface="Arial"/>
              </a:rPr>
              <a:t>8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31520" y="6007607"/>
            <a:ext cx="1673352" cy="6309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21295C"/>
                </a:solidFill>
                <a:latin typeface="Arial"/>
              </a:rPr>
              <a:t>Голос / видео-дипфейк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514600" y="6007607"/>
            <a:ext cx="1444752" cy="6309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i="1">
                <a:solidFill>
                  <a:srgbClr val="6B7685"/>
                </a:solidFill>
                <a:latin typeface="Arial"/>
              </a:rPr>
              <a:t>Wendy's · Air Canada · Arup $25М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069079" y="6007607"/>
            <a:ext cx="1673352" cy="6309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065A82"/>
                </a:solidFill>
                <a:latin typeface="Arial"/>
              </a:rPr>
              <a:t>Шум + сложность = провал; видео — новый вектор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852159" y="6007607"/>
            <a:ext cx="1287475" cy="6309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028090"/>
                </a:solidFill>
                <a:latin typeface="Arial"/>
              </a:rPr>
              <a:t>Меню по правилам · C2PA · независимый канал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65760" y="6638543"/>
            <a:ext cx="6828739" cy="630936"/>
          </a:xfrm>
          <a:prstGeom prst="rect">
            <a:avLst/>
          </a:prstGeom>
          <a:solidFill>
            <a:srgbClr val="F4F7FA"/>
          </a:solidFill>
          <a:ln w="7620">
            <a:solidFill>
              <a:srgbClr val="DD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65760" y="6638543"/>
            <a:ext cx="310896" cy="6309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1" i="0">
                <a:solidFill>
                  <a:srgbClr val="F0AB00"/>
                </a:solidFill>
                <a:latin typeface="Arial"/>
              </a:rPr>
              <a:t>9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31520" y="6638543"/>
            <a:ext cx="1673352" cy="6309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21295C"/>
                </a:solidFill>
                <a:latin typeface="Arial"/>
              </a:rPr>
              <a:t>Утечка обучающих данных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514600" y="6638543"/>
            <a:ext cx="1444752" cy="6309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i="1">
                <a:solidFill>
                  <a:srgbClr val="6B7685"/>
                </a:solidFill>
                <a:latin typeface="Arial"/>
              </a:rPr>
              <a:t>Getty v. Stability · NYT v. OpenAI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069079" y="6638543"/>
            <a:ext cx="1673352" cy="6309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065A82"/>
                </a:solidFill>
                <a:latin typeface="Arial"/>
              </a:rPr>
              <a:t>Хвост запоминания в моделях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852159" y="6638543"/>
            <a:ext cx="1287475" cy="6309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028090"/>
                </a:solidFill>
                <a:latin typeface="Arial"/>
              </a:rPr>
              <a:t>Лицензированные датасеты · аудит происхождения</a:t>
            </a:r>
          </a:p>
        </p:txBody>
      </p:sp>
      <p:sp>
        <p:nvSpPr>
          <p:cNvPr id="67" name="Rectangle 66"/>
          <p:cNvSpPr/>
          <p:nvPr/>
        </p:nvSpPr>
        <p:spPr>
          <a:xfrm>
            <a:off x="365760" y="7269479"/>
            <a:ext cx="6828739" cy="630936"/>
          </a:xfrm>
          <a:prstGeom prst="rect">
            <a:avLst/>
          </a:prstGeom>
          <a:solidFill>
            <a:srgbClr val="FFFFFF"/>
          </a:solidFill>
          <a:ln w="7620">
            <a:solidFill>
              <a:srgbClr val="DD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365760" y="7269479"/>
            <a:ext cx="310896" cy="6309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1" i="0">
                <a:solidFill>
                  <a:srgbClr val="F0AB00"/>
                </a:solidFill>
                <a:latin typeface="Arial"/>
              </a:rPr>
              <a:t>10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31520" y="7269479"/>
            <a:ext cx="1673352" cy="6309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21295C"/>
                </a:solidFill>
                <a:latin typeface="Arial"/>
              </a:rPr>
              <a:t>Привязка к вендору (в регулируемых)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2514600" y="7269479"/>
            <a:ext cx="1444752" cy="6309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i="1">
                <a:solidFill>
                  <a:srgbClr val="6B7685"/>
                </a:solidFill>
                <a:latin typeface="Arial"/>
              </a:rPr>
              <a:t>Climate FieldView · ALIS · Watson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4069079" y="7269479"/>
            <a:ext cx="1673352" cy="6309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065A82"/>
                </a:solidFill>
                <a:latin typeface="Arial"/>
              </a:rPr>
              <a:t>Привязка → стратегический риск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5852159" y="7269479"/>
            <a:ext cx="1287475" cy="6309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028090"/>
                </a:solidFill>
                <a:latin typeface="Arial"/>
              </a:rPr>
              <a:t>Гос-стиль владения · экспорт данных в договоре</a:t>
            </a:r>
          </a:p>
        </p:txBody>
      </p:sp>
      <p:sp>
        <p:nvSpPr>
          <p:cNvPr id="73" name="Rectangle 72"/>
          <p:cNvSpPr/>
          <p:nvPr/>
        </p:nvSpPr>
        <p:spPr>
          <a:xfrm>
            <a:off x="365760" y="7900415"/>
            <a:ext cx="6828739" cy="630936"/>
          </a:xfrm>
          <a:prstGeom prst="rect">
            <a:avLst/>
          </a:prstGeom>
          <a:solidFill>
            <a:srgbClr val="F4F7FA"/>
          </a:solidFill>
          <a:ln w="7620">
            <a:solidFill>
              <a:srgbClr val="DD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365760" y="7900415"/>
            <a:ext cx="310896" cy="6309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1" i="0">
                <a:solidFill>
                  <a:srgbClr val="F0AB00"/>
                </a:solidFill>
                <a:latin typeface="Arial"/>
              </a:rPr>
              <a:t>11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731520" y="7900415"/>
            <a:ext cx="1673352" cy="6309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21295C"/>
                </a:solidFill>
                <a:latin typeface="Arial"/>
              </a:rPr>
              <a:t>Slopsquatting (цепочка поставок)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2514600" y="7900415"/>
            <a:ext cx="1444752" cy="6309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i="1">
                <a:solidFill>
                  <a:srgbClr val="6B7685"/>
                </a:solidFill>
                <a:latin typeface="Arial"/>
              </a:rPr>
              <a:t>имена npm / pip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4069079" y="7900415"/>
            <a:ext cx="1673352" cy="6309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065A82"/>
                </a:solidFill>
                <a:latin typeface="Arial"/>
              </a:rPr>
              <a:t>Выдуманные ИИ имена = новый вектор атаки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5852159" y="7900415"/>
            <a:ext cx="1287475" cy="6309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028090"/>
                </a:solidFill>
                <a:latin typeface="Arial"/>
              </a:rPr>
              <a:t>Проверка SBOM + белый список импортов</a:t>
            </a:r>
          </a:p>
        </p:txBody>
      </p:sp>
      <p:sp>
        <p:nvSpPr>
          <p:cNvPr id="79" name="Rectangle 78"/>
          <p:cNvSpPr/>
          <p:nvPr/>
        </p:nvSpPr>
        <p:spPr>
          <a:xfrm>
            <a:off x="365760" y="8531351"/>
            <a:ext cx="6828739" cy="630936"/>
          </a:xfrm>
          <a:prstGeom prst="rect">
            <a:avLst/>
          </a:prstGeom>
          <a:solidFill>
            <a:srgbClr val="FFFFFF"/>
          </a:solidFill>
          <a:ln w="7620">
            <a:solidFill>
              <a:srgbClr val="DD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365760" y="8531351"/>
            <a:ext cx="310896" cy="6309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1" i="0">
                <a:solidFill>
                  <a:srgbClr val="F0AB00"/>
                </a:solidFill>
                <a:latin typeface="Arial"/>
              </a:rPr>
              <a:t>12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731520" y="8531351"/>
            <a:ext cx="1673352" cy="6309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21295C"/>
                </a:solidFill>
                <a:latin typeface="Arial"/>
              </a:rPr>
              <a:t>Болото пилотов (90–95% не доходят)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2514600" y="8531351"/>
            <a:ext cx="1444752" cy="6309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i="1">
                <a:solidFill>
                  <a:srgbClr val="6B7685"/>
                </a:solidFill>
                <a:latin typeface="Arial"/>
              </a:rPr>
              <a:t>MIT 95% · McKinsey 5,5% · РФ 9 из 10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4069079" y="8531351"/>
            <a:ext cx="1673352" cy="6309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065A82"/>
                </a:solidFill>
                <a:latin typeface="Arial"/>
              </a:rPr>
              <a:t>Слип в бесконечный пилот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5852159" y="8531351"/>
            <a:ext cx="1287475" cy="6309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028090"/>
                </a:solidFill>
                <a:latin typeface="Arial"/>
              </a:rPr>
              <a:t>Явные ворота GO/NO-GO + бюджет + базовая линия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411480" y="9308591"/>
            <a:ext cx="6737299" cy="1005840"/>
          </a:xfrm>
          <a:prstGeom prst="roundRect">
            <a:avLst>
              <a:gd name="adj" fmla="val 8000"/>
            </a:avLst>
          </a:prstGeom>
          <a:solidFill>
            <a:srgbClr val="FEF5E0"/>
          </a:solidFill>
          <a:ln w="22225">
            <a:solidFill>
              <a:srgbClr val="F0A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594360" y="9400031"/>
            <a:ext cx="6371539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21295C"/>
                </a:solidFill>
                <a:latin typeface="Arial"/>
              </a:rPr>
              <a:t>Правило: </a:t>
            </a:r>
            <a:r>
              <a:rPr sz="1100" b="0" i="0">
                <a:solidFill>
                  <a:srgbClr val="21295C"/>
                </a:solidFill>
                <a:latin typeface="Arial"/>
              </a:rPr>
              <a:t>на любой вендор-питч / планёрку / рецензию — пройдите 12 строк.</a:t>
            </a:r>
          </a:p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21295C"/>
                </a:solidFill>
                <a:latin typeface="Arial"/>
              </a:rPr>
              <a:t>Узнаёте паттерн — задайте уточняющий вопрос. </a:t>
            </a:r>
            <a:r>
              <a:rPr sz="1100" b="1" i="0">
                <a:solidFill>
                  <a:srgbClr val="F0AB00"/>
                </a:solidFill>
                <a:latin typeface="Arial"/>
              </a:rPr>
              <a:t>Часто этого достаточно, чтобы спасти проект.</a:t>
            </a:r>
          </a:p>
          <a:p>
            <a:pPr algn="l">
              <a:lnSpc>
                <a:spcPct val="120000"/>
              </a:lnSpc>
            </a:pPr>
            <a:r>
              <a:rPr sz="1000" b="0" i="1">
                <a:solidFill>
                  <a:srgbClr val="6B7685"/>
                </a:solidFill>
                <a:latin typeface="Arial"/>
              </a:rPr>
              <a:t>12 — за пределами рабочей памяти (Miller, 7±2): держите на бумаге, не в голове.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411480" y="10381183"/>
            <a:ext cx="673729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 i="1">
                <a:solidFill>
                  <a:srgbClr val="6B7685"/>
                </a:solidFill>
                <a:latin typeface="Arial"/>
              </a:rPr>
              <a:t>ML, HITL, RAG, SBOM, C2PA, slopsquatting (выдуманные ИИ имена-зависимости) — термины из материала; кейсы — бренды. Источник: глава §5.3. Лекция 17 · МГТУ ИУ6.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