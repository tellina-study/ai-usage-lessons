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7560259" cy="10692079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560259" cy="91440"/>
          </a:xfrm>
          <a:prstGeom prst="rect">
            <a:avLst/>
          </a:prstGeom>
          <a:solidFill>
            <a:srgbClr val="02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74320"/>
            <a:ext cx="6737299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200" b="1" i="0">
                <a:solidFill>
                  <a:srgbClr val="21295C"/>
                </a:solidFill>
                <a:latin typeface="Arial"/>
              </a:rPr>
              <a:t>Лестница автономии: L0 → L5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804672"/>
            <a:ext cx="6737299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 i="1">
                <a:solidFill>
                  <a:srgbClr val="1C7293"/>
                </a:solidFill>
                <a:latin typeface="Arial"/>
              </a:rPr>
              <a:t>Опорная карточка #2 · уровни автономии и критерии подъёма · итоговая лекция v1.0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" y="1280160"/>
            <a:ext cx="6737299" cy="475488"/>
          </a:xfrm>
          <a:prstGeom prst="rect">
            <a:avLst/>
          </a:prstGeom>
          <a:solidFill>
            <a:srgbClr val="2129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48056" y="1280160"/>
            <a:ext cx="493776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1050" b="1" i="0">
                <a:solidFill>
                  <a:srgbClr val="FFFFFF"/>
                </a:solidFill>
                <a:latin typeface="Arial"/>
              </a:rPr>
              <a:t>Ур.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4984" y="1280160"/>
            <a:ext cx="1618488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1" i="0">
                <a:solidFill>
                  <a:srgbClr val="FFFFFF"/>
                </a:solidFill>
                <a:latin typeface="Arial"/>
              </a:rPr>
              <a:t>Название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06624" y="1280160"/>
            <a:ext cx="1709928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1" i="0">
                <a:solidFill>
                  <a:srgbClr val="FFFFFF"/>
                </a:solidFill>
                <a:latin typeface="Arial"/>
              </a:rPr>
              <a:t>Что ИИ делает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89704" y="1280160"/>
            <a:ext cx="1115568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1" i="0">
                <a:solidFill>
                  <a:srgbClr val="FFFFFF"/>
                </a:solidFill>
                <a:latin typeface="Arial"/>
              </a:rPr>
              <a:t>Кто решает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78424" y="1280160"/>
            <a:ext cx="1433779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1" i="0">
                <a:solidFill>
                  <a:srgbClr val="FFFFFF"/>
                </a:solidFill>
                <a:latin typeface="Arial"/>
              </a:rPr>
              <a:t>Критерий подъёма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11480" y="1755648"/>
            <a:ext cx="6737299" cy="969264"/>
          </a:xfrm>
          <a:prstGeom prst="rect">
            <a:avLst/>
          </a:prstGeom>
          <a:solidFill>
            <a:srgbClr val="F4F7FA"/>
          </a:solidFill>
          <a:ln w="9525">
            <a:solidFill>
              <a:srgbClr val="DDE4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57200" y="2048256"/>
            <a:ext cx="438912" cy="384048"/>
          </a:xfrm>
          <a:prstGeom prst="roundRect">
            <a:avLst>
              <a:gd name="adj" fmla="val 40000"/>
            </a:avLst>
          </a:prstGeom>
          <a:solidFill>
            <a:srgbClr val="6B76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11480" y="1755648"/>
            <a:ext cx="566928" cy="9692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1300" b="1" i="0">
                <a:solidFill>
                  <a:srgbClr val="FFFFFF"/>
                </a:solidFill>
                <a:latin typeface="Arial"/>
              </a:rPr>
              <a:t>L0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33272" y="1755648"/>
            <a:ext cx="1581912" cy="9692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4000"/>
              </a:lnSpc>
            </a:pPr>
            <a:r>
              <a:rPr sz="1100" b="1" i="0">
                <a:solidFill>
                  <a:srgbClr val="21295C"/>
                </a:solidFill>
                <a:latin typeface="Arial"/>
              </a:rPr>
              <a:t>Без автоматизации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24912" y="1755648"/>
            <a:ext cx="1673352" cy="9692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4000"/>
              </a:lnSpc>
            </a:pPr>
            <a:r>
              <a:rPr sz="1000" b="0" i="0">
                <a:solidFill>
                  <a:srgbClr val="21295C"/>
                </a:solidFill>
                <a:latin typeface="Arial"/>
              </a:rPr>
              <a:t>Нет ИИ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07992" y="1755648"/>
            <a:ext cx="1078992" cy="9692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4000"/>
              </a:lnSpc>
            </a:pPr>
            <a:r>
              <a:rPr sz="1000" b="0" i="0">
                <a:solidFill>
                  <a:srgbClr val="21295C"/>
                </a:solidFill>
                <a:latin typeface="Arial"/>
              </a:rPr>
              <a:t>Человек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696712" y="1755648"/>
            <a:ext cx="1397203" cy="9692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4000"/>
              </a:lnSpc>
            </a:pPr>
            <a:r>
              <a:rPr sz="950" b="0" i="0">
                <a:solidFill>
                  <a:srgbClr val="065A82"/>
                </a:solidFill>
                <a:latin typeface="Arial"/>
              </a:rPr>
              <a:t>Базовая линия собрана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11480" y="2724912"/>
            <a:ext cx="6737299" cy="969264"/>
          </a:xfrm>
          <a:prstGeom prst="rect">
            <a:avLst/>
          </a:prstGeom>
          <a:solidFill>
            <a:srgbClr val="FFFFFF"/>
          </a:solidFill>
          <a:ln w="9525">
            <a:solidFill>
              <a:srgbClr val="DDE4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457200" y="3017520"/>
            <a:ext cx="438912" cy="384048"/>
          </a:xfrm>
          <a:prstGeom prst="roundRect">
            <a:avLst>
              <a:gd name="adj" fmla="val 40000"/>
            </a:avLst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11480" y="2724912"/>
            <a:ext cx="566928" cy="9692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1300" b="1" i="0">
                <a:solidFill>
                  <a:srgbClr val="FFFFFF"/>
                </a:solidFill>
                <a:latin typeface="Arial"/>
              </a:rPr>
              <a:t>L1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33272" y="2724912"/>
            <a:ext cx="1581912" cy="9692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4000"/>
              </a:lnSpc>
            </a:pPr>
            <a:r>
              <a:rPr sz="1100" b="1" i="0">
                <a:solidFill>
                  <a:srgbClr val="21295C"/>
                </a:solidFill>
                <a:latin typeface="Arial"/>
              </a:rPr>
              <a:t>Советует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724912" y="2724912"/>
            <a:ext cx="1673352" cy="9692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4000"/>
              </a:lnSpc>
            </a:pPr>
            <a:r>
              <a:rPr sz="1000" b="0" i="0">
                <a:solidFill>
                  <a:srgbClr val="21295C"/>
                </a:solidFill>
                <a:latin typeface="Arial"/>
              </a:rPr>
              <a:t>Классиф. / предсказ. / рекоменд.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07992" y="2724912"/>
            <a:ext cx="1078992" cy="9692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4000"/>
              </a:lnSpc>
            </a:pPr>
            <a:r>
              <a:rPr sz="1000" b="0" i="0">
                <a:solidFill>
                  <a:srgbClr val="21295C"/>
                </a:solidFill>
                <a:latin typeface="Arial"/>
              </a:rPr>
              <a:t>Человек всегда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696712" y="2724912"/>
            <a:ext cx="1397203" cy="9692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4000"/>
              </a:lnSpc>
            </a:pPr>
            <a:r>
              <a:rPr sz="950" b="0" i="0">
                <a:solidFill>
                  <a:srgbClr val="065A82"/>
                </a:solidFill>
                <a:latin typeface="Arial"/>
              </a:rPr>
              <a:t>Базовая линия + контроль изменений + откат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11480" y="3694176"/>
            <a:ext cx="6737299" cy="969264"/>
          </a:xfrm>
          <a:prstGeom prst="rect">
            <a:avLst/>
          </a:prstGeom>
          <a:solidFill>
            <a:srgbClr val="F4F7FA"/>
          </a:solidFill>
          <a:ln w="9525">
            <a:solidFill>
              <a:srgbClr val="DDE4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457200" y="3986784"/>
            <a:ext cx="438912" cy="384048"/>
          </a:xfrm>
          <a:prstGeom prst="roundRect">
            <a:avLst>
              <a:gd name="adj" fmla="val 40000"/>
            </a:avLst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11480" y="3694176"/>
            <a:ext cx="566928" cy="9692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1300" b="1" i="0">
                <a:solidFill>
                  <a:srgbClr val="FFFFFF"/>
                </a:solidFill>
                <a:latin typeface="Arial"/>
              </a:rPr>
              <a:t>L2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33272" y="3694176"/>
            <a:ext cx="1581912" cy="9692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4000"/>
              </a:lnSpc>
            </a:pPr>
            <a:r>
              <a:rPr sz="1100" b="1" i="0">
                <a:solidFill>
                  <a:srgbClr val="21295C"/>
                </a:solidFill>
                <a:latin typeface="Arial"/>
              </a:rPr>
              <a:t>С подтверждением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724912" y="3694176"/>
            <a:ext cx="1673352" cy="9692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4000"/>
              </a:lnSpc>
            </a:pPr>
            <a:r>
              <a:rPr sz="1000" b="0" i="0">
                <a:solidFill>
                  <a:srgbClr val="21295C"/>
                </a:solidFill>
                <a:latin typeface="Arial"/>
              </a:rPr>
              <a:t>Действует, человек подтверждает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07992" y="3694176"/>
            <a:ext cx="1078992" cy="9692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4000"/>
              </a:lnSpc>
            </a:pPr>
            <a:r>
              <a:rPr sz="1000" b="0" i="0">
                <a:solidFill>
                  <a:srgbClr val="21295C"/>
                </a:solidFill>
                <a:latin typeface="Arial"/>
              </a:rPr>
              <a:t>Человек каждое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696712" y="3694176"/>
            <a:ext cx="1397203" cy="9692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4000"/>
              </a:lnSpc>
            </a:pPr>
            <a:r>
              <a:rPr sz="950" b="0" i="0">
                <a:solidFill>
                  <a:srgbClr val="065A82"/>
                </a:solidFill>
                <a:latin typeface="Arial"/>
              </a:rPr>
              <a:t>Частота ложных срабат. + канарейка + откат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11480" y="4663440"/>
            <a:ext cx="6737299" cy="969264"/>
          </a:xfrm>
          <a:prstGeom prst="rect">
            <a:avLst/>
          </a:prstGeom>
          <a:solidFill>
            <a:srgbClr val="FFFFFF"/>
          </a:solidFill>
          <a:ln w="9525">
            <a:solidFill>
              <a:srgbClr val="DDE4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457200" y="4956048"/>
            <a:ext cx="438912" cy="384048"/>
          </a:xfrm>
          <a:prstGeom prst="roundRect">
            <a:avLst>
              <a:gd name="adj" fmla="val 40000"/>
            </a:avLst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11480" y="4663440"/>
            <a:ext cx="566928" cy="9692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1300" b="1" i="0">
                <a:solidFill>
                  <a:srgbClr val="FFFFFF"/>
                </a:solidFill>
                <a:latin typeface="Arial"/>
              </a:rPr>
              <a:t>L3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33272" y="4663440"/>
            <a:ext cx="1581912" cy="9692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4000"/>
              </a:lnSpc>
            </a:pPr>
            <a:r>
              <a:rPr sz="1100" b="1" i="0">
                <a:solidFill>
                  <a:srgbClr val="21295C"/>
                </a:solidFill>
                <a:latin typeface="Arial"/>
              </a:rPr>
              <a:t>Условный (узкий домен)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724912" y="4663440"/>
            <a:ext cx="1673352" cy="9692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4000"/>
              </a:lnSpc>
            </a:pPr>
            <a:r>
              <a:rPr sz="1000" b="0" i="0">
                <a:solidFill>
                  <a:srgbClr val="21295C"/>
                </a:solidFill>
                <a:latin typeface="Arial"/>
              </a:rPr>
              <a:t>Действует в узком домене (ODD)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07992" y="4663440"/>
            <a:ext cx="1078992" cy="9692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4000"/>
              </a:lnSpc>
            </a:pPr>
            <a:r>
              <a:rPr sz="1000" b="0" i="0">
                <a:solidFill>
                  <a:srgbClr val="21295C"/>
                </a:solidFill>
                <a:latin typeface="Arial"/>
              </a:rPr>
              <a:t>На петле (HOOL)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696712" y="4663440"/>
            <a:ext cx="1397203" cy="9692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4000"/>
              </a:lnSpc>
            </a:pPr>
            <a:r>
              <a:rPr sz="950" b="0" i="0">
                <a:solidFill>
                  <a:srgbClr val="065A82"/>
                </a:solidFill>
                <a:latin typeface="Arial"/>
              </a:rPr>
              <a:t>Домен (ODD) формально + телеметрия + go/no-go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11480" y="5632704"/>
            <a:ext cx="6737299" cy="969264"/>
          </a:xfrm>
          <a:prstGeom prst="rect">
            <a:avLst/>
          </a:prstGeom>
          <a:solidFill>
            <a:srgbClr val="F4F7FA"/>
          </a:solidFill>
          <a:ln w="9525">
            <a:solidFill>
              <a:srgbClr val="DDE4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457200" y="5925312"/>
            <a:ext cx="438912" cy="384048"/>
          </a:xfrm>
          <a:prstGeom prst="roundRect">
            <a:avLst>
              <a:gd name="adj" fmla="val 40000"/>
            </a:avLst>
          </a:prstGeom>
          <a:solidFill>
            <a:srgbClr val="02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11480" y="5632704"/>
            <a:ext cx="566928" cy="9692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1300" b="1" i="0">
                <a:solidFill>
                  <a:srgbClr val="FFFFFF"/>
                </a:solidFill>
                <a:latin typeface="Arial"/>
              </a:rPr>
              <a:t>L4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33272" y="5632704"/>
            <a:ext cx="1581912" cy="9692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4000"/>
              </a:lnSpc>
            </a:pPr>
            <a:r>
              <a:rPr sz="1100" b="1" i="0">
                <a:solidFill>
                  <a:srgbClr val="21295C"/>
                </a:solidFill>
                <a:latin typeface="Arial"/>
              </a:rPr>
              <a:t>Высокий (широкий домен)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724912" y="5632704"/>
            <a:ext cx="1673352" cy="9692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4000"/>
              </a:lnSpc>
            </a:pPr>
            <a:r>
              <a:rPr sz="1000" b="0" i="0">
                <a:solidFill>
                  <a:srgbClr val="21295C"/>
                </a:solidFill>
                <a:latin typeface="Arial"/>
              </a:rPr>
              <a:t>Действует в широком домене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507992" y="5632704"/>
            <a:ext cx="1078992" cy="9692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4000"/>
              </a:lnSpc>
            </a:pPr>
            <a:r>
              <a:rPr sz="1000" b="0" i="0">
                <a:solidFill>
                  <a:srgbClr val="21295C"/>
                </a:solidFill>
                <a:latin typeface="Arial"/>
              </a:rPr>
              <a:t>Вне петли (HOTL)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696712" y="5632704"/>
            <a:ext cx="1397203" cy="9692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4000"/>
              </a:lnSpc>
            </a:pPr>
            <a:r>
              <a:rPr sz="950" b="0" i="0">
                <a:solidFill>
                  <a:srgbClr val="065A82"/>
                </a:solidFill>
                <a:latin typeface="Arial"/>
              </a:rPr>
              <a:t>Надёжность 99,9% + страховка + допуск регулятора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11480" y="6601968"/>
            <a:ext cx="6737299" cy="969264"/>
          </a:xfrm>
          <a:prstGeom prst="rect">
            <a:avLst/>
          </a:prstGeom>
          <a:solidFill>
            <a:srgbClr val="FFFFFF"/>
          </a:solidFill>
          <a:ln w="9525">
            <a:solidFill>
              <a:srgbClr val="DDE4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ounded Rectangle 46"/>
          <p:cNvSpPr/>
          <p:nvPr/>
        </p:nvSpPr>
        <p:spPr>
          <a:xfrm>
            <a:off x="457200" y="6894576"/>
            <a:ext cx="438912" cy="384048"/>
          </a:xfrm>
          <a:prstGeom prst="roundRect">
            <a:avLst>
              <a:gd name="adj" fmla="val 40000"/>
            </a:avLst>
          </a:prstGeom>
          <a:solidFill>
            <a:srgbClr val="F0A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411480" y="6601968"/>
            <a:ext cx="566928" cy="9692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1300" b="1" i="0">
                <a:solidFill>
                  <a:srgbClr val="FFFFFF"/>
                </a:solidFill>
                <a:latin typeface="Arial"/>
              </a:rPr>
              <a:t>L5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033272" y="6601968"/>
            <a:ext cx="1581912" cy="9692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4000"/>
              </a:lnSpc>
            </a:pPr>
            <a:r>
              <a:rPr sz="1100" b="1" i="0">
                <a:solidFill>
                  <a:srgbClr val="21295C"/>
                </a:solidFill>
                <a:latin typeface="Arial"/>
              </a:rPr>
              <a:t>Полный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2724912" y="6601968"/>
            <a:ext cx="1673352" cy="9692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4000"/>
              </a:lnSpc>
            </a:pPr>
            <a:r>
              <a:rPr sz="1000" b="0" i="0">
                <a:solidFill>
                  <a:srgbClr val="21295C"/>
                </a:solidFill>
                <a:latin typeface="Arial"/>
              </a:rPr>
              <a:t>Решает везде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4507992" y="6601968"/>
            <a:ext cx="1078992" cy="9692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4000"/>
              </a:lnSpc>
            </a:pPr>
            <a:r>
              <a:rPr sz="1000" b="0" i="0">
                <a:solidFill>
                  <a:srgbClr val="21295C"/>
                </a:solidFill>
                <a:latin typeface="Arial"/>
              </a:rPr>
              <a:t>(в 2026 недостижим)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696712" y="6601968"/>
            <a:ext cx="1397203" cy="9692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4000"/>
              </a:lnSpc>
            </a:pPr>
            <a:r>
              <a:rPr sz="950" b="1" i="0">
                <a:solidFill>
                  <a:srgbClr val="F0AB00"/>
                </a:solidFill>
                <a:latin typeface="Arial"/>
              </a:rPr>
              <a:t>Для большинства отраслей недоступен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411480" y="7845552"/>
            <a:ext cx="6737299" cy="1234440"/>
          </a:xfrm>
          <a:prstGeom prst="roundRect">
            <a:avLst>
              <a:gd name="adj" fmla="val 8000"/>
            </a:avLst>
          </a:prstGeom>
          <a:solidFill>
            <a:srgbClr val="E6F2F4"/>
          </a:solidFill>
          <a:ln w="22225">
            <a:solidFill>
              <a:srgbClr val="02809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594360" y="7936992"/>
            <a:ext cx="6371539" cy="10515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1" i="0">
                <a:solidFill>
                  <a:srgbClr val="21295C"/>
                </a:solidFill>
                <a:latin typeface="Arial"/>
              </a:rPr>
              <a:t>Антипаттерны: </a:t>
            </a:r>
            <a:r>
              <a:rPr sz="1050" b="0" i="0">
                <a:solidFill>
                  <a:srgbClr val="21295C"/>
                </a:solidFill>
                <a:latin typeface="Arial"/>
              </a:rPr>
              <a:t>L1 превышение роли (Klarna) · L2 скучный надзор (Uber Tempe) · L3 расширение домена (Cruise)</a:t>
            </a:r>
          </a:p>
          <a:p>
            <a:pPr algn="l">
              <a:lnSpc>
                <a:spcPct val="120000"/>
              </a:lnSpc>
            </a:pPr>
            <a:r>
              <a:rPr sz="1050" b="0" i="0">
                <a:solidFill>
                  <a:srgbClr val="21295C"/>
                </a:solidFill>
                <a:latin typeface="Arial"/>
              </a:rPr>
              <a:t>L4 действие без канарейки (CrowdStrike) · L5 этический блок (LAWS) · сквозной — пропуск ступени.</a:t>
            </a:r>
          </a:p>
          <a:p>
            <a:pPr algn="l">
              <a:lnSpc>
                <a:spcPct val="120000"/>
              </a:lnSpc>
            </a:pPr>
            <a:r>
              <a:rPr sz="1200" b="1" i="0">
                <a:solidFill>
                  <a:srgbClr val="21295C"/>
                </a:solidFill>
                <a:latin typeface="Arial"/>
              </a:rPr>
              <a:t>Правило: </a:t>
            </a:r>
            <a:r>
              <a:rPr sz="1150" b="0" i="0">
                <a:solidFill>
                  <a:srgbClr val="21295C"/>
                </a:solidFill>
                <a:latin typeface="Arial"/>
              </a:rPr>
              <a:t>определите </a:t>
            </a:r>
            <a:r>
              <a:rPr sz="1150" b="1" i="0">
                <a:solidFill>
                  <a:srgbClr val="F0AB00"/>
                </a:solidFill>
                <a:latin typeface="Arial"/>
              </a:rPr>
              <a:t>текущий + максимально допустимый уровень</a:t>
            </a:r>
            <a:r>
              <a:rPr sz="1150" b="0" i="0">
                <a:solidFill>
                  <a:srgbClr val="21295C"/>
                </a:solidFill>
                <a:latin typeface="Arial"/>
              </a:rPr>
              <a:t>; различаются — нужен план подъёма. Большинство 2026 — L1–L2.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411480" y="10381183"/>
            <a:ext cx="673729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00" b="0" i="1">
                <a:solidFill>
                  <a:srgbClr val="6B7685"/>
                </a:solidFill>
                <a:latin typeface="Arial"/>
              </a:rPr>
              <a:t>ODD (operational design domain — рабочий домен), HOOL/HOTL (человек на/вне петли), LAWS, HITL — термины из материала. Источник: глава §5.2. Лекция 17 · МГТУ ИУ6.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