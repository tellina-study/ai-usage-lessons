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259" cy="106920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259" cy="91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673729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Применять ли ИИ? — 7 критериев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67372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Опорная карточка #1 · матрица решения · итоговая лекция курса AI-usage-lessons v1.0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80160"/>
            <a:ext cx="6737299" cy="457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Вопрос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79" y="128016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Индикатор-вердикт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1280160"/>
            <a:ext cx="16166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Пример из курса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37360"/>
            <a:ext cx="6737299" cy="950976"/>
          </a:xfrm>
          <a:prstGeom prst="rect">
            <a:avLst/>
          </a:prstGeom>
          <a:solidFill>
            <a:srgbClr val="F4F7FA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0916" y="2066543"/>
            <a:ext cx="292608" cy="29260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737360"/>
            <a:ext cx="41148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737360"/>
            <a:ext cx="2679191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Среда контролируемая или закрытая?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6744" y="1737360"/>
            <a:ext cx="1810512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 i="0">
                <a:solidFill>
                  <a:srgbClr val="1E7A4B"/>
                </a:solidFill>
                <a:latin typeface="Arial"/>
              </a:rPr>
              <a:t>✓</a:t>
            </a:r>
            <a:r>
              <a:rPr sz="1000" b="0" i="0">
                <a:solidFill>
                  <a:srgbClr val="21295C"/>
                </a:solidFill>
                <a:latin typeface="Arial"/>
              </a:rPr>
              <a:t> закрытая · </a:t>
            </a:r>
            <a:r>
              <a:rPr sz="1200" b="1" i="0">
                <a:solidFill>
                  <a:srgbClr val="F0AB00"/>
                </a:solidFill>
                <a:latin typeface="Arial"/>
              </a:rPr>
              <a:t>⚠</a:t>
            </a:r>
            <a:r>
              <a:rPr sz="1000" b="0" i="0">
                <a:solidFill>
                  <a:srgbClr val="21295C"/>
                </a:solidFill>
                <a:latin typeface="Arial"/>
              </a:rPr>
              <a:t> полу · </a:t>
            </a:r>
            <a:r>
              <a:rPr sz="1200" b="1" i="0">
                <a:solidFill>
                  <a:srgbClr val="B53A2A"/>
                </a:solidFill>
                <a:latin typeface="Arial"/>
              </a:rPr>
              <a:t>✗</a:t>
            </a:r>
            <a:r>
              <a:rPr sz="1000" b="0" i="0">
                <a:solidFill>
                  <a:srgbClr val="21295C"/>
                </a:solidFill>
                <a:latin typeface="Arial"/>
              </a:rPr>
              <a:t> открытая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6983" y="1737360"/>
            <a:ext cx="1506931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See &amp; Spray </a:t>
            </a:r>
            <a:r>
              <a:rPr sz="1200" b="1" i="0">
                <a:solidFill>
                  <a:srgbClr val="1E7A4B"/>
                </a:solidFill>
                <a:latin typeface="Arial"/>
              </a:rPr>
              <a:t>✓</a:t>
            </a:r>
            <a:r>
              <a:rPr sz="1000" b="0" i="0">
                <a:solidFill>
                  <a:srgbClr val="21295C"/>
                </a:solidFill>
                <a:latin typeface="Arial"/>
              </a:rPr>
              <a:t> · Monarch </a:t>
            </a:r>
            <a:r>
              <a:rPr sz="1200" b="1" i="0">
                <a:solidFill>
                  <a:srgbClr val="B53A2A"/>
                </a:solidFill>
                <a:latin typeface="Arial"/>
              </a:rPr>
              <a:t>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688336"/>
            <a:ext cx="6737299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0916" y="3017520"/>
            <a:ext cx="292608" cy="29260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688336"/>
            <a:ext cx="41148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2688336"/>
            <a:ext cx="2679191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Данных достаточно и совпадают с эксплуатацией?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6744" y="2688336"/>
            <a:ext cx="1810512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 i="0">
                <a:solidFill>
                  <a:srgbClr val="1E7A4B"/>
                </a:solidFill>
                <a:latin typeface="Arial"/>
              </a:rPr>
              <a:t>✓</a:t>
            </a:r>
            <a:r>
              <a:rPr sz="1000" b="0" i="0">
                <a:solidFill>
                  <a:srgbClr val="21295C"/>
                </a:solidFill>
                <a:latin typeface="Arial"/>
              </a:rPr>
              <a:t> · </a:t>
            </a:r>
            <a:r>
              <a:rPr sz="1200" b="1" i="0">
                <a:solidFill>
                  <a:srgbClr val="F0AB00"/>
                </a:solidFill>
                <a:latin typeface="Arial"/>
              </a:rPr>
              <a:t>⚠</a:t>
            </a:r>
            <a:r>
              <a:rPr sz="1000" b="0" i="0">
                <a:solidFill>
                  <a:srgbClr val="21295C"/>
                </a:solidFill>
                <a:latin typeface="Arial"/>
              </a:rPr>
              <a:t> · </a:t>
            </a:r>
            <a:r>
              <a:rPr sz="1200" b="1" i="0">
                <a:solidFill>
                  <a:srgbClr val="B53A2A"/>
                </a:solidFill>
                <a:latin typeface="Arial"/>
              </a:rP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86983" y="2688336"/>
            <a:ext cx="1506931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компилятор-SE </a:t>
            </a:r>
            <a:r>
              <a:rPr sz="1200" b="1" i="0">
                <a:solidFill>
                  <a:srgbClr val="1E7A4B"/>
                </a:solidFill>
                <a:latin typeface="Arial"/>
              </a:rPr>
              <a:t>✓</a:t>
            </a:r>
            <a:r>
              <a:rPr sz="1000" b="0" i="0">
                <a:solidFill>
                  <a:srgbClr val="21295C"/>
                </a:solidFill>
                <a:latin typeface="Arial"/>
              </a:rPr>
              <a:t> · Epic Sepsis </a:t>
            </a:r>
            <a:r>
              <a:rPr sz="1200" b="1" i="0">
                <a:solidFill>
                  <a:srgbClr val="B53A2A"/>
                </a:solidFill>
                <a:latin typeface="Arial"/>
              </a:rPr>
              <a:t>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639312"/>
            <a:ext cx="6737299" cy="950976"/>
          </a:xfrm>
          <a:prstGeom prst="rect">
            <a:avLst/>
          </a:prstGeom>
          <a:solidFill>
            <a:srgbClr val="F4F7FA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70916" y="3968496"/>
            <a:ext cx="292608" cy="29260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639312"/>
            <a:ext cx="41148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639312"/>
            <a:ext cx="2679191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Задача повторяема и высокий объём?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66744" y="3639312"/>
            <a:ext cx="1810512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 i="0">
                <a:solidFill>
                  <a:srgbClr val="1E7A4B"/>
                </a:solidFill>
                <a:latin typeface="Arial"/>
              </a:rPr>
              <a:t>✓</a:t>
            </a:r>
            <a:r>
              <a:rPr sz="1000" b="0" i="0">
                <a:solidFill>
                  <a:srgbClr val="21295C"/>
                </a:solidFill>
                <a:latin typeface="Arial"/>
              </a:rPr>
              <a:t> · </a:t>
            </a:r>
            <a:r>
              <a:rPr sz="1200" b="1" i="0">
                <a:solidFill>
                  <a:srgbClr val="B53A2A"/>
                </a:solidFill>
                <a:latin typeface="Arial"/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86983" y="3639312"/>
            <a:ext cx="1506931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Copilot </a:t>
            </a:r>
            <a:r>
              <a:rPr sz="1200" b="1" i="0">
                <a:solidFill>
                  <a:srgbClr val="1E7A4B"/>
                </a:solidFill>
                <a:latin typeface="Arial"/>
              </a:rPr>
              <a:t>✓</a:t>
            </a:r>
            <a:r>
              <a:rPr sz="1000" b="0" i="0">
                <a:solidFill>
                  <a:srgbClr val="21295C"/>
                </a:solidFill>
                <a:latin typeface="Arial"/>
              </a:rPr>
              <a:t> · штучная архитектура </a:t>
            </a:r>
            <a:r>
              <a:rPr sz="1200" b="1" i="0">
                <a:solidFill>
                  <a:srgbClr val="B53A2A"/>
                </a:solidFill>
                <a:latin typeface="Arial"/>
              </a:rPr>
              <a:t>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590288"/>
            <a:ext cx="6737299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70916" y="4919471"/>
            <a:ext cx="292608" cy="29260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4590288"/>
            <a:ext cx="41148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4590288"/>
            <a:ext cx="2679191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Цена ошибки приемлема для ИИ?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66744" y="4590288"/>
            <a:ext cx="1810512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 i="0">
                <a:solidFill>
                  <a:srgbClr val="1E7A4B"/>
                </a:solidFill>
                <a:latin typeface="Arial"/>
              </a:rPr>
              <a:t>✓</a:t>
            </a:r>
            <a:r>
              <a:rPr sz="1000" b="0" i="0">
                <a:solidFill>
                  <a:srgbClr val="21295C"/>
                </a:solidFill>
                <a:latin typeface="Arial"/>
              </a:rPr>
              <a:t> низкая · </a:t>
            </a:r>
            <a:r>
              <a:rPr sz="1200" b="1" i="0">
                <a:solidFill>
                  <a:srgbClr val="F0AB00"/>
                </a:solidFill>
                <a:latin typeface="Arial"/>
              </a:rPr>
              <a:t>⚠</a:t>
            </a:r>
            <a:r>
              <a:rPr sz="1000" b="0" i="0">
                <a:solidFill>
                  <a:srgbClr val="21295C"/>
                </a:solidFill>
                <a:latin typeface="Arial"/>
              </a:rPr>
              <a:t> человек-в-петле · </a:t>
            </a:r>
            <a:r>
              <a:rPr sz="1200" b="1" i="0">
                <a:solidFill>
                  <a:srgbClr val="B53A2A"/>
                </a:solidFill>
                <a:latin typeface="Arial"/>
              </a:rPr>
              <a:t>✗</a:t>
            </a:r>
            <a:r>
              <a:rPr sz="1000" b="0" i="0">
                <a:solidFill>
                  <a:srgbClr val="21295C"/>
                </a:solidFill>
                <a:latin typeface="Arial"/>
              </a:rPr>
              <a:t> катастрофа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86983" y="4590288"/>
            <a:ext cx="1506931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Stripe Radar </a:t>
            </a:r>
            <a:r>
              <a:rPr sz="1200" b="1" i="0">
                <a:solidFill>
                  <a:srgbClr val="1E7A4B"/>
                </a:solidFill>
                <a:latin typeface="Arial"/>
              </a:rPr>
              <a:t>✓</a:t>
            </a:r>
            <a:r>
              <a:rPr sz="1000" b="0" i="0">
                <a:solidFill>
                  <a:srgbClr val="21295C"/>
                </a:solidFill>
                <a:latin typeface="Arial"/>
              </a:rPr>
              <a:t> · CrowdStrike </a:t>
            </a:r>
            <a:r>
              <a:rPr sz="1200" b="1" i="0">
                <a:solidFill>
                  <a:srgbClr val="B53A2A"/>
                </a:solidFill>
                <a:latin typeface="Arial"/>
              </a:rPr>
              <a:t>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5541264"/>
            <a:ext cx="6737299" cy="950976"/>
          </a:xfrm>
          <a:prstGeom prst="rect">
            <a:avLst/>
          </a:prstGeom>
          <a:solidFill>
            <a:srgbClr val="F4F7FA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0916" y="5870448"/>
            <a:ext cx="292608" cy="29260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5541264"/>
            <a:ext cx="41148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" y="5541264"/>
            <a:ext cx="2679191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Эталонный отклик быстрый?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66744" y="5541264"/>
            <a:ext cx="1810512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 i="0">
                <a:solidFill>
                  <a:srgbClr val="1E7A4B"/>
                </a:solidFill>
                <a:latin typeface="Arial"/>
              </a:rPr>
              <a:t>✓</a:t>
            </a:r>
            <a:r>
              <a:rPr sz="1000" b="0" i="0">
                <a:solidFill>
                  <a:srgbClr val="21295C"/>
                </a:solidFill>
                <a:latin typeface="Arial"/>
              </a:rPr>
              <a:t> · </a:t>
            </a:r>
            <a:r>
              <a:rPr sz="1200" b="1" i="0">
                <a:solidFill>
                  <a:srgbClr val="B53A2A"/>
                </a:solidFill>
                <a:latin typeface="Arial"/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86983" y="5541264"/>
            <a:ext cx="1506931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компилятор </a:t>
            </a:r>
            <a:r>
              <a:rPr sz="1200" b="1" i="0">
                <a:solidFill>
                  <a:srgbClr val="1E7A4B"/>
                </a:solidFill>
                <a:latin typeface="Arial"/>
              </a:rPr>
              <a:t>✓</a:t>
            </a:r>
            <a:r>
              <a:rPr sz="1000" b="0" i="0">
                <a:solidFill>
                  <a:srgbClr val="21295C"/>
                </a:solidFill>
                <a:latin typeface="Arial"/>
              </a:rPr>
              <a:t> · iBuying </a:t>
            </a:r>
            <a:r>
              <a:rPr sz="1200" b="1" i="0">
                <a:solidFill>
                  <a:srgbClr val="B53A2A"/>
                </a:solidFill>
                <a:latin typeface="Arial"/>
              </a:rPr>
              <a:t>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6492240"/>
            <a:ext cx="6737299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70916" y="6821423"/>
            <a:ext cx="292608" cy="29260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492240"/>
            <a:ext cx="41148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" y="6492240"/>
            <a:ext cx="2679191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Нужна объяснимость?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66744" y="6492240"/>
            <a:ext cx="1810512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 i="0">
                <a:solidFill>
                  <a:srgbClr val="1E7A4B"/>
                </a:solidFill>
                <a:latin typeface="Arial"/>
              </a:rPr>
              <a:t>✓</a:t>
            </a:r>
            <a:r>
              <a:rPr sz="1000" b="0" i="0">
                <a:solidFill>
                  <a:srgbClr val="21295C"/>
                </a:solidFill>
                <a:latin typeface="Arial"/>
              </a:rPr>
              <a:t> если SHAP/LIME · </a:t>
            </a:r>
            <a:r>
              <a:rPr sz="1200" b="1" i="0">
                <a:solidFill>
                  <a:srgbClr val="F0AB00"/>
                </a:solidFill>
                <a:latin typeface="Arial"/>
              </a:rPr>
              <a:t>⚠</a:t>
            </a:r>
            <a:r>
              <a:rPr sz="1000" b="0" i="0">
                <a:solidFill>
                  <a:srgbClr val="21295C"/>
                </a:solidFill>
                <a:latin typeface="Arial"/>
              </a:rPr>
              <a:t> прозрачная модель · </a:t>
            </a:r>
            <a:r>
              <a:rPr sz="1200" b="1" i="0">
                <a:solidFill>
                  <a:srgbClr val="B53A2A"/>
                </a:solidFill>
                <a:latin typeface="Arial"/>
              </a:rPr>
              <a:t>✗</a:t>
            </a:r>
            <a:r>
              <a:rPr sz="1000" b="0" i="0">
                <a:solidFill>
                  <a:srgbClr val="21295C"/>
                </a:solidFill>
                <a:latin typeface="Arial"/>
              </a:rPr>
              <a:t> под мандат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86983" y="6492240"/>
            <a:ext cx="1506931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Aidoc (прозрачная) · Apple Card 2019 </a:t>
            </a:r>
            <a:r>
              <a:rPr sz="1200" b="1" i="0">
                <a:solidFill>
                  <a:srgbClr val="B53A2A"/>
                </a:solidFill>
                <a:latin typeface="Arial"/>
              </a:rPr>
              <a:t>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7443216"/>
            <a:ext cx="6737299" cy="950976"/>
          </a:xfrm>
          <a:prstGeom prst="rect">
            <a:avLst/>
          </a:prstGeom>
          <a:solidFill>
            <a:srgbClr val="F4F7FA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70916" y="7772400"/>
            <a:ext cx="292608" cy="29260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7443216"/>
            <a:ext cx="41148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" y="7443216"/>
            <a:ext cx="2679191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ИИ окупается vs базовая альтернатива?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66744" y="7443216"/>
            <a:ext cx="1810512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 i="0">
                <a:solidFill>
                  <a:srgbClr val="1E7A4B"/>
                </a:solidFill>
                <a:latin typeface="Arial"/>
              </a:rPr>
              <a:t>✓</a:t>
            </a:r>
            <a:r>
              <a:rPr sz="1000" b="0" i="0">
                <a:solidFill>
                  <a:srgbClr val="21295C"/>
                </a:solidFill>
                <a:latin typeface="Arial"/>
              </a:rPr>
              <a:t> · </a:t>
            </a:r>
            <a:r>
              <a:rPr sz="1200" b="1" i="0">
                <a:solidFill>
                  <a:srgbClr val="B53A2A"/>
                </a:solidFill>
                <a:latin typeface="Arial"/>
              </a:rPr>
              <a:t>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86983" y="7443216"/>
            <a:ext cx="1506931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LaserWeeder </a:t>
            </a:r>
            <a:r>
              <a:rPr sz="1200" b="1" i="0">
                <a:solidFill>
                  <a:srgbClr val="1E7A4B"/>
                </a:solidFill>
                <a:latin typeface="Arial"/>
              </a:rPr>
              <a:t>✓</a:t>
            </a:r>
            <a:r>
              <a:rPr sz="1000" b="0" i="0">
                <a:solidFill>
                  <a:srgbClr val="21295C"/>
                </a:solidFill>
                <a:latin typeface="Arial"/>
              </a:rPr>
              <a:t> · ML vs MPC </a:t>
            </a:r>
            <a:r>
              <a:rPr sz="1200" b="1" i="0">
                <a:solidFill>
                  <a:srgbClr val="B53A2A"/>
                </a:solidFill>
                <a:latin typeface="Arial"/>
              </a:rPr>
              <a:t>✗</a:t>
            </a:r>
            <a:r>
              <a:rPr sz="1000" b="0" i="0">
                <a:solidFill>
                  <a:srgbClr val="21295C"/>
                </a:solidFill>
                <a:latin typeface="Arial"/>
              </a:rPr>
              <a:t> часто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11480" y="8668512"/>
            <a:ext cx="6737299" cy="11887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8759952"/>
            <a:ext cx="6371539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Правило: </a:t>
            </a:r>
            <a:r>
              <a:rPr sz="1200" b="0" i="0">
                <a:solidFill>
                  <a:srgbClr val="21295C"/>
                </a:solidFill>
                <a:latin typeface="Arial"/>
              </a:rPr>
              <a:t>проходите 7 строк по порядку.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Один </a:t>
            </a:r>
            <a:r>
              <a:rPr sz="1300" b="1" i="0">
                <a:solidFill>
                  <a:srgbClr val="B53A2A"/>
                </a:solidFill>
                <a:latin typeface="Arial"/>
              </a:rPr>
              <a:t>✗</a:t>
            </a:r>
            <a:r>
              <a:rPr sz="1150" b="1" i="0">
                <a:solidFill>
                  <a:srgbClr val="21295C"/>
                </a:solidFill>
                <a:latin typeface="Arial"/>
              </a:rPr>
              <a:t> — STOP, отказ от полного ИИ.   </a:t>
            </a:r>
            <a:r>
              <a:rPr sz="1150" b="0" i="0">
                <a:solidFill>
                  <a:srgbClr val="21295C"/>
                </a:solidFill>
                <a:latin typeface="Arial"/>
              </a:rPr>
              <a:t>≥2 </a:t>
            </a:r>
            <a:r>
              <a:rPr sz="1300" b="1" i="0">
                <a:solidFill>
                  <a:srgbClr val="F0AB00"/>
                </a:solidFill>
                <a:latin typeface="Arial"/>
              </a:rPr>
              <a:t>⚠</a:t>
            </a:r>
            <a:r>
              <a:rPr sz="1150" b="0" i="0">
                <a:solidFill>
                  <a:srgbClr val="21295C"/>
                </a:solidFill>
                <a:latin typeface="Arial"/>
              </a:rPr>
              <a:t> — STOP, обоснуйте человека-в-петле + канарейку + откат.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Все 7 </a:t>
            </a:r>
            <a:r>
              <a:rPr sz="1300" b="1" i="0">
                <a:solidFill>
                  <a:srgbClr val="1E7A4B"/>
                </a:solidFill>
                <a:latin typeface="Arial"/>
              </a:rPr>
              <a:t>✓</a:t>
            </a:r>
            <a:r>
              <a:rPr sz="1150" b="1" i="0">
                <a:solidFill>
                  <a:srgbClr val="21295C"/>
                </a:solidFill>
                <a:latin typeface="Arial"/>
              </a:rPr>
              <a:t> — пилот с явными воротами GO/NO-GO.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10381183"/>
            <a:ext cx="67372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6B7685"/>
                </a:solidFill>
                <a:latin typeface="Arial"/>
              </a:rPr>
              <a:t>SHAP/LIME, HITL, MPC, GO/NO-GO — термины из материала лекции; кейсы — бренды. Источник: глава §5.1. Лекция 17 · МГТУ ИУ6.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