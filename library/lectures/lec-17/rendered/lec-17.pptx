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Перед вами заключительная лекция курса — единственная, которая не вводит ни одной новой отрасли. Шестнадцать предыдущих лекций провели вас от разработки программного обеспечения и финансов до медицины, авиакосмоса, агросектора, производства, логистики и научных исследований. В каждой звучал один и тот же вопрос: где искусственный интеллект уместен, где он лишь имитирует решение, а где структурно не способен справиться с задачей.</a:t>
            </a:r>
          </a:p>
          <a:p>
            <a:r>
              <a:t>Сегодня мы соберём накопленные ответы в единую инженерную карту. Главный вопрос курса звучал так: где AI работает, где — нет, и как это понять. В первой лекции он был открытой провокацией — поводом задуматься. Сейчас, после шестнадцати отраслей, тот же вопрос превращается в рабочую диагностическую процедуру, которую вы применяете почти автоматически. Услышав «наша система автоматизирует процесс с эффективностью 95%», вы теперь спрашиваете: на каких данных это измерено, в какой среде собраны данные, есть ли расхождение между обучением и эксплуатацией.</a:t>
            </a:r>
          </a:p>
          <a:p>
            <a:r>
              <a:t>Курс не учил вас новой технологии. Он учил инженерному вкусу — способности за минуты понять, подходит ли AI для конкретной задачи. Технологии будут меняться, а навык диагностики останется. Это и есть то, что у вас осталось после курса, и именно это ценят на рынке труда 2026 года.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— главный артефакт курса. Перед вами двумерная плоскость инженерной карты AI.</a:t>
            </a:r>
          </a:p>
          <a:p>
            <a:r>
              <a:t>Горизонтальная ось — применимость ИИ. Она отвечает на вопрос «должен ли вообще быть AI». Слева — детерминированные не-AI инструменты: правила, операционные исследования, классическая обработка сигналов, формулы запасов, регрессия. Справа — полный AI, фундаментальная модель в режиме сквозного решения задачи. Важно: высокое значение по этой оси не значит «лучше». Оно значит «AI подходит». Низкое не значит «отсталость» — оно значит, что классический метод выигрывает.</a:t>
            </a:r>
          </a:p>
          <a:p>
            <a:r>
              <a:t>Вертикальная ось — лестница автономии от L0 до L5. От «человек делает всё» до «полная автономия без человека». И здесь высокое значение не значит «современнее»: большинство зрелого промышленного AI в медицине и финансах работает на L1 advisory намеренно, а не от недоразвитости.</a:t>
            </a:r>
          </a:p>
          <a:p>
            <a:r>
              <a:t>Две оси дают четыре квадранта. Верхний правый — зрелые успехи: складская робототехника, платёжный фрод, инженер-агент на узких задачах. Нижний правый — высокая применимость с автономией, капнутой регулятором: медицинская визуализация, скоринг под законом. Нижний левый — «классика выигрывает», где AI не нужен. А верхний левый — пустой и опасный квадрант: низкая применимость при высокой автономии. Это зона катастроф. Если ваша задача попадает сюда — стоп, перепроектируйте. Дальше мы научимся определять обе координаты для любой задачи.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Шестнадцать отраслевых лекций показали огромное разнообразие AI-кейсов. Чтобы перейти от разнообразия к диагностической процедуре, нужно извлечь общие критерии, по которым отличаются работающие применения от провалившихся. Этот раздел делает такое извлечение и представляет его в форме семи операциональных критериев.</a:t>
            </a:r>
          </a:p>
          <a:p>
            <a:r>
              <a:t>Сразу важная оговорка про то, как ими пользоваться. Это не балльный чек-лист, где сумма очков даёт «да» или «нет». Критерии работают как последовательные ворота: если хотя бы по одному вы получаете однозначный отказ, задача не годится для полностью автономного AI — она требует либо понижения автономии до advisory, либо отказа от AI, либо переформулировки постановки.</a:t>
            </a:r>
          </a:p>
          <a:p>
            <a:r>
              <a:t>Этот раздел полностью про границы применимости. Каждый критерий — это критерий различения, когда AI не подходит. Не «как успешно применить AI», а «как избежать его применения там, где ему не место». Именно этот навык — говорить аргументированное «нет» — асимметрично ценен на рынке 2026 года, и именно он отличает инженера от человека, умеющего лишь запустить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Перед глубоким разбором — общий список семи критериев, и общее правило их применения.</a:t>
            </a:r>
          </a:p>
          <a:p>
            <a:r>
              <a:t>Первый — закрытая петля или открытая среда: есть ли быстрая, измеримая обратная связь от среды. Второй — достаточно ли обучающих данных и совпадает ли их распределение с тем, что будет в эксплуатации. Третий — повторяемость и объём: задача встречается часто или это штучная редкость. Четвёртый — цена ошибки и радиус её разрушения. Пятый — доступность эталона, по которому можно быстро оценить правильность. Шестой — нужна ли объяснимость и аудит. Седьмой — окупается ли AI по сравнению с лучшей известной классической альтернативой: операционными исследованиями, предиктивным управлением, простой регрессией или просто человеком-экспертом.</a:t>
            </a:r>
          </a:p>
          <a:p>
            <a:r>
              <a:t>Каждый критерий — это не один вопрос, а семейство вопросов, разворачивающееся в конкретной отрасли в конкретный набор измеримых показателей. И они работают в комплексе: часто пересекаются и усиливают друг друга. Правило простое: если хотя бы по одному критерию вы получаете однозначный отказ, задача не для полной автономии. Если по большинству «да», но по двум «нужен человек в петле» — проект должен начинаться с advisory, а не с пилота полной автоматизации. Дальше пройдём критерии парами, потому что именно так они работают на практике.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Критерий 1 — закрытая петля против открытой среды — самый фундаментальный из семи. Закрытая петля означает среду, в которой результат действия наблюдаем быстро и однозначно, и среда не реагирует на вас враждебно. Классический пример из разработки ПО: вы пишете код, компилятор за секунды говорит, скомпилировалось ли, тесты за минуты — прошли ли. Это детерминированная обратная связь с короткой задержкой.</a:t>
            </a:r>
          </a:p>
          <a:p>
            <a:r>
              <a:t>Зрелые применения всегда в закрытой петле или приближены к ней. See &amp; Spray различает сорняк и культуру в контролируемом ряду и сократил применение гербицидов вдвое — с примерно фунта на акр до полуфунта — на пяти миллионах акров. Aidoc работает на стандартизованных снимках в режиме советника, и решение всегда за радиологом.</a:t>
            </a:r>
          </a:p>
          <a:p>
            <a:r>
              <a:t>В открытой среде AI системно проваливается. Zillow обучил модель цен на доковидных данных, COVID-волатильность сделала её устаревшей за месяцы — триста четыре миллиона списания и выход из бизнеса. Monarch обучил автономный трактор, но вариативность реальных полей оказалась за пределами обучения. Cruise обучил робот-такси на данных Сан-Франциско — и редкое событие с пешеходом на земле не было покрыто.</a:t>
            </a:r>
          </a:p>
          <a:p>
            <a:r>
              <a:t>Критерий 2 — достаточно ли данных и отражают ли они эксплуатацию. Канонический провал — Epic Sepsis: вендор заявлял точность семьдесят шесть, внешняя валидация на тридцати восьми тысячах пациентов дала шестьдесят три — на грани случайной. Вендорский бенчмарк не равен производительности на ваших данных. Всегда повторяйте измерение у себя до коммита.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Критерий 3 — повторяемость и объём. AI окупается, только когда задача встречается достаточно часто, чтобы инвестиции в обучение и поддержку модели окупились. Канонический успех — GitHub Copilot. Автодополнение встречается миллиарды раз в день; больше двадцати миллионов платных пользователей из примерно двадцати восьми миллионов зарегистрированных разработчиков; в репозиториях с активным Copilot около сорока шести процентов кода сгенерировано AI. Цена ошибки низкая — увидел предложение, нажал Tab или проигнорировал. Объём гигантский. А вот архитектурное решение крупной системы встречается раз в год, имеет огромную цену ошибки и требует контекста, не помещающегося в окно модели. Здесь AI не окупается — нужен сеньор-инженер.</a:t>
            </a:r>
          </a:p>
          <a:p>
            <a:r>
              <a:t>Критерий 4 — цена ошибки и радиус разрушения. Это критерий, который чаще всего недооценивают на старте. Цена ошибки — что будет, если AI ошибётся: от секунд времени до непоправимого вреда. Радиус разрушения — насколько широко расходятся последствия одного отказа.</a:t>
            </a:r>
          </a:p>
          <a:p>
            <a:r>
              <a:t>Посмотрите на таблицу. Ошибка Copilot касается одного разработчика и откатывается за секунды. А девятнадцатого июля две тысячи двадцать четвёртого CrowdStrike выпустил обновление с багом, которое автоматически установилось на восемь с половиной миллионов устройств и за часы вызвало синий экран по всему миру. Delta отменила семь тысяч рейсов; ущерб для пострадавших компаний оценивают в пять с лишним миллиардов. CrowdStrike отличается от остальных на порядки по радиусу. Это не значит, что такие системы надо запрещать. Это значит, что дисциплина их развёртывания должна быть строже на порядки.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Критерий 5 — доступность эталона. Он тесно связан с тремя уровнями причинности по Джудеа Пёрлу. Первый уровень — ассоциация: «что обычно бывает вместе с X». Здесь применимость AI высокая, потому что ML по сути учится на корреляциях. Второй — вмешательство: «что произойдёт, если я сделаю X». Применимость умеренная — нужен контролируемый эксперимент, RCT в медицине или A/B-тест в продукте. Третий — контрфактуальность: «что было бы, если бы X не произошло». Для AI это структурно недоступно — это территория человека.</a:t>
            </a:r>
          </a:p>
          <a:p>
            <a:r>
              <a:t>Важна и скорость эталона. Он может быть в принципе доступен, но если обратная связь приходит через годы, модель не может корректироваться. Компилятор отвечает за секунды, дефолт по кредиту — через месяцы, исход клинического лечения — через годы. На медленных шкалах AI работает только в режиме советника.</a:t>
            </a:r>
          </a:p>
          <a:p>
            <a:r>
              <a:t>Критерий 6 — объяснимость и аудит. Регуляторы по всему миру движутся к требованию объяснимости в задачах с высокими ставками. Закон ЕС об ИИ, вступивший в силу в августе двадцать четвёртого, обязывает системы высокого риска давать объяснимые решения.</a:t>
            </a:r>
          </a:p>
          <a:p>
            <a:r>
              <a:t>Канонический кейс — Apple Card две тысячи девятнадцатого. Вирусная жалоба на двадцатикратную разницу кредитного лимита между мужем и женой. Здесь важна точность: расследование финансового регулятора Нью-Йорка было закрыто в марте двадцать первого — Goldman Sachs оправдан в намеренной дискриминации, пол вообще не был во входных признаках модели. И всё же дефицит объяснимости разрушил доверие. Урок не про предвзятость, а про объяснимость: в регулируемых доменах чёрная коробка создаёт регуляторный и репутационный риск, даже когда злого умысла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Критерий 7 — экономическая обоснованность против базовой линии. Это самый часто игнорируемый критерий. AI обязан бить лучшую известную классическую альтернативу на деньгах.</a:t>
            </a:r>
          </a:p>
          <a:p>
            <a:r>
              <a:t>Канонический пример — UPS ORION. С две тысячи третьего UPS построил систему оптимизации маршрутов на классических операционных исследованиях: целочисленное программирование, эвристики, метод ветвей и границ. Экономия — триста-четыреста миллионов в год. ORION работает почти автономно, но в нём нет ни одной нейросети. Когда вендоры предлагали оптимизировать его глубоким обучением, выигрыш был несколько процентов на узких подзадачах, но стоимость интеграции и сопровождения его съедала. UPS остался с операционными исследованиями.</a:t>
            </a:r>
          </a:p>
          <a:p>
            <a:r>
              <a:t>То же в процессном управлении: предиктивное управление работает в нефтехимии и металлургии десятилетиями. RL впервые показан промышленно в Yokogawa в двадцать втором году — успех, но не вытеснение. В управлении запасами формулы Ford-Harris тринадцатого года работают, и для стабильного спроса их достаточно.</a:t>
            </a:r>
          </a:p>
          <a:p>
            <a:r>
              <a:t>И ключевой момент про деньги. Когда вендор говорит «AI окупится за восемнадцать месяцев», он считает только лицензию и интеграцию. Полная стоимость владения включает данные, мониторинг сдвига, переобучение, человека в петле, аудит, страховой резерв, стоимость выхода из привязки к вендору. Сумма этих пунктов часто в три-пять раз больше лицензии. Поэтому измерьте базовую линию до старта. Отказ от AI, если классика выигрывает, — это инженерное решение, а не поражение.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Применим все семь критериев к учебному кейсу, не разбиравшемуся в курсе. К вам как инженеру обратилась городская администрация. Вендор представил систему AquaOptima для оптимизации расхода питьевой воды: глубокое обучение для прогноза плюс автоматическое управление задвижками. Обещание — снижение потерь на тридцать процентов, экономия двадцать пять миллионов рублей в год, окупаемость восемнадцать месяцев, шестимесячный пилот.</a:t>
            </a:r>
          </a:p>
          <a:p>
            <a:r>
              <a:t>Проходим критерии. Среда полуоткрытая: топология стабильна, но потребление зависит от погоды и событий, а утечки — события вне распределения. Данные: исторические есть, но нужен аудит качества — утечки могли не фиксироваться, ремонты лежат в бумажных журналах. Повторяемость высокая — десятки тысяч точек измерения. А вот критерий четыре блокирует: если AI закроет неправильную задвижку, район останется без воды на часы — высокая цена и большой радиус. Эталон есть на грубом уровне общего расхода, но не для конкретных утечек. Объяснимость нужна — решения о ремонтах публичны и могут быть оспорены. Экономика: тридцать процентов — по сравнению с чем? Нужно сравнение с классической гидравлической моделью EPANET, а не «как было до нас».</a:t>
            </a:r>
          </a:p>
          <a:p>
            <a:r>
              <a:t>Вердикт: не входить в шестимесячный пилот с полной автоматизацией. Вместо этого — два месяца аудита данных и базовой линии EPANET, потом четыре месяца A/B-сравнения: половина города с AI-советником поверх EPANET, половина — только EPANET. Все управляющие действия выполняет человек. Если дельта меньше десяти процентов — остаёмся на EPANET. Заметьте: процедура одна и та же для любой задачи. Мы не использовали специальное знание про водопровод — мы применили семь общих критериев за пятнадцать-двадцать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первый раздел определил горизонтальную ось карты — применимость ИИ, — то второй определяет вертикальную: сколько именно автономии давать AI. Это второй вопрос, и он независим от первого. Можно иметь высокую применимость и низкую автономию: медицинская диагностическая визуализация работает отлично, но всегда в режиме советника, потому что так требует регулятор. И можно иметь низкую применимость при высокой автономии — это тот самый опасный квадрант, который должен оставаться пустым.</a:t>
            </a:r>
          </a:p>
          <a:p>
            <a:r>
              <a:t>Лестница автономии — это набор дискретных ступеней, каждая описывает, что AI делает, кто принимает финальное решение, и какие критерии надо выполнить, чтобы подняться выше. Происхождение лестницы — авиация и автомобилестроение: стандарт SAE J3016 определяет шесть уровней автономии вождения от L0 до L5. Мы адаптируем эту шкалу под AI вообще, не только под вождение.</a:t>
            </a:r>
          </a:p>
          <a:p>
            <a:r>
              <a:t>И сразу важный момент: почему ступени дискретны, а не непрерывны. Потому что между ними реальные границы — юридические, регуляторные, инженерные. Переход с L1 на L2 требует процедуры контроля изменений и отката. Переход с L3 на L4 требует регуляторного допуска и страховки. Это разные виды деятельности, а не «больше того же». Дальше пройдём шесть ступеней по очереди.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Пройдём шесть ступеней лестницы снизу вверх.</a:t>
            </a:r>
          </a:p>
          <a:p>
            <a:r>
              <a:t>L0 — без автоматизации. AI не задействован вообще. Человек выполняет задачу классическими инструментами. Это не отсталость: многие задачи остаются на L0 намеренно — финальная сертификация прочности крыла, решение о редкой операции, юридическая интерпретация спорного контракта. Регулятор требует подписи человека.</a:t>
            </a:r>
          </a:p>
          <a:p>
            <a:r>
              <a:t>L1 — advisory, советует. AI классифицирует, предсказывает, рекомендует, но не действует. Решение всегда за человеком. Это самый частый уровень в зрелой промышленной эксплуатации — большая часть AI в медицине, финансах, инженерии работает именно здесь.</a:t>
            </a:r>
          </a:p>
          <a:p>
            <a:r>
              <a:t>L2 — supervised, действует с подтверждением. AI выполняет действие, человек подтверждает или отменяет каждое. L3 — conditional: AI действует автономно, но только в строго ограниченной области эксплуатации, в узком домене; за его пределами отказывается работать и передаёт человеку. L4 — high: AI действует в широком диапазоне условий, человек не в каждом шаге, а на петле — наблюдает и редко вмешивается.</a:t>
            </a:r>
          </a:p>
          <a:p>
            <a:r>
              <a:t>И L5 — full, полная автономия в любых условиях без человека. Я нарисовал её серой и пунктиром специально. В две тысячи двадцать шестом году L5 практически недостижим ни в одной отрасли курса — его держат страховые рынки, регуляторы и события вне распределения. Запомните главное: высокий уровень не значит «лучше» или «современнее». Большинство зрелого промышленного AI сегодня — это L1 и L2, и это сознательный инженерный выбор.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научный артефакт capstone — маппинг локальных шкал автономии всех лекций курса в единую L0→L5. Но есть важная оговорка: не все локальные шкалы курса — это шкалы автономии. Некоторые описывают структурированность среды или функциональную декомпозицию, и они ортогональны лестнице. Поэтому маппинг разделён на две таблицы.</a:t>
            </a:r>
          </a:p>
          <a:p>
            <a:r>
              <a:t>Первая таблица — прямой маппинг. Лестница A/B/C/D из разработки ПО, уровни L1-L5 из авиакосмоса и A0-A3 из производства — это шкалы автономии, степени участия AI в действии. Автодополнение, ассистент, советник — это L1. Инженер-агент, L4 high, A3 пилот — это верхние ступени. Маппинг прямой.</a:t>
            </a:r>
          </a:p>
          <a:p>
            <a:r>
              <a:t>Вторая — ортогональные оси. Пять уровней структурированности среды из логистики — это ось среды, а не автономии: чем структурированнее среда, тем легче достижим высокий уровень. В складе уровень L4 работает, в открытой городской улице — только в узком домене. И триада «Видит — Решает — Действует» из кибербезопасности — это функциональная декомпозиция: каждая функция может быть на своём уровне автономии. Видит на L3, Решает на L1, Действует на L0.</a:t>
            </a:r>
          </a:p>
          <a:p>
            <a:r>
              <a:t>Зачем это нужно. Маппинг не точный — это переводчик. Когда вендор-докладчик говорит «наш AI на уровне L3», вы спрашиваете: в какой нотации? SAE или ваша внутренняя? Это про автономию или про среду? Три таких уточняющих вопроса отсеивают около восьмидесяти процентов маркетинговых утверждений и сразу показывают зрелость инженера.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L1 — advisory, советует. AI классифицирует, предсказывает, рекомендует, но не действует. Финальное решение всегда за человеком. Это самый частый уровень в зрелых промышленных применениях курса — большая часть AI в медицине, финансах, инженерии, праве работает именно здесь.</a:t>
            </a:r>
          </a:p>
          <a:p>
            <a:r>
              <a:t>Что AI делает на L1. Классифицирует входные данные — положительный или отрицательный сепсис, норма или патология на рентгене, фрод или легитимная транзакция. Предсказывает значения — прогноз спроса, температуру в реакторе, время доставки. Рекомендует действия — правильный код в редакторе, очерёдность снимков для радиолога, маршрут в навигации. А решает всегда человек: AI создаёт информационный артефакт, человек его рассматривает, принимает или отклоняет.</a:t>
            </a:r>
          </a:p>
          <a:p>
            <a:r>
              <a:t>Примеры из курса. Stripe Radar даёт скоринг и флаг возможного фрода — решает аналитик. Aidoc помечает снимок как возможную патологию — решает радиолог. Copilot предлагает строку кода — принимает разработчик. Crop Wizard отвечает фермеру со ссылками на источники. Project Maven выделяет объекты на спутниковом снимке — авторизует военный аналитик.</a:t>
            </a:r>
          </a:p>
          <a:p>
            <a:r>
              <a:t>Чтобы расширить роль AI с советника до действующего с подтверждением, нужно выполнить четыре условия. Измерить базовую линию и улучшение AI над ней. Установить процедуру контроля изменений модели. Подготовить откат к базовой линии. И убедиться, что частота ложных срабатываний приемлема — иначе человек, подтверждающий каждое действие, устанет и потеряет внимание. Это и есть мост на следующую ступень.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L2 — supervised, действует с подтверждением. AI выполняет действие, а человек подтверждает или отменяет каждое. Человек физически или регуляторно остаётся в петле. Примеры: Stripe Radar в режиме авто-блокировки для высоко-уверенного фрода — блокирует, команда видит и может разблокировать. Microsoft Defender изолирует подозрительный файл, аналитик проверяет. Yokogawa в тридцатипятидневном прогоне на химзаводе управлял параметрами реактора, оператор мог вмешаться в любой момент.</a:t>
            </a:r>
          </a:p>
          <a:p>
            <a:r>
              <a:t>L3 — conditional, узкий ODD. Здесь появляется ключевое понятие — операционная область эксплуатации, ODD. Это формальное определение условий, в которых AI имеет право работать: какая погода, какая среда, какое время, какой класс задач. И ODD должно быть проверяемо в реальном времени: система обязана знать, когда она вышла из своего домена, и отказаться работать. Waymo достигает высокой автономии, но только в геофенсированных районах при определённой погоде; за их пределами отказывается. See &amp; Spray работает в узком домене — конкретные ряды соевых на конкретной фазе роста; вне его переходит в режим сплошного опрыскивания.</a:t>
            </a:r>
          </a:p>
          <a:p>
            <a:r>
              <a:t>Чтобы подняться с L3 на L4, нужны три вещи. Проверка перехода из симулятора в реальность, если AI обучался в симуляторе. Канареечный выпуск — развернуть на пяти-десяти процентах системы и убедиться за две-четыре недели, что нет деградации. И явные числовые ворота: если частота ложных срабатываний ниже порога за период — можно расширять автономию. Без этих ворот расширение домена превращается в азартную игру.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L4 — high, действие в широком домене. AI работает автономно в широком диапазоне условий, человек не в каждом шаге, а на петле — наблюдает и редко вмешивается. Waymo в Сан-Франциско и Финиксе совершает сотни тысяч поездок в год без водителя в кресле, с редкими инцидентами. Складская робототехника Symbotic и Amazon — миллионы операций в сутки в контролируемой среде. See &amp; Spray в коммерческом развёртывании — пять миллионов акров за три года, оператор на тракторе мониторит, но не каждый кадр. AlphaFold прогнал двести миллионов белков без вмешательства человека в предсказания.</a:t>
            </a:r>
          </a:p>
          <a:p>
            <a:r>
              <a:t>А теперь L5 — полная автономия в любых условиях. В две тысячи двадцать шестом году она практически недостижима, и держат её пять структурных блоков. Первый — страховые рынки отказываются страховать полную автономию за пределами узких сценариев. Второй — регуляторы систематически требуют человеческого надзора для приложений высокого риска; это политическая граница, не техническая. Третий — события вне распределения не лечатся никаким объёмом данных. Четвёртый — распределение ответственности при L5 юридически не определено. Пятый — экономика: L4 уже покрывает девяносто девять процентов реалистичных сценариев, а рывок в L5 стоит огромных денег ради малой выгоды.</a:t>
            </a:r>
          </a:p>
          <a:p>
            <a:r>
              <a:t>Поэтому большинство обещаний L5 — это маркетинг. Tesla Autopilot позиционируется как «полное самоуправление», но официальная классификация — L2, требуется водитель всегда. L5 в курсе — теоретический горизонт, а не цель, к которой стоит стремиться по умолчанию.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каждого уровня лестницы свой характерный провал. Это полностью про границы — провалы и уроки. Соберём их вместе.</a:t>
            </a:r>
          </a:p>
          <a:p>
            <a:r>
              <a:t>L1, антипаттерн «превышение роли». AI позиционируется как советник, но фактически действует без подтверждения человека. Klarna в феврале двадцать четвёртого объявила, что AI заменил семьсот операторов; через год — обратный найм, потому что AI плохо справлялся с редкими и дорогими запросами. Урок: позиционирование не равно операциональному режиму.</a:t>
            </a:r>
          </a:p>
          <a:p>
            <a:r>
              <a:t>L2, антипаттерн скучного человека в петле. Человек, призванный подтверждать, теряет внимание. Uber в Темпе в восемнадцатом году: водитель безопасности смотрел в телефон, погибла пешеход. Урок: скучный мониторинг проваливается; лучше человек на петле с алертом при аномалии.</a:t>
            </a:r>
          </a:p>
          <a:p>
            <a:r>
              <a:t>L3, расширение домена без валидации. Cruise второго октября двадцать третьего расширил домен без проверки и протащил пешехода двадцать футов. Урок: расширение домена требует полной валидации.</a:t>
            </a:r>
          </a:p>
          <a:p>
            <a:r>
              <a:t>L4, действие без канарейки. CrowdStrike девятнадцатого июля двадцать четвёртого: широкий домен означает большой радиус, а канареечного выпуска не было. Урок: широкий домен требует более строгого развёртывания, не менее. L5, этический блок: дебаты о летальном автономном оружии — технически L5 возможен, этически и регуляторно запрещён. И сквозной антипаттерн — пропуск ступени: нельзя прыгнуть с L1 на L3 без L2, и цифровой двойник служит мостом. Каждая ступень — это другая инженерная дисциплина, а не просто «больше автономии».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Применим лестницу к другому учебному кейсу, тоже не из курса. Университет рассматривает AI-помощника для приёма экзаменов: система проверяет ответы студентов, выявляет потенциальный плагиат, генерирует предварительные оценки. Вопрос — какой максимально допустимый уровень автономии.</a:t>
            </a:r>
          </a:p>
          <a:p>
            <a:r>
              <a:t>Анализ. Цена ошибки высокая: несправедливая оценка студента, обвинение в плагиате, академический рекорд на годы вперёд. Объяснимость критическая: студент имеет право апеллировать, и нужно объяснить, почему AI решил, что это плагиат или что ответ неполный. Регуляторное окно: академические правила обычно требуют человека-оценщика. Эталон: для тестов с выбором ответа он есть, для эссе — лишь частично, потому что есть критерии оценивания, но субъективность остаётся.</a:t>
            </a:r>
          </a:p>
          <a:p>
            <a:r>
              <a:t>Вердикт — максимум L1, advisory. AI читает ответы и выставляет предварительную оценку, флаг возможного плагиата и объяснение со ссылками на источники. Преподаватель видит предварительный пакет и принимает финальное решение. Студент может оспорить, и экспертиза — человеческая.</a:t>
            </a:r>
          </a:p>
          <a:p>
            <a:r>
              <a:t>Чтобы перейти на L2, где AI выставляет, а преподаватель подтверждает партиями, нужно сначала измерить базовую линию: сколько ошибок делает преподаватель сейчас и сколько AI на тестовом наборе. Если AI систематически точнее — низкая доля ложного плагиата, малое расхождение в оценке эссе — переход возможен, но с явным контролем изменений. А уровни L3 и L4 для этой задачи недопустимы по регулятору и этике: студент имеет право на решение человека.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построили инструменты в первых двух разделах: горизонтальную ось применимости с семью критериями и вертикальную ось автономии с шестью ступенями. Теперь — главное упражнение capstone: нанесём шестнадцать отраслей курса на эту плоскость и посмотрим, что получится.</a:t>
            </a:r>
          </a:p>
          <a:p>
            <a:r>
              <a:t>Цель двойная. Первая — закрепить интуицию: где находятся успешные применения, где провалы и почему. Карта видимо показывает разделение на кластеры, и эти кластеры объясняют большинство паттернов курса. Вторая, более важная — научить вас переносить опыт. Когда вам встретится отрасль, не разбиравшаяся в курсе — страхование, городское планирование, образование, — вы должны уметь самостоятельно разместить её задачи на этой плоскости и из координат вывести рекомендации.</a:t>
            </a:r>
          </a:p>
          <a:p>
            <a:r>
              <a:t>Карта не статична. Точки на ней сдвигаются по мере развития технологий: то, что в двадцать втором году было узким доменом, в двадцать шестом стало широким. Что не сдвигается — это структура осей. Применимость и автономия как концепции устойчивы. Раздел построен слой за слоем: сначала четыре стартовые точки, потом средний набор, потом финальный с особым вниманием к бимодальным отраслям, а затем кластерный анализ и обсуждение пустых квадрантов.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нанести все отрасли на карту точками, вспомним их вместе. Шестнадцать отраслей курса — это не список тем, а шестнадцать угловых обзоров одной и той же задачи. Каждая отрасль, при всей своей специфике, поднимала свою локальную ось автономии или применимости.</a:t>
            </a:r>
          </a:p>
          <a:p>
            <a:r>
              <a:t>Авиакосмос и оборона называли это циклом OODA и уровнями автономии. Цифровые двойники в производстве — шкалой A0-A3. Кибербезопасность разворачивала ту же идею через триаду «Видит — Решает — Действует». Разработка ПО описывала её через четыре буквы — A, B, C, D, от автодополнения до инженера-агента. Логистика и транспорт разделяли среду на пять уровней структурированности.</a:t>
            </a:r>
          </a:p>
          <a:p>
            <a:r>
              <a:t>Посмотрите на сетку внимательно. Все эти оси — про одно: про то, насколько AI берёт на себя действие, насколько среда позволяет ему это делать, и где проходит граница, за которой человек должен оставаться в петле. Это переименования одного явления, а не разные явления. Именно поэтому шестнадцать разрозненных историй складываются в одну карту — две оси: применимость и автономия. Сейчас мы нанесём на эту плоскость все отрасли точка за точкой и увидим, что точки группируются в узнаваемые кластеры.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Начнём с четырёх стартовых точек, по одной из каждого семейства курса. Это канонические успешные кейсы, каждый показывает чистую координату на карте.</a:t>
            </a:r>
          </a:p>
          <a:p>
            <a:r>
              <a:t>Разработка ПО — верхний правый квадрант. Применимость высокая: текст и код — модальность, в которой фундаментальные модели работают эффективно; компилятор даёт мгновенный эталон; объём гигантский — миллиарды строк кода в день; цена ошибки автодополнения низкая. Автономия тоже высокая, хотя в проде капнута на уровне узких задач.</a:t>
            </a:r>
          </a:p>
          <a:p>
            <a:r>
              <a:t>Финансы и ритейл — верхняя середина. Применимость средне-высокая: для закрытого мира, как детекция фрода, она высокая; для открытого мира, как покупка недвижимости, низкая — Zillow показал почему. Медицина — нижний правый. Узкая визуализация даёт высокую применимость благодаря AlphaFold и Aidoc, но автономия капнута регулятором на уровне советника: FDA не разрешает AI ставить диагноз без врача. Авиакосмос — верхняя середина с потолком: восприятие обстановки высоко, но действие ограничено этически, это дебаты о летальном автономном оружии.</a:t>
            </a:r>
          </a:p>
          <a:p>
            <a:r>
              <a:t>После этих четырёх точек уже видна структура карты. Справа-вверху — то, что близко к IT. Справа-внизу — регулируемая медицина (высокая применимость, капнутая автономия). И у каждого домена свой характерный потолок автономии. Дальше добавим средний набор отраслей.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Добавляем четыре отрасли среднего набора. И здесь впервые ясно проявляется важная вещь: готовность к AI локальна по задачам, а не глобальна по отрасли.</a:t>
            </a:r>
          </a:p>
          <a:p>
            <a:r>
              <a:t>CAD и проектирование. Применимость зависит от класса задачи. Оптимизация топологии — высокая; а LLM-ассистент для написания CAD-скриптов — низкая, бенчмарк ORCA показал точность сорок пять-шестьдесят три процента, ниже порога готовности. Главный урок: «AI в проектировании» — не одна категория, а шесть разных классов с разной применимостью, которые маркетинг смешивает.</a:t>
            </a:r>
          </a:p>
          <a:p>
            <a:r>
              <a:t>Креатив — бимодально. Массовое производство ассетов вроде концепт-арта и фоновой музыки — высокая применимость; авторское произведение режиссёра или художника — низкая. Плюс особые риски: утечка обучающих данных, как в иске Getty против Stability, и дипфейк-мошенничество.</a:t>
            </a:r>
          </a:p>
          <a:p>
            <a:r>
              <a:t>Агросектор — самый наглядный пример раздвоения. See &amp; Spray, узкая задача компьютерного зрения, — это и есть узкая, чётко очерченная задача, верхний правый квадрант. А Monarch Tractor в открытом поле — верхний левый с пометкой провала: тридцать восемь процентов сокращений в январе двадцать пятого. Одна отрасль, две точки в разных квадрантах.</a:t>
            </a:r>
          </a:p>
          <a:p>
            <a:r>
              <a:t>Производство — середина-низ. Компьютерное зрение на конвейере высоко; а LLM на коде контроллеров низко, потому что это критичные к безопасности системы, которым LLM не доверяется. И снова ключевой урок: дискретное и процессное производство — разная физика с разными классическими альтернативами.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Добавляем финальный набор и доводим карту до примерно двадцати точек. Здесь особенно важна бимодальная природа некоторых отраслей.</a:t>
            </a:r>
          </a:p>
          <a:p>
            <a:r>
              <a:t>Автоматизация и цифровые двойники — спред от A0 до A3, и двойник служит мостом от советника к автономии. Кибербезопасность — восприятие высоко, на уровне советника и с подтверждением, а действие ограничено радиусом разрушения, что показал CrowdStrike. Наука бимодальна: AlphaFold в закрытом мире протеомики работает блестяще, а Galactica в открытом мире генерации гипотез провалилась за трое суток. Тот же класс моделей с разной физической заземлённостью даёт диаметрально разные результаты.</a:t>
            </a:r>
          </a:p>
          <a:p>
            <a:r>
              <a:t>Нефтегаз — матрица данные на процесс. И здесь уникальный урок: попытка построить чат-бота для разведки недр на чистом LLM без физических ограничений структурно проваливается. LLM не имеет доступа к уравнениям пористости и проницаемости и не заменит геолога. В любой регулируемой инженерной индустрии с физическим знанием нужны физически-информированные нейросети или гибрид физики и ML.</a:t>
            </a:r>
          </a:p>
          <a:p>
            <a:r>
              <a:t>Но самая бимодальная отрасль — логистика, и это дидактически важно. Три точки одной отрасли. Складская робототехника — высокая автономия, верхний правый квадрант. Городское робот-такси — открытая среда и попытка автономии при недостаточной применимости, верхний левый. А чёрный лебедь уровня блокировки Суэцкого канала — фактически нулевой уровень, нижний левый: задача для людей и сценарного планирования. Внутри одной компании AI работает на высоком уровне на складе и на нулевом при экстренном управлении сбоем. Зрелость локальна по задачам, а не глобальна по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 полного раскрытия карты можно выделить три ключевых кластера. Начнём с первого — кластера закрытой петли в верхнем правом квадранте. Это самый плотный кластер карты.</a:t>
            </a:r>
          </a:p>
          <a:p>
            <a:r>
              <a:t>Кто в нём. Разработка ПО — инженер-агент на хорошо очерченных задачах. Детекция фрода — Stripe Radar, Visa AI. See &amp; Spray — узкая задача компьютерного зрения. Складская робототехника — Symbotic, Amazon Sparrow. Сворачивание белков — AlphaFold.</a:t>
            </a:r>
          </a:p>
          <a:p>
            <a:r>
              <a:t>Что у них общего — пять признаков, и это профиль успешного применения AI. Первый: среда контролируемая или закрытая. Второй: эталон быстрый и однозначный — компилятор, чарджбэк, визуальная разметка, лабораторный анализ. Третий: объём задач большой. Четвёртый: цена ошибки низкая или поглощаемая. Пятый: распределение обучающих данных совпадает с эксплуатацией.</a:t>
            </a:r>
          </a:p>
          <a:p>
            <a:r>
              <a:t>Это и есть рабочие случаи — там, где AI окупается, где он зрелый, где это не маркетинг. Запомните эти пять признаков как профиль успешного применения. Когда вам встретится новая отрасль, и задачи в ней удовлетворяют всем пяти признакам — у проекта хорошие шансы. Это прямой практический критерий, который вы применяете к любому новому предложению.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Второй кластер — открытая среда, верхний левый квадрант. Это зона предупреждения и кластер провалов.</a:t>
            </a:r>
          </a:p>
          <a:p>
            <a:r>
              <a:t>Кто в нём. Monarch Tractor в открытом поле — тридцать восемь процентов сокращений в январе двадцать пятого, около пятидесяти трёх человек из примерно ста сорока на пике. Plenty Vertical Farms — привлекли больше девятисот сорока миллионов с четырнадцатого года, но стоимость обвалилась, и в марте двадцать пятого — банкротство по одиннадцатой главе. Городское робот-такси Cruise — провал. Чёрный лебедь уровня Суэца и COVID. iBuying Zillow — триста четыре миллиона списания. Galactica — открытый мир научных гипотез, отозвана за сорок восемь часов.</a:t>
            </a:r>
          </a:p>
          <a:p>
            <a:r>
              <a:t>Что у них общего. Среда открытая, есть состязательность — погода, конкуренция, политика, биология. Обучающие данные не покрывают редкие события, чёрных лебедей. Цена ошибки высокая: жизнь пешехода, банкротство компании, дезинформация в науке. Эталон медленный или отсутствует.</a:t>
            </a:r>
          </a:p>
          <a:p>
            <a:r>
              <a:t>И главный урок. Если ваша задача попадает в этот кластер — не стартуйте полную автоматизацию. Сузьте домен, как Cruise должен был сделать по образцу Waymo. Перейдите на советника с человеком в петле. Или откажитесь от AI в пользу классической альтернативы. И запомните самое важное: открытая среда — это не недостаток технологии, это физика задачи. Никакая модель двадцать шестого года не закроет этот разрыв, и ожидаемая модель двадцать восьмого тоже — потому что проблема не в модели, а в распределении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Третий кластер — высокие ставки, нижний правый квадрант, регуляторно-капнутая автономия.</a:t>
            </a:r>
          </a:p>
          <a:p>
            <a:r>
              <a:t>Кто в нём. Медицина — клинические решения капнуты на уровне советника регулятором FDA. Авиакосмос — действие капнуто регуляцией летального автономного оружия. Производство, критичное к безопасности, — капнуто стандартами функциональной безопасности. Кибербезопасность на уровне действия — капнута дисциплиной радиуса разрушения. Нефтегаз во взрывоопасных зонах — капнут сертификацией оборудования.</a:t>
            </a:r>
          </a:p>
          <a:p>
            <a:r>
              <a:t>Что у них общего. Применимость AI может быть высокой, но автономия ограничена регулятором. Цена ошибки высокая — жизнь, инфраструктура, рынок. Объяснимость и аудит обязательны.</a:t>
            </a:r>
          </a:p>
          <a:p>
            <a:r>
              <a:t>И урок. В этих доменах автономия — не цель. Цель — усиление человека. Радиолог с AI-помощником лучше радиолога без; но решение всегда за радиологом. Пилот с AI-ситуационной осведомлённостью лучше пилота без; но спуск курка всегда за пилотом. Это дисциплина советника, и она не означает, что AI хуже. Она означает, что AI работает в роли советника, и эта роль зрелая, измеримая, окупающаяся. Aidoc обрабатывает миллионы снимков в год в режиме человек-в- петле — это успех, не провал. И финансовая выгода усиления часто больше, чем у полной автоматизации, потому что полная автоматизация в высоких ставках редко достижима, а попытки часто проваливаются, как IBM Watson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карте видны два пустых или почти пустых квадранта, и их пустота — это дидактический сигнал.</a:t>
            </a:r>
          </a:p>
          <a:p>
            <a:r>
              <a:t>Нижний правый — высокая применимость плюс низкая автономия — это заполненный квадрант: места высокой применимости с искусственно низкой автономией, Aidoc, Project Maven, скоринг под законом. Это не пустой, а капнутый квадрант: потолок задан регулятором, а не технологией.</a:t>
            </a:r>
          </a:p>
          <a:p>
            <a:r>
              <a:t>А вот верхний левый — низкая применимость плюс высокая автономия — это действительно пустой и опасный квадрант, зона предупреждения. Если ваша задача оказывается здесь — стоп. Что туда попадает. CrowdStrike Falcon — уровень действия для классической системы защиты со средней, не высокой применимостью, и радиус восемь с половиной миллионов устройств. F-35 ALIS — предиктивное обслуживание с высокой автономией на критичной для миссии системе. Cruise — расширение домена в открытой среде, где применимость не была подтверждена.</a:t>
            </a:r>
          </a:p>
          <a:p>
            <a:r>
              <a:t>Урок этого пустого квадранта: если применимость не высокая, не стремитесь к высокой автономии. Это асимметрия: низкая применимость умножить на высокую автономию равно катастрофа. А низкая применимость плюс низкая автономия — классический алгоритм с человеком в петле — приемлемое решение. Научитесь диагностировать собственные проекты: попадаю ли я в верхний левый? Если да — два варианта сдвига. Вправо — повысить применимость, закрыв среду и набрав данные; это инвестиция в постановку задачи. Или вниз — снизить автономию, перейдя к советнику; это инвестиция в дизайн системы. Оба сдвига валидны.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Шестнадцать лекций курса собрали внушительный реестр документированных провалов AI. Этот раздел систематизирует их в двенадцать канонических классов. Каждый класс — это повторяющийся паттерн, а не одна ошибка одной компании.</a:t>
            </a:r>
          </a:p>
          <a:p>
            <a:r>
              <a:t>Цель — научить вас узнавать эти паттерны. Когда вы услышите вендорскую презентацию, в которой всё звучит хорошо, вы должны автоматически проверять: не воспроизводится ли здесь один из двенадцати канонических провалов. Если вы видите паттерн — задаёте уточняющий вопрос. Часто этого достаточно, чтобы остановить плохой проект.</a:t>
            </a:r>
          </a:p>
          <a:p>
            <a:r>
              <a:t>Каждый из двенадцати провалов имеет одинаковую структуру: имя класса, источник лекции, где впервые встречали, контекст с компанией и годом, выученный урок и более правильная альтернатива. Этот раздел полностью про границы применимости — это самое концентрированное содержание всей лекции о том, где AI не работает. И именно эти двенадцать паттернов вы заберёте на карточку номер три, самую ценную по практическому применению. Пройдём их группами по четыре.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Первые четыре провала.</a:t>
            </a:r>
          </a:p>
          <a:p>
            <a:r>
              <a:t>Провал первый — прогноз в открытом мире без закрытой петли. Zillow, Monarch, Cruise. Все три применяли ML в открытой среде с распределённым сдвигом. Урок: сдвиг распределения структурно ломает модель, обученную на исторических данных, и не лечится «больше данных» — он лечится изменением постановки. Альтернатива: сузить домен, перейти на советника, или взять не-AI базу.</a:t>
            </a:r>
          </a:p>
          <a:p>
            <a:r>
              <a:t>Провал второй — накопление ненадёжности в многошаговом агенте. Если шаг агента имеет вероятность успеха p, то на N шагах общий успех — p в степени N. При вероятности девяносто пять процентов и десяти шагах общий успех всего пятьдесят девять процентов. Это математическая неизбежность, не баг конкретной модели. Альтернатива: лимит бюджета, максимум шагов, контрольные точки с человеком каждые несколько шагов.</a:t>
            </a:r>
          </a:p>
          <a:p>
            <a:r>
              <a:t>Провал третий — демо вендора не равно промышленной эксплуатации. Devin оценён в два миллиарда после демо, а в промышленной эксплуатации показал куда меньше. IBM Watson Health продан за миллиард, не выполнив целей. Epic Sepsis: бенчмарк семьдесят шесть, развёртывание шестьдесят три. Урок: вендорский бенчмарк измерен на данных вендора. Повторите измерение на своих данных до коммита.</a:t>
            </a:r>
          </a:p>
          <a:p>
            <a:r>
              <a:t>Провал четвёртый — скучный человек в петле. Uber в Темпе: водитель в телефоне, погибла пешеход. F-35 ALIS: высокая частота ложных тревог вызвала усталость от алертов. Урок: человек, призванный мониторить редкие события, психологически не способен делать это часами. Альтернатива — человек на петле с пробуждением по алерту, и снижение частоты ложных срабатываний.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Провалы с пятого по восьмой.</a:t>
            </a:r>
          </a:p>
          <a:p>
            <a:r>
              <a:t>Пятый — переавтоматизация в зонах вариативности. Tesla в восемнадцатом году при наращивании производства Model 3: Маск признал, что чрезмерная автоматизация замедляет конвейер, и вернул человеческую сборку на участках с высокой вариативностью. Это парадокс автоматизации, описанный Бэйнбридж ещё в восемьдесят третьем. Альтернатива — принцип Jidoka из системы Toyota: усиление, а не замена; статистический контроль процесса остаётся нормативным.</a:t>
            </a:r>
          </a:p>
          <a:p>
            <a:r>
              <a:t>Шестой — действие без канарейки и отката. CrowdStrike выпустил обновление без канареечного выпуска, восемь с половиной миллионов устройств парализованы. Cloudflare — каскад конфигурации, пять с половиной часов до восстановления. Урок: широкий домен означает большой радиус разрушения. Альтернатива — канарейка на одном-пяти процентах, телеметрия с ранним предупреждением, откат в один клик и поэтапное развёртывание.</a:t>
            </a:r>
          </a:p>
          <a:p>
            <a:r>
              <a:t>Седьмой — научная галлюцинация класса Galactica. Модель Meta прожила трое суток, генерируя фейковые статьи с фейковыми цитатами. Урок: в науке эталон — это воспроизводимый эксперимент, а не текст. Альтернатива — заземление в проверенные источники и рецензирование по чек-листу с проверкой каждой ссылки.</a:t>
            </a:r>
          </a:p>
          <a:p>
            <a:r>
              <a:t>Восьмой — голосовое и чат-мошенничество и мультимодальный дипфейк. Wendy's и Air Canada показали ненадёжность чат-ботов. А в феврале двадцать четвёртого сотрудник Arup перевёл двадцать пять миллионов долларов после видео-конференции с дипфейк-имитацией финансового директора и коллег. Это уже не клонирование голоса, а видео плюс голос — новый вектор. Альтернатива: меню по правилам, криптографическая подпись провенанса и обязательная проверка через независимый канал для дорогих транзакций.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Провалы с девятого по двенадцатый.</a:t>
            </a:r>
          </a:p>
          <a:p>
            <a:r>
              <a:t>Девятый — дословная утечка обучающих данных. Иск Getty против Stability: водяные знаки Getty видны в сгенерированных изображениях. Иск NYT против OpenAI: модель дословно воспроизводит платные статьи. Урок: у фундаментальных моделей есть хвост запоминания — часть обучающих примеров хранится в весах дословно и может быть извлечена. Это юридический риск. Альтернатива: лицензированные датасеты, аудит провенанса, криптографическая подпись на выходах.</a:t>
            </a:r>
          </a:p>
          <a:p>
            <a:r>
              <a:t>Десятый — привязка к вендору в регулируемых отраслях. Climate FieldView держит данные фермеров в облаке Bayer. F-35 ALIS привязал Министерство обороны к платформе Lockheed Martin. Урок: привязка превращается из удобства в стратегический риск — данные у вендора, выход стоит миллионы. Альтернатива: собственная инфраструктура, пункты экспорта данных в контракте, мульти-вендорная стратегия.</a:t>
            </a:r>
          </a:p>
          <a:p>
            <a:r>
              <a:t>Одиннадцатый — slopsquatting. Модели при генерации кода выдумывают несуществующие имена пакетов, а атакующие регистрируют эти имена в реестрах. Разработчик запускает AI-код и импортирует вредонос. Это новый вектор атаки, появившийся именно из-за AI. Альтернатива: проверка спецификации компонентов, allow-list импортов, проверка существования библиотеки до коммита.</a:t>
            </a:r>
          </a:p>
          <a:p>
            <a:r>
              <a:t>Двенадцатый — болото пилотов. И здесь важно различать измерения, потому что маркетинг их смешивает. MIT NANDA и Sloan: девяносто пять процентов пилотов не доходят до промышленной эксплуатации. McKinsey: пять с половиной процентов компаний — высокие исполнители с заметным влиянием на прибыль; это другое измерение, концентрация лидеров, а не доля провалов. В России — девять из десяти. Семьдесят пять процентов цифровых двойников застряли в лаборатории. Урок: пилот соскальзывает в бесконечность. Альтернатива: явные ворота GO/NO-GO, измеренная базовая линия и лимит бюджета с самого начала.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 двенадцати провалов видны три мега-паттерна, к которым сводятся почти все случаи. Если вы запомните из этого раздела только три вещи — пусть это будут они.</a:t>
            </a:r>
          </a:p>
          <a:p>
            <a:r>
              <a:t>Мега-паттерн первый — AI применён за границей закрытой петли. Zillow, Monarch, Cruise, Galactica, частично Tesla — это попытки полной автоматизации в средах, где обратная связь медленная, эталон неоднозначный, доминирует сдвиг распределения. Урок: диагностируйте среду до старта. Это критерий один.</a:t>
            </a:r>
          </a:p>
          <a:p>
            <a:r>
              <a:t>Мега-паттерн второй — человек в петле спроектирован плохо. Uber Tempe, F-35 ALIS, частично Cruise и CrowdStrike — случаи, где человек формально присутствовал, но фактически не работал: скучный мониторинг, отсутствие канарейки, отсутствие отката. Урок: человек в петле — это инженерная дисциплина, а не словесная формулировка.</a:t>
            </a:r>
          </a:p>
          <a:p>
            <a:r>
              <a:t>Мега-паттерн третий — экономическая базовая линия проигнорирована. Демо не равно промышленной эксплуатации, болото пилотов, частично привязка к вендору — случаи, где не была измерена альтернатива до старта AI. Урок: измерьте базовую линию и классическую альтернативу до коммита.</a:t>
            </a:r>
          </a:p>
          <a:p>
            <a:r>
              <a:t>И отсюда — тридцатисекундная процедура, применимая к любому AI-предложению. Какая среда — закрытая или открытая со сдвигом? Есть ли человек в петле, и не скучно ли ему? Какая базовая линия, и окупит ли AI дельту в полной стоимости владения? Три вопроса. Большая часть катастроф из реестра могла бы быть предотвращена на стадии планирования, если бы инженер задал именно 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Шестнадцать лекций курса были интенсивным погружением. После экзамена многие детали забудутся — какая компания, какой год, какие проценты. Это нормально. Главное, что не должно забыться, — это инструменты диагностики: карта, семь критериев, лестница автономии, паттерны провалов. Чтобы они не забылись, мы упаковываем их в четыре опорные карточки, которые вы заберёте с собой и будете применять в инженерной работе.</a:t>
            </a:r>
          </a:p>
          <a:p>
            <a:r>
              <a:t>Карточка номер один — матрица из семи критериев применимости AI в формате чек-листа. Карточка номер два — лестница автономии от нуля до пяти с критериями подъёма. Карточка номер три — реестр двенадцати провалов с противоядиями; это главная карточка по практической ценности. Карточка номер четыре — большой плакат формата A1: карта шестнадцати отраслей на двумерной плоскости.</a:t>
            </a:r>
          </a:p>
          <a:p>
            <a:r>
              <a:t>Карточки доступны в репозитории курса как PDF и исходники. Их можно распечатать. Я рекомендую повесить третью рядом со столом, а четвёртую — как большой плакат в офисе или лаборатории. Дальше мы посмотрим каждую карточку отдельно и крупно, чтобы вы знали, как именно ими пользоваться в реальной работе.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Карточка номер один — матрица принятия решения «применять ли AI», семь критериев. Это самый частый инструмент, который вы будете использовать. Семь строк, четыре колонки: номер, вопрос, индикатор-вердикт и пример из курса.</a:t>
            </a:r>
          </a:p>
          <a:p>
            <a:r>
              <a:t>Первая строка — среда контролируемая или закрытая: See &amp; Spray даёт да, Monarch — нет. Вторая — данных достаточно и совпадают ли они с эксплуатацией: компилятор в разработке ПО — да, Epic Sepsis — нет. Третья — повторяемость и объём. Четвёртая — приемлема ли цена ошибки: Stripe Radar да, CrowdStrike нет. Пятая — быстрый ли эталон. Шестая — нужна ли объяснимость: вспомните Apple Card. Седьмая — окупается ли AI против классической альтернативы.</a:t>
            </a:r>
          </a:p>
          <a:p>
            <a:r>
              <a:t>Правило применения внизу карточки. Проходите семь строк по порядку. Если хотя бы одна дала крестик — стоп, отказ от полного AI. Если две или больше дали «нужен человек в петле» — стоп, обоснуйте человека в петле плюс канареечный выпуск плюс откат. Если все семь — галочки — можно в пилот с явными воротами GO/NO-GO.</a:t>
            </a:r>
          </a:p>
          <a:p>
            <a:r>
              <a:t>Эффективная техника — сделать чек-лист публичным: на планёрке вывести карточку на экран и пройти семь строк всей командой. Это формализует обсуждение: вместо «кажется, сработает» — «по строке два у нас знак внимания, давайте обсудим данные». И когда вендор оспаривает вердикт, просите доказательство — бенчмарк на ваших данных под соглашением о неразглашении. Если отказывается — это сигнал.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Карточка номер два — лестница автономии от нуля до пяти и правила подъёма. Шесть строк, пять колонок: уровень, название, что AI делает, кто решает, критерий подъёма на следующий уровень.</a:t>
            </a:r>
          </a:p>
          <a:p>
            <a:r>
              <a:t>Нулевой уровень — без автоматизации, базовые данные собраны. Первый — советник: классифицирует и рекомендует, решает всегда человек, а подъём требует измеренной базовой линии, контроля изменений и готового отката. Второй — с подтверждением: AI действует, человек подтверждает каждое; подъём — базовая частота ложных срабатываний, канарейка, откат в один клик. Третий — условный, узкий домен: человек на петле; подъём — формальное определение домена, телеметрия и ворота go/no-go. Четвёртый — высокий, широкий домен: человек вне петли для большинства; подъём — надёжность три девятки, страховка, регуляторный допуск. Пятый — полный: недостижим в двадцать шестом для большинства отраслей.</a:t>
            </a:r>
          </a:p>
          <a:p>
            <a:r>
              <a:t>Внизу карточки — антипаттерны на каждом уровне: превышение роли как у Klarna, скучный человек в петле как у Uber, расширение домена без валидации как у Cruise, действие без канарейки как у CrowdStrike, этический блок летального оружия, и сквозной — пропуск ступени, который требует цифрового двойника как мост.</a:t>
            </a:r>
          </a:p>
          <a:p>
            <a:r>
              <a:t>Правило применения простое: для любого AI-применения определите текущий уровень и максимально допустимый. Если они различаются — нужен план подъёма с явными критериями. Большинство промышленных применений двадцать шестого года — это первый и второй уровни. Лестница — снимок момента; раз в два-три года пересматривайте критерии подъёма, потому что регуляторика и страховые рынки меняются.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Карточка номер три — реестр двенадцати провалов и противоядий. Это главная карточка по практической ценности: практически каждый из двенадцати провалов — это прививка против реальной ошибки на работе. Двенадцать строк, четыре колонки: имя провала, источник, урок одной фразой, альтернатива.</a:t>
            </a:r>
          </a:p>
          <a:p>
            <a:r>
              <a:t>Я не буду перечитывать все двенадцать — мы их разобрали в четвёртом разделе. Скажу про структуру. Прогноз в открытом мире, накопление ненадёжности, демо не равно промышленной эксплуатации, скучный человек в петле, переавтоматизация, действие без канарейки, научная галлюцинация, голосовое и видео-мошенничество, утечка обучающих данных, привязка к вендору, slopsquatting, болото пилотов.</a:t>
            </a:r>
          </a:p>
          <a:p>
            <a:r>
              <a:t>Почему именно двенадцать. Психология говорит, что человек удерживает в оперативной памяти около семи плюс-минус два элемента. Двенадцать — за этим пределом, поэтому их держат на бумаге, а не в голове. Сократить до пяти — потерять паттерны; расширить до пятидесяти — карточка рассеется. Двенадцать — компромисс между охватом и удобством.</a:t>
            </a:r>
          </a:p>
          <a:p>
            <a:r>
              <a:t>Правило применения. Когда читаете вендорскую презентацию, участвуете в планёрке или делаете рецензию статьи — пройдите двенадцать строк. Если узнаёте паттерн — задайте уточняющий вопрос. Часто этого достаточно, чтобы спасти проект. И возьмите за привычку личный разбор после каждого AI-проекта: каких из двенадцати провалов вы избежали и почему, каких не избежали и чему научились. Такой личный разбор формирует экспертизу через всю карьеру.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Карточка номер четыре — карта шестнадцати отраслей на двумерной плоскости, большой плакат формата A1. Это та самая карта, которую мы строили слой за слоем в третьем разделе, теперь как раздаточный материал на стену.</a:t>
            </a:r>
          </a:p>
          <a:p>
            <a:r>
              <a:t>По горизонтали — применимость ИИ, от детерминированного не-AI до полного AI, с градиентным фоном. По вертикали — автономия от нуля до пяти, шесть полос. Четыре цветовые зоны квадрантов: закрытая петля в верхнем правом зелёным, регуляторно-капнутая в нижнем правом синим, classical «классика выигрывает» в нижнем левом серым, и зона предупреждения в верхнем левом. На каждой точке — иконка отрасли, пара слов и всплывающая аннотация с главным провалом или успехом.</a:t>
            </a:r>
          </a:p>
          <a:p>
            <a:r>
              <a:t>Правило применения: повесьте плакат на стену. Когда обсуждаете новый AI-проект, попросите коллег указать, в каком квадранте задача. Само это упражнение ставит проект в структурированную рамку.</a:t>
            </a:r>
          </a:p>
          <a:p>
            <a:r>
              <a:t>Для новой отрасли, не разобранной в курсе, карточка не даёт прямого ответа, но даёт аналогии: «эта задача похожа на See &amp; Spray по структуре закрытой петли и узости» или «эта задача похожа на расширение робот-такси — домен недостаточен». Перенос опыта через аналогию — главная функция плаката. Карта обновляется со временем: Waymo может перейти из узкого домена в широкий, AlphaFold расшириться. Это живой документ, а не застывшая истина.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вывод курса умещается в одну фразу: знать ИИ — значит знать его границы. «Знать ИИ» — это не «уметь запустить чат-бот» и не «выучить трансформеры». Это умение разместить любое AI-предложение на двумерной плоскости, оценить его по семи критериям, диагностировать риск через двенадцать паттернов и принять обоснованное решение. А «знать границы» — это позиция инженерной зрелости: каждый инструмент имеет границы, и сначала проверяют границы, потом берут инструмент.</a:t>
            </a:r>
          </a:p>
          <a:p>
            <a:r>
              <a:t>Если нужно опереться на структуру при ответе на любой вопрос — вспомните три вещи. Две оси карты: применимость и автономия. Семь критериев как последовательные ворота: один однозначный отказ — стоп. И три мега-паттерна провалов: AI за границей закрытой петли, плохо спроектированный человек в петле, проигнорированная экономическая базовая линия.</a:t>
            </a:r>
          </a:p>
          <a:p>
            <a:r>
              <a:t>И обязательно про вторую сторону. Курс не пессимистичен. GitHub Copilot в разработке, Stripe Radar в платежах, See &amp; Spray в агро, Aidoc в радиологии, складская робототехника Symbotic, AlphaFold в науке — это реальные зрелые применения, приносящие значимую ценность. Курс учит различать, а не отвергать. Если вы помните и успехи, и провалы и можете различать паттерны — вы инженер две тысячи двадцать шестого года. Спасибо за курс, удачи в работе. Какие у вас вопросы?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ПРИМЕНЕНИЕ ИСКУССТВЕННОГО ИНТЕЛЛЕКТА · ИТОГОВАЯ ЛЕКЦИЯ КУРСА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2697480" cy="4114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50" b="1">
                <a:solidFill>
                  <a:srgbClr val="21295C"/>
                </a:solidFill>
                <a:latin typeface="Arial"/>
              </a:rPr>
              <a:t>CAPSTONE — ФИНАЛ КУРСА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943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1C7293"/>
                </a:solidFill>
                <a:latin typeface="Arial"/>
              </a:rPr>
              <a:t>Лекция 17</a:t>
            </a:r>
          </a:p>
          <a:p>
            <a:pPr algn="l">
              <a:lnSpc>
                <a:spcPct val="104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21295C"/>
                </a:solidFill>
                <a:latin typeface="Arial"/>
              </a:rPr>
              <a:t>Систематизация знаний</a:t>
            </a:r>
          </a:p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21295C"/>
                </a:solidFill>
                <a:latin typeface="Arial"/>
              </a:rPr>
              <a:t>и навыков — инженерная</a:t>
            </a:r>
          </a:p>
          <a:p>
            <a:pPr algn="l">
              <a:lnSpc>
                <a:spcPct val="104000"/>
              </a:lnSpc>
            </a:pPr>
            <a:r>
              <a:rPr sz="3300" b="1" i="0">
                <a:solidFill>
                  <a:srgbClr val="21295C"/>
                </a:solidFill>
                <a:latin typeface="Arial"/>
              </a:rPr>
              <a:t>карта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663440"/>
            <a:ext cx="5943600" cy="13258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64608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1295C"/>
                </a:solidFill>
                <a:latin typeface="Arial"/>
              </a:rPr>
              <a:t>Где AI </a:t>
            </a:r>
            <a:r>
              <a:rPr sz="2100" b="1" i="0">
                <a:solidFill>
                  <a:srgbClr val="F0AB00"/>
                </a:solidFill>
                <a:latin typeface="Arial"/>
              </a:rPr>
              <a:t>работает</a:t>
            </a:r>
            <a:r>
              <a:rPr sz="2100" b="1" i="0">
                <a:solidFill>
                  <a:srgbClr val="21295C"/>
                </a:solidFill>
                <a:latin typeface="Arial"/>
              </a:rPr>
              <a:t>, где — </a:t>
            </a:r>
            <a:r>
              <a:rPr sz="2100" b="1" i="0">
                <a:solidFill>
                  <a:srgbClr val="F0AB00"/>
                </a:solidFill>
                <a:latin typeface="Arial"/>
              </a:rPr>
              <a:t>нет</a:t>
            </a:r>
            <a:r>
              <a:rPr sz="2100" b="1" i="0">
                <a:solidFill>
                  <a:srgbClr val="21295C"/>
                </a:solidFill>
                <a:latin typeface="Arial"/>
              </a:rPr>
              <a:t>,</a:t>
            </a:r>
          </a:p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1295C"/>
                </a:solidFill>
                <a:latin typeface="Arial"/>
              </a:rPr>
              <a:t>и как это </a:t>
            </a:r>
            <a:r>
              <a:rPr sz="2100" b="1" i="0">
                <a:solidFill>
                  <a:srgbClr val="F0AB00"/>
                </a:solidFill>
                <a:latin typeface="Arial"/>
              </a:rPr>
              <a:t>понять</a:t>
            </a:r>
            <a:r>
              <a:rPr sz="2100" b="1" i="0">
                <a:solidFill>
                  <a:srgbClr val="21295C"/>
                </a:solidFill>
                <a:latin typeface="Arial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868680"/>
            <a:ext cx="4892040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01-hero-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717571"/>
            <a:ext cx="4672584" cy="313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67728" y="5650992"/>
            <a:ext cx="46725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Карта 16 отраслей курса на одной плоскости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Карта составлена по 16 отраслевым лекциям курса · оси SAE J3016 (адаптация)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Карта применимости ИИ: горизонталь — нужен ли AI, вертикаль — сколько ему доверить.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34440"/>
            <a:ext cx="836676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02-keystone-quadr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410" y="1353312"/>
            <a:ext cx="6396339" cy="437083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006840" y="1234440"/>
            <a:ext cx="2724912" cy="46177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08008" y="1444752"/>
            <a:ext cx="233172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065A82"/>
                </a:solidFill>
                <a:latin typeface="Arial"/>
              </a:rPr>
              <a:t>Две оси</a:t>
            </a:r>
          </a:p>
          <a:p>
            <a:pPr algn="l">
              <a:lnSpc>
                <a:spcPct val="116000"/>
              </a:lnSpc>
            </a:pPr>
            <a:r>
              <a:rPr sz="5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4A556B"/>
                </a:solidFill>
                <a:latin typeface="Arial"/>
              </a:rPr>
              <a:t>Горизонталь — нужен ли AI вообще (применимость).</a:t>
            </a:r>
          </a:p>
          <a:p>
            <a:pPr algn="l">
              <a:lnSpc>
                <a:spcPct val="116000"/>
              </a:lnSpc>
            </a:pPr>
            <a:r>
              <a:rPr sz="5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4A556B"/>
                </a:solidFill>
                <a:latin typeface="Arial"/>
              </a:rPr>
              <a:t>Вертикаль — сколько автономии доверить (L0→L5).</a:t>
            </a:r>
          </a:p>
          <a:p>
            <a:pPr algn="l">
              <a:lnSpc>
                <a:spcPct val="116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Высокое значение — не «лучше», а «AI подходит» / «AI делает больше».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08008" y="4956048"/>
            <a:ext cx="2331720" cy="749808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90888" y="5010912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Верхне-левый квадрант обязан оставаться пустым.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1C7293"/>
                </a:solidFill>
                <a:latin typeface="Arial"/>
              </a:rPr>
              <a:t>Несущая ось capstone — предъявлена до первого погружения. Источник осей: SAE J3016 (адаптация).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355080"/>
            <a:ext cx="2200046" cy="29260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1. Критерии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2712110" y="6355080"/>
            <a:ext cx="2200046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12110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2. Лестница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967020" y="6355080"/>
            <a:ext cx="2200046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7020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3. Карта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1931" y="6355080"/>
            <a:ext cx="2200046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1931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4. Провалы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76841" y="6355080"/>
            <a:ext cx="2200046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76841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5. Карточки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822960"/>
            <a:ext cx="4754880" cy="420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0" b="1" i="0">
                <a:solidFill>
                  <a:srgbClr val="E5EAF0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69494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800" b="1" i="0">
                <a:solidFill>
                  <a:srgbClr val="F0AB00"/>
                </a:solidFill>
                <a:latin typeface="Arial"/>
              </a:rPr>
              <a:t>Раздел 1</a:t>
            </a:r>
          </a:p>
          <a:p>
            <a:pPr algn="l">
              <a:lnSpc>
                <a:spcPct val="116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3300" b="1" i="0">
                <a:solidFill>
                  <a:srgbClr val="21295C"/>
                </a:solidFill>
                <a:latin typeface="Arial"/>
              </a:rPr>
              <a:t>Когда AI применять, когда нет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550" b="0" i="0">
                <a:solidFill>
                  <a:srgbClr val="4A556B"/>
                </a:solidFill>
                <a:latin typeface="Arial"/>
              </a:rPr>
              <a:t>Семь критериев — горизонтальная ось карты как диагностический чек-лист.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32120"/>
            <a:ext cx="11274552" cy="658368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586983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7 критериев · последовательные ворота · полностью про границы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Семь критериев работают как последовательные ворота: один однозначный «нет» — и задача не для полной автономии AI.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7772400" cy="53035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1499616"/>
            <a:ext cx="365759" cy="365759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99616"/>
            <a:ext cx="365759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1472184"/>
            <a:ext cx="69494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1. </a:t>
            </a:r>
            <a:r>
              <a:rPr sz="1350" b="1" i="0">
                <a:solidFill>
                  <a:srgbClr val="21295C"/>
                </a:solidFill>
                <a:latin typeface="Arial"/>
              </a:rPr>
              <a:t>Закрытая петля или открытая среда?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Есть ли быстрая измеримая обратная связь?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6252"/>
            <a:ext cx="7772400" cy="53035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2098548"/>
            <a:ext cx="365759" cy="365759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098548"/>
            <a:ext cx="365759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071116"/>
            <a:ext cx="69494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2. </a:t>
            </a:r>
            <a:r>
              <a:rPr sz="1350" b="1" i="0">
                <a:solidFill>
                  <a:srgbClr val="21295C"/>
                </a:solidFill>
                <a:latin typeface="Arial"/>
              </a:rPr>
              <a:t>Достаточно ли обучающих данных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и совпадает ли распределение с эксплуатацией?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15184"/>
            <a:ext cx="7772400" cy="53035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8" y="2697479"/>
            <a:ext cx="365759" cy="365759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97479"/>
            <a:ext cx="365759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2670048"/>
            <a:ext cx="69494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3. </a:t>
            </a:r>
            <a:r>
              <a:rPr sz="1350" b="1" i="0">
                <a:solidFill>
                  <a:srgbClr val="21295C"/>
                </a:solidFill>
                <a:latin typeface="Arial"/>
              </a:rPr>
              <a:t>Повторяемость и объём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задача частая или штучная?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14115"/>
            <a:ext cx="7772400" cy="53035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6928" y="3296411"/>
            <a:ext cx="365759" cy="365759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296411"/>
            <a:ext cx="365759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268979"/>
            <a:ext cx="69494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0AB00"/>
                </a:solidFill>
                <a:latin typeface="Arial"/>
              </a:rPr>
              <a:t>4. </a:t>
            </a:r>
            <a:r>
              <a:rPr sz="1350" b="1" i="0">
                <a:solidFill>
                  <a:srgbClr val="21295C"/>
                </a:solidFill>
                <a:latin typeface="Arial"/>
              </a:rPr>
              <a:t>Цена ошибки и радиус разрушения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сколько стоит ошибка и как широко расходится?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13048"/>
            <a:ext cx="7772400" cy="53035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6928" y="3895344"/>
            <a:ext cx="365759" cy="365759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895344"/>
            <a:ext cx="365759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3867911"/>
            <a:ext cx="69494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5. </a:t>
            </a:r>
            <a:r>
              <a:rPr sz="1350" b="1" i="0">
                <a:solidFill>
                  <a:srgbClr val="21295C"/>
                </a:solidFill>
                <a:latin typeface="Arial"/>
              </a:rPr>
              <a:t>Доступность эталона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есть ли быстрая проверка правильности?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11979"/>
            <a:ext cx="7772400" cy="53035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6928" y="4494275"/>
            <a:ext cx="365759" cy="365759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494275"/>
            <a:ext cx="365759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4466843"/>
            <a:ext cx="69494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6. </a:t>
            </a:r>
            <a:r>
              <a:rPr sz="1350" b="1" i="0">
                <a:solidFill>
                  <a:srgbClr val="21295C"/>
                </a:solidFill>
                <a:latin typeface="Arial"/>
              </a:rPr>
              <a:t>Объяснимость и аудит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нужно ли объяснить каждое решение?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10912"/>
            <a:ext cx="7772400" cy="53035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6928" y="5093207"/>
            <a:ext cx="365759" cy="365759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093207"/>
            <a:ext cx="365759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5065775"/>
            <a:ext cx="69494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7. </a:t>
            </a:r>
            <a:r>
              <a:rPr sz="1350" b="1" i="0">
                <a:solidFill>
                  <a:srgbClr val="21295C"/>
                </a:solidFill>
                <a:latin typeface="Arial"/>
              </a:rPr>
              <a:t>Экономика против базовой линии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окупается ли AI против классической альтернативы?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8200" y="1417320"/>
            <a:ext cx="3273552" cy="4297680"/>
          </a:xfrm>
          <a:prstGeom prst="roundRect">
            <a:avLst>
              <a:gd name="adj" fmla="val 8000"/>
            </a:avLst>
          </a:prstGeom>
          <a:solidFill>
            <a:srgbClr val="E6EEF5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77656" y="1664208"/>
            <a:ext cx="28346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Правило применения</a:t>
            </a:r>
          </a:p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Один </a:t>
            </a:r>
            <a:r>
              <a:rPr sz="1500" b="1" i="0">
                <a:solidFill>
                  <a:srgbClr val="F0AB00"/>
                </a:solidFill>
                <a:latin typeface="Arial"/>
              </a:rPr>
              <a:t>✗ → СТОП</a:t>
            </a:r>
            <a:r>
              <a:rPr sz="1350" b="0" i="0">
                <a:solidFill>
                  <a:srgbClr val="21295C"/>
                </a:solidFill>
                <a:latin typeface="Arial"/>
              </a:rPr>
              <a:t>: полная автономия не подходит.</a:t>
            </a:r>
          </a:p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4A556B"/>
                </a:solidFill>
                <a:latin typeface="Arial"/>
              </a:rPr>
              <a:t>Несколько ⚠ → начинайте с advisory + человек в петле.</a:t>
            </a:r>
          </a:p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4A556B"/>
                </a:solidFill>
                <a:latin typeface="Arial"/>
              </a:rPr>
              <a:t>Все ✓ → пилот с явными точками GO / NO-GO.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55664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1C7293"/>
                </a:solidFill>
                <a:latin typeface="Arial"/>
              </a:rPr>
              <a:t>Критерии работают в комплексе — пересекаются и усиливают друг друга. Разбираем их парами.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Закрытая петля с быстрой обратной связью — AI работает; открытая среда с распределённым сдвигом — AI системно проваливается.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25880"/>
            <a:ext cx="5440680" cy="3246120"/>
          </a:xfrm>
          <a:prstGeom prst="roundRect">
            <a:avLst>
              <a:gd name="adj" fmla="val 8000"/>
            </a:avLst>
          </a:prstGeom>
          <a:solidFill>
            <a:srgbClr val="E4F1E8"/>
          </a:solidFill>
          <a:ln w="2222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472184"/>
            <a:ext cx="5111496" cy="475488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90472"/>
            <a:ext cx="4892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Закрытая петля — AI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4892040" cy="716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See &amp; Spray — агро (фото)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контролируемый ряд, −50% гербицидов: ≈1→0,5 фунт/акр на 5 млн акров (0,55% пашни США)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19984"/>
            <a:ext cx="4892040" cy="716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Aidoc — медицина (радиология)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стандартизованные снимки, человек в петле, FDA-режим 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91127"/>
            <a:ext cx="4892040" cy="716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Складская робототехника — логистика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миллионы операций в контролируемой среде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325880"/>
            <a:ext cx="5440680" cy="32461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55664" y="1472184"/>
            <a:ext cx="5111496" cy="475488"/>
          </a:xfrm>
          <a:prstGeom prst="roundRect">
            <a:avLst>
              <a:gd name="adj" fmla="val 2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490472"/>
            <a:ext cx="4892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Открытая среда — AI проваливается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148840"/>
            <a:ext cx="4892040" cy="716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Zillow — недвижимость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COVID-сдвиг, $304 млн списания, 25% сокращений (≈2 000/8 000), ноя. 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919984"/>
            <a:ext cx="4892040" cy="716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Monarch — агро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открытое поле, погода; 38% сокращений (≈53/140), янв.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691127"/>
            <a:ext cx="4892040" cy="716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Cruise — транспорт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протащил пешехода 20 футов 02.10.2023; GM закрыл подразделение 10.12.2024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ee-and-spr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23" y="4846320"/>
            <a:ext cx="1535192" cy="10789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" y="5897880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John Deere · Wikimedia · CC BY 2.0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4754880"/>
            <a:ext cx="7296912" cy="14173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6931152" cy="1307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Критерий 2: даже закрытая среда не спасёт без данных, отражающих эксплуатацию. Epic Sepsis — вендор заявлял AUC 0,76, внешняя валидация на 38 000 пациентов дала 0,63.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AI окупается на повторяемых задачах с низкой ценой ошибки — и опасен там, где цена ошибки умножается на большой радиус разрушения.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7040880" cy="15544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6675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Критерий 3 — повторяемость и объём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6675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GitHub Copilot — разработка ПО: </a:t>
            </a:r>
            <a:r>
              <a:rPr sz="1200" b="0" i="0">
                <a:solidFill>
                  <a:srgbClr val="4A556B"/>
                </a:solidFill>
                <a:latin typeface="Arial"/>
              </a:rPr>
              <a:t>миллиарды дополнений/день; 20+ млн платных (из ≈28 млн разработчиков GitHub); 46% кода. Ошибка — нажать Esc. AI окупается с запасом.</a:t>
            </a:r>
          </a:p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Архитектура крупной системы: </a:t>
            </a:r>
            <a:r>
              <a:rPr sz="1200" b="0" i="0">
                <a:solidFill>
                  <a:srgbClr val="4A556B"/>
                </a:solidFill>
                <a:latin typeface="Arial"/>
              </a:rPr>
              <a:t>раз в год-полтора, огромная цена ошибки. AI не окупается — нужен сеньор.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371600"/>
            <a:ext cx="405079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rowdstri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684" y="1463040"/>
            <a:ext cx="1609344" cy="12070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45552" y="2651760"/>
            <a:ext cx="37216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BSOD на табло LaGuardia 19.07.2024 · Wikimedia · CC BY-SA 4.0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7248"/>
            <a:ext cx="112745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Критерий 4 — цена ошибки × радиус разрушения (по возрастанию радиуса)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93008"/>
            <a:ext cx="3785616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520439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Применение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493008"/>
            <a:ext cx="2322576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3520439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Радиус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493008"/>
            <a:ext cx="2048255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3520439"/>
            <a:ext cx="19202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Обнаружение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3493008"/>
            <a:ext cx="2898648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51392" y="3520439"/>
            <a:ext cx="27706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Откат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95344"/>
            <a:ext cx="3785616" cy="53035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3621024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Copilot — ошибка автодополнения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895344"/>
            <a:ext cx="2322576" cy="53035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931920"/>
            <a:ext cx="2157984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1 разработчик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3895344"/>
            <a:ext cx="2048255" cy="53035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59" y="3931920"/>
            <a:ext cx="1883663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секунды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3895344"/>
            <a:ext cx="2898648" cy="53035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3931920"/>
            <a:ext cx="2734056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секунды (Ctrl-Z)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80559"/>
            <a:ext cx="3785616" cy="53035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517136"/>
            <a:ext cx="3621024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Aidoc — пропуск (в L1)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480559"/>
            <a:ext cx="2322576" cy="53035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4517136"/>
            <a:ext cx="2157984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1 пациент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4480559"/>
            <a:ext cx="2048255" cy="53035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59" y="4517136"/>
            <a:ext cx="1883663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минуты-дни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4480559"/>
            <a:ext cx="2898648" cy="53035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4517136"/>
            <a:ext cx="2734056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радиолог проверит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065775"/>
            <a:ext cx="3785616" cy="53035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102351"/>
            <a:ext cx="3621024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Waymo — инцидент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5065775"/>
            <a:ext cx="2322576" cy="53035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5102351"/>
            <a:ext cx="2157984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1-несколько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5065775"/>
            <a:ext cx="2048255" cy="53035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59" y="5102351"/>
            <a:ext cx="1883663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секунды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0" y="5065775"/>
            <a:ext cx="2898648" cy="53035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5102351"/>
            <a:ext cx="2734056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минуты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650991"/>
            <a:ext cx="3785616" cy="530352"/>
          </a:xfrm>
          <a:prstGeom prst="roundRect">
            <a:avLst>
              <a:gd name="adj" fmla="val 5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687567"/>
            <a:ext cx="3621024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CrowdStrike Falcon (19.07.2024)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5650991"/>
            <a:ext cx="2322576" cy="530352"/>
          </a:xfrm>
          <a:prstGeom prst="roundRect">
            <a:avLst>
              <a:gd name="adj" fmla="val 5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5687567"/>
            <a:ext cx="2157984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8,5 млн устройств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75120" y="5650991"/>
            <a:ext cx="2048255" cy="530352"/>
          </a:xfrm>
          <a:prstGeom prst="roundRect">
            <a:avLst>
              <a:gd name="adj" fmla="val 5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59" y="5687567"/>
            <a:ext cx="1883663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минуты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78240" y="5650991"/>
            <a:ext cx="2898648" cy="530352"/>
          </a:xfrm>
          <a:prstGeom prst="roundRect">
            <a:avLst>
              <a:gd name="adj" fmla="val 5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9680" y="5687567"/>
            <a:ext cx="2734056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часы (ребут каждого)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55664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1C7293"/>
                </a:solidFill>
                <a:latin typeface="Arial"/>
              </a:rPr>
              <a:t>CrowdStrike отличается на порядки. $5+ млрд ущерба клиентам (оценка Parametrix по Fortune 500 — не убытки самой CrowdStrike). Широкий радиус не запрещает систему — требует строже дисциплины развёртывания.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Без быстрого эталона и без объяснимости AI остаётся на advisory — даже без злого умысла чёрная коробка разрушает доверие.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Критерий 5 — доступность эталона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9222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1">
                <a:solidFill>
                  <a:srgbClr val="4A556B"/>
                </a:solidFill>
                <a:latin typeface="Arial"/>
              </a:rPr>
              <a:t>Три уровня причинности Pearl: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12848"/>
            <a:ext cx="3044951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B76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271576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6B7685"/>
                </a:solidFill>
                <a:latin typeface="Arial"/>
              </a:rPr>
              <a:t>Уровень 3 — контрфактуальность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«что было бы, если бы X не произошло» — для AI структурно недоступен (территория человека)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145536"/>
            <a:ext cx="4313681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18688"/>
            <a:ext cx="398449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Уровень 2 — вмешательство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«что будет, если сделать X» — умеренно (нужен RCT / A/B-тест)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078224"/>
            <a:ext cx="50749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51376"/>
            <a:ext cx="47457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Уровень 1 — ассоциация</a:t>
            </a:r>
          </a:p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«что бывает вместе с X» — применимость высокая (ML учится на корреляциях)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48656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065A82"/>
                </a:solidFill>
                <a:latin typeface="Arial"/>
              </a:rPr>
              <a:t>Скорость эталона: компилятор (секунды) → дефолт по кредиту (месяцы) → исход лечения (годы)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37160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81328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Критерий 6 — объяснимость и аудит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874519"/>
            <a:ext cx="5074920" cy="868680"/>
          </a:xfrm>
          <a:prstGeom prst="roundRect">
            <a:avLst>
              <a:gd name="adj" fmla="val 8000"/>
            </a:avLst>
          </a:prstGeom>
          <a:solidFill>
            <a:srgbClr val="E6EEF5"/>
          </a:solidFill>
          <a:ln w="1587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75104"/>
            <a:ext cx="4709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065A82"/>
                </a:solidFill>
                <a:latin typeface="Arial"/>
              </a:rPr>
              <a:t>EU AI Act </a:t>
            </a:r>
            <a:r>
              <a:rPr sz="1200" b="0" i="0">
                <a:solidFill>
                  <a:srgbClr val="4A556B"/>
                </a:solidFill>
                <a:latin typeface="Arial"/>
              </a:rPr>
              <a:t>(в силе с 01.08.2024): системы высокого риска обязаны давать объяснимые решения.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852928"/>
            <a:ext cx="5074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962656"/>
            <a:ext cx="47091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Apple Card 2019</a:t>
            </a:r>
          </a:p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Вирусная жалоба на 20× разницу лимита; расследование DFS Нью-Йорк закрыто в марте 2021 — Goldman Sachs оправдан в намеренной дискриминации (пол не был во входных признаках).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4864608"/>
            <a:ext cx="5074920" cy="804672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919472"/>
            <a:ext cx="4709159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Урок — объяснимость, не предвзятость.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AI обязан бить лучшую классическую альтернативу на деньгах — иначе отказ от AI это инженерное решение, не поражение.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7040880" cy="26974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6675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Критерий 7 — окупается ли AI против классической альтернативы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UPS ORION — логистика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операционные исследования, $300-400 млн экономии/год, ни одной нейросети. ML давал «несколько %», но стоимость интеграции их съедала.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96896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MPC против RL — нефтехимия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предиктивное управление работает десятилетиями; RL впервые показан промышленно (Yokogawa FKDPP, 2022), но не вытеснил MPC.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46703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Запасы — EOQ (Ford-Harris, 1913)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формула + страховой запас; ML добавляет ценность только на переменном спросе.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371600"/>
            <a:ext cx="4050791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ps-or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391" y="1481328"/>
            <a:ext cx="3427928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45552" y="3767328"/>
            <a:ext cx="37216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Грузовик UPS · USDA · Public domain (кейс ORION)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24528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E4F1E8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" y="4352544"/>
            <a:ext cx="5157216" cy="384048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70832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Q1 — AI работает + автономно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28032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Copilot · Claude Code · Stripe Radar · Symbotic · AlphaFold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4224528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E5EAF0"/>
          </a:solidFill>
          <a:ln w="19050">
            <a:solidFill>
              <a:srgbClr val="6B76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9944" y="4352544"/>
            <a:ext cx="5157216" cy="384048"/>
          </a:xfrm>
          <a:prstGeom prst="roundRect">
            <a:avLst>
              <a:gd name="adj" fmla="val 20000"/>
            </a:avLst>
          </a:prstGeom>
          <a:solidFill>
            <a:srgbClr val="6B76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4370832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Q3 — «классика выигрывает»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4828032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UPS ORION (Gurobi/CPLEX) · MPC · EOQ — </a:t>
            </a:r>
            <a:r>
              <a:rPr sz="1350" b="1" i="0">
                <a:solidFill>
                  <a:srgbClr val="F0AB00"/>
                </a:solidFill>
                <a:latin typeface="Arial"/>
              </a:rPr>
              <a:t>AI не нужен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55664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1C7293"/>
                </a:solidFill>
                <a:latin typeface="Arial"/>
              </a:rPr>
              <a:t>Полная стоимость владения включает данные, мониторинг, переобучение, человека в петле, аудит — часто в 3-5× больше лицензии. Измерьте базовую линию до старта.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1" i="0">
                <a:solidFill>
                  <a:srgbClr val="21295C"/>
                </a:solidFill>
                <a:latin typeface="Arial"/>
              </a:rPr>
              <a:t>Вендор обещает «−30% потерь воды за 18 месяцев» — семь критериев за 20 минут дают вердикт: не полная автоматизация, а L1 advisory + A/B против EPANET.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4937760" cy="4297680"/>
          </a:xfrm>
          <a:prstGeom prst="roundRect">
            <a:avLst>
              <a:gd name="adj" fmla="val 8000"/>
            </a:avLst>
          </a:prstGeom>
          <a:solidFill>
            <a:srgbClr val="E6EEF5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4526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Сценарий</a:t>
            </a:r>
          </a:p>
          <a:p>
            <a:pPr algn="l">
              <a:lnSpc>
                <a:spcPct val="114000"/>
              </a:lnSpc>
            </a:pPr>
            <a:r>
              <a:rPr sz="5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4A556B"/>
                </a:solidFill>
                <a:latin typeface="Arial"/>
              </a:rPr>
              <a:t>Вендор «AquaOptima»: deep learning прогноз расхода + автоматическое управление задвижками.</a:t>
            </a:r>
          </a:p>
          <a:p>
            <a:pPr algn="l">
              <a:lnSpc>
                <a:spcPct val="114000"/>
              </a:lnSpc>
            </a:pPr>
            <a:r>
              <a:rPr sz="5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Обещание: −30% потерь, 25 млн ₽/год, окупаемость 18 месяцев.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657600"/>
            <a:ext cx="4526280" cy="1874519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3712463"/>
            <a:ext cx="4160520" cy="1764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Вердикт: не входить в 6-месячный пилот полной автоматизации. 2 мес. аудит данных + базовая линия EPANET → 4 мес. A/B (AI advisory + EPANET vs EPANET). Все управляющие действия — человек. Дельта &lt;10% — остаться на EPANET.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417320"/>
            <a:ext cx="6153912" cy="60350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9" y="1536192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79" y="15361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1453896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1. Закрытая/открытая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453896"/>
            <a:ext cx="32735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⚠ полуоткрытая (погода, события, утечки)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2057400"/>
            <a:ext cx="6153912" cy="60350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79" y="2176272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9" y="21762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093976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2. 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93976"/>
            <a:ext cx="32735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⚠ нужен аудит (утечки не зафиксированы)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2697480"/>
            <a:ext cx="6153912" cy="60350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69279" y="2816352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79" y="28163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734056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3. Повторяемость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734056"/>
            <a:ext cx="32735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✓ десятки тысяч точек, млн измерений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3337560"/>
            <a:ext cx="6153912" cy="603504"/>
          </a:xfrm>
          <a:prstGeom prst="roundRect">
            <a:avLst>
              <a:gd name="adj" fmla="val 5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69279" y="3456432"/>
            <a:ext cx="365760" cy="365760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79" y="34564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3374136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4. Цена ошибки / радиус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374136"/>
            <a:ext cx="32735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95C"/>
                </a:solidFill>
                <a:latin typeface="Arial"/>
              </a:rPr>
              <a:t>✗ задвижка → район без воды на часы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0" y="3977640"/>
            <a:ext cx="6153912" cy="60350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69279" y="4096512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79" y="40965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014216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5. Эталон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014216"/>
            <a:ext cx="32735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⚠ общий расход — да; локальные утечки — нет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4617720"/>
            <a:ext cx="6153912" cy="60350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69279" y="4736592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79" y="473659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654296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6. Объяснимость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654296"/>
            <a:ext cx="32735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⚠ публичные решения о ремонтах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77840" y="5257800"/>
            <a:ext cx="6153912" cy="60350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669279" y="5376672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79" y="53766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5294376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7. Экономика vs базовая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294376"/>
            <a:ext cx="32735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⚠ «−30%» против чего? A/B с EPANET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55664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1C7293"/>
                </a:solidFill>
                <a:latin typeface="Arial"/>
              </a:rPr>
              <a:t>Критерий 4 (✗) — блокирующий: одна неправильная задвижка оставит район без воды. Эталон — EPANET (открытый гидравлический симулятор водопроводных сетей).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355080"/>
            <a:ext cx="2200046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1. Критерии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2712110" y="6355080"/>
            <a:ext cx="2200046" cy="29260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12110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2. Лестница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967020" y="6355080"/>
            <a:ext cx="2200046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7020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3. Карта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1931" y="6355080"/>
            <a:ext cx="2200046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1931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4. Провалы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76841" y="6355080"/>
            <a:ext cx="2200046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76841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5. Карточки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822960"/>
            <a:ext cx="4754880" cy="420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0" b="1" i="0">
                <a:solidFill>
                  <a:srgbClr val="E5EAF0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69494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800" b="1" i="0">
                <a:solidFill>
                  <a:srgbClr val="F0AB00"/>
                </a:solidFill>
                <a:latin typeface="Arial"/>
              </a:rPr>
              <a:t>Раздел 2</a:t>
            </a:r>
          </a:p>
          <a:p>
            <a:pPr algn="l">
              <a:lnSpc>
                <a:spcPct val="116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3300" b="1" i="0">
                <a:solidFill>
                  <a:srgbClr val="21295C"/>
                </a:solidFill>
                <a:latin typeface="Arial"/>
              </a:rPr>
              <a:t>Лестница автономии L0→L5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550" b="0" i="0">
                <a:solidFill>
                  <a:srgbClr val="4A556B"/>
                </a:solidFill>
                <a:latin typeface="Arial"/>
              </a:rPr>
              <a:t>Вертикальная ось карты — формальная шкала с маппингом локальных шкал курса в единую.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32120"/>
            <a:ext cx="11274552" cy="658368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586983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6 ступеней · кросс-отраслевой маппинг · антипаттерн на каждой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Шесть дискретных ступеней — от «человек делает всё» до недостижимой в 2026 полной автономии.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5202936"/>
            <a:ext cx="5486400" cy="603504"/>
          </a:xfrm>
          <a:prstGeom prst="roundRect">
            <a:avLst>
              <a:gd name="adj" fmla="val 8000"/>
            </a:avLst>
          </a:prstGeom>
          <a:solidFill>
            <a:srgbClr val="E5EAF0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5303520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3035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5248655"/>
            <a:ext cx="4617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4A556B"/>
                </a:solidFill>
                <a:latin typeface="Arial"/>
              </a:rPr>
              <a:t>L0 — Без автоматизации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AI не задействован. Человек делает всё.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26279"/>
            <a:ext cx="6400800" cy="603504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4626864"/>
            <a:ext cx="402336" cy="402336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62686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4571999"/>
            <a:ext cx="5532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L1 — Advisory (советует)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Классифицирует, предсказывает, рекомендует. Человек решает всегда.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9623"/>
            <a:ext cx="7315200" cy="603504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8" y="3950207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950207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895343"/>
            <a:ext cx="64465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L2 — Supervised (с подтверждением)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AI действует, человек подтверждает каждое действие.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72968"/>
            <a:ext cx="8229600" cy="603504"/>
          </a:xfrm>
          <a:prstGeom prst="roundRect">
            <a:avLst>
              <a:gd name="adj" fmla="val 8000"/>
            </a:avLst>
          </a:prstGeom>
          <a:solidFill>
            <a:srgbClr val="E6EEF5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6928" y="3273551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273551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3218687"/>
            <a:ext cx="7360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L3 — Conditional (узкий ODD)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Автономно в строго ограниченном домене; вне — передаёт человеку.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496311"/>
            <a:ext cx="9144000" cy="603504"/>
          </a:xfrm>
          <a:prstGeom prst="roundRect">
            <a:avLst>
              <a:gd name="adj" fmla="val 8000"/>
            </a:avLst>
          </a:prstGeom>
          <a:solidFill>
            <a:srgbClr val="E6EEF5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6928" y="2596895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596895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2542031"/>
            <a:ext cx="82753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L4 — High (широкий ODD)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Действует в широком диапазоне условий; человек на петле.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1819655"/>
            <a:ext cx="10058400" cy="603504"/>
          </a:xfrm>
          <a:prstGeom prst="roundRect">
            <a:avLst>
              <a:gd name="adj" fmla="val 8000"/>
            </a:avLst>
          </a:prstGeom>
          <a:solidFill>
            <a:srgbClr val="E5EAF0"/>
          </a:solidFill>
          <a:ln w="15875">
            <a:solidFill>
              <a:srgbClr val="6B76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6928" y="1920239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1920239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1865375"/>
            <a:ext cx="9189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 i="0">
                <a:solidFill>
                  <a:srgbClr val="6B7685"/>
                </a:solidFill>
                <a:latin typeface="Arial"/>
              </a:rPr>
              <a:t>L5 — Full (любые условия)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6B7685"/>
                </a:solidFill>
                <a:latin typeface="Arial"/>
              </a:rPr>
              <a:t>AI решает везде без человека. В 2026 практически недостижим.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1417320"/>
            <a:ext cx="1399032" cy="4389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Up Arrow 27"/>
          <p:cNvSpPr/>
          <p:nvPr/>
        </p:nvSpPr>
        <p:spPr>
          <a:xfrm>
            <a:off x="10835640" y="1828800"/>
            <a:ext cx="384048" cy="1463040"/>
          </a:xfrm>
          <a:prstGeom prst="up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0" y="3383280"/>
            <a:ext cx="1216152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Рост автономии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1274552" cy="566928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998464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Высокий уровень — не «современнее». Большинство зрелого промышленного AI 2026 года — L1-L2 намеренно.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Все локальные шкалы курса сводятся в единую L0→L5 — но не все они про автономию: ось среды и функции ортогональны.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Таблица A — прямой маппинг (это шкалы автономии)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91056"/>
            <a:ext cx="2103120" cy="3840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609344"/>
            <a:ext cx="2002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Единая L0→L5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591056"/>
            <a:ext cx="1920240" cy="3840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60904" y="1609344"/>
            <a:ext cx="18196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Разработка ПО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591056"/>
            <a:ext cx="1783080" cy="3840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1609344"/>
            <a:ext cx="16824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Авиакосмос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91056"/>
            <a:ext cx="1783080" cy="3840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609344"/>
            <a:ext cx="16824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Производство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011680"/>
            <a:ext cx="2103120" cy="475488"/>
          </a:xfrm>
          <a:prstGeom prst="roundRect">
            <a:avLst>
              <a:gd name="adj" fmla="val 4000"/>
            </a:avLst>
          </a:prstGeom>
          <a:solidFill>
            <a:srgbClr val="E6EEF5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039112"/>
            <a:ext cx="1965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95C"/>
                </a:solidFill>
                <a:latin typeface="Arial"/>
              </a:rPr>
              <a:t>L0 без автомат.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2011680"/>
            <a:ext cx="192024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192" y="2039112"/>
            <a:ext cx="1783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011680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2039112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011680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39112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A0 наблюдать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523744"/>
            <a:ext cx="2103120" cy="475488"/>
          </a:xfrm>
          <a:prstGeom prst="roundRect">
            <a:avLst>
              <a:gd name="adj" fmla="val 4000"/>
            </a:avLst>
          </a:prstGeom>
          <a:solidFill>
            <a:srgbClr val="E6EEF5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2551176"/>
            <a:ext cx="1965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95C"/>
                </a:solidFill>
                <a:latin typeface="Arial"/>
              </a:rPr>
              <a:t>L1 advisory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06040" y="2523744"/>
            <a:ext cx="192024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9192" y="2551176"/>
            <a:ext cx="1783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A автодополнение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2523744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2551176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L1 assistive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523744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551176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A1 советовать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035808"/>
            <a:ext cx="2103120" cy="475488"/>
          </a:xfrm>
          <a:prstGeom prst="roundRect">
            <a:avLst>
              <a:gd name="adj" fmla="val 4000"/>
            </a:avLst>
          </a:prstGeom>
          <a:solidFill>
            <a:srgbClr val="E6EEF5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3063240"/>
            <a:ext cx="1965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95C"/>
                </a:solidFill>
                <a:latin typeface="Arial"/>
              </a:rPr>
              <a:t>L2 supervised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06040" y="3035808"/>
            <a:ext cx="192024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79192" y="3063240"/>
            <a:ext cx="1783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B внутри задачи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3035808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2" y="3063240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L2 supervised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035808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3063240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A2 (часть)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547872"/>
            <a:ext cx="2103120" cy="475488"/>
          </a:xfrm>
          <a:prstGeom prst="roundRect">
            <a:avLst>
              <a:gd name="adj" fmla="val 4000"/>
            </a:avLst>
          </a:prstGeom>
          <a:solidFill>
            <a:srgbClr val="E6EEF5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3575304"/>
            <a:ext cx="1965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95C"/>
                </a:solidFill>
                <a:latin typeface="Arial"/>
              </a:rPr>
              <a:t>L3 conditional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06040" y="3547872"/>
            <a:ext cx="192024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79192" y="3575304"/>
            <a:ext cx="1783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C код по спецификации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0" y="3547872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45152" y="3575304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L3 conditional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3547872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3952" y="3575304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A2 замыкать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059936"/>
            <a:ext cx="2103120" cy="475488"/>
          </a:xfrm>
          <a:prstGeom prst="roundRect">
            <a:avLst>
              <a:gd name="adj" fmla="val 4000"/>
            </a:avLst>
          </a:prstGeom>
          <a:solidFill>
            <a:srgbClr val="E6EEF5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4087368"/>
            <a:ext cx="1965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95C"/>
                </a:solidFill>
                <a:latin typeface="Arial"/>
              </a:rPr>
              <a:t>L4 high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06040" y="4059936"/>
            <a:ext cx="192024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79192" y="4087368"/>
            <a:ext cx="1783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D инженер-агент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0" y="4059936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45152" y="4087368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L4 high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4059936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73952" y="4087368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A3 пилот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572000"/>
            <a:ext cx="2103120" cy="475488"/>
          </a:xfrm>
          <a:prstGeom prst="roundRect">
            <a:avLst>
              <a:gd name="adj" fmla="val 4000"/>
            </a:avLst>
          </a:prstGeom>
          <a:solidFill>
            <a:srgbClr val="E6EEF5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352" y="4599432"/>
            <a:ext cx="1965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95C"/>
                </a:solidFill>
                <a:latin typeface="Arial"/>
              </a:rPr>
              <a:t>L5 full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06040" y="4572000"/>
            <a:ext cx="192024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79192" y="4599432"/>
            <a:ext cx="1783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(недоступен)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0" y="4572000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45152" y="4599432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L5 двойн. назнач.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4572000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9525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73952" y="4599432"/>
            <a:ext cx="1645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(редко)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12480" y="1280160"/>
            <a:ext cx="3319272" cy="448056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13648" y="1417320"/>
            <a:ext cx="292608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Врезка B — ортогональные оси</a:t>
            </a:r>
          </a:p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(НЕ автономия)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Логистика — 5 уровней структурированности среды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(контролируемая → город → последняя миля → чёрный лебедь): это ось среды. Чем структурнее среда, тем легче L3-L4.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Кибербезопасность — «Видит → Решает → Действует»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функциональная декомпозиция: каждая функция может быть на разном уровне автономии.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455664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1C7293"/>
                </a:solidFill>
                <a:latin typeface="Arial"/>
              </a:rPr>
              <a:t>Маппинг не точный — это переводчик. Когда вендор говорит «наш AI на L3», спросите: в какой нотации? Источник: SAE J3016 (адаптация).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L1 advisory — самый частый уровень зрелой промышленной эксплуатации: AI советует, человек решает всегда.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2331720" cy="822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21488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Вход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43784" y="1682496"/>
            <a:ext cx="393192" cy="292608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39" y="1417320"/>
            <a:ext cx="2331720" cy="822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79" y="1463040"/>
            <a:ext cx="21488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AI создаёт
информ. артефакт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78423" y="1682496"/>
            <a:ext cx="393192" cy="292608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79" y="1417320"/>
            <a:ext cx="2331720" cy="822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19" y="1463040"/>
            <a:ext cx="21488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Человек
рассматривает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13064" y="1682496"/>
            <a:ext cx="393192" cy="292608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19" y="1417320"/>
            <a:ext cx="2331720" cy="82296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59" y="1463040"/>
            <a:ext cx="21488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Человек
решает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68880"/>
            <a:ext cx="7040880" cy="3246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578608"/>
            <a:ext cx="6675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Примеры из курса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926080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Stripe Radar — платежи: </a:t>
            </a:r>
            <a:r>
              <a:rPr sz="1150" b="0" i="0">
                <a:solidFill>
                  <a:srgbClr val="4A556B"/>
                </a:solidFill>
                <a:latin typeface="Arial"/>
              </a:rPr>
              <a:t>скоринг + флаг «возможный фрод», аналитик решает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456432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Aidoc, Chester AI — медицина: </a:t>
            </a:r>
            <a:r>
              <a:rPr sz="1150" b="0" i="0">
                <a:solidFill>
                  <a:srgbClr val="4A556B"/>
                </a:solidFill>
                <a:latin typeface="Arial"/>
              </a:rPr>
              <a:t>пометка «возможная патология», радиолог решает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86784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GitHub Copilot — разработка ПО: </a:t>
            </a:r>
            <a:r>
              <a:rPr sz="1150" b="0" i="0">
                <a:solidFill>
                  <a:srgbClr val="4A556B"/>
                </a:solidFill>
                <a:latin typeface="Arial"/>
              </a:rPr>
              <a:t>предлагает строку, разработчик принимает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517136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Crop Wizard — агро: </a:t>
            </a:r>
            <a:r>
              <a:rPr sz="1150" b="0" i="0">
                <a:solidFill>
                  <a:srgbClr val="4A556B"/>
                </a:solidFill>
                <a:latin typeface="Arial"/>
              </a:rPr>
              <a:t>отвечает фермеру со ссылками, фермер действует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047488"/>
            <a:ext cx="6675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Project Maven — авиакосмос/оборона: </a:t>
            </a:r>
            <a:r>
              <a:rPr sz="1150" b="0" i="0">
                <a:solidFill>
                  <a:srgbClr val="4A556B"/>
                </a:solidFill>
                <a:latin typeface="Arial"/>
              </a:rPr>
              <a:t>выделяет объекты на снимке, аналитик авторизует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2468880"/>
            <a:ext cx="4050791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id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254" y="2560320"/>
            <a:ext cx="2058203" cy="1371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45552" y="3931920"/>
            <a:ext cx="37216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КТ-снимок мозга · Wikimedia · CC BY 4.0 (кейс Aidoc)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4343400"/>
            <a:ext cx="4050791" cy="1371600"/>
          </a:xfrm>
          <a:prstGeom prst="roundRect">
            <a:avLst>
              <a:gd name="adj" fmla="val 8000"/>
            </a:avLst>
          </a:prstGeom>
          <a:solidFill>
            <a:srgbClr val="E6EEF5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4443984"/>
            <a:ext cx="3703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Подъём на L2 требует: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базовая линия измерена + улучшение AI измерено · контроль изменений · готов откат · приемлемая частота ложных срабатываний.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55664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1C7293"/>
                </a:solidFill>
                <a:latin typeface="Arial"/>
              </a:rPr>
              <a:t>Человек решает — всегда. L1 не «недоразвитость», а намеренный режим в регулируемых отраслях.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L2 supervised и L3 conditional — AI действует, но человек подтверждает каждое (L2) или AI работает только в узком домене (L3).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40680" cy="3108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499616"/>
            <a:ext cx="5111496" cy="420624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17904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L2 — Supervised (действует с подтверждением)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29968"/>
            <a:ext cx="493776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A556B"/>
                </a:solidFill>
                <a:latin typeface="Arial"/>
              </a:rPr>
              <a:t>AI выполняет действие, человек подтверждает или отменяет каждое.</a:t>
            </a:r>
          </a:p>
          <a:p>
            <a:pPr algn="l">
              <a:lnSpc>
                <a:spcPct val="110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65A82"/>
                </a:solidFill>
                <a:latin typeface="Arial"/>
              </a:rPr>
              <a:t>Примеры: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Stripe Radar — авто-блок высоко-уверенного фрода (платежи)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Microsoft Defender XDR — авто-карантин (кибербезопасность)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Copilot Workspace — разработка ПО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Yokogawa FKDPP — RL для реактора, оператор вмешивается (процессное производство)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371600"/>
            <a:ext cx="5440680" cy="3108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45352" y="1499616"/>
            <a:ext cx="5111496" cy="420624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17904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L3 — Conditional (узкий ODD)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29968"/>
            <a:ext cx="493776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4A556B"/>
                </a:solidFill>
                <a:latin typeface="Arial"/>
              </a:rPr>
              <a:t>Автономно в строго ограниченном домене (ODD); вне домена — отказ и передача человеку. ODD проверяемо в реальном времени.</a:t>
            </a:r>
          </a:p>
          <a:p>
            <a:pPr algn="l">
              <a:lnSpc>
                <a:spcPct val="108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065A82"/>
                </a:solidFill>
                <a:latin typeface="Arial"/>
              </a:rPr>
              <a:t>Примеры:</a:t>
            </a:r>
          </a:p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Waymo в геозон-районах (транспорт, фото)</a:t>
            </a:r>
          </a:p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Mobileye Chauffeur на конкретных шоссе (транспорт)</a:t>
            </a:r>
          </a:p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Copilot-агент / Claude Code на очерченном PR (разработка ПО)</a:t>
            </a:r>
          </a:p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See &amp; Spray в узком ODD (агро)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ay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76" y="4663440"/>
            <a:ext cx="1432686" cy="10789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" y="5715000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Waymo robotaxi, SF · Dllu · Wikimedia · CC BY-SA 3.0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572000"/>
            <a:ext cx="7086600" cy="14173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4626864"/>
            <a:ext cx="6720840" cy="1307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ODD (Operational Design Domain) — формальное определение условий, где система работает. Подъём на L4: проверка sim-to-real · канареечный выпуск 5-10% на 2-4 недели · числовые ворота go/no-go.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L4 high достижим в широком домене с человеком на петле; L5 full в 2026 — теоретический горизонт, не цель.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4343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499616"/>
            <a:ext cx="5157216" cy="420624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17904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L4 — High (широкий ODD, человек на петле)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48256"/>
            <a:ext cx="49377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Waymo — транспорт</a:t>
            </a:r>
          </a:p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сотни тысяч поездок/год без водителя безопасности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49377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Symbotic, Amazon Sparrow — логистика (фото)</a:t>
            </a:r>
          </a:p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миллионы операций в сутки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49377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See &amp; Spray в коммерции — агро</a:t>
            </a:r>
          </a:p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5 млн акров за 3 года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13632"/>
            <a:ext cx="49377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AlphaFold (конвейер) — наука</a:t>
            </a:r>
          </a:p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200 млн структур без вмешательства человека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49377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ymbot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852" y="4636008"/>
            <a:ext cx="967094" cy="713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824" y="5321808"/>
            <a:ext cx="46451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Amazon fulfilment robot · Wikimedia · CC BY-SA 4.0 (прокси Symbotic)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5605272" cy="4343400"/>
          </a:xfrm>
          <a:prstGeom prst="roundRect">
            <a:avLst>
              <a:gd name="adj" fmla="val 8000"/>
            </a:avLst>
          </a:prstGeom>
          <a:solidFill>
            <a:srgbClr val="E5EAF0"/>
          </a:solidFill>
          <a:ln w="19050">
            <a:solidFill>
              <a:srgbClr val="6B76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91072" y="1499616"/>
            <a:ext cx="5276088" cy="420624"/>
          </a:xfrm>
          <a:prstGeom prst="roundRect">
            <a:avLst>
              <a:gd name="adj" fmla="val 20000"/>
            </a:avLst>
          </a:prstGeom>
          <a:solidFill>
            <a:srgbClr val="6B76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17904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L5 — Full: почему недостижим в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48256"/>
            <a:ext cx="5029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1. Страховые рынки отказываются страховать за пределами узких сценариев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5029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2. Регуляторы требуют человеческого надзора для систем высокого риска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72384"/>
            <a:ext cx="5029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3. События вне распределения структурно не лечатся данными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84448"/>
            <a:ext cx="5029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4. Распределение ответственности при L5 юридически не определено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96512"/>
            <a:ext cx="5029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5. Экономика: L4 уже покрывает 99%+ реалистичных сценариев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681728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736592"/>
            <a:ext cx="46634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L5 — теоретический горизонт, не цель. Tesla позиционируется как «full self-driving», но классификация NHTSA — L2.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У каждой ступени свой характерный провал — от превышения роли Klarna на L1 до блока по LAWS на L5.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4133087" cy="14173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" y="1527048"/>
            <a:ext cx="329184" cy="32918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52704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5087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L1 — Превышение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874519"/>
            <a:ext cx="38404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1">
                <a:solidFill>
                  <a:srgbClr val="065A82"/>
                </a:solidFill>
                <a:latin typeface="Arial"/>
              </a:rPr>
              <a:t>Klarna, поддержка клиентов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112264"/>
            <a:ext cx="38404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A556B"/>
                </a:solidFill>
                <a:latin typeface="Arial"/>
              </a:rPr>
              <a:t>Заявлен советник, действует без подтверждения → обратный найм операторов.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478024"/>
            <a:ext cx="3877055" cy="310896"/>
          </a:xfrm>
          <a:prstGeom prst="roundRect">
            <a:avLst>
              <a:gd name="adj" fmla="val 14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49631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1295C"/>
                </a:solidFill>
                <a:latin typeface="Arial"/>
              </a:rPr>
              <a:t>Урок: Позиционирование ≠ режим.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73168" y="1417320"/>
            <a:ext cx="4133087" cy="14173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01183" y="1527048"/>
            <a:ext cx="329184" cy="32918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1183" y="152704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5087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L2 — Скучный человек в петле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1874519"/>
            <a:ext cx="38404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1">
                <a:solidFill>
                  <a:srgbClr val="065A82"/>
                </a:solidFill>
                <a:latin typeface="Arial"/>
              </a:rPr>
              <a:t>Uber Tempe 2018, транспорт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112264"/>
            <a:ext cx="38404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A556B"/>
                </a:solidFill>
                <a:latin typeface="Arial"/>
              </a:rPr>
              <a:t>Водитель на телефоне, погиб пешеход.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3" y="2478024"/>
            <a:ext cx="3877055" cy="310896"/>
          </a:xfrm>
          <a:prstGeom prst="roundRect">
            <a:avLst>
              <a:gd name="adj" fmla="val 14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249631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1295C"/>
                </a:solidFill>
                <a:latin typeface="Arial"/>
              </a:rPr>
              <a:t>Урок: Скучный мониторинг → HOOL с алертом.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53512"/>
            <a:ext cx="4133087" cy="14173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3063240"/>
            <a:ext cx="329184" cy="32918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30632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04495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L3 — Расширение ODD без валидации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3410712"/>
            <a:ext cx="38404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1">
                <a:solidFill>
                  <a:srgbClr val="065A82"/>
                </a:solidFill>
                <a:latin typeface="Arial"/>
              </a:rPr>
              <a:t>Cruise 02.10.2023, транспорт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3648456"/>
            <a:ext cx="38404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A556B"/>
                </a:solidFill>
                <a:latin typeface="Arial"/>
              </a:rPr>
              <a:t>Расширили домен без проверки, протащили пешехода 20 футов.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4014216"/>
            <a:ext cx="3877055" cy="310896"/>
          </a:xfrm>
          <a:prstGeom prst="roundRect">
            <a:avLst>
              <a:gd name="adj" fmla="val 14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403250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1295C"/>
                </a:solidFill>
                <a:latin typeface="Arial"/>
              </a:rPr>
              <a:t>Урок: Расширение ODD требует валидации.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73168" y="2953512"/>
            <a:ext cx="4133087" cy="14173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01183" y="3063240"/>
            <a:ext cx="329184" cy="32918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3" y="30632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304495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L4 — Действие без канарейки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9472" y="3410712"/>
            <a:ext cx="38404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1">
                <a:solidFill>
                  <a:srgbClr val="065A82"/>
                </a:solidFill>
                <a:latin typeface="Arial"/>
              </a:rPr>
              <a:t>CrowdStrike 19.07.2024, кибербез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9472" y="3648456"/>
            <a:ext cx="38404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A556B"/>
                </a:solidFill>
                <a:latin typeface="Arial"/>
              </a:rPr>
              <a:t>Широкий домен = большой радиус, без канареечного выпуска.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01183" y="4014216"/>
            <a:ext cx="3877055" cy="310896"/>
          </a:xfrm>
          <a:prstGeom prst="roundRect">
            <a:avLst>
              <a:gd name="adj" fmla="val 14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403250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1295C"/>
                </a:solidFill>
                <a:latin typeface="Arial"/>
              </a:rPr>
              <a:t>Урок: Широкий ODD требует строже.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489704"/>
            <a:ext cx="4133087" cy="14173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85216" y="4599432"/>
            <a:ext cx="329184" cy="32918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" y="459943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458114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L5 — Этический / регуляторный блок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" y="4946904"/>
            <a:ext cx="38404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1">
                <a:solidFill>
                  <a:srgbClr val="065A82"/>
                </a:solidFill>
                <a:latin typeface="Arial"/>
              </a:rPr>
              <a:t>Дебаты о LAWS, авиакосмос/оборона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" y="5184648"/>
            <a:ext cx="38404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A556B"/>
                </a:solidFill>
                <a:latin typeface="Arial"/>
              </a:rPr>
              <a:t>Технически возможно, этически и регуляторно — нет.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5216" y="5550408"/>
            <a:ext cx="3877055" cy="310896"/>
          </a:xfrm>
          <a:prstGeom prst="roundRect">
            <a:avLst>
              <a:gd name="adj" fmla="val 14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" y="5568696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1295C"/>
                </a:solidFill>
                <a:latin typeface="Arial"/>
              </a:rPr>
              <a:t>Урок: L5 для оружия — запрещён.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73168" y="4489704"/>
            <a:ext cx="4133087" cy="14173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901183" y="4599432"/>
            <a:ext cx="329184" cy="32918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01183" y="459943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458114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Сквозной — Пропуск ступени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19472" y="4946904"/>
            <a:ext cx="38404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1">
                <a:solidFill>
                  <a:srgbClr val="065A82"/>
                </a:solidFill>
                <a:latin typeface="Arial"/>
              </a:rPr>
              <a:t>Toyota Digit / Cassie, двойники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19472" y="5184648"/>
            <a:ext cx="38404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A556B"/>
                </a:solidFill>
                <a:latin typeface="Arial"/>
              </a:rPr>
              <a:t>Нельзя с L1 на L3 без L2; двойник как мост.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01183" y="5550408"/>
            <a:ext cx="3877055" cy="310896"/>
          </a:xfrm>
          <a:prstGeom prst="roundRect">
            <a:avLst>
              <a:gd name="adj" fmla="val 14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10912" y="5568696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1295C"/>
                </a:solidFill>
                <a:latin typeface="Arial"/>
              </a:rPr>
              <a:t>Урок: Каждая ступень — другая дисциплина.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34855" y="1417320"/>
            <a:ext cx="2599639" cy="4489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klarn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583" y="1901337"/>
            <a:ext cx="2380183" cy="317419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299447" y="5449824"/>
            <a:ext cx="22704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Стенд Klarna, Internet World Fair 2017 · Wikimedia · CC0 (кейс L1 превышение роли)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AI-помощник для приёма экзаменов — максимум L1 advisory: высокая цена ошибки + обязательная апелляция держат человека в решении.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3383280" cy="42976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1790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Лестница — потолок = L1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017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1"/>
            <a:ext cx="914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B7685"/>
                </a:solidFill>
                <a:latin typeface="Arial"/>
              </a:rPr>
              <a:t>L5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01951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недопустим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78024"/>
            <a:ext cx="3017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05456"/>
            <a:ext cx="914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B7685"/>
                </a:solidFill>
                <a:latin typeface="Arial"/>
              </a:rPr>
              <a:t>L4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05456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недопустим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81528"/>
            <a:ext cx="3017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914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B7685"/>
                </a:solidFill>
                <a:latin typeface="Arial"/>
              </a:rPr>
              <a:t>L3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08960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недопустим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85031"/>
            <a:ext cx="3017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12463"/>
            <a:ext cx="914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B7685"/>
                </a:solidFill>
                <a:latin typeface="Arial"/>
              </a:rPr>
              <a:t>L2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12463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недопустим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88536"/>
            <a:ext cx="3017520" cy="566928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15968"/>
            <a:ext cx="914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L1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315968"/>
            <a:ext cx="2011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← потолок (максимум)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92040"/>
            <a:ext cx="301752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19472"/>
            <a:ext cx="914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4A556B"/>
                </a:solidFill>
                <a:latin typeface="Arial"/>
              </a:rPr>
              <a:t>L0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1417320"/>
            <a:ext cx="3749039" cy="4297680"/>
          </a:xfrm>
          <a:prstGeom prst="roundRect">
            <a:avLst>
              <a:gd name="adj" fmla="val 8000"/>
            </a:avLst>
          </a:prstGeom>
          <a:solidFill>
            <a:srgbClr val="E6EEF5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24528" y="1554480"/>
            <a:ext cx="3346704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Анализ</a:t>
            </a:r>
          </a:p>
          <a:p>
            <a:pPr algn="l">
              <a:lnSpc>
                <a:spcPct val="108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4A556B"/>
                </a:solidFill>
                <a:latin typeface="Arial"/>
              </a:rPr>
              <a:t>Цена ошибки — высокая (несправедливая оценка, обвинение в плагиате, академический рекорд).</a:t>
            </a:r>
          </a:p>
          <a:p>
            <a:pPr algn="l">
              <a:lnSpc>
                <a:spcPct val="108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4A556B"/>
                </a:solidFill>
                <a:latin typeface="Arial"/>
              </a:rPr>
              <a:t>Объяснимость — критическая (студент имеет право апеллировать).</a:t>
            </a:r>
          </a:p>
          <a:p>
            <a:pPr algn="l">
              <a:lnSpc>
                <a:spcPct val="108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4A556B"/>
                </a:solidFill>
                <a:latin typeface="Arial"/>
              </a:rPr>
              <a:t>Регуляторное окно — академические правила требуют человека-оценщика.</a:t>
            </a:r>
          </a:p>
          <a:p>
            <a:pPr algn="l">
              <a:lnSpc>
                <a:spcPct val="108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4A556B"/>
                </a:solidFill>
                <a:latin typeface="Arial"/>
              </a:rPr>
              <a:t>Эталон — для тестов есть, для эссе частично (rubrics, субъективность остаётся).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1417320"/>
            <a:ext cx="3776472" cy="42976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1572768"/>
            <a:ext cx="3410712" cy="137160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627632"/>
            <a:ext cx="3044952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Вердикт: L1 advisory — максимум. AI выставляет предварительную оценку + флаг плагиата + объяснение; преподаватель решает; студент может оспорить.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108960"/>
            <a:ext cx="3410712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65A82"/>
                </a:solidFill>
                <a:latin typeface="Arial"/>
              </a:rPr>
              <a:t>Подъём на L2: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A556B"/>
                </a:solidFill>
                <a:latin typeface="Arial"/>
              </a:rPr>
              <a:t>измерить базовую линию (сколько ошибается преподаватель / AI на тест-сете); если AI систематически точнее — переход с контролем изменений.</a:t>
            </a:r>
          </a:p>
          <a:p>
            <a:pPr algn="l">
              <a:lnSpc>
                <a:spcPct val="110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L3-L4 недопустимы по регулятору и этике.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355080"/>
            <a:ext cx="2200046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1. Критерии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2712110" y="6355080"/>
            <a:ext cx="2200046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12110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2. Лестница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967020" y="6355080"/>
            <a:ext cx="2200046" cy="29260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7020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3. Карта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1931" y="6355080"/>
            <a:ext cx="2200046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1931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4. Провалы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76841" y="6355080"/>
            <a:ext cx="2200046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76841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5. Карточки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822960"/>
            <a:ext cx="4754880" cy="420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0" b="1" i="0">
                <a:solidFill>
                  <a:srgbClr val="E5EAF0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69494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800" b="1" i="0">
                <a:solidFill>
                  <a:srgbClr val="F0AB00"/>
                </a:solidFill>
                <a:latin typeface="Arial"/>
              </a:rPr>
              <a:t>Раздел 3</a:t>
            </a:r>
          </a:p>
          <a:p>
            <a:pPr algn="l">
              <a:lnSpc>
                <a:spcPct val="116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3300" b="1" i="0">
                <a:solidFill>
                  <a:srgbClr val="21295C"/>
                </a:solidFill>
                <a:latin typeface="Arial"/>
              </a:rPr>
              <a:t>16 отраслей на одной карте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550" b="0" i="0">
                <a:solidFill>
                  <a:srgbClr val="4A556B"/>
                </a:solidFill>
                <a:latin typeface="Arial"/>
              </a:rPr>
              <a:t>Точечная диаграмма строится слой за слоем + кластерный анализ.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32120"/>
            <a:ext cx="11274552" cy="658368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586983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точечная карта · 1 плоскость · ~20 точек · 4 квадранта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Каждая из 16 отраслей курса поднимала свою локальную ось — и все они про одно: насколько AI берёт действие на себя.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79776" cy="1097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22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1444752"/>
            <a:ext cx="25237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Введение в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773936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Диагностический вопрос; эффект ИИ; 3 уровня Pearl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00984" y="1371600"/>
            <a:ext cx="2779776" cy="1097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22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444752"/>
            <a:ext cx="25237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Большие модели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773936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Конвейер вывода; «слепота к буквам» как граница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371600"/>
            <a:ext cx="2779776" cy="1097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22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3" y="1444752"/>
            <a:ext cx="25237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Архитектуры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3" y="1773936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prompt → RAG → агент → дообучение; накопление ненадёжности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88552" y="1371600"/>
            <a:ext cx="2779776" cy="1097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22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1444752"/>
            <a:ext cx="25237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Разработка ПО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6568" y="1773936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Лестница A/B/C/D (автодополнение → инженер-агент)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32888"/>
            <a:ext cx="2779776" cy="1097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22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2606040"/>
            <a:ext cx="25237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Финансы и ритейл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2935224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Закрытый мир vs открытый мир прогноза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0984" y="2532888"/>
            <a:ext cx="2779776" cy="1097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22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2606040"/>
            <a:ext cx="25237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CAD/CAM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935224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6 классов AI в проектировании; «оптимизация ≠ генерация»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2532888"/>
            <a:ext cx="2779776" cy="1097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22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3" y="2606040"/>
            <a:ext cx="25237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Медицина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3" y="2935224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Закрытая петля; человек в петле; RCT как эталон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8552" y="2532888"/>
            <a:ext cx="2779776" cy="1097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222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6568" y="2606040"/>
            <a:ext cx="25237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Креатив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2935224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«Добавил → изменил → сломал» × 4 области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94176"/>
            <a:ext cx="2779776" cy="1097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222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3767328"/>
            <a:ext cx="25237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Авиакосмос/оборона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4096512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OODA; человек в/на/вне петли; автономия L1-L5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00984" y="3694176"/>
            <a:ext cx="2779776" cy="1097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222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3767328"/>
            <a:ext cx="25237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Агросектор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096512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Лестница АПК; закрытая петля vs открытая среда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3694176"/>
            <a:ext cx="2779776" cy="1097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222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2783" y="3767328"/>
            <a:ext cx="25237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Производство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2783" y="4096512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Дискретное vs процессное; болото пилотов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8552" y="3694176"/>
            <a:ext cx="2779776" cy="1097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222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16568" y="3767328"/>
            <a:ext cx="25237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Цифровые двойники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6568" y="4096512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A0-A3 + цифровой двойник как мост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855464"/>
            <a:ext cx="2779776" cy="1097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216" y="4928616"/>
            <a:ext cx="25237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Логистика/транспорт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" y="5257800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Лестница среды (5 уровней); ODD; 7 критериев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00984" y="4855464"/>
            <a:ext cx="2779776" cy="1097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4928616"/>
            <a:ext cx="25237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Телеком/кибербез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5257800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«Видит → Решает → Действует»; MITRE ATLAS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44768" y="4855464"/>
            <a:ext cx="2779776" cy="1097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72783" y="4928616"/>
            <a:ext cx="25237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Наука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2783" y="5257800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Лестница научного цикла; AlphaFold vs Galactica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88552" y="4855464"/>
            <a:ext cx="2779776" cy="109728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16568" y="4928616"/>
            <a:ext cx="25237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Нефтегаз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16568" y="5257800"/>
            <a:ext cx="25237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0">
                <a:solidFill>
                  <a:srgbClr val="4A556B"/>
                </a:solidFill>
                <a:latin typeface="Arial"/>
              </a:rPr>
              <a:t>Матрица 2×2 «данные × процесс»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55664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1C7293"/>
                </a:solidFill>
                <a:latin typeface="Arial"/>
              </a:rPr>
              <a:t>16 локальных осей автономии / применимости — переименования одного явления, а не разные явления. Capstone-карта объединяет их все.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Первые четыре точки уже показывают структуру: смежное с IT — вверху-справа, регулируемая медицина — внизу-справа.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77724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20-batc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611" y="1389888"/>
            <a:ext cx="6369576" cy="435254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0" y="1280160"/>
            <a:ext cx="3319272" cy="4572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59" y="1463040"/>
            <a:ext cx="29535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065A82"/>
                </a:solidFill>
                <a:latin typeface="Arial"/>
              </a:rPr>
              <a:t>Разработка ПО — верх-право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текст/код — модальность фундаментальных моделей; компилятор даёт эталон; объём гигантский.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59" y="2395728"/>
            <a:ext cx="29535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065A82"/>
                </a:solidFill>
                <a:latin typeface="Arial"/>
              </a:rPr>
              <a:t>Финансы и ритейл — верх-середина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фрод (закрытый мир) высоко; iBuying (открытый мир) низко — Zillow показал почему.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59" y="3328416"/>
            <a:ext cx="29535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065A82"/>
                </a:solidFill>
                <a:latin typeface="Arial"/>
              </a:rPr>
              <a:t>Медицина — низ-право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узкая визуализация высоко; автономия капнута FDA на L1.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59" y="4261104"/>
            <a:ext cx="29535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028090"/>
                </a:solidFill>
                <a:latin typeface="Arial"/>
              </a:rPr>
              <a:t>Авиакосмос/оборона — потолок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восприятие высоко, действие ограничено этически (дебаты о LAWS).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59" y="4983480"/>
            <a:ext cx="2953512" cy="77724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39" y="5038344"/>
            <a:ext cx="2587752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Разработка ПО — чистая координата верх-право.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Средний набор добавляет двойственные (бимодальные) отрасли: агро раздваивается на узкую очерченную See &amp; Spray и провальный Monarch.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77724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21-batc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611" y="1389888"/>
            <a:ext cx="6369576" cy="435254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0" y="1280160"/>
            <a:ext cx="3319272" cy="4572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59" y="1463040"/>
            <a:ext cx="29535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065A82"/>
                </a:solidFill>
                <a:latin typeface="Arial"/>
              </a:rPr>
              <a:t>CAD/CAM — середина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оптимизация высоко; LLM для CAD-скриптов низко (ORCA 45-63%).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59" y="2395728"/>
            <a:ext cx="29535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065A82"/>
                </a:solidFill>
                <a:latin typeface="Arial"/>
              </a:rPr>
              <a:t>Креатив — бимодально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массовые ассеты высоко; авторское произведение низко (Getty vs Stability).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59" y="3328416"/>
            <a:ext cx="29535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028090"/>
                </a:solidFill>
                <a:latin typeface="Arial"/>
              </a:rPr>
              <a:t>Агро — двойственное облако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See &amp; Spray ↑ верх-право; Monarch ↖ верх-лево (зона предупреждения), провал.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59" y="4261104"/>
            <a:ext cx="29535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028090"/>
                </a:solidFill>
                <a:latin typeface="Arial"/>
              </a:rPr>
              <a:t>Производство — середина-низ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CV на конвейере высоко; LLM на коде PLC низко.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59" y="4983480"/>
            <a:ext cx="2953512" cy="77724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39" y="5038344"/>
            <a:ext cx="2587752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Агро раздваивается — готовность локальна по задачам, не глобальна по отрасли.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Логистика — три точки одной отрасли: склад L4, робот-такси L3, чёрный лебедь фактически L0.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77724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22-batch3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97" y="1389888"/>
            <a:ext cx="6478205" cy="435254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0" y="1280160"/>
            <a:ext cx="3319272" cy="4572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59" y="1463040"/>
            <a:ext cx="29535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F0AB00"/>
                </a:solidFill>
                <a:latin typeface="Arial"/>
              </a:rPr>
              <a:t>Логистика (3 точки!)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склад (Symbotic, L4) ↑; робот-такси (Waymo/Cruise) середина; чёрный лебедь (Суэц, COVID) — фактически L0.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59" y="2395728"/>
            <a:ext cx="29535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028090"/>
                </a:solidFill>
                <a:latin typeface="Arial"/>
              </a:rPr>
              <a:t>Телеком/кибербез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восприятие высоко (L1-L3); действие ограничено радиусом (CrowdStrike).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59" y="3328416"/>
            <a:ext cx="29535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F0AB00"/>
                </a:solidFill>
                <a:latin typeface="Arial"/>
              </a:rPr>
              <a:t>Наука — двойственная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AlphaFold (закрытый мир) высоко vs Galactica (открытый мир) низко.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59" y="4261104"/>
            <a:ext cx="29535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F0AB00"/>
                </a:solidFill>
                <a:latin typeface="Arial"/>
              </a:rPr>
              <a:t>Нефтегаз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LLM без физики не заменит геолога — нужны PINN / гибрид физика+ML.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55664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1C7293"/>
                </a:solidFill>
                <a:latin typeface="Arial"/>
              </a:rPr>
              <a:t>Логистика — самая бимодальная: внутри одной компании AI на L4 (склад) и на L0 (чёрный лебедь). Зрелость локальна, не глобальна.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Кластер закрытой петли (верхний правый) — пять общих признаков, профиль успешного применения AI.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25880"/>
            <a:ext cx="576072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23-cluster-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83258"/>
            <a:ext cx="5577840" cy="38115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325880"/>
            <a:ext cx="5330952" cy="3246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1444752"/>
            <a:ext cx="49286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Пять общих признаков — профиль успеха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1968" y="1810512"/>
            <a:ext cx="49286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1. Среда контролируемая или закрытая (критерий 1 ✓)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1968" y="2267712"/>
            <a:ext cx="49286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2. Эталон быстрый и однозначный (критерий 5 ✓): компилятор / чарджбэк / разметка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2724912"/>
            <a:ext cx="49286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3. Объём задач большой (критерий 3 ✓)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3182112"/>
            <a:ext cx="49286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4. Цена ошибки низкая или поглощаемая (критерий 4 ✓)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639312"/>
            <a:ext cx="49286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5. Распределение обучения совпадает с эксплуатацией (критерий 2 ✓)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663440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lphaf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4718304"/>
            <a:ext cx="841248" cy="8412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28816" y="5577840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AlphaFold · Wikimedia · CC BY-SA 4.0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4663440"/>
            <a:ext cx="3364992" cy="11887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4718303"/>
            <a:ext cx="2999232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Новая отрасль удовлетворяет всем пяти признакам — у проекта хорошие шансы.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Кластер открытой среды (верхний левый) — зона провалов; открытая среда это физика задачи, а не недостаток модели.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25880"/>
            <a:ext cx="576072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24-cluster-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83258"/>
            <a:ext cx="5577840" cy="38115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325880"/>
            <a:ext cx="5330952" cy="3246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1444752"/>
            <a:ext cx="49286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Состав и что общего (зона предупреждения)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1968" y="1810512"/>
            <a:ext cx="49286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Monarch (38% сокращений ≈53/140) · Plenty ($940 млн+ → Chapter 11)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1968" y="2267712"/>
            <a:ext cx="49286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Cruise · чёрный лебедь (Suez, COVID) · Zillow ($304 млн) · Galactica (отозвана за 48 ч)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2724912"/>
            <a:ext cx="49286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1. Среда открытая, состязательная (критерий 1 ✗)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3182112"/>
            <a:ext cx="49286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2. Данные не покрывают редкие события (критерий 2 ✗)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639312"/>
            <a:ext cx="49286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3. Цена ошибки высокая (критерий 4 ✗) · 4. Эталон медленный/нет (критерий 5 ✗)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663440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onar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353" y="4718304"/>
            <a:ext cx="853692" cy="8412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28816" y="5577840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Monarch MK-V · monarchtractor.com · fair 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4663440"/>
            <a:ext cx="3364992" cy="11887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4718303"/>
            <a:ext cx="2999232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Открытая среда — это физика задачи, а не недостаток модели. Сузьте домен; перейдите на advisory; откажитесь от AI.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Кластер высоких ставок (нижний правый) — применимость высокая, но автономия капнута регулятором; цель — усиление, не замена.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25880"/>
            <a:ext cx="576072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25-cluster-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83258"/>
            <a:ext cx="5577840" cy="38115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325880"/>
            <a:ext cx="5330952" cy="32461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1968" y="1444752"/>
            <a:ext cx="49286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Состав (регуляторно-капнутая автономия)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1968" y="1810512"/>
            <a:ext cx="49286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Медицина (капнут FDA на L1) · Авиакосмос (капнут регуляцией LAWS)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1968" y="2267712"/>
            <a:ext cx="49286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Производство, критичное к безопасности (IEC 61508 SIL 2/3)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2724912"/>
            <a:ext cx="49286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Кибербезопасность уровня действия (дисциплина радиуса)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3182112"/>
            <a:ext cx="49286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Нефтегаз ATEX Zone 0 (сертификация оборудования)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639312"/>
            <a:ext cx="49286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Общее: применимость высокая, автономия ограничена; объяснимость обязательна.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663440"/>
            <a:ext cx="18288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pic-sepsi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397" y="4718304"/>
            <a:ext cx="1335604" cy="8412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28816" y="5577840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Мониторинг ICU · US Navy · Public domain (кейс Epic Sepsis)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4663440"/>
            <a:ext cx="3364992" cy="11887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4718303"/>
            <a:ext cx="2999232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Усиление, а не замена. Радиолог с AI лучше радиолога без — но решение всегда за радиологом (IBM Watson Health показал, что полная замена проваливается).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Пустой верхне-левый квадрант — дидактический сигнал: низкая применимость × высокая автономия = катастрофа.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25880"/>
            <a:ext cx="676656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26-empty-quadr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82" y="1417320"/>
            <a:ext cx="6356195" cy="4343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06640" y="1325880"/>
            <a:ext cx="4325112" cy="228600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7808" y="1463040"/>
            <a:ext cx="3922776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Верхний левый — пустой и опасный</a:t>
            </a:r>
          </a:p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Кто туда попадает: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CrowdStrike Falcon BSOD — радиус 8,5 млн устройств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F-35 ALIS — предиктивное обслуживание с высокой автономией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Cruise — расширение домена в открытой среде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3703320"/>
            <a:ext cx="4325112" cy="2148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7808" y="3822191"/>
            <a:ext cx="3922776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065A82"/>
                </a:solidFill>
                <a:latin typeface="Arial"/>
              </a:rPr>
              <a:t>Два направления сдвига:</a:t>
            </a:r>
          </a:p>
          <a:p>
            <a:pPr algn="l">
              <a:lnSpc>
                <a:spcPct val="112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28090"/>
                </a:solidFill>
                <a:latin typeface="Arial"/>
              </a:rPr>
              <a:t>Вправо → </a:t>
            </a:r>
            <a:r>
              <a:rPr sz="1150" b="0" i="0">
                <a:solidFill>
                  <a:srgbClr val="4A556B"/>
                </a:solidFill>
                <a:latin typeface="Arial"/>
              </a:rPr>
              <a:t>повысить применимость (закрыть среду, набрать данные, улучшить эталон).</a:t>
            </a:r>
          </a:p>
          <a:p>
            <a:pPr algn="l">
              <a:lnSpc>
                <a:spcPct val="112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28090"/>
                </a:solidFill>
                <a:latin typeface="Arial"/>
              </a:rPr>
              <a:t>Вниз ↓ </a:t>
            </a:r>
            <a:r>
              <a:rPr sz="1150" b="0" i="0">
                <a:solidFill>
                  <a:srgbClr val="4A556B"/>
                </a:solidFill>
                <a:latin typeface="Arial"/>
              </a:rPr>
              <a:t>снизить автономию (на-петле → в-петле → советник).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1C7293"/>
                </a:solidFill>
                <a:latin typeface="Arial"/>
              </a:rPr>
              <a:t>Попадаю ли я в верхне-левый? Если да — что изменить, чтобы сдвинуться?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355080"/>
            <a:ext cx="2200046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1. Критерии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2712110" y="6355080"/>
            <a:ext cx="2200046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12110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2. Лестница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967020" y="6355080"/>
            <a:ext cx="2200046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7020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3. Карта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1931" y="6355080"/>
            <a:ext cx="2200046" cy="29260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1931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4. Провалы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76841" y="6355080"/>
            <a:ext cx="2200046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76841" y="6377940"/>
            <a:ext cx="22000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5. Карточки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822960"/>
            <a:ext cx="4754880" cy="420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0" b="1" i="0">
                <a:solidFill>
                  <a:srgbClr val="E5EAF0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69494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800" b="1" i="0">
                <a:solidFill>
                  <a:srgbClr val="F0AB00"/>
                </a:solidFill>
                <a:latin typeface="Arial"/>
              </a:rPr>
              <a:t>Раздел 4</a:t>
            </a:r>
          </a:p>
          <a:p>
            <a:pPr algn="l">
              <a:lnSpc>
                <a:spcPct val="116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3300" b="1" i="0">
                <a:solidFill>
                  <a:srgbClr val="21295C"/>
                </a:solidFill>
                <a:latin typeface="Arial"/>
              </a:rPr>
              <a:t>Двенадцать провалов курса. Что выучили?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550" b="0" i="0">
                <a:solidFill>
                  <a:srgbClr val="4A556B"/>
                </a:solidFill>
                <a:latin typeface="Arial"/>
              </a:rPr>
              <a:t>Каждый провал — повторяющийся паттерн, не ошибка одной компании.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32120"/>
            <a:ext cx="11274552" cy="658368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586983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кросс-отраслевые · уроки → альтернативы · полностью про границы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Провалы 1-4: открытый мир, накопление ненадёжности, демо ≠ промышленная эксплуатация, скучный человек в петле.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4133087" cy="2148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" y="1499616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499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1490472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1. Прогноз в открытом мире без закрытой петли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975104"/>
            <a:ext cx="38404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065A82"/>
                </a:solidFill>
                <a:latin typeface="Arial"/>
              </a:rPr>
              <a:t>Zillow · Monarch · Cruise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286000"/>
            <a:ext cx="38404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Урок: </a:t>
            </a:r>
            <a:r>
              <a:rPr sz="1000" b="0" i="0">
                <a:solidFill>
                  <a:srgbClr val="4A556B"/>
                </a:solidFill>
                <a:latin typeface="Arial"/>
              </a:rPr>
              <a:t>распределённый сдвиг убивает ML на исторических данных.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889504"/>
            <a:ext cx="3877055" cy="548640"/>
          </a:xfrm>
          <a:prstGeom prst="roundRect">
            <a:avLst>
              <a:gd name="adj" fmla="val 10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916936"/>
            <a:ext cx="371246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295C"/>
                </a:solidFill>
                <a:latin typeface="Arial"/>
              </a:rPr>
              <a:t>Альтернатива: </a:t>
            </a:r>
            <a:r>
              <a:rPr sz="950" b="1" i="0">
                <a:solidFill>
                  <a:srgbClr val="21295C"/>
                </a:solidFill>
                <a:latin typeface="Arial"/>
              </a:rPr>
              <a:t>сузить домен; советник; не-AI базовая линия.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73168" y="1371600"/>
            <a:ext cx="4133087" cy="2148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349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01183" y="1499616"/>
            <a:ext cx="365760" cy="365760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1183" y="1499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1490472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2. Накопление ненадёжности в многошаговом агенте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1975104"/>
            <a:ext cx="38404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065A82"/>
                </a:solidFill>
                <a:latin typeface="Arial"/>
              </a:rPr>
              <a:t>$4 200-петля у агента поддержки; агентная разработка ПО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286000"/>
            <a:ext cx="38404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Урок: </a:t>
            </a:r>
            <a:r>
              <a:rPr sz="1000" b="0" i="0">
                <a:solidFill>
                  <a:srgbClr val="4A556B"/>
                </a:solidFill>
                <a:latin typeface="Arial"/>
              </a:rPr>
              <a:t>p^N → 0 при N&gt;10 (p=0,95, N=10 → 0,59).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3" y="2889504"/>
            <a:ext cx="3877055" cy="548640"/>
          </a:xfrm>
          <a:prstGeom prst="roundRect">
            <a:avLst>
              <a:gd name="adj" fmla="val 10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2916936"/>
            <a:ext cx="371246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295C"/>
                </a:solidFill>
                <a:latin typeface="Arial"/>
              </a:rPr>
              <a:t>Альтернатива: </a:t>
            </a:r>
            <a:r>
              <a:rPr sz="950" b="1" i="0">
                <a:solidFill>
                  <a:srgbClr val="21295C"/>
                </a:solidFill>
                <a:latin typeface="Arial"/>
              </a:rPr>
              <a:t>лимит бюджета + макс. шагов + точки человека.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85032"/>
            <a:ext cx="4133087" cy="2148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3813048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3813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803904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3. Демо вендора ≠ промышленная эксплуатация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4288536"/>
            <a:ext cx="38404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065A82"/>
                </a:solidFill>
                <a:latin typeface="Arial"/>
              </a:rPr>
              <a:t>Devin · IBM Watson · Epic Sepsis · Klarna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4599432"/>
            <a:ext cx="38404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Урок: </a:t>
            </a:r>
            <a:r>
              <a:rPr sz="1000" b="0" i="0">
                <a:solidFill>
                  <a:srgbClr val="4A556B"/>
                </a:solidFill>
                <a:latin typeface="Arial"/>
              </a:rPr>
              <a:t>вендорский бенчмарк ≠ ваша среда.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5202936"/>
            <a:ext cx="3877055" cy="548640"/>
          </a:xfrm>
          <a:prstGeom prst="roundRect">
            <a:avLst>
              <a:gd name="adj" fmla="val 10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230368"/>
            <a:ext cx="371246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295C"/>
                </a:solidFill>
                <a:latin typeface="Arial"/>
              </a:rPr>
              <a:t>Альтернатива: </a:t>
            </a:r>
            <a:r>
              <a:rPr sz="950" b="1" i="0">
                <a:solidFill>
                  <a:srgbClr val="21295C"/>
                </a:solidFill>
                <a:latin typeface="Arial"/>
              </a:rPr>
              <a:t>повторить измерение на ваших данных.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73168" y="3685032"/>
            <a:ext cx="4133087" cy="2148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01183" y="3813048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3" y="3813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6" y="3803904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4. Скучный человек в петле не работает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9472" y="4288536"/>
            <a:ext cx="38404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065A82"/>
                </a:solidFill>
                <a:latin typeface="Arial"/>
              </a:rPr>
              <a:t>Uber Tempe · F-35 ALIS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9472" y="4599432"/>
            <a:ext cx="38404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Урок: </a:t>
            </a:r>
            <a:r>
              <a:rPr sz="1000" b="0" i="0">
                <a:solidFill>
                  <a:srgbClr val="4A556B"/>
                </a:solidFill>
                <a:latin typeface="Arial"/>
              </a:rPr>
              <a:t>редкий скучный мониторинг проваливается.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01183" y="5202936"/>
            <a:ext cx="3877055" cy="548640"/>
          </a:xfrm>
          <a:prstGeom prst="roundRect">
            <a:avLst>
              <a:gd name="adj" fmla="val 10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5230368"/>
            <a:ext cx="371246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295C"/>
                </a:solidFill>
                <a:latin typeface="Arial"/>
              </a:rPr>
              <a:t>Альтернатива: </a:t>
            </a:r>
            <a:r>
              <a:rPr sz="950" b="1" i="0">
                <a:solidFill>
                  <a:srgbClr val="21295C"/>
                </a:solidFill>
                <a:latin typeface="Arial"/>
              </a:rPr>
              <a:t>человек-на-петле с алертом.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34855" y="1371600"/>
            <a:ext cx="2599639" cy="4462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uber-tem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583" y="2740363"/>
            <a:ext cx="2380183" cy="145042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299447" y="5449824"/>
            <a:ext cx="22704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Uber Volvo XC90 (модель из аварии Tempe 2018) · Dllu · Wikimedia · CC BY-SA 2.0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55664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1C7293"/>
                </a:solidFill>
                <a:latin typeface="Arial"/>
              </a:rPr>
              <a:t>Источники кейсов — отраслевые лекции курса. Главное — математика накопления ненадёжности p^N → 0.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Провалы 5-8: переавтоматизация, действие без канарейки, научная галлюцинация, голос/видео-дипфейк мошенничество.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4133087" cy="2148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" y="1499616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499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1490472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5. Переавтоматизация в зонах вариативности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975104"/>
            <a:ext cx="38404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065A82"/>
                </a:solidFill>
                <a:latin typeface="Arial"/>
              </a:rPr>
              <a:t>Tesla 2018 · Boeing 737 MAX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286000"/>
            <a:ext cx="38404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Урок: </a:t>
            </a:r>
            <a:r>
              <a:rPr sz="1000" b="0" i="0">
                <a:solidFill>
                  <a:srgbClr val="4A556B"/>
                </a:solidFill>
                <a:latin typeface="Arial"/>
              </a:rPr>
              <a:t>парадокс автоматизации (Бейнбридж, 1983): автоматизация ломает пропускную способность.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889504"/>
            <a:ext cx="3877055" cy="548640"/>
          </a:xfrm>
          <a:prstGeom prst="roundRect">
            <a:avLst>
              <a:gd name="adj" fmla="val 10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916936"/>
            <a:ext cx="371246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295C"/>
                </a:solidFill>
                <a:latin typeface="Arial"/>
              </a:rPr>
              <a:t>Альтернатива: </a:t>
            </a:r>
            <a:r>
              <a:rPr sz="950" b="1" i="0">
                <a:solidFill>
                  <a:srgbClr val="21295C"/>
                </a:solidFill>
                <a:latin typeface="Arial"/>
              </a:rPr>
              <a:t>Jidoka — усиление; SPC остаётся.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73168" y="1371600"/>
            <a:ext cx="4133087" cy="2148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01183" y="1499616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1183" y="1499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1490472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6. Действие без канарейки и отката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1975104"/>
            <a:ext cx="38404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065A82"/>
                </a:solidFill>
                <a:latin typeface="Arial"/>
              </a:rPr>
              <a:t>CrowdStrike · Cloudflare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286000"/>
            <a:ext cx="38404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Урок: </a:t>
            </a:r>
            <a:r>
              <a:rPr sz="1000" b="0" i="0">
                <a:solidFill>
                  <a:srgbClr val="4A556B"/>
                </a:solidFill>
                <a:latin typeface="Arial"/>
              </a:rPr>
              <a:t>широкий домен = большой радиус разрушения.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3" y="2889504"/>
            <a:ext cx="3877055" cy="548640"/>
          </a:xfrm>
          <a:prstGeom prst="roundRect">
            <a:avLst>
              <a:gd name="adj" fmla="val 10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2916936"/>
            <a:ext cx="371246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295C"/>
                </a:solidFill>
                <a:latin typeface="Arial"/>
              </a:rPr>
              <a:t>Альтернатива: </a:t>
            </a:r>
            <a:r>
              <a:rPr sz="950" b="1" i="0">
                <a:solidFill>
                  <a:srgbClr val="21295C"/>
                </a:solidFill>
                <a:latin typeface="Arial"/>
              </a:rPr>
              <a:t>канарейка 1-5% + телеметрия + откат в один клик.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85032"/>
            <a:ext cx="4133087" cy="2148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3813048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3813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803904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7. Научная галлюцинация класса Galactica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4288536"/>
            <a:ext cx="38404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065A82"/>
                </a:solidFill>
                <a:latin typeface="Arial"/>
              </a:rPr>
              <a:t>Meta Galactica — галлюцинации цитат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4599432"/>
            <a:ext cx="38404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Урок: </a:t>
            </a:r>
            <a:r>
              <a:rPr sz="1000" b="0" i="0">
                <a:solidFill>
                  <a:srgbClr val="4A556B"/>
                </a:solidFill>
                <a:latin typeface="Arial"/>
              </a:rPr>
              <a:t>в науке эталон — воспроизводимый эксперимент, а не текст.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5202936"/>
            <a:ext cx="3877055" cy="548640"/>
          </a:xfrm>
          <a:prstGeom prst="roundRect">
            <a:avLst>
              <a:gd name="adj" fmla="val 10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230368"/>
            <a:ext cx="371246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295C"/>
                </a:solidFill>
                <a:latin typeface="Arial"/>
              </a:rPr>
              <a:t>Альтернатива: </a:t>
            </a:r>
            <a:r>
              <a:rPr sz="950" b="1" i="0">
                <a:solidFill>
                  <a:srgbClr val="21295C"/>
                </a:solidFill>
                <a:latin typeface="Arial"/>
              </a:rPr>
              <a:t>RAG-заземление + рецензирование по чек-листу.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73168" y="3685032"/>
            <a:ext cx="4133087" cy="2148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349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01183" y="3813048"/>
            <a:ext cx="365760" cy="365760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3" y="3813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6" y="3803904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8. Голос/чат-мошенничество и дипфейк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9472" y="4288536"/>
            <a:ext cx="38404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065A82"/>
                </a:solidFill>
                <a:latin typeface="Arial"/>
              </a:rPr>
              <a:t>Wendy's · Air Canada · Arup $25 млн (видео-конф., февр. 2024)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9472" y="4599432"/>
            <a:ext cx="38404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Урок: </a:t>
            </a:r>
            <a:r>
              <a:rPr sz="1000" b="0" i="0">
                <a:solidFill>
                  <a:srgbClr val="4A556B"/>
                </a:solidFill>
                <a:latin typeface="Arial"/>
              </a:rPr>
              <a:t>шумная среда + сложность = AI ненадёжен; видео+голос = новый вектор.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01183" y="5202936"/>
            <a:ext cx="3877055" cy="548640"/>
          </a:xfrm>
          <a:prstGeom prst="roundRect">
            <a:avLst>
              <a:gd name="adj" fmla="val 10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5230368"/>
            <a:ext cx="371246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295C"/>
                </a:solidFill>
                <a:latin typeface="Arial"/>
              </a:rPr>
              <a:t>Альтернатива: </a:t>
            </a:r>
            <a:r>
              <a:rPr sz="950" b="1" i="0">
                <a:solidFill>
                  <a:srgbClr val="21295C"/>
                </a:solidFill>
                <a:latin typeface="Arial"/>
              </a:rPr>
              <a:t>C2PA-подпись; проверка через независимый канал.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34855" y="1371600"/>
            <a:ext cx="2599639" cy="4462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rup-deepf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583" y="2573007"/>
            <a:ext cx="2380183" cy="178513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299447" y="5449824"/>
            <a:ext cx="22704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Видеоконференция (концепт; кейс Arup $25 млн) · DoD · CC BY 2.0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55664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1C7293"/>
                </a:solidFill>
                <a:latin typeface="Arial"/>
              </a:rPr>
              <a:t>Самая яркая цифра новых векторов мошенничества — дипфейк финансового директора Arup на $25 млн.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Провалы 9-12: утечка обучающих данных, привязка к вендору, slopsquatting, болото пилотов.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4133087" cy="2148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" y="1499616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499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1490472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9. Дословная утечка обучающих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975104"/>
            <a:ext cx="38404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065A82"/>
                </a:solidFill>
                <a:latin typeface="Arial"/>
              </a:rPr>
              <a:t>Getty vs Stability · NYT vs 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286000"/>
            <a:ext cx="38404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Урок: </a:t>
            </a:r>
            <a:r>
              <a:rPr sz="1000" b="0" i="0">
                <a:solidFill>
                  <a:srgbClr val="4A556B"/>
                </a:solidFill>
                <a:latin typeface="Arial"/>
              </a:rPr>
              <a:t>у фундаментальных моделей есть хвост запоминания — часть данных хранится дословно.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889504"/>
            <a:ext cx="3877055" cy="548640"/>
          </a:xfrm>
          <a:prstGeom prst="roundRect">
            <a:avLst>
              <a:gd name="adj" fmla="val 10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916936"/>
            <a:ext cx="371246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295C"/>
                </a:solidFill>
                <a:latin typeface="Arial"/>
              </a:rPr>
              <a:t>Альтернатива: </a:t>
            </a:r>
            <a:r>
              <a:rPr sz="950" b="1" i="0">
                <a:solidFill>
                  <a:srgbClr val="21295C"/>
                </a:solidFill>
                <a:latin typeface="Arial"/>
              </a:rPr>
              <a:t>лицензированные датасеты; аудит провенанса; C2PA.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73168" y="1371600"/>
            <a:ext cx="4133087" cy="2148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01183" y="1499616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1183" y="14996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1490472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10. Привязка к вендору в регулируемых отраслях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1975104"/>
            <a:ext cx="38404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065A82"/>
                </a:solidFill>
                <a:latin typeface="Arial"/>
              </a:rPr>
              <a:t>Climate FieldView · F-35 ALIS · IBM Watson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286000"/>
            <a:ext cx="38404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Урок: </a:t>
            </a:r>
            <a:r>
              <a:rPr sz="1000" b="0" i="0">
                <a:solidFill>
                  <a:srgbClr val="4A556B"/>
                </a:solidFill>
                <a:latin typeface="Arial"/>
              </a:rPr>
              <a:t>привязка → стратегический риск; данные у вендора, выход стоит миллионы.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3" y="2889504"/>
            <a:ext cx="3877055" cy="548640"/>
          </a:xfrm>
          <a:prstGeom prst="roundRect">
            <a:avLst>
              <a:gd name="adj" fmla="val 10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2916936"/>
            <a:ext cx="371246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295C"/>
                </a:solidFill>
                <a:latin typeface="Arial"/>
              </a:rPr>
              <a:t>Альтернатива: </a:t>
            </a:r>
            <a:r>
              <a:rPr sz="950" b="1" i="0">
                <a:solidFill>
                  <a:srgbClr val="21295C"/>
                </a:solidFill>
                <a:latin typeface="Arial"/>
              </a:rPr>
              <a:t>гос-инфраструктура; экспорт данных в контракте.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85032"/>
            <a:ext cx="4133087" cy="2148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3813048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3813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803904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11. Slopsquatting / галлюцинации цепочки поставок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4288536"/>
            <a:ext cx="38404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065A82"/>
                </a:solidFill>
                <a:latin typeface="Arial"/>
              </a:rPr>
              <a:t>Атаки на имена пакетов npm/pip — разработка ПО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4599432"/>
            <a:ext cx="38404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Урок: </a:t>
            </a:r>
            <a:r>
              <a:rPr sz="1000" b="0" i="0">
                <a:solidFill>
                  <a:srgbClr val="4A556B"/>
                </a:solidFill>
                <a:latin typeface="Arial"/>
              </a:rPr>
              <a:t>AI выдумывает имена пакетов; атакующие их занимают → вредоносный код.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5202936"/>
            <a:ext cx="3877055" cy="548640"/>
          </a:xfrm>
          <a:prstGeom prst="roundRect">
            <a:avLst>
              <a:gd name="adj" fmla="val 10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230368"/>
            <a:ext cx="371246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295C"/>
                </a:solidFill>
                <a:latin typeface="Arial"/>
              </a:rPr>
              <a:t>Альтернатива: </a:t>
            </a:r>
            <a:r>
              <a:rPr sz="950" b="1" i="0">
                <a:solidFill>
                  <a:srgbClr val="21295C"/>
                </a:solidFill>
                <a:latin typeface="Arial"/>
              </a:rPr>
              <a:t>проверка SBOM + список разрешённых импортов.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73168" y="3685032"/>
            <a:ext cx="4133087" cy="2148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2349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01183" y="3813048"/>
            <a:ext cx="365760" cy="365760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3" y="3813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6" y="3803904"/>
            <a:ext cx="3438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12. Болото пилотов / 90-95% не доходят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9472" y="4288536"/>
            <a:ext cx="38404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065A82"/>
                </a:solidFill>
                <a:latin typeface="Arial"/>
              </a:rPr>
              <a:t>MIT NANDA 95% · McKinsey 5,5%* · РФ 9 из 10 · двойники 75%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9472" y="4599432"/>
            <a:ext cx="38404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Урок: </a:t>
            </a:r>
            <a:r>
              <a:rPr sz="1000" b="0" i="0">
                <a:solidFill>
                  <a:srgbClr val="4A556B"/>
                </a:solidFill>
                <a:latin typeface="Arial"/>
              </a:rPr>
              <a:t>пилот соскальзывает в бесконечность.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01183" y="5202936"/>
            <a:ext cx="3877055" cy="548640"/>
          </a:xfrm>
          <a:prstGeom prst="roundRect">
            <a:avLst>
              <a:gd name="adj" fmla="val 10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5230368"/>
            <a:ext cx="371246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295C"/>
                </a:solidFill>
                <a:latin typeface="Arial"/>
              </a:rPr>
              <a:t>Альтернатива: </a:t>
            </a:r>
            <a:r>
              <a:rPr sz="950" b="1" i="0">
                <a:solidFill>
                  <a:srgbClr val="21295C"/>
                </a:solidFill>
                <a:latin typeface="Arial"/>
              </a:rPr>
              <a:t>явные ворота GO/NO-GO + базовая линия + лимит бюджета.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34855" y="1371600"/>
            <a:ext cx="2599639" cy="4462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getty-stabil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583" y="1977961"/>
            <a:ext cx="2380183" cy="297522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299447" y="5449824"/>
            <a:ext cx="22704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Stable Diffusion с искажённым Getty-watermark (кейс Getty v. Stability) · AI-gen · Public domain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55664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1C7293"/>
                </a:solidFill>
                <a:latin typeface="Arial"/>
              </a:rPr>
              <a:t>Главная статистика курса — 90-95% пилотов не доходят. *95% (MIT) и 5,5% (McKinsey) — РАЗНЫЕ измерения, не одно число.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Почти все провалы сводятся к трём мега-паттернам: AI за границей закрытой петли, плохой человек в петле, проигнорированная базовая линия.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3694176" cy="3108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11680" y="1618488"/>
            <a:ext cx="585216" cy="58521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18488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313432"/>
            <a:ext cx="3401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Мега-паттерн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606040"/>
            <a:ext cx="3364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AI за границей закрытой петли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246120"/>
            <a:ext cx="3364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Провалы 1 (Zillow/Monarch/Cruise), 7 (Galactica), частично 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3904488"/>
            <a:ext cx="3401568" cy="512064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931920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Диагностируйте среду до старта (критерий 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417320"/>
            <a:ext cx="3694176" cy="3108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24727" y="1618488"/>
            <a:ext cx="585216" cy="58521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4727" y="1618488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313432"/>
            <a:ext cx="3401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Мега-паттерн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06040"/>
            <a:ext cx="3364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Человек в петле спроектирован плохо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246120"/>
            <a:ext cx="3364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Провалы 4 (Uber Tempe/F-35 ALIS), частично 1 (Cruise), 6 (CrowdStrike).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6552" y="3904488"/>
            <a:ext cx="3401568" cy="512064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931920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Человек в петле — инженерная дисциплина, не формулировка.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1417320"/>
            <a:ext cx="3694176" cy="3108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37776" y="1618488"/>
            <a:ext cx="585216" cy="58521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37776" y="1618488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313432"/>
            <a:ext cx="3401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Мега-паттерн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606040"/>
            <a:ext cx="3364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Экономическая базовая линия проигнорирована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246120"/>
            <a:ext cx="3364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50" b="0" i="0">
                <a:solidFill>
                  <a:srgbClr val="4A556B"/>
                </a:solidFill>
                <a:latin typeface="Arial"/>
              </a:rPr>
              <a:t>Провалы 3 (демо ≠ эксплуатация), 12 (болото пилотов), частично 10.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904488"/>
            <a:ext cx="3401568" cy="512064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3931920"/>
            <a:ext cx="3236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Измерьте базовую линию + классическую альтернативу до коммита.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800600"/>
            <a:ext cx="11274552" cy="960120"/>
          </a:xfrm>
          <a:prstGeom prst="roundRect">
            <a:avLst>
              <a:gd name="adj" fmla="val 8000"/>
            </a:avLst>
          </a:prstGeom>
          <a:solidFill>
            <a:srgbClr val="E6EEF5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882896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30-секундная процедура
для любого AI-предложения: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901184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1. Какая среда — закрытая или открытая со сдвигом?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2. Есть ли человек в петле, и не скучно ли ему?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3. Какая базовая линия, и окупит ли AI дельту?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Четыре опорные карточки — то, что вы заберёте с собой и будете применять в работе.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21892" y="2148840"/>
            <a:ext cx="768096" cy="76809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1892" y="2148840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08960"/>
            <a:ext cx="24780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Карточка #1 (A4)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3520440"/>
            <a:ext cx="2441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Матрица из 7 критериев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4297680"/>
            <a:ext cx="24414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1">
                <a:solidFill>
                  <a:srgbClr val="4A556B"/>
                </a:solidFill>
                <a:latin typeface="Arial"/>
              </a:rPr>
              <a:t>«применять ли AI» — чек-лист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82880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83964" y="2148840"/>
            <a:ext cx="768096" cy="76809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3964" y="2148840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108960"/>
            <a:ext cx="24780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Карточка #2 (A4)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520440"/>
            <a:ext cx="2441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Лестница автономии L0→L5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4297680"/>
            <a:ext cx="24414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1">
                <a:solidFill>
                  <a:srgbClr val="4A556B"/>
                </a:solidFill>
                <a:latin typeface="Arial"/>
              </a:rPr>
              <a:t>+ критерии подъёма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82880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857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6036" y="2148840"/>
            <a:ext cx="768096" cy="768096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6036" y="2148840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3108960"/>
            <a:ext cx="24780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Карточка #3 (A4)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520440"/>
            <a:ext cx="2441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Реестр 12 провалов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297680"/>
            <a:ext cx="24414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1">
                <a:solidFill>
                  <a:srgbClr val="4A556B"/>
                </a:solidFill>
                <a:latin typeface="Arial"/>
              </a:rPr>
              <a:t>+ противоядия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15684" y="466344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21295C"/>
                </a:solidFill>
                <a:latin typeface="Arial"/>
              </a:rPr>
              <a:t>главная по ценности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3416" y="1828800"/>
            <a:ext cx="2697480" cy="3291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08108" y="2148840"/>
            <a:ext cx="768096" cy="768096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08108" y="2148840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3108960"/>
            <a:ext cx="24780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Карточка #4 (A1)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520440"/>
            <a:ext cx="2441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Карта 16 отраслей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4297680"/>
            <a:ext cx="24414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1">
                <a:solidFill>
                  <a:srgbClr val="4A556B"/>
                </a:solidFill>
                <a:latin typeface="Arial"/>
              </a:rPr>
              <a:t>плакат на 2D-плоскости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55664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1C7293"/>
                </a:solidFill>
                <a:latin typeface="Arial"/>
              </a:rPr>
              <a:t>Карточки доступны как PDF + исходники в репозитории курса. Распечатайте; повесьте #3 рядом со столом, #4 как большой плакат в лаборатории.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1" i="0">
                <a:solidFill>
                  <a:srgbClr val="21295C"/>
                </a:solidFill>
                <a:latin typeface="Arial"/>
              </a:rPr>
              <a:t>Карточка #1 — матрица из 7 критериев: пройди 7 строк, один ✗ — СТОП.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447" y="1417320"/>
            <a:ext cx="594359" cy="42062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2599" y="1444752"/>
            <a:ext cx="45719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5" name="Rectangle 4"/>
          <p:cNvSpPr/>
          <p:nvPr/>
        </p:nvSpPr>
        <p:spPr>
          <a:xfrm>
            <a:off x="1249527" y="1417320"/>
            <a:ext cx="3611880" cy="42062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2679" y="144475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Вопрос</a:t>
            </a:r>
          </a:p>
        </p:txBody>
      </p:sp>
      <p:sp>
        <p:nvSpPr>
          <p:cNvPr id="7" name="Rectangle 6"/>
          <p:cNvSpPr/>
          <p:nvPr/>
        </p:nvSpPr>
        <p:spPr>
          <a:xfrm>
            <a:off x="4907127" y="1417320"/>
            <a:ext cx="3246120" cy="42062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0279" y="14447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Индикатор</a:t>
            </a:r>
          </a:p>
        </p:txBody>
      </p:sp>
      <p:sp>
        <p:nvSpPr>
          <p:cNvPr id="9" name="Rectangle 8"/>
          <p:cNvSpPr/>
          <p:nvPr/>
        </p:nvSpPr>
        <p:spPr>
          <a:xfrm>
            <a:off x="8198967" y="1417320"/>
            <a:ext cx="3337560" cy="42062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2119" y="14447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Пример из курса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447" y="1874519"/>
            <a:ext cx="594359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2599" y="1901951"/>
            <a:ext cx="45719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49527" y="1874519"/>
            <a:ext cx="361188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2679" y="1901951"/>
            <a:ext cx="34747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Среда контролируемая/закрытая?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7127" y="1874519"/>
            <a:ext cx="324612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0279" y="1901951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✓ закрытая / ⚠ полу / ✗ открытая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8967" y="1874519"/>
            <a:ext cx="333756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2119" y="1901951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See &amp; Spray ✓; Monarch 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447" y="2450591"/>
            <a:ext cx="594359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599" y="2478023"/>
            <a:ext cx="45719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49527" y="2450591"/>
            <a:ext cx="361188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2679" y="2478023"/>
            <a:ext cx="34747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Данных достаточно + совпадают?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07127" y="2450591"/>
            <a:ext cx="32461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0279" y="2478023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✓ / ⚠ / 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8967" y="2450591"/>
            <a:ext cx="333756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2119" y="2478023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компилятор ✓; Epic Sepsis 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447" y="3026663"/>
            <a:ext cx="594359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599" y="3054095"/>
            <a:ext cx="45719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49527" y="3026663"/>
            <a:ext cx="361188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2679" y="3054095"/>
            <a:ext cx="34747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Повторяема + высокий объём?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07127" y="3026663"/>
            <a:ext cx="324612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0279" y="3054095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✓ / 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98967" y="3026663"/>
            <a:ext cx="333756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2119" y="3054095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Copilot ✓; штучная архитектура 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447" y="3602735"/>
            <a:ext cx="594359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599" y="3630167"/>
            <a:ext cx="45719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49527" y="3602735"/>
            <a:ext cx="361188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22679" y="3630167"/>
            <a:ext cx="34747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Цена ошибки приемлема?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07127" y="3602735"/>
            <a:ext cx="32461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80279" y="3630167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✓ низкая / ⚠ HITL / ✗ катастрофа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98967" y="3602735"/>
            <a:ext cx="333756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2119" y="3630167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Stripe Radar ✓; CrowdStrike 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9447" y="4178807"/>
            <a:ext cx="594359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2599" y="4206240"/>
            <a:ext cx="45719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49527" y="4178807"/>
            <a:ext cx="361188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22679" y="4206240"/>
            <a:ext cx="34747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Эталон быстрый?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07127" y="4178807"/>
            <a:ext cx="324612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80279" y="4206240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✓ / ✗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98967" y="4178807"/>
            <a:ext cx="333756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2119" y="4206240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компилятор ✓; скупка жилья 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9447" y="4754879"/>
            <a:ext cx="594359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2599" y="4782312"/>
            <a:ext cx="45719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49527" y="4754879"/>
            <a:ext cx="361188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22679" y="4782312"/>
            <a:ext cx="34747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Нужна объяснимость?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07127" y="4754879"/>
            <a:ext cx="32461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80279" y="478231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✓ SHAP/LIME / ⚠ прозрачн. модель / ✗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98967" y="4754879"/>
            <a:ext cx="333756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2119" y="4782312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Aidoc; Apple Card 2019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9447" y="5330951"/>
            <a:ext cx="594359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2599" y="5358383"/>
            <a:ext cx="45719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7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249527" y="5330951"/>
            <a:ext cx="361188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22679" y="5358383"/>
            <a:ext cx="34747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Окупается vs базовая линия?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907127" y="5330951"/>
            <a:ext cx="324612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80279" y="5358383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✓ / ✗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98967" y="5330951"/>
            <a:ext cx="333756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72119" y="5358383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LaserWeeder ✓; ML vs MPC ✗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09447" y="5980175"/>
            <a:ext cx="10058400" cy="566928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2327" y="6035039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Один ✗ — СТОП, отказ от полного AI. ≥2 ⚠ — СТОП, обоснуй человека в петле + канарейка + откат. Все 7 ✓ — пилот с явными GO/NO-GO.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805007" y="5980175"/>
            <a:ext cx="6400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805007" y="6053327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6B7685"/>
                </a:solidFill>
                <a:latin typeface="Arial"/>
              </a:rPr>
              <a:t>QR
PDF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Карточка #2 — лестница автономии L0→L5: определи текущий уровень и максимально допустимый.</a:t>
            </a:r>
          </a:p>
        </p:txBody>
      </p:sp>
      <p:sp>
        <p:nvSpPr>
          <p:cNvPr id="3" name="Rectangle 2"/>
          <p:cNvSpPr/>
          <p:nvPr/>
        </p:nvSpPr>
        <p:spPr>
          <a:xfrm>
            <a:off x="723747" y="1371600"/>
            <a:ext cx="914400" cy="42062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6899" y="139903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Уровень</a:t>
            </a:r>
          </a:p>
        </p:txBody>
      </p:sp>
      <p:sp>
        <p:nvSpPr>
          <p:cNvPr id="5" name="Rectangle 4"/>
          <p:cNvSpPr/>
          <p:nvPr/>
        </p:nvSpPr>
        <p:spPr>
          <a:xfrm>
            <a:off x="1683867" y="1371600"/>
            <a:ext cx="1645920" cy="42062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57019" y="139903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Название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5507" y="1371600"/>
            <a:ext cx="2560320" cy="42062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8659" y="1399032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Что AI делает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1547" y="1371600"/>
            <a:ext cx="2148840" cy="42062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4699" y="1399032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Кто решает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76107" y="1371600"/>
            <a:ext cx="3246120" cy="42062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9259" y="13990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Критерий подъёма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747" y="1828800"/>
            <a:ext cx="91440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899" y="1856231"/>
            <a:ext cx="7772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L0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83867" y="1828800"/>
            <a:ext cx="164592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57019" y="1856231"/>
            <a:ext cx="1508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Без автоматизации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75507" y="1828800"/>
            <a:ext cx="256032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8659" y="1856231"/>
            <a:ext cx="24231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Нет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1547" y="1828800"/>
            <a:ext cx="214884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4699" y="1856231"/>
            <a:ext cx="201167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Человек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6107" y="1828800"/>
            <a:ext cx="324612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9259" y="1856231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Базовая линия собрана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3747" y="2404872"/>
            <a:ext cx="91440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899" y="2432303"/>
            <a:ext cx="7772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L1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83867" y="2404872"/>
            <a:ext cx="16459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57019" y="2432303"/>
            <a:ext cx="1508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Advisory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5507" y="2404872"/>
            <a:ext cx="25603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48659" y="2432303"/>
            <a:ext cx="24231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Классиф./предсказ./реком.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1547" y="2404872"/>
            <a:ext cx="214884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4699" y="2432303"/>
            <a:ext cx="201167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Человек всегда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76107" y="2404872"/>
            <a:ext cx="32461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9259" y="2432303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База + контроль изменений + откат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3747" y="2980944"/>
            <a:ext cx="91440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6899" y="3008375"/>
            <a:ext cx="7772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L2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83867" y="2980944"/>
            <a:ext cx="164592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57019" y="3008375"/>
            <a:ext cx="1508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Supervised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75507" y="2980944"/>
            <a:ext cx="256032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48659" y="3008375"/>
            <a:ext cx="24231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Действует, человек подтв.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1547" y="2980944"/>
            <a:ext cx="214884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54699" y="3008375"/>
            <a:ext cx="201167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Человек каждое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76107" y="2980944"/>
            <a:ext cx="324612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49259" y="3008375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Ложные срабат. + канарейка + откат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3747" y="3557015"/>
            <a:ext cx="91440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6899" y="3584447"/>
            <a:ext cx="7772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L3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83867" y="3557015"/>
            <a:ext cx="16459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57019" y="3584447"/>
            <a:ext cx="1508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Conditional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75507" y="3557015"/>
            <a:ext cx="25603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48659" y="3584447"/>
            <a:ext cx="24231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Действует в узком ODD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81547" y="3557015"/>
            <a:ext cx="214884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54699" y="3584447"/>
            <a:ext cx="201167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На петле (HOOL)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76107" y="3557015"/>
            <a:ext cx="32461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49259" y="3584447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ODD + телеметрия + ворота go/no-go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3747" y="4133087"/>
            <a:ext cx="91440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899" y="4160520"/>
            <a:ext cx="7772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L4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683867" y="4133087"/>
            <a:ext cx="164592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757019" y="4160520"/>
            <a:ext cx="1508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High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375507" y="4133087"/>
            <a:ext cx="256032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48659" y="4160520"/>
            <a:ext cx="24231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Действует в широком ODD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81547" y="4133087"/>
            <a:ext cx="214884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54699" y="4160520"/>
            <a:ext cx="201167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Вне петли (большинство)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76107" y="4133087"/>
            <a:ext cx="3246120" cy="54864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49259" y="4160520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99,9% + страховка + допуск регулятора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3747" y="4709159"/>
            <a:ext cx="91440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6899" y="4736592"/>
            <a:ext cx="7772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L5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683867" y="4709159"/>
            <a:ext cx="16459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757019" y="4736592"/>
            <a:ext cx="1508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Full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375507" y="4709159"/>
            <a:ext cx="25603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48659" y="4736592"/>
            <a:ext cx="24231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Решает везде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81547" y="4709159"/>
            <a:ext cx="214884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54699" y="4736592"/>
            <a:ext cx="201167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(недостижим 2026)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76107" y="4709159"/>
            <a:ext cx="32461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49259" y="473659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Для большинства отраслей недоступен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455664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1C7293"/>
                </a:solidFill>
                <a:latin typeface="Arial"/>
              </a:rPr>
              <a:t>Антипаттерны: L1 превышение роли (Klarna) · L2 скучный HITL (Uber Tempe) · L3 расширение ODD (Cruise) · L4 без канарейки (CrowdStrike) · L5 этический блок (LAWS) · пропуск ступени (двойник как мост).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Карточка #3 — реестр 12 провалов: главная по ценности, прививка против реальных ошибок.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007" y="1280160"/>
            <a:ext cx="457200" cy="42062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1159" y="1307592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0927" y="1280160"/>
            <a:ext cx="3154680" cy="42062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4079" y="130759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Провал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1327" y="1280160"/>
            <a:ext cx="2788920" cy="42062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4479" y="130759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Источник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5967" y="1280160"/>
            <a:ext cx="4572000" cy="42062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29119" y="130759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Урок → альтернатива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8007" y="1737360"/>
            <a:ext cx="45720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159" y="176479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0927" y="1737360"/>
            <a:ext cx="315468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4079" y="176479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Открытый мир без петли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1327" y="1737360"/>
            <a:ext cx="278892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4479" y="176479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Zillow/Monarch/Cruise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5967" y="1737360"/>
            <a:ext cx="457200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9119" y="1764792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сдвиг убивает ML → сузить домен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8007" y="2139696"/>
            <a:ext cx="45720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1159" y="2167127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0927" y="2139696"/>
            <a:ext cx="315468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4079" y="2167127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Накопление ненадёжности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1327" y="2139696"/>
            <a:ext cx="278892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4479" y="2167127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$4 200-петля / разработка ПО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55967" y="2139696"/>
            <a:ext cx="457200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29119" y="2167127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p^N→0 при N&gt;10 → лимит + точки HITL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8007" y="2542032"/>
            <a:ext cx="45720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1159" y="2569463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0927" y="2542032"/>
            <a:ext cx="315468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4079" y="2569463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Демо ≠ эксплуатация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21327" y="2542032"/>
            <a:ext cx="278892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4479" y="2569463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Devin/Watson/Epic/Klarna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55967" y="2542032"/>
            <a:ext cx="457200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29119" y="2569463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бенчмарк ≠ ваша среда → повторить на своих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8007" y="2944368"/>
            <a:ext cx="45720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1159" y="2971799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0927" y="2944368"/>
            <a:ext cx="315468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4079" y="297179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Скучный HITL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21327" y="2944368"/>
            <a:ext cx="278892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4479" y="297179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Uber Tempe / F-35 ALIS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55967" y="2944368"/>
            <a:ext cx="457200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29119" y="2971799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мониторинг проваливается → HOOL с алертом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8007" y="3346703"/>
            <a:ext cx="45720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1159" y="3374135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0927" y="3346703"/>
            <a:ext cx="315468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4079" y="3374135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Переавтоматизация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21327" y="3346703"/>
            <a:ext cx="278892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94479" y="3374135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Tesla 2018 / Boeing MAX 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55967" y="3346703"/>
            <a:ext cx="457200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29119" y="3374135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парадокс Bainbridge → Jidoka, усиление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8007" y="3749039"/>
            <a:ext cx="45720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1159" y="377647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20927" y="3749039"/>
            <a:ext cx="315468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4079" y="377647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Действие без канарейки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21327" y="3749039"/>
            <a:ext cx="278892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94479" y="377647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CrowdStrike / Cloudflare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55967" y="3749039"/>
            <a:ext cx="457200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29119" y="3776472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широкий ODD = радиус → канарейка + откат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8007" y="4151375"/>
            <a:ext cx="45720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1159" y="4178807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7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20927" y="4151375"/>
            <a:ext cx="315468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94079" y="4178807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Научная галлюцинация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21327" y="4151375"/>
            <a:ext cx="278892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94479" y="4178807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Galactica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055967" y="4151375"/>
            <a:ext cx="457200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29119" y="4178807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текст ≠ эксперимент → RAG + рецензирование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18007" y="4553711"/>
            <a:ext cx="45720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1159" y="4581143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8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20927" y="4553711"/>
            <a:ext cx="315468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4079" y="4581143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Голос/видео-дипфейк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21327" y="4553711"/>
            <a:ext cx="278892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94479" y="4581143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Wendy's / Air Canada / Arup $25M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055967" y="4553711"/>
            <a:ext cx="457200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29119" y="4581143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шум+сложность → C2PA + проверка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18007" y="4956047"/>
            <a:ext cx="45720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1159" y="4983479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9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20927" y="4956047"/>
            <a:ext cx="315468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94079" y="498347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Утечка обуч. данных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221327" y="4956047"/>
            <a:ext cx="278892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94479" y="498347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Getty / NYT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055967" y="4956047"/>
            <a:ext cx="457200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29119" y="4983479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хвост запоминания → лицензир. датасеты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18007" y="5358383"/>
            <a:ext cx="45720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91159" y="5385815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10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20927" y="5358383"/>
            <a:ext cx="315468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94079" y="5385815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Привязка к вендору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221327" y="5358383"/>
            <a:ext cx="278892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94479" y="5385815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Climate FieldView/ALIS/Watson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055967" y="5358383"/>
            <a:ext cx="457200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29119" y="5385815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стратегич. риск → экспорт данных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18007" y="5760719"/>
            <a:ext cx="45720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91159" y="5788151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11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20927" y="5760719"/>
            <a:ext cx="315468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94079" y="5788151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Slopsquatting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221327" y="5760719"/>
            <a:ext cx="278892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294479" y="5788151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имена npm / pip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055967" y="5760719"/>
            <a:ext cx="4572000" cy="374904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129119" y="5788151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выдуманные имена = атака → SBOM + allow-list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18007" y="6163055"/>
            <a:ext cx="45720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1159" y="6190487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12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20927" y="6163055"/>
            <a:ext cx="315468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94079" y="6190487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Болото пилотов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221327" y="6163055"/>
            <a:ext cx="278892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294479" y="6190487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MIT 95% / McKinsey 5,5% / РФ 9 из 10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055967" y="6163055"/>
            <a:ext cx="4572000" cy="374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762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129119" y="6190487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слип в бесконечность → ворота GO/NO-GO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18007" y="6638543"/>
            <a:ext cx="10241280" cy="566928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00887" y="6693407"/>
            <a:ext cx="98755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Узнаёшь паттерн — задай уточняющий вопрос. Часто этого достаточно, чтобы спасти проект.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0896447" y="6638543"/>
            <a:ext cx="6400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896447" y="6711695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6B7685"/>
                </a:solidFill>
                <a:latin typeface="Arial"/>
              </a:rPr>
              <a:t>QR
PDF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Карточка #4 — плакат A1: карта 16 отраслей на стену; для новой отрасли — аналогии по координатам.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74552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36-master-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331" y="1389888"/>
            <a:ext cx="6876288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55664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1C7293"/>
                </a:solidFill>
                <a:latin typeface="Arial"/>
              </a:rPr>
              <a:t>Повесьте на стену. Для новой отрасли: «эта задача похожа на See &amp; Spray по closed-loop структуре» или «похожа на робот-такси — домен недостаточен».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54480" y="1554480"/>
            <a:ext cx="9079992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20240" y="1783080"/>
            <a:ext cx="8348472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1" i="0">
                <a:solidFill>
                  <a:srgbClr val="21295C"/>
                </a:solidFill>
                <a:latin typeface="Arial"/>
              </a:rPr>
              <a:t>Знать ИИ — значит знать его </a:t>
            </a:r>
            <a:r>
              <a:rPr sz="3000" b="1" i="0">
                <a:solidFill>
                  <a:srgbClr val="F0AB00"/>
                </a:solidFill>
                <a:latin typeface="Arial"/>
              </a:rPr>
              <a:t>границы</a:t>
            </a:r>
            <a:r>
              <a:rPr sz="3000" b="1" i="0">
                <a:solidFill>
                  <a:srgbClr val="21295C"/>
                </a:solidFill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4400" b="1" i="0">
                <a:solidFill>
                  <a:srgbClr val="065A82"/>
                </a:solidFill>
                <a:latin typeface="Arial"/>
              </a:rPr>
              <a:t>Вопросы?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2628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 i="1">
                <a:solidFill>
                  <a:srgbClr val="4A556B"/>
                </a:solidFill>
                <a:latin typeface="Arial"/>
              </a:rPr>
              <a:t>До новых встреч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5212080"/>
            <a:ext cx="907999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5321808"/>
            <a:ext cx="86227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Две оси карты: применимость × автономия   ·   Семь критериев — один ✗ → СТОП   ·   Три мега-паттерна провалов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