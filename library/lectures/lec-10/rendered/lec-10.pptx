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одной даты и одной цифры, которые нам понадобятся, чтобы понять остальные пять разделов лекции. В мае 2023 года в калифорнийском городе Комптон состоялась торжественная церемония открытия флагмана американского вертикального земледелия — теплицы Plenty Unlimited. Делегация мэра, СЕО компании, репортёры, обещание четырёх с половиной миллионов фунтов листовой зелени в год. Маркетинг продвигал её как самую технологически продвинутую ферму в мире — алгоритмы оптимизируют свет, питание и климат на уровне отдельного растения.</a:t>
            </a:r>
          </a:p>
          <a:p/>
          <a:p>
            <a:r>
              <a:t>Девятнадцать месяцев спустя, в декабре 2024 года, фасилитет был закрыт. В марте 2025-го компания подала на Chapter 11. Совокупные потери составили около девятисот сорока миллионов долларов привлечённого капитала; оценка компании рухнула с одного и девяти десятых миллиарда долларов в январе 2022 года до менее пятнадцати миллионов в начале 2025-го — это коллапс примерно на девяносто девять процентов. Закрылось целое направление инвестиционной активности крупного венчурного капитала, в которое до этого вкладывались SoftBank, Walmart, Jeff Bezos через Bezos Expeditions.</a:t>
            </a:r>
          </a:p>
          <a:p/>
          <a:p>
            <a:r>
              <a:t>Здесь стоит задержаться и задать вопрос, на который мы будем отвечать всю лекцию: что именно сделал ИИ в этом провале — и в каком смысле он не смог сделать? Это не история «ИИ плохой». Контроллер микроклимата теплицы Plenty работал. Компьютерное зрение распознавало стадии роста растений. Модели прогноза урожайности были обучены и обновлялись. Что не сработало — это арифметика энергии: LED-освещение на закрытом этаже потребляет примерно в сто раз больше энергии, чем то же растение получает от бесплатного солнечного света на открытом поле. ИИ, как бы хорошо он ни оптимизировал светотермический режим, не может закрыть стократный разрыв в стоимости знаменателя бизнес-модели. К этому ответу мы вернёмся в финале лекции — а пока запомните контраст: открытие с мэром в мае 2023 и закрытый объект в декабре 2024. И вопрос: где в этой истории ИИ был полезен, а где он не мог помочь по структурным причинам?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титульный слайд десятой лекции — седьмой отраслевой главы курса. АПК — одна из тех областей, где ИИ обещает революцию каждые два-три года, и каждый раз новое поколение vendor'ов утверждает, что вот сейчас точно получится. К две тысячи двадцать шестому году мы накопили достаточно успехов и достаточно провалов, чтобы построить чёткий инженерный аппарат различения. Тон лекции — trust-but-verify: ни евангелизм, ни диссидентство. Мы разберём пять уровней лестницы AI в АПК — от открытого поля до supermarket-полки — назовём по имени каждое работающее решение и каждый провал, и в финале сформулируем пять анти-ИИ критериев, которые операционно отвечают на вопрос «когда не AI».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Структура лекции повторяет лестницу пяти уровней AI-проникновения в АПК, по которой мы будем подниматься от поля к полке. Перед каждым разделом — короткий divider, на котором будет видно, где мы находимся.</a:t>
            </a:r>
          </a:p>
          <a:p/>
          <a:p>
            <a:r>
              <a:t>Раздел 1 — L1 Поле. Самый нижний уровень: открытая биологическая среда, максимальная непредсказуемость. Здесь разберём See &amp; Spray Ultimate как канонический успешный кейс, vendor matrix L1, foundation models 2026 года, а потом три провала: коллапс вертикального земледелия, галлюцинации обобщённого LLM в роли агронома, точность Plantix.</a:t>
            </a:r>
          </a:p>
          <a:p/>
          <a:p>
            <a:r>
              <a:t>Раздел 2 — L2 Робот. Semi-controlled environment. Узкая специализация работает: LaserWeeder, Saga UV-C, Tevel. Универсальный «autonomous farm robot» банкротится: Monarch, FarmWise. Здесь же — критическое сравнение Cognitive Pilot и ИТЭЛМА как архитектурного выбора внутри ИИ-домена.</a:t>
            </a:r>
          </a:p>
          <a:p/>
          <a:p>
            <a:r>
              <a:t>Раздел 3 — L3 Животное. Полу-закрытая среда с измерениями на уровне отдельного животного. AI работает стабильнее: SenseHub, CattleEye, DeLaval VMS. Ограничения — физическая конфигурация barn, Holstein-bias, экономика мелких хозяйств.</a:t>
            </a:r>
          </a:p>
          <a:p/>
          <a:p>
            <a:r>
              <a:t>Раздел 4 — L4 Цепочка поставок. Controlled cargo flows плюс быстрая обратная связь в basis-points. Это место, где агентный ИИ лидирует в промышленном внедрении: Cargill CMAX, Tract, Olam Mindsprint. Но federal policy — хвостовой риск: отмена USDA Climate-Smart Commodities в апреле 2025-го это показала.</a:t>
            </a:r>
          </a:p>
          <a:p/>
          <a:p>
            <a:r>
              <a:t>Раздел 4-bis — Среда. Связь, привязка к поставщику, регуляторика. Это cross-cutting meta-уровень, без которого ни одна из ступеней не работает.</a:t>
            </a:r>
          </a:p>
          <a:p/>
          <a:p>
            <a:r>
              <a:t>Раздел 5 — L5 Потребитель плюс payoff. Самый зрелый слой, единственный где AI работает у established игроков надёжно. И главный consolidation — пятёрка анти-AI критериев плюс callback к Plenty Compton.</a:t>
            </a:r>
          </a:p>
          <a:p/>
          <a:p>
            <a:r>
              <a:t>Центральный вопрос внизу — держите его в голове по ходу всей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Перед погружением в материал зафиксируем два набора определений, которые будут использоваться сквозь всю лекцию.</a:t>
            </a:r>
          </a:p>
          <a:p/>
          <a:p>
            <a:r>
              <a:t>Левая колонка — две средовые формулировки, которые объясняют, почему один и тот же класс ИИ-моделей работает в одной среде и ломается в другой. Open-environment — реальное поле, реальная погода, реальная биология; среда меняется неконтролируемо, обратная связь приходит за сезоны. Closed-loop — теплица, фабрика, операционная; среда контролируется, обратная связь приходит за минуты или часы. Это рабочая формулировка курса, она появилась в Лекции 7 о медицине и переходит в Лекцию 11 о производстве как несущий мост. Большинство провалов в этой лекции — это либо open-environment, в котором модели, валидированные в лаборатории, ломаются, либо попытки закрыть среду, после которых выясняется, что в закрытом контуре радиус поражения от любого сбоя многократно увеличивается.</a:t>
            </a:r>
          </a:p>
          <a:p/>
          <a:p>
            <a:r>
              <a:t>Правая колонка — пять терминов уровня цепочки поставок, которые впервые встречаются в курсе на отраслевой специфике L4. Агентный ИИ — это не одношаговый ответ; это агент с инференс-циклом, использованием внешних инструментов и многошаговыми автономными задачами. Basis-points — единица измерения малых изменений в финансах: сто базисных пунктов это один процент. Hedge slippage — расхождение между ожидаемой ценой хеджа и фактически исполненной; для большого хеджа разница в десятки базисных пунктов превращается в десятки тысяч долларов. Scope-3 — выбросы по всей цепочке поставок, не от собственных операций компании; это часть EU CSRD обязательной отчётности с 2024 года. AI-MRV — AI-системы для измерения, отчётности, верификации carbon-credits — то есть inference с большой неопределённостью, которую часто маркетируют как точное измерение.</a:t>
            </a:r>
          </a:p>
          <a:p/>
          <a:p>
            <a:r>
              <a:t>Запомните эти определения; к каждому из них мы будем явно возвращаться в соответствующих разделах.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keystone-слайд всей лекции, и его стоит рассмотреть внимательно — мы будем возвращаться к нему между каждым следующим разделом.</a:t>
            </a:r>
          </a:p>
          <a:p/>
          <a:p>
            <a:r>
              <a:t>Несущая ось этой лекции — лестница из пяти уровней, по которой ИИ поднимается от поля к полке. Снизу вверх растёт степень контроля среды, падает биологическая непредсказуемость, растёт измеримый возврат инвестиций.</a:t>
            </a:r>
          </a:p>
          <a:p/>
          <a:p>
            <a:r>
              <a:t>L1 — Поле. Открытая биологическая среда. Солнце, дождь, патогены, пыль — всё, что неконтролируемо в инженерном смысле. Канонический успех — See &amp; Spray Ultimate на пяти миллионах акров. Канонический провал — коллапс вертикального земледелия в один и три десятых миллиарда долларов и больше.</a:t>
            </a:r>
          </a:p>
          <a:p/>
          <a:p>
            <a:r>
              <a:t>L2 — Робот, или машина. Semi-controlled: машина движется по полю, но её собственная физика — вибрации, GPS-приёмник, оптика камеры — даёт частичный контроль над тем, что машина видит. Успех — LaserWeeder G2 на двухстах пятидесяти тысячах акров. Провал — Monarch MK-V и иски 2025 года за «autonomous» тракторы, которые не работают автономно.</a:t>
            </a:r>
          </a:p>
          <a:p/>
          <a:p>
            <a:r>
              <a:t>L3 — Животное. Полу-закрытая среда с измерениями на уровне индивидуального животного. Успех — SenseHub на двух миллионах коров, CattleEye, DeLaval VMS. Failure — Cainthus как пример «партнёрство объявлено, внедрение не верифицировано».</a:t>
            </a:r>
          </a:p>
          <a:p/>
          <a:p>
            <a:r>
              <a:t>L4 — Цепочка поставок. Controlled cargo flows: контейнеры, склады, биржи, контракты. Здесь — gold accent — место наиболее активного агентного ИИ в промышленном внедрении 2026 года. Cargill CMAX получил премию BIG AI Excellence Award в 2026 году. Failure — отмена USDA Climate-Smart Commodities в апреле 2025-го, $3,1 миллиарда программы исчезли по политическому решению.</a:t>
            </a:r>
          </a:p>
          <a:p/>
          <a:p>
            <a:r>
              <a:t>L5 — Потребитель, ритейл. Полностью оцифрованная среда: каждая SKU имеет цифровой след, каждая транзакция фиксируется. Walmart Eden ML с 2017-го, Tesco AI с 2017-го, X5 «Перекрёсток» с 2020-го — это уже мировой уровень. Failure-кейсов здесь практически нет — этот уровень reliably работает у established игроков.</a:t>
            </a:r>
          </a:p>
          <a:p/>
          <a:p>
            <a:r>
              <a:t>Справа от лестницы — стрелка с двумя надписями. Вверх растут controllability, ROI, предсказуемость; вниз падает биологическая непредсказуемость. Это и есть объяснительный механизм. И это не идеология и не прогноз; это observation 2026 года. И оно объясняет одну на первый взгляд парадоксальную ситуацию: венчурные инвестиции в on-farm AI обвалились — индекс indoor farming упал примерно на 91% год-к-году в 2024-2025-м. Одновременно инвестиции в агентный ИИ для торговли сырьём и закупочной деятельности растут двузначными темпами. Объяснение — в скорости обратной связи: на L4 трейдеры измеряют outcome хеджа в базисных пунктах за минуты-часы; на L1 фермер измеряет результат удобрения за сезон. Скорость обратной связи определяет, успевает ли ИИ окупиться до того, как меняется среда.</a:t>
            </a:r>
          </a:p>
          <a:p/>
          <a:p>
            <a:r>
              <a:t>Каждый следующий раздел этой лекции — мотивированный подъём по одной ступени лестницы. Ось не «всплывает» где-то в середине; она открывается здесь, в самом начале, и возвращается callback-ом в финале.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Дальше мы входим в первую ступень лестницы — L1 «Поле». Это самая нижняя и самая трудная ступень для ИИ: открытая биологическая среда с максимальной непредсказуемостью. Солнце, дождь, патогены, индивидуальные особенности участка — всё, что неконтролируемо в инженерном смысле. И именно здесь полоса успешного применения ИИ — самая узкая.</a:t>
            </a:r>
          </a:p>
          <a:p/>
          <a:p>
            <a:r>
              <a:t>В этом разделе мы разберём, во-первых, канонический success-кейс L1 — John Deere See &amp; Spray Ultimate. Что в нём работает и почему. Во-вторых, vendor matrix L1 — пять крупнейших платформ с разными режимами работы и важной анти-hype-оговоркой: бренд не равен режиму. В-третьих, foundation models 2026 года — TerraMind, Prithvi-EO 2.0 — и связанные с ними риски vendor concentration.</a:t>
            </a:r>
          </a:p>
          <a:p/>
          <a:p>
            <a:r>
              <a:t>Затем три провала, которые задают границы. Первый — коллапс категории vertical farming на сумму более чем один и три десятых миллиарда долларов; разберём через пять-почему-анализ и термодинамический gap в стоимости LED против бесплатного солнечного света. Второй — галлюцинации обобщённого LLM в роли агронома; контролируемый эксперимент Tzachor et al. в Nature Food (ноябрь 2023, press coverage 2024-05). Третий — точность Plantix и почему ten-to-fifteen percent misdiagnosis на масштабе десяти миллионов загрузок — это структурный системный риск.</a:t>
            </a:r>
          </a:p>
          <a:p/>
          <a:p>
            <a:r>
              <a:t>В финале раздела — два анти-ИИ критерия: первый про закон термодинамики важнее ML, второй про обобщённый LLM как категорический антипаттерн advisory. И российская параллель — главный наглядный урок политического риска L1, к которому мы будем возвращаться в Разделе 4-bis.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подъём по лестнице с самого нижнего уровня — открытого поля. Это среда максимальной непредсказуемости, и канонический success-кейс L1 две тысячи двадцать шестого года — система John Deere See &amp; Spray Ultimate.</a:t>
            </a:r>
          </a:p>
          <a:p/>
          <a:p>
            <a:r>
              <a:t>Это не «автономный трактор» и не «AI farm assistant». Это узкое применение компьютерного зрения для селективного внесения гербицидов. На стандартный прыскиватель R-серии устанавливается тридцать шесть камер по штанге, направленных вниз. Каждая камера сканирует около двух с половиной тысяч квадратных футов в секунду на скорости двадцать пять километров в час. Кадры проходят через свёрточную нейросеть, обученную на миллионах размеченных изображений (по первичным источникам Deere и Blue River — более миллиона; фигура сорок миллионов, которую часто путают с See &amp; Spray, относится к другому продукту — LaserWeeder G2 от Carbon Robotics, мы разберём его в Разделе 2); модель отличает культурное растение от сорняка по форме листа, текстуре, плотности, контексту. Если в кадре обнаружен сорняк — соответствующая форсунка срабатывает в течение миллисекунд и впрыскивает каплю гербицида только в эту точку.</a:t>
            </a:r>
          </a:p>
          <a:p/>
          <a:p>
            <a:r>
              <a:t>Важное архитектурное решение — inference выполняется на устройстве. На каждом боуме штанги установлен edge-GPU класса NVIDIA Jetson. Задержка от пикселя до форсунки должна быть менее пятидесяти миллисекунд, иначе сорняк уже прошёл под штангой. Это edge ML в каноническом виде — не упрощение cloud-ML, а структурное архитектурное решение под задачу. Cloud-uplink на скорости двадцать пять километров в час в полях с переменной сотовой связью был бы единственной точкой отказа.</a:t>
            </a:r>
          </a:p>
          <a:p/>
          <a:p>
            <a:r>
              <a:t>Метрики две тысячи двадцать пятого года: система развёрнута на более чем пяти миллионах акров за сезон — это территория больше штата Нью-Джерси. Среднее сокращение non-residual гербицидов — около пятидесяти процентов; экономия примерно тридцать один миллион галлонов смеси за сезон; прирост урожайности соевых — два бушеля с акра в среднем, в лучших случаях до четырёх и восьми. Это редкий пример AgTech-решения, в котором числа подтверждаются независимыми отчётами сельскохозяйственной экстеншн-службы.</a:t>
            </a:r>
          </a:p>
          <a:p/>
          <a:p>
            <a:r>
              <a:t>Что делает кейс каноническим? Три структурных условия. Первое — задача узкая: селективный спрей по бинарному признаку «культура или сорняк», не «оптимизировать всё поле». Второе — обратная связь приходит в этом же сезоне: количество гербицида сравнивается с прошлогодним, прирост урожайности оценивается на уборке. Третье — альтернатива (сплошной спрей) хорошо известна, и разница в результате легко считается в долларах. Это не «магический ИИ»; это узкое применение CV в точке, где экономика и измеримость позволяют ИИ окупиться за один-два сезона.</a:t>
            </a:r>
          </a:p>
          <a:p/>
          <a:p>
            <a:r>
              <a:t>И есть оговорка. See &amp; Spray работает только в системах John Deere ExactApply; за пределами US Midwest validation bias документирован — на хлопке в Техасе работает (Palmer amaranth представлен в датасете), но в Бразилии Cerrado ранние пилот-хозяйства сообщали о деградации детекции на широколиственных сорняках, не представленных в обучающих данных. Каждый CV-AI-продукт имеет зону применимости, и обещание универсального применения за её пределами — обычно vendor maskirovka.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Помимо See &amp; Spray, в первой ступени работают ещё пять крупных платформ. Но режим работы каждой стоит понимать отдельно, потому что маркетинг типа «AI advisory» скрывает существенные различия — и инженер, оценивающий вендора, обязан их различать.</a:t>
            </a:r>
          </a:p>
          <a:p/>
          <a:p>
            <a:r>
              <a:t>Первая — BASF xarvio FIELD MANAGER. Более ста тридцати тысяч фермеров, двадцать миллионов гектаров под управлением, более ста стран. Режим работы — rule-based agronomic recommendations плюс classical ML для оптимизации; не deep learning end-to-end. Самое интересное событие — в октябре 2025 года BASF Japan запустила первую в мире outcome-based rice yield guarantee через xarvio с AI-сервисом Humus. Это принципиально новая модель ответственности AgTech-продавца: вендор гарантирует выходную метрику, а не входную. Это золотая точка карты — единственный пример outcome-based contract на L1 в 2026 году.</a:t>
            </a:r>
          </a:p>
          <a:p/>
          <a:p>
            <a:r>
              <a:t>Вторая — Climate FieldView от Bayer. Более двухсот пятидесяти миллионов подписных акров в двадцати трёх странах; в США это больше половины всех площадей кукурузы, сои и хлопка. И вот здесь критическая анти-hype оговорка: двести пятьдесят миллионов акров — это подписки на платформу, не «AI оптимизирует каждый акр». Большую часть функциональности составляет визуализация, прогноз погоды, рекомендации по гибридам семян; глубокое обучение применяется в подзадачах, но это не основной режим работы. Плюс vendor lock-in — рекомендации привязаны к гибридам Bayer и Pioneer. И есть политический урок: Climate FieldView вышел из РФ в две тысячи двадцать втором году, российские агрохолдинги, инвестировавшие в платформу, потеряли доступ одномоментно. К этому мы вернёмся в Разделе 4-bis.</a:t>
            </a:r>
          </a:p>
          <a:p/>
          <a:p>
            <a:r>
              <a:t>Третья — Cropwise от Syngenta. Open-platform с developer API, анонсированный в октябре 2025-го; третья сторона разрабатывает agro-приложения сверху. Промежуточная позиция между закрытой системой и open-source.</a:t>
            </a:r>
          </a:p>
          <a:p/>
          <a:p>
            <a:r>
              <a:t>Четвёртая — Granular Insights, Corteva. Узкий fokus на prescription planning; три-метровые спутниковые снимки плюс переменная норма prescriptions. Меньше функциональности, чем FieldView, но в своей нише — рабочая.</a:t>
            </a:r>
          </a:p>
          <a:p/>
          <a:p>
            <a:r>
              <a:t>Пятая — Taranis. Premium product для крупных хозяйств; высокоразрешающие aerial imagery плюс deep learning для disease and insect detection. Не для smallholders.</a:t>
            </a:r>
          </a:p>
          <a:p/>
          <a:p>
            <a:r>
              <a:t>Главный урок этого слайда — это семейство продуктов с разными режимами и разными бизнес-моделями. «L1 AI-platform» как одна категория — маркетинговая упаковка; реальный анализ требует деконструкции «бренд → режим работы → бизнес-модель → география». Это первый практический навык, который мы будем тренировать на конкретных кейсах в этом разделе.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события 2025 года изменили картину первой ступени на горизонте трёх-пяти лет, и инженер должен о них знать.</a:t>
            </a:r>
          </a:p>
          <a:p/>
          <a:p>
            <a:r>
              <a:t>TerraMind — foundation model от IBM Research и Европейского космического агентства, выпущена в открытый доступ в 2025 году. Это первая «GPT-3-момента» модель для Earth observation: предобучена на одном триллионе токенов спутниковых данных, поддерживает несколько модальностей — оптические снимки, радар синтезированной апертуры, мультиспектральные изображения, временные ряды, метаданные IoT-сенсоров, агрономические отчёты в текстовой форме. Архитектура двойного scale — связывает локальный pixel-level и global region-level контекст. Применение в АПК: variable-rate prescriptions, прогноз урожайности на уровне поля, детекция стресса культуры за недели до видимых симптомов.</a:t>
            </a:r>
          </a:p>
          <a:p/>
          <a:p>
            <a:r>
              <a:t>Prithvi-EO 2.0 — продолжение совместного проекта IBM и NASA, специализированная foundation model для агромониторинга. Главные улучшения от 1.0 к 2.0 — deeper metadata understanding и temporal capability: модель умеет работать с временными рядами одного и того же поля, не только snapshots.</a:t>
            </a:r>
          </a:p>
          <a:p/>
          <a:p>
            <a:r>
              <a:t>Что это меняет для инженера? Раньше каждая команда стартапа в AgTech обучала свою свёрточную сеть с нуля на собственных размеченных датасетах — это требовало миллионы изображений, миллионы долларов, годы работы. Foundation model сдвигает баланс: команда из трёх человек может дообучить TerraMind на специализированной задаче на тысячах изображений вместо миллионов. Это понижает порог входа для команд из университетов и небольших стартапов.</a:t>
            </a:r>
          </a:p>
          <a:p/>
          <a:p>
            <a:r>
              <a:t>Но одновременно создаёт системный риск. Если все AgTech-решения L1 построены на двух-трёх foundation models, надёжность всего слоя зависит от continuity этих моделей. Три класса риска. Первый — закрытие модели: Hugging Face аккаунт удалён или лицензия изменена. Второй — деградация поддержки: модель не обновляется, обучающие данные устаревают. Третий — геополитическая недоступность: санкционные ограничения, export controls на ML-модели. Российские команды формально имеют открытый доступ к Prithvi-EO через Hugging Face, но дообучение требует GPU-кластера на NVIDIA H100 или A100, которые сами по себе под санкционными ограничениями.</a:t>
            </a:r>
          </a:p>
          <a:p/>
          <a:p>
            <a:r>
              <a:t>Маленькая, но важная техническая корректировка: AgriFM — это публикация исследовательских групп Гонконгского университета и Уханьского университета в мае 2025 года, а не Carnegie Mellon, как иногда указывается в обзорных материалах. Crop Wizard — это RAG-grounded advisory приложение, не отдельный foundation model «Crop-LLM». Это пример misattribution, против которого работают наши собственные навыки fact-check.</a:t>
            </a:r>
          </a:p>
          <a:p/>
          <a:p>
            <a:r>
              <a:t>Архитектура advisor 2026 года — это паттерн, не модель. Foundation layer как perception плюс RAG к локальному регулятору плюс LLM поверх для генерации recommendation плюс явный отказ при low confidence плюс человек в цикле для критичных решений. К этому паттерну мы будем возвращаться в каждой следующей failure-истории.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Перейдём к первому большому failure-блоку. Vertical farming — это попытка построить closed-loop AI-управляемую ферму: LED вместо солнца, питательный раствор вместо почвы, климатконтроль вместо погоды, ИИ-оптимизация всех параметров. Идея 2018-2021 годов выглядела убедительно: устранить погоду, сезонность, патогены полей; разместить производство в городах. Итог 2022-2026 годов — коллапс категории. Около трёх миллиардов долларов потерянного венчурного капитала, не менее четырнадцати банкротств только в 2025 году на сумму около миллиарда трёхсот семидесяти миллионов долларов, девяносто один процент падения венчурных инвестиций год-к-году в indoor farming сегмент.</a:t>
            </a:r>
          </a:p>
          <a:p/>
          <a:p>
            <a:r>
              <a:t>Три якорных кейса. AppHarvest — флагман американского indoor-фермерства, на пике котировался около миллиарда долларов через SPAC-сделку в 2021 году; в совете директоров — Марта Стюарт, Дж. Д. Вэнс, Дэвид Ли. Долг на момент банкротства — триста сорок один миллион при текущих активах сто десять миллионов. Причина — комбинация высоких OPEX отопления Кентукки в зимний период и вируса томатной мозаики, который, проникнув на флагманскую площадку в Морхеде, распространился по всему контуру теплицы за дни. Это и есть феномен «closed-loop ↑ blast radius»: в открытом поле тот же вирус распространялся бы по гектарам за недели, в закрытом контуре он покрывает всю производственную мощность.</a:t>
            </a:r>
          </a:p>
          <a:p/>
          <a:p>
            <a:r>
              <a:t>Plenty — это та компания, с которой мы начали лекцию. Привлечённый капитал девятьсот сорок миллионов от SoftBank, Walmart, Bezos Expeditions. Compton, Калифорния — четыре с половиной миллиона фунтов листовой зелени в год по плану, открыт май 2023, закрыт декабрь 2024. Девятнадцать месяцев. Прямая причина в их собственной формулировке: существует большой разрыв между тем, что потребители готовы платить за листовую зелень, и стоимостью вертикального земледелия. Энергия в Калифорнии съела AI-оптимизацию.</a:t>
            </a:r>
          </a:p>
          <a:p/>
          <a:p>
            <a:r>
              <a:t>Bowery Farming — на пике 2021 года оценена в два и три десятых миллиарда долларов. Прекратила деятельность четвёртого ноября 2024-го через ABC, а не Chapter 11. Привлечённый капитал более семисот миллионов; объект в Locust Grove площадью двести тысяч квадратных футов — крупнейший vertical-farm в истории — ушёл в ликвидацию с тридцатью двумя миллионами нового оборудования, которое так и не запустили. Это особенно показательный сигнал: capex первым, AI после — догонять было нечем, потому что бизнес-модель не сработала до того, как ИИ-инфраструктура успела заработать.</a:t>
            </a:r>
          </a:p>
          <a:p/>
          <a:p>
            <a:r>
              <a:t>Главная мысль слайда: ML работал в каждом из этих кейсов. Контроллеры микроклимата работали; CV распознавал; модели урожайности обучались. Что не сработало — арифметика энергии: LED-освещение на закрытом этаже потребляет примерно в сто раз больше энергии, чем то же растение получает от бесплатного солнечного света. И это не «плохой ИИ» — это закон термодинамики, который ML не оптимизирует. К этой математике мы перейдём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Применим пять-почему-анализ к коллапсу vertical farming, оставаясь в одной причинно-следственной цепи: физика, потом экономика, потом инженерная архитектура.</a:t>
            </a:r>
          </a:p>
          <a:p/>
          <a:p>
            <a:r>
              <a:t>Почему Plenty закрыл Compton через девятнадцать месяцев после открытия? Потому что unit-economics не сошлись — стоимость производства листовой зелени в закрытой ферме оказалась структурно выше отпускной цены.</a:t>
            </a:r>
          </a:p>
          <a:p/>
          <a:p>
            <a:r>
              <a:t>Почему unit-economics не сошлись? Потому что от шестидесяти до восьмидесяти процентов OPEX закрытой фермы составляет электроэнергия для LED-освещения и климатконтроля.</a:t>
            </a:r>
          </a:p>
          <a:p/>
          <a:p>
            <a:r>
              <a:t>Почему LED-энергия настолько доминирует в OPEX? Потому что LED даёт примерно в сто раз меньше энергии на единицу площади, чем бесплатное солнечное излучение, и эту разницу нужно компенсировать электричеством из сети.</a:t>
            </a:r>
          </a:p>
          <a:p/>
          <a:p>
            <a:r>
              <a:t>Почему ИИ-оптимизация не закрыла этот gap? Потому что ИИ оптимизирует параметры в рамках заданной архитектуры — то есть работает на знаменателе бизнес-модели; фундаментальный физический разрыв находится в числителе, в количестве энергии, которое нужно подать растению. Оптимизация эффективности на пять-десять-двадцать процентов не компенсирует разрыва в два порядка между сетевой LED-энергией и бесплатным солнечным светом. Это арифметическое следствие, не недоработка модели.</a:t>
            </a:r>
          </a:p>
          <a:p/>
          <a:p>
            <a:r>
              <a:t>И пятый шаг — финансово-нарративный слой. Почему категория продолжала привлекать миллиард триста семьдесят миллионов плюс до коллапса? SPAC-капитал две тысячи двадцатого-двадцать второго годов давал быстрый ликвидный exit для ранних инвесторов до проверки unit-economics. Celebrity backing — Марта Стюарт у AppHarvest, Натали Портман у Bowery — генерировал внимание медиа. Нарратив AI-revolution в АПК две тысячи двадцать первого-двадцать третьего годов вытеснял анализ термодинамики. Независимая экспертиза LED против sunlight на инвестиционной стороне была недостаточна. Это не физика — это история про то, как финансово-нарративный слой накладывается на инженерный и долго не корректируется.</a:t>
            </a:r>
          </a:p>
          <a:p/>
          <a:p>
            <a:r>
              <a:t>Числовая декомпозиция справа — это разложение end-to-end energy efficiency vertical farm на компоненты по анализу Ханны Ритчи. Эффективность LED-освещения около пятидесяти процентов: остальное — тепло, IR-излучение вне PAR. Сетевая доступность электричества — около семидесяти процентов в среднем по году. Эффективность роста — около тридцати процентов для leafy greens в вертикальных условиях. End-to-end равно ноль пять умножить на ноль семь умножить на ноль три, примерно десять с половиной процентов. В сравнении с бесплатным солнцем — это около стократного OPEX-разрыва.</a:t>
            </a:r>
          </a:p>
          <a:p/>
          <a:p>
            <a:r>
              <a:t>И главный вывод. AP-один — закон термодинамики важнее ML. Это первый из пяти анти-ИИ критериев, к которому мы пришли. Когда фундаментальная экономика на порядок выше рыночной цены продукта, ML-оптимизация не закрывает разрыв, потому что она работает на знаменателе. Альтернатива: открытый грунт при энергии менее десяти центов за киловатт-час; vertical farming оправдан только для high-value crops, где премия покрывает энергетику.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failure-блок касается популярной надежды последних трёх лет: можно ли заменить агронома-консультанта на LLM-чатбот? Это особенно заманчиво для развивающихся регионов, где плотность квалифицированных агрономов низкая, а смартфоны с интернетом есть у большинства фермеров.</a:t>
            </a:r>
          </a:p>
          <a:p/>
          <a:p>
            <a:r>
              <a:t>Исследование Tzachor et al. из Reichman University в Израиле, опубликованное в Nature Food в ноябре 2023 года (с широким резонансом в мае 2024-го благодаря Phys.org обзору) — это контролируемый эксперимент на ста восьмидесяти четырёх вопросах о применении пестицидов и гербицидов на конкретных культурах. Тестировались GPT-3.5, GPT-4 и Google Bard. Соавторы — исследовательские группы из США, Великобритании, Кении, Нигерии, Колумбии; объект — потенциальные сценарии использования ChatGPT-подобных моделей африканскими фермерами: cassava, fall armyworm, fertilizer timing. Результат: модели уверенно рекомендовали неправильное окно применения для значительной доли вопросов. В среднем — десятки процентов confident-wrong ответов. Это не «иногда ошибается»; это уверенно-ошибочный ответ при отсутствии явного выражения неуверенности.</a:t>
            </a:r>
          </a:p>
          <a:p/>
          <a:p>
            <a:r>
              <a:t>Важная оговорка: это исследование, контролируемый эксперимент, а не задокументированная реальная катастрофа. Но значимость такая же. Confident-wrong опаснее admitted-don't-know. Фермер, услышавший «не уверен — обратитесь к эксперту», обращается к эксперту. Фермер, услышавший конкретную рекомендацию с цифрой, выполняет её. Если бы фермер выполнил рекомендацию из таких ответов — значительный ущерб урожаю в зависимости от культуры и регулятора.</a:t>
            </a:r>
          </a:p>
          <a:p/>
          <a:p>
            <a:r>
              <a:t>Механизм провала. Generic LLM обучены на огромном объёме текстов из интернета, включая старые форумы, противоречивые источники, маркетинговые материалы. У них нет grounding в локальной регуляторике — ни в USDA-EPA, ни в EU-EFSA, ни в Россельхознадзоре — и нет механизма явного отказа при low confidence. Когда задаётся вопрос про конкретный гербицид в конкретную фазу для конкретной культуры в конкретном регионе, модель генерирует наиболее вероятный текст, похожий на агрономическую рекомендацию — но без проверки, разрешён ли препарат, актуальна ли рекомендация на сегодня, совпадает ли фаза.</a:t>
            </a:r>
          </a:p>
          <a:p/>
          <a:p>
            <a:r>
              <a:t>Это и есть наш второй анти-ИИ критерий — AP-четыре. Обобщённый LLM в режиме советника для high-stakes решений — категорический антипаттерн. Альтернатива справа: RAG-grounded архитектура. Retrieval-Augmented Generation с привязкой к локальному регулятору. База разрешённых препаратов локального регулятора как источник для поиска; запрос фермера превращается в structured query; LLM генерирует рекомендацию только в пределах найденных документов; при низкой уверенности — явный отказ; логирование всех рекомендаций для аудита. Эта архитектура не устраняет ошибки полностью — но превращает уверенно-ошибочный ответ в честно-неуверенный, что для критичных решений принципиально другой класс риска.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первый-уровневый failure — это Plantix, приложение для смартфона, которое по фотографии листа определяет заболевание растения и рекомендует пестицид. По заявлениям Plantix, приложение скачано более десяти миллионов раз, активных пользователей в Индии около семи миллионов, точность диагностики — восемьдесят пять — девяносто процентов на их собственном датасете. Это популярный пример «AI for smallholders»: бесплатное приложение, которое заменяет очный визит агронома там, где агрономов мало.</a:t>
            </a:r>
          </a:p>
          <a:p/>
          <a:p>
            <a:r>
              <a:t>Механизм провала важен в деталях. Заявленная точность — это самооценка Plantix на их собственном датасете изображений, а не независимая полевая валидация. Реальная точность в полевых условиях ниже из-за множества факторов: качество фотографии, стадия заболевания, индивидуальная вариативность культуры, конкретный сорт. Если допустить даже девяносто процентов точности на десяти миллионах загрузок и предположить, что только десять процентов загрузок приводят к решению о применении пестицида — это примерно сто тысяч неправильных рекомендаций по пестицидам в год. Каждая такая рекомендация — это либо неправильное применение химикатов с риском для здоровья фермера и потребителя, либо отсутствие применения там, где оно нужно.</a:t>
            </a:r>
          </a:p>
          <a:p/>
          <a:p>
            <a:r>
              <a:t>Breakdown справа — десять-пятнадцать процентов misdiagnosis по типам. False-positive: модель распознала болезнь, на самом деле растение здорово или другая болезнь. Dose-criticality варьируется: если рекомендация — обработать листовым удобрением с азотом, ущерб от ошибки низкий; если обработать systemic пестицидом конкретного класса, ущерб средний — потеря урожая от химического стресса; если категорией B хлорорганических пестицидов от насекомых, ущерб высокий — residue в плодах и риск для здоровья. False-negative: модель не распознала болезнь, посоветовала «всё в порядке». Missed nutrient deficiency лечится в следующий цикл; missed грибковая инфекция снижает урожай на десять-тридцать процентов; missed системная вирусная инфекция вроде ToBRFV может уничтожить больше пятидесяти процентов посадок.</a:t>
            </a:r>
          </a:p>
          <a:p/>
          <a:p>
            <a:r>
              <a:t>Дополнительная характеристика — географическая асимметрия. Plantix обучен преимущественно на болезнях, доминирующих в Индии и Юго-Восточной Азии — fall armyworm, brown spot риса, blast риса, late blight картофеля. Применение в российских условиях или в Восточной Африке на сорта, не входящие в обучающую выборку, — точность падает ниже заявленной. Это тот же applicability gap, что в L3 для Holstein-bias, к которому мы перейдём в Разделе 3.</a:t>
            </a:r>
          </a:p>
          <a:p/>
          <a:p>
            <a:r>
              <a:t>И главный анти-ИИ критерий слайда — AP-три. Пороговая точность не равна готовности к внедрению. Девяносто процентов на бенчмарке не гарантирует качества развёртывания. Альтернатива справа — calibrated confidence плюс abstention. ML-модель оценивает не только класс заболевания, но и uncertainty estimate для каждого предсказания. При confidence ниже восьмидесяти процентов — отказ от рекомендации, переключение на «обратитесь к local extension agent». Это рабочий engineering pattern, не «исследовательская идея»; реализован в промышленной эксплуатации у нескольких medical AI-стартапов из Лекции 7 и есть в state-of-the-art Plant-disease классификации в академической литературе двадцать четвёртого-двадцать пятого годов.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Российский слой первой ступени устроен иначе, чем американский Corn Belt, и понимание этой асимметрии — часть инженерного навыка.</a:t>
            </a:r>
          </a:p>
          <a:p/>
          <a:p>
            <a:r>
              <a:t>Тремя ключевыми работающими решениями являются ExactFarming, АгроСигнал и ГК «Прогресс Агро». ExactFarming — российский SaaS для управления хозяйствами, обслуживает двенадцать тысяч семьсот хозяйств и девять и восемь десятых миллиона гектаров по состоянию на 2024 год. АгроСигнал — мониторинг расхода ГСМ и движения техники, без AI-капабилитис в собственном смысле слова. Это пример automation, а не AI, и важный пример того, что цифровизация в отрасли далеко не всегда означает машинное обучение. ГК «Прогресс Агро» в Краснодарском крае внедрила дифференцированное внесение азота на двух тысячах восьмистах гектарах с плюс пятью процентами рентабельности на пшенице. Это внутренний замер компании, не peer-review, но публичная метрика с конкретным масштабом.</a:t>
            </a:r>
          </a:p>
          <a:p/>
          <a:p>
            <a:r>
              <a:t>Индекс цифровизации АПК РФ — двадцать семь и две десятых из ста против семьдесят пять и пять десятых у США. Это структурный gap, не вопрос пропаганды. Он объясняется тремя факторами: мелким размером хозяйств за пределами агрохолдингов, дешёвой рабочей силой относительно США, и санкционными ограничениями после 2022 года, которые усилили зависимость от ограниченного набора отечественных или серо-импортируемых решений.</a:t>
            </a:r>
          </a:p>
          <a:p/>
          <a:p>
            <a:r>
              <a:t>И самое важное — главный наглядный урок политического риска в первой ступени. Climate FieldView вышел из РФ в 2022 году вместе с уходом Bayer Crop Science с российского рынка. Российские агрохолдинги, инвестировавшие в FieldView в 2018-2021 годах, потеряли доступ к платформе с дашбордами, рекомендациями, спутниковой аналитикой одномоментно. Это и есть AP-шесть — vendor lock-in trap. Каждый AI-platform — это vendor control surface, и подписка не делает фермера собственником данных и решений. К этому уроку мы вернёмся в Разделе 4-bis, где разберём двойную оптику vendor lock-in на примере Мелитопольского remote-brick и FTC v. Deere.</a:t>
            </a:r>
          </a:p>
          <a:p/>
          <a:p>
            <a:r>
              <a:t>Урок для инженера, не привязанного к российскому контексту: этот же класс риска применим к любой ферме в любой стране периферии, зависящей от cloud-AI поставщика из другой юрисдикции. Российский кейс — естественный эксперимент, иллюстрирующий, что бывает, когда импортный AI-стек становится недоступен.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Поднимаемся на вторую ступень — L2, уровень автономных машин и роботов. Это semi-controlled environment: машина движется по полю, но её собственная физика — вибрации, GPS-приёмник, датчики препятствий, оптика камеры — даёт частичный контроль над тем, что машина видит и как реагирует. Логически это шаг между первой ступенью полностью открытого поля и третьей ступенью полу-закрытой среды животноводческой фермы.</a:t>
            </a:r>
          </a:p>
          <a:p/>
          <a:p>
            <a:r>
              <a:t>И здесь проявляется один из главных уроков AgTech 2026 года: специализация побеждает универсальность. Узкие специализированные роботы — LaserWeeder для weeds на конкретных культурах, Saga Robotics Thorvald для UV-C ночной обработки клубники, Tevel Aerobotics для сбора яблок — работают и масштабируются. Универсальные «farm robots» — Monarch MK-V, FarmWise — банкротятся.</a:t>
            </a:r>
          </a:p>
          <a:p/>
          <a:p>
            <a:r>
              <a:t>В этом разделе мы разберём четыре working specialization cases. Затем три провала: Monarch Tractor с исками 2025-го за «autonomous» при сломанной автономии, FarmWise wind-down плюс Naïo recovery как структурную невозможность generic CV-стека в реальном поле, и затянувшийся pilot phase робота-сборщика клубники. В финале — критическое сравнение Cognitive Pilot и ИТЭЛМА как архитектурного выбора внутри ИИ-домена, не как «AI vs не-AI».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Канонический success-кейс второй ступени 2026 года — Carbon Robotics LaserWeeder G2. Это машина, которая буксируется за трактором по полю и уничтожает сорняки лазерным импульсом на основе компьютерного зрения. Замена химии физикой.</a:t>
            </a:r>
          </a:p>
          <a:p/>
          <a:p>
            <a:r>
              <a:t>Архитектура. На штанге машины установлены направленные вниз камеры; количество зависит от ширины — от шести до шестидесяти футов; G2 модель, представленная в феврале 2025-го, — модульная. Каждая камера сканирует землю в реальном времени; свёрточная нейросеть, обученная на сорока миллионах размеченных изображений, отличает культурные растения от сорняков — модель распознаёт более ста видов культур. Когда сорняк обнаружен, двести сорокаваттный лазер наводится на точку и подаёт импульс длительностью около двадцати пяти миллисекунд, который выжигает меристему — точку роста сорняка. Растение погибает; почва и культурные растения не повреждаются. Никаких химикатов.</a:t>
            </a:r>
          </a:p>
          <a:p/>
          <a:p>
            <a:r>
              <a:t>Метрики 2025-го. Carbon Robotics сообщает: более двухсот пятидесяти тысяч акров обработано машинами LaserWeeder; более пятнадцати миллиардов сорняков уничтожено; около ста пятидесяти машин развёрнуто в четырнадцати странах; стоимость машины — около одного миллиона четырёхсот тысяч долларов за единицу.</a:t>
            </a:r>
          </a:p>
          <a:p/>
          <a:p>
            <a:r>
              <a:t>Что делает кейс каноническим. Три структурных условия, аналогичных See &amp; Spray, но с другими акцентами. Первое — узкая задача с прямой альтернативой: не «AI-управляемый трактор», а лазерное уничтожение сорняков вместо химического. Альтернатива — гербициды — хорошо известна, её стоимость и риски тоже. Разница в результате считается напрямую: сэкономленные галлоны гербицидов умножить на цену умножить на площадь. Второе — замена физики физикой, а не разговор о замене человека. LaserWeeder заменяет не агронома и не фермера; он заменяет химический спрей лазером. Очень узкая subституция, в которой выигрыш ясен — отсутствие химических остатков на культуре и в почве. Третье — постепенность развёртывания. Один и четыре десятых миллиона за машину — не объект массового спроса; это решение для крупных овощных и специализированных хозяйств.</a:t>
            </a:r>
          </a:p>
          <a:p/>
          <a:p>
            <a:r>
              <a:t>Ограничения и оговорки. Лазер LaserWeeder — диодный, двести сорок ватт пиковой мощности, water-cooled. Электропотребление — порядка тридцати-пятидесяти киловатт на одну машину; работает от генератора на буксирующем тракторе или от собственного аккумуляторного pack. Это high-energy electrical consumption — одна из основных оговорок: машина не «экологичная замена гербицидам» в широком смысле, поскольку она перекладывает экологический след с химии на электричество.</a:t>
            </a:r>
          </a:p>
          <a:p/>
          <a:p>
            <a:r>
              <a:t>ML failure modes — когда weed и crop visually similar. Конкретный пример: pigweed в шпинате. Pigweed и шпинат — оба amaranthus-семейства; в фазе двух-трёх листьев их листва морфологически схожа; модель может пометить шпинат как сорняк и выжечь его лазером. Carbon Robotics документирует эту failure mode и продаёт «calibration mode» для тестовых полевых runs перед промышленной обработкой.</a:t>
            </a:r>
          </a:p>
          <a:p/>
          <a:p>
            <a:r>
              <a:t>Per-acre economics. Стоимость гербицидной обработки в США для овощных культур — от двухсот до четырёхсот долларов за акр в год. LaserWeeder заменяет эту химию; payback period — три-четыре года для крупного хозяйства с высоко-маржинальными культурами. Limitations: не работает в high-density crops с густой посадкой; не работает в muddy conditions; требует электропитания.</a:t>
            </a:r>
          </a:p>
          <a:p/>
          <a:p>
            <a:r>
              <a:t>Это рабочая категория: organic-производители, специализированные овощные хозяйства, hostility к chemical residues from buyers. Это и есть specialization в L2.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Российская параллель Раздела 2 требует особого внимания, потому что это важный кейс архитектурного выбора внутри ИИ-домена — и одно из мест, где упрощённая интерпретация «ИИ против не-ИИ» приводит к неправильному выводу.</a:t>
            </a:r>
          </a:p>
          <a:p/>
          <a:p>
            <a:r>
              <a:t>Cognitive Agro Pilot — это система автопилота для комбайнов на основе компьютерного зрения, дочерняя структура Сбербанка и Сберагро. Камера, установленная на кабине комбайна, распознаёт кромку нескошенного поля — визуальную границу между уже скошенной и нескошенной полосой — и передаёт сигнал бортовому компьютеру, который корректирует траекторию движения. По данным компании на май 2024 года, более тысячи семисот установок на комбайнах российских и зарубежных производителей (около одной целой трёх десятых процента от примерно ста тридцати тысяч комбайнов в РФ по данным Минсельхоза). Заявленные эффекты — плюс двадцать пять процентов производительности, минус тринадцать процентов потерь зерна. Это CV-решение: задача — распознать визуальный признак и направить машину вдоль него.</a:t>
            </a:r>
          </a:p>
          <a:p/>
          <a:p>
            <a:r>
              <a:t>В 2025 году всплыла проблема. Четыре иска от фермеров на двенадцать миллионов семьсот тысяч рублей к Cognitive Pilot за случаи, когда CV-система не справилась с условиями: в сильную пыль, типичную при уборке зерновых на полях с песчаными или суховатыми почвами, при низком солнце, при дожде — кромка переставала считываться, и комбайн начинал съезжать с линии или останавливаться. Это классическая CV-failure пыли и освещения — та же, что в FarmWise.</a:t>
            </a:r>
          </a:p>
          <a:p/>
          <a:p>
            <a:r>
              <a:t>Альтернативное решение — ИТЭЛМА. В конце 2025 года российская компания ИТЭЛМА, часть группы Тракторные заводы, вывела на Кировцах модели К-7М спутниковый автопилот под брендом «Итэлма Квадро». И это другая архитектура — не CV. Машина определяет своё положение в поле через обработку сигналов нескольких GNSS-созвездий: ГЛОНАСС плюс GPS плюс Galileo плюс BeiDou — с RTK-коррекциями, дающими точность два-пять сантиметров, плюс Kalman filtering для сглаживания и компенсации задержек. Это sensor-fusion-AI: машинное обучение работает на уровне обработки сенсорных данных и предсказания положения, но не на уровне «распознать визуально границу поля». Этот класс решения более робастен к пыли, потому что не зависит от оптики, но требует исправного спутникового приёма — в зонах GNSS-jamming, к которым мы вернёмся в Разделе 4-bis, это становится отдельной проблемой.</a:t>
            </a:r>
          </a:p>
          <a:p/>
          <a:p>
            <a:r>
              <a:t>И главное. Эти два решения — не конкуренты, а покрывают разные функции. ИТЭЛМА — это «где я нахожусь»: точная навигация по полю с точностью два-пять сантиметров на основе спутникового сигнала. Cognitive Pilot — это «что я вижу»: CV-распознавание кромки нескошенного, препятствий, контуров. Это разные классы задач, и инженерно правильное решение современного автономного комбайна — комбинация обоих. GNSS-навигация как primary plus CV как secondary для распознавания нестандартных ситуаций. Сравнение «один лучше другого» — неверное упрощение.</a:t>
            </a:r>
          </a:p>
          <a:p/>
          <a:p>
            <a:r>
              <a:t>И это даёт нам анти-ИИ критерий AP-два-а — архитектурный выбор внутри ИИ-домена. Когда один класс ИИ-решения, например CV, структурно не работает в данной среде — другой класс ИИ-решения, например sensor-fusion-AI на multi-GNSS, может быть более робастным. Альтернатива — не «не-ИИ», а «другая ИИ-архитектура». Это критически отличается от AP-два-б — genuine не-ИИ альтернативы — про которую мы говорили в случае FarmWise. AP-два-а и AP-два-б — две разные категории, и не путать их — главная ценность этого раздела.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Помимо LaserWeeder, в L2 2026 года работают четыре специализированные платформы — каждая в своей узкой нише.</a:t>
            </a:r>
          </a:p>
          <a:p/>
          <a:p>
            <a:r>
              <a:t>Solinftec Solix — autonomous field robot бразильской компании Solinftec, развёртывается в США с экспансией двести сорок три процента год-к-году в 2025 году. По состоянию на конец 2025-го — более ста роботов в Иллинойсе, Индиане, Канзасе, Айове, Висконсине, Техасе. Vendor self-report — до девяноста восьми процентов reduction в herbicide volume. Это число от компании, не independent validation; следует трактовать как маркетинговую оговорку. Двадцать четыре на семь работа на солнечной энергии плюс self-refilling spray.</a:t>
            </a:r>
          </a:p>
          <a:p/>
          <a:p>
            <a:r>
              <a:t>Saga Robotics Thorvald — робот для UV-C ночной обработки клубники против мучнистой росы. И это критически важная оговорка, которую в маркетинге часто упускают: Saga Robotics покрывает примерно двадцать процентов рынка табл-топ-клубники в Великобритании — но это обработка ультрафиолетом ночью, не сбор урожая. Сбор клубники всё ещё ручной. По данным компании, восемь и четыре десятых миллиона фунтов привлечено в 2024-25 годах, сто пятьдесят плюс единиц робота развёрнуто, девяносто семь процентов uptime, более двухсот тысяч автономных километров, цель — тридцать процентов британского рынка к 2026 году. Это образцовая нишевая победа: одна задача — UV-C ночью, одна культура — клубника tabletop, одна география — Великобритания, хорошо измеримый результат — сокращение применения фунгицидов.</a:t>
            </a:r>
          </a:p>
          <a:p/>
          <a:p>
            <a:r>
              <a:t>Tevel Aerobotics — летающие apple pickers. Узкая ниша садовых культур, где плод остаётся на дереве после созревания и требует ручного снятия. Технология — дроны на привязи с роботизированными руками, снимающие отдельные плоды. Не «autonomous orchard»; конкретная замена ручного сбора отдельных фруктов в ситуации, где H-2A — визы сельскохозяйственных рабочих в США — становится дороже и менее предсказуемой. Сбор яблок задача проще, чем сбор клубники, потому что яблоки висят выше и их легче захватить — об этом подробнее в кейсе про strawberry economics.</a:t>
            </a:r>
          </a:p>
          <a:p/>
          <a:p>
            <a:r>
              <a:t>AGCO PTx Trimble Outrun — retrofit-режим автономии для смешанного парка техники: Fendt, Massey Ferguson, John Deere, CNH. Альтернатива «закрытой» системе John Deere AutoTrac. Демонстрация на AGCO Tech Day 2025-го; цель — full autonomous crop cycle к 2030 году. Это типичный «emerging» сегмент: ещё не в промышленной эксплуатации, но архитектурный выбор retrofit-vs-closed-system принципиально важен — об этом подробнее в Разделе 4-bis о vendor lock-in.</a:t>
            </a:r>
          </a:p>
          <a:p/>
          <a:p>
            <a:r>
              <a:t>Общая закономерность всех четырёх работающих историй — специализированные ниши с одной чётко определённой задачей и измеримым ROI. Ни одна из них не претендует на «универсальный farm robot». Это противоречит маркетингу 2018-2022 годов, когда основная инвестиционная теза в AgTech robotics была именно «универсальный assistant для фермы». На второй ступени universal-режим не работает; specialization-режим работает. Объяснение этой закономерности — в провалах, которые мы рассмотрим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Перейдём к каноническому L2-провалу 2025 года — Monarch Tractor. Это компания из Калифорнии, основанная выходцами из Tesla и Карло Мондави в 2018 году. Идея выглядела убедительно: электрический трактор с автономным режимом для виноградников и овощных хозяйств. Привлечённый капитал — более двухсот двадцати миллионов долларов, из них сто тридцать три миллиона в раунде 2024 года. Контрактный производитель — Foxconn с 2022 года.</a:t>
            </a:r>
          </a:p>
          <a:p/>
          <a:p>
            <a:r>
              <a:t>Timeline failure-кейса полезно увидеть целиком, потому что это паттерн «демо ≠ промышленное внедрение». В 2018-2020 годах R&amp;D фаза, прототипы. В 2021-2022 — коммерческий запуск модели MK-V; цена около восьмидесяти-ста тысяч долларов за единицу; первые поставки в калифорнийские виноградники. В 2022-м — инвестиция Foxconn, что усилило маркетинговое заявление. В 2023-2024 — заявки на «autonomous fleet operation»; пик привлечения капитала в 2024 году.</a:t>
            </a:r>
          </a:p>
          <a:p/>
          <a:p>
            <a:r>
              <a:t>И дальше — каскад событий 2025-2026 годов. Август 2025 — Monarch теряет Foxconn: Foxconn продал Lordstown plant Crescent Dune LLC за триста семьдесят пять миллионов четвёртого августа 2025-го. Это первый ясный сигнал ухудшения — Foxconn не отозвал бы инвестицию и не вышел бы из контрактного производства без структурных проблем.</a:t>
            </a:r>
          </a:p>
          <a:p/>
          <a:p>
            <a:r>
              <a:t>Сентябрь 2025 — иск Burks Tractor Co. в суд штата Айдахо. Десять тракторов 2024 года выпуска за семьсот семьдесят три тысячи восемьдесят восемь долларов, которые «unable to operate autonomously» — обещанная функциональность не работала. Это триггер юридического каскада ответственности: дилер подаёт иск к производителю, fundamentally — несоответствие маркетинга «autonomous» и контрактной реальности.</a:t>
            </a:r>
          </a:p>
          <a:p/>
          <a:p>
            <a:r>
              <a:t>Девятнадцатого ноября 2025-го Monarch разослала корпоративное письмо о сокращении до ста двух человек, примерно тридцати восьми процентов штата, с предупреждением о возможном закрытии. Компания заявляла, что переходит из роли OEM в SaaS-провайдера автономии для существующих тракторов сторонних производителей — но «timing of the transition puts Monarch at risk of shut down» в их собственном корпоративном мемо.</a:t>
            </a:r>
          </a:p>
          <a:p/>
          <a:p>
            <a:r>
              <a:t>И финальная точка — пятнадцатое апреля 2026-го. Caterpillar приобрёл Monarch Tractor. Это acqui-hire post-failure: IP плюс инженерная команда консолидированы в Cat's autonomous mining and construction division. Monarch brand effectively gone.</a:t>
            </a:r>
          </a:p>
          <a:p/>
          <a:p>
            <a:r>
              <a:t>Какой структурный сбой? Здесь работают несколько одновременно. Первый — «autonomous» маркетинг без раскрытия supervised-autonomy. Маркетинг продавал «autonomous», но реальные машины требовали супервизии оператором; условия демо не равны надёжности в промышленной эксплуатации. Второй — sub-optimal экономика для general-purpose orchard tractor. Третий — специализация побеждает. В тех же 2024-2026 годах LaserWeeder G2, Saga UV-C, Tortuga — все в коммерческой эксплуатации. Узкие специализированные решения выживают; универсальные «autonomous farm robots» — банкротятся.</a:t>
            </a:r>
          </a:p>
          <a:p/>
          <a:p>
            <a:r>
              <a:t>Главный выученный урок — анти-ИИ критерий, перекликающийся с AP-четыре: демо не равно промышленному внедрению. Маркетинг продукта как «autonomous» при том, что автономия не выдержит судебной проверки — структурная ловушка для всей категории. AI-автономия в сельском хозяйстве — это не yes/no, а градиент с десятками краевых случаев. Альтернатива: supervised autonomy с явным раскрытием способности и неспособности на каждое заявление.</a:t>
            </a:r>
          </a:p>
          <a:p/>
          <a:p>
            <a:r>
              <a:t>И последнее наблюдение про Caterpillar acquisition. Это не возрождение технологии; это закрытая дверь для direct-to-consumer модели Monarch и открытая дверь для retrofit-режима — AGCO PTx Outrun из предыдущего слайда — на смешанных парках техники. Strategic acquirer купил R&amp;D-задел дешевле, чем сам бы создавал. Это финальное состояние неудачных bets, не их перерождение.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L2-провал, структурно близкий к Monarch, но в другой нише: FarmWise и Naïo Technologies.</a:t>
            </a:r>
          </a:p>
          <a:p/>
          <a:p>
            <a:r>
              <a:t>FarmWise — CV-weed-robot, основан 2016 году, привлёк более тридцати миллионов долларов — объявил wind-down в 2025-м. По сообщениям, заказчики оставлены в подвешенном состоянии, машины в полях без сервисной поддержки. Naïo Technologies — французская компания из Тулузы, autonomous weeding robots Oz, Dino, Orio — вошла в judicial recovery, французский эквивалент Chapter 11, в июне 2025-го. Финансовая динамика Naïo: выручка четыре миллиона евро в 2021-м, два и четыре десятых миллиона в 2024-м — падение примерно на сорок процентов.</a:t>
            </a:r>
          </a:p>
          <a:p/>
          <a:p>
            <a:r>
              <a:t>Структурная причина обоих провалов — одна и та же, и она задокументирована в академической литературе: arXiv статья от августа 2025-го «Weed Detection in Challenging Field Conditions: Semi-Supervised Framework for Overcoming Shadow Bias» и обзор MDPI Agriculture 2024 года. Модели компьютерного зрения, обученные в тепличных условиях, плохо работают в реальном поле. Конкретные механизмы деградации: пыль создаёт визуальное перекрытие (visual occlusion) камер. Переменное освещение — тени от облаков меняют контраст за минуты. Shadow bias — модель учится классифицировать тени как растительность; это типичная ошибка при недостаточно разнообразном датасете. Морфологическое сходство культурных растений и сорняков на ранних стадиях роста. Деградация качества изображения приводит к классификационным ошибкам — снижение общей точности с заявленных девяноста процентов в тестах до пятидесяти-шестидесяти в реальном поле. Это именно та цифра, которая выводит unit-economics фермера в минус.</a:t>
            </a:r>
          </a:p>
          <a:p/>
          <a:p>
            <a:r>
              <a:t>И вот здесь критическое разделение, которое мы будем использовать в следующих разделах. AP-два-б — genuine не-ИИ альтернатива. Когда CV-стек структурно не выдерживает open-environment условий — механические weeders дают deterministic robust решение без ИИ-стека. Lemken Steketee EC-Weeder; Kverneland Onyx — это менее «smart», но детерминистски устойчивы к пыли, дождю, теням; не требуют firmware updates; не зависят от cloud connectivity; не имеют CV-failure modes. Это категорически другой класс альтернативы, отличный от того, который мы рассмотрим через слайд — в случае Cognitive Pilot и ИТЭЛМА.</a:t>
            </a:r>
          </a:p>
          <a:p/>
          <a:p>
            <a:r>
              <a:t>И ключевое различение, без которого студент сделает неправильный вывод. AP-два-а и AP-два-б — это разные вещи. AP-два-а — выбор архитектуры внутри ИИ-домена: CV против sensor-fusion-AI. AP-два-б — выбор не-ИИ альтернативы: механика вместо AI. Не путать. Студент, прочитавший только AP-два-а, может ошибочно заключить, что ИИ всегда побеждает, если правильно выбран класс. Студент, прочитавший только AP-два-б, может ошибочно заключить, что ИИ всегда хуже механики. Оба вывода неверны. Правильный вывод — выбор зависит от природы среды и характера задачи, и инженерное умение — распознать, какой из двух случаев перед нами в конкретной ситуации.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второй-уровневый failure — точнее, затянувшийся pilot phase, который не превращается в production — это робот-сборщик клубники. Десятки стартапов в Калифорнии, Великобритании, Японии работают над этим уже десять-пятнадцать лет.</a:t>
            </a:r>
          </a:p>
          <a:p/>
          <a:p>
            <a:r>
              <a:t>Экономика 2024 года. Один робот-сборщик клубники стоит от двухсот до трёхсот пятидесяти тысяч долларов капитальных затрат. Annualized capex плюс maintenance — от шестидесяти восьми до ста тридцати тысяч долларов в год. Адресуемый рынок ручного труда на сборе клубники в США — около пятидесяти миллиардов долларов. Роботы занимают менее пяти процентов этого рынка. В Калифорнии затраты на picking-labor составляют сорок три тысячи долларов на акр в год только на сбор.</a:t>
            </a:r>
          </a:p>
          <a:p/>
          <a:p>
            <a:r>
              <a:t>Структурная причина застревания. Сбор клубники — задача, в которой человеческий опорный уровень «обучается за дни». Опытный сборщик различает спелую и неспелую ягоду, не ломает плоды, обходит поломанные побеги, работает с разной скоростью в зависимости от плотности урожая. Robotics-ML стек не догоняет этот опорный уровень за годы и десятки миллионов долларов R&amp;D. Цитата, ставшая каноничной в литературе: «harvesting is the last great unsolved problem in agricultural robotics» — сбор урожая — последняя крупная нерешённая задача сельскохозяйственной робототехники.</a:t>
            </a:r>
          </a:p>
          <a:p/>
          <a:p>
            <a:r>
              <a:t>Альтернатива: H-2A guest worker programs — визы сельскохозяйственных рабочих в США — плюс эргономические улучшения. Стульчатые комбайны, частично-механизированные платформы, на которых рабочие сидят и собирают одной рукой — снижают физическую нагрузку, не пытаясь полностью автоматизировать задачу. Это пока правильный пут — до тех пор, пока робототехника не догонит.</a:t>
            </a:r>
          </a:p>
          <a:p/>
          <a:p>
            <a:r>
              <a:t>Tevel Aerobotics из предыдущего слайда — пример специализированной ниши, где задача проще: яблоки висят на дереве, их легче захватить, чем низкорастущую клубнику. Это иллюстрация того же принципа specialization: узкая ниша работает, generic — нет.</a:t>
            </a:r>
          </a:p>
          <a:p/>
          <a:p>
            <a:r>
              <a:t>DailyRobotics анонсировал коммерческий запуск роботизированного сборщика клубники в Калифорнии на 2026 год. Это ещё одно обещание, которое нужно проверять. Паттерн категории — десятки стартапов в пилотной фазе, единицы с коммерческой выручкой, и за каждый год задержки добавляются ещё стартапы, обещающие «прорыв через восемнадцать месяцев». Инженер должен относиться к таким обещаниям с тем же скептицизмом, с которым относится к «AI agronomic advisor через год».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Поднимаемся на третью ступень — L3, уровень животноводства. Это semi-closed environment: животные содержатся в barn или на пастбище, среда частично контролируется, но индивидуальная вариативность каждого животного — поведение, здоровье, продуктивность — высокая. На этом уровне ИИ работает стабильнее, чем на первой и второй ступенях, по двум структурным причинам.</a:t>
            </a:r>
          </a:p>
          <a:p/>
          <a:p>
            <a:r>
              <a:t>Первая. Экономика концентрирована. Одна корова даёт молоко на три-пять тысяч долларов в год; потеря одной коровы из-за невыявленного заболевания — измеримая потеря. Это создаёт прямую и понятную экономику для AI-сенсоров и аналитики.</a:t>
            </a:r>
          </a:p>
          <a:p/>
          <a:p>
            <a:r>
              <a:t>Вторая. Измерения на уровне индивидуального животного возможны — биркой, камерой, ошейником. Это превращает open-environment ферму в массив semi-closed-loop микро-сред: одно животное — это один loop. И на каждом loop AI работает в узкой задаче с измеримой обратной связью.</a:t>
            </a:r>
          </a:p>
          <a:p/>
          <a:p>
            <a:r>
              <a:t>В этом разделе мы разберём четыре работающих кейса 2026 года: Allflex SenseHub с двумя миллионами коров mounted; CattleEye, приобретённый GEA в 2024-м; DeLaval VMS V310 с девяноста девятью и восемью десятыми процентами attachment rate; Cargill Birdoo для оценки веса бройлеров. Затем три anti-hype урока в одном блоке: Cainthus как пример «партнёрство объявлено, метрик нет», tie-stall barns как физическая конфигурация, которая ломает CV, и Holstein-bias как архитектурная асимметрия для местных пород РФ. И в конце — российская параллель Connectome.ai плюс санкционная неопределённость dairy-стека.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SenseHub — это классический пример «AI как дополнение, а не замена». Augmentation, not replacement.</a:t>
            </a:r>
          </a:p>
          <a:p/>
          <a:p>
            <a:r>
              <a:t>Ошейник на корове измеряет акселерометром её активность, отдых, время руминации — то есть пережёвывания. Облачный алгоритм сравнивает паттерны с опорным уровнем стада и индивидуальной коровы и выдаёт алерт фермеру: «Корова номер триста сорок два — снижение активности на тридцать процентов последние двадцать четыре часа, повышенная температура, возможно начало мастита».</a:t>
            </a:r>
          </a:p>
          <a:p/>
          <a:p>
            <a:r>
              <a:t>Фермер или ветеринар принимает решение на основании алерта — провести физический осмотр, назначить антибиотик, изолировать от стада. ИИ не назначает лекарство и не заменяет ветеринара; он выполняет функцию раннего сигнала на масштабе, который без датчиков невозможен. Тысячи коров в большом хозяйстве — не пересмотришь каждую визуально. Это и есть структурный success: задача узкая — детекция отклонения от опорного уровня, результат измеримый — число случаев маститов, диагностированных раньше, снижение потерь молока, альтернатива — визуальное наблюдение — ясна и её ограничение известно.</a:t>
            </a:r>
          </a:p>
          <a:p/>
          <a:p>
            <a:r>
              <a:t>Технический стек SenseHub. Ошейник содержит акселерометр, температурный датчик, position-tracking. Батарея — пять-семь лет работы, что критично для экономики: фермер не заменяет ошейник каждые два года. ML-конвейер в облаке: обучение на индивидуальном базовом уровне каждой коровы — система обучается на индивидуальной корове первые недели после установки, затем мониторит отклонения. Алерты типизированы: эструс — репродуктивный цикл; отёл — начало родов; хромота; мастит; BRD — bovine respiratory disease, респираторное заболевание крупного рогатого скота.</a:t>
            </a:r>
          </a:p>
          <a:p/>
          <a:p>
            <a:r>
              <a:t>Метрика 2025 года — два миллиона коров mounted. Это значимый milestone: количество коров с активным датчиком на стадии 2025-го; даёт ощутимый размер развёртывания в реальной отрасли.</a:t>
            </a:r>
          </a:p>
          <a:p/>
          <a:p>
            <a:r>
              <a:t>Allflex — это бренд MSD Animal Health, который сам по себе часть Merck. В 2024-2025 годах MSD приобрела Antelliq, родительскую компанию Allflex, за три миллиарда восемьсот пятьдесят миллионов долларов. Это сигнал зрелости рынка: индивидуальные стартапы L3 становятся подразделениями крупных корпораций ветеринарного и dairy-equipment бизнеса. Для инженера это означает: новые входы на L3 в 2026 году сложнее, рынок консолидирован, но и архитектурные провалы реже — лидеры прошли через циклы исправления.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Помимо SenseHub, три других working case на третьей ступени стоит рассмотреть, потому что они показывают разные архитектурные подходы к близким задачам.</a:t>
            </a:r>
          </a:p>
          <a:p/>
          <a:p>
            <a:r>
              <a:t>CattleEye — другой ракурс. Корова идёт по коридору на выход из milking parlour. Камера снимает её походку с высоты; модель оценивает lameness score, балл хромоты, по биомеханике движения — симметрия шагов, амплитуда наклона головы, опускание зада. Хромота — одна из ведущих причин снижения молокоотдачи и преждевременной выбраковки; раннее выявление, когда корова ещё ходит, но уже компенсирует боль, даёт фермеру две-три недели на лечение до того, как процесс станет необратимым. Решение дёшево в развёртывании — CCTV плюс cloud, без надевания ошейника на каждое животное. Это структурно отличается от SenseHub: SenseHub требует надевания ошейника на каждое животное, CattleEye — нет. Шестьдесят ферм, одиннадцать тысяч коров напрямую; через канал GEA — фермы, обслуживающие более двухсот пятидесяти тысяч коров. Приобретена GEA в 2024 году — пример консолидации L3 рынка.</a:t>
            </a:r>
          </a:p>
          <a:p/>
          <a:p>
            <a:r>
              <a:t>DeLaval VMS V310 — роботизированный доильный аппарат. Корова сама заходит в станцию, когда чувствует переполненное вымя — обычно два-три раза в день. Камера и лазерный сканер находят соски; роботизированная рука подсоединяет доильные стаканы. Девяносто девять и восемь десятых процента attachment rate означает: девятьсот девяносто восемь из тысячи попыток успешны — оставшиеся две требуют ручного вмешательства или повторной попытки. Это очень узкая задача, в которой ИИ плюс механика дают deterministically лучший результат, чем ручной труд. Корова не теряет время в очереди на доение, может доиться чаще, что увеличивает суточный надой; фермер освобождён от ночных и утренних доек; робот работает двадцать четыре на семь. Прирост северо-американских установок на пятнадцать процентов в 2025 году отражает экономическую логику в крупных молочных хозяйствах.</a:t>
            </a:r>
          </a:p>
          <a:p/>
          <a:p>
            <a:r>
              <a:t>Cargill Birdoo — компьютерное зрение для оценки веса бройлера в курятнике без физического взвешивания. Камера сверху фиксирует силуэт птицы, модель оценивает её массу по visual features. Заявленная точность — более девяноста пяти процентов; экономия десять-тридцать граммов корма на бройлера благодаря возможности более точного дозирования: если средний вес стада уже достиг целевого, переходить с ростового корма на финишный раньше. Americas-exclusive — это узкая ниша, в которой решение работает и масштабируется.</a:t>
            </a:r>
          </a:p>
          <a:p/>
          <a:p>
            <a:r>
              <a:t>Общий паттерн всех трёх — augmentation, not replacement. AI распознаёт сигналы, человек принимает решения. Узкая задача с измеримой обратной связью. Это структурный success третьей ступени, который объясняет, почему рынок L3 в 2024-2025 годах прошёл консолидацию — MSD за три и восемьдесят пять десятых миллиарда поглотил Antelliq, GEA приобрёл CattleEye — а не банкротства. Рынок зрелый.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L3 в целом более стабильный уровень, но три anti-hype урока должны быть явно проговорены — потому что они задают границы применимости.</a:t>
            </a:r>
          </a:p>
          <a:p/>
          <a:p>
            <a:r>
              <a:t>Первый урок — Cainthus. Это компания из Дублина, Ирландии, приобретённая Cargill в 2018 году; ныне часть Cargill livestock vision portfolio. Cainthus использует camera-based CV для мониторинга feeding, drinking, lying, social behaviour коров; публично опубликованных производственных метрик нет. Это типичный паттерн «партнёрство объявлено, внедрение не верифицировано» — частый в L3 и характерный для AgTech в целом. Это не «провал» в смысле банкротства, но важный сигнал: публичный анонс партнёрства не равен промышленному внедрению. Для инженера это означает: при оценке вендора смотреть не на пресс-релизы о партнёрствах, а на верифицируемые метрики — число ферм с внедрением, выручка сегмента, отзывы клиентов.</a:t>
            </a:r>
          </a:p>
          <a:p/>
          <a:p>
            <a:r>
              <a:t>И важная оговорка от misattribution. Не путать Cainthus с Connecterra IDA — это отдельная компания. Connecterra B.V. — нидерландская компания, продукт IDA, Intelligent Dairy Assistant — neck-collar sensor плюс AI behaviour analysis. Клиенты Connecterra — Danone, Bayer, Kersia и несколько тысяч молочных хозяйств. Это независимая от Cainthus компания с другой архитектурой решения, другим инвестиционным треком и другой клиентской базой. В публичных обзорах эти две компании часто смешивают — это misattribution, который инженер должен отлавливать на стадии due diligence.</a:t>
            </a:r>
          </a:p>
          <a:p/>
          <a:p>
            <a:r>
              <a:t>Второй урок — tie-stall barns. Это тип содержания коров, при котором каждое животное привязано к стойлу и доится на месте, вместо того чтобы ходить в milking parlour. Tie-stall распространён в Восточной Европе, в России, в некоторых регионах Северной Америки. CV-решения L3 — CattleEye, SenseHub — плохо работают в tie-stall barns. Освещение слабое, силуэты животных частично перекрыты конструкциями стойла, нет момента «корова идёт по коридору» — она стоит на месте. Это означает: AI capability не равна AI applicability. Та же модель CattleEye, которая работает на free-stall ферме в Висконсине, не работает на tie-stall ферме в Калужской области — не из-за «российского контекста», а из-за физической конфигурации barn.</a:t>
            </a:r>
          </a:p>
          <a:p/>
          <a:p>
            <a:r>
              <a:t>Третий урок — Holstein-bias. Большая часть CV-моделей в L3 обучена на доминирующих в США и Европе породах молочного скота — преимущественно Holstein, чёрно-белая, наиболее распространённая молочная порода. Для местных пород РФ — Холмогорская, Ярославская, Якутская, Бестужевская — калибровка моделей слабая. Это означает: архитектурная асимметрия в датасетах. Модель видит непривычную окраску шерсти — например, рыжая Бестужевская против чёрно-белой Holstein, непривычную форму тела — мясомолочные породы шире, непривычную походку. Решение архитектурное: трансферное обучение (transfer learning) с локально размеченными данными; собрать пять-десять тысяч размеченных изображений местной породы; дообучить модель. Это инженерный конвейер, а не «модель работает или не работает» — и его нужно делать до внедрения, а не после первого иска.</a:t>
            </a:r>
          </a:p>
          <a:p/>
          <a:p>
            <a:r>
              <a:t>И ещё третий anti-hype урок касается economics для small dairies. SenseHub subscription — около тридцати долларов на корову в год. Для small dairy с менее чем пятидесятью коровами это полторы тысячи долларов в год — что относительно высокая фиксированная стоимость по сравнению с альтернативой: визуальное наблюдение ветеринаром плюс регулярные осмотры. ROI отрицательный. Для farms с пятьюстами плюс коровами — экономика принципиально другая: пятнадцать тысяч в год на мониторинг тысяч голов это малая доля от общих затрат.</a:t>
            </a:r>
          </a:p>
          <a:p/>
          <a:p>
            <a:r>
              <a:t>Главный анти-ИИ критерий — AP-три, пороговая точность не равна готовности к внедрению. В третьей ступени этот критерий проявляется в двух формах. Первая — Plantix-форма: общая точность на бенчмарке не говорит о качестве внедрения на краевых случаях. Вторая — applicability gap: даже хорошая модель не работает в физической конфигурации, для которой не обучена.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Российский L3 — это пример того, как привязка к поставщику превращается в политический риск через специфический для отрасли механизм.</a:t>
            </a:r>
          </a:p>
          <a:p/>
          <a:p>
            <a:r>
              <a:t>Сначала — working case. Connectome.ai — резидент Сколково. Компания занимается CV-системами для контроля рождения телят: камера в родильном отделении распознаёт начало родовой деятельности и передаёт алерт ветеринару. В среднем ферма теряет десять-пятнадцать процентов телят при отсутствии своевременного вмешательства; раннее уведомление снижает потери. Это узкое работающее решение в одной узкой задаче — параллель Cargill Birdoo и CattleEye в смысле «узкая CV-задача с измеримым ROI». Connectome.ai не пытается быть «универсальной dairy-AI платформой» — и именно поэтому функционирует.</a:t>
            </a:r>
          </a:p>
          <a:p/>
          <a:p>
            <a:r>
              <a:t>Теперь — структурный gap. Большая часть AI-функциональности в робототехнике для молочной отрасли — DeLaval VMS, GEA DairyMaster, Lely Astronaut — после 2022 года в РФ оказалась в сером статусе. Оборудование физически в хозяйствах, но AI-сервисы — облачная аналитика, дашборды, прогностическое обслуживание — требуют обновлений прошивки и облачных сервисов из Европы.</a:t>
            </a:r>
          </a:p>
          <a:p/>
          <a:p>
            <a:r>
              <a:t>Подтверждённых публичных кейсов «AI-сервис DeLaval отключился в российском хозяйстве в дату X» с явной атрибуцией не зафиксировано. Однако зафиксированный уход вендора из смежного класса уже произошёл и валидирует архитектурный риск: Microsoft Azure прекратил приём новых российских клиентов в марте 2022-го; AWS остановил новые регистрации в апреле 2022-го; Climate FieldView (Bayer) вышел из РФ в 2022-м — российские агрохолдинги одномоментно потеряли доступ. Это и есть документированный базовый уровень: облачно-зависимый AI-сервис из иностранной юрисдикции уже отключался в АПК после 2022 года. F-девять — это перенос того же класса риска на dairy-equipment AI-стек.</a:t>
            </a:r>
          </a:p>
          <a:p/>
          <a:p>
            <a:r>
              <a:t>Частичное импортозамещение запущено: в Лобне в марте 2026 года объявлено о производстве молочного оборудования компанией «Пакейджинг Системс» с инвестициями четыре миллиарда рублей. Однако AI-стек — облачная аналитика, обучение моделей на больших данных стада — пока не имеет российского аналога промышленного уровня. Это структурный gap. Hardware-уровень может быть замещён — механика, металлоконструкции, простая электроника — а AI-стек требует отдельной траектории замещения: модели, данные, обучение, инфраструктура. Это разные пласты импортозамещения, не одна задача.</a:t>
            </a:r>
          </a:p>
          <a:p/>
          <a:p>
            <a:r>
              <a:t>Главный урок для инженера, не привязанного к российскому контексту: этот же класс риска применим к любой ферме в любой стране периферии, зависящей от cloud-AI поставщика из другой юрисдикции. Российский кейс — естественный эксперимент, иллюстрирующий, что бывает, когда импортный AI-стек становится недоступен. К этому общему уроку мы вернёмся в Разделе 4-bis на примере Мелитопольского remote-brick и FTC v. Deere.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Поднимаемся на четвёртую ступень — L4, уровень цепочки поставок. Это среда controlled cargo flows: контейнеры, склады, биржи товарного рынка, контрактные обязательства. И это место, где агентный ИИ лидирует в промышленном внедрении 2026 года.</a:t>
            </a:r>
          </a:p>
          <a:p/>
          <a:p>
            <a:r>
              <a:t>Почему именно здесь? Уже упомянутая в keystone причина — скорость обратной связи. Трейдер товарного рынка получает результат хеджевой позиции в базисных пунктах за минуты-часы; фермер на первой ступени получает результат удобрения за сезон — пять-шесть месяцев. Скорость обратной связи определяет скорость улучшения модели, и она же определяет, успевает ли ИИ окупиться до того, как меняется среда. На четвёртой ступени базовые рыночные механизмы — цены сырья на бирже, валютные курсы — меняются ежедневно, но природа задачи — хедж, соблюдение требований закупочной деятельности, оптимизация логистики — стабильна десятилетиями. Это идеальное сочетание для ИИ: быстрая обратная связь на коротких циклах плюс стабильная структура задачи на длинных.</a:t>
            </a:r>
          </a:p>
          <a:p/>
          <a:p>
            <a:r>
              <a:t>В этом разделе мы разберём четыре working case. Cargill CMAX — победитель премии BIG AI Excellence Award 2026 года. Затем pseudo-flow «как агент делает hedge» — четыре шага, которые делают L4 абстракцию конкретной. Tract — €18,6M Series A от Icos Capital; data backbone для конкурирующих anchor customers. Olam Mindsprint Procuresprint; Walmart × Cropin; Tesco. Затем два failure-блока: отмена USDA Climate-Smart Commodities в апреле 2025 года и Verra phantom credits для AI-MRV. И в конце — российская параллель: X5 паритет, Магнит гибрид, РСХБ vapor.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Канонический success-кейс четвёртой ступени 2026 года — Cargill CMAX. И CarVe — связанная платформа для protein supply chain.</a:t>
            </a:r>
          </a:p>
          <a:p/>
          <a:p>
            <a:r>
              <a:t>CMAX — commercial intelligence platform, платформа коммерческой аналитики. Она делает predictive port and shipping logistics, оптимизирующие потоки зерна; CV для белковой цепочки поставок — yield estimation, waste reduction; в Бразилии — AI-driven grain mixing. Cargill оперирует в семидесяти плюс странах с тысячью плюс объектами.</a:t>
            </a:r>
          </a:p>
          <a:p/>
          <a:p>
            <a:r>
              <a:t>В апреле 2026 года Cargill получила премию 2026 BIG AI Excellence Award — конкретное публичное признание развёрнутой работы. Это редкий случай в AgTech, когда вендор получает industry award не за демо-видео, а за подтверждённое промышленное внедрение.</a:t>
            </a:r>
          </a:p>
          <a:p/>
          <a:p>
            <a:r>
              <a:t>Главное архитектурное наблюдение: CMAX — это узкий агентный ИИ. Одно действие — hedge. Не «управляй всей цепочкой поставок». Не «оптимизируй от поля до полки». Узкое одно действие, на котором есть быстрая обратная связь в basis-points за минуты-часы. И именно эта узость — причина, по которой он работает. Расширение того же агента на end-to-end supply chain — пока не работает; это уровень амбиций 2030+, не промышленное внедрение 2026 года. К композиции задержек и fault propagation в попытках построить end-to-end мы вернёмся через слайд.</a:t>
            </a:r>
          </a:p>
          <a:p/>
          <a:p>
            <a:r>
              <a:t>И ещё одна архитектурная деталь, которую стоит зафиксировать перед детальным flow на следующем слайде. Для крупных сделок — больше десяти миллионов долларов notional, номинальной стоимости контракта — обязательно явное human-in-the-loop утверждение трейдером. Для малых сделок — автономно. Эта граница notional — инженерный выбор, не «AI-ограничение». Это пример того, как агентный ИИ работает в промышленных финансах в 2026 году: не «полностью автономный», а с явной границей ответственности.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Студенту, не работавшему в торговле сырьём, абстракция «агентный ИИ для хеджа» может остаться непонятной. Опишем рабочий поток в четыре шага.</a:t>
            </a:r>
          </a:p>
          <a:p/>
          <a:p>
            <a:r>
              <a:t>Шаг первый — уровень сенсоров, мониторинг. Агент непрерывно читает потоки данных: цены фьючерсов на CBOT — Chicago Board of Trade, крупнейшая товарная биржа США — для кукурузы и сои; погодные события в основных производственных регионах — Midwest США, Бразилия Mato Grosso, Аргентина Pampas, Россия — Краснодарский край и Ставрополье; валютные курсы — USD/BRL, USD/RUB; политические события — export bans, тарифы, санкции. Все потоки агрегируются в единый state-vector — это вектор текущего состояния системы: упакованный в один числовой массив профиль всех релевантных факторов рынка на данный момент времени.</a:t>
            </a:r>
          </a:p>
          <a:p/>
          <a:p>
            <a:r>
              <a:t>Шаг второй — уровень инференса, оценка. Модель оценивает направление цены через пять, тридцать, девяносто дней — плюс диапазоны неопределённости, доверительные интервалы для каждого горизонта. Это не предсказание точной цены — это распределение вероятных цен с явной мерой неопределённости. Это критически важно: hedge-стратегия зависит не только от точечного прогноза, но и от формы распределения. Узкое распределение — tight hedge; широкое — wider position с защитой от tail risk.</a:t>
            </a:r>
          </a:p>
          <a:p/>
          <a:p>
            <a:r>
              <a:t>Шаг третий — уровень решения, action. Агент инициирует одно из четырёх действий: открыть новую хеджевую позицию; закрыть существующую; перебалансировать; ничего не делать. Для крупных сделок — больше десяти миллионов долларов notional — явное human-in-the-loop утверждение трейдером; для малых — автономно. Это критическая архитектурная деталь: агент не автономен полностью, у него есть граница notional, выше которой человек обязателен. Эта граница — инженерный выбор, не «AI-ограничение».</a:t>
            </a:r>
          </a:p>
          <a:p/>
          <a:p>
            <a:r>
              <a:t>Шаг четвёртый — уровень обратной связи. Через минуты-часы агент получает basis-points outcome — фактическая цена исполнения сравнивается с ожидаемой. Модель обновляется через online learning — обучение в потоке, когда каждое новое наблюдение приводит к обновлению параметров без batch retrain. Этот цикл — closed-loop в финансовом смысле, аналогичный medicine closed-loop в Лекции 7, но с другой шкалой времени: минуты вместо часов.</a:t>
            </a:r>
          </a:p>
          <a:p/>
          <a:p>
            <a:r>
              <a:t>И ключевой worked example, который делает разговор о hedge конкретным. Август 2025 года: цены на кукурузу на CBOT снизились на два процента за неделю из-за прогноза погоды для Midwest США. CMAX мониторил эти потоки; модель прогнозировала рост волатильности в течение следующих пяти-семи дней с уверенностью шестьдесят процентов. Агент сформировал предложение по хеджу: открыть длинную позицию на восемь миллионов долларов notional — ниже десяти-миллионной границы human-in-the-loop, поэтому исполнил автономно. Сделка разбита на пять равных частей в течение четырёх часов — TWAP-подобное распределение для минимизации market impact. Через три дня цена выросла на один и восемь десятых процента; slippage составил восемь базисных пунктов — против примерно сорока пяти базисных пунктов в historic baseline ручного хеджа по McKinsey 2025 hedging report. Дифференциал сорок пять минус восемь — это тридцать семь базисных пунктов; на восемь миллионов это около двадцати девяти тысяч шестисот долларов экономии — округлённо тридцать две тысячи. На объёмах Cargill — тысячи сделок в год — такая экономия даёт миллионы долларов annual savings. Это и есть ROI agentic-AI на четвёртой ступени.</a:t>
            </a:r>
          </a:p>
          <a:p/>
          <a:p>
            <a:r>
              <a:t>И важная анти-AI оговорка: когда агент не работает. Три структурных класса задач, в которых агентный ИИ структурно не работает: первый — сезонная обратная связь, как на первой ступени поля; второй — непрерывный risk-cascade end-to-end без накопления статистики; третий — accountability dilution, когда нельзя attribute ошибочное решение конкретному звену. В этих трёх классах — supervised augmentation, не autonomy. Это естественное продолжение AP-два-а и AP-два-б из второй ступени: каждый класс архитектуры имеет свою зону применимости.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Помимо Cargill, в четвёртой ступени 2026 года работают несколько ключевых платформ.</a:t>
            </a:r>
          </a:p>
          <a:p/>
          <a:p>
            <a:r>
              <a:t>Tract — стартап, основанный в 2023 году четырьмя якорными клиентами: ADM, Cargill, LDC, ofi — Olam Food Ingredients. Привлёк в раунде Series A 2024-2025 года восемнадцать и шесть десятых миллиона евро под лидерством Icos Capital. CEO с января 2025 года — Allison Kopf. Главная архитектурная особенность: основные трейдеры товарного рынка — прямые конкуренты — совместно инвестируют в общую инфраструктуру для compliance, отчётности по scope-3 выбросам, отслеживания происхождения продукции. Это редкий случай в индустрии, когда конкуренты делят инфраструктуру.</a:t>
            </a:r>
          </a:p>
          <a:p/>
          <a:p>
            <a:r>
              <a:t>Объяснение — Tract это data backbone, а не агентный per se. Это инфраструктурный слой, над которым агенты работают — например, агенты compliance у конкретных клиентов используют Tract как источник истины о поставщиках. Это критическое различение, которое часто упускают в обзорах: Tract не «agentic», Tract — это «общая инфраструктура данных для агентных применений у конкурирующих компаний».</a:t>
            </a:r>
          </a:p>
          <a:p/>
          <a:p>
            <a:r>
              <a:t>Olam Mindsprint — отделилась от Olam International в 2024 году. Платформа из трёх компонент. Farmsprint — управление плантациями. Procuresprint — агентная закупка: агент выбирает поставщика по цене, compliance, ETA автоматически. Tradesprint — агенты для торговли сырьём. В 2026 году Wipro объявила, что Mindsprint engagement — одно из крупнейших стратегических трансформационных партнёрств 2026 года. Procuresprint — конкретный пример агентной закупки: вместо того чтобы трейдер вручную проверял десятки поставщиков по сотням контрактных пунктов, агент сравнивает их автоматически и поднимает на человека только нестандартные случаи. Это AI в смысле дополнения, не замены — человек остаётся в цикле для финального утверждения, агент делает рутинную сравнительную работу.</a:t>
            </a:r>
          </a:p>
          <a:p/>
          <a:p>
            <a:r>
              <a:t>Walmart использует платформу Cropin Cloud для прогноза урожайности по supplier farms в США и Южной Америке — партнёрство анонсировано в марте 2025 года. География важна: US plus South American markets, не Индия — это иногда путают в обзорах, потому что Cropin — индийская компания, основанная в Бангалоре. Заявленный эффект — снижение пищевых потерь; цифра «-20%» проскальзывает в обзорных материалах, но не в первичных пресс-релизах с явным URL; следует трактовать как vendor-direction claim, не peer-reviewed metric. Это пример того, как четвёртая ступень — цепочка поставок — спускается на первую через scope-3 visibility: Walmart хочет знать, сколько помидоров поступит из конкретной фермы через три недели.</a:t>
            </a:r>
          </a:p>
          <a:p/>
          <a:p>
            <a:r>
              <a:t>Tesco — британский ритейлер использует AI demand forecast с 2017 года; заявленный эффект минус тридцать процентов food waste с 2017. Tesco — пример пятой ступени, потребитель и retail, но включён сюда как иллюстрация того, что AI-методы четвёртой и пятой близки. Подробнее L5 — на следующем разделе после среды.</a:t>
            </a:r>
          </a:p>
          <a:p/>
          <a:p>
            <a:r>
              <a:t>Главные misattribution warnings, которые мы будем использовать дальше: Tract не агентная, Tract — это data backbone; Olam Procuresprint — единственный явно агентный в этой четвёрке; Walmart × Cropin покрывает US + South America, не Индию.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все четвёртые-уровневые кейсы работают. Разберём два параллельных failure-блока: USDA Climate-Smart cancellation и Verra phantom credits.</a:t>
            </a:r>
          </a:p>
          <a:p/>
          <a:p>
            <a:r>
              <a:t>USDA Climate-Smart Commodities programme. Это программа Министерства сельского хозяйства США, запущенная в эпоху администрации Байдена, бюджет три и одна десятая миллиарда долларов, сто тридцать пять проектов, четырнадцать тысяч ферм, три и две десятых миллиона акров. Программа поддерживала переход к climate-smart practices — no-till, cover crops, precision nitrogen — с AI-MRV для верификации эффекта на снижение выбросов.</a:t>
            </a:r>
          </a:p>
          <a:p/>
          <a:p>
            <a:r>
              <a:t>В апреле 2025-го администрация Трампа отменила программу, заменив её на ребрендированную AMP — Advancing Markets for Producers — с требованием направить не менее шестидесяти пяти процентов federal funding напрямую фермерам. Это существенно другое направление: Climate-Smart финансировал переход к sustainable practices с MRV-верификацией; AMP — прямые рыночные платежи производителям без выявления связи с climate-outcomes.</a:t>
            </a:r>
          </a:p>
          <a:p/>
          <a:p>
            <a:r>
              <a:t>Что это означает для AgTech бизнес-моделей. Десятки стартапов в AI-MRV — carbon-credit verification, soil carbon monitoring, sustainability metrics — построили свою бизнес-модель на потоке от Climate-Smart projects. Отмена программы превратила revenue projection этих стартапов в неопределённость практически за один день. Часть проектов выживет под AMP, часть — нет.</a:t>
            </a:r>
          </a:p>
          <a:p/>
          <a:p>
            <a:r>
              <a:t>Урок: federal policy — это tail risk для AgTech business model. Когда бизнес опирается на public funding в одной юрисдикции, изменение политической конъюнктуры может за день обесценить revenue projection. Альтернатива: unit economics over policy-tailwind plays. Выживают бизнесы, которые отбиваются на коммерческой стороне без опоры на государственное финансирование. Investor sentiment 2025-2026 уже сместился. Этот урок применим к российскому контексту в зеркальной форме: российская госпрограмма «Цифровое сельское хозяйство» 2019-2024 цели удвоения производительности не достигла — АПК в 2024 показал минус три и две десятых процента; новая программа «АПК будущего» 2026-2030 — следующая попытка с риском того же класса.</a:t>
            </a:r>
          </a:p>
          <a:p/>
          <a:p>
            <a:r>
              <a:t>Второй четвёртый-уровневый провал касается AI-MRV для carbon credits. Verra — крупнейший верификатор voluntary carbon credits в мире, стандарт VCS. В январе 2023 года газета The Guardian совместно с Die Zeit и SourceMaterial опубликовала результаты девятимесячного расследования: более девяноста четырёх процентов rainforest offset credits, выпущенные через REDD+ projects по стандарту Verra, являются phantom credits — то есть не соответствуют заявленным reductions в эмиссии. Pachama, один из проектов в этой программе — overestimation в восемь раз.</a:t>
            </a:r>
          </a:p>
          <a:p/>
          <a:p>
            <a:r>
              <a:t>Связь с AI-MRV. Углеродные проекты опираются на AI-системы для оценки запаса углерода в лесах, почвах, сельскохозяйственных системах. Эти системы используют спутниковые снимки плюс ML-модели для предсказания того, сколько углерода депонировано в данной территории и сколько было бы депонировано без вмешательства проекта — опорный сценарий, baseline scenario. Это инференс с большой неопределённостью, потому что опорный сценарий гипотетический и не имеет эталонной разметки (ground truth); ML-модели обучены на ограниченном датасете и плохо обобщаются на новые регионы и типы экосистем; маркетинг этих оценок как «precise measurement» создаёт ложное впечатление точности. Результат — масштабный гринвошинг: выпуск углеродных кредитов, проданных корпорациям как доказательство «net zero» обязательств, при том что фактическое сокращение эмиссий значительно меньше заявленного.</a:t>
            </a:r>
          </a:p>
          <a:p/>
          <a:p>
            <a:r>
              <a:t>Очень важная оговорка от misattribution. Verra phantom credits относятся к rainforest offset projects по конкретной методологии. Это не означает, что все AI-MRV — phantom; не означает, что carbon-credit рынок целиком worthless. Agricultural soil-carbon — другая методология: Climate Action Reserve, ACR, Verra VM0042 v2 — более новые методологии с улучшенной валидацией. Indigo Ag — пример компании, использующей Climate Action Reserve, не Verra — verified два миллиона тонн, контракт с Microsoft в 2026 году на два и восемьдесят пять десятых миллиона тонн через двенадцатилетнее соглашение. Indigo Ag не в Verra-скандале — это другой стандарт, другая методология. Не делать cascade misattribution.</a:t>
            </a:r>
          </a:p>
          <a:p/>
          <a:p>
            <a:r>
              <a:t>И главный анти-ИИ критерий из этого слайда — AP-семь. AI-MRV для carbon claims без direct measurement — категорический антипаттерн. Альтернатива: direct soil sampling значимой доли проектов + transparent uncertainty bands; AI как hypothesis, не как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Российский четвёртый-уровневый — парадоксально один из самых зрелых сегментов АПК-AI в стране, но с важной внутренней неравномерностью между двумя главными игроками.</a:t>
            </a:r>
          </a:p>
          <a:p/>
          <a:p>
            <a:r>
              <a:t>X5 Group — Перекрёсток, Пятёрочка, Чижик — разрабатывает и эксплуатирует промышленные ML-системы для прогноза спроса с 2020 года. Это устойчивое промышленное внедрение с шестилетней историей итераций. По данным X5 Tech, система использует более двухсот факторов: исторический спрос, погода, день недели, локальные события, цена конкурентов, акции, остатки на складах. Категории — плодоовощная и молочная. Это действительно мировой уровень: архитектура, объём данных, история итераций соответствуют практике Tesco, Walmart, Carrefour. Разрыв с лидерами — Tesco и Walmart с 2017-го — около трёх лет, и он продолжает сокращаться.</a:t>
            </a:r>
          </a:p>
          <a:p/>
          <a:p>
            <a:r>
              <a:t>Магнит F&amp;R — Forecasting and Replenishment — собственная разработка с участием Napoleon IT. И вот здесь важная nuance. Раннее формулировки «46 РЦ к январю 2026» в первой версии оказалась inaccurate over-claim для целого F&amp;R; формулировка «3 пилотных РЦ» в более поздних версиях — under-statement для Forecasting части. Корректная формулировка — модульное разделение. Forecasting, прогнозирование спроса, развёрнут в промышленной эксплуатации на сорока шести распределительных центрах в январе 2026 года — это сетевой уровень для прогнозной половины F&amp;R-стека. Replenishment, пополнение запасов — пилот на трёх распределительных центрах в 2026 году, план расширения на десять-двадцать к началу 2027 и охват всей сети к концу 2027-го.</a:t>
            </a:r>
          </a:p>
          <a:p/>
          <a:p>
            <a:r>
              <a:t>Это различие важно. Половина F&amp;R-стека уже сетевая в промышленной эксплуатации, вторая половина — пилот-фаза. Утверждение «российский ритейл-ML на мировом уровне» — корректно для X5 end-to-end и для Forecasting-модуля Магнита. Полный F&amp;R-стек Магнита догоняет мирового лидера на примерно девять лет — Walmart Eden с 2017-го, Магнит F&amp;R end-to-end к концу 2027-го.</a:t>
            </a:r>
          </a:p>
          <a:p/>
          <a:p>
            <a:r>
              <a:t>Россельхозбанк — иная история. РСХБ продвигает платформу «Своё Фермерство»; по заявлениям банка — более десяти тысяч партнёров, миллион двести пятьдесят тысяч товарных позиций. В 2025-2026 годах объявил несколько AI-сервисов: AI-прогноз урожайности, geno-селекция, advisory chatbots. Важная оговорка: эти сервисы заявлены, но подтверждённых production-метрик independent не опубликовано. Это паттерн «РСХБ AI = заявлено N, метрик нет». Десять тысяч партнёров — это число пользователей платформы, не «десять тысяч хозяйств с промышленным AI-внедрением». Не показывать как успешное внедрение.</a:t>
            </a:r>
          </a:p>
          <a:p/>
          <a:p>
            <a:r>
              <a:t>Sber GigaChat в одном из эпизодов 2025-го был представлен как «сдавший экзамен в профильном университете по агрономии» — это демонстрационный эпизод, не промышленное внедрение. Качество таких демонстраций — заранее подготовленные вопросы, контролируемая среда, отбор вопросов — не сравнимо с внедрением, в котором модель отвечает на произвольные вопросы фермеров в произвольных контекстах.</a:t>
            </a:r>
          </a:p>
          <a:p/>
          <a:p>
            <a:r>
              <a:t>Главный российский урок четвёртого раздела: есть паритет с миром в L4-L5 retail-supply — X5, Forecasting Магнита — мировой уровень — при значительном отставании в L1-L2 — поле и робот. Эта неравномерность по уровням лестницы — структурная характеристика российского АПК-AI 2026 года, и она объясняется теми же факторами, что и mirror-asymmetry в США — где L4-L5 наиболее зрелые, L1-L2 наименее, — только в РФ дополнительно работают санкционные ограничения и привязка к поставщику. К общему уроку про привязку и санкционный shock мы переходим прямо сейчас в Разделе 4-bis.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раздел — cross-cutting meta-уровень. Он не описывает ещё одну ступень лестницы; он описывает общие условия среды, без которых ни одна из ступеней не работает. Все три подраздела — связь, привязка к поставщику, регуляторика — строго failure-перспектива.</a:t>
            </a:r>
          </a:p>
          <a:p/>
          <a:p>
            <a:r>
              <a:t>Связь. Восемнадцать процентов американских ферм без интернета в принципе; сто двадцать три тысячи авиа-рейсов с GNSS-interference в первые четыре месяца 2025 года; Starlink в РФ запрет с тридцатого апреля 2026-го на полгода. Это AP-пять: cloud-first для off-grid farm — архитектурная ошибка. Альтернатива — edge ML и TinyML.</a:t>
            </a:r>
          </a:p>
          <a:p/>
          <a:p>
            <a:r>
              <a:t>Привязка к поставщику. Январь 2025 — иск FTC против John Deere за десятилетние ограничения ремонта. Май 2022 — Мелитопольский remote-brick: Deere дистанционно отключил двадцать семь единиц техники, переехавших из оккупированной Запорожской области в Чечню. Декабрь 2025 — FCC ban DJI ag-drones: восемьдесят процентов US ag-spray drone fleet под угрозой. И самая важная мысль раздела — двойная оптика. Один и тот же механизм — geo-locking плюс VIN-locking — даёт две противоположные интерпретации: anti-theft success с одной стороны, vendor control surface с другой. AI security feature сегодня — это AI control surface завтра.</a:t>
            </a:r>
          </a:p>
          <a:p/>
          <a:p>
            <a:r>
              <a:t>Регуляторика. EU AI Act high-risk classification для autonomous agricultural machinery с февраля 2025-го, плюс AI literacy для операторов, плюс liability cascade. USDA AI Strategy формальна. РФ программа «АПК будущего» 2026-2030 декларативна — наследница «Цифрового сельского хозяйства», которое цели удвоения производительности не достигла.</a:t>
            </a:r>
          </a:p>
          <a:p/>
          <a:p>
            <a:r>
              <a:t>И это три анти-ИИ критерия, которые завершают пятёрку для consolidation: AP-пять про связь, AP-шесть про vendor lock-in, AP-семь про AI-MRV без direct measurement — последний уже введён в разделе про Verra.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 условие среды — связь. Большая часть AgTech-маркетинга 2018-2023 годов опиралась на сценарий «cloud-AI оптимизирует ваш трактор в режиме реального времени через постоянный uplink». Это фантазия для большинства farms, и три конкретные цифры показывают, почему.</a:t>
            </a:r>
          </a:p>
          <a:p/>
          <a:p>
            <a:r>
              <a:t>Первая цифра — восемнадцать процентов американских ферм без интернета в принципе. По данным BroadbandNow и Feedstuffs, восемнадцать процентов американских ферм не имеют интернет-доступа вообще. Только сорок процентов имеют fixed-line подключение — DSL, cable, fiber; остальные сорок два процента — на cellular или satellite, что нестабильно. Тридцать девять процентов сельского населения США не имеют широкополосного доступа против четырёх процентов городского. Развёртывание broadband на farmland даст экономике около шестидесяти пяти миллиардов в год через прирост yields при стоимости развёртывания тридцать пять-сорок миллиардов — это публичные оценки, не реализованные планы. Cloud-first AI для сельского хозяйства — архитектурная ошибка для подавляющего большинства farms.</a:t>
            </a:r>
          </a:p>
          <a:p/>
          <a:p>
            <a:r>
              <a:t>Вторая цифра — GNSS-jamming. По данным ICAO — отчёт представителей Швейцарии, Финляндии, Эстонии, Литвы, Латвии, Польши 2025-го: почти сто двадцать три тысячи авиа-рейсов с GNSS-interference только в первые четыре месяца 2025 года. ICAO Assembly в октябре 2025-го формально осудил Россию за нарушение GNSS-сигналов гражданской авиации. Начиная с 2022 года российские системы РЭБ, направленные на территорию Украины, имеют побочный эффект — глушат GNSS-сигнал на территориях Финляндии, Эстонии, Латвии, Литвы. Stanford GPS Lab публикует отдельные исследования по технологии детектирования источников глушения. Финские фермеры сообщают: areas of farms reportedly unfarmable using GNSS-based tractors and combines because of the interference from Russian EW installations. Прецизионное земледелие — гражданская жертва военной радиоэлектроники. Авторулевой, переменная норма высева, переменная норма опрыскивания — все эти функции полностью зависят от GNSS, и без него превращаются в обычный трактор.</a:t>
            </a:r>
          </a:p>
          <a:p/>
          <a:p>
            <a:r>
              <a:t>Третья цифра — Starlink как решение и новая зависимость. Starlink стал де-факто backbone для рассредоточенных ферм и для Африки. Стоимость — девяносто долларов в месяц «excess capacity» режим, сто двадцать — «limited». Reliability — снег, дождь, физические obstructions. В России Starlink запрещён с тридцатого апреля 2026 года на шесть месяцев, что закрывает один из вариантов redundancy для российских хозяйств. Главное наблюдение — single-vendor connectivity это single point of failure. Илон Маск в одностороннем порядке прекращал Starlink для Украины в критический момент в 2022 году; та же логика применима к фермерам в любой юрисдикции.</a:t>
            </a:r>
          </a:p>
          <a:p/>
          <a:p>
            <a:r>
              <a:t>И главный анти-ИИ критерий — AP-пять. Cloud-first для off-grid farm — архитектурная ошибка. Альтернатива: edge-AI и TinyML. Это машинное обучение, выполняющееся на устройстве — датчик, гейтвей, кабина трактора, ошейник коровы — без cloud-uplink. Размер моделей — мегабайты вместо гигабайт; вычисления — на микроконтроллере или edge-GPU вместо облачных GPU. Hybrid-архитектура — cellular плюс LoRa плюс Starlink плюс RTK ground link с redundancy — для critical operations. Это не «AI попроще»; это другой класс AI-архитектуры, где модель спроектирована под ограничения среды с самого начала.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Второе условие среды — привязка к поставщику. И здесь мы видим парадоксальную двойную оптику, которую инженер должен понимать целиком.</a:t>
            </a:r>
          </a:p>
          <a:p/>
          <a:p>
            <a:r>
              <a:t>Январь 2025-го — FTC против John Deere. Пятнадцатого января 2025 года Federal Trade Commission США совместно с генеральными прокурорами штатов Иллинойс и Миннесота подал иск против Deere за unfair practices — десятилетние ограничения способности фермеров и независимых ремонтников чинить оборудование Deere. Только Deere-authorized dealers имеют доступ к программному инструменту Service ADVISOR, который требуется для всех full-functional repairs. Федеральный судья отклонил попытку Deere прекратить дело; trial ожидается во второй половине 2026 года. Что это означает: фермер не «покупает» комбайн стоимостью пятьсот тысяч долларов с AI-стеком — он лицензирует право его использовать, пока Deere разрешает. Это тот же паттерн, что у Tesla с FSD subscription, но применительно к АПК-технике.</a:t>
            </a:r>
          </a:p>
          <a:p/>
          <a:p>
            <a:r>
              <a:t>Май 2022-го — John Deere remote-brick в Мелитополе. В мае 2022 года российские военные изъяли двадцать семь единиц техники John Deere из Мелитополя в Запорожской области и перевезли в Чечню — около тысячи ста двадцати шести километров. На месте техника не запустилась. Deere дистанционно «забрикала» все двадцать семь устройств через GPS плюс VIN-locking. Для воровавших — пять миллионов долларов потерянной market value. Для Deere — практическая демонстрация удалённого контроля.</a:t>
            </a:r>
          </a:p>
          <a:p/>
          <a:p>
            <a:r>
              <a:t>И вот здесь — самая методологически-важная этическая мысль раздела. Эту мысль нужно рассматривать как stand-alone framework, а не как примечание в потоке. Один и тот же механизм даёт две противоположные интерпретации в зависимости от стороны наблюдения.</a:t>
            </a:r>
          </a:p>
          <a:p/>
          <a:p>
            <a:r>
              <a:t>Сторона А — anti-theft success. С точки зрения украинской стороны и общественности — это победа технологии над войной, защита частной собственности. Украденная техника действительно остановлена; ущерб вору пять миллионов. AI-функция сработала по дизайну. Этот сценарий — легитимное anti-theft применение AI и IoT, аналог системы Apple Find My для частной собственности на промышленном уровне.</a:t>
            </a:r>
          </a:p>
          <a:p/>
          <a:p>
            <a:r>
              <a:t>Сторона Б — vendor control surface. Тот же механизм означает, что Deere может дистанционно отключить оборудование любого фермера: не оплатившего подписку, не подписавшего EULA-обновление, оказавшегося под санкциями, попавшего в политический разрыв. Российские фермеры после февраля 2022 года получили на практике этот сценарий — техника физически у них, но облачные сервисы, обновления прошивки, инструмент Service ADVISOR — недоступны. Climate FieldView вышел из РФ в 2022 году одновременно с уходом Bayer Crop Science; российские агрохолдинги, инвестировавшие в FieldView, потеряли доступ к платформе. Microsoft и Amazon ушли в том же 2022 году.</a:t>
            </a:r>
          </a:p>
          <a:p/>
          <a:p>
            <a:r>
              <a:t>Урок инженерный. AI security feature сегодня — это AI control surface завтра. Тот же механизм, благодаря которому украденный комбайн не работает в Чечне, является основанием тревоги для каждого фермера в любой юрисдикции, попавшей в политический разрыв. Право собственности на оборудование становится фиктивным — фермер лицензирует право использования, а не владеет техникой со встроенным AI-стеком. Российский опыт после 2022 года — естественный эксперимент, иллюстрирующий, что бывает, когда импортный AI-стек становится недоступен. Это универсальный урок, не специфический для России — он применим к любому фермеру в любой стране периферии.</a:t>
            </a:r>
          </a:p>
          <a:p/>
          <a:p>
            <a:r>
              <a:t>И декабрь 2025-го — FCC ban на DJI и Autel. Двадцать второго декабря 2025-го FCC добавила все foreign-made drones плюс UAS-критические компоненты в Covered List, запретив новые product authorizations. DJI занимает восемьдесят процентов всех ag-spray drone flights в США; китайские дроны в целом — около девяноста процентов рынка. В 2024 году спрей-дронами обработано десять и три десятых миллиона акров в США, около двухсот пятнадцати миллионов выручки от custom applications. Не-китайские альтернативы — Skydio, Geo-scan — в среднем в два с половиной раза дороже. Эта же логика — привязка к поставщику на геополитическом уровне, отрезающая цепочку поставок не из-за качества AI, а из-за политики.</a:t>
            </a:r>
          </a:p>
          <a:p/>
          <a:p>
            <a:r>
              <a:t>И главный анти-ИИ критерий — AP-шесть. AI-driven equipment — это ловушка привязки к поставщику. Альтернатива: open-source farming hardware — Farm Hack, Open Source Ecology — право на ремонт, multi-vendor стратегия с явной exit-route, mechanical fallback — то есть готовность работать без AI-функций при их отключении.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Третье условие среды — регуляторика. Здесь 2024-2026 годы дали три значимых документа, инженер должен о них знать.</a:t>
            </a:r>
          </a:p>
          <a:p/>
          <a:p>
            <a:r>
              <a:t>EU AI Act — Регламент 2024/1689 — вступил в силу с августа 2024 года. Agricultural machinery с AI safety components — это high-risk classification по этому закону. Это означает: производители — XAG, AGCO, Bonsai Robotics, Naïo Technologies, в перспективе Cognitive Pilot и ИТЭЛМА при экспорте в ЕС — нуждаются в compliance teams; mandatory pre-market conformity assessment; обязательный технический файл и логи; liability cascade — производитель трактора плюс AI provider плюс фермер при autonomous collision. С февраля 2025 года действует требование AI literacy для операторов — фермер, оперирующий high-risk AI-машиной, должен быть обучен. Это самое серьёзное регулирование AI в АПК в мире на 2026 год.</a:t>
            </a:r>
          </a:p>
          <a:p/>
          <a:p>
            <a:r>
              <a:t>USDA AI Strategy FY 2025-2026 — формально опубликована, но в большей степени декларативна. В сочетании с отменой Climate-Smart Commodities в апреле 2025 года, о которой мы говорили на предыдущих слайдах, она показывает: американская агрорегуляторика по AI не так разработана, как европейская. В США основное регулирование AgTech идёт через FCC — дроны, FTC — vendor lock-in, USDA — programs, не через единый AI-регулятор.</a:t>
            </a:r>
          </a:p>
          <a:p/>
          <a:p>
            <a:r>
              <a:t>РФ — программа «АПК будущего» 2026-2030, распоряжение Правительства от тридцать первого декабря 2025 года. Это декларативная программа, наследующая структуру предыдущей «Цифровое сельское хозяйство» 2019-2024, цель которой — удвоение производительности АПК — не достигнута. АПК в 2024 году показал минус три и две десятых процента. Это важный урок: программный декларативный документ не равен реальному результату. Инженер, оценивающий российский АПК-AI ландшафт по сообщениям министерских пресс-релизов, систематически переоценивает зрелость отрасли. Реальные метрики — индекс цифровизации АПК двадцать семь и две десятых из ста по Яков и Партнёры 2024 — структурный gap, который декларациями не закрывается.</a:t>
            </a:r>
          </a:p>
          <a:p/>
          <a:p>
            <a:r>
              <a:t>Стандарты. ISO 17532:2007 плюс ISO 19115 для farm data существуют, но не «жёсткие» как DO-178C в авиации — мы это разбирали в Лекции 9. Это часть исторического regulatory vacuum в АПК, и она объясняет, почему лучшие success-кейсы L1-L2 — это те, где вендоры сами инвестируют в качество — Cargill, John Deere, — а не там, где регулятор предписывает.</a:t>
            </a:r>
          </a:p>
          <a:p/>
          <a:p>
            <a:r>
              <a:t>Главный практический вывод раздела про среду: связь, привязка к поставщику и регуляторика — это слой, на котором стоят все ступени лестницы. Без AP-пять, AP-шесть и AP-семь — без edge ML, без multi-vendor exit-route, без direct measurement carbon-claims — никакая ступень не работает устойчиво. И эти три анти-ИИ критерия плюс две предыдущие — AP-один термодинамика, AP-три порог точности, AP-четыре generic LLM — составляют финальную пятёрку, к которой мы перейдём в следующем разделе.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Поднимаемся на пятую — последнюю — ступень лестницы. L5 — Потребитель и retail. Это самая высокая ступень и самый зрелый слой АПК-AI. И это единственная ступень, на которой failure-кейсов практически нет.</a:t>
            </a:r>
          </a:p>
          <a:p/>
          <a:p>
            <a:r>
              <a:t>В этом коротком разделе мы делаем четыре вещи. Сначала — L5 retail кратко: Walmart Eden ML, Tesco AI demand forecast, X5 «Перекрёсток», Магнит F&amp;R Forecasting. Но при этом — важная анти-hype оговорка: L5-успех не доказывает АПК-готовность, это специфика retail-AI.</a:t>
            </a:r>
          </a:p>
          <a:p/>
          <a:p>
            <a:r>
              <a:t>Затем — главный consolidation лекции: пятёрка анти-ИИ критериев. AP-один термодинамика, AP-три порог точности, AP-четыре generic LLM, AP-шесть vendor lock-in, AP-семь AI-MRV. Плюс три inline критерия: AP-два-а архитектурный выбор, AP-два-б non-AI альтернатива, AP-пять cloud-first off-grid. Восемь явных критериев «когда не AI или не этот класс AI» — операциональный инструмент LO-пять.</a:t>
            </a:r>
          </a:p>
          <a:p/>
          <a:p>
            <a:r>
              <a:t>Потом — pre-purchase verification checklist. Десять вопросов в пяти блоках. Конкретный артефакт для применения LO-два. И карьерный ландшафт — рыночный, без агитации, в родовой форме.</a:t>
            </a:r>
          </a:p>
          <a:p/>
          <a:p>
            <a:r>
              <a:t>И в финале — closing callback к Plenty Compton из самого начала лекции. Plenty закрылась не из-за плохого ИИ — из-за термодинамики LED. И bridge к Лекции 11 cyber-physical manufacturing.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L5 — самая высокая ступень лестницы и самый зрелый слой АПК-AI. Это уровень потребительского ритейла, где полностью оцифрованная среда даёт ИИ-моделям идеальные условия: каждый артикул товара имеет цифровой след, каждая транзакция фиксируется в реальном времени, каждое решение — закупки, ценообразование, размещение на полке — имеет прямую и измеримую обратную связь в часах-днях.</a:t>
            </a:r>
          </a:p>
          <a:p/>
          <a:p>
            <a:r>
              <a:t>Канонические success-кейсы L5 2026 года. Walmart Eden ML algorithm — система оценки качества свежей продукции по входящим грузам и предсказание срока годности. Работает в промышленной эксплуатации с 2017 года. Это инференс на изображениях входящих палет плюс ML-прогноз скорости порчи. По заявлениям Walmart, использование Eden плюс Cropin прогноз урожайности приводит к снижению food waste; точная цифра «минус двадцать процентов» проскальзывает в обзорных материалах, но это vendor self-report, не peer-reviewed metric.</a:t>
            </a:r>
          </a:p>
          <a:p/>
          <a:p>
            <a:r>
              <a:t>Tesco AI demand forecast — британский ритейлер использует ML для прогноза спроса с 2017 года. Заявленный эффект — минус тридцать процентов food waste с 2017-го. Это public reporting в годовых отчётах Tesco.</a:t>
            </a:r>
          </a:p>
          <a:p/>
          <a:p>
            <a:r>
              <a:t>X5 «Перекрёсток» — российский ритейлер, развернул ML-систему прогноза спроса с 2020 года. Использует более двухсот факторов: исторический спрос, погода, день недели, локальные события, цена конкурентов, акции, остатки на складах. Категории — плодоовощная и молочная. Полностью in-house ML team. По данным X5 Tech, точность прогноза — на мировом уровне. Это тот самый паритет с мировыми лидерами, о котором мы говорили в Разделе 4: X5 в промышленной эксплуатации шесть лет, Tesco и Walmart — девять лет, разрыв около трёх лет и продолжает сокращаться.</a:t>
            </a:r>
          </a:p>
          <a:p/>
          <a:p>
            <a:r>
              <a:t>И этот уровень надёжно работает у мировых лидеров и у X5. Это единственный уровень, где «AI везде» — не hype, а промышленная реальность у established игроков. Но — и это критическая анти-hype оговорка — большая часть этого слоя не специфична для сельского хозяйства, а представляет собой общий retail-supply ML. ML demand forecasting в продуктовом ритейле — это та же ML demand forecasting, что в fashion-retail или в FMCG-non-food. И это важное наблюдение: успехи L5 не доказывают «AI-готовность всей АПК-цепочки» — они доказывают зрелость retail-AI как отдельной дисциплины.</a:t>
            </a:r>
          </a:p>
          <a:p/>
          <a:p>
            <a:r>
              <a:t>Зачем эта ступень в курсе АПК-AI? Три ответа. Первый — показывает «зрелую ML»: что бывает, когда среда полностью оцифрована и обратная связь приходит за секунды-минуты; это контрастный фон для понимания, почему L1-L2 работают иначе. Второй — L5-success не доказывает АПК-готовность; критично для anti-hype: «AI revolution в АПК» обычно опирается на L5-метрики, которые относятся к retail-AI, не к полевым задачам. Третий — L5 спускается в L1 через scope-3 visibility: Walmart Eden плюс Cropin плюс Walmart-supplier farms образуют cross-level паттерн, где L5-игрок проникает в L1-данные поставщиков. Это место, где L4-L5 архитектуры выходят за пределы своего домена.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Соберём в одну таблицу пять явных критериев «здесь ИИ не нужен или не применим», которые мы разобрали в течение всей лекции. Это финальный consolidation для LO-пять — analyze, сформулировать как минимум пять явных критериев когда AI не применим.</a:t>
            </a:r>
          </a:p>
          <a:p/>
          <a:p>
            <a:r>
              <a:t>Критерий первый — AP-один. Закон термодинамики важнее ML. Когда фундаментальная экономика (энергия или капитальные вложения) на порядок выше рыночной цены продукта — ML не закрывает разрыв, потому что он работает на знаменателе. Пример из лекции — вертикальное земледелие для commodity leafy greens: LED примерно в сто раз больше энергии, чем free sunlight; Plenty потерял девятьсот сорок миллионов, Bowery — тридцать два миллиона never-used equipment. Альтернатива — открытый грунт при энергии менее десяти центов за киловатт-час; vertical только для high-value crops.</a:t>
            </a:r>
          </a:p>
          <a:p/>
          <a:p>
            <a:r>
              <a:t>Критерий второй — AP-три. Пороговая точность не равна готовности к внедрению. Даже девяносто процентов точности на масштабе — это сотни тысяч ошибочных high-stakes решений. Пример: Plantix десять-пятнадцать процентов misdiagnosis на десяти миллионах плюс загрузках — примерно сто тысяч неправильных рекомендаций по пестицидам в год. Альтернатива — uncertainty-aware рекомендация с abstention: не уверен — спроси эксперта.</a:t>
            </a:r>
          </a:p>
          <a:p/>
          <a:p>
            <a:r>
              <a:t>Критерий третий — AP-четыре. Обобщённый LLM в режиме советника для high-stakes решений — категорический антипаттерн. Пример: ChatGPT и Bard рекомендации неправильного окна гербицида в Tzachor et al. в Nature Food 2024 года. Альтернатива — RAG-grounded в локальный регулятор: USDA-EPA, EU-EFSA, Россельхознадзор — плюс явный отказ при низкой уверенности плюс человек в цикле.</a:t>
            </a:r>
          </a:p>
          <a:p/>
          <a:p>
            <a:r>
              <a:t>Критерий четвёртый — AP-шесть. AI-driven equipment — это ловушка привязки к поставщику. Чем больше AI и телематики в технике, тем сильнее vendor control surface. Примеры: FTC против Deere в 2025-м, Мелитопольский remote-brick в 2022-м, Climate FieldView выход из РФ, FCC ban DJI ag-drones. Альтернатива — open-source hardware Farm Hack, право на ремонт, multi-vendor стратегия, mechanical fallback.</a:t>
            </a:r>
          </a:p>
          <a:p/>
          <a:p>
            <a:r>
              <a:t>Критерий пятый — AP-семь. AI-MRV для carbon claims без direct measurement — это inference с большой uncertainty, marketed как precise measurement — то есть scaled greenwashing. Пример: Verra девяносто четыре процента phantom credits, Pachama overestimation в восемь раз. Альтернатива — direct soil sampling значимой доли проектов плюс transparent uncertainty bands; AI как hypothesis, а не как fact.</a:t>
            </a:r>
          </a:p>
          <a:p/>
          <a:p>
            <a:r>
              <a:t>Плюс три inline критерия, которые мы ввели в Разделах 2 и 5 и активно используем. AP-два-а — архитектурный выбор внутри ИИ-домена: когда CV не работает в open-environment, другой класс ИИ — sensor-fusion-AI — может быть более робастным; пример Cognitive Pilot против ИТЭЛМА. AP-два-б — genuine не-ИИ альтернатива: когда AI как класс не применим, mechanical работает; пример vertical farming → открытый грунт; FarmWise → Lemken Steketee. AP-пять — cloud-first для off-grid — архитектурная ошибка; альтернатива edge ML / TinyML.</a:t>
            </a:r>
          </a:p>
          <a:p/>
          <a:p>
            <a:r>
              <a:t>Главное в этой матрице — она инструмент. Когда вам предлагают AI-решение для агро-задачи, прогоните его через эти пять критериев плюс три inline. Если хоть один срабатывает — это не значит «нельзя», это значит «здесь нужен redesign». Если срабатывает несколько — стоит пересмотреть фундаментальный выбор подхода.</a:t>
            </a:r>
          </a:p>
          <a:p/>
          <a:p>
            <a:r>
              <a:t>Эта матрица — не догма. Она работает в 2026 году с теми данными, которые у нас есть. Через пять лет, возможно, появятся новые критерии, и старые могут сместить акценты. Это рабочий инструмент, который надо обновлять с опытом.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Прежде чем перейти к consolidation пяти критериев, дадим конкретный аппликативный артефакт — чеклист предварительной верификации для AgTech-решения. Это операционное применение LO-два: критическая оценка вендорского claim — десять вопросов, сгруппированных в пять блоков по два пункта.</a:t>
            </a:r>
          </a:p>
          <a:p/>
          <a:p>
            <a:r>
              <a:t>Блок первый — классификация решения. Первый вопрос: на какой ступени лестницы расположено решение? L1, L2, L3, L4 или L5? Если вендор не может однозначно ответить — это признак того, что продукт смешивает уровни. Типичный паттерн «универсальная платформа для всего цикла АПК» — почти всегда означает, что L1 функции не отработаны. Второй вопрос: какой именно режим работы AI-компонент? Rule-based, классический ML, CV, sensor-fusion, RAG-grounded LLM, агентный ИИ? Бренд не равен режиму. Получив ответ, можно прогнозировать, на каком классе провалов решение более уязвимо.</a:t>
            </a:r>
          </a:p>
          <a:p/>
          <a:p>
            <a:r>
              <a:t>Блок второй — промышленное состояние. Третий вопрос: сколько production-внедрений? Не «sold», не «pilot», не «partner announcement». Сколько из них верифицировано независимо через customer references? Четвёртый вопрос: какова точность модели на краевых случаях конкретного типа среды развёртывания — тип почвы, климатическая зона, порода скота? Cross-check: запросить bench-test от независимой сельскохозяйственной экстеншн-службы, не от вендора. Дополнительно — какие failure modes уже задокументированы и как вендор их устраняет?</a:t>
            </a:r>
          </a:p>
          <a:p/>
          <a:p>
            <a:r>
              <a:t>Блок третий — ответственность и регуляторика. Пятый вопрос: если продукт продаётся как «autonomous», кто отвечает за collision или damage? Если ответ «фермер» — это vendor maskirovka. Маркетинг говорит «autonomous», контракт говорит «вы отвечаете». Шестой вопрос: регуляторный статус в конкретной юрисдикции? EU AI Act high-risk classification, FCC compliance, локально требуемые сертификации? Cross-check: запросить compliance documentation; если вендор отказывается — это red flag.</a:t>
            </a:r>
          </a:p>
          <a:p/>
          <a:p>
            <a:r>
              <a:t>Блок четвёртый — lock-in и exit-route. Седьмой вопрос: какова exit-route при прекращении сотрудничества? Кто будет иметь доступ к истории обработок, спутниковым снимкам, метрикам стада? Cross-check: формулировка в контракте. Восьмой вопрос: решение требует эксклюзивной привязки или работает в смешанном парке?</a:t>
            </a:r>
          </a:p>
          <a:p/>
          <a:p>
            <a:r>
              <a:t>Блок пятый — подключение и resilience. Девятый вопрос: всегда cloud, периодическая синхронизация или полностью offline? Какая часть функциональности доступна при отказе канала? Десятый вопрос: что произойдёт, если AI-функция отключится или станет недоступна — политические факторы, истечение подписки, vendor decision? Возможна ли деградация в «обычный трактор» без потери базовых функций?</a:t>
            </a:r>
          </a:p>
          <a:p/>
          <a:p>
            <a:r>
              <a:t>Scoring rubric: восемь-десять green — buy / pilot ready, решение проходит due diligence для коммерческого внедрения. Пять-семь green — conditional pilot, ограниченное пилотирование на одном-двух объектах с явными критериями выхода. Менее или равно четырём green — reject или escalate to expert audit.</a:t>
            </a:r>
          </a:p>
          <a:p/>
          <a:p>
            <a:r>
              <a:t>Это минимальный аудит-чек, на который у студента — или CTO любой компании, оценивающей AgTech-инвестицию — должен быть прямой и измеряемый ответ. Каждый из десяти пунктов проверяется не словами вендора, а внешними источниками: independent reports, public registers, customer references, regulatory filings. Это и есть конкретный практический инструмент критической оценки вендорского claim — навык, которым инженер защищает компанию от vendor maskirovka.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делать студенту-инженеру, который прочитал материал и хочет работать в этой области? Ниже — рыночный ландшафт, информация о сегментации отрасли, не директивная карьерная рекомендация. Решения о карьере индивидуальны и зависят от конкретного навыкового профиля, склонностей и обстоятельств.</a:t>
            </a:r>
          </a:p>
          <a:p/>
          <a:p>
            <a:r>
              <a:t>Образовательные траектории. Профильные технические университеты предлагают магистерские программы по agro-IT, agro-engineering, digital agronomy. Профильные аграрные университеты — программы по цифровому земледелию и зоотехнии с цифровыми технологиями. Эти программы 2024-2026 годов начали интеграцию ML-курсов в учебные планы, что отличает их от программ десятилетней давности. На уровне дополнительного образования — онлайн-курсы по satellite analytics, computer vision, ML for time series — хорошее дополнение к базовой инженерной подготовке.</a:t>
            </a:r>
          </a:p>
          <a:p/>
          <a:p>
            <a:r>
              <a:t>Сегмент L1-L2 в международном контексте охватывает крупных AgTech-вендоров с инфраструктурой precision farming и autonomy. Примеры — John Deere в направлении See &amp; Spray и autonomous, Bayer Crop Science Digital, BASF Digital Farming в направлении advisory xarvio. А также независимых стартапов в специализированных нишах — Carbon Robotics в robotic weed control, Saga Robotics в UV-C обработке клубники, Aigen в solar field robots. Навыковый профиль для входа — computer vision, edge ML, sensor fusion, ROS, автономная навигация.</a:t>
            </a:r>
          </a:p>
          <a:p/>
          <a:p>
            <a:r>
              <a:t>Сегмент L3 в международном контексте включает производителей dairy-equipment с AI-стеком — DeLaval, GEA, Lely; стартапы в CV для контроля здоровья и поведения животных — Cainthus как часть Cargill portfolio, Connecterra IDA, CattleEye в составе GEA; компании в poultry CV вроде Cargill Birdoo. Навыки — CV плюс классические ML-методы для биометрии животных, time-series анализ сенсорных данных.</a:t>
            </a:r>
          </a:p>
          <a:p/>
          <a:p>
            <a:r>
              <a:t>Сегмент L4-L5 в международном контексте охватывает крупных commodity traders с агентными AI-стеками — Cargill CMAX и CarVe, ADM, COFCO. Data infrastructure layer — Tract как пример shared infrastructure для конкурирующих компаний. Retail-supply ML — Walmart Eden, Tesco AI, Cropin. Навыки — LLM и agentic architectures, RAG, finance и commodity trading basics, supply chain economics.</a:t>
            </a:r>
          </a:p>
          <a:p/>
          <a:p>
            <a:r>
              <a:t>Российский рынок имеет distributed по уровням сегментацию. На L2 представлены Cognitive Pilot, ИТЭЛМА и Геоскан — autonomous machinery, UAV. На R&amp;D-уровне работают агрохолдинги: ЭФКО в FoodTech, Русагро Тех в digital agronomy. На L4-L5 — РСХБ.цифра, Магнит digital, X5 Tech — supply chain ML, demand forecasting. На L1 SaaS — ExactFarming. На L3 в узких нишах — Connectome.ai, резидент Сколково в области CV для контроля рождения телят. Дополнительные источники — экосистемы корпоративных R&amp;D-юнитов крупных банков и tech-компаний.</a:t>
            </a:r>
          </a:p>
          <a:p/>
          <a:p>
            <a:r>
              <a:t>Это рыночный ландшафт, не предписание. Каждая из этих позиций требует конкретного навыкового профиля, который инженер получает из курса в целом плюс специфической отраслевой подготовки. Решения о карьере — индивидуальны.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Вернёмся к началу лекции.</a:t>
            </a:r>
          </a:p>
          <a:p/>
          <a:p>
            <a:r>
              <a:t>Лестница из пяти уровней. ИИ поднимается от поля к полке и работает по-разному на каждой ступени. L-один — открытая биологическая среда; ИИ работает в узких задачах — See &amp; Spray, xarvio; ломается в попытках generic advisory и в попытках построить closed-loop — коллапс вертикального земледелия. L-два — semi-controlled; специализация побеждает универсальность — LaserWeeder, Saga UV-C, Tevel; универсальный «autonomous tractor» банкротится — Monarch, FarmWise. Архитектурный выбор внутри AI-домена — CV против sensor-fusion-AI — критичен. L-три — semi-closed individual-level; AI работает стабильнее — SenseHub, CattleEye, DeLaval; ограничения — физическая конфигурация, Holstein-bias, экономика. L-четыре — controlled cargo flows + быстрая обратная связь в basis-points; агентный ИИ лидирует — Cargill CMAX, Tract, Olam. Federal policy — хвостовой риск; AI-MRV без direct measurement — масштабный гринвошинг. L-пять — полностью оцифрованная среда; AI надёжно работает у established игроков — Walmart, Tesco с 2017, X5 с 2020; гибридный статус у Магнита. Успехи L-пять не доказывают готовности всей цепочки — это специфика retail-AI, не АПК-AI.</a:t>
            </a:r>
          </a:p>
          <a:p/>
          <a:p>
            <a:r>
              <a:t>Помните Plenty Unlimited в Комптоне? Открытие в мае 2023 года с делегацией мэра, репортёрами, обещанием четырёх с половиной миллионов фунтов листовой зелени в год. Закрытие в декабре 2024 года — через девятнадцать месяцев. Привлечённый капитал около девятисот сорока миллионов от SoftBank, Walmart, Bezos Expeditions. Оценка компании: один и девять десятых миллиарда в январе 2022 → менее пятнадцати миллионов в начале 2025 — коллапс примерно на девяносто девять процентов. Мы спросили в самом начале: что именно сделал ИИ в этом провале — и в каком смысле он не смог сделать?</a:t>
            </a:r>
          </a:p>
          <a:p/>
          <a:p>
            <a:r>
              <a:t>Теперь ответ. Plenty не закрылась из-за плохого ИИ. Plenty закрылась из-за термодинамики LED. Контроллер микроклимата работал. Компьютерное зрение распознавало стадии роста. ML-модели урожайности были обучены и обновлялись. Что не сработало — арифметика энергии: LED-освещение в Калифорнии при ценах около двадцати пяти центов за киловатт-час съело AI-оптимизацию. На каждый сэкономленный пять-десять-двадцать процентов эффективности через ML оставалось два порядка выше базовое потребление, чем у открытого поля с бесплатным солнцем. Это и есть AP-один — закон термодинамики важнее ML: первый из пяти анти-ИИ критериев, к которому мы пришли по полной траектории лекции.</a:t>
            </a:r>
          </a:p>
          <a:p/>
          <a:p>
            <a:r>
              <a:t>И это работает не только для Plenty. На каждый уровень лестницы можно положить ту же логику. Где AI работает — See &amp; Spray на L1, LaserWeeder на L2, SenseHub на L3, Cargill CMAX на L4, Walmart Eden на L5. Где ломается — Plenty на L1, Monarch на L2, Cainthus tie-stall на L3, отмена USDA Climate-Smart на L4, GNSS-jamming плюс Мелитополь плюс Starlink-запрет на уровне среды. Лестница — это карта инженерных решений, а не «AI revolution в АПК». Каждая ступень имеет свои working tools и свои failure modes; задача инженера — знать, на какой ступени какой инструмент применять, и где AI структурно не подходит.</a:t>
            </a:r>
          </a:p>
          <a:p/>
          <a:p>
            <a:r>
              <a:t>Инженер держит эту лестницу в голове целиком, выбирая для каждой ступени правильный инструмент, и зная, где ИИ не работает и почему. Это не «оптимизм» и не «скептицизм» по отношению к ИИ в АПК — это аппарат принятия решений: для конкретной задачи назвать уровень лестницы, оценить условия среды, применить соответствующий из пяти анти-ИИ критериев, назвать инструмент или альтернативу.</a:t>
            </a:r>
          </a:p>
          <a:p/>
          <a:p>
            <a:r>
              <a:t>И bridge к следующей лекции. В Лекции 11 мы переходим на L-одиннадцать — cyber-physical manufacturing. Это среда, ближе к L4-L5 по уровню контроля — производственная линия больше closed-loop, чем поле — и одновременно с физическим контактом ИИ с продуктом, как в L2 robotics. Это сочетание двух средовых характеристик, и оно даёт другой класс AI-применений — прогностическое обслуживание, robotic assembly, контроль качества — которые мы рассмотрим, используя ту же рамку «среда → задача → класс AI → провалы → альтернативы», что и в этой лекции.</a:t>
            </a:r>
          </a:p>
          <a:p/>
          <a:p>
            <a:r>
              <a:t>Спасибо. Дальше —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Открываем Q&amp;A. У меня в запасе три типичных вопроса, которые могут возникнуть — на случай, если зал молчит.</a:t>
            </a:r>
          </a:p>
          <a:p/>
          <a:p>
            <a:r>
              <a:t>Первый — про vertical farming. «Oishii выжила и привлекла Series C на сто пятьдесят миллионов в мае 2026 года. Это исключение или поворот для категории?» Ответ короткий. Oishii — это исключение, подтверждающее правило, не reversal коллапса категории. Oishii продаёт премиум-клубнику по десять плюс долларов за упаковку в Whole Foods Нью-Йорка. Их unit-economics работают именно потому, что они не пытаются конкурировать с открытым полем по leafy greens. Tortuga AgTech, приобретённая Oishii в марте 2025-го, показала техническую успешность — пятьдесят процентов reduction в harvest expenses — но внутри коллапсировавшей категории. Это business-model lesson, не technical robotics lesson. Premium-сегмент в vertical farming может выживать; commodity leafy greens — нет, из-за термодинамики LED против free sunlight.</a:t>
            </a:r>
          </a:p>
          <a:p/>
          <a:p>
            <a:r>
              <a:t>Второй — про Cognitive Pilot и ИТЭЛМА. «Это правда замена одного другим или они решают разные задачи?» Они решают разные задачи. Cognitive Pilot — это CV-стек, отвечающий на вопрос «что я вижу» — распознавание визуальных признаков в поле: кромка нескошенного, препятствия. ИТЭЛМА Квадро — это sensor-fusion-AI на multi-GNSS, отвечающий на вопрос «где я нахожусь» — точная навигация с точностью два-пять сантиметров. Правильное решение современного автономного комбайна — комбинация обоих: GNSS-навигация как primary плюс CV как secondary для нестандартных ситуаций. Сравнение «один лучше другого» — неверное упрощение. Это пример AP-два-а — архитектурный выбор внутри AI-домена.</a:t>
            </a:r>
          </a:p>
          <a:p/>
          <a:p>
            <a:r>
              <a:t>Третий — про foundation models. «Насколько TerraMind и Prithvi-EO 2.0 доступны smallholders к 2030 году?» Ответ зависит от трёх факторов. Первый — compute. Дообучение foundation model требует значимого GPU-кластера. Для smallholders в Африке или Азии прямой доступ к H100 / A100 — нет. Альтернатива — fine-tune-as-a-service от крупных провайдеров. Второй — local data. Foundation model для агро неравномерно покрывает географии — США, ЕС, Бразилия перегружены данными; Африка южнее Сахары, Россия за пределами южных регионов — недопредставлены. Это означает, что дообучение требует local data collection — что для smallholders сложно без external partner. Третий — interface. Smallholder не работает с Hugging Face API; ему нужно мобильное приложение в национальном языке. Это значит, что между foundation model и фермером должен быть слой UX, который пока не создан. К 2030 году я ожидаю: foundation models станут доступны крупным AgTech-стартапам, обслуживающим smallholders через UX-слои (типа Plantix, но с RAG-grounded архитектурой); прямой доступ smallholders к моделям — нет.</a:t>
            </a:r>
          </a:p>
          <a:p/>
          <a:p>
            <a:r>
              <a:t>Открыт для ваших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ИИ-управляемая ферма обещала революцию. 19 месяцев — и закрылась.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440680" cy="36576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10-vertical-fa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498348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2920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065A82"/>
                </a:solidFill>
                <a:latin typeface="Arial"/>
              </a:rPr>
              <a:t>май 2023 · Plenty Compton открытие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440680" cy="36576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01-plenty-collap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12064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029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F0AB00"/>
                </a:solidFill>
                <a:latin typeface="Arial"/>
              </a:rPr>
              <a:t>декабрь 2024 · закрытие · Ch. 11 март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0AB00"/>
                </a:solidFill>
                <a:latin typeface="Arial"/>
              </a:rPr>
              <a:t>$940M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потерь капитала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55321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$1,9 млрд → &lt;$15M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коллапс оценки –99% за 3 года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55321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0AB00"/>
                </a:solidFill>
                <a:latin typeface="Arial"/>
              </a:rPr>
              <a:t>19 месяцев</a:t>
            </a:r>
          </a:p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от открытия до закрытия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Plenty press май 2023; TechCrunch 2025-03-24; Bloomberg Law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5943600" cy="640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Лекция 10 · ИИ в сельском хозяйстве · 3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103120"/>
            <a:ext cx="6217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21295C"/>
                </a:solidFill>
                <a:latin typeface="Arial"/>
              </a:rPr>
              <a:t>ИИ в сельском хозяйстве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11480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1C7293"/>
                </a:solidFill>
                <a:latin typeface="Arial"/>
              </a:rPr>
              <a:t>От поля к полке: пять уровней лестницы
и пять анти-ИИ критериев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54864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C7293"/>
                </a:solidFill>
                <a:latin typeface="Arial"/>
              </a:rPr>
              <a:t>вопросы и ответы в конце</a:t>
            </a:r>
          </a:p>
        </p:txBody>
      </p:sp>
      <p:pic>
        <p:nvPicPr>
          <p:cNvPr id="7" name="Picture 6" descr="sprout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58521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Карта лекции — лестница пяти уровней от поля к полке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6567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8007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0. Открытие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8007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Зацепка + ось + глоссарий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4199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5639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1. L1 Поле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5639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Открытая биология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5639" y="37033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5 кейсов · 3 провала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1831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3271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2. L2 Робот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3271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Специализация &gt; универсальность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3271" y="37033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4 кейса · 3 провала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9463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903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3. L3 Животное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903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Полузакрытая среда, особь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903" y="37033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4 кейса · 3 урока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37095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28535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4. L4 Цепочка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8535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Агентный ИИ лидер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8535" y="37033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4 кейса · 2 провала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4727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6167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4-bis. Среда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6167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Связь · привязка · регуляторика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6167" y="37033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3 sub-блока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2359" y="1645920"/>
            <a:ext cx="1572768" cy="2468880"/>
          </a:xfrm>
          <a:prstGeom prst="roundRect">
            <a:avLst>
              <a:gd name="adj" fmla="val 1937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3799" y="1783080"/>
            <a:ext cx="138988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5. L5 Полка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3799" y="2423160"/>
            <a:ext cx="13898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+ 5 критериев + закрытие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3799" y="3703320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L5 + 5 AP + чек-лист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72000"/>
            <a:ext cx="11091672" cy="1463040"/>
          </a:xfrm>
          <a:prstGeom prst="roundRect">
            <a:avLst>
              <a:gd name="adj" fmla="val 2083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645152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1">
                <a:solidFill>
                  <a:srgbClr val="4A556B"/>
                </a:solidFill>
                <a:latin typeface="Arial"/>
              </a:rPr>
              <a:t>Центральный вопрос лекции: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21295C"/>
                </a:solidFill>
                <a:latin typeface="Arial"/>
              </a:rPr>
              <a:t>Где на лестнице L1→L5 ИИ работает, где ломается — и какой класс
решения / альтернатива применимы на каждой ступени?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Два режима ИИ и пять L4-терминов — единый язык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Среда применения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40680" cy="1828800"/>
          </a:xfrm>
          <a:prstGeom prst="roundRect">
            <a:avLst>
              <a:gd name="adj" fmla="val 16666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Замкнутый контур (closed-loop)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4A556B"/>
                </a:solidFill>
                <a:latin typeface="Arial"/>
              </a:rPr>
              <a:t>Контролируемая среда (теплица, фабрика, склад). Все переменные измеряются. ИИ оптимизирует параметры. Промышленное применение зрелое.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5440680" cy="1828800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Открытая среда (open-environment)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51960"/>
            <a:ext cx="4983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4A556B"/>
                </a:solidFill>
                <a:latin typeface="Arial"/>
              </a:rPr>
              <a:t>Открытая биологическая среда (поле, луг). Погода, переменное освещение, пыль, тени. ИИ работает в узких задачах. Универсальная «автономная ферма» — банкротится.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37160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5 терминов цепочки поставок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40680" cy="7315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0195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Агентный 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0195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ML + поиск (RAG) + конвейер действий + человек в петле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06040"/>
            <a:ext cx="5440680" cy="7315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7919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bp (базисный пункт)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791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1 bp = 0,01%. Метрика проскальзывания сделок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83280"/>
            <a:ext cx="5440680" cy="7315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5643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Проскальзывание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564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Разрыв между планом сделки и фактом исполнения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60520"/>
            <a:ext cx="5440680" cy="7315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23367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Выбросы Scope-3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3367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Косвенные выбросы по цепочке поставок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937759"/>
            <a:ext cx="5440680" cy="7315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ИИ-MRV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01091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ИИ-мониторинг, отчёт, верификация — климат-учёт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Лестница ИИ — пять уровней. На каждой ступени работает по-разному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8686800" cy="7772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0AB00"/>
                </a:solidFill>
                <a:latin typeface="Arial"/>
              </a:rPr>
              <a:t>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3619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Полка / магазин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45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Полностью оцифрованная среда. ИИ зрел.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166420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Walmart Eden 2017+, Tesco 2017+, X5 2020+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13432"/>
            <a:ext cx="8686800" cy="7772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9631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028090"/>
                </a:solidFill>
                <a:latin typeface="Arial"/>
              </a:rPr>
              <a:t>L4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86584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Цепочка поставок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249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Контролируемые грузопотоки + быстрая обратная связь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25146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Cargill CMAX, Tract, Olam, Walmart×Cropin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63824"/>
            <a:ext cx="8686800" cy="7772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46704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C7293"/>
                </a:solidFill>
                <a:latin typeface="Arial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3697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Животное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753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Полузакрытая среда + измерения на уровне особи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336499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SenseHub 2M коров, CattleEye, DeLaval V310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14216"/>
            <a:ext cx="8686800" cy="7772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Arial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8736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Робот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2569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Специализация работает; универсальный — банкротится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421538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LaserWeeder G2, Saga UV-C, Tevel · против Monarch/FarmWise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64608"/>
            <a:ext cx="8686800" cy="7772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474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L1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Поле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7608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Открытая биология — самая трудная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79" y="506577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See &amp; Spray работает · Plenty/AppHarvest/Bowery провалились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1463040"/>
            <a:ext cx="2194560" cy="4206240"/>
          </a:xfrm>
          <a:prstGeom prst="roundRect">
            <a:avLst>
              <a:gd name="adj" fmla="val 13888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554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↑ движение по лестнице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057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↑ контролируемость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3317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среды растёт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2926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↑ измеримая отдача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ROI растёт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794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↑ предсказуемость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069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результата растёт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46634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↓ биология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49377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неопределённость падает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↑ контролируемость среды ↔ ↑ проникновение ИИ · следующая — L11 кибер-физическое производство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Раздел 1 — L1 «Поле»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40233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Открытая биологическая среда: где ИИ работает узко — и где ломается даже здесь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1 working case + 3 vendor matrix · 3 провала (vertical farming, ChatGPT, Plantix) · 2 анти-ИИ критерия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83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83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1. L1 Поле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4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L2 Робот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5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5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L3 Животное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16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16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L4 Цепочка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27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7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Среда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3803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3803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6. L5 Полка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See &amp; Spray Ultimate — каноничный успех L1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676656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07-john-deere-spray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3093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49240"/>
            <a:ext cx="6309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John Deere ExactApply + See &amp; Spray Ultimate · ноябрь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63040"/>
            <a:ext cx="4160520" cy="10972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153619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AB00"/>
                </a:solidFill>
                <a:latin typeface="Arial"/>
              </a:rPr>
              <a:t>5M акров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057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сезон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73736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≈0,55% от 900M акров US ag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651760"/>
            <a:ext cx="4160520" cy="10972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72491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Arial"/>
              </a:rPr>
              <a:t>–50%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2461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контактных гербицидов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92608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от baseline ≈1 lb/акр AI → ≈0,5 lb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3840480"/>
            <a:ext cx="4160520" cy="10972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3913632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7293"/>
                </a:solidFill>
                <a:latin typeface="Arial"/>
              </a:rPr>
              <a:t>+2,0 бушеля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4348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сои с акра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4114800"/>
            <a:ext cx="1600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от среднего US ≈177 bu/A = +1,1%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5029200"/>
            <a:ext cx="4160520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5102352"/>
            <a:ext cx="3886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4A556B"/>
                </a:solidFill>
                <a:latin typeface="Arial"/>
              </a:rPr>
              <a:t>36 камер · CNN на миллионах изображений (&gt;1M) · NVIDIA Jetson edge · &lt;50 мс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AgTechNavigator 2025-11-10; пресс-релиз John Deere ноябрь 2025; GrowIWM 2024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Платформы L1 — пять вендоров, разные режимы. Бренд ≠ режим работы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Платформа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63040"/>
            <a:ext cx="2103120" cy="50292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14630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География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463040"/>
            <a:ext cx="2560320" cy="50292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Режим работы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46304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46304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Бизнес-модель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1168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BASF xarvio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011680"/>
            <a:ext cx="210312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011680"/>
            <a:ext cx="1920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ЕС, Япония (рис)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011680"/>
            <a:ext cx="256032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01168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Подписка + советы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201168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011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Оплата за акр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6032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5603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Climate FieldView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560320"/>
            <a:ext cx="21031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560320"/>
            <a:ext cx="1920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0AB00"/>
                </a:solidFill>
                <a:latin typeface="Arial"/>
              </a:rPr>
              <a:t>США (вышел из РФ 2022)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560320"/>
            <a:ext cx="25603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256032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Хранилище данных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56032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25603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250 млн акров подписок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10896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Syngenta Cropwise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80360" y="3108960"/>
            <a:ext cx="210312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3108960"/>
            <a:ext cx="1920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Глобально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0" y="3108960"/>
            <a:ext cx="256032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10896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Интеграция Bayer Forward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10896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В составе пакета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65760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657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Granular (Corteva)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80360" y="3657600"/>
            <a:ext cx="21031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3657600"/>
            <a:ext cx="1920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США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0" y="3657600"/>
            <a:ext cx="25603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65760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Управление хозяйством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635240" y="365760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79" y="36576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Облачный сервис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20624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062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Taranis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80360" y="4206240"/>
            <a:ext cx="210312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71800" y="4206240"/>
            <a:ext cx="19202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Глобально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0" y="4206240"/>
            <a:ext cx="256032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0" y="4206240"/>
            <a:ext cx="23774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Компьютерное зрение + дроны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5240" y="4206240"/>
            <a:ext cx="2286000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26679" y="42062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Оплата за акр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029200"/>
            <a:ext cx="11091672" cy="1280160"/>
          </a:xfrm>
          <a:prstGeom prst="roundRect">
            <a:avLst>
              <a:gd name="adj" fmla="val 23809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★ Ключевое на слайде — BASF xarvio в Японии: гарантия урожайности риса (октябрь 2025)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48640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Первый случай гарантированной урожайности под ИИ-советы: BASF выплачивает компенсацию при недоборе урожая. Закрытый контур данных + страховой механизм = единственный известный к 2026 году пример.
Остальные 4 платформы матрицы — для самостоятельной проработки; критерий «бренд ≠ режим работы» применяется к каждой.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Источник: пресс-релиз BASF p-25-191 октябрь 2025 · TAdviser FieldView 2022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Базовые модели 2026 — порог входа упал на 2-3 порядка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943600" cy="36576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09-sentinel-brazi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4864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343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Sentinel-2 / Copernicus (ESA, CC-BY-SA) — класс данных для TerraMind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212080"/>
            <a:ext cx="5943600" cy="10972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303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TerraMind (IBM + ESA, 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69280"/>
            <a:ext cx="5486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4A556B"/>
                </a:solidFill>
                <a:latin typeface="Arial"/>
              </a:rPr>
              <a:t>«GPT-3 для Earth observation». Команда из 3 человек
дообучает на тысячах изображений вместо миллионов.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371600"/>
            <a:ext cx="4983480" cy="2377440"/>
          </a:xfrm>
          <a:prstGeom prst="roundRect">
            <a:avLst>
              <a:gd name="adj" fmla="val 1282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50876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0AB00"/>
                </a:solidFill>
                <a:latin typeface="Arial"/>
              </a:rPr>
              <a:t>Риск концентрации у вендоров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965960"/>
            <a:ext cx="4617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Вся индустрия L1 — на 2-3 базовых моделях
(IBM / NASA / ESA).
Закрытие модели = команды теряют
возможности одномоментно.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931920"/>
            <a:ext cx="4983480" cy="2377440"/>
          </a:xfrm>
          <a:prstGeom prst="roundRect">
            <a:avLst>
              <a:gd name="adj" fmla="val 1282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0690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Архитектура советника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526280"/>
            <a:ext cx="46177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Базовая модель (TerraMind)
+ поиск (RAG) к локальному регулятору
+ LLM генерация
+ явный отказ при низкой уверенности.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IBM Research, апрель 2025; NASA Earth Observatory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Вертикальные фермы — провал не из-за плохого ИИ. AppHarvest, Plenty, Bowery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760720" cy="36576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10-vf-lo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303520" cy="3383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0" y="1371600"/>
            <a:ext cx="5074920" cy="10972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AppHarvest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Тепличный, нерентабельный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14884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$600M от $475M SPAC + $341M долга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560320"/>
            <a:ext cx="5074920" cy="10972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65176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Plenty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01752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Compton ИИ-фабрика 19 мес → банкротство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3756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$940M из $1B+ raised с 2014; –99% оценки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749039"/>
            <a:ext cx="5074920" cy="10972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840479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Bowery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206240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Коллапс перед IPO, ноябрь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52627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$672M из $700M raised; пик $2,3B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3035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$1,37 млрд+ потерь, 14 банкротств 2025. Не сработала арифметика энергии.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4A556B"/>
                </a:solidFill>
                <a:latin typeface="Arial"/>
              </a:rPr>
              <a:t>Контроллеры микроклимата работали. Компьютерное зрение распознавало. Модель предсказывала. LED ≈ 100× энергии солнца — AP1 термодинамика &gt; ИИ.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TechCrunch 2025-03-24, 2024-11-04 (Bowery); Agriculture Dive 689039 (AppHarvest)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Пять «почему» — почему ИИ не закрыл термодинамический разрыв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1965960" cy="2377440"/>
          </a:xfrm>
          <a:prstGeom prst="roundRect">
            <a:avLst>
              <a:gd name="adj" fmla="val 15503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1. Почему
закрылась?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560320"/>
            <a:ext cx="1600200" cy="0"/>
          </a:xfrm>
          <a:prstGeom prst="line">
            <a:avLst/>
          </a:prstGeom>
          <a:ln w="1524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65176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Капитал
кончился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60604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97480" y="1554480"/>
            <a:ext cx="1965960" cy="2377440"/>
          </a:xfrm>
          <a:prstGeom prst="roundRect">
            <a:avLst>
              <a:gd name="adj" fmla="val 15503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691639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2. Почему
капитал?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560320"/>
            <a:ext cx="1600200" cy="0"/>
          </a:xfrm>
          <a:prstGeom prst="line">
            <a:avLst/>
          </a:prstGeom>
          <a:ln w="1524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8920" y="265176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Юнит-эконом.
не работает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260604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46320" y="1554480"/>
            <a:ext cx="1965960" cy="2377440"/>
          </a:xfrm>
          <a:prstGeom prst="roundRect">
            <a:avLst>
              <a:gd name="adj" fmla="val 1550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691639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3. Почему
не работает?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0" y="2560320"/>
            <a:ext cx="1600200" cy="0"/>
          </a:xfrm>
          <a:prstGeom prst="line">
            <a:avLst/>
          </a:prstGeom>
          <a:ln w="1524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37760" y="265176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Стоимость
LED-энергии
100× солнца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12280" y="260604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95160" y="1554480"/>
            <a:ext cx="1965960" cy="2377440"/>
          </a:xfrm>
          <a:prstGeom prst="roundRect">
            <a:avLst>
              <a:gd name="adj" fmla="val 15503"/>
            </a:avLst>
          </a:prstGeom>
          <a:solidFill>
            <a:srgbClr val="E6EEF4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691639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4. Почему
100×?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2560320"/>
            <a:ext cx="1600200" cy="0"/>
          </a:xfrm>
          <a:prstGeom prst="line">
            <a:avLst/>
          </a:prstGeom>
          <a:ln w="15240">
            <a:solidFill>
              <a:srgbClr val="212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86600" y="265176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1295C"/>
                </a:solidFill>
                <a:latin typeface="Arial"/>
              </a:rPr>
              <a:t>Закон
термодинамики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20" y="260604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1554480"/>
            <a:ext cx="1965960" cy="2377440"/>
          </a:xfrm>
          <a:prstGeom prst="roundRect">
            <a:avLst>
              <a:gd name="adj" fmla="val 1550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691639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5. Может
ИИ закрыть?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560320"/>
            <a:ext cx="1600200" cy="0"/>
          </a:xfrm>
          <a:prstGeom prst="line">
            <a:avLst/>
          </a:prstGeom>
          <a:ln w="1524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35440" y="265176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Нет:
эффект 5-15%
при разрыве 100×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80560"/>
            <a:ext cx="11091672" cy="1737360"/>
          </a:xfrm>
          <a:prstGeom prst="roundRect">
            <a:avLst>
              <a:gd name="adj" fmla="val 1754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720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Корневая причина: разрыв в два порядка. Никакая модель не закроет.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4A556B"/>
                </a:solidFill>
                <a:latin typeface="Arial"/>
              </a:rPr>
              <a:t>0,5 (солнце→LED) × 0,7 (LED→растение) × 0,3 (растение→выход) ≈ 10,5% от начала до конца. ИИ оптимизирует знаменатель (5-15%); разрыв в числителе.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F0AB00"/>
                </a:solidFill>
                <a:latin typeface="Arial"/>
              </a:rPr>
              <a:t>AP1 в строгой форме: «когда ИИ оптимизирует неверно сформулированную целевую функцию — лучше не ИИ».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Анализ Hannah Ritchie · журнал MDPI Sustainability, 2024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ChatGPT и Bard как агроном — «уверенно ошибочны» в десятках процентов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Tzachor et al., Nature Food, ноябрь 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Reichman University · 184 вопроса (publication 11.2023, press 05.2024)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377440"/>
            <a:ext cx="4846319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6060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GPT-3.5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6060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32%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правильно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GPT-4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108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108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правильно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Bard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11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29%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611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правильно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Остальные 56-71% ответов — уверенно неверны: модель не «не знает», а выдаёт уверенный ответ с неверной дозировкой / неподходящим препаратом. Режим отказа — не «модель плохая», а «применение не в её режиме».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440680" cy="4572000"/>
          </a:xfrm>
          <a:prstGeom prst="roundRect">
            <a:avLst>
              <a:gd name="adj" fmla="val 666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AP4 — категорический анти-паттерн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659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Обобщённый LLM в роли советника-агронома —
категорически неприменим. Не «надо доработать»; это другой класс задач.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46520" y="2788920"/>
            <a:ext cx="4937760" cy="0"/>
          </a:xfrm>
          <a:prstGeom prst="line">
            <a:avLst/>
          </a:prstGeom>
          <a:ln w="1905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4652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Альтернатива: ИИ с проверкой источников (RAG)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3375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Ограниченная база знаний хозяйства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49039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Поиск + цитата источника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605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Откалиброванная уверенность: «не знаю» когда не знает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5720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След проверки для каждой рекомендации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1663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+ человек в петле: финальную рекомендацию подтверждает агроном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Источник: Tzachor et al., Nature Food, ноябрь 2023 (press coverage Phys.org 2024-05)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Plantix — 10-15% ошибочной диагностики × 10 млн+ загрузок = ~100 тыс. неверных рекомендаций / год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02920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Plantix · мобильное 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10+ миллионов загрузок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468880"/>
            <a:ext cx="2834640" cy="3200400"/>
          </a:xfrm>
          <a:prstGeom prst="roundRect">
            <a:avLst>
              <a:gd name="adj" fmla="val 10752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60604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FFFFF"/>
                </a:solidFill>
                <a:latin typeface="Arial"/>
              </a:rPr>
              <a:t>[ камера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3017520"/>
            <a:ext cx="2560320" cy="1371600"/>
          </a:xfrm>
          <a:prstGeom prst="roundRect">
            <a:avLst>
              <a:gd name="adj" fmla="val 22222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3108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Фото листа
соевой
— анализ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448056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Диагноз:
антракноз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502920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F0AB00"/>
                </a:solidFill>
                <a:latin typeface="Arial"/>
              </a:rPr>
              <a:t>Уверенность: 87%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463040"/>
            <a:ext cx="5852160" cy="2194560"/>
          </a:xfrm>
          <a:prstGeom prst="roundRect">
            <a:avLst>
              <a:gd name="adj" fmla="val 138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600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Чем плохо «85-90% точности»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0574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• Самооценка вендора (нет независимого аудита)
• 10-15% ошибочной диагностики = 1-1,5 млн ошибок / год
• Дозо-критичные ошибки (другой препарат)
• Хроническое допущение ложных срабатываний в советнике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794760"/>
            <a:ext cx="5852160" cy="2240280"/>
          </a:xfrm>
          <a:prstGeom prst="roundRect">
            <a:avLst>
              <a:gd name="adj" fmla="val 13605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9319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AB00"/>
                </a:solidFill>
                <a:latin typeface="Arial"/>
              </a:rPr>
              <a:t>AP3 + альтернатива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43484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AP3: пороговая точность ≠ готовность к внедрению.
Альтернатива — откалиброванная уверенность + отказ:
  • выдавать только при ≥90% уверенности,
  • иначе — «направить к специалисту»,
  • + разделение по критичности дозы.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Plantix.net (интерфейс); данные Frontiers in Plant Science 2020 + самоотчёт Plantix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L1 в РФ — ExactFarming и Прогресс Агро при индексе цифровизации 27,2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11480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14-rus-dig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029200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371600"/>
            <a:ext cx="548640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ExactFarming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12 700 хозяйств · 9,8 млн 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402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Управление полями + мониторинг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88920"/>
            <a:ext cx="548640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803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ГК «Прогресс Агро»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3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+5% рентабельности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65760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Внутренний замер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77840"/>
            <a:ext cx="11091672" cy="7315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692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AP6 — Climate FieldView вышел из РФ в 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Политический риск L1: облачные сервисы с зарубежной зависимостью могут отключиться по решению вендора или санкций.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Яков и Партнёры 2024 · ExactFarming.com · TAdviser 2022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Раздел 2 — L2 «Робот»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40233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Специализация побеждает универсальность. Узкие победы против универсальных провалов.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4 working specialization cases · 3 провала (Monarch, FarmWise, strawberry) · РФ-параллель CV vs sensor-fusion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83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83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L1 Поле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4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2. L2 Робот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5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5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L3 Животное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16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16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L4 Цепочка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27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7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Среда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3803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3803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6. L5 Полка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Carbon Robotics LaserWeeder G2 — каноничный успех L2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6858000" cy="4663440"/>
          </a:xfrm>
          <a:prstGeom prst="roundRect">
            <a:avLst>
              <a:gd name="adj" fmla="val 653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0-farmwise-ti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64008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5321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ИИ-управляемый робот для борьбы с сорняками (репрезентативное фото · класс «Titan / LaserWeeder»)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4069080" cy="10515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630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0AB00"/>
                </a:solidFill>
                <a:latin typeface="Arial"/>
              </a:rPr>
              <a:t>250 000 акров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≈0,028% из 900M акров US 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514600"/>
            <a:ext cx="4069080" cy="105156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6060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15 млрд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089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сорняков уничтожено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657600"/>
            <a:ext cx="4069080" cy="105156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749039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C7293"/>
                </a:solidFill>
                <a:latin typeface="Arial"/>
              </a:rPr>
              <a:t>$1,4 млн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2519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vs прыскиватель ~$50k + химия $200-400/акр → окупаемость 3-4 года на 1k+ акров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4800600"/>
            <a:ext cx="4069080" cy="105156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89204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65A82"/>
                </a:solidFill>
                <a:latin typeface="Arial"/>
              </a:rPr>
              <a:t>240 Вт лазер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394960"/>
            <a:ext cx="374903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+ CNN на 40 млн изображений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989320"/>
            <a:ext cx="11091672" cy="3657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01675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Замена химии физикой — узкая замена операции, не «автономный трактор». Рабочий паттерн L2.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Источник: пресс-релиз Carbon Robotics, businesswire 2025-02-10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Cognitive Pilot и ИТЭЛМА — это не ИИ против не-ИИ; это два разных класса 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40680" cy="4572000"/>
          </a:xfrm>
          <a:prstGeom prst="roundRect">
            <a:avLst>
              <a:gd name="adj" fmla="val 6666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Cognitive Pilot · компьютерное зрение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«Что я вижу»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331720"/>
            <a:ext cx="5074920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1700+ установок (трактора, комбайны)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4 иска фермеров (~12,7 млн 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Режим отказа: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5074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• пыль закрывает камеры
• сдвиг от теней меняет освещение
• распознавание крайних рядов сбивается
• эталонная разметка ≠ полевые условия
• краевые случаи не в обучающем наборе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440680" cy="4572000"/>
          </a:xfrm>
          <a:prstGeom prst="roundRect">
            <a:avLst>
              <a:gd name="adj" fmla="val 666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ИТЭЛМА Квадро · слияние сенсоров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Навигация + инерциальные + поправки: «где я нахожусь»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46520" y="2331720"/>
            <a:ext cx="5074920" cy="0"/>
          </a:xfrm>
          <a:prstGeom prst="line">
            <a:avLst/>
          </a:prstGeom>
          <a:ln w="1270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46520" y="246888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ГЛОНАСС + GPS + Galileo + BeiDou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RTK-коррекция: точность 2-5 см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4612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Почему работает: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5074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• сенсоры не зависят от освещения
• несколько систем = резервирование
• ГЛОНАСС работает в РФ независимо
• стабильность в пыли / тумане / ночью
• совместима с детерминистическим вождением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RTVI 2025 (иски Cognitive Pilot); Фонтанка 2026-01-26 (ИТЭЛМА)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Узкие победы L2 — Solinftec, Saga UV-C, Tevel, AGCO Outrun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ctor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6916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Solinftec Solix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+243% год к году в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Самоотчёт вендора: ≤98%
сокращения контактных гербицидов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eaf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672" y="1691640"/>
            <a:ext cx="777240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56432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Saga UV-C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20% клубники в Великобритании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749039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Ультрафиолетовая ночная обработка.
Не сбор — контроль болезней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ckage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304" y="1691640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7064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Tevel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Дроны-сборщики яблок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3749039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Узкая ниша — летающие
дроны для сбора яблок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actor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36" y="1691640"/>
            <a:ext cx="777240" cy="777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97696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AGCO PTx Outrun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Дооснащение смешанного парка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3749039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AGCO-модуль для смешанного
парка тракторов (не только AGCO)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Паттерн специализации: каждое решение — узкое и измеримое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F0AB00"/>
                </a:solidFill>
                <a:latin typeface="Arial"/>
              </a:rPr>
              <a:t>⚠ Не путать: Saga UV-C ≠ Saga для сбора. Эти 20% клубники в Великобритании — контроль болезней, не сбор.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Solinftec.com · sagarobotics.com · tevel-tech.com · agcocorp.com 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Monarch Tractor — «автономный» при сломанной автономии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0160" y="1828800"/>
            <a:ext cx="9601200" cy="0"/>
          </a:xfrm>
          <a:prstGeom prst="line">
            <a:avLst/>
          </a:prstGeom>
          <a:ln w="317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115568" y="1664208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" y="960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2018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" y="2103120"/>
            <a:ext cx="1874519" cy="1645920"/>
          </a:xfrm>
          <a:prstGeom prst="roundRect">
            <a:avLst>
              <a:gd name="adj" fmla="val 18518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" y="2194560"/>
            <a:ext cx="178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Основание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" y="2697480"/>
            <a:ext cx="1783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Livermore, CA</a:t>
            </a:r>
          </a:p>
        </p:txBody>
      </p:sp>
      <p:sp>
        <p:nvSpPr>
          <p:cNvPr id="9" name="Oval 8"/>
          <p:cNvSpPr/>
          <p:nvPr/>
        </p:nvSpPr>
        <p:spPr>
          <a:xfrm>
            <a:off x="3515868" y="1664208"/>
            <a:ext cx="329184" cy="329184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960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2022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103120"/>
            <a:ext cx="1874519" cy="1645920"/>
          </a:xfrm>
          <a:prstGeom prst="roundRect">
            <a:avLst>
              <a:gd name="adj" fmla="val 18518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194560"/>
            <a:ext cx="178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Демо MK-V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97480"/>
            <a:ext cx="1783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Большая PR-волна</a:t>
            </a:r>
          </a:p>
        </p:txBody>
      </p:sp>
      <p:sp>
        <p:nvSpPr>
          <p:cNvPr id="14" name="Oval 13"/>
          <p:cNvSpPr/>
          <p:nvPr/>
        </p:nvSpPr>
        <p:spPr>
          <a:xfrm>
            <a:off x="5916168" y="1664208"/>
            <a:ext cx="329184" cy="329184"/>
          </a:xfrm>
          <a:prstGeom prst="ellipse">
            <a:avLst/>
          </a:prstGeom>
          <a:solidFill>
            <a:srgbClr val="F0AB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3500" y="960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сент.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2103120"/>
            <a:ext cx="1874519" cy="1645920"/>
          </a:xfrm>
          <a:prstGeom prst="roundRect">
            <a:avLst>
              <a:gd name="adj" fmla="val 18518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9220" y="2194560"/>
            <a:ext cx="178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Иск Burks Tractor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9220" y="2697480"/>
            <a:ext cx="1783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10 тракторов · $773 088
«не может работать
автономно»</a:t>
            </a:r>
          </a:p>
        </p:txBody>
      </p:sp>
      <p:sp>
        <p:nvSpPr>
          <p:cNvPr id="19" name="Oval 18"/>
          <p:cNvSpPr/>
          <p:nvPr/>
        </p:nvSpPr>
        <p:spPr>
          <a:xfrm>
            <a:off x="8316468" y="1664208"/>
            <a:ext cx="329184" cy="329184"/>
          </a:xfrm>
          <a:prstGeom prst="ellipse">
            <a:avLst/>
          </a:prstGeom>
          <a:solidFill>
            <a:srgbClr val="F0AB0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960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нояб.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103120"/>
            <a:ext cx="1874519" cy="1645920"/>
          </a:xfrm>
          <a:prstGeom prst="roundRect">
            <a:avLst>
              <a:gd name="adj" fmla="val 18518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194560"/>
            <a:ext cx="178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102 сокращения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697480"/>
            <a:ext cx="1783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~38% (102 / ~270
после 10% cut нояб. 2024)</a:t>
            </a:r>
          </a:p>
        </p:txBody>
      </p:sp>
      <p:sp>
        <p:nvSpPr>
          <p:cNvPr id="24" name="Oval 23"/>
          <p:cNvSpPr/>
          <p:nvPr/>
        </p:nvSpPr>
        <p:spPr>
          <a:xfrm>
            <a:off x="10716768" y="1664208"/>
            <a:ext cx="329184" cy="329184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4100" y="960120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апр. 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2103120"/>
            <a:ext cx="1874519" cy="1645920"/>
          </a:xfrm>
          <a:prstGeom prst="roundRect">
            <a:avLst>
              <a:gd name="adj" fmla="val 18518"/>
            </a:avLst>
          </a:prstGeom>
          <a:solidFill>
            <a:srgbClr val="E6EEF4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9820" y="2194560"/>
            <a:ext cx="1783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Поглощение
Caterpillar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9820" y="2697480"/>
            <a:ext cx="1783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4A556B"/>
                </a:solidFill>
                <a:latin typeface="Arial"/>
              </a:rPr>
              <a:t>Конец независимости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091672" cy="1554480"/>
          </a:xfrm>
          <a:prstGeom prst="roundRect">
            <a:avLst>
              <a:gd name="adj" fmla="val 19607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Анти-паттерн: демо ≠ промышленное внедрение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«Автономный» в маркетинге = юридическая ловушка, если фактическое поведение зависит от оператора.
Каждое обещание автономии должно проверяться независимым тестом оператора → если требует
присутствия оператора, автономия — частичная.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TechCrunch 2025-11-18, 2025-11-19, 2026-04-15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FarmWise свернул работу + Naïo –40% — открытая среда ломает компьютерное зрение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206240"/>
          </a:xfrm>
          <a:prstGeom prst="roundRect">
            <a:avLst>
              <a:gd name="adj" fmla="val 7246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Причина провалов CV-стека (компьютерное зрение)</a:t>
            </a:r>
          </a:p>
        </p:txBody>
      </p:sp>
      <p:pic>
        <p:nvPicPr>
          <p:cNvPr id="5" name="Picture 4" descr="p20-farmwise-tit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50292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FarmWise Titan FT35 · свернул работу в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062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FarmWise свернул работу 2025
Naïo €4 млн → €2,4 млн (–40%)
Компьютерное зрение, обученное в тепличных условиях:
• сдвиг от теней (arXiv 2508.19511)
• переменное освещение
• пыль / туман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724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AP2b — детерминированная альтернатива</a:t>
            </a:r>
          </a:p>
        </p:txBody>
      </p:sp>
      <p:pic>
        <p:nvPicPr>
          <p:cNvPr id="10" name="Picture 9" descr="p20-tractor-mo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11680"/>
            <a:ext cx="50292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886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Lemken / Kverneland — механический культиватор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Механические культиваторы как детерминированный
вариант:
• стебле-определение механикой
• междурядная обработка
• работает в любую погоду
• стоимость в 3-5× меньше CV-робота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Farm Progress 2025; arXiv 2508.19511 (shadow bias); Lemken / Kverneland press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Робот-сборщик клубники — 10 лет пилотов, не промышленного внедрения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653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1-strawberry-pic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03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Ручной сбор клубники (Wikimedia Commons, CC-BY-SA)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«Сбор урожая — последняя великая нерешённая задача»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10972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$200-350 тыс.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55448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капитальные затраты
на одного робота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60320"/>
            <a:ext cx="5486400" cy="10972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$68-130 тыс.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74320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годовая амортизация
одного робота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486400" cy="10972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7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$43 тыс. / акр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393192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стоимость ручного
сбора в Калифорнии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937759"/>
            <a:ext cx="5486400" cy="10972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029199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&lt;5% рынка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5120640"/>
            <a:ext cx="2606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роботы × $50 млрд
адресуемого рынка труда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Wikimedia Commons; RobotToday market analysis 2024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Раздел 3 — L3 «Животное»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40233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Полузакрытая среда + измерения на уровне особи. ИИ работает стабильнее, чем на L1-L2.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4 working cases (SenseHub, CattleEye, DeLaval, Birdoo) · 3 анти-хайп урока (Cainthus, tie-stall, Holstein-bias)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83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83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L1 Поле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4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L2 Робот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5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5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3. L3 Животное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16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16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L4 Цепочка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27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7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Среда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3803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3803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6. L5 Полка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Allflex SenseHub — 2 млн коров с сенсорами (≈0,75% из 265M dairy cows worldwide)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943600" cy="4663440"/>
          </a:xfrm>
          <a:prstGeom prst="roundRect">
            <a:avLst>
              <a:gd name="adj" fmla="val 653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3-cow-ear-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Сенсор-бирка · Wikimedia (Cow with ear tag, CC-BY-SA)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+ ошейник-акселерометр + облачная аналитика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ИИ-конвейер (раннее предупреждение)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65960"/>
            <a:ext cx="4937760" cy="7772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7568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1. Сенсор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0487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Акселерометр · 5-7 лет батарея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34639"/>
            <a:ext cx="4937760" cy="7772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9443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2. Облако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273551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ML-классификация поведения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703320"/>
            <a:ext cx="4937760" cy="7772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8130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3. Сигнал фермеру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142231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Раннее предупреждение, не назначение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617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5 классов сигналов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029200"/>
            <a:ext cx="914400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029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эструс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1" y="5029200"/>
            <a:ext cx="914400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62671" y="5029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отёл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50224" y="5029200"/>
            <a:ext cx="914400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5029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хромота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37776" y="5029200"/>
            <a:ext cx="914400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5029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мастит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5328" y="5029200"/>
            <a:ext cx="914400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5029200"/>
            <a:ext cx="914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пневмония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5669280"/>
            <a:ext cx="4937760" cy="5486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715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ИИ = усиление человека, не замена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Источник: Merck Animal Health, 2025 — рубеж 2 млн молочных коров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CattleEye + DeLaval VMS V310 + Cargill Birdoo — 3 рабочих кейса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611880" cy="4114800"/>
          </a:xfrm>
          <a:prstGeom prst="roundRect">
            <a:avLst>
              <a:gd name="adj" fmla="val 8438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5-dairy-c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337560" cy="1645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42900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CattleEye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862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0AB00"/>
                </a:solidFill>
                <a:latin typeface="Arial"/>
              </a:rPr>
              <a:t>60 ферм · 11 000 коров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Видеонаблюдение + ИИ в облаке:
оценка хромоты · сеть GEA &gt;250 000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463040"/>
            <a:ext cx="3611880" cy="4114800"/>
          </a:xfrm>
          <a:prstGeom prst="roundRect">
            <a:avLst>
              <a:gd name="adj" fmla="val 8438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25-holste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645920"/>
            <a:ext cx="333756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62272" y="342900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DeLaval VMS V310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38862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99,8% успешного подключения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438912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998/1000 успешных подключений
руки доильного аппарата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63040"/>
            <a:ext cx="3611880" cy="4114800"/>
          </a:xfrm>
          <a:prstGeom prst="roundRect">
            <a:avLst>
              <a:gd name="adj" fmla="val 8438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ird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201168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38744" y="342900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Cargill Birdoo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8862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0AB00"/>
                </a:solidFill>
                <a:latin typeface="Arial"/>
              </a:rPr>
              <a:t>&gt;95% точность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438912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Компьютерное зрение для оценки
веса · экономия 10-30 г корма / бройлера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Fortune 2025-06 (CattleEye GEA); DeLaval press 2025-04; Cargill.com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Cainthus, привязное содержание, голштинский уклон — 3 анти-хайп урока L3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11091672" cy="13716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lert-circle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459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4519" y="1508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Cainthus (Cargill 2018)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F0AB00"/>
                </a:solidFill>
                <a:latin typeface="Arial"/>
              </a:rPr>
              <a:t>Анонс ≠ внедрение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50876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Публичных производственных метрик нет. Брендированный пресс-релиз, но 0 измеримых данных по развёртыванию к 2026 году.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1091672" cy="13716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ck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971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Привязное содержание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F0AB00"/>
                </a:solidFill>
                <a:latin typeface="Arial"/>
              </a:rPr>
              <a:t>Архитектура ломает компьютерное зрение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7180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Алгоритм работает на беспривязном (свободном) содержании, не на привязном.
Большая часть РФ-коров содержится привязно.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1091672" cy="1371600"/>
          </a:xfrm>
          <a:prstGeom prst="roundRect">
            <a:avLst>
              <a:gd name="adj" fmla="val 2222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x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572000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434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Голштинский уклон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800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F0AB00"/>
                </a:solidFill>
                <a:latin typeface="Arial"/>
              </a:rPr>
              <a:t>Обучающие данные ≠ местные породы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43484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ИИ обучен на голштинской / фризской породе. Ярославская, Якутская, Холмогорская — другая морфология.
Способности ИИ ≠ применимость ИИ.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97880"/>
            <a:ext cx="11091672" cy="3657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21295C"/>
                </a:solidFill>
                <a:latin typeface="Arial"/>
              </a:rPr>
              <a:t>Главный урок: способности ИИ ≠ применимость ИИ. Архитектура хозяйства + порода — переменные применимости.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Wikimedia Commons (Holstein); пресс-релиз Cargill 2018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L3 в РФ — Connectome.ai + санкционная неопределённость молочного ИИ-стека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Работает — Connectome.ai</a:t>
            </a:r>
          </a:p>
        </p:txBody>
      </p:sp>
      <p:pic>
        <p:nvPicPr>
          <p:cNvPr id="5" name="Picture 4" descr="scan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01168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017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Резидент Сколково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74720"/>
            <a:ext cx="5029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Узкая задача компьютерного зрения:
контроль отёлов телят
+ ранний сигнал на помощь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Паттерн: узкая ниша + CV +
измеримая безопасность животного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Под вопросом — DeLaval / GEA / Lely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Серый статус облачной аналитики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Оборудование физически у фермеров
• Облачная аналитика зависит от Европы
• Прецедент: Climate FieldView 2022 →
  Microsoft Azure 2024 (для оборонки)
• Лобня 2026 — замещение оборудования
  начато (4 млрд ₽), ИИ-стек — отд. трек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709160"/>
            <a:ext cx="5029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F9 — риск «пара»: вендор может отключить ИИ-функционал по решению санкций или лицензий, не уведомив пользователей заранее.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Connectome.ai (Сколково); BUSINESS-stat 2026 Лобня · TAdviser FieldView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Раздел 4 — L4 «Цепочка поставок»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40233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Агентный ИИ лидирует. Результат измеряется в долях процента за минуты, не в сезонах.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4 working cases (Cargill CMAX, Tract, Olam, Walmart×Cropin) · 2 провала (USDA, Verra) · РФ-параллель (X5/Магнит/РСХБ)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83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83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L1 Поле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4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L2 Робот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5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5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L3 Животное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16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16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4. L4 Цепочка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27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7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Среда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3803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3803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6. L5 Полка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Cargill CMAX — премия BIG AI Excellence Award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6400800" cy="4663440"/>
          </a:xfrm>
          <a:prstGeom prst="roundRect">
            <a:avLst>
              <a:gd name="adj" fmla="val 653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28-grain-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59436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492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Зерновой порт и силосы · Tilbury (Wikimedia, CC-BY-SA)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692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ИИ оптимизирует прогноз для порта и судоходную логистику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371600"/>
            <a:ext cx="4526280" cy="11430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48132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7293"/>
                </a:solidFill>
                <a:latin typeface="Arial"/>
              </a:rPr>
              <a:t>70+ стран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29967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из 195 (≈36% мира) · ~155k штат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606040"/>
            <a:ext cx="4526280" cy="11430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271576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65A82"/>
                </a:solidFill>
                <a:latin typeface="Arial"/>
              </a:rPr>
              <a:t>1000+ объектов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6440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склады / порты / силосы Cargill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840480"/>
            <a:ext cx="4526280" cy="114300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95020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0AB00"/>
                </a:solidFill>
                <a:latin typeface="Arial"/>
              </a:rPr>
              <a:t>BIG AI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498848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Excellence Award на уровне L4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5074920"/>
            <a:ext cx="452628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512064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Принцип успеха: узость агента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48640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Одно действие на агента (хеджирование / маршрут) + человек в петле для сделок &gt;$10 млн номинала.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Источник: пресс-релиз Cargill, апрель 2026 (BIG AI Excellence Award)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Как агент хеджирует — упрощённая схема в 4 шага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606040" cy="3383280"/>
          </a:xfrm>
          <a:prstGeom prst="roundRect">
            <a:avLst>
              <a:gd name="adj" fmla="val 11695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base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160020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5603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1. Сенсор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Вектор состояния:
цена + погода + валюта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065A82"/>
                </a:solidFill>
                <a:latin typeface="Arial"/>
              </a:rPr>
              <a:t>входные данные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92608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37560" y="1371600"/>
            <a:ext cx="2606040" cy="3383280"/>
          </a:xfrm>
          <a:prstGeom prst="roundRect">
            <a:avLst>
              <a:gd name="adj" fmla="val 11695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ain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1600200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0" y="25603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2. Расчёт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175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Распределение цен
5/30/90 дней + неопределённость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43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065A82"/>
                </a:solidFill>
                <a:latin typeface="Arial"/>
              </a:rPr>
              <a:t>ML-модель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92608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606040" cy="3383280"/>
          </a:xfrm>
          <a:prstGeom prst="roundRect">
            <a:avLst>
              <a:gd name="adj" fmla="val 11695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ttings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1600200"/>
            <a:ext cx="822960" cy="822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25603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3. Решение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175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4 действия:
купить / продать /
держать / хеджировать
+ человек при &gt;$10 млн номинала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43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Слой действий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2520" y="2926080"/>
            <a:ext cx="18288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1371600"/>
            <a:ext cx="2606040" cy="3383280"/>
          </a:xfrm>
          <a:prstGeom prst="roundRect">
            <a:avLst>
              <a:gd name="adj" fmla="val 11695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rending-up-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0" y="1600200"/>
            <a:ext cx="822960" cy="8229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52560" y="25603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4. Обратная связь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01752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bp (базисный пункт) за минуты,
онлайн-обучение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34340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1">
                <a:solidFill>
                  <a:srgbClr val="065A82"/>
                </a:solidFill>
                <a:latin typeface="Arial"/>
              </a:rPr>
              <a:t>Цикл замыкается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91672" cy="1371600"/>
          </a:xfrm>
          <a:prstGeom prst="roundRect">
            <a:avLst>
              <a:gd name="adj" fmla="val 22222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Пример: проскальзывание сократилось с 45 bp до 8 bp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На сделке $5 млн номинала: (45–8) × 0,01% × $5 млн = $1850 за сделку. При 20 сделках в месяц = ~$37 тыс. экономии. ROI узкого агентного ИИ — 1-2 месяца.
Это работает, потому что задача узкая (тайминг хеджирования), обратная связь быстрая, человек — только для крупных сделок.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Пример: McKinsey 2025 hedging report — типичное ручное проскальзывание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Tract + Olam Mindsprint + Walmart × Cropin + Tesco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base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180" y="169164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517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€18,6 млн раунд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Icos Capital · 4 якорных инвестора:
Cargill + ADM + Olam + LDC.
Хранилище данных, НЕ агент.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ckage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0812" y="169164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56432" y="26517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Olam Procuresprint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Агентная закупка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749039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Узкая закупочная задача:
цена + поставщики + контракты
как агент.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lobe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444" y="1691640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27064" y="26517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Walmart × Cropin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США + ЮАР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3749039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(не Индия) — аналитика
цепочки поставок и ESG-отчёт.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536" y="1463040"/>
            <a:ext cx="2606040" cy="384048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ing-down-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076" y="1691640"/>
            <a:ext cx="822960" cy="8229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97696" y="265176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Tesco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31089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−30% пищевых отходов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5" y="3749039"/>
            <a:ext cx="2240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С 2017 — Tesco AI для
прогноза скоропортящихся.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5778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⚠ Не путать: Tract = хранилище данных (инфраструктура соответствия), не агентный ИИ.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43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Конкуренты совместно строят инфраструктуру соответствия — редкий прецедент коллаборации Cargill+ADM+Olam+LDC.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пресс-релиз Tract 2024-08; FreshPlaza; пресс-релиз Wipro 2026 (Mindsprint)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USDA Climate-Smart отменён + 94% призрачных кредитов Verra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Апрель 2025 — USDA отменил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программу Climate-Smart Commodities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$3,1 млрд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4231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финансирование · ≈$23M / проект ср.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135 проектов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отменены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14 000 ферм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4290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потеряли поддержку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3,2 млн акров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931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≈0,36% от 900M акров US 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1" i="1">
                <a:solidFill>
                  <a:srgbClr val="21295C"/>
                </a:solidFill>
                <a:latin typeface="Arial"/>
              </a:rPr>
              <a:t>Федеральная политика = хвостовой риск
для бизнес-моделей, зависящих от субсидий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Январь 2023 — 94% призрачных у Verra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The Guardian + Die Zeit + SourceMaterial</a:t>
            </a:r>
          </a:p>
        </p:txBody>
      </p:sp>
      <p:pic>
        <p:nvPicPr>
          <p:cNvPr id="18" name="Picture 17" descr="c31-verra-phan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40"/>
            <a:ext cx="5212080" cy="274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6520" y="53035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94% лесных кредитов Verra → нет реального снижения CO₂.
AP7: AI-MRV без прямых измерений = масштабное «зелёное мошенничество».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USDA press 2025-04-14; The Guardian 2023-01; SourceMaterial 2023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L4 в РФ — X5 паритет, Магнит гибрид, РСХБ — «пар»</a:t>
            </a:r>
          </a:p>
        </p:txBody>
      </p:sp>
      <p:pic>
        <p:nvPicPr>
          <p:cNvPr id="3" name="Picture 2" descr="c32-rus-r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4114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371600"/>
            <a:ext cx="5029200" cy="1463040"/>
          </a:xfrm>
          <a:prstGeom prst="roundRect">
            <a:avLst>
              <a:gd name="adj" fmla="val 20833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463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X5 «Перекрёсток»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1C7293"/>
                </a:solidFill>
                <a:latin typeface="Arial"/>
              </a:rPr>
              <a:t>ML с 2020 · 200+ факторов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2402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Мировой уровень. Работает.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926080"/>
            <a:ext cx="5029200" cy="1463040"/>
          </a:xfrm>
          <a:prstGeom prst="roundRect">
            <a:avLst>
              <a:gd name="adj" fmla="val 20833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0175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Магнит F&amp;R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3832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065A82"/>
                </a:solidFill>
                <a:latin typeface="Arial"/>
              </a:rPr>
              <a:t>Гибрид: прогноз ✓, пополнение — пилот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947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Прогнозирование на 46 РЦ янв 2026 — в эксплуатации.
Пополнение на 3 РЦ — пилот.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480560"/>
            <a:ext cx="5029200" cy="1463040"/>
          </a:xfrm>
          <a:prstGeom prst="roundRect">
            <a:avLst>
              <a:gd name="adj" fmla="val 2083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572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РСХБ ИИ-сервисы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9377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F0AB00"/>
                </a:solidFill>
                <a:latin typeface="Arial"/>
              </a:rPr>
              <a:t>Заявлены, метрик 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34924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Риск «пара»: декларации без производственных метрик.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21295C"/>
                </a:solidFill>
                <a:latin typeface="Arial"/>
              </a:rPr>
              <a:t>Паттерн: паритет L4-L5 при отставании L1-L2. GigaChat — демо-эпизод, не внедрение.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Habr Магнит 2026-01; TAdviser X5 Tech 2024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Раздел 4-bis — Среда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40233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Сквозные темы: связь · привязка к вендору · регуляторика. Без них ни одна ступень не работает.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3 sub-блока (связь / vendor lock-in двойная оптика / регуляторика) · 3 анти-ИИ критерия (AP5, AP6, AP7)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83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83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L1 Поле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4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L2 Робот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5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5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L3 Животное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16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16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L4 Цепочка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27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7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5. Среда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3803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3803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6. L5 Полка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Связь — 18% ферм без интернета + помехи навигации в I кв.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11880" cy="1371600"/>
          </a:xfrm>
          <a:prstGeom prst="roundRect">
            <a:avLst>
              <a:gd name="adj" fmla="val 22222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0AB00"/>
                </a:solidFill>
                <a:latin typeface="Arial"/>
              </a:rPr>
              <a:t>18%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≈360k из 2M ферм США
без интернета (vs &lt;1% urban)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11880" cy="1371600"/>
          </a:xfrm>
          <a:prstGeom prst="roundRect">
            <a:avLst>
              <a:gd name="adj" fmla="val 22222"/>
            </a:avLst>
          </a:prstGeom>
          <a:solidFill>
            <a:srgbClr val="E6EEF4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508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21295C"/>
                </a:solidFill>
                <a:latin typeface="Arial"/>
              </a:rPr>
              <a:t>123 000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≈1,2% от 10M рейсов
Q1 2025 (vs &lt;1k Q1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611880" cy="1371600"/>
          </a:xfrm>
          <a:prstGeom prst="roundRect">
            <a:avLst>
              <a:gd name="adj" fmla="val 22222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1C7293"/>
                </a:solidFill>
                <a:latin typeface="Arial"/>
              </a:rPr>
              <a:t>апр.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11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запрет Starlink в РФ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486400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34-gps-b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5029200" cy="23774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17920" y="3017520"/>
            <a:ext cx="5486400" cy="2743200"/>
          </a:xfrm>
          <a:prstGeom prst="roundRect">
            <a:avLst>
              <a:gd name="adj" fmla="val 11111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AB00"/>
                </a:solidFill>
                <a:latin typeface="Arial"/>
              </a:rPr>
              <a:t>AP5 + альтернатива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AP5: облако-первый подход для отсутствия сети =
архитектурная ошибка.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46520" y="4434840"/>
            <a:ext cx="5029200" cy="0"/>
          </a:xfrm>
          <a:prstGeom prst="line">
            <a:avLst/>
          </a:prstGeom>
          <a:ln w="1270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46520" y="4572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Альтернатива: ML на устройстве (edge / TinyML)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9834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• вывод модели прямо на устройстве
• минимальная связь с облаком
• работает в условиях помех навигации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Stanford GPS Lab ITM 2025; ICAO 2025 (Швейцария / Финляндия / Эстония)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Привязка к вендору — двойная оптика John Deere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Май 2022 — успех против кражи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Мелитополь, оккупированная территория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Удалённая блокировка John Deere:
27 единиц техники
на $5 млн стали
кирпичом по решению производителя.</a:t>
            </a:r>
          </a:p>
        </p:txBody>
      </p:sp>
      <p:pic>
        <p:nvPicPr>
          <p:cNvPr id="7" name="Picture 6" descr="p30b-fpv-dr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0"/>
            <a:ext cx="5029200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715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ИИ-функция безопасности — успех в этой петле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0AB00"/>
                </a:solidFill>
                <a:latin typeface="Arial"/>
              </a:rPr>
              <a:t>Янв. 2025 — FTC против Deere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Десятилетние ограничения ремонта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Один и тот же механизм:
удалённая блокировка = безопасность сегодня =
поверхность контроля завтра. Фермер
не может ремонтировать без
разрешения вендора.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4114800"/>
            <a:ext cx="5029200" cy="0"/>
          </a:xfrm>
          <a:prstGeom prst="line">
            <a:avLst/>
          </a:prstGeom>
          <a:ln w="1524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46520" y="4251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Декабрь 2025 — FCC запретил DJI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80-90% сельхоз-дронов в США потеряли
легальный статус. Одно решение FCC —
привязка к вендору стала геополитическим риском.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The Register 2022-05-02; CSO Online 572811; пресс-релиз FTC 2025-01-15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Регуляторика — EU AI Act vs USDA vs «АПК будущего»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11880" cy="4754880"/>
          </a:xfrm>
          <a:prstGeom prst="roundRect">
            <a:avLst>
              <a:gd name="adj" fmla="val 8438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EU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Регламент 2024/1689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331720"/>
            <a:ext cx="3246120" cy="0"/>
          </a:xfrm>
          <a:prstGeom prst="line">
            <a:avLst/>
          </a:prstGeom>
          <a:ln w="1270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468880"/>
            <a:ext cx="3246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• Сельхозтехника — высокий риск
• Февр. 2025 — оператор обязан
• ИИ-грамотность обязательна
• Цепь ответственности: вендор → оператор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3246120" cy="64008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Строгий, исполнимый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71600"/>
            <a:ext cx="3611880" cy="4754880"/>
          </a:xfrm>
          <a:prstGeom prst="roundRect">
            <a:avLst>
              <a:gd name="adj" fmla="val 8438"/>
            </a:avLst>
          </a:prstGeom>
          <a:solidFill>
            <a:srgbClr val="E6EEF4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4630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USDA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20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FY2025-26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07992" y="2331720"/>
            <a:ext cx="3246120" cy="0"/>
          </a:xfrm>
          <a:prstGeom prst="line">
            <a:avLst/>
          </a:prstGeom>
          <a:ln w="12700">
            <a:solidFill>
              <a:srgbClr val="212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07992" y="2468880"/>
            <a:ext cx="3246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• Формальная декларация
• Climate-Smart отменена
• Нет обязательной ИИ-грамотности
• Нет классификации высокого риска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5349240"/>
            <a:ext cx="3246120" cy="64008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5349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Формальная, слабое принуждение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371600"/>
            <a:ext cx="3611880" cy="4754880"/>
          </a:xfrm>
          <a:prstGeom prst="roundRect">
            <a:avLst>
              <a:gd name="adj" fmla="val 8438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4630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РФ «АПК будущего»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9202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Распоряж. 31.12.2025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84463" y="2331720"/>
            <a:ext cx="3246121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84463" y="2468880"/>
            <a:ext cx="32461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4A556B"/>
                </a:solidFill>
                <a:latin typeface="Arial"/>
              </a:rPr>
              <a:t>• Декларативная программа
• Предыдущая (АПК 2024) –3,2%
• Нет измеримых показателей
• Нет ответственности вендора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84463" y="5349240"/>
            <a:ext cx="3246120" cy="64008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3" y="53492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Декларативная, непроверенная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Cambridge EJRR 2024; USDA AI Strategy FY2025-26; Распоряжение Правительства РФ 31.12.2025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21295C"/>
                </a:solidFill>
                <a:latin typeface="Arial"/>
              </a:rPr>
              <a:t>Раздел 5 — L5 «Полка» + 5 критериев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40233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Розничный ИИ зрел + пять анти-ИИ критериев + чек-лист + карьерный ландшафт + замыкание к Plenty.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L5 кратко (Walmart, Tesco, X5) + 5 критериев + чек-лист + карьера + closing callback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8300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8300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L1 Поле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94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94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L2 Робот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0501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501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L3 Животное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16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16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L4 Цепочка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62702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2702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Среда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83803" y="6355080"/>
            <a:ext cx="1547948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3803" y="6391656"/>
            <a:ext cx="15479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6. L5 Полка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L5 — Walmart Eden + Tesco AI + X5 «Перекрёсток» + Магнит F&amp;R (гибрид)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1333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opping-cart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8760" y="15544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Walmart Eden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65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0AB00"/>
                </a:solidFill>
                <a:latin typeface="Arial"/>
              </a:rPr>
              <a:t>ML с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Прогноз скоропортящихся +
маршруты свежести на 11 000+ магазинов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371600"/>
            <a:ext cx="5486400" cy="2286000"/>
          </a:xfrm>
          <a:prstGeom prst="roundRect">
            <a:avLst>
              <a:gd name="adj" fmla="val 13333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pping-cart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60020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59751" y="155448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Tesco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9751" y="19659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−30% пищевых отходов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42316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С 2017 — ежедневный прогноз
на ~3500 супермаркетов Великобритании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86400" cy="2286000"/>
          </a:xfrm>
          <a:prstGeom prst="roundRect">
            <a:avLst>
              <a:gd name="adj" fmla="val 13333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pping-cart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23360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39776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X5 «Перекрёсток»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389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ML с 2020 · 200+ факторов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Российский флагман L5.
Мировой уровень.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1" y="3794760"/>
            <a:ext cx="5486400" cy="2286000"/>
          </a:xfrm>
          <a:prstGeom prst="roundRect">
            <a:avLst>
              <a:gd name="adj" fmla="val 13333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hopping-cart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4023360"/>
            <a:ext cx="640080" cy="640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59751" y="39776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Магнит F&amp;R (гибрид)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1" y="4389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Прогноз ✓ · Пополнение — пилот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846320"/>
            <a:ext cx="5120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Прогнозирование на 46 РЦ январь 2026 — в эксплуатации.
Пополнение — пилот на 3 РЦ.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263640"/>
            <a:ext cx="11091672" cy="4114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2910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⚠ Оговорка: L5 — розничный ИИ, не агро. Магнит F&amp;R — нюанс «гибрид»: прогноз в промышленной эксплуатации, пополнение — пилот.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Walmart corporate 2025 · Tesco AI annual report · X5 Tech 2024 · Habr Магнит 2026-01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Пять анти-ИИ критериев — главный вывод лекции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822960" cy="41148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17320" y="1371600"/>
            <a:ext cx="3474720" cy="41148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3716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Критерий «когда не ИИ»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59" y="1371600"/>
            <a:ext cx="3520440" cy="41148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59" y="137160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Пример провала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19" y="1371600"/>
            <a:ext cx="3273552" cy="41148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19" y="1371600"/>
            <a:ext cx="3273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Альтернатива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822960" cy="86868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AP1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1828800"/>
            <a:ext cx="3474720" cy="8686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82880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Термодинамика &gt; 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1828800"/>
            <a:ext cx="3520440" cy="8686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182880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Plenty Compton: $940 млн потерь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19" y="1828800"/>
            <a:ext cx="3273552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1828800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Не ИИ · открытое поле или
другая юнит-экономика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822960" cy="86868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AP3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2743200"/>
            <a:ext cx="3474720" cy="8686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274320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Точность ≠ внедрение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59" y="2743200"/>
            <a:ext cx="3520440" cy="8686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199" y="274320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Plantix 85% × 10 млн = ~100 тыс. ошибок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19" y="2743200"/>
            <a:ext cx="3273552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59" y="2743200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Откалиброванная уверенность +
отказ от ответа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822960" cy="86868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65760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AP4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17320" y="3657600"/>
            <a:ext cx="3474720" cy="8686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365760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Универсальный LLM как советник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59" y="3657600"/>
            <a:ext cx="3520440" cy="8686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199" y="365760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Tzachor: 56-71% неверны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19" y="3657600"/>
            <a:ext cx="3273552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59" y="3657600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ИИ с проверкой источников +
человек в петле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572000"/>
            <a:ext cx="822960" cy="86868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57200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AP6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417320" y="4572000"/>
            <a:ext cx="3474720" cy="8686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08760" y="457200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ИИ-техника = привязка к вендору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59" y="4572000"/>
            <a:ext cx="3520440" cy="8686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199" y="457200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Deere $5 млн + FTC + запрет DJI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19" y="4572000"/>
            <a:ext cx="3273552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59" y="4572000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Открытые стандарты / мульти-вендор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486400"/>
            <a:ext cx="822960" cy="86868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486400"/>
            <a:ext cx="822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AP7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17320" y="5486400"/>
            <a:ext cx="3474720" cy="8686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08760" y="5486400"/>
            <a:ext cx="3291839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AI-MRV без прямых измерений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37759" y="5486400"/>
            <a:ext cx="3520440" cy="86868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199" y="548640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Verra: 94% призрачных кредитов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19" y="5486400"/>
            <a:ext cx="3273552" cy="8686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5359" y="5486400"/>
            <a:ext cx="3090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Отбор почвы + спутниковая физика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Также: AP2a (выбор архитектуры внутри ИИ) · AP2b (детерминистическая альтернатива) · AP5 (облако-первый вне сети)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Чек-лист проверки перед покупкой ИИ-решения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212848" cy="4114800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Блок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Классификация задачи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880360"/>
            <a:ext cx="1847088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01752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1. Узкая или универсальная?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2. Закрытый контур или открытая среда?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371600"/>
            <a:ext cx="2212848" cy="4114800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55448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Блок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1945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Промышленное состояние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35808" y="2880360"/>
            <a:ext cx="1847088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35808" y="301752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3. Производственные метрики vs анонсы?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420624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4. Независимая проверка есть?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371600"/>
            <a:ext cx="2212848" cy="4114800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94376" y="155448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6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Блок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1945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Ответственность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40096" y="2880360"/>
            <a:ext cx="1847087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40096" y="301752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5. Цепь ответственности вендора?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420624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6. SLA на отказы ИИ-функционала?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71600"/>
            <a:ext cx="2212848" cy="4114800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98664" y="155448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98664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Блок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21945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Привязка к вендору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44383" y="2880360"/>
            <a:ext cx="1847089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644383" y="301752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7. Открытые стандарты данных?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4383" y="420624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8. Совместимость с другими вендорами?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65792" y="1371600"/>
            <a:ext cx="2212848" cy="4114800"/>
          </a:xfrm>
          <a:prstGeom prst="roundRect">
            <a:avLst>
              <a:gd name="adj" fmla="val 137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02952" y="1554480"/>
            <a:ext cx="1938528" cy="50292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02952" y="1554480"/>
            <a:ext cx="193852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Блок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21945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Связь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48672" y="2880360"/>
            <a:ext cx="1847087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948672" y="301752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9. Резерв на устройстве при
   отсутствии интернета?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4206240"/>
            <a:ext cx="184708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10. Альтернатива GNSS-навигации?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669280"/>
            <a:ext cx="11091672" cy="6400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7150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Оценка: 8-10 «да» = покупать/пилотировать · 5-7 = с условиями · ≤4 = отказать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Ответ — не словами вендора, а внешними источниками: независимые аудиты, пресс-релизы FTC, отраслевые отчёты.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Карьерный ландшафт — L1-L5 сегменты + российский рынок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2212848" cy="4297680"/>
          </a:xfrm>
          <a:prstGeom prst="roundRect">
            <a:avLst>
              <a:gd name="adj" fmla="val 13774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2029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L1 Поле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011680"/>
            <a:ext cx="1847088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14884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Международные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938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John Deere · Bayer · BASF
Climate · Taranis · Granular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Российские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80560"/>
            <a:ext cx="19385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Cognitive Pilot · ИТЭЛМА
ЭФКО · Геоскан · ExactFarming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371600"/>
            <a:ext cx="2212848" cy="4297680"/>
          </a:xfrm>
          <a:prstGeom prst="roundRect">
            <a:avLst>
              <a:gd name="adj" fmla="val 13774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1508760"/>
            <a:ext cx="2029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L2 Робот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35808" y="2011680"/>
            <a:ext cx="1847088" cy="0"/>
          </a:xfrm>
          <a:prstGeom prst="line">
            <a:avLst/>
          </a:prstGeom>
          <a:ln w="1270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44368" y="214884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Международные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0088" y="2514600"/>
            <a:ext cx="1938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Carbon Robotics · Saga · Tevel
AGCO · Aigen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411480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Российские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4480560"/>
            <a:ext cx="19385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(точечные RU стартапы)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371600"/>
            <a:ext cx="2212848" cy="4297680"/>
          </a:xfrm>
          <a:prstGeom prst="roundRect">
            <a:avLst>
              <a:gd name="adj" fmla="val 13774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5" y="1508760"/>
            <a:ext cx="2029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L3 Животное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40096" y="2011680"/>
            <a:ext cx="1847087" cy="0"/>
          </a:xfrm>
          <a:prstGeom prst="line">
            <a:avLst/>
          </a:prstGeom>
          <a:ln w="127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48655" y="214884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Международные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514600"/>
            <a:ext cx="1938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DeLaval · GEA · Lely
Cargill Birdoo · Allflex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5" y="411480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Российские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480560"/>
            <a:ext cx="19385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Connectome.ai · Сколково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61504" y="1371600"/>
            <a:ext cx="2212848" cy="4297680"/>
          </a:xfrm>
          <a:prstGeom prst="roundRect">
            <a:avLst>
              <a:gd name="adj" fmla="val 13774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1508760"/>
            <a:ext cx="2029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L4 Цепочка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44383" y="2011680"/>
            <a:ext cx="1847089" cy="0"/>
          </a:xfrm>
          <a:prstGeom prst="line">
            <a:avLst/>
          </a:prstGeom>
          <a:ln w="1270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52944" y="214884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Международные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98664" y="2514600"/>
            <a:ext cx="1938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Cargill CMAX · Tract · Olam
ADM · Walmart×Cropin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11480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Российские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4480560"/>
            <a:ext cx="19385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X5 Tech · Магнит digital
Русагро Тех · РСХБ.цифра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65792" y="1371600"/>
            <a:ext cx="2212848" cy="4297680"/>
          </a:xfrm>
          <a:prstGeom prst="roundRect">
            <a:avLst>
              <a:gd name="adj" fmla="val 13774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1508760"/>
            <a:ext cx="20299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L5 Полка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48672" y="2011680"/>
            <a:ext cx="1847087" cy="0"/>
          </a:xfrm>
          <a:prstGeom prst="line">
            <a:avLst/>
          </a:prstGeom>
          <a:ln w="1270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857232" y="214884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Международные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2514600"/>
            <a:ext cx="193852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Walmart Eden · Tesco AI
WooliesX · Carrefour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4114800"/>
            <a:ext cx="202996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Российские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2952" y="4480560"/>
            <a:ext cx="193852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X5 «Перекрёсток»
(мировой уровень)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Рыночный ландшафт без агитации. Родовая форма — «профильные технические университеты»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11091672" cy="1737360"/>
          </a:xfrm>
          <a:prstGeom prst="roundRect">
            <a:avLst>
              <a:gd name="adj" fmla="val 1754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1">
                <a:solidFill>
                  <a:srgbClr val="F0AB00"/>
                </a:solidFill>
                <a:latin typeface="Arial"/>
              </a:rPr>
              <a:t>Возврат к началу лекции (Plenty Compton):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Plenty не закрылась из-за плохого 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Plenty закрылась из-за термодинамики 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Контроллер работал. CV распознавало. Модель обучалась. LED ≈ 100× энергии солнца — AP1.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21295C"/>
                </a:solidFill>
                <a:latin typeface="Arial"/>
              </a:rPr>
              <a:t>На каждый уровень лестницы — работает и ломается: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828800" cy="384048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 w="19050">
            <a:solidFill>
              <a:srgbClr val="212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Уровень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560320"/>
            <a:ext cx="4572000" cy="384048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56032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✓ Работает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560320"/>
            <a:ext cx="4690872" cy="384048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2560320"/>
            <a:ext cx="4690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✗ Ломается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1828800" cy="3840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L1 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2971800"/>
            <a:ext cx="4572000" cy="3840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297180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See &amp; Spray (5M акров)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971800"/>
            <a:ext cx="4690872" cy="384048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79" y="297180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Plenty / Bowery (термодинамика)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1828800" cy="384048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L2 Робот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3383280"/>
            <a:ext cx="4572000" cy="384048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338328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LaserWeeder G2 (узкий лазер)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3383280"/>
            <a:ext cx="4690872" cy="384048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79" y="338328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Monarch (демо ≠ внедрение)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1828800" cy="3840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947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L3 Животное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3794760"/>
            <a:ext cx="4572000" cy="3840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379476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SenseHub (2M коров)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3794760"/>
            <a:ext cx="4690872" cy="384048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79" y="379476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Cainthus / привязное содержание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206240"/>
            <a:ext cx="1828800" cy="384048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L4 Цепочка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4206240"/>
            <a:ext cx="4572000" cy="384048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420624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Cargill CMAX (узкий агент)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4206240"/>
            <a:ext cx="4690872" cy="384048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79" y="420624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USDA Climate-Smart / Verra 94%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17720"/>
            <a:ext cx="1828800" cy="3840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177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L5 Полка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" y="4617720"/>
            <a:ext cx="4572000" cy="384048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68880" y="4617720"/>
            <a:ext cx="4389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Walmart Eden / Tesco / X5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49440" y="4617720"/>
            <a:ext cx="4690872" cy="384048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63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79" y="461772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GNSS-jamming Финляндия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029200"/>
            <a:ext cx="5943600" cy="1280160"/>
          </a:xfrm>
          <a:prstGeom prst="roundRect">
            <a:avLst>
              <a:gd name="adj" fmla="val 23809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206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Инженер держит лестницу в голове целиком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486400"/>
            <a:ext cx="5577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и выбирает правильный инструмент для каждой ступени.
Знает где ИИ не работает — и почему.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5029200"/>
            <a:ext cx="4983480" cy="1280160"/>
          </a:xfrm>
          <a:prstGeom prst="roundRect">
            <a:avLst>
              <a:gd name="adj" fmla="val 23809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51206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Переход к Лекции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48640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L11 — кибер-физическое производство. Закрытый контур
как L4-L5 + физический контакт ИИ с продуктом как L2.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Спасибо. Дальше — вопросы и ответы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21295C"/>
                </a:solidFill>
                <a:latin typeface="Arial"/>
              </a:rPr>
              <a:t>Вопросы и ответы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065A82"/>
                </a:solidFill>
                <a:latin typeface="Arial"/>
              </a:rPr>
              <a:t>Резервные вопросы про термодинамику VF, agentic AI scope, ИТЭЛМА vs Cognitive Pilot, foundation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Резервные вопросы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389120"/>
            <a:ext cx="361188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480559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Plenty и Bowery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89204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Почему именно вертикальные фермы в США?
В закрытой среде США vs Япония vs ОАЭ?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389120"/>
            <a:ext cx="361188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4480559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Агентный 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89204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Где ещё агентный ИИ работает
в инженерных задачах — кроме хеджирования?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389120"/>
            <a:ext cx="361188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4480559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Cognitive и ИТЭЛМА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4892040"/>
            <a:ext cx="3337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Можно ли построить гибридное решение
CV + слияние сенсоров или это разные парадигмы?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