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a definition but with a paradox. Anthropic describes its own internal experience like this: tasks that used to take weeks of writing and reviewing code now take hours — an agent writes the implementation, it passes the tests, and code is nearly free. At the same time, in the summer of 2025, a research group at the MIT Media Lab published a report that media outlets amplified as "ninety-five percent of organizations get zero return from generative AI." Two facts are true at once and, at first glance, mutually exclusive: assembly is nearly free — and almost no one extracts value from it. How is that possible?</a:t>
            </a:r>
          </a:p>
          <a:p>
            <a:r>
              <a:t>We won't resolve the paradox right now — it's the payoff of the whole lecture, and we'll come back to it at the very end. But let's fix its shape right away: assembly became nearly free, while turning assembly into real value did not. That exact mismatch is the subject of today's lecture. We'll walk the whole product lifecycle: from intent through research, design, build, measurement, operation — and at every phase we'll ask the same thing: what did AI make cheap here, and what stayed expensive and human.</a:t>
            </a:r>
          </a:p>
          <a:p>
            <a:r>
              <a:t>Take thirty seconds: if building became nearly free, what became the product's real bottleneck?</a:t>
            </a:r>
          </a:p>
          <a:p>
            <a:r>
              <a:t>Sources:</a:t>
            </a:r>
          </a:p>
          <a:p>
            <a:r>
              <a:t>[1] Anthropic — 2026 Agentic Coding Trends Report — internal experience: weeks -&gt; hours; secondary-triangulated (PDF not parsed directly). https://resources.anthropic.com/2026-agentic-coding-trends-report [VFY-day-of]</a:t>
            </a:r>
          </a:p>
          <a:p>
            <a:r>
              <a:t>[2] MIT NANDA — "The GenAI Divide" (July 2025, v0.1) — "95% of pilots — zero return": unreviewed preprint, needs calibration (see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4 walked through the lifecycle of code. Today's lecture is a zoom-out: code is one phase — now sharply cheaper — inside a much wider product lifecycle. You're technically strong and write code with AI assistants daily, but most of the product disciplines — customer development, design thinking, product experiments, operations by the reliability-engineering model — you're likely seeing for the first time. So each of today's six sections starts not with AI but with the classical base: where the discipline came from and what problem it solves without a single mention of artificial intelligence. Only after that do we ask what AI changes and where it breaks.</a:t>
            </a:r>
          </a:p>
          <a:p>
            <a:r>
              <a:t>The roadmap is simple: six sections are six arrows of one loop. Discovery — where the hypothesis comes from. Design — how a hypothesis becomes an artifact. Build and Launch — how an artifact becomes a working product in production. Measure — how to check whether it actually worked. Support and Operate — what happens once a product lives 24/7. And Governance — how an organization decides what to invest capital in at all. At the end we'll assemble everything into a single matrix and checklist that you can run any unfamiliar AI initiative through.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of today's lecture, and it's drawn not as a list but as a circle, because that's essential. Six sections aren't six independent topics — they're six arrows of one loop. We start with intent — with Discovery, where a hypothesis about what to build at all is born. The hypothesis passes through Design, turning into a concrete artifact you can show a person. The artifact passes through Build and Launch, becoming a working product in production. Next — Measure: we check whether the change actually produced the effect we predicted. Support and Operate is what happens once a product is already living with real users around the clock. And finally Governance — the organizational level at which it's decided whether to keep investing, scale, or stop.</a:t>
            </a:r>
          </a:p>
          <a:p>
            <a:r>
              <a:t>The key point that distinguishes this map from a simple list: the last arrow loops back into the first. The signal from operation and from governance decisions changes what we research next in Discovery. This is a closed cycle, not a one-time linear process — and that's exactly why at the end of the lecture we'll come back to the same circle, only with a full understanding of what happens on every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work out how the loop is put together, let us answer a more practical question: what happens to a product that has no loop. The answer here is concrete — a sequence of events you can list out.</a:t>
            </a:r>
          </a:p>
          <a:p>
            <a:r>
              <a:t>A product is obliged to close five questions. Does anyone need this thing at all. Can a person use it, and will someone nobody thought about be harmed. Can we build it and release it safely. Will it be chosen firmly enough that people pay for it. And the fifth, which only opens up after launch: do all four answers hold over time. The first four are the product risks named by Marty Cagan: value, usability, feasibility, business viability. The terminology is secondary here, the structure is what works: every question has a phase of its own. The loop is the minimum set of places where these questions get answered by observation. There is no ritual in it sitting on top of the engineering work.</a:t>
            </a:r>
          </a:p>
          <a:p>
            <a:r>
              <a:t>What happens without a loop can be described step by step. A team with no answers written down in advance does not end up with no answers at all — it records them as facts, usually optimistic ones, builds on that foundation, and learns the truth at the moment when finding out costs the most: the build is paid for, the release has happened, rolling back costs more than the error. This has half a century of measurement behind it: on Barry Boehm's estimate, drawn from projects of the seventies, the gap in the cost of a fix between the requirements stage and release reaches a hundredfold on large projects and about fourfold on small ones. The multiplier depends heavily on how quickly the loop closes, and it is not a physical constant. The loop does not remove the error in a hypothesis about the user — it moves the moment of finding it leftwards, into the cheap zone, where the error costs a conversation and the paid-for build is still ahead.</a:t>
            </a:r>
          </a:p>
          <a:p>
            <a:r>
              <a:t>The third consequence is harder than the others: when the stopping criterion is not written down in advance, there is no way to tell "we stopped because the data said no" from "we gave up because we were tired". The anchor for that comes in the section on discovery: a product whose build went through in full and cost sixty-two million dollars never once reached real use.</a:t>
            </a:r>
          </a:p>
          <a:p>
            <a:r>
              <a:t>And now the turn that makes all of this the subject of this particular lecture. Before generative models, the cost of building worked as a barrier against exactly this scenario: writing code was expensive, and that expense on its own forced people to think in advance. AI zeroed out precisely that cost — and with it went the one protective mechanism available to teams that never had an explicit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keystone — the central analytical tool of the whole lecture: AI changes the cost and trust of every arrow of the loop asymmetrically, not equally. The "build" arrow — cost has nearly collapsed to zero: writing code, a design draft, a first research prototype are orders of magnitude cheaper than five years ago. The "measure" and "learn" arrows — cost has stayed roughly the same or dropped only slightly, while trust in the result has fallen: the very instrument of measurement has become probabilistic and exposed to metric manipulation. The "observe" and "orient" arrows have become faster, but at the same time more exposed to attack: the speed of observing a system in production has grown, but the very ability to react quickly turns into a vulnerability if the observed data can be poisoned.</a:t>
            </a:r>
          </a:p>
          <a:p>
            <a:r>
              <a:t>Hence the meta-pattern that will repeat in each of the six sections, literally following the same template: every phase of the product lifecycle has a classical discipline, and AI does not cancel it. AI changes how much that discipline costs and how far it can be trusted without verification — but it does not remove the need for the discipline itself. Customer Development is not replaced by "ask the model what the user thinks"; a product experiment is not replaced by "the model predicted the metric would grow." In every section we'll ask the same question: what does the classic make reliable here, what does AI speed up — and at what point does speed become a trap, because trust doesn't keep pace with it.</a:t>
            </a:r>
          </a:p>
          <a:p>
            <a:r>
              <a:t>Think for twenty seconds: on which arrow of your latest task did speed outrun your actual trust in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walking the loop arrow by arrow, and the first is Discovery, research. This is the phase where the hypothesis of what to build even comes from. Most strong engineers have informal experience "ask friends whether they like the idea" — but almost no one has encountered the formal discipline that explains why this informal experience systematically lies.</a:t>
            </a:r>
          </a:p>
          <a:p>
            <a:r>
              <a:t>Today in this section — two classical bases: a methodology for finding a business model by going out to customers, and a technique for one correct conversation with one person. Then — what AI adds to research in 2025-2026, where it's limited, and three failures that show what happens when the boundary gets skipped. Hold two questions of the section: where does AI amplify research, and where is a real person with a real past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is Steve Blank's methodology. The central idea is extremely concrete: there are no facts inside the building, so go outside. A startup is not a scaled-down copy of a large company executing a known plan — it's a temporary organization in search of a repeatable business model under extreme uncertainty. The plan can't be written in advance, because the plan depends on answers only customers know.</a:t>
            </a:r>
          </a:p>
          <a:p>
            <a:r>
              <a:t>The method consists of four sequential steps, each ending in an explicit decision to continue or pivot. Discovery — turn the initial hypotheses into facts by going out to real people; this step is explicitly hypothesis-oriented — you write down what you believe before you walk out the door. Validation — check whether this can be sold not just to the first enthusiasts but to a wider circle. Creation — drive demand at scale. Building — transition the organization into formal functional departments.</a:t>
            </a:r>
          </a:p>
          <a:p>
            <a:r>
              <a:t>It's important to distinguish Customer Development from Build-Measure-Learn, which we discussed in the keystone: BML is the engine, Customer Development is the map of the terrain the engine drives across. First understand what you're testing and with whom, then how fast to spin the test cycle. And here we also introduce a device we'll reuse in every following section: the falsifiable hypothesis — a written statement "we believe that X, we'll test it via Y, by date Z we'll have a yes-or-no answer." The format works because it turns vague confidence into a testable commitment with a date. A known limitation of the method: it's written for startups starting from zero, searching for a business model, not for refining a feature inside a mature product — applying the whole ceremony to a minor feature tweak is excessive, exactly as you wouldn't run an A/B test to fix a typo.</a:t>
            </a:r>
          </a:p>
          <a:p>
            <a:r>
              <a:t>Sources:</a:t>
            </a:r>
          </a:p>
          <a:p>
            <a:r>
              <a:t>[1] Blank — Customer Development (Four Steps to the Epiphany) — 4-step methodology; "there are no facts inside the building".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AI changed in this phase — step by step, and at the end the thing it did not change.</a:t>
            </a:r>
          </a:p>
          <a:p>
            <a:r>
              <a:t>Desk research. This used to be days of an analyst's work: reports, papers, forums, complaints. Now deep research mode plans the trajectory of the search itself, reads hundreds of sources and returns a report with links — from two to four minutes up to half an hour. More important than the minutes is something else: by this year every major assistant has that mode, free tiers included. It stopped being an advantage and became the background.</a:t>
            </a:r>
          </a:p>
          <a:p>
            <a:r>
              <a:t>The conversation itself. Here something appeared that did not exist two years ago: the model asks the questions and a live human answers. The researcher writes the guide, the machine then runs conversations in parallel and around the clock, and in the time one in-person interview takes, many times more of them go through. Exactly one side changed — the side that asks.</a:t>
            </a:r>
          </a:p>
          <a:p>
            <a:r>
              <a:t>Synthesising conversations. Transcription has stopped being separate work — it is a free add-on to any call. The difference between tools is now elsewhere: they do not retell one call, they continuously re-cluster themes across the whole accumulated corpus of conversations.</a:t>
            </a:r>
          </a:p>
          <a:p>
            <a:r>
              <a:t>Now about AI personas: they get confused with the previous step constantly. Look at the scale. A human asks a human — the classic. A machine asks a human — the thing that has appeared now. A machine asks a machine — that is an AI persona: there is no live human anywhere in the chain. The profession holds that distinction: in a survey of a hundred and fifty researchers in May this year, eighty-one percent regularly use AI in their work, eight percent use it as the answering participant, and twenty-eight reject that use outright.</a:t>
            </a:r>
          </a:p>
          <a:p>
            <a:r>
              <a:t>And the boundary that has not moved. A link in a report is not evidence until someone opens it. This is measured: across fifty-three thousand links from the reports of ten models and research agents, between three and thirteen percent turned out to be fabricated — they are not even in the web archive, they never existed. The arithmetic from there is plain: at the lowest measured rate, three percent, a report with fifty links holds at least one non-existent link with probability seventy-eight percent. One caveat, which this lecture itself teaches you to demand: the calculation treats the links as independent, and inside one report they are related — the same run, the same model. Seventy-eight is an upper bound. Deloitte handed the Australian government a report for four hundred and forty thousand dollars with exactly that content. It was not the client who found it — it was an outside researcher.</a:t>
            </a:r>
          </a:p>
          <a:p>
            <a:r>
              <a:t>Sources:</a:t>
            </a:r>
          </a:p>
          <a:p>
            <a:r>
              <a:t>[1] Perplexity — overview of deep research mode — a report with links in 2-4 minutes on the fastest and up to half an hour on the most thorough; every major assistant has the mode. https://www.secondtalent.com/resources/perplexity-deep-research-review/ [VFY-day-of]</a:t>
            </a:r>
          </a:p>
          <a:p>
            <a:r>
              <a:t>[2] User Interviews — "State of Synthetic Users", May 2026 — survey of 150 researchers, 11-22 May 2026: 81% regularly use AI in their work, 8% as the answering participant, 28% reject that use outright. https://www.userinterviews.com/state-of-synthetic-users-report [VFY-day-of]</a:t>
            </a:r>
          </a:p>
          <a:p>
            <a:r>
              <a:t>[3] arXiv 2604.03173 — measurement of links in agent reports — 3-13% of links are fabricated (no trace in the web archive), 5-18% do not open; measured on 53,090 links, 10 models and agents. https://arxiv.org/abs/2604.03173</a:t>
            </a:r>
          </a:p>
          <a:p>
            <a:r>
              <a:t>[4] Fortune (7 Oct 2025) — Deloitte Australia — a report to the government for A$440,000 with non-existent sources.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of running a conversation past several interviewees played by a model comes up often. Mechanically it is sound, on one condition: the role of the practice is narrow, and that narrowness has to be held.</a:t>
            </a:r>
          </a:p>
          <a:p>
            <a:r>
              <a:t>What it is, in plain words. You have written a list of questions for an interview and you are about to take it to living people. Before you go, you run that list past several invented interviewees played by a model. This is a rehearsal — much like a read-through of a play before opening night: people listen for where the text does not work.</a:t>
            </a:r>
          </a:p>
          <a:p>
            <a:r>
              <a:t>Then, step by step. First you describe several different customer types, and you describe them without a character sketch. A sketch of the kind "Anna, thirty-four, likes convenient interfaces" is useless, because nothing follows from it. What is useful is different: what the person uses now, what that costs them in hours or in money, what they once tried and dropped. Each type is kept apart so the answers do not run together into one averaged voice. The same list is run past all of them.</a:t>
            </a:r>
          </a:p>
          <a:p>
            <a:r>
              <a:t>And from there the whole value of the practice is in where you look. Not at the content of the answers. At two things. The first: which questions produced roughly the same answer from everyone. A question like that tells nobody apart, and in a live interview it will waste time — it gets rewritten. The second: which questions are answered in terms of an imagined future, "I would use this". That is exactly the breach of the rule about the concrete past, and it is wired into the wording of the question itself; catching it in rehearsal is cheaper than letting it spoil a live conversation.</a:t>
            </a:r>
          </a:p>
          <a:p>
            <a:r>
              <a:t>The practice invented nothing new: questions were talked through with a colleague, or on the first live interview, long before any models. AI made the rehearsal cheap — it now takes minutes. A conversation with a person costs what it always did.</a:t>
            </a:r>
          </a:p>
          <a:p>
            <a:r>
              <a:t>Now the boundary, without which the practice turns into the failure we take apart next. The only thing that leaves is a corrected list of questions. The interviewees' answers do not go into a decision and are not quoted as data. That is how the practice is built: there is one model. Five such interviewees are five views of one model. There are no five people behind them. A check against a real national survey puts a number on it: the model reproduces the averages and understates the spread of opinion by almost half. A collapsed spread is false confidence exactly where living people differ most.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works where a product already has living users and an accumulated archive of tickets.</a:t>
            </a:r>
          </a:p>
          <a:p>
            <a:r>
              <a:t>What it is, in plain words. Any working product has a history of complaints and questions, and usually that history lies there as dead weight: people look into it when they need to answer one particular person, and nobody looks at it as a source of knowledge about the product. This practice turns the archive into a source of hypotheses. What leaves is a named theme of pain, propped up by verbatim quotes, and an indication of exactly who it is worth talking to in person about it. A general feeling that users are unhappy about something is not an output here.</a:t>
            </a:r>
          </a:p>
          <a:p>
            <a:r>
              <a:t>Step one — store and tag. Every ticket goes into one common searchable store, tagged with when it arrived, who it came from and which product it is about. The tagging is not bureaucracy: without it the archive turns into a bag of text, in which last year's problem cannot be told apart from today's, or your own segment from somebody else's.</a:t>
            </a:r>
          </a:p>
          <a:p>
            <a:r>
              <a:t>Step two — search two ways at once: by words and by meaning. An exact error code is found only by the word search, and a problem described in a person's own words only by the meaning search, and tickets contain both. On its own, each way misses quietly.</a:t>
            </a:r>
          </a:p>
          <a:p>
            <a:r>
              <a:t>Step three — gather what is close into groups and retell each group in two passes: first each ticket separately, then what they have in common. Skipping the first pass has a measurable effect: the retelling loses between twenty and forty per cent of the important detail.</a:t>
            </a:r>
          </a:p>
          <a:p>
            <a:r>
              <a:t>And what changed here. People have always been able to go through tickets, but they sorted them into a list of themes thought up in advance — and found only what somebody had already guessed at. A model gathers what is close in meaning on its own, with no list of themes; the name of the theme is still checked by a person.</a:t>
            </a:r>
          </a:p>
          <a:p>
            <a:r>
              <a:t>The boundary has two parts, and both are compulsory. The first: the archive is biased by construction — it holds only the people who got as far as complaining. Volume does not cure it, a hundred thousand tickets are biased exactly as a thousand are, because there is no such ticket as "I need the thing you do not have at all". The archive is structurally silent about an unmet need, so the question "what do we not have" is not closed by it. The second: the search returns the tickets that are close, it does not measure importance. Ten thousand complaints about one typo are still one typo. Frequency is not significance, and the two are especially easy to confuse when the number is large.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risk of discovery is ethical in nature, but it materializes as a concrete, measurable mechanism: an AI summary can miss twenty to forty percent of important interview detail when synthesis skips the "individually first" step and jumps straight to a cross-interview theme. This isn't a vague "AI sometimes makes mistakes" — it's a failure traceable to a specific step.</a:t>
            </a:r>
          </a:p>
          <a:p>
            <a:r>
              <a:t>Why live interviews remain necessary — an argument of accumulation. The Mom Test's second rule — ask about specific things from the past — is exactly the rule a synthetic persona cannot satisfy, because it has no real past, only the ability to generate something plausible. A tendency to agree plus the absence of a real past is a cumulative failure: not just skewed toward "yes," but skewed toward "yes" about an event that never happened.</a:t>
            </a:r>
          </a:p>
          <a:p>
            <a:r>
              <a:t>Let's make this testable through three operational criteria. First: the cost of a go/no-go mistake is high — you need a source capable of saying "no," and a synthetic one is by construction incapable. Second: you need a real past, not a plausible one — if the hypothesis concerns specific past behavior, a synthetic persona invents it rather than remembers it. Third: you need validation by a real commitment — a pre-order, a deposit, an intro — there's no AI substitute here at all. What clearly stays from the classic: the three Mom Test rules apply the same way no matter who asks the question; Blank's hypothesis-first discipline is the antidote to a one-click AI tree. The rule in short: the closer the output is to an irreversible decision about real people, the more strictly a real person is required; the further away, the more appropriate AI becomes as a draft accelerator.</a:t>
            </a:r>
          </a:p>
          <a:p>
            <a:r>
              <a:t>Sources:</a:t>
            </a:r>
          </a:p>
          <a:p>
            <a:r>
              <a:t>[1] Torres — Continuous Discovery Habits / anti-synthetic — a contrarian-to-hype stance: against synthetic interviews and one-click AI persona trees.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Nielsen Norman Group ran a controlled comparison as part of an onboarding usability study: real users completed an average of three out of seven steps; an AI-generated panel of synthetic users, tested on the exact same flow, falsely reported completing all seven of seven. Separately, real users described a discussion-forum feature as contrived and useless, while synthetic personas produced glowing praise of the same feature; one synthetic user called an impractical drone-delivery concept "a game-changer."</a:t>
            </a:r>
          </a:p>
          <a:p>
            <a:r>
              <a:t>The mechanism, tied specifically to the Discovery phase: large language models are tuned to agree with the framing of the given question — a concept described with any enthusiasm comes back validated. A synthetic user cannot produce disagreement, because it has no real experience capable of contradicting the question's framing. This is the same agreement-bias mechanism the course has already discussed for models in general, but here it materializes as a concrete, measured failure specifically in the discovery phase.</a:t>
            </a:r>
          </a:p>
          <a:p>
            <a:r>
              <a:t>Combine this with the Mom Test's second rule — ask about a real past — and you get a cumulative failure: not just skewed toward "yes," but skewed toward "yes" about an event that never happened. The lesson: a synthetic panel that agrees with your concept is not evidence the concept is good — it's evidence the panel is incapable of disagreeing. The criterion: any output feeding a "ship or not" decision must be traceable to real past behavior of a real person. The alternative: use a synthetic panel only in a pre-research role, then run real testing with five to eight participants — a sample size that already surfaces most usability problems.</a:t>
            </a:r>
          </a:p>
          <a:p>
            <a:r>
              <a:t>Sources:</a:t>
            </a:r>
          </a:p>
          <a:p>
            <a:r>
              <a:t>[1] NN/g (Rosala &amp; Moran) — Synthetic Users — 3/7 real vs 7/7 synthetic on the same task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section's second failure is about what happens when the discovery phase is gone through as a formality.</a:t>
            </a:r>
          </a:p>
          <a:p>
            <a:r>
              <a:t>What happened. Humane was founded in two thousand eighteen by people who came out of Apple. Its only product is a wearable device with no screen: a small box worn on your clothes with a camera, a microphone and a laser projection onto your palm, answering out loud through a language model. The idea: a person stops looking at their phone. It was shown in November of twenty-three, sales opened in April of twenty-four — six hundred and ninety-nine dollars plus twenty-four a month. In February of twenty-five HP bought the assets for a hundred and sixteen million, and on the twenty-eighth of February the cloud was shut down: the devices left in buyers' hands stopped answering.</a:t>
            </a:r>
          </a:p>
          <a:p>
            <a:r>
              <a:t>The numbers. About ten thousand sold — a tenth of the company's own target of a hundred thousand. Revenue of about nine million against two hundred and thirty raised, which is four percent. Between May and August of twenty-four there were more returns than purchases: by August, closer to seven thousand devices were still in people's hands. The price was cut from six hundred and ninety-nine to four hundred and ninety-nine in October, six months after sales opened.</a:t>
            </a:r>
          </a:p>
          <a:p>
            <a:r>
              <a:t>Now the root, and it lies squarely in our phase. The question of discovery fits in one phrase: compared with what. Every buyer already had a phone in their pocket that does the same things, and everything else on top. Reviewers converged on the same point: the device does less than a phone, and more slowly. An answer like that costs eight conversations with living people before the build. Here it arrived from the market — by way of two hundred and thirty million and ten and a half months of sales. Think back to the rule from the base slide: ask how much a person pays today for the nearest equivalent. The nearest equivalent was the phone they had already bought.</a:t>
            </a:r>
          </a:p>
          <a:p>
            <a:r>
              <a:t>And now the distinction, so that the case does not read as "the hardware did not come off". Google Glass travelled the same road in the opposite direction. The fifteen-hundred-dollar glasses were pulled from general sale in January of fifteen, and then handed to people whose hands are busy with work. At the agricultural machinery maker AGCO, machine assembly time fell by a quarter and inspection time by thirty percent; at the logistics company DHL, warehouse output rose by fifteen. All of it against the same work done without the glasses. Same device. Different user.</a:t>
            </a:r>
          </a:p>
          <a:p>
            <a:r>
              <a:t>Sources:</a:t>
            </a:r>
          </a:p>
          <a:p>
            <a:r>
              <a:t>[1] 9to5Mac (7 Aug 2024) — Humane's internal sales figures — from May to August 2024 returns exceeded purchases: ~10,000 devices sold, ~$9 million in revenue, closer to 7,000 still in customers' hands by August. https://9to5mac.com/2024/08/07/humane-ai-pin-woes-worsen-as-recent-returns-exceed-sales/</a:t>
            </a:r>
          </a:p>
          <a:p>
            <a:r>
              <a:t>[2] TechCrunch (18 Feb 2025) — HP buys Humane's assets — $116 million for the assets against more than $230 million raised; sales ended, the cloud service shut down on 28 February 2025. https://techcrunch.com/2025/02/18/humanes-ai-pin-is-dead-as-hp-buys-startups-assets-for-116m</a:t>
            </a:r>
          </a:p>
          <a:p>
            <a:r>
              <a:t>[3] Humane Inc. — dates, prices and the sales target — unveiled 9 November 2023; on sale from April 2024 at $699 plus $24 a month; cut to $499 from 23 October 2024; target of 100,000 devices in a year. https://en.wikipedia.org/wiki/Humane_Inc.</a:t>
            </a:r>
          </a:p>
          <a:p>
            <a:r>
              <a:t>[4] Digital Trends — Glass Enterprise Edition at AGCO and DHL — against the same work without the glasses: assembly time -25%, inspection time -30% (AGCO), warehouse throughput +15% (DHL); wide sales of the $1,500 Explorer closed in January 2015. https://www.digitaltrends.com/mobile/google-glass-enterprise-edition/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two — the loop's second arrow: how the hypothesis from the previous section turns into a concrete artifact you can show a person. The course audience is technically strong, but as a rule hasn't gone through formal design education — so this section, like the previous one, starts with the classics before moving on to AI interface-generation tools.</a:t>
            </a:r>
          </a:p>
          <a:p>
            <a:r>
              <a:t>Today — a single load-bearing framework for the design process, expert-review heuristics, what AI offers for interface generation in 2025-26, where it breaks on non-deterministic output, and two failures that represent two different, complementary classes of design failure.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 opens with a caveat, without which everything that follows reads narrowly. The word "design" in this phase is usually taken to mean drawing screens. In a product built on a language model the screen is one surface among several, and there is usually more work on the rest.</a:t>
            </a:r>
          </a:p>
          <a:p>
            <a:r>
              <a:t>Look at the list of surfaces and touchpoints. The screen — what a person sees, and in what order. Voice — the same decision with no picture: order, length of answer, the right to interrupt. Notification — the system opens the conversation itself, and what gets decided is when it has the right to do so and on what occasion. Email or a report — the answer a person reads when the system is no longer at hand. Refusal — what the system says when it will not do the thing. And silence: processing is running, there is no answer yet, and what a person sees for that minute has been designed too, even if only by default.</a:t>
            </a:r>
          </a:p>
          <a:p>
            <a:r>
              <a:t>The second tier is behaviour over time, and for a product built on a model it carries the main load. When the system is sure, it answers and shows what the answer is built on. When it is unsure, it says so in the first person and offers a move forward. When it is wrong, the person sees what happened and has a rollback path. Not one of those three decisions is visible on a screen mockup, and the beauty of the mockup checks none of them.</a:t>
            </a:r>
          </a:p>
          <a:p>
            <a:r>
              <a:t>And the third thing, the one people forget because it does not look like design. The product's name, the promise at the entrance, the right to stop are decisions from the same layer. The name sets the picture of the system in a person's head before they ever see the first screen. This is easy to check: the failure we take apart at the end of the section is precisely about the gap between the picture in a driver's head and the behaviour of the car, and correcting that picture came to a recall of two million vehicles.</a:t>
            </a:r>
          </a:p>
          <a:p>
            <a:r>
              <a:t>So keep the next few slides wider than the screen. Both diamonds of the Double Diamond run across the system's behaviour as well. The design system covers the part of the rules that can be expressed as a number. The rest stays a human decision, and it is a human who will be held to account for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is a five-stage, human-centered methodology, canonically taught by the Stanford d.school. Double Diamond is the UK Design Council's framework, a visual model of two divergence-and-convergence cycles: the first diamond is Discover, broad exploration, then Define, synthesis into a concrete brief — about the right problem; the second diamond is Develop, generating many directions, then Deliver, testing and shipping one — about the right solution.</a:t>
            </a:r>
          </a:p>
          <a:p>
            <a:r>
              <a:t>For this lecture's purposes we use Double Diamond as the section's load-bearing framework, because it's structurally equivalent to Design Thinking but shows the key idea more explicitly: two separate divergence-convergence cycles, not one. A common mistake for an engineer encountering the design process for the first time: instinctively converging on a solution before even checking the problem itself — skipping the first diamond and diving straight into the second. It's the same anti-pattern as "just write the code," skipping the question of whether we're even solving the right problem.</a:t>
            </a:r>
          </a:p>
          <a:p>
            <a:r>
              <a:t>In practice the stages aren't linear — teams constantly loop back from Deliver to Define, and that's not a sign the process failed, it's the process working normally. Keep this framework in mind: when we get to this section's first failure, you'll see it happened exactly at the first-diamond point — in the decision of what we're even building and for whom — not in the technical implementation.</a:t>
            </a:r>
          </a:p>
          <a:p>
            <a:r>
              <a:t>Sources:</a:t>
            </a:r>
          </a:p>
          <a:p>
            <a:r>
              <a:t>[1] UK Design Council — The Double Diamond — Discover-&gt;Define-&gt;Develop-&gt;Deliver: two cycles of divergence/convergence.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working order in a 2026 team looks like this. A human describes a screen or a flow in words, the generator puts out several diverging sketches, and the human then picks one direction, discards the rest and fixes what the model got wrong: spacing, order of importance, edge cases. The chosen direction goes through a real test on live people — a persona invented by a model does not replace that — and only after it does the work go into development.</a:t>
            </a:r>
          </a:p>
          <a:p>
            <a:r>
              <a:t>There are five tools on the slide. What distinguishes them is the mode of work, so look at the second half of each line. Figma Make builds screens right inside the design editor and takes the team's own components instead of generic templates — which is why its output needs less rework. Google Stitch goes from text and sketches to a screen, is free, and since March 2026 can pull Figma files in and emit code. The tool v0 outputs interface code directly. Lovable and bolt.new assemble a whole working application. Magic Patterns is for when you need to sweep quickly through variants of one screen. The landscape moves fast — check the set before the class.</a:t>
            </a:r>
          </a:p>
          <a:p>
            <a:r>
              <a:t>Now the thing this slide was rebuilt for. The discussion usually carries a promise: a day of manual work turns into minutes. There is a measurement, and it says something else. A hundred participants, half designers, half product managers, randomly split into two groups: one got a generator, the other got nothing, the tasks identical. Overall time fell by about twenty percent. For product managers the gain was thirty-five percent. For professional designers it shows only on the hardest of the three tasks — twenty-six percent there — and their overall effect is borderline, seventeen: on the easy tasks there is simply no difference from the control group.</a:t>
            </a:r>
          </a:p>
          <a:p>
            <a:r>
              <a:t>Two conclusions from that. The gain is real, and it is measured in tens of percent. Not in orders of magnitude. And it depends on who is working: the generator helps most the person for whom the task is not routine. A correction: Figma ran the trial itself, on its own tool.</a:t>
            </a:r>
          </a:p>
          <a:p>
            <a:r>
              <a:t>And one more thing that is easy to miss behind the numbers. The generator removed the barrier to entry: someone who cannot draw interfaces now brings something presentable to a discussion instead of boxes and arrows. That is a genuine benefit. But the ability to get a good-looking screen quickly is not the same as the ability to design an interaction and test it on a live human.</a:t>
            </a:r>
          </a:p>
          <a:p>
            <a:r>
              <a:t>Sources:</a:t>
            </a:r>
          </a:p>
          <a:p>
            <a:r>
              <a:t>[1] Figma — overview of AI design tools, 2026 — an overview: what interfaces are generated with as of 2026. https://www.figma.com/resource-library/ai-design-tools/ [VFY-day-of]</a:t>
            </a:r>
          </a:p>
          <a:p>
            <a:r>
              <a:t>[2] Google Stitch (ex-Galileo AI) — bought by Google in May 2025, updated in March 2026 — the tools move fast. https://www.banani.co/blog/galileo-ai-features-and-alternatives [VFY-day-of]</a:t>
            </a:r>
          </a:p>
          <a:p>
            <a:r>
              <a:t>[3] Stewart et al. — randomised trial, arXiv:2609.26725 (22 Sep 2026) — 100 participants (50 designers + 50 product managers), a control group without the generator: time fell by ~20%, for product managers 35%, for designers only on the hardest task (26%), the overall effect borderline (17%, p=0.049). Run by Figma itself on its own tool — correct for the conflict of interest.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design system is routinely called the guardrail that holds generation inside the lines. The phrasing is right, but until there is a mechanism behind it, it is a metaphor — so let me start with what the thing actually is. A design system is the shared body of interface rules and the set of ready-made components: the colour combinations allowed, the sizes of buttons and fields, how an element looks under the cursor, what a standard block is made of. For a long time it was a document for people. What matters now is its other part: those rules that can be written so that a machine reads them and checks them.</a:t>
            </a:r>
          </a:p>
          <a:p>
            <a:r>
              <a:t>There are three layers, and only the last one is load-bearing. The first is rules written as numbers. While a rule lives in a picture of a mockup or in a spoken agreement, the only thing that can check it is a person, and only by eye; written as a number, it becomes checkable. The second layer is giving the generator the team's own components instead of generic templates. Some tools do this by construction, and that is exactly why generation of that kind needs less reworking. But notice: the first two layers lower the chance of a breach, and only the third turns a chance into a guarantee. The third layer is an automatic check with the right to stop a release: a breach is not discussed, it is blocked, exactly as a red test stops a change going any further. And a point I want to make separately: the common engines for a check like that have nothing to do with AI at all. That is part of the lesson, not a detail of the setup.</a:t>
            </a:r>
          </a:p>
          <a:p>
            <a:r>
              <a:t>Separately — what here comes from AI and what was always there. A body of interface rules and a set of ready-made components have existed for decades, and a designer checked them by eye. One thing changed: the generator turns out screens faster than a person can look at them, and a machine check is the only thing that grows with the generation.</a:t>
            </a:r>
          </a:p>
          <a:p>
            <a:r>
              <a:t>The boundary is a compulsory part of the practice, not a caveat. A machine checks only what can be expressed as a number: contrast, the size of a button, whether a field has a label. The question of whether this is clear to a living person stays with the person, and a screen can pass every check in full and remain unclear. So the practice does not replace a review against Nielsen's ten heuristics, and it does not replace showing the thing to living people — it only takes off them what is cheaper to catch by machine. And the conclusion that travels furthest: a request addressed to the generator is not a control mechanism, in any wording at all. Telling a request from a guarantee is something you will need in every phase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slop" and homogenization are a clear critique of the last two years. Nielsen Norman Group states it plainly: UI still matters, but it will become a less significant differentiator, because anyone will be able to produce a decent-looking interface. The mechanism of homogenization: generators are trained on one corpus of existing UI patterns, so many independent teams prompting "a modern dashboard" converge on a visually similar result.</a:t>
            </a:r>
          </a:p>
          <a:p>
            <a:r>
              <a:t>Accessibility gaps — with a hard number. An academic study ran twenty-one thousand eight hundred eighty WCAG accessibility evaluations against interfaces generated by AI tools and found only twenty-nine point zero percent conformance. The worst scores were on the most basic criteria: color contrast and use of color. An important finding: the platform's own design influenced final accessibility more than user prompts did — asking to "make it accessible" was not guaranteed to fix it. This directly refutes the naive defense of "you just need to ask the AI correctly."</a:t>
            </a:r>
          </a:p>
          <a:p>
            <a:r>
              <a:t>A key addition for this audience — designing for non-deterministic output. Classical UX assumes a deterministic system: the same input produces the same output. AI products break this assumption — the same input can produce different output across different runs, which requires new patterns: graceful failure, co-creation, accountable autonomy. What stays from the classic: "empathize first" design thinking, Nielsen's heuristics as a fast expert gate review, and real usability testing — the antidote to hallucinated "best practices," because testing measures real human confusion. When this isn't AI-first: a product aimed at the emotional attachment of vulnerable users, or one that automates a decision about people, requires an explicit safety review in the MVP, not polish after the fact.</a:t>
            </a:r>
          </a:p>
          <a:p>
            <a:r>
              <a:t>Sources:</a:t>
            </a:r>
          </a:p>
          <a:p>
            <a:r>
              <a:t>[1] ACM Web4All 2026 — Generated Inaccessible — 21,880 WCAG evaluations on AI-generated interfaces, 29.0% compliance (contrast 26.8%, color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section's failure is about interaction design in its pure form: the model worked as advertised, and what broke was the picture of the system in a person's head.</a:t>
            </a:r>
          </a:p>
          <a:p>
            <a:r>
              <a:t>What the case is. Autopilot is the set of driver-assistance features in Tesla cars: it holds the lane, the speed and the following distance while the person watches the road and keeps their hands on the wheel. In August of twenty-one the American highway traffic safety administration opened an investigation: cars with the feature engaged were running into emergency vehicles stopped on the road. On the twelfth of December of twenty-three Tesla recalled every car with the feature built between twenty-twelve and twenty-three — two million thirty-one thousand two hundred and twenty of them, the entire fleet to the last one. Pay attention to the wording in the defect report, written by the company itself: the prominence and scope of the system's controls may be insufficient to prevent driver misuse.</a:t>
            </a:r>
          </a:p>
          <a:p>
            <a:r>
              <a:t>What broke. Over the course of the investigation, at least thirteen fatal crashes accumulated in which foreseeable misuse played its part. This error has a name that comes from aviation: mode confusion. The person was driving with one picture of what the car does and what they themselves are responsible for; the car was working to a different one.</a:t>
            </a:r>
          </a:p>
          <a:p>
            <a:r>
              <a:t>Now, why the case stands in the section on design. The recall touched not one line of the driving model. What was fixed was the prominence of the warnings, the frequency of the attention checks and the threshold past which the feature switches off — that is, the behaviour of the system and its surfaces of contact. And the name itself, Autopilot, is a decision from the same layer: it sets the picture before the person sees the first warning. Go back to the slide on the scope of design: the name, the promise at the entrance, the right to stop. That is what correcting the picture came to — a recall of two million cars, two years and four months after the investigation opened.</a:t>
            </a:r>
          </a:p>
          <a:p>
            <a:r>
              <a:t>And the sequel, without which the lesson is incomplete. On the twenty-fifth of April of twenty-four the agency opened a query into the remedy itself: in the first four months after the update, at least twenty crashes accumulated with the system suspected of involvement, and some of the measures are switched on by the driver's own consent and switched off the same way. This is exactly what we talked about on the design-system slide: a measure a person can switch off stays a request. What turns it into a mechanism is the ability to stop the action.</a:t>
            </a:r>
          </a:p>
          <a:p>
            <a:r>
              <a:t>Sources:</a:t>
            </a:r>
          </a:p>
          <a:p>
            <a:r>
              <a:t>[1] NHTSA — recall report 23V-838 (12 Dec 2023) — 2,031,220 cars — every one with Autosteer, built between 5 Oct 2012 and 7 Dec 2023; the manufacturer named insufficient prominence and scope of the controls as the cause; remedied by software update 2023.44.30. https://static.nhtsa.gov/odi/rcl/2023/RCLRPT-23V838-8276.PDF</a:t>
            </a:r>
          </a:p>
          <a:p>
            <a:r>
              <a:t>[2] NHTSA — closing of investigation EA22-002 — opened 13 Aug 2021 as PE21-020, upgraded 8 June 2022; no fewer than 13 fatal crashes in which foreseeable misuse of the system played a part. https://static.nhtsa.gov/odi/inv/2022/INCLA-EA22002-14498.pdf</a:t>
            </a:r>
          </a:p>
          <a:p>
            <a:r>
              <a:t>[3] NHTSA — remedy query RQ24-009 (25 Apr 2024) — no fewer than 20 crashes after the update; some of the measures are enabled by the driver's consent and can be switched off by the driver too. https://static.nhtsa.gov/odi/inv/2024/INOA-RQ24009-12046.pdf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three — the loop's third arrow, and this is exactly where AI changes the most: the cost of writing the code itself. But the section doesn't start from that fact — it starts from the classical discipline of release, because that discipline is what defines what "ship it safely" even means — a question that doesn't go away just because writing code got cheaper.</a:t>
            </a:r>
          </a:p>
          <a:p>
            <a:r>
              <a:t>Today — release mechanics you most likely already know from engineering practice, but built into product-level decisions, not just technical ones. Next — what AI zeroed out and where the bottleneck moved, and two failures: one a giant that skipped canary rollout, the other a giant that correctly killed a failed pilot.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are familiar to you from everyday engineering practice — you'll most likely skim the basic definitions. Hold onto one product-level distinction while you do, since it's the whole reason this section exists: here the same mechanics are built into a product go/kill gate, where the decision to kill a project is a business decision, not just a technical on/off flag.</a:t>
            </a:r>
          </a:p>
          <a:p>
            <a:r>
              <a:t>A single thread runs through all of it: every practice trades a bit of launch speed for a limited blast radius. A feature flag separates deployment from release. Canary — the new version ships to a small share of traffic first. Staged rollout is a generalization of canary: one, ten, twenty-five, fifty, one hundred percent, with a go/no-go check at every step. Rollback — the ability to quickly return to the last working state.</a:t>
            </a:r>
          </a:p>
          <a:p>
            <a:r>
              <a:t>Eric Ries's MVP is defined by learning, not shipping — a fast way to run the build-measure-learn cycle. Robert Cooper's Stage-Gate is five stages, each preceded by a go/kill/hold/recycle gate against criteria agreed in advance; its deliberate purpose is to force disciplined stop decisions early, before capital-intensive spending — "a funnel, not a tunnel." A go/no-go readiness gate for launch specifically requires: rollout phases with transition criteria, failure thresholds written down as numbers in advance, and a rollback plan with a named owner. Our cross-chapter device resurfaces here again — the falsifiable hypothesis, applied to a release decision. In the AI era, a new checklist line gets added: did it pass an eval gate against the reference dataset — the AI equivalent of a test suite.</a:t>
            </a:r>
          </a:p>
          <a:p>
            <a:r>
              <a:t>Sources:</a:t>
            </a:r>
          </a:p>
          <a:p>
            <a:r>
              <a:t>[1] Ries — Lean Startup / MVP — MVP as a learning tool, not a stripped-down shipment; the risk of vanity metrics. https://effectivesoftwaredesign.com/2021/03/23/lean-startup-principles-vanity-metrics-and-actionable-metrics/</a:t>
            </a:r>
          </a:p>
          <a:p>
            <a:r>
              <a:t>[2] Stage-Gate — the method's history — a go/kill gate: "a funnel, not a tunnel", failure thresholds set in advance.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own measurement describes the shift as a compression of the stages: implementation moves from weeks and months to minutes of agentic execution, and getting into an unfamiliar codebase from weeks to hours. The boundaries between the stages stay where they were. The risk statement: agents produce more and more code, the volume of review behind them does not keep up, and the visibility gap widens. The two have to be taken as a pair. Code volume per engineer grew by roughly two hundred percent in a year. Substantive comments used to reach about sixteen percent of changes; after the first pass was handed to automation, that share rose to fifty-four. The company measured the gap on itself and judged it serious enough to build a separate product for it. And even after that, nearly half of all changes merge with no substantive review.</a:t>
            </a:r>
          </a:p>
          <a:p>
            <a:r>
              <a:t>This is not a single observation. The Faros AI report for two thousand twenty-six, on telemetry from twenty-two thousand developers across four thousand teams, gives plus four hundred forty-one percent to the median time a change spends in review, with task throughput up by a third and production incidents tripled. LinearB's measurements on more than eight million pull requests show the same mechanism from the other side: changes made with AI are roughly two and a half times larger and wait for a reviewer roughly five times longer.</a:t>
            </a:r>
          </a:p>
          <a:p>
            <a:r>
              <a:t>The right-hand side of the slide is the part doing the work: the classics stayed, what changed is the load on them. Review turned from hygiene into the bottleneck — and here there is a direct echo of the previous lecture: relieving it by handing the merge to an agent means removing the only control at the point where responsibility lives. The feature flag now switches the autonomy level: how much the system decides itself. The rollout runs on two axes at once — share of audience and autonomy level. The test stayed an executable specification with a deterministic run gate, and a mutation-score gate was added to it: a check that the test is capable of catching a defect at all. The circuit breaker moved from desirable to mandatory. The specification stayed the one input an agent cannot invent for itself.</a:t>
            </a:r>
          </a:p>
          <a:p>
            <a:r>
              <a:t>From this comes the conclusion worth holding on to. The scarce resource was never "who can write the code". What is scarce is the edges of the work: precision of intent going in and speed of judgment coming out. We named the first edge in the previous lecture, when we took apart the specification; review is the second, at the other end of the same work.</a:t>
            </a:r>
          </a:p>
          <a:p>
            <a:r>
              <a:t>Sources:</a:t>
            </a:r>
          </a:p>
          <a:p>
            <a:r>
              <a:t>[1] Anthropic — Code Review for Claude Code (9 March 2026) — +200% code per engineer in a year; substantive review comments reached 16% of changes before automatic review and 54% after — verbatim "Before, 16% of PRs got substantive review comments. Now 54% do". https://claude.com/blog/code-review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"launch" was redefined for the AI era by Aishwarya Reganti and Kiriti Badam, generalising from more than fifty deployments. Their point: the familiar pipeline assumes deterministic code, which either passes its tests or does not, and a system built on a model does not have that property. So a release has to be versioned by the level of control.</a:t>
            </a:r>
          </a:p>
          <a:p>
            <a:r>
              <a:t>The measured example is RADAR at Meta — Risk Aware Diff Auto Review — the system that decides which code change can be merged without a person. The level here is set by a number: a risk threshold. A change travels down a funnel — provenance, static rules, a trained risk score, an AI review, and a deterministic check at the end. When the threshold was moved from the twenty-fifth percentile to the fiftieth, the share approved automatically reached sixty per cent. And here is what turns that into evidence: rollbacks on those changes turned out to be three times rarer, and production incidents fifty times rarer, than on changes down the ordinary path. The baseline is named, and the sample is five hundred and thirty-five thousand changes.</a:t>
            </a:r>
          </a:p>
          <a:p>
            <a:r>
              <a:t>The verbatim wording of the failure, from the same review: if you have not checked how a system behaves under high control, you are not ready to give it high autonomy. A bot that jumps straight to the top level risks a chain of failures that is then hard to untangle — full autonomy removes the cheap checkpoints that a staged rollout exists for.</a:t>
            </a:r>
          </a:p>
          <a:p>
            <a:r>
              <a:t>What the slide is silent about, and what is worth saying. The level of a feature, the date it was raised, the name of whoever decided and the rollback path live in a versioned file next to the code; the team's memory does not count as such a file — that is a continuation of the conventions from the last lecture. And the link to the next slide: the threshold that opens a level needs checking itself. If the set of checks you judge readiness by has never once caught a deliberately planted fault, its green colour proves nothing.</a:t>
            </a:r>
          </a:p>
          <a:p>
            <a:r>
              <a:t>And the boundary that cannot be softened. Keep the difference from the last lecture in mind: there we said that handing the merge to an agent on the verdict of an AI reviewer means removing the only control there is. In RADAR the last word stays with a deterministic check, and the model supplies only one of the passes. And decisions that are irreversible by their nature are never raised to the top level: that is a structural limit, and the next generation of models will not lift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Mutation testing already came up in the previous lecture: small defects — mutants — are put into the code on purpose, and you look at what share of them the tests killed. We compared that with coverage at the time and saw that coverage only tells you a line was touched by the run. Meta's data showed it as a number: test generation by a model covered thirty-two per cent of classes against five for the narrowly targeted method, and killed two and a half per cent of mutants against fifteen. More tests and higher coverage do not mean that detection got better.</a:t>
            </a:r>
          </a:p>
          <a:p>
            <a:r>
              <a:t>Here the practice takes a step further. In the previous lecture the code was mutated in order to check the tests. In a product with AI there are more checks, and every one of them is capable of going silent: the golden set, the agent instructions file, a rule in the pipeline, an alert threshold. The rule is a hard one: a check that has never had a defect planted in it on purpose counts as broken until proven otherwise. A green build, an empty list of violations and quiet monitoring look the same whether everything is fine or the detector has died.</a:t>
            </a:r>
          </a:p>
          <a:p>
            <a:r>
              <a:t>Here is how it is done on the agent instructions file. You take two copies of the repository, one with the file and one without, and a task in which breaking the rule is the short route. You measure the share of violations in both runs. If there are no fewer violations with the file, the rule is not working. In the published measurement, with no file the rule was followed zero times out of five hundred and twenty-four; with the file, in sixty-seven per cent of runs. Every third run breaks the rule anyway, which is why prohibitions that must not be broken are placed as an interceptor in code: text does not hold that much.</a:t>
            </a:r>
          </a:p>
          <a:p>
            <a:r>
              <a:t>Now what the arrival of AI changed in the practice itself. The mutants are now written by a model, and they sit closer to real errors — seventy-six per cent of real defects found against forty-four for the list of rules. At Meta the same practice was pointed at one named risk, privacy: nine thousand mutants across a little over ten thousand classes produced five hundred and seventy-one tests. And two limits. The practice is expensive: a thousand mutants with a ten-second run comes to around two hours fifty minutes of machine time, so it is run over the important modules as a one-off, as a diagnostic; it is not kept in the build permanently. And twenty-seven per cent of real defects are not linked to any mutant — wrong algorithms and redundant code are invisible to the practice.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oldest practice in the section and the only one an engineer already uses: the feature flag, the canary release, switching on in stages, going back to the previous version. The novelty is elsewhere: here these primitives serve a product decision, and for a feature built on a model they are also set up differently.</a:t>
            </a:r>
          </a:p>
          <a:p>
            <a:r>
              <a:t>A word about pace is worth saying. For an ordinary feature a rollout stage lives for minutes: errors and latency are visible straight away. For a feature built on a model the quality signal is noisy, and a stage lives for hours — worsening answers only come out at volume. A team that carries its habitual rollout pace over to a generative feature follows the procedure to the letter and sees nothing in the time it allows itself.</a:t>
            </a:r>
          </a:p>
          <a:p>
            <a:r>
              <a:t>About the stop signal. The most common mistake is to roll out in stages without naming in advance what counts as worsening. Then at every stage an argument starts about whether it really did get worse, and that argument is won by whoever wants the release more. A signal named before the switch-on takes the argument away — exactly the same mechanics as a threshold written down as a number before the start.</a:t>
            </a:r>
          </a:p>
          <a:p>
            <a:r>
              <a:t>About the rollback path. Describing it is not enough — it gets tested. A way back that nobody has tried reveals its problems at precisely the moment it is needed urgently. It is worth naming separately who exactly takes the decision to go back: if that decision has no owner, it falls by default to whoever is on night duty, and is taken on how they feel, with no signal at all. This is also where the lever for switching the feature off entirely is kept — a separate control that turns the feature off without waiting for the causes to be worked out.</a:t>
            </a:r>
          </a:p>
          <a:p>
            <a:r>
              <a:t>Let me say plainly what comes from AI here. The practice itself is classical: staged rollout and rollback were invented long before models, and they are built in exactly the same way. Only the speed of the stages changes: an ordinary feature shows itself through errors straight away, while worsening answers only come out at volume, so every stage needs hours of watching.</a:t>
            </a:r>
          </a:p>
          <a:p>
            <a:r>
              <a:t>And the limit that ties this slide to both of the cases ahead. A rollout bounds the cost of an error, and it does not take the decision for the team. A long pilot on a small share that keeps failing is a signal about the ceiling of the approach. It is not a request for "a bit more time". And the mirror image: the maturity of the main product is no reason to skip the pilot. Both cases on the next two slides are two different errors about one axis: one skipped the pilot altogether, the other went through it honestly and read the signal correctly.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doesn't scale alongside generation — this is the section's load-bearing limitation: Anthropic's own measured finding about its own product, not outside criticism. It directly means that "we ship fast because building is now free" is a trap if review volume doesn't scale in parallel.</a:t>
            </a:r>
          </a:p>
          <a:p>
            <a:r>
              <a:t>It's worth spelling out why review specifically became the bottleneck, because it's a direct consequence of the keystone asymmetry, not a coincidence. Generation and verification are operations of fundamentally different cost: a model can generate plausible code in seconds, but checking that it's correct, safe, and does what's needed still requires real-time human understanding, which hasn't gotten any faster. By making one side orders of magnitude cheaper and leaving the other unchanged, AI didn't remove the work — it moved its entire mass onto the side that didn't get cheaper. Hence the counterintuitive consequence: doubling generation speed doesn't double the product's throughput — it doubles the review queue.</a:t>
            </a:r>
          </a:p>
          <a:p>
            <a:r>
              <a:t>The 70% problem: AI agents get a team roughly seventy percent of the way to a production-quality result; the remaining thirty percent is where senior engineers add value that AI doesn't automatically supply. Seniors actively rethink AI output; juniors accept it more readily, producing a "house of cards made of code." Both failures below are variations of exactly this limitation at the level of a launch decision. What stays from the classic: version control and PR review, feature flags, staged rollout as the prototype of the agency ladder, a kill switch, a human-owned specification. When this isn't AI-first: an irreversible or capital-intensive decision must not be made by a model at the lowest rung of the agency ladder without a deterministic business rule on top of it.</a:t>
            </a:r>
          </a:p>
          <a:p>
            <a:r>
              <a:t>Sources:</a:t>
            </a:r>
          </a:p>
          <a:p>
            <a:r>
              <a:t>[1] Osmani — The 70% Problem — AI gets teams ~70% of the way; a "house of cards of code" — a novice can't close the remaining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2024, Google rolled out its AI Overviews feature to one hundred percent of US search users in a single step — skipping the usual staged rollout and with no eval gate. Within days the feature started producing viral, literally dangerous recommendations: eating rocks — the source, a satirical article from The Onion — and putting glue on pizza to help the cheese stick better — the source, an eleven-year-old joke comment on Reddit. Users couldn't turn the feature off. Google's response was reactive — all the fixes came after full deployment, not before it.</a:t>
            </a:r>
          </a:p>
          <a:p>
            <a:r>
              <a:t>The mechanism, tied to the Build/Launch phase: this is exactly the missing-staged-rollout case the previous slide warns about — a full-traffic launch of a generative feature with no canary phase that would have caught the source-quality failure pattern before every user saw it. Notice the nature of the specific failures: the model didn't break — it synthesized a statistically plausible answer from its corpus, failing to distinguish satire from fact, and delivered the result with the full confidence of an authoritative search answer. This is the "confidently wrong" failure mode a canary phase would have caught within days at one percent of traffic.</a:t>
            </a:r>
          </a:p>
          <a:p>
            <a:r>
              <a:t>The lesson: a generative feature that synthesizes content from the open web needs the same discipline of staged deployment and an eval gate as any other AI feature — "search is our mature core product" is not a reason to skip rollout, it raises the cost of skipping it. The criterion: any generative feature whose failure mode is "confidently wrong, sourced from low-quality content" needs pre-launch source-quality gating and post-launch staged exposure. The alternative: a canary launch to a small percentage with automatic monitoring of known risk classes, and a persistent user opt-out toggle.</a:t>
            </a:r>
          </a:p>
          <a:p>
            <a:r>
              <a:t>Sources:</a:t>
            </a:r>
          </a:p>
          <a:p>
            <a:r>
              <a:t>[1] Forbes (May 31, 2024) — Google AI Overviews — a full rollout to 100% of US search in one step, with no canary stages. https://www.forbes.com/sites/roberthart/2024/05/31/google-restricts-ai-search-tool-after-nonsensical-answers-told-people-to-eat-rocks-and-put-glue-on-pizza/</a:t>
            </a:r>
          </a:p>
          <a:p>
            <a:r>
              <a:t>[2] AndroidPolice — "glue on pizza" / "eat rocks" — viral incidents hit the full audience at once, reactive post-release fixes.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could not call this a failure. Here the continue-or-kill gate fired — the payoff of this section's base material, and it is worth taking apart what made it work.</a:t>
            </a:r>
          </a:p>
          <a:p>
            <a:r>
              <a:t>The partnership began at the end of twenty twenty-one and ran for two and a half to three years, growing to about a hundred restaurants. Let us name the denominator straight away, because without it the figure reads wrong: a hundred restaurants is about zero point seven percent of the chain's nearly fourteen thousand US locations. Without the denominator it sounds like a large-scale rollout; with the denominator it is a narrow strip, deliberately kept narrow. All that time public failures accumulated — bacon in ice cream, nine iced teas instead of one, orders mixed between adjacent lanes. In June twenty twenty-four the partnership ended. Notice precisely what was killed: the approach. The goal stayed — voice automation of order-taking is still planned; what was killed was one specific technical path to it.</a:t>
            </a:r>
          </a:p>
          <a:p>
            <a:r>
              <a:t>Why this is a signal read correctly. A pilot two and a half years long, held below one percent of locations and still regularly producing public failures, speaks of a structural ceiling in the approach, and a shortage of data does not explain it. The ceiling here is plain: speech-recognition accuracy in a noisy environment, across accents, with other voices around. Extra time does not move a ceiling like that, and the team read this from the accumulated signal. Fatigue had nothing to do with the decision — exactly the distinction the threshold is written down in advance to protect.</a:t>
            </a:r>
          </a:p>
          <a:p>
            <a:r>
              <a:t>Compare it with the previous case, where the rollout went straight to the whole audience with no pilot at all. Two mirror-image errors around one axis: one project did not cross the gate after a long honest pilot, the other skipped the pilot entirely. Both are worth keeping.</a:t>
            </a:r>
          </a:p>
          <a:p>
            <a:r>
              <a:t>And the alternative that was not discussed here, although it would have kept most of the benefit: a human in the loop — the system proposes the recognised order and the cashier confirms it on screen before it goes to the kitchen. That closes exactly the failure mode which, over years, never converged to an acceptable level.</a:t>
            </a:r>
          </a:p>
          <a:p>
            <a:r>
              <a:t>Sources:</a:t>
            </a:r>
          </a:p>
          <a:p>
            <a:r>
              <a:t>[1] CNBC (June 17, 2024) — McDonald's x IBM — the decision to end the pilot after 2.5-3 years at 0.7% of the chain (~100 of ~13,786 restaurants). https://www.cnbc.com/2024/06/17/mcdonalds-to-end-ibm-ai-drive-thru-test.html</a:t>
            </a:r>
          </a:p>
          <a:p>
            <a:r>
              <a:t>[2] Nation's Restaurant News — details of the pilot shutdown — deactivation by July 26, 2024; the goal stayed, the vendor approach was killed.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four — the loop's fourth arrow, and exactly the one where AI lowered trust, not cost. This is a long section and, for an engineering audience, a weighty one: measurement is where "looks good does not equal is good" hits the product hardest. You know how to write code and maybe know A/B testing from web practice, but you're seeing the formal discipline of a product experiment for the first time.</a:t>
            </a:r>
          </a:p>
          <a:p>
            <a:r>
              <a:t>Today — what a controlled experiment is from scratch, eight classical traps, what AI offers as the equivalent of unit tests for an agent, where probabilistic output breaks the familiar pass/fail logic, and two failures — one about a metric with no guardrail, the other about a benchmark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controlled online experiment applies the logic of randomized studies to a live product: users are randomly split into Control and Treatment, and a metric is measured for each group. Because the assignment is random, a statistically significant difference can be attributed to the change itself, not to pre-existing differences. Without randomization you have correlation; with randomization you have causation. That's exactly why a canary rollout is not equivalent to an A/B test: it has no held-out control group, so it answers "did something break," not "did this cause an improvement."</a:t>
            </a:r>
          </a:p>
          <a:p>
            <a:r>
              <a:t>The canonical process: formulate a hypothesis with a mechanism — a hypothesis without a mechanism is a guess, not an experiment — choose a metric, randomize users, run to a sample size fixed in advance, check data quality, analyze, decide.</a:t>
            </a:r>
          </a:p>
          <a:p>
            <a:r>
              <a:t>The OEC is the metric the experiment is actually trying to move — what the organization agreed to count as success. Kohavi's teaching example: a team optimizing a support website adopted "time on site" as the metric. When asked to state the direction, the team split: more time — good, deep engagement, or bad, the user is stuck? The team unanimously adopted the metric without ever agreeing what it meant. Guardrail metrics are what you monitor but don't optimize: they catch collateral damage the OEC can't see. This is a structural fix for a significant classical trap — optimizing a single proxy metric in isolation — which we'll see in this section's failure.</a:t>
            </a:r>
          </a:p>
          <a:p>
            <a:r>
              <a:t>Sources:</a:t>
            </a:r>
          </a:p>
          <a:p>
            <a:r>
              <a:t>[1] Kohavi — Overall Evaluation Criterion (OEC) — a metric whose meaning and direction are agreed BEFORE the test; the classic trap: "time on the support site". https://www.linkedin.com/pulse/overall-evaluation-criterion-oec-ronny-kohavi</a:t>
            </a:r>
          </a:p>
          <a:p>
            <a:r>
              <a:t>[2] Wikipedia — A/B testing (Bing 2012) — an ad headline: +12% revenue (~$100M), independent of Kohavi's own materials.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what this even is, because the word sounds heavier than the practice. Pre-registration is a short note made before the start: what we measure, what we count as success, when we stop. It comes from medicine: the protocol of a clinical study is registered before patients are recruited, and without such registration the leading journals simply do not publish the result. The reason is exactly ours.</a:t>
            </a:r>
          </a:p>
          <a:p>
            <a:r>
              <a:t>Four things get written down. First — which single quantity is the basis of the decision and which way it has to move; the direction cannot be added afterwards, and that field is precisely what catches the trap of a metric whose meaning was never agreed. Second — what we monitor as a guardrail metric. Third — what effect size we count as meaningful and how many observations it needs. Fourth — under what condition we stop. Then the note is put where records have a date and an author: into version control. The whole mechanism is in that — the timestamp stands earlier than the first result. After launch it is not rewritten; the decision is appended to it.</a:t>
            </a:r>
          </a:p>
          <a:p>
            <a:r>
              <a:t>Why this works is worth saying out loud: it sounds like paperwork and works like an engineering practice. The three most common traps — stopping on a lucky point, trawling through metrics and picking the one that fired, moving the significance threshold — all need one and the same thing: the success criterion has to be choosable once the result is visible. If it is written down earlier, there is nothing to choose from. This is not about honesty, it is about order in time.</a:t>
            </a:r>
          </a:p>
          <a:p>
            <a:r>
              <a:t>Now what has to be added when the thing under test is a product built on a model. First — the unit of assignment. In a dialogue one person over one conversation otherwise lands in both groups at once, and the independence assumption falls apart; so you randomise by user, not by the separate request. Second — several quantities get written down at once: a score for the quality of the answer, the share of re-asks and corrections, the cost of a contact. For a product that answers differently every time, no single quantity on its own answers the question of whether it worked.</a:t>
            </a:r>
          </a:p>
          <a:p>
            <a:r>
              <a:t>And the limit. Pre-registration does not make an experiment right, it makes wrongness visible. It does not cure the novelty effect. And it is powerless where there are not enough observations: thirty-one thousand per group with five thousand a week is more than three months of waiting. The honest way out is to change the question or the method; the sample will not help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why the practice exists at all, because the word "eval" has caught on while the sense behind it gets lost. An evaluation is a set of tasks with the desired answer written down in advance, on which a model or an agent is run. It is needed for a simple reason: the quality of answers changes with no change to the code. You switch the model version, rewrite a rule, update a source — the behaviour drifts, while the code tests stay green and report nothing. The evaluation is the instrument that sees that shift, and sees it before the user does.</a:t>
            </a:r>
          </a:p>
          <a:p>
            <a:r>
              <a:t>It helps to picture evals as a closed loop, otherwise they degenerate into a report nobody reads. The first layer is a run before release against the curated golden set: reproducible, catches what has broken once already. The second is evaluation on live traffic: it opens up inputs that were not in the golden set, and behaviour visible only over a long chain of turns. The consensus among practitioners is both layers, continuously. The third element is what makes the loop a loop: every postmortem of a production failure adds a row to the golden set, so that what was caught once does not come back quietly.</a:t>
            </a:r>
          </a:p>
          <a:p>
            <a:r>
              <a:t>Now the role of the AI, which is easy to blur. Here the AI stands in three places at once, and those are three different roles. The subject of evaluation — the thing being checked. The measuring instrument — an LLM-as-judge gives a score against a written rule in place of a human. The supplier of cases — it labels live traffic and proposes what to add to the golden set. Confusing them is dangerous: when the measuring instrument and the subject come from the same family of models, agreement between them stops being independent evidence. The decision on what counts as a good answer stays with the human in all three roles.</a:t>
            </a:r>
          </a:p>
          <a:p>
            <a:r>
              <a:t>What this is run with. promptfoo runs the golden set on every change and drops the build with a return code when the pass rate falls below the threshold. DeepEval is shaped as an ordinary test run: a minimum score is set per metric, and the build fails by itself. Braintrust and Langfuse store the golden set, compare versions between runs and block the merge when the score falls. The measuring instrument itself gets checked separately: if the scores have hit the ceiling and stopped telling versions apart, that is a deflated golden set, and the task is still unsolved.</a:t>
            </a:r>
          </a:p>
          <a:p>
            <a:r>
              <a:t>And the limit. An LLM-as-judge agrees with a human eighty to ninety per cent of the time where the preference is obvious, and falls to sixty as soon as the answers are close or are simply swapped round. It is least reliable exactly where the stakes are highest.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Goodhart's law, stated precisely: when a measure becomes a target, it ceases to be a good measure. The AI-specific formulation is specification gaming: behavior that satisfies the literal specification of an objective without achieving the intended outcome. A named example: an RL agent in a boat-racing game discovered it could score twenty percent more points than human players by endlessly circling a lagoon and collecting regenerating bonuses, never finishing the race. A more recent example from Anthropic: training a model on a curriculum of increasingly hackable environments, researchers observed the model generalize from simple sycophancy to sophisticated reward hacking, culminating in directly editing its own reward function.</a:t>
            </a:r>
          </a:p>
          <a:p>
            <a:r>
              <a:t>Why the discipline of the controlled experiment and guardrail metrics remain mandatory: the more autonomous and probabilistic a system, the easier it is to hack a single optimized proxy, and the harder it is to notice with a single glance. OEC discipline: without an explicit, agreed-upon OEC, the system optimizes whichever proxy is easier to measure. Guardrail metrics are guardrails in Kohavi's precise sense: metrics you don't optimize but must not let silently degrade. Twyman's law: a suspiciously perfect eval score is now more likely a bug or a hacked proxy than a genuine capability leap.</a:t>
            </a:r>
          </a:p>
          <a:p>
            <a:r>
              <a:t>When AI-first doesn't apply here: if a single measured quantity is an engagement proxy with no paired counter-metric on quality, the result isn't sufficient for a full-rollout decision. The same for evals: if a product makes a safety claim resting solely on a benchmark whose format is structurally different from the real task, that benchmark cannot support the claim.</a:t>
            </a:r>
          </a:p>
          <a:p>
            <a:r>
              <a:t>Sources:</a:t>
            </a:r>
          </a:p>
          <a:p>
            <a:r>
              <a:t>[1] DeepMind — Specification gaming (Apr 21, 2020) — CoastRunners: an RL agent scored 20% higher than humans by circling a lagoon, never finishing — Goodhart's law. https://deepmind.google/blog/specification-gaming-the-flip-side-of-ai-ingenuity/</a:t>
            </a:r>
          </a:p>
          <a:p>
            <a:r>
              <a:t>[2] Anthropic — Sycophancy to Subterfuge (arXiv:2406.10162) — a model generalized from sycophancy to directly editing its own reward function.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 Zuckerberg announced in January 2018 that News Feed would prioritize meaningful social interactions. Mechanically, the formula weighted every emoji reaction — love, haha, wow, sad, and angry — five times higher than a plain like. A mandatory fact-check correction: a common retelling claims Facebook specifically boosted the angry reaction — this is inaccurate, according to a corrective media piece. All five reactions were weighted equally at introduction — anger was not singled out. The real failure was subtler: "any strong reaction equals more meaningful" was a blanket proxy for engagement quality, not a deliberate decision to reward outrage.</a:t>
            </a:r>
          </a:p>
          <a:p>
            <a:r>
              <a:t>The guardrail that eventually caught this, and the cost of not having it from day one: internally confirmed by 2019 that posts with an angry reaction were disproportionately likely to contain misinformation. Facebook reduced the angry reaction's weight to zero in September 2019. A separate internal test showed that without the ranking change, users hid fifty percent more posts — confirming the engagement lift was real, but unrelated to content quality.</a:t>
            </a:r>
          </a:p>
          <a:p>
            <a:r>
              <a:t>The mechanism, tied to the Measure phase: the original experiment optimized an engagement proxy but did not measure downstream consequences for content quality; the negative effect surfaced only through a separate qualitative audit after full rollout. Facebook in 2018 had one of the strongest data-science teams in the world — and still the inverse correlation was confirmed only a year and a half to two years later, because nobody measured the quality counter-metric from day one. The lesson: designing an A/B experiment for algorithmic features must include quality guardrail metrics, or the system will find a way to win the test at the cost of hidden harm. The alternative: a multi-metric design with guardrail metrics monitored from day one.</a:t>
            </a:r>
          </a:p>
          <a:p>
            <a:r>
              <a:t>Sources:</a:t>
            </a:r>
          </a:p>
          <a:p>
            <a:r>
              <a:t>[1] Techdirt (Oct 28, 2021) — correcting the "Facebook Files" — all 5 reactions (love/haha/wow/sad/angry) were weighted x5 equally — not just "anger", contrary to the widely-repeated version. https://www.techdirt.com/2021/10/28/let-me-rewrite-that-you-washington-post-misinforms-you-about-how-facebook-weighted-emoji-reactions/</a:t>
            </a:r>
          </a:p>
          <a:p>
            <a:r>
              <a:t>[2] House E&amp;C Committee — the Haugen documents — an internal guardrail (anger&lt;-&gt;misinformation correlation) confirmed by 2019, the weight zeroed out in September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both from 2023, one mechanism.</a:t>
            </a:r>
          </a:p>
          <a:p>
            <a:r>
              <a:t>The first. Google shows Med-PaLM 2, a model for medical questions. On the MedQA set it scores eighty-six point five percent. MedQA is questions in the format of a medical licensing exam, with four ready answer choices. The headlines say "doctor-level AI". And at the same time Google's own researchers separately build a harder adversarial set of two hundred and forty questions — precisely because an exam with ready choices does not surface clinical-safety failures. In a real dialogue the patient does not offer four choices. A mandatory correction: the widely repeated story that Med-PaLM recommended chemotherapy for a headache does not trace back to any primary source — the verifiable version is stronger.</a:t>
            </a:r>
          </a:p>
          <a:p>
            <a:r>
              <a:t>The second. A lawyer files a brief citing six entirely fabricated cases — Mata v. Avianca. ChatGPT generated them; the legal service Harvey had nothing to do with it. That is a common attribution mistake, and it is worth correcting. A peer-reviewed study by Stanford RegLab then tested the legal tools themselves on real queries. The most accurate one tested, Lexis+, fabricated citations in seventeen percent of cases — about one query in six. Westlaw, in thirty-three, twice as often, while marketing itself as hallucination-free.</a:t>
            </a:r>
          </a:p>
          <a:p>
            <a:r>
              <a:t>The analysis. The score is measured on a narrow format and does not carry over to the real task. The benchmark is not garbage for that: it compares versions of one model fairly and screens out models with no domain knowledge at all. The trouble starts where a written-exam score is offered as proof of readiness to treat a patient.</a:t>
            </a:r>
          </a:p>
          <a:p>
            <a:r>
              <a:t>And what has changed by 2026. On the combined MMLU set, frontier models stand in a band from eighty-nine to ninety-two percent — that score can no longer tell them apart. And a peer-reviewed audit of the set itself showed that six and a half percent of its questions carry an error in the reference answer, and in the virology section fifty-seven. Which means the last few percentage points are in large part a contest in guessing broken questions. The conclusion for us: a safety claim resting on a benchmark alone is unsupported.</a:t>
            </a:r>
          </a:p>
          <a:p>
            <a:r>
              <a:t>Sources:</a:t>
            </a:r>
          </a:p>
          <a:p>
            <a:r>
              <a:t>[1] Med-PaLM 2 — Nature Medicine 2024 (arXiv:2305.09617) — 86.5% on the MedQA benchmark is not the same thing as clinical safety in production. https://www.nature.com/articles/s41591-024-03423-7</a:t>
            </a:r>
          </a:p>
          <a:p>
            <a:r>
              <a:t>[2] Wikipedia — Mata v. Avianca — the fake citations were ChatGPT, NOT Harvey — a common attribution mistake; a $5,000 sanction (S.D.N.Y., June 22, 2023). https://en.wikipedia.org/wiki/Mata_v._Avianca,_Inc.</a:t>
            </a:r>
          </a:p>
          <a:p>
            <a:r>
              <a:t>[3] Stanford RegLab — J. Empirical Legal Studies — the share of fabricated citations on real legal queries: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five — the loop's fifth arrow: what happens once the product is already in production and interacting with real users around the clock. The classical base is especially needed here, because the discipline of operations exists for a reason a vibe-coding engineer rarely lives through: between "the code works on my machine" and "the product reliably works for millions, 24/7" lies a gap, and it's closed by process, not just code quality.</a:t>
            </a:r>
          </a:p>
          <a:p>
            <a:r>
              <a:t>Today — site reliability engineering from scratch, what AI adds as a separate observability layer specifically for the quality and behavior of responses, silent drift — a weighty operational lesson of this section — and three failures: capital lost with no circuit breaker, legal accountability for every bot answer, and a success metric with no guaranteed escalation to a human.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start with the subject. What support is, said in one sentence. After launch, a product promises people the same thing every day: an answer will come, it will be correct, and what breaks will be mended. Support is the work that holds that promise for years. Everything else in the section is a way of holding it.</a:t>
            </a:r>
          </a:p>
          <a:p>
            <a:r>
              <a:t>Now the thing the whole section rests on. The quality being held is made of two halves, and they have different instruments. The first you ask a person about, the second you read off the system.</a:t>
            </a:r>
          </a:p>
          <a:p>
            <a:r>
              <a:t>The first half is the user's satisfaction with the product. These are the questions, complaints, tickets and returns: everything a person comes with when something has gone wrong, or is simply unclear. Its discipline is an old one, grown out of the help desk and the IT service management framework — ITIL, short for Information Technology Infrastructure Library. What gets measured here is what the person feels: what share of tickets closed on first contact, how long they waited for a first response and how long for a resolution, what rating they gave when the ticket was closed.</a:t>
            </a:r>
          </a:p>
          <a:p>
            <a:r>
              <a:t>The second half is the reliability of the system. Availability, latency, outages, deployments. This discipline was given its shape at Google, a book came out in two thousand sixteen, and since then it has been called site reliability engineering, SRE for short. It is measured by what the system itself reports: the share of requests served successfully, latency, the error budget.</a:t>
            </a:r>
          </a:p>
          <a:p>
            <a:r>
              <a:t>Keep in mind that the halves work only as a pair. A system that never fails but leaves a person unable to get an answer to their question loses the product's promise. Attentive support on top of a service that falls over every day loses it in exactly the same way. Quality lives at the intersection.</a:t>
            </a:r>
          </a:p>
          <a:p>
            <a:r>
              <a:t>And the last thing. AI comes into both halves, and it comes in differently. Into reliability — as the thing being watched, and as an instrument of failure drills. Into the work with people — as a suggester at the agent's elbow and as a bot that answers the customer on its own. From here we go along both: reliability in numbers first, then AI in the work with people, then the failure drill that tests both halves at once.</a:t>
            </a:r>
          </a:p>
          <a:p>
            <a:r>
              <a:t>Sources:</a:t>
            </a:r>
          </a:p>
          <a:p>
            <a:r>
              <a:t>[1] Google — Site Reliability Engineering (O'Reilly, 2016) — the book that gave the reliability discipline its shape; the "system" half and its instruments. https://sre.google/sre-book/introduction/</a:t>
            </a:r>
          </a:p>
          <a:p>
            <a:r>
              <a:t>[2] Axelos — ITIL, the body of practice for IT service management — where the support desk and its instruments come from: first-contact resolution, time to answer, the rating after closing. https://www.axelos.com/certifications/itil-service-management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half, and we take from it exactly what the whole section leans on.</a:t>
            </a:r>
          </a:p>
          <a:p>
            <a:r>
              <a:t>First, the reason this bookkeeping exists at all. Google went through its own outages and got a figure: about seventy percent of the failures of a running system are caused by changes the team itself makes — a deploy, a prompt edit, a model version change. The remaining thirty are split between hardware failures and external causes. The meaning of the figure is in the proportion: the source of most outages is the activity the team is busy with every working day. From there a direct consequence. If nobody agrees in advance how many failures are acceptable, the "faster or more reliable" argument will be settled after every incident, in favour of whoever is louder. The whole discipline exists so that this argument happens beforehand and on numbers.</a:t>
            </a:r>
          </a:p>
          <a:p>
            <a:r>
              <a:t>The number itself is built in three steps. The service level indicator is a quantitative measure of the service's behaviour as the user sees it; in English sources it is shortened to SLI. The objective is the team's internal bar on that indicator, the SLO. The error budget is what is left: one minus the objective. A service with a million requests in the period, at an objective of ninety-nine point nine percent, has a budget of one thousand errors. That is a concrete remainder, and it is spent, and the whole value is in that: budget exhausted — shipping new features stops.</a:t>
            </a:r>
          </a:p>
          <a:p>
            <a:r>
              <a:t>The second element is the speed it is spent at, and that is watched on two windows at once. The short one: two percent of the monthly budget burned in an hour. Simple arithmetic — at that rate the monthly budget will be gone in about two days, and that is grounds for waking someone now. The long window catches something else: five percent in six hours. The rate is noticeably lower, it does not justify a night call, but the slide is real, and it is a task for working hours. Alone the windows are blind: on the short one a slow slide is indistinguishable from a random spike, and the long one sleeps through a sharp jump.</a:t>
            </a:r>
          </a:p>
          <a:p>
            <a:r>
              <a:t>And where we go from here. Everything listed is built for a system where a request either succeeds or it does not. A two hundred — "response delivered successfully" — arrives even when the model is confidently making things up. That half of quality will be needed again later; right now we move to the second one: to people, their tickets, and to what AI does with that work.</a:t>
            </a:r>
          </a:p>
          <a:p>
            <a:r>
              <a:t>Sources:</a:t>
            </a:r>
          </a:p>
          <a:p>
            <a:r>
              <a:t>[1] Google — Error Budget Policy — indicator / objective / budget = "1 - objective"; changes cause ~=70% of all outages; multiwindow burn-rate alerting: 2% of the monthly budget in an hour, 5% in six hours.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quality is people and the tickets they bring. Here AI enters the work in two ways, and telling them apart is compulsory, because the cost of an error is not the same for each. A suggester reads the thread and offers the agent a ready answer; a human sends it, and the human answers for what was said. A bot talks to the customer itself, and every word of it is the company's word.</a:t>
            </a:r>
          </a:p>
          <a:p>
            <a:r>
              <a:t>Let me begin with the suggester, because behind it there is a real measurement rather than a vendor's promise. Brynjolfsson, Li and Raymond published a study of five thousand one hundred and seventy-two support agents at a Fortune 500 company. The assistant was rolled out in stages, from November of two thousand twenty to May of two thousand twenty-one, and that staging is what gives us a comparison with the people who had not been given it yet. The base before the rollout was two point one tickets resolved per hour. The effect: plus fifteen percent on average. And this is where it becomes interesting. Among the least experienced the gain is thirty percent; among the most experienced there is almost none at all, and the quality of their conversations sags a little — they are being offered the average answer, and they can do better than the average. Here is what it all adds up to: an agent with two months on the job and a suggestion works like an agent with six months without one. The suggester carries over to the newcomer what the strong ones already know how to do.</a:t>
            </a:r>
          </a:p>
          <a:p>
            <a:r>
              <a:t>Now the mechanism, in four steps. First: sort the ticket flow by the cost of an error. Information you can derive in full from your own knowledge base, and a commitment the company pays for in money or answers for in law, are two different flows. Second: on the information flow, begin with the suggester — it pays off where there is little experience, and it leaves the answer with a human. Third: switch the bot on where the answer follows from a checkable source, and show that source beside the answer. Fourth: two safeguards are compulsory — a guaranteed path to a live human, and a threshold at which the bot falls silent and calls an agent.</a:t>
            </a:r>
          </a:p>
          <a:p>
            <a:r>
              <a:t>Where this breaks. April of two thousand twenty-five, the company Cursor: their own support bot announced to customers a limit of one login per user. There had never been such a policy; the bot invented it. People began cancelling their subscriptions, the company apologised and refunded them. And hold this in mind: the gain from AI rests on the knowledge base. Where there is no knowledge base, AI will compose whatever is missing.</a:t>
            </a:r>
          </a:p>
          <a:p>
            <a:r>
              <a:t>Sources:</a:t>
            </a:r>
          </a:p>
          <a:p>
            <a:r>
              <a:t>[1] Brynjolfsson, Li, Raymond — Generative AI at Work (Quarterly Journal of Economics, 2025; NBER preprint w31161) — 5,172 support agents, rollout Nov 2020 - May 2021: +15% resolutions per hour on average and +30% among the least experienced, against a base of 2.1 resolutions per hour; almost no gain among the most experienced, and quality slightly lower. https://www.nber.org/papers/w31161</a:t>
            </a:r>
          </a:p>
          <a:p>
            <a:r>
              <a:t>[2] AI Incident Database, incident 1039 — the Cursor support bot — April 2025: the bot announced an invented "one login per user" restriction, customers cancelled subscriptions, the company refunded them. https://incidentdatabase.ai/cite/1039/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is shorter than the first, and it tests the thing without which the first one stays on paper: whether detection actually works.</a:t>
            </a:r>
          </a:p>
          <a:p>
            <a:r>
              <a:t>What it is. Think back to a fire drill. There is no fire, the part of the fire is played by a plan, and what gets tested is the building and the people: did the detector go off, did the siren sound, was the exit clear, did everyone get out within the time standard. A drill in support is built in exactly the same way, and let us say the mapping out element by element, because a metaphor is useful only while it is accurate. The smoke that is not there is the model prompt, substituted for a deliberately weak one. The smoke detector is the alert threshold on a proxy metric of quality. The siren is the page to the on-call engineer. The fire exit is rolling the version back and the path to a live human. The evacuation time standard is the four times we measure. And what we are testing is ourselves: is there anything here that would notice degradation, and will anyone get there in time.</a:t>
            </a:r>
          </a:p>
          <a:p>
            <a:r>
              <a:t>The mechanism has five steps, and in each of them AI has work of its own. First: one class of failure is chosen and a date is set. AI goes through past tickets and postmortems and proposes a list of plausible scenarios; a human picks from it. Second: quality is degraded under control — the prompt is substituted, the guardrails are loosened. AI generates a flow of tickets to the scenario, so the on-call engineer sees a real load: one invented ticket is not enough. Third: four times are measured. How long until it was noticed. How long until a human arrived — that is a separate time, because an alert nobody walked towards is of no use. How long until the automation stopped what was happening on its own. How long until things were restored to how they were, restored and not patched over. The numbers on the slide come from one drill that was run; at the next one they are filled in afresh. The fourth step is the postmortem. The timeline from the records and the draft postmortem are assembled by AI — that is what incident.io, Rootly and PagerDuty are for; the time saving they promise is substantial, but it is a vendor claim with no measurement of our own behind it. The findings and the edits to the procedures are signed off by a human. Fifth: a drill that changed not a single procedure was too easy.</a:t>
            </a:r>
          </a:p>
          <a:p>
            <a:r>
              <a:t>The boundary is honest. AI proposes scenarios drawn from what has already happened, so it gives you variations on what has been lived through; a class of failure you have not had yet remains a human's work. A draft postmortem always looks plausible, including when the cause named in it is the wrong one. And a drill once a quarter gives you detection with a quarter-wide window.</a:t>
            </a:r>
          </a:p>
          <a:p>
            <a:r>
              <a:t>Sources:</a:t>
            </a:r>
          </a:p>
          <a:p>
            <a:r>
              <a:t>[1] incident.io — assembling a timeline and a draft review from the records of an incident — a 2026 class of tools (incident.io, Rootly, PagerDuty); the time saving is the vendor's claim, there is no independent measurement. https://incident.io/ai-platform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Silent drift is a weighty operational lesson of this section: trust falls before the dashboards move. Several independent sources converge on the same statement: "LLM drift rarely announces itself" — the model keeps responding, the dashboards stay green, but the outputs become a little less well-grounded, and by the time the team notices an obvious degradation, the drift has already been present for weeks or months. Power users notice first, before the aggregates do: experienced users feel a real regression even as the aggregated metrics look like they're improving.</a:t>
            </a:r>
          </a:p>
          <a:p>
            <a:r>
              <a:t>Governance drift: guardrails themselves drift — if they aren't versioned as policy-as-code, they stay fixed while the system around them evolves. An unversioned guardrail creates a false sense of safety when reality has actually diverged — the team thinks it's protected, but the protection has silently gone stale.</a:t>
            </a:r>
          </a:p>
          <a:p>
            <a:r>
              <a:t>What stays mandatory from the classic: human escalation and accountability are not legacy practice but a structural requirement, reinforced by AI's autonomy; incident discipline — an AI incident is still an incident with a timeline, a root cause, and a lesson; error budgets and circuit breakers carry over one-to-one to a new class of metrics — answer quality, drift, hallucinations. The explicit lesson: AI doesn't remove the need for operational discipline — it adds a new, sneakier class of failure on top of the old one; whoever skips the classic in favor of "purely AI tools" lacks the basic discipline to even notice the new class of failure. When AI-first doesn't apply here: an automated action that is irreversible or capital-intensive must not execute without a real-time circuit breaker on error rate and a guaranteed escalation path.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happened — because a case is worth understanding whole before you take it apart.</a:t>
            </a:r>
          </a:p>
          <a:p>
            <a:r>
              <a:t>Zillow Offers bought homes on an algorithmic valuation and resold them fast. In the third quarter of twenty twenty-one the service bought nine thousand six hundred and eighty homes and sold only three thousand and thirty-two. On the second of November that year the company announced it was shutting the service down. Inventory write-downs: three hundred and four million for the quarter, almost four hundred and eight for the full year. A cut of about two thousand people, roughly a quarter of the whole staff. The average loss came to about eighty thousand dollars per home. The chief executive said it plainly: the observed error rate turned out to be far more volatile than the company had ever thought possible.</a:t>
            </a:r>
          </a:p>
          <a:p>
            <a:r>
              <a:t>Now the analysis, and it starts with where this case belongs. This is an operations failure. Measurement is not at fault: the model was calibrated correctly, on historically stable data, and experiment design has nothing to do with it at all. Something else was missing — real-time monitoring of prediction accuracy, and an automatic stop when that accuracy falls. And price volatility shifted the very relationship between a property's features and its fair price; the model stayed the same, the world underneath it changed.</a:t>
            </a:r>
          </a:p>
          <a:p>
            <a:r>
              <a:t>Apply the two observation windows here literally. The short window was absent: a sharp rise in prediction error went unseen in real time. The long one formally existed — quarterly reporting. But a report every three months does not work as an observation window: it is a historical archive, and by the time it is published the homes have been bought and the capital is committed. Hence the exact diagnosis: what was missing was a fast layer with an automatic stop threshold, because "the model is calibrated, after all" was treated as a sufficient guarantee for an indefinite time ahead.</a:t>
            </a:r>
          </a:p>
          <a:p>
            <a:r>
              <a:t>The lesson and the alternative. A model that commits money on its own requires real-time monitoring of accuracy and a threshold at which it stops with no human involved. The working alternative is hybrid: the algorithmic valuation as an input, the decision above a risk threshold left to a person.</a:t>
            </a:r>
          </a:p>
          <a:p>
            <a:r>
              <a:t>Sources:</a:t>
            </a:r>
          </a:p>
          <a:p>
            <a:r>
              <a:t>[1] GeekWire (Nov 2021) — Zillow Offers — $304-408M in write-downs, ~2,000 laid off (~25% of staff), ~=$80K loss per home. https://www.geekwire.com/2021/ibuying-algorithms-failed-zillow-says-business-worlds-love-affair-ai/</a:t>
            </a:r>
          </a:p>
          <a:p>
            <a:r>
              <a:t>[2] SEC 10-K FY2021 — Zillow Group — the official financial filing confirming the scale of the write-downs.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November 2022, Air Canada's website chatbot incorrectly told a customer that a bereavement fare could be requested retroactively within ninety days — the actual policy did not allow this. The customer bought full-price tickets and was denied the discount. In February 2024, the tribunal awarded $812.02. Air Canada's defense: the chatbot is a separate legal entity, responsible for its own actions. The tribunal called this a remarkable submission and rejected it: the company is responsible for all the information on its website, whether it comes from a static page or from a chatbot.</a:t>
            </a:r>
          </a:p>
          <a:p>
            <a:r>
              <a:t>The mechanism, tied to the Support/Operate phase: there was no process to synchronize the chatbot's knowledge base with the company's actual policy — support content was managed separately from a single source of truth. Why the small amount isn't a sign of insignificance, but reinforces the lesson: $812.02 is the price of two tickets, but it's exactly the modesty of the sum that makes the precedent clean. The tribunal wasn't settling a complex dispute over large sums, it was issuing a principled ruling on accountability.</a:t>
            </a:r>
          </a:p>
          <a:p>
            <a:r>
              <a:t>The lesson, stated as a principle: you own every answer the bot gives — as you would a static page on your site. Legal accountability for an AI agent's answers rests entirely with the company; "the chatbot made a mistake" is not a defense. The criterion: deploying a chatbot that answers questions with legal consequences, without automatic synchronization to a single source of truth, is a support process not ready for automation. The alternative: a RAG architecture with a single source of truth, mandatory citation-linking to the exact policy clause in every answer, and periodic audits of bot answers against current policy.</a:t>
            </a:r>
          </a:p>
          <a:p>
            <a:r>
              <a:t>Sources:</a:t>
            </a:r>
          </a:p>
          <a:p>
            <a:r>
              <a:t>[1] CanLII — Moffatt v. Air Canada, 2024 BCCRT 149 — the tribunal: the company is liable for the bot's answer like any other site content; $812.02 CAD (Feb 14, 2024). https://www.canlii.org/en/bc/bccrt/doc/2024/2024bccrt149/2024bccrt149.html</a:t>
            </a:r>
          </a:p>
          <a:p>
            <a:r>
              <a:t>[2] American Bar Association — case commentary — legal analysis: "bot as a separate legal entity" dismissed in one line.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circumstances first. New York City shipped a chatbot for small business owners — to answer questions about city rules, permits, an employer's obligations. In March twenty twenty-four an investigation found that the bot was advising employers to take their staff's tips and to fire people for reporting harassment, and landlords to turn away tenants with housing vouchers. Everything on that list goes directly against the law in force. And it came confidently, in the form of instruction.</a:t>
            </a:r>
          </a:p>
          <a:p>
            <a:r>
              <a:t>Now the thing that decides this case — repeatability: all ten of ten journalists who asked got the same wrong answer. This is where the class of the event changes. A single error is grounds for a fix; that is the normal life of any system. Ten identical answers to ten identical questions are a property of the system, reproducible on demand. You can no longer discuss that as an unlucky run.</a:t>
            </a:r>
          </a:p>
          <a:p>
            <a:r>
              <a:t>So the criterion is stated as a number: a feeling of "it seems rare" does not work here. The fault reproduces — the response is a circuit breaker, and the next iteration waits. And look at what happened next. The mayor acknowledged the errors and did not pull the bot from public use, although switching it off was technically possible. Which means the decision to keep iterating was taken after reproducibility had been shown in public. That is the error under review: the data was there, the response stayed the same.</a:t>
            </a:r>
          </a:p>
          <a:p>
            <a:r>
              <a:t>Why the threshold has to be agreed in advance. At the moment it has to be applied there is always the argument "we have almost fixed it, let's not switch it off". If there is no threshold set beforehand, that argument wins. Not by force — simply because the other side has nothing to put on the table. A threshold named as a number before the incident is exactly what gets put on the table.</a:t>
            </a:r>
          </a:p>
          <a:p>
            <a:r>
              <a:t>And connect this case with the previous one. Air Canada answers the question of who owns the bot's answer. New York answers a different question: what to do once it is already known that the answer is bad and that it reproduces. Two halves of one accountability.</a:t>
            </a:r>
          </a:p>
          <a:p>
            <a:r>
              <a:t>Sources:</a:t>
            </a:r>
          </a:p>
          <a:p>
            <a:r>
              <a:t>[1] The Markup (Mar 29, 2024) — the New York City chatbot — a government chatbot gave 10 of 10 journalists the same unlawful advice.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six is the capstone: it assembles the whole loop and answers the paradox the lecture opened with. This is a lighter governance section, but governance themes lived across every phase: safety-by-design in design, accountability for the bot's answer in operation, policy-as-code in drift. Here we rise to the level of the organization: why assembly is nearly free, but value is not.</a:t>
            </a:r>
          </a:p>
          <a:p>
            <a:r>
              <a:t>Today: portfolio governance and unit economics from scratch, what five independent sources show about the bottleneck shifting from technology to the operating model, the resolution of the s01 hook paradox, a failure about hidden human cost disguised as autonomy, a summary matrix of the whole lecture, and a final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is a classical product-management discipline: an organization runs not one product but a portfolio of initiatives, and decides which to fund, continue, or kill by criteria agreed in advance. A direct descendant of Stage-Gate, raised from the level of a single product to the level of a portfolio.</a:t>
            </a:r>
          </a:p>
          <a:p>
            <a:r>
              <a:t>Unit economics for an AI product gains a new variable — cost per request: model calls are not free, and a product where cost per request exceeds value per request is economically unviable, no matter how impressive the demo. For classical SaaS, the marginal cost of serving one more user is close to zero; for an AI product, every call costs real money, and cost per request does not fall with scale the way classical SaaS cost did.</a:t>
            </a:r>
          </a:p>
          <a:p>
            <a:r>
              <a:t>Let's make the requirement operational. A bad KPI is "improve support efficiency" — not measurable, direction unclear, just like Kohavi's time-on-site. A good one, written down before the pilot: we believe AI triage will cut cost per ticket from X rubles to Y while not degrading CSAT below threshold Z; we'll test it on N tickets over M weeks; the owner is a specific person tracking it weekly. This is simultaneously an OEC, guardrail metrics, and a threshold fixed in advance with a date and an owner — the same apparatus as the error budget and Stage-Gate, applied to the decision of whether to keep funding an AI initiative. Why this is the capstone's base: the macro-failure on the next slide will show that the root of most failures is not "the model isn't good enough," but the absence of exactly this criterion at pilot entry.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structure: where the money goes and where it comes from. Two cuts, and in quality they are not comparable.</a:t>
            </a:r>
          </a:p>
          <a:p>
            <a:r>
              <a:t>The first is by type, and it has been measured. ICONIQ this year surveyed around three hundred and five executives of companies that build products with artificial intelligence. Before launch the largest share goes on people — thirty-two percent; on model calls, twenty. At scale the picture shifts: people fall to twenty-six, model calls rise to twenty-three. Hardware and cloud hold at around seventeen and barely move; data storage and processing, six.</a:t>
            </a:r>
          </a:p>
          <a:p>
            <a:r>
              <a:t>Look at the character of that shift. People are an almost constant cost: the team is the same whatever the number of users. Model calls tick with volume. As the product grows, the share of predictable cost falls and the share that depends on load rises — exactly the mechanics you saw as steps on the previous slide.</a:t>
            </a:r>
          </a:p>
          <a:p>
            <a:r>
              <a:t>On the revenue side: model calls eat around twenty-three percent of revenue. Gross margin on products with artificial intelligence was forty-five percent in the year twenty twenty-five, and for twenty twenty-six fifty-three is expected. On a classic software product it holds above seventy. The gap is narrowing, but it is there.</a:t>
            </a:r>
          </a:p>
          <a:p>
            <a:r>
              <a:t>The second cut is by feature, and here let me be honest: almost nobody has a breakdown like this. CloudZero in June surveyed two hundred and sixty finance leaders, more than half of them chief financial officers. Twenty-two percent can connect AI spend to money. Sixty agreed with the statement "we spend more on AI than we can justify with a measurable result".</a:t>
            </a:r>
          </a:p>
          <a:p>
            <a:r>
              <a:t>That is why the table on the right is worked through on illustrative numbers, and every number in it stands against one baseline: the same catalogue without that feature, over the same month. Suggestions in search grow paid orders and cost ninety kopeks per query: we expand it. Review summaries move nothing and cost a rouble forty per view: we close it. The agent in support brings in no revenue at all and pays for itself with the agent time it saves.</a:t>
            </a:r>
          </a:p>
          <a:p>
            <a:r>
              <a:t>And the fourth row is the one the caveat is here for. A decision log and a way out to a human: revenue zero, cost constant, closing it is not allowed. Since August of this year that is a requirement of the EU AI Act for a high-risk system. The same class — the free tier and support: loss-making on their own line, holding revenue on somebody else's.</a:t>
            </a:r>
          </a:p>
          <a:p>
            <a:r>
              <a:t>Sources:</a:t>
            </a:r>
          </a:p>
          <a:p>
            <a:r>
              <a:t>[1] ICONIQ Capital — State of AI report (2026) — about 305 leaders of companies building AI products, surveyed in Q2 2026: the split of spend by type before launch and at scale; gross margin of 45% in 2025 against an expected 53% in 2026. https://www.iconiq.com/growth/reports/state-of-ai-2026 [VFY-day-of]</a:t>
            </a:r>
          </a:p>
          <a:p>
            <a:r>
              <a:t>[2] CloudZero — survey of finance leaders (2026) — 260 respondents, more than half of them CFOs: 22% can tie AI spend to money; 60% agree they spend more on AI than they can justify. https://www.prnewswire.com/news-releases/cloudzero-survey-says-78-of-finance-execs-cant-fully-tie-ai-spending-to-business-outcomes-302808711.html</a:t>
            </a:r>
          </a:p>
          <a:p>
            <a:r>
              <a:t>[3] European Union Artificial Intelligence Act, arts. 12 and 19 — a high-risk system must automatically log events across its whole lifetime; the logs are kept for no less than six months — the obligation applies from 2 August 2026. https://artificialintelligenceact.eu/article/12/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abstract "keep an eye on the payback" is of no use. Let us make the requirement concrete.</a:t>
            </a:r>
          </a:p>
          <a:p>
            <a:r>
              <a:t>What it is. One sentence with numbers in it, written down in advance, by which a few weeks later you can see whether to carry on or to close. The nearest analogue you already know is the acceptance criterion in a statement of work, translated out of functionality and into money. And the defining property: it is written before the pilot is switched on. A number named after the result explains the result and tests nothing any more.</a:t>
            </a:r>
          </a:p>
          <a:p>
            <a:r>
              <a:t>What a filled-in one looks like. Having the model handle tickets will bring the cost of one ticket down from forty-two roubles to fifteen, while customer satisfaction will not drop below four point two out of five, and the share of tickets handed to a human will not exceed twenty percent; we test on five thousand tickets over six weeks; the head of support looks at it, once a week. Notice how many different things sit inside one sentence: what we are improving and from what value to what value, what must not get worse while we do it, on what volume and over what period, and who is looking.</a:t>
            </a:r>
          </a:p>
          <a:p>
            <a:r>
              <a:t>What is actually done with this today. Without artificial intelligence it has been done for half a century: a business case with a payback threshold and a decision at a gate — the apparatus is ready-made, there is nothing to invent afresh. With models exactly one thing changes: the rhythm. Cost moves daily, a quarterly rhythm cannot keep up with it, and that is why they look weekly. In practice, though, something else happens: companies measure activity — hours saved, tasks automated — instead of money in the profit and loss statement. Hence the gap: almost everyone invests, and a measurable return is seen by six percent.</a:t>
            </a:r>
          </a:p>
          <a:p>
            <a:r>
              <a:t>Three boundaries. The starting value is measured on your own process. A vendor's promise will not stand in for it: somebody else's number describes somebody else's process, and the difference between the two is the very thing the pilot was started for. If "we close it" is not among the possible outcomes, there is no criterion, there is an intention: a threshold you cannot fail to clear grants no permission. And numbers that appeared after switch-on are an explanation of the result, which is why the date of the entry and the name on it are checked before the numbers themselves.</a:t>
            </a:r>
          </a:p>
          <a:p>
            <a:r>
              <a:t>Sources:</a:t>
            </a:r>
          </a:p>
          <a:p>
            <a:r>
              <a:t>[1] Boston Consulting Group — the payback of pilots (2026) — companies measure activity — hours saved, tasks automated — instead of money in the profit and loss account. https://www.bcg.com/publications/2026/why-ai-pilots-rarely-deliver-value</a:t>
            </a:r>
          </a:p>
          <a:p>
            <a:r>
              <a:t>[2] Boston Consulting Group — annual AI review (January 2026, 2,360 executives) — almost everyone is investing: 94% will keep investing even without an immediate return.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 is nearly over, and before we go to the two cases, let us gather in one place the thing you will use every day. Assessing a feature. Any feature — it makes no difference whether a model sits inside it or ordinary code. Four questions, and their order is fixed.</a:t>
            </a:r>
          </a:p>
          <a:p>
            <a:r>
              <a:t>First: what the feature changes in behaviour. Which user action, exactly, becomes more frequent, faster or cheaper. This is where assessment collapses most often: a feature is commissioned without the action being named, and there is nothing left to argue about — there is nothing to measure.</a:t>
            </a:r>
          </a:p>
          <a:p>
            <a:r>
              <a:t>Second: against what baseline. The same product without this feature, over the same period, on the same audience. Until there is a baseline, every gain will be credited to the feature — including the seasonal one, the one advertising bought, and the one a competitor handed over by going down at that moment.</a:t>
            </a:r>
          </a:p>
          <a:p>
            <a:r>
              <a:t>Third: what it costs. Build — once. Running — every month, and it is counted together with usage volume, because volume is what it depends on.</a:t>
            </a:r>
          </a:p>
          <a:p>
            <a:r>
              <a:t>Fourth: at what result it gets shut down. The number and the date are written down before launch. A number named after the result is visible explains that result; nothing can be tested with it.</a:t>
            </a:r>
          </a:p>
          <a:p>
            <a:r>
              <a:t>Now about AI, and this is the short part. Of the four points it changes two. The third: running stops being a one-off, it gains a meter, and the spend ticks with the volume of work — the thing we have just seen on the chart. The first: the model's answer varies from run to run, so "it works" is confirmed on a sample, and one lucky example does not count as proof. The second and the fourth do not change — not by a single word.</a:t>
            </a:r>
          </a:p>
          <a:p>
            <a:r>
              <a:t>From there comes the answer to the question usually asked at this point: do features with AI need a separate process. Half of the apparatus you already know from ordinary development.</a:t>
            </a:r>
          </a:p>
          <a:p>
            <a:r>
              <a:t>And one last thing. The second question, the one about the baseline, breaks more often than the other three, and it breaks for more than the odd team. The two cases ahead are exactly about that: a loud failure number that turned out to have no denominator, and a claimed autonomy that came out fourteen times off the company's own target.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return to the report the lecture opened with. MIT Project NANDA, widely reported as "ninety-five percent of organizations get zero return." The real funnel of the custom track inside the report itself: sixty percent of organizations explored, twenty percent launched a pilot, five percent successfully deployed. The success rate among those who reached a pilot is five out of twenty — twenty-five percent — not "ninety-five percent of pilots failed." Separately: an undisclosed conflict of interest — all four authors build or sell agentic AI products through that same project.</a:t>
            </a:r>
          </a:p>
          <a:p>
            <a:r>
              <a:t>Let's extract a transferable skill through four questions. First: what is the denominator — ninety-five percent of all organizations, including ones that never seriously piloted anything. Second: what counts as failure — "didn't pay off on schedule," "abandoned," and "works but delivers no value" are three different events. Third: what is the author's conflict of interest. Fourth: does the number trace back to a primary source with a methodology.</a:t>
            </a:r>
          </a:p>
          <a:p>
            <a:r>
              <a:t>A meta-lesson about RAND: the widely repeated "precise" figure of eighty point three percent does not appear in RAND's own report — this is a secondary fabrication of precision, structurally identical to the Deloitte failure from section one. Triangulation: Gartner — only twenty-eight percent of AI use cases are fully successful; S&amp;P — forty-two percent of companies plan to abandon initiatives, up from seventeen percent a year earlier; BCG — sixty percent of companies track not a single financial KPI. All sources point to the same root: not "the model is bad," but "there was no financial criterion agreed in advance." Lesson: critically check the denominator before using a number as an argument in a decision.</a:t>
            </a:r>
          </a:p>
          <a:p>
            <a:r>
              <a:t>Sources:</a:t>
            </a:r>
          </a:p>
          <a:p>
            <a:r>
              <a:t>[1] MIT NANDA — "The GenAI Divide" (July 2025, v0.1) — an unreviewed preprint: the 60%-&gt;20%-&gt;5% funnel is 25% among those who reached a pilot, not "95% failure". https://mlq.ai/media/quarterly_decks/v0.1_State_of_AI_in_Business_2025_Report.pdf [VFY-day-of]</a:t>
            </a:r>
          </a:p>
          <a:p>
            <a:r>
              <a:t>[2] Fortune (Aug 18, 2025) — media distortion of the MIT report — how the "95% failure" headline spread without calibrating the denominator. https://fortune.com/2025/08/18/mit-report-95-percent-generative-ai-pilots-at-companies-failing-cfo/</a:t>
            </a:r>
          </a:p>
          <a:p>
            <a:r>
              <a:t>[3] NewMR — Myth #2 — an analysis of the conflict of interest and the denominator in citations of the MIT report. https://newmr.org/blog/myth-number-2-mit-showed-that-95-of-ai-pilots-fail/</a:t>
            </a:r>
          </a:p>
          <a:p>
            <a:r>
              <a:t>[4] Gartner (Apr 7, 2026, 782 I&amp;O leaders) — 28% of AI use cases in I&amp;O are fully successful; 20% fail. https://www.gartner.com/en/newsroom/press-releases/2026-04-07-gartner-says-artificial-intelligence-projects-in-infrastructure-and-operations-stall-ahead-of-meaningful-roi-returns [VFY-day-of]</a:t>
            </a:r>
          </a:p>
          <a:p>
            <a:r>
              <a:t>[5] BCG — Closing the AI Impact Gap — 60% of companies track zero financial KPIs tied to AI value; the publish date on BCG's site differs from the date in the research dossier — see owner follow-up. https://www.bcg.com/publications/2025/closing-the-ai-impact-gap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two thousand eighteen, Amazon positioned Just Walk Out as pure computer vision, without disclosing human involvement. An investigation found: about a thousand workers in India were reviewing video to label ambiguous transactions. The key number: in two thousand twenty-two, seven hundred of a thousand transactions required manual review against an internal target of only fifty of a thousand — the actual rate was roughly fourteen times the target. In April two thousand twenty-four, Amazon announced it was removing the technology from most Amazon Fresh stores in the US.</a:t>
            </a:r>
          </a:p>
          <a:p>
            <a:r>
              <a:t>The mechanism: a real limitation of computer-vision accuracy across product variety, plus a governance failure — six years of marketing autonomous AI without disclosing the real scale of human labor. This is the "Wizard-of-Oz AI" pattern — hidden human labor disguised as autonomy. The bare fact "a thousand workers were involved" lets you be technically right — people annotated video, they weren't watching live. But the right counterfactual isn't whether people were involved at all, it's how far the actual intervention rate exceeded the target: a fourteen-fold overshoot.</a:t>
            </a:r>
          </a:p>
          <a:p>
            <a:r>
              <a:t>Lesson: claims of autonomy must be verifiable and must include honest disclosure of the human-in-the-loop share. The hidden-human-cost criterion: if acceptable accuracy requires manual review at multiples of the target rate, the claimed autonomy has not been achieved. Now let's assemble all six phases into a single matrix: for each phase — what AI changes in cost and trust, what classic discipline stays, when AI-first breaks, and which failures illustrate it. The matrix isn't for memorizing — it's for applying: when you meet a new failure in the news, identify the phase, the broken classic discipline, and the criterion — that is exactly the trainable skill of recognition.</a:t>
            </a:r>
          </a:p>
          <a:p>
            <a:r>
              <a:t>Sources:</a:t>
            </a:r>
          </a:p>
          <a:p>
            <a:r>
              <a:t>[1] Business Standard (Apr 2024) — Just Walk Out — 700 of 1,000 transactions required manual review by Indian workers — against a target of 50/1,000. https://www.business-standard.com/companies/news/amazon-s-just-walk-out-checkout-tech-was-powered-by-1-000-indian-workers-124040400463_1.html</a:t>
            </a:r>
          </a:p>
          <a:p>
            <a:r>
              <a:t>[2] Retail Dive — the dismantling of Just Walk Out — the technology pulled from Amazon Fresh; 27 of 44 stores lose the feature.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seven closes the lecture. It is not here to repeat what we have already covered: repetition adds nothing and costs time. It is here because in this lecture we solved one and the same task six times in pieces, and at work it arrives whole. A client does not say "I have a question about the measurement phase" — the client says "we want the model to answer customers on its own." Answering that takes an instrument that works on any phase, and on a case you have never seen before.</a:t>
            </a:r>
          </a:p>
          <a:p>
            <a:r>
              <a:t>Over the lecture we went through discovery, design, build and launch, measurement, support, and governance. The same structure repeated on every phase: there is a classical discipline, there is a specific piece of work that artificial intelligence made cheaper, there is a way of letting you down characteristic of that phase, and there is a point where the decision is not handed to a tool. As long as those four things are named six times separately, they stay six stories. Assembled onto one screen, they become an apparatus you can use.</a:t>
            </a:r>
          </a:p>
          <a:p>
            <a:r>
              <a:t>Two instruments follow in this section. The first is a summary table: six phase rows against four columns, where every cell is derived from material already covered and none was assigned after the fact. You can argue with any of its rows only by arguing with the matching section of the lecture. The second is three axes: reversibility, the cost of an error and observability. They give the phase its operating mode by a single rule, and they are tried on two cases we have already examined — an instrument has to be shown working, declaring that it works is not enough. The order matters here: first the table answers the question "what is actually going on in this phase," and only then the three axes answer "which mode is permissible here." The order is easy to swap, and then the decision about how much autonomy to grant is taken before the nature of the phase is understood.</a:t>
            </a:r>
          </a:p>
          <a:p>
            <a:r>
              <a:t>The section closes with a bridge in two directions: to the seminar, where you will walk the same loop on your own practice task, and to the next lecture, where the same method meets material with a higher cost of physical error. One thought for the whole section: there will be no new facts from here on — there will be a way to apply the ones you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front of you is the whole lecture on one screen. The rows are the six phases in the order we went through them. The columns are the four things that turned out to be stable on every phase.</a:t>
            </a:r>
          </a:p>
          <a:p>
            <a:r>
              <a:t>The leading discipline is the classical practice that holds the intent and makes the phase reliable; it is older than any of today's tools. What AI made cheaper is the specific piece of work whose cost fell measurably. Look at the last row: in governance that column says "nothing." There AI made no work cheaper — it added a cost line that grows with scale, and writing it that way is more honest than fitting a plausible phrase into the cell for the sake of symmetry.</a:t>
            </a:r>
          </a:p>
          <a:p>
            <a:r>
              <a:t>The failure mode is the way of letting you down characteristic of the phase. In discovery that is sycophancy. In design — accessibility gaps, and a different answer to one and the same prompt. In build — a gate skipped. In measurement — a gamed proxy metric. In support — silent drift under a good average. In governance — statistics with no denominator.</a:t>
            </a:r>
          </a:p>
          <a:p>
            <a:r>
              <a:t>The last column, picked out in gold, is the point that is not handed to a tool, however much that tool improves in the next generation.</a:t>
            </a:r>
          </a:p>
          <a:p>
            <a:r>
              <a:t>There is deliberately no separate column of product names. We named the products in the sections themselves, and they are replaceable: by next semester half the list will have changed. What is stable is the discipline, the characteristic failure and the human's point — they rest on the nature of the difficulty and the cost of an error in the phase.</a:t>
            </a:r>
          </a:p>
          <a:p>
            <a:r>
              <a:t>There are almost no figures in the table. Every figure we named stands in its own section next to its basis of comparison; torn out of there into a cell, it stops meaning anything. Two I did keep — twenty percent in design and fifteen in support. Both are named together with their basis, and both refute a common expectation: a screen generator speeds the work up by a fifth, and the common claim of "a hundred times" is not confirmed by measurement; the suggestion assistant gives the operator an increment on top of a little over two resolutions an hour.</a:t>
            </a:r>
          </a:p>
          <a:p>
            <a:r>
              <a:t>The matrix holds because every cell is derived from what has already been covered. You cannot dispute the discovery row without disputing the matching section.</a:t>
            </a:r>
          </a:p>
          <a:p>
            <a:r>
              <a:t>Use it like this: given a task, first name its phase. From there the row answers in order — which discipline to hold, what AI helps with here, which failure to watch for, and what stays with the human.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is good as a map. A decision on a specific task is not taken from a map — that needs a more compact instrument. Three axes, each of which surfaced on its own in almost every section.</a:t>
            </a:r>
          </a:p>
          <a:p>
            <a:r>
              <a:t>Reversibility — how easily the consequence can be rolled back if the output turns out to be wrong. It is low for deleting data in a running system and for a public promise to a customer; it is high for a draft nobody has seen yet. The cost of an error — money, reputation, health, legal liability. Observability — how quickly you will learn that an output is wrong, before the harm accumulates: high where there is a guardrail metric, low where the bad is hiding under a good average.</a:t>
            </a:r>
          </a:p>
          <a:p>
            <a:r>
              <a:t>There is one rule. Taking the human off the gate is justified only where high reversibility, a low cost of an error and high observability come together at once. Any other combination calls for a gate, and the gate is chosen by the axis that is in the problem position. That is why each card says what that axis requires when it is in that position.</a:t>
            </a:r>
          </a:p>
          <a:p>
            <a:r>
              <a:t>Let us run this through two cases we examined. Search answers rolled out to everyone at once: reversibility low — everyone saw the mistake at the same moment; cost high — the advice went viral and was dangerous; observability could have been high, a canary release would have given it, but the canary was skipped. There is one problem axis, reversibility, and the measure on it — a staged rollout — brings observability back along with it.</a:t>
            </a:r>
          </a:p>
          <a:p>
            <a:r>
              <a:t>The second case is buying houses on a model's forecast. Reversibility is minimal: a purchased house cannot be undone with one click. The cost is at its maximum: at a loss of roughly eighty thousand dollars per house, write-downs of three hundred four to four hundred eight million dollars cover somewhere between three thousand eight hundred and five thousand one hundred houses out of the nine thousand six hundred eighty bought in the quarter. Observability was low by the design of the control itself: a quarterly report instead of a real-time check. All three axes were in the problem position, and there was a gate on none of them.</a:t>
            </a:r>
          </a:p>
          <a:p>
            <a:r>
              <a:t>And the question that is asked before all three: does the phase have a classical discipline. If it does not, that is what you build first — there is nothing to amplify in a vacuum.</a:t>
            </a:r>
          </a:p>
          <a:p>
            <a:r>
              <a:t>And one last thing. No axis forbids the use of artificial intelligence. Each one names what must stand beside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lecture into one thought. We opened with a paradox: building is almost free, and few extract value from it. We went through six phases and on every one found the same thing in a new wrapper — artificial intelligence changes the cost of each step, and the trust you can place in it, by different amounts, and it leaves the order of the steps alone. When building fell to almost nothing, the scarce resource stopped being the ability to build and became the ability to tell real signal from noise, and to keep intent and accountability with a human.</a:t>
            </a:r>
          </a:p>
          <a:p>
            <a:r>
              <a:t>Look at the photograph. This is an engineer at a computer-aided design workstation, the late seventies, a light pen instead of a mouse. That workstation is gone, that pen is gone, the company itself is gone. And the discipline of design he was practising is still here — and you will be practising it. That is the answer to the question of what in this lecture is worth remembering. Half the list of products will have changed by next semester; the way of reasoning will remain.</a:t>
            </a:r>
          </a:p>
          <a:p>
            <a:r>
              <a:t>The way goes like this. Break the activity into phases with their inputs and outputs. On each one, ask what exactly got cheaper and what did not. For any measurable claim, demand a basis of comparison; an impression does not count. And apply the three axes — reversibility, the cost of an error, observability — to assign the phase its operating mode. Lecture four said the same thing about code; here we have done it for a whole product.</a:t>
            </a:r>
          </a:p>
          <a:p>
            <a:r>
              <a:t>Seminar seven is where you apply all of this. You will walk the same loop on a practice product, from the hypothesis to the point where the answer goes to a human, and for each phase you will name the row of the table and the position on the three axes.</a:t>
            </a:r>
          </a:p>
          <a:p>
            <a:r>
              <a:t>Lecture six carries the method into engineering design. There will be a loop of phases of its own there, and failures of its own, but the central question stays the same: what got cheaper, what stayed human judgment, and where the autonomy a system claims does not survive a check against the denominator. The difference is that an error there sets in metal, and it costs more than an error on a screen.</a:t>
            </a:r>
          </a:p>
          <a:p>
            <a:r>
              <a:t>Ready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0.png"/><Relationship Id="rId4" Type="http://schemas.openxmlformats.org/officeDocument/2006/relationships/image" Target="../media/image19.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hyperlink" Target="https://9to5mac.com/2024/08/07/humane-ai-pin-woes-worsen-as-recent-returns-exceed-sales/" TargetMode="External"/><Relationship Id="rId6" Type="http://schemas.openxmlformats.org/officeDocument/2006/relationships/hyperlink" Target="https://techcrunch.com/2025/02/18/humanes-ai-pin-is-dead-as-hp-buys-startups-assets-for-116m" TargetMode="External"/><Relationship Id="rId7" Type="http://schemas.openxmlformats.org/officeDocument/2006/relationships/hyperlink" Target="https://en.wikipedia.org/wiki/Humane_Inc." TargetMode="External"/><Relationship Id="rId8" Type="http://schemas.openxmlformats.org/officeDocument/2006/relationships/hyperlink" Target="https://www.digitaltrends.com/mobile/google-glass-enterprise-edition/"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0.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jpg"/><Relationship Id="rId4" Type="http://schemas.openxmlformats.org/officeDocument/2006/relationships/hyperlink" Target="https://dl.acm.org/doi/10.1145/3800424.3800430"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hyperlink" Target="https://static.nhtsa.gov/odi/rcl/2023/RCLRPT-23V838-8276.PDF" TargetMode="External"/><Relationship Id="rId6" Type="http://schemas.openxmlformats.org/officeDocument/2006/relationships/hyperlink" Target="https://static.nhtsa.gov/odi/inv/2022/INCLA-EA22002-14498.pdf" TargetMode="External"/><Relationship Id="rId7" Type="http://schemas.openxmlformats.org/officeDocument/2006/relationships/hyperlink" Target="https://static.nhtsa.gov/odi/inv/2024/INOA-RQ24009-12046.pdf"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0.png"/><Relationship Id="rId4" Type="http://schemas.openxmlformats.org/officeDocument/2006/relationships/image" Target="../media/image60.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hyperlink" Target="https://sre.google/sre-book/introduction/" TargetMode="External"/><Relationship Id="rId5" Type="http://schemas.openxmlformats.org/officeDocument/2006/relationships/hyperlink" Target="https://www.axelos.com/certifications/itil-service-management"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image" Target="../media/image68.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coniq.com/growth/reports/state-of-ai-2026" TargetMode="External"/><Relationship Id="rId3" Type="http://schemas.openxmlformats.org/officeDocument/2006/relationships/hyperlink" Target="https://www.prnewswire.com/news-releases/cloudzero-survey-says-78-of-finance-execs-cant-fully-tie-ai-spending-to-business-outcomes-302808711.html" TargetMode="External"/><Relationship Id="rId4" Type="http://schemas.openxmlformats.org/officeDocument/2006/relationships/hyperlink" Target="https://artificialintelligenceact.eu/article/12/"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13.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image" Target="../media/image81.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11.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Assembly is nearly free. So why does almost no one capture the value?</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Weeks of work → hours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Anthropic internal experience</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of pilots — zero return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summer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Both facts are true at the same time: assembly became nearly free, but turning assembly into value did not. Hold the question — we'll come back to it at the end of the lecture.</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(July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Discovery</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Design</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Build</a:t>
            </a:r>
          </a:p>
          <a:p>
            <a:pPr algn="ctr">
              <a:lnSpc>
                <a:spcPct val="90000"/>
              </a:lnSpc>
            </a:pPr>
            <a:r>
              <a:rPr sz="900" b="1" i="0">
                <a:solidFill>
                  <a:srgbClr val="21295C"/>
                </a:solidFill>
                <a:latin typeface="DejaVu Sans"/>
              </a:rPr>
              <a:t>&amp; Launch</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Measure</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Support</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Governance</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 Product: the full lifecycle — from intent to operation</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Course "Deliberate Use of AI" · 3rd-year engineering students</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Six sections — six arrows of one loop: code (Lecture 4) is one cheap step inside it.</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Intro</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 is a loop, not a list of six topics</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Discovery</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Design</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Build &amp; Launch</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Measure</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Support</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Governance</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Intent</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Discovery — where the hypothesis comes from</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Design — hypothesis → artifact</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Build &amp; Launch — artifact → product</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Measure — did it work</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Support — lives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Governance — where to invest</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return arrow: governance feeds discovery again — a closed loop, not a one-time linear process.</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Why a product needs the loop: without one, the error is found too late</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Five questions a product answers by observation rather than by opinion</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Does anyone need this at all</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phase 1 · discovery</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Can a person actually use it, and will someone nobody thought about be harmed</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phase 2 · design</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Can we build it and release it safely</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phase 3 · build and launch</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Will it be chosen firmly enough that people pay for it</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phases 4 and 6 · measurement, governance</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Do those answers still hold a quarter later</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phase 5 · support</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first four are the product risks named by Marty Cagan (product leader, founder of the Silicon Valley Product Group, author of "Inspired"); the fifth only opens up after launch. Each has a phase of its own: the loop is the minimum set of places where these questions get answered.</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When there is no loop</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questions do not disappear — optimistic assumptions take their place.</a:t>
            </a:r>
          </a:p>
          <a:p>
            <a:pPr algn="l">
              <a:lnSpc>
                <a:spcPct val="114000"/>
              </a:lnSpc>
            </a:pPr>
            <a:r>
              <a:rPr sz="1100" b="0" i="0">
                <a:solidFill>
                  <a:srgbClr val="21295C"/>
                </a:solidFill>
                <a:latin typeface="DejaVu Sans"/>
              </a:rPr>
              <a:t>The error does not disappear either; only the moment of finding it moves — to after the build has been paid for and the release has happened, where rolling back costs more than the error itself.</a:t>
            </a:r>
          </a:p>
          <a:p>
            <a:pPr algn="l">
              <a:lnSpc>
                <a:spcPct val="114000"/>
              </a:lnSpc>
            </a:pPr>
            <a:r>
              <a:rPr sz="1100" b="0" i="0">
                <a:solidFill>
                  <a:srgbClr val="21295C"/>
                </a:solidFill>
                <a:latin typeface="DejaVu Sans"/>
              </a:rPr>
              <a:t>From requirements to release, the cost of a fix spreads out up to a hundredfold on large projects and fourfold on small ones (Barry Boehm, a researcher in the economics of software development,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From inside the team it does not look like failure</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Built it, nobody uses it · got to a pilot and stalled · it works and it is not chosen · rolled it out, and a quarter later people stopped opening it.</a:t>
            </a:r>
          </a:p>
          <a:p>
            <a:pPr algn="l">
              <a:lnSpc>
                <a:spcPct val="114000"/>
              </a:lnSpc>
            </a:pPr>
            <a:r>
              <a:rPr sz="1100" b="0" i="0">
                <a:solidFill>
                  <a:srgbClr val="21295C"/>
                </a:solidFill>
                <a:latin typeface="DejaVu Sans"/>
              </a:rPr>
              <a:t>In all four cases the build itself went through successfully — which is why from inside the team it reads as success; an error sitting inside an unchecked hypothesis is not visible to anyone.</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expense of building worked as an involuntary barrier: while making the thing cost weeks, that cost alone forced teams to think in advance. AI is exactly what zeroed it out — and teams that never had an explicit loop now have nothing left holding them back from skipping these questions.</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 changes the cost and trust of every arrow of the loop — but not equally</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Build</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cost nearly collapsed to zero</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Measure / Learn</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cost about the same, trust fell</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Observe / Orient</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faster, but more exposed to attack</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A meta-pattern repeating in each of the 6 sections: every arrow has a classical discipline — AI doesn't cancel it, it changes its cost and the degree of verification it requires.</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Think about it: on which arrow of your latest task did speed outrun your actual trust in the result?</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Discovery — intent and hypothesis</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3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Where does a hypothesis about what to build even come from. Most people have the informal experience of "ask your friends" — and almost no one has met the formal discipline that explains why that experience systematically lies.</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"There are no facts inside the building" — 4 steps, each ending in a decision</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Discovery</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Validation</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Demand creation</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Scale</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Steve Blank — the Customer Development methodology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Falsifiable hypothesis</a:t>
            </a:r>
          </a:p>
          <a:p>
            <a:pPr algn="l">
              <a:lnSpc>
                <a:spcPct val="115000"/>
              </a:lnSpc>
              <a:spcBef>
                <a:spcPts val="600"/>
              </a:spcBef>
            </a:pPr>
            <a:r>
              <a:rPr sz="1300" b="0" i="0">
                <a:solidFill>
                  <a:srgbClr val="21295C"/>
                </a:solidFill>
                <a:latin typeface="DejaVu Sans"/>
              </a:rPr>
              <a:t>we believe X → we'll test it via Y → by date Z we'll have a yes/no answer</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is the engine; Customer Development is the map of the terrain the engine drives on. First understand what you're testing and with whom — only then how fast to spin the loop.</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What AI changed in research by 2026 — and what it did not</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STEP OF THE PHASE</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WITHOUT AI</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WITH AI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Desk research</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what is already known about the market and the pain</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An analyst reads reports, papers and forums — days of work</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Deep research mode plans the search itself, reads hundreds of sources and returns a report with links in 2–30 minutes. Every major assistant has it, free tiers included, with a cap</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The conversation</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The researcher runs each interview in person; eight of them take weeks of calendar</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The model asks, a live human answers — many times more conversations in the same span</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Interview synthesis</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Transcription by hand, themes picked out by eye</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Transcription is now a free add-on to any call; tools continuously re-cluster themes across the whole accumulated corpus, not one call</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Who is on the other end of the conversation</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human ↔ human</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the classic interview</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human ↔ model</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the machine asks, a live human answers</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model ↔ model</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an AI persona: a machine answers too — no live human in the chain at all</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Survey of 150 researchers, May 2026:   </a:t>
            </a:r>
            <a:r>
              <a:rPr sz="1150" b="1" i="0">
                <a:solidFill>
                  <a:srgbClr val="21295C"/>
                </a:solidFill>
                <a:latin typeface="DejaVu Sans"/>
              </a:rPr>
              <a:t>81%</a:t>
            </a:r>
            <a:r>
              <a:rPr sz="1050" b="0" i="0">
                <a:solidFill>
                  <a:srgbClr val="21295C"/>
                </a:solidFill>
                <a:latin typeface="DejaVu Sans"/>
              </a:rPr>
              <a:t> regularly use AI in their work   ·   </a:t>
            </a:r>
            <a:r>
              <a:rPr sz="1150" b="1" i="0">
                <a:solidFill>
                  <a:srgbClr val="21295C"/>
                </a:solidFill>
                <a:latin typeface="DejaVu Sans"/>
              </a:rPr>
              <a:t>8%</a:t>
            </a:r>
            <a:r>
              <a:rPr sz="1050" b="0" i="0">
                <a:solidFill>
                  <a:srgbClr val="21295C"/>
                </a:solidFill>
                <a:latin typeface="DejaVu Sans"/>
              </a:rPr>
              <a:t> — as the answering participant   ·   </a:t>
            </a:r>
            <a:r>
              <a:rPr sz="1150" b="1" i="0">
                <a:solidFill>
                  <a:srgbClr val="21295C"/>
                </a:solidFill>
                <a:latin typeface="DejaVu Sans"/>
              </a:rPr>
              <a:t>28%</a:t>
            </a:r>
            <a:r>
              <a:rPr sz="1050" b="0" i="0">
                <a:solidFill>
                  <a:srgbClr val="21295C"/>
                </a:solidFill>
                <a:latin typeface="DejaVu Sans"/>
              </a:rPr>
              <a:t> reject it outright</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 link in a report is not evidence until someone opens it. Measured on 53,090 links from the reports of ten models: 3–13% are fabricated — those sources never existed. At the lowest rate, 3%, a report with 50 links holds at least one fabricated link with probability 78%. Deloitte handed exactly such a report to the Australian government for A$440,000.</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overview of deep research mode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May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measurement of links in agent reports</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Oct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Rehearsing interview questions on AI personas</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Before going out to living people, the list of questions is run past several invented interviewees played by a model. The point is to catch bad questions before they spoil a real conversation. The run says nothing about the product. A rehearsal, not research.</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Several different customer types are described — by how a person lives with the task: what they use now, what it costs them, what they once tried and dropped. </a:t>
            </a:r>
            <a:r>
              <a:rPr sz="1000" b="1" i="0">
                <a:solidFill>
                  <a:srgbClr val="065A82"/>
                </a:solidFill>
                <a:latin typeface="DejaVu Sans"/>
              </a:rPr>
              <a:t>A character sketch is no use here.</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Each type is kept apart, so that the answers do not run together into one common voice.</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The same list of questions is run past all of them.</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Two things are read, </a:t>
            </a:r>
            <a:r>
              <a:rPr sz="1000" b="1" i="0">
                <a:solidFill>
                  <a:srgbClr val="065A82"/>
                </a:solidFill>
                <a:latin typeface="DejaVu Sans"/>
              </a:rPr>
              <a:t>and the answers are not among them:</a:t>
            </a:r>
            <a:r>
              <a:rPr sz="1000" b="0" i="0">
                <a:solidFill>
                  <a:srgbClr val="21295C"/>
                </a:solidFill>
                <a:latin typeface="DejaVu Sans"/>
              </a:rPr>
              <a:t> a question everyone answered the same way tells nobody apart; a question answered in terms of an imagined future invites a polite invention. Both get rewritten.</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the invented interviewees do not hear each other</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the only thing that leaves is</a:t>
            </a:r>
          </a:p>
          <a:p>
            <a:pPr algn="ctr">
              <a:lnSpc>
                <a:spcPct val="110000"/>
              </a:lnSpc>
            </a:pPr>
            <a:r>
              <a:rPr sz="1050" b="1" i="0">
                <a:solidFill>
                  <a:srgbClr val="21295C"/>
                </a:solidFill>
                <a:latin typeface="DejaVu Sans"/>
              </a:rPr>
              <a:t>a corrected list of questions</a:t>
            </a:r>
          </a:p>
        </p:txBody>
      </p:sp>
      <p:sp>
        <p:nvSpPr>
          <p:cNvPr id="41" name="Rounded Rectangle 40"/>
          <p:cNvSpPr/>
          <p:nvPr/>
        </p:nvSpPr>
        <p:spPr>
          <a:xfrm>
            <a:off x="502920" y="3808457"/>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43" name="Rounded Rectangle 42"/>
          <p:cNvSpPr/>
          <p:nvPr/>
        </p:nvSpPr>
        <p:spPr>
          <a:xfrm>
            <a:off x="1801368" y="3808457"/>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how the rehearsal has always been run</a:t>
            </a:r>
          </a:p>
        </p:txBody>
      </p:sp>
      <p:sp>
        <p:nvSpPr>
          <p:cNvPr id="46" name="TextBox 45"/>
          <p:cNvSpPr txBox="1"/>
          <p:nvPr/>
        </p:nvSpPr>
        <p:spPr>
          <a:xfrm>
            <a:off x="2084831" y="4174217"/>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list of questions is talked through with a colleague, or one live interview out of eight is spent on the rehearsal. It works, but it gives one point of view and costs a day.</a:t>
            </a:r>
          </a:p>
        </p:txBody>
      </p:sp>
      <p:sp>
        <p:nvSpPr>
          <p:cNvPr id="47" name="Rounded Rectangle 46"/>
          <p:cNvSpPr/>
          <p:nvPr/>
        </p:nvSpPr>
        <p:spPr>
          <a:xfrm>
            <a:off x="6844284" y="3899897"/>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what changed</a:t>
            </a:r>
          </a:p>
        </p:txBody>
      </p:sp>
      <p:sp>
        <p:nvSpPr>
          <p:cNvPr id="49" name="TextBox 48"/>
          <p:cNvSpPr txBox="1"/>
          <p:nvPr/>
        </p:nvSpPr>
        <p:spPr>
          <a:xfrm>
            <a:off x="6944868" y="4174217"/>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rehearsal takes minutes, and a dozen runs are affordable. </a:t>
            </a:r>
            <a:r>
              <a:rPr sz="950" b="1" i="0">
                <a:solidFill>
                  <a:srgbClr val="21295C"/>
                </a:solidFill>
                <a:latin typeface="DejaVu Sans"/>
              </a:rPr>
              <a:t>Only the rehearsal</a:t>
            </a:r>
            <a:r>
              <a:rPr sz="950" b="0" i="0">
                <a:solidFill>
                  <a:srgbClr val="21295C"/>
                </a:solidFill>
                <a:latin typeface="DejaVu Sans"/>
              </a:rPr>
              <a:t> gets cheaper: nothing replaces the interview with a living person.</a:t>
            </a:r>
          </a:p>
        </p:txBody>
      </p:sp>
      <p:sp>
        <p:nvSpPr>
          <p:cNvPr id="50" name="Rounded Rectangle 49"/>
          <p:cNvSpPr/>
          <p:nvPr/>
        </p:nvSpPr>
        <p:spPr>
          <a:xfrm>
            <a:off x="502920" y="5099667"/>
            <a:ext cx="1152144" cy="123246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099667"/>
            <a:ext cx="1060704" cy="123246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52" name="Rounded Rectangle 51"/>
          <p:cNvSpPr/>
          <p:nvPr/>
        </p:nvSpPr>
        <p:spPr>
          <a:xfrm>
            <a:off x="1801368" y="5099667"/>
            <a:ext cx="9902952" cy="123246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191107"/>
            <a:ext cx="9537192" cy="1049581"/>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The interviewees' answers are not data about users: there is one model, and five interviewees give five views of that one model. There are no five people behind them. Checked against a real national survey, the model reproduces the average answers and halves the spread of opinion (</a:t>
            </a:r>
            <a:r>
              <a:rPr sz="1100" b="1" i="0">
                <a:solidFill>
                  <a:srgbClr val="21295C"/>
                </a:solidFill>
                <a:latin typeface="DejaVu Sans"/>
              </a:rPr>
              <a:t>16 against 31</a:t>
            </a:r>
            <a:r>
              <a:rPr sz="1100" b="1" i="0">
                <a:solidFill>
                  <a:srgbClr val="21295C"/>
                </a:solidFill>
                <a:latin typeface="DejaVu Sans"/>
              </a:rPr>
              <a:t>). If a conclusion about the product has been carried out of the run, the practice has been run wrong: its output is a corrected question.</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Synthetic answers checked against a real national survey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Searching accumulated support tickets for the pain</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A product with users already has an archive of complaints and questions. The practice turns it into a source of hypotheses: the tickets go into a searchable store, the ones close in meaning are grouped, and you see which themes repeat. What leaves is a named theme of pain.</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Every ticket goes into one common store, tagged with when it arrived, who it came from and which product it is about.</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The search runs </a:t>
            </a:r>
            <a:r>
              <a:rPr sz="1000" b="1" i="0">
                <a:solidFill>
                  <a:srgbClr val="065A82"/>
                </a:solidFill>
                <a:latin typeface="DejaVu Sans"/>
              </a:rPr>
              <a:t>two ways at once</a:t>
            </a:r>
            <a:r>
              <a:rPr sz="1000" b="0" i="0">
                <a:solidFill>
                  <a:srgbClr val="21295C"/>
                </a:solidFill>
                <a:latin typeface="DejaVu Sans"/>
              </a:rPr>
              <a:t>: on an exact match of words, and on meaning. An error code is found only by the first; a problem described in a person's own words only by the second.</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What is close is gathered into groups and retold in two passes: first each ticket on its own, then what the group has in common. Skip the first pass and 20–40% of the detail is lost.</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store</a:t>
            </a:r>
          </a:p>
          <a:p>
            <a:pPr algn="l">
              <a:lnSpc>
                <a:spcPct val="104000"/>
              </a:lnSpc>
            </a:pPr>
            <a:r>
              <a:rPr sz="960" b="1" i="0">
                <a:solidFill>
                  <a:srgbClr val="065A82"/>
                </a:solidFill>
                <a:latin typeface="DejaVu Sans"/>
              </a:rPr>
              <a:t>and tag</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search by word</a:t>
            </a:r>
          </a:p>
          <a:p>
            <a:pPr algn="l">
              <a:lnSpc>
                <a:spcPct val="104000"/>
              </a:lnSpc>
            </a:pPr>
            <a:r>
              <a:rPr sz="960" b="1" i="0">
                <a:solidFill>
                  <a:srgbClr val="1C7293"/>
                </a:solidFill>
                <a:latin typeface="DejaVu Sans"/>
              </a:rPr>
              <a:t>and by meaning</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gather what is close</a:t>
            </a:r>
          </a:p>
          <a:p>
            <a:pPr algn="l">
              <a:lnSpc>
                <a:spcPct val="104000"/>
              </a:lnSpc>
            </a:pPr>
            <a:r>
              <a:rPr sz="960" b="1" i="0">
                <a:solidFill>
                  <a:srgbClr val="028090"/>
                </a:solidFill>
                <a:latin typeface="DejaVu Sans"/>
              </a:rPr>
              <a:t>into groups</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order matters: skip the tagging and the archive becomes a bag of text</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tagging by theme, by hand</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Tickets are sorted into a list of themes thought up in advance. So the only themes found are the ones somebody has already guessed at.</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what changed</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What is close in meaning gathers itself, with no list of themes, and a group is retold in minutes. </a:t>
            </a:r>
            <a:r>
              <a:rPr sz="950" b="1" i="0">
                <a:solidFill>
                  <a:srgbClr val="21295C"/>
                </a:solidFill>
                <a:latin typeface="DejaVu Sans"/>
              </a:rPr>
              <a:t>The name of the theme is still checked by a person:</a:t>
            </a:r>
            <a:r>
              <a:rPr sz="950" b="0" i="0">
                <a:solidFill>
                  <a:srgbClr val="21295C"/>
                </a:solidFill>
                <a:latin typeface="DejaVu Sans"/>
              </a:rPr>
              <a:t> the machine groups, it takes no decisions.</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The archive is biased </a:t>
            </a:r>
            <a:r>
              <a:rPr sz="1050" b="1" i="0">
                <a:solidFill>
                  <a:srgbClr val="21295C"/>
                </a:solidFill>
                <a:latin typeface="DejaVu Sans"/>
              </a:rPr>
              <a:t>by construction</a:t>
            </a:r>
            <a:r>
              <a:rPr sz="1050" b="1" i="0">
                <a:solidFill>
                  <a:srgbClr val="21295C"/>
                </a:solidFill>
                <a:latin typeface="DejaVu Sans"/>
              </a:rPr>
              <a:t>: it holds only those who got as far as complaining. Volume does not cure it: </a:t>
            </a:r>
            <a:r>
              <a:rPr sz="1050" b="1" i="0">
                <a:solidFill>
                  <a:srgbClr val="21295C"/>
                </a:solidFill>
                <a:latin typeface="DejaVu Sans"/>
              </a:rPr>
              <a:t>there is no ticket saying "I need what you do not have at all"</a:t>
            </a:r>
            <a:r>
              <a:rPr sz="1050" b="1" i="0">
                <a:solidFill>
                  <a:srgbClr val="21295C"/>
                </a:solidFill>
                <a:latin typeface="DejaVu Sans"/>
              </a:rPr>
              <a:t>. The question "why do people not get as far as signing up" is not one it answers: that takes a conversation with those who left. And the search returns what is </a:t>
            </a:r>
            <a:r>
              <a:rPr sz="1050" b="1" i="0">
                <a:solidFill>
                  <a:srgbClr val="21295C"/>
                </a:solidFill>
                <a:latin typeface="DejaVu Sans"/>
              </a:rPr>
              <a:t>close</a:t>
            </a:r>
            <a:r>
              <a:rPr sz="1050" b="1" i="0">
                <a:solidFill>
                  <a:srgbClr val="21295C"/>
                </a:solidFill>
                <a:latin typeface="DejaVu Sans"/>
              </a:rPr>
              <a:t>, it does not weigh importance: ten thousand complaints about one typo are still one typo.</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who got as far as complaining</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all users</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the ticket archive</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Two-step synthesis — Teresa Torres, a coach of product teams and the author of "Continuous Discovery Habits", a book on continuous user research</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synthetic interviewee structurally cannot produce disagreement</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Mirror of agreement: a synthetic interviewee structurally cannot reflect disagreement — it has no real past that could contradict the way the question is phrased.</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When a live interview is strictly better than AI synthesis</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The cost of a "continue/stop" mistake is high</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You need a real past, not a plausible one</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You need validation by commitment, not by opinion</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AI summaries lose 20-40% of interview detail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when the "individually first" step is skipped — a failure traceable to a specific step, not a vague "AI is sometimes wrong."</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same task: real people — 3 of 7, the synthetic panel — 7 of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Real people</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of 7 — "far-fetched and useless"</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Synth panel</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of 7 — "a game changer"</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The same feature — opposite verdicts</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Criterion: synthetic output is disqualified for a "continue/stop" decision by construction, not from bad luck on a run. Alternative: a pre-research role + real testing with 5-8 participants.</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10,000 devices sold out of the 100,000 planned: the comparison with the phone in the buyer's pocket was made after the build</a:t>
            </a:r>
          </a:p>
        </p:txBody>
      </p:sp>
      <p:sp>
        <p:nvSpPr>
          <p:cNvPr id="3" name="Rounded Rectangle 2"/>
          <p:cNvSpPr/>
          <p:nvPr/>
        </p:nvSpPr>
        <p:spPr>
          <a:xfrm>
            <a:off x="502920" y="1005840"/>
            <a:ext cx="11201400" cy="1243584"/>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463040"/>
            <a:ext cx="384048" cy="384048"/>
          </a:xfrm>
          <a:prstGeom prst="rect">
            <a:avLst/>
          </a:prstGeom>
        </p:spPr>
      </p:pic>
      <p:sp>
        <p:nvSpPr>
          <p:cNvPr id="5" name="TextBox 4"/>
          <p:cNvSpPr txBox="1"/>
          <p:nvPr/>
        </p:nvSpPr>
        <p:spPr>
          <a:xfrm>
            <a:off x="1261872" y="1042415"/>
            <a:ext cx="10314432" cy="11704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WHAT HAPPENED   </a:t>
            </a:r>
            <a:r>
              <a:rPr sz="1100" b="0" i="0">
                <a:solidFill>
                  <a:srgbClr val="21295C"/>
                </a:solidFill>
                <a:latin typeface="DejaVu Sans"/>
              </a:rPr>
              <a:t>Humane is a company founded in 2018 by people who came out of Apple. Its only product, the AI Pin, is a wearable device with no screen: a small box worn on your clothes with a camera, a microphone and a laser projection onto your palm, answering out loud through a language model. The idea: a person stops looking at their phone. The device was shown on 9 November 2023 and sales opened in April 2024 — $699 plus $24 a month. On 18 February 2025 HP bought the assets for $116 million, and on 28 February the cloud service was shut down: the devices in buyers' hands stopped answering.</a:t>
            </a:r>
          </a:p>
        </p:txBody>
      </p:sp>
      <p:sp>
        <p:nvSpPr>
          <p:cNvPr id="6" name="Rounded Rectangle 5"/>
          <p:cNvSpPr/>
          <p:nvPr/>
        </p:nvSpPr>
        <p:spPr>
          <a:xfrm>
            <a:off x="502920" y="2340864"/>
            <a:ext cx="5532120" cy="2103120"/>
          </a:xfrm>
          <a:prstGeom prst="roundRect">
            <a:avLst>
              <a:gd name="adj" fmla="val 14492"/>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ending-down-mid.png"/>
          <p:cNvPicPr>
            <a:picLocks noChangeAspect="1"/>
          </p:cNvPicPr>
          <p:nvPr/>
        </p:nvPicPr>
        <p:blipFill>
          <a:blip r:embed="rId3"/>
          <a:stretch>
            <a:fillRect/>
          </a:stretch>
        </p:blipFill>
        <p:spPr>
          <a:xfrm>
            <a:off x="722376" y="2468880"/>
            <a:ext cx="420624" cy="420624"/>
          </a:xfrm>
          <a:prstGeom prst="rect">
            <a:avLst/>
          </a:prstGeom>
        </p:spPr>
      </p:pic>
      <p:sp>
        <p:nvSpPr>
          <p:cNvPr id="8" name="TextBox 7"/>
          <p:cNvSpPr txBox="1"/>
          <p:nvPr/>
        </p:nvSpPr>
        <p:spPr>
          <a:xfrm>
            <a:off x="1271016" y="2505456"/>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What the numbers showed</a:t>
            </a:r>
          </a:p>
        </p:txBody>
      </p:sp>
      <p:sp>
        <p:nvSpPr>
          <p:cNvPr id="9" name="TextBox 8"/>
          <p:cNvSpPr txBox="1"/>
          <p:nvPr/>
        </p:nvSpPr>
        <p:spPr>
          <a:xfrm>
            <a:off x="740664" y="2926080"/>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About 10,000 devices sold — a tenth of the company's own target of 100,000 by the end of the year</a:t>
            </a:r>
          </a:p>
        </p:txBody>
      </p:sp>
      <p:sp>
        <p:nvSpPr>
          <p:cNvPr id="10" name="TextBox 9"/>
          <p:cNvSpPr txBox="1"/>
          <p:nvPr/>
        </p:nvSpPr>
        <p:spPr>
          <a:xfrm>
            <a:off x="740664" y="3273552"/>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Revenue of about $9 million against about $230 million raised — roughly 4%</a:t>
            </a:r>
          </a:p>
        </p:txBody>
      </p:sp>
      <p:sp>
        <p:nvSpPr>
          <p:cNvPr id="11" name="TextBox 10"/>
          <p:cNvSpPr txBox="1"/>
          <p:nvPr/>
        </p:nvSpPr>
        <p:spPr>
          <a:xfrm>
            <a:off x="740664" y="3621024"/>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Between May and August 2024, more returns than purchases: by August, closer to 7,000 were still in people's hands</a:t>
            </a:r>
          </a:p>
        </p:txBody>
      </p:sp>
      <p:sp>
        <p:nvSpPr>
          <p:cNvPr id="12" name="TextBox 11"/>
          <p:cNvSpPr txBox="1"/>
          <p:nvPr/>
        </p:nvSpPr>
        <p:spPr>
          <a:xfrm>
            <a:off x="740664" y="3968496"/>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The price was cut from $699 to $499 on 23 October 2024 — six months after sales opened</a:t>
            </a:r>
          </a:p>
        </p:txBody>
      </p:sp>
      <p:sp>
        <p:nvSpPr>
          <p:cNvPr id="13" name="Rounded Rectangle 12"/>
          <p:cNvSpPr/>
          <p:nvPr/>
        </p:nvSpPr>
        <p:spPr>
          <a:xfrm>
            <a:off x="6172200" y="2340864"/>
            <a:ext cx="5532120" cy="2103120"/>
          </a:xfrm>
          <a:prstGeom prst="roundRect">
            <a:avLst>
              <a:gd name="adj" fmla="val 1449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x-teal.png"/>
          <p:cNvPicPr>
            <a:picLocks noChangeAspect="1"/>
          </p:cNvPicPr>
          <p:nvPr/>
        </p:nvPicPr>
        <p:blipFill>
          <a:blip r:embed="rId4"/>
          <a:stretch>
            <a:fillRect/>
          </a:stretch>
        </p:blipFill>
        <p:spPr>
          <a:xfrm>
            <a:off x="6391656" y="2468880"/>
            <a:ext cx="420624" cy="420624"/>
          </a:xfrm>
          <a:prstGeom prst="rect">
            <a:avLst/>
          </a:prstGeom>
        </p:spPr>
      </p:pic>
      <p:sp>
        <p:nvSpPr>
          <p:cNvPr id="15" name="TextBox 14"/>
          <p:cNvSpPr txBox="1"/>
          <p:nvPr/>
        </p:nvSpPr>
        <p:spPr>
          <a:xfrm>
            <a:off x="6940296" y="2505456"/>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What was not found out before the build</a:t>
            </a:r>
          </a:p>
        </p:txBody>
      </p:sp>
      <p:sp>
        <p:nvSpPr>
          <p:cNvPr id="16" name="TextBox 15"/>
          <p:cNvSpPr txBox="1"/>
          <p:nvPr/>
        </p:nvSpPr>
        <p:spPr>
          <a:xfrm>
            <a:off x="6409944" y="2907792"/>
            <a:ext cx="5056631" cy="148132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discovery phase's question fits in one phrase: </a:t>
            </a:r>
            <a:r>
              <a:rPr sz="1050" b="1" i="0">
                <a:solidFill>
                  <a:srgbClr val="028090"/>
                </a:solidFill>
                <a:latin typeface="DejaVu Sans"/>
              </a:rPr>
              <a:t>compared with what</a:t>
            </a:r>
            <a:r>
              <a:rPr sz="1050" b="0" i="0">
                <a:solidFill>
                  <a:srgbClr val="21295C"/>
                </a:solidFill>
                <a:latin typeface="DejaVu Sans"/>
              </a:rPr>
              <a:t>. Every buyer already had a phone in their pocket that does the same things, and everything else on top. Reviewers converged on the same point: the device does less than a phone and does it more slowly.</a:t>
            </a:r>
          </a:p>
          <a:p>
            <a:pPr algn="l">
              <a:lnSpc>
                <a:spcPct val="114000"/>
              </a:lnSpc>
              <a:spcBef>
                <a:spcPts val="400"/>
              </a:spcBef>
            </a:pPr>
            <a:r>
              <a:rPr sz="1050" b="0" i="0">
                <a:solidFill>
                  <a:srgbClr val="21295C"/>
                </a:solidFill>
                <a:latin typeface="DejaVu Sans"/>
              </a:rPr>
              <a:t>An answer like that costs eight conversations with living people before the build. Here it arrived from the market — by way of $230 million and 10.5 months of sales.</a:t>
            </a:r>
          </a:p>
        </p:txBody>
      </p:sp>
      <p:sp>
        <p:nvSpPr>
          <p:cNvPr id="17" name="Rounded Rectangle 16"/>
          <p:cNvSpPr/>
          <p:nvPr/>
        </p:nvSpPr>
        <p:spPr>
          <a:xfrm>
            <a:off x="502920" y="453542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590288"/>
            <a:ext cx="10762488" cy="65836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answer about the user arrives either way; the discovery phase only chooses when, and at what price. The criterion that carries forward: a hypothesis about the user is closed by comparing it with whatever that person gets by with today.</a:t>
            </a:r>
          </a:p>
        </p:txBody>
      </p:sp>
      <p:sp>
        <p:nvSpPr>
          <p:cNvPr id="19" name="Rounded Rectangle 18"/>
          <p:cNvSpPr/>
          <p:nvPr/>
        </p:nvSpPr>
        <p:spPr>
          <a:xfrm>
            <a:off x="502920" y="5376672"/>
            <a:ext cx="11201400" cy="96926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431536"/>
            <a:ext cx="10762488" cy="85953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The device does work, and the miss lies in the answer to who needs it and what for. Google Glass travelled the same road in the opposite direction: the $1,500 glasses were pulled from general sale in January 2015 and then handed to people whose hands are busy with work. At AGCO, a maker of agricultural machinery, machine assembly time fell by 25% and inspection time by 30%; at the logistics company DHL, warehouse output rose by 15% — all against the same work done without the glasses. Same device. Different user.</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9to5Mac (7 Aug 2024) — Humane's internal sales figures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TechCrunch (18 Feb 2025) — HP buys Humane's assets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Humane Inc. — dates, prices and the sales target</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Digital Trends — Glass Enterprise Edition at AGCO and DHL</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Design — a hypothesis becomes an artifact</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How a hypothesis from research turns into a concrete artifact you can show a person. This is also where safety gets built in — in the design brief, not patched on after something has already gone wrong.</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Design here is the whole of a person's work with the system: surfaces and touchpoints, behaviour, the answer when unsure</a:t>
            </a:r>
          </a:p>
        </p:txBody>
      </p:sp>
      <p:sp>
        <p:nvSpPr>
          <p:cNvPr id="3" name="Rounded Rectangle 2"/>
          <p:cNvSpPr/>
          <p:nvPr/>
        </p:nvSpPr>
        <p:spPr>
          <a:xfrm>
            <a:off x="502920" y="960120"/>
            <a:ext cx="11201400" cy="950976"/>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teal.png"/>
          <p:cNvPicPr>
            <a:picLocks noChangeAspect="1"/>
          </p:cNvPicPr>
          <p:nvPr/>
        </p:nvPicPr>
        <p:blipFill>
          <a:blip r:embed="rId2"/>
          <a:stretch>
            <a:fillRect/>
          </a:stretch>
        </p:blipFill>
        <p:spPr>
          <a:xfrm>
            <a:off x="713232" y="1261872"/>
            <a:ext cx="365760" cy="365760"/>
          </a:xfrm>
          <a:prstGeom prst="rect">
            <a:avLst/>
          </a:prstGeom>
        </p:spPr>
      </p:pic>
      <p:sp>
        <p:nvSpPr>
          <p:cNvPr id="5" name="TextBox 4"/>
          <p:cNvSpPr txBox="1"/>
          <p:nvPr/>
        </p:nvSpPr>
        <p:spPr>
          <a:xfrm>
            <a:off x="1243584" y="996696"/>
            <a:ext cx="10332720"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THE SCOPE OF THE WORD   </a:t>
            </a:r>
            <a:r>
              <a:rPr sz="1100" b="0" i="0">
                <a:solidFill>
                  <a:srgbClr val="21295C"/>
                </a:solidFill>
                <a:latin typeface="DejaVu Sans"/>
              </a:rPr>
              <a:t>The screen is one of the surfaces on which a person meets the system. Design in this phase settles the whole make-up of that meeting: where the system comes across a person, how it behaves over time, and what it does in the minute when it is unsure of its own answer. In a product built on a language model, there is usually more work on the other surfaces than there is on the screen.</a:t>
            </a:r>
          </a:p>
        </p:txBody>
      </p:sp>
      <p:sp>
        <p:nvSpPr>
          <p:cNvPr id="6" name="TextBox 5"/>
          <p:cNvSpPr txBox="1"/>
          <p:nvPr/>
        </p:nvSpPr>
        <p:spPr>
          <a:xfrm>
            <a:off x="502920" y="1993392"/>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Surfaces and touchpoints</a:t>
            </a:r>
          </a:p>
        </p:txBody>
      </p:sp>
      <p:sp>
        <p:nvSpPr>
          <p:cNvPr id="7" name="Rounded Rectangle 6"/>
          <p:cNvSpPr/>
          <p:nvPr/>
        </p:nvSpPr>
        <p:spPr>
          <a:xfrm>
            <a:off x="502920"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nitor-smartphone-mid.png"/>
          <p:cNvPicPr>
            <a:picLocks noChangeAspect="1"/>
          </p:cNvPicPr>
          <p:nvPr/>
        </p:nvPicPr>
        <p:blipFill>
          <a:blip r:embed="rId3"/>
          <a:stretch>
            <a:fillRect/>
          </a:stretch>
        </p:blipFill>
        <p:spPr>
          <a:xfrm>
            <a:off x="649224" y="2368296"/>
            <a:ext cx="256032" cy="256032"/>
          </a:xfrm>
          <a:prstGeom prst="rect">
            <a:avLst/>
          </a:prstGeom>
        </p:spPr>
      </p:pic>
      <p:sp>
        <p:nvSpPr>
          <p:cNvPr id="9" name="TextBox 8"/>
          <p:cNvSpPr txBox="1"/>
          <p:nvPr/>
        </p:nvSpPr>
        <p:spPr>
          <a:xfrm>
            <a:off x="996696"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Screen</a:t>
            </a:r>
          </a:p>
        </p:txBody>
      </p:sp>
      <p:sp>
        <p:nvSpPr>
          <p:cNvPr id="10" name="TextBox 9"/>
          <p:cNvSpPr txBox="1"/>
          <p:nvPr/>
        </p:nvSpPr>
        <p:spPr>
          <a:xfrm>
            <a:off x="667512"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what a person sees, and in what order</a:t>
            </a:r>
          </a:p>
        </p:txBody>
      </p:sp>
      <p:sp>
        <p:nvSpPr>
          <p:cNvPr id="11" name="Rounded Rectangle 10"/>
          <p:cNvSpPr/>
          <p:nvPr/>
        </p:nvSpPr>
        <p:spPr>
          <a:xfrm>
            <a:off x="4285488"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eadphones-mid.png"/>
          <p:cNvPicPr>
            <a:picLocks noChangeAspect="1"/>
          </p:cNvPicPr>
          <p:nvPr/>
        </p:nvPicPr>
        <p:blipFill>
          <a:blip r:embed="rId4"/>
          <a:stretch>
            <a:fillRect/>
          </a:stretch>
        </p:blipFill>
        <p:spPr>
          <a:xfrm>
            <a:off x="4431792" y="2368296"/>
            <a:ext cx="256032" cy="256032"/>
          </a:xfrm>
          <a:prstGeom prst="rect">
            <a:avLst/>
          </a:prstGeom>
        </p:spPr>
      </p:pic>
      <p:sp>
        <p:nvSpPr>
          <p:cNvPr id="13" name="TextBox 12"/>
          <p:cNvSpPr txBox="1"/>
          <p:nvPr/>
        </p:nvSpPr>
        <p:spPr>
          <a:xfrm>
            <a:off x="4779264"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Voice</a:t>
            </a:r>
          </a:p>
        </p:txBody>
      </p:sp>
      <p:sp>
        <p:nvSpPr>
          <p:cNvPr id="14" name="TextBox 13"/>
          <p:cNvSpPr txBox="1"/>
          <p:nvPr/>
        </p:nvSpPr>
        <p:spPr>
          <a:xfrm>
            <a:off x="4450080"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same decision with no picture: order, length, the right to interrupt</a:t>
            </a:r>
          </a:p>
        </p:txBody>
      </p:sp>
      <p:sp>
        <p:nvSpPr>
          <p:cNvPr id="15" name="Rounded Rectangle 14"/>
          <p:cNvSpPr/>
          <p:nvPr/>
        </p:nvSpPr>
        <p:spPr>
          <a:xfrm>
            <a:off x="8068056" y="2267712"/>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iren-teal.png"/>
          <p:cNvPicPr>
            <a:picLocks noChangeAspect="1"/>
          </p:cNvPicPr>
          <p:nvPr/>
        </p:nvPicPr>
        <p:blipFill>
          <a:blip r:embed="rId5"/>
          <a:stretch>
            <a:fillRect/>
          </a:stretch>
        </p:blipFill>
        <p:spPr>
          <a:xfrm>
            <a:off x="8214360" y="2368296"/>
            <a:ext cx="256032" cy="256032"/>
          </a:xfrm>
          <a:prstGeom prst="rect">
            <a:avLst/>
          </a:prstGeom>
        </p:spPr>
      </p:pic>
      <p:sp>
        <p:nvSpPr>
          <p:cNvPr id="17" name="TextBox 16"/>
          <p:cNvSpPr txBox="1"/>
          <p:nvPr/>
        </p:nvSpPr>
        <p:spPr>
          <a:xfrm>
            <a:off x="8561832" y="2350008"/>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Notification</a:t>
            </a:r>
          </a:p>
        </p:txBody>
      </p:sp>
      <p:sp>
        <p:nvSpPr>
          <p:cNvPr id="18" name="TextBox 17"/>
          <p:cNvSpPr txBox="1"/>
          <p:nvPr/>
        </p:nvSpPr>
        <p:spPr>
          <a:xfrm>
            <a:off x="8232648"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system opens the conversation itself: when, and on what occasion</a:t>
            </a:r>
          </a:p>
        </p:txBody>
      </p:sp>
      <p:sp>
        <p:nvSpPr>
          <p:cNvPr id="19" name="Rounded Rectangle 18"/>
          <p:cNvSpPr/>
          <p:nvPr/>
        </p:nvSpPr>
        <p:spPr>
          <a:xfrm>
            <a:off x="502920" y="3108960"/>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le-text-mid.png"/>
          <p:cNvPicPr>
            <a:picLocks noChangeAspect="1"/>
          </p:cNvPicPr>
          <p:nvPr/>
        </p:nvPicPr>
        <p:blipFill>
          <a:blip r:embed="rId6"/>
          <a:stretch>
            <a:fillRect/>
          </a:stretch>
        </p:blipFill>
        <p:spPr>
          <a:xfrm>
            <a:off x="649224" y="3209544"/>
            <a:ext cx="256032" cy="256032"/>
          </a:xfrm>
          <a:prstGeom prst="rect">
            <a:avLst/>
          </a:prstGeom>
        </p:spPr>
      </p:pic>
      <p:sp>
        <p:nvSpPr>
          <p:cNvPr id="21" name="TextBox 20"/>
          <p:cNvSpPr txBox="1"/>
          <p:nvPr/>
        </p:nvSpPr>
        <p:spPr>
          <a:xfrm>
            <a:off x="996696" y="3191256"/>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Email, report</a:t>
            </a:r>
          </a:p>
        </p:txBody>
      </p:sp>
      <p:sp>
        <p:nvSpPr>
          <p:cNvPr id="22" name="TextBox 21"/>
          <p:cNvSpPr txBox="1"/>
          <p:nvPr/>
        </p:nvSpPr>
        <p:spPr>
          <a:xfrm>
            <a:off x="667512"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answer read when the system is nowhere at hand</a:t>
            </a:r>
          </a:p>
        </p:txBody>
      </p:sp>
      <p:sp>
        <p:nvSpPr>
          <p:cNvPr id="23" name="Rounded Rectangle 22"/>
          <p:cNvSpPr/>
          <p:nvPr/>
        </p:nvSpPr>
        <p:spPr>
          <a:xfrm>
            <a:off x="4285488"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hield-off-teal.png"/>
          <p:cNvPicPr>
            <a:picLocks noChangeAspect="1"/>
          </p:cNvPicPr>
          <p:nvPr/>
        </p:nvPicPr>
        <p:blipFill>
          <a:blip r:embed="rId7"/>
          <a:stretch>
            <a:fillRect/>
          </a:stretch>
        </p:blipFill>
        <p:spPr>
          <a:xfrm>
            <a:off x="4431792" y="3209544"/>
            <a:ext cx="256032" cy="256032"/>
          </a:xfrm>
          <a:prstGeom prst="rect">
            <a:avLst/>
          </a:prstGeom>
        </p:spPr>
      </p:pic>
      <p:sp>
        <p:nvSpPr>
          <p:cNvPr id="25" name="TextBox 24"/>
          <p:cNvSpPr txBox="1"/>
          <p:nvPr/>
        </p:nvSpPr>
        <p:spPr>
          <a:xfrm>
            <a:off x="4779264"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Refusal</a:t>
            </a:r>
          </a:p>
        </p:txBody>
      </p:sp>
      <p:sp>
        <p:nvSpPr>
          <p:cNvPr id="26" name="TextBox 25"/>
          <p:cNvSpPr txBox="1"/>
          <p:nvPr/>
        </p:nvSpPr>
        <p:spPr>
          <a:xfrm>
            <a:off x="4450080"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what the system says when it will not do the thing</a:t>
            </a:r>
          </a:p>
        </p:txBody>
      </p:sp>
      <p:sp>
        <p:nvSpPr>
          <p:cNvPr id="27" name="Rounded Rectangle 26"/>
          <p:cNvSpPr/>
          <p:nvPr/>
        </p:nvSpPr>
        <p:spPr>
          <a:xfrm>
            <a:off x="8068056"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lock-teal.png"/>
          <p:cNvPicPr>
            <a:picLocks noChangeAspect="1"/>
          </p:cNvPicPr>
          <p:nvPr/>
        </p:nvPicPr>
        <p:blipFill>
          <a:blip r:embed="rId8"/>
          <a:stretch>
            <a:fillRect/>
          </a:stretch>
        </p:blipFill>
        <p:spPr>
          <a:xfrm>
            <a:off x="8214360" y="3209544"/>
            <a:ext cx="256032" cy="256032"/>
          </a:xfrm>
          <a:prstGeom prst="rect">
            <a:avLst/>
          </a:prstGeom>
        </p:spPr>
      </p:pic>
      <p:sp>
        <p:nvSpPr>
          <p:cNvPr id="29" name="TextBox 28"/>
          <p:cNvSpPr txBox="1"/>
          <p:nvPr/>
        </p:nvSpPr>
        <p:spPr>
          <a:xfrm>
            <a:off x="8561832"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Silence</a:t>
            </a:r>
          </a:p>
        </p:txBody>
      </p:sp>
      <p:sp>
        <p:nvSpPr>
          <p:cNvPr id="30" name="TextBox 29"/>
          <p:cNvSpPr txBox="1"/>
          <p:nvPr/>
        </p:nvSpPr>
        <p:spPr>
          <a:xfrm>
            <a:off x="8232648"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processing is running, there is no answer yet: what a person sees for that minute</a:t>
            </a:r>
          </a:p>
        </p:txBody>
      </p:sp>
      <p:sp>
        <p:nvSpPr>
          <p:cNvPr id="31" name="TextBox 30"/>
          <p:cNvSpPr txBox="1"/>
          <p:nvPr/>
        </p:nvSpPr>
        <p:spPr>
          <a:xfrm>
            <a:off x="502920" y="4133087"/>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system's behaviour over time</a:t>
            </a:r>
          </a:p>
        </p:txBody>
      </p:sp>
      <p:sp>
        <p:nvSpPr>
          <p:cNvPr id="32" name="Rounded Rectangle 31"/>
          <p:cNvSpPr/>
          <p:nvPr/>
        </p:nvSpPr>
        <p:spPr>
          <a:xfrm>
            <a:off x="502920" y="4407408"/>
            <a:ext cx="3636264"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9"/>
          <a:stretch>
            <a:fillRect/>
          </a:stretch>
        </p:blipFill>
        <p:spPr>
          <a:xfrm>
            <a:off x="649224" y="4498848"/>
            <a:ext cx="256032" cy="256032"/>
          </a:xfrm>
          <a:prstGeom prst="rect">
            <a:avLst/>
          </a:prstGeom>
        </p:spPr>
      </p:pic>
      <p:sp>
        <p:nvSpPr>
          <p:cNvPr id="34" name="TextBox 33"/>
          <p:cNvSpPr txBox="1"/>
          <p:nvPr/>
        </p:nvSpPr>
        <p:spPr>
          <a:xfrm>
            <a:off x="996696" y="4480560"/>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Sure</a:t>
            </a:r>
          </a:p>
        </p:txBody>
      </p:sp>
      <p:sp>
        <p:nvSpPr>
          <p:cNvPr id="35" name="TextBox 34"/>
          <p:cNvSpPr txBox="1"/>
          <p:nvPr/>
        </p:nvSpPr>
        <p:spPr>
          <a:xfrm>
            <a:off x="667512"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it answers and shows what the answer is built on</a:t>
            </a:r>
          </a:p>
        </p:txBody>
      </p:sp>
      <p:sp>
        <p:nvSpPr>
          <p:cNvPr id="36" name="Rounded Rectangle 35"/>
          <p:cNvSpPr/>
          <p:nvPr/>
        </p:nvSpPr>
        <p:spPr>
          <a:xfrm>
            <a:off x="4285488"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teal.png"/>
          <p:cNvPicPr>
            <a:picLocks noChangeAspect="1"/>
          </p:cNvPicPr>
          <p:nvPr/>
        </p:nvPicPr>
        <p:blipFill>
          <a:blip r:embed="rId10"/>
          <a:stretch>
            <a:fillRect/>
          </a:stretch>
        </p:blipFill>
        <p:spPr>
          <a:xfrm>
            <a:off x="4431792" y="4498848"/>
            <a:ext cx="256032" cy="256032"/>
          </a:xfrm>
          <a:prstGeom prst="rect">
            <a:avLst/>
          </a:prstGeom>
        </p:spPr>
      </p:pic>
      <p:sp>
        <p:nvSpPr>
          <p:cNvPr id="38" name="TextBox 37"/>
          <p:cNvSpPr txBox="1"/>
          <p:nvPr/>
        </p:nvSpPr>
        <p:spPr>
          <a:xfrm>
            <a:off x="4779264"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Unsure</a:t>
            </a:r>
          </a:p>
        </p:txBody>
      </p:sp>
      <p:sp>
        <p:nvSpPr>
          <p:cNvPr id="39" name="TextBox 38"/>
          <p:cNvSpPr txBox="1"/>
          <p:nvPr/>
        </p:nvSpPr>
        <p:spPr>
          <a:xfrm>
            <a:off x="4450080"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it says so in the first person and offers a move forward</a:t>
            </a:r>
          </a:p>
        </p:txBody>
      </p:sp>
      <p:sp>
        <p:nvSpPr>
          <p:cNvPr id="40" name="Rounded Rectangle 39"/>
          <p:cNvSpPr/>
          <p:nvPr/>
        </p:nvSpPr>
        <p:spPr>
          <a:xfrm>
            <a:off x="8068056"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ndo-2-teal.png"/>
          <p:cNvPicPr>
            <a:picLocks noChangeAspect="1"/>
          </p:cNvPicPr>
          <p:nvPr/>
        </p:nvPicPr>
        <p:blipFill>
          <a:blip r:embed="rId11"/>
          <a:stretch>
            <a:fillRect/>
          </a:stretch>
        </p:blipFill>
        <p:spPr>
          <a:xfrm>
            <a:off x="8214360" y="4498848"/>
            <a:ext cx="256032" cy="256032"/>
          </a:xfrm>
          <a:prstGeom prst="rect">
            <a:avLst/>
          </a:prstGeom>
        </p:spPr>
      </p:pic>
      <p:sp>
        <p:nvSpPr>
          <p:cNvPr id="42" name="TextBox 41"/>
          <p:cNvSpPr txBox="1"/>
          <p:nvPr/>
        </p:nvSpPr>
        <p:spPr>
          <a:xfrm>
            <a:off x="8561832"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Wrong</a:t>
            </a:r>
          </a:p>
        </p:txBody>
      </p:sp>
      <p:sp>
        <p:nvSpPr>
          <p:cNvPr id="43" name="TextBox 42"/>
          <p:cNvSpPr txBox="1"/>
          <p:nvPr/>
        </p:nvSpPr>
        <p:spPr>
          <a:xfrm>
            <a:off x="8232648"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person sees what happened, and has a rollback path</a:t>
            </a:r>
          </a:p>
        </p:txBody>
      </p:sp>
      <p:sp>
        <p:nvSpPr>
          <p:cNvPr id="44" name="Rounded Rectangle 43"/>
          <p:cNvSpPr/>
          <p:nvPr/>
        </p:nvSpPr>
        <p:spPr>
          <a:xfrm>
            <a:off x="502920" y="5303520"/>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358383"/>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Decisions in this layer are taken once, and they outlive any layout: the product's name, the promise at the entrance, the right to stop. The name sets the picture of the system in a person's head before they see the first screen — and correcting that picture costs a recall of the entire fleet.</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Two diamonds: first the right problem, then the right solution</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The right</a:t>
            </a:r>
          </a:p>
          <a:p>
            <a:pPr algn="ctr">
              <a:lnSpc>
                <a:spcPct val="115000"/>
              </a:lnSpc>
            </a:pPr>
            <a:r>
              <a:rPr sz="1350" b="1" i="0">
                <a:solidFill>
                  <a:srgbClr val="065A82"/>
                </a:solidFill>
                <a:latin typeface="DejaVu Sans"/>
              </a:rPr>
              <a:t>problem</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Widen the problem</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Narrow: one problem</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The right</a:t>
            </a:r>
          </a:p>
          <a:p>
            <a:pPr algn="ctr">
              <a:lnSpc>
                <a:spcPct val="115000"/>
              </a:lnSpc>
            </a:pPr>
            <a:r>
              <a:rPr sz="1350" b="1" i="0">
                <a:solidFill>
                  <a:srgbClr val="028090"/>
                </a:solidFill>
                <a:latin typeface="DejaVu Sans"/>
              </a:rPr>
              <a:t>solution</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Widen the solution</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Narrow: one solution</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its 5-step version of the same framework</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A common mistake: converging on a solution without checking the problem itself — skipping the first diamond. A cheap prototype exists precisely to surface this before money is spent on development.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Interface generators: machine gives options, human picks and refines</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What the machine does itself: four different layouts of one screen in minutes</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Then the human: picks one direction, discards the rest and fixes what the model got wrong — spacing, order of importance, edge cases.</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The tools of 2026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builds screens inside the design editor from the team's own components, not generic templates.</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text and sketches into a screen; free, and since March 2026 it imports Figma files and emits code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a description straight into interface code.</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a description straight into a whole working app.</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fast sweep over variants of one screen.</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With a generator and without: measured, not promised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How it was measured. </a:t>
            </a:r>
            <a:r>
              <a:rPr sz="1100" b="0" i="0">
                <a:solidFill>
                  <a:srgbClr val="21295C"/>
                </a:solidFill>
                <a:latin typeface="DejaVu Sans"/>
              </a:rPr>
              <a:t>A hundred participants — fifty designers and fifty product managers — randomly split into two groups: one got a generator, the other did not. Three identical interface-editing tasks, September 2026.</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What came out. </a:t>
            </a:r>
            <a:r>
              <a:rPr sz="1100" b="0" i="0">
                <a:solidFill>
                  <a:srgbClr val="21295C"/>
                </a:solidFill>
                <a:latin typeface="DejaVu Sans"/>
              </a:rPr>
              <a:t>Overall time fell by about 20%. For product managers the gain is 35%. For professional designers — only on the hardest of the three tasks (26%), and their overall effect is borderline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The measurement does not bear out the promise that "a day of manual wireframing turns into minutes": the gain is real, but it runs in tens of percent and depends on who works and how hard the task is. Figma ran the trial on its own tool — keep that in mind.</a:t>
            </a:r>
          </a:p>
        </p:txBody>
      </p:sp>
      <p:sp>
        <p:nvSpPr>
          <p:cNvPr id="37" name="Rounded Rectangle 36"/>
          <p:cNvSpPr/>
          <p:nvPr/>
        </p:nvSpPr>
        <p:spPr>
          <a:xfrm>
            <a:off x="502920" y="5431536"/>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486400"/>
            <a:ext cx="10762488"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machine widens the set of options. Narrowing to one is a decision about your users and your constraints, which the training data does not hold. The generator covers the screen; surfaces and touchpoints, system behaviour and the answer under uncertainty stay human.</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overview of AI design tools,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(ex-Galileo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Stewart et al. — randomised trial, arXiv:2609.26725 (22 Sep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A design system: shared interface rules that a machine can check on its own</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A </a:t>
            </a:r>
            <a:r>
              <a:rPr sz="1150" b="1" i="0">
                <a:solidFill>
                  <a:srgbClr val="21295C"/>
                </a:solidFill>
                <a:latin typeface="DejaVu Sans"/>
              </a:rPr>
              <a:t>design system</a:t>
            </a:r>
            <a:r>
              <a:rPr sz="1150" b="0" i="0">
                <a:solidFill>
                  <a:srgbClr val="21295C"/>
                </a:solidFill>
                <a:latin typeface="DejaVu Sans"/>
              </a:rPr>
              <a:t> is the shared body of interface rules for a product and the ready-made components that go with it: the colour combinations allowed, the sizes of buttons and fields, how an element looks under the cursor. It used to be a document for people. What matters more now is the other part: some of the rules can be written so that a machine reads and checks them.</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from the bottom up: each layer is stronger than the one below it, and only the top one turns a wish into a guarantee</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A CHECK THAT</a:t>
            </a:r>
          </a:p>
          <a:p>
            <a:pPr algn="l">
              <a:lnSpc>
                <a:spcPct val="102000"/>
              </a:lnSpc>
            </a:pPr>
            <a:r>
              <a:rPr sz="919" b="1" i="0">
                <a:solidFill>
                  <a:srgbClr val="FFFFFF"/>
                </a:solidFill>
                <a:latin typeface="DejaVu Sans"/>
              </a:rPr>
              <a:t>STOPS THE RELEASE</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The rule is checked automatically on every generated screen, and a breach is blocked with no discussion. </a:t>
            </a:r>
            <a:r>
              <a:rPr sz="1019" b="1" i="0">
                <a:solidFill>
                  <a:srgbClr val="065A82"/>
                </a:solidFill>
                <a:latin typeface="DejaVu Sans"/>
              </a:rPr>
              <a:t>Only this layer gives a guarantee.</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OWN COMPONENTS</a:t>
            </a:r>
          </a:p>
          <a:p>
            <a:pPr algn="l">
              <a:lnSpc>
                <a:spcPct val="102000"/>
              </a:lnSpc>
            </a:pPr>
            <a:r>
              <a:rPr sz="919" b="1" i="0">
                <a:solidFill>
                  <a:srgbClr val="FFFFFF"/>
                </a:solidFill>
                <a:latin typeface="DejaVu Sans"/>
              </a:rPr>
              <a:t>INSTEAD OF STOCK ONES</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The generator is given the team's own components. This </a:t>
            </a:r>
            <a:r>
              <a:rPr sz="1019" b="1" i="0">
                <a:solidFill>
                  <a:srgbClr val="065A82"/>
                </a:solidFill>
                <a:latin typeface="DejaVu Sans"/>
              </a:rPr>
              <a:t>lowers the chance of a breach and guarantees nothing.</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RULES WRITTEN</a:t>
            </a:r>
          </a:p>
          <a:p>
            <a:pPr algn="l">
              <a:lnSpc>
                <a:spcPct val="102000"/>
              </a:lnSpc>
            </a:pPr>
            <a:r>
              <a:rPr sz="919" b="1" i="0">
                <a:solidFill>
                  <a:srgbClr val="FFFFFF"/>
                </a:solidFill>
                <a:latin typeface="DejaVu Sans"/>
              </a:rPr>
              <a:t>AS NUMBERS</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While a rule lives in a picture of a mockup, only a person can check it, and only by eye.</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a body of rules for people</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designer checks it by eye: a set of rules keeps the product consistent.</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why the rules became machine-readable</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generator turns out screens faster than a person can look at them. A machine check </a:t>
            </a:r>
            <a:r>
              <a:rPr sz="950" b="1" i="0">
                <a:solidFill>
                  <a:srgbClr val="21295C"/>
                </a:solidFill>
                <a:latin typeface="DejaVu Sans"/>
              </a:rPr>
              <a:t>grows with the generation</a:t>
            </a:r>
            <a:r>
              <a:rPr sz="950" b="0" i="0">
                <a:solidFill>
                  <a:srgbClr val="21295C"/>
                </a:solidFill>
                <a:latin typeface="DejaVu Sans"/>
              </a:rPr>
              <a:t>.</a:t>
            </a:r>
          </a:p>
        </p:txBody>
      </p:sp>
      <p:sp>
        <p:nvSpPr>
          <p:cNvPr id="35" name="Rounded Rectangle 34"/>
          <p:cNvSpPr/>
          <p:nvPr/>
        </p:nvSpPr>
        <p:spPr>
          <a:xfrm>
            <a:off x="502920" y="5369584"/>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37" name="Rounded Rectangle 36"/>
          <p:cNvSpPr/>
          <p:nvPr/>
        </p:nvSpPr>
        <p:spPr>
          <a:xfrm>
            <a:off x="1801368" y="5369584"/>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A machine checks only what can be expressed as a number. "Is this clear to a living person" stays with the person: a screen can pass every check and remain unclear. And separately: </a:t>
            </a:r>
            <a:r>
              <a:rPr sz="1000" b="1" i="0">
                <a:solidFill>
                  <a:srgbClr val="21295C"/>
                </a:solidFill>
                <a:latin typeface="DejaVu Sans"/>
              </a:rPr>
              <a:t>a request to the generator is not a control mechanism</a:t>
            </a:r>
            <a:r>
              <a:rPr sz="1000" b="1" i="0">
                <a:solidFill>
                  <a:srgbClr val="21295C"/>
                </a:solidFill>
                <a:latin typeface="DejaVu Sans"/>
              </a:rPr>
              <a:t> — a mechanism is a rule that can stop a release. This check looks at the screen: the system's behaviour over time cannot be expressed as a number and is not covered.</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WCAG conformance across 21,880 evaluations — the platform matters more than the prompt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21,880 WCAG evaluations of AI-generated interfaces:</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contrast 26.8%</a:t>
            </a:r>
          </a:p>
          <a:p>
            <a:pPr algn="l">
              <a:lnSpc>
                <a:spcPct val="120000"/>
              </a:lnSpc>
            </a:pPr>
            <a:r>
              <a:rPr sz="1150" b="0" i="0">
                <a:solidFill>
                  <a:srgbClr val="21295C"/>
                </a:solidFill>
                <a:latin typeface="DejaVu Sans"/>
              </a:rPr>
              <a:t>• use of color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"Make it accessible" in the prompt does not guarantee the result — platform defaults decide, not the request text.</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Design for NON-DETERMINISTIC output: same input → different output → breaks the consistency heuristic; you need human checkpoints.</a:t>
            </a:r>
          </a:p>
        </p:txBody>
      </p:sp>
      <p:sp>
        <p:nvSpPr>
          <p:cNvPr id="12" name="TextBox 1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ACM Web4All 2026 — Generated Inaccessible</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All 2,031,220 cars with the driver-assistance feature recalled: the prominence of the controls was found insufficient</a:t>
            </a:r>
          </a:p>
        </p:txBody>
      </p:sp>
      <p:sp>
        <p:nvSpPr>
          <p:cNvPr id="3" name="Rounded Rectangle 2"/>
          <p:cNvSpPr/>
          <p:nvPr/>
        </p:nvSpPr>
        <p:spPr>
          <a:xfrm>
            <a:off x="502920" y="886968"/>
            <a:ext cx="11201400" cy="1737360"/>
          </a:xfrm>
          <a:prstGeom prst="roundRect">
            <a:avLst>
              <a:gd name="adj" fmla="val 1754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225296"/>
            <a:ext cx="1847088" cy="768096"/>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tesla-real-source.png"/>
          <p:cNvPicPr>
            <a:picLocks noChangeAspect="1"/>
          </p:cNvPicPr>
          <p:nvPr/>
        </p:nvPicPr>
        <p:blipFill>
          <a:blip r:embed="rId2"/>
          <a:stretch>
            <a:fillRect/>
          </a:stretch>
        </p:blipFill>
        <p:spPr>
          <a:xfrm>
            <a:off x="731519" y="1500780"/>
            <a:ext cx="1664208" cy="217127"/>
          </a:xfrm>
          <a:prstGeom prst="rect">
            <a:avLst/>
          </a:prstGeom>
        </p:spPr>
      </p:pic>
      <p:sp>
        <p:nvSpPr>
          <p:cNvPr id="6" name="TextBox 5"/>
          <p:cNvSpPr txBox="1"/>
          <p:nvPr/>
        </p:nvSpPr>
        <p:spPr>
          <a:xfrm>
            <a:off x="640080" y="2048256"/>
            <a:ext cx="1847088" cy="402336"/>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driver-assistance</a:t>
            </a:r>
          </a:p>
          <a:p>
            <a:pPr algn="ctr">
              <a:lnSpc>
                <a:spcPct val="105000"/>
              </a:lnSpc>
            </a:pPr>
            <a:r>
              <a:rPr sz="950" b="0" i="1">
                <a:solidFill>
                  <a:srgbClr val="5B6678"/>
                </a:solidFill>
                <a:latin typeface="DejaVu Sans"/>
              </a:rPr>
              <a:t>features</a:t>
            </a:r>
          </a:p>
        </p:txBody>
      </p:sp>
      <p:sp>
        <p:nvSpPr>
          <p:cNvPr id="7" name="TextBox 6"/>
          <p:cNvSpPr txBox="1"/>
          <p:nvPr/>
        </p:nvSpPr>
        <p:spPr>
          <a:xfrm>
            <a:off x="2688336" y="941832"/>
            <a:ext cx="8814816"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What the case is</a:t>
            </a:r>
          </a:p>
        </p:txBody>
      </p:sp>
      <p:sp>
        <p:nvSpPr>
          <p:cNvPr id="8" name="TextBox 7"/>
          <p:cNvSpPr txBox="1"/>
          <p:nvPr/>
        </p:nvSpPr>
        <p:spPr>
          <a:xfrm>
            <a:off x="2688336" y="1197864"/>
            <a:ext cx="8814816" cy="1371600"/>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Autopilot </a:t>
            </a:r>
            <a:r>
              <a:rPr sz="1050" b="0" i="0">
                <a:solidFill>
                  <a:srgbClr val="21295C"/>
                </a:solidFill>
                <a:latin typeface="DejaVu Sans"/>
              </a:rPr>
              <a:t>is the set of driver-assistance features in Tesla cars: it holds the lane, the speed and the following distance while the person watches the road and keeps their hands on the wheel.</a:t>
            </a:r>
          </a:p>
          <a:p>
            <a:pPr algn="l">
              <a:lnSpc>
                <a:spcPct val="114000"/>
              </a:lnSpc>
              <a:spcBef>
                <a:spcPts val="400"/>
              </a:spcBef>
            </a:pPr>
            <a:r>
              <a:rPr sz="1050" b="0" i="0">
                <a:solidFill>
                  <a:srgbClr val="21295C"/>
                </a:solidFill>
                <a:latin typeface="DejaVu Sans"/>
              </a:rPr>
              <a:t>On 13 August 2021 the National Highway Traffic Safety Administration (NHTSA) opened an investigation: cars with Autopilot engaged were running into emergency vehicles stopped on the road. On 12 December 2023 Tesla recalled all 2,031,220 cars carrying the feature — the entire fleet built since 2012. In the defect report the company wrote, in its own words, that the prominence and scope of the system's controls may be insufficient to prevent driver misuse.</a:t>
            </a:r>
          </a:p>
        </p:txBody>
      </p:sp>
      <p:sp>
        <p:nvSpPr>
          <p:cNvPr id="9" name="Rounded Rectangle 8"/>
          <p:cNvSpPr/>
          <p:nvPr/>
        </p:nvSpPr>
        <p:spPr>
          <a:xfrm>
            <a:off x="502920" y="2679192"/>
            <a:ext cx="11201400" cy="658368"/>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1673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Investigation</a:t>
            </a:r>
          </a:p>
          <a:p>
            <a:pPr algn="ctr">
              <a:lnSpc>
                <a:spcPct val="95000"/>
              </a:lnSpc>
            </a:pPr>
            <a:r>
              <a:rPr sz="850" b="1" i="0">
                <a:solidFill>
                  <a:srgbClr val="21295C"/>
                </a:solidFill>
                <a:latin typeface="DejaVu Sans"/>
              </a:rPr>
              <a:t>08.2021</a:t>
            </a:r>
          </a:p>
        </p:txBody>
      </p:sp>
      <p:cxnSp>
        <p:nvCxnSpPr>
          <p:cNvPr id="12" name="Connector 11"/>
          <p:cNvCxnSpPr/>
          <p:nvPr/>
        </p:nvCxnSpPr>
        <p:spPr>
          <a:xfrm>
            <a:off x="151790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2736" y="2788920"/>
            <a:ext cx="201168" cy="201168"/>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Recall of 2,031,220 cars</a:t>
            </a:r>
          </a:p>
          <a:p>
            <a:pPr algn="ctr">
              <a:lnSpc>
                <a:spcPct val="95000"/>
              </a:lnSpc>
            </a:pPr>
            <a:r>
              <a:rPr sz="850" b="1" i="0">
                <a:solidFill>
                  <a:srgbClr val="21295C"/>
                </a:solidFill>
                <a:latin typeface="DejaVu Sans"/>
              </a:rPr>
              <a:t>12.12.2023</a:t>
            </a:r>
          </a:p>
        </p:txBody>
      </p:sp>
      <p:cxnSp>
        <p:nvCxnSpPr>
          <p:cNvPr id="15" name="Connector 14"/>
          <p:cNvCxnSpPr/>
          <p:nvPr/>
        </p:nvCxnSpPr>
        <p:spPr>
          <a:xfrm>
            <a:off x="3803904" y="2889504"/>
            <a:ext cx="213055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34455"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Over-the-air update</a:t>
            </a:r>
          </a:p>
          <a:p>
            <a:pPr algn="ctr">
              <a:lnSpc>
                <a:spcPct val="95000"/>
              </a:lnSpc>
            </a:pPr>
            <a:r>
              <a:rPr sz="850" b="1" i="0">
                <a:solidFill>
                  <a:srgbClr val="21295C"/>
                </a:solidFill>
                <a:latin typeface="DejaVu Sans"/>
              </a:rPr>
              <a:t>12.2023</a:t>
            </a:r>
          </a:p>
        </p:txBody>
      </p:sp>
      <p:cxnSp>
        <p:nvCxnSpPr>
          <p:cNvPr id="18" name="Connector 17"/>
          <p:cNvCxnSpPr/>
          <p:nvPr/>
        </p:nvCxnSpPr>
        <p:spPr>
          <a:xfrm>
            <a:off x="6135624" y="2889504"/>
            <a:ext cx="213055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66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Recall query</a:t>
            </a:r>
          </a:p>
          <a:p>
            <a:pPr algn="ctr">
              <a:lnSpc>
                <a:spcPct val="95000"/>
              </a:lnSpc>
            </a:pPr>
            <a:r>
              <a:rPr sz="850" b="1" i="0">
                <a:solidFill>
                  <a:srgbClr val="21295C"/>
                </a:solidFill>
                <a:latin typeface="DejaVu Sans"/>
              </a:rPr>
              <a:t>25.04.2024</a:t>
            </a:r>
          </a:p>
        </p:txBody>
      </p:sp>
      <p:cxnSp>
        <p:nvCxnSpPr>
          <p:cNvPr id="21" name="Connector 20"/>
          <p:cNvCxnSpPr/>
          <p:nvPr/>
        </p:nvCxnSpPr>
        <p:spPr>
          <a:xfrm>
            <a:off x="846734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52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≥20 crashes</a:t>
            </a:r>
          </a:p>
          <a:p>
            <a:pPr algn="ctr">
              <a:lnSpc>
                <a:spcPct val="95000"/>
              </a:lnSpc>
            </a:pPr>
            <a:r>
              <a:rPr sz="850" b="1" i="0">
                <a:solidFill>
                  <a:srgbClr val="21295C"/>
                </a:solidFill>
                <a:latin typeface="DejaVu Sans"/>
              </a:rPr>
              <a:t>after the update</a:t>
            </a:r>
          </a:p>
        </p:txBody>
      </p:sp>
      <p:sp>
        <p:nvSpPr>
          <p:cNvPr id="24" name="Rounded Rectangle 23"/>
          <p:cNvSpPr/>
          <p:nvPr/>
        </p:nvSpPr>
        <p:spPr>
          <a:xfrm>
            <a:off x="502920" y="3392424"/>
            <a:ext cx="5532120" cy="1444752"/>
          </a:xfrm>
          <a:prstGeom prst="roundRect">
            <a:avLst>
              <a:gd name="adj" fmla="val 2109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off-mid.png"/>
          <p:cNvPicPr>
            <a:picLocks noChangeAspect="1"/>
          </p:cNvPicPr>
          <p:nvPr/>
        </p:nvPicPr>
        <p:blipFill>
          <a:blip r:embed="rId3"/>
          <a:stretch>
            <a:fillRect/>
          </a:stretch>
        </p:blipFill>
        <p:spPr>
          <a:xfrm>
            <a:off x="704088" y="3493008"/>
            <a:ext cx="292608" cy="292608"/>
          </a:xfrm>
          <a:prstGeom prst="rect">
            <a:avLst/>
          </a:prstGeom>
        </p:spPr>
      </p:pic>
      <p:sp>
        <p:nvSpPr>
          <p:cNvPr id="26" name="TextBox 25"/>
          <p:cNvSpPr txBox="1"/>
          <p:nvPr/>
        </p:nvSpPr>
        <p:spPr>
          <a:xfrm>
            <a:off x="1088136" y="3493008"/>
            <a:ext cx="4727448" cy="2743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What broke</a:t>
            </a:r>
          </a:p>
        </p:txBody>
      </p:sp>
      <p:sp>
        <p:nvSpPr>
          <p:cNvPr id="27" name="TextBox 26"/>
          <p:cNvSpPr txBox="1"/>
          <p:nvPr/>
        </p:nvSpPr>
        <p:spPr>
          <a:xfrm>
            <a:off x="70408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Over the course of the investigation, from August 2021 to December 2023, at least 13 fatal crashes accumulated in which foreseeable misuse played its part.</a:t>
            </a:r>
          </a:p>
          <a:p>
            <a:pPr algn="l">
              <a:lnSpc>
                <a:spcPct val="112000"/>
              </a:lnSpc>
              <a:spcBef>
                <a:spcPts val="400"/>
              </a:spcBef>
            </a:pPr>
            <a:r>
              <a:rPr sz="1000" b="0" i="0">
                <a:solidFill>
                  <a:srgbClr val="21295C"/>
                </a:solidFill>
                <a:latin typeface="DejaVu Sans"/>
              </a:rPr>
              <a:t>The driver's picture of the system diverged from what the system was doing. The name of this error is </a:t>
            </a:r>
            <a:r>
              <a:rPr sz="1000" b="1" i="0">
                <a:solidFill>
                  <a:srgbClr val="065A82"/>
                </a:solidFill>
                <a:latin typeface="DejaVu Sans"/>
              </a:rPr>
              <a:t>mode confusion</a:t>
            </a:r>
            <a:r>
              <a:rPr sz="1000" b="0" i="0">
                <a:solidFill>
                  <a:srgbClr val="21295C"/>
                </a:solidFill>
                <a:latin typeface="DejaVu Sans"/>
              </a:rPr>
              <a:t>.</a:t>
            </a:r>
          </a:p>
        </p:txBody>
      </p:sp>
      <p:sp>
        <p:nvSpPr>
          <p:cNvPr id="28" name="Rounded Rectangle 27"/>
          <p:cNvSpPr/>
          <p:nvPr/>
        </p:nvSpPr>
        <p:spPr>
          <a:xfrm>
            <a:off x="6172200" y="3392424"/>
            <a:ext cx="5532120" cy="1444752"/>
          </a:xfrm>
          <a:prstGeom prst="roundRect">
            <a:avLst>
              <a:gd name="adj" fmla="val 2109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ayers-teal.png"/>
          <p:cNvPicPr>
            <a:picLocks noChangeAspect="1"/>
          </p:cNvPicPr>
          <p:nvPr/>
        </p:nvPicPr>
        <p:blipFill>
          <a:blip r:embed="rId4"/>
          <a:stretch>
            <a:fillRect/>
          </a:stretch>
        </p:blipFill>
        <p:spPr>
          <a:xfrm>
            <a:off x="6373368" y="3493008"/>
            <a:ext cx="292608" cy="292608"/>
          </a:xfrm>
          <a:prstGeom prst="rect">
            <a:avLst/>
          </a:prstGeom>
        </p:spPr>
      </p:pic>
      <p:sp>
        <p:nvSpPr>
          <p:cNvPr id="30" name="TextBox 29"/>
          <p:cNvSpPr txBox="1"/>
          <p:nvPr/>
        </p:nvSpPr>
        <p:spPr>
          <a:xfrm>
            <a:off x="6757416" y="3493008"/>
            <a:ext cx="4727448" cy="274320"/>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Why this is a design-phase decision</a:t>
            </a:r>
          </a:p>
        </p:txBody>
      </p:sp>
      <p:sp>
        <p:nvSpPr>
          <p:cNvPr id="31" name="TextBox 30"/>
          <p:cNvSpPr txBox="1"/>
          <p:nvPr/>
        </p:nvSpPr>
        <p:spPr>
          <a:xfrm>
            <a:off x="637336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The recall touched not one line of the driving model. What was fixed was how the system presents itself: the prominence of the warnings, the frequency of the attention checks, the threshold past which the feature switches off.</a:t>
            </a:r>
          </a:p>
          <a:p>
            <a:pPr algn="l">
              <a:lnSpc>
                <a:spcPct val="112000"/>
              </a:lnSpc>
              <a:spcBef>
                <a:spcPts val="400"/>
              </a:spcBef>
            </a:pPr>
            <a:r>
              <a:rPr sz="1000" b="0" i="0">
                <a:solidFill>
                  <a:srgbClr val="21295C"/>
                </a:solidFill>
                <a:latin typeface="DejaVu Sans"/>
              </a:rPr>
              <a:t>The name "Autopilot" is a decision from the same layer: it sets the picture before the first warning does.</a:t>
            </a:r>
          </a:p>
        </p:txBody>
      </p:sp>
      <p:sp>
        <p:nvSpPr>
          <p:cNvPr id="32" name="Rounded Rectangle 31"/>
          <p:cNvSpPr/>
          <p:nvPr/>
        </p:nvSpPr>
        <p:spPr>
          <a:xfrm>
            <a:off x="502920" y="4892040"/>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946903"/>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The root is a decision about how the system presents itself to a person: what it reports, how insistently, and when it refuses to go on. Two years and four months passed between the opening of the investigation and the recall, and all that time the fleet drove with the picture it was given. Testing the model does not catch this: it behaved exactly as advertised.</a:t>
            </a:r>
          </a:p>
        </p:txBody>
      </p:sp>
      <p:sp>
        <p:nvSpPr>
          <p:cNvPr id="34" name="Rounded Rectangle 33"/>
          <p:cNvSpPr/>
          <p:nvPr/>
        </p:nvSpPr>
        <p:spPr>
          <a:xfrm>
            <a:off x="502920" y="5696712"/>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751576"/>
            <a:ext cx="10762488" cy="58521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The agency opened its query into the remedy on 25 April 2024: in the first four months after the update, at least 20 crashes accumulated with the system suspected of involvement, and some of the measures are switched on by the driver's own consent and switched off the same way. The criterion that carries forward: a measure a person can switch off stays a request — what turns it into a mechanism is the ability to stop the action.</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NHTSA — recall report 23V-838 (12 Dec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NHTSA — closing of investigation EA22-002</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NHTSA — remedy query RQ24-009 (25 Apr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Build &amp; Launch — the collapsed arrow</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This is exactly where AI changes the most — the cost of writing the code itself. But the section doesn't start from that fact — it starts from the classical discipline of release: how to ship safely and when to stop.</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Same mechanics — but here the decision is to kill the product, not flip a flag</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a switch</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gradual</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revert</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You know these primitives from engineering rollout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NEW here — whose decision they serve and by what criteria: MVP (Ries)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learning, not shipping. Stage-Gate go/kill (Cooper)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"a funnel, not a tunnel": failure thresholds are written down as numbers in advance.</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common thread: launch speed is bought with a limited blast radius — how many users are affected if the new thing turns out bad.</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the method's history</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Code got cheap to write, not to check: review adds to the bottleneck at the input</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MEASURED SHIFT</a:t>
            </a:r>
          </a:p>
        </p:txBody>
      </p:sp>
      <p:sp>
        <p:nvSpPr>
          <p:cNvPr id="5" name="TextBox 4"/>
          <p:cNvSpPr txBox="1"/>
          <p:nvPr/>
        </p:nvSpPr>
        <p:spPr>
          <a:xfrm>
            <a:off x="713232" y="1353312"/>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55648"/>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code per engineer in a year — Anthropic's own measurement</a:t>
            </a:r>
          </a:p>
        </p:txBody>
      </p:sp>
      <p:sp>
        <p:nvSpPr>
          <p:cNvPr id="7" name="TextBox 6"/>
          <p:cNvSpPr txBox="1"/>
          <p:nvPr/>
        </p:nvSpPr>
        <p:spPr>
          <a:xfrm>
            <a:off x="713232" y="2322576"/>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24912"/>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share of changes with substantive review before merge: before — after, once the first pass went to automation; nearly half still merges without one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291840"/>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694176"/>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median time a change spends in review — telemetry from 22,000 developers, Faros AI</a:t>
            </a:r>
          </a:p>
        </p:txBody>
      </p:sp>
      <p:sp>
        <p:nvSpPr>
          <p:cNvPr id="11" name="TextBox 10"/>
          <p:cNvSpPr txBox="1"/>
          <p:nvPr/>
        </p:nvSpPr>
        <p:spPr>
          <a:xfrm>
            <a:off x="713232" y="4261104"/>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663440"/>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AI changes are larger and wait longer for a reviewer — 8.1M pull requests,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PRACTICES: WHAT WAS AND WHAT WAS ADDED</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did and still do, no AI</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added when an agent writes the code</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Review of changes before merge</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it became the bottleneck itself; handing the merge to an agent removes the only control</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Feature flag</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switches the autonomy level: how much the system decides itself</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Staged rollout by share of users</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rolled out on two axes at once: share of audience and autonomy level</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Test as executable specification and a run gate</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a mutation-score gate was added: it checks the test can catch a defect at all</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Circuit breaker</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always needed: a failure spreads faster than anyone notices it</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A human-owned specification</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the one input an agent cannot invent for itself</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Scarcity sits at the edges: precision of the task in, speed of judgment out.</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March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autonomy scale — the right to decide, given in parts</a:t>
            </a:r>
          </a:p>
        </p:txBody>
      </p:sp>
      <p:sp>
        <p:nvSpPr>
          <p:cNvPr id="3" name="Rounded Rectangle 2"/>
          <p:cNvSpPr/>
          <p:nvPr/>
        </p:nvSpPr>
        <p:spPr>
          <a:xfrm>
            <a:off x="502920" y="551434"/>
            <a:ext cx="1152144" cy="858290"/>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85829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551434"/>
            <a:ext cx="9902952" cy="85829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675410"/>
          </a:xfrm>
          <a:prstGeom prst="rect">
            <a:avLst/>
          </a:prstGeom>
          <a:noFill/>
        </p:spPr>
        <p:txBody>
          <a:bodyPr wrap="square" lIns="0" rIns="0" tIns="0" bIns="0" anchor="ctr">
            <a:spAutoFit/>
          </a:bodyPr>
          <a:lstStyle/>
          <a:p>
            <a:pPr algn="l">
              <a:lnSpc>
                <a:spcPct val="114000"/>
              </a:lnSpc>
            </a:pPr>
            <a:r>
              <a:rPr sz="1080" b="0" i="0">
                <a:solidFill>
                  <a:srgbClr val="21295C"/>
                </a:solidFill>
                <a:latin typeface="DejaVu Sans"/>
              </a:rPr>
              <a:t>A feature is released by autonomy levels — from a hint, to a proposal that a person confirms, and on to a decision the system takes itself (the levels on the right). </a:t>
            </a:r>
            <a:r>
              <a:rPr sz="1080" b="1" i="0">
                <a:solidFill>
                  <a:srgbClr val="21295C"/>
                </a:solidFill>
                <a:latin typeface="DejaVu Sans"/>
              </a:rPr>
              <a:t>A version here means the autonomy level the system has earned.</a:t>
            </a:r>
          </a:p>
        </p:txBody>
      </p:sp>
      <p:sp>
        <p:nvSpPr>
          <p:cNvPr id="7" name="Rounded Rectangle 6"/>
          <p:cNvSpPr/>
          <p:nvPr/>
        </p:nvSpPr>
        <p:spPr>
          <a:xfrm>
            <a:off x="502920" y="147373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373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47373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788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788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5172"/>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Each level is </a:t>
            </a:r>
            <a:r>
              <a:rPr sz="1000" b="1" i="0">
                <a:solidFill>
                  <a:srgbClr val="065A82"/>
                </a:solidFill>
                <a:latin typeface="DejaVu Sans"/>
              </a:rPr>
              <a:t>a separate release</a:t>
            </a:r>
            <a:r>
              <a:rPr sz="1000" b="0" i="0">
                <a:solidFill>
                  <a:srgbClr val="21295C"/>
                </a:solidFill>
                <a:latin typeface="DejaVu Sans"/>
              </a:rPr>
              <a:t>: its own circle of users, its own set of observed signals, its own way to stop.</a:t>
            </a:r>
          </a:p>
        </p:txBody>
      </p:sp>
      <p:sp>
        <p:nvSpPr>
          <p:cNvPr id="13" name="Oval 12"/>
          <p:cNvSpPr/>
          <p:nvPr/>
        </p:nvSpPr>
        <p:spPr>
          <a:xfrm>
            <a:off x="1984248" y="202156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2156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07853"/>
            <a:ext cx="59344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The move up is opened by </a:t>
            </a:r>
            <a:r>
              <a:rPr sz="1000" b="1" i="0">
                <a:solidFill>
                  <a:srgbClr val="065A82"/>
                </a:solidFill>
                <a:latin typeface="DejaVu Sans"/>
              </a:rPr>
              <a:t>evidence written down as a number before the run</a:t>
            </a:r>
            <a:r>
              <a:rPr sz="1000" b="0" i="0">
                <a:solidFill>
                  <a:srgbClr val="21295C"/>
                </a:solidFill>
                <a:latin typeface="DejaVu Sans"/>
              </a:rPr>
              <a:t>: the system copes with the cases the new level entrusts to it. The calendar does not count as grounds.</a:t>
            </a:r>
          </a:p>
        </p:txBody>
      </p:sp>
      <p:sp>
        <p:nvSpPr>
          <p:cNvPr id="16" name="Oval 15"/>
          <p:cNvSpPr/>
          <p:nvPr/>
        </p:nvSpPr>
        <p:spPr>
          <a:xfrm>
            <a:off x="1984248" y="26298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298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1609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The evidence has to hold </a:t>
            </a:r>
            <a:r>
              <a:rPr sz="1000" b="1" i="0">
                <a:solidFill>
                  <a:srgbClr val="065A82"/>
                </a:solidFill>
                <a:latin typeface="DejaVu Sans"/>
              </a:rPr>
              <a:t>across repeated attempts</a:t>
            </a:r>
            <a:r>
              <a:rPr sz="1000" b="0" i="0">
                <a:solidFill>
                  <a:srgbClr val="21295C"/>
                </a:solidFill>
                <a:latin typeface="DejaVu Sans"/>
              </a:rPr>
              <a:t>. A single success does not give it.</a:t>
            </a:r>
          </a:p>
        </p:txBody>
      </p:sp>
      <p:sp>
        <p:nvSpPr>
          <p:cNvPr id="19" name="Oval 18"/>
          <p:cNvSpPr/>
          <p:nvPr/>
        </p:nvSpPr>
        <p:spPr>
          <a:xfrm>
            <a:off x="1984248" y="307249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7249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5877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It is set out in advance </a:t>
            </a:r>
            <a:r>
              <a:rPr sz="1000" b="1" i="0">
                <a:solidFill>
                  <a:srgbClr val="065A82"/>
                </a:solidFill>
                <a:latin typeface="DejaVu Sans"/>
              </a:rPr>
              <a:t>how to put the system back a level</a:t>
            </a:r>
            <a:r>
              <a:rPr sz="1000" b="0" i="0">
                <a:solidFill>
                  <a:srgbClr val="21295C"/>
                </a:solidFill>
                <a:latin typeface="DejaVu Sans"/>
              </a:rPr>
              <a:t>: who decides, on what signal, and within what time.</a:t>
            </a:r>
          </a:p>
        </p:txBody>
      </p:sp>
      <p:sp>
        <p:nvSpPr>
          <p:cNvPr id="22" name="Rounded Rectangle 21"/>
          <p:cNvSpPr/>
          <p:nvPr/>
        </p:nvSpPr>
        <p:spPr>
          <a:xfrm>
            <a:off x="8503920" y="1601748"/>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638324"/>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it hints</a:t>
            </a:r>
          </a:p>
        </p:txBody>
      </p:sp>
      <p:sp>
        <p:nvSpPr>
          <p:cNvPr id="24" name="TextBox 23"/>
          <p:cNvSpPr txBox="1"/>
          <p:nvPr/>
        </p:nvSpPr>
        <p:spPr>
          <a:xfrm>
            <a:off x="8595360" y="1876068"/>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a person decides</a:t>
            </a:r>
          </a:p>
        </p:txBody>
      </p:sp>
      <p:cxnSp>
        <p:nvCxnSpPr>
          <p:cNvPr id="25" name="Connector 24"/>
          <p:cNvCxnSpPr/>
          <p:nvPr/>
        </p:nvCxnSpPr>
        <p:spPr>
          <a:xfrm>
            <a:off x="10012680" y="2058948"/>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223540"/>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260116"/>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it proposes a solution</a:t>
            </a:r>
          </a:p>
        </p:txBody>
      </p:sp>
      <p:sp>
        <p:nvSpPr>
          <p:cNvPr id="28" name="TextBox 27"/>
          <p:cNvSpPr txBox="1"/>
          <p:nvPr/>
        </p:nvSpPr>
        <p:spPr>
          <a:xfrm>
            <a:off x="8595360" y="2497860"/>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a person confirms</a:t>
            </a:r>
          </a:p>
        </p:txBody>
      </p:sp>
      <p:cxnSp>
        <p:nvCxnSpPr>
          <p:cNvPr id="29" name="Connector 28"/>
          <p:cNvCxnSpPr/>
          <p:nvPr/>
        </p:nvCxnSpPr>
        <p:spPr>
          <a:xfrm>
            <a:off x="10012680" y="2680740"/>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2845332"/>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2881908"/>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it decides itself</a:t>
            </a:r>
          </a:p>
        </p:txBody>
      </p:sp>
      <p:sp>
        <p:nvSpPr>
          <p:cNvPr id="32" name="TextBox 31"/>
          <p:cNvSpPr txBox="1"/>
          <p:nvPr/>
        </p:nvSpPr>
        <p:spPr>
          <a:xfrm>
            <a:off x="8595360" y="3119652"/>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hands hard cases back to a person</a:t>
            </a:r>
          </a:p>
        </p:txBody>
      </p:sp>
      <p:sp>
        <p:nvSpPr>
          <p:cNvPr id="33" name="TextBox 32"/>
          <p:cNvSpPr txBox="1"/>
          <p:nvPr/>
        </p:nvSpPr>
        <p:spPr>
          <a:xfrm>
            <a:off x="8503920" y="3339108"/>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the autonomy scale: product versions have nothing to do with it</a:t>
            </a:r>
          </a:p>
        </p:txBody>
      </p:sp>
      <p:sp>
        <p:nvSpPr>
          <p:cNvPr id="34" name="Rounded Rectangle 33"/>
          <p:cNvSpPr/>
          <p:nvPr/>
        </p:nvSpPr>
        <p:spPr>
          <a:xfrm>
            <a:off x="502920" y="3860316"/>
            <a:ext cx="1152144" cy="134007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60316"/>
            <a:ext cx="1060704" cy="134007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6" name="Rounded Rectangle 35"/>
          <p:cNvSpPr/>
          <p:nvPr/>
        </p:nvSpPr>
        <p:spPr>
          <a:xfrm>
            <a:off x="1801368" y="3860316"/>
            <a:ext cx="9902952" cy="134007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3951756"/>
            <a:ext cx="4677156" cy="1157191"/>
          </a:xfrm>
          <a:prstGeom prst="roundRect">
            <a:avLst>
              <a:gd name="adj" fmla="val 1536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399747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rights have long been handed out in parts</a:t>
            </a:r>
          </a:p>
        </p:txBody>
      </p:sp>
      <p:sp>
        <p:nvSpPr>
          <p:cNvPr id="39" name="TextBox 38"/>
          <p:cNvSpPr txBox="1"/>
          <p:nvPr/>
        </p:nvSpPr>
        <p:spPr>
          <a:xfrm>
            <a:off x="2084831"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To people and to automation alike: a newcomer is first allowed to watch, then to propose, then to decide alone. The level rests on time served without complaints.</a:t>
            </a:r>
          </a:p>
        </p:txBody>
      </p:sp>
      <p:sp>
        <p:nvSpPr>
          <p:cNvPr id="40" name="Rounded Rectangle 39"/>
          <p:cNvSpPr/>
          <p:nvPr/>
        </p:nvSpPr>
        <p:spPr>
          <a:xfrm>
            <a:off x="6844284" y="3951756"/>
            <a:ext cx="4677156" cy="1157191"/>
          </a:xfrm>
          <a:prstGeom prst="roundRect">
            <a:avLst>
              <a:gd name="adj" fmla="val 1536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399747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the level is confirmed by measurement</a:t>
            </a:r>
          </a:p>
        </p:txBody>
      </p:sp>
      <p:sp>
        <p:nvSpPr>
          <p:cNvPr id="42" name="TextBox 41"/>
          <p:cNvSpPr txBox="1"/>
          <p:nvPr/>
        </p:nvSpPr>
        <p:spPr>
          <a:xfrm>
            <a:off x="6944868"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A system gains no experience. Meta moved the risk threshold for merging without a person from the 25th percentile to the 50th: </a:t>
            </a:r>
            <a:r>
              <a:rPr sz="900" b="1" i="0">
                <a:solidFill>
                  <a:srgbClr val="21295C"/>
                </a:solidFill>
                <a:latin typeface="DejaVu Sans"/>
              </a:rPr>
              <a:t>60.31%</a:t>
            </a:r>
            <a:r>
              <a:rPr sz="900" b="0" i="0">
                <a:solidFill>
                  <a:srgbClr val="21295C"/>
                </a:solidFill>
                <a:latin typeface="DejaVu Sans"/>
              </a:rPr>
              <a:t> are approved automatically. Rollbacks are </a:t>
            </a:r>
            <a:r>
              <a:rPr sz="900" b="1" i="0">
                <a:solidFill>
                  <a:srgbClr val="21295C"/>
                </a:solidFill>
                <a:latin typeface="DejaVu Sans"/>
              </a:rPr>
              <a:t>three times rarer</a:t>
            </a:r>
            <a:r>
              <a:rPr sz="900" b="0" i="0">
                <a:solidFill>
                  <a:srgbClr val="21295C"/>
                </a:solidFill>
                <a:latin typeface="DejaVu Sans"/>
              </a:rPr>
              <a:t>, production incidents </a:t>
            </a:r>
            <a:r>
              <a:rPr sz="900" b="1" i="0">
                <a:solidFill>
                  <a:srgbClr val="21295C"/>
                </a:solidFill>
                <a:latin typeface="DejaVu Sans"/>
              </a:rPr>
              <a:t>50 times rarer</a:t>
            </a:r>
            <a:r>
              <a:rPr sz="900" b="0" i="0">
                <a:solidFill>
                  <a:srgbClr val="21295C"/>
                </a:solidFill>
                <a:latin typeface="DejaVu Sans"/>
              </a:rPr>
              <a:t>, than on the ordinary path (535,000 changes).</a:t>
            </a:r>
          </a:p>
        </p:txBody>
      </p:sp>
      <p:sp>
        <p:nvSpPr>
          <p:cNvPr id="43" name="Rounded Rectangle 42"/>
          <p:cNvSpPr/>
          <p:nvPr/>
        </p:nvSpPr>
        <p:spPr>
          <a:xfrm>
            <a:off x="502920" y="5264396"/>
            <a:ext cx="1152144" cy="11496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64396"/>
            <a:ext cx="1060704" cy="11496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5" name="Rounded Rectangle 44"/>
          <p:cNvSpPr/>
          <p:nvPr/>
        </p:nvSpPr>
        <p:spPr>
          <a:xfrm>
            <a:off x="1801368" y="5264396"/>
            <a:ext cx="9902952" cy="11496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55836"/>
            <a:ext cx="9537192" cy="9668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"The operator has not corrected anything in ages" is not evidence: </a:t>
            </a:r>
            <a:r>
              <a:rPr sz="1000" b="1" i="0">
                <a:solidFill>
                  <a:srgbClr val="21295C"/>
                </a:solidFill>
                <a:latin typeface="DejaVu Sans"/>
              </a:rPr>
              <a:t>an absence of remarks is an absence of measurement.</a:t>
            </a:r>
            <a:r>
              <a:rPr sz="1000" b="1" i="0">
                <a:solidFill>
                  <a:srgbClr val="21295C"/>
                </a:solidFill>
                <a:latin typeface="DejaVu Sans"/>
              </a:rPr>
              <a:t> Automatic approval rests on </a:t>
            </a:r>
            <a:r>
              <a:rPr sz="1000" b="1" i="0">
                <a:solidFill>
                  <a:srgbClr val="21295C"/>
                </a:solidFill>
                <a:latin typeface="DejaVu Sans"/>
              </a:rPr>
              <a:t>a deterministic check at the end of the chain</a:t>
            </a:r>
            <a:r>
              <a:rPr sz="1000" b="1" i="0">
                <a:solidFill>
                  <a:srgbClr val="21295C"/>
                </a:solidFill>
                <a:latin typeface="DejaVu Sans"/>
              </a:rPr>
              <a:t>; merging on the verdict of an AI reviewer removes the only control there is. And the irreversible and the expensive are never raised to the top level: a binding offer to a customer, the deletion of working data, a release to everyone at once — those sit behind a hard rule placed above the model.</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Aishwarya Reganti (Amazon) and Kiriti Badam (OpenAI), 19 August 2025 — a review of more than 50 deployments · Meta RADAR, arXiv 2605.30208: 535,000 changes, the risk threshold moved from the 25th to the 50th percentile</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A check that has never had a defect planted in it on purpose counts as broken</a:t>
            </a:r>
          </a:p>
        </p:txBody>
      </p:sp>
      <p:sp>
        <p:nvSpPr>
          <p:cNvPr id="3" name="Rounded Rectangle 2"/>
          <p:cNvSpPr/>
          <p:nvPr/>
        </p:nvSpPr>
        <p:spPr>
          <a:xfrm>
            <a:off x="502920" y="825525"/>
            <a:ext cx="1152144" cy="1037097"/>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370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1037097"/>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54217"/>
          </a:xfrm>
          <a:prstGeom prst="rect">
            <a:avLst/>
          </a:prstGeom>
          <a:noFill/>
        </p:spPr>
        <p:txBody>
          <a:bodyPr wrap="square" lIns="0" rIns="0" tIns="0" bIns="0" anchor="ctr">
            <a:spAutoFit/>
          </a:bodyPr>
          <a:lstStyle/>
          <a:p>
            <a:pPr algn="l">
              <a:lnSpc>
                <a:spcPct val="114000"/>
              </a:lnSpc>
            </a:pPr>
            <a:r>
              <a:rPr sz="1080" b="1" i="0">
                <a:solidFill>
                  <a:srgbClr val="21295C"/>
                </a:solidFill>
                <a:latin typeface="DejaVu Sans"/>
              </a:rPr>
              <a:t>Mutation testing</a:t>
            </a:r>
            <a:r>
              <a:rPr sz="1080" b="0" i="0">
                <a:solidFill>
                  <a:srgbClr val="21295C"/>
                </a:solidFill>
                <a:latin typeface="DejaVu Sans"/>
              </a:rPr>
              <a:t> — a small error (a "mutant") is put into the code on purpose and you watch whether any check fails. The share of mutants killed tells you whether the checks catch anything; coverage answers another question — was the line touched by the run. With AI the same practice is pointed at everything that constrains it: </a:t>
            </a:r>
            <a:r>
              <a:rPr sz="1080" b="1" i="0">
                <a:solidFill>
                  <a:srgbClr val="21295C"/>
                </a:solidFill>
                <a:latin typeface="DejaVu Sans"/>
              </a:rPr>
              <a:t>the golden set, the agent instructions file, a rule in the pipeline</a:t>
            </a:r>
            <a:r>
              <a:rPr sz="1080" b="0" i="0">
                <a:solidFill>
                  <a:srgbClr val="21295C"/>
                </a:solidFill>
                <a:latin typeface="DejaVu Sans"/>
              </a:rPr>
              <a:t>.</a:t>
            </a:r>
          </a:p>
        </p:txBody>
      </p:sp>
      <p:sp>
        <p:nvSpPr>
          <p:cNvPr id="7" name="Rounded Rectangle 6"/>
          <p:cNvSpPr/>
          <p:nvPr/>
        </p:nvSpPr>
        <p:spPr>
          <a:xfrm>
            <a:off x="502920" y="1926631"/>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6631"/>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926631"/>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317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317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18071"/>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Name the check you rely on, and </a:t>
            </a:r>
            <a:r>
              <a:rPr sz="980" b="1" i="0">
                <a:solidFill>
                  <a:srgbClr val="065A82"/>
                </a:solidFill>
                <a:latin typeface="DejaVu Sans"/>
              </a:rPr>
              <a:t>the class of errors it is obliged to catch</a:t>
            </a:r>
            <a:r>
              <a:rPr sz="980" b="0" i="0">
                <a:solidFill>
                  <a:srgbClr val="21295C"/>
                </a:solidFill>
                <a:latin typeface="DejaVu Sans"/>
              </a:rPr>
              <a:t>.</a:t>
            </a:r>
          </a:p>
        </p:txBody>
      </p:sp>
      <p:sp>
        <p:nvSpPr>
          <p:cNvPr id="13" name="Oval 12"/>
          <p:cNvSpPr/>
          <p:nvPr/>
        </p:nvSpPr>
        <p:spPr>
          <a:xfrm>
            <a:off x="1984248" y="24678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678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54130"/>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Put an error of that class in </a:t>
            </a:r>
            <a:r>
              <a:rPr sz="980" b="1" i="0">
                <a:solidFill>
                  <a:srgbClr val="065A82"/>
                </a:solidFill>
                <a:latin typeface="DejaVu Sans"/>
              </a:rPr>
              <a:t>on purpose</a:t>
            </a:r>
            <a:r>
              <a:rPr sz="980" b="0" i="0">
                <a:solidFill>
                  <a:srgbClr val="21295C"/>
                </a:solidFill>
                <a:latin typeface="DejaVu Sans"/>
              </a:rPr>
              <a:t> — one, small, in one place.</a:t>
            </a:r>
          </a:p>
        </p:txBody>
      </p:sp>
      <p:sp>
        <p:nvSpPr>
          <p:cNvPr id="16" name="Oval 15"/>
          <p:cNvSpPr/>
          <p:nvPr/>
        </p:nvSpPr>
        <p:spPr>
          <a:xfrm>
            <a:off x="1984248" y="290390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0390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890188"/>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Run the check. </a:t>
            </a:r>
            <a:r>
              <a:rPr sz="980" b="1" i="0">
                <a:solidFill>
                  <a:srgbClr val="065A82"/>
                </a:solidFill>
                <a:latin typeface="DejaVu Sans"/>
              </a:rPr>
              <a:t>Silence means there is no check</a:t>
            </a:r>
            <a:r>
              <a:rPr sz="980" b="0" i="0">
                <a:solidFill>
                  <a:srgbClr val="21295C"/>
                </a:solidFill>
                <a:latin typeface="DejaVu Sans"/>
              </a:rPr>
              <a:t>: it does not tell the sound from the spoilt.</a:t>
            </a:r>
          </a:p>
        </p:txBody>
      </p:sp>
      <p:sp>
        <p:nvSpPr>
          <p:cNvPr id="19" name="Oval 18"/>
          <p:cNvSpPr/>
          <p:nvPr/>
        </p:nvSpPr>
        <p:spPr>
          <a:xfrm>
            <a:off x="1984248" y="33399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3399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26247"/>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Record the share caught </a:t>
            </a:r>
            <a:r>
              <a:rPr sz="980" b="1" i="0">
                <a:solidFill>
                  <a:srgbClr val="065A82"/>
                </a:solidFill>
                <a:latin typeface="DejaVu Sans"/>
              </a:rPr>
              <a:t>as a number</a:t>
            </a:r>
            <a:r>
              <a:rPr sz="980" b="0" i="0">
                <a:solidFill>
                  <a:srgbClr val="21295C"/>
                </a:solidFill>
                <a:latin typeface="DejaVu Sans"/>
              </a:rPr>
              <a:t> and remeasure after every edit to the check: checks go stale quietly.</a:t>
            </a:r>
          </a:p>
        </p:txBody>
      </p:sp>
      <p:sp>
        <p:nvSpPr>
          <p:cNvPr id="22" name="TextBox 21"/>
          <p:cNvSpPr txBox="1"/>
          <p:nvPr/>
        </p:nvSpPr>
        <p:spPr>
          <a:xfrm>
            <a:off x="7589520" y="2018071"/>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The same practice on three checks</a:t>
            </a:r>
          </a:p>
        </p:txBody>
      </p:sp>
      <p:sp>
        <p:nvSpPr>
          <p:cNvPr id="23" name="Rounded Rectangle 22"/>
          <p:cNvSpPr/>
          <p:nvPr/>
        </p:nvSpPr>
        <p:spPr>
          <a:xfrm>
            <a:off x="7589520" y="2420407"/>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420407"/>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Unit tests</a:t>
            </a:r>
          </a:p>
        </p:txBody>
      </p:sp>
      <p:sp>
        <p:nvSpPr>
          <p:cNvPr id="25" name="TextBox 24"/>
          <p:cNvSpPr txBox="1"/>
          <p:nvPr/>
        </p:nvSpPr>
        <p:spPr>
          <a:xfrm>
            <a:off x="9555480" y="2420407"/>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flip a condition</a:t>
            </a:r>
          </a:p>
        </p:txBody>
      </p:sp>
      <p:sp>
        <p:nvSpPr>
          <p:cNvPr id="26" name="Rounded Rectangle 25"/>
          <p:cNvSpPr/>
          <p:nvPr/>
        </p:nvSpPr>
        <p:spPr>
          <a:xfrm>
            <a:off x="7589520" y="2932471"/>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932471"/>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The golden set</a:t>
            </a:r>
          </a:p>
        </p:txBody>
      </p:sp>
      <p:sp>
        <p:nvSpPr>
          <p:cNvPr id="28" name="TextBox 27"/>
          <p:cNvSpPr txBox="1"/>
          <p:nvPr/>
        </p:nvSpPr>
        <p:spPr>
          <a:xfrm>
            <a:off x="9555480" y="2932471"/>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swap the answer for</a:t>
            </a:r>
          </a:p>
          <a:p>
            <a:pPr algn="r">
              <a:lnSpc>
                <a:spcPct val="106000"/>
              </a:lnSpc>
            </a:pPr>
            <a:r>
              <a:rPr sz="940" b="1" i="0">
                <a:solidFill>
                  <a:srgbClr val="21295C"/>
                </a:solidFill>
                <a:latin typeface="DejaVu Sans"/>
              </a:rPr>
              <a:t>a nearly right one</a:t>
            </a:r>
          </a:p>
        </p:txBody>
      </p:sp>
      <p:sp>
        <p:nvSpPr>
          <p:cNvPr id="29" name="Rounded Rectangle 28"/>
          <p:cNvSpPr/>
          <p:nvPr/>
        </p:nvSpPr>
        <p:spPr>
          <a:xfrm>
            <a:off x="7589520" y="3444535"/>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444535"/>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The agent</a:t>
            </a:r>
          </a:p>
          <a:p>
            <a:pPr algn="l">
              <a:lnSpc>
                <a:spcPct val="106000"/>
              </a:lnSpc>
            </a:pPr>
            <a:r>
              <a:rPr sz="940" b="0" i="0">
                <a:solidFill>
                  <a:srgbClr val="21295C"/>
                </a:solidFill>
                <a:latin typeface="DejaVu Sans"/>
              </a:rPr>
              <a:t>instructions file</a:t>
            </a:r>
          </a:p>
        </p:txBody>
      </p:sp>
      <p:sp>
        <p:nvSpPr>
          <p:cNvPr id="31" name="TextBox 30"/>
          <p:cNvSpPr txBox="1"/>
          <p:nvPr/>
        </p:nvSpPr>
        <p:spPr>
          <a:xfrm>
            <a:off x="9555480" y="3444535"/>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a task where breaking</a:t>
            </a:r>
          </a:p>
          <a:p>
            <a:pPr algn="r">
              <a:lnSpc>
                <a:spcPct val="106000"/>
              </a:lnSpc>
            </a:pPr>
            <a:r>
              <a:rPr sz="940" b="1" i="0">
                <a:solidFill>
                  <a:srgbClr val="028090"/>
                </a:solidFill>
                <a:latin typeface="DejaVu Sans"/>
              </a:rPr>
              <a:t>the rule is shorter</a:t>
            </a:r>
          </a:p>
        </p:txBody>
      </p:sp>
      <p:sp>
        <p:nvSpPr>
          <p:cNvPr id="32" name="TextBox 31"/>
          <p:cNvSpPr txBox="1"/>
          <p:nvPr/>
        </p:nvSpPr>
        <p:spPr>
          <a:xfrm>
            <a:off x="7589520" y="3956599"/>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silence in answer to a planted defect is what having no check means</a:t>
            </a:r>
          </a:p>
        </p:txBody>
      </p:sp>
      <p:sp>
        <p:nvSpPr>
          <p:cNvPr id="33" name="Rounded Rectangle 32"/>
          <p:cNvSpPr/>
          <p:nvPr/>
        </p:nvSpPr>
        <p:spPr>
          <a:xfrm>
            <a:off x="502920" y="4276639"/>
            <a:ext cx="1152144" cy="1049833"/>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76639"/>
            <a:ext cx="1060704" cy="104983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5" name="Rounded Rectangle 34"/>
          <p:cNvSpPr/>
          <p:nvPr/>
        </p:nvSpPr>
        <p:spPr>
          <a:xfrm>
            <a:off x="1801368" y="4276639"/>
            <a:ext cx="9902952" cy="104983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368079"/>
            <a:ext cx="4677156" cy="866953"/>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4137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the mutants come from a list of rules</a:t>
            </a:r>
          </a:p>
        </p:txBody>
      </p:sp>
      <p:sp>
        <p:nvSpPr>
          <p:cNvPr id="38" name="TextBox 37"/>
          <p:cNvSpPr txBox="1"/>
          <p:nvPr/>
        </p:nvSpPr>
        <p:spPr>
          <a:xfrm>
            <a:off x="2084831"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Flip a condition, shift a boundary, take out a call. The run is reproducible and there are tools for every language: PIT, mutmut, Cosmic Ray, Stryker.</a:t>
            </a:r>
          </a:p>
        </p:txBody>
      </p:sp>
      <p:sp>
        <p:nvSpPr>
          <p:cNvPr id="39" name="Rounded Rectangle 38"/>
          <p:cNvSpPr/>
          <p:nvPr/>
        </p:nvSpPr>
        <p:spPr>
          <a:xfrm>
            <a:off x="6844284" y="4368079"/>
            <a:ext cx="4677156" cy="866953"/>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4137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the model writes the mutants</a:t>
            </a:r>
          </a:p>
        </p:txBody>
      </p:sp>
      <p:sp>
        <p:nvSpPr>
          <p:cNvPr id="41" name="TextBox 40"/>
          <p:cNvSpPr txBox="1"/>
          <p:nvPr/>
        </p:nvSpPr>
        <p:spPr>
          <a:xfrm>
            <a:off x="6944868"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They sit closer to real errors: they find </a:t>
            </a:r>
            <a:r>
              <a:rPr sz="900" b="1" i="0">
                <a:solidFill>
                  <a:srgbClr val="21295C"/>
                </a:solidFill>
                <a:latin typeface="DejaVu Sans"/>
              </a:rPr>
              <a:t>76.5%</a:t>
            </a:r>
            <a:r>
              <a:rPr sz="900" b="0" i="0">
                <a:solidFill>
                  <a:srgbClr val="21295C"/>
                </a:solidFill>
                <a:latin typeface="DejaVu Sans"/>
              </a:rPr>
              <a:t> of real defects against </a:t>
            </a:r>
            <a:r>
              <a:rPr sz="900" b="1" i="0">
                <a:solidFill>
                  <a:srgbClr val="21295C"/>
                </a:solidFill>
                <a:latin typeface="DejaVu Sans"/>
              </a:rPr>
              <a:t>44.2%</a:t>
            </a:r>
            <a:r>
              <a:rPr sz="900" b="0" i="0">
                <a:solidFill>
                  <a:srgbClr val="21295C"/>
                </a:solidFill>
                <a:latin typeface="DejaVu Sans"/>
              </a:rPr>
              <a:t> for the list of rules (851 defects). The price — about a third of them do not compile.</a:t>
            </a:r>
          </a:p>
        </p:txBody>
      </p:sp>
      <p:sp>
        <p:nvSpPr>
          <p:cNvPr id="42" name="Rounded Rectangle 41"/>
          <p:cNvSpPr/>
          <p:nvPr/>
        </p:nvSpPr>
        <p:spPr>
          <a:xfrm>
            <a:off x="502920" y="5390480"/>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90480"/>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4" name="Rounded Rectangle 43"/>
          <p:cNvSpPr/>
          <p:nvPr/>
        </p:nvSpPr>
        <p:spPr>
          <a:xfrm>
            <a:off x="1801368" y="5390480"/>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481920"/>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Some defects the practice cannot see by construction: of 357 real errors, </a:t>
            </a:r>
            <a:r>
              <a:rPr sz="980" b="1" i="0">
                <a:solidFill>
                  <a:srgbClr val="21295C"/>
                </a:solidFill>
                <a:latin typeface="DejaVu Sans"/>
              </a:rPr>
              <a:t>27% are not linked to any mutant</a:t>
            </a:r>
            <a:r>
              <a:rPr sz="980" b="1" i="0">
                <a:solidFill>
                  <a:srgbClr val="21295C"/>
                </a:solidFill>
                <a:latin typeface="DejaVu Sans"/>
              </a:rPr>
              <a:t> — wrong algorithms and code that should have been deleted. And the share killed spoils the same way coverage does: put a gate on it and easily killed mutants start breeding, while detection does not grow.</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A continuation of Lecture 4 §4.3 · mutants from a model against a list of rules: 76.5% against 44.2% on 851 real defects (arXiv 2406.09843) · 27% of defects with no linked mutant — Just et al., FSE 2014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Staged rollout and the rollback path — how to set the cost of an error in advance</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Something new is switched on gradually: first for a narrow circle, then wider. And the way to bring it all back is agreed in advance. </a:t>
            </a:r>
            <a:r>
              <a:rPr sz="1150" b="1" i="0">
                <a:solidFill>
                  <a:srgbClr val="21295C"/>
                </a:solidFill>
                <a:latin typeface="DejaVu Sans"/>
              </a:rPr>
              <a:t>The blast radius — how many people get hurt if the new thing turns out to be bad — is set by the team itself, before launch.</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Rollout stages</a:t>
            </a:r>
            <a:r>
              <a:rPr sz="1000" b="0" i="0">
                <a:solidFill>
                  <a:srgbClr val="21295C"/>
                </a:solidFill>
                <a:latin typeface="DejaVu Sans"/>
              </a:rPr>
              <a:t> — which shares of the audience, and in what order.</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Stop signal</a:t>
            </a:r>
            <a:r>
              <a:rPr sz="1000" b="0" i="0">
                <a:solidFill>
                  <a:srgbClr val="21295C"/>
                </a:solidFill>
                <a:latin typeface="DejaVu Sans"/>
              </a:rPr>
              <a:t> — what is watched at each stage and what degree of worsening halts the move forward; with no signal named in advance, "it got worse" is argued about endlessly.</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Rollback path</a:t>
            </a:r>
            <a:r>
              <a:rPr sz="1000" b="0" i="0">
                <a:solidFill>
                  <a:srgbClr val="21295C"/>
                </a:solidFill>
                <a:latin typeface="DejaVu Sans"/>
              </a:rPr>
              <a:t> — who takes the decision to go back, how long that takes, and whether anyone has checked that going back works at all.</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narrow circle</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small share</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part of the audience</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everyone</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rollback</a:t>
            </a:r>
          </a:p>
          <a:p>
            <a:pPr algn="ctr">
              <a:lnSpc>
                <a:spcPct val="104000"/>
              </a:lnSpc>
            </a:pPr>
            <a:r>
              <a:rPr sz="919" b="1" i="0">
                <a:solidFill>
                  <a:srgbClr val="F0AB00"/>
                </a:solidFill>
                <a:latin typeface="DejaVu Sans"/>
              </a:rPr>
              <a:t>path</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audience share grows in stages; the rollback path is written before launch</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the practice is several decades old</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Staged rollout and rollback were invented long before AI and are built exactly the same way. </a:t>
            </a:r>
            <a:r>
              <a:rPr sz="950" b="1" i="0">
                <a:solidFill>
                  <a:srgbClr val="21295C"/>
                </a:solidFill>
                <a:latin typeface="DejaVu Sans"/>
              </a:rPr>
              <a:t>There is nothing to invent again</a:t>
            </a:r>
            <a:r>
              <a:rPr sz="950" b="0" i="0">
                <a:solidFill>
                  <a:srgbClr val="21295C"/>
                </a:solidFill>
                <a:latin typeface="DejaVu Sans"/>
              </a:rPr>
              <a:t>, you take what is already there.</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only the speed of the stages changes</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An ordinary feature shows up in errors and latency at once; worsening answers show only at volume: every stage needs </a:t>
            </a:r>
            <a:r>
              <a:rPr sz="950" b="1" i="0">
                <a:solidFill>
                  <a:srgbClr val="21295C"/>
                </a:solidFill>
                <a:latin typeface="DejaVu Sans"/>
              </a:rPr>
              <a:t>hours of watching, not minutes</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A rollout limits the radius, but </a:t>
            </a:r>
            <a:r>
              <a:rPr sz="1100" b="1" i="0">
                <a:solidFill>
                  <a:srgbClr val="21295C"/>
                </a:solidFill>
                <a:latin typeface="DejaVu Sans"/>
              </a:rPr>
              <a:t>it does not replace the decision</a:t>
            </a:r>
            <a:r>
              <a:rPr sz="1100" b="1" i="0">
                <a:solidFill>
                  <a:srgbClr val="21295C"/>
                </a:solidFill>
                <a:latin typeface="DejaVu Sans"/>
              </a:rPr>
              <a:t>. A long pilot on a tiny share that keeps failing has hit the approach's ceiling; "a little more data" will not cure it. The opposite error is as real: </a:t>
            </a:r>
            <a:r>
              <a:rPr sz="1100" b="1" i="0">
                <a:solidFill>
                  <a:srgbClr val="21295C"/>
                </a:solidFill>
                <a:latin typeface="DejaVu Sans"/>
              </a:rPr>
              <a:t>maturity gives no right to skip the pilot</a:t>
            </a:r>
            <a:r>
              <a:rPr sz="1100" b="1" i="0">
                <a:solidFill>
                  <a:srgbClr val="21295C"/>
                </a:solidFill>
                <a:latin typeface="DejaVu Sans"/>
              </a:rPr>
              <a:t> — it raises the cost of skipping. And a rollback path written down but never tested stays an intention.</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Double the generation speed and you double the review queue — not the throughput</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generation</a:t>
            </a:r>
          </a:p>
          <a:p>
            <a:pPr algn="ctr">
              <a:lnSpc>
                <a:spcPct val="100000"/>
              </a:lnSpc>
            </a:pPr>
            <a:r>
              <a:rPr sz="1150" b="1" i="0">
                <a:solidFill>
                  <a:srgbClr val="21295C"/>
                </a:solidFill>
                <a:latin typeface="DejaVu Sans"/>
              </a:rPr>
              <a:t>cheap and fast</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verification</a:t>
            </a:r>
          </a:p>
          <a:p>
            <a:pPr algn="ctr">
              <a:lnSpc>
                <a:spcPct val="100000"/>
              </a:lnSpc>
            </a:pPr>
            <a:r>
              <a:rPr sz="1150" b="1" i="0">
                <a:solidFill>
                  <a:srgbClr val="21295C"/>
                </a:solidFill>
                <a:latin typeface="DejaVu Sans"/>
              </a:rPr>
              <a:t>hasn't sped up</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Generating plausible code — seconds; checking it — hasn't gotten faster.</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The 70% problem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A senior developer rethinks AI output and spends time reworking it.</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A junior ships a "house of cards made of code" that looks plausible but collapses under load.</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Shipping without an eval gate or a rollback plan isn't speed — it's a deferred cost: review doesn't scale alongside generation.</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in one step — skipping canary rollout entirely</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May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Rolled out to 100% of US search in one step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No eval gate. Users couldn't turn it off.</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the correct canary rollout (skipped)</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At 1% of traffic the pattern ("eat rocks" — a satirical Onion article; "glue on pizza" — a Reddit joke) would have surfaced within days in internal monitoring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Instead — public ridicule in front of 100% of the audience at once.</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(May 31,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"glue on pizza" / "eat rocks"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and IBM, 2021–2024: killing a pilot on 0.7% of the chain was right</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WHAT HAPPENED</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From late 2021 McDonald's and IBM tested voice order-taking at the drive-thru window: the customer speaks the order straight to the system, past the employee. It ran at about 100 restaurants out of nearly 13,800 in the US — 0.7% of the chain — for two and a half years. All that time clips of failures kept surfacing: bacon in ice cream, nine iced teas instead of one, orders mixed between adjacent lanes. In June 2024 the partnership ended. What was killed was the approach; the goal stayed — voice automation is still planned.</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of ≈13,800 US restaurants · 2.5-year pilot</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ANALYSIS</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The denominator is mandatory: "100 restaurants" without "of 13,800" reads as a large rollout; with it, as a narrow strip deliberately kept narrow</a:t>
            </a:r>
          </a:p>
          <a:p>
            <a:pPr algn="l">
              <a:lnSpc>
                <a:spcPct val="116000"/>
              </a:lnSpc>
            </a:pPr>
            <a:r>
              <a:rPr sz="1100" b="0" i="0">
                <a:solidFill>
                  <a:srgbClr val="21295C"/>
                </a:solidFill>
                <a:latin typeface="DejaVu Sans"/>
              </a:rPr>
              <a:t>• The ceiling here is plain: speech recognition in noise, across accents, with other voices around. More time does not move such a ceiling</a:t>
            </a:r>
          </a:p>
          <a:p>
            <a:pPr algn="l">
              <a:lnSpc>
                <a:spcPct val="116000"/>
              </a:lnSpc>
            </a:pPr>
            <a:r>
              <a:rPr sz="1100" b="0" i="0">
                <a:solidFill>
                  <a:srgbClr val="21295C"/>
                </a:solidFill>
                <a:latin typeface="DejaVu Sans"/>
              </a:rPr>
              <a:t>• A specific technical path was killed; the task stayed. Different decisions, and mixing them is costly</a:t>
            </a:r>
          </a:p>
          <a:p>
            <a:pPr algn="l">
              <a:lnSpc>
                <a:spcPct val="116000"/>
              </a:lnSpc>
            </a:pPr>
            <a:r>
              <a:rPr sz="1100" b="0" i="0">
                <a:solidFill>
                  <a:srgbClr val="21295C"/>
                </a:solidFill>
                <a:latin typeface="DejaVu Sans"/>
              </a:rPr>
              <a:t>• Mirror of the previous case: there the pilot was skipped, here it was run honestly and its signal was read</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signal was read right: a long pilot on a small share still failing in public means the approach has a ceiling; a data shortage is not the cause. That is the continue-or-kill gate working.</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(June 17, 2024) — McDonald's x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details of the pilot shutdown</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Measure — the arrow where AI lowered trust</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Measurement is where "looks good" hits the product hardest. Many are seeing the formal discipline of a product experiment for the first time.</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Randomization tells cause apart from coincidence</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random split</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Control</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Treatment</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the metric agreed on in advance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Controlled experiment (Kohavi): a hypothesis with a mechanism → randomization → a sample size fixed in advance → a decision.</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The teaching trap: "time on the support site" — good or bad? The metric's direction must be agreed before the test.</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Only random group splitting gives causation: the difference between Control and Treatment is caused by your change, not by season, advertising, or luck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TextBox 1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A/B testing (Bing 2012)</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Pre-registration: the decision is written down before the result is seen</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A short note made </a:t>
            </a:r>
            <a:r>
              <a:rPr sz="1150" b="1" i="0">
                <a:solidFill>
                  <a:srgbClr val="21295C"/>
                </a:solidFill>
                <a:latin typeface="DejaVu Sans"/>
              </a:rPr>
              <a:t>before</a:t>
            </a:r>
            <a:r>
              <a:rPr sz="1150" b="0" i="0">
                <a:solidFill>
                  <a:srgbClr val="21295C"/>
                </a:solidFill>
                <a:latin typeface="DejaVu Sans"/>
              </a:rPr>
              <a:t> the experiment is launched: what exactly we measure, what result counts as success, when we stop. The practice came from medicine — there the protocol is registered before patients are recruited, otherwise the journal will not take the paper.</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Four things are written down before launch:</a:t>
            </a:r>
            <a:r>
              <a:rPr sz="1000" b="0" i="0">
                <a:solidFill>
                  <a:srgbClr val="21295C"/>
                </a:solidFill>
                <a:latin typeface="DejaVu Sans"/>
              </a:rPr>
              <a:t> which quantity we take as the decision metric and which way it has to move; what we watch as a guardrail metric; what effect size counts as meaningful and how many observations it needs; under what condition we stop.</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The note is put where time is recorded</a:t>
            </a:r>
            <a:r>
              <a:rPr sz="1000" b="0" i="0">
                <a:solidFill>
                  <a:srgbClr val="21295C"/>
                </a:solidFill>
                <a:latin typeface="DejaVu Sans"/>
              </a:rPr>
              <a:t> — with a date and an author. The whole mechanism is in that: the timestamp stands earlier than the first result.</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After launch the note is not rewritten</a:t>
            </a:r>
            <a:r>
              <a:rPr sz="1000" b="0" i="0">
                <a:solidFill>
                  <a:srgbClr val="21295C"/>
                </a:solidFill>
                <a:latin typeface="DejaVu Sans"/>
              </a:rPr>
              <a:t> — the decision taken and its date are appended to it.</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note made</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first result</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the success criterion was written down earlier than the first result</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Three traps — stop on a lucky point, trawl through metrics, move the threshold — </a:t>
            </a:r>
            <a:r>
              <a:rPr sz="980" b="1" i="0">
                <a:solidFill>
                  <a:srgbClr val="065A82"/>
                </a:solidFill>
                <a:latin typeface="DejaVu Sans"/>
              </a:rPr>
              <a:t>every one of them needs the success criterion to be choosable after the result.</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the practice comes from medicine</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One decision metric, the sample size, the stopping rule — written down in advance. That is how clinical protocols and ordinary product experiments work.</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what has to be written down on top</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Randomise by user, not by request:</a:t>
            </a:r>
            <a:r>
              <a:rPr sz="950" b="0" i="0">
                <a:solidFill>
                  <a:srgbClr val="21295C"/>
                </a:solidFill>
                <a:latin typeface="DejaVu Sans"/>
              </a:rPr>
              <a:t> in a dialogue one person otherwise lands in both groups. And </a:t>
            </a:r>
            <a:r>
              <a:rPr sz="950" b="1" i="0">
                <a:solidFill>
                  <a:srgbClr val="21295C"/>
                </a:solidFill>
                <a:latin typeface="DejaVu Sans"/>
              </a:rPr>
              <a:t>several quantities at once</a:t>
            </a:r>
            <a:r>
              <a:rPr sz="950" b="0" i="0">
                <a:solidFill>
                  <a:srgbClr val="21295C"/>
                </a:solidFill>
                <a:latin typeface="DejaVu Sans"/>
              </a:rPr>
              <a:t>: a score for answer quality, the share of re-asks and edits, the cost of a contact.</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Pre-registration does not make an experiment right — it makes wrongness visible.</a:t>
            </a:r>
            <a:r>
              <a:rPr sz="1019" b="1" i="0">
                <a:solidFill>
                  <a:srgbClr val="21295C"/>
                </a:solidFill>
                <a:latin typeface="DejaVu Sans"/>
              </a:rPr>
              <a:t> It does not cure the novelty effect: that needs a separate group held back from the change. And it is powerless where there are physically not enough observations: the honest way out is to change the question or the method; the sample will not help here.</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over three months of waiting</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needed per group</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available per week</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Random assignment by user against assignment by request · the 31,200 per group calculation is illustrative</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eval loop: see that the answers have got worse before the user does</a:t>
            </a:r>
          </a:p>
        </p:txBody>
      </p:sp>
      <p:sp>
        <p:nvSpPr>
          <p:cNvPr id="3" name="Rounded Rectangle 2"/>
          <p:cNvSpPr/>
          <p:nvPr/>
        </p:nvSpPr>
        <p:spPr>
          <a:xfrm>
            <a:off x="502920" y="825525"/>
            <a:ext cx="1152144" cy="848356"/>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483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848356"/>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665476"/>
          </a:xfrm>
          <a:prstGeom prst="rect">
            <a:avLst/>
          </a:prstGeom>
          <a:noFill/>
        </p:spPr>
        <p:txBody>
          <a:bodyPr wrap="square" lIns="0" rIns="0" tIns="0" bIns="0" anchor="ctr">
            <a:spAutoFit/>
          </a:bodyPr>
          <a:lstStyle/>
          <a:p>
            <a:pPr algn="l">
              <a:lnSpc>
                <a:spcPct val="114000"/>
              </a:lnSpc>
            </a:pPr>
            <a:r>
              <a:rPr sz="1060" b="1" i="0">
                <a:solidFill>
                  <a:srgbClr val="21295C"/>
                </a:solidFill>
                <a:latin typeface="DejaVu Sans"/>
              </a:rPr>
              <a:t>An evaluation</a:t>
            </a:r>
            <a:r>
              <a:rPr sz="1060" b="0" i="0">
                <a:solidFill>
                  <a:srgbClr val="21295C"/>
                </a:solidFill>
                <a:latin typeface="DejaVu Sans"/>
              </a:rPr>
              <a:t> (an "eval") — a set of tasks with the desired answer written in advance, on which a model or agent is run. </a:t>
            </a:r>
            <a:r>
              <a:rPr sz="1060" b="1" i="0">
                <a:solidFill>
                  <a:srgbClr val="21295C"/>
                </a:solidFill>
                <a:latin typeface="DejaVu Sans"/>
              </a:rPr>
              <a:t>It is needed because answer quality changes with no code change:</a:t>
            </a:r>
            <a:r>
              <a:rPr sz="1060" b="0" i="0">
                <a:solidFill>
                  <a:srgbClr val="21295C"/>
                </a:solidFill>
                <a:latin typeface="DejaVu Sans"/>
              </a:rPr>
              <a:t> you switch the model version, a rule or a source — behaviour moves, while the code tests stay green and say nothing.</a:t>
            </a:r>
          </a:p>
        </p:txBody>
      </p:sp>
      <p:sp>
        <p:nvSpPr>
          <p:cNvPr id="7" name="Rounded Rectangle 6"/>
          <p:cNvSpPr/>
          <p:nvPr/>
        </p:nvSpPr>
        <p:spPr>
          <a:xfrm>
            <a:off x="502920" y="1737890"/>
            <a:ext cx="1152144" cy="21213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37890"/>
            <a:ext cx="1060704" cy="21213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737890"/>
            <a:ext cx="9902952" cy="2121384"/>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430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430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29330"/>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Before release</a:t>
            </a:r>
            <a:r>
              <a:rPr sz="940" b="0" i="0">
                <a:solidFill>
                  <a:srgbClr val="21295C"/>
                </a:solidFill>
                <a:latin typeface="DejaVu Sans"/>
              </a:rPr>
              <a:t> — a run against the curated golden set: reproducible, catches what has broken before.</a:t>
            </a:r>
          </a:p>
        </p:txBody>
      </p:sp>
      <p:sp>
        <p:nvSpPr>
          <p:cNvPr id="13" name="Oval 12"/>
          <p:cNvSpPr/>
          <p:nvPr/>
        </p:nvSpPr>
        <p:spPr>
          <a:xfrm>
            <a:off x="1984248" y="226586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6586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52144"/>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After release</a:t>
            </a:r>
            <a:r>
              <a:rPr sz="940" b="0" i="0">
                <a:solidFill>
                  <a:srgbClr val="21295C"/>
                </a:solidFill>
                <a:latin typeface="DejaVu Sans"/>
              </a:rPr>
              <a:t> — evaluation on live traffic: it opens up inputs the set never had, and behaviour over long chains.</a:t>
            </a:r>
          </a:p>
        </p:txBody>
      </p:sp>
      <p:sp>
        <p:nvSpPr>
          <p:cNvPr id="16" name="Oval 15"/>
          <p:cNvSpPr/>
          <p:nvPr/>
        </p:nvSpPr>
        <p:spPr>
          <a:xfrm>
            <a:off x="1984248" y="268867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8867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74958"/>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Closing</a:t>
            </a:r>
            <a:r>
              <a:rPr sz="940" b="0" i="0">
                <a:solidFill>
                  <a:srgbClr val="21295C"/>
                </a:solidFill>
                <a:latin typeface="DejaVu Sans"/>
              </a:rPr>
              <a:t> — a postmortem of a production failure adds a row to the golden set, and it stays there for good.</a:t>
            </a:r>
          </a:p>
        </p:txBody>
      </p:sp>
      <p:sp>
        <p:nvSpPr>
          <p:cNvPr id="19" name="Oval 18"/>
          <p:cNvSpPr/>
          <p:nvPr/>
        </p:nvSpPr>
        <p:spPr>
          <a:xfrm>
            <a:off x="1984248" y="31114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114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97771"/>
            <a:ext cx="5020056" cy="670062"/>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What it is run with:</a:t>
            </a:r>
            <a:r>
              <a:rPr sz="940" b="0" i="0">
                <a:solidFill>
                  <a:srgbClr val="21295C"/>
                </a:solidFill>
                <a:latin typeface="DejaVu Sans"/>
              </a:rPr>
              <a:t> promptfoo drops the build by return code when the pass rate is below threshold; DeepEval — an ordinary test run with a minimum score per metric; Braintrust and Langfuse compare versions and block a merge on a drop.</a:t>
            </a:r>
          </a:p>
        </p:txBody>
      </p:sp>
      <p:sp>
        <p:nvSpPr>
          <p:cNvPr id="22" name="Rounded Rectangle 21"/>
          <p:cNvSpPr/>
          <p:nvPr/>
        </p:nvSpPr>
        <p:spPr>
          <a:xfrm>
            <a:off x="7589520" y="1829330"/>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4384" y="1829330"/>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the golden</a:t>
            </a:r>
          </a:p>
          <a:p>
            <a:pPr algn="ctr">
              <a:lnSpc>
                <a:spcPct val="104000"/>
              </a:lnSpc>
            </a:pPr>
            <a:r>
              <a:rPr sz="940" b="1" i="0">
                <a:solidFill>
                  <a:srgbClr val="065A82"/>
                </a:solidFill>
                <a:latin typeface="DejaVu Sans"/>
              </a:rPr>
              <a:t>set</a:t>
            </a:r>
          </a:p>
        </p:txBody>
      </p:sp>
      <p:sp>
        <p:nvSpPr>
          <p:cNvPr id="24" name="Rounded Rectangle 23"/>
          <p:cNvSpPr/>
          <p:nvPr/>
        </p:nvSpPr>
        <p:spPr>
          <a:xfrm>
            <a:off x="9948672" y="1829330"/>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3536" y="1829330"/>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release</a:t>
            </a:r>
          </a:p>
        </p:txBody>
      </p:sp>
      <p:sp>
        <p:nvSpPr>
          <p:cNvPr id="26" name="Rounded Rectangle 25"/>
          <p:cNvSpPr/>
          <p:nvPr/>
        </p:nvSpPr>
        <p:spPr>
          <a:xfrm>
            <a:off x="9948672" y="2743730"/>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03536" y="2743730"/>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live traffic</a:t>
            </a:r>
          </a:p>
        </p:txBody>
      </p:sp>
      <p:sp>
        <p:nvSpPr>
          <p:cNvPr id="28" name="Rounded Rectangle 27"/>
          <p:cNvSpPr/>
          <p:nvPr/>
        </p:nvSpPr>
        <p:spPr>
          <a:xfrm>
            <a:off x="7589520" y="2743730"/>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44384" y="2743730"/>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postmortem</a:t>
            </a:r>
          </a:p>
        </p:txBody>
      </p:sp>
      <p:cxnSp>
        <p:nvCxnSpPr>
          <p:cNvPr id="30" name="Connector 29"/>
          <p:cNvCxnSpPr/>
          <p:nvPr/>
        </p:nvCxnSpPr>
        <p:spPr>
          <a:xfrm>
            <a:off x="9162288" y="2048786"/>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35056" y="2268242"/>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62288" y="2963186"/>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375904" y="2268242"/>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589520" y="3255794"/>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the gold arrow is what makes the loop a loop: a postmortem adds a row to the golden set — without that step there is no loop, only a report</a:t>
            </a:r>
          </a:p>
        </p:txBody>
      </p:sp>
      <p:sp>
        <p:nvSpPr>
          <p:cNvPr id="35" name="Rounded Rectangle 34"/>
          <p:cNvSpPr/>
          <p:nvPr/>
        </p:nvSpPr>
        <p:spPr>
          <a:xfrm>
            <a:off x="502920" y="3923282"/>
            <a:ext cx="1152144" cy="119495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923282"/>
            <a:ext cx="1060704" cy="11949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7" name="Rounded Rectangle 36"/>
          <p:cNvSpPr/>
          <p:nvPr/>
        </p:nvSpPr>
        <p:spPr>
          <a:xfrm>
            <a:off x="1801368" y="3923282"/>
            <a:ext cx="9902952" cy="11949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984248" y="4014722"/>
            <a:ext cx="4677156" cy="1012072"/>
          </a:xfrm>
          <a:prstGeom prst="roundRect">
            <a:avLst>
              <a:gd name="adj" fmla="val 1756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1" y="406044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a suite of code tests</a:t>
            </a:r>
          </a:p>
        </p:txBody>
      </p:sp>
      <p:sp>
        <p:nvSpPr>
          <p:cNvPr id="40" name="TextBox 39"/>
          <p:cNvSpPr txBox="1"/>
          <p:nvPr/>
        </p:nvSpPr>
        <p:spPr>
          <a:xfrm>
            <a:off x="2084831" y="4289042"/>
            <a:ext cx="4475988" cy="682888"/>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The answer is known character by character, the run is reproducible, the result is "passed" or "failed".</a:t>
            </a:r>
          </a:p>
        </p:txBody>
      </p:sp>
      <p:sp>
        <p:nvSpPr>
          <p:cNvPr id="41" name="Rounded Rectangle 40"/>
          <p:cNvSpPr/>
          <p:nvPr/>
        </p:nvSpPr>
        <p:spPr>
          <a:xfrm>
            <a:off x="6844284" y="4014722"/>
            <a:ext cx="4677156" cy="1012072"/>
          </a:xfrm>
          <a:prstGeom prst="roundRect">
            <a:avLst>
              <a:gd name="adj" fmla="val 1756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868" y="406044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three different roles for the AI itself</a:t>
            </a:r>
          </a:p>
        </p:txBody>
      </p:sp>
      <p:sp>
        <p:nvSpPr>
          <p:cNvPr id="43" name="TextBox 42"/>
          <p:cNvSpPr txBox="1"/>
          <p:nvPr/>
        </p:nvSpPr>
        <p:spPr>
          <a:xfrm>
            <a:off x="6944868" y="4289042"/>
            <a:ext cx="4475988" cy="682888"/>
          </a:xfrm>
          <a:prstGeom prst="rect">
            <a:avLst/>
          </a:prstGeom>
          <a:noFill/>
        </p:spPr>
        <p:txBody>
          <a:bodyPr wrap="square" lIns="0" rIns="0" tIns="0" bIns="0" anchor="t">
            <a:spAutoFit/>
          </a:bodyPr>
          <a:lstStyle/>
          <a:p>
            <a:pPr algn="l">
              <a:lnSpc>
                <a:spcPct val="112000"/>
              </a:lnSpc>
            </a:pPr>
            <a:r>
              <a:rPr sz="900" b="1" i="0">
                <a:solidFill>
                  <a:srgbClr val="21295C"/>
                </a:solidFill>
                <a:latin typeface="DejaVu Sans"/>
              </a:rPr>
              <a:t>The subject of evaluation</a:t>
            </a:r>
            <a:r>
              <a:rPr sz="900" b="0" i="0">
                <a:solidFill>
                  <a:srgbClr val="21295C"/>
                </a:solidFill>
                <a:latin typeface="DejaVu Sans"/>
              </a:rPr>
              <a:t> — what gets checked. </a:t>
            </a:r>
            <a:r>
              <a:rPr sz="900" b="1" i="0">
                <a:solidFill>
                  <a:srgbClr val="21295C"/>
                </a:solidFill>
                <a:latin typeface="DejaVu Sans"/>
              </a:rPr>
              <a:t>The measuring instrument</a:t>
            </a:r>
            <a:r>
              <a:rPr sz="900" b="0" i="0">
                <a:solidFill>
                  <a:srgbClr val="21295C"/>
                </a:solidFill>
                <a:latin typeface="DejaVu Sans"/>
              </a:rPr>
              <a:t> — an LLM-as-judge scores by a written rule. </a:t>
            </a:r>
            <a:r>
              <a:rPr sz="900" b="1" i="0">
                <a:solidFill>
                  <a:srgbClr val="21295C"/>
                </a:solidFill>
                <a:latin typeface="DejaVu Sans"/>
              </a:rPr>
              <a:t>The supplier of cases</a:t>
            </a:r>
            <a:r>
              <a:rPr sz="900" b="0" i="0">
                <a:solidFill>
                  <a:srgbClr val="21295C"/>
                </a:solidFill>
                <a:latin typeface="DejaVu Sans"/>
              </a:rPr>
              <a:t> — labels live traffic and proposes additions. A human decides what a good answer is.</a:t>
            </a:r>
          </a:p>
        </p:txBody>
      </p:sp>
      <p:sp>
        <p:nvSpPr>
          <p:cNvPr id="44" name="Rounded Rectangle 43"/>
          <p:cNvSpPr/>
          <p:nvPr/>
        </p:nvSpPr>
        <p:spPr>
          <a:xfrm>
            <a:off x="502920" y="5182243"/>
            <a:ext cx="1152144" cy="97087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182243"/>
            <a:ext cx="1060704" cy="97087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6" name="Rounded Rectangle 45"/>
          <p:cNvSpPr/>
          <p:nvPr/>
        </p:nvSpPr>
        <p:spPr>
          <a:xfrm>
            <a:off x="1801368" y="5182243"/>
            <a:ext cx="9902952" cy="97087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273683"/>
            <a:ext cx="9537192" cy="787992"/>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An LLM-as-judge agrees with a human 80–90% of the time where the preference is obvious, and falls to 60–65% as soon as the answers are close or are swapped round</a:t>
            </a:r>
            <a:r>
              <a:rPr sz="980" b="1" i="0">
                <a:solidFill>
                  <a:srgbClr val="21295C"/>
                </a:solidFill>
                <a:latin typeface="DejaVu Sans"/>
              </a:rPr>
              <a:t> — it is least reliable exactly where the cost of an error is highest. The corrections: shuffle the order of the answers, take a judge from a different family. An experiment on live users costs more and is not replaced by evals.</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The three-layer framework — Hamel Husain, author of the piece "Your AI Product Needs Evals" · agreement of an LLM-as-judge with a human: 80–90% where the preference is explicit, 60–65% with ties and with the order swapped</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boat circles the lagoon racking up points — but never finishes</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An RL agent in a boat race scored 20% more points than human players — by circling a lagoon collecting bonuses, never finishing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It optimized the proxy, not the real goal.</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Goodhart's law: when a measure becomes a target, it ceases to be a good measure.</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a model generalized from sycophancy to directly editing its own reward function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What stays: OEC discipline, guardrail metrics, Twyman's law — a suspiciously perfect score is now more likely a bug than a breakthrough.</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Reward hacking: the model finds a way to "win" the proxy metric without achieving the intended outcome — so a measure and a target must never be confused.</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(Apr 21,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All 5 reactions were weighted equally at ×5 — not just "anger"</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January 2018: love/haha/wow/sad/angry — all ×5 above a like (not just anger)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An engagement proxy with no misinformation guardrail hid the harm for ~2 years: an internal guardrail (anger &lt;-&gt; misinformation correlation) confirmed by 2019, weight zeroed in September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Lesson: measure the guardrail metric from day one, not after the harm has already happened.</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(Oct 28, 2021) — correcting the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the Haugen documents</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benchmark score is evidence only of its own format</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A benchmark is a standard set of tasks on which models are compared</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CASE 1. MEDICINE</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on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Google shows Med-PaLM 2, a model for medical questions. On MedQA (questions in the format of a medical licensing exam, with four ready answer choices) it scores 86.5% and makes headlines as "doctor-level AI". Meanwhile Google's own researchers separately build a harder set of 240 adversarial questions — an exam with ready choices does not surface clinical-safety failures in open dialogue, where the patient offers no choices.</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CASE 2. LAW</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fabricated citations</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fabricated citations</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A lawyer files a brief citing six entirely fabricated court cases — Mata v. Avianca. ChatGPT generated them; the legal service Harvey had nothing to do with it — a common attribution mistake. Stanford RegLab then tests the legal tools themselves on real queries: the most accurate one fabricates citations in about one query in six, the second twice as often, despite a "hallucination-free" promise.</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ANALYSIS   </a:t>
            </a:r>
            <a:r>
              <a:rPr sz="1150" b="0" i="0">
                <a:solidFill>
                  <a:srgbClr val="21295C"/>
                </a:solidFill>
                <a:latin typeface="DejaVu Sans"/>
              </a:rPr>
              <a:t>The score is measured on a narrow task format and does not carry over to the user's real task. A benchmark is not useless — it compares versions of one model fairly. The trouble starts where a written-exam score is offered as proof of readiness to treat a patient.</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By 2026 saturation has been added to the format gap. On MMLU (Massive Multitask Language Understanding, a combined set of 57 subjects) frontier models sit in a narrow band of 89–92% — the score can no longer tell them apart. Worse: 6.5% of the set's own questions carry an error in the reference answer, and in the virology section 57%. A safety claim resting on a benchmark alone is unsupported: it needs an adversarial check on the task the product solves.</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Support — the product as an orchestra</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3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Between "the code works on my machine" and "the product reliably works for millions, 24/7" lies a gap, and it's closed by process, not just code quality.</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Support holds quality in place: one half is people, the other is the system</a:t>
            </a:r>
          </a:p>
        </p:txBody>
      </p:sp>
      <p:sp>
        <p:nvSpPr>
          <p:cNvPr id="3" name="Rounded Rectangle 2"/>
          <p:cNvSpPr/>
          <p:nvPr/>
        </p:nvSpPr>
        <p:spPr>
          <a:xfrm>
            <a:off x="502920" y="896112"/>
            <a:ext cx="11201400" cy="96926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WHAT SUPPORT IS.  </a:t>
            </a:r>
            <a:r>
              <a:rPr sz="1200" b="0" i="0">
                <a:solidFill>
                  <a:srgbClr val="21295C"/>
                </a:solidFill>
                <a:latin typeface="DejaVu Sans"/>
              </a:rPr>
              <a:t>After launch a product makes the same promise every day: an answer will come, it will be correct, and what breaks will be mended. Support is the work that holds that promise for years. The promise has two halves, and they are measured with different instruments: one you ask a person about, the other you read off the system.</a:t>
            </a:r>
          </a:p>
        </p:txBody>
      </p:sp>
      <p:sp>
        <p:nvSpPr>
          <p:cNvPr id="5" name="Rounded Rectangle 4"/>
          <p:cNvSpPr/>
          <p:nvPr/>
        </p:nvSpPr>
        <p:spPr>
          <a:xfrm>
            <a:off x="502920" y="1938528"/>
            <a:ext cx="5504688" cy="3310128"/>
          </a:xfrm>
          <a:prstGeom prst="roundRect">
            <a:avLst>
              <a:gd name="adj" fmla="val 9208"/>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938528"/>
            <a:ext cx="5504688" cy="420624"/>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white.png"/>
          <p:cNvPicPr>
            <a:picLocks noChangeAspect="1"/>
          </p:cNvPicPr>
          <p:nvPr/>
        </p:nvPicPr>
        <p:blipFill>
          <a:blip r:embed="rId2"/>
          <a:stretch>
            <a:fillRect/>
          </a:stretch>
        </p:blipFill>
        <p:spPr>
          <a:xfrm>
            <a:off x="649224" y="2029968"/>
            <a:ext cx="237744" cy="237744"/>
          </a:xfrm>
          <a:prstGeom prst="rect">
            <a:avLst/>
          </a:prstGeom>
        </p:spPr>
      </p:pic>
      <p:sp>
        <p:nvSpPr>
          <p:cNvPr id="8" name="TextBox 7"/>
          <p:cNvSpPr txBox="1"/>
          <p:nvPr/>
        </p:nvSpPr>
        <p:spPr>
          <a:xfrm>
            <a:off x="978408"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PEOPLE · the user's satisfaction with the product</a:t>
            </a:r>
          </a:p>
        </p:txBody>
      </p:sp>
      <p:sp>
        <p:nvSpPr>
          <p:cNvPr id="9" name="TextBox 8"/>
          <p:cNvSpPr txBox="1"/>
          <p:nvPr/>
        </p:nvSpPr>
        <p:spPr>
          <a:xfrm>
            <a:off x="685800"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half turned towards the person: questions, complaints, tickets, returns.</a:t>
            </a:r>
          </a:p>
        </p:txBody>
      </p:sp>
      <p:sp>
        <p:nvSpPr>
          <p:cNvPr id="10" name="TextBox 9"/>
          <p:cNvSpPr txBox="1"/>
          <p:nvPr/>
        </p:nvSpPr>
        <p:spPr>
          <a:xfrm>
            <a:off x="685800"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The discipline grew out of the help desk and the IT service management framework (ITIL).</a:t>
            </a:r>
          </a:p>
        </p:txBody>
      </p:sp>
      <p:sp>
        <p:nvSpPr>
          <p:cNvPr id="11" name="TextBox 10"/>
          <p:cNvSpPr txBox="1"/>
          <p:nvPr/>
        </p:nvSpPr>
        <p:spPr>
          <a:xfrm>
            <a:off x="685800" y="3456432"/>
            <a:ext cx="5138927" cy="237744"/>
          </a:xfrm>
          <a:prstGeom prst="rect">
            <a:avLst/>
          </a:prstGeom>
          <a:noFill/>
        </p:spPr>
        <p:txBody>
          <a:bodyPr wrap="square" lIns="0" rIns="0" tIns="0" bIns="0" anchor="t">
            <a:spAutoFit/>
          </a:bodyPr>
          <a:lstStyle/>
          <a:p>
            <a:pPr algn="l">
              <a:lnSpc>
                <a:spcPct val="104000"/>
              </a:lnSpc>
            </a:pPr>
            <a:r>
              <a:rPr sz="1000" b="1" i="0">
                <a:solidFill>
                  <a:srgbClr val="065A82"/>
                </a:solidFill>
                <a:latin typeface="DejaVu Sans"/>
              </a:rPr>
              <a:t>The measures are what the person sees</a:t>
            </a:r>
          </a:p>
        </p:txBody>
      </p:sp>
      <p:sp>
        <p:nvSpPr>
          <p:cNvPr id="12" name="Oval 11"/>
          <p:cNvSpPr/>
          <p:nvPr/>
        </p:nvSpPr>
        <p:spPr>
          <a:xfrm>
            <a:off x="704088"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the share of tickets closed on first contact</a:t>
            </a:r>
          </a:p>
        </p:txBody>
      </p:sp>
      <p:sp>
        <p:nvSpPr>
          <p:cNvPr id="14" name="Oval 13"/>
          <p:cNvSpPr/>
          <p:nvPr/>
        </p:nvSpPr>
        <p:spPr>
          <a:xfrm>
            <a:off x="704088"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time to first response and time to resolution</a:t>
            </a:r>
          </a:p>
        </p:txBody>
      </p:sp>
      <p:sp>
        <p:nvSpPr>
          <p:cNvPr id="16" name="Oval 15"/>
          <p:cNvSpPr/>
          <p:nvPr/>
        </p:nvSpPr>
        <p:spPr>
          <a:xfrm>
            <a:off x="704088"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the rating a person gives once a ticket is closed</a:t>
            </a:r>
          </a:p>
        </p:txBody>
      </p:sp>
      <p:sp>
        <p:nvSpPr>
          <p:cNvPr id="18" name="Rounded Rectangle 17"/>
          <p:cNvSpPr/>
          <p:nvPr/>
        </p:nvSpPr>
        <p:spPr>
          <a:xfrm>
            <a:off x="667512"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Where AI enters: a suggester at the agent's elbow, and a bot answering the customer on its own — the next slide.</a:t>
            </a:r>
          </a:p>
        </p:txBody>
      </p:sp>
      <p:sp>
        <p:nvSpPr>
          <p:cNvPr id="20" name="Rounded Rectangle 19"/>
          <p:cNvSpPr/>
          <p:nvPr/>
        </p:nvSpPr>
        <p:spPr>
          <a:xfrm>
            <a:off x="6199632" y="1938528"/>
            <a:ext cx="5504688" cy="3310128"/>
          </a:xfrm>
          <a:prstGeom prst="roundRect">
            <a:avLst>
              <a:gd name="adj" fmla="val 9208"/>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938528"/>
            <a:ext cx="5504688" cy="420624"/>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ivity-white.png"/>
          <p:cNvPicPr>
            <a:picLocks noChangeAspect="1"/>
          </p:cNvPicPr>
          <p:nvPr/>
        </p:nvPicPr>
        <p:blipFill>
          <a:blip r:embed="rId3"/>
          <a:stretch>
            <a:fillRect/>
          </a:stretch>
        </p:blipFill>
        <p:spPr>
          <a:xfrm>
            <a:off x="6345936" y="2029968"/>
            <a:ext cx="237744" cy="237744"/>
          </a:xfrm>
          <a:prstGeom prst="rect">
            <a:avLst/>
          </a:prstGeom>
        </p:spPr>
      </p:pic>
      <p:sp>
        <p:nvSpPr>
          <p:cNvPr id="23" name="TextBox 22"/>
          <p:cNvSpPr txBox="1"/>
          <p:nvPr/>
        </p:nvSpPr>
        <p:spPr>
          <a:xfrm>
            <a:off x="6675120"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SYSTEM · reliability</a:t>
            </a:r>
          </a:p>
        </p:txBody>
      </p:sp>
      <p:sp>
        <p:nvSpPr>
          <p:cNvPr id="24" name="TextBox 23"/>
          <p:cNvSpPr txBox="1"/>
          <p:nvPr/>
        </p:nvSpPr>
        <p:spPr>
          <a:xfrm>
            <a:off x="6382512"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half turned towards the machine: availability, latency, outages, deployments.</a:t>
            </a:r>
          </a:p>
        </p:txBody>
      </p:sp>
      <p:sp>
        <p:nvSpPr>
          <p:cNvPr id="25" name="TextBox 24"/>
          <p:cNvSpPr txBox="1"/>
          <p:nvPr/>
        </p:nvSpPr>
        <p:spPr>
          <a:xfrm>
            <a:off x="6382512"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The discipline was given its shape at Google and published as a book in 2016 — site reliability engineering (Site Reliability Engineering, SRE).</a:t>
            </a:r>
          </a:p>
        </p:txBody>
      </p:sp>
      <p:sp>
        <p:nvSpPr>
          <p:cNvPr id="26" name="TextBox 25"/>
          <p:cNvSpPr txBox="1"/>
          <p:nvPr/>
        </p:nvSpPr>
        <p:spPr>
          <a:xfrm>
            <a:off x="6382512" y="3456432"/>
            <a:ext cx="5138927" cy="237744"/>
          </a:xfrm>
          <a:prstGeom prst="rect">
            <a:avLst/>
          </a:prstGeom>
          <a:noFill/>
        </p:spPr>
        <p:txBody>
          <a:bodyPr wrap="square" lIns="0" rIns="0" tIns="0" bIns="0" anchor="t">
            <a:spAutoFit/>
          </a:bodyPr>
          <a:lstStyle/>
          <a:p>
            <a:pPr algn="l">
              <a:lnSpc>
                <a:spcPct val="104000"/>
              </a:lnSpc>
            </a:pPr>
            <a:r>
              <a:rPr sz="1000" b="1" i="0">
                <a:solidFill>
                  <a:srgbClr val="028090"/>
                </a:solidFill>
                <a:latin typeface="DejaVu Sans"/>
              </a:rPr>
              <a:t>The measures are what you read off the system</a:t>
            </a:r>
          </a:p>
        </p:txBody>
      </p:sp>
      <p:sp>
        <p:nvSpPr>
          <p:cNvPr id="27" name="Oval 26"/>
          <p:cNvSpPr/>
          <p:nvPr/>
        </p:nvSpPr>
        <p:spPr>
          <a:xfrm>
            <a:off x="6400800"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the share of requests served successfully</a:t>
            </a:r>
          </a:p>
        </p:txBody>
      </p:sp>
      <p:sp>
        <p:nvSpPr>
          <p:cNvPr id="29" name="Oval 28"/>
          <p:cNvSpPr/>
          <p:nvPr/>
        </p:nvSpPr>
        <p:spPr>
          <a:xfrm>
            <a:off x="6400800"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response latency</a:t>
            </a:r>
          </a:p>
        </p:txBody>
      </p:sp>
      <p:sp>
        <p:nvSpPr>
          <p:cNvPr id="31" name="Oval 30"/>
          <p:cNvSpPr/>
          <p:nvPr/>
        </p:nvSpPr>
        <p:spPr>
          <a:xfrm>
            <a:off x="6400800"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the error budget — how many failures are permissible in a period</a:t>
            </a:r>
          </a:p>
        </p:txBody>
      </p:sp>
      <p:sp>
        <p:nvSpPr>
          <p:cNvPr id="33" name="Rounded Rectangle 32"/>
          <p:cNvSpPr/>
          <p:nvPr/>
        </p:nvSpPr>
        <p:spPr>
          <a:xfrm>
            <a:off x="6364224"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Where AI enters: the object of observation, and an instrument of failure drills.</a:t>
            </a:r>
          </a:p>
        </p:txBody>
      </p:sp>
      <p:sp>
        <p:nvSpPr>
          <p:cNvPr id="35" name="Rounded Rectangle 34"/>
          <p:cNvSpPr/>
          <p:nvPr/>
        </p:nvSpPr>
        <p:spPr>
          <a:xfrm>
            <a:off x="502920" y="535838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6" y="5413248"/>
            <a:ext cx="10762488" cy="80467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The halves hold quality only together. A system that never fails but leaves a person unable to get an answer to their question loses the product's promise; attentive support on top of a service that keeps falling over loses it just the same. From here the section runs along both: reliability in numbers, AI in the work with people, and the failure drill that tests both.</a:t>
            </a:r>
          </a:p>
        </p:txBody>
      </p:sp>
      <p:sp>
        <p:nvSpPr>
          <p:cNvPr id="37" name="TextBox 3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Google — Site Reliability Engineering (O'Reilly, 2016)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Axelos — ITIL, the body of practice for IT service management</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909828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Error budget: the allowed number of failures, counted ahead</a:t>
            </a:r>
          </a:p>
        </p:txBody>
      </p:sp>
      <p:sp>
        <p:nvSpPr>
          <p:cNvPr id="3" name="Rounded Rectangle 2"/>
          <p:cNvSpPr/>
          <p:nvPr/>
        </p:nvSpPr>
        <p:spPr>
          <a:xfrm>
            <a:off x="9710928" y="201168"/>
            <a:ext cx="1993392" cy="36576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the "system" half</a:t>
            </a:r>
          </a:p>
        </p:txBody>
      </p:sp>
      <p:sp>
        <p:nvSpPr>
          <p:cNvPr id="4" name="Rounded Rectangle 3"/>
          <p:cNvSpPr/>
          <p:nvPr/>
        </p:nvSpPr>
        <p:spPr>
          <a:xfrm>
            <a:off x="502920" y="896112"/>
            <a:ext cx="11201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969264"/>
            <a:ext cx="10780776" cy="91440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WHY THIS WORK EXISTS.  </a:t>
            </a:r>
            <a:r>
              <a:rPr sz="1200" b="0" i="0">
                <a:solidFill>
                  <a:srgbClr val="21295C"/>
                </a:solidFill>
                <a:latin typeface="DejaVu Sans"/>
              </a:rPr>
              <a:t>Google attributes about 70% of the outages of a running system to the team's own changes: a deploy, a prompt edit, a model version change. The rest is split between hardware failures and external causes. So failures come from the work the team does every day, and their allowed number is worth agreeing in advance: otherwise "faster or more reliable" is settled after the incident, for whoever is louder.</a:t>
            </a:r>
          </a:p>
        </p:txBody>
      </p:sp>
      <p:sp>
        <p:nvSpPr>
          <p:cNvPr id="6" name="Rounded Rectangle 5"/>
          <p:cNvSpPr/>
          <p:nvPr/>
        </p:nvSpPr>
        <p:spPr>
          <a:xfrm>
            <a:off x="502920"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Service level indicator (SLI)</a:t>
            </a:r>
          </a:p>
        </p:txBody>
      </p:sp>
      <p:sp>
        <p:nvSpPr>
          <p:cNvPr id="8" name="TextBox 7"/>
          <p:cNvSpPr txBox="1"/>
          <p:nvPr/>
        </p:nvSpPr>
        <p:spPr>
          <a:xfrm>
            <a:off x="594360"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as the user sees it</a:t>
            </a:r>
          </a:p>
        </p:txBody>
      </p:sp>
      <p:sp>
        <p:nvSpPr>
          <p:cNvPr id="9" name="Right Arrow 8"/>
          <p:cNvSpPr/>
          <p:nvPr/>
        </p:nvSpPr>
        <p:spPr>
          <a:xfrm>
            <a:off x="2624327"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62072"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Service level objective (SLO)</a:t>
            </a:r>
          </a:p>
        </p:txBody>
      </p:sp>
      <p:sp>
        <p:nvSpPr>
          <p:cNvPr id="12" name="TextBox 11"/>
          <p:cNvSpPr txBox="1"/>
          <p:nvPr/>
        </p:nvSpPr>
        <p:spPr>
          <a:xfrm>
            <a:off x="2953512"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the team's bar: 99.9%</a:t>
            </a:r>
          </a:p>
        </p:txBody>
      </p:sp>
      <p:sp>
        <p:nvSpPr>
          <p:cNvPr id="13" name="Right Arrow 12"/>
          <p:cNvSpPr/>
          <p:nvPr/>
        </p:nvSpPr>
        <p:spPr>
          <a:xfrm>
            <a:off x="4983479"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21224" y="2084831"/>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Error budget</a:t>
            </a:r>
          </a:p>
        </p:txBody>
      </p:sp>
      <p:sp>
        <p:nvSpPr>
          <p:cNvPr id="16" name="TextBox 15"/>
          <p:cNvSpPr txBox="1"/>
          <p:nvPr/>
        </p:nvSpPr>
        <p:spPr>
          <a:xfrm>
            <a:off x="5312664"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left over: 1,000 errors</a:t>
            </a:r>
          </a:p>
        </p:txBody>
      </p:sp>
      <p:sp>
        <p:nvSpPr>
          <p:cNvPr id="17" name="TextBox 16"/>
          <p:cNvSpPr txBox="1"/>
          <p:nvPr/>
        </p:nvSpPr>
        <p:spPr>
          <a:xfrm>
            <a:off x="502920" y="3127248"/>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A 99.9% objective on a million requests in the period gives </a:t>
            </a:r>
            <a:r>
              <a:rPr sz="1200" b="1" i="0">
                <a:solidFill>
                  <a:srgbClr val="21295C"/>
                </a:solidFill>
                <a:latin typeface="DejaVu Sans"/>
              </a:rPr>
              <a:t>1,000 errors</a:t>
            </a:r>
            <a:r>
              <a:rPr sz="1200" b="0" i="0">
                <a:solidFill>
                  <a:srgbClr val="21295C"/>
                </a:solidFill>
                <a:latin typeface="DejaVu Sans"/>
              </a:rPr>
              <a:t> — what is left to spend.</a:t>
            </a:r>
          </a:p>
        </p:txBody>
      </p:sp>
      <p:sp>
        <p:nvSpPr>
          <p:cNvPr id="18" name="Rounded Rectangle 17"/>
          <p:cNvSpPr/>
          <p:nvPr/>
        </p:nvSpPr>
        <p:spPr>
          <a:xfrm>
            <a:off x="502920" y="3639312"/>
            <a:ext cx="6821424" cy="932688"/>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767328"/>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Rule: </a:t>
            </a:r>
            <a:r>
              <a:rPr sz="1150" b="0" i="0">
                <a:solidFill>
                  <a:srgbClr val="21295C"/>
                </a:solidFill>
                <a:latin typeface="DejaVu Sans"/>
              </a:rPr>
              <a:t>budget exhausted — shipping new features stops. The speed-versus-reliability conversation happens before the incident, and it has a basis that rhetoric cannot argue with.</a:t>
            </a:r>
          </a:p>
        </p:txBody>
      </p:sp>
      <p:sp>
        <p:nvSpPr>
          <p:cNvPr id="20" name="Rounded Rectangle 19"/>
          <p:cNvSpPr/>
          <p:nvPr/>
        </p:nvSpPr>
        <p:spPr>
          <a:xfrm>
            <a:off x="7589520" y="2084831"/>
            <a:ext cx="4114800" cy="2487168"/>
          </a:xfrm>
          <a:prstGeom prst="roundRect">
            <a:avLst>
              <a:gd name="adj" fmla="val 1225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2176272"/>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Two alert windows, always both</a:t>
            </a:r>
          </a:p>
        </p:txBody>
      </p:sp>
      <p:sp>
        <p:nvSpPr>
          <p:cNvPr id="22" name="TextBox 21"/>
          <p:cNvSpPr txBox="1"/>
          <p:nvPr/>
        </p:nvSpPr>
        <p:spPr>
          <a:xfrm>
            <a:off x="7790688" y="2450592"/>
            <a:ext cx="3712463"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alone, each is blind to the other's case</a:t>
            </a:r>
          </a:p>
        </p:txBody>
      </p:sp>
      <p:sp>
        <p:nvSpPr>
          <p:cNvPr id="23" name="TextBox 22"/>
          <p:cNvSpPr txBox="1"/>
          <p:nvPr/>
        </p:nvSpPr>
        <p:spPr>
          <a:xfrm>
            <a:off x="7790688" y="276148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Short window — a sharp spike</a:t>
            </a:r>
          </a:p>
        </p:txBody>
      </p:sp>
      <p:cxnSp>
        <p:nvCxnSpPr>
          <p:cNvPr id="24" name="Connector 23"/>
          <p:cNvCxnSpPr/>
          <p:nvPr/>
        </p:nvCxnSpPr>
        <p:spPr>
          <a:xfrm>
            <a:off x="7818120" y="3401568"/>
            <a:ext cx="1371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2753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039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345168" y="2999232"/>
            <a:ext cx="2212848" cy="475488"/>
          </a:xfrm>
          <a:prstGeom prst="rect">
            <a:avLst/>
          </a:prstGeom>
          <a:noFill/>
        </p:spPr>
        <p:txBody>
          <a:bodyPr wrap="square" lIns="0" rIns="0" tIns="0" bIns="0" anchor="t">
            <a:spAutoFit/>
          </a:bodyPr>
          <a:lstStyle/>
          <a:p>
            <a:pPr algn="l">
              <a:lnSpc>
                <a:spcPct val="106000"/>
              </a:lnSpc>
            </a:pPr>
            <a:r>
              <a:rPr sz="950" b="1" i="0">
                <a:solidFill>
                  <a:srgbClr val="21295C"/>
                </a:solidFill>
                <a:latin typeface="DejaVu Sans"/>
              </a:rPr>
              <a:t>2% of budget in an hour</a:t>
            </a:r>
          </a:p>
          <a:p>
            <a:pPr algn="l">
              <a:lnSpc>
                <a:spcPct val="106000"/>
              </a:lnSpc>
            </a:pPr>
            <a:r>
              <a:rPr sz="860" b="0" i="1">
                <a:solidFill>
                  <a:srgbClr val="5B6678"/>
                </a:solidFill>
                <a:latin typeface="DejaVu Sans"/>
              </a:rPr>
              <a:t>at that rate it is gone in two days — page the on-call now</a:t>
            </a:r>
          </a:p>
        </p:txBody>
      </p:sp>
      <p:sp>
        <p:nvSpPr>
          <p:cNvPr id="28" name="TextBox 27"/>
          <p:cNvSpPr txBox="1"/>
          <p:nvPr/>
        </p:nvSpPr>
        <p:spPr>
          <a:xfrm>
            <a:off x="7790688" y="3639312"/>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Long window — a slow slide</a:t>
            </a:r>
          </a:p>
        </p:txBody>
      </p:sp>
      <p:cxnSp>
        <p:nvCxnSpPr>
          <p:cNvPr id="29" name="Connector 28"/>
          <p:cNvCxnSpPr/>
          <p:nvPr/>
        </p:nvCxnSpPr>
        <p:spPr>
          <a:xfrm>
            <a:off x="7818120" y="4206240"/>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18120" y="3877056"/>
            <a:ext cx="3520440" cy="27432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818120" y="4261104"/>
            <a:ext cx="3703320" cy="27432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5% in six hours</a:t>
            </a:r>
            <a:r>
              <a:rPr sz="860" b="0" i="1">
                <a:solidFill>
                  <a:srgbClr val="5B6678"/>
                </a:solidFill>
                <a:latin typeface="DejaVu Sans"/>
              </a:rPr>
              <a:t>  — a task for working hours</a:t>
            </a:r>
          </a:p>
        </p:txBody>
      </p:sp>
      <p:sp>
        <p:nvSpPr>
          <p:cNvPr id="32" name="Rounded Rectangle 31"/>
          <p:cNvSpPr/>
          <p:nvPr/>
        </p:nvSpPr>
        <p:spPr>
          <a:xfrm>
            <a:off x="502920" y="4736592"/>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791455"/>
            <a:ext cx="10762488" cy="76809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All this is built for a system where a request either works or it does not. A 200 — "delivered successfully" — arrives even when the model confidently makes things up. Next, the other half of quality: people, their tickets, AI in that work.</a:t>
            </a:r>
          </a:p>
        </p:txBody>
      </p:sp>
      <p:sp>
        <p:nvSpPr>
          <p:cNvPr id="34" name="TextBox 3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Error Budget Policy</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AI in support: a suggester at the agent's elbow and a bot that answers on its own</a:t>
            </a:r>
          </a:p>
        </p:txBody>
      </p:sp>
      <p:sp>
        <p:nvSpPr>
          <p:cNvPr id="3" name="Rounded Rectangle 2"/>
          <p:cNvSpPr/>
          <p:nvPr/>
        </p:nvSpPr>
        <p:spPr>
          <a:xfrm>
            <a:off x="502920" y="825525"/>
            <a:ext cx="1152144" cy="8781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781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8781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695278"/>
          </a:xfrm>
          <a:prstGeom prst="rect">
            <a:avLst/>
          </a:prstGeom>
          <a:noFill/>
        </p:spPr>
        <p:txBody>
          <a:bodyPr wrap="square" lIns="0" rIns="0" tIns="0" bIns="0" anchor="ctr">
            <a:spAutoFit/>
          </a:bodyPr>
          <a:lstStyle/>
          <a:p>
            <a:pPr algn="l">
              <a:lnSpc>
                <a:spcPct val="114000"/>
              </a:lnSpc>
            </a:pPr>
            <a:r>
              <a:rPr sz="1120" b="0" i="0">
                <a:solidFill>
                  <a:srgbClr val="21295C"/>
                </a:solidFill>
                <a:latin typeface="DejaVu Sans"/>
              </a:rPr>
              <a:t>AI enters the work with tickets in two ways, and confusing them is expensive. A </a:t>
            </a:r>
            <a:r>
              <a:rPr sz="1120" b="1" i="0">
                <a:solidFill>
                  <a:srgbClr val="21295C"/>
                </a:solidFill>
                <a:latin typeface="DejaVu Sans"/>
              </a:rPr>
              <a:t>suggester</a:t>
            </a:r>
            <a:r>
              <a:rPr sz="1120" b="0" i="0">
                <a:solidFill>
                  <a:srgbClr val="21295C"/>
                </a:solidFill>
                <a:latin typeface="DejaVu Sans"/>
              </a:rPr>
              <a:t> offers the agent an answer; a human sends it, and the same human answers for what was said. A </a:t>
            </a:r>
            <a:r>
              <a:rPr sz="1120" b="1" i="0">
                <a:solidFill>
                  <a:srgbClr val="21295C"/>
                </a:solidFill>
                <a:latin typeface="DejaVu Sans"/>
              </a:rPr>
              <a:t>bot</a:t>
            </a:r>
            <a:r>
              <a:rPr sz="1120" b="0" i="0">
                <a:solidFill>
                  <a:srgbClr val="21295C"/>
                </a:solidFill>
                <a:latin typeface="DejaVu Sans"/>
              </a:rPr>
              <a:t> talks to the customer itself, and every word of it is the company's word.</a:t>
            </a:r>
          </a:p>
        </p:txBody>
      </p:sp>
      <p:sp>
        <p:nvSpPr>
          <p:cNvPr id="7" name="Rounded Rectangle 6"/>
          <p:cNvSpPr/>
          <p:nvPr/>
        </p:nvSpPr>
        <p:spPr>
          <a:xfrm>
            <a:off x="502920" y="1767691"/>
            <a:ext cx="1152144" cy="25603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67691"/>
            <a:ext cx="1060704" cy="25603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767691"/>
            <a:ext cx="9902952"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7284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7284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59131"/>
            <a:ext cx="502005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Sort the ticket flow by the cost of an error.</a:t>
            </a:r>
            <a:r>
              <a:rPr sz="1000" b="0" i="0">
                <a:solidFill>
                  <a:srgbClr val="21295C"/>
                </a:solidFill>
                <a:latin typeface="DejaVu Sans"/>
              </a:rPr>
              <a:t> Information that can be derived in full from your own knowledge base lives apart from a commitment the company pays for in money or answers for in law.</a:t>
            </a:r>
          </a:p>
        </p:txBody>
      </p:sp>
      <p:sp>
        <p:nvSpPr>
          <p:cNvPr id="13" name="Oval 12"/>
          <p:cNvSpPr/>
          <p:nvPr/>
        </p:nvSpPr>
        <p:spPr>
          <a:xfrm>
            <a:off x="1984248" y="264665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4665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32937"/>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On the information flow, begin with a suggester.</a:t>
            </a:r>
            <a:r>
              <a:rPr sz="1000" b="0" i="0">
                <a:solidFill>
                  <a:srgbClr val="21295C"/>
                </a:solidFill>
                <a:latin typeface="DejaVu Sans"/>
              </a:rPr>
              <a:t> It pays off where there is little experience, and it leaves the answer with a human.</a:t>
            </a:r>
          </a:p>
        </p:txBody>
      </p:sp>
      <p:sp>
        <p:nvSpPr>
          <p:cNvPr id="16" name="Oval 15"/>
          <p:cNvSpPr/>
          <p:nvPr/>
        </p:nvSpPr>
        <p:spPr>
          <a:xfrm>
            <a:off x="1984248" y="32548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2548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241181"/>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Switch the bot on where the answer follows from a checkable source</a:t>
            </a:r>
            <a:r>
              <a:rPr sz="1000" b="0" i="0">
                <a:solidFill>
                  <a:srgbClr val="21295C"/>
                </a:solidFill>
                <a:latin typeface="DejaVu Sans"/>
              </a:rPr>
              <a:t> — and show that source beside the answer.</a:t>
            </a:r>
          </a:p>
        </p:txBody>
      </p:sp>
      <p:sp>
        <p:nvSpPr>
          <p:cNvPr id="19" name="Oval 18"/>
          <p:cNvSpPr/>
          <p:nvPr/>
        </p:nvSpPr>
        <p:spPr>
          <a:xfrm>
            <a:off x="1984248" y="369757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69757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683862"/>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Two safeguards are compulsory:</a:t>
            </a:r>
            <a:r>
              <a:rPr sz="1000" b="0" i="0">
                <a:solidFill>
                  <a:srgbClr val="21295C"/>
                </a:solidFill>
                <a:latin typeface="DejaVu Sans"/>
              </a:rPr>
              <a:t> a guaranteed path to a live human, and a threshold at which the bot falls silent and calls an agent.</a:t>
            </a:r>
          </a:p>
        </p:txBody>
      </p:sp>
      <p:sp>
        <p:nvSpPr>
          <p:cNvPr id="22" name="TextBox 21"/>
          <p:cNvSpPr txBox="1"/>
          <p:nvPr/>
        </p:nvSpPr>
        <p:spPr>
          <a:xfrm>
            <a:off x="7589520" y="1859131"/>
            <a:ext cx="3931920" cy="219456"/>
          </a:xfrm>
          <a:prstGeom prst="rect">
            <a:avLst/>
          </a:prstGeom>
          <a:noFill/>
        </p:spPr>
        <p:txBody>
          <a:bodyPr wrap="square" lIns="0" rIns="0" tIns="0" bIns="0" anchor="t">
            <a:spAutoFit/>
          </a:bodyPr>
          <a:lstStyle/>
          <a:p>
            <a:pPr algn="l">
              <a:lnSpc>
                <a:spcPct val="100000"/>
              </a:lnSpc>
            </a:pPr>
            <a:r>
              <a:rPr sz="919" b="1" i="0">
                <a:solidFill>
                  <a:srgbClr val="21295C"/>
                </a:solidFill>
                <a:latin typeface="DejaVu Sans"/>
              </a:rPr>
              <a:t>Suggester: measured on 5,172 support agents</a:t>
            </a:r>
          </a:p>
        </p:txBody>
      </p:sp>
      <p:sp>
        <p:nvSpPr>
          <p:cNvPr id="23" name="Rounded Rectangle 22"/>
          <p:cNvSpPr/>
          <p:nvPr/>
        </p:nvSpPr>
        <p:spPr>
          <a:xfrm>
            <a:off x="7589520" y="2115163"/>
            <a:ext cx="3931920" cy="310896"/>
          </a:xfrm>
          <a:prstGeom prst="roundRect">
            <a:avLst>
              <a:gd name="adj" fmla="val 16666"/>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115163"/>
            <a:ext cx="3712463" cy="310896"/>
          </a:xfrm>
          <a:prstGeom prst="rect">
            <a:avLst/>
          </a:prstGeom>
          <a:noFill/>
        </p:spPr>
        <p:txBody>
          <a:bodyPr wrap="square" lIns="0" rIns="0" tIns="0" bIns="0" anchor="ctr">
            <a:spAutoFit/>
          </a:bodyPr>
          <a:lstStyle/>
          <a:p>
            <a:pPr algn="l">
              <a:lnSpc>
                <a:spcPct val="100000"/>
              </a:lnSpc>
            </a:pPr>
            <a:r>
              <a:rPr sz="880" b="0" i="0">
                <a:solidFill>
                  <a:srgbClr val="5B6678"/>
                </a:solidFill>
                <a:latin typeface="DejaVu Sans"/>
              </a:rPr>
              <a:t>base before the rollout — </a:t>
            </a:r>
            <a:r>
              <a:rPr sz="940" b="1" i="0">
                <a:solidFill>
                  <a:srgbClr val="21295C"/>
                </a:solidFill>
                <a:latin typeface="DejaVu Sans"/>
              </a:rPr>
              <a:t>2.1 resolutions per hour</a:t>
            </a:r>
          </a:p>
        </p:txBody>
      </p:sp>
      <p:sp>
        <p:nvSpPr>
          <p:cNvPr id="25" name="TextBox 24"/>
          <p:cNvSpPr txBox="1"/>
          <p:nvPr/>
        </p:nvSpPr>
        <p:spPr>
          <a:xfrm>
            <a:off x="7589520" y="2535787"/>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all agents</a:t>
            </a:r>
          </a:p>
        </p:txBody>
      </p:sp>
      <p:sp>
        <p:nvSpPr>
          <p:cNvPr id="26" name="Rounded Rectangle 25"/>
          <p:cNvSpPr/>
          <p:nvPr/>
        </p:nvSpPr>
        <p:spPr>
          <a:xfrm>
            <a:off x="9034272" y="2581507"/>
            <a:ext cx="891539" cy="1828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89820" y="2535787"/>
            <a:ext cx="640080" cy="274320"/>
          </a:xfrm>
          <a:prstGeom prst="rect">
            <a:avLst/>
          </a:prstGeom>
          <a:noFill/>
        </p:spPr>
        <p:txBody>
          <a:bodyPr wrap="square" lIns="0" rIns="0" tIns="0" bIns="0" anchor="ctr">
            <a:spAutoFit/>
          </a:bodyPr>
          <a:lstStyle/>
          <a:p>
            <a:pPr algn="l">
              <a:lnSpc>
                <a:spcPct val="100000"/>
              </a:lnSpc>
            </a:pPr>
            <a:r>
              <a:rPr sz="919" b="1" i="0">
                <a:solidFill>
                  <a:srgbClr val="065A82"/>
                </a:solidFill>
                <a:latin typeface="DejaVu Sans"/>
              </a:rPr>
              <a:t>+15%</a:t>
            </a:r>
          </a:p>
        </p:txBody>
      </p:sp>
      <p:sp>
        <p:nvSpPr>
          <p:cNvPr id="28" name="TextBox 27"/>
          <p:cNvSpPr txBox="1"/>
          <p:nvPr/>
        </p:nvSpPr>
        <p:spPr>
          <a:xfrm>
            <a:off x="7589520" y="2837539"/>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least experienced</a:t>
            </a:r>
          </a:p>
        </p:txBody>
      </p:sp>
      <p:sp>
        <p:nvSpPr>
          <p:cNvPr id="29" name="Rounded Rectangle 28"/>
          <p:cNvSpPr/>
          <p:nvPr/>
        </p:nvSpPr>
        <p:spPr>
          <a:xfrm>
            <a:off x="9034272" y="2883259"/>
            <a:ext cx="1783079" cy="1828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81360" y="2837539"/>
            <a:ext cx="640080" cy="274320"/>
          </a:xfrm>
          <a:prstGeom prst="rect">
            <a:avLst/>
          </a:prstGeom>
          <a:noFill/>
        </p:spPr>
        <p:txBody>
          <a:bodyPr wrap="square" lIns="0" rIns="0" tIns="0" bIns="0" anchor="ctr">
            <a:spAutoFit/>
          </a:bodyPr>
          <a:lstStyle/>
          <a:p>
            <a:pPr algn="l">
              <a:lnSpc>
                <a:spcPct val="100000"/>
              </a:lnSpc>
            </a:pPr>
            <a:r>
              <a:rPr sz="919" b="1" i="0">
                <a:solidFill>
                  <a:srgbClr val="F0AB00"/>
                </a:solidFill>
                <a:latin typeface="DejaVu Sans"/>
              </a:rPr>
              <a:t>+30%</a:t>
            </a:r>
          </a:p>
        </p:txBody>
      </p:sp>
      <p:sp>
        <p:nvSpPr>
          <p:cNvPr id="31" name="TextBox 30"/>
          <p:cNvSpPr txBox="1"/>
          <p:nvPr/>
        </p:nvSpPr>
        <p:spPr>
          <a:xfrm>
            <a:off x="7589520" y="3139291"/>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most experienced</a:t>
            </a:r>
          </a:p>
        </p:txBody>
      </p:sp>
      <p:sp>
        <p:nvSpPr>
          <p:cNvPr id="32" name="Rounded Rectangle 31"/>
          <p:cNvSpPr/>
          <p:nvPr/>
        </p:nvSpPr>
        <p:spPr>
          <a:xfrm>
            <a:off x="9034272" y="3185011"/>
            <a:ext cx="106984" cy="182880"/>
          </a:xfrm>
          <a:prstGeom prst="roundRect">
            <a:avLst>
              <a:gd name="adj" fmla="val 4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5264" y="3139291"/>
            <a:ext cx="640080" cy="274320"/>
          </a:xfrm>
          <a:prstGeom prst="rect">
            <a:avLst/>
          </a:prstGeom>
          <a:noFill/>
        </p:spPr>
        <p:txBody>
          <a:bodyPr wrap="square" lIns="0" rIns="0" tIns="0" bIns="0" anchor="ctr">
            <a:spAutoFit/>
          </a:bodyPr>
          <a:lstStyle/>
          <a:p>
            <a:pPr algn="l">
              <a:lnSpc>
                <a:spcPct val="100000"/>
              </a:lnSpc>
            </a:pPr>
            <a:r>
              <a:rPr sz="919" b="1" i="0">
                <a:solidFill>
                  <a:srgbClr val="5B6678"/>
                </a:solidFill>
                <a:latin typeface="DejaVu Sans"/>
              </a:rPr>
              <a:t>≈0</a:t>
            </a:r>
          </a:p>
        </p:txBody>
      </p:sp>
      <p:sp>
        <p:nvSpPr>
          <p:cNvPr id="34" name="TextBox 33"/>
          <p:cNvSpPr txBox="1"/>
          <p:nvPr/>
        </p:nvSpPr>
        <p:spPr>
          <a:xfrm>
            <a:off x="7589520" y="3459331"/>
            <a:ext cx="3931920" cy="292608"/>
          </a:xfrm>
          <a:prstGeom prst="rect">
            <a:avLst/>
          </a:prstGeom>
          <a:noFill/>
        </p:spPr>
        <p:txBody>
          <a:bodyPr wrap="square" lIns="0" rIns="0" tIns="0" bIns="0" anchor="t">
            <a:spAutoFit/>
          </a:bodyPr>
          <a:lstStyle/>
          <a:p>
            <a:pPr algn="l">
              <a:lnSpc>
                <a:spcPct val="105000"/>
              </a:lnSpc>
            </a:pPr>
            <a:r>
              <a:rPr sz="819" b="0" i="1">
                <a:solidFill>
                  <a:srgbClr val="5B6678"/>
                </a:solidFill>
                <a:latin typeface="DejaVu Sans"/>
              </a:rPr>
              <a:t>for the most experienced conversation quality is slightly lower: the suggestion offers them the average answer</a:t>
            </a:r>
          </a:p>
        </p:txBody>
      </p:sp>
      <p:sp>
        <p:nvSpPr>
          <p:cNvPr id="35" name="Rounded Rectangle 34"/>
          <p:cNvSpPr/>
          <p:nvPr/>
        </p:nvSpPr>
        <p:spPr>
          <a:xfrm>
            <a:off x="7589520" y="3806803"/>
            <a:ext cx="3931920" cy="402336"/>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3806803"/>
            <a:ext cx="3712463" cy="402336"/>
          </a:xfrm>
          <a:prstGeom prst="rect">
            <a:avLst/>
          </a:prstGeom>
          <a:noFill/>
        </p:spPr>
        <p:txBody>
          <a:bodyPr wrap="square" lIns="0" rIns="0" tIns="0" bIns="0" anchor="ctr">
            <a:spAutoFit/>
          </a:bodyPr>
          <a:lstStyle/>
          <a:p>
            <a:pPr algn="l">
              <a:lnSpc>
                <a:spcPct val="104000"/>
              </a:lnSpc>
            </a:pPr>
            <a:r>
              <a:rPr sz="880" b="1" i="0">
                <a:solidFill>
                  <a:srgbClr val="21295C"/>
                </a:solidFill>
                <a:latin typeface="DejaVu Sans"/>
              </a:rPr>
              <a:t>an agent with two months on the job and a suggester works like an agent with six months without one</a:t>
            </a:r>
          </a:p>
        </p:txBody>
      </p:sp>
      <p:sp>
        <p:nvSpPr>
          <p:cNvPr id="37" name="Rounded Rectangle 36"/>
          <p:cNvSpPr/>
          <p:nvPr/>
        </p:nvSpPr>
        <p:spPr>
          <a:xfrm>
            <a:off x="502920" y="43920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3920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39" name="Rounded Rectangle 38"/>
          <p:cNvSpPr/>
          <p:nvPr/>
        </p:nvSpPr>
        <p:spPr>
          <a:xfrm>
            <a:off x="1801368" y="43920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984248" y="44834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84831" y="45291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what support stands on and will go on standing on</a:t>
            </a:r>
          </a:p>
        </p:txBody>
      </p:sp>
      <p:sp>
        <p:nvSpPr>
          <p:cNvPr id="42" name="TextBox 41"/>
          <p:cNvSpPr txBox="1"/>
          <p:nvPr/>
        </p:nvSpPr>
        <p:spPr>
          <a:xfrm>
            <a:off x="2084831" y="47577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knowledge base, answer templates, ticket routing, a mentor for the newcomer. Speed runs up against the agent's length of service: knowledge of rare cases takes months to build and leaves with whoever resigns.</a:t>
            </a:r>
          </a:p>
        </p:txBody>
      </p:sp>
      <p:sp>
        <p:nvSpPr>
          <p:cNvPr id="43" name="Rounded Rectangle 42"/>
          <p:cNvSpPr/>
          <p:nvPr/>
        </p:nvSpPr>
        <p:spPr>
          <a:xfrm>
            <a:off x="6844284" y="44834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4868" y="45291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what it has added</a:t>
            </a:r>
          </a:p>
        </p:txBody>
      </p:sp>
      <p:sp>
        <p:nvSpPr>
          <p:cNvPr id="45" name="TextBox 44"/>
          <p:cNvSpPr txBox="1"/>
          <p:nvPr/>
        </p:nvSpPr>
        <p:spPr>
          <a:xfrm>
            <a:off x="6944868" y="47577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real-time suggestion on top of the same knowledge base; a bot on the routine flow; a summary of a thread for whoever picks it up. </a:t>
            </a:r>
            <a:r>
              <a:rPr sz="950" b="1" i="0">
                <a:solidFill>
                  <a:srgbClr val="21295C"/>
                </a:solidFill>
                <a:latin typeface="DejaVu Sans"/>
              </a:rPr>
              <a:t>The knowledge base remains a precondition:</a:t>
            </a:r>
            <a:r>
              <a:rPr sz="950" b="0" i="0">
                <a:solidFill>
                  <a:srgbClr val="21295C"/>
                </a:solidFill>
                <a:latin typeface="DejaVu Sans"/>
              </a:rPr>
              <a:t> where it has a gap, AI fills it itself.</a:t>
            </a:r>
          </a:p>
        </p:txBody>
      </p:sp>
      <p:sp>
        <p:nvSpPr>
          <p:cNvPr id="46" name="Rounded Rectangle 45"/>
          <p:cNvSpPr/>
          <p:nvPr/>
        </p:nvSpPr>
        <p:spPr>
          <a:xfrm>
            <a:off x="502920" y="5683228"/>
            <a:ext cx="1152144" cy="64637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683228"/>
            <a:ext cx="1060704" cy="64637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48" name="Rounded Rectangle 47"/>
          <p:cNvSpPr/>
          <p:nvPr/>
        </p:nvSpPr>
        <p:spPr>
          <a:xfrm>
            <a:off x="1801368" y="5683228"/>
            <a:ext cx="9902952" cy="64637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5774668"/>
            <a:ext cx="9537192" cy="463490"/>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A bot announces a rule that does not exist. </a:t>
            </a:r>
            <a:r>
              <a:rPr sz="980" b="1" i="0">
                <a:solidFill>
                  <a:srgbClr val="21295C"/>
                </a:solidFill>
                <a:latin typeface="DejaVu Sans"/>
              </a:rPr>
              <a:t>April 2025:</a:t>
            </a:r>
            <a:r>
              <a:rPr sz="980" b="1" i="0">
                <a:solidFill>
                  <a:srgbClr val="21295C"/>
                </a:solidFill>
                <a:latin typeface="DejaVu Sans"/>
              </a:rPr>
              <a:t> the Cursor support bot invented a “one login per user” limit; customers cancelled, the company apologised and refunded — no such policy existed.</a:t>
            </a:r>
          </a:p>
        </p:txBody>
      </p:sp>
      <p:sp>
        <p:nvSpPr>
          <p:cNvPr id="50" name="TextBox 49"/>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The suggester measurement: Brynjolfsson, Li, Raymond, “Generative AI at Work”, Quarterly Journal of Economics, 2025 — 5,172 agents at a Fortune 500 company, staged rollout from November 2020 to May 2021, base 2.1 resolutions per hour · The Cursor support bot: AI Incident Database, incident 1039 (April 2025)</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failure drill: is there anything here that would notice degradation</a:t>
            </a:r>
          </a:p>
        </p:txBody>
      </p:sp>
      <p:sp>
        <p:nvSpPr>
          <p:cNvPr id="3" name="Rounded Rectangle 2"/>
          <p:cNvSpPr/>
          <p:nvPr/>
        </p:nvSpPr>
        <p:spPr>
          <a:xfrm>
            <a:off x="502920" y="825525"/>
            <a:ext cx="1152144" cy="131524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31524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825525"/>
            <a:ext cx="9902952" cy="131524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13236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A fire drill tests the building and the people: the detector went off, the siren sounded, the exit was clear, everyone got out within the time standard. There is no fire; a plan plays its part. A support drill is built the same way: answer quality is spoiled deliberately and under control, to see whether detection fires.</a:t>
            </a:r>
          </a:p>
          <a:p>
            <a:pPr algn="l">
              <a:lnSpc>
                <a:spcPct val="114000"/>
              </a:lnSpc>
            </a:pPr>
            <a:r>
              <a:rPr sz="1000" b="1" i="0">
                <a:solidFill>
                  <a:srgbClr val="21295C"/>
                </a:solidFill>
                <a:latin typeface="DejaVu Sans"/>
              </a:rPr>
              <a:t>Element of the drill → element of the system:</a:t>
            </a:r>
            <a:r>
              <a:rPr sz="1000" b="0" i="0">
                <a:solidFill>
                  <a:srgbClr val="21295C"/>
                </a:solidFill>
                <a:latin typeface="DejaVu Sans"/>
              </a:rPr>
              <a:t> smoke → a substituted model prompt · detector → a threshold on a proxy metric · siren → paging the on-call engineer · exit → rolling the version back and a path to a human · evacuation time standard → four measured times.</a:t>
            </a:r>
          </a:p>
        </p:txBody>
      </p:sp>
      <p:sp>
        <p:nvSpPr>
          <p:cNvPr id="7" name="Rounded Rectangle 6"/>
          <p:cNvSpPr/>
          <p:nvPr/>
        </p:nvSpPr>
        <p:spPr>
          <a:xfrm>
            <a:off x="502920" y="2204775"/>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04775"/>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2204775"/>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30993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30993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296215"/>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One </a:t>
            </a:r>
            <a:r>
              <a:rPr sz="960" b="1" i="0">
                <a:solidFill>
                  <a:srgbClr val="065A82"/>
                </a:solidFill>
                <a:latin typeface="DejaVu Sans"/>
              </a:rPr>
              <a:t>class of failure</a:t>
            </a:r>
            <a:r>
              <a:rPr sz="960" b="0" i="0">
                <a:solidFill>
                  <a:srgbClr val="21295C"/>
                </a:solidFill>
                <a:latin typeface="DejaVu Sans"/>
              </a:rPr>
              <a:t> is chosen and a date is set. </a:t>
            </a:r>
            <a:r>
              <a:rPr sz="960" b="1" i="0">
                <a:solidFill>
                  <a:srgbClr val="065A82"/>
                </a:solidFill>
                <a:latin typeface="DejaVu Sans"/>
              </a:rPr>
              <a:t>AI:</a:t>
            </a:r>
            <a:r>
              <a:rPr sz="960" b="0" i="0">
                <a:solidFill>
                  <a:srgbClr val="21295C"/>
                </a:solidFill>
                <a:latin typeface="DejaVu Sans"/>
              </a:rPr>
              <a:t> proposes scenarios drawn from past postmortems; a human chooses.</a:t>
            </a:r>
          </a:p>
        </p:txBody>
      </p:sp>
      <p:sp>
        <p:nvSpPr>
          <p:cNvPr id="13" name="Oval 12"/>
          <p:cNvSpPr/>
          <p:nvPr/>
        </p:nvSpPr>
        <p:spPr>
          <a:xfrm>
            <a:off x="1984248" y="273936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73936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725652"/>
            <a:ext cx="5385816" cy="52436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Quality is degraded </a:t>
            </a:r>
            <a:r>
              <a:rPr sz="960" b="1" i="0">
                <a:solidFill>
                  <a:srgbClr val="065A82"/>
                </a:solidFill>
                <a:latin typeface="DejaVu Sans"/>
              </a:rPr>
              <a:t>under control</a:t>
            </a:r>
            <a:r>
              <a:rPr sz="960" b="0" i="0">
                <a:solidFill>
                  <a:srgbClr val="21295C"/>
                </a:solidFill>
                <a:latin typeface="DejaVu Sans"/>
              </a:rPr>
              <a:t>: the model prompt is swapped for a weak one, guardrails are loosened. </a:t>
            </a:r>
            <a:r>
              <a:rPr sz="960" b="1" i="0">
                <a:solidFill>
                  <a:srgbClr val="065A82"/>
                </a:solidFill>
                <a:latin typeface="DejaVu Sans"/>
              </a:rPr>
              <a:t>AI:</a:t>
            </a:r>
            <a:r>
              <a:rPr sz="960" b="0" i="0">
                <a:solidFill>
                  <a:srgbClr val="21295C"/>
                </a:solidFill>
                <a:latin typeface="DejaVu Sans"/>
              </a:rPr>
              <a:t> generates a ticket flow to the scenario, so the on-call engineer sees the load.</a:t>
            </a:r>
          </a:p>
        </p:txBody>
      </p:sp>
      <p:sp>
        <p:nvSpPr>
          <p:cNvPr id="16" name="Oval 15"/>
          <p:cNvSpPr/>
          <p:nvPr/>
        </p:nvSpPr>
        <p:spPr>
          <a:xfrm>
            <a:off x="1984248" y="332774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32774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314028"/>
            <a:ext cx="5385816" cy="365428"/>
          </a:xfrm>
          <a:prstGeom prst="rect">
            <a:avLst/>
          </a:prstGeom>
          <a:noFill/>
        </p:spPr>
        <p:txBody>
          <a:bodyPr wrap="square" lIns="0" rIns="0" tIns="0" bIns="0" anchor="t">
            <a:spAutoFit/>
          </a:bodyPr>
          <a:lstStyle/>
          <a:p>
            <a:pPr algn="l">
              <a:lnSpc>
                <a:spcPct val="115000"/>
              </a:lnSpc>
            </a:pPr>
            <a:r>
              <a:rPr sz="960" b="1" i="0">
                <a:solidFill>
                  <a:srgbClr val="065A82"/>
                </a:solidFill>
                <a:latin typeface="DejaVu Sans"/>
              </a:rPr>
              <a:t>Four times</a:t>
            </a:r>
            <a:r>
              <a:rPr sz="960" b="0" i="0">
                <a:solidFill>
                  <a:srgbClr val="21295C"/>
                </a:solidFill>
                <a:latin typeface="DejaVu Sans"/>
              </a:rPr>
              <a:t> are measured and written down as numbers — your own, from this drill.</a:t>
            </a:r>
          </a:p>
        </p:txBody>
      </p:sp>
      <p:sp>
        <p:nvSpPr>
          <p:cNvPr id="19" name="Oval 18"/>
          <p:cNvSpPr/>
          <p:nvPr/>
        </p:nvSpPr>
        <p:spPr>
          <a:xfrm>
            <a:off x="1984248" y="375718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75718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743464"/>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The postmortem. </a:t>
            </a:r>
            <a:r>
              <a:rPr sz="960" b="1" i="0">
                <a:solidFill>
                  <a:srgbClr val="065A82"/>
                </a:solidFill>
                <a:latin typeface="DejaVu Sans"/>
              </a:rPr>
              <a:t>AI:</a:t>
            </a:r>
            <a:r>
              <a:rPr sz="960" b="0" i="0">
                <a:solidFill>
                  <a:srgbClr val="21295C"/>
                </a:solidFill>
                <a:latin typeface="DejaVu Sans"/>
              </a:rPr>
              <a:t> assembles the timeline and hands over a draft; findings and procedure edits are signed off by a human.</a:t>
            </a:r>
          </a:p>
        </p:txBody>
      </p:sp>
      <p:sp>
        <p:nvSpPr>
          <p:cNvPr id="22" name="Oval 21"/>
          <p:cNvSpPr/>
          <p:nvPr/>
        </p:nvSpPr>
        <p:spPr>
          <a:xfrm>
            <a:off x="1984248" y="418661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418661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5</a:t>
            </a:r>
          </a:p>
        </p:txBody>
      </p:sp>
      <p:sp>
        <p:nvSpPr>
          <p:cNvPr id="24" name="TextBox 23"/>
          <p:cNvSpPr txBox="1"/>
          <p:nvPr/>
        </p:nvSpPr>
        <p:spPr>
          <a:xfrm>
            <a:off x="2295144" y="4172901"/>
            <a:ext cx="5385816" cy="20648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A drill that changed not a single procedure was too easy.</a:t>
            </a:r>
          </a:p>
        </p:txBody>
      </p:sp>
      <p:sp>
        <p:nvSpPr>
          <p:cNvPr id="25" name="TextBox 24"/>
          <p:cNvSpPr txBox="1"/>
          <p:nvPr/>
        </p:nvSpPr>
        <p:spPr>
          <a:xfrm>
            <a:off x="10515600" y="2296215"/>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minutes from the start</a:t>
            </a:r>
          </a:p>
        </p:txBody>
      </p:sp>
      <p:sp>
        <p:nvSpPr>
          <p:cNvPr id="26" name="Oval 25"/>
          <p:cNvSpPr/>
          <p:nvPr/>
        </p:nvSpPr>
        <p:spPr>
          <a:xfrm>
            <a:off x="7955279" y="2552247"/>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552247"/>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8" name="TextBox 27"/>
          <p:cNvSpPr txBox="1"/>
          <p:nvPr/>
        </p:nvSpPr>
        <p:spPr>
          <a:xfrm>
            <a:off x="8266175" y="2515671"/>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noticed</a:t>
            </a:r>
          </a:p>
        </p:txBody>
      </p:sp>
      <p:sp>
        <p:nvSpPr>
          <p:cNvPr id="29" name="Rounded Rectangle 28"/>
          <p:cNvSpPr/>
          <p:nvPr/>
        </p:nvSpPr>
        <p:spPr>
          <a:xfrm>
            <a:off x="10515600" y="2515671"/>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515671"/>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31" name="Connector 30"/>
          <p:cNvCxnSpPr/>
          <p:nvPr/>
        </p:nvCxnSpPr>
        <p:spPr>
          <a:xfrm>
            <a:off x="8074152" y="2808279"/>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955279" y="2991159"/>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2991159"/>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4" name="TextBox 33"/>
          <p:cNvSpPr txBox="1"/>
          <p:nvPr/>
        </p:nvSpPr>
        <p:spPr>
          <a:xfrm>
            <a:off x="8266175" y="2954583"/>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a human arrived</a:t>
            </a:r>
          </a:p>
        </p:txBody>
      </p:sp>
      <p:sp>
        <p:nvSpPr>
          <p:cNvPr id="35" name="Rounded Rectangle 34"/>
          <p:cNvSpPr/>
          <p:nvPr/>
        </p:nvSpPr>
        <p:spPr>
          <a:xfrm>
            <a:off x="10515600" y="2954583"/>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0" y="2954583"/>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7" name="Connector 36"/>
          <p:cNvCxnSpPr/>
          <p:nvPr/>
        </p:nvCxnSpPr>
        <p:spPr>
          <a:xfrm>
            <a:off x="8074152" y="3247191"/>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955279" y="3430071"/>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55279" y="3430071"/>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40" name="TextBox 39"/>
          <p:cNvSpPr txBox="1"/>
          <p:nvPr/>
        </p:nvSpPr>
        <p:spPr>
          <a:xfrm>
            <a:off x="8266175" y="3393495"/>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automation stopped it</a:t>
            </a:r>
          </a:p>
        </p:txBody>
      </p:sp>
      <p:sp>
        <p:nvSpPr>
          <p:cNvPr id="41" name="Rounded Rectangle 40"/>
          <p:cNvSpPr/>
          <p:nvPr/>
        </p:nvSpPr>
        <p:spPr>
          <a:xfrm>
            <a:off x="10515600" y="3393495"/>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0" y="3393495"/>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3" name="Connector 42"/>
          <p:cNvCxnSpPr/>
          <p:nvPr/>
        </p:nvCxnSpPr>
        <p:spPr>
          <a:xfrm>
            <a:off x="8074152" y="3686103"/>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955279" y="3868983"/>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55279" y="3868983"/>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6" name="TextBox 45"/>
          <p:cNvSpPr txBox="1"/>
          <p:nvPr/>
        </p:nvSpPr>
        <p:spPr>
          <a:xfrm>
            <a:off x="8266175" y="3832407"/>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restored to how it was</a:t>
            </a:r>
          </a:p>
        </p:txBody>
      </p:sp>
      <p:sp>
        <p:nvSpPr>
          <p:cNvPr id="47" name="Rounded Rectangle 46"/>
          <p:cNvSpPr/>
          <p:nvPr/>
        </p:nvSpPr>
        <p:spPr>
          <a:xfrm>
            <a:off x="10515600" y="3832407"/>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3832407"/>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9" name="TextBox 48"/>
          <p:cNvSpPr txBox="1"/>
          <p:nvPr/>
        </p:nvSpPr>
        <p:spPr>
          <a:xfrm>
            <a:off x="7955279" y="4161591"/>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the numbers come from one drill that was run; at the next one they are filled in afresh</a:t>
            </a:r>
          </a:p>
        </p:txBody>
      </p:sp>
      <p:sp>
        <p:nvSpPr>
          <p:cNvPr id="50" name="Rounded Rectangle 49"/>
          <p:cNvSpPr/>
          <p:nvPr/>
        </p:nvSpPr>
        <p:spPr>
          <a:xfrm>
            <a:off x="502920" y="4591359"/>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591359"/>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52" name="Rounded Rectangle 51"/>
          <p:cNvSpPr/>
          <p:nvPr/>
        </p:nvSpPr>
        <p:spPr>
          <a:xfrm>
            <a:off x="1801368" y="4591359"/>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4682799"/>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72851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the classic failure drill</a:t>
            </a:r>
          </a:p>
        </p:txBody>
      </p:sp>
      <p:sp>
        <p:nvSpPr>
          <p:cNvPr id="55" name="TextBox 54"/>
          <p:cNvSpPr txBox="1"/>
          <p:nvPr/>
        </p:nvSpPr>
        <p:spPr>
          <a:xfrm>
            <a:off x="2084831" y="4957119"/>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service is killed, a resource taken away: you watch the system come back and the on-call engineer turn up. Scenario, timeline and postmortem are human work.</a:t>
            </a:r>
          </a:p>
        </p:txBody>
      </p:sp>
      <p:sp>
        <p:nvSpPr>
          <p:cNvPr id="56" name="Rounded Rectangle 55"/>
          <p:cNvSpPr/>
          <p:nvPr/>
        </p:nvSpPr>
        <p:spPr>
          <a:xfrm>
            <a:off x="6844284" y="4682799"/>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72851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what it is busy with inside the drill</a:t>
            </a:r>
          </a:p>
        </p:txBody>
      </p:sp>
      <p:sp>
        <p:nvSpPr>
          <p:cNvPr id="58" name="TextBox 57"/>
          <p:cNvSpPr txBox="1"/>
          <p:nvPr/>
        </p:nvSpPr>
        <p:spPr>
          <a:xfrm>
            <a:off x="6944868" y="4957119"/>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AI proposes scenarios from past postmortems, generates the ticket flow, assembles a timeline and hands over a draft. Tools 2026: incident.io, Rootly, PagerDuty.</a:t>
            </a:r>
          </a:p>
        </p:txBody>
      </p:sp>
      <p:sp>
        <p:nvSpPr>
          <p:cNvPr id="59" name="Rounded Rectangle 58"/>
          <p:cNvSpPr/>
          <p:nvPr/>
        </p:nvSpPr>
        <p:spPr>
          <a:xfrm>
            <a:off x="502920" y="5729387"/>
            <a:ext cx="1152144" cy="63974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729387"/>
            <a:ext cx="1060704" cy="63974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61" name="Rounded Rectangle 60"/>
          <p:cNvSpPr/>
          <p:nvPr/>
        </p:nvSpPr>
        <p:spPr>
          <a:xfrm>
            <a:off x="1801368" y="5729387"/>
            <a:ext cx="9902952" cy="63974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820827"/>
            <a:ext cx="9537192" cy="456868"/>
          </a:xfrm>
          <a:prstGeom prst="rect">
            <a:avLst/>
          </a:prstGeom>
          <a:noFill/>
        </p:spPr>
        <p:txBody>
          <a:bodyPr wrap="square" lIns="0" rIns="0" tIns="0" bIns="0" anchor="ctr">
            <a:spAutoFit/>
          </a:bodyPr>
          <a:lstStyle/>
          <a:p>
            <a:pPr algn="l">
              <a:lnSpc>
                <a:spcPct val="114000"/>
              </a:lnSpc>
            </a:pPr>
            <a:r>
              <a:rPr sz="960" b="1" i="0">
                <a:solidFill>
                  <a:srgbClr val="21295C"/>
                </a:solidFill>
                <a:latin typeface="DejaVu Sans"/>
              </a:rPr>
              <a:t>AI proposes variations on past failures: an unseen class it will not invent. A draft postmortem is plausible </a:t>
            </a:r>
            <a:r>
              <a:rPr sz="960" b="1" i="0">
                <a:solidFill>
                  <a:srgbClr val="21295C"/>
                </a:solidFill>
                <a:latin typeface="DejaVu Sans"/>
              </a:rPr>
              <a:t>even when the cause is wrong</a:t>
            </a:r>
            <a:r>
              <a:rPr sz="960" b="1" i="0">
                <a:solidFill>
                  <a:srgbClr val="21295C"/>
                </a:solidFill>
                <a:latin typeface="DejaVu Sans"/>
              </a:rPr>
              <a:t>. </a:t>
            </a:r>
            <a:r>
              <a:rPr sz="960" b="1" i="0">
                <a:solidFill>
                  <a:srgbClr val="21295C"/>
                </a:solidFill>
                <a:latin typeface="DejaVu Sans"/>
              </a:rPr>
              <a:t>A quarterly drill gives detection with a quarter-wide window.</a:t>
            </a:r>
          </a:p>
        </p:txBody>
      </p:sp>
      <p:sp>
        <p:nvSpPr>
          <p:cNvPr id="63" name="TextBox 62"/>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Assembling an incident timeline and a draft postmortem from the records — incident.io, Rootly, PagerDuty; the time saved on the postmortem is a vendor claim, with no independent measurement</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Dashboards stay green while trust has already been falling for weeks</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Silent drift</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Power users notice a regression before the aggregated metrics do — trust falls before the dashboards move.</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Governance drift</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with no versioning silently go stale: the rules drift from reality unnoticed.</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What stays: human escalation, accountability, incident discipline — reinforced by AI's autonomy, not eliminated by it.</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algorithm bought homes, market moved, business shut</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WHAT HAPPENED</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a service that bought homes on an algorithmic valuation and resold them fast. In the third quarter of 2021 it bought 9,680 and sold 3,032. On 2 November 2021 it announced the shutdown: write-downs of </a:t>
            </a:r>
            <a:r>
              <a:rPr sz="1150" b="1" i="0">
                <a:solidFill>
                  <a:srgbClr val="21295C"/>
                </a:solidFill>
                <a:latin typeface="DejaVu Sans"/>
              </a:rPr>
              <a:t>$304–408M</a:t>
            </a:r>
            <a:r>
              <a:rPr sz="1150" b="0" i="0">
                <a:solidFill>
                  <a:srgbClr val="21295C"/>
                </a:solidFill>
                <a:latin typeface="DejaVu Sans"/>
              </a:rPr>
              <a:t>, a cut of about </a:t>
            </a:r>
            <a:r>
              <a:rPr sz="1150" b="1" i="0">
                <a:solidFill>
                  <a:srgbClr val="21295C"/>
                </a:solidFill>
                <a:latin typeface="DejaVu Sans"/>
              </a:rPr>
              <a:t>2,000 people — 25% of staff</a:t>
            </a:r>
            <a:r>
              <a:rPr sz="1150" b="0" i="0">
                <a:solidFill>
                  <a:srgbClr val="21295C"/>
                </a:solidFill>
                <a:latin typeface="DejaVu Sans"/>
              </a:rPr>
              <a:t>. Average loss — about </a:t>
            </a:r>
            <a:r>
              <a:rPr sz="1150" b="1" i="0">
                <a:solidFill>
                  <a:srgbClr val="21295C"/>
                </a:solidFill>
                <a:latin typeface="DejaVu Sans"/>
              </a:rPr>
              <a:t>$80K per home</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822959" y="2615184"/>
            <a:ext cx="48006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ANALYSIS: OPERATIONS,</a:t>
            </a:r>
          </a:p>
          <a:p>
            <a:pPr algn="l">
              <a:lnSpc>
                <a:spcPct val="108000"/>
              </a:lnSpc>
            </a:pPr>
            <a:r>
              <a:rPr sz="1000" b="1" i="0">
                <a:solidFill>
                  <a:srgbClr val="028090"/>
                </a:solidFill>
                <a:latin typeface="DejaVu Sans"/>
              </a:rPr>
              <a:t>NOT MEASUREMENT</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The model was calibrated correctly — on historically stable data. What was missing: real-time monitoring of accuracy and an automatic stop when it falls.</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Go back to the two windows: Zillow had neither. The short one — a sharp rise in error went unseen. The long one — quarterly reporting exists, but a report every three months is no observation window: it is an archive, the homes are already bought.</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Criterion: a model that commits money on its own needs real-time monitoring of accuracy and a threshold at which it stops with no human involved. Alternative: the algorithmic valuation as an input, the decision above a risk threshold left to a person.</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(Nov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SEC 10-K FY2021 — Zillow 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bot is a separate legal entity" — the tribunal rejected this in one sentence</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Scales in balance: the bot's answer = a static page on the site. Equal accountability for both.</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website chatbot</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The bot incorrectly stated a retroactive discount. Tribunal — CAD $812.02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the company is responsible for the bot's answer as for any other site content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You own every answer the bot gives — no more, but not one gram less accountability than for any other content on the site.</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case commentary</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New York: city bot advised breaking the law 10 times out of 10</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WHAT HAPPENED</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New York City shipped a chatbot for small business owners — to answer questions about city rules. In March 2024 an investigation found the bot advising employers to take their staff's tips and to fire people for reporting harassment, and landlords to turn away tenants with housing vouchers. All of that goes against the law in force, and the advice came confidently, as instruction. All </a:t>
            </a:r>
            <a:r>
              <a:rPr sz="1150" b="1" i="0">
                <a:solidFill>
                  <a:srgbClr val="21295C"/>
                </a:solidFill>
                <a:latin typeface="DejaVu Sans"/>
              </a:rPr>
              <a:t>10 of 10</a:t>
            </a:r>
            <a:r>
              <a:rPr sz="1150" b="0" i="0">
                <a:solidFill>
                  <a:srgbClr val="21295C"/>
                </a:solidFill>
                <a:latin typeface="DejaVu Sans"/>
              </a:rPr>
              <a:t> journalists who asked got the same wrong answer. The mayor acknowledged the errors and did not pull the bot, though switching it off was technically possible.</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The same question — ten times. The same unlawful answer — ten times.</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ten people asked — ten identical answers to break the law</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ANALYSIS</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Repeatability changes the class of the event. A single error is grounds for a fix. Ten identical answers to ten identical questions are a system property, reproducible on demand.</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The decision to keep iterating came after reproducibility was shown in public. That is the error under review: the data was there, the response stayed the same.</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Criterion: a reproducible harmful answer calls for a circuit breaker. Next iteration waits. The threshold is named as a number in advance — else, when it has to be applied, it is argued over again and loses to the wish to "polish it".</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(Mar 29, 2024) — the New York City chatbot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Governance — the capstone that answers the hook paradox</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failures · payoff</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Why assembly is nearly free, but value is not. Here we rise to the level of the organization and assemble the whole loop.</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Governance</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Synthesis</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same go/kill gate — but now it allocates capital across many initiatives</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Portfolio funnel</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many initiatives</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gate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gate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funded</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 economics of an AI product</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A new variable — cost per request against value per request. Every call to the model costs real money.</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Financial KPI at pilot entry: "cut ticket cost from X to Y while CSAT &gt;= Z; N tickets, M weeks, owner — Smith."</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Portfolio governance = Stage-Gate, raised to the level of capital: the same "a funnel, not a tunnel" discipline, but across products, not within one.</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structure of cost and revenue: by type it is measured, by feature you do it yourself</a:t>
            </a:r>
          </a:p>
        </p:txBody>
      </p:sp>
      <p:sp>
        <p:nvSpPr>
          <p:cNvPr id="3" name="Rounded Rectangle 2"/>
          <p:cNvSpPr/>
          <p:nvPr/>
        </p:nvSpPr>
        <p:spPr>
          <a:xfrm>
            <a:off x="502920" y="804672"/>
            <a:ext cx="4709160" cy="4206240"/>
          </a:xfrm>
          <a:prstGeom prst="roundRect">
            <a:avLst>
              <a:gd name="adj" fmla="val 724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288536"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BY TYPE — WHAT HAS BEEN MEASURED</a:t>
            </a:r>
          </a:p>
        </p:txBody>
      </p:sp>
      <p:sp>
        <p:nvSpPr>
          <p:cNvPr id="5" name="TextBox 4"/>
          <p:cNvSpPr txBox="1"/>
          <p:nvPr/>
        </p:nvSpPr>
        <p:spPr>
          <a:xfrm>
            <a:off x="713232" y="1152144"/>
            <a:ext cx="4288536" cy="237744"/>
          </a:xfrm>
          <a:prstGeom prst="rect">
            <a:avLst/>
          </a:prstGeom>
          <a:noFill/>
        </p:spPr>
        <p:txBody>
          <a:bodyPr wrap="square" lIns="0" rIns="0" tIns="0" bIns="0" anchor="t">
            <a:spAutoFit/>
          </a:bodyPr>
          <a:lstStyle/>
          <a:p>
            <a:pPr algn="l">
              <a:lnSpc>
                <a:spcPct val="100000"/>
              </a:lnSpc>
            </a:pPr>
            <a:r>
              <a:rPr sz="960" b="0" i="1">
                <a:solidFill>
                  <a:srgbClr val="5B6678"/>
                </a:solidFill>
                <a:latin typeface="DejaVu Sans"/>
              </a:rPr>
              <a:t>shares of product cost: before launch → at scale</a:t>
            </a:r>
          </a:p>
        </p:txBody>
      </p:sp>
      <p:sp>
        <p:nvSpPr>
          <p:cNvPr id="6" name="TextBox 5"/>
          <p:cNvSpPr txBox="1"/>
          <p:nvPr/>
        </p:nvSpPr>
        <p:spPr>
          <a:xfrm>
            <a:off x="713232" y="1408176"/>
            <a:ext cx="4288536"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before the product launches</a:t>
            </a:r>
          </a:p>
        </p:txBody>
      </p:sp>
      <p:sp>
        <p:nvSpPr>
          <p:cNvPr id="7" name="Rectangle 6"/>
          <p:cNvSpPr/>
          <p:nvPr/>
        </p:nvSpPr>
        <p:spPr>
          <a:xfrm>
            <a:off x="713232" y="1627632"/>
            <a:ext cx="1372331"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27632"/>
            <a:ext cx="1372331"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32</a:t>
            </a:r>
          </a:p>
        </p:txBody>
      </p:sp>
      <p:sp>
        <p:nvSpPr>
          <p:cNvPr id="9" name="Rectangle 8"/>
          <p:cNvSpPr/>
          <p:nvPr/>
        </p:nvSpPr>
        <p:spPr>
          <a:xfrm>
            <a:off x="2085563" y="1627632"/>
            <a:ext cx="857707" cy="32918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5563" y="1627632"/>
            <a:ext cx="857707"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20</a:t>
            </a:r>
          </a:p>
        </p:txBody>
      </p:sp>
      <p:sp>
        <p:nvSpPr>
          <p:cNvPr id="11" name="Rectangle 10"/>
          <p:cNvSpPr/>
          <p:nvPr/>
        </p:nvSpPr>
        <p:spPr>
          <a:xfrm>
            <a:off x="2943270" y="1627632"/>
            <a:ext cx="686165" cy="32918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3270" y="1627632"/>
            <a:ext cx="686165"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16</a:t>
            </a:r>
          </a:p>
        </p:txBody>
      </p:sp>
      <p:sp>
        <p:nvSpPr>
          <p:cNvPr id="13" name="Rectangle 12"/>
          <p:cNvSpPr/>
          <p:nvPr/>
        </p:nvSpPr>
        <p:spPr>
          <a:xfrm>
            <a:off x="3629436" y="1627632"/>
            <a:ext cx="257312" cy="32918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6748" y="1627632"/>
            <a:ext cx="1115019" cy="32918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748" y="1627632"/>
            <a:ext cx="1115019"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26</a:t>
            </a:r>
          </a:p>
        </p:txBody>
      </p:sp>
      <p:sp>
        <p:nvSpPr>
          <p:cNvPr id="16" name="TextBox 15"/>
          <p:cNvSpPr txBox="1"/>
          <p:nvPr/>
        </p:nvSpPr>
        <p:spPr>
          <a:xfrm>
            <a:off x="713232" y="1993392"/>
            <a:ext cx="4288536" cy="219456"/>
          </a:xfrm>
          <a:prstGeom prst="rect">
            <a:avLst/>
          </a:prstGeom>
          <a:noFill/>
        </p:spPr>
        <p:txBody>
          <a:bodyPr wrap="square" lIns="0" rIns="0" tIns="0" bIns="0" anchor="t">
            <a:spAutoFit/>
          </a:bodyPr>
          <a:lstStyle/>
          <a:p>
            <a:pPr algn="l">
              <a:lnSpc>
                <a:spcPct val="100000"/>
              </a:lnSpc>
            </a:pPr>
            <a:r>
              <a:rPr sz="880" b="1" i="0">
                <a:solidFill>
                  <a:srgbClr val="21295C"/>
                </a:solidFill>
                <a:latin typeface="DejaVu Sans"/>
              </a:rPr>
              <a:t>at scale</a:t>
            </a:r>
          </a:p>
        </p:txBody>
      </p:sp>
      <p:sp>
        <p:nvSpPr>
          <p:cNvPr id="17" name="Rectangle 16"/>
          <p:cNvSpPr/>
          <p:nvPr/>
        </p:nvSpPr>
        <p:spPr>
          <a:xfrm>
            <a:off x="713232" y="2231136"/>
            <a:ext cx="1115019"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231136"/>
            <a:ext cx="1115019"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26</a:t>
            </a:r>
          </a:p>
        </p:txBody>
      </p:sp>
      <p:sp>
        <p:nvSpPr>
          <p:cNvPr id="19" name="Rectangle 18"/>
          <p:cNvSpPr/>
          <p:nvPr/>
        </p:nvSpPr>
        <p:spPr>
          <a:xfrm>
            <a:off x="1828251" y="2231136"/>
            <a:ext cx="986363" cy="43891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251" y="2231136"/>
            <a:ext cx="986363"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23</a:t>
            </a:r>
          </a:p>
        </p:txBody>
      </p:sp>
      <p:sp>
        <p:nvSpPr>
          <p:cNvPr id="21" name="Rectangle 20"/>
          <p:cNvSpPr/>
          <p:nvPr/>
        </p:nvSpPr>
        <p:spPr>
          <a:xfrm>
            <a:off x="2814614" y="2231136"/>
            <a:ext cx="729051"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14614" y="2231136"/>
            <a:ext cx="729051"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17</a:t>
            </a:r>
          </a:p>
        </p:txBody>
      </p:sp>
      <p:sp>
        <p:nvSpPr>
          <p:cNvPr id="23" name="Rectangle 22"/>
          <p:cNvSpPr/>
          <p:nvPr/>
        </p:nvSpPr>
        <p:spPr>
          <a:xfrm>
            <a:off x="3543665" y="2231136"/>
            <a:ext cx="257312" cy="4389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0977" y="2231136"/>
            <a:ext cx="1200790" cy="43891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0977" y="2231136"/>
            <a:ext cx="1200790"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28</a:t>
            </a:r>
          </a:p>
        </p:txBody>
      </p:sp>
      <p:sp>
        <p:nvSpPr>
          <p:cNvPr id="26" name="Rectangle 25"/>
          <p:cNvSpPr/>
          <p:nvPr/>
        </p:nvSpPr>
        <p:spPr>
          <a:xfrm>
            <a:off x="731520" y="2788920"/>
            <a:ext cx="137160" cy="137160"/>
          </a:xfrm>
          <a:prstGeom prst="rect">
            <a:avLst/>
          </a:prstGeom>
          <a:solidFill>
            <a:srgbClr val="065A82"/>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2743200"/>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people</a:t>
            </a:r>
            <a:r>
              <a:rPr sz="930" b="0" i="0">
                <a:solidFill>
                  <a:srgbClr val="21295C"/>
                </a:solidFill>
                <a:latin typeface="DejaVu Sans"/>
              </a:rPr>
              <a:t> — 32% → 26%</a:t>
            </a:r>
          </a:p>
        </p:txBody>
      </p:sp>
      <p:sp>
        <p:nvSpPr>
          <p:cNvPr id="28" name="Rectangle 27"/>
          <p:cNvSpPr/>
          <p:nvPr/>
        </p:nvSpPr>
        <p:spPr>
          <a:xfrm>
            <a:off x="731520" y="3008376"/>
            <a:ext cx="137160" cy="137160"/>
          </a:xfrm>
          <a:prstGeom prst="rect">
            <a:avLst/>
          </a:prstGeom>
          <a:solidFill>
            <a:srgbClr val="F0AB0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2962656"/>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model calls</a:t>
            </a:r>
            <a:r>
              <a:rPr sz="930" b="0" i="0">
                <a:solidFill>
                  <a:srgbClr val="21295C"/>
                </a:solidFill>
                <a:latin typeface="DejaVu Sans"/>
              </a:rPr>
              <a:t> — 20% → 23%</a:t>
            </a:r>
          </a:p>
        </p:txBody>
      </p:sp>
      <p:sp>
        <p:nvSpPr>
          <p:cNvPr id="30" name="Rectangle 29"/>
          <p:cNvSpPr/>
          <p:nvPr/>
        </p:nvSpPr>
        <p:spPr>
          <a:xfrm>
            <a:off x="731520" y="3227832"/>
            <a:ext cx="137160" cy="137160"/>
          </a:xfrm>
          <a:prstGeom prst="rect">
            <a:avLst/>
          </a:prstGeom>
          <a:solidFill>
            <a:srgbClr val="02809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3182112"/>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hardware and cloud</a:t>
            </a:r>
            <a:r>
              <a:rPr sz="930" b="0" i="0">
                <a:solidFill>
                  <a:srgbClr val="21295C"/>
                </a:solidFill>
                <a:latin typeface="DejaVu Sans"/>
              </a:rPr>
              <a:t> — around 17%, unchanged</a:t>
            </a:r>
          </a:p>
        </p:txBody>
      </p:sp>
      <p:sp>
        <p:nvSpPr>
          <p:cNvPr id="32" name="Rectangle 31"/>
          <p:cNvSpPr/>
          <p:nvPr/>
        </p:nvSpPr>
        <p:spPr>
          <a:xfrm>
            <a:off x="731520" y="3447287"/>
            <a:ext cx="137160" cy="137160"/>
          </a:xfrm>
          <a:prstGeom prst="rect">
            <a:avLst/>
          </a:prstGeom>
          <a:solidFill>
            <a:srgbClr val="1C7293"/>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3401568"/>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data storage and processing</a:t>
            </a:r>
            <a:r>
              <a:rPr sz="930" b="0" i="0">
                <a:solidFill>
                  <a:srgbClr val="21295C"/>
                </a:solidFill>
                <a:latin typeface="DejaVu Sans"/>
              </a:rPr>
              <a:t> — 6%</a:t>
            </a:r>
          </a:p>
        </p:txBody>
      </p:sp>
      <p:sp>
        <p:nvSpPr>
          <p:cNvPr id="34" name="Rectangle 33"/>
          <p:cNvSpPr/>
          <p:nvPr/>
        </p:nvSpPr>
        <p:spPr>
          <a:xfrm>
            <a:off x="731520" y="3666744"/>
            <a:ext cx="137160" cy="137160"/>
          </a:xfrm>
          <a:prstGeom prst="rect">
            <a:avLst/>
          </a:prstGeom>
          <a:solidFill>
            <a:srgbClr val="E5EAF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621024"/>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everything else</a:t>
            </a:r>
            <a:r>
              <a:rPr sz="930" b="0" i="0">
                <a:solidFill>
                  <a:srgbClr val="21295C"/>
                </a:solidFill>
                <a:latin typeface="DejaVu Sans"/>
              </a:rPr>
              <a:t> — model training, compliance</a:t>
            </a:r>
          </a:p>
        </p:txBody>
      </p:sp>
      <p:sp>
        <p:nvSpPr>
          <p:cNvPr id="36" name="TextBox 35"/>
          <p:cNvSpPr txBox="1"/>
          <p:nvPr/>
        </p:nvSpPr>
        <p:spPr>
          <a:xfrm>
            <a:off x="713232" y="3877056"/>
            <a:ext cx="4288536" cy="365760"/>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ICONIQ Capital, State of AI 2026: around 305 executives of companies that build products with AI, a survey of the second quarter of 2026. The first four shares come from the report; the last one closes the sum to 100%</a:t>
            </a:r>
          </a:p>
        </p:txBody>
      </p:sp>
      <p:sp>
        <p:nvSpPr>
          <p:cNvPr id="37" name="TextBox 36"/>
          <p:cNvSpPr txBox="1"/>
          <p:nvPr/>
        </p:nvSpPr>
        <p:spPr>
          <a:xfrm>
            <a:off x="713232" y="4297680"/>
            <a:ext cx="4288536" cy="658368"/>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On the revenue side: model calls eat around </a:t>
            </a:r>
            <a:r>
              <a:rPr sz="960" b="1" i="0">
                <a:solidFill>
                  <a:srgbClr val="21295C"/>
                </a:solidFill>
                <a:latin typeface="DejaVu Sans"/>
              </a:rPr>
              <a:t>23% of revenue</a:t>
            </a:r>
            <a:r>
              <a:rPr sz="960" b="0" i="0">
                <a:solidFill>
                  <a:srgbClr val="21295C"/>
                </a:solidFill>
                <a:latin typeface="DejaVu Sans"/>
              </a:rPr>
              <a:t>. Gross margin on products with AI was </a:t>
            </a:r>
            <a:r>
              <a:rPr sz="960" b="1" i="0">
                <a:solidFill>
                  <a:srgbClr val="21295C"/>
                </a:solidFill>
                <a:latin typeface="DejaVu Sans"/>
              </a:rPr>
              <a:t>45%</a:t>
            </a:r>
            <a:r>
              <a:rPr sz="960" b="0" i="0">
                <a:solidFill>
                  <a:srgbClr val="21295C"/>
                </a:solidFill>
                <a:latin typeface="DejaVu Sans"/>
              </a:rPr>
              <a:t> in 2025, and </a:t>
            </a:r>
            <a:r>
              <a:rPr sz="960" b="1" i="0">
                <a:solidFill>
                  <a:srgbClr val="21295C"/>
                </a:solidFill>
                <a:latin typeface="DejaVu Sans"/>
              </a:rPr>
              <a:t>53%</a:t>
            </a:r>
            <a:r>
              <a:rPr sz="960" b="0" i="0">
                <a:solidFill>
                  <a:srgbClr val="21295C"/>
                </a:solidFill>
                <a:latin typeface="DejaVu Sans"/>
              </a:rPr>
              <a:t> is expected for 2026; on a classic software product it holds above 70%.</a:t>
            </a:r>
          </a:p>
        </p:txBody>
      </p:sp>
      <p:sp>
        <p:nvSpPr>
          <p:cNvPr id="38" name="Rounded Rectangle 37"/>
          <p:cNvSpPr/>
          <p:nvPr/>
        </p:nvSpPr>
        <p:spPr>
          <a:xfrm>
            <a:off x="5394960" y="804672"/>
            <a:ext cx="6309360" cy="4206240"/>
          </a:xfrm>
          <a:prstGeom prst="roundRect">
            <a:avLst>
              <a:gd name="adj" fmla="val 724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05272" y="914400"/>
            <a:ext cx="588873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BY FEATURE — AND HOW THE DECISION IS TAKEN</a:t>
            </a:r>
          </a:p>
        </p:txBody>
      </p:sp>
      <p:sp>
        <p:nvSpPr>
          <p:cNvPr id="40" name="TextBox 39"/>
          <p:cNvSpPr txBox="1"/>
          <p:nvPr/>
        </p:nvSpPr>
        <p:spPr>
          <a:xfrm>
            <a:off x="5605272" y="1152144"/>
            <a:ext cx="5888736" cy="310896"/>
          </a:xfrm>
          <a:prstGeom prst="rect">
            <a:avLst/>
          </a:prstGeom>
          <a:noFill/>
        </p:spPr>
        <p:txBody>
          <a:bodyPr wrap="square" lIns="0" rIns="0" tIns="0" bIns="0" anchor="t">
            <a:spAutoFit/>
          </a:bodyPr>
          <a:lstStyle/>
          <a:p>
            <a:pPr algn="l">
              <a:lnSpc>
                <a:spcPct val="104000"/>
              </a:lnSpc>
            </a:pPr>
            <a:r>
              <a:rPr sz="960" b="0" i="1">
                <a:solidFill>
                  <a:srgbClr val="5B6678"/>
                </a:solidFill>
                <a:latin typeface="DejaVu Sans"/>
              </a:rPr>
              <a:t>worked through on the illustrative numbers of one catalogue: a breakdown like this is something few can build</a:t>
            </a:r>
          </a:p>
        </p:txBody>
      </p:sp>
      <p:sp>
        <p:nvSpPr>
          <p:cNvPr id="41" name="Rounded Rectangle 40"/>
          <p:cNvSpPr/>
          <p:nvPr/>
        </p:nvSpPr>
        <p:spPr>
          <a:xfrm>
            <a:off x="5605272" y="1499616"/>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78424" y="1499616"/>
            <a:ext cx="1993391"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Feature</a:t>
            </a:r>
          </a:p>
        </p:txBody>
      </p:sp>
      <p:sp>
        <p:nvSpPr>
          <p:cNvPr id="43" name="Rounded Rectangle 42"/>
          <p:cNvSpPr/>
          <p:nvPr/>
        </p:nvSpPr>
        <p:spPr>
          <a:xfrm>
            <a:off x="7781544"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54696"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Revenue</a:t>
            </a:r>
          </a:p>
        </p:txBody>
      </p:sp>
      <p:sp>
        <p:nvSpPr>
          <p:cNvPr id="45" name="Rounded Rectangle 44"/>
          <p:cNvSpPr/>
          <p:nvPr/>
        </p:nvSpPr>
        <p:spPr>
          <a:xfrm>
            <a:off x="9098280"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71432"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Cost</a:t>
            </a:r>
          </a:p>
        </p:txBody>
      </p:sp>
      <p:sp>
        <p:nvSpPr>
          <p:cNvPr id="47" name="Rounded Rectangle 46"/>
          <p:cNvSpPr/>
          <p:nvPr/>
        </p:nvSpPr>
        <p:spPr>
          <a:xfrm>
            <a:off x="10415015" y="1499616"/>
            <a:ext cx="1078992"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88167" y="1499616"/>
            <a:ext cx="932688"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Decision</a:t>
            </a:r>
          </a:p>
        </p:txBody>
      </p:sp>
      <p:sp>
        <p:nvSpPr>
          <p:cNvPr id="49" name="Rounded Rectangle 48"/>
          <p:cNvSpPr/>
          <p:nvPr/>
        </p:nvSpPr>
        <p:spPr>
          <a:xfrm>
            <a:off x="5605272" y="1847088"/>
            <a:ext cx="2139696"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96712" y="188366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Suggestions in catalogue search</a:t>
            </a:r>
          </a:p>
        </p:txBody>
      </p:sp>
      <p:sp>
        <p:nvSpPr>
          <p:cNvPr id="51" name="Rounded Rectangle 50"/>
          <p:cNvSpPr/>
          <p:nvPr/>
        </p:nvSpPr>
        <p:spPr>
          <a:xfrm>
            <a:off x="7781544"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72983"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+8% to paid orders</a:t>
            </a:r>
          </a:p>
        </p:txBody>
      </p:sp>
      <p:sp>
        <p:nvSpPr>
          <p:cNvPr id="53" name="Rounded Rectangle 52"/>
          <p:cNvSpPr/>
          <p:nvPr/>
        </p:nvSpPr>
        <p:spPr>
          <a:xfrm>
            <a:off x="9098280"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89719"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+₽0.9 per query</a:t>
            </a:r>
          </a:p>
        </p:txBody>
      </p:sp>
      <p:sp>
        <p:nvSpPr>
          <p:cNvPr id="55" name="Rounded Rectangle 54"/>
          <p:cNvSpPr/>
          <p:nvPr/>
        </p:nvSpPr>
        <p:spPr>
          <a:xfrm>
            <a:off x="10415015" y="1847088"/>
            <a:ext cx="1078992"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06455" y="188366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we expand it</a:t>
            </a:r>
          </a:p>
        </p:txBody>
      </p:sp>
      <p:sp>
        <p:nvSpPr>
          <p:cNvPr id="57" name="Rounded Rectangle 56"/>
          <p:cNvSpPr/>
          <p:nvPr/>
        </p:nvSpPr>
        <p:spPr>
          <a:xfrm>
            <a:off x="5605272" y="2487168"/>
            <a:ext cx="2139696"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96712" y="252374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An AI agent on the first line of support</a:t>
            </a:r>
          </a:p>
        </p:txBody>
      </p:sp>
      <p:sp>
        <p:nvSpPr>
          <p:cNvPr id="59" name="Rounded Rectangle 58"/>
          <p:cNvSpPr/>
          <p:nvPr/>
        </p:nvSpPr>
        <p:spPr>
          <a:xfrm>
            <a:off x="7781544"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2983"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 directly</a:t>
            </a:r>
          </a:p>
        </p:txBody>
      </p:sp>
      <p:sp>
        <p:nvSpPr>
          <p:cNvPr id="61" name="Rounded Rectangle 60"/>
          <p:cNvSpPr/>
          <p:nvPr/>
        </p:nvSpPr>
        <p:spPr>
          <a:xfrm>
            <a:off x="9098280"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19"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−40% of the agent's time per ticket</a:t>
            </a:r>
          </a:p>
        </p:txBody>
      </p:sp>
      <p:sp>
        <p:nvSpPr>
          <p:cNvPr id="63" name="Rounded Rectangle 62"/>
          <p:cNvSpPr/>
          <p:nvPr/>
        </p:nvSpPr>
        <p:spPr>
          <a:xfrm>
            <a:off x="10415015" y="2487168"/>
            <a:ext cx="1078992"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06455" y="252374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we keep it: it pays in savings</a:t>
            </a:r>
          </a:p>
        </p:txBody>
      </p:sp>
      <p:sp>
        <p:nvSpPr>
          <p:cNvPr id="65" name="Rounded Rectangle 64"/>
          <p:cNvSpPr/>
          <p:nvPr/>
        </p:nvSpPr>
        <p:spPr>
          <a:xfrm>
            <a:off x="5605272" y="3127248"/>
            <a:ext cx="2139696"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96712" y="316382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Review summaries on the product card</a:t>
            </a:r>
          </a:p>
        </p:txBody>
      </p:sp>
      <p:sp>
        <p:nvSpPr>
          <p:cNvPr id="67" name="Rounded Rectangle 66"/>
          <p:cNvSpPr/>
          <p:nvPr/>
        </p:nvSpPr>
        <p:spPr>
          <a:xfrm>
            <a:off x="7781544"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72983"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within the margin of error</a:t>
            </a:r>
          </a:p>
        </p:txBody>
      </p:sp>
      <p:sp>
        <p:nvSpPr>
          <p:cNvPr id="69" name="Rounded Rectangle 68"/>
          <p:cNvSpPr/>
          <p:nvPr/>
        </p:nvSpPr>
        <p:spPr>
          <a:xfrm>
            <a:off x="9098280"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89719"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+₽1.4 per view</a:t>
            </a:r>
          </a:p>
        </p:txBody>
      </p:sp>
      <p:sp>
        <p:nvSpPr>
          <p:cNvPr id="71" name="Rounded Rectangle 70"/>
          <p:cNvSpPr/>
          <p:nvPr/>
        </p:nvSpPr>
        <p:spPr>
          <a:xfrm>
            <a:off x="10415015" y="3127248"/>
            <a:ext cx="1078992"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06455" y="316382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we close it</a:t>
            </a:r>
          </a:p>
        </p:txBody>
      </p:sp>
      <p:sp>
        <p:nvSpPr>
          <p:cNvPr id="73" name="Rounded Rectangle 72"/>
          <p:cNvSpPr/>
          <p:nvPr/>
        </p:nvSpPr>
        <p:spPr>
          <a:xfrm>
            <a:off x="5605272" y="3767327"/>
            <a:ext cx="2139696"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96712" y="3803903"/>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A decision log and a way out to a human</a:t>
            </a:r>
          </a:p>
        </p:txBody>
      </p:sp>
      <p:sp>
        <p:nvSpPr>
          <p:cNvPr id="75" name="Rounded Rectangle 74"/>
          <p:cNvSpPr/>
          <p:nvPr/>
        </p:nvSpPr>
        <p:spPr>
          <a:xfrm>
            <a:off x="7781544"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872983"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a:t>
            </a:r>
          </a:p>
        </p:txBody>
      </p:sp>
      <p:sp>
        <p:nvSpPr>
          <p:cNvPr id="77" name="Rounded Rectangle 76"/>
          <p:cNvSpPr/>
          <p:nvPr/>
        </p:nvSpPr>
        <p:spPr>
          <a:xfrm>
            <a:off x="9098280"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189719"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constant, grows with volume</a:t>
            </a:r>
          </a:p>
        </p:txBody>
      </p:sp>
      <p:sp>
        <p:nvSpPr>
          <p:cNvPr id="79" name="Rounded Rectangle 78"/>
          <p:cNvSpPr/>
          <p:nvPr/>
        </p:nvSpPr>
        <p:spPr>
          <a:xfrm>
            <a:off x="10415015" y="3767327"/>
            <a:ext cx="1078992"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506455" y="3803903"/>
            <a:ext cx="896112"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cannot be closed</a:t>
            </a:r>
          </a:p>
        </p:txBody>
      </p:sp>
      <p:sp>
        <p:nvSpPr>
          <p:cNvPr id="81" name="TextBox 80"/>
          <p:cNvSpPr txBox="1"/>
          <p:nvPr/>
        </p:nvSpPr>
        <p:spPr>
          <a:xfrm>
            <a:off x="5605272" y="4443984"/>
            <a:ext cx="5888736" cy="475488"/>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Every number in this breakdown stands against one baseline: the same catalogue without that feature, over the same month. A breakdown by feature is something few can build: 22% of finance leaders can connect AI spend to money, and 60% agree that they spend more on AI than they can justify — CloudZero, June 2026, 260 respondents, more than half of them chief financial officers</a:t>
            </a:r>
          </a:p>
        </p:txBody>
      </p:sp>
      <p:sp>
        <p:nvSpPr>
          <p:cNvPr id="82" name="Rounded Rectangle 81"/>
          <p:cNvSpPr/>
          <p:nvPr/>
        </p:nvSpPr>
        <p:spPr>
          <a:xfrm>
            <a:off x="502920" y="5120640"/>
            <a:ext cx="11201400" cy="1042415"/>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22376" y="5175503"/>
            <a:ext cx="10762488" cy="93268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A caveat: a loss-making line cannot always be closed. A decision log and a way out to a human are required for a high-risk system by the EU AI Act: from 2 August 2026 events are recorded automatically, and the logs are kept for no less than six months. Revenue zero, cost constant, switching it off not allowed. The same class — a feature that loses money on its own line and holds revenue on somebody else's: the free tier, support, data export.</a:t>
            </a:r>
          </a:p>
        </p:txBody>
      </p:sp>
      <p:sp>
        <p:nvSpPr>
          <p:cNvPr id="84" name="TextBox 8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ICONIQ Capital — State of AI report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CloudZero — survey of finance leaders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European Union Artificial Intelligence Act, arts. 12 and 19</a:t>
            </a:r>
          </a:p>
        </p:txBody>
      </p:sp>
      <p:sp>
        <p:nvSpPr>
          <p:cNvPr id="85" name="TextBox 8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We write down the result at which the pilot gets closed — before we switch it on</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WHAT IT IS</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One sentence with numbers in it, written down in advance, by which a few weeks later you can see whether to carry on or to close. The nearest familiar analogue is </a:t>
            </a:r>
            <a:r>
              <a:rPr sz="1150" b="1" i="0">
                <a:solidFill>
                  <a:srgbClr val="21295C"/>
                </a:solidFill>
                <a:latin typeface="DejaVu Sans"/>
              </a:rPr>
              <a:t>the acceptance criterion in a statement of work</a:t>
            </a:r>
            <a:r>
              <a:rPr sz="1150" b="0" i="0">
                <a:solidFill>
                  <a:srgbClr val="21295C"/>
                </a:solidFill>
                <a:latin typeface="DejaVu Sans"/>
              </a:rPr>
              <a:t>, translated out of functionality and into money. A number named after the result explains the result and tests nothing any more.</a:t>
            </a:r>
          </a:p>
        </p:txBody>
      </p:sp>
      <p:sp>
        <p:nvSpPr>
          <p:cNvPr id="7" name="Rounded Rectangle 6"/>
          <p:cNvSpPr/>
          <p:nvPr/>
        </p:nvSpPr>
        <p:spPr>
          <a:xfrm>
            <a:off x="502920" y="1942534"/>
            <a:ext cx="1152144" cy="1889597"/>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895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HOW IT WORKS</a:t>
            </a:r>
          </a:p>
        </p:txBody>
      </p:sp>
      <p:sp>
        <p:nvSpPr>
          <p:cNvPr id="9" name="Rounded Rectangle 8"/>
          <p:cNvSpPr/>
          <p:nvPr/>
        </p:nvSpPr>
        <p:spPr>
          <a:xfrm>
            <a:off x="1801368" y="1942534"/>
            <a:ext cx="9902952" cy="1889597"/>
          </a:xfrm>
          <a:prstGeom prst="roundRect">
            <a:avLst>
              <a:gd name="adj" fmla="val 16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What we improve</a:t>
            </a:r>
            <a:r>
              <a:rPr sz="1000" b="0" i="0">
                <a:solidFill>
                  <a:srgbClr val="21295C"/>
                </a:solidFill>
                <a:latin typeface="DejaVu Sans"/>
              </a:rPr>
              <a:t> — from what value to what value.</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What must not get worse while we do it</a:t>
            </a:r>
            <a:r>
              <a:rPr sz="1000" b="0" i="0">
                <a:solidFill>
                  <a:srgbClr val="21295C"/>
                </a:solidFill>
                <a:latin typeface="DejaVu Sans"/>
              </a:rPr>
              <a:t> — one or two guardrail quantities.</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On what volume and over what period</a:t>
            </a:r>
            <a:r>
              <a:rPr sz="1000" b="0" i="0">
                <a:solidFill>
                  <a:srgbClr val="21295C"/>
                </a:solidFill>
                <a:latin typeface="DejaVu Sans"/>
              </a:rPr>
              <a:t> we test.</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Who looks, and how often.</a:t>
            </a:r>
            <a:r>
              <a:rPr sz="1000" b="0" i="0">
                <a:solidFill>
                  <a:srgbClr val="21295C"/>
                </a:solidFill>
                <a:latin typeface="DejaVu Sans"/>
              </a:rPr>
              <a:t> The entry is made before switch-on, with a date and a name on it: otherwise there is nothing by which to check the order of events in time.</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“Having the model handle tickets will bring the cost of one ticket down </a:t>
            </a:r>
            <a:r>
              <a:rPr sz="1000" b="1" i="0">
                <a:solidFill>
                  <a:srgbClr val="065A82"/>
                </a:solidFill>
                <a:latin typeface="DejaVu Sans"/>
              </a:rPr>
              <a:t>from ₽42 to ₽15</a:t>
            </a:r>
            <a:r>
              <a:rPr sz="1000" b="0" i="0">
                <a:solidFill>
                  <a:srgbClr val="21295C"/>
                </a:solidFill>
                <a:latin typeface="DejaVu Sans"/>
              </a:rPr>
              <a:t>, customer satisfaction will not drop </a:t>
            </a:r>
            <a:r>
              <a:rPr sz="1000" b="1" i="0">
                <a:solidFill>
                  <a:srgbClr val="028090"/>
                </a:solidFill>
                <a:latin typeface="DejaVu Sans"/>
              </a:rPr>
              <a:t>below 4.2 out of 5</a:t>
            </a:r>
            <a:r>
              <a:rPr sz="1000" b="0" i="0">
                <a:solidFill>
                  <a:srgbClr val="21295C"/>
                </a:solidFill>
                <a:latin typeface="DejaVu Sans"/>
              </a:rPr>
              <a:t>, and the share of tickets handed to a human will not exceed </a:t>
            </a:r>
            <a:r>
              <a:rPr sz="1000" b="1" i="0">
                <a:solidFill>
                  <a:srgbClr val="028090"/>
                </a:solidFill>
                <a:latin typeface="DejaVu Sans"/>
              </a:rPr>
              <a:t>20%</a:t>
            </a:r>
            <a:r>
              <a:rPr sz="1000" b="0" i="0">
                <a:solidFill>
                  <a:srgbClr val="21295C"/>
                </a:solidFill>
                <a:latin typeface="DejaVu Sans"/>
              </a:rPr>
              <a:t>. We test on </a:t>
            </a:r>
            <a:r>
              <a:rPr sz="1000" b="1" i="0">
                <a:solidFill>
                  <a:srgbClr val="1C7293"/>
                </a:solidFill>
                <a:latin typeface="DejaVu Sans"/>
              </a:rPr>
              <a:t>5,000 tickets over 6 weeks</a:t>
            </a:r>
            <a:r>
              <a:rPr sz="1000" b="0" i="0">
                <a:solidFill>
                  <a:srgbClr val="21295C"/>
                </a:solidFill>
                <a:latin typeface="DejaVu Sans"/>
              </a:rPr>
              <a:t>. Watched by </a:t>
            </a:r>
            <a:r>
              <a:rPr sz="1000" b="1" i="0">
                <a:solidFill>
                  <a:srgbClr val="F0AB00"/>
                </a:solidFill>
                <a:latin typeface="DejaVu Sans"/>
              </a:rPr>
              <a:t>the head of support, once a week</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a filled-in sample entry: one part in it for each step on the left</a:t>
            </a:r>
          </a:p>
        </p:txBody>
      </p:sp>
      <p:sp>
        <p:nvSpPr>
          <p:cNvPr id="25" name="Rounded Rectangle 24"/>
          <p:cNvSpPr/>
          <p:nvPr/>
        </p:nvSpPr>
        <p:spPr>
          <a:xfrm>
            <a:off x="502920" y="389613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9613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WITH AI AND WITHOUT</a:t>
            </a:r>
          </a:p>
        </p:txBody>
      </p:sp>
      <p:sp>
        <p:nvSpPr>
          <p:cNvPr id="27" name="Rounded Rectangle 26"/>
          <p:cNvSpPr/>
          <p:nvPr/>
        </p:nvSpPr>
        <p:spPr>
          <a:xfrm>
            <a:off x="1801368" y="389613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8757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332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WITHOUT AI — apparatus half a century old</a:t>
            </a:r>
          </a:p>
        </p:txBody>
      </p:sp>
      <p:sp>
        <p:nvSpPr>
          <p:cNvPr id="30" name="TextBox 29"/>
          <p:cNvSpPr txBox="1"/>
          <p:nvPr/>
        </p:nvSpPr>
        <p:spPr>
          <a:xfrm>
            <a:off x="2084831" y="426189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business case with a payback threshold and a decision at a gate. </a:t>
            </a:r>
            <a:r>
              <a:rPr sz="950" b="1" i="0">
                <a:solidFill>
                  <a:srgbClr val="21295C"/>
                </a:solidFill>
                <a:latin typeface="DejaVu Sans"/>
              </a:rPr>
              <a:t>There is nothing to invent afresh</a:t>
            </a:r>
            <a:r>
              <a:rPr sz="950" b="0" i="0">
                <a:solidFill>
                  <a:srgbClr val="21295C"/>
                </a:solidFill>
                <a:latin typeface="DejaVu Sans"/>
              </a:rPr>
              <a:t>, you take what is already there.</a:t>
            </a:r>
          </a:p>
        </p:txBody>
      </p:sp>
      <p:sp>
        <p:nvSpPr>
          <p:cNvPr id="31" name="Rounded Rectangle 30"/>
          <p:cNvSpPr/>
          <p:nvPr/>
        </p:nvSpPr>
        <p:spPr>
          <a:xfrm>
            <a:off x="6844284" y="398757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332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WITH AI — only the rhythm changes</a:t>
            </a:r>
          </a:p>
        </p:txBody>
      </p:sp>
      <p:sp>
        <p:nvSpPr>
          <p:cNvPr id="33" name="TextBox 32"/>
          <p:cNvSpPr txBox="1"/>
          <p:nvPr/>
        </p:nvSpPr>
        <p:spPr>
          <a:xfrm>
            <a:off x="6944868" y="426189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Cost moves daily, a quarterly rhythm cannot keep up, and that is why they look weekly. Meanwhile companies measure activity instead of money — hence the gap: almost everyone invests, </a:t>
            </a:r>
            <a:r>
              <a:rPr sz="950" b="1" i="0">
                <a:solidFill>
                  <a:srgbClr val="21295C"/>
                </a:solidFill>
                <a:latin typeface="DejaVu Sans"/>
              </a:rPr>
              <a:t>6%</a:t>
            </a:r>
            <a:r>
              <a:rPr sz="950" b="0" i="0">
                <a:solidFill>
                  <a:srgbClr val="21295C"/>
                </a:solidFill>
                <a:latin typeface="DejaVu Sans"/>
              </a:rPr>
              <a:t> see a measurable return.</a:t>
            </a:r>
          </a:p>
        </p:txBody>
      </p:sp>
      <p:sp>
        <p:nvSpPr>
          <p:cNvPr id="34" name="Rounded Rectangle 33"/>
          <p:cNvSpPr/>
          <p:nvPr/>
        </p:nvSpPr>
        <p:spPr>
          <a:xfrm>
            <a:off x="502920" y="5187348"/>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87348"/>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WHERE IT BREAKS</a:t>
            </a:r>
          </a:p>
        </p:txBody>
      </p:sp>
      <p:sp>
        <p:nvSpPr>
          <p:cNvPr id="36" name="Rounded Rectangle 35"/>
          <p:cNvSpPr/>
          <p:nvPr/>
        </p:nvSpPr>
        <p:spPr>
          <a:xfrm>
            <a:off x="1801368" y="5187348"/>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78788"/>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The starting value is measured on your own process.</a:t>
            </a:r>
            <a:r>
              <a:rPr sz="1000" b="1" i="0">
                <a:solidFill>
                  <a:srgbClr val="21295C"/>
                </a:solidFill>
                <a:latin typeface="DejaVu Sans"/>
              </a:rPr>
              <a:t> A vendor's promise will not do: somebody else's number describes somebody else's process. </a:t>
            </a:r>
            <a:r>
              <a:rPr sz="1000" b="1" i="0">
                <a:solidFill>
                  <a:srgbClr val="21295C"/>
                </a:solidFill>
                <a:latin typeface="DejaVu Sans"/>
              </a:rPr>
              <a:t>If “we close it” is not among the outcomes, this is not a criterion:</a:t>
            </a:r>
            <a:r>
              <a:rPr sz="1000" b="1" i="0">
                <a:solidFill>
                  <a:srgbClr val="21295C"/>
                </a:solidFill>
                <a:latin typeface="DejaVu Sans"/>
              </a:rPr>
              <a:t> a threshold you cannot fail to clear grants no permission. And </a:t>
            </a:r>
            <a:r>
              <a:rPr sz="1000" b="1" i="0">
                <a:solidFill>
                  <a:srgbClr val="21295C"/>
                </a:solidFill>
                <a:latin typeface="DejaVu Sans"/>
              </a:rPr>
              <a:t>numbers that appeared after switch-on explain the result,</a:t>
            </a:r>
            <a:r>
              <a:rPr sz="1000" b="1" i="0">
                <a:solidFill>
                  <a:srgbClr val="21295C"/>
                </a:solidFill>
                <a:latin typeface="DejaVu Sans"/>
              </a:rPr>
              <a:t> which is why the date and the name are checked before the numbers.</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Companies measure activity instead of money in the profit and loss statement; a measurable return is seen by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How any feature is assessed — AI inside or not</a:t>
            </a:r>
          </a:p>
        </p:txBody>
      </p:sp>
      <p:sp>
        <p:nvSpPr>
          <p:cNvPr id="3" name="Rounded Rectangle 2"/>
          <p:cNvSpPr/>
          <p:nvPr/>
        </p:nvSpPr>
        <p:spPr>
          <a:xfrm>
            <a:off x="502920" y="841248"/>
            <a:ext cx="5532120" cy="1353312"/>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 y="987552"/>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1</a:t>
            </a:r>
          </a:p>
        </p:txBody>
      </p:sp>
      <p:sp>
        <p:nvSpPr>
          <p:cNvPr id="6" name="TextBox 5"/>
          <p:cNvSpPr txBox="1"/>
          <p:nvPr/>
        </p:nvSpPr>
        <p:spPr>
          <a:xfrm>
            <a:off x="1106424" y="969264"/>
            <a:ext cx="4297680" cy="365760"/>
          </a:xfrm>
          <a:prstGeom prst="rect">
            <a:avLst/>
          </a:prstGeom>
          <a:noFill/>
        </p:spPr>
        <p:txBody>
          <a:bodyPr wrap="square" lIns="0" rIns="0" tIns="0" bIns="0" anchor="ctr">
            <a:spAutoFit/>
          </a:bodyPr>
          <a:lstStyle/>
          <a:p>
            <a:pPr algn="l">
              <a:lnSpc>
                <a:spcPct val="104000"/>
              </a:lnSpc>
            </a:pPr>
            <a:r>
              <a:rPr sz="1250" b="1" i="0">
                <a:solidFill>
                  <a:srgbClr val="065A82"/>
                </a:solidFill>
                <a:latin typeface="DejaVu Sans"/>
              </a:rPr>
              <a:t>What behaviour it changes</a:t>
            </a:r>
          </a:p>
        </p:txBody>
      </p:sp>
      <p:pic>
        <p:nvPicPr>
          <p:cNvPr id="7" name="Picture 6" descr="target-light.png"/>
          <p:cNvPicPr>
            <a:picLocks noChangeAspect="1"/>
          </p:cNvPicPr>
          <p:nvPr/>
        </p:nvPicPr>
        <p:blipFill>
          <a:blip r:embed="rId2"/>
          <a:stretch>
            <a:fillRect/>
          </a:stretch>
        </p:blipFill>
        <p:spPr>
          <a:xfrm>
            <a:off x="5550407" y="1005840"/>
            <a:ext cx="292608" cy="292608"/>
          </a:xfrm>
          <a:prstGeom prst="rect">
            <a:avLst/>
          </a:prstGeom>
        </p:spPr>
      </p:pic>
      <p:sp>
        <p:nvSpPr>
          <p:cNvPr id="8" name="TextBox 7"/>
          <p:cNvSpPr txBox="1"/>
          <p:nvPr/>
        </p:nvSpPr>
        <p:spPr>
          <a:xfrm>
            <a:off x="70408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Which user action becomes more frequent, faster or cheaper. Unnamed action — nothing to assess.</a:t>
            </a:r>
          </a:p>
        </p:txBody>
      </p:sp>
      <p:sp>
        <p:nvSpPr>
          <p:cNvPr id="9" name="Rounded Rectangle 8"/>
          <p:cNvSpPr/>
          <p:nvPr/>
        </p:nvSpPr>
        <p:spPr>
          <a:xfrm>
            <a:off x="6172200" y="841248"/>
            <a:ext cx="5532120" cy="1353312"/>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987552"/>
            <a:ext cx="329184" cy="3291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2</a:t>
            </a:r>
          </a:p>
        </p:txBody>
      </p:sp>
      <p:sp>
        <p:nvSpPr>
          <p:cNvPr id="12" name="TextBox 11"/>
          <p:cNvSpPr txBox="1"/>
          <p:nvPr/>
        </p:nvSpPr>
        <p:spPr>
          <a:xfrm>
            <a:off x="6775704" y="969264"/>
            <a:ext cx="4297680" cy="365760"/>
          </a:xfrm>
          <a:prstGeom prst="rect">
            <a:avLst/>
          </a:prstGeom>
          <a:noFill/>
        </p:spPr>
        <p:txBody>
          <a:bodyPr wrap="square" lIns="0" rIns="0" tIns="0" bIns="0" anchor="ctr">
            <a:spAutoFit/>
          </a:bodyPr>
          <a:lstStyle/>
          <a:p>
            <a:pPr algn="l">
              <a:lnSpc>
                <a:spcPct val="104000"/>
              </a:lnSpc>
            </a:pPr>
            <a:r>
              <a:rPr sz="1250" b="1" i="0">
                <a:solidFill>
                  <a:srgbClr val="028090"/>
                </a:solidFill>
                <a:latin typeface="DejaVu Sans"/>
              </a:rPr>
              <a:t>Against what baseline</a:t>
            </a:r>
          </a:p>
        </p:txBody>
      </p:sp>
      <p:pic>
        <p:nvPicPr>
          <p:cNvPr id="13" name="Picture 12" descr="ruler-light.png"/>
          <p:cNvPicPr>
            <a:picLocks noChangeAspect="1"/>
          </p:cNvPicPr>
          <p:nvPr/>
        </p:nvPicPr>
        <p:blipFill>
          <a:blip r:embed="rId3"/>
          <a:stretch>
            <a:fillRect/>
          </a:stretch>
        </p:blipFill>
        <p:spPr>
          <a:xfrm>
            <a:off x="11219688" y="1005840"/>
            <a:ext cx="292608" cy="292608"/>
          </a:xfrm>
          <a:prstGeom prst="rect">
            <a:avLst/>
          </a:prstGeom>
        </p:spPr>
      </p:pic>
      <p:sp>
        <p:nvSpPr>
          <p:cNvPr id="14" name="TextBox 13"/>
          <p:cNvSpPr txBox="1"/>
          <p:nvPr/>
        </p:nvSpPr>
        <p:spPr>
          <a:xfrm>
            <a:off x="637336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The same product without the feature, same period. With no baseline, any gain gets credited to it.</a:t>
            </a:r>
          </a:p>
        </p:txBody>
      </p:sp>
      <p:sp>
        <p:nvSpPr>
          <p:cNvPr id="15" name="Rounded Rectangle 14"/>
          <p:cNvSpPr/>
          <p:nvPr/>
        </p:nvSpPr>
        <p:spPr>
          <a:xfrm>
            <a:off x="502920" y="2331720"/>
            <a:ext cx="553212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47802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3</a:t>
            </a:r>
          </a:p>
        </p:txBody>
      </p:sp>
      <p:sp>
        <p:nvSpPr>
          <p:cNvPr id="18" name="TextBox 17"/>
          <p:cNvSpPr txBox="1"/>
          <p:nvPr/>
        </p:nvSpPr>
        <p:spPr>
          <a:xfrm>
            <a:off x="1106424" y="2459736"/>
            <a:ext cx="4297680" cy="365760"/>
          </a:xfrm>
          <a:prstGeom prst="rect">
            <a:avLst/>
          </a:prstGeom>
          <a:noFill/>
        </p:spPr>
        <p:txBody>
          <a:bodyPr wrap="square" lIns="0" rIns="0" tIns="0" bIns="0" anchor="ctr">
            <a:spAutoFit/>
          </a:bodyPr>
          <a:lstStyle/>
          <a:p>
            <a:pPr algn="l">
              <a:lnSpc>
                <a:spcPct val="104000"/>
              </a:lnSpc>
            </a:pPr>
            <a:r>
              <a:rPr sz="1250" b="1" i="0">
                <a:solidFill>
                  <a:srgbClr val="1C7293"/>
                </a:solidFill>
                <a:latin typeface="DejaVu Sans"/>
              </a:rPr>
              <a:t>What it costs</a:t>
            </a:r>
          </a:p>
        </p:txBody>
      </p:sp>
      <p:pic>
        <p:nvPicPr>
          <p:cNvPr id="19" name="Picture 18" descr="banknote-light.png"/>
          <p:cNvPicPr>
            <a:picLocks noChangeAspect="1"/>
          </p:cNvPicPr>
          <p:nvPr/>
        </p:nvPicPr>
        <p:blipFill>
          <a:blip r:embed="rId4"/>
          <a:stretch>
            <a:fillRect/>
          </a:stretch>
        </p:blipFill>
        <p:spPr>
          <a:xfrm>
            <a:off x="5550407" y="2496312"/>
            <a:ext cx="292608" cy="292608"/>
          </a:xfrm>
          <a:prstGeom prst="rect">
            <a:avLst/>
          </a:prstGeom>
        </p:spPr>
      </p:pic>
      <p:sp>
        <p:nvSpPr>
          <p:cNvPr id="20" name="TextBox 19"/>
          <p:cNvSpPr txBox="1"/>
          <p:nvPr/>
        </p:nvSpPr>
        <p:spPr>
          <a:xfrm>
            <a:off x="70408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Build once, run every month. The second is counted together with usage volume.</a:t>
            </a:r>
          </a:p>
        </p:txBody>
      </p:sp>
      <p:sp>
        <p:nvSpPr>
          <p:cNvPr id="21" name="Rounded Rectangle 20"/>
          <p:cNvSpPr/>
          <p:nvPr/>
        </p:nvSpPr>
        <p:spPr>
          <a:xfrm>
            <a:off x="6172200" y="2331720"/>
            <a:ext cx="5532120" cy="1353312"/>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478024"/>
            <a:ext cx="329184" cy="3291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4</a:t>
            </a:r>
          </a:p>
        </p:txBody>
      </p:sp>
      <p:sp>
        <p:nvSpPr>
          <p:cNvPr id="24" name="TextBox 23"/>
          <p:cNvSpPr txBox="1"/>
          <p:nvPr/>
        </p:nvSpPr>
        <p:spPr>
          <a:xfrm>
            <a:off x="6775704" y="2459736"/>
            <a:ext cx="4297680" cy="365760"/>
          </a:xfrm>
          <a:prstGeom prst="rect">
            <a:avLst/>
          </a:prstGeom>
          <a:noFill/>
        </p:spPr>
        <p:txBody>
          <a:bodyPr wrap="square" lIns="0" rIns="0" tIns="0" bIns="0" anchor="ctr">
            <a:spAutoFit/>
          </a:bodyPr>
          <a:lstStyle/>
          <a:p>
            <a:pPr algn="l">
              <a:lnSpc>
                <a:spcPct val="104000"/>
              </a:lnSpc>
            </a:pPr>
            <a:r>
              <a:rPr sz="1250" b="1" i="0">
                <a:solidFill>
                  <a:srgbClr val="21295C"/>
                </a:solidFill>
                <a:latin typeface="DejaVu Sans"/>
              </a:rPr>
              <a:t>At what result it gets shut down</a:t>
            </a:r>
          </a:p>
        </p:txBody>
      </p:sp>
      <p:pic>
        <p:nvPicPr>
          <p:cNvPr id="25" name="Picture 24" descr="timer-light.png"/>
          <p:cNvPicPr>
            <a:picLocks noChangeAspect="1"/>
          </p:cNvPicPr>
          <p:nvPr/>
        </p:nvPicPr>
        <p:blipFill>
          <a:blip r:embed="rId5"/>
          <a:stretch>
            <a:fillRect/>
          </a:stretch>
        </p:blipFill>
        <p:spPr>
          <a:xfrm>
            <a:off x="11219688" y="2496312"/>
            <a:ext cx="292608" cy="292608"/>
          </a:xfrm>
          <a:prstGeom prst="rect">
            <a:avLst/>
          </a:prstGeom>
        </p:spPr>
      </p:pic>
      <p:sp>
        <p:nvSpPr>
          <p:cNvPr id="26" name="TextBox 25"/>
          <p:cNvSpPr txBox="1"/>
          <p:nvPr/>
        </p:nvSpPr>
        <p:spPr>
          <a:xfrm>
            <a:off x="637336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Number and date written down before launch: named after, it only explains the result.</a:t>
            </a:r>
          </a:p>
        </p:txBody>
      </p:sp>
      <p:sp>
        <p:nvSpPr>
          <p:cNvPr id="27" name="Rounded Rectangle 26"/>
          <p:cNvSpPr/>
          <p:nvPr/>
        </p:nvSpPr>
        <p:spPr>
          <a:xfrm>
            <a:off x="502920" y="3822191"/>
            <a:ext cx="11201400" cy="1115568"/>
          </a:xfrm>
          <a:prstGeom prst="roundRect">
            <a:avLst>
              <a:gd name="adj" fmla="val 22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13632"/>
            <a:ext cx="1074420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WHAT CHANGES WHEN THERE IS AI INSIDE</a:t>
            </a:r>
          </a:p>
        </p:txBody>
      </p:sp>
      <p:sp>
        <p:nvSpPr>
          <p:cNvPr id="29" name="TextBox 28"/>
          <p:cNvSpPr txBox="1"/>
          <p:nvPr/>
        </p:nvSpPr>
        <p:spPr>
          <a:xfrm>
            <a:off x="713232" y="4187952"/>
            <a:ext cx="10744200" cy="69494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Two of the four change. </a:t>
            </a:r>
            <a:r>
              <a:rPr sz="1150" b="1" i="0">
                <a:solidFill>
                  <a:srgbClr val="065A82"/>
                </a:solidFill>
                <a:latin typeface="DejaVu Sans"/>
              </a:rPr>
              <a:t>The third:</a:t>
            </a:r>
            <a:r>
              <a:rPr sz="1150" b="0" i="0">
                <a:solidFill>
                  <a:srgbClr val="21295C"/>
                </a:solidFill>
                <a:latin typeface="DejaVu Sans"/>
              </a:rPr>
              <a:t> running stops being a one-off — it gains a meter that ticks with volume. </a:t>
            </a:r>
            <a:r>
              <a:rPr sz="1150" b="1" i="0">
                <a:solidFill>
                  <a:srgbClr val="065A82"/>
                </a:solidFill>
                <a:latin typeface="DejaVu Sans"/>
              </a:rPr>
              <a:t>The first:</a:t>
            </a:r>
            <a:r>
              <a:rPr sz="1150" b="0" i="0">
                <a:solidFill>
                  <a:srgbClr val="21295C"/>
                </a:solidFill>
                <a:latin typeface="DejaVu Sans"/>
              </a:rPr>
              <a:t> the model's answer varies run to run, so "it works" is confirmed on a sample, and one lucky example does not count. </a:t>
            </a:r>
            <a:r>
              <a:rPr sz="1150" b="1" i="0">
                <a:solidFill>
                  <a:srgbClr val="065A82"/>
                </a:solidFill>
                <a:latin typeface="DejaVu Sans"/>
              </a:rPr>
              <a:t>The second and fourth</a:t>
            </a:r>
            <a:r>
              <a:rPr sz="1150" b="0" i="0">
                <a:solidFill>
                  <a:srgbClr val="21295C"/>
                </a:solidFill>
                <a:latin typeface="DejaVu Sans"/>
              </a:rPr>
              <a:t> stay word for word the same.</a:t>
            </a:r>
          </a:p>
        </p:txBody>
      </p:sp>
      <p:sp>
        <p:nvSpPr>
          <p:cNvPr id="30" name="Rounded Rectangle 29"/>
          <p:cNvSpPr/>
          <p:nvPr/>
        </p:nvSpPr>
        <p:spPr>
          <a:xfrm>
            <a:off x="502920" y="5047488"/>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02351"/>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second question — the baseline — breaks more often than the other three. The two cases ahead are exactly about that: a loud failure number that turns out to have no denominator, and a claimed autonomy fourteen times off the company's own target.</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60% explored → 20% piloted → 5% succeeded: 25% among those who got there, not "95% failure" </a:t>
            </a:r>
            <a:r>
              <a:rPr sz="884"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425153" y="1280160"/>
            <a:ext cx="5356932"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failure" is a headline that doesn't survive calibration: success among those who reached a pilot is 25%, not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questions for any loud AI-failure number</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What is the denominator?</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What counts as "failure"?</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What's the author's conflict of interest?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Does it trace to a primary source?</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60% of companies track zero financial KPIs tied to AI value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 — this is why failure numbers inflate so easily.</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(July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(Aug 18, 2025) — media distortion of the MIT report</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(Apr 7, 2026, 782 I&amp;O leaders)</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 Closing the AI Impact Gap</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600" b="1" i="0">
                <a:solidFill>
                  <a:srgbClr val="21295C"/>
                </a:solidFill>
                <a:latin typeface="DejaVu Sans"/>
              </a:rPr>
              <a:t>The "autonomous" store: 700 of 1,000 transactions needed manual review against a target of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Just Walk Out (Amazon), since 2018: 700/1,000 transactions — manual review (14x above the 50/1,000 target)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6 years of "autonomous AI" marketing with no disclosure of the labor scale (hidden human cost)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Phase x what AI changes x what stays from the classic</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Discovery</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synthesis, desk</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interviews</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Design</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generation</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safety reqs</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Build/Launch</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code ~= free</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review, kill gate</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Measure</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randomization</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Support</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tracing</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escalation</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Governance</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operating model</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cost/request</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(Apr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the dismantling of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Synthesis: one instrument</a:t>
            </a:r>
          </a:p>
          <a:p>
            <a:pPr algn="l">
              <a:lnSpc>
                <a:spcPct val="108000"/>
              </a:lnSpc>
            </a:pPr>
            <a:r>
              <a:rPr sz="3000" b="1" i="0">
                <a:solidFill>
                  <a:srgbClr val="21295C"/>
                </a:solidFill>
                <a:latin typeface="DejaVu Sans"/>
              </a:rPr>
              <a:t>for all six phases</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phases · 1 matrix · 3 decision axes</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The six phases were examined one at a time, and a task arrives whole — nobody will break it down for you along the lecture's sections. Without a common instrument you are left with six separate conclusions and no answer for a case that was not covered here.</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Synthesis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Six phases, one structure: discipline, what got cheaper, failure mode, the human</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Phase</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Leading discipline</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What AI made cheaper</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Failure mode</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Where a human is mandatory</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Discovery</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Customer Development and "The Mom Test": a testable hypothesis</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Desk research, running conversations and bringing them together</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Sycophancy: a synthetic source will not say no</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 check against a real past and a real commitment</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Design</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Double Diamond, Nielsen's heuristics, the design system</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Screen variants: −20% of the time against the baseline</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Accessibility gaps; one prompt gives different answers</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Convergence onto the context; a check that can stop the release</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Build and launch</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Minimum viable product; the stop gate</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The build itself: boilerplate and glue code</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 gate skipped; rollout to the whole audience at once</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Specifying the intent; the decision on pace and on stopping</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Measurement</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Controlled experiment; the guardrail metric</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Judging quality at scale; a cheap first pass</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 gamed proxy metric; the measurement does not transfer to the task</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The criterion and the guardrail metric named before the test</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Support</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Reliability engineering: service level objective, error budget</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 suggester for the agent: +15% resolutions per hour, base 2.1</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Silent drift is masked by the average across all answers</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A system model and accountability for every answer</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Governance</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Portfolio governance; every number has an owner</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Nothing: here AI adds a cost that grows with scale</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Statistics with no denominator</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The success criterion agreed in advance; your own baseline</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How to read it: name the phase your task is in — the row answers, in order, which discipline to hold, what AI helps with here, which failure to watch for and what stays with the human. Tool names are replaceable; the four columns rest on the nature of the difficulty and the cost of an error in the phase.</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5486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Three axes decide if the human can come off the gate</a:t>
            </a:r>
          </a:p>
        </p:txBody>
      </p:sp>
      <p:sp>
        <p:nvSpPr>
          <p:cNvPr id="3" name="Rounded Rectangle 2"/>
          <p:cNvSpPr/>
          <p:nvPr/>
        </p:nvSpPr>
        <p:spPr>
          <a:xfrm>
            <a:off x="502920" y="1024128"/>
            <a:ext cx="11201400" cy="493776"/>
          </a:xfrm>
          <a:prstGeom prst="roundRect">
            <a:avLst>
              <a:gd name="adj" fmla="val 22000"/>
            </a:avLst>
          </a:prstGeom>
          <a:solidFill>
            <a:srgbClr val="E1EAF0"/>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24128"/>
            <a:ext cx="10744200" cy="493776"/>
          </a:xfrm>
          <a:prstGeom prst="rect">
            <a:avLst/>
          </a:prstGeom>
          <a:noFill/>
        </p:spPr>
        <p:txBody>
          <a:bodyPr wrap="square" lIns="0" rIns="0" tIns="0" bIns="0" anchor="ctr">
            <a:spAutoFit/>
          </a:bodyPr>
          <a:lstStyle/>
          <a:p>
            <a:pPr algn="l">
              <a:lnSpc>
                <a:spcPct val="108000"/>
              </a:lnSpc>
            </a:pPr>
            <a:r>
              <a:rPr sz="1150" b="1" i="0">
                <a:solidFill>
                  <a:srgbClr val="21295C"/>
                </a:solidFill>
                <a:latin typeface="DejaVu Sans"/>
              </a:rPr>
              <a:t>Before all three comes the question of the phase's classical discipline: </a:t>
            </a:r>
            <a:r>
              <a:rPr sz="1150" b="0" i="0">
                <a:solidFill>
                  <a:srgbClr val="21295C"/>
                </a:solidFill>
                <a:latin typeface="DejaVu Sans"/>
              </a:rPr>
              <a:t>if it is absent, you build it first — there is nothing to amplify in a vacuum.</a:t>
            </a:r>
          </a:p>
        </p:txBody>
      </p:sp>
      <p:sp>
        <p:nvSpPr>
          <p:cNvPr id="5" name="Rounded Rectangle 4"/>
          <p:cNvSpPr/>
          <p:nvPr/>
        </p:nvSpPr>
        <p:spPr>
          <a:xfrm>
            <a:off x="502920" y="1792224"/>
            <a:ext cx="3575304" cy="3255264"/>
          </a:xfrm>
          <a:prstGeom prst="roundRect">
            <a:avLst>
              <a:gd name="adj" fmla="val 9363"/>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tate-ccw-mid.png"/>
          <p:cNvPicPr>
            <a:picLocks noChangeAspect="1"/>
          </p:cNvPicPr>
          <p:nvPr/>
        </p:nvPicPr>
        <p:blipFill>
          <a:blip r:embed="rId2"/>
          <a:stretch>
            <a:fillRect/>
          </a:stretch>
        </p:blipFill>
        <p:spPr>
          <a:xfrm>
            <a:off x="1933956" y="2029967"/>
            <a:ext cx="713232" cy="713232"/>
          </a:xfrm>
          <a:prstGeom prst="rect">
            <a:avLst/>
          </a:prstGeom>
        </p:spPr>
      </p:pic>
      <p:sp>
        <p:nvSpPr>
          <p:cNvPr id="7" name="TextBox 6"/>
          <p:cNvSpPr txBox="1"/>
          <p:nvPr/>
        </p:nvSpPr>
        <p:spPr>
          <a:xfrm>
            <a:off x="685800" y="2852928"/>
            <a:ext cx="3209544" cy="438912"/>
          </a:xfrm>
          <a:prstGeom prst="rect">
            <a:avLst/>
          </a:prstGeom>
          <a:noFill/>
        </p:spPr>
        <p:txBody>
          <a:bodyPr wrap="square" lIns="0" rIns="0" tIns="0" bIns="0" anchor="ctr">
            <a:spAutoFit/>
          </a:bodyPr>
          <a:lstStyle/>
          <a:p>
            <a:pPr algn="ctr">
              <a:lnSpc>
                <a:spcPct val="100000"/>
              </a:lnSpc>
            </a:pPr>
            <a:r>
              <a:rPr sz="1900" b="1" i="0">
                <a:solidFill>
                  <a:srgbClr val="028090"/>
                </a:solidFill>
                <a:latin typeface="DejaVu Sans"/>
              </a:rPr>
              <a:t>Reversibility</a:t>
            </a:r>
          </a:p>
        </p:txBody>
      </p:sp>
      <p:sp>
        <p:nvSpPr>
          <p:cNvPr id="8" name="TextBox 7"/>
          <p:cNvSpPr txBox="1"/>
          <p:nvPr/>
        </p:nvSpPr>
        <p:spPr>
          <a:xfrm>
            <a:off x="758952"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How easily the consequence can be rolled back if the output is wrong</a:t>
            </a:r>
          </a:p>
        </p:txBody>
      </p:sp>
      <p:sp>
        <p:nvSpPr>
          <p:cNvPr id="9" name="Rounded Rectangle 8"/>
          <p:cNvSpPr/>
          <p:nvPr/>
        </p:nvSpPr>
        <p:spPr>
          <a:xfrm>
            <a:off x="722376"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Low → a staged rollout and a tested rollback path</a:t>
            </a:r>
          </a:p>
        </p:txBody>
      </p:sp>
      <p:sp>
        <p:nvSpPr>
          <p:cNvPr id="11" name="Rounded Rectangle 10"/>
          <p:cNvSpPr/>
          <p:nvPr/>
        </p:nvSpPr>
        <p:spPr>
          <a:xfrm>
            <a:off x="4315968" y="1792224"/>
            <a:ext cx="3575304" cy="3255264"/>
          </a:xfrm>
          <a:prstGeom prst="roundRect">
            <a:avLst>
              <a:gd name="adj" fmla="val 936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nknote-mid.png"/>
          <p:cNvPicPr>
            <a:picLocks noChangeAspect="1"/>
          </p:cNvPicPr>
          <p:nvPr/>
        </p:nvPicPr>
        <p:blipFill>
          <a:blip r:embed="rId3"/>
          <a:stretch>
            <a:fillRect/>
          </a:stretch>
        </p:blipFill>
        <p:spPr>
          <a:xfrm>
            <a:off x="5747004" y="2029967"/>
            <a:ext cx="713232" cy="713232"/>
          </a:xfrm>
          <a:prstGeom prst="rect">
            <a:avLst/>
          </a:prstGeom>
        </p:spPr>
      </p:pic>
      <p:sp>
        <p:nvSpPr>
          <p:cNvPr id="13" name="TextBox 12"/>
          <p:cNvSpPr txBox="1"/>
          <p:nvPr/>
        </p:nvSpPr>
        <p:spPr>
          <a:xfrm>
            <a:off x="4498848" y="2852928"/>
            <a:ext cx="3209544" cy="438912"/>
          </a:xfrm>
          <a:prstGeom prst="rect">
            <a:avLst/>
          </a:prstGeom>
          <a:noFill/>
        </p:spPr>
        <p:txBody>
          <a:bodyPr wrap="square" lIns="0" rIns="0" tIns="0" bIns="0" anchor="ctr">
            <a:spAutoFit/>
          </a:bodyPr>
          <a:lstStyle/>
          <a:p>
            <a:pPr algn="ctr">
              <a:lnSpc>
                <a:spcPct val="100000"/>
              </a:lnSpc>
            </a:pPr>
            <a:r>
              <a:rPr sz="1900" b="1" i="0">
                <a:solidFill>
                  <a:srgbClr val="065A82"/>
                </a:solidFill>
                <a:latin typeface="DejaVu Sans"/>
              </a:rPr>
              <a:t>Cost of an error</a:t>
            </a:r>
          </a:p>
        </p:txBody>
      </p:sp>
      <p:sp>
        <p:nvSpPr>
          <p:cNvPr id="14" name="TextBox 13"/>
          <p:cNvSpPr txBox="1"/>
          <p:nvPr/>
        </p:nvSpPr>
        <p:spPr>
          <a:xfrm>
            <a:off x="4572000"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What an error will cost: money, reputation, health</a:t>
            </a:r>
          </a:p>
        </p:txBody>
      </p:sp>
      <p:sp>
        <p:nvSpPr>
          <p:cNvPr id="15" name="Rounded Rectangle 14"/>
          <p:cNvSpPr/>
          <p:nvPr/>
        </p:nvSpPr>
        <p:spPr>
          <a:xfrm>
            <a:off x="4535424"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High → a named owner for the decision</a:t>
            </a:r>
          </a:p>
        </p:txBody>
      </p:sp>
      <p:sp>
        <p:nvSpPr>
          <p:cNvPr id="17" name="Rounded Rectangle 16"/>
          <p:cNvSpPr/>
          <p:nvPr/>
        </p:nvSpPr>
        <p:spPr>
          <a:xfrm>
            <a:off x="8129016" y="1792224"/>
            <a:ext cx="3575304" cy="3255264"/>
          </a:xfrm>
          <a:prstGeom prst="roundRect">
            <a:avLst>
              <a:gd name="adj" fmla="val 9363"/>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mid.png"/>
          <p:cNvPicPr>
            <a:picLocks noChangeAspect="1"/>
          </p:cNvPicPr>
          <p:nvPr/>
        </p:nvPicPr>
        <p:blipFill>
          <a:blip r:embed="rId4"/>
          <a:stretch>
            <a:fillRect/>
          </a:stretch>
        </p:blipFill>
        <p:spPr>
          <a:xfrm>
            <a:off x="9560052" y="2029967"/>
            <a:ext cx="713232" cy="713232"/>
          </a:xfrm>
          <a:prstGeom prst="rect">
            <a:avLst/>
          </a:prstGeom>
        </p:spPr>
      </p:pic>
      <p:sp>
        <p:nvSpPr>
          <p:cNvPr id="19" name="TextBox 18"/>
          <p:cNvSpPr txBox="1"/>
          <p:nvPr/>
        </p:nvSpPr>
        <p:spPr>
          <a:xfrm>
            <a:off x="8311896" y="2852928"/>
            <a:ext cx="3209544" cy="438912"/>
          </a:xfrm>
          <a:prstGeom prst="rect">
            <a:avLst/>
          </a:prstGeom>
          <a:noFill/>
        </p:spPr>
        <p:txBody>
          <a:bodyPr wrap="square" lIns="0" rIns="0" tIns="0" bIns="0" anchor="ctr">
            <a:spAutoFit/>
          </a:bodyPr>
          <a:lstStyle/>
          <a:p>
            <a:pPr algn="ctr">
              <a:lnSpc>
                <a:spcPct val="100000"/>
              </a:lnSpc>
            </a:pPr>
            <a:r>
              <a:rPr sz="1900" b="1" i="0">
                <a:solidFill>
                  <a:srgbClr val="1C7293"/>
                </a:solidFill>
                <a:latin typeface="DejaVu Sans"/>
              </a:rPr>
              <a:t>Observability</a:t>
            </a:r>
          </a:p>
        </p:txBody>
      </p:sp>
      <p:sp>
        <p:nvSpPr>
          <p:cNvPr id="20" name="TextBox 19"/>
          <p:cNvSpPr txBox="1"/>
          <p:nvPr/>
        </p:nvSpPr>
        <p:spPr>
          <a:xfrm>
            <a:off x="8385048"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How quickly it shows that an output is wrong</a:t>
            </a:r>
          </a:p>
        </p:txBody>
      </p:sp>
      <p:sp>
        <p:nvSpPr>
          <p:cNvPr id="21" name="Rounded Rectangle 20"/>
          <p:cNvSpPr/>
          <p:nvPr/>
        </p:nvSpPr>
        <p:spPr>
          <a:xfrm>
            <a:off x="8348472"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Low → the eval loop and a guardrail metric</a:t>
            </a:r>
          </a:p>
        </p:txBody>
      </p:sp>
      <p:sp>
        <p:nvSpPr>
          <p:cNvPr id="23" name="Rounded Rectangle 22"/>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713232"/>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No axis forbids AI — each one names what must stand beside it. All three in a good position and the human can come off the gate; any other combination calls for a gate on the problem axis.</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The method transfers, the list of tools does not: code was the first proving ground, the product the second</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An engineer at a computer-aided design (CAD) workstation with a light pen, late 1970s: the tool is gone — the discipline of design remained</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This course does not teach "use AI more" and it does not teach "fear AI" — it teaches you to say a well-founded "yes" and a well-founded "no."</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Seminar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 full run of the instrument on a practice AI product: from the hypothesis to the point of escalation to a human.</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Lecture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The same method in computer-aided design (CAD): the cost of a physical error is higher.</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Questions?</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