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not with a definition but with a paradox. Anthropic describes its own internal experience like this: tasks that used to take weeks of writing and reviewing code now take hours — an agent writes the implementation, it passes the tests, and code is nearly free. At the same time, in the summer of 2025, a research group at the MIT Media Lab published a report that media outlets amplified as "ninety-five percent of organizations get zero return from generative AI." Two facts are true at once and, at first glance, mutually exclusive: assembly is nearly free — and almost no one extracts value from it. How is that possible?</a:t>
            </a:r>
          </a:p>
          <a:p>
            <a:r>
              <a:t>We won't resolve the paradox right now — it's the payoff of the whole lecture, and we'll come back to it at the very end. But let's fix its shape right away: assembly became nearly free, while turning assembly into real value did not. That exact mismatch is the subject of today's lecture. We'll walk the whole product lifecycle: from intent through research, design, build, measurement, operation — and at every phase we'll ask the same thing: what did AI make cheap here, and what stayed expensive and human.</a:t>
            </a:r>
          </a:p>
          <a:p>
            <a:r>
              <a:t>Take thirty seconds: if building became nearly free, what became the product's real bottleneck?</a:t>
            </a:r>
          </a:p>
          <a:p>
            <a:r>
              <a:t>Sources:</a:t>
            </a:r>
          </a:p>
          <a:p>
            <a:r>
              <a:t>[1] Anthropic — 2026 Agentic Coding Trends Report — internal experience: weeks -&gt; hours; secondary-triangulated (PDF not parsed directly). https://resources.anthropic.com/2026-agentic-coding-trends-report [VFY-day-of]</a:t>
            </a:r>
          </a:p>
          <a:p>
            <a:r>
              <a:t>[2] MIT NANDA — "The GenAI Divide" (July 2025, v0.1) — "95% of pilots — zero return": unreviewed preprint, needs calibration (see s47). https://mlq.ai/media/quarterly_decks/v0.1_State_of_AI_in_Business_2025_Report.pdf [VFY-day-of]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4 walked through the lifecycle of code. Today's lecture is a zoom-out: code is one phase — now sharply cheaper — inside a much wider product lifecycle. You're technically strong and write code with AI assistants daily, but most of the product disciplines — customer development, design thinking, product experiments, operations by the reliability-engineering model — you're likely seeing for the first time. So each of today's six sections starts not with AI but with the classical base: where the discipline came from and what problem it solves without a single mention of artificial intelligence. Only after that do we ask what AI changes and where it breaks.</a:t>
            </a:r>
          </a:p>
          <a:p>
            <a:r>
              <a:t>The roadmap is simple: six sections are six arrows of one loop. Discovery — where the hypothesis comes from. Design — how a hypothesis becomes an artifact. Build and Launch — how an artifact becomes a working product in production. Measure — how to check whether it actually worked. Support and Operate — what happens once a product lives 24/7. And Governance — how an organization decides what to invest capital in at all. At the end we'll assemble everything into a single matrix and checklist that you can run any unfamiliar AI initiative through.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of today's lecture, and it's drawn not as a list but as a circle, because that's essential. Six sections aren't six independent topics — they're six arrows of one loop. We start with intent — with Discovery, where a hypothesis about what to build at all is born. The hypothesis passes through Design, turning into a concrete artifact you can show a person. The artifact passes through Build and Launch, becoming a working product in production. Next — Measure: we check whether the change actually produced the effect we predicted. Support and Operate is what happens once a product is already living with real users around the clock. And finally Governance — the organizational level at which it's decided whether to keep investing, scale, or stop.</a:t>
            </a:r>
          </a:p>
          <a:p>
            <a:r>
              <a:t>The key point that distinguishes this map from a simple list: the last arrow loops back into the first. The signal from operation and from governance decisions changes what we research next in Discovery. This is a closed cycle, not a one-time linear process — and that's exactly why at the end of the lecture we'll come back to the same circle, only with a full understanding of what happens on every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work out how the loop is put together, let us answer a more practical question: what happens to a product that has no loop. The answer here is concrete — a sequence of events you can list out.</a:t>
            </a:r>
          </a:p>
          <a:p>
            <a:r>
              <a:t>A product is obliged to close five questions. Does anyone need this thing at all. Can a person use it, and will someone nobody thought about be harmed. Can we build it and release it safely. Will it be chosen firmly enough that people pay for it. And the fifth, which only opens up after launch: do all four answers hold over time. The first four are the product risks named by Marty Cagan: value, usability, feasibility, business viability. The terminology is secondary here, the structure is what works: every question has a phase of its own. The loop is the minimum set of places where these questions get answered by observation. There is no ritual in it sitting on top of the engineering work.</a:t>
            </a:r>
          </a:p>
          <a:p>
            <a:r>
              <a:t>What happens without a loop can be described step by step. A team with no answers written down in advance does not end up with no answers at all — it records them as facts, usually optimistic ones, builds on that foundation, and learns the truth at the moment when finding out costs the most: the build is paid for, the release has happened, rolling back costs more than the error. This has half a century of measurement behind it: on Barry Boehm's estimate, drawn from projects of the seventies, the gap in the cost of a fix between the requirements stage and release reaches a hundredfold on large projects and about fourfold on small ones. The multiplier depends heavily on how quickly the loop closes, and it is not a physical constant. The loop does not remove the error in a hypothesis about the user — it moves the moment of finding it leftwards, into the cheap zone, where the error costs a conversation and the paid-for build is still ahead.</a:t>
            </a:r>
          </a:p>
          <a:p>
            <a:r>
              <a:t>The third consequence is harder than the others: when the stopping criterion is not written down in advance, there is no way to tell "we stopped because the data said no" from "we gave up because we were tired". The anchor for that comes in the section on discovery: a product whose build went through in full and cost sixty-two million dollars never once reached real use.</a:t>
            </a:r>
          </a:p>
          <a:p>
            <a:r>
              <a:t>And now the turn that makes all of this the subject of this particular lecture. Before generative models, the cost of building worked as a barrier against exactly this scenario: writing code was expensive, and that expense on its own forced people to think in advance. AI zeroed out precisely that cost — and with it went the one protective mechanism available to teams that never had an explicit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keystone — the central analytical tool of the whole lecture: AI changes the cost and trust of every arrow of the loop asymmetrically, not equally. The "build" arrow — cost has nearly collapsed to zero: writing code, a design draft, a first research prototype are orders of magnitude cheaper than five years ago. The "measure" and "learn" arrows — cost has stayed roughly the same or dropped only slightly, while trust in the result has fallen: the very instrument of measurement has become probabilistic and exposed to metric manipulation. The "observe" and "orient" arrows have become faster, but at the same time more exposed to attack: the speed of observing a system in production has grown, but the very ability to react quickly turns into a vulnerability if the observed data can be poisoned.</a:t>
            </a:r>
          </a:p>
          <a:p>
            <a:r>
              <a:t>Hence the meta-pattern that will repeat in each of the six sections, literally following the same template: every phase of the product lifecycle has a classical discipline, and AI does not cancel it. AI changes how much that discipline costs and how far it can be trusted without verification — but it does not remove the need for the discipline itself. Customer Development is not replaced by "ask the model what the user thinks"; a product experiment is not replaced by "the model predicted the metric would grow." In every section we'll ask the same question: what does the classic make reliable here, what does AI speed up — and at what point does speed become a trap, because trust doesn't keep pace with it.</a:t>
            </a:r>
          </a:p>
          <a:p>
            <a:r>
              <a:t>Think for twenty seconds: on which arrow of your latest task did speed outrun your actual trust in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walking the loop arrow by arrow, and the first is Discovery, research. This is the phase where the hypothesis of what to build even comes from. Most strong engineers have informal experience "ask friends whether they like the idea" — but almost no one has encountered the formal discipline that explains why this informal experience systematically lies.</a:t>
            </a:r>
          </a:p>
          <a:p>
            <a:r>
              <a:t>Today in this section — two classical bases: a methodology for finding a business model by going out to customers, and a technique for one correct conversation with one person. Then — what AI adds to research in 2025-2026, where it's limited, and three failures that show what happens when the boundary gets skipped. Hold two questions of the section: where does AI amplify research, and where is a real person with a real past required.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Development is Steve Blank's methodology. The central idea is extremely concrete: there are no facts inside the building, so go outside. A startup is not a scaled-down copy of a large company executing a known plan — it's a temporary organization in search of a repeatable business model under extreme uncertainty. The plan can't be written in advance, because the plan depends on answers only customers know.</a:t>
            </a:r>
          </a:p>
          <a:p>
            <a:r>
              <a:t>The method consists of four sequential steps, each ending in an explicit decision to continue or pivot. Discovery — turn the initial hypotheses into facts by going out to real people; this step is explicitly hypothesis-oriented — you write down what you believe before you walk out the door. Validation — check whether this can be sold not just to the first enthusiasts but to a wider circle. Creation — drive demand at scale. Building — transition the organization into formal functional departments.</a:t>
            </a:r>
          </a:p>
          <a:p>
            <a:r>
              <a:t>It's important to distinguish Customer Development from Build-Measure-Learn, which we discussed in the keystone: BML is the engine, Customer Development is the map of the terrain the engine drives across. First understand what you're testing and with whom, then how fast to spin the test cycle. And here we also introduce a device we'll reuse in every following section: the falsifiable hypothesis — a written statement "we believe that X, we'll test it via Y, by date Z we'll have a yes-or-no answer." The format works because it turns vague confidence into a testable commitment with a date. A known limitation of the method: it's written for startups starting from zero, searching for a business model, not for refining a feature inside a mature product — applying the whole ceremony to a minor feature tweak is excessive, exactly as you wouldn't run an A/B test to fix a typo.</a:t>
            </a:r>
          </a:p>
          <a:p>
            <a:r>
              <a:t>Sources:</a:t>
            </a:r>
          </a:p>
          <a:p>
            <a:r>
              <a:t>[1] Blank — Customer Development (Four Steps to the Epiphany) — 4-step methodology; "there are no facts inside the building". https://innovation.ucsd.edu/startup/startup-toolkit/Steve-Blank-CustDev.pdf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 what AI changes in this phase, concretely and by tool. Desk research — a review of market reports, complaints, tickets — down to a single hour. Perplexity, especially its Deep Research mode, is widely recognized as the best tool for this task: the service plans a research trajectory, reads sources, and returns a report with links in minutes. Practitioners report roughly a fifty-percent time reduction. Mandatory practice, not an option: verify important data directly against the source before using it in a decision — links exist precisely so verification is possible, but the tool doesn't remove the verification step itself.</a:t>
            </a:r>
          </a:p>
          <a:p>
            <a:r>
              <a:t>Interview synthesis: Dovetail is specifically built for cross-interview synthesis with a "quote anchored to its source" design — this protects against drift into an unverifiable summary. AI is genuinely strong at clustering — grouping hundreds of tickets into recurring pain themes — and at building a reference dataset, a curated set of "query → correct answer" pairs, which we'll come back to in sections three and four as a formal launch artifact and an evaluation set.</a:t>
            </a:r>
          </a:p>
          <a:p>
            <a:r>
              <a:t>Synthetic users as pre-research is a narrow, legitimate area: piloting a discussion guide, drafting proto-personas, generating hypotheses. None of these outputs should be treated as evidence for a "ship or not" decision. Telling detail: ninety-seven percent of researchers use AI, but only about eight percent trust AI-generated participants as a data source — the gap is recognized by the profession itself. Teresa Torres, one of the leading discovery practitioners, uses AI to draft a first pass, but the two-step synthesis rule holds without exception, and she explicitly advises against synthetic interviews — because the team's own thinking is the whole point of the process.</a:t>
            </a:r>
          </a:p>
          <a:p>
            <a:r>
              <a:t>Sources:</a:t>
            </a:r>
          </a:p>
          <a:p>
            <a:r>
              <a:t>[1] Perplexity Deep Research — overview for product research — desk research: hours -&gt; minutes; source verification still needed. https://www.secondtalent.com/resources/perplexity-deep-research-review/</a:t>
            </a:r>
          </a:p>
          <a:p>
            <a:r>
              <a:t>[2] Dovetail — AI interview synthesis — pain-point clustering at scale; limits of AI summarization. https://listenlabs.ai/articles/dovetail-ai-qualitative-analysis/</a:t>
            </a:r>
          </a:p>
          <a:p>
            <a:r>
              <a:t>[3] NN/g — 2026 practitioner survey — 97% of researchers use AI, ~8% trust AI personas as data. https://www.nngroup.com/articles/state-of-ux-2026/ [VFY-day-of]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of running a conversation past several interviewees played by a model comes up often. Mechanically it is sound, on one condition: the role of the practice is narrow, and that narrowness has to be held.</a:t>
            </a:r>
          </a:p>
          <a:p>
            <a:r>
              <a:t>What it is, in plain words. You have written a list of questions for an interview and you are about to take it to living people. Before you go, you run that list past several invented interviewees played by a model. This is a rehearsal — much like a read-through of a play before opening night: people listen for where the text does not work.</a:t>
            </a:r>
          </a:p>
          <a:p>
            <a:r>
              <a:t>Then, step by step. First you describe several different customer types, and you describe them without a character sketch. A sketch of the kind "Anna, thirty-four, likes convenient interfaces" is useless, because nothing follows from it. What is useful is different: what the person uses now, what that costs them in hours or in money, what they once tried and dropped. Each type is kept apart so the answers do not run together into one averaged voice. The same list is run past all of them.</a:t>
            </a:r>
          </a:p>
          <a:p>
            <a:r>
              <a:t>And from there the whole value of the practice is in where you look. Not at the content of the answers. At two things. The first: which questions produced roughly the same answer from everyone. A question like that tells nobody apart, and in a live interview it will waste time — it gets rewritten. The second: which questions are answered in terms of an imagined future, "I would use this". That is exactly the breach of the rule about the concrete past, and it is wired into the wording of the question itself; catching it in rehearsal is cheaper than letting it spoil a live conversation.</a:t>
            </a:r>
          </a:p>
          <a:p>
            <a:r>
              <a:t>The practice invented nothing new: questions were talked through with a colleague, or on the first live interview, long before any models. AI made the rehearsal cheap — it now takes minutes. A conversation with a person costs what it always did.</a:t>
            </a:r>
          </a:p>
          <a:p>
            <a:r>
              <a:t>Now the boundary, without which the practice turns into the failure we take apart next. The only thing that leaves is a corrected list of questions. The interviewees' answers do not go into a decision and are not quoted as data. That is how the practice is built: there is one model. Five such interviewees are five views of one model. There are no five people behind them. A check against a real national survey puts a number on it: the model reproduces the averages and understates the spread of opinion by almost half. A collapsed spread is false confidence exactly where living people differ most.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practice works where a product already has living users and an accumulated archive of tickets.</a:t>
            </a:r>
          </a:p>
          <a:p>
            <a:r>
              <a:t>What it is, in plain words. Any working product has a history of complaints and questions, and usually that history lies there as dead weight: people look into it when they need to answer one particular person, and nobody looks at it as a source of knowledge about the product. This practice turns the archive into a source of hypotheses. What leaves is a named theme of pain, propped up by verbatim quotes, and an indication of exactly who it is worth talking to in person about it. A general feeling that users are unhappy about something is not an output here.</a:t>
            </a:r>
          </a:p>
          <a:p>
            <a:r>
              <a:t>Step one — store and tag. Every ticket goes into one common searchable store, tagged with when it arrived, who it came from and which product it is about. The tagging is not bureaucracy: without it the archive turns into a bag of text, in which last year's problem cannot be told apart from today's, or your own segment from somebody else's.</a:t>
            </a:r>
          </a:p>
          <a:p>
            <a:r>
              <a:t>Step two — search two ways at once: by words and by meaning. An exact error code is found only by the word search, and a problem described in a person's own words only by the meaning search, and tickets contain both. On its own, each way misses quietly.</a:t>
            </a:r>
          </a:p>
          <a:p>
            <a:r>
              <a:t>Step three — gather what is close into groups and retell each group in two passes: first each ticket separately, then what they have in common. Skipping the first pass has a measurable effect: the retelling loses between twenty and forty per cent of the important detail.</a:t>
            </a:r>
          </a:p>
          <a:p>
            <a:r>
              <a:t>And what changed here. People have always been able to go through tickets, but they sorted them into a list of themes thought up in advance — and found only what somebody had already guessed at. A model gathers what is close in meaning on its own, with no list of themes; the name of the theme is still checked by a person.</a:t>
            </a:r>
          </a:p>
          <a:p>
            <a:r>
              <a:t>The boundary has two parts, and both are compulsory. The first: the archive is biased by construction — it holds only the people who got as far as complaining. Volume does not cure it, a hundred thousand tickets are biased exactly as a thousand are, because there is no such ticket as "I need the thing you do not have at all". The archive is structurally silent about an unmet need, so the question "what do we not have" is not closed by it. The second: the search returns the tickets that are close, it does not measure importance. Ten thousand complaints about one typo are still one typo. Frequency is not significance, and the two are especially easy to confuse when the number is large.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fifth risk of discovery is ethical in nature, but it materializes as a concrete, measurable mechanism: an AI summary can miss twenty to forty percent of important interview detail when synthesis skips the "individually first" step and jumps straight to a cross-interview theme. This isn't a vague "AI sometimes makes mistakes" — it's a failure traceable to a specific step.</a:t>
            </a:r>
          </a:p>
          <a:p>
            <a:r>
              <a:t>Why live interviews remain necessary — an argument of accumulation. The Mom Test's second rule — ask about specific things from the past — is exactly the rule a synthetic persona cannot satisfy, because it has no real past, only the ability to generate something plausible. A tendency to agree plus the absence of a real past is a cumulative failure: not just skewed toward "yes," but skewed toward "yes" about an event that never happened.</a:t>
            </a:r>
          </a:p>
          <a:p>
            <a:r>
              <a:t>Let's make this testable through three operational criteria. First: the cost of a go/no-go mistake is high — you need a source capable of saying "no," and a synthetic one is by construction incapable. Second: you need a real past, not a plausible one — if the hypothesis concerns specific past behavior, a synthetic persona invents it rather than remembers it. Third: you need validation by a real commitment — a pre-order, a deposit, an intro — there's no AI substitute here at all. What clearly stays from the classic: the three Mom Test rules apply the same way no matter who asks the question; Blank's hypothesis-first discipline is the antidote to a one-click AI tree. The rule in short: the closer the output is to an irreversible decision about real people, the more strictly a real person is required; the further away, the more appropriate AI becomes as a draft accelerator.</a:t>
            </a:r>
          </a:p>
          <a:p>
            <a:r>
              <a:t>Sources:</a:t>
            </a:r>
          </a:p>
          <a:p>
            <a:r>
              <a:t>[1] Torres — Continuous Discovery Habits / anti-synthetic — a contrarian-to-hype stance: against synthetic interviews and one-click AI persona trees. https://cieden.com/podcast/teresa-torres-on-continuous-discovery-in-b2b-and-ai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Nielsen Norman Group ran a controlled comparison as part of an onboarding usability study: real users completed an average of three out of seven steps; an AI-generated panel of synthetic users, tested on the exact same flow, falsely reported completing all seven of seven. Separately, real users described a discussion-forum feature as contrived and useless, while synthetic personas produced glowing praise of the same feature; one synthetic user called an impractical drone-delivery concept "a game-changer."</a:t>
            </a:r>
          </a:p>
          <a:p>
            <a:r>
              <a:t>The mechanism, tied specifically to the Discovery phase: large language models are tuned to agree with the framing of the given question — a concept described with any enthusiasm comes back validated. A synthetic user cannot produce disagreement, because it has no real experience capable of contradicting the question's framing. This is the same agreement-bias mechanism the course has already discussed for models in general, but here it materializes as a concrete, measured failure specifically in the discovery phase.</a:t>
            </a:r>
          </a:p>
          <a:p>
            <a:r>
              <a:t>Combine this with the Mom Test's second rule — ask about a real past — and you get a cumulative failure: not just skewed toward "yes," but skewed toward "yes" about an event that never happened. The lesson: a synthetic panel that agrees with your concept is not evidence the concept is good — it's evidence the panel is incapable of disagreeing. The criterion: any output feeding a "ship or not" decision must be traceable to real past behavior of a real person. The alternative: use a synthetic panel only in a pre-research role, then run real testing with five to eight participants — a sample size that already surfaces most usability problems.</a:t>
            </a:r>
          </a:p>
          <a:p>
            <a:r>
              <a:t>Sources:</a:t>
            </a:r>
          </a:p>
          <a:p>
            <a:r>
              <a:t>[1] NN/g (Rosala &amp; Moran) — Synthetic Users — 3/7 real vs 7/7 synthetic on the same task (drone-delivery). https://www.nngroup.com/articles/synthetic-users/ [VFY-day-of]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section's second failure is about what happens when the discovery phase is gone through as a formality.</a:t>
            </a:r>
          </a:p>
          <a:p>
            <a:r>
              <a:t>What happened. Humane was founded in two thousand eighteen by people who came out of Apple. Its only product is a wearable device with no screen: a small box worn on your clothes with a camera, a microphone and a laser projection onto your palm, answering out loud through a language model. The idea: a person stops looking at their phone. It was shown in November of twenty-three, sales opened in April of twenty-four — six hundred and ninety-nine dollars plus twenty-four a month. In February of twenty-five HP bought the assets for a hundred and sixteen million, and on the twenty-eighth of February the cloud was shut down: the devices left in buyers' hands stopped answering.</a:t>
            </a:r>
          </a:p>
          <a:p>
            <a:r>
              <a:t>The numbers. About ten thousand sold — a tenth of the company's own target of a hundred thousand. Revenue of about nine million against two hundred and thirty raised, which is four percent. Between May and August of twenty-four there were more returns than purchases: by August, closer to seven thousand devices were still in people's hands. The price was cut from six hundred and ninety-nine to four hundred and ninety-nine in October, six months after sales opened.</a:t>
            </a:r>
          </a:p>
          <a:p>
            <a:r>
              <a:t>Now the root, and it lies squarely in our phase. The question of discovery fits in one phrase: compared with what. Every buyer already had a phone in their pocket that does the same things, and everything else on top. Reviewers converged on the same point: the device does less than a phone, and more slowly. An answer like that costs eight conversations with living people before the build. Here it arrived from the market — by way of two hundred and thirty million and ten and a half months of sales. Think back to the rule from the base slide: ask how much a person pays today for the nearest equivalent. The nearest equivalent was the phone they had already bought.</a:t>
            </a:r>
          </a:p>
          <a:p>
            <a:r>
              <a:t>And now the distinction, so that the case does not read as "the hardware did not come off". Google Glass travelled the same road in the opposite direction. The fifteen-hundred-dollar glasses were pulled from general sale in January of fifteen, and then handed to people whose hands are busy with work. At the agricultural machinery maker AGCO, machine assembly time fell by a quarter and inspection time by thirty percent; at the logistics company DHL, warehouse output rose by fifteen. All of it against the same work done without the glasses. Same device. Different user.</a:t>
            </a:r>
          </a:p>
          <a:p>
            <a:r>
              <a:t>Sources:</a:t>
            </a:r>
          </a:p>
          <a:p>
            <a:r>
              <a:t>[1] 9to5Mac (7 Aug 2024) — Humane's internal sales figures — from May to August 2024 returns exceeded purchases: ~10,000 devices sold, ~$9 million in revenue, closer to 7,000 still in customers' hands by August. https://9to5mac.com/2024/08/07/humane-ai-pin-woes-worsen-as-recent-returns-exceed-sales/</a:t>
            </a:r>
          </a:p>
          <a:p>
            <a:r>
              <a:t>[2] TechCrunch (18 Feb 2025) — HP buys Humane's assets — $116 million for the assets against more than $230 million raised; sales ended, the cloud service shut down on 28 February 2025. https://techcrunch.com/2025/02/18/humanes-ai-pin-is-dead-as-hp-buys-startups-assets-for-116m</a:t>
            </a:r>
          </a:p>
          <a:p>
            <a:r>
              <a:t>[3] Humane Inc. — dates, prices and the sales target — unveiled 9 November 2023; on sale from April 2024 at $699 plus $24 a month; cut to $499 from 23 October 2024; target of 100,000 devices in a year. https://en.wikipedia.org/wiki/Humane_Inc.</a:t>
            </a:r>
          </a:p>
          <a:p>
            <a:r>
              <a:t>[4] Digital Trends — Glass Enterprise Edition at AGCO and DHL — against the same work without the glasses: assembly time -25%, inspection time -30% (AGCO), warehouse throughput +15% (DHL); wide sales of the $1,500 Explorer closed in January 2015. https://www.digitaltrends.com/mobile/google-glass-enterprise-edition/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two — the loop's second arrow: how the hypothesis from the previous section turns into a concrete artifact you can show a person. The course audience is technically strong, but as a rule hasn't gone through formal design education — so this section, like the previous one, starts with the classics before moving on to AI interface-generation tools.</a:t>
            </a:r>
          </a:p>
          <a:p>
            <a:r>
              <a:t>Today — a single load-bearing framework for the design process, expert-review heuristics, what AI offers for interface generation in 2025-26, where it breaks on non-deterministic output, and two failures that represent two different, complementary classes of design failure.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section opens with a caveat, without which everything that follows reads narrowly. The word "design" in this phase is usually taken to mean drawing screens. In a product built on a language model the screen is one surface among several, and there is usually more work on the rest.</a:t>
            </a:r>
          </a:p>
          <a:p>
            <a:r>
              <a:t>Look at the list of surfaces and touchpoints. The screen — what a person sees, and in what order. Voice — the same decision with no picture: order, length of answer, the right to interrupt. Notification — the system opens the conversation itself, and what gets decided is when it has the right to do so and on what occasion. Email or a report — the answer a person reads when the system is no longer at hand. Refusal — what the system says when it will not do the thing. And silence: processing is running, there is no answer yet, and what a person sees for that minute has been designed too, even if only by default.</a:t>
            </a:r>
          </a:p>
          <a:p>
            <a:r>
              <a:t>The second tier is behaviour over time, and for a product built on a model it carries the main load. When the system is sure, it answers and shows what the answer is built on. When it is unsure, it says so in the first person and offers a move forward. When it is wrong, the person sees what happened and has a rollback path. Not one of those three decisions is visible on a screen mockup, and the beauty of the mockup checks none of them.</a:t>
            </a:r>
          </a:p>
          <a:p>
            <a:r>
              <a:t>And the third thing, the one people forget because it does not look like design. The product's name, the promise at the entrance, the right to stop are decisions from the same layer. The name sets the picture of the system in a person's head before they ever see the first screen. This is easy to check: the failure we take apart at the end of the section is precisely about the gap between the picture in a driver's head and the behaviour of the car, and correcting that picture came to a recall of two million vehicles.</a:t>
            </a:r>
          </a:p>
          <a:p>
            <a:r>
              <a:t>So keep the next few slides wider than the screen. Both diamonds of the Double Diamond run across the system's behaviour as well. The design system covers the part of the rules that can be expressed as a number. The rest stays a human decision, and it is a human who will be held to account for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Thinking is a five-stage, human-centered methodology, canonically taught by the Stanford d.school. Double Diamond is the UK Design Council's framework, a visual model of two divergence-and-convergence cycles: the first diamond is Discover, broad exploration, then Define, synthesis into a concrete brief — about the right problem; the second diamond is Develop, generating many directions, then Deliver, testing and shipping one — about the right solution.</a:t>
            </a:r>
          </a:p>
          <a:p>
            <a:r>
              <a:t>For this lecture's purposes we use Double Diamond as the section's load-bearing framework, because it's structurally equivalent to Design Thinking but shows the key idea more explicitly: two separate divergence-convergence cycles, not one. A common mistake for an engineer encountering the design process for the first time: instinctively converging on a solution before even checking the problem itself — skipping the first diamond and diving straight into the second. It's the same anti-pattern as "just write the code," skipping the question of whether we're even solving the right problem.</a:t>
            </a:r>
          </a:p>
          <a:p>
            <a:r>
              <a:t>In practice the stages aren't linear — teams constantly loop back from Deliver to Define, and that's not a sign the process failed, it's the process working normally. Keep this framework in mind: when we get to this section's first failure, you'll see it happened exactly at the first-diamond point — in the decision of what we're even building and for whom — not in the technical implementation.</a:t>
            </a:r>
          </a:p>
          <a:p>
            <a:r>
              <a:t>Sources:</a:t>
            </a:r>
          </a:p>
          <a:p>
            <a:r>
              <a:t>[1] UK Design Council — The Double Diamond — Discover-&gt;Define-&gt;Develop-&gt;Deliver: two cycles of divergence/convergence. https://www.designcouncil.org.uk/resources/the-double-diamond/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realistic team workflow for 2025-26: a product manager or designer describes a screen in a prompt to v0 by Vercel or Figma Make, and the generator pulls in the team's already-existing components rather than generic templates — seventy-two percent of designers use generative AI, ninety-one percent report an improvement specifically in quality. The generator produces two to four diverging directions in minutes — what used to take a day of manual wireframing. The human designer converges — picks a direction, discards the rest, fixes the details the model got wrong. The chosen direction goes through a real usability test with real users.</a:t>
            </a:r>
          </a:p>
          <a:p>
            <a:r>
              <a:t>Other named tools: Google Stitch — a text-to-mockup generator; Uizard — a lighter-weight tier; bolt.new — a prompt turned into a full browser app, the canonical vibe-coding tool.</a:t>
            </a:r>
          </a:p>
          <a:p>
            <a:r>
              <a:t>What's genuinely good here, without the hype: speed of the first draft, generation aware of the design system — less rework than naive text-to-UI, and democratization of a decent first pass — non-designers can now produce something presentable to start a conversation. The working practice, the clear formulation for the whole section: AI for divergence, human for convergence. Co-creative tools are appropriate for maximizing the volume and variety of early exploration. Convergence — deciding which problem is worth solving, and refining one direction to fully match the context — is explicitly named as the human strength no prompt replaces. A design system is the natural guardrail that keeps AI divergence from drifting off-brand.</a:t>
            </a:r>
          </a:p>
          <a:p>
            <a:r>
              <a:t>Sources:</a:t>
            </a:r>
          </a:p>
          <a:p>
            <a:r>
              <a:t>[1] Figma — 2026 AI design tools — Figma Make, v0, Stitch, bolt.new — 2-4 directions in minutes. https://www.figma.com/resource-library/ai-design-tools/ [VFY-day-of]</a:t>
            </a:r>
          </a:p>
          <a:p>
            <a:r>
              <a:t>[2] Google Stitch (ex-Galileo AI) — Google acquisition, May 2025 — a fast-moving tool landscape. https://www.banani.co/blog/galileo-ai-features-and-alternatives [VFY-day-of]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design system is routinely called the guardrail that holds generation inside the lines. The phrasing is right, but until there is a mechanism behind it, it is a metaphor — so let me start with what the thing actually is. A design system is the shared body of interface rules and the set of ready-made components: the colour combinations allowed, the sizes of buttons and fields, how an element looks under the cursor, what a standard block is made of. For a long time it was a document for people. What matters now is its other part: those rules that can be written so that a machine reads them and checks them.</a:t>
            </a:r>
          </a:p>
          <a:p>
            <a:r>
              <a:t>There are three layers, and only the last one is load-bearing. The first is rules written as numbers. While a rule lives in a picture of a mockup or in a spoken agreement, the only thing that can check it is a person, and only by eye; written as a number, it becomes checkable. The second layer is giving the generator the team's own components instead of generic templates. Some tools do this by construction, and that is exactly why generation of that kind needs less reworking. But notice: the first two layers lower the chance of a breach, and only the third turns a chance into a guarantee. The third layer is an automatic check with the right to stop a release: a breach is not discussed, it is blocked, exactly as a red test stops a change going any further. And a point I want to make separately: the common engines for a check like that have nothing to do with AI at all. That is part of the lesson, not a detail of the setup.</a:t>
            </a:r>
          </a:p>
          <a:p>
            <a:r>
              <a:t>Separately — what here comes from AI and what was always there. A body of interface rules and a set of ready-made components have existed for decades, and a designer checked them by eye. One thing changed: the generator turns out screens faster than a person can look at them, and a machine check is the only thing that grows with the generation.</a:t>
            </a:r>
          </a:p>
          <a:p>
            <a:r>
              <a:t>The boundary is a compulsory part of the practice, not a caveat. A machine checks only what can be expressed as a number: contrast, the size of a button, whether a field has a label. The question of whether this is clear to a living person stays with the person, and a screen can pass every check in full and remain unclear. So the practice does not replace a review against Nielsen's ten heuristics, and it does not replace showing the thing to living people — it only takes off them what is cheaper to catch by machine. And the conclusion that travels furthest: a request addressed to the generator is not a control mechanism, in any wording at all. Telling a request from a guarantee is something you will need in every phase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slop" and homogenization are a clear critique of the last two years. Nielsen Norman Group states it plainly: UI still matters, but it will become a less significant differentiator, because anyone will be able to produce a decent-looking interface. The mechanism of homogenization: generators are trained on one corpus of existing UI patterns, so many independent teams prompting "a modern dashboard" converge on a visually similar result.</a:t>
            </a:r>
          </a:p>
          <a:p>
            <a:r>
              <a:t>Accessibility gaps — with a hard number. An academic study ran twenty-one thousand eight hundred eighty WCAG accessibility evaluations against interfaces generated by AI tools and found only twenty-nine point zero percent conformance. The worst scores were on the most basic criteria: color contrast and use of color. An important finding: the platform's own design influenced final accessibility more than user prompts did — asking to "make it accessible" was not guaranteed to fix it. This directly refutes the naive defense of "you just need to ask the AI correctly."</a:t>
            </a:r>
          </a:p>
          <a:p>
            <a:r>
              <a:t>A key addition for this audience — designing for non-deterministic output. Classical UX assumes a deterministic system: the same input produces the same output. AI products break this assumption — the same input can produce different output across different runs, which requires new patterns: graceful failure, co-creation, accountable autonomy. What stays from the classic: "empathize first" design thinking, Nielsen's heuristics as a fast expert gate review, and real usability testing — the antidote to hallucinated "best practices," because testing measures real human confusion. When this isn't AI-first: a product aimed at the emotional attachment of vulnerable users, or one that automates a decision about people, requires an explicit safety review in the MVP, not polish after the fact.</a:t>
            </a:r>
          </a:p>
          <a:p>
            <a:r>
              <a:t>Sources:</a:t>
            </a:r>
          </a:p>
          <a:p>
            <a:r>
              <a:t>[1] ACM Web4All 2026 — Generated Inaccessible — 21,880 WCAG evaluations on AI-generated interfaces, 29.0% compliance (contrast 26.8%, color 19.2%). https://dl.acm.org/doi/10.1145/3800424.3800430 [VFY-day-of]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section's failure is about interaction design in its pure form: the model worked as advertised, and what broke was the picture of the system in a person's head.</a:t>
            </a:r>
          </a:p>
          <a:p>
            <a:r>
              <a:t>What the case is. Autopilot is the set of driver-assistance features in Tesla cars: it holds the lane, the speed and the following distance while the person watches the road and keeps their hands on the wheel. In August of twenty-one the American highway traffic safety administration opened an investigation: cars with the feature engaged were running into emergency vehicles stopped on the road. On the twelfth of December of twenty-three Tesla recalled every car with the feature built between twenty-twelve and twenty-three — two million thirty-one thousand two hundred and twenty of them, the entire fleet to the last one. Pay attention to the wording in the defect report, written by the company itself: the prominence and scope of the system's controls may be insufficient to prevent driver misuse.</a:t>
            </a:r>
          </a:p>
          <a:p>
            <a:r>
              <a:t>What broke. Over the course of the investigation, at least thirteen fatal crashes accumulated in which foreseeable misuse played its part. This error has a name that comes from aviation: mode confusion. The person was driving with one picture of what the car does and what they themselves are responsible for; the car was working to a different one.</a:t>
            </a:r>
          </a:p>
          <a:p>
            <a:r>
              <a:t>Now, why the case stands in the section on design. The recall touched not one line of the driving model. What was fixed was the prominence of the warnings, the frequency of the attention checks and the threshold past which the feature switches off — that is, the behaviour of the system and its surfaces of contact. And the name itself, Autopilot, is a decision from the same layer: it sets the picture before the person sees the first warning. Go back to the slide on the scope of design: the name, the promise at the entrance, the right to stop. That is what correcting the picture came to — a recall of two million cars, two years and four months after the investigation opened.</a:t>
            </a:r>
          </a:p>
          <a:p>
            <a:r>
              <a:t>And the sequel, without which the lesson is incomplete. On the twenty-fifth of April of twenty-four the agency opened a query into the remedy itself: in the first four months after the update, at least twenty crashes accumulated with the system suspected of involvement, and some of the measures are switched on by the driver's own consent and switched off the same way. This is exactly what we talked about on the design-system slide: a measure a person can switch off stays a request. What turns it into a mechanism is the ability to stop the action.</a:t>
            </a:r>
          </a:p>
          <a:p>
            <a:r>
              <a:t>Sources:</a:t>
            </a:r>
          </a:p>
          <a:p>
            <a:r>
              <a:t>[1] NHTSA — recall report 23V-838 (12 Dec 2023) — 2,031,220 cars — every one with Autosteer, built between 5 Oct 2012 and 7 Dec 2023; the manufacturer named insufficient prominence and scope of the controls as the cause; remedied by software update 2023.44.30. https://static.nhtsa.gov/odi/rcl/2023/RCLRPT-23V838-8276.PDF</a:t>
            </a:r>
          </a:p>
          <a:p>
            <a:r>
              <a:t>[2] NHTSA — closing of investigation EA22-002 — opened 13 Aug 2021 as PE21-020, upgraded 8 June 2022; no fewer than 13 fatal crashes in which foreseeable misuse of the system played a part. https://static.nhtsa.gov/odi/inv/2022/INCLA-EA22002-14498.pdf</a:t>
            </a:r>
          </a:p>
          <a:p>
            <a:r>
              <a:t>[3] NHTSA — remedy query RQ24-009 (25 Apr 2024) — no fewer than 20 crashes after the update; some of the measures are enabled by the driver's consent and can be switched off by the driver too. https://static.nhtsa.gov/odi/inv/2024/INOA-RQ24009-12046.pdf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three — the loop's third arrow, and this is exactly where AI changes the most: the cost of writing the code itself. But the section doesn't start from that fact — it starts from the classical discipline of release, because that discipline is what defines what "ship it safely" even means — a question that doesn't go away just because writing code got cheaper.</a:t>
            </a:r>
          </a:p>
          <a:p>
            <a:r>
              <a:t>Today — release mechanics you most likely already know from engineering practice, but built into product-level decisions, not just technical ones. Next — what AI zeroed out and where the bottleneck moved, and two failures: one a giant that skipped canary rollout, the other a giant that correctly killed a failed pilot.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flag, canary, rollback are familiar to you from everyday engineering practice — you'll most likely skim the basic definitions. Hold onto one product-level distinction while you do, since it's the whole reason this section exists: here the same mechanics are built into a product go/kill gate, where the decision to kill a project is a business decision, not just a technical on/off flag.</a:t>
            </a:r>
          </a:p>
          <a:p>
            <a:r>
              <a:t>A single thread runs through all of it: every practice trades a bit of launch speed for a limited blast radius. A feature flag separates deployment from release. Canary — the new version ships to a small share of traffic first. Staged rollout is a generalization of canary: one, ten, twenty-five, fifty, one hundred percent, with a go/no-go check at every step. Rollback — the ability to quickly return to the last working state.</a:t>
            </a:r>
          </a:p>
          <a:p>
            <a:r>
              <a:t>Eric Ries's MVP is defined by learning, not shipping — a fast way to run the build-measure-learn cycle. Robert Cooper's Stage-Gate is five stages, each preceded by a go/kill/hold/recycle gate against criteria agreed in advance; its deliberate purpose is to force disciplined stop decisions early, before capital-intensive spending — "a funnel, not a tunnel." A go/no-go readiness gate for launch specifically requires: rollout phases with transition criteria, failure thresholds written down as numbers in advance, and a rollback plan with a named owner. Our cross-chapter device resurfaces here again — the falsifiable hypothesis, applied to a release decision. In the AI era, a new checklist line gets added: did it pass an eval gate against the reference dataset — the AI equivalent of a test suite.</a:t>
            </a:r>
          </a:p>
          <a:p>
            <a:r>
              <a:t>Sources:</a:t>
            </a:r>
          </a:p>
          <a:p>
            <a:r>
              <a:t>[1] Ries — Lean Startup / MVP — MVP as a learning tool, not a stripped-down shipment; the risk of vanity metrics. https://effectivesoftwaredesign.com/2021/03/23/lean-startup-principles-vanity-metrics-and-actionable-metrics/</a:t>
            </a:r>
          </a:p>
          <a:p>
            <a:r>
              <a:t>[2] Stage-Gate — the method's history — a go/kill gate: "a funnel, not a tunnel", failure thresholds set in advance. https://www.stage-gate.com/about/our-story-2/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own reported measurement frames the shift as a compression of stage duration, not the disappearance of the boundaries between stages: implementation moves from weeks to minutes of agentic execution. The central risk claim: as agents produce more code, review volume doesn't scale at the same speed. Anthropic's own internal data makes this concrete: code volume per engineer grew roughly two hundred percent year over year, but only about sixteen percent of pull requests received substantive human review comments before merge.</a:t>
            </a:r>
          </a:p>
          <a:p>
            <a:r>
              <a:t>This is the section's key inversion: the scarce resource was never "who can write the code" — in the AI era it unambiguously becomes "who can specify precisely enough" and "who can review fast enough not to become the bottleneck." Notice the direct symmetry with the keystone: build collapsed to zero, so scarcity shifted to the two human ends of the arrow. Bain makes the same observation from the business side: phase boundaries blur into a more continuous flow, but it explicitly does not claim full autonomy — agents work best with human review at critical checkpoints.</a:t>
            </a:r>
          </a:p>
          <a:p>
            <a:r>
              <a:t>What to keep from the classic: version control, PR review — now the bottleneck's destination, not a relic; feature flags as the basic mechanism for shipping inactive; staged rollout — directly reused by the agency ladder next; a kill switch — unconditionally necessary; a human-owned specification — an artifact the agent can't generate for itself without guessing at intent.</a:t>
            </a:r>
          </a:p>
          <a:p>
            <a:r>
              <a:t>Sources:</a:t>
            </a:r>
          </a:p>
          <a:p>
            <a:r>
              <a:t>[1] Anthropic — 2026 Agentic Coding Trends Report — +200% code per engineer year over year; only ~16% of PRs get substantive human review before merge. https://resources.anthropic.com/2026-agentic-coding-trends-report [VFY-day-of]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"launch" was redefined for the AI era by Aishwarya Reganti and Kiriti Badam, generalising from more than fifty deployments. Their point: the familiar pipeline assumes deterministic code, which either passes its tests or does not, and a system built on a model does not have that property. So a release has to be versioned by the level of control.</a:t>
            </a:r>
          </a:p>
          <a:p>
            <a:r>
              <a:t>The measured example is RADAR at Meta — Risk Aware Diff Auto Review — the system that decides which code change can be merged without a person. The level here is set by a number: a risk threshold. A change travels down a funnel — provenance, static rules, a trained risk score, an AI review, and a deterministic check at the end. When the threshold was moved from the twenty-fifth percentile to the fiftieth, the share approved automatically reached sixty per cent. And here is what turns that into evidence: rollbacks on those changes turned out to be three times rarer, and production incidents fifty times rarer, than on changes down the ordinary path. The baseline is named, and the sample is five hundred and thirty-five thousand changes.</a:t>
            </a:r>
          </a:p>
          <a:p>
            <a:r>
              <a:t>The verbatim wording of the failure, from the same review: if you have not checked how a system behaves under high control, you are not ready to give it high autonomy. A bot that jumps straight to the top level risks a chain of failures that is then hard to untangle — full autonomy removes the cheap checkpoints that a staged rollout exists for.</a:t>
            </a:r>
          </a:p>
          <a:p>
            <a:r>
              <a:t>What the slide is silent about, and what is worth saying. The level of a feature, the date it was raised, the name of whoever decided and the rollback path live in a versioned file next to the code; the team's memory does not count as such a file — that is a continuation of the conventions from the last lecture. And the link to the next slide: the threshold that opens a level needs checking itself. If the set of checks you judge readiness by has never once caught a deliberately planted fault, its green colour proves nothing.</a:t>
            </a:r>
          </a:p>
          <a:p>
            <a:r>
              <a:t>And the boundary that cannot be softened. Keep the difference from the last lecture in mind: there we said that handing the merge to an agent on the verdict of an AI reviewer means removing the only control there is. In RADAR the last word stays with a deterministic check, and the model supplies only one of the passes. And decisions that are irreversible by their nature are never raised to the top level: that is a structural limit, and the next generation of models will not lift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Mutation testing already came up in the previous lecture: small defects — mutants — are put into the code on purpose, and you look at what share of them the tests killed. We compared that with coverage at the time and saw that coverage only tells you a line was touched by the run. Meta's data showed it as a number: test generation by a model covered thirty-two per cent of classes against five for the narrowly targeted method, and killed two and a half per cent of mutants against fifteen. More tests and higher coverage do not mean that detection got better.</a:t>
            </a:r>
          </a:p>
          <a:p>
            <a:r>
              <a:t>Here the practice takes a step further. In the previous lecture the code was mutated in order to check the tests. In a product with AI there are more checks, and every one of them is capable of going silent: the golden set, the agent instructions file, a rule in the pipeline, an alert threshold. The rule is a hard one: a check that has never had a defect planted in it on purpose counts as broken until proven otherwise. A green build, an empty list of violations and quiet monitoring look the same whether everything is fine or the detector has died.</a:t>
            </a:r>
          </a:p>
          <a:p>
            <a:r>
              <a:t>Here is how it is done on the agent instructions file. You take two copies of the repository, one with the file and one without, and a task in which breaking the rule is the short route. You measure the share of violations in both runs. If there are no fewer violations with the file, the rule is not working. In the published measurement, with no file the rule was followed zero times out of five hundred and twenty-four; with the file, in sixty-seven per cent of runs. Every third run breaks the rule anyway, which is why prohibitions that must not be broken are placed as an interceptor in code: text does not hold that much.</a:t>
            </a:r>
          </a:p>
          <a:p>
            <a:r>
              <a:t>Now what the arrival of AI changed in the practice itself. The mutants are now written by a model, and they sit closer to real errors — seventy-six per cent of real defects found against forty-four for the list of rules. At Meta the same practice was pointed at one named risk, privacy: nine thousand mutants across a little over ten thousand classes produced five hundred and seventy-one tests. And two limits. The practice is expensive: a thousand mutants with a ten-second run comes to around two hours fifty minutes of machine time, so it is run over the important modules as a one-off, as a diagnostic; it is not kept in the build permanently. And twenty-seven per cent of real defects are not linked to any mutant — wrong algorithms and redundant code are invisible to the practice.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oldest practice in the section and the only one an engineer already uses: the feature flag, the canary release, switching on in stages, going back to the previous version. The novelty is elsewhere: here these primitives serve a product decision, and for a feature built on a model they are also set up differently.</a:t>
            </a:r>
          </a:p>
          <a:p>
            <a:r>
              <a:t>A word about pace is worth saying. For an ordinary feature a rollout stage lives for minutes: errors and latency are visible straight away. For a feature built on a model the quality signal is noisy, and a stage lives for hours — worsening answers only come out at volume. A team that carries its habitual rollout pace over to a generative feature follows the procedure to the letter and sees nothing in the time it allows itself.</a:t>
            </a:r>
          </a:p>
          <a:p>
            <a:r>
              <a:t>About the stop signal. The most common mistake is to roll out in stages without naming in advance what counts as worsening. Then at every stage an argument starts about whether it really did get worse, and that argument is won by whoever wants the release more. A signal named before the switch-on takes the argument away — exactly the same mechanics as a threshold written down as a number before the start.</a:t>
            </a:r>
          </a:p>
          <a:p>
            <a:r>
              <a:t>About the rollback path. Describing it is not enough — it gets tested. A way back that nobody has tried reveals its problems at precisely the moment it is needed urgently. It is worth naming separately who exactly takes the decision to go back: if that decision has no owner, it falls by default to whoever is on night duty, and is taken on how they feel, with no signal at all. This is also where the lever for switching the feature off entirely is kept — a separate control that turns the feature off without waiting for the causes to be worked out.</a:t>
            </a:r>
          </a:p>
          <a:p>
            <a:r>
              <a:t>Let me say plainly what comes from AI here. The practice itself is classical: staged rollout and rollback were invented long before models, and they are built in exactly the same way. Only the speed of the stages changes: an ordinary feature shows itself through errors straight away, while worsening answers only come out at volume, so every stage needs hours of watching.</a:t>
            </a:r>
          </a:p>
          <a:p>
            <a:r>
              <a:t>And the limit that ties this slide to both of the cases ahead. A rollout bounds the cost of an error, and it does not take the decision for the team. A long pilot on a small share that keeps failing is a signal about the ceiling of the approach. It is not a request for "a bit more time". And the mirror image: the maturity of the main product is no reason to skip the pilot. Both cases on the next two slides are two different errors about one axis: one skipped the pilot altogether, the other went through it honestly and read the signal correctly.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doesn't scale alongside generation — this is the section's load-bearing limitation: Anthropic's own measured finding about its own product, not outside criticism. It directly means that "we ship fast because building is now free" is a trap if review volume doesn't scale in parallel.</a:t>
            </a:r>
          </a:p>
          <a:p>
            <a:r>
              <a:t>It's worth spelling out why review specifically became the bottleneck, because it's a direct consequence of the keystone asymmetry, not a coincidence. Generation and verification are operations of fundamentally different cost: a model can generate plausible code in seconds, but checking that it's correct, safe, and does what's needed still requires real-time human understanding, which hasn't gotten any faster. By making one side orders of magnitude cheaper and leaving the other unchanged, AI didn't remove the work — it moved its entire mass onto the side that didn't get cheaper. Hence the counterintuitive consequence: doubling generation speed doesn't double the product's throughput — it doubles the review queue.</a:t>
            </a:r>
          </a:p>
          <a:p>
            <a:r>
              <a:t>The 70% problem: AI agents get a team roughly seventy percent of the way to a production-quality result; the remaining thirty percent is where senior engineers add value that AI doesn't automatically supply. Seniors actively rethink AI output; juniors accept it more readily, producing a "house of cards made of code." Both failures below are variations of exactly this limitation at the level of a launch decision. What stays from the classic: version control and PR review, feature flags, staged rollout as the prototype of the agency ladder, a kill switch, a human-owned specification. When this isn't AI-first: an irreversible or capital-intensive decision must not be made by a model at the lowest rung of the agency ladder without a deterministic business rule on top of it.</a:t>
            </a:r>
          </a:p>
          <a:p>
            <a:r>
              <a:t>Sources:</a:t>
            </a:r>
          </a:p>
          <a:p>
            <a:r>
              <a:t>[1] Osmani — The 70% Problem — AI gets teams ~70% of the way; a "house of cards of code" — a novice can't close the remaining 30%. https://addyo.substack.com/p/the-70-problem-hard-truths-about-ai-assisted-coding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2024, Google rolled out its AI Overviews feature to one hundred percent of US search users in a single step — skipping the usual staged rollout and with no eval gate. Within days the feature started producing viral, literally dangerous recommendations: eating rocks — the source, a satirical article from The Onion — and putting glue on pizza to help the cheese stick better — the source, an eleven-year-old joke comment on Reddit. Users couldn't turn the feature off. Google's response was reactive — all the fixes came after full deployment, not before it.</a:t>
            </a:r>
          </a:p>
          <a:p>
            <a:r>
              <a:t>The mechanism, tied to the Build/Launch phase: this is exactly the missing-staged-rollout case the previous slide warns about — a full-traffic launch of a generative feature with no canary phase that would have caught the source-quality failure pattern before every user saw it. Notice the nature of the specific failures: the model didn't break — it synthesized a statistically plausible answer from its corpus, failing to distinguish satire from fact, and delivered the result with the full confidence of an authoritative search answer. This is the "confidently wrong" failure mode a canary phase would have caught within days at one percent of traffic.</a:t>
            </a:r>
          </a:p>
          <a:p>
            <a:r>
              <a:t>The lesson: a generative feature that synthesizes content from the open web needs the same discipline of staged deployment and an eval gate as any other AI feature — "search is our mature core product" is not a reason to skip rollout, it raises the cost of skipping it. The criterion: any generative feature whose failure mode is "confidently wrong, sourced from low-quality content" needs pre-launch source-quality gating and post-launch staged exposure. The alternative: a canary launch to a small percentage with automatic monitoring of known risk classes, and a persistent user opt-out toggle.</a:t>
            </a:r>
          </a:p>
          <a:p>
            <a:r>
              <a:t>Sources:</a:t>
            </a:r>
          </a:p>
          <a:p>
            <a:r>
              <a:t>[1] Forbes (May 31, 2024) — Google AI Overviews — a full rollout to 100% of US search in one step, with no canary stages. https://www.forbes.com/sites/roberthart/2024/05/31/google-restricts-ai-search-tool-after-nonsensical-answers-told-people-to-eat-rocks-and-put-glue-on-pizza/</a:t>
            </a:r>
          </a:p>
          <a:p>
            <a:r>
              <a:t>[2] AndroidPolice — "glue on pizza" / "eat rocks" — viral incidents hit the full audience at once, reactive post-release fixes. https://www.androidpolice.com/google-pizza-glue-loop-ai-overviews/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McDonald's tested automated order-taking jointly with IBM for roughly two and a half to three years, scaling to about one hundred restaurants — roughly zero point seven percent of McDonald's total US restaurant count. Viral clips of failures piled up for months. On June 17, 2024, McDonald's announced it was ending the partnership. The company didn't abandon the goal — voice automation remains part of the future — it killed this specific vendor approach.</a:t>
            </a:r>
          </a:p>
          <a:p>
            <a:r>
              <a:t>This is a decision to stop scaling, not a story about a runtime failure — unusually, it's a good example of a process working correctly. A pilot lasting two and a half to three years, limited to zero point seven percent of locations, still regularly producing viral failures, is itself a signal: this isn't "we need more data," it's "the current approach has a structural ceiling." Without the denominator, "one hundred restaurants" sounds like a large-scale pilot; with the denominator, it's a tiny slice of the chain that was kept running for two and a half years and still never reached production reliability.</a:t>
            </a:r>
          </a:p>
          <a:p>
            <a:r>
              <a:t>Compare it with the previous failure: Google made exactly the opposite mistake — jumping straight to one hundred percent with no pilot phase at all. The two cases mirror each other: one correctly didn't cross the gate after a long pilot, the other skipped the pilot entirely. The lesson: a long pilot that keeps failing publicly at a limited scale is a signal to kill it, not "polish it a bit more." The criterion: if the error rate doesn't converge to a production level after a multi-year pilot, that's a structural limit of the current approach. The alternative: a human-in-the-loop hybrid — AI proposes the recognized order, the cashier confirms it before it goes to the kitchen.</a:t>
            </a:r>
          </a:p>
          <a:p>
            <a:r>
              <a:t>Sources:</a:t>
            </a:r>
          </a:p>
          <a:p>
            <a:r>
              <a:t>[1] CNBC (June 17, 2024) — McDonald's x IBM — the decision to end the pilot after 2.5-3 years at 0.7% of the chain (~100 of ~13,786 restaurants). https://www.cnbc.com/2024/06/17/mcdonalds-to-end-ibm-ai-drive-thru-test.html</a:t>
            </a:r>
          </a:p>
          <a:p>
            <a:r>
              <a:t>[2] Nation's Restaurant News — details of the pilot shutdown — deactivation by July 26, 2024; the goal stayed, the vendor approach was killed. https://www.nrn.com/quick-service/mcdonald-s-is-ending-its-ai-drive-thru-test-with-ibm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four — the loop's fourth arrow, and exactly the one where AI lowered trust, not cost. This is a long section and, for an engineering audience, a weighty one: measurement is where "looks good does not equal is good" hits the product hardest. You know how to write code and maybe know A/B testing from web practice, but you're seeing the formal discipline of a product experiment for the first time.</a:t>
            </a:r>
          </a:p>
          <a:p>
            <a:r>
              <a:t>Today — what a controlled experiment is from scratch, eight classical traps, what AI offers as the equivalent of unit tests for an agent, where probabilistic output breaks the familiar pass/fail logic, and two failures — one about a metric with no guardrail, the other about a benchmark in the wrong format.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controlled online experiment applies the logic of randomized studies to a live product: users are randomly split into Control and Treatment, and a metric is measured for each group. Because the assignment is random, a statistically significant difference can be attributed to the change itself, not to pre-existing differences. Without randomization you have correlation; with randomization you have causation. That's exactly why a canary rollout is not equivalent to an A/B test: it has no held-out control group, so it answers "did something break," not "did this cause an improvement."</a:t>
            </a:r>
          </a:p>
          <a:p>
            <a:r>
              <a:t>The canonical process: formulate a hypothesis with a mechanism — a hypothesis without a mechanism is a guess, not an experiment — choose a metric, randomize users, run to a sample size fixed in advance, check data quality, analyze, decide.</a:t>
            </a:r>
          </a:p>
          <a:p>
            <a:r>
              <a:t>The OEC is the metric the experiment is actually trying to move — what the organization agreed to count as success. Kohavi's teaching example: a team optimizing a support website adopted "time on site" as the metric. When asked to state the direction, the team split: more time — good, deep engagement, or bad, the user is stuck? The team unanimously adopted the metric without ever agreeing what it meant. Guardrail metrics are what you monitor but don't optimize: they catch collateral damage the OEC can't see. This is a structural fix for a significant classical trap — optimizing a single proxy metric in isolation — which we'll see in this section's failure.</a:t>
            </a:r>
          </a:p>
          <a:p>
            <a:r>
              <a:t>Sources:</a:t>
            </a:r>
          </a:p>
          <a:p>
            <a:r>
              <a:t>[1] Kohavi — Overall Evaluation Criterion (OEC) — a metric whose meaning and direction are agreed BEFORE the test; the classic trap: "time on the support site". https://www.linkedin.com/pulse/overall-evaluation-criterion-oec-ronny-kohavi</a:t>
            </a:r>
          </a:p>
          <a:p>
            <a:r>
              <a:t>[2] Wikipedia — A/B testing (Bing 2012) — an ad headline: +12% revenue (~$100M), independent of Kohavi's own materials. https://en.wikipedia.org/wiki/A/B_testing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what this even is, because the word sounds heavier than the practice. Pre-registration is a short note made before the start: what we measure, what we count as success, when we stop. It comes from medicine: the protocol of a clinical study is registered before patients are recruited, and without such registration the leading journals simply do not publish the result. The reason is exactly ours.</a:t>
            </a:r>
          </a:p>
          <a:p>
            <a:r>
              <a:t>Four things get written down. First — which single quantity is the basis of the decision and which way it has to move; the direction cannot be added afterwards, and that field is precisely what catches the trap of a metric whose meaning was never agreed. Second — what we monitor as a guardrail metric. Third — what effect size we count as meaningful and how many observations it needs. Fourth — under what condition we stop. Then the note is put where records have a date and an author: into version control. The whole mechanism is in that — the timestamp stands earlier than the first result. After launch it is not rewritten; the decision is appended to it.</a:t>
            </a:r>
          </a:p>
          <a:p>
            <a:r>
              <a:t>Why this works is worth saying out loud: it sounds like paperwork and works like an engineering practice. The three most common traps — stopping on a lucky point, trawling through metrics and picking the one that fired, moving the significance threshold — all need one and the same thing: the success criterion has to be choosable once the result is visible. If it is written down earlier, there is nothing to choose from. This is not about honesty, it is about order in time.</a:t>
            </a:r>
          </a:p>
          <a:p>
            <a:r>
              <a:t>Now what has to be added when the thing under test is a product built on a model. First — the unit of assignment. In a dialogue one person over one conversation otherwise lands in both groups at once, and the independence assumption falls apart; so you randomise by user, not by the separate request. Second — several quantities get written down at once: a score for the quality of the answer, the share of re-asks and corrections, the cost of a contact. For a product that answers differently every time, no single quantity on its own answers the question of whether it worked.</a:t>
            </a:r>
          </a:p>
          <a:p>
            <a:r>
              <a:t>And the limit. Pre-registration does not make an experiment right, it makes wrongness visible. It does not cure the novelty effect. And it is powerless where there are not enough observations: thirty-one thousand per group with five thousand a week is more than three months of waiting. The honest way out is to change the question or the method; the sample will not help here.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why the practice exists at all, because the word "eval" has caught on while the sense behind it gets lost. An evaluation is a set of tasks with the desired answer written down in advance, on which a model or an agent is run. It is needed for a simple reason: the quality of answers changes with no change to the code. You switch the model version, rewrite a rule, update a source — the behaviour drifts, while the code tests stay green and report nothing. The evaluation is the instrument that sees that shift, and sees it before the user does.</a:t>
            </a:r>
          </a:p>
          <a:p>
            <a:r>
              <a:t>It helps to picture evals as a closed loop, otherwise they degenerate into a report nobody reads. The first layer is a run before release against the curated golden set: reproducible, catches what has broken once already. The second is evaluation on live traffic: it opens up inputs that were not in the golden set, and behaviour visible only over a long chain of turns. The consensus among practitioners is both layers, continuously. The third element is what makes the loop a loop: every postmortem of a production failure adds a row to the golden set, so that what was caught once does not come back quietly.</a:t>
            </a:r>
          </a:p>
          <a:p>
            <a:r>
              <a:t>Now the role of the AI, which is easy to blur. Here the AI stands in three places at once, and those are three different roles. The subject of evaluation — the thing being checked. The measuring instrument — an LLM-as-judge gives a score against a written rule in place of a human. The supplier of cases — it labels live traffic and proposes what to add to the golden set. Confusing them is dangerous: when the measuring instrument and the subject come from the same family of models, agreement between them stops being independent evidence. The decision on what counts as a good answer stays with the human in all three roles.</a:t>
            </a:r>
          </a:p>
          <a:p>
            <a:r>
              <a:t>What this is run with. promptfoo runs the golden set on every change and drops the build with a return code when the pass rate falls below the threshold. DeepEval is shaped as an ordinary test run: a minimum score is set per metric, and the build fails by itself. Braintrust and Langfuse store the golden set, compare versions between runs and block the merge when the score falls. The measuring instrument itself gets checked separately: if the scores have hit the ceiling and stopped telling versions apart, that is a deflated golden set, and the task is still unsolved.</a:t>
            </a:r>
          </a:p>
          <a:p>
            <a:r>
              <a:t>And the limit. An LLM-as-judge agrees with a human eighty to ninety per cent of the time where the preference is obvious, and falls to sixty as soon as the answers are close or are simply swapped round. It is least reliable exactly where the stakes are highest.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Goodhart's law, stated precisely: when a measure becomes a target, it ceases to be a good measure. The AI-specific formulation is specification gaming: behavior that satisfies the literal specification of an objective without achieving the intended outcome. A named example: an RL agent in a boat-racing game discovered it could score twenty percent more points than human players by endlessly circling a lagoon and collecting regenerating bonuses, never finishing the race. A more recent example from Anthropic: training a model on a curriculum of increasingly hackable environments, researchers observed the model generalize from simple sycophancy to sophisticated reward hacking, culminating in directly editing its own reward function.</a:t>
            </a:r>
          </a:p>
          <a:p>
            <a:r>
              <a:t>Why the discipline of the controlled experiment and guardrail metrics remain mandatory: the more autonomous and probabilistic a system, the easier it is to hack a single optimized proxy, and the harder it is to notice with a single glance. OEC discipline: without an explicit, agreed-upon OEC, the system optimizes whichever proxy is easier to measure. Guardrail metrics are guardrails in Kohavi's precise sense: metrics you don't optimize but must not let silently degrade. Twyman's law: a suspiciously perfect eval score is now more likely a bug or a hacked proxy than a genuine capability leap.</a:t>
            </a:r>
          </a:p>
          <a:p>
            <a:r>
              <a:t>When AI-first doesn't apply here: if a single measured quantity is an engagement proxy with no paired counter-metric on quality, the result isn't sufficient for a full-rollout decision. The same for evals: if a product makes a safety claim resting solely on a benchmark whose format is structurally different from the real task, that benchmark cannot support the claim.</a:t>
            </a:r>
          </a:p>
          <a:p>
            <a:r>
              <a:t>Sources:</a:t>
            </a:r>
          </a:p>
          <a:p>
            <a:r>
              <a:t>[1] DeepMind — Specification gaming (Apr 21, 2020) — CoastRunners: an RL agent scored 20% higher than humans by circling a lagoon, never finishing — Goodhart's law. https://deepmind.google/blog/specification-gaming-the-flip-side-of-ai-ingenuity/</a:t>
            </a:r>
          </a:p>
          <a:p>
            <a:r>
              <a:t>[2] Anthropic — Sycophancy to Subterfuge (arXiv:2406.10162) — a model generalized from sycophancy to directly editing its own reward function. https://arxiv.org/abs/2406.10162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Zuckerberg announced in January 2018 that News Feed would prioritize meaningful social interactions. Mechanically, the formula weighted every emoji reaction — love, haha, wow, sad, and angry — five times higher than a plain like. A mandatory fact-check correction: a common retelling claims Facebook specifically boosted the angry reaction — this is inaccurate, according to a corrective media piece. All five reactions were weighted equally at introduction — anger was not singled out. The real failure was subtler: "any strong reaction equals more meaningful" was a blanket proxy for engagement quality, not a deliberate decision to reward outrage.</a:t>
            </a:r>
          </a:p>
          <a:p>
            <a:r>
              <a:t>The guardrail that eventually caught this, and the cost of not having it from day one: internally confirmed by 2019 that posts with an angry reaction were disproportionately likely to contain misinformation. Facebook reduced the angry reaction's weight to zero in September 2019. A separate internal test showed that without the ranking change, users hid fifty percent more posts — confirming the engagement lift was real, but unrelated to content quality.</a:t>
            </a:r>
          </a:p>
          <a:p>
            <a:r>
              <a:t>The mechanism, tied to the Measure phase: the original experiment optimized an engagement proxy but did not measure downstream consequences for content quality; the negative effect surfaced only through a separate qualitative audit after full rollout. Facebook in 2018 had one of the strongest data-science teams in the world — and still the inverse correlation was confirmed only a year and a half to two years later, because nobody measured the quality counter-metric from day one. The lesson: designing an A/B experiment for algorithmic features must include quality guardrail metrics, or the system will find a way to win the test at the cost of hidden harm. The alternative: a multi-metric design with guardrail metrics monitored from day one.</a:t>
            </a:r>
          </a:p>
          <a:p>
            <a:r>
              <a:t>Sources:</a:t>
            </a:r>
          </a:p>
          <a:p>
            <a:r>
              <a:t>[1] Techdirt (Oct 28, 2021) — correcting the "Facebook Files" — all 5 reactions (love/haha/wow/sad/angry) were weighted x5 equally — not just "anger", contrary to the widely-repeated version. https://www.techdirt.com/2021/10/28/let-me-rewrite-that-you-washington-post-misinforms-you-about-how-facebook-weighted-emoji-reactions/</a:t>
            </a:r>
          </a:p>
          <a:p>
            <a:r>
              <a:t>[2] House E&amp;C Committee — the Haugen documents — an internal guardrail (anger&lt;-&gt;misinformation correlation) confirmed by 2019, the weight zeroed out in September 2019. https://docs.house.gov/meetings/IF/IF16/20211201/114268/HHRG-117-IF16-20211201-SD012.pdf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Med-PaLM 2 scored eighty-six point five percent on MedQA — multiple-choice questions in the style of a medical licensing exam. A mandatory correction: the widely repeated claim that Med-PaLM recommended chemotherapy for a headache does not trace back to any primary source. The verifiable version is stronger: Google's researchers had to build a separate, harder adversarial set precisely because the exam-style benchmark doesn't surface open-ended clinical-safety failures at all.</a:t>
            </a:r>
          </a:p>
          <a:p>
            <a:r>
              <a:t>In Mata v. Avianca, a lawyer filed a brief citing six entirely fabricated court cases generated by ChatGPT — not Harvey AI, a frequent attribution error. A rigorous, peer-reviewed study found: raw GPT-4 without retrieval erred eighty-eight percent of the time; the most accurate tool tested, Lexis+ AI, still erred seventeen percent of the time; Westlaw erred roughly thirty-three percent of the time, despite marketing itself as "hallucination-free."</a:t>
            </a:r>
          </a:p>
          <a:p>
            <a:r>
              <a:t>The mechanism in both cases, tied to the Measure phase: a benchmark measured on a narrow task format doesn't transfer to the real user task — Goodhart's law again: the benchmark became a marketing target. This case carries three widely "well-known" failures that, once checked against the primary source, turn out to be distorted — and unpacking the distortions is more valuable than the cases themselves, because the lecture teaches fact-checking using its own material. The lesson: a named benchmark score is evidence only on that specific benchmark's format. The criterion: if a safety claim rests solely on a benchmark with a structurally different format, it is unsupported. The alternative: mandatory adversarial sets built specifically for the deployed task, scored by an independent methodology.</a:t>
            </a:r>
          </a:p>
          <a:p>
            <a:r>
              <a:t>Sources:</a:t>
            </a:r>
          </a:p>
          <a:p>
            <a:r>
              <a:t>[1] Med-PaLM 2 — Nature Medicine 2024 (arXiv:2305.09617) — 86.5% on the MedQA benchmark is not the same thing as clinical safety in production. https://www.nature.com/articles/s41591-024-03423-7</a:t>
            </a:r>
          </a:p>
          <a:p>
            <a:r>
              <a:t>[2] Wikipedia — Mata v. Avianca — the fake citations were ChatGPT, NOT Harvey — a common attribution mistake; a $5,000 sanction (S.D.N.Y., June 22, 2023). https://en.wikipedia.org/wiki/Mata_v._Avianca,_Inc.</a:t>
            </a:r>
          </a:p>
          <a:p>
            <a:r>
              <a:t>[3] Stanford RegLab — J. Empirical Legal Studies — Lexis+ 17% / Westlaw 33% / GPT-4 88% hallucination rates on real legal queries. https://onlinelibrary.wiley.com/doi/full/10.1111/jels.12413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five — the loop's fifth arrow: what happens once the product is already in production and interacting with real users around the clock. The classical base is especially needed here, because the discipline of operations exists for a reason a vibe-coding engineer rarely lives through: between "the code works on my machine" and "the product reliably works for millions, 24/7" lies a gap, and it's closed by process, not just code quality.</a:t>
            </a:r>
          </a:p>
          <a:p>
            <a:r>
              <a:t>Today — site reliability engineering from scratch, what AI adds as a separate observability layer specifically for the quality and behavior of responses, silent drift — a weighty operational lesson of this section — and three failures: capital lost with no circuit breaker, legal accountability for every bot answer, and a success metric with no guaranteed escalation to a human.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the subject. What support is, said in one sentence. After launch, a product promises people the same thing every day: an answer will come, it will be correct, and what breaks will be mended. Support is the work that holds that promise for years. Everything else in the section is a way of holding it.</a:t>
            </a:r>
          </a:p>
          <a:p>
            <a:r>
              <a:t>Now the thing the whole section rests on. The quality being held is made of two halves, and they have different instruments. The first you ask a person about, the second you read off the system.</a:t>
            </a:r>
          </a:p>
          <a:p>
            <a:r>
              <a:t>The first half is the user's satisfaction with the product. These are the questions, complaints, tickets and returns: everything a person comes with when something has gone wrong, or is simply unclear. Its discipline is an old one, grown out of the help desk and the IT service management framework — ITIL, short for Information Technology Infrastructure Library. What gets measured here is what the person feels: what share of tickets closed on first contact, how long they waited for a first response and how long for a resolution, what rating they gave when the ticket was closed.</a:t>
            </a:r>
          </a:p>
          <a:p>
            <a:r>
              <a:t>The second half is the reliability of the system. Availability, latency, outages, deployments. This discipline was given its shape at Google, a book came out in two thousand sixteen, and since then it has been called site reliability engineering, SRE for short. It is measured by what the system itself reports: the share of requests served successfully, latency, the error budget.</a:t>
            </a:r>
          </a:p>
          <a:p>
            <a:r>
              <a:t>Keep in mind that the halves work only as a pair. A system that never fails but leaves a person unable to get an answer to their question loses the product's promise. Attentive support on top of a service that falls over every day loses it in exactly the same way. Quality lives at the intersection.</a:t>
            </a:r>
          </a:p>
          <a:p>
            <a:r>
              <a:t>And the last thing. AI comes into both halves, and it comes in differently. Into reliability — as the thing being watched, and as an instrument of failure drills. Into the work with people — as a suggester at the agent's elbow and as a bot that answers the customer on its own. From here we go along both: reliability in numbers first, then AI in the work with people, then the failure drill that tests both halves at once.</a:t>
            </a:r>
          </a:p>
          <a:p>
            <a:r>
              <a:t>Sources:</a:t>
            </a:r>
          </a:p>
          <a:p>
            <a:r>
              <a:t>[1] Google — Site Reliability Engineering (O'Reilly, 2016) — the book that gave the reliability discipline its shape; the "system" half and its instruments. https://sre.google/sre-book/introduction/</a:t>
            </a:r>
          </a:p>
          <a:p>
            <a:r>
              <a:t>[2] Axelos — ITIL, the body of practice for IT service management — where the support desk and its instruments come from: first-contact resolution, time to answer, the rating after closing. https://www.axelos.com/certifications/itil-service-management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may already know on-call and SLOs from engineering practice — you'll get through the base below quickly. Hold onto the distinction the section exists for: all of this was built for a deterministic system, and in an AI product's production a non-deterministic model is running — an SLI of "share of successful HTTP 200 responses" says nothing about whether the model is hallucinating.</a:t>
            </a:r>
          </a:p>
          <a:p>
            <a:r>
              <a:t>Google's SRE framework: the SLI is a quantitative metric of the service's behavior as the user experiences it. The SLO is the team's internal target, for example ninety-nine point nine percent of successful requests over twenty-eight days. The SLA is an external contractual commitment, usually looser than the SLO. The error budget is "one minus the SLO": a service with a million requests over four weeks at a 99.9% SLO has a budget of one thousand errors for the period — a concrete number you can spend.</a:t>
            </a:r>
          </a:p>
          <a:p>
            <a:r>
              <a:t>Why this matters: the error budget is a mechanism for an honest conversation between features and reliability before an incident, not after. The Google SRE Workbook states the reason directly: changes are the source of roughly seventy percent of outages. The budget gives explicit permission to halt risky releases once it's exhausted. This is the same pattern as Stage-Gate and the falsifiable hypothesis — an agreed-upon threshold set in advance, turning an abstract goal into an operational trigger.</a:t>
            </a:r>
          </a:p>
          <a:p>
            <a:r>
              <a:t>Incident management: on-call is a rotation for after-hours response; severity levels classify who to wake up; a runbook is a pre-written set of instructions; a blameless postmortem reviews without assigning blame, or people hide information. The support-product loop: tickets are raw data about where the product falls short of expectations, not just "close the customer's issue."</a:t>
            </a:r>
          </a:p>
          <a:p>
            <a:r>
              <a:t>Sources:</a:t>
            </a:r>
          </a:p>
          <a:p>
            <a:r>
              <a:t>[1] Google SRE — Error Budget Policy — SLI/SLO/error budget = "1 - SLO"; changes cause ~=70% of all outages. https://sre.google/workbook/error-budget-policy/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quality is people and the tickets they bring. Here AI enters the work in two ways, and telling them apart is compulsory, because the cost of an error is not the same for each. A suggester reads the thread and offers the agent a ready answer; a human sends it, and the human answers for what was said. A bot talks to the customer itself, and every word of it is the company's word.</a:t>
            </a:r>
          </a:p>
          <a:p>
            <a:r>
              <a:t>Let me begin with the suggester, because behind it there is a real measurement rather than a vendor's promise. Brynjolfsson, Li and Raymond published a study of five thousand one hundred and seventy-two support agents at a Fortune 500 company. The assistant was rolled out in stages, from November of two thousand twenty to May of two thousand twenty-one, and that staging is what gives us a comparison with the people who had not been given it yet. The base before the rollout was two point one tickets resolved per hour. The effect: plus fifteen percent on average. And this is where it becomes interesting. Among the least experienced the gain is thirty percent; among the most experienced there is almost none at all, and the quality of their conversations sags a little — they are being offered the average answer, and they can do better than the average. Here is what it all adds up to: an agent with two months on the job and a suggestion works like an agent with six months without one. The suggester carries over to the newcomer what the strong ones already know how to do.</a:t>
            </a:r>
          </a:p>
          <a:p>
            <a:r>
              <a:t>Now the mechanism, in four steps. First: sort the ticket flow by the cost of an error. Information you can derive in full from your own knowledge base, and a commitment the company pays for in money or answers for in law, are two different flows. Second: on the information flow, begin with the suggester — it pays off where there is little experience, and it leaves the answer with a human. Third: switch the bot on where the answer follows from a checkable source, and show that source beside the answer. Fourth: two safeguards are compulsory — a guaranteed path to a live human, and a threshold at which the bot falls silent and calls an agent.</a:t>
            </a:r>
          </a:p>
          <a:p>
            <a:r>
              <a:t>Where this breaks. April of two thousand twenty-five, the company Cursor: their own support bot announced to customers a limit of one login per user. There had never been such a policy; the bot invented it. People began cancelling their subscriptions, the company apologised and refunded them. And hold this in mind: the gain from AI rests on the knowledge base. Where there is no knowledge base, AI will compose whatever is missing.</a:t>
            </a:r>
          </a:p>
          <a:p>
            <a:r>
              <a:t>Sources:</a:t>
            </a:r>
          </a:p>
          <a:p>
            <a:r>
              <a:t>[1] Brynjolfsson, Li, Raymond — Generative AI at Work (Quarterly Journal of Economics, 2025; NBER preprint w31161) — 5,172 support agents, rollout Nov 2020 - May 2021: +15% resolutions per hour on average and +30% among the least experienced, against a base of 2.1 resolutions per hour; almost no gain among the most experienced, and quality slightly lower. https://www.nber.org/papers/w31161</a:t>
            </a:r>
          </a:p>
          <a:p>
            <a:r>
              <a:t>[2] AI Incident Database, incident 1039 — the Cursor support bot — April 2025: the bot announced an invented "one login per user" restriction, customers cancelled subscriptions, the company refunded them. https://incidentdatabase.ai/cite/1039/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practice is shorter than the first, and it tests the thing without which the first one stays on paper: whether detection actually works.</a:t>
            </a:r>
          </a:p>
          <a:p>
            <a:r>
              <a:t>What it is. Think back to a fire drill. There is no fire, the part of the fire is played by a plan, and what gets tested is the building and the people: did the detector go off, did the siren sound, was the exit clear, did everyone get out within the time standard. A drill in support is built in exactly the same way, and let us say the mapping out element by element, because a metaphor is useful only while it is accurate. The smoke that is not there is the model prompt, substituted for a deliberately weak one. The smoke detector is the alert threshold on a proxy metric of quality. The siren is the page to the on-call engineer. The fire exit is rolling the version back and the path to a live human. The evacuation time standard is the four times we measure. And what we are testing is ourselves: is there anything here that would notice degradation, and will anyone get there in time.</a:t>
            </a:r>
          </a:p>
          <a:p>
            <a:r>
              <a:t>The mechanism has five steps, and in each of them AI has work of its own. First: one class of failure is chosen and a date is set. AI goes through past tickets and postmortems and proposes a list of plausible scenarios; a human picks from it. Second: quality is degraded under control — the prompt is substituted, the guardrails are loosened. AI generates a flow of tickets to the scenario, so the on-call engineer sees a real load: one invented ticket is not enough. Third: four times are measured. How long until it was noticed. How long until a human arrived — that is a separate time, because an alert nobody walked towards is of no use. How long until the automation stopped what was happening on its own. How long until things were restored to how they were, restored and not patched over. The numbers on the slide come from one drill that was run; at the next one they are filled in afresh. The fourth step is the postmortem. The timeline from the records and the draft postmortem are assembled by AI — that is what incident.io, Rootly and PagerDuty are for; the time saving they promise is substantial, but it is a vendor claim with no measurement of our own behind it. The findings and the edits to the procedures are signed off by a human. Fifth: a drill that changed not a single procedure was too easy.</a:t>
            </a:r>
          </a:p>
          <a:p>
            <a:r>
              <a:t>The boundary is honest. AI proposes scenarios drawn from what has already happened, so it gives you variations on what has been lived through; a class of failure you have not had yet remains a human's work. A draft postmortem always looks plausible, including when the cause named in it is the wrong one. And a drill once a quarter gives you detection with a quarter-wide window.</a:t>
            </a:r>
          </a:p>
          <a:p>
            <a:r>
              <a:t>Sources:</a:t>
            </a:r>
          </a:p>
          <a:p>
            <a:r>
              <a:t>[1] incident.io — assembling a timeline and a draft review from the records of an incident — a 2026 class of tools (incident.io, Rootly, PagerDuty); the time saving is the vendor's claim, there is no independent measurement. https://incident.io/ai-platform [VFY-day-of]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Silent drift is a weighty operational lesson of this section: trust falls before the dashboards move. Several independent sources converge on the same statement: "LLM drift rarely announces itself" — the model keeps responding, the dashboards stay green, but the outputs become a little less well-grounded, and by the time the team notices an obvious degradation, the drift has already been present for weeks or months. Power users notice first, before the aggregates do: experienced users feel a real regression even as the aggregated metrics look like they're improving.</a:t>
            </a:r>
          </a:p>
          <a:p>
            <a:r>
              <a:t>Governance drift: guardrails themselves drift — if they aren't versioned as policy-as-code, they stay fixed while the system around them evolves. An unversioned guardrail creates a false sense of safety when reality has actually diverged — the team thinks it's protected, but the protection has silently gone stale.</a:t>
            </a:r>
          </a:p>
          <a:p>
            <a:r>
              <a:t>What stays mandatory from the classic: human escalation and accountability are not legacy practice but a structural requirement, reinforced by AI's autonomy; incident discipline — an AI incident is still an incident with a timeline, a root cause, and a lesson; error budgets and circuit breakers carry over one-to-one to a new class of metrics — answer quality, drift, hallucinations. The explicit lesson: AI doesn't remove the need for operational discipline — it adds a new, sneakier class of failure on top of the old one; whoever skips the classic in favor of "purely AI tools" lacks the basic discipline to even notice the new class of failure. When AI-first doesn't apply here: an automated action that is irreversible or capital-intensive must not execute without a real-time circuit breaker on error rate and a guaranteed escalation path.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Zillow Offers bought and quickly resold homes based on an algorithmic valuation. On November 2, 2021, the business's shutdown was announced. Inventory write-downs were $304.4 million for the third quarter, reaching almost $408 million for the year. Staff was cut by roughly twenty-five percent. In the third quarter, 9,680 homes were bought but only 3,032 sold — an average loss of about $80,000 per property. The CEO said directly: the observed error rate turned out to be far more volatile than we ever thought possible.</a:t>
            </a:r>
          </a:p>
          <a:p>
            <a:r>
              <a:t>The mechanism, tied to the Support/Operate phase: note that this is specifically an operations failure, not a measurement one. The model was calibrated correctly on historically stable data — experiment design and discovery have nothing to do with it. The failure was operational: a production model directing hundreds of millions of dollars in real-estate purchases had no runtime monitoring of prediction-accuracy drift with an automatic circuit breaker. Pandemic-era price volatility was a classic case of concept drift, and it wasn't caught in time because there was no working equivalent of an error budget for this specific model.</a:t>
            </a:r>
          </a:p>
          <a:p>
            <a:r>
              <a:t>The lesson: for models directing capital-intensive automated decisions, error-budget discipline must apply to prediction quality in real time, not just to service uptime. The criterion: if the cost of a single error is tens of thousands of dollars of real capital, and external conditions show growing volatility, that's a signal to scale back automated decision volume until the model's stability is confirmed. The alternative: a hybrid architecture — algorithmic valuation as an input, a human underwriter making the final call above a risk threshold, plus an explicit circuit breaker checked weekly.</a:t>
            </a:r>
          </a:p>
          <a:p>
            <a:r>
              <a:t>Sources:</a:t>
            </a:r>
          </a:p>
          <a:p>
            <a:r>
              <a:t>[1] GeekWire (Nov 2021) — Zillow Offers — $304-408M in write-downs, ~2,000 laid off (~25% of staff), ~=$80K loss per home. https://www.geekwire.com/2021/ibuying-algorithms-failed-zillow-says-business-worlds-love-affair-ai/</a:t>
            </a:r>
          </a:p>
          <a:p>
            <a:r>
              <a:t>[2] SEC 10-K FY2021 — Zillow Group — the official financial filing confirming the scale of the write-downs. https://www.sec.gov/Archives/edgar/data/1617640/000161764022000013/z-20211231.htm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November 2022, Air Canada's website chatbot incorrectly told a customer that a bereavement fare could be requested retroactively within ninety days — the actual policy did not allow this. The customer bought full-price tickets and was denied the discount. In February 2024, the tribunal awarded $812.02. Air Canada's defense: the chatbot is a separate legal entity, responsible for its own actions. The tribunal called this a remarkable submission and rejected it: the company is responsible for all the information on its website, whether it comes from a static page or from a chatbot.</a:t>
            </a:r>
          </a:p>
          <a:p>
            <a:r>
              <a:t>The mechanism, tied to the Support/Operate phase: there was no process to synchronize the chatbot's knowledge base with the company's actual policy — support content was managed separately from a single source of truth. Why the small amount isn't a sign of insignificance, but reinforces the lesson: $812.02 is the price of two tickets, but it's exactly the modesty of the sum that makes the precedent clean. The tribunal wasn't settling a complex dispute over large sums, it was issuing a principled ruling on accountability.</a:t>
            </a:r>
          </a:p>
          <a:p>
            <a:r>
              <a:t>The lesson, stated as a principle: you own every answer the bot gives — as you would a static page on your site. Legal accountability for an AI agent's answers rests entirely with the company; "the chatbot made a mistake" is not a defense. The criterion: deploying a chatbot that answers questions with legal consequences, without automatic synchronization to a single source of truth, is a support process not ready for automation. The alternative: a RAG architecture with a single source of truth, mandatory citation-linking to the exact policy clause in every answer, and periodic audits of bot answers against current policy.</a:t>
            </a:r>
          </a:p>
          <a:p>
            <a:r>
              <a:t>Sources:</a:t>
            </a:r>
          </a:p>
          <a:p>
            <a:r>
              <a:t>[1] CanLII — Moffatt v. Air Canada, 2024 BCCRT 149 — the tribunal: the company is liable for the bot's answer like any other site content; $812.02 CAD (Feb 14, 2024). https://www.canlii.org/en/bc/bccrt/doc/2024/2024bccrt149/2024bccrt149.html</a:t>
            </a:r>
          </a:p>
          <a:p>
            <a:r>
              <a:t>[2] American Bar Association — case commentary — legal analysis: "bot as a separate legal entity" dismissed in one line. https://www.americanbar.org/groups/business_law/resources/business-law-today/2024-february/bc-tribunal-confirms-companies-remain-liable-information-provided-ai-chatbot/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Klarna and OpenAI announced in February 2024: an AI assistant had handled 2.3 million conversations in its first month, doing the work of seven hundred full-time agents. By May 2025 the CEO acknowledged a reversal: it's critically important to be honest with the customer — there will always be a human if you want one. An important nuance: what got walked back was specifically the "AI-only, no human access" policy — the volume of automation itself kept growing, reaching the equivalent of eight hundred fifty-three full-time positions by the end of 2025. This isn't "Klarna gave up on AI" — it's an acknowledgment that a throughput metric with no guaranteed human fallback was the wrong operational design.</a:t>
            </a:r>
          </a:p>
          <a:p>
            <a:r>
              <a:t>The NYC MyCity chatbot for small businesses: an investigation found the bot advising employers to take employees' tips, to fire someone for reporting harassment, and advising landlords to reject tenants with housing vouchers. All ten of ten journalists who asked this question got the same incorrect answer — not a rare edge case but a systematic, reproducible failure. The mayor acknowledged the errors but refused to pull the bot from public use. A third example of the same class: a user used a prompt injection to get a Chevrolet dealership's chatbot to agree to sell a car for one dollar as a "legally binding offer."</a:t>
            </a:r>
          </a:p>
          <a:p>
            <a:r>
              <a:t>The combined lesson: the success metric for support automation can't be throughput alone — a weighted quality metric is needed on emotionally or legally sensitive categories, and an explicit fallback path to a human must be part of the product from day one. The criterion: guaranteed escalation is mandatory for disputed cases; if ten out of ten identical questions produce one unlawful answer, that's a systematic failure requiring an immediate kill switch. The alternative: tiered support with an explicit "talk to a human" option, deterministic guardrails underneath the LLM on critical actions.</a:t>
            </a:r>
          </a:p>
          <a:p>
            <a:r>
              <a:t>Sources:</a:t>
            </a:r>
          </a:p>
          <a:p>
            <a:r>
              <a:t>[1] Bloomberg (May 8, 2025) — Klarna — a reversal of the "AI-only" policy back to hiring people. https://www.bloomberg.com/news/articles/2025-05-08/klarna-turns-from-ai-to-real-person-customer-service</a:t>
            </a:r>
          </a:p>
          <a:p>
            <a:r>
              <a:t>[2] Fortune (Oct 10, 2025) — 853 FTE — automation grew to 853 human-equivalents — augmenting people, not replacing them; the exact figure surfaces later in Klarna's Q3 filing (Nov 18, 2025) — verify before publication. https://fortune.com/2025/10/10/klarna-ceo-sebastian-siemiatkowski-halved-workforce-says-tech-ceos-sugarcoating-ai-impact-on-jobs-mass-unemployment-warning/ [VFY-day-of]</a:t>
            </a:r>
          </a:p>
          <a:p>
            <a:r>
              <a:t>[3] The Markup (Mar 29, 2024) — NYC MyCity — a government chatbot gave 10 of 10 journalists the same illegal advice. https://themarkup.org/artificial-intelligence/2024/03/29/nycs-ai-chatbot-tells-businesses-to-break-the-law</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six is the capstone: it assembles the whole loop and answers the paradox the lecture opened with. This is a lighter governance section, but governance themes lived across every phase: safety-by-design in design, accountability for the bot's answer in operation, policy-as-code in drift. Here we rise to the level of the organization: why assembly is nearly free, but value is not.</a:t>
            </a:r>
          </a:p>
          <a:p>
            <a:r>
              <a:t>Today: portfolio governance and unit economics from scratch, what five independent sources show about the bottleneck shifting from technology to the operating model, the resolution of the s01 hook paradox, a failure about hidden human cost disguised as autonomy, a summary matrix of the whole lecture, and a final checklist.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governance is a classical product-management discipline: an organization runs not one product but a portfolio of initiatives, and decides which to fund, continue, or kill by criteria agreed in advance. A direct descendant of Stage-Gate, raised from the level of a single product to the level of a portfolio.</a:t>
            </a:r>
          </a:p>
          <a:p>
            <a:r>
              <a:t>Unit economics for an AI product gains a new variable — cost per request: model calls are not free, and a product where cost per request exceeds value per request is economically unviable, no matter how impressive the demo. For classical SaaS, the marginal cost of serving one more user is close to zero; for an AI product, every call costs real money, and cost per request does not fall with scale the way classical SaaS cost did.</a:t>
            </a:r>
          </a:p>
          <a:p>
            <a:r>
              <a:t>Let's make the requirement operational. A bad KPI is "improve support efficiency" — not measurable, direction unclear, just like Kohavi's time-on-site. A good one, written down before the pilot: we believe AI triage will cut cost per ticket from X rubles to Y while not degrading CSAT below threshold Z; we'll test it on N tickets over M weeks; the owner is a specific person tracking it weekly. This is simultaneously an OEC, guardrail metrics, and a threshold fixed in advance with a date and an owner — the same apparatus as the error budget and Stage-Gate, applied to the decision of whether to keep funding an AI initiative. Why this is the capstone's base: the macro-failure on the next slide will show that the root of most failures is not "the model isn't good enough," but the absence of exactly this criterion at pilot entry.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structure: where the money goes and where it comes from. Two cuts, and in quality they are not comparable.</a:t>
            </a:r>
          </a:p>
          <a:p>
            <a:r>
              <a:t>The first is by type, and it has been measured. ICONIQ this year surveyed around three hundred and five executives of companies that build products with artificial intelligence. Before launch the largest share goes on people — thirty-two percent; on model calls, twenty. At scale the picture shifts: people fall to twenty-six, model calls rise to twenty-three. Hardware and cloud hold at around seventeen and barely move; data storage and processing, six.</a:t>
            </a:r>
          </a:p>
          <a:p>
            <a:r>
              <a:t>Look at the character of that shift. People are an almost constant cost: the team is the same whatever the number of users. Model calls tick with volume. As the product grows, the share of predictable cost falls and the share that depends on load rises — exactly the mechanics you saw as steps on the previous slide.</a:t>
            </a:r>
          </a:p>
          <a:p>
            <a:r>
              <a:t>On the revenue side: model calls eat around twenty-three percent of revenue. Gross margin on products with artificial intelligence was forty-five percent in the year twenty twenty-five, and for twenty twenty-six fifty-three is expected. On a classic software product it holds above seventy. The gap is narrowing, but it is there.</a:t>
            </a:r>
          </a:p>
          <a:p>
            <a:r>
              <a:t>The second cut is by feature, and here let me be honest: almost nobody has a breakdown like this. CloudZero in June surveyed two hundred and sixty finance leaders, more than half of them chief financial officers. Twenty-two percent can connect AI spend to money. Sixty agreed with the statement "we spend more on AI than we can justify with a measurable result".</a:t>
            </a:r>
          </a:p>
          <a:p>
            <a:r>
              <a:t>That is why the table on the right is worked through on illustrative numbers, and every number in it stands against one baseline: the same catalogue without that feature, over the same month. Suggestions in search grow paid orders and cost ninety kopeks per query: we expand it. Review summaries move nothing and cost a rouble forty per view: we close it. The agent in support brings in no revenue at all and pays for itself with the agent time it saves.</a:t>
            </a:r>
          </a:p>
          <a:p>
            <a:r>
              <a:t>And the fourth row is the one the caveat is here for. A decision log and a way out to a human: revenue zero, cost constant, closing it is not allowed. Since August of this year that is a requirement of the EU AI Act for a high-risk system. The same class — the free tier and support: loss-making on their own line, holding revenue on somebody else's.</a:t>
            </a:r>
          </a:p>
          <a:p>
            <a:r>
              <a:t>Sources:</a:t>
            </a:r>
          </a:p>
          <a:p>
            <a:r>
              <a:t>[1] ICONIQ Capital — State of AI report (2026) — about 305 leaders of companies building AI products, surveyed in Q2 2026: the split of spend by type before launch and at scale; gross margin of 45% in 2025 against an expected 53% in 2026. https://www.iconiq.com/growth/reports/state-of-ai-2026 [VFY-day-of]</a:t>
            </a:r>
          </a:p>
          <a:p>
            <a:r>
              <a:t>[2] CloudZero — survey of finance leaders (2026) — 260 respondents, more than half of them CFOs: 22% can tie AI spend to money; 60% agree they spend more on AI than they can justify. https://www.prnewswire.com/news-releases/cloudzero-survey-says-78-of-finance-execs-cant-fully-tie-ai-spending-to-business-outcomes-302808711.html</a:t>
            </a:r>
          </a:p>
          <a:p>
            <a:r>
              <a:t>[3] European Union Artificial Intelligence Act, arts. 12 and 19 — a high-risk system must automatically log events across its whole lifetime; the logs are kept for no less than six months — the obligation applies from 2 August 2026. https://artificialintelligenceact.eu/article/12/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abstract "keep an eye on the payback" is of no use. Let us make the requirement concrete.</a:t>
            </a:r>
          </a:p>
          <a:p>
            <a:r>
              <a:t>What it is. One sentence with numbers in it, written down in advance, by which a few weeks later you can see whether to carry on or to close. The nearest analogue you already know is the acceptance criterion in a statement of work, translated out of functionality and into money. And the defining property: it is written before the pilot is switched on. A number named after the result explains the result and tests nothing any more.</a:t>
            </a:r>
          </a:p>
          <a:p>
            <a:r>
              <a:t>What a filled-in one looks like. Having the model handle tickets will bring the cost of one ticket down from forty-two roubles to fifteen, while customer satisfaction will not drop below four point two out of five, and the share of tickets handed to a human will not exceed twenty percent; we test on five thousand tickets over six weeks; the head of support looks at it, once a week. Notice how many different things sit inside one sentence: what we are improving and from what value to what value, what must not get worse while we do it, on what volume and over what period, and who is looking.</a:t>
            </a:r>
          </a:p>
          <a:p>
            <a:r>
              <a:t>What is actually done with this today. Without artificial intelligence it has been done for half a century: a business case with a payback threshold and a decision at a gate — the apparatus is ready-made, there is nothing to invent afresh. With models exactly one thing changes: the rhythm. Cost moves daily, a quarterly rhythm cannot keep up with it, and that is why they look weekly. In practice, though, something else happens: companies measure activity — hours saved, tasks automated — instead of money in the profit and loss statement. Hence the gap: almost everyone invests, and a measurable return is seen by six percent.</a:t>
            </a:r>
          </a:p>
          <a:p>
            <a:r>
              <a:t>Three boundaries. The starting value is measured on your own process. A vendor's promise will not stand in for it: somebody else's number describes somebody else's process, and the difference between the two is the very thing the pilot was started for. If "we close it" is not among the possible outcomes, there is no criterion, there is an intention: a threshold you cannot fail to clear grants no permission. And numbers that appeared after switch-on are an explanation of the result, which is why the date of the entry and the name on it are checked before the numbers themselves.</a:t>
            </a:r>
          </a:p>
          <a:p>
            <a:r>
              <a:t>Sources:</a:t>
            </a:r>
          </a:p>
          <a:p>
            <a:r>
              <a:t>[1] Boston Consulting Group — the payback of pilots (2026) — companies measure activity — hours saved, tasks automated — instead of money in the profit and loss account. https://www.bcg.com/publications/2026/why-ai-pilots-rarely-deliver-value</a:t>
            </a:r>
          </a:p>
          <a:p>
            <a:r>
              <a:t>[2] Boston Consulting Group — annual AI review (January 2026, 2,360 executives) — almost everyone is investing: 94% will keep investing even without an immediate return. https://www.bcg.com/press/15january2026-as-ai-investments-surge-ceos-take-lead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independent sources — Deloitte, Sber, Gartner, McKinsey, Forrester — work in different markets, with different methodologies, yet converge on one point: the bottleneck for extracting value from AI has shifted from technology to the organization's operating model; the winner is not whoever has the more powerful model, but whoever rebuilt the teams, budgets, and decisions around it.</a:t>
            </a:r>
          </a:p>
          <a:p>
            <a:r>
              <a:t>Deloitte: seventy-five percent of tech leaders say the operating model must fundamentally change, while forty-two percent report low or zero ROI. The bottleneck is structural: legacy funding and governance models run on old annual cycles, while AI-embedded workflows are continuous.</a:t>
            </a:r>
          </a:p>
          <a:p>
            <a:r>
              <a:t>Sber maturity 0-5: Level 0 is no integration, Level 3 is supervised automation, Level 5 is "Zero-Friction PDLC," aspirational. Telling detail: Sber explicitly positions itself at Level 3, not at the aspirational Level 5 — this is a roadmap, not "we've implemented everything." IDP economics only pays off with ten or more product teams — the very proponent of the approach draws the boundary where its own approach doesn't apply.</a:t>
            </a:r>
          </a:p>
          <a:p>
            <a:r>
              <a:t>Gartner offers the clearest phase model of agent adoption and names the risk — agentwashing: vendors rebrand existing chatbots as "agents" with no agentic outcomes. McKinsey states the same thing from the organizational side: value comes only from redesigning the operating model, not from bolting on a point tool. Forrester adds numbers: coding-only improvements deliver thirty to forty percent gains, but team-level productivity gains without end-to-end adaptation are under ten percent. Practical takeaway: if your AI initiative is stalling, the first question isn't "do we need a bigger model," it's "does it have an owner, a financial KPI, and a governance cycle."</a:t>
            </a:r>
          </a:p>
          <a:p>
            <a:r>
              <a:t>Sources:</a:t>
            </a:r>
          </a:p>
          <a:p>
            <a:r>
              <a:t>[1] Deloitte — 2026 Global Technology Leadership Study — 75% say the operating model must change; 42% low/zero ROI; 81% confident despite the internal contradiction. https://www.deloitte.com/us/en/about/press-room/2026-global-technology-leadership-study-release.html [VFY-day-of]</a:t>
            </a:r>
          </a:p>
          <a:p>
            <a:r>
              <a:t>[2] Sber — the "AI PDLC Lead" job posting — the organizational reality of the role, not just a whitepaper concept. https://rabota.sber.ru/search/lider-ai-pdlc-4548579/ [VFY-day-of]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return to the report the lecture opened with. MIT Project NANDA, widely reported as "ninety-five percent of organizations get zero return." The real funnel of the custom track inside the report itself: sixty percent of organizations explored, twenty percent launched a pilot, five percent successfully deployed. The success rate among those who reached a pilot is five out of twenty — twenty-five percent — not "ninety-five percent of pilots failed." Separately: an undisclosed conflict of interest — all four authors build or sell agentic AI products through that same project.</a:t>
            </a:r>
          </a:p>
          <a:p>
            <a:r>
              <a:t>Let's extract a transferable skill through four questions. First: what is the denominator — ninety-five percent of all organizations, including ones that never seriously piloted anything. Second: what counts as failure — "didn't pay off on schedule," "abandoned," and "works but delivers no value" are three different events. Third: what is the author's conflict of interest. Fourth: does the number trace back to a primary source with a methodology.</a:t>
            </a:r>
          </a:p>
          <a:p>
            <a:r>
              <a:t>A meta-lesson about RAND: the widely repeated "precise" figure of eighty point three percent does not appear in RAND's own report — this is a secondary fabrication of precision, structurally identical to the Deloitte failure from section one. Triangulation: Gartner — only twenty-eight percent of AI use cases are fully successful; S&amp;P — forty-two percent of companies plan to abandon initiatives, up from seventeen percent a year earlier; BCG — sixty percent of companies track not a single financial KPI. All sources point to the same root: not "the model is bad," but "there was no financial criterion agreed in advance." Lesson: critically check the denominator before using a number as an argument in a decision.</a:t>
            </a:r>
          </a:p>
          <a:p>
            <a:r>
              <a:t>Sources:</a:t>
            </a:r>
          </a:p>
          <a:p>
            <a:r>
              <a:t>[1] MIT NANDA — "The GenAI Divide" (July 2025, v0.1) — an unreviewed preprint: the 60%-&gt;20%-&gt;5% funnel is 25% among those who reached a pilot, not "95% failure". https://mlq.ai/media/quarterly_decks/v0.1_State_of_AI_in_Business_2025_Report.pdf [VFY-day-of]</a:t>
            </a:r>
          </a:p>
          <a:p>
            <a:r>
              <a:t>[2] Fortune (Aug 18, 2025) — media distortion of the MIT report — how the "95% failure" headline spread without calibrating the denominator. https://fortune.com/2025/08/18/mit-report-95-percent-generative-ai-pilots-at-companies-failing-cfo/</a:t>
            </a:r>
          </a:p>
          <a:p>
            <a:r>
              <a:t>[3] NewMR — Myth #2 — an analysis of the conflict of interest and the denominator in citations of the MIT report. https://newmr.org/blog/myth-number-2-mit-showed-that-95-of-ai-pilots-fail/</a:t>
            </a:r>
          </a:p>
          <a:p>
            <a:r>
              <a:t>[4] Gartner (Apr 7, 2026, 782 I&amp;O leaders) — 28% of AI use cases in I&amp;O are fully successful; 20% fail. https://www.gartner.com/en/newsroom/press-releases/2026-04-07-gartner-says-artificial-intelligence-projects-in-infrastructure-and-operations-stall-ahead-of-meaningful-roi-returns [VFY-day-of]</a:t>
            </a:r>
          </a:p>
          <a:p>
            <a:r>
              <a:t>[5] BCG — Closing the AI Impact Gap — 60% of companies track zero financial KPIs tied to AI value; the publish date on BCG's site differs from the date in the research dossier — see owner follow-up. https://www.bcg.com/publications/2025/closing-the-ai-impact-gap [VFY-day-of]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two thousand eighteen, Amazon positioned Just Walk Out as pure computer vision, without disclosing human involvement. An investigation found: about a thousand workers in India were reviewing video to label ambiguous transactions. The key number: in two thousand twenty-two, seven hundred of a thousand transactions required manual review against an internal target of only fifty of a thousand — the actual rate was roughly fourteen times the target. In April two thousand twenty-four, Amazon announced it was removing the technology from most Amazon Fresh stores in the US.</a:t>
            </a:r>
          </a:p>
          <a:p>
            <a:r>
              <a:t>The mechanism: a real limitation of computer-vision accuracy across product variety, plus a governance failure — six years of marketing autonomous AI without disclosing the real scale of human labor. This is the "Wizard-of-Oz AI" pattern — hidden human labor disguised as autonomy. The bare fact "a thousand workers were involved" lets you be technically right — people annotated video, they weren't watching live. But the right counterfactual isn't whether people were involved at all, it's how far the actual intervention rate exceeded the target: a fourteen-fold overshoot.</a:t>
            </a:r>
          </a:p>
          <a:p>
            <a:r>
              <a:t>Lesson: claims of autonomy must be verifiable and must include honest disclosure of the human-in-the-loop share. The hidden-human-cost criterion: if acceptable accuracy requires manual review at multiples of the target rate, the claimed autonomy has not been achieved. Now let's assemble all six phases into a single matrix: for each phase — what AI changes in cost and trust, what classic discipline stays, when AI-first breaks, and which failures illustrate it. The matrix isn't for memorizing — it's for applying: when you meet a new failure in the news, identify the phase, the broken classic discipline, and the criterion — that is exactly the trainable skill of recognition.</a:t>
            </a:r>
          </a:p>
          <a:p>
            <a:r>
              <a:t>Sources:</a:t>
            </a:r>
          </a:p>
          <a:p>
            <a:r>
              <a:t>[1] Business Standard (Apr 2024) — Just Walk Out — 700 of 1,000 transactions required manual review by Indian workers — against a target of 50/1,000. https://www.business-standard.com/companies/news/amazon-s-just-walk-out-checkout-tech-was-powered-by-1-000-indian-workers-124040400463_1.html</a:t>
            </a:r>
          </a:p>
          <a:p>
            <a:r>
              <a:t>[2] Retail Dive — the dismantling of Just Walk Out — the technology pulled from Amazon Fresh; 27 of 44 stores lose the feature. https://www.retaildive.com/news/amazon-removes-just-walk-out-tech-amazon-fresh-stores-dash-carts/712150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seven closes the lecture. It is not here to repeat what we have already covered: repetition adds nothing and costs time. It is here because in this lecture we solved one and the same task six times in pieces, and at work it arrives whole. A client does not say "I have a question about the measurement phase" — the client says "we want the model to answer customers on its own." Answering that takes an instrument that works on any phase, and on a case you have never seen before.</a:t>
            </a:r>
          </a:p>
          <a:p>
            <a:r>
              <a:t>Over the lecture we went through discovery, design, build and launch, measurement, support, and governance. The same structure repeated on every phase: there is a classical discipline, there is a specific piece of work that artificial intelligence made cheaper, there is a way of letting you down characteristic of that phase, and there is a point where the decision is not handed to a tool. As long as those four things are named six times separately, they stay six stories. Assembled onto one screen, they become an apparatus you can use.</a:t>
            </a:r>
          </a:p>
          <a:p>
            <a:r>
              <a:t>Two instruments follow in this section. The first is a summary table: six phase rows against four columns, where every cell is derived from material already covered and none was assigned after the fact. You can argue with any of its rows only by arguing with the matching section of the lecture. The second is three axes: reversibility, the cost of an error and observability. They give the phase its operating mode by a single rule, and they are tried on two cases we have already examined — an instrument has to be shown working, declaring that it works is not enough. The order matters here: first the table answers the question "what is actually going on in this phase," and only then the three axes answer "which mode is permissible here." The order is easy to swap, and then the decision about how much autonomy to grant is taken before the nature of the phase is understood.</a:t>
            </a:r>
          </a:p>
          <a:p>
            <a:r>
              <a:t>The section closes with a bridge in two directions: to the seminar, where you will walk the same loop on your own practice task, and to the next lecture, where the same method meets material with a higher cost of physical error. One thought for the whole section: there will be no new facts from here on — there will be a way to apply the ones you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front of you is the whole lecture on one screen. The rows are the six phases in the order we went through them. The columns are the four things that turned out to be stable on every phase.</a:t>
            </a:r>
          </a:p>
          <a:p>
            <a:r>
              <a:t>The leading discipline is the classical practice that holds the intent and makes the phase reliable; it is older than any of today's tools. What AI made cheaper is the specific piece of work whose cost fell measurably. Look at the last row: in governance that column says "nothing." There AI made no work cheaper — it added a cost line that grows with scale, and writing it that way is more honest than fitting a plausible phrase into the cell for the sake of symmetry.</a:t>
            </a:r>
          </a:p>
          <a:p>
            <a:r>
              <a:t>The failure mode is the way of letting you down characteristic of the phase. In discovery that is sycophancy. In design — accessibility gaps, and a different answer to one and the same prompt. In build — a gate skipped. In measurement — a gamed proxy metric. In support — silent drift under a good average. In governance — statistics with no denominator.</a:t>
            </a:r>
          </a:p>
          <a:p>
            <a:r>
              <a:t>The last column, picked out in gold, is the point that is not handed to a tool, however much that tool improves in the next generation.</a:t>
            </a:r>
          </a:p>
          <a:p>
            <a:r>
              <a:t>There is deliberately no separate column of product names. We named the products in the sections themselves, and they are replaceable: by next semester half the list will have changed. What is stable is the discipline, the characteristic failure and the human's point — they rest on the nature of the difficulty and the cost of an error in the phase.</a:t>
            </a:r>
          </a:p>
          <a:p>
            <a:r>
              <a:t>There are almost no figures in the table. Every figure we named stands in its own section next to its basis of comparison; torn out of there into a cell, it stops meaning anything. Two I did keep — twenty percent in design and fifteen in support. Both are named together with their basis, and both refute a common expectation: a screen generator speeds the work up by a fifth, and the common claim of "a hundred times" is not confirmed by measurement; the suggestion assistant gives the operator an increment on top of a little over two resolutions an hour.</a:t>
            </a:r>
          </a:p>
          <a:p>
            <a:r>
              <a:t>The matrix holds because every cell is derived from what has already been covered. You cannot dispute the discovery row without disputing the matching section.</a:t>
            </a:r>
          </a:p>
          <a:p>
            <a:r>
              <a:t>Use it like this: given a task, first name its phase. From there the row answers in order — which discipline to hold, what AI helps with here, which failure to watch for, and what stays with the human.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on the previous slide is good as a map. A decision on a specific task is not taken from a map — that needs a more compact instrument. Three axes, each of which surfaced on its own in almost every section.</a:t>
            </a:r>
          </a:p>
          <a:p>
            <a:r>
              <a:t>Reversibility — how easily the consequence can be rolled back if the output turns out to be wrong. It is low for deleting data in a running system and for a public promise to a customer; it is high for a draft nobody has seen yet. The cost of an error — money, reputation, health, legal liability. Observability — how quickly you will learn that an output is wrong, before the harm accumulates: high where there is a guardrail metric, low where the bad is hiding under a good average.</a:t>
            </a:r>
          </a:p>
          <a:p>
            <a:r>
              <a:t>There is one rule. Taking the human off the gate is justified only where high reversibility, a low cost of an error and high observability come together at once. Any other combination calls for a gate, and the gate is chosen by the axis that is in the problem position. That is why each card says what that axis requires when it is in that position.</a:t>
            </a:r>
          </a:p>
          <a:p>
            <a:r>
              <a:t>Let us run this through two cases we examined. Search answers rolled out to everyone at once: reversibility low — everyone saw the mistake at the same moment; cost high — the advice went viral and was dangerous; observability could have been high, a canary release would have given it, but the canary was skipped. There is one problem axis, reversibility, and the measure on it — a staged rollout — brings observability back along with it.</a:t>
            </a:r>
          </a:p>
          <a:p>
            <a:r>
              <a:t>The second case is buying houses on a model's forecast. Reversibility is minimal: a purchased house cannot be undone with one click. The cost is at its maximum: at a loss of roughly eighty thousand dollars per house, write-downs of three hundred four to four hundred eight million dollars cover somewhere between three thousand eight hundred and five thousand one hundred houses out of the nine thousand six hundred eighty bought in the quarter. Observability was low by the design of the control itself: a quarterly report instead of a real-time check. All three axes were in the problem position, and there was a gate on none of them.</a:t>
            </a:r>
          </a:p>
          <a:p>
            <a:r>
              <a:t>And the question that is asked before all three: does the phase have a classical discipline. If it does not, that is what you build first — there is nothing to amplify in a vacuum.</a:t>
            </a:r>
          </a:p>
          <a:p>
            <a:r>
              <a:t>And one last thing. No axis forbids the use of artificial intelligence. Each one names what must stand beside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fold the lecture into one thought. We opened with a paradox: building is almost free, and few extract value from it. We went through six phases and on every one found the same thing in a new wrapper — artificial intelligence changes the cost of each step, and the trust you can place in it, by different amounts, and it leaves the order of the steps alone. When building fell to almost nothing, the scarce resource stopped being the ability to build and became the ability to tell real signal from noise, and to keep intent and accountability with a human.</a:t>
            </a:r>
          </a:p>
          <a:p>
            <a:r>
              <a:t>Look at the photograph. This is an engineer at a computer-aided design workstation, the late seventies, a light pen instead of a mouse. That workstation is gone, that pen is gone, the company itself is gone. And the discipline of design he was practising is still here — and you will be practising it. That is the answer to the question of what in this lecture is worth remembering. Half the list of products will have changed by next semester; the way of reasoning will remain.</a:t>
            </a:r>
          </a:p>
          <a:p>
            <a:r>
              <a:t>The way goes like this. Break the activity into phases with their inputs and outputs. On each one, ask what exactly got cheaper and what did not. For any measurable claim, demand a basis of comparison; an impression does not count. And apply the three axes — reversibility, the cost of an error, observability — to assign the phase its operating mode. Lecture four said the same thing about code; here we have done it for a whole product.</a:t>
            </a:r>
          </a:p>
          <a:p>
            <a:r>
              <a:t>Seminar seven is where you apply all of this. You will walk the same loop on a practice product, from the hypothesis to the point where the answer goes to a human, and for each phase you will name the row of the table and the position on the three axes.</a:t>
            </a:r>
          </a:p>
          <a:p>
            <a:r>
              <a:t>Lecture six carries the method into engineering design. There will be a loop of phases of its own there, and failures of its own, but the central question stays the same: what got cheaper, what stayed human judgment, and where the autonomy a system claims does not survive a check against the denominator. The difference is that an error there sets in metal, and it costs more than an error on a screen.</a:t>
            </a:r>
          </a:p>
          <a:p>
            <a:r>
              <a:t>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hyperlink" Target="https://resources.anthropic.com/2026-agentic-coding-trends-report" TargetMode="External"/><Relationship Id="rId6" Type="http://schemas.openxmlformats.org/officeDocument/2006/relationships/hyperlink" Target="https://mlq.ai/media/quarterly_decks/v0.1_State_of_AI_in_Business_2025_Report.pdf" TargetMode="Externa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hyperlink" Target="https://innovation.ucsd.edu/startup/startup-toolkit/Steve-Blank-CustDev.pdf"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hyperlink" Target="https://www.secondtalent.com/resources/perplexity-deep-research-review/" TargetMode="External"/><Relationship Id="rId6" Type="http://schemas.openxmlformats.org/officeDocument/2006/relationships/hyperlink" Target="https://listenlabs.ai/articles/dovetail-ai-qualitative-analysis/" TargetMode="External"/><Relationship Id="rId7" Type="http://schemas.openxmlformats.org/officeDocument/2006/relationships/hyperlink" Target="https://www.nngroup.com/articles/state-of-ux-2026/" TargetMode="Externa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hyperlink" Target="https://cieden.com/podcast/teresa-torres-on-continuous-discovery-in-b2b-and-ai"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hyperlink" Target="https://www.nngroup.com/articles/synthetic-users/" TargetMode="Externa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hyperlink" Target="https://9to5mac.com/2024/08/07/humane-ai-pin-woes-worsen-as-recent-returns-exceed-sales/" TargetMode="External"/><Relationship Id="rId6" Type="http://schemas.openxmlformats.org/officeDocument/2006/relationships/hyperlink" Target="https://techcrunch.com/2025/02/18/humanes-ai-pin-is-dead-as-hp-buys-startups-assets-for-116m" TargetMode="External"/><Relationship Id="rId7" Type="http://schemas.openxmlformats.org/officeDocument/2006/relationships/hyperlink" Target="https://en.wikipedia.org/wiki/Humane_Inc." TargetMode="External"/><Relationship Id="rId8" Type="http://schemas.openxmlformats.org/officeDocument/2006/relationships/hyperlink" Target="https://www.digitaltrends.com/mobile/google-glass-enterprise-edition/" TargetMode="Externa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10.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esigncouncil.org.uk/resources/the-double-diamond/"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hyperlink" Target="https://www.figma.com/resource-library/ai-design-tools/" TargetMode="External"/><Relationship Id="rId4" Type="http://schemas.openxmlformats.org/officeDocument/2006/relationships/hyperlink" Target="https://www.banani.co/blog/galileo-ai-features-and-alternatives" TargetMode="Externa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jpg"/><Relationship Id="rId4" Type="http://schemas.openxmlformats.org/officeDocument/2006/relationships/hyperlink" Target="https://dl.acm.org/doi/10.1145/3800424.3800430" TargetMode="Externa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hyperlink" Target="https://static.nhtsa.gov/odi/rcl/2023/RCLRPT-23V838-8276.PDF" TargetMode="External"/><Relationship Id="rId6" Type="http://schemas.openxmlformats.org/officeDocument/2006/relationships/hyperlink" Target="https://static.nhtsa.gov/odi/inv/2022/INCLA-EA22002-14498.pdf" TargetMode="External"/><Relationship Id="rId7" Type="http://schemas.openxmlformats.org/officeDocument/2006/relationships/hyperlink" Target="https://static.nhtsa.gov/odi/inv/2024/INOA-RQ24009-12046.pdf" TargetMode="Externa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hyperlink" Target="https://effectivesoftwaredesign.com/2021/03/23/lean-startup-principles-vanity-metrics-and-actionable-metrics/" TargetMode="External"/><Relationship Id="rId4" Type="http://schemas.openxmlformats.org/officeDocument/2006/relationships/hyperlink" Target="https://www.stage-gate.com/about/our-story-2/" TargetMode="Externa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hyperlink" Target="https://resources.anthropic.com/2026-agentic-coding-trends-report"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addyo.substack.com/p/the-70-problem-hard-truths-about-ai-assisted-coding" TargetMode="Externa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png"/><Relationship Id="rId4" Type="http://schemas.openxmlformats.org/officeDocument/2006/relationships/hyperlink" Target="https://www.forbes.com/sites/roberthart/2024/05/31/google-restricts-ai-search-tool-after-nonsensical-answers-told-people-to-eat-rocks-and-put-glue-on-pizza/" TargetMode="External"/><Relationship Id="rId5" Type="http://schemas.openxmlformats.org/officeDocument/2006/relationships/hyperlink" Target="https://www.androidpolice.com/google-pizza-glue-loop-ai-overviews/" TargetMode="Externa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hyperlink" Target="https://www.cnbc.com/2024/06/17/mcdonalds-to-end-ibm-ai-drive-thru-test.html" TargetMode="External"/><Relationship Id="rId4" Type="http://schemas.openxmlformats.org/officeDocument/2006/relationships/hyperlink" Target="https://www.nrn.com/quick-service/mcdonald-s-is-ending-its-ai-drive-thru-test-with-ibm" TargetMode="Externa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21.png"/><Relationship Id="rId4" Type="http://schemas.openxmlformats.org/officeDocument/2006/relationships/image" Target="../media/image62.png"/><Relationship Id="rId5" Type="http://schemas.openxmlformats.org/officeDocument/2006/relationships/hyperlink" Target="https://www.linkedin.com/pulse/overall-evaluation-criterion-oec-ronny-kohavi" TargetMode="External"/><Relationship Id="rId6" Type="http://schemas.openxmlformats.org/officeDocument/2006/relationships/hyperlink" Target="https://en.wikipedia.org/wiki/A/B_testing" TargetMode="Externa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hyperlink" Target="https://deepmind.google/blog/specification-gaming-the-flip-side-of-ai-ingenuity/" TargetMode="External"/><Relationship Id="rId4" Type="http://schemas.openxmlformats.org/officeDocument/2006/relationships/hyperlink" Target="https://arxiv.org/abs/2406.10162" TargetMode="Externa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png"/><Relationship Id="rId4" Type="http://schemas.openxmlformats.org/officeDocument/2006/relationships/hyperlink" Target="https://www.techdirt.com/2021/10/28/let-me-rewrite-that-you-washington-post-misinforms-you-about-how-facebook-weighted-emoji-reactions/" TargetMode="External"/><Relationship Id="rId5" Type="http://schemas.openxmlformats.org/officeDocument/2006/relationships/hyperlink" Target="https://docs.house.gov/meetings/IF/IF16/20211201/114268/HHRG-117-IF16-20211201-SD012.pdf" TargetMode="Externa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91-024-03423-7" TargetMode="External"/><Relationship Id="rId3" Type="http://schemas.openxmlformats.org/officeDocument/2006/relationships/hyperlink" Target="https://en.wikipedia.org/wiki/Mata_v._Avianca,_Inc." TargetMode="External"/><Relationship Id="rId4" Type="http://schemas.openxmlformats.org/officeDocument/2006/relationships/hyperlink" Target="https://onlinelibrary.wiley.com/doi/full/10.1111/jels.12413" TargetMode="Externa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hyperlink" Target="https://sre.google/sre-book/introduction/" TargetMode="External"/><Relationship Id="rId5" Type="http://schemas.openxmlformats.org/officeDocument/2006/relationships/hyperlink" Target="https://www.axelos.com/certifications/itil-service-management" TargetMode="Externa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hyperlink" Target="https://sre.google/workbook/error-budget-policy/" TargetMode="Externa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image" Target="../media/image70.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hyperlink" Target="https://www.geekwire.com/2021/ibuying-algorithms-failed-zillow-says-business-worlds-love-affair-ai/" TargetMode="External"/><Relationship Id="rId6" Type="http://schemas.openxmlformats.org/officeDocument/2006/relationships/hyperlink" Target="https://www.sec.gov/Archives/edgar/data/1617640/000161764022000013/z-20211231.htm" TargetMode="Externa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image" Target="../media/image11.png"/><Relationship Id="rId4" Type="http://schemas.openxmlformats.org/officeDocument/2006/relationships/hyperlink" Target="https://www.canlii.org/en/bc/bccrt/doc/2024/2024bccrt149/2024bccrt149.html" TargetMode="External"/><Relationship Id="rId5" Type="http://schemas.openxmlformats.org/officeDocument/2006/relationships/hyperlink" Target="https://www.americanbar.org/groups/business_law/resources/business-law-today/2024-february/bc-tribunal-confirms-companies-remain-liable-information-provided-ai-chatbot/" TargetMode="Externa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hyperlink" Target="https://www.bloomberg.com/news/articles/2025-05-08/klarna-turns-from-ai-to-real-person-customer-service" TargetMode="External"/><Relationship Id="rId6" Type="http://schemas.openxmlformats.org/officeDocument/2006/relationships/hyperlink" Target="https://fortune.com/2025/10/10/klarna-ceo-sebastian-siemiatkowski-halved-workforce-says-tech-ceos-sugarcoating-ai-impact-on-jobs-mass-unemployment-warning/" TargetMode="External"/><Relationship Id="rId7" Type="http://schemas.openxmlformats.org/officeDocument/2006/relationships/hyperlink" Target="https://themarkup.org/artificial-intelligence/2024/03/29/nycs-ai-chatbot-tells-businesses-to-break-the-law" TargetMode="Externa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coniq.com/growth/reports/state-of-ai-2026" TargetMode="External"/><Relationship Id="rId3" Type="http://schemas.openxmlformats.org/officeDocument/2006/relationships/hyperlink" Target="https://www.prnewswire.com/news-releases/cloudzero-survey-says-78-of-finance-execs-cant-fully-tie-ai-spending-to-business-outcomes-302808711.html" TargetMode="External"/><Relationship Id="rId4" Type="http://schemas.openxmlformats.org/officeDocument/2006/relationships/hyperlink" Target="https://artificialintelligenceact.eu/article/12/" TargetMode="Externa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eloitte.com/us/en/about/press-room/2026-global-technology-leadership-study-release.html" TargetMode="External"/><Relationship Id="rId3" Type="http://schemas.openxmlformats.org/officeDocument/2006/relationships/hyperlink" Target="https://rabota.sber.ru/search/lider-ai-pdlc-4548579/" TargetMode="Externa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jpg"/><Relationship Id="rId4" Type="http://schemas.openxmlformats.org/officeDocument/2006/relationships/hyperlink" Target="https://mlq.ai/media/quarterly_decks/v0.1_State_of_AI_in_Business_2025_Report.pdf" TargetMode="External"/><Relationship Id="rId5" Type="http://schemas.openxmlformats.org/officeDocument/2006/relationships/hyperlink" Target="https://fortune.com/2025/08/18/mit-report-95-percent-generative-ai-pilots-at-companies-failing-cfo/" TargetMode="External"/><Relationship Id="rId6" Type="http://schemas.openxmlformats.org/officeDocument/2006/relationships/hyperlink" Target="https://newmr.org/blog/myth-number-2-mit-showed-that-95-of-ai-pilots-fail/" TargetMode="External"/><Relationship Id="rId7" Type="http://schemas.openxmlformats.org/officeDocument/2006/relationships/hyperlink" Target="https://www.gartner.com/en/newsroom/press-releases/2026-04-07-gartner-says-artificial-intelligence-projects-in-infrastructure-and-operations-stall-ahead-of-meaningful-roi-returns" TargetMode="External"/><Relationship Id="rId8" Type="http://schemas.openxmlformats.org/officeDocument/2006/relationships/hyperlink" Target="https://www.bcg.com/publications/2025/closing-the-ai-impact-gap" TargetMode="Externa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image" Target="../media/image82.png"/><Relationship Id="rId4" Type="http://schemas.openxmlformats.org/officeDocument/2006/relationships/hyperlink" Target="https://www.business-standard.com/companies/news/amazon-s-just-walk-out-checkout-tech-was-powered-by-1-000-indian-workers-124040400463_1.html" TargetMode="External"/><Relationship Id="rId5" Type="http://schemas.openxmlformats.org/officeDocument/2006/relationships/hyperlink" Target="https://www.retaildive.com/news/amazon-removes-just-walk-out-tech-amazon-fresh-stores-dash-carts/712150" TargetMode="Externa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11.png"/><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Assembly is nearly free. So why does almost no one capture the value?</a:t>
            </a:r>
          </a:p>
        </p:txBody>
      </p:sp>
      <p:sp>
        <p:nvSpPr>
          <p:cNvPr id="3" name="Rounded Rectangle 2"/>
          <p:cNvSpPr/>
          <p:nvPr/>
        </p:nvSpPr>
        <p:spPr>
          <a:xfrm>
            <a:off x="502920" y="1188720"/>
            <a:ext cx="3977639"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ock-mid.png"/>
          <p:cNvPicPr>
            <a:picLocks noChangeAspect="1"/>
          </p:cNvPicPr>
          <p:nvPr/>
        </p:nvPicPr>
        <p:blipFill>
          <a:blip r:embed="rId2"/>
          <a:stretch>
            <a:fillRect/>
          </a:stretch>
        </p:blipFill>
        <p:spPr>
          <a:xfrm>
            <a:off x="722376" y="1371600"/>
            <a:ext cx="731520" cy="731520"/>
          </a:xfrm>
          <a:prstGeom prst="rect">
            <a:avLst/>
          </a:prstGeom>
        </p:spPr>
      </p:pic>
      <p:sp>
        <p:nvSpPr>
          <p:cNvPr id="5" name="TextBox 4"/>
          <p:cNvSpPr txBox="1"/>
          <p:nvPr/>
        </p:nvSpPr>
        <p:spPr>
          <a:xfrm>
            <a:off x="1581912" y="1335024"/>
            <a:ext cx="2697479" cy="685800"/>
          </a:xfrm>
          <a:prstGeom prst="rect">
            <a:avLst/>
          </a:prstGeom>
          <a:noFill/>
        </p:spPr>
        <p:txBody>
          <a:bodyPr wrap="square" lIns="0" rIns="0" tIns="0" bIns="0" anchor="ctr">
            <a:spAutoFit/>
          </a:bodyPr>
          <a:lstStyle/>
          <a:p>
            <a:pPr algn="l">
              <a:lnSpc>
                <a:spcPct val="102000"/>
              </a:lnSpc>
            </a:pPr>
            <a:r>
              <a:rPr sz="1400" b="1" i="0">
                <a:solidFill>
                  <a:srgbClr val="065A82"/>
                </a:solidFill>
                <a:latin typeface="DejaVu Sans"/>
              </a:rPr>
              <a:t>Weeks of work → hours </a:t>
            </a:r>
            <a:r>
              <a:rPr sz="728" baseline="30000" b="0" i="1">
                <a:latin typeface="DejaVu Sans"/>
                <a:cs typeface="DejaVu Sans"/>
                <a:ea typeface="DejaVu Sans"/>
                <a:solidFill>
                  <a:srgbClr val="1C7293"/>
                </a:solidFill>
              </a:rPr>
              <a:t>[1]</a:t>
            </a:r>
          </a:p>
        </p:txBody>
      </p:sp>
      <p:sp>
        <p:nvSpPr>
          <p:cNvPr id="6" name="TextBox 5"/>
          <p:cNvSpPr txBox="1"/>
          <p:nvPr/>
        </p:nvSpPr>
        <p:spPr>
          <a:xfrm>
            <a:off x="1581912" y="2286000"/>
            <a:ext cx="2697479" cy="310896"/>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Anthropic internal experience</a:t>
            </a:r>
          </a:p>
        </p:txBody>
      </p:sp>
      <p:sp>
        <p:nvSpPr>
          <p:cNvPr id="7" name="Rounded Rectangle 6"/>
          <p:cNvSpPr/>
          <p:nvPr/>
        </p:nvSpPr>
        <p:spPr>
          <a:xfrm>
            <a:off x="502920" y="2816352"/>
            <a:ext cx="3977639"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unnel-teal.png"/>
          <p:cNvPicPr>
            <a:picLocks noChangeAspect="1"/>
          </p:cNvPicPr>
          <p:nvPr/>
        </p:nvPicPr>
        <p:blipFill>
          <a:blip r:embed="rId3"/>
          <a:stretch>
            <a:fillRect/>
          </a:stretch>
        </p:blipFill>
        <p:spPr>
          <a:xfrm>
            <a:off x="722376" y="2999232"/>
            <a:ext cx="731520" cy="731520"/>
          </a:xfrm>
          <a:prstGeom prst="rect">
            <a:avLst/>
          </a:prstGeom>
        </p:spPr>
      </p:pic>
      <p:sp>
        <p:nvSpPr>
          <p:cNvPr id="9" name="TextBox 8"/>
          <p:cNvSpPr txBox="1"/>
          <p:nvPr/>
        </p:nvSpPr>
        <p:spPr>
          <a:xfrm>
            <a:off x="1581912" y="2962656"/>
            <a:ext cx="2697479" cy="685800"/>
          </a:xfrm>
          <a:prstGeom prst="rect">
            <a:avLst/>
          </a:prstGeom>
          <a:noFill/>
        </p:spPr>
        <p:txBody>
          <a:bodyPr wrap="square" lIns="0" rIns="0" tIns="0" bIns="0" anchor="ctr">
            <a:spAutoFit/>
          </a:bodyPr>
          <a:lstStyle/>
          <a:p>
            <a:pPr algn="l">
              <a:lnSpc>
                <a:spcPct val="102000"/>
              </a:lnSpc>
            </a:pPr>
            <a:r>
              <a:rPr sz="1400" b="1" i="0">
                <a:solidFill>
                  <a:srgbClr val="028090"/>
                </a:solidFill>
                <a:latin typeface="DejaVu Sans"/>
              </a:rPr>
              <a:t>~95% of pilots — zero return </a:t>
            </a:r>
            <a:r>
              <a:rPr sz="728" baseline="30000" b="0" i="1">
                <a:latin typeface="DejaVu Sans"/>
                <a:cs typeface="DejaVu Sans"/>
                <a:ea typeface="DejaVu Sans"/>
                <a:solidFill>
                  <a:srgbClr val="1C7293"/>
                </a:solidFill>
              </a:rPr>
              <a:t>[2]</a:t>
            </a:r>
          </a:p>
        </p:txBody>
      </p:sp>
      <p:sp>
        <p:nvSpPr>
          <p:cNvPr id="10" name="TextBox 9"/>
          <p:cNvSpPr txBox="1"/>
          <p:nvPr/>
        </p:nvSpPr>
        <p:spPr>
          <a:xfrm>
            <a:off x="1581912" y="3913632"/>
            <a:ext cx="2697479" cy="310896"/>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MIT, summer 2025</a:t>
            </a:r>
          </a:p>
        </p:txBody>
      </p:sp>
      <p:sp>
        <p:nvSpPr>
          <p:cNvPr id="11" name="Rounded Rectangle 10"/>
          <p:cNvSpPr/>
          <p:nvPr/>
        </p:nvSpPr>
        <p:spPr>
          <a:xfrm>
            <a:off x="502920" y="4462272"/>
            <a:ext cx="3977639" cy="195681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517136"/>
            <a:ext cx="3538727" cy="1847088"/>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Both facts are true at the same time: assembly became nearly free, but turning assembly into value did not. Hold the question — we'll come back to it at the end of the lecture.</a:t>
            </a:r>
          </a:p>
        </p:txBody>
      </p:sp>
      <p:sp>
        <p:nvSpPr>
          <p:cNvPr id="13" name="Rounded Rectangle 12"/>
          <p:cNvSpPr/>
          <p:nvPr/>
        </p:nvSpPr>
        <p:spPr>
          <a:xfrm>
            <a:off x="4709160" y="1188720"/>
            <a:ext cx="6995160" cy="4846320"/>
          </a:xfrm>
          <a:prstGeom prst="roundRect">
            <a:avLst>
              <a:gd name="adj" fmla="val 62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01-spiderman-pointing.jpg"/>
          <p:cNvPicPr>
            <a:picLocks noChangeAspect="1"/>
          </p:cNvPicPr>
          <p:nvPr/>
        </p:nvPicPr>
        <p:blipFill>
          <a:blip r:embed="rId4"/>
          <a:stretch>
            <a:fillRect/>
          </a:stretch>
        </p:blipFill>
        <p:spPr>
          <a:xfrm>
            <a:off x="4873752" y="1737074"/>
            <a:ext cx="6665976" cy="3749612"/>
          </a:xfrm>
          <a:prstGeom prst="rect">
            <a:avLst/>
          </a:prstGeom>
        </p:spPr>
      </p:pic>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Anthropic — 2026 Agentic Coding Trends Report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MIT NANDA — "The GenAI Divide" (July 2025, v0.1)</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 / 56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cxnSp>
        <p:nvCxnSpPr>
          <p:cNvPr id="2" name="Connector 1"/>
          <p:cNvCxnSpPr/>
          <p:nvPr/>
        </p:nvCxnSpPr>
        <p:spPr>
          <a:xfrm>
            <a:off x="2880360" y="1188720"/>
            <a:ext cx="1227435" cy="70866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4107795" y="1897380"/>
            <a:ext cx="0" cy="141732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2880360" y="3314700"/>
            <a:ext cx="1227435" cy="70866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652924" y="3314700"/>
            <a:ext cx="1227436" cy="70866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652924" y="1897380"/>
            <a:ext cx="0" cy="141732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52924" y="1188720"/>
            <a:ext cx="1227436" cy="70866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606040" y="914400"/>
            <a:ext cx="548640" cy="548640"/>
          </a:xfrm>
          <a:prstGeom prst="ellipse">
            <a:avLst/>
          </a:prstGeom>
          <a:solidFill>
            <a:srgbClr val="F0AB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148132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Discovery</a:t>
            </a:r>
          </a:p>
        </p:txBody>
      </p:sp>
      <p:sp>
        <p:nvSpPr>
          <p:cNvPr id="10" name="Oval 9"/>
          <p:cNvSpPr/>
          <p:nvPr/>
        </p:nvSpPr>
        <p:spPr>
          <a:xfrm>
            <a:off x="3833475" y="162306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0555" y="218998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Design</a:t>
            </a:r>
          </a:p>
        </p:txBody>
      </p:sp>
      <p:sp>
        <p:nvSpPr>
          <p:cNvPr id="12" name="Oval 11"/>
          <p:cNvSpPr/>
          <p:nvPr/>
        </p:nvSpPr>
        <p:spPr>
          <a:xfrm>
            <a:off x="3833475" y="304038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0555" y="360730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Build</a:t>
            </a:r>
          </a:p>
          <a:p>
            <a:pPr algn="ctr">
              <a:lnSpc>
                <a:spcPct val="90000"/>
              </a:lnSpc>
            </a:pPr>
            <a:r>
              <a:rPr sz="900" b="1" i="0">
                <a:solidFill>
                  <a:srgbClr val="21295C"/>
                </a:solidFill>
                <a:latin typeface="DejaVu Sans"/>
              </a:rPr>
              <a:t>&amp; Launch</a:t>
            </a:r>
          </a:p>
        </p:txBody>
      </p:sp>
      <p:sp>
        <p:nvSpPr>
          <p:cNvPr id="14" name="Oval 13"/>
          <p:cNvSpPr/>
          <p:nvPr/>
        </p:nvSpPr>
        <p:spPr>
          <a:xfrm>
            <a:off x="2606040" y="374904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431596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Measure</a:t>
            </a:r>
          </a:p>
        </p:txBody>
      </p:sp>
      <p:sp>
        <p:nvSpPr>
          <p:cNvPr id="16" name="Oval 15"/>
          <p:cNvSpPr/>
          <p:nvPr/>
        </p:nvSpPr>
        <p:spPr>
          <a:xfrm>
            <a:off x="1378604" y="304038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5684" y="360730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Support</a:t>
            </a:r>
          </a:p>
        </p:txBody>
      </p:sp>
      <p:sp>
        <p:nvSpPr>
          <p:cNvPr id="18" name="Oval 17"/>
          <p:cNvSpPr/>
          <p:nvPr/>
        </p:nvSpPr>
        <p:spPr>
          <a:xfrm>
            <a:off x="1378604" y="162306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5684" y="218998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Governance</a:t>
            </a:r>
          </a:p>
        </p:txBody>
      </p:sp>
      <p:pic>
        <p:nvPicPr>
          <p:cNvPr id="20" name="Picture 19" descr="lightbulb-gold.png"/>
          <p:cNvPicPr>
            <a:picLocks noChangeAspect="1"/>
          </p:cNvPicPr>
          <p:nvPr/>
        </p:nvPicPr>
        <p:blipFill>
          <a:blip r:embed="rId2"/>
          <a:stretch>
            <a:fillRect/>
          </a:stretch>
        </p:blipFill>
        <p:spPr>
          <a:xfrm>
            <a:off x="2587752" y="2313432"/>
            <a:ext cx="585216" cy="585216"/>
          </a:xfrm>
          <a:prstGeom prst="rect">
            <a:avLst/>
          </a:prstGeom>
        </p:spPr>
      </p:pic>
      <p:sp>
        <p:nvSpPr>
          <p:cNvPr id="21" name="Rounded Rectangle 20"/>
          <p:cNvSpPr/>
          <p:nvPr/>
        </p:nvSpPr>
        <p:spPr>
          <a:xfrm>
            <a:off x="685800" y="4434840"/>
            <a:ext cx="45720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02-one-does-not-simply.jpg"/>
          <p:cNvPicPr>
            <a:picLocks noChangeAspect="1"/>
          </p:cNvPicPr>
          <p:nvPr/>
        </p:nvPicPr>
        <p:blipFill>
          <a:blip r:embed="rId3"/>
          <a:stretch>
            <a:fillRect/>
          </a:stretch>
        </p:blipFill>
        <p:spPr>
          <a:xfrm>
            <a:off x="1925289" y="4526279"/>
            <a:ext cx="2093021" cy="1234440"/>
          </a:xfrm>
          <a:prstGeom prst="rect">
            <a:avLst/>
          </a:prstGeom>
        </p:spPr>
      </p:pic>
      <p:sp>
        <p:nvSpPr>
          <p:cNvPr id="23" name="TextBox 22"/>
          <p:cNvSpPr txBox="1"/>
          <p:nvPr/>
        </p:nvSpPr>
        <p:spPr>
          <a:xfrm>
            <a:off x="5989320" y="1417320"/>
            <a:ext cx="5806440" cy="45720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LECTURE 5</a:t>
            </a:r>
          </a:p>
        </p:txBody>
      </p:sp>
      <p:sp>
        <p:nvSpPr>
          <p:cNvPr id="24" name="TextBox 23"/>
          <p:cNvSpPr txBox="1"/>
          <p:nvPr/>
        </p:nvSpPr>
        <p:spPr>
          <a:xfrm>
            <a:off x="5989320" y="1920240"/>
            <a:ext cx="5852160" cy="1828800"/>
          </a:xfrm>
          <a:prstGeom prst="rect">
            <a:avLst/>
          </a:prstGeom>
          <a:noFill/>
        </p:spPr>
        <p:txBody>
          <a:bodyPr wrap="square" lIns="0" rIns="0" tIns="0" bIns="0" anchor="t">
            <a:spAutoFit/>
          </a:bodyPr>
          <a:lstStyle/>
          <a:p>
            <a:pPr algn="l">
              <a:lnSpc>
                <a:spcPct val="105000"/>
              </a:lnSpc>
            </a:pPr>
            <a:r>
              <a:rPr sz="3000" b="1" i="0">
                <a:solidFill>
                  <a:srgbClr val="21295C"/>
                </a:solidFill>
                <a:latin typeface="DejaVu Sans"/>
              </a:rPr>
              <a:t>AI Product: the full lifecycle — from intent to operation</a:t>
            </a:r>
          </a:p>
        </p:txBody>
      </p:sp>
      <p:sp>
        <p:nvSpPr>
          <p:cNvPr id="25" name="TextBox 24"/>
          <p:cNvSpPr txBox="1"/>
          <p:nvPr/>
        </p:nvSpPr>
        <p:spPr>
          <a:xfrm>
            <a:off x="6016752" y="3977639"/>
            <a:ext cx="5760720" cy="548640"/>
          </a:xfrm>
          <a:prstGeom prst="rect">
            <a:avLst/>
          </a:prstGeom>
          <a:noFill/>
        </p:spPr>
        <p:txBody>
          <a:bodyPr wrap="square" lIns="0" rIns="0" tIns="0" bIns="0" anchor="t">
            <a:spAutoFit/>
          </a:bodyPr>
          <a:lstStyle/>
          <a:p>
            <a:pPr algn="l">
              <a:lnSpc>
                <a:spcPct val="115000"/>
              </a:lnSpc>
            </a:pPr>
            <a:r>
              <a:rPr sz="1400" b="0" i="1">
                <a:solidFill>
                  <a:srgbClr val="1C7293"/>
                </a:solidFill>
                <a:latin typeface="DejaVu Sans"/>
              </a:rPr>
              <a:t>Course "Deliberate Use of AI" · 3rd-year engineering students</a:t>
            </a:r>
          </a:p>
        </p:txBody>
      </p:sp>
      <p:sp>
        <p:nvSpPr>
          <p:cNvPr id="26" name="Rounded Rectangle 25"/>
          <p:cNvSpPr/>
          <p:nvPr/>
        </p:nvSpPr>
        <p:spPr>
          <a:xfrm>
            <a:off x="5989320" y="4617720"/>
            <a:ext cx="580644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08776" y="4672583"/>
            <a:ext cx="5367527" cy="603504"/>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Six sections — six arrows of one loop: code (Lecture 4) is one cheap step inside it.</a:t>
            </a:r>
          </a:p>
        </p:txBody>
      </p:sp>
      <p:sp>
        <p:nvSpPr>
          <p:cNvPr id="28" name="Rounded Rectangle 27"/>
          <p:cNvSpPr/>
          <p:nvPr/>
        </p:nvSpPr>
        <p:spPr>
          <a:xfrm>
            <a:off x="50292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0</a:t>
            </a:r>
          </a:p>
        </p:txBody>
      </p:sp>
      <p:sp>
        <p:nvSpPr>
          <p:cNvPr id="30" name="TextBox 29"/>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Intro</a:t>
            </a:r>
          </a:p>
        </p:txBody>
      </p:sp>
      <p:sp>
        <p:nvSpPr>
          <p:cNvPr id="31" name="Rounded Rectangle 30"/>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33" name="TextBox 32"/>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34" name="Rounded Rectangle 33"/>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36" name="TextBox 35"/>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37" name="Rounded Rectangle 36"/>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39" name="TextBox 38"/>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40" name="Rounded Rectangle 39"/>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42" name="TextBox 41"/>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43" name="Rounded Rectangle 42"/>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45" name="TextBox 44"/>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46" name="Rounded Rectangle 45"/>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48" name="TextBox 47"/>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49" name="Rounded Rectangle 48"/>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51" name="TextBox 50"/>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52" name="TextBox 5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 / 56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The lecture is a loop, not a list of six topics</a:t>
            </a:r>
          </a:p>
        </p:txBody>
      </p:sp>
      <p:cxnSp>
        <p:nvCxnSpPr>
          <p:cNvPr id="3" name="Connector 2"/>
          <p:cNvCxnSpPr/>
          <p:nvPr/>
        </p:nvCxnSpPr>
        <p:spPr>
          <a:xfrm>
            <a:off x="4285734" y="2112264"/>
            <a:ext cx="641433" cy="370332"/>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18141" y="3332988"/>
            <a:ext cx="0" cy="740663"/>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285734" y="4924044"/>
            <a:ext cx="641433" cy="370331"/>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flipV="1">
            <a:off x="2662352" y="4924044"/>
            <a:ext cx="641433" cy="370332"/>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171378" y="3332988"/>
            <a:ext cx="0" cy="740664"/>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662352" y="2112264"/>
            <a:ext cx="641433" cy="370332"/>
          </a:xfrm>
          <a:prstGeom prst="line">
            <a:avLst/>
          </a:prstGeom>
          <a:ln w="3302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154680" y="138988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arch-mid.png"/>
          <p:cNvPicPr>
            <a:picLocks noChangeAspect="1"/>
          </p:cNvPicPr>
          <p:nvPr/>
        </p:nvPicPr>
        <p:blipFill>
          <a:blip r:embed="rId2"/>
          <a:stretch>
            <a:fillRect/>
          </a:stretch>
        </p:blipFill>
        <p:spPr>
          <a:xfrm>
            <a:off x="3575304" y="1444752"/>
            <a:ext cx="438912" cy="438912"/>
          </a:xfrm>
          <a:prstGeom prst="rect">
            <a:avLst/>
          </a:prstGeom>
        </p:spPr>
      </p:pic>
      <p:sp>
        <p:nvSpPr>
          <p:cNvPr id="11" name="TextBox 10"/>
          <p:cNvSpPr txBox="1"/>
          <p:nvPr/>
        </p:nvSpPr>
        <p:spPr>
          <a:xfrm>
            <a:off x="3172968" y="188366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1. Discovery</a:t>
            </a:r>
          </a:p>
        </p:txBody>
      </p:sp>
      <p:sp>
        <p:nvSpPr>
          <p:cNvPr id="12" name="Rounded Rectangle 11"/>
          <p:cNvSpPr/>
          <p:nvPr/>
        </p:nvSpPr>
        <p:spPr>
          <a:xfrm>
            <a:off x="4778061" y="232714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cil-mid.png"/>
          <p:cNvPicPr>
            <a:picLocks noChangeAspect="1"/>
          </p:cNvPicPr>
          <p:nvPr/>
        </p:nvPicPr>
        <p:blipFill>
          <a:blip r:embed="rId3"/>
          <a:stretch>
            <a:fillRect/>
          </a:stretch>
        </p:blipFill>
        <p:spPr>
          <a:xfrm>
            <a:off x="5198685" y="2382012"/>
            <a:ext cx="438912" cy="438912"/>
          </a:xfrm>
          <a:prstGeom prst="rect">
            <a:avLst/>
          </a:prstGeom>
        </p:spPr>
      </p:pic>
      <p:sp>
        <p:nvSpPr>
          <p:cNvPr id="14" name="TextBox 13"/>
          <p:cNvSpPr txBox="1"/>
          <p:nvPr/>
        </p:nvSpPr>
        <p:spPr>
          <a:xfrm>
            <a:off x="4796349" y="282092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2. Design</a:t>
            </a:r>
          </a:p>
        </p:txBody>
      </p:sp>
      <p:sp>
        <p:nvSpPr>
          <p:cNvPr id="15" name="Rounded Rectangle 14"/>
          <p:cNvSpPr/>
          <p:nvPr/>
        </p:nvSpPr>
        <p:spPr>
          <a:xfrm>
            <a:off x="4778061" y="4201667"/>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ammer-mid.png"/>
          <p:cNvPicPr>
            <a:picLocks noChangeAspect="1"/>
          </p:cNvPicPr>
          <p:nvPr/>
        </p:nvPicPr>
        <p:blipFill>
          <a:blip r:embed="rId4"/>
          <a:stretch>
            <a:fillRect/>
          </a:stretch>
        </p:blipFill>
        <p:spPr>
          <a:xfrm>
            <a:off x="5198685" y="4256531"/>
            <a:ext cx="438912" cy="438912"/>
          </a:xfrm>
          <a:prstGeom prst="rect">
            <a:avLst/>
          </a:prstGeom>
        </p:spPr>
      </p:pic>
      <p:sp>
        <p:nvSpPr>
          <p:cNvPr id="17" name="TextBox 16"/>
          <p:cNvSpPr txBox="1"/>
          <p:nvPr/>
        </p:nvSpPr>
        <p:spPr>
          <a:xfrm>
            <a:off x="4796349" y="4695443"/>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3. Build &amp; Launch</a:t>
            </a:r>
          </a:p>
        </p:txBody>
      </p:sp>
      <p:sp>
        <p:nvSpPr>
          <p:cNvPr id="18" name="Rounded Rectangle 17"/>
          <p:cNvSpPr/>
          <p:nvPr/>
        </p:nvSpPr>
        <p:spPr>
          <a:xfrm>
            <a:off x="3154680" y="5138927"/>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uler-mid.png"/>
          <p:cNvPicPr>
            <a:picLocks noChangeAspect="1"/>
          </p:cNvPicPr>
          <p:nvPr/>
        </p:nvPicPr>
        <p:blipFill>
          <a:blip r:embed="rId5"/>
          <a:stretch>
            <a:fillRect/>
          </a:stretch>
        </p:blipFill>
        <p:spPr>
          <a:xfrm>
            <a:off x="3575304" y="5193792"/>
            <a:ext cx="438912" cy="438912"/>
          </a:xfrm>
          <a:prstGeom prst="rect">
            <a:avLst/>
          </a:prstGeom>
        </p:spPr>
      </p:pic>
      <p:sp>
        <p:nvSpPr>
          <p:cNvPr id="20" name="TextBox 19"/>
          <p:cNvSpPr txBox="1"/>
          <p:nvPr/>
        </p:nvSpPr>
        <p:spPr>
          <a:xfrm>
            <a:off x="3172968" y="5632703"/>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4. Measure</a:t>
            </a:r>
          </a:p>
        </p:txBody>
      </p:sp>
      <p:sp>
        <p:nvSpPr>
          <p:cNvPr id="21" name="Rounded Rectangle 20"/>
          <p:cNvSpPr/>
          <p:nvPr/>
        </p:nvSpPr>
        <p:spPr>
          <a:xfrm>
            <a:off x="1531298" y="420166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eadphones-mid.png"/>
          <p:cNvPicPr>
            <a:picLocks noChangeAspect="1"/>
          </p:cNvPicPr>
          <p:nvPr/>
        </p:nvPicPr>
        <p:blipFill>
          <a:blip r:embed="rId6"/>
          <a:stretch>
            <a:fillRect/>
          </a:stretch>
        </p:blipFill>
        <p:spPr>
          <a:xfrm>
            <a:off x="1951922" y="4256532"/>
            <a:ext cx="438912" cy="438912"/>
          </a:xfrm>
          <a:prstGeom prst="rect">
            <a:avLst/>
          </a:prstGeom>
        </p:spPr>
      </p:pic>
      <p:sp>
        <p:nvSpPr>
          <p:cNvPr id="23" name="TextBox 22"/>
          <p:cNvSpPr txBox="1"/>
          <p:nvPr/>
        </p:nvSpPr>
        <p:spPr>
          <a:xfrm>
            <a:off x="1549586" y="469544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5. Support</a:t>
            </a:r>
          </a:p>
        </p:txBody>
      </p:sp>
      <p:sp>
        <p:nvSpPr>
          <p:cNvPr id="24" name="Rounded Rectangle 23"/>
          <p:cNvSpPr/>
          <p:nvPr/>
        </p:nvSpPr>
        <p:spPr>
          <a:xfrm>
            <a:off x="1531298" y="232714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cale-mid.png"/>
          <p:cNvPicPr>
            <a:picLocks noChangeAspect="1"/>
          </p:cNvPicPr>
          <p:nvPr/>
        </p:nvPicPr>
        <p:blipFill>
          <a:blip r:embed="rId7"/>
          <a:stretch>
            <a:fillRect/>
          </a:stretch>
        </p:blipFill>
        <p:spPr>
          <a:xfrm>
            <a:off x="1951922" y="2382012"/>
            <a:ext cx="438912" cy="438912"/>
          </a:xfrm>
          <a:prstGeom prst="rect">
            <a:avLst/>
          </a:prstGeom>
        </p:spPr>
      </p:pic>
      <p:sp>
        <p:nvSpPr>
          <p:cNvPr id="26" name="TextBox 25"/>
          <p:cNvSpPr txBox="1"/>
          <p:nvPr/>
        </p:nvSpPr>
        <p:spPr>
          <a:xfrm>
            <a:off x="1549586" y="282092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6. Governance</a:t>
            </a:r>
          </a:p>
        </p:txBody>
      </p:sp>
      <p:sp>
        <p:nvSpPr>
          <p:cNvPr id="27" name="TextBox 26"/>
          <p:cNvSpPr txBox="1"/>
          <p:nvPr/>
        </p:nvSpPr>
        <p:spPr>
          <a:xfrm>
            <a:off x="3017520" y="3429000"/>
            <a:ext cx="1554480" cy="548640"/>
          </a:xfrm>
          <a:prstGeom prst="rect">
            <a:avLst/>
          </a:prstGeom>
          <a:noFill/>
        </p:spPr>
        <p:txBody>
          <a:bodyPr wrap="square" lIns="0" rIns="0" tIns="0" bIns="0" anchor="ctr">
            <a:spAutoFit/>
          </a:bodyPr>
          <a:lstStyle/>
          <a:p>
            <a:pPr algn="ctr">
              <a:lnSpc>
                <a:spcPct val="115000"/>
              </a:lnSpc>
            </a:pPr>
            <a:r>
              <a:rPr sz="1200" b="1" i="0">
                <a:solidFill>
                  <a:srgbClr val="F0AB00"/>
                </a:solidFill>
                <a:latin typeface="DejaVu Sans"/>
              </a:rPr>
              <a:t>Intent</a:t>
            </a:r>
          </a:p>
        </p:txBody>
      </p:sp>
      <p:sp>
        <p:nvSpPr>
          <p:cNvPr id="28" name="TextBox 27"/>
          <p:cNvSpPr txBox="1"/>
          <p:nvPr/>
        </p:nvSpPr>
        <p:spPr>
          <a:xfrm>
            <a:off x="6537960" y="1417320"/>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1. Discovery — where the hypothesis comes from</a:t>
            </a:r>
          </a:p>
        </p:txBody>
      </p:sp>
      <p:sp>
        <p:nvSpPr>
          <p:cNvPr id="29" name="TextBox 28"/>
          <p:cNvSpPr txBox="1"/>
          <p:nvPr/>
        </p:nvSpPr>
        <p:spPr>
          <a:xfrm>
            <a:off x="6537960" y="1984248"/>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2. Design — hypothesis → artifact</a:t>
            </a:r>
          </a:p>
        </p:txBody>
      </p:sp>
      <p:sp>
        <p:nvSpPr>
          <p:cNvPr id="30" name="TextBox 29"/>
          <p:cNvSpPr txBox="1"/>
          <p:nvPr/>
        </p:nvSpPr>
        <p:spPr>
          <a:xfrm>
            <a:off x="6537960" y="2551176"/>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3. Build &amp; Launch — artifact → product</a:t>
            </a:r>
          </a:p>
        </p:txBody>
      </p:sp>
      <p:sp>
        <p:nvSpPr>
          <p:cNvPr id="31" name="TextBox 30"/>
          <p:cNvSpPr txBox="1"/>
          <p:nvPr/>
        </p:nvSpPr>
        <p:spPr>
          <a:xfrm>
            <a:off x="6537960" y="3118104"/>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4. Measure — did it work</a:t>
            </a:r>
          </a:p>
        </p:txBody>
      </p:sp>
      <p:sp>
        <p:nvSpPr>
          <p:cNvPr id="32" name="TextBox 31"/>
          <p:cNvSpPr txBox="1"/>
          <p:nvPr/>
        </p:nvSpPr>
        <p:spPr>
          <a:xfrm>
            <a:off x="6537960" y="3685032"/>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5. Support — lives 24/7</a:t>
            </a:r>
          </a:p>
        </p:txBody>
      </p:sp>
      <p:sp>
        <p:nvSpPr>
          <p:cNvPr id="33" name="TextBox 32"/>
          <p:cNvSpPr txBox="1"/>
          <p:nvPr/>
        </p:nvSpPr>
        <p:spPr>
          <a:xfrm>
            <a:off x="6537960" y="4251960"/>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6. Governance — where to invest</a:t>
            </a:r>
          </a:p>
        </p:txBody>
      </p:sp>
      <p:sp>
        <p:nvSpPr>
          <p:cNvPr id="34" name="Rounded Rectangle 33"/>
          <p:cNvSpPr/>
          <p:nvPr/>
        </p:nvSpPr>
        <p:spPr>
          <a:xfrm>
            <a:off x="6537960" y="5074920"/>
            <a:ext cx="516636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57416" y="5129783"/>
            <a:ext cx="4727448" cy="80467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The return arrow: governance feeds discovery again — a closed loop, not a one-time linear process.</a:t>
            </a:r>
          </a:p>
        </p:txBody>
      </p:sp>
      <p:sp>
        <p:nvSpPr>
          <p:cNvPr id="36" name="TextBox 3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 / 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11201400" cy="603504"/>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Why a product needs the loop: without one, the error is found too late</a:t>
            </a:r>
          </a:p>
        </p:txBody>
      </p:sp>
      <p:sp>
        <p:nvSpPr>
          <p:cNvPr id="3" name="TextBox 2"/>
          <p:cNvSpPr txBox="1"/>
          <p:nvPr/>
        </p:nvSpPr>
        <p:spPr>
          <a:xfrm>
            <a:off x="502920" y="932688"/>
            <a:ext cx="5577840" cy="310896"/>
          </a:xfrm>
          <a:prstGeom prst="rect">
            <a:avLst/>
          </a:prstGeom>
          <a:noFill/>
        </p:spPr>
        <p:txBody>
          <a:bodyPr wrap="square" lIns="0" rIns="0" tIns="0" bIns="0" anchor="t">
            <a:spAutoFit/>
          </a:bodyPr>
          <a:lstStyle/>
          <a:p>
            <a:pPr algn="l">
              <a:lnSpc>
                <a:spcPct val="102000"/>
              </a:lnSpc>
            </a:pPr>
            <a:r>
              <a:rPr sz="1150" b="1" i="0">
                <a:solidFill>
                  <a:srgbClr val="028090"/>
                </a:solidFill>
                <a:latin typeface="DejaVu Sans"/>
              </a:rPr>
              <a:t>Five questions a product answers by observation rather than by opinion</a:t>
            </a:r>
          </a:p>
        </p:txBody>
      </p:sp>
      <p:sp>
        <p:nvSpPr>
          <p:cNvPr id="4" name="Rounded Rectangle 3"/>
          <p:cNvSpPr/>
          <p:nvPr/>
        </p:nvSpPr>
        <p:spPr>
          <a:xfrm>
            <a:off x="502920" y="1335024"/>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9224" y="1472184"/>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 y="1490472"/>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1</a:t>
            </a:r>
          </a:p>
        </p:txBody>
      </p:sp>
      <p:sp>
        <p:nvSpPr>
          <p:cNvPr id="7" name="TextBox 6"/>
          <p:cNvSpPr txBox="1"/>
          <p:nvPr/>
        </p:nvSpPr>
        <p:spPr>
          <a:xfrm>
            <a:off x="1033271" y="1353312"/>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Does anyone need this at all</a:t>
            </a:r>
          </a:p>
        </p:txBody>
      </p:sp>
      <p:sp>
        <p:nvSpPr>
          <p:cNvPr id="8" name="TextBox 7"/>
          <p:cNvSpPr txBox="1"/>
          <p:nvPr/>
        </p:nvSpPr>
        <p:spPr>
          <a:xfrm>
            <a:off x="1033271" y="1682495"/>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phase 1 · discovery</a:t>
            </a:r>
          </a:p>
        </p:txBody>
      </p:sp>
      <p:sp>
        <p:nvSpPr>
          <p:cNvPr id="9" name="Rounded Rectangle 8"/>
          <p:cNvSpPr/>
          <p:nvPr/>
        </p:nvSpPr>
        <p:spPr>
          <a:xfrm>
            <a:off x="502920" y="1920240"/>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 y="2057400"/>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075688"/>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2</a:t>
            </a:r>
          </a:p>
        </p:txBody>
      </p:sp>
      <p:sp>
        <p:nvSpPr>
          <p:cNvPr id="12" name="TextBox 11"/>
          <p:cNvSpPr txBox="1"/>
          <p:nvPr/>
        </p:nvSpPr>
        <p:spPr>
          <a:xfrm>
            <a:off x="1033271" y="1938528"/>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Can a person actually use it, and will someone nobody thought about be harmed</a:t>
            </a:r>
          </a:p>
        </p:txBody>
      </p:sp>
      <p:sp>
        <p:nvSpPr>
          <p:cNvPr id="13" name="TextBox 12"/>
          <p:cNvSpPr txBox="1"/>
          <p:nvPr/>
        </p:nvSpPr>
        <p:spPr>
          <a:xfrm>
            <a:off x="1033271" y="2267712"/>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phase 2 · design</a:t>
            </a:r>
          </a:p>
        </p:txBody>
      </p:sp>
      <p:sp>
        <p:nvSpPr>
          <p:cNvPr id="14" name="Rounded Rectangle 13"/>
          <p:cNvSpPr/>
          <p:nvPr/>
        </p:nvSpPr>
        <p:spPr>
          <a:xfrm>
            <a:off x="502920" y="2505456"/>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9224" y="2642616"/>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2660904"/>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3</a:t>
            </a:r>
          </a:p>
        </p:txBody>
      </p:sp>
      <p:sp>
        <p:nvSpPr>
          <p:cNvPr id="17" name="TextBox 16"/>
          <p:cNvSpPr txBox="1"/>
          <p:nvPr/>
        </p:nvSpPr>
        <p:spPr>
          <a:xfrm>
            <a:off x="1033271" y="2523744"/>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Can we build it and release it safely</a:t>
            </a:r>
          </a:p>
        </p:txBody>
      </p:sp>
      <p:sp>
        <p:nvSpPr>
          <p:cNvPr id="18" name="TextBox 17"/>
          <p:cNvSpPr txBox="1"/>
          <p:nvPr/>
        </p:nvSpPr>
        <p:spPr>
          <a:xfrm>
            <a:off x="1033271" y="2852928"/>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phase 3 · build and launch</a:t>
            </a:r>
          </a:p>
        </p:txBody>
      </p:sp>
      <p:sp>
        <p:nvSpPr>
          <p:cNvPr id="19" name="Rounded Rectangle 18"/>
          <p:cNvSpPr/>
          <p:nvPr/>
        </p:nvSpPr>
        <p:spPr>
          <a:xfrm>
            <a:off x="502920" y="3090672"/>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9224" y="3227832"/>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246120"/>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4</a:t>
            </a:r>
          </a:p>
        </p:txBody>
      </p:sp>
      <p:sp>
        <p:nvSpPr>
          <p:cNvPr id="22" name="TextBox 21"/>
          <p:cNvSpPr txBox="1"/>
          <p:nvPr/>
        </p:nvSpPr>
        <p:spPr>
          <a:xfrm>
            <a:off x="1033271" y="3108960"/>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Will it be chosen firmly enough that people pay for it</a:t>
            </a:r>
          </a:p>
        </p:txBody>
      </p:sp>
      <p:sp>
        <p:nvSpPr>
          <p:cNvPr id="23" name="TextBox 22"/>
          <p:cNvSpPr txBox="1"/>
          <p:nvPr/>
        </p:nvSpPr>
        <p:spPr>
          <a:xfrm>
            <a:off x="1033271" y="3438144"/>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phases 4 and 6 · measurement, governance</a:t>
            </a:r>
          </a:p>
        </p:txBody>
      </p:sp>
      <p:sp>
        <p:nvSpPr>
          <p:cNvPr id="24" name="Rounded Rectangle 23"/>
          <p:cNvSpPr/>
          <p:nvPr/>
        </p:nvSpPr>
        <p:spPr>
          <a:xfrm>
            <a:off x="502920" y="3675887"/>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9224" y="3813048"/>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3831335"/>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5</a:t>
            </a:r>
          </a:p>
        </p:txBody>
      </p:sp>
      <p:sp>
        <p:nvSpPr>
          <p:cNvPr id="27" name="TextBox 26"/>
          <p:cNvSpPr txBox="1"/>
          <p:nvPr/>
        </p:nvSpPr>
        <p:spPr>
          <a:xfrm>
            <a:off x="1033271" y="3694175"/>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Do those answers still hold a quarter later</a:t>
            </a:r>
          </a:p>
        </p:txBody>
      </p:sp>
      <p:sp>
        <p:nvSpPr>
          <p:cNvPr id="28" name="TextBox 27"/>
          <p:cNvSpPr txBox="1"/>
          <p:nvPr/>
        </p:nvSpPr>
        <p:spPr>
          <a:xfrm>
            <a:off x="1033271" y="4023359"/>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phase 5 · support</a:t>
            </a:r>
          </a:p>
        </p:txBody>
      </p:sp>
      <p:sp>
        <p:nvSpPr>
          <p:cNvPr id="29" name="TextBox 28"/>
          <p:cNvSpPr txBox="1"/>
          <p:nvPr/>
        </p:nvSpPr>
        <p:spPr>
          <a:xfrm>
            <a:off x="539496" y="4334256"/>
            <a:ext cx="5504688" cy="768096"/>
          </a:xfrm>
          <a:prstGeom prst="rect">
            <a:avLst/>
          </a:prstGeom>
          <a:noFill/>
        </p:spPr>
        <p:txBody>
          <a:bodyPr wrap="square" lIns="0" rIns="0" tIns="0" bIns="0" anchor="t">
            <a:spAutoFit/>
          </a:bodyPr>
          <a:lstStyle/>
          <a:p>
            <a:pPr algn="l">
              <a:lnSpc>
                <a:spcPct val="108000"/>
              </a:lnSpc>
            </a:pPr>
            <a:r>
              <a:rPr sz="1050" b="0" i="1">
                <a:solidFill>
                  <a:srgbClr val="5B6678"/>
                </a:solidFill>
                <a:latin typeface="DejaVu Sans"/>
              </a:rPr>
              <a:t>The first four are the product risks named by Marty Cagan (product leader, founder of the Silicon Valley Product Group, author of "Inspired"); the fifth only opens up after launch. Each has a phase of its own: the loop is the minimum set of places where these questions get answered.</a:t>
            </a:r>
          </a:p>
        </p:txBody>
      </p:sp>
      <p:sp>
        <p:nvSpPr>
          <p:cNvPr id="30" name="Rounded Rectangle 29"/>
          <p:cNvSpPr/>
          <p:nvPr/>
        </p:nvSpPr>
        <p:spPr>
          <a:xfrm>
            <a:off x="6355080" y="932688"/>
            <a:ext cx="5349240" cy="2359152"/>
          </a:xfrm>
          <a:prstGeom prst="roundRect">
            <a:avLst>
              <a:gd name="adj" fmla="val 12919"/>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6248" y="1024128"/>
            <a:ext cx="4946903" cy="256032"/>
          </a:xfrm>
          <a:prstGeom prst="rect">
            <a:avLst/>
          </a:prstGeom>
          <a:noFill/>
        </p:spPr>
        <p:txBody>
          <a:bodyPr wrap="square" lIns="0" rIns="0" tIns="0" bIns="0" anchor="t">
            <a:spAutoFit/>
          </a:bodyPr>
          <a:lstStyle/>
          <a:p>
            <a:pPr algn="l">
              <a:lnSpc>
                <a:spcPct val="115000"/>
              </a:lnSpc>
            </a:pPr>
            <a:r>
              <a:rPr sz="1250" b="1" i="0">
                <a:solidFill>
                  <a:srgbClr val="028090"/>
                </a:solidFill>
                <a:latin typeface="DejaVu Sans"/>
              </a:rPr>
              <a:t>When there is no loop</a:t>
            </a:r>
          </a:p>
        </p:txBody>
      </p:sp>
      <p:sp>
        <p:nvSpPr>
          <p:cNvPr id="32" name="TextBox 31"/>
          <p:cNvSpPr txBox="1"/>
          <p:nvPr/>
        </p:nvSpPr>
        <p:spPr>
          <a:xfrm>
            <a:off x="6556248" y="1335024"/>
            <a:ext cx="4946903" cy="184708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The questions do not disappear — optimistic assumptions take their place.</a:t>
            </a:r>
          </a:p>
          <a:p>
            <a:pPr algn="l">
              <a:lnSpc>
                <a:spcPct val="114000"/>
              </a:lnSpc>
            </a:pPr>
            <a:r>
              <a:rPr sz="1100" b="0" i="0">
                <a:solidFill>
                  <a:srgbClr val="21295C"/>
                </a:solidFill>
                <a:latin typeface="DejaVu Sans"/>
              </a:rPr>
              <a:t>The error does not disappear either; only the moment of finding it moves — to after the build has been paid for and the release has happened, where rolling back costs more than the error itself.</a:t>
            </a:r>
          </a:p>
          <a:p>
            <a:pPr algn="l">
              <a:lnSpc>
                <a:spcPct val="114000"/>
              </a:lnSpc>
            </a:pPr>
            <a:r>
              <a:rPr sz="1100" b="0" i="0">
                <a:solidFill>
                  <a:srgbClr val="21295C"/>
                </a:solidFill>
                <a:latin typeface="DejaVu Sans"/>
              </a:rPr>
              <a:t>From requirements to release, the cost of a fix spreads out up to a hundredfold on large projects and fourfold on small ones (Barry Boehm, a researcher in the economics of software development, 1981).</a:t>
            </a:r>
          </a:p>
        </p:txBody>
      </p:sp>
      <p:sp>
        <p:nvSpPr>
          <p:cNvPr id="33" name="Rounded Rectangle 32"/>
          <p:cNvSpPr/>
          <p:nvPr/>
        </p:nvSpPr>
        <p:spPr>
          <a:xfrm>
            <a:off x="6355080" y="3383280"/>
            <a:ext cx="5349240" cy="1920240"/>
          </a:xfrm>
          <a:prstGeom prst="roundRect">
            <a:avLst>
              <a:gd name="adj" fmla="val 15873"/>
            </a:avLst>
          </a:prstGeom>
          <a:solidFill>
            <a:srgbClr val="F4F7FA"/>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6248" y="3474720"/>
            <a:ext cx="4946903" cy="256032"/>
          </a:xfrm>
          <a:prstGeom prst="rect">
            <a:avLst/>
          </a:prstGeom>
          <a:noFill/>
        </p:spPr>
        <p:txBody>
          <a:bodyPr wrap="square" lIns="0" rIns="0" tIns="0" bIns="0" anchor="t">
            <a:spAutoFit/>
          </a:bodyPr>
          <a:lstStyle/>
          <a:p>
            <a:pPr algn="l">
              <a:lnSpc>
                <a:spcPct val="115000"/>
              </a:lnSpc>
            </a:pPr>
            <a:r>
              <a:rPr sz="1250" b="1" i="0">
                <a:solidFill>
                  <a:srgbClr val="028090"/>
                </a:solidFill>
                <a:latin typeface="DejaVu Sans"/>
              </a:rPr>
              <a:t>From inside the team it does not look like failure</a:t>
            </a:r>
          </a:p>
        </p:txBody>
      </p:sp>
      <p:sp>
        <p:nvSpPr>
          <p:cNvPr id="35" name="TextBox 34"/>
          <p:cNvSpPr txBox="1"/>
          <p:nvPr/>
        </p:nvSpPr>
        <p:spPr>
          <a:xfrm>
            <a:off x="6556248" y="3785616"/>
            <a:ext cx="4946903" cy="1408176"/>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Built it, nobody uses it · got to a pilot and stalled · it works and it is not chosen · rolled it out, and a quarter later people stopped opening it.</a:t>
            </a:r>
          </a:p>
          <a:p>
            <a:pPr algn="l">
              <a:lnSpc>
                <a:spcPct val="114000"/>
              </a:lnSpc>
            </a:pPr>
            <a:r>
              <a:rPr sz="1100" b="0" i="0">
                <a:solidFill>
                  <a:srgbClr val="21295C"/>
                </a:solidFill>
                <a:latin typeface="DejaVu Sans"/>
              </a:rPr>
              <a:t>In all four cases the build itself went through successfully — which is why from inside the team it reads as success; an error sitting inside an unchecked hypothesis is not visible to anyone.</a:t>
            </a:r>
          </a:p>
        </p:txBody>
      </p:sp>
      <p:sp>
        <p:nvSpPr>
          <p:cNvPr id="36" name="Rounded Rectangle 35"/>
          <p:cNvSpPr/>
          <p:nvPr/>
        </p:nvSpPr>
        <p:spPr>
          <a:xfrm>
            <a:off x="502920" y="5431536"/>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5486400"/>
            <a:ext cx="10762488" cy="694944"/>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The expense of building worked as an involuntary barrier: while making the thing cost weeks, that cost alone forced teams to think in advance. AI is exactly what zeroed it out — and teams that never had an explicit loop now have nothing left holding them back from skipping these questions.</a:t>
            </a:r>
          </a:p>
        </p:txBody>
      </p:sp>
      <p:sp>
        <p:nvSpPr>
          <p:cNvPr id="38" name="TextBox 3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 / 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AI changes the cost and trust of every arrow of the loop — but not equally</a:t>
            </a:r>
          </a:p>
        </p:txBody>
      </p:sp>
      <p:sp>
        <p:nvSpPr>
          <p:cNvPr id="3" name="Rounded Rectangle 2"/>
          <p:cNvSpPr/>
          <p:nvPr/>
        </p:nvSpPr>
        <p:spPr>
          <a:xfrm>
            <a:off x="502920" y="1417320"/>
            <a:ext cx="11201400" cy="822960"/>
          </a:xfrm>
          <a:prstGeom prst="roundRect">
            <a:avLst>
              <a:gd name="adj" fmla="val 22000"/>
            </a:avLst>
          </a:prstGeom>
          <a:solidFill>
            <a:srgbClr val="F4F7FA"/>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mmer-gold.png"/>
          <p:cNvPicPr>
            <a:picLocks noChangeAspect="1"/>
          </p:cNvPicPr>
          <p:nvPr/>
        </p:nvPicPr>
        <p:blipFill>
          <a:blip r:embed="rId2"/>
          <a:stretch>
            <a:fillRect/>
          </a:stretch>
        </p:blipFill>
        <p:spPr>
          <a:xfrm>
            <a:off x="731520" y="1600200"/>
            <a:ext cx="457200" cy="457200"/>
          </a:xfrm>
          <a:prstGeom prst="rect">
            <a:avLst/>
          </a:prstGeom>
        </p:spPr>
      </p:pic>
      <p:sp>
        <p:nvSpPr>
          <p:cNvPr id="5" name="TextBox 4"/>
          <p:cNvSpPr txBox="1"/>
          <p:nvPr/>
        </p:nvSpPr>
        <p:spPr>
          <a:xfrm>
            <a:off x="1371600" y="1545336"/>
            <a:ext cx="3200400" cy="548640"/>
          </a:xfrm>
          <a:prstGeom prst="rect">
            <a:avLst/>
          </a:prstGeom>
          <a:noFill/>
        </p:spPr>
        <p:txBody>
          <a:bodyPr wrap="square" lIns="0" rIns="0" tIns="0" bIns="0" anchor="ctr">
            <a:spAutoFit/>
          </a:bodyPr>
          <a:lstStyle/>
          <a:p>
            <a:pPr algn="l">
              <a:lnSpc>
                <a:spcPct val="115000"/>
              </a:lnSpc>
            </a:pPr>
            <a:r>
              <a:rPr sz="1500" b="1" i="0">
                <a:solidFill>
                  <a:srgbClr val="21295C"/>
                </a:solidFill>
                <a:latin typeface="DejaVu Sans"/>
              </a:rPr>
              <a:t>Build</a:t>
            </a:r>
          </a:p>
        </p:txBody>
      </p:sp>
      <p:sp>
        <p:nvSpPr>
          <p:cNvPr id="6" name="TextBox 5"/>
          <p:cNvSpPr txBox="1"/>
          <p:nvPr/>
        </p:nvSpPr>
        <p:spPr>
          <a:xfrm>
            <a:off x="4709160" y="1545336"/>
            <a:ext cx="6766560" cy="548640"/>
          </a:xfrm>
          <a:prstGeom prst="rect">
            <a:avLst/>
          </a:prstGeom>
          <a:noFill/>
        </p:spPr>
        <p:txBody>
          <a:bodyPr wrap="square" lIns="0" rIns="0" tIns="0" bIns="0" anchor="ctr">
            <a:spAutoFit/>
          </a:bodyPr>
          <a:lstStyle/>
          <a:p>
            <a:pPr algn="l">
              <a:lnSpc>
                <a:spcPct val="115000"/>
              </a:lnSpc>
            </a:pPr>
            <a:r>
              <a:rPr sz="1400" b="0" i="0">
                <a:solidFill>
                  <a:srgbClr val="21295C"/>
                </a:solidFill>
                <a:latin typeface="DejaVu Sans"/>
              </a:rPr>
              <a:t>cost nearly collapsed to zero</a:t>
            </a:r>
          </a:p>
        </p:txBody>
      </p:sp>
      <p:sp>
        <p:nvSpPr>
          <p:cNvPr id="7" name="Rounded Rectangle 6"/>
          <p:cNvSpPr/>
          <p:nvPr/>
        </p:nvSpPr>
        <p:spPr>
          <a:xfrm>
            <a:off x="502920" y="2377440"/>
            <a:ext cx="11201400" cy="822960"/>
          </a:xfrm>
          <a:prstGeom prst="roundRect">
            <a:avLst>
              <a:gd name="adj" fmla="val 22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uler-light.png"/>
          <p:cNvPicPr>
            <a:picLocks noChangeAspect="1"/>
          </p:cNvPicPr>
          <p:nvPr/>
        </p:nvPicPr>
        <p:blipFill>
          <a:blip r:embed="rId3"/>
          <a:stretch>
            <a:fillRect/>
          </a:stretch>
        </p:blipFill>
        <p:spPr>
          <a:xfrm>
            <a:off x="731520" y="2560320"/>
            <a:ext cx="457200" cy="457200"/>
          </a:xfrm>
          <a:prstGeom prst="rect">
            <a:avLst/>
          </a:prstGeom>
        </p:spPr>
      </p:pic>
      <p:sp>
        <p:nvSpPr>
          <p:cNvPr id="9" name="TextBox 8"/>
          <p:cNvSpPr txBox="1"/>
          <p:nvPr/>
        </p:nvSpPr>
        <p:spPr>
          <a:xfrm>
            <a:off x="1371600" y="2505456"/>
            <a:ext cx="3200400" cy="548640"/>
          </a:xfrm>
          <a:prstGeom prst="rect">
            <a:avLst/>
          </a:prstGeom>
          <a:noFill/>
        </p:spPr>
        <p:txBody>
          <a:bodyPr wrap="square" lIns="0" rIns="0" tIns="0" bIns="0" anchor="ctr">
            <a:spAutoFit/>
          </a:bodyPr>
          <a:lstStyle/>
          <a:p>
            <a:pPr algn="l">
              <a:lnSpc>
                <a:spcPct val="115000"/>
              </a:lnSpc>
            </a:pPr>
            <a:r>
              <a:rPr sz="1500" b="1" i="0">
                <a:solidFill>
                  <a:srgbClr val="21295C"/>
                </a:solidFill>
                <a:latin typeface="DejaVu Sans"/>
              </a:rPr>
              <a:t>Measure / Learn</a:t>
            </a:r>
          </a:p>
        </p:txBody>
      </p:sp>
      <p:sp>
        <p:nvSpPr>
          <p:cNvPr id="10" name="TextBox 9"/>
          <p:cNvSpPr txBox="1"/>
          <p:nvPr/>
        </p:nvSpPr>
        <p:spPr>
          <a:xfrm>
            <a:off x="4709160" y="2505456"/>
            <a:ext cx="6766560" cy="548640"/>
          </a:xfrm>
          <a:prstGeom prst="rect">
            <a:avLst/>
          </a:prstGeom>
          <a:noFill/>
        </p:spPr>
        <p:txBody>
          <a:bodyPr wrap="square" lIns="0" rIns="0" tIns="0" bIns="0" anchor="ctr">
            <a:spAutoFit/>
          </a:bodyPr>
          <a:lstStyle/>
          <a:p>
            <a:pPr algn="l">
              <a:lnSpc>
                <a:spcPct val="115000"/>
              </a:lnSpc>
            </a:pPr>
            <a:r>
              <a:rPr sz="1400" b="0" i="0">
                <a:solidFill>
                  <a:srgbClr val="21295C"/>
                </a:solidFill>
                <a:latin typeface="DejaVu Sans"/>
              </a:rPr>
              <a:t>cost about the same, trust fell</a:t>
            </a:r>
          </a:p>
        </p:txBody>
      </p:sp>
      <p:sp>
        <p:nvSpPr>
          <p:cNvPr id="11" name="Rounded Rectangle 10"/>
          <p:cNvSpPr/>
          <p:nvPr/>
        </p:nvSpPr>
        <p:spPr>
          <a:xfrm>
            <a:off x="502920" y="3337560"/>
            <a:ext cx="11201400" cy="822960"/>
          </a:xfrm>
          <a:prstGeom prst="roundRect">
            <a:avLst>
              <a:gd name="adj" fmla="val 22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teal.png"/>
          <p:cNvPicPr>
            <a:picLocks noChangeAspect="1"/>
          </p:cNvPicPr>
          <p:nvPr/>
        </p:nvPicPr>
        <p:blipFill>
          <a:blip r:embed="rId4"/>
          <a:stretch>
            <a:fillRect/>
          </a:stretch>
        </p:blipFill>
        <p:spPr>
          <a:xfrm>
            <a:off x="731520" y="3520440"/>
            <a:ext cx="457200" cy="457200"/>
          </a:xfrm>
          <a:prstGeom prst="rect">
            <a:avLst/>
          </a:prstGeom>
        </p:spPr>
      </p:pic>
      <p:sp>
        <p:nvSpPr>
          <p:cNvPr id="13" name="TextBox 12"/>
          <p:cNvSpPr txBox="1"/>
          <p:nvPr/>
        </p:nvSpPr>
        <p:spPr>
          <a:xfrm>
            <a:off x="1371600" y="3465576"/>
            <a:ext cx="3200400" cy="548640"/>
          </a:xfrm>
          <a:prstGeom prst="rect">
            <a:avLst/>
          </a:prstGeom>
          <a:noFill/>
        </p:spPr>
        <p:txBody>
          <a:bodyPr wrap="square" lIns="0" rIns="0" tIns="0" bIns="0" anchor="ctr">
            <a:spAutoFit/>
          </a:bodyPr>
          <a:lstStyle/>
          <a:p>
            <a:pPr algn="l">
              <a:lnSpc>
                <a:spcPct val="115000"/>
              </a:lnSpc>
            </a:pPr>
            <a:r>
              <a:rPr sz="1500" b="1" i="0">
                <a:solidFill>
                  <a:srgbClr val="21295C"/>
                </a:solidFill>
                <a:latin typeface="DejaVu Sans"/>
              </a:rPr>
              <a:t>Observe / Orient</a:t>
            </a:r>
          </a:p>
        </p:txBody>
      </p:sp>
      <p:sp>
        <p:nvSpPr>
          <p:cNvPr id="14" name="TextBox 13"/>
          <p:cNvSpPr txBox="1"/>
          <p:nvPr/>
        </p:nvSpPr>
        <p:spPr>
          <a:xfrm>
            <a:off x="4709160" y="3465576"/>
            <a:ext cx="6766560" cy="548640"/>
          </a:xfrm>
          <a:prstGeom prst="rect">
            <a:avLst/>
          </a:prstGeom>
          <a:noFill/>
        </p:spPr>
        <p:txBody>
          <a:bodyPr wrap="square" lIns="0" rIns="0" tIns="0" bIns="0" anchor="ctr">
            <a:spAutoFit/>
          </a:bodyPr>
          <a:lstStyle/>
          <a:p>
            <a:pPr algn="l">
              <a:lnSpc>
                <a:spcPct val="115000"/>
              </a:lnSpc>
            </a:pPr>
            <a:r>
              <a:rPr sz="1400" b="0" i="0">
                <a:solidFill>
                  <a:srgbClr val="21295C"/>
                </a:solidFill>
                <a:latin typeface="DejaVu Sans"/>
              </a:rPr>
              <a:t>faster, but more exposed to attack</a:t>
            </a:r>
          </a:p>
        </p:txBody>
      </p:sp>
      <p:sp>
        <p:nvSpPr>
          <p:cNvPr id="15" name="Rounded Rectangle 14"/>
          <p:cNvSpPr/>
          <p:nvPr/>
        </p:nvSpPr>
        <p:spPr>
          <a:xfrm>
            <a:off x="502920" y="4434840"/>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489703"/>
            <a:ext cx="10762488" cy="758952"/>
          </a:xfrm>
          <a:prstGeom prst="rect">
            <a:avLst/>
          </a:prstGeom>
          <a:noFill/>
        </p:spPr>
        <p:txBody>
          <a:bodyPr wrap="square" lIns="0" rIns="0" tIns="0" bIns="0" anchor="ctr">
            <a:spAutoFit/>
          </a:bodyPr>
          <a:lstStyle/>
          <a:p>
            <a:pPr algn="l">
              <a:lnSpc>
                <a:spcPct val="120000"/>
              </a:lnSpc>
            </a:pPr>
            <a:r>
              <a:rPr sz="1350" b="1" i="0">
                <a:solidFill>
                  <a:srgbClr val="21295C"/>
                </a:solidFill>
                <a:latin typeface="DejaVu Sans"/>
              </a:rPr>
              <a:t>A meta-pattern repeating in each of the 6 sections: every arrow has a classical discipline — AI doesn't cancel it, it changes its cost and the degree of verification it requires.</a:t>
            </a:r>
          </a:p>
        </p:txBody>
      </p:sp>
      <p:sp>
        <p:nvSpPr>
          <p:cNvPr id="17" name="Rounded Rectangle 16"/>
          <p:cNvSpPr/>
          <p:nvPr/>
        </p:nvSpPr>
        <p:spPr>
          <a:xfrm>
            <a:off x="502920" y="5440680"/>
            <a:ext cx="11201400" cy="685800"/>
          </a:xfrm>
          <a:prstGeom prst="roundRect">
            <a:avLst>
              <a:gd name="adj" fmla="val 8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59552"/>
            <a:ext cx="10652760" cy="502920"/>
          </a:xfrm>
          <a:prstGeom prst="rect">
            <a:avLst/>
          </a:prstGeom>
          <a:noFill/>
        </p:spPr>
        <p:txBody>
          <a:bodyPr wrap="square" lIns="0" rIns="0" tIns="0" bIns="0" anchor="ctr">
            <a:spAutoFit/>
          </a:bodyPr>
          <a:lstStyle/>
          <a:p>
            <a:pPr algn="l">
              <a:lnSpc>
                <a:spcPct val="115000"/>
              </a:lnSpc>
            </a:pPr>
            <a:r>
              <a:rPr sz="1250" b="0" i="1">
                <a:solidFill>
                  <a:srgbClr val="5B6678"/>
                </a:solidFill>
                <a:latin typeface="DejaVu Sans"/>
              </a:rPr>
              <a:t>Think about it: on which arrow of your latest task did speed outrun your actual trust in the result?</a:t>
            </a:r>
          </a:p>
        </p:txBody>
      </p:sp>
      <p:sp>
        <p:nvSpPr>
          <p:cNvPr id="19" name="TextBox 1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 / 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1</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07-distracted-boyfriend.jpg"/>
          <p:cNvPicPr>
            <a:picLocks noChangeAspect="1"/>
          </p:cNvPicPr>
          <p:nvPr/>
        </p:nvPicPr>
        <p:blipFill>
          <a:blip r:embed="rId2"/>
          <a:stretch>
            <a:fillRect/>
          </a:stretch>
        </p:blipFill>
        <p:spPr>
          <a:xfrm>
            <a:off x="7763256" y="2043684"/>
            <a:ext cx="3813048" cy="2542032"/>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1</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Discovery — intent and hypothesis</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2 base cases · 3 failures</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Where does a hypothesis about what to build even come from. Most people have the informal experience of "ask your friends" — and almost no one has met the formal discipline that explains why that experience systematically lies.</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2" name="Rounded Rectangle 11"/>
          <p:cNvSpPr/>
          <p:nvPr/>
        </p:nvSpPr>
        <p:spPr>
          <a:xfrm>
            <a:off x="191452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Discovery</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6 / 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"There are no facts inside the building" — 4 steps, each ending in a decision</a:t>
            </a:r>
          </a:p>
        </p:txBody>
      </p:sp>
      <p:sp>
        <p:nvSpPr>
          <p:cNvPr id="3" name="Rounded Rectangle 2"/>
          <p:cNvSpPr/>
          <p:nvPr/>
        </p:nvSpPr>
        <p:spPr>
          <a:xfrm>
            <a:off x="502920" y="1691640"/>
            <a:ext cx="2487168" cy="123444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01368"/>
            <a:ext cx="2304288" cy="256032"/>
          </a:xfrm>
          <a:prstGeom prst="rect">
            <a:avLst/>
          </a:prstGeom>
          <a:noFill/>
        </p:spPr>
        <p:txBody>
          <a:bodyPr wrap="square" lIns="0" rIns="0" tIns="0" bIns="0" anchor="t">
            <a:spAutoFit/>
          </a:bodyPr>
          <a:lstStyle/>
          <a:p>
            <a:pPr algn="ctr">
              <a:lnSpc>
                <a:spcPct val="115000"/>
              </a:lnSpc>
            </a:pPr>
            <a:r>
              <a:rPr sz="1400" b="1" i="0">
                <a:solidFill>
                  <a:srgbClr val="F0AB00"/>
                </a:solidFill>
                <a:latin typeface="DejaVu Sans"/>
              </a:rPr>
              <a:t>1</a:t>
            </a:r>
          </a:p>
        </p:txBody>
      </p:sp>
      <p:sp>
        <p:nvSpPr>
          <p:cNvPr id="5" name="TextBox 4"/>
          <p:cNvSpPr txBox="1"/>
          <p:nvPr/>
        </p:nvSpPr>
        <p:spPr>
          <a:xfrm>
            <a:off x="557784" y="2075688"/>
            <a:ext cx="2377440" cy="310896"/>
          </a:xfrm>
          <a:prstGeom prst="rect">
            <a:avLst/>
          </a:prstGeom>
          <a:noFill/>
        </p:spPr>
        <p:txBody>
          <a:bodyPr wrap="square" lIns="0" rIns="0" tIns="0" bIns="0" anchor="t">
            <a:spAutoFit/>
          </a:bodyPr>
          <a:lstStyle/>
          <a:p>
            <a:pPr algn="ctr">
              <a:lnSpc>
                <a:spcPct val="115000"/>
              </a:lnSpc>
            </a:pPr>
            <a:r>
              <a:rPr sz="1200" b="1" i="0">
                <a:solidFill>
                  <a:srgbClr val="21295C"/>
                </a:solidFill>
                <a:latin typeface="DejaVu Sans"/>
              </a:rPr>
              <a:t>Discovery</a:t>
            </a:r>
          </a:p>
        </p:txBody>
      </p:sp>
      <p:sp>
        <p:nvSpPr>
          <p:cNvPr id="6" name="TextBox 5"/>
          <p:cNvSpPr txBox="1"/>
          <p:nvPr/>
        </p:nvSpPr>
        <p:spPr>
          <a:xfrm>
            <a:off x="594360" y="2368296"/>
            <a:ext cx="2304288" cy="237744"/>
          </a:xfrm>
          <a:prstGeom prst="rect">
            <a:avLst/>
          </a:prstGeom>
          <a:noFill/>
        </p:spPr>
        <p:txBody>
          <a:bodyPr wrap="square" lIns="0" rIns="0" tIns="0" bIns="0" anchor="t">
            <a:spAutoFit/>
          </a:bodyPr>
          <a:lstStyle/>
          <a:p>
            <a:pPr algn="ctr">
              <a:lnSpc>
                <a:spcPct val="115000"/>
              </a:lnSpc>
            </a:pPr>
            <a:r>
              <a:rPr sz="950" b="0" i="1">
                <a:solidFill>
                  <a:srgbClr val="5B6678"/>
                </a:solidFill>
                <a:latin typeface="DejaVu Sans"/>
              </a:rPr>
              <a:t>discovery</a:t>
            </a:r>
          </a:p>
        </p:txBody>
      </p:sp>
      <p:pic>
        <p:nvPicPr>
          <p:cNvPr id="7" name="Picture 6" descr="diamond-gold.png"/>
          <p:cNvPicPr>
            <a:picLocks noChangeAspect="1"/>
          </p:cNvPicPr>
          <p:nvPr/>
        </p:nvPicPr>
        <p:blipFill>
          <a:blip r:embed="rId2"/>
          <a:stretch>
            <a:fillRect/>
          </a:stretch>
        </p:blipFill>
        <p:spPr>
          <a:xfrm>
            <a:off x="1600200" y="2624328"/>
            <a:ext cx="292608" cy="292608"/>
          </a:xfrm>
          <a:prstGeom prst="rect">
            <a:avLst/>
          </a:prstGeom>
        </p:spPr>
      </p:pic>
      <p:sp>
        <p:nvSpPr>
          <p:cNvPr id="8" name="Right Arrow 7"/>
          <p:cNvSpPr/>
          <p:nvPr/>
        </p:nvSpPr>
        <p:spPr>
          <a:xfrm>
            <a:off x="3008376" y="2194560"/>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246120" y="1691640"/>
            <a:ext cx="2487168" cy="123444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801368"/>
            <a:ext cx="2304288" cy="256032"/>
          </a:xfrm>
          <a:prstGeom prst="rect">
            <a:avLst/>
          </a:prstGeom>
          <a:noFill/>
        </p:spPr>
        <p:txBody>
          <a:bodyPr wrap="square" lIns="0" rIns="0" tIns="0" bIns="0" anchor="t">
            <a:spAutoFit/>
          </a:bodyPr>
          <a:lstStyle/>
          <a:p>
            <a:pPr algn="ctr">
              <a:lnSpc>
                <a:spcPct val="115000"/>
              </a:lnSpc>
            </a:pPr>
            <a:r>
              <a:rPr sz="1400" b="1" i="0">
                <a:solidFill>
                  <a:srgbClr val="F0AB00"/>
                </a:solidFill>
                <a:latin typeface="DejaVu Sans"/>
              </a:rPr>
              <a:t>2</a:t>
            </a:r>
          </a:p>
        </p:txBody>
      </p:sp>
      <p:sp>
        <p:nvSpPr>
          <p:cNvPr id="11" name="TextBox 10"/>
          <p:cNvSpPr txBox="1"/>
          <p:nvPr/>
        </p:nvSpPr>
        <p:spPr>
          <a:xfrm>
            <a:off x="3300984" y="2075688"/>
            <a:ext cx="2377440" cy="310896"/>
          </a:xfrm>
          <a:prstGeom prst="rect">
            <a:avLst/>
          </a:prstGeom>
          <a:noFill/>
        </p:spPr>
        <p:txBody>
          <a:bodyPr wrap="square" lIns="0" rIns="0" tIns="0" bIns="0" anchor="t">
            <a:spAutoFit/>
          </a:bodyPr>
          <a:lstStyle/>
          <a:p>
            <a:pPr algn="ctr">
              <a:lnSpc>
                <a:spcPct val="115000"/>
              </a:lnSpc>
            </a:pPr>
            <a:r>
              <a:rPr sz="1200" b="1" i="0">
                <a:solidFill>
                  <a:srgbClr val="21295C"/>
                </a:solidFill>
                <a:latin typeface="DejaVu Sans"/>
              </a:rPr>
              <a:t>Validation</a:t>
            </a:r>
          </a:p>
        </p:txBody>
      </p:sp>
      <p:sp>
        <p:nvSpPr>
          <p:cNvPr id="12" name="TextBox 11"/>
          <p:cNvSpPr txBox="1"/>
          <p:nvPr/>
        </p:nvSpPr>
        <p:spPr>
          <a:xfrm>
            <a:off x="3337560" y="2368296"/>
            <a:ext cx="2304288" cy="237744"/>
          </a:xfrm>
          <a:prstGeom prst="rect">
            <a:avLst/>
          </a:prstGeom>
          <a:noFill/>
        </p:spPr>
        <p:txBody>
          <a:bodyPr wrap="square" lIns="0" rIns="0" tIns="0" bIns="0" anchor="t">
            <a:spAutoFit/>
          </a:bodyPr>
          <a:lstStyle/>
          <a:p>
            <a:pPr algn="ctr">
              <a:lnSpc>
                <a:spcPct val="115000"/>
              </a:lnSpc>
            </a:pPr>
            <a:r>
              <a:rPr sz="950" b="0" i="1">
                <a:solidFill>
                  <a:srgbClr val="5B6678"/>
                </a:solidFill>
                <a:latin typeface="DejaVu Sans"/>
              </a:rPr>
              <a:t>validation</a:t>
            </a:r>
          </a:p>
        </p:txBody>
      </p:sp>
      <p:pic>
        <p:nvPicPr>
          <p:cNvPr id="13" name="Picture 12" descr="diamond-gold.png"/>
          <p:cNvPicPr>
            <a:picLocks noChangeAspect="1"/>
          </p:cNvPicPr>
          <p:nvPr/>
        </p:nvPicPr>
        <p:blipFill>
          <a:blip r:embed="rId2"/>
          <a:stretch>
            <a:fillRect/>
          </a:stretch>
        </p:blipFill>
        <p:spPr>
          <a:xfrm>
            <a:off x="4343400" y="2624328"/>
            <a:ext cx="292608" cy="292608"/>
          </a:xfrm>
          <a:prstGeom prst="rect">
            <a:avLst/>
          </a:prstGeom>
        </p:spPr>
      </p:pic>
      <p:sp>
        <p:nvSpPr>
          <p:cNvPr id="14" name="Right Arrow 13"/>
          <p:cNvSpPr/>
          <p:nvPr/>
        </p:nvSpPr>
        <p:spPr>
          <a:xfrm>
            <a:off x="5751575" y="2194560"/>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89320" y="1691640"/>
            <a:ext cx="2487168" cy="123444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59" y="1801368"/>
            <a:ext cx="2304288" cy="256032"/>
          </a:xfrm>
          <a:prstGeom prst="rect">
            <a:avLst/>
          </a:prstGeom>
          <a:noFill/>
        </p:spPr>
        <p:txBody>
          <a:bodyPr wrap="square" lIns="0" rIns="0" tIns="0" bIns="0" anchor="t">
            <a:spAutoFit/>
          </a:bodyPr>
          <a:lstStyle/>
          <a:p>
            <a:pPr algn="ctr">
              <a:lnSpc>
                <a:spcPct val="115000"/>
              </a:lnSpc>
            </a:pPr>
            <a:r>
              <a:rPr sz="1400" b="1" i="0">
                <a:solidFill>
                  <a:srgbClr val="F0AB00"/>
                </a:solidFill>
                <a:latin typeface="DejaVu Sans"/>
              </a:rPr>
              <a:t>3</a:t>
            </a:r>
          </a:p>
        </p:txBody>
      </p:sp>
      <p:sp>
        <p:nvSpPr>
          <p:cNvPr id="17" name="TextBox 16"/>
          <p:cNvSpPr txBox="1"/>
          <p:nvPr/>
        </p:nvSpPr>
        <p:spPr>
          <a:xfrm>
            <a:off x="6044183" y="2075688"/>
            <a:ext cx="2377440" cy="310896"/>
          </a:xfrm>
          <a:prstGeom prst="rect">
            <a:avLst/>
          </a:prstGeom>
          <a:noFill/>
        </p:spPr>
        <p:txBody>
          <a:bodyPr wrap="square" lIns="0" rIns="0" tIns="0" bIns="0" anchor="t">
            <a:spAutoFit/>
          </a:bodyPr>
          <a:lstStyle/>
          <a:p>
            <a:pPr algn="ctr">
              <a:lnSpc>
                <a:spcPct val="115000"/>
              </a:lnSpc>
            </a:pPr>
            <a:r>
              <a:rPr sz="1200" b="1" i="0">
                <a:solidFill>
                  <a:srgbClr val="21295C"/>
                </a:solidFill>
                <a:latin typeface="DejaVu Sans"/>
              </a:rPr>
              <a:t>Demand creation</a:t>
            </a:r>
          </a:p>
        </p:txBody>
      </p:sp>
      <p:sp>
        <p:nvSpPr>
          <p:cNvPr id="18" name="TextBox 17"/>
          <p:cNvSpPr txBox="1"/>
          <p:nvPr/>
        </p:nvSpPr>
        <p:spPr>
          <a:xfrm>
            <a:off x="6080759" y="2368296"/>
            <a:ext cx="2304288" cy="237744"/>
          </a:xfrm>
          <a:prstGeom prst="rect">
            <a:avLst/>
          </a:prstGeom>
          <a:noFill/>
        </p:spPr>
        <p:txBody>
          <a:bodyPr wrap="square" lIns="0" rIns="0" tIns="0" bIns="0" anchor="t">
            <a:spAutoFit/>
          </a:bodyPr>
          <a:lstStyle/>
          <a:p>
            <a:pPr algn="ctr">
              <a:lnSpc>
                <a:spcPct val="115000"/>
              </a:lnSpc>
            </a:pPr>
            <a:r>
              <a:rPr sz="950" b="0" i="1">
                <a:solidFill>
                  <a:srgbClr val="5B6678"/>
                </a:solidFill>
                <a:latin typeface="DejaVu Sans"/>
              </a:rPr>
              <a:t>creation</a:t>
            </a:r>
          </a:p>
        </p:txBody>
      </p:sp>
      <p:pic>
        <p:nvPicPr>
          <p:cNvPr id="19" name="Picture 18" descr="diamond-gold.png"/>
          <p:cNvPicPr>
            <a:picLocks noChangeAspect="1"/>
          </p:cNvPicPr>
          <p:nvPr/>
        </p:nvPicPr>
        <p:blipFill>
          <a:blip r:embed="rId2"/>
          <a:stretch>
            <a:fillRect/>
          </a:stretch>
        </p:blipFill>
        <p:spPr>
          <a:xfrm>
            <a:off x="7086600" y="2624328"/>
            <a:ext cx="292608" cy="292608"/>
          </a:xfrm>
          <a:prstGeom prst="rect">
            <a:avLst/>
          </a:prstGeom>
        </p:spPr>
      </p:pic>
      <p:sp>
        <p:nvSpPr>
          <p:cNvPr id="20" name="Right Arrow 19"/>
          <p:cNvSpPr/>
          <p:nvPr/>
        </p:nvSpPr>
        <p:spPr>
          <a:xfrm>
            <a:off x="8494776" y="2194560"/>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732520" y="1691640"/>
            <a:ext cx="2487168" cy="123444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1801368"/>
            <a:ext cx="2304288" cy="256032"/>
          </a:xfrm>
          <a:prstGeom prst="rect">
            <a:avLst/>
          </a:prstGeom>
          <a:noFill/>
        </p:spPr>
        <p:txBody>
          <a:bodyPr wrap="square" lIns="0" rIns="0" tIns="0" bIns="0" anchor="t">
            <a:spAutoFit/>
          </a:bodyPr>
          <a:lstStyle/>
          <a:p>
            <a:pPr algn="ctr">
              <a:lnSpc>
                <a:spcPct val="115000"/>
              </a:lnSpc>
            </a:pPr>
            <a:r>
              <a:rPr sz="1400" b="1" i="0">
                <a:solidFill>
                  <a:srgbClr val="F0AB00"/>
                </a:solidFill>
                <a:latin typeface="DejaVu Sans"/>
              </a:rPr>
              <a:t>4</a:t>
            </a:r>
          </a:p>
        </p:txBody>
      </p:sp>
      <p:sp>
        <p:nvSpPr>
          <p:cNvPr id="23" name="TextBox 22"/>
          <p:cNvSpPr txBox="1"/>
          <p:nvPr/>
        </p:nvSpPr>
        <p:spPr>
          <a:xfrm>
            <a:off x="8787384" y="2075688"/>
            <a:ext cx="2377440" cy="310896"/>
          </a:xfrm>
          <a:prstGeom prst="rect">
            <a:avLst/>
          </a:prstGeom>
          <a:noFill/>
        </p:spPr>
        <p:txBody>
          <a:bodyPr wrap="square" lIns="0" rIns="0" tIns="0" bIns="0" anchor="t">
            <a:spAutoFit/>
          </a:bodyPr>
          <a:lstStyle/>
          <a:p>
            <a:pPr algn="ctr">
              <a:lnSpc>
                <a:spcPct val="115000"/>
              </a:lnSpc>
            </a:pPr>
            <a:r>
              <a:rPr sz="1200" b="1" i="0">
                <a:solidFill>
                  <a:srgbClr val="21295C"/>
                </a:solidFill>
                <a:latin typeface="DejaVu Sans"/>
              </a:rPr>
              <a:t>Scale</a:t>
            </a:r>
          </a:p>
        </p:txBody>
      </p:sp>
      <p:sp>
        <p:nvSpPr>
          <p:cNvPr id="24" name="TextBox 23"/>
          <p:cNvSpPr txBox="1"/>
          <p:nvPr/>
        </p:nvSpPr>
        <p:spPr>
          <a:xfrm>
            <a:off x="8823960" y="2368296"/>
            <a:ext cx="2304288" cy="237744"/>
          </a:xfrm>
          <a:prstGeom prst="rect">
            <a:avLst/>
          </a:prstGeom>
          <a:noFill/>
        </p:spPr>
        <p:txBody>
          <a:bodyPr wrap="square" lIns="0" rIns="0" tIns="0" bIns="0" anchor="t">
            <a:spAutoFit/>
          </a:bodyPr>
          <a:lstStyle/>
          <a:p>
            <a:pPr algn="ctr">
              <a:lnSpc>
                <a:spcPct val="115000"/>
              </a:lnSpc>
            </a:pPr>
            <a:r>
              <a:rPr sz="950" b="0" i="1">
                <a:solidFill>
                  <a:srgbClr val="5B6678"/>
                </a:solidFill>
                <a:latin typeface="DejaVu Sans"/>
              </a:rPr>
              <a:t>building</a:t>
            </a:r>
          </a:p>
        </p:txBody>
      </p:sp>
      <p:pic>
        <p:nvPicPr>
          <p:cNvPr id="25" name="Picture 24" descr="diamond-gold.png"/>
          <p:cNvPicPr>
            <a:picLocks noChangeAspect="1"/>
          </p:cNvPicPr>
          <p:nvPr/>
        </p:nvPicPr>
        <p:blipFill>
          <a:blip r:embed="rId2"/>
          <a:stretch>
            <a:fillRect/>
          </a:stretch>
        </p:blipFill>
        <p:spPr>
          <a:xfrm>
            <a:off x="9829800" y="2624328"/>
            <a:ext cx="292608" cy="292608"/>
          </a:xfrm>
          <a:prstGeom prst="rect">
            <a:avLst/>
          </a:prstGeom>
        </p:spPr>
      </p:pic>
      <p:sp>
        <p:nvSpPr>
          <p:cNvPr id="26" name="TextBox 25"/>
          <p:cNvSpPr txBox="1"/>
          <p:nvPr/>
        </p:nvSpPr>
        <p:spPr>
          <a:xfrm>
            <a:off x="502920" y="3017520"/>
            <a:ext cx="11201400" cy="320040"/>
          </a:xfrm>
          <a:prstGeom prst="rect">
            <a:avLst/>
          </a:prstGeom>
          <a:noFill/>
        </p:spPr>
        <p:txBody>
          <a:bodyPr wrap="square" lIns="0" rIns="0" tIns="0" bIns="0" anchor="t">
            <a:spAutoFit/>
          </a:bodyPr>
          <a:lstStyle/>
          <a:p>
            <a:pPr algn="ctr">
              <a:lnSpc>
                <a:spcPct val="115000"/>
              </a:lnSpc>
            </a:pPr>
            <a:r>
              <a:rPr sz="1250" b="0" i="1">
                <a:solidFill>
                  <a:srgbClr val="5B6678"/>
                </a:solidFill>
                <a:latin typeface="DejaVu Sans"/>
              </a:rPr>
              <a:t>Steve Blank — the Customer Development methodology </a:t>
            </a:r>
            <a:r>
              <a:rPr sz="650" baseline="30000" b="0" i="1">
                <a:latin typeface="DejaVu Sans"/>
                <a:cs typeface="DejaVu Sans"/>
                <a:ea typeface="DejaVu Sans"/>
                <a:solidFill>
                  <a:srgbClr val="1C7293"/>
                </a:solidFill>
              </a:rPr>
              <a:t>[1]</a:t>
            </a:r>
          </a:p>
        </p:txBody>
      </p:sp>
      <p:sp>
        <p:nvSpPr>
          <p:cNvPr id="27" name="Rounded Rectangle 26"/>
          <p:cNvSpPr/>
          <p:nvPr/>
        </p:nvSpPr>
        <p:spPr>
          <a:xfrm>
            <a:off x="1417320" y="3566160"/>
            <a:ext cx="9372600" cy="1234440"/>
          </a:xfrm>
          <a:prstGeom prst="roundRect">
            <a:avLst>
              <a:gd name="adj" fmla="val 22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route-gold.png"/>
          <p:cNvPicPr>
            <a:picLocks noChangeAspect="1"/>
          </p:cNvPicPr>
          <p:nvPr/>
        </p:nvPicPr>
        <p:blipFill>
          <a:blip r:embed="rId3"/>
          <a:stretch>
            <a:fillRect/>
          </a:stretch>
        </p:blipFill>
        <p:spPr>
          <a:xfrm>
            <a:off x="1645920" y="3749039"/>
            <a:ext cx="457200" cy="457200"/>
          </a:xfrm>
          <a:prstGeom prst="rect">
            <a:avLst/>
          </a:prstGeom>
        </p:spPr>
      </p:pic>
      <p:sp>
        <p:nvSpPr>
          <p:cNvPr id="29" name="TextBox 28"/>
          <p:cNvSpPr txBox="1"/>
          <p:nvPr/>
        </p:nvSpPr>
        <p:spPr>
          <a:xfrm>
            <a:off x="2240280" y="3730752"/>
            <a:ext cx="8321040" cy="960120"/>
          </a:xfrm>
          <a:prstGeom prst="rect">
            <a:avLst/>
          </a:prstGeom>
          <a:noFill/>
        </p:spPr>
        <p:txBody>
          <a:bodyPr wrap="square" lIns="0" rIns="0" tIns="0" bIns="0" anchor="t">
            <a:spAutoFit/>
          </a:bodyPr>
          <a:lstStyle/>
          <a:p>
            <a:pPr algn="l">
              <a:lnSpc>
                <a:spcPct val="115000"/>
              </a:lnSpc>
            </a:pPr>
            <a:r>
              <a:rPr sz="1400" b="1" i="0">
                <a:solidFill>
                  <a:srgbClr val="21295C"/>
                </a:solidFill>
                <a:latin typeface="DejaVu Sans"/>
              </a:rPr>
              <a:t>Falsifiable hypothesis</a:t>
            </a:r>
          </a:p>
          <a:p>
            <a:pPr algn="l">
              <a:lnSpc>
                <a:spcPct val="115000"/>
              </a:lnSpc>
              <a:spcBef>
                <a:spcPts val="600"/>
              </a:spcBef>
            </a:pPr>
            <a:r>
              <a:rPr sz="1300" b="0" i="0">
                <a:solidFill>
                  <a:srgbClr val="21295C"/>
                </a:solidFill>
                <a:latin typeface="DejaVu Sans"/>
              </a:rPr>
              <a:t>we believe X → we'll test it via Y → by date Z we'll have a yes/no answer</a:t>
            </a:r>
          </a:p>
        </p:txBody>
      </p:sp>
      <p:sp>
        <p:nvSpPr>
          <p:cNvPr id="30" name="Rounded Rectangle 29"/>
          <p:cNvSpPr/>
          <p:nvPr/>
        </p:nvSpPr>
        <p:spPr>
          <a:xfrm>
            <a:off x="502920" y="5074920"/>
            <a:ext cx="11201400" cy="7772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5129783"/>
            <a:ext cx="10762488" cy="66751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BML is the engine; Customer Development is the map of the terrain the engine drives on. First understand what you're testing and with whom — only then how fast to spin the loop.</a:t>
            </a:r>
          </a:p>
        </p:txBody>
      </p:sp>
      <p:sp>
        <p:nvSpPr>
          <p:cNvPr id="32" name="TextBox 31"/>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Blank — Customer Development (Four Steps to the Epiphany)</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7 / 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Hours → minutes: but links exist so they can be checked</a:t>
            </a:r>
          </a:p>
        </p:txBody>
      </p:sp>
      <p:sp>
        <p:nvSpPr>
          <p:cNvPr id="3" name="Rounded Rectangle 2"/>
          <p:cNvSpPr/>
          <p:nvPr/>
        </p:nvSpPr>
        <p:spPr>
          <a:xfrm>
            <a:off x="502920" y="1417320"/>
            <a:ext cx="361188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search-mid.png"/>
          <p:cNvPicPr>
            <a:picLocks noChangeAspect="1"/>
          </p:cNvPicPr>
          <p:nvPr/>
        </p:nvPicPr>
        <p:blipFill>
          <a:blip r:embed="rId2"/>
          <a:stretch>
            <a:fillRect/>
          </a:stretch>
        </p:blipFill>
        <p:spPr>
          <a:xfrm>
            <a:off x="722376" y="1600200"/>
            <a:ext cx="512064" cy="512064"/>
          </a:xfrm>
          <a:prstGeom prst="rect">
            <a:avLst/>
          </a:prstGeom>
        </p:spPr>
      </p:pic>
      <p:sp>
        <p:nvSpPr>
          <p:cNvPr id="5" name="TextBox 4"/>
          <p:cNvSpPr txBox="1"/>
          <p:nvPr/>
        </p:nvSpPr>
        <p:spPr>
          <a:xfrm>
            <a:off x="722376" y="2221992"/>
            <a:ext cx="3172968" cy="457200"/>
          </a:xfrm>
          <a:prstGeom prst="rect">
            <a:avLst/>
          </a:prstGeom>
          <a:noFill/>
        </p:spPr>
        <p:txBody>
          <a:bodyPr wrap="square" lIns="0" rIns="0" tIns="0" bIns="0" anchor="t">
            <a:spAutoFit/>
          </a:bodyPr>
          <a:lstStyle/>
          <a:p>
            <a:pPr algn="l">
              <a:lnSpc>
                <a:spcPct val="105000"/>
              </a:lnSpc>
            </a:pPr>
            <a:r>
              <a:rPr sz="1200" b="1" i="0">
                <a:solidFill>
                  <a:srgbClr val="065A82"/>
                </a:solidFill>
                <a:latin typeface="DejaVu Sans"/>
              </a:rPr>
              <a:t>Desk research</a:t>
            </a:r>
          </a:p>
        </p:txBody>
      </p:sp>
      <p:sp>
        <p:nvSpPr>
          <p:cNvPr id="6" name="TextBox 5"/>
          <p:cNvSpPr txBox="1"/>
          <p:nvPr/>
        </p:nvSpPr>
        <p:spPr>
          <a:xfrm>
            <a:off x="722376" y="2734056"/>
            <a:ext cx="3172968" cy="502920"/>
          </a:xfrm>
          <a:prstGeom prst="rect">
            <a:avLst/>
          </a:prstGeom>
          <a:noFill/>
        </p:spPr>
        <p:txBody>
          <a:bodyPr wrap="square" lIns="0" rIns="0" tIns="0" bIns="0" anchor="t">
            <a:spAutoFit/>
          </a:bodyPr>
          <a:lstStyle/>
          <a:p>
            <a:pPr algn="l">
              <a:lnSpc>
                <a:spcPct val="110000"/>
              </a:lnSpc>
            </a:pPr>
            <a:r>
              <a:rPr sz="1100" b="0" i="0">
                <a:solidFill>
                  <a:srgbClr val="21295C"/>
                </a:solidFill>
                <a:latin typeface="DejaVu Sans"/>
              </a:rPr>
              <a:t>Perplexity Deep Research: 2 hours → ~30 minutes </a:t>
            </a:r>
            <a:r>
              <a:rPr sz="572" baseline="30000" b="0" i="1">
                <a:latin typeface="DejaVu Sans"/>
                <a:cs typeface="DejaVu Sans"/>
                <a:ea typeface="DejaVu Sans"/>
                <a:solidFill>
                  <a:srgbClr val="1C7293"/>
                </a:solidFill>
              </a:rPr>
              <a:t>[1]</a:t>
            </a:r>
          </a:p>
        </p:txBody>
      </p:sp>
      <p:sp>
        <p:nvSpPr>
          <p:cNvPr id="7" name="Rounded Rectangle 6"/>
          <p:cNvSpPr/>
          <p:nvPr/>
        </p:nvSpPr>
        <p:spPr>
          <a:xfrm>
            <a:off x="2697480" y="1600200"/>
            <a:ext cx="1188720" cy="32918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00" b="1">
                <a:solidFill>
                  <a:srgbClr val="21295C"/>
                </a:solidFill>
                <a:latin typeface="DejaVu Sans"/>
              </a:rPr>
              <a:t>verify the source</a:t>
            </a:r>
          </a:p>
        </p:txBody>
      </p:sp>
      <p:sp>
        <p:nvSpPr>
          <p:cNvPr id="8" name="Rounded Rectangle 7"/>
          <p:cNvSpPr/>
          <p:nvPr/>
        </p:nvSpPr>
        <p:spPr>
          <a:xfrm>
            <a:off x="4297680" y="1417320"/>
            <a:ext cx="361188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yout-list-mid.png"/>
          <p:cNvPicPr>
            <a:picLocks noChangeAspect="1"/>
          </p:cNvPicPr>
          <p:nvPr/>
        </p:nvPicPr>
        <p:blipFill>
          <a:blip r:embed="rId3"/>
          <a:stretch>
            <a:fillRect/>
          </a:stretch>
        </p:blipFill>
        <p:spPr>
          <a:xfrm>
            <a:off x="4517136" y="1600200"/>
            <a:ext cx="512064" cy="512064"/>
          </a:xfrm>
          <a:prstGeom prst="rect">
            <a:avLst/>
          </a:prstGeom>
        </p:spPr>
      </p:pic>
      <p:sp>
        <p:nvSpPr>
          <p:cNvPr id="10" name="TextBox 9"/>
          <p:cNvSpPr txBox="1"/>
          <p:nvPr/>
        </p:nvSpPr>
        <p:spPr>
          <a:xfrm>
            <a:off x="4517136" y="2221992"/>
            <a:ext cx="3172968" cy="457200"/>
          </a:xfrm>
          <a:prstGeom prst="rect">
            <a:avLst/>
          </a:prstGeom>
          <a:noFill/>
        </p:spPr>
        <p:txBody>
          <a:bodyPr wrap="square" lIns="0" rIns="0" tIns="0" bIns="0" anchor="t">
            <a:spAutoFit/>
          </a:bodyPr>
          <a:lstStyle/>
          <a:p>
            <a:pPr algn="l">
              <a:lnSpc>
                <a:spcPct val="105000"/>
              </a:lnSpc>
            </a:pPr>
            <a:r>
              <a:rPr sz="1200" b="1" i="0">
                <a:solidFill>
                  <a:srgbClr val="065A82"/>
                </a:solidFill>
                <a:latin typeface="DejaVu Sans"/>
              </a:rPr>
              <a:t>Interview synthesis</a:t>
            </a:r>
          </a:p>
        </p:txBody>
      </p:sp>
      <p:sp>
        <p:nvSpPr>
          <p:cNvPr id="11" name="TextBox 10"/>
          <p:cNvSpPr txBox="1"/>
          <p:nvPr/>
        </p:nvSpPr>
        <p:spPr>
          <a:xfrm>
            <a:off x="4517136" y="2734056"/>
            <a:ext cx="3172968" cy="502920"/>
          </a:xfrm>
          <a:prstGeom prst="rect">
            <a:avLst/>
          </a:prstGeom>
          <a:noFill/>
        </p:spPr>
        <p:txBody>
          <a:bodyPr wrap="square" lIns="0" rIns="0" tIns="0" bIns="0" anchor="t">
            <a:spAutoFit/>
          </a:bodyPr>
          <a:lstStyle/>
          <a:p>
            <a:pPr algn="l">
              <a:lnSpc>
                <a:spcPct val="110000"/>
              </a:lnSpc>
            </a:pPr>
            <a:r>
              <a:rPr sz="1100" b="0" i="0">
                <a:solidFill>
                  <a:srgbClr val="21295C"/>
                </a:solidFill>
                <a:latin typeface="DejaVu Sans"/>
              </a:rPr>
              <a:t>Dovetail — pain-point clustering at scale </a:t>
            </a:r>
            <a:r>
              <a:rPr sz="572" baseline="30000" b="0" i="1">
                <a:latin typeface="DejaVu Sans"/>
                <a:cs typeface="DejaVu Sans"/>
                <a:ea typeface="DejaVu Sans"/>
                <a:solidFill>
                  <a:srgbClr val="1C7293"/>
                </a:solidFill>
              </a:rPr>
              <a:t>[2]</a:t>
            </a:r>
          </a:p>
        </p:txBody>
      </p:sp>
      <p:sp>
        <p:nvSpPr>
          <p:cNvPr id="12" name="Rounded Rectangle 11"/>
          <p:cNvSpPr/>
          <p:nvPr/>
        </p:nvSpPr>
        <p:spPr>
          <a:xfrm>
            <a:off x="8092440" y="1417320"/>
            <a:ext cx="361188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base-mid.png"/>
          <p:cNvPicPr>
            <a:picLocks noChangeAspect="1"/>
          </p:cNvPicPr>
          <p:nvPr/>
        </p:nvPicPr>
        <p:blipFill>
          <a:blip r:embed="rId4"/>
          <a:stretch>
            <a:fillRect/>
          </a:stretch>
        </p:blipFill>
        <p:spPr>
          <a:xfrm>
            <a:off x="8311896" y="1600200"/>
            <a:ext cx="512064" cy="512064"/>
          </a:xfrm>
          <a:prstGeom prst="rect">
            <a:avLst/>
          </a:prstGeom>
        </p:spPr>
      </p:pic>
      <p:sp>
        <p:nvSpPr>
          <p:cNvPr id="14" name="TextBox 13"/>
          <p:cNvSpPr txBox="1"/>
          <p:nvPr/>
        </p:nvSpPr>
        <p:spPr>
          <a:xfrm>
            <a:off x="8311896" y="2221992"/>
            <a:ext cx="3172968" cy="457200"/>
          </a:xfrm>
          <a:prstGeom prst="rect">
            <a:avLst/>
          </a:prstGeom>
          <a:noFill/>
        </p:spPr>
        <p:txBody>
          <a:bodyPr wrap="square" lIns="0" rIns="0" tIns="0" bIns="0" anchor="t">
            <a:spAutoFit/>
          </a:bodyPr>
          <a:lstStyle/>
          <a:p>
            <a:pPr algn="l">
              <a:lnSpc>
                <a:spcPct val="105000"/>
              </a:lnSpc>
            </a:pPr>
            <a:r>
              <a:rPr sz="1200" b="1" i="0">
                <a:solidFill>
                  <a:srgbClr val="065A82"/>
                </a:solidFill>
                <a:latin typeface="DejaVu Sans"/>
              </a:rPr>
              <a:t>Reference dataset</a:t>
            </a:r>
          </a:p>
        </p:txBody>
      </p:sp>
      <p:sp>
        <p:nvSpPr>
          <p:cNvPr id="15" name="TextBox 14"/>
          <p:cNvSpPr txBox="1"/>
          <p:nvPr/>
        </p:nvSpPr>
        <p:spPr>
          <a:xfrm>
            <a:off x="8311896" y="2734056"/>
            <a:ext cx="3172968" cy="502920"/>
          </a:xfrm>
          <a:prstGeom prst="rect">
            <a:avLst/>
          </a:prstGeom>
          <a:noFill/>
        </p:spPr>
        <p:txBody>
          <a:bodyPr wrap="square" lIns="0" rIns="0" tIns="0" bIns="0" anchor="t">
            <a:spAutoFit/>
          </a:bodyPr>
          <a:lstStyle/>
          <a:p>
            <a:pPr algn="l">
              <a:lnSpc>
                <a:spcPct val="110000"/>
              </a:lnSpc>
            </a:pPr>
            <a:r>
              <a:rPr sz="1100" b="0" i="0">
                <a:solidFill>
                  <a:srgbClr val="21295C"/>
                </a:solidFill>
                <a:latin typeface="DejaVu Sans"/>
              </a:rPr>
              <a:t>a curated collection of "query → correct answer"</a:t>
            </a:r>
          </a:p>
        </p:txBody>
      </p:sp>
      <p:sp>
        <p:nvSpPr>
          <p:cNvPr id="16" name="Rounded Rectangle 15"/>
          <p:cNvSpPr/>
          <p:nvPr/>
        </p:nvSpPr>
        <p:spPr>
          <a:xfrm>
            <a:off x="502920" y="3566160"/>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3621024"/>
            <a:ext cx="10762488" cy="548640"/>
          </a:xfrm>
          <a:prstGeom prst="rect">
            <a:avLst/>
          </a:prstGeom>
          <a:noFill/>
        </p:spPr>
        <p:txBody>
          <a:bodyPr wrap="square" lIns="0" rIns="0" tIns="0" bIns="0" anchor="ctr">
            <a:spAutoFit/>
          </a:bodyPr>
          <a:lstStyle/>
          <a:p>
            <a:pPr algn="ctr">
              <a:lnSpc>
                <a:spcPct val="120000"/>
              </a:lnSpc>
            </a:pPr>
            <a:r>
              <a:rPr sz="1450" b="1" i="0">
                <a:solidFill>
                  <a:srgbClr val="21295C"/>
                </a:solidFill>
                <a:latin typeface="DejaVu Sans"/>
              </a:rPr>
              <a:t>97% of researchers use AI — only ~8% trust AI personas as data </a:t>
            </a:r>
            <a:r>
              <a:rPr sz="754" baseline="30000" b="0" i="1">
                <a:latin typeface="DejaVu Sans"/>
                <a:cs typeface="DejaVu Sans"/>
                <a:ea typeface="DejaVu Sans"/>
                <a:solidFill>
                  <a:srgbClr val="1C7293"/>
                </a:solidFill>
              </a:rPr>
              <a:t>[3]</a:t>
            </a:r>
          </a:p>
        </p:txBody>
      </p:sp>
      <p:sp>
        <p:nvSpPr>
          <p:cNvPr id="18" name="Rounded Rectangle 17"/>
          <p:cNvSpPr/>
          <p:nvPr/>
        </p:nvSpPr>
        <p:spPr>
          <a:xfrm>
            <a:off x="502920" y="4434840"/>
            <a:ext cx="11201400" cy="1234440"/>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553712"/>
            <a:ext cx="10652760" cy="1005840"/>
          </a:xfrm>
          <a:prstGeom prst="rect">
            <a:avLst/>
          </a:prstGeom>
          <a:noFill/>
        </p:spPr>
        <p:txBody>
          <a:bodyPr wrap="square" lIns="0" rIns="0" tIns="0" bIns="0" anchor="ctr">
            <a:spAutoFit/>
          </a:bodyPr>
          <a:lstStyle/>
          <a:p>
            <a:pPr algn="l">
              <a:lnSpc>
                <a:spcPct val="115000"/>
              </a:lnSpc>
            </a:pPr>
            <a:r>
              <a:rPr sz="1250" b="0" i="0">
                <a:solidFill>
                  <a:srgbClr val="21295C"/>
                </a:solidFill>
                <a:latin typeface="DejaVu Sans"/>
              </a:rPr>
              <a:t>Mandatory practice: verify important data directly against the source before using it in a decision. Synthetic users are only a pre-research step (piloting a guide, a draft of personas, generating hypotheses), never evidence for a go/no-go decision.</a:t>
            </a:r>
          </a:p>
        </p:txBody>
      </p:sp>
      <p:sp>
        <p:nvSpPr>
          <p:cNvPr id="20" name="TextBox 19"/>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Perplexity Deep Research — overview for product research</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Dovetail — AI interview synthesis</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NN/g — 2026 practitioner survey</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8 / 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56349"/>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Rehearsing interview questions on AI personas</a:t>
            </a:r>
          </a:p>
        </p:txBody>
      </p:sp>
      <p:sp>
        <p:nvSpPr>
          <p:cNvPr id="3" name="Rounded Rectangle 2"/>
          <p:cNvSpPr/>
          <p:nvPr/>
        </p:nvSpPr>
        <p:spPr>
          <a:xfrm>
            <a:off x="502920" y="566661"/>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66661"/>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566661"/>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58101"/>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Before going out to living people, the list of questions is run past several invented interviewees played by a model. The point is to catch bad questions before they spoil a real conversation. The run says nothing about the product. A rehearsal, not research.</a:t>
            </a:r>
          </a:p>
        </p:txBody>
      </p:sp>
      <p:sp>
        <p:nvSpPr>
          <p:cNvPr id="7" name="Rounded Rectangle 6"/>
          <p:cNvSpPr/>
          <p:nvPr/>
        </p:nvSpPr>
        <p:spPr>
          <a:xfrm>
            <a:off x="502920" y="1523727"/>
            <a:ext cx="1152144" cy="2220722"/>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23727"/>
            <a:ext cx="1060704" cy="2220722"/>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523727"/>
            <a:ext cx="9902952" cy="2220722"/>
          </a:xfrm>
          <a:prstGeom prst="roundRect">
            <a:avLst>
              <a:gd name="adj" fmla="val 1372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62888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62888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615167"/>
            <a:ext cx="579729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Several different customer types are described — by how a person lives with the task: what they use now, what it costs them, what they once tried and dropped. </a:t>
            </a:r>
            <a:r>
              <a:rPr sz="1000" b="1" i="0">
                <a:solidFill>
                  <a:srgbClr val="065A82"/>
                </a:solidFill>
                <a:latin typeface="DejaVu Sans"/>
              </a:rPr>
              <a:t>A character sketch is no use here.</a:t>
            </a:r>
          </a:p>
        </p:txBody>
      </p:sp>
      <p:sp>
        <p:nvSpPr>
          <p:cNvPr id="13" name="Oval 12"/>
          <p:cNvSpPr/>
          <p:nvPr/>
        </p:nvSpPr>
        <p:spPr>
          <a:xfrm>
            <a:off x="1984248" y="223712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23712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223411"/>
            <a:ext cx="579729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Each type is kept apart, so that the answers do not run together into one common voice.</a:t>
            </a:r>
          </a:p>
        </p:txBody>
      </p:sp>
      <p:sp>
        <p:nvSpPr>
          <p:cNvPr id="16" name="Oval 15"/>
          <p:cNvSpPr/>
          <p:nvPr/>
        </p:nvSpPr>
        <p:spPr>
          <a:xfrm>
            <a:off x="1984248" y="267980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980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66092"/>
            <a:ext cx="5797296" cy="213111"/>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The same list of questions is run past all of them.</a:t>
            </a:r>
          </a:p>
        </p:txBody>
      </p:sp>
      <p:sp>
        <p:nvSpPr>
          <p:cNvPr id="19" name="Oval 18"/>
          <p:cNvSpPr/>
          <p:nvPr/>
        </p:nvSpPr>
        <p:spPr>
          <a:xfrm>
            <a:off x="1984248" y="295692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295692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2943212"/>
            <a:ext cx="5797296" cy="709797"/>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Two things are read, </a:t>
            </a:r>
            <a:r>
              <a:rPr sz="1000" b="1" i="0">
                <a:solidFill>
                  <a:srgbClr val="065A82"/>
                </a:solidFill>
                <a:latin typeface="DejaVu Sans"/>
              </a:rPr>
              <a:t>and the answers are not among them:</a:t>
            </a:r>
            <a:r>
              <a:rPr sz="1000" b="0" i="0">
                <a:solidFill>
                  <a:srgbClr val="21295C"/>
                </a:solidFill>
                <a:latin typeface="DejaVu Sans"/>
              </a:rPr>
              <a:t> a question everyone answered the same way tells nobody apart; a question answered in terms of an imagined future invites a polite invention. Both get rewritten.</a:t>
            </a:r>
          </a:p>
        </p:txBody>
      </p:sp>
      <p:sp>
        <p:nvSpPr>
          <p:cNvPr id="22" name="Rounded Rectangle 21"/>
          <p:cNvSpPr/>
          <p:nvPr/>
        </p:nvSpPr>
        <p:spPr>
          <a:xfrm>
            <a:off x="862736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mid.png"/>
          <p:cNvPicPr>
            <a:picLocks noChangeAspect="1"/>
          </p:cNvPicPr>
          <p:nvPr/>
        </p:nvPicPr>
        <p:blipFill>
          <a:blip r:embed="rId2"/>
          <a:stretch>
            <a:fillRect/>
          </a:stretch>
        </p:blipFill>
        <p:spPr>
          <a:xfrm>
            <a:off x="8755380" y="1770615"/>
            <a:ext cx="182880" cy="182880"/>
          </a:xfrm>
          <a:prstGeom prst="rect">
            <a:avLst/>
          </a:prstGeom>
        </p:spPr>
      </p:pic>
      <p:cxnSp>
        <p:nvCxnSpPr>
          <p:cNvPr id="24" name="Connector 23"/>
          <p:cNvCxnSpPr/>
          <p:nvPr/>
        </p:nvCxnSpPr>
        <p:spPr>
          <a:xfrm>
            <a:off x="906627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7600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users-mid.png"/>
          <p:cNvPicPr>
            <a:picLocks noChangeAspect="1"/>
          </p:cNvPicPr>
          <p:nvPr/>
        </p:nvPicPr>
        <p:blipFill>
          <a:blip r:embed="rId2"/>
          <a:stretch>
            <a:fillRect/>
          </a:stretch>
        </p:blipFill>
        <p:spPr>
          <a:xfrm>
            <a:off x="9304020" y="1770615"/>
            <a:ext cx="182880" cy="182880"/>
          </a:xfrm>
          <a:prstGeom prst="rect">
            <a:avLst/>
          </a:prstGeom>
        </p:spPr>
      </p:pic>
      <p:cxnSp>
        <p:nvCxnSpPr>
          <p:cNvPr id="27" name="Connector 26"/>
          <p:cNvCxnSpPr/>
          <p:nvPr/>
        </p:nvCxnSpPr>
        <p:spPr>
          <a:xfrm>
            <a:off x="961491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72464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mid.png"/>
          <p:cNvPicPr>
            <a:picLocks noChangeAspect="1"/>
          </p:cNvPicPr>
          <p:nvPr/>
        </p:nvPicPr>
        <p:blipFill>
          <a:blip r:embed="rId2"/>
          <a:stretch>
            <a:fillRect/>
          </a:stretch>
        </p:blipFill>
        <p:spPr>
          <a:xfrm>
            <a:off x="9852660" y="1770615"/>
            <a:ext cx="182880" cy="182880"/>
          </a:xfrm>
          <a:prstGeom prst="rect">
            <a:avLst/>
          </a:prstGeom>
        </p:spPr>
      </p:pic>
      <p:cxnSp>
        <p:nvCxnSpPr>
          <p:cNvPr id="30" name="Connector 29"/>
          <p:cNvCxnSpPr/>
          <p:nvPr/>
        </p:nvCxnSpPr>
        <p:spPr>
          <a:xfrm>
            <a:off x="1016355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7328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users-mid.png"/>
          <p:cNvPicPr>
            <a:picLocks noChangeAspect="1"/>
          </p:cNvPicPr>
          <p:nvPr/>
        </p:nvPicPr>
        <p:blipFill>
          <a:blip r:embed="rId2"/>
          <a:stretch>
            <a:fillRect/>
          </a:stretch>
        </p:blipFill>
        <p:spPr>
          <a:xfrm>
            <a:off x="10401300" y="1770615"/>
            <a:ext cx="182880" cy="182880"/>
          </a:xfrm>
          <a:prstGeom prst="rect">
            <a:avLst/>
          </a:prstGeom>
        </p:spPr>
      </p:pic>
      <p:cxnSp>
        <p:nvCxnSpPr>
          <p:cNvPr id="33" name="Connector 32"/>
          <p:cNvCxnSpPr/>
          <p:nvPr/>
        </p:nvCxnSpPr>
        <p:spPr>
          <a:xfrm>
            <a:off x="1071219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82192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users-mid.png"/>
          <p:cNvPicPr>
            <a:picLocks noChangeAspect="1"/>
          </p:cNvPicPr>
          <p:nvPr/>
        </p:nvPicPr>
        <p:blipFill>
          <a:blip r:embed="rId2"/>
          <a:stretch>
            <a:fillRect/>
          </a:stretch>
        </p:blipFill>
        <p:spPr>
          <a:xfrm>
            <a:off x="10949940" y="1770615"/>
            <a:ext cx="182880" cy="182880"/>
          </a:xfrm>
          <a:prstGeom prst="rect">
            <a:avLst/>
          </a:prstGeom>
        </p:spPr>
      </p:pic>
      <p:pic>
        <p:nvPicPr>
          <p:cNvPr id="36" name="Picture 35" descr="x-gold.png"/>
          <p:cNvPicPr>
            <a:picLocks noChangeAspect="1"/>
          </p:cNvPicPr>
          <p:nvPr/>
        </p:nvPicPr>
        <p:blipFill>
          <a:blip r:embed="rId3"/>
          <a:stretch>
            <a:fillRect/>
          </a:stretch>
        </p:blipFill>
        <p:spPr>
          <a:xfrm>
            <a:off x="9861804" y="1779759"/>
            <a:ext cx="164592" cy="164592"/>
          </a:xfrm>
          <a:prstGeom prst="rect">
            <a:avLst/>
          </a:prstGeom>
        </p:spPr>
      </p:pic>
      <p:sp>
        <p:nvSpPr>
          <p:cNvPr id="37" name="TextBox 36"/>
          <p:cNvSpPr txBox="1"/>
          <p:nvPr/>
        </p:nvSpPr>
        <p:spPr>
          <a:xfrm>
            <a:off x="8366760" y="2054079"/>
            <a:ext cx="3154680" cy="219456"/>
          </a:xfrm>
          <a:prstGeom prst="rect">
            <a:avLst/>
          </a:prstGeom>
          <a:noFill/>
        </p:spPr>
        <p:txBody>
          <a:bodyPr wrap="square" lIns="0" rIns="0" tIns="0" bIns="0" anchor="t">
            <a:spAutoFit/>
          </a:bodyPr>
          <a:lstStyle/>
          <a:p>
            <a:pPr algn="ctr">
              <a:lnSpc>
                <a:spcPct val="105000"/>
              </a:lnSpc>
            </a:pPr>
            <a:r>
              <a:rPr sz="900" b="0" i="1">
                <a:solidFill>
                  <a:srgbClr val="5B6678"/>
                </a:solidFill>
                <a:latin typeface="DejaVu Sans"/>
              </a:rPr>
              <a:t>the invented interviewees do not hear each other</a:t>
            </a:r>
          </a:p>
        </p:txBody>
      </p:sp>
      <p:cxnSp>
        <p:nvCxnSpPr>
          <p:cNvPr id="38" name="Connector 37"/>
          <p:cNvCxnSpPr/>
          <p:nvPr/>
        </p:nvCxnSpPr>
        <p:spPr>
          <a:xfrm>
            <a:off x="9944100" y="2328399"/>
            <a:ext cx="0" cy="182880"/>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412480" y="2547855"/>
            <a:ext cx="3063240" cy="640080"/>
          </a:xfrm>
          <a:prstGeom prst="roundRect">
            <a:avLst>
              <a:gd name="adj" fmla="val 22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2547855"/>
            <a:ext cx="2898648" cy="640080"/>
          </a:xfrm>
          <a:prstGeom prst="rect">
            <a:avLst/>
          </a:prstGeom>
          <a:noFill/>
        </p:spPr>
        <p:txBody>
          <a:bodyPr wrap="square" lIns="0" rIns="0" tIns="0" bIns="0" anchor="ctr">
            <a:spAutoFit/>
          </a:bodyPr>
          <a:lstStyle/>
          <a:p>
            <a:pPr algn="ctr">
              <a:lnSpc>
                <a:spcPct val="110000"/>
              </a:lnSpc>
            </a:pPr>
            <a:r>
              <a:rPr sz="1050" b="1" i="0">
                <a:solidFill>
                  <a:srgbClr val="21295C"/>
                </a:solidFill>
                <a:latin typeface="DejaVu Sans"/>
              </a:rPr>
              <a:t>the only thing that leaves is</a:t>
            </a:r>
          </a:p>
          <a:p>
            <a:pPr algn="ctr">
              <a:lnSpc>
                <a:spcPct val="110000"/>
              </a:lnSpc>
            </a:pPr>
            <a:r>
              <a:rPr sz="1050" b="1" i="0">
                <a:solidFill>
                  <a:srgbClr val="21295C"/>
                </a:solidFill>
                <a:latin typeface="DejaVu Sans"/>
              </a:rPr>
              <a:t>a corrected list of questions</a:t>
            </a:r>
          </a:p>
        </p:txBody>
      </p:sp>
      <p:sp>
        <p:nvSpPr>
          <p:cNvPr id="41" name="Rounded Rectangle 40"/>
          <p:cNvSpPr/>
          <p:nvPr/>
        </p:nvSpPr>
        <p:spPr>
          <a:xfrm>
            <a:off x="502920" y="3808457"/>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3808457"/>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43" name="Rounded Rectangle 42"/>
          <p:cNvSpPr/>
          <p:nvPr/>
        </p:nvSpPr>
        <p:spPr>
          <a:xfrm>
            <a:off x="1801368" y="3808457"/>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984248" y="3899897"/>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84831" y="3945617"/>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how the rehearsal has always been run</a:t>
            </a:r>
          </a:p>
        </p:txBody>
      </p:sp>
      <p:sp>
        <p:nvSpPr>
          <p:cNvPr id="46" name="TextBox 45"/>
          <p:cNvSpPr txBox="1"/>
          <p:nvPr/>
        </p:nvSpPr>
        <p:spPr>
          <a:xfrm>
            <a:off x="2084831" y="4174217"/>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list of questions is talked through with a colleague, or one live interview out of eight is spent on the rehearsal. It works, but it gives one point of view and costs a day.</a:t>
            </a:r>
          </a:p>
        </p:txBody>
      </p:sp>
      <p:sp>
        <p:nvSpPr>
          <p:cNvPr id="47" name="Rounded Rectangle 46"/>
          <p:cNvSpPr/>
          <p:nvPr/>
        </p:nvSpPr>
        <p:spPr>
          <a:xfrm>
            <a:off x="6844284" y="3899897"/>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4868" y="3945617"/>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what changed</a:t>
            </a:r>
          </a:p>
        </p:txBody>
      </p:sp>
      <p:sp>
        <p:nvSpPr>
          <p:cNvPr id="49" name="TextBox 48"/>
          <p:cNvSpPr txBox="1"/>
          <p:nvPr/>
        </p:nvSpPr>
        <p:spPr>
          <a:xfrm>
            <a:off x="6944868" y="4174217"/>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rehearsal takes minutes, and a dozen runs are affordable. </a:t>
            </a:r>
            <a:r>
              <a:rPr sz="950" b="1" i="0">
                <a:solidFill>
                  <a:srgbClr val="21295C"/>
                </a:solidFill>
                <a:latin typeface="DejaVu Sans"/>
              </a:rPr>
              <a:t>Only the rehearsal</a:t>
            </a:r>
            <a:r>
              <a:rPr sz="950" b="0" i="0">
                <a:solidFill>
                  <a:srgbClr val="21295C"/>
                </a:solidFill>
                <a:latin typeface="DejaVu Sans"/>
              </a:rPr>
              <a:t> gets cheaper: nothing replaces the interview with a living person.</a:t>
            </a:r>
          </a:p>
        </p:txBody>
      </p:sp>
      <p:sp>
        <p:nvSpPr>
          <p:cNvPr id="50" name="Rounded Rectangle 49"/>
          <p:cNvSpPr/>
          <p:nvPr/>
        </p:nvSpPr>
        <p:spPr>
          <a:xfrm>
            <a:off x="502920" y="5099667"/>
            <a:ext cx="1152144" cy="1232461"/>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5099667"/>
            <a:ext cx="1060704" cy="1232461"/>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52" name="Rounded Rectangle 51"/>
          <p:cNvSpPr/>
          <p:nvPr/>
        </p:nvSpPr>
        <p:spPr>
          <a:xfrm>
            <a:off x="1801368" y="5099667"/>
            <a:ext cx="9902952" cy="1232461"/>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984248" y="5191107"/>
            <a:ext cx="9537192" cy="1049581"/>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The interviewees' answers are not data about users: there is one model, and five interviewees give five views of that one model. There are no five people behind them. Checked against a real national survey, the model reproduces the average answers and halves the spread of opinion (</a:t>
            </a:r>
            <a:r>
              <a:rPr sz="1100" b="1" i="0">
                <a:solidFill>
                  <a:srgbClr val="21295C"/>
                </a:solidFill>
                <a:latin typeface="DejaVu Sans"/>
              </a:rPr>
              <a:t>16 against 31</a:t>
            </a:r>
            <a:r>
              <a:rPr sz="1100" b="1" i="0">
                <a:solidFill>
                  <a:srgbClr val="21295C"/>
                </a:solidFill>
                <a:latin typeface="DejaVu Sans"/>
              </a:rPr>
              <a:t>). If a conclusion about the product has been carried out of the run, the practice has been run wrong: its output is a corrected question.</a:t>
            </a:r>
          </a:p>
        </p:txBody>
      </p:sp>
      <p:sp>
        <p:nvSpPr>
          <p:cNvPr id="54" name="TextBox 53"/>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Synthetic answers checked against a real national survey — Bisbee, Clinton, Dorff, Kenkel, Larson, Political Analysis, 2024</a:t>
            </a:r>
          </a:p>
        </p:txBody>
      </p:sp>
      <p:sp>
        <p:nvSpPr>
          <p:cNvPr id="55" name="TextBox 5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9 / 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56349"/>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Searching accumulated support tickets for the pain</a:t>
            </a:r>
          </a:p>
        </p:txBody>
      </p:sp>
      <p:sp>
        <p:nvSpPr>
          <p:cNvPr id="3" name="Rounded Rectangle 2"/>
          <p:cNvSpPr/>
          <p:nvPr/>
        </p:nvSpPr>
        <p:spPr>
          <a:xfrm>
            <a:off x="502920" y="566661"/>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66661"/>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566661"/>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58101"/>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A product with users already has an archive of complaints and questions. The practice turns it into a source of hypotheses: the tickets go into a searchable store, the ones close in meaning are grouped, and you see which themes repeat. What leaves is a named theme of pain.</a:t>
            </a:r>
          </a:p>
        </p:txBody>
      </p:sp>
      <p:sp>
        <p:nvSpPr>
          <p:cNvPr id="7" name="Rounded Rectangle 6"/>
          <p:cNvSpPr/>
          <p:nvPr/>
        </p:nvSpPr>
        <p:spPr>
          <a:xfrm>
            <a:off x="502920" y="1523727"/>
            <a:ext cx="1152144" cy="2157984"/>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23727"/>
            <a:ext cx="1060704" cy="2157984"/>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523727"/>
            <a:ext cx="9902952" cy="2157984"/>
          </a:xfrm>
          <a:prstGeom prst="roundRect">
            <a:avLst>
              <a:gd name="adj" fmla="val 1412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62888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62888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615167"/>
            <a:ext cx="61630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Every ticket goes into one common store, tagged with when it arrived, who it came from and which product it is about.</a:t>
            </a:r>
          </a:p>
        </p:txBody>
      </p:sp>
      <p:sp>
        <p:nvSpPr>
          <p:cNvPr id="13" name="Oval 12"/>
          <p:cNvSpPr/>
          <p:nvPr/>
        </p:nvSpPr>
        <p:spPr>
          <a:xfrm>
            <a:off x="1984248" y="2071565"/>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071565"/>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057849"/>
            <a:ext cx="616305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The search runs </a:t>
            </a:r>
            <a:r>
              <a:rPr sz="1000" b="1" i="0">
                <a:solidFill>
                  <a:srgbClr val="065A82"/>
                </a:solidFill>
                <a:latin typeface="DejaVu Sans"/>
              </a:rPr>
              <a:t>two ways at once</a:t>
            </a:r>
            <a:r>
              <a:rPr sz="1000" b="0" i="0">
                <a:solidFill>
                  <a:srgbClr val="21295C"/>
                </a:solidFill>
                <a:latin typeface="DejaVu Sans"/>
              </a:rPr>
              <a:t>: on an exact match of words, and on meaning. An error code is found only by the first; a problem described in a person's own words only by the second.</a:t>
            </a:r>
          </a:p>
        </p:txBody>
      </p:sp>
      <p:sp>
        <p:nvSpPr>
          <p:cNvPr id="16" name="Oval 15"/>
          <p:cNvSpPr/>
          <p:nvPr/>
        </p:nvSpPr>
        <p:spPr>
          <a:xfrm>
            <a:off x="1984248" y="267980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980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66092"/>
            <a:ext cx="616305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What is close is gathered into groups and retold in two passes: first each ticket on its own, then what the group has in common. Skip the first pass and 20–40% of the detail is lost.</a:t>
            </a:r>
          </a:p>
        </p:txBody>
      </p:sp>
      <p:sp>
        <p:nvSpPr>
          <p:cNvPr id="19" name="Rounded Rectangle 18"/>
          <p:cNvSpPr/>
          <p:nvPr/>
        </p:nvSpPr>
        <p:spPr>
          <a:xfrm>
            <a:off x="8732520" y="1670031"/>
            <a:ext cx="2788920" cy="420624"/>
          </a:xfrm>
          <a:prstGeom prst="roundRect">
            <a:avLst>
              <a:gd name="adj" fmla="val 19444"/>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atabase-mid.png"/>
          <p:cNvPicPr>
            <a:picLocks noChangeAspect="1"/>
          </p:cNvPicPr>
          <p:nvPr/>
        </p:nvPicPr>
        <p:blipFill>
          <a:blip r:embed="rId2"/>
          <a:stretch>
            <a:fillRect/>
          </a:stretch>
        </p:blipFill>
        <p:spPr>
          <a:xfrm>
            <a:off x="8860536" y="1770615"/>
            <a:ext cx="219456" cy="219456"/>
          </a:xfrm>
          <a:prstGeom prst="rect">
            <a:avLst/>
          </a:prstGeom>
        </p:spPr>
      </p:pic>
      <p:sp>
        <p:nvSpPr>
          <p:cNvPr id="21" name="TextBox 20"/>
          <p:cNvSpPr txBox="1"/>
          <p:nvPr/>
        </p:nvSpPr>
        <p:spPr>
          <a:xfrm>
            <a:off x="9171432" y="1670031"/>
            <a:ext cx="2240279" cy="420624"/>
          </a:xfrm>
          <a:prstGeom prst="rect">
            <a:avLst/>
          </a:prstGeom>
          <a:noFill/>
        </p:spPr>
        <p:txBody>
          <a:bodyPr wrap="square" lIns="0" rIns="0" tIns="0" bIns="0" anchor="ctr">
            <a:spAutoFit/>
          </a:bodyPr>
          <a:lstStyle/>
          <a:p>
            <a:pPr algn="l">
              <a:lnSpc>
                <a:spcPct val="104000"/>
              </a:lnSpc>
            </a:pPr>
            <a:r>
              <a:rPr sz="960" b="1" i="0">
                <a:solidFill>
                  <a:srgbClr val="065A82"/>
                </a:solidFill>
                <a:latin typeface="DejaVu Sans"/>
              </a:rPr>
              <a:t>store</a:t>
            </a:r>
          </a:p>
          <a:p>
            <a:pPr algn="l">
              <a:lnSpc>
                <a:spcPct val="104000"/>
              </a:lnSpc>
            </a:pPr>
            <a:r>
              <a:rPr sz="960" b="1" i="0">
                <a:solidFill>
                  <a:srgbClr val="065A82"/>
                </a:solidFill>
                <a:latin typeface="DejaVu Sans"/>
              </a:rPr>
              <a:t>and tag</a:t>
            </a:r>
          </a:p>
        </p:txBody>
      </p:sp>
      <p:cxnSp>
        <p:nvCxnSpPr>
          <p:cNvPr id="22" name="Connector 21"/>
          <p:cNvCxnSpPr/>
          <p:nvPr/>
        </p:nvCxnSpPr>
        <p:spPr>
          <a:xfrm>
            <a:off x="10126980" y="2090655"/>
            <a:ext cx="0" cy="164592"/>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32520" y="2255247"/>
            <a:ext cx="2788920" cy="420624"/>
          </a:xfrm>
          <a:prstGeom prst="roundRect">
            <a:avLst>
              <a:gd name="adj" fmla="val 19444"/>
            </a:avLst>
          </a:prstGeom>
          <a:solidFill>
            <a:srgbClr val="FFFFFF"/>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earch-check-mid.png"/>
          <p:cNvPicPr>
            <a:picLocks noChangeAspect="1"/>
          </p:cNvPicPr>
          <p:nvPr/>
        </p:nvPicPr>
        <p:blipFill>
          <a:blip r:embed="rId3"/>
          <a:stretch>
            <a:fillRect/>
          </a:stretch>
        </p:blipFill>
        <p:spPr>
          <a:xfrm>
            <a:off x="8860536" y="2355831"/>
            <a:ext cx="219456" cy="219456"/>
          </a:xfrm>
          <a:prstGeom prst="rect">
            <a:avLst/>
          </a:prstGeom>
        </p:spPr>
      </p:pic>
      <p:sp>
        <p:nvSpPr>
          <p:cNvPr id="25" name="TextBox 24"/>
          <p:cNvSpPr txBox="1"/>
          <p:nvPr/>
        </p:nvSpPr>
        <p:spPr>
          <a:xfrm>
            <a:off x="9171432" y="2255247"/>
            <a:ext cx="2240279" cy="420624"/>
          </a:xfrm>
          <a:prstGeom prst="rect">
            <a:avLst/>
          </a:prstGeom>
          <a:noFill/>
        </p:spPr>
        <p:txBody>
          <a:bodyPr wrap="square" lIns="0" rIns="0" tIns="0" bIns="0" anchor="ctr">
            <a:spAutoFit/>
          </a:bodyPr>
          <a:lstStyle/>
          <a:p>
            <a:pPr algn="l">
              <a:lnSpc>
                <a:spcPct val="104000"/>
              </a:lnSpc>
            </a:pPr>
            <a:r>
              <a:rPr sz="960" b="1" i="0">
                <a:solidFill>
                  <a:srgbClr val="1C7293"/>
                </a:solidFill>
                <a:latin typeface="DejaVu Sans"/>
              </a:rPr>
              <a:t>search by word</a:t>
            </a:r>
          </a:p>
          <a:p>
            <a:pPr algn="l">
              <a:lnSpc>
                <a:spcPct val="104000"/>
              </a:lnSpc>
            </a:pPr>
            <a:r>
              <a:rPr sz="960" b="1" i="0">
                <a:solidFill>
                  <a:srgbClr val="1C7293"/>
                </a:solidFill>
                <a:latin typeface="DejaVu Sans"/>
              </a:rPr>
              <a:t>and by meaning</a:t>
            </a:r>
          </a:p>
        </p:txBody>
      </p:sp>
      <p:cxnSp>
        <p:nvCxnSpPr>
          <p:cNvPr id="26" name="Connector 25"/>
          <p:cNvCxnSpPr/>
          <p:nvPr/>
        </p:nvCxnSpPr>
        <p:spPr>
          <a:xfrm>
            <a:off x="10126980" y="2675871"/>
            <a:ext cx="0" cy="164592"/>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732520" y="2840463"/>
            <a:ext cx="2788920" cy="420624"/>
          </a:xfrm>
          <a:prstGeom prst="roundRect">
            <a:avLst>
              <a:gd name="adj" fmla="val 19444"/>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group-mid.png"/>
          <p:cNvPicPr>
            <a:picLocks noChangeAspect="1"/>
          </p:cNvPicPr>
          <p:nvPr/>
        </p:nvPicPr>
        <p:blipFill>
          <a:blip r:embed="rId4"/>
          <a:stretch>
            <a:fillRect/>
          </a:stretch>
        </p:blipFill>
        <p:spPr>
          <a:xfrm>
            <a:off x="8860536" y="2941047"/>
            <a:ext cx="219456" cy="219456"/>
          </a:xfrm>
          <a:prstGeom prst="rect">
            <a:avLst/>
          </a:prstGeom>
        </p:spPr>
      </p:pic>
      <p:sp>
        <p:nvSpPr>
          <p:cNvPr id="29" name="TextBox 28"/>
          <p:cNvSpPr txBox="1"/>
          <p:nvPr/>
        </p:nvSpPr>
        <p:spPr>
          <a:xfrm>
            <a:off x="9171432" y="2840463"/>
            <a:ext cx="2240279" cy="420624"/>
          </a:xfrm>
          <a:prstGeom prst="rect">
            <a:avLst/>
          </a:prstGeom>
          <a:noFill/>
        </p:spPr>
        <p:txBody>
          <a:bodyPr wrap="square" lIns="0" rIns="0" tIns="0" bIns="0" anchor="ctr">
            <a:spAutoFit/>
          </a:bodyPr>
          <a:lstStyle/>
          <a:p>
            <a:pPr algn="l">
              <a:lnSpc>
                <a:spcPct val="104000"/>
              </a:lnSpc>
            </a:pPr>
            <a:r>
              <a:rPr sz="960" b="1" i="0">
                <a:solidFill>
                  <a:srgbClr val="028090"/>
                </a:solidFill>
                <a:latin typeface="DejaVu Sans"/>
              </a:rPr>
              <a:t>gather what is close</a:t>
            </a:r>
          </a:p>
          <a:p>
            <a:pPr algn="l">
              <a:lnSpc>
                <a:spcPct val="104000"/>
              </a:lnSpc>
            </a:pPr>
            <a:r>
              <a:rPr sz="960" b="1" i="0">
                <a:solidFill>
                  <a:srgbClr val="028090"/>
                </a:solidFill>
                <a:latin typeface="DejaVu Sans"/>
              </a:rPr>
              <a:t>into groups</a:t>
            </a:r>
          </a:p>
        </p:txBody>
      </p:sp>
      <p:sp>
        <p:nvSpPr>
          <p:cNvPr id="30" name="TextBox 29"/>
          <p:cNvSpPr txBox="1"/>
          <p:nvPr/>
        </p:nvSpPr>
        <p:spPr>
          <a:xfrm>
            <a:off x="8732520" y="3297663"/>
            <a:ext cx="2788920" cy="274320"/>
          </a:xfrm>
          <a:prstGeom prst="rect">
            <a:avLst/>
          </a:prstGeom>
          <a:noFill/>
        </p:spPr>
        <p:txBody>
          <a:bodyPr wrap="square" lIns="0" rIns="0" tIns="0" bIns="0" anchor="t">
            <a:spAutoFit/>
          </a:bodyPr>
          <a:lstStyle/>
          <a:p>
            <a:pPr algn="ctr">
              <a:lnSpc>
                <a:spcPct val="105000"/>
              </a:lnSpc>
            </a:pPr>
            <a:r>
              <a:rPr sz="880" b="0" i="1">
                <a:solidFill>
                  <a:srgbClr val="5B6678"/>
                </a:solidFill>
                <a:latin typeface="DejaVu Sans"/>
              </a:rPr>
              <a:t>order matters: skip the tagging and the archive becomes a bag of text</a:t>
            </a:r>
          </a:p>
        </p:txBody>
      </p:sp>
      <p:sp>
        <p:nvSpPr>
          <p:cNvPr id="31" name="Rounded Rectangle 30"/>
          <p:cNvSpPr/>
          <p:nvPr/>
        </p:nvSpPr>
        <p:spPr>
          <a:xfrm>
            <a:off x="502920" y="3745719"/>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745719"/>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33" name="Rounded Rectangle 32"/>
          <p:cNvSpPr/>
          <p:nvPr/>
        </p:nvSpPr>
        <p:spPr>
          <a:xfrm>
            <a:off x="1801368" y="3745719"/>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984248" y="3837159"/>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84831" y="388287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tagging by theme, by hand</a:t>
            </a:r>
          </a:p>
        </p:txBody>
      </p:sp>
      <p:sp>
        <p:nvSpPr>
          <p:cNvPr id="36" name="TextBox 35"/>
          <p:cNvSpPr txBox="1"/>
          <p:nvPr/>
        </p:nvSpPr>
        <p:spPr>
          <a:xfrm>
            <a:off x="2084831" y="411147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Tickets are sorted into a list of themes thought up in advance. So the only themes found are the ones somebody has already guessed at.</a:t>
            </a:r>
          </a:p>
        </p:txBody>
      </p:sp>
      <p:sp>
        <p:nvSpPr>
          <p:cNvPr id="37" name="Rounded Rectangle 36"/>
          <p:cNvSpPr/>
          <p:nvPr/>
        </p:nvSpPr>
        <p:spPr>
          <a:xfrm>
            <a:off x="6844284" y="3837159"/>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4868" y="388287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what changed</a:t>
            </a:r>
          </a:p>
        </p:txBody>
      </p:sp>
      <p:sp>
        <p:nvSpPr>
          <p:cNvPr id="39" name="TextBox 38"/>
          <p:cNvSpPr txBox="1"/>
          <p:nvPr/>
        </p:nvSpPr>
        <p:spPr>
          <a:xfrm>
            <a:off x="6944868" y="411147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What is close in meaning gathers itself, with no list of themes, and a group is retold in minutes. </a:t>
            </a:r>
            <a:r>
              <a:rPr sz="950" b="1" i="0">
                <a:solidFill>
                  <a:srgbClr val="21295C"/>
                </a:solidFill>
                <a:latin typeface="DejaVu Sans"/>
              </a:rPr>
              <a:t>The name of the theme is still checked by a person:</a:t>
            </a:r>
            <a:r>
              <a:rPr sz="950" b="0" i="0">
                <a:solidFill>
                  <a:srgbClr val="21295C"/>
                </a:solidFill>
                <a:latin typeface="DejaVu Sans"/>
              </a:rPr>
              <a:t> the machine groups, it takes no decisions.</a:t>
            </a:r>
          </a:p>
        </p:txBody>
      </p:sp>
      <p:sp>
        <p:nvSpPr>
          <p:cNvPr id="40" name="Rounded Rectangle 39"/>
          <p:cNvSpPr/>
          <p:nvPr/>
        </p:nvSpPr>
        <p:spPr>
          <a:xfrm>
            <a:off x="502920" y="5036929"/>
            <a:ext cx="1152144" cy="1225296"/>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036929"/>
            <a:ext cx="1060704" cy="1225296"/>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42" name="Rounded Rectangle 41"/>
          <p:cNvSpPr/>
          <p:nvPr/>
        </p:nvSpPr>
        <p:spPr>
          <a:xfrm>
            <a:off x="1801368" y="5036929"/>
            <a:ext cx="9902952" cy="1225296"/>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84248" y="5128369"/>
            <a:ext cx="7205472" cy="1042416"/>
          </a:xfrm>
          <a:prstGeom prst="rect">
            <a:avLst/>
          </a:prstGeom>
          <a:noFill/>
        </p:spPr>
        <p:txBody>
          <a:bodyPr wrap="square" lIns="0" rIns="0" tIns="0" bIns="0" anchor="ctr">
            <a:spAutoFit/>
          </a:bodyPr>
          <a:lstStyle/>
          <a:p>
            <a:pPr algn="l">
              <a:lnSpc>
                <a:spcPct val="114000"/>
              </a:lnSpc>
            </a:pPr>
            <a:r>
              <a:rPr sz="1050" b="1" i="0">
                <a:solidFill>
                  <a:srgbClr val="21295C"/>
                </a:solidFill>
                <a:latin typeface="DejaVu Sans"/>
              </a:rPr>
              <a:t>The archive is biased </a:t>
            </a:r>
            <a:r>
              <a:rPr sz="1050" b="1" i="0">
                <a:solidFill>
                  <a:srgbClr val="21295C"/>
                </a:solidFill>
                <a:latin typeface="DejaVu Sans"/>
              </a:rPr>
              <a:t>by construction</a:t>
            </a:r>
            <a:r>
              <a:rPr sz="1050" b="1" i="0">
                <a:solidFill>
                  <a:srgbClr val="21295C"/>
                </a:solidFill>
                <a:latin typeface="DejaVu Sans"/>
              </a:rPr>
              <a:t>: it holds only those who got as far as complaining. Volume does not cure it: </a:t>
            </a:r>
            <a:r>
              <a:rPr sz="1050" b="1" i="0">
                <a:solidFill>
                  <a:srgbClr val="21295C"/>
                </a:solidFill>
                <a:latin typeface="DejaVu Sans"/>
              </a:rPr>
              <a:t>there is no ticket saying "I need what you do not have at all"</a:t>
            </a:r>
            <a:r>
              <a:rPr sz="1050" b="1" i="0">
                <a:solidFill>
                  <a:srgbClr val="21295C"/>
                </a:solidFill>
                <a:latin typeface="DejaVu Sans"/>
              </a:rPr>
              <a:t>. The question "why do people not get as far as signing up" is not one it answers: that takes a conversation with those who left. And the search returns what is </a:t>
            </a:r>
            <a:r>
              <a:rPr sz="1050" b="1" i="0">
                <a:solidFill>
                  <a:srgbClr val="21295C"/>
                </a:solidFill>
                <a:latin typeface="DejaVu Sans"/>
              </a:rPr>
              <a:t>close</a:t>
            </a:r>
            <a:r>
              <a:rPr sz="1050" b="1" i="0">
                <a:solidFill>
                  <a:srgbClr val="21295C"/>
                </a:solidFill>
                <a:latin typeface="DejaVu Sans"/>
              </a:rPr>
              <a:t>, it does not weigh importance: ten thousand complaints about one typo are still one typo.</a:t>
            </a:r>
          </a:p>
        </p:txBody>
      </p:sp>
      <p:sp>
        <p:nvSpPr>
          <p:cNvPr id="44" name="Rounded Rectangle 43"/>
          <p:cNvSpPr/>
          <p:nvPr/>
        </p:nvSpPr>
        <p:spPr>
          <a:xfrm>
            <a:off x="9372600" y="5146657"/>
            <a:ext cx="2103120" cy="1005840"/>
          </a:xfrm>
          <a:prstGeom prst="roundRect">
            <a:avLst>
              <a:gd name="adj" fmla="val 17676"/>
            </a:avLst>
          </a:prstGeom>
          <a:solidFill>
            <a:srgbClr val="FFFFFF"/>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unnel-gold.png"/>
          <p:cNvPicPr>
            <a:picLocks noChangeAspect="1"/>
          </p:cNvPicPr>
          <p:nvPr/>
        </p:nvPicPr>
        <p:blipFill>
          <a:blip r:embed="rId5"/>
          <a:stretch>
            <a:fillRect/>
          </a:stretch>
        </p:blipFill>
        <p:spPr>
          <a:xfrm>
            <a:off x="9482328" y="5238097"/>
            <a:ext cx="237744" cy="237744"/>
          </a:xfrm>
          <a:prstGeom prst="rect">
            <a:avLst/>
          </a:prstGeom>
        </p:spPr>
      </p:pic>
      <p:sp>
        <p:nvSpPr>
          <p:cNvPr id="46" name="TextBox 45"/>
          <p:cNvSpPr txBox="1"/>
          <p:nvPr/>
        </p:nvSpPr>
        <p:spPr>
          <a:xfrm>
            <a:off x="9793224" y="5219809"/>
            <a:ext cx="1591056" cy="292608"/>
          </a:xfrm>
          <a:prstGeom prst="rect">
            <a:avLst/>
          </a:prstGeom>
          <a:noFill/>
        </p:spPr>
        <p:txBody>
          <a:bodyPr wrap="square" lIns="0" rIns="0" tIns="0" bIns="0" anchor="t">
            <a:spAutoFit/>
          </a:bodyPr>
          <a:lstStyle/>
          <a:p>
            <a:pPr algn="l">
              <a:lnSpc>
                <a:spcPct val="105000"/>
              </a:lnSpc>
            </a:pPr>
            <a:r>
              <a:rPr sz="950" b="1" i="0">
                <a:solidFill>
                  <a:srgbClr val="21295C"/>
                </a:solidFill>
                <a:latin typeface="DejaVu Sans"/>
              </a:rPr>
              <a:t>who got as far as complaining</a:t>
            </a:r>
          </a:p>
        </p:txBody>
      </p:sp>
      <p:sp>
        <p:nvSpPr>
          <p:cNvPr id="47" name="Rounded Rectangle 46"/>
          <p:cNvSpPr/>
          <p:nvPr/>
        </p:nvSpPr>
        <p:spPr>
          <a:xfrm>
            <a:off x="9518904" y="5548993"/>
            <a:ext cx="1810512" cy="182880"/>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518904" y="5731873"/>
            <a:ext cx="1810512" cy="201168"/>
          </a:xfrm>
          <a:prstGeom prst="rect">
            <a:avLst/>
          </a:prstGeom>
          <a:noFill/>
        </p:spPr>
        <p:txBody>
          <a:bodyPr wrap="square" lIns="0" rIns="0" tIns="0" bIns="0" anchor="t">
            <a:spAutoFit/>
          </a:bodyPr>
          <a:lstStyle/>
          <a:p>
            <a:pPr algn="l">
              <a:lnSpc>
                <a:spcPct val="105000"/>
              </a:lnSpc>
            </a:pPr>
            <a:r>
              <a:rPr sz="850" b="0" i="1">
                <a:solidFill>
                  <a:srgbClr val="5B6678"/>
                </a:solidFill>
                <a:latin typeface="DejaVu Sans"/>
              </a:rPr>
              <a:t>all users</a:t>
            </a:r>
          </a:p>
        </p:txBody>
      </p:sp>
      <p:sp>
        <p:nvSpPr>
          <p:cNvPr id="49" name="Rounded Rectangle 48"/>
          <p:cNvSpPr/>
          <p:nvPr/>
        </p:nvSpPr>
        <p:spPr>
          <a:xfrm>
            <a:off x="9518904" y="5933041"/>
            <a:ext cx="365760" cy="182880"/>
          </a:xfrm>
          <a:prstGeom prst="roundRect">
            <a:avLst>
              <a:gd name="adj" fmla="val 35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39528" y="5933041"/>
            <a:ext cx="1417320" cy="201168"/>
          </a:xfrm>
          <a:prstGeom prst="rect">
            <a:avLst/>
          </a:prstGeom>
          <a:noFill/>
        </p:spPr>
        <p:txBody>
          <a:bodyPr wrap="square" lIns="0" rIns="0" tIns="0" bIns="0" anchor="t">
            <a:spAutoFit/>
          </a:bodyPr>
          <a:lstStyle/>
          <a:p>
            <a:pPr algn="l">
              <a:lnSpc>
                <a:spcPct val="105000"/>
              </a:lnSpc>
            </a:pPr>
            <a:r>
              <a:rPr sz="850" b="1" i="0">
                <a:solidFill>
                  <a:srgbClr val="21295C"/>
                </a:solidFill>
                <a:latin typeface="DejaVu Sans"/>
              </a:rPr>
              <a:t>the ticket archive</a:t>
            </a:r>
          </a:p>
        </p:txBody>
      </p:sp>
      <p:sp>
        <p:nvSpPr>
          <p:cNvPr id="51" name="TextBox 50"/>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Two-step synthesis — Teresa Torres, a coach of product teams and the author of "Continuous Discovery Habits", a book on continuous user research</a:t>
            </a:r>
          </a:p>
        </p:txBody>
      </p:sp>
      <p:sp>
        <p:nvSpPr>
          <p:cNvPr id="52" name="TextBox 5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10 / 56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A synthetic interviewee structurally cannot produce disagreement</a:t>
            </a:r>
          </a:p>
        </p:txBody>
      </p:sp>
      <p:sp>
        <p:nvSpPr>
          <p:cNvPr id="3" name="Rounded Rectangle 2"/>
          <p:cNvSpPr/>
          <p:nvPr/>
        </p:nvSpPr>
        <p:spPr>
          <a:xfrm>
            <a:off x="502920" y="1417320"/>
            <a:ext cx="3931920"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mile-light.png"/>
          <p:cNvPicPr>
            <a:picLocks noChangeAspect="1"/>
          </p:cNvPicPr>
          <p:nvPr/>
        </p:nvPicPr>
        <p:blipFill>
          <a:blip r:embed="rId2"/>
          <a:stretch>
            <a:fillRect/>
          </a:stretch>
        </p:blipFill>
        <p:spPr>
          <a:xfrm>
            <a:off x="1965960" y="1737360"/>
            <a:ext cx="1005840" cy="1005840"/>
          </a:xfrm>
          <a:prstGeom prst="rect">
            <a:avLst/>
          </a:prstGeom>
        </p:spPr>
      </p:pic>
      <p:sp>
        <p:nvSpPr>
          <p:cNvPr id="5" name="TextBox 4"/>
          <p:cNvSpPr txBox="1"/>
          <p:nvPr/>
        </p:nvSpPr>
        <p:spPr>
          <a:xfrm>
            <a:off x="731520" y="2880360"/>
            <a:ext cx="3474720" cy="1417320"/>
          </a:xfrm>
          <a:prstGeom prst="rect">
            <a:avLst/>
          </a:prstGeom>
          <a:noFill/>
        </p:spPr>
        <p:txBody>
          <a:bodyPr wrap="square" lIns="0" rIns="0" tIns="0" bIns="0" anchor="t">
            <a:spAutoFit/>
          </a:bodyPr>
          <a:lstStyle/>
          <a:p>
            <a:pPr algn="ctr">
              <a:lnSpc>
                <a:spcPct val="118000"/>
              </a:lnSpc>
            </a:pPr>
            <a:r>
              <a:rPr sz="1250" b="0" i="0">
                <a:solidFill>
                  <a:srgbClr val="21295C"/>
                </a:solidFill>
                <a:latin typeface="DejaVu Sans"/>
              </a:rPr>
              <a:t>Mirror of agreement: a synthetic interviewee structurally cannot reflect disagreement — it has no real past that could contradict the way the question is phrased.</a:t>
            </a:r>
          </a:p>
        </p:txBody>
      </p:sp>
      <p:sp>
        <p:nvSpPr>
          <p:cNvPr id="6" name="TextBox 5"/>
          <p:cNvSpPr txBox="1"/>
          <p:nvPr/>
        </p:nvSpPr>
        <p:spPr>
          <a:xfrm>
            <a:off x="4709160" y="1417320"/>
            <a:ext cx="699516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When a live interview is strictly better than AI synthesis</a:t>
            </a:r>
          </a:p>
        </p:txBody>
      </p:sp>
      <p:sp>
        <p:nvSpPr>
          <p:cNvPr id="7" name="Rounded Rectangle 6"/>
          <p:cNvSpPr/>
          <p:nvPr/>
        </p:nvSpPr>
        <p:spPr>
          <a:xfrm>
            <a:off x="4709160" y="1920240"/>
            <a:ext cx="6995160" cy="640080"/>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1920240"/>
            <a:ext cx="6217920" cy="640080"/>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1. The cost of a "continue/stop" mistake is high</a:t>
            </a:r>
          </a:p>
        </p:txBody>
      </p:sp>
      <p:pic>
        <p:nvPicPr>
          <p:cNvPr id="9" name="Picture 8" descr="shield-alert-mid.png"/>
          <p:cNvPicPr>
            <a:picLocks noChangeAspect="1"/>
          </p:cNvPicPr>
          <p:nvPr/>
        </p:nvPicPr>
        <p:blipFill>
          <a:blip r:embed="rId3"/>
          <a:stretch>
            <a:fillRect/>
          </a:stretch>
        </p:blipFill>
        <p:spPr>
          <a:xfrm>
            <a:off x="4837176" y="2057400"/>
            <a:ext cx="384048" cy="384048"/>
          </a:xfrm>
          <a:prstGeom prst="rect">
            <a:avLst/>
          </a:prstGeom>
        </p:spPr>
      </p:pic>
      <p:sp>
        <p:nvSpPr>
          <p:cNvPr id="10" name="Rounded Rectangle 9"/>
          <p:cNvSpPr/>
          <p:nvPr/>
        </p:nvSpPr>
        <p:spPr>
          <a:xfrm>
            <a:off x="4709160" y="2697480"/>
            <a:ext cx="6995160" cy="640080"/>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2697480"/>
            <a:ext cx="6217920" cy="640080"/>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2. You need a real past, not a plausible one</a:t>
            </a:r>
          </a:p>
        </p:txBody>
      </p:sp>
      <p:pic>
        <p:nvPicPr>
          <p:cNvPr id="12" name="Picture 11" descr="shield-alert-mid.png"/>
          <p:cNvPicPr>
            <a:picLocks noChangeAspect="1"/>
          </p:cNvPicPr>
          <p:nvPr/>
        </p:nvPicPr>
        <p:blipFill>
          <a:blip r:embed="rId3"/>
          <a:stretch>
            <a:fillRect/>
          </a:stretch>
        </p:blipFill>
        <p:spPr>
          <a:xfrm>
            <a:off x="4837176" y="2834640"/>
            <a:ext cx="384048" cy="384048"/>
          </a:xfrm>
          <a:prstGeom prst="rect">
            <a:avLst/>
          </a:prstGeom>
        </p:spPr>
      </p:pic>
      <p:sp>
        <p:nvSpPr>
          <p:cNvPr id="13" name="Rounded Rectangle 12"/>
          <p:cNvSpPr/>
          <p:nvPr/>
        </p:nvSpPr>
        <p:spPr>
          <a:xfrm>
            <a:off x="4709160" y="3474720"/>
            <a:ext cx="6995160" cy="640080"/>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3474720"/>
            <a:ext cx="6217920" cy="640080"/>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3. You need validation by commitment, not by opinion</a:t>
            </a:r>
          </a:p>
        </p:txBody>
      </p:sp>
      <p:pic>
        <p:nvPicPr>
          <p:cNvPr id="15" name="Picture 14" descr="shield-alert-mid.png"/>
          <p:cNvPicPr>
            <a:picLocks noChangeAspect="1"/>
          </p:cNvPicPr>
          <p:nvPr/>
        </p:nvPicPr>
        <p:blipFill>
          <a:blip r:embed="rId3"/>
          <a:stretch>
            <a:fillRect/>
          </a:stretch>
        </p:blipFill>
        <p:spPr>
          <a:xfrm>
            <a:off x="4837176" y="3611879"/>
            <a:ext cx="384048" cy="384048"/>
          </a:xfrm>
          <a:prstGeom prst="rect">
            <a:avLst/>
          </a:prstGeom>
        </p:spPr>
      </p:pic>
      <p:sp>
        <p:nvSpPr>
          <p:cNvPr id="16" name="Rounded Rectangle 15"/>
          <p:cNvSpPr/>
          <p:nvPr/>
        </p:nvSpPr>
        <p:spPr>
          <a:xfrm>
            <a:off x="502920" y="4663440"/>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4718303"/>
            <a:ext cx="10762488" cy="75895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AI summaries lose 20-40% of interview detail (Torres) </a:t>
            </a:r>
            <a:r>
              <a:rPr sz="676" baseline="30000" b="0" i="1">
                <a:latin typeface="DejaVu Sans"/>
                <a:cs typeface="DejaVu Sans"/>
                <a:ea typeface="DejaVu Sans"/>
                <a:solidFill>
                  <a:srgbClr val="1C7293"/>
                </a:solidFill>
              </a:rPr>
              <a:t>[1]</a:t>
            </a:r>
            <a:r>
              <a:rPr sz="1300" b="1" i="0">
                <a:latin typeface="DejaVu Sans"/>
                <a:cs typeface="DejaVu Sans"/>
                <a:ea typeface="DejaVu Sans"/>
                <a:solidFill>
                  <a:srgbClr val="21295C"/>
                </a:solidFill>
              </a:rPr>
              <a:t> when the "individually first" step is skipped — a failure traceable to a specific step, not a vague "AI is sometimes wrong."</a:t>
            </a:r>
          </a:p>
        </p:txBody>
      </p:sp>
      <p:sp>
        <p:nvSpPr>
          <p:cNvPr id="18" name="TextBox 17"/>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Torres — Continuous Discovery Habits / anti-synthetic</a:t>
            </a:r>
          </a:p>
        </p:txBody>
      </p:sp>
      <p:sp>
        <p:nvSpPr>
          <p:cNvPr id="19" name="TextBox 1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11 / 56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The same task: real people — 3 of 7, the synthetic panel — 7 of 7 </a:t>
            </a:r>
            <a:r>
              <a:rPr sz="1040" baseline="30000" b="0" i="1">
                <a:latin typeface="DejaVu Sans"/>
                <a:cs typeface="DejaVu Sans"/>
                <a:ea typeface="DejaVu Sans"/>
                <a:solidFill>
                  <a:srgbClr val="1C7293"/>
                </a:solidFill>
              </a:rPr>
              <a:t>[1]</a:t>
            </a:r>
          </a:p>
        </p:txBody>
      </p:sp>
      <p:sp>
        <p:nvSpPr>
          <p:cNvPr id="3" name="Rounded Rectangle 2"/>
          <p:cNvSpPr/>
          <p:nvPr/>
        </p:nvSpPr>
        <p:spPr>
          <a:xfrm>
            <a:off x="502920" y="1417320"/>
            <a:ext cx="416052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2-trade-offer.jpg"/>
          <p:cNvPicPr>
            <a:picLocks noChangeAspect="1"/>
          </p:cNvPicPr>
          <p:nvPr/>
        </p:nvPicPr>
        <p:blipFill>
          <a:blip r:embed="rId2"/>
          <a:stretch>
            <a:fillRect/>
          </a:stretch>
        </p:blipFill>
        <p:spPr>
          <a:xfrm>
            <a:off x="1580052" y="1545336"/>
            <a:ext cx="2006256" cy="2624328"/>
          </a:xfrm>
          <a:prstGeom prst="rect">
            <a:avLst/>
          </a:prstGeom>
        </p:spPr>
      </p:pic>
      <p:sp>
        <p:nvSpPr>
          <p:cNvPr id="5" name="Rounded Rectangle 4"/>
          <p:cNvSpPr/>
          <p:nvPr/>
        </p:nvSpPr>
        <p:spPr>
          <a:xfrm>
            <a:off x="4892040" y="1417320"/>
            <a:ext cx="6812280" cy="96012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11496" y="1490472"/>
            <a:ext cx="2743200"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Real people</a:t>
            </a:r>
          </a:p>
        </p:txBody>
      </p:sp>
      <p:pic>
        <p:nvPicPr>
          <p:cNvPr id="7" name="Picture 6" descr="check-check-mid.png"/>
          <p:cNvPicPr>
            <a:picLocks noChangeAspect="1"/>
          </p:cNvPicPr>
          <p:nvPr/>
        </p:nvPicPr>
        <p:blipFill>
          <a:blip r:embed="rId3"/>
          <a:stretch>
            <a:fillRect/>
          </a:stretch>
        </p:blipFill>
        <p:spPr>
          <a:xfrm>
            <a:off x="5148072" y="1847088"/>
            <a:ext cx="329184" cy="329184"/>
          </a:xfrm>
          <a:prstGeom prst="rect">
            <a:avLst/>
          </a:prstGeom>
        </p:spPr>
      </p:pic>
      <p:pic>
        <p:nvPicPr>
          <p:cNvPr id="8" name="Picture 7" descr="check-check-mid.png"/>
          <p:cNvPicPr>
            <a:picLocks noChangeAspect="1"/>
          </p:cNvPicPr>
          <p:nvPr/>
        </p:nvPicPr>
        <p:blipFill>
          <a:blip r:embed="rId3"/>
          <a:stretch>
            <a:fillRect/>
          </a:stretch>
        </p:blipFill>
        <p:spPr>
          <a:xfrm>
            <a:off x="5532120" y="1847088"/>
            <a:ext cx="329184" cy="329184"/>
          </a:xfrm>
          <a:prstGeom prst="rect">
            <a:avLst/>
          </a:prstGeom>
        </p:spPr>
      </p:pic>
      <p:pic>
        <p:nvPicPr>
          <p:cNvPr id="9" name="Picture 8" descr="check-check-mid.png"/>
          <p:cNvPicPr>
            <a:picLocks noChangeAspect="1"/>
          </p:cNvPicPr>
          <p:nvPr/>
        </p:nvPicPr>
        <p:blipFill>
          <a:blip r:embed="rId3"/>
          <a:stretch>
            <a:fillRect/>
          </a:stretch>
        </p:blipFill>
        <p:spPr>
          <a:xfrm>
            <a:off x="5916168" y="1847088"/>
            <a:ext cx="329184" cy="329184"/>
          </a:xfrm>
          <a:prstGeom prst="rect">
            <a:avLst/>
          </a:prstGeom>
        </p:spPr>
      </p:pic>
      <p:pic>
        <p:nvPicPr>
          <p:cNvPr id="10" name="Picture 9" descr="x-light.png"/>
          <p:cNvPicPr>
            <a:picLocks noChangeAspect="1"/>
          </p:cNvPicPr>
          <p:nvPr/>
        </p:nvPicPr>
        <p:blipFill>
          <a:blip r:embed="rId4"/>
          <a:stretch>
            <a:fillRect/>
          </a:stretch>
        </p:blipFill>
        <p:spPr>
          <a:xfrm>
            <a:off x="6300216" y="1847088"/>
            <a:ext cx="329184" cy="329184"/>
          </a:xfrm>
          <a:prstGeom prst="rect">
            <a:avLst/>
          </a:prstGeom>
        </p:spPr>
      </p:pic>
      <p:pic>
        <p:nvPicPr>
          <p:cNvPr id="11" name="Picture 10" descr="x-light.png"/>
          <p:cNvPicPr>
            <a:picLocks noChangeAspect="1"/>
          </p:cNvPicPr>
          <p:nvPr/>
        </p:nvPicPr>
        <p:blipFill>
          <a:blip r:embed="rId4"/>
          <a:stretch>
            <a:fillRect/>
          </a:stretch>
        </p:blipFill>
        <p:spPr>
          <a:xfrm>
            <a:off x="6684264" y="1847088"/>
            <a:ext cx="329184" cy="329184"/>
          </a:xfrm>
          <a:prstGeom prst="rect">
            <a:avLst/>
          </a:prstGeom>
        </p:spPr>
      </p:pic>
      <p:pic>
        <p:nvPicPr>
          <p:cNvPr id="12" name="Picture 11" descr="x-light.png"/>
          <p:cNvPicPr>
            <a:picLocks noChangeAspect="1"/>
          </p:cNvPicPr>
          <p:nvPr/>
        </p:nvPicPr>
        <p:blipFill>
          <a:blip r:embed="rId4"/>
          <a:stretch>
            <a:fillRect/>
          </a:stretch>
        </p:blipFill>
        <p:spPr>
          <a:xfrm>
            <a:off x="7068312" y="1847088"/>
            <a:ext cx="329184" cy="329184"/>
          </a:xfrm>
          <a:prstGeom prst="rect">
            <a:avLst/>
          </a:prstGeom>
        </p:spPr>
      </p:pic>
      <p:pic>
        <p:nvPicPr>
          <p:cNvPr id="13" name="Picture 12" descr="x-light.png"/>
          <p:cNvPicPr>
            <a:picLocks noChangeAspect="1"/>
          </p:cNvPicPr>
          <p:nvPr/>
        </p:nvPicPr>
        <p:blipFill>
          <a:blip r:embed="rId4"/>
          <a:stretch>
            <a:fillRect/>
          </a:stretch>
        </p:blipFill>
        <p:spPr>
          <a:xfrm>
            <a:off x="7452360" y="1847088"/>
            <a:ext cx="329184" cy="329184"/>
          </a:xfrm>
          <a:prstGeom prst="rect">
            <a:avLst/>
          </a:prstGeom>
        </p:spPr>
      </p:pic>
      <p:sp>
        <p:nvSpPr>
          <p:cNvPr id="14" name="TextBox 13"/>
          <p:cNvSpPr txBox="1"/>
          <p:nvPr/>
        </p:nvSpPr>
        <p:spPr>
          <a:xfrm>
            <a:off x="7955279" y="1600200"/>
            <a:ext cx="3520440" cy="640080"/>
          </a:xfrm>
          <a:prstGeom prst="rect">
            <a:avLst/>
          </a:prstGeom>
          <a:noFill/>
        </p:spPr>
        <p:txBody>
          <a:bodyPr wrap="square" lIns="0" rIns="0" tIns="0" bIns="0" anchor="ctr">
            <a:spAutoFit/>
          </a:bodyPr>
          <a:lstStyle/>
          <a:p>
            <a:pPr algn="l">
              <a:lnSpc>
                <a:spcPct val="105000"/>
              </a:lnSpc>
            </a:pPr>
            <a:r>
              <a:rPr sz="1200" b="1" i="0">
                <a:solidFill>
                  <a:srgbClr val="21295C"/>
                </a:solidFill>
                <a:latin typeface="DejaVu Sans"/>
              </a:rPr>
              <a:t>3 of 7 — "far-fetched and useless"</a:t>
            </a:r>
          </a:p>
        </p:txBody>
      </p:sp>
      <p:sp>
        <p:nvSpPr>
          <p:cNvPr id="15" name="Rounded Rectangle 14"/>
          <p:cNvSpPr/>
          <p:nvPr/>
        </p:nvSpPr>
        <p:spPr>
          <a:xfrm>
            <a:off x="4892040" y="2514600"/>
            <a:ext cx="6812280" cy="960120"/>
          </a:xfrm>
          <a:prstGeom prst="roundRect">
            <a:avLst>
              <a:gd name="adj" fmla="val 22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11496" y="2587752"/>
            <a:ext cx="2743200" cy="329184"/>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Synth panel</a:t>
            </a:r>
          </a:p>
        </p:txBody>
      </p:sp>
      <p:pic>
        <p:nvPicPr>
          <p:cNvPr id="17" name="Picture 16" descr="check-check-gold.png"/>
          <p:cNvPicPr>
            <a:picLocks noChangeAspect="1"/>
          </p:cNvPicPr>
          <p:nvPr/>
        </p:nvPicPr>
        <p:blipFill>
          <a:blip r:embed="rId5"/>
          <a:stretch>
            <a:fillRect/>
          </a:stretch>
        </p:blipFill>
        <p:spPr>
          <a:xfrm>
            <a:off x="5148072" y="2944368"/>
            <a:ext cx="329184" cy="329184"/>
          </a:xfrm>
          <a:prstGeom prst="rect">
            <a:avLst/>
          </a:prstGeom>
        </p:spPr>
      </p:pic>
      <p:pic>
        <p:nvPicPr>
          <p:cNvPr id="18" name="Picture 17" descr="check-check-gold.png"/>
          <p:cNvPicPr>
            <a:picLocks noChangeAspect="1"/>
          </p:cNvPicPr>
          <p:nvPr/>
        </p:nvPicPr>
        <p:blipFill>
          <a:blip r:embed="rId5"/>
          <a:stretch>
            <a:fillRect/>
          </a:stretch>
        </p:blipFill>
        <p:spPr>
          <a:xfrm>
            <a:off x="5532120" y="2944368"/>
            <a:ext cx="329184" cy="329184"/>
          </a:xfrm>
          <a:prstGeom prst="rect">
            <a:avLst/>
          </a:prstGeom>
        </p:spPr>
      </p:pic>
      <p:pic>
        <p:nvPicPr>
          <p:cNvPr id="19" name="Picture 18" descr="check-check-gold.png"/>
          <p:cNvPicPr>
            <a:picLocks noChangeAspect="1"/>
          </p:cNvPicPr>
          <p:nvPr/>
        </p:nvPicPr>
        <p:blipFill>
          <a:blip r:embed="rId5"/>
          <a:stretch>
            <a:fillRect/>
          </a:stretch>
        </p:blipFill>
        <p:spPr>
          <a:xfrm>
            <a:off x="5916168" y="2944368"/>
            <a:ext cx="329184" cy="329184"/>
          </a:xfrm>
          <a:prstGeom prst="rect">
            <a:avLst/>
          </a:prstGeom>
        </p:spPr>
      </p:pic>
      <p:pic>
        <p:nvPicPr>
          <p:cNvPr id="20" name="Picture 19" descr="check-check-gold.png"/>
          <p:cNvPicPr>
            <a:picLocks noChangeAspect="1"/>
          </p:cNvPicPr>
          <p:nvPr/>
        </p:nvPicPr>
        <p:blipFill>
          <a:blip r:embed="rId5"/>
          <a:stretch>
            <a:fillRect/>
          </a:stretch>
        </p:blipFill>
        <p:spPr>
          <a:xfrm>
            <a:off x="6300216" y="2944368"/>
            <a:ext cx="329184" cy="329184"/>
          </a:xfrm>
          <a:prstGeom prst="rect">
            <a:avLst/>
          </a:prstGeom>
        </p:spPr>
      </p:pic>
      <p:pic>
        <p:nvPicPr>
          <p:cNvPr id="21" name="Picture 20" descr="check-check-gold.png"/>
          <p:cNvPicPr>
            <a:picLocks noChangeAspect="1"/>
          </p:cNvPicPr>
          <p:nvPr/>
        </p:nvPicPr>
        <p:blipFill>
          <a:blip r:embed="rId5"/>
          <a:stretch>
            <a:fillRect/>
          </a:stretch>
        </p:blipFill>
        <p:spPr>
          <a:xfrm>
            <a:off x="6684264" y="2944368"/>
            <a:ext cx="329184" cy="329184"/>
          </a:xfrm>
          <a:prstGeom prst="rect">
            <a:avLst/>
          </a:prstGeom>
        </p:spPr>
      </p:pic>
      <p:pic>
        <p:nvPicPr>
          <p:cNvPr id="22" name="Picture 21" descr="check-check-gold.png"/>
          <p:cNvPicPr>
            <a:picLocks noChangeAspect="1"/>
          </p:cNvPicPr>
          <p:nvPr/>
        </p:nvPicPr>
        <p:blipFill>
          <a:blip r:embed="rId5"/>
          <a:stretch>
            <a:fillRect/>
          </a:stretch>
        </p:blipFill>
        <p:spPr>
          <a:xfrm>
            <a:off x="7068312" y="2944368"/>
            <a:ext cx="329184" cy="329184"/>
          </a:xfrm>
          <a:prstGeom prst="rect">
            <a:avLst/>
          </a:prstGeom>
        </p:spPr>
      </p:pic>
      <p:pic>
        <p:nvPicPr>
          <p:cNvPr id="23" name="Picture 22" descr="check-check-gold.png"/>
          <p:cNvPicPr>
            <a:picLocks noChangeAspect="1"/>
          </p:cNvPicPr>
          <p:nvPr/>
        </p:nvPicPr>
        <p:blipFill>
          <a:blip r:embed="rId5"/>
          <a:stretch>
            <a:fillRect/>
          </a:stretch>
        </p:blipFill>
        <p:spPr>
          <a:xfrm>
            <a:off x="7452360" y="2944368"/>
            <a:ext cx="329184" cy="329184"/>
          </a:xfrm>
          <a:prstGeom prst="rect">
            <a:avLst/>
          </a:prstGeom>
        </p:spPr>
      </p:pic>
      <p:sp>
        <p:nvSpPr>
          <p:cNvPr id="24" name="TextBox 23"/>
          <p:cNvSpPr txBox="1"/>
          <p:nvPr/>
        </p:nvSpPr>
        <p:spPr>
          <a:xfrm>
            <a:off x="7955279" y="2697480"/>
            <a:ext cx="3520440" cy="640080"/>
          </a:xfrm>
          <a:prstGeom prst="rect">
            <a:avLst/>
          </a:prstGeom>
          <a:noFill/>
        </p:spPr>
        <p:txBody>
          <a:bodyPr wrap="square" lIns="0" rIns="0" tIns="0" bIns="0" anchor="ctr">
            <a:spAutoFit/>
          </a:bodyPr>
          <a:lstStyle/>
          <a:p>
            <a:pPr algn="l">
              <a:lnSpc>
                <a:spcPct val="105000"/>
              </a:lnSpc>
            </a:pPr>
            <a:r>
              <a:rPr sz="1200" b="1" i="0">
                <a:solidFill>
                  <a:srgbClr val="21295C"/>
                </a:solidFill>
                <a:latin typeface="DejaVu Sans"/>
              </a:rPr>
              <a:t>7 of 7 — "a game changer"</a:t>
            </a:r>
          </a:p>
        </p:txBody>
      </p:sp>
      <p:sp>
        <p:nvSpPr>
          <p:cNvPr id="25" name="TextBox 24"/>
          <p:cNvSpPr txBox="1"/>
          <p:nvPr/>
        </p:nvSpPr>
        <p:spPr>
          <a:xfrm>
            <a:off x="4892040" y="3611880"/>
            <a:ext cx="6812280" cy="502920"/>
          </a:xfrm>
          <a:prstGeom prst="rect">
            <a:avLst/>
          </a:prstGeom>
          <a:noFill/>
        </p:spPr>
        <p:txBody>
          <a:bodyPr wrap="square" lIns="0" rIns="0" tIns="0" bIns="0" anchor="t">
            <a:spAutoFit/>
          </a:bodyPr>
          <a:lstStyle/>
          <a:p>
            <a:pPr algn="l">
              <a:lnSpc>
                <a:spcPct val="115000"/>
              </a:lnSpc>
            </a:pPr>
            <a:r>
              <a:rPr sz="1250" b="0" i="1">
                <a:solidFill>
                  <a:srgbClr val="5B6678"/>
                </a:solidFill>
                <a:latin typeface="DejaVu Sans"/>
              </a:rPr>
              <a:t>The same feature — opposite verdicts</a:t>
            </a:r>
          </a:p>
        </p:txBody>
      </p:sp>
      <p:sp>
        <p:nvSpPr>
          <p:cNvPr id="26" name="Rounded Rectangle 25"/>
          <p:cNvSpPr/>
          <p:nvPr/>
        </p:nvSpPr>
        <p:spPr>
          <a:xfrm>
            <a:off x="502920" y="448056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4535424"/>
            <a:ext cx="10762488" cy="85039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Criterion: synthetic output is disqualified for a "continue/stop" decision by construction, not from bad luck on a run. Alternative: a pre-research role + real testing with 5-8 participants.</a:t>
            </a:r>
          </a:p>
        </p:txBody>
      </p:sp>
      <p:sp>
        <p:nvSpPr>
          <p:cNvPr id="28" name="TextBox 27"/>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NN/g (Rosala &amp; Moran) — Synthetic Users</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12 / 56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786384"/>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10,000 devices sold out of the 100,000 planned: the comparison with the phone in the buyer's pocket was made after the build</a:t>
            </a:r>
          </a:p>
        </p:txBody>
      </p:sp>
      <p:sp>
        <p:nvSpPr>
          <p:cNvPr id="3" name="Rounded Rectangle 2"/>
          <p:cNvSpPr/>
          <p:nvPr/>
        </p:nvSpPr>
        <p:spPr>
          <a:xfrm>
            <a:off x="502920" y="1005840"/>
            <a:ext cx="11201400" cy="1243584"/>
          </a:xfrm>
          <a:prstGeom prst="roundRect">
            <a:avLst>
              <a:gd name="adj" fmla="val 7000"/>
            </a:avLst>
          </a:prstGeom>
          <a:solidFill>
            <a:srgbClr val="E4F1F2"/>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teal.png"/>
          <p:cNvPicPr>
            <a:picLocks noChangeAspect="1"/>
          </p:cNvPicPr>
          <p:nvPr/>
        </p:nvPicPr>
        <p:blipFill>
          <a:blip r:embed="rId2"/>
          <a:stretch>
            <a:fillRect/>
          </a:stretch>
        </p:blipFill>
        <p:spPr>
          <a:xfrm>
            <a:off x="713232" y="1463040"/>
            <a:ext cx="384048" cy="384048"/>
          </a:xfrm>
          <a:prstGeom prst="rect">
            <a:avLst/>
          </a:prstGeom>
        </p:spPr>
      </p:pic>
      <p:sp>
        <p:nvSpPr>
          <p:cNvPr id="5" name="TextBox 4"/>
          <p:cNvSpPr txBox="1"/>
          <p:nvPr/>
        </p:nvSpPr>
        <p:spPr>
          <a:xfrm>
            <a:off x="1261872" y="1042415"/>
            <a:ext cx="10314432" cy="1170432"/>
          </a:xfrm>
          <a:prstGeom prst="rect">
            <a:avLst/>
          </a:prstGeom>
          <a:noFill/>
        </p:spPr>
        <p:txBody>
          <a:bodyPr wrap="square" lIns="0" rIns="0" tIns="0" bIns="0" anchor="ctr">
            <a:spAutoFit/>
          </a:bodyPr>
          <a:lstStyle/>
          <a:p>
            <a:pPr algn="l">
              <a:lnSpc>
                <a:spcPct val="114000"/>
              </a:lnSpc>
            </a:pPr>
            <a:r>
              <a:rPr sz="1050" b="1" i="0">
                <a:solidFill>
                  <a:srgbClr val="028090"/>
                </a:solidFill>
                <a:latin typeface="DejaVu Sans"/>
              </a:rPr>
              <a:t>WHAT HAPPENED   </a:t>
            </a:r>
            <a:r>
              <a:rPr sz="1100" b="0" i="0">
                <a:solidFill>
                  <a:srgbClr val="21295C"/>
                </a:solidFill>
                <a:latin typeface="DejaVu Sans"/>
              </a:rPr>
              <a:t>Humane is a company founded in 2018 by people who came out of Apple. Its only product, the AI Pin, is a wearable device with no screen: a small box worn on your clothes with a camera, a microphone and a laser projection onto your palm, answering out loud through a language model. The idea: a person stops looking at their phone. The device was shown on 9 November 2023 and sales opened in April 2024 — $699 plus $24 a month. On 18 February 2025 HP bought the assets for $116 million, and on 28 February the cloud service was shut down: the devices in buyers' hands stopped answering.</a:t>
            </a:r>
          </a:p>
        </p:txBody>
      </p:sp>
      <p:sp>
        <p:nvSpPr>
          <p:cNvPr id="6" name="Rounded Rectangle 5"/>
          <p:cNvSpPr/>
          <p:nvPr/>
        </p:nvSpPr>
        <p:spPr>
          <a:xfrm>
            <a:off x="502920" y="2340864"/>
            <a:ext cx="5532120" cy="2103120"/>
          </a:xfrm>
          <a:prstGeom prst="roundRect">
            <a:avLst>
              <a:gd name="adj" fmla="val 14492"/>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ending-down-mid.png"/>
          <p:cNvPicPr>
            <a:picLocks noChangeAspect="1"/>
          </p:cNvPicPr>
          <p:nvPr/>
        </p:nvPicPr>
        <p:blipFill>
          <a:blip r:embed="rId3"/>
          <a:stretch>
            <a:fillRect/>
          </a:stretch>
        </p:blipFill>
        <p:spPr>
          <a:xfrm>
            <a:off x="722376" y="2468880"/>
            <a:ext cx="420624" cy="420624"/>
          </a:xfrm>
          <a:prstGeom prst="rect">
            <a:avLst/>
          </a:prstGeom>
        </p:spPr>
      </p:pic>
      <p:sp>
        <p:nvSpPr>
          <p:cNvPr id="8" name="TextBox 7"/>
          <p:cNvSpPr txBox="1"/>
          <p:nvPr/>
        </p:nvSpPr>
        <p:spPr>
          <a:xfrm>
            <a:off x="1271016" y="2505456"/>
            <a:ext cx="4544568" cy="310896"/>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What the numbers showed</a:t>
            </a:r>
          </a:p>
        </p:txBody>
      </p:sp>
      <p:sp>
        <p:nvSpPr>
          <p:cNvPr id="9" name="TextBox 8"/>
          <p:cNvSpPr txBox="1"/>
          <p:nvPr/>
        </p:nvSpPr>
        <p:spPr>
          <a:xfrm>
            <a:off x="740664" y="2926080"/>
            <a:ext cx="5056631" cy="329184"/>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 About 10,000 devices sold — a tenth of the company's own target of 100,000 by the end of the year</a:t>
            </a:r>
          </a:p>
        </p:txBody>
      </p:sp>
      <p:sp>
        <p:nvSpPr>
          <p:cNvPr id="10" name="TextBox 9"/>
          <p:cNvSpPr txBox="1"/>
          <p:nvPr/>
        </p:nvSpPr>
        <p:spPr>
          <a:xfrm>
            <a:off x="740664" y="3273552"/>
            <a:ext cx="5056631" cy="329184"/>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 Revenue of about $9 million against about $230 million raised — roughly 4%</a:t>
            </a:r>
          </a:p>
        </p:txBody>
      </p:sp>
      <p:sp>
        <p:nvSpPr>
          <p:cNvPr id="11" name="TextBox 10"/>
          <p:cNvSpPr txBox="1"/>
          <p:nvPr/>
        </p:nvSpPr>
        <p:spPr>
          <a:xfrm>
            <a:off x="740664" y="3621024"/>
            <a:ext cx="5056631" cy="329184"/>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 Between May and August 2024, more returns than purchases: by August, closer to 7,000 were still in people's hands</a:t>
            </a:r>
          </a:p>
        </p:txBody>
      </p:sp>
      <p:sp>
        <p:nvSpPr>
          <p:cNvPr id="12" name="TextBox 11"/>
          <p:cNvSpPr txBox="1"/>
          <p:nvPr/>
        </p:nvSpPr>
        <p:spPr>
          <a:xfrm>
            <a:off x="740664" y="3968496"/>
            <a:ext cx="5056631" cy="329184"/>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 The price was cut from $699 to $499 on 23 October 2024 — six months after sales opened</a:t>
            </a:r>
          </a:p>
        </p:txBody>
      </p:sp>
      <p:sp>
        <p:nvSpPr>
          <p:cNvPr id="13" name="Rounded Rectangle 12"/>
          <p:cNvSpPr/>
          <p:nvPr/>
        </p:nvSpPr>
        <p:spPr>
          <a:xfrm>
            <a:off x="6172200" y="2340864"/>
            <a:ext cx="5532120" cy="2103120"/>
          </a:xfrm>
          <a:prstGeom prst="roundRect">
            <a:avLst>
              <a:gd name="adj" fmla="val 14492"/>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earch-x-teal.png"/>
          <p:cNvPicPr>
            <a:picLocks noChangeAspect="1"/>
          </p:cNvPicPr>
          <p:nvPr/>
        </p:nvPicPr>
        <p:blipFill>
          <a:blip r:embed="rId4"/>
          <a:stretch>
            <a:fillRect/>
          </a:stretch>
        </p:blipFill>
        <p:spPr>
          <a:xfrm>
            <a:off x="6391656" y="2468880"/>
            <a:ext cx="420624" cy="420624"/>
          </a:xfrm>
          <a:prstGeom prst="rect">
            <a:avLst/>
          </a:prstGeom>
        </p:spPr>
      </p:pic>
      <p:sp>
        <p:nvSpPr>
          <p:cNvPr id="15" name="TextBox 14"/>
          <p:cNvSpPr txBox="1"/>
          <p:nvPr/>
        </p:nvSpPr>
        <p:spPr>
          <a:xfrm>
            <a:off x="6940296" y="2505456"/>
            <a:ext cx="4544568"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What was not found out before the build</a:t>
            </a:r>
          </a:p>
        </p:txBody>
      </p:sp>
      <p:sp>
        <p:nvSpPr>
          <p:cNvPr id="16" name="TextBox 15"/>
          <p:cNvSpPr txBox="1"/>
          <p:nvPr/>
        </p:nvSpPr>
        <p:spPr>
          <a:xfrm>
            <a:off x="6409944" y="2907792"/>
            <a:ext cx="5056631" cy="1481328"/>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The discovery phase's question fits in one phrase: </a:t>
            </a:r>
            <a:r>
              <a:rPr sz="1050" b="1" i="0">
                <a:solidFill>
                  <a:srgbClr val="028090"/>
                </a:solidFill>
                <a:latin typeface="DejaVu Sans"/>
              </a:rPr>
              <a:t>compared with what</a:t>
            </a:r>
            <a:r>
              <a:rPr sz="1050" b="0" i="0">
                <a:solidFill>
                  <a:srgbClr val="21295C"/>
                </a:solidFill>
                <a:latin typeface="DejaVu Sans"/>
              </a:rPr>
              <a:t>. Every buyer already had a phone in their pocket that does the same things, and everything else on top. Reviewers converged on the same point: the device does less than a phone and does it more slowly.</a:t>
            </a:r>
          </a:p>
          <a:p>
            <a:pPr algn="l">
              <a:lnSpc>
                <a:spcPct val="114000"/>
              </a:lnSpc>
              <a:spcBef>
                <a:spcPts val="400"/>
              </a:spcBef>
            </a:pPr>
            <a:r>
              <a:rPr sz="1050" b="0" i="0">
                <a:solidFill>
                  <a:srgbClr val="21295C"/>
                </a:solidFill>
                <a:latin typeface="DejaVu Sans"/>
              </a:rPr>
              <a:t>An answer like that costs eight conversations with living people before the build. Here it arrived from the market — by way of $230 million and 10.5 months of sales.</a:t>
            </a:r>
          </a:p>
        </p:txBody>
      </p:sp>
      <p:sp>
        <p:nvSpPr>
          <p:cNvPr id="17" name="Rounded Rectangle 16"/>
          <p:cNvSpPr/>
          <p:nvPr/>
        </p:nvSpPr>
        <p:spPr>
          <a:xfrm>
            <a:off x="502920" y="4535424"/>
            <a:ext cx="11201400" cy="76809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590288"/>
            <a:ext cx="10762488" cy="658368"/>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The answer about the user arrives either way; the discovery phase only chooses when, and at what price. The criterion that carries forward: a hypothesis about the user is closed by comparing it with whatever that person gets by with today.</a:t>
            </a:r>
          </a:p>
        </p:txBody>
      </p:sp>
      <p:sp>
        <p:nvSpPr>
          <p:cNvPr id="19" name="Rounded Rectangle 18"/>
          <p:cNvSpPr/>
          <p:nvPr/>
        </p:nvSpPr>
        <p:spPr>
          <a:xfrm>
            <a:off x="502920" y="5376672"/>
            <a:ext cx="11201400" cy="96926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431536"/>
            <a:ext cx="10762488" cy="859536"/>
          </a:xfrm>
          <a:prstGeom prst="rect">
            <a:avLst/>
          </a:prstGeom>
          <a:noFill/>
        </p:spPr>
        <p:txBody>
          <a:bodyPr wrap="square" lIns="0" rIns="0" tIns="0" bIns="0" anchor="ctr">
            <a:spAutoFit/>
          </a:bodyPr>
          <a:lstStyle/>
          <a:p>
            <a:pPr algn="l">
              <a:lnSpc>
                <a:spcPct val="118000"/>
              </a:lnSpc>
            </a:pPr>
            <a:r>
              <a:rPr sz="1050" b="0" i="0">
                <a:solidFill>
                  <a:srgbClr val="21295C"/>
                </a:solidFill>
                <a:latin typeface="DejaVu Sans"/>
              </a:rPr>
              <a:t>The device does work, and the miss lies in the answer to who needs it and what for. Google Glass travelled the same road in the opposite direction: the $1,500 glasses were pulled from general sale in January 2015 and then handed to people whose hands are busy with work. At AGCO, a maker of agricultural machinery, machine assembly time fell by 25% and inspection time by 30%; at the logistics company DHL, warehouse output rose by 15% — all against the same work done without the glasses. Same device. Different user.</a:t>
            </a:r>
          </a:p>
        </p:txBody>
      </p:sp>
      <p:sp>
        <p:nvSpPr>
          <p:cNvPr id="21" name="TextBox 20"/>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9to5Mac (7 Aug 2024) — Humane's internal sales figures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TechCrunch (18 Feb 2025) — HP buys Humane's assets</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Humane Inc. — dates, prices and the sales target</a:t>
            </a:r>
            <a:r>
              <a:rPr sz="850" i="1">
                <a:solidFill>
                  <a:srgbClr val="1C7293"/>
                </a:solidFill>
                <a:latin typeface="DejaVu Sans"/>
              </a:rPr>
              <a:t>   ·   </a:t>
            </a:r>
            <a:r>
              <a:rPr sz="850" b="1" i="1">
                <a:solidFill>
                  <a:srgbClr val="065A82"/>
                </a:solidFill>
                <a:latin typeface="DejaVu Sans"/>
              </a:rPr>
              <a:t>[4] </a:t>
            </a:r>
            <a:r>
              <a:rPr sz="850" i="1">
                <a:solidFill>
                  <a:srgbClr val="1C7293"/>
                </a:solidFill>
                <a:latin typeface="DejaVu Sans"/>
                <a:hlinkClick r:id="rId8"/>
              </a:rPr>
              <a:t>Digital Trends — Glass Enterprise Edition at AGCO and DHL</a:t>
            </a:r>
          </a:p>
        </p:txBody>
      </p:sp>
      <p:sp>
        <p:nvSpPr>
          <p:cNvPr id="22" name="TextBox 2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13 / 56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2</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4-drake.jpg"/>
          <p:cNvPicPr>
            <a:picLocks noChangeAspect="1"/>
          </p:cNvPicPr>
          <p:nvPr/>
        </p:nvPicPr>
        <p:blipFill>
          <a:blip r:embed="rId2"/>
          <a:stretch>
            <a:fillRect/>
          </a:stretch>
        </p:blipFill>
        <p:spPr>
          <a:xfrm>
            <a:off x="7763256" y="1408176"/>
            <a:ext cx="3813048" cy="3813048"/>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2</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Design — a hypothesis becomes an artifact</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2 base cases · 2 failures</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How a hypothesis from research turns into a concrete artifact you can show a person. This is also where safety gets built in — in the design brief, not patched on after something has already gone wrong.</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15" name="Rounded Rectangle 14"/>
          <p:cNvSpPr/>
          <p:nvPr/>
        </p:nvSpPr>
        <p:spPr>
          <a:xfrm>
            <a:off x="332613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Design</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14 / 56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786384"/>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Design here is the whole of a person's work with the system: surfaces and touchpoints, behaviour, the answer when unsure</a:t>
            </a:r>
          </a:p>
        </p:txBody>
      </p:sp>
      <p:sp>
        <p:nvSpPr>
          <p:cNvPr id="3" name="Rounded Rectangle 2"/>
          <p:cNvSpPr/>
          <p:nvPr/>
        </p:nvSpPr>
        <p:spPr>
          <a:xfrm>
            <a:off x="502920" y="960120"/>
            <a:ext cx="11201400" cy="950976"/>
          </a:xfrm>
          <a:prstGeom prst="roundRect">
            <a:avLst>
              <a:gd name="adj" fmla="val 8000"/>
            </a:avLst>
          </a:prstGeom>
          <a:solidFill>
            <a:srgbClr val="E4F1F2"/>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mpass-teal.png"/>
          <p:cNvPicPr>
            <a:picLocks noChangeAspect="1"/>
          </p:cNvPicPr>
          <p:nvPr/>
        </p:nvPicPr>
        <p:blipFill>
          <a:blip r:embed="rId2"/>
          <a:stretch>
            <a:fillRect/>
          </a:stretch>
        </p:blipFill>
        <p:spPr>
          <a:xfrm>
            <a:off x="713232" y="1261872"/>
            <a:ext cx="365760" cy="365760"/>
          </a:xfrm>
          <a:prstGeom prst="rect">
            <a:avLst/>
          </a:prstGeom>
        </p:spPr>
      </p:pic>
      <p:sp>
        <p:nvSpPr>
          <p:cNvPr id="5" name="TextBox 4"/>
          <p:cNvSpPr txBox="1"/>
          <p:nvPr/>
        </p:nvSpPr>
        <p:spPr>
          <a:xfrm>
            <a:off x="1243584" y="996696"/>
            <a:ext cx="10332720" cy="877824"/>
          </a:xfrm>
          <a:prstGeom prst="rect">
            <a:avLst/>
          </a:prstGeom>
          <a:noFill/>
        </p:spPr>
        <p:txBody>
          <a:bodyPr wrap="square" lIns="0" rIns="0" tIns="0" bIns="0" anchor="ctr">
            <a:spAutoFit/>
          </a:bodyPr>
          <a:lstStyle/>
          <a:p>
            <a:pPr algn="l">
              <a:lnSpc>
                <a:spcPct val="114000"/>
              </a:lnSpc>
            </a:pPr>
            <a:r>
              <a:rPr sz="1050" b="1" i="0">
                <a:solidFill>
                  <a:srgbClr val="028090"/>
                </a:solidFill>
                <a:latin typeface="DejaVu Sans"/>
              </a:rPr>
              <a:t>THE SCOPE OF THE WORD   </a:t>
            </a:r>
            <a:r>
              <a:rPr sz="1100" b="0" i="0">
                <a:solidFill>
                  <a:srgbClr val="21295C"/>
                </a:solidFill>
                <a:latin typeface="DejaVu Sans"/>
              </a:rPr>
              <a:t>The screen is one of the surfaces on which a person meets the system. Design in this phase settles the whole make-up of that meeting: where the system comes across a person, how it behaves over time, and what it does in the minute when it is unsure of its own answer. In a product built on a language model, there is usually more work on the other surfaces than there is on the screen.</a:t>
            </a:r>
          </a:p>
        </p:txBody>
      </p:sp>
      <p:sp>
        <p:nvSpPr>
          <p:cNvPr id="6" name="TextBox 5"/>
          <p:cNvSpPr txBox="1"/>
          <p:nvPr/>
        </p:nvSpPr>
        <p:spPr>
          <a:xfrm>
            <a:off x="502920" y="1993392"/>
            <a:ext cx="11201400" cy="237744"/>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Surfaces and touchpoints</a:t>
            </a:r>
          </a:p>
        </p:txBody>
      </p:sp>
      <p:sp>
        <p:nvSpPr>
          <p:cNvPr id="7" name="Rounded Rectangle 6"/>
          <p:cNvSpPr/>
          <p:nvPr/>
        </p:nvSpPr>
        <p:spPr>
          <a:xfrm>
            <a:off x="502920" y="2267712"/>
            <a:ext cx="3636264" cy="749808"/>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itor-smartphone-mid.png"/>
          <p:cNvPicPr>
            <a:picLocks noChangeAspect="1"/>
          </p:cNvPicPr>
          <p:nvPr/>
        </p:nvPicPr>
        <p:blipFill>
          <a:blip r:embed="rId3"/>
          <a:stretch>
            <a:fillRect/>
          </a:stretch>
        </p:blipFill>
        <p:spPr>
          <a:xfrm>
            <a:off x="649224" y="2368296"/>
            <a:ext cx="256032" cy="256032"/>
          </a:xfrm>
          <a:prstGeom prst="rect">
            <a:avLst/>
          </a:prstGeom>
        </p:spPr>
      </p:pic>
      <p:sp>
        <p:nvSpPr>
          <p:cNvPr id="9" name="TextBox 8"/>
          <p:cNvSpPr txBox="1"/>
          <p:nvPr/>
        </p:nvSpPr>
        <p:spPr>
          <a:xfrm>
            <a:off x="996696" y="2350008"/>
            <a:ext cx="2996183" cy="256032"/>
          </a:xfrm>
          <a:prstGeom prst="rect">
            <a:avLst/>
          </a:prstGeom>
          <a:noFill/>
        </p:spPr>
        <p:txBody>
          <a:bodyPr wrap="square" lIns="0" rIns="0" tIns="0" bIns="0" anchor="t">
            <a:spAutoFit/>
          </a:bodyPr>
          <a:lstStyle/>
          <a:p>
            <a:pPr algn="l">
              <a:lnSpc>
                <a:spcPct val="100000"/>
              </a:lnSpc>
            </a:pPr>
            <a:r>
              <a:rPr sz="1100" b="1" i="0">
                <a:solidFill>
                  <a:srgbClr val="065A82"/>
                </a:solidFill>
                <a:latin typeface="DejaVu Sans"/>
              </a:rPr>
              <a:t>Screen</a:t>
            </a:r>
          </a:p>
        </p:txBody>
      </p:sp>
      <p:sp>
        <p:nvSpPr>
          <p:cNvPr id="10" name="TextBox 9"/>
          <p:cNvSpPr txBox="1"/>
          <p:nvPr/>
        </p:nvSpPr>
        <p:spPr>
          <a:xfrm>
            <a:off x="667512" y="2651760"/>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what a person sees, and in what order</a:t>
            </a:r>
          </a:p>
        </p:txBody>
      </p:sp>
      <p:sp>
        <p:nvSpPr>
          <p:cNvPr id="11" name="Rounded Rectangle 10"/>
          <p:cNvSpPr/>
          <p:nvPr/>
        </p:nvSpPr>
        <p:spPr>
          <a:xfrm>
            <a:off x="4285488" y="2267712"/>
            <a:ext cx="3636264" cy="749808"/>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eadphones-mid.png"/>
          <p:cNvPicPr>
            <a:picLocks noChangeAspect="1"/>
          </p:cNvPicPr>
          <p:nvPr/>
        </p:nvPicPr>
        <p:blipFill>
          <a:blip r:embed="rId4"/>
          <a:stretch>
            <a:fillRect/>
          </a:stretch>
        </p:blipFill>
        <p:spPr>
          <a:xfrm>
            <a:off x="4431792" y="2368296"/>
            <a:ext cx="256032" cy="256032"/>
          </a:xfrm>
          <a:prstGeom prst="rect">
            <a:avLst/>
          </a:prstGeom>
        </p:spPr>
      </p:pic>
      <p:sp>
        <p:nvSpPr>
          <p:cNvPr id="13" name="TextBox 12"/>
          <p:cNvSpPr txBox="1"/>
          <p:nvPr/>
        </p:nvSpPr>
        <p:spPr>
          <a:xfrm>
            <a:off x="4779264" y="2350008"/>
            <a:ext cx="2996183" cy="256032"/>
          </a:xfrm>
          <a:prstGeom prst="rect">
            <a:avLst/>
          </a:prstGeom>
          <a:noFill/>
        </p:spPr>
        <p:txBody>
          <a:bodyPr wrap="square" lIns="0" rIns="0" tIns="0" bIns="0" anchor="t">
            <a:spAutoFit/>
          </a:bodyPr>
          <a:lstStyle/>
          <a:p>
            <a:pPr algn="l">
              <a:lnSpc>
                <a:spcPct val="100000"/>
              </a:lnSpc>
            </a:pPr>
            <a:r>
              <a:rPr sz="1100" b="1" i="0">
                <a:solidFill>
                  <a:srgbClr val="065A82"/>
                </a:solidFill>
                <a:latin typeface="DejaVu Sans"/>
              </a:rPr>
              <a:t>Voice</a:t>
            </a:r>
          </a:p>
        </p:txBody>
      </p:sp>
      <p:sp>
        <p:nvSpPr>
          <p:cNvPr id="14" name="TextBox 13"/>
          <p:cNvSpPr txBox="1"/>
          <p:nvPr/>
        </p:nvSpPr>
        <p:spPr>
          <a:xfrm>
            <a:off x="4450080" y="2651760"/>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same decision with no picture: order, length, the right to interrupt</a:t>
            </a:r>
          </a:p>
        </p:txBody>
      </p:sp>
      <p:sp>
        <p:nvSpPr>
          <p:cNvPr id="15" name="Rounded Rectangle 14"/>
          <p:cNvSpPr/>
          <p:nvPr/>
        </p:nvSpPr>
        <p:spPr>
          <a:xfrm>
            <a:off x="8068056" y="2267712"/>
            <a:ext cx="3636264" cy="749808"/>
          </a:xfrm>
          <a:prstGeom prst="roundRect">
            <a:avLst>
              <a:gd name="adj" fmla="val 22000"/>
            </a:avLst>
          </a:prstGeom>
          <a:solidFill>
            <a:srgbClr val="F4F7FA"/>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iren-teal.png"/>
          <p:cNvPicPr>
            <a:picLocks noChangeAspect="1"/>
          </p:cNvPicPr>
          <p:nvPr/>
        </p:nvPicPr>
        <p:blipFill>
          <a:blip r:embed="rId5"/>
          <a:stretch>
            <a:fillRect/>
          </a:stretch>
        </p:blipFill>
        <p:spPr>
          <a:xfrm>
            <a:off x="8214360" y="2368296"/>
            <a:ext cx="256032" cy="256032"/>
          </a:xfrm>
          <a:prstGeom prst="rect">
            <a:avLst/>
          </a:prstGeom>
        </p:spPr>
      </p:pic>
      <p:sp>
        <p:nvSpPr>
          <p:cNvPr id="17" name="TextBox 16"/>
          <p:cNvSpPr txBox="1"/>
          <p:nvPr/>
        </p:nvSpPr>
        <p:spPr>
          <a:xfrm>
            <a:off x="8561832" y="2350008"/>
            <a:ext cx="2996183" cy="256032"/>
          </a:xfrm>
          <a:prstGeom prst="rect">
            <a:avLst/>
          </a:prstGeom>
          <a:noFill/>
        </p:spPr>
        <p:txBody>
          <a:bodyPr wrap="square" lIns="0" rIns="0" tIns="0" bIns="0" anchor="t">
            <a:spAutoFit/>
          </a:bodyPr>
          <a:lstStyle/>
          <a:p>
            <a:pPr algn="l">
              <a:lnSpc>
                <a:spcPct val="100000"/>
              </a:lnSpc>
            </a:pPr>
            <a:r>
              <a:rPr sz="1100" b="1" i="0">
                <a:solidFill>
                  <a:srgbClr val="028090"/>
                </a:solidFill>
                <a:latin typeface="DejaVu Sans"/>
              </a:rPr>
              <a:t>Notification</a:t>
            </a:r>
          </a:p>
        </p:txBody>
      </p:sp>
      <p:sp>
        <p:nvSpPr>
          <p:cNvPr id="18" name="TextBox 17"/>
          <p:cNvSpPr txBox="1"/>
          <p:nvPr/>
        </p:nvSpPr>
        <p:spPr>
          <a:xfrm>
            <a:off x="8232648" y="2651760"/>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system opens the conversation itself: when, and on what occasion</a:t>
            </a:r>
          </a:p>
        </p:txBody>
      </p:sp>
      <p:sp>
        <p:nvSpPr>
          <p:cNvPr id="19" name="Rounded Rectangle 18"/>
          <p:cNvSpPr/>
          <p:nvPr/>
        </p:nvSpPr>
        <p:spPr>
          <a:xfrm>
            <a:off x="502920" y="3108960"/>
            <a:ext cx="3636264" cy="749808"/>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ile-text-mid.png"/>
          <p:cNvPicPr>
            <a:picLocks noChangeAspect="1"/>
          </p:cNvPicPr>
          <p:nvPr/>
        </p:nvPicPr>
        <p:blipFill>
          <a:blip r:embed="rId6"/>
          <a:stretch>
            <a:fillRect/>
          </a:stretch>
        </p:blipFill>
        <p:spPr>
          <a:xfrm>
            <a:off x="649224" y="3209544"/>
            <a:ext cx="256032" cy="256032"/>
          </a:xfrm>
          <a:prstGeom prst="rect">
            <a:avLst/>
          </a:prstGeom>
        </p:spPr>
      </p:pic>
      <p:sp>
        <p:nvSpPr>
          <p:cNvPr id="21" name="TextBox 20"/>
          <p:cNvSpPr txBox="1"/>
          <p:nvPr/>
        </p:nvSpPr>
        <p:spPr>
          <a:xfrm>
            <a:off x="996696" y="3191256"/>
            <a:ext cx="2996183" cy="256032"/>
          </a:xfrm>
          <a:prstGeom prst="rect">
            <a:avLst/>
          </a:prstGeom>
          <a:noFill/>
        </p:spPr>
        <p:txBody>
          <a:bodyPr wrap="square" lIns="0" rIns="0" tIns="0" bIns="0" anchor="t">
            <a:spAutoFit/>
          </a:bodyPr>
          <a:lstStyle/>
          <a:p>
            <a:pPr algn="l">
              <a:lnSpc>
                <a:spcPct val="100000"/>
              </a:lnSpc>
            </a:pPr>
            <a:r>
              <a:rPr sz="1100" b="1" i="0">
                <a:solidFill>
                  <a:srgbClr val="065A82"/>
                </a:solidFill>
                <a:latin typeface="DejaVu Sans"/>
              </a:rPr>
              <a:t>Email, report</a:t>
            </a:r>
          </a:p>
        </p:txBody>
      </p:sp>
      <p:sp>
        <p:nvSpPr>
          <p:cNvPr id="22" name="TextBox 21"/>
          <p:cNvSpPr txBox="1"/>
          <p:nvPr/>
        </p:nvSpPr>
        <p:spPr>
          <a:xfrm>
            <a:off x="667512" y="3493008"/>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answer read when the system is nowhere at hand</a:t>
            </a:r>
          </a:p>
        </p:txBody>
      </p:sp>
      <p:sp>
        <p:nvSpPr>
          <p:cNvPr id="23" name="Rounded Rectangle 22"/>
          <p:cNvSpPr/>
          <p:nvPr/>
        </p:nvSpPr>
        <p:spPr>
          <a:xfrm>
            <a:off x="4285488" y="3108960"/>
            <a:ext cx="3636264" cy="749808"/>
          </a:xfrm>
          <a:prstGeom prst="roundRect">
            <a:avLst>
              <a:gd name="adj" fmla="val 22000"/>
            </a:avLst>
          </a:prstGeom>
          <a:solidFill>
            <a:srgbClr val="F4F7FA"/>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hield-off-teal.png"/>
          <p:cNvPicPr>
            <a:picLocks noChangeAspect="1"/>
          </p:cNvPicPr>
          <p:nvPr/>
        </p:nvPicPr>
        <p:blipFill>
          <a:blip r:embed="rId7"/>
          <a:stretch>
            <a:fillRect/>
          </a:stretch>
        </p:blipFill>
        <p:spPr>
          <a:xfrm>
            <a:off x="4431792" y="3209544"/>
            <a:ext cx="256032" cy="256032"/>
          </a:xfrm>
          <a:prstGeom prst="rect">
            <a:avLst/>
          </a:prstGeom>
        </p:spPr>
      </p:pic>
      <p:sp>
        <p:nvSpPr>
          <p:cNvPr id="25" name="TextBox 24"/>
          <p:cNvSpPr txBox="1"/>
          <p:nvPr/>
        </p:nvSpPr>
        <p:spPr>
          <a:xfrm>
            <a:off x="4779264" y="3191256"/>
            <a:ext cx="2996183" cy="256032"/>
          </a:xfrm>
          <a:prstGeom prst="rect">
            <a:avLst/>
          </a:prstGeom>
          <a:noFill/>
        </p:spPr>
        <p:txBody>
          <a:bodyPr wrap="square" lIns="0" rIns="0" tIns="0" bIns="0" anchor="t">
            <a:spAutoFit/>
          </a:bodyPr>
          <a:lstStyle/>
          <a:p>
            <a:pPr algn="l">
              <a:lnSpc>
                <a:spcPct val="100000"/>
              </a:lnSpc>
            </a:pPr>
            <a:r>
              <a:rPr sz="1100" b="1" i="0">
                <a:solidFill>
                  <a:srgbClr val="028090"/>
                </a:solidFill>
                <a:latin typeface="DejaVu Sans"/>
              </a:rPr>
              <a:t>Refusal</a:t>
            </a:r>
          </a:p>
        </p:txBody>
      </p:sp>
      <p:sp>
        <p:nvSpPr>
          <p:cNvPr id="26" name="TextBox 25"/>
          <p:cNvSpPr txBox="1"/>
          <p:nvPr/>
        </p:nvSpPr>
        <p:spPr>
          <a:xfrm>
            <a:off x="4450080" y="3493008"/>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what the system says when it will not do the thing</a:t>
            </a:r>
          </a:p>
        </p:txBody>
      </p:sp>
      <p:sp>
        <p:nvSpPr>
          <p:cNvPr id="27" name="Rounded Rectangle 26"/>
          <p:cNvSpPr/>
          <p:nvPr/>
        </p:nvSpPr>
        <p:spPr>
          <a:xfrm>
            <a:off x="8068056" y="3108960"/>
            <a:ext cx="3636264" cy="749808"/>
          </a:xfrm>
          <a:prstGeom prst="roundRect">
            <a:avLst>
              <a:gd name="adj" fmla="val 22000"/>
            </a:avLst>
          </a:prstGeom>
          <a:solidFill>
            <a:srgbClr val="F4F7FA"/>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lock-teal.png"/>
          <p:cNvPicPr>
            <a:picLocks noChangeAspect="1"/>
          </p:cNvPicPr>
          <p:nvPr/>
        </p:nvPicPr>
        <p:blipFill>
          <a:blip r:embed="rId8"/>
          <a:stretch>
            <a:fillRect/>
          </a:stretch>
        </p:blipFill>
        <p:spPr>
          <a:xfrm>
            <a:off x="8214360" y="3209544"/>
            <a:ext cx="256032" cy="256032"/>
          </a:xfrm>
          <a:prstGeom prst="rect">
            <a:avLst/>
          </a:prstGeom>
        </p:spPr>
      </p:pic>
      <p:sp>
        <p:nvSpPr>
          <p:cNvPr id="29" name="TextBox 28"/>
          <p:cNvSpPr txBox="1"/>
          <p:nvPr/>
        </p:nvSpPr>
        <p:spPr>
          <a:xfrm>
            <a:off x="8561832" y="3191256"/>
            <a:ext cx="2996183" cy="256032"/>
          </a:xfrm>
          <a:prstGeom prst="rect">
            <a:avLst/>
          </a:prstGeom>
          <a:noFill/>
        </p:spPr>
        <p:txBody>
          <a:bodyPr wrap="square" lIns="0" rIns="0" tIns="0" bIns="0" anchor="t">
            <a:spAutoFit/>
          </a:bodyPr>
          <a:lstStyle/>
          <a:p>
            <a:pPr algn="l">
              <a:lnSpc>
                <a:spcPct val="100000"/>
              </a:lnSpc>
            </a:pPr>
            <a:r>
              <a:rPr sz="1100" b="1" i="0">
                <a:solidFill>
                  <a:srgbClr val="028090"/>
                </a:solidFill>
                <a:latin typeface="DejaVu Sans"/>
              </a:rPr>
              <a:t>Silence</a:t>
            </a:r>
          </a:p>
        </p:txBody>
      </p:sp>
      <p:sp>
        <p:nvSpPr>
          <p:cNvPr id="30" name="TextBox 29"/>
          <p:cNvSpPr txBox="1"/>
          <p:nvPr/>
        </p:nvSpPr>
        <p:spPr>
          <a:xfrm>
            <a:off x="8232648" y="3493008"/>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processing is running, there is no answer yet: what a person sees for that minute</a:t>
            </a:r>
          </a:p>
        </p:txBody>
      </p:sp>
      <p:sp>
        <p:nvSpPr>
          <p:cNvPr id="31" name="TextBox 30"/>
          <p:cNvSpPr txBox="1"/>
          <p:nvPr/>
        </p:nvSpPr>
        <p:spPr>
          <a:xfrm>
            <a:off x="502920" y="4133087"/>
            <a:ext cx="11201400" cy="237744"/>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The system's behaviour over time</a:t>
            </a:r>
          </a:p>
        </p:txBody>
      </p:sp>
      <p:sp>
        <p:nvSpPr>
          <p:cNvPr id="32" name="Rounded Rectangle 31"/>
          <p:cNvSpPr/>
          <p:nvPr/>
        </p:nvSpPr>
        <p:spPr>
          <a:xfrm>
            <a:off x="502920" y="4407408"/>
            <a:ext cx="3636264" cy="768096"/>
          </a:xfrm>
          <a:prstGeom prst="roundRect">
            <a:avLst>
              <a:gd name="adj" fmla="val 22000"/>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ircle-check-mid.png"/>
          <p:cNvPicPr>
            <a:picLocks noChangeAspect="1"/>
          </p:cNvPicPr>
          <p:nvPr/>
        </p:nvPicPr>
        <p:blipFill>
          <a:blip r:embed="rId9"/>
          <a:stretch>
            <a:fillRect/>
          </a:stretch>
        </p:blipFill>
        <p:spPr>
          <a:xfrm>
            <a:off x="649224" y="4498848"/>
            <a:ext cx="256032" cy="256032"/>
          </a:xfrm>
          <a:prstGeom prst="rect">
            <a:avLst/>
          </a:prstGeom>
        </p:spPr>
      </p:pic>
      <p:sp>
        <p:nvSpPr>
          <p:cNvPr id="34" name="TextBox 33"/>
          <p:cNvSpPr txBox="1"/>
          <p:nvPr/>
        </p:nvSpPr>
        <p:spPr>
          <a:xfrm>
            <a:off x="996696" y="4480560"/>
            <a:ext cx="2996183" cy="256032"/>
          </a:xfrm>
          <a:prstGeom prst="rect">
            <a:avLst/>
          </a:prstGeom>
          <a:noFill/>
        </p:spPr>
        <p:txBody>
          <a:bodyPr wrap="square" lIns="0" rIns="0" tIns="0" bIns="0" anchor="t">
            <a:spAutoFit/>
          </a:bodyPr>
          <a:lstStyle/>
          <a:p>
            <a:pPr algn="l">
              <a:lnSpc>
                <a:spcPct val="100000"/>
              </a:lnSpc>
            </a:pPr>
            <a:r>
              <a:rPr sz="1100" b="1" i="0">
                <a:solidFill>
                  <a:srgbClr val="065A82"/>
                </a:solidFill>
                <a:latin typeface="DejaVu Sans"/>
              </a:rPr>
              <a:t>Sure</a:t>
            </a:r>
          </a:p>
        </p:txBody>
      </p:sp>
      <p:sp>
        <p:nvSpPr>
          <p:cNvPr id="35" name="TextBox 34"/>
          <p:cNvSpPr txBox="1"/>
          <p:nvPr/>
        </p:nvSpPr>
        <p:spPr>
          <a:xfrm>
            <a:off x="667512" y="4773168"/>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it answers and shows what the answer is built on</a:t>
            </a:r>
          </a:p>
        </p:txBody>
      </p:sp>
      <p:sp>
        <p:nvSpPr>
          <p:cNvPr id="36" name="Rounded Rectangle 35"/>
          <p:cNvSpPr/>
          <p:nvPr/>
        </p:nvSpPr>
        <p:spPr>
          <a:xfrm>
            <a:off x="4285488" y="4407408"/>
            <a:ext cx="3636264" cy="768096"/>
          </a:xfrm>
          <a:prstGeom prst="roundRect">
            <a:avLst>
              <a:gd name="adj" fmla="val 22000"/>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circle-help-teal.png"/>
          <p:cNvPicPr>
            <a:picLocks noChangeAspect="1"/>
          </p:cNvPicPr>
          <p:nvPr/>
        </p:nvPicPr>
        <p:blipFill>
          <a:blip r:embed="rId10"/>
          <a:stretch>
            <a:fillRect/>
          </a:stretch>
        </p:blipFill>
        <p:spPr>
          <a:xfrm>
            <a:off x="4431792" y="4498848"/>
            <a:ext cx="256032" cy="256032"/>
          </a:xfrm>
          <a:prstGeom prst="rect">
            <a:avLst/>
          </a:prstGeom>
        </p:spPr>
      </p:pic>
      <p:sp>
        <p:nvSpPr>
          <p:cNvPr id="38" name="TextBox 37"/>
          <p:cNvSpPr txBox="1"/>
          <p:nvPr/>
        </p:nvSpPr>
        <p:spPr>
          <a:xfrm>
            <a:off x="4779264" y="4480560"/>
            <a:ext cx="2996183" cy="256032"/>
          </a:xfrm>
          <a:prstGeom prst="rect">
            <a:avLst/>
          </a:prstGeom>
          <a:noFill/>
        </p:spPr>
        <p:txBody>
          <a:bodyPr wrap="square" lIns="0" rIns="0" tIns="0" bIns="0" anchor="t">
            <a:spAutoFit/>
          </a:bodyPr>
          <a:lstStyle/>
          <a:p>
            <a:pPr algn="l">
              <a:lnSpc>
                <a:spcPct val="100000"/>
              </a:lnSpc>
            </a:pPr>
            <a:r>
              <a:rPr sz="1100" b="1" i="0">
                <a:solidFill>
                  <a:srgbClr val="028090"/>
                </a:solidFill>
                <a:latin typeface="DejaVu Sans"/>
              </a:rPr>
              <a:t>Unsure</a:t>
            </a:r>
          </a:p>
        </p:txBody>
      </p:sp>
      <p:sp>
        <p:nvSpPr>
          <p:cNvPr id="39" name="TextBox 38"/>
          <p:cNvSpPr txBox="1"/>
          <p:nvPr/>
        </p:nvSpPr>
        <p:spPr>
          <a:xfrm>
            <a:off x="4450080" y="4773168"/>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it says so in the first person and offers a move forward</a:t>
            </a:r>
          </a:p>
        </p:txBody>
      </p:sp>
      <p:sp>
        <p:nvSpPr>
          <p:cNvPr id="40" name="Rounded Rectangle 39"/>
          <p:cNvSpPr/>
          <p:nvPr/>
        </p:nvSpPr>
        <p:spPr>
          <a:xfrm>
            <a:off x="8068056" y="4407408"/>
            <a:ext cx="3636264" cy="768096"/>
          </a:xfrm>
          <a:prstGeom prst="roundRect">
            <a:avLst>
              <a:gd name="adj" fmla="val 22000"/>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undo-2-teal.png"/>
          <p:cNvPicPr>
            <a:picLocks noChangeAspect="1"/>
          </p:cNvPicPr>
          <p:nvPr/>
        </p:nvPicPr>
        <p:blipFill>
          <a:blip r:embed="rId11"/>
          <a:stretch>
            <a:fillRect/>
          </a:stretch>
        </p:blipFill>
        <p:spPr>
          <a:xfrm>
            <a:off x="8214360" y="4498848"/>
            <a:ext cx="256032" cy="256032"/>
          </a:xfrm>
          <a:prstGeom prst="rect">
            <a:avLst/>
          </a:prstGeom>
        </p:spPr>
      </p:pic>
      <p:sp>
        <p:nvSpPr>
          <p:cNvPr id="42" name="TextBox 41"/>
          <p:cNvSpPr txBox="1"/>
          <p:nvPr/>
        </p:nvSpPr>
        <p:spPr>
          <a:xfrm>
            <a:off x="8561832" y="4480560"/>
            <a:ext cx="2996183" cy="256032"/>
          </a:xfrm>
          <a:prstGeom prst="rect">
            <a:avLst/>
          </a:prstGeom>
          <a:noFill/>
        </p:spPr>
        <p:txBody>
          <a:bodyPr wrap="square" lIns="0" rIns="0" tIns="0" bIns="0" anchor="t">
            <a:spAutoFit/>
          </a:bodyPr>
          <a:lstStyle/>
          <a:p>
            <a:pPr algn="l">
              <a:lnSpc>
                <a:spcPct val="100000"/>
              </a:lnSpc>
            </a:pPr>
            <a:r>
              <a:rPr sz="1100" b="1" i="0">
                <a:solidFill>
                  <a:srgbClr val="028090"/>
                </a:solidFill>
                <a:latin typeface="DejaVu Sans"/>
              </a:rPr>
              <a:t>Wrong</a:t>
            </a:r>
          </a:p>
        </p:txBody>
      </p:sp>
      <p:sp>
        <p:nvSpPr>
          <p:cNvPr id="43" name="TextBox 42"/>
          <p:cNvSpPr txBox="1"/>
          <p:nvPr/>
        </p:nvSpPr>
        <p:spPr>
          <a:xfrm>
            <a:off x="8232648" y="4773168"/>
            <a:ext cx="3307080" cy="329184"/>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person sees what happened, and has a rollback path</a:t>
            </a:r>
          </a:p>
        </p:txBody>
      </p:sp>
      <p:sp>
        <p:nvSpPr>
          <p:cNvPr id="44" name="Rounded Rectangle 43"/>
          <p:cNvSpPr/>
          <p:nvPr/>
        </p:nvSpPr>
        <p:spPr>
          <a:xfrm>
            <a:off x="502920" y="5303520"/>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6" y="5358383"/>
            <a:ext cx="10762488" cy="73152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Decisions in this layer are taken once, and they outlive any layout: the product's name, the promise at the entrance, the right to stop. The name sets the picture of the system in a person's head before they see the first screen — and correcting that picture costs a recall of the entire fleet.</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15 / 56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Two diamonds: first the right problem, then the right solution</a:t>
            </a:r>
          </a:p>
        </p:txBody>
      </p:sp>
      <p:sp>
        <p:nvSpPr>
          <p:cNvPr id="3" name="Diamond 2"/>
          <p:cNvSpPr/>
          <p:nvPr/>
        </p:nvSpPr>
        <p:spPr>
          <a:xfrm>
            <a:off x="1828800" y="1874519"/>
            <a:ext cx="2468880" cy="1828800"/>
          </a:xfrm>
          <a:prstGeom prst="diamond">
            <a:avLst/>
          </a:prstGeom>
          <a:solidFill>
            <a:srgbClr val="F4F7FA"/>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468879"/>
            <a:ext cx="3383280" cy="640080"/>
          </a:xfrm>
          <a:prstGeom prst="rect">
            <a:avLst/>
          </a:prstGeom>
          <a:noFill/>
        </p:spPr>
        <p:txBody>
          <a:bodyPr wrap="square" lIns="0" rIns="0" tIns="0" bIns="0" anchor="ctr">
            <a:spAutoFit/>
          </a:bodyPr>
          <a:lstStyle/>
          <a:p>
            <a:pPr algn="ctr">
              <a:lnSpc>
                <a:spcPct val="115000"/>
              </a:lnSpc>
            </a:pPr>
            <a:r>
              <a:rPr sz="1350" b="1" i="0">
                <a:solidFill>
                  <a:srgbClr val="065A82"/>
                </a:solidFill>
                <a:latin typeface="DejaVu Sans"/>
              </a:rPr>
              <a:t>The right</a:t>
            </a:r>
          </a:p>
          <a:p>
            <a:pPr algn="ctr">
              <a:lnSpc>
                <a:spcPct val="115000"/>
              </a:lnSpc>
            </a:pPr>
            <a:r>
              <a:rPr sz="1350" b="1" i="0">
                <a:solidFill>
                  <a:srgbClr val="065A82"/>
                </a:solidFill>
                <a:latin typeface="DejaVu Sans"/>
              </a:rPr>
              <a:t>problem</a:t>
            </a:r>
          </a:p>
        </p:txBody>
      </p:sp>
      <p:sp>
        <p:nvSpPr>
          <p:cNvPr id="5" name="TextBox 4"/>
          <p:cNvSpPr txBox="1"/>
          <p:nvPr/>
        </p:nvSpPr>
        <p:spPr>
          <a:xfrm>
            <a:off x="1508760" y="1307591"/>
            <a:ext cx="3108960" cy="502920"/>
          </a:xfrm>
          <a:prstGeom prst="rect">
            <a:avLst/>
          </a:prstGeom>
          <a:noFill/>
        </p:spPr>
        <p:txBody>
          <a:bodyPr wrap="square" lIns="0" rIns="0" tIns="0" bIns="0" anchor="t">
            <a:spAutoFit/>
          </a:bodyPr>
          <a:lstStyle/>
          <a:p>
            <a:pPr algn="ctr">
              <a:lnSpc>
                <a:spcPct val="105000"/>
              </a:lnSpc>
            </a:pPr>
            <a:r>
              <a:rPr sz="1250" b="1" i="0">
                <a:solidFill>
                  <a:srgbClr val="065A82"/>
                </a:solidFill>
                <a:latin typeface="DejaVu Sans"/>
              </a:rPr>
              <a:t>Widen the problem</a:t>
            </a:r>
          </a:p>
        </p:txBody>
      </p:sp>
      <p:sp>
        <p:nvSpPr>
          <p:cNvPr id="6" name="TextBox 5"/>
          <p:cNvSpPr txBox="1"/>
          <p:nvPr/>
        </p:nvSpPr>
        <p:spPr>
          <a:xfrm>
            <a:off x="1508760" y="3776472"/>
            <a:ext cx="3108960" cy="502920"/>
          </a:xfrm>
          <a:prstGeom prst="rect">
            <a:avLst/>
          </a:prstGeom>
          <a:noFill/>
        </p:spPr>
        <p:txBody>
          <a:bodyPr wrap="square" lIns="0" rIns="0" tIns="0" bIns="0" anchor="t">
            <a:spAutoFit/>
          </a:bodyPr>
          <a:lstStyle/>
          <a:p>
            <a:pPr algn="ctr">
              <a:lnSpc>
                <a:spcPct val="105000"/>
              </a:lnSpc>
            </a:pPr>
            <a:r>
              <a:rPr sz="1250" b="1" i="0">
                <a:solidFill>
                  <a:srgbClr val="21295C"/>
                </a:solidFill>
                <a:latin typeface="DejaVu Sans"/>
              </a:rPr>
              <a:t>Narrow: one problem</a:t>
            </a:r>
          </a:p>
        </p:txBody>
      </p:sp>
      <p:sp>
        <p:nvSpPr>
          <p:cNvPr id="7" name="Diamond 6"/>
          <p:cNvSpPr/>
          <p:nvPr/>
        </p:nvSpPr>
        <p:spPr>
          <a:xfrm>
            <a:off x="5760720" y="1874519"/>
            <a:ext cx="2468880" cy="1828800"/>
          </a:xfrm>
          <a:prstGeom prst="diamond">
            <a:avLst/>
          </a:prstGeom>
          <a:solidFill>
            <a:srgbClr val="F4F7FA"/>
          </a:solidFill>
          <a:ln w="228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2468879"/>
            <a:ext cx="3383280" cy="640080"/>
          </a:xfrm>
          <a:prstGeom prst="rect">
            <a:avLst/>
          </a:prstGeom>
          <a:noFill/>
        </p:spPr>
        <p:txBody>
          <a:bodyPr wrap="square" lIns="0" rIns="0" tIns="0" bIns="0" anchor="ctr">
            <a:spAutoFit/>
          </a:bodyPr>
          <a:lstStyle/>
          <a:p>
            <a:pPr algn="ctr">
              <a:lnSpc>
                <a:spcPct val="115000"/>
              </a:lnSpc>
            </a:pPr>
            <a:r>
              <a:rPr sz="1350" b="1" i="0">
                <a:solidFill>
                  <a:srgbClr val="028090"/>
                </a:solidFill>
                <a:latin typeface="DejaVu Sans"/>
              </a:rPr>
              <a:t>The right</a:t>
            </a:r>
          </a:p>
          <a:p>
            <a:pPr algn="ctr">
              <a:lnSpc>
                <a:spcPct val="115000"/>
              </a:lnSpc>
            </a:pPr>
            <a:r>
              <a:rPr sz="1350" b="1" i="0">
                <a:solidFill>
                  <a:srgbClr val="028090"/>
                </a:solidFill>
                <a:latin typeface="DejaVu Sans"/>
              </a:rPr>
              <a:t>solution</a:t>
            </a:r>
          </a:p>
        </p:txBody>
      </p:sp>
      <p:sp>
        <p:nvSpPr>
          <p:cNvPr id="9" name="TextBox 8"/>
          <p:cNvSpPr txBox="1"/>
          <p:nvPr/>
        </p:nvSpPr>
        <p:spPr>
          <a:xfrm>
            <a:off x="5440680" y="1307591"/>
            <a:ext cx="3108960" cy="502920"/>
          </a:xfrm>
          <a:prstGeom prst="rect">
            <a:avLst/>
          </a:prstGeom>
          <a:noFill/>
        </p:spPr>
        <p:txBody>
          <a:bodyPr wrap="square" lIns="0" rIns="0" tIns="0" bIns="0" anchor="t">
            <a:spAutoFit/>
          </a:bodyPr>
          <a:lstStyle/>
          <a:p>
            <a:pPr algn="ctr">
              <a:lnSpc>
                <a:spcPct val="105000"/>
              </a:lnSpc>
            </a:pPr>
            <a:r>
              <a:rPr sz="1250" b="1" i="0">
                <a:solidFill>
                  <a:srgbClr val="028090"/>
                </a:solidFill>
                <a:latin typeface="DejaVu Sans"/>
              </a:rPr>
              <a:t>Widen the solution</a:t>
            </a:r>
          </a:p>
        </p:txBody>
      </p:sp>
      <p:sp>
        <p:nvSpPr>
          <p:cNvPr id="10" name="TextBox 9"/>
          <p:cNvSpPr txBox="1"/>
          <p:nvPr/>
        </p:nvSpPr>
        <p:spPr>
          <a:xfrm>
            <a:off x="5440680" y="3776472"/>
            <a:ext cx="3108960" cy="502920"/>
          </a:xfrm>
          <a:prstGeom prst="rect">
            <a:avLst/>
          </a:prstGeom>
          <a:noFill/>
        </p:spPr>
        <p:txBody>
          <a:bodyPr wrap="square" lIns="0" rIns="0" tIns="0" bIns="0" anchor="t">
            <a:spAutoFit/>
          </a:bodyPr>
          <a:lstStyle/>
          <a:p>
            <a:pPr algn="ctr">
              <a:lnSpc>
                <a:spcPct val="105000"/>
              </a:lnSpc>
            </a:pPr>
            <a:r>
              <a:rPr sz="1250" b="1" i="0">
                <a:solidFill>
                  <a:srgbClr val="21295C"/>
                </a:solidFill>
                <a:latin typeface="DejaVu Sans"/>
              </a:rPr>
              <a:t>Narrow: one solution</a:t>
            </a:r>
          </a:p>
        </p:txBody>
      </p:sp>
      <p:sp>
        <p:nvSpPr>
          <p:cNvPr id="11" name="Right Arrow 10"/>
          <p:cNvSpPr/>
          <p:nvPr/>
        </p:nvSpPr>
        <p:spPr>
          <a:xfrm>
            <a:off x="4617720" y="2651760"/>
            <a:ext cx="502920"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2606040"/>
            <a:ext cx="3108960" cy="1188720"/>
          </a:xfrm>
          <a:prstGeom prst="rect">
            <a:avLst/>
          </a:prstGeom>
          <a:noFill/>
        </p:spPr>
        <p:txBody>
          <a:bodyPr wrap="square" lIns="0" rIns="0" tIns="0" bIns="0" anchor="ctr">
            <a:spAutoFit/>
          </a:bodyPr>
          <a:lstStyle/>
          <a:p>
            <a:pPr algn="l">
              <a:lnSpc>
                <a:spcPct val="115000"/>
              </a:lnSpc>
            </a:pPr>
            <a:r>
              <a:rPr sz="1200" b="0" i="0">
                <a:solidFill>
                  <a:srgbClr val="21295C"/>
                </a:solidFill>
                <a:latin typeface="DejaVu Sans"/>
              </a:rPr>
              <a:t>Double Diamond </a:t>
            </a:r>
            <a:r>
              <a:rPr sz="624" baseline="30000" b="0" i="1">
                <a:latin typeface="DejaVu Sans"/>
                <a:cs typeface="DejaVu Sans"/>
                <a:ea typeface="DejaVu Sans"/>
                <a:solidFill>
                  <a:srgbClr val="1C7293"/>
                </a:solidFill>
              </a:rPr>
              <a:t>[1]</a:t>
            </a:r>
          </a:p>
          <a:p>
            <a:pPr algn="l">
              <a:lnSpc>
                <a:spcPct val="115000"/>
              </a:lnSpc>
            </a:pPr>
            <a:r>
              <a:rPr sz="1200" b="0" i="0">
                <a:solidFill>
                  <a:srgbClr val="21295C"/>
                </a:solidFill>
                <a:latin typeface="DejaVu Sans"/>
              </a:rPr>
              <a:t>(Design Council UK)</a:t>
            </a:r>
          </a:p>
          <a:p>
            <a:pPr algn="l">
              <a:lnSpc>
                <a:spcPct val="115000"/>
              </a:lnSpc>
            </a:pPr>
            <a:r>
              <a:rPr sz="1200" b="0" i="0">
                <a:solidFill>
                  <a:srgbClr val="21295C"/>
                </a:solidFill>
                <a:latin typeface="DejaVu Sans"/>
              </a:rPr>
              <a:t/>
            </a:r>
          </a:p>
          <a:p>
            <a:pPr algn="l">
              <a:lnSpc>
                <a:spcPct val="115000"/>
              </a:lnSpc>
            </a:pPr>
            <a:r>
              <a:rPr sz="1200" b="0" i="0">
                <a:solidFill>
                  <a:srgbClr val="21295C"/>
                </a:solidFill>
                <a:latin typeface="DejaVu Sans"/>
              </a:rPr>
              <a:t>Design Thinking — its 5-step version of the same framework</a:t>
            </a:r>
          </a:p>
        </p:txBody>
      </p:sp>
      <p:sp>
        <p:nvSpPr>
          <p:cNvPr id="13" name="Rounded Rectangle 12"/>
          <p:cNvSpPr/>
          <p:nvPr/>
        </p:nvSpPr>
        <p:spPr>
          <a:xfrm>
            <a:off x="502920" y="4206240"/>
            <a:ext cx="11201400" cy="12344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4261103"/>
            <a:ext cx="10762488" cy="1124712"/>
          </a:xfrm>
          <a:prstGeom prst="rect">
            <a:avLst/>
          </a:prstGeom>
          <a:noFill/>
        </p:spPr>
        <p:txBody>
          <a:bodyPr wrap="square" lIns="0" rIns="0" tIns="0" bIns="0" anchor="ctr">
            <a:spAutoFit/>
          </a:bodyPr>
          <a:lstStyle/>
          <a:p>
            <a:pPr algn="l">
              <a:lnSpc>
                <a:spcPct val="120000"/>
              </a:lnSpc>
            </a:pPr>
            <a:r>
              <a:rPr sz="1400" b="1" i="0">
                <a:solidFill>
                  <a:srgbClr val="21295C"/>
                </a:solidFill>
                <a:latin typeface="DejaVu Sans"/>
              </a:rPr>
              <a:t>A common mistake: converging on a solution without checking the problem itself — skipping the first diamond. A cheap prototype exists precisely to surface this before money is spent on development.</a:t>
            </a:r>
          </a:p>
        </p:txBody>
      </p:sp>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UK Design Council — The Double Diamond</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16 / 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400" b="1" i="0">
                <a:solidFill>
                  <a:srgbClr val="21295C"/>
                </a:solidFill>
                <a:latin typeface="DejaVu Sans"/>
              </a:rPr>
              <a:t>AI for divergence, humans for convergence</a:t>
            </a:r>
          </a:p>
        </p:txBody>
      </p:sp>
      <p:sp>
        <p:nvSpPr>
          <p:cNvPr id="3" name="Rounded Rectangle 2"/>
          <p:cNvSpPr/>
          <p:nvPr/>
        </p:nvSpPr>
        <p:spPr>
          <a:xfrm>
            <a:off x="502920" y="1463040"/>
            <a:ext cx="5989320" cy="2788920"/>
          </a:xfrm>
          <a:prstGeom prst="roundRect">
            <a:avLst>
              <a:gd name="adj" fmla="val 1092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72768"/>
            <a:ext cx="5486400" cy="365760"/>
          </a:xfrm>
          <a:prstGeom prst="rect">
            <a:avLst/>
          </a:prstGeom>
          <a:noFill/>
        </p:spPr>
        <p:txBody>
          <a:bodyPr wrap="square" lIns="0" rIns="0" tIns="0" bIns="0" anchor="t">
            <a:spAutoFit/>
          </a:bodyPr>
          <a:lstStyle/>
          <a:p>
            <a:pPr algn="l">
              <a:lnSpc>
                <a:spcPct val="115000"/>
              </a:lnSpc>
            </a:pPr>
            <a:r>
              <a:rPr sz="1350" b="1" i="0">
                <a:solidFill>
                  <a:srgbClr val="065A82"/>
                </a:solidFill>
                <a:latin typeface="DejaVu Sans"/>
              </a:rPr>
              <a:t>Direction generation</a:t>
            </a:r>
          </a:p>
        </p:txBody>
      </p:sp>
      <p:sp>
        <p:nvSpPr>
          <p:cNvPr id="5" name="Rounded Rectangle 4"/>
          <p:cNvSpPr/>
          <p:nvPr/>
        </p:nvSpPr>
        <p:spPr>
          <a:xfrm>
            <a:off x="777240" y="2057400"/>
            <a:ext cx="1188720" cy="868680"/>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nitor-smartphone-light.png"/>
          <p:cNvPicPr>
            <a:picLocks noChangeAspect="1"/>
          </p:cNvPicPr>
          <p:nvPr/>
        </p:nvPicPr>
        <p:blipFill>
          <a:blip r:embed="rId2"/>
          <a:stretch>
            <a:fillRect/>
          </a:stretch>
        </p:blipFill>
        <p:spPr>
          <a:xfrm>
            <a:off x="1161288" y="2212848"/>
            <a:ext cx="411480" cy="411480"/>
          </a:xfrm>
          <a:prstGeom prst="rect">
            <a:avLst/>
          </a:prstGeom>
        </p:spPr>
      </p:pic>
      <p:sp>
        <p:nvSpPr>
          <p:cNvPr id="7" name="TextBox 6"/>
          <p:cNvSpPr txBox="1"/>
          <p:nvPr/>
        </p:nvSpPr>
        <p:spPr>
          <a:xfrm>
            <a:off x="777240" y="2761488"/>
            <a:ext cx="1188720" cy="228600"/>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option 1</a:t>
            </a:r>
          </a:p>
        </p:txBody>
      </p:sp>
      <p:sp>
        <p:nvSpPr>
          <p:cNvPr id="8" name="Rounded Rectangle 7"/>
          <p:cNvSpPr/>
          <p:nvPr/>
        </p:nvSpPr>
        <p:spPr>
          <a:xfrm>
            <a:off x="2194560" y="2057400"/>
            <a:ext cx="1188720" cy="868680"/>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onitor-smartphone-light.png"/>
          <p:cNvPicPr>
            <a:picLocks noChangeAspect="1"/>
          </p:cNvPicPr>
          <p:nvPr/>
        </p:nvPicPr>
        <p:blipFill>
          <a:blip r:embed="rId2"/>
          <a:stretch>
            <a:fillRect/>
          </a:stretch>
        </p:blipFill>
        <p:spPr>
          <a:xfrm>
            <a:off x="2578608" y="2212848"/>
            <a:ext cx="411480" cy="411480"/>
          </a:xfrm>
          <a:prstGeom prst="rect">
            <a:avLst/>
          </a:prstGeom>
        </p:spPr>
      </p:pic>
      <p:sp>
        <p:nvSpPr>
          <p:cNvPr id="10" name="TextBox 9"/>
          <p:cNvSpPr txBox="1"/>
          <p:nvPr/>
        </p:nvSpPr>
        <p:spPr>
          <a:xfrm>
            <a:off x="2194560" y="2761488"/>
            <a:ext cx="1188720" cy="228600"/>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option 2</a:t>
            </a:r>
          </a:p>
        </p:txBody>
      </p:sp>
      <p:sp>
        <p:nvSpPr>
          <p:cNvPr id="11" name="Rounded Rectangle 10"/>
          <p:cNvSpPr/>
          <p:nvPr/>
        </p:nvSpPr>
        <p:spPr>
          <a:xfrm>
            <a:off x="3611880" y="2057400"/>
            <a:ext cx="1188720" cy="868680"/>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nitor-smartphone-light.png"/>
          <p:cNvPicPr>
            <a:picLocks noChangeAspect="1"/>
          </p:cNvPicPr>
          <p:nvPr/>
        </p:nvPicPr>
        <p:blipFill>
          <a:blip r:embed="rId2"/>
          <a:stretch>
            <a:fillRect/>
          </a:stretch>
        </p:blipFill>
        <p:spPr>
          <a:xfrm>
            <a:off x="3995928" y="2212848"/>
            <a:ext cx="411480" cy="411480"/>
          </a:xfrm>
          <a:prstGeom prst="rect">
            <a:avLst/>
          </a:prstGeom>
        </p:spPr>
      </p:pic>
      <p:sp>
        <p:nvSpPr>
          <p:cNvPr id="13" name="TextBox 12"/>
          <p:cNvSpPr txBox="1"/>
          <p:nvPr/>
        </p:nvSpPr>
        <p:spPr>
          <a:xfrm>
            <a:off x="3611880" y="2761488"/>
            <a:ext cx="1188720" cy="228600"/>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option 3</a:t>
            </a:r>
          </a:p>
        </p:txBody>
      </p:sp>
      <p:sp>
        <p:nvSpPr>
          <p:cNvPr id="14" name="Rounded Rectangle 13"/>
          <p:cNvSpPr/>
          <p:nvPr/>
        </p:nvSpPr>
        <p:spPr>
          <a:xfrm>
            <a:off x="5029200" y="2057400"/>
            <a:ext cx="1188720" cy="868680"/>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onitor-smartphone-light.png"/>
          <p:cNvPicPr>
            <a:picLocks noChangeAspect="1"/>
          </p:cNvPicPr>
          <p:nvPr/>
        </p:nvPicPr>
        <p:blipFill>
          <a:blip r:embed="rId2"/>
          <a:stretch>
            <a:fillRect/>
          </a:stretch>
        </p:blipFill>
        <p:spPr>
          <a:xfrm>
            <a:off x="5413248" y="2212848"/>
            <a:ext cx="411480" cy="411480"/>
          </a:xfrm>
          <a:prstGeom prst="rect">
            <a:avLst/>
          </a:prstGeom>
        </p:spPr>
      </p:pic>
      <p:sp>
        <p:nvSpPr>
          <p:cNvPr id="16" name="TextBox 15"/>
          <p:cNvSpPr txBox="1"/>
          <p:nvPr/>
        </p:nvSpPr>
        <p:spPr>
          <a:xfrm>
            <a:off x="5029200" y="2761488"/>
            <a:ext cx="1188720" cy="228600"/>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option 4</a:t>
            </a:r>
          </a:p>
        </p:txBody>
      </p:sp>
      <p:sp>
        <p:nvSpPr>
          <p:cNvPr id="17" name="Right Arrow 16"/>
          <p:cNvSpPr/>
          <p:nvPr/>
        </p:nvSpPr>
        <p:spPr>
          <a:xfrm>
            <a:off x="2788920" y="3246120"/>
            <a:ext cx="914400" cy="27432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331720" y="3611880"/>
            <a:ext cx="1828800" cy="502920"/>
          </a:xfrm>
          <a:prstGeom prst="roundRect">
            <a:avLst>
              <a:gd name="adj" fmla="val 12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31720" y="3675887"/>
            <a:ext cx="1828800" cy="365760"/>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1 refined</a:t>
            </a:r>
          </a:p>
        </p:txBody>
      </p:sp>
      <p:sp>
        <p:nvSpPr>
          <p:cNvPr id="20" name="Rounded Rectangle 19"/>
          <p:cNvSpPr/>
          <p:nvPr/>
        </p:nvSpPr>
        <p:spPr>
          <a:xfrm>
            <a:off x="6720840" y="1463040"/>
            <a:ext cx="4983480" cy="2788920"/>
          </a:xfrm>
          <a:prstGeom prst="roundRect">
            <a:avLst>
              <a:gd name="adj" fmla="val 10928"/>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0" y="1572768"/>
            <a:ext cx="4572000" cy="365760"/>
          </a:xfrm>
          <a:prstGeom prst="rect">
            <a:avLst/>
          </a:prstGeom>
          <a:noFill/>
        </p:spPr>
        <p:txBody>
          <a:bodyPr wrap="square" lIns="0" rIns="0" tIns="0" bIns="0" anchor="t">
            <a:spAutoFit/>
          </a:bodyPr>
          <a:lstStyle/>
          <a:p>
            <a:pPr algn="l">
              <a:lnSpc>
                <a:spcPct val="115000"/>
              </a:lnSpc>
            </a:pPr>
            <a:r>
              <a:rPr sz="1350" b="1" i="0">
                <a:solidFill>
                  <a:srgbClr val="028090"/>
                </a:solidFill>
                <a:latin typeface="DejaVu Sans"/>
              </a:rPr>
              <a:t>2025-26 tools</a:t>
            </a:r>
          </a:p>
        </p:txBody>
      </p:sp>
      <p:sp>
        <p:nvSpPr>
          <p:cNvPr id="22" name="TextBox 21"/>
          <p:cNvSpPr txBox="1"/>
          <p:nvPr/>
        </p:nvSpPr>
        <p:spPr>
          <a:xfrm>
            <a:off x="6949440" y="2011680"/>
            <a:ext cx="4572000" cy="457200"/>
          </a:xfrm>
          <a:prstGeom prst="rect">
            <a:avLst/>
          </a:prstGeom>
          <a:noFill/>
        </p:spPr>
        <p:txBody>
          <a:bodyPr wrap="square" lIns="0" rIns="0" tIns="0" bIns="0" anchor="t">
            <a:spAutoFit/>
          </a:bodyPr>
          <a:lstStyle/>
          <a:p>
            <a:pPr algn="l">
              <a:lnSpc>
                <a:spcPct val="115000"/>
              </a:lnSpc>
            </a:pPr>
            <a:r>
              <a:rPr sz="1250" b="0" i="0">
                <a:solidFill>
                  <a:srgbClr val="21295C"/>
                </a:solidFill>
                <a:latin typeface="DejaVu Sans"/>
              </a:rPr>
              <a:t>v0 (Vercel) · Figma Make </a:t>
            </a:r>
            <a:r>
              <a:rPr sz="650" baseline="30000" b="0" i="1">
                <a:latin typeface="DejaVu Sans"/>
                <a:cs typeface="DejaVu Sans"/>
                <a:ea typeface="DejaVu Sans"/>
                <a:solidFill>
                  <a:srgbClr val="1C7293"/>
                </a:solidFill>
              </a:rPr>
              <a:t>[1]</a:t>
            </a:r>
            <a:r>
              <a:rPr sz="1250" b="0" i="0">
                <a:latin typeface="DejaVu Sans"/>
                <a:cs typeface="DejaVu Sans"/>
                <a:ea typeface="DejaVu Sans"/>
                <a:solidFill>
                  <a:srgbClr val="21295C"/>
                </a:solidFill>
              </a:rPr>
              <a:t> · Google Stitch </a:t>
            </a:r>
            <a:r>
              <a:rPr sz="650" baseline="30000" b="0" i="1">
                <a:latin typeface="DejaVu Sans"/>
                <a:cs typeface="DejaVu Sans"/>
                <a:ea typeface="DejaVu Sans"/>
                <a:solidFill>
                  <a:srgbClr val="1C7293"/>
                </a:solidFill>
              </a:rPr>
              <a:t>[2]</a:t>
            </a:r>
            <a:r>
              <a:rPr sz="1250" b="0" i="0">
                <a:latin typeface="DejaVu Sans"/>
                <a:cs typeface="DejaVu Sans"/>
                <a:ea typeface="DejaVu Sans"/>
                <a:solidFill>
                  <a:srgbClr val="21295C"/>
                </a:solidFill>
              </a:rPr>
              <a:t> · bolt.new</a:t>
            </a:r>
          </a:p>
        </p:txBody>
      </p:sp>
      <p:sp>
        <p:nvSpPr>
          <p:cNvPr id="23" name="TextBox 22"/>
          <p:cNvSpPr txBox="1"/>
          <p:nvPr/>
        </p:nvSpPr>
        <p:spPr>
          <a:xfrm>
            <a:off x="6949440" y="2697480"/>
            <a:ext cx="4572000" cy="1371600"/>
          </a:xfrm>
          <a:prstGeom prst="rect">
            <a:avLst/>
          </a:prstGeom>
          <a:noFill/>
        </p:spPr>
        <p:txBody>
          <a:bodyPr wrap="square" lIns="0" rIns="0" tIns="0" bIns="0" anchor="t">
            <a:spAutoFit/>
          </a:bodyPr>
          <a:lstStyle/>
          <a:p>
            <a:pPr algn="l">
              <a:lnSpc>
                <a:spcPct val="118000"/>
              </a:lnSpc>
            </a:pPr>
            <a:r>
              <a:rPr sz="1200" b="0" i="0">
                <a:solidFill>
                  <a:srgbClr val="21295C"/>
                </a:solidFill>
                <a:latin typeface="DejaVu Sans"/>
              </a:rPr>
              <a:t>• 2-4 directions in minutes (used to be a day of manual wireframing)</a:t>
            </a:r>
          </a:p>
          <a:p>
            <a:pPr algn="l">
              <a:lnSpc>
                <a:spcPct val="118000"/>
              </a:lnSpc>
            </a:pPr>
            <a:r>
              <a:rPr sz="1200" b="0" i="0">
                <a:solidFill>
                  <a:srgbClr val="21295C"/>
                </a:solidFill>
                <a:latin typeface="DejaVu Sans"/>
              </a:rPr>
              <a:t>• Figma Make pulls in the team's own components — less rework</a:t>
            </a:r>
          </a:p>
        </p:txBody>
      </p:sp>
      <p:sp>
        <p:nvSpPr>
          <p:cNvPr id="24" name="Rounded Rectangle 23"/>
          <p:cNvSpPr/>
          <p:nvPr/>
        </p:nvSpPr>
        <p:spPr>
          <a:xfrm>
            <a:off x="502920" y="443484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489703"/>
            <a:ext cx="10762488" cy="85039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Convergence needs judgment about specific context that isn't in the training data: AI widens the space of options, choosing and testing with a real user stays with the human.</a:t>
            </a:r>
          </a:p>
        </p:txBody>
      </p:sp>
      <p:sp>
        <p:nvSpPr>
          <p:cNvPr id="26" name="TextBox 25"/>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Figma — 2026 AI design tools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Google Stitch (ex-Galileo AI)</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17 / 56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A design system: shared interface rules that a machine can check on its own</a:t>
            </a:r>
          </a:p>
        </p:txBody>
      </p:sp>
      <p:sp>
        <p:nvSpPr>
          <p:cNvPr id="3" name="Rounded Rectangle 2"/>
          <p:cNvSpPr/>
          <p:nvPr/>
        </p:nvSpPr>
        <p:spPr>
          <a:xfrm>
            <a:off x="502920" y="825525"/>
            <a:ext cx="1152144" cy="1083455"/>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108345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25525"/>
            <a:ext cx="9902952" cy="1083455"/>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900575"/>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A </a:t>
            </a:r>
            <a:r>
              <a:rPr sz="1150" b="1" i="0">
                <a:solidFill>
                  <a:srgbClr val="21295C"/>
                </a:solidFill>
                <a:latin typeface="DejaVu Sans"/>
              </a:rPr>
              <a:t>design system</a:t>
            </a:r>
            <a:r>
              <a:rPr sz="1150" b="0" i="0">
                <a:solidFill>
                  <a:srgbClr val="21295C"/>
                </a:solidFill>
                <a:latin typeface="DejaVu Sans"/>
              </a:rPr>
              <a:t> is the shared body of interface rules for a product and the ready-made components that go with it: the colour combinations allowed, the sizes of buttons and fields, how an element looks under the cursor. It used to be a document for people. What matters more now is the other part: some of the rules can be written so that a machine reads and checks them.</a:t>
            </a:r>
          </a:p>
        </p:txBody>
      </p:sp>
      <p:sp>
        <p:nvSpPr>
          <p:cNvPr id="7" name="Rounded Rectangle 6"/>
          <p:cNvSpPr/>
          <p:nvPr/>
        </p:nvSpPr>
        <p:spPr>
          <a:xfrm>
            <a:off x="502920" y="1972988"/>
            <a:ext cx="1152144" cy="2194560"/>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72988"/>
            <a:ext cx="1060704" cy="219456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972988"/>
            <a:ext cx="9902952" cy="219456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4248" y="2064428"/>
            <a:ext cx="9537192" cy="237744"/>
          </a:xfrm>
          <a:prstGeom prst="rect">
            <a:avLst/>
          </a:prstGeom>
          <a:noFill/>
        </p:spPr>
        <p:txBody>
          <a:bodyPr wrap="square" lIns="0" rIns="0" tIns="0" bIns="0" anchor="t">
            <a:spAutoFit/>
          </a:bodyPr>
          <a:lstStyle/>
          <a:p>
            <a:pPr algn="l">
              <a:lnSpc>
                <a:spcPct val="105000"/>
              </a:lnSpc>
            </a:pPr>
            <a:r>
              <a:rPr sz="919" b="0" i="1">
                <a:solidFill>
                  <a:srgbClr val="5B6678"/>
                </a:solidFill>
                <a:latin typeface="DejaVu Sans"/>
              </a:rPr>
              <a:t>from the bottom up: each layer is stronger than the one below it, and only the top one turns a wish into a guarantee</a:t>
            </a:r>
          </a:p>
        </p:txBody>
      </p:sp>
      <p:sp>
        <p:nvSpPr>
          <p:cNvPr id="11" name="Rounded Rectangle 10"/>
          <p:cNvSpPr/>
          <p:nvPr/>
        </p:nvSpPr>
        <p:spPr>
          <a:xfrm>
            <a:off x="1984248" y="2338748"/>
            <a:ext cx="9537192" cy="603504"/>
          </a:xfrm>
          <a:prstGeom prst="roundRect">
            <a:avLst>
              <a:gd name="adj" fmla="val 22000"/>
            </a:avLst>
          </a:prstGeom>
          <a:solidFill>
            <a:srgbClr val="FFFFFF"/>
          </a:solidFill>
          <a:ln w="279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84248" y="2338748"/>
            <a:ext cx="2212848" cy="603504"/>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ield-check-white.png"/>
          <p:cNvPicPr>
            <a:picLocks noChangeAspect="1"/>
          </p:cNvPicPr>
          <p:nvPr/>
        </p:nvPicPr>
        <p:blipFill>
          <a:blip r:embed="rId2"/>
          <a:stretch>
            <a:fillRect/>
          </a:stretch>
        </p:blipFill>
        <p:spPr>
          <a:xfrm>
            <a:off x="2112264" y="2521628"/>
            <a:ext cx="237744" cy="237744"/>
          </a:xfrm>
          <a:prstGeom prst="rect">
            <a:avLst/>
          </a:prstGeom>
        </p:spPr>
      </p:pic>
      <p:sp>
        <p:nvSpPr>
          <p:cNvPr id="14" name="TextBox 13"/>
          <p:cNvSpPr txBox="1"/>
          <p:nvPr/>
        </p:nvSpPr>
        <p:spPr>
          <a:xfrm>
            <a:off x="2423160" y="2338748"/>
            <a:ext cx="1719072" cy="603504"/>
          </a:xfrm>
          <a:prstGeom prst="rect">
            <a:avLst/>
          </a:prstGeom>
          <a:noFill/>
        </p:spPr>
        <p:txBody>
          <a:bodyPr wrap="square" lIns="0" rIns="0" tIns="0" bIns="0" anchor="ctr">
            <a:spAutoFit/>
          </a:bodyPr>
          <a:lstStyle/>
          <a:p>
            <a:pPr algn="l">
              <a:lnSpc>
                <a:spcPct val="102000"/>
              </a:lnSpc>
            </a:pPr>
            <a:r>
              <a:rPr sz="919" b="1" i="0">
                <a:solidFill>
                  <a:srgbClr val="FFFFFF"/>
                </a:solidFill>
                <a:latin typeface="DejaVu Sans"/>
              </a:rPr>
              <a:t>3. A CHECK THAT</a:t>
            </a:r>
          </a:p>
          <a:p>
            <a:pPr algn="l">
              <a:lnSpc>
                <a:spcPct val="102000"/>
              </a:lnSpc>
            </a:pPr>
            <a:r>
              <a:rPr sz="919" b="1" i="0">
                <a:solidFill>
                  <a:srgbClr val="FFFFFF"/>
                </a:solidFill>
                <a:latin typeface="DejaVu Sans"/>
              </a:rPr>
              <a:t>STOPS THE RELEASE</a:t>
            </a:r>
          </a:p>
        </p:txBody>
      </p:sp>
      <p:sp>
        <p:nvSpPr>
          <p:cNvPr id="15" name="TextBox 14"/>
          <p:cNvSpPr txBox="1"/>
          <p:nvPr/>
        </p:nvSpPr>
        <p:spPr>
          <a:xfrm>
            <a:off x="4325112" y="2375324"/>
            <a:ext cx="7086600" cy="530352"/>
          </a:xfrm>
          <a:prstGeom prst="rect">
            <a:avLst/>
          </a:prstGeom>
          <a:noFill/>
        </p:spPr>
        <p:txBody>
          <a:bodyPr wrap="square" lIns="0" rIns="0" tIns="0" bIns="0" anchor="ctr">
            <a:spAutoFit/>
          </a:bodyPr>
          <a:lstStyle/>
          <a:p>
            <a:pPr algn="l">
              <a:lnSpc>
                <a:spcPct val="112000"/>
              </a:lnSpc>
            </a:pPr>
            <a:r>
              <a:rPr sz="1019" b="0" i="0">
                <a:solidFill>
                  <a:srgbClr val="21295C"/>
                </a:solidFill>
                <a:latin typeface="DejaVu Sans"/>
              </a:rPr>
              <a:t>The rule is checked automatically on every generated screen, and a breach is blocked with no discussion. </a:t>
            </a:r>
            <a:r>
              <a:rPr sz="1019" b="1" i="0">
                <a:solidFill>
                  <a:srgbClr val="065A82"/>
                </a:solidFill>
                <a:latin typeface="DejaVu Sans"/>
              </a:rPr>
              <a:t>Only this layer gives a guarantee.</a:t>
            </a:r>
          </a:p>
        </p:txBody>
      </p:sp>
      <p:sp>
        <p:nvSpPr>
          <p:cNvPr id="16" name="Rounded Rectangle 15"/>
          <p:cNvSpPr/>
          <p:nvPr/>
        </p:nvSpPr>
        <p:spPr>
          <a:xfrm>
            <a:off x="1984248" y="2997116"/>
            <a:ext cx="8392728" cy="512064"/>
          </a:xfrm>
          <a:prstGeom prst="roundRect">
            <a:avLst>
              <a:gd name="adj" fmla="val 22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984248" y="2997116"/>
            <a:ext cx="2212848" cy="512064"/>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omponent-white.png"/>
          <p:cNvPicPr>
            <a:picLocks noChangeAspect="1"/>
          </p:cNvPicPr>
          <p:nvPr/>
        </p:nvPicPr>
        <p:blipFill>
          <a:blip r:embed="rId3"/>
          <a:stretch>
            <a:fillRect/>
          </a:stretch>
        </p:blipFill>
        <p:spPr>
          <a:xfrm>
            <a:off x="2112264" y="3134276"/>
            <a:ext cx="237744" cy="237744"/>
          </a:xfrm>
          <a:prstGeom prst="rect">
            <a:avLst/>
          </a:prstGeom>
        </p:spPr>
      </p:pic>
      <p:sp>
        <p:nvSpPr>
          <p:cNvPr id="19" name="TextBox 18"/>
          <p:cNvSpPr txBox="1"/>
          <p:nvPr/>
        </p:nvSpPr>
        <p:spPr>
          <a:xfrm>
            <a:off x="2423160" y="2997116"/>
            <a:ext cx="1719072" cy="512064"/>
          </a:xfrm>
          <a:prstGeom prst="rect">
            <a:avLst/>
          </a:prstGeom>
          <a:noFill/>
        </p:spPr>
        <p:txBody>
          <a:bodyPr wrap="square" lIns="0" rIns="0" tIns="0" bIns="0" anchor="ctr">
            <a:spAutoFit/>
          </a:bodyPr>
          <a:lstStyle/>
          <a:p>
            <a:pPr algn="l">
              <a:lnSpc>
                <a:spcPct val="102000"/>
              </a:lnSpc>
            </a:pPr>
            <a:r>
              <a:rPr sz="919" b="1" i="0">
                <a:solidFill>
                  <a:srgbClr val="FFFFFF"/>
                </a:solidFill>
                <a:latin typeface="DejaVu Sans"/>
              </a:rPr>
              <a:t>2. OWN COMPONENTS</a:t>
            </a:r>
          </a:p>
          <a:p>
            <a:pPr algn="l">
              <a:lnSpc>
                <a:spcPct val="102000"/>
              </a:lnSpc>
            </a:pPr>
            <a:r>
              <a:rPr sz="919" b="1" i="0">
                <a:solidFill>
                  <a:srgbClr val="FFFFFF"/>
                </a:solidFill>
                <a:latin typeface="DejaVu Sans"/>
              </a:rPr>
              <a:t>INSTEAD OF STOCK ONES</a:t>
            </a:r>
          </a:p>
        </p:txBody>
      </p:sp>
      <p:sp>
        <p:nvSpPr>
          <p:cNvPr id="20" name="TextBox 19"/>
          <p:cNvSpPr txBox="1"/>
          <p:nvPr/>
        </p:nvSpPr>
        <p:spPr>
          <a:xfrm>
            <a:off x="4325112" y="3033692"/>
            <a:ext cx="5942136" cy="438912"/>
          </a:xfrm>
          <a:prstGeom prst="rect">
            <a:avLst/>
          </a:prstGeom>
          <a:noFill/>
        </p:spPr>
        <p:txBody>
          <a:bodyPr wrap="square" lIns="0" rIns="0" tIns="0" bIns="0" anchor="ctr">
            <a:spAutoFit/>
          </a:bodyPr>
          <a:lstStyle/>
          <a:p>
            <a:pPr algn="l">
              <a:lnSpc>
                <a:spcPct val="112000"/>
              </a:lnSpc>
            </a:pPr>
            <a:r>
              <a:rPr sz="1019" b="0" i="0">
                <a:solidFill>
                  <a:srgbClr val="21295C"/>
                </a:solidFill>
                <a:latin typeface="DejaVu Sans"/>
              </a:rPr>
              <a:t>The generator is given the team's own components. This </a:t>
            </a:r>
            <a:r>
              <a:rPr sz="1019" b="1" i="0">
                <a:solidFill>
                  <a:srgbClr val="065A82"/>
                </a:solidFill>
                <a:latin typeface="DejaVu Sans"/>
              </a:rPr>
              <a:t>lowers the chance of a breach and guarantees nothing.</a:t>
            </a:r>
          </a:p>
        </p:txBody>
      </p:sp>
      <p:sp>
        <p:nvSpPr>
          <p:cNvPr id="21" name="Rounded Rectangle 20"/>
          <p:cNvSpPr/>
          <p:nvPr/>
        </p:nvSpPr>
        <p:spPr>
          <a:xfrm>
            <a:off x="1984248" y="3564044"/>
            <a:ext cx="7248265" cy="512064"/>
          </a:xfrm>
          <a:prstGeom prst="roundRect">
            <a:avLst>
              <a:gd name="adj" fmla="val 22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984248" y="3564044"/>
            <a:ext cx="2212848" cy="512064"/>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alette-white.png"/>
          <p:cNvPicPr>
            <a:picLocks noChangeAspect="1"/>
          </p:cNvPicPr>
          <p:nvPr/>
        </p:nvPicPr>
        <p:blipFill>
          <a:blip r:embed="rId4"/>
          <a:stretch>
            <a:fillRect/>
          </a:stretch>
        </p:blipFill>
        <p:spPr>
          <a:xfrm>
            <a:off x="2112264" y="3701204"/>
            <a:ext cx="237744" cy="237744"/>
          </a:xfrm>
          <a:prstGeom prst="rect">
            <a:avLst/>
          </a:prstGeom>
        </p:spPr>
      </p:pic>
      <p:sp>
        <p:nvSpPr>
          <p:cNvPr id="24" name="TextBox 23"/>
          <p:cNvSpPr txBox="1"/>
          <p:nvPr/>
        </p:nvSpPr>
        <p:spPr>
          <a:xfrm>
            <a:off x="2423160" y="3564044"/>
            <a:ext cx="1719072" cy="512064"/>
          </a:xfrm>
          <a:prstGeom prst="rect">
            <a:avLst/>
          </a:prstGeom>
          <a:noFill/>
        </p:spPr>
        <p:txBody>
          <a:bodyPr wrap="square" lIns="0" rIns="0" tIns="0" bIns="0" anchor="ctr">
            <a:spAutoFit/>
          </a:bodyPr>
          <a:lstStyle/>
          <a:p>
            <a:pPr algn="l">
              <a:lnSpc>
                <a:spcPct val="102000"/>
              </a:lnSpc>
            </a:pPr>
            <a:r>
              <a:rPr sz="919" b="1" i="0">
                <a:solidFill>
                  <a:srgbClr val="FFFFFF"/>
                </a:solidFill>
                <a:latin typeface="DejaVu Sans"/>
              </a:rPr>
              <a:t>1. RULES WRITTEN</a:t>
            </a:r>
          </a:p>
          <a:p>
            <a:pPr algn="l">
              <a:lnSpc>
                <a:spcPct val="102000"/>
              </a:lnSpc>
            </a:pPr>
            <a:r>
              <a:rPr sz="919" b="1" i="0">
                <a:solidFill>
                  <a:srgbClr val="FFFFFF"/>
                </a:solidFill>
                <a:latin typeface="DejaVu Sans"/>
              </a:rPr>
              <a:t>AS NUMBERS</a:t>
            </a:r>
          </a:p>
        </p:txBody>
      </p:sp>
      <p:sp>
        <p:nvSpPr>
          <p:cNvPr id="25" name="TextBox 24"/>
          <p:cNvSpPr txBox="1"/>
          <p:nvPr/>
        </p:nvSpPr>
        <p:spPr>
          <a:xfrm>
            <a:off x="4325112" y="3600620"/>
            <a:ext cx="4797673" cy="438912"/>
          </a:xfrm>
          <a:prstGeom prst="rect">
            <a:avLst/>
          </a:prstGeom>
          <a:noFill/>
        </p:spPr>
        <p:txBody>
          <a:bodyPr wrap="square" lIns="0" rIns="0" tIns="0" bIns="0" anchor="ctr">
            <a:spAutoFit/>
          </a:bodyPr>
          <a:lstStyle/>
          <a:p>
            <a:pPr algn="l">
              <a:lnSpc>
                <a:spcPct val="112000"/>
              </a:lnSpc>
            </a:pPr>
            <a:r>
              <a:rPr sz="1019" b="0" i="0">
                <a:solidFill>
                  <a:srgbClr val="21295C"/>
                </a:solidFill>
                <a:latin typeface="DejaVu Sans"/>
              </a:rPr>
              <a:t>While a rule lives in a picture of a mockup, only a person can check it, and only by eye.</a:t>
            </a:r>
          </a:p>
        </p:txBody>
      </p:sp>
      <p:sp>
        <p:nvSpPr>
          <p:cNvPr id="26" name="Rounded Rectangle 25"/>
          <p:cNvSpPr/>
          <p:nvPr/>
        </p:nvSpPr>
        <p:spPr>
          <a:xfrm>
            <a:off x="502920" y="4231556"/>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31556"/>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28" name="Rounded Rectangle 27"/>
          <p:cNvSpPr/>
          <p:nvPr/>
        </p:nvSpPr>
        <p:spPr>
          <a:xfrm>
            <a:off x="1801368" y="4231556"/>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984248" y="4322996"/>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84831" y="4368716"/>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a body of rules for people</a:t>
            </a:r>
          </a:p>
        </p:txBody>
      </p:sp>
      <p:sp>
        <p:nvSpPr>
          <p:cNvPr id="31" name="TextBox 30"/>
          <p:cNvSpPr txBox="1"/>
          <p:nvPr/>
        </p:nvSpPr>
        <p:spPr>
          <a:xfrm>
            <a:off x="2084831" y="459731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 designer checks it by eye: a set of rules keeps the product consistent.</a:t>
            </a:r>
          </a:p>
        </p:txBody>
      </p:sp>
      <p:sp>
        <p:nvSpPr>
          <p:cNvPr id="32" name="Rounded Rectangle 31"/>
          <p:cNvSpPr/>
          <p:nvPr/>
        </p:nvSpPr>
        <p:spPr>
          <a:xfrm>
            <a:off x="6844284" y="4322996"/>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4868" y="4368716"/>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why the rules became machine-readable</a:t>
            </a:r>
          </a:p>
        </p:txBody>
      </p:sp>
      <p:sp>
        <p:nvSpPr>
          <p:cNvPr id="34" name="TextBox 33"/>
          <p:cNvSpPr txBox="1"/>
          <p:nvPr/>
        </p:nvSpPr>
        <p:spPr>
          <a:xfrm>
            <a:off x="6944868" y="459731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generator turns out screens faster than a person can look at them. A machine check </a:t>
            </a:r>
            <a:r>
              <a:rPr sz="950" b="1" i="0">
                <a:solidFill>
                  <a:srgbClr val="21295C"/>
                </a:solidFill>
                <a:latin typeface="DejaVu Sans"/>
              </a:rPr>
              <a:t>grows with the generation</a:t>
            </a:r>
            <a:r>
              <a:rPr sz="950" b="0" i="0">
                <a:solidFill>
                  <a:srgbClr val="21295C"/>
                </a:solidFill>
                <a:latin typeface="DejaVu Sans"/>
              </a:rPr>
              <a:t>.</a:t>
            </a:r>
          </a:p>
        </p:txBody>
      </p:sp>
      <p:sp>
        <p:nvSpPr>
          <p:cNvPr id="35" name="Rounded Rectangle 34"/>
          <p:cNvSpPr/>
          <p:nvPr/>
        </p:nvSpPr>
        <p:spPr>
          <a:xfrm>
            <a:off x="502920" y="5369584"/>
            <a:ext cx="1152144" cy="984117"/>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369584"/>
            <a:ext cx="1060704" cy="984117"/>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37" name="Rounded Rectangle 36"/>
          <p:cNvSpPr/>
          <p:nvPr/>
        </p:nvSpPr>
        <p:spPr>
          <a:xfrm>
            <a:off x="1801368" y="5369584"/>
            <a:ext cx="9902952" cy="984117"/>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84248" y="5461024"/>
            <a:ext cx="9537192" cy="801237"/>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A machine checks only what can be expressed as a number. "Is this clear to a living person" stays with the person: a screen can pass every check and remain unclear. And separately: </a:t>
            </a:r>
            <a:r>
              <a:rPr sz="1000" b="1" i="0">
                <a:solidFill>
                  <a:srgbClr val="21295C"/>
                </a:solidFill>
                <a:latin typeface="DejaVu Sans"/>
              </a:rPr>
              <a:t>a request to the generator is not a control mechanism</a:t>
            </a:r>
            <a:r>
              <a:rPr sz="1000" b="1" i="0">
                <a:solidFill>
                  <a:srgbClr val="21295C"/>
                </a:solidFill>
                <a:latin typeface="DejaVu Sans"/>
              </a:rPr>
              <a:t> — a mechanism is a rule that can stop a release. This check looks at the screen: the system's behaviour over time cannot be expressed as a number and is not covered.</a:t>
            </a:r>
          </a:p>
        </p:txBody>
      </p:sp>
      <p:sp>
        <p:nvSpPr>
          <p:cNvPr id="39" name="TextBox 3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18 / 56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29% WCAG conformance across 21,880 evaluations — the platform matters more than the prompt </a:t>
            </a:r>
            <a:r>
              <a:rPr sz="1092" baseline="30000" b="0" i="1">
                <a:latin typeface="DejaVu Sans"/>
                <a:cs typeface="DejaVu Sans"/>
                <a:ea typeface="DejaVu Sans"/>
                <a:solidFill>
                  <a:srgbClr val="1C7293"/>
                </a:solidFill>
              </a:rPr>
              <a:t>[1]</a:t>
            </a:r>
          </a:p>
        </p:txBody>
      </p:sp>
      <p:sp>
        <p:nvSpPr>
          <p:cNvPr id="3" name="Rounded Rectangle 2"/>
          <p:cNvSpPr/>
          <p:nvPr/>
        </p:nvSpPr>
        <p:spPr>
          <a:xfrm>
            <a:off x="502920" y="1417320"/>
            <a:ext cx="443484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wcag-29.png"/>
          <p:cNvPicPr>
            <a:picLocks noChangeAspect="1"/>
          </p:cNvPicPr>
          <p:nvPr/>
        </p:nvPicPr>
        <p:blipFill>
          <a:blip r:embed="rId2"/>
          <a:stretch>
            <a:fillRect/>
          </a:stretch>
        </p:blipFill>
        <p:spPr>
          <a:xfrm>
            <a:off x="1280160" y="1600200"/>
            <a:ext cx="2880360" cy="2880360"/>
          </a:xfrm>
          <a:prstGeom prst="rect">
            <a:avLst/>
          </a:prstGeom>
        </p:spPr>
      </p:pic>
      <p:sp>
        <p:nvSpPr>
          <p:cNvPr id="5" name="Rounded Rectangle 4"/>
          <p:cNvSpPr/>
          <p:nvPr/>
        </p:nvSpPr>
        <p:spPr>
          <a:xfrm>
            <a:off x="5166360" y="1417320"/>
            <a:ext cx="32461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18-pigeon.jpg"/>
          <p:cNvPicPr>
            <a:picLocks noChangeAspect="1"/>
          </p:cNvPicPr>
          <p:nvPr/>
        </p:nvPicPr>
        <p:blipFill>
          <a:blip r:embed="rId3"/>
          <a:stretch>
            <a:fillRect/>
          </a:stretch>
        </p:blipFill>
        <p:spPr>
          <a:xfrm>
            <a:off x="5276088" y="1681528"/>
            <a:ext cx="3026663" cy="2717703"/>
          </a:xfrm>
          <a:prstGeom prst="rect">
            <a:avLst/>
          </a:prstGeom>
        </p:spPr>
      </p:pic>
      <p:sp>
        <p:nvSpPr>
          <p:cNvPr id="7" name="Rounded Rectangle 6"/>
          <p:cNvSpPr/>
          <p:nvPr/>
        </p:nvSpPr>
        <p:spPr>
          <a:xfrm>
            <a:off x="8641080" y="1417320"/>
            <a:ext cx="3063240" cy="3246120"/>
          </a:xfrm>
          <a:prstGeom prst="roundRect">
            <a:avLst>
              <a:gd name="adj" fmla="val 995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51392" y="1554480"/>
            <a:ext cx="2651760" cy="1280160"/>
          </a:xfrm>
          <a:prstGeom prst="rect">
            <a:avLst/>
          </a:prstGeom>
          <a:noFill/>
        </p:spPr>
        <p:txBody>
          <a:bodyPr wrap="square" lIns="0" rIns="0" tIns="0" bIns="0" anchor="t">
            <a:spAutoFit/>
          </a:bodyPr>
          <a:lstStyle/>
          <a:p>
            <a:pPr algn="l">
              <a:lnSpc>
                <a:spcPct val="120000"/>
              </a:lnSpc>
            </a:pPr>
            <a:r>
              <a:rPr sz="1150" b="0" i="0">
                <a:solidFill>
                  <a:srgbClr val="21295C"/>
                </a:solidFill>
                <a:latin typeface="DejaVu Sans"/>
              </a:rPr>
              <a:t>21,880 WCAG evaluations of AI-generated interfaces:</a:t>
            </a:r>
          </a:p>
          <a:p>
            <a:pPr algn="l">
              <a:lnSpc>
                <a:spcPct val="120000"/>
              </a:lnSpc>
            </a:pPr>
            <a:r>
              <a:rPr sz="1150" b="0" i="0">
                <a:solidFill>
                  <a:srgbClr val="21295C"/>
                </a:solidFill>
                <a:latin typeface="DejaVu Sans"/>
              </a:rPr>
              <a:t/>
            </a:r>
          </a:p>
          <a:p>
            <a:pPr algn="l">
              <a:lnSpc>
                <a:spcPct val="120000"/>
              </a:lnSpc>
            </a:pPr>
            <a:r>
              <a:rPr sz="1150" b="0" i="0">
                <a:solidFill>
                  <a:srgbClr val="21295C"/>
                </a:solidFill>
                <a:latin typeface="DejaVu Sans"/>
              </a:rPr>
              <a:t>• contrast 26.8%</a:t>
            </a:r>
          </a:p>
          <a:p>
            <a:pPr algn="l">
              <a:lnSpc>
                <a:spcPct val="120000"/>
              </a:lnSpc>
            </a:pPr>
            <a:r>
              <a:rPr sz="1150" b="0" i="0">
                <a:solidFill>
                  <a:srgbClr val="21295C"/>
                </a:solidFill>
                <a:latin typeface="DejaVu Sans"/>
              </a:rPr>
              <a:t>• use of color 19.2%</a:t>
            </a:r>
          </a:p>
        </p:txBody>
      </p:sp>
      <p:sp>
        <p:nvSpPr>
          <p:cNvPr id="9" name="TextBox 8"/>
          <p:cNvSpPr txBox="1"/>
          <p:nvPr/>
        </p:nvSpPr>
        <p:spPr>
          <a:xfrm>
            <a:off x="8851392" y="3063240"/>
            <a:ext cx="2651760" cy="1463040"/>
          </a:xfrm>
          <a:prstGeom prst="rect">
            <a:avLst/>
          </a:prstGeom>
          <a:noFill/>
        </p:spPr>
        <p:txBody>
          <a:bodyPr wrap="square" lIns="0" rIns="0" tIns="0" bIns="0" anchor="t">
            <a:spAutoFit/>
          </a:bodyPr>
          <a:lstStyle/>
          <a:p>
            <a:pPr algn="l">
              <a:lnSpc>
                <a:spcPct val="118000"/>
              </a:lnSpc>
            </a:pPr>
            <a:r>
              <a:rPr sz="1150" b="0" i="1">
                <a:solidFill>
                  <a:srgbClr val="5B6678"/>
                </a:solidFill>
                <a:latin typeface="DejaVu Sans"/>
              </a:rPr>
              <a:t>"Make it accessible" in the prompt does not guarantee the result — platform defaults decide, not the request text.</a:t>
            </a:r>
          </a:p>
        </p:txBody>
      </p:sp>
      <p:sp>
        <p:nvSpPr>
          <p:cNvPr id="10" name="Rounded Rectangle 9"/>
          <p:cNvSpPr/>
          <p:nvPr/>
        </p:nvSpPr>
        <p:spPr>
          <a:xfrm>
            <a:off x="502920" y="4846320"/>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4901183"/>
            <a:ext cx="10762488" cy="62179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Design for NON-DETERMINISTIC output: same input → different output → breaks the consistency heuristic; you need human checkpoints.</a:t>
            </a:r>
          </a:p>
        </p:txBody>
      </p:sp>
      <p:sp>
        <p:nvSpPr>
          <p:cNvPr id="12" name="TextBox 11"/>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ACM Web4All 2026 — Generated Inaccessible</a:t>
            </a:r>
          </a:p>
        </p:txBody>
      </p:sp>
      <p:sp>
        <p:nvSpPr>
          <p:cNvPr id="13" name="TextBox 1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19 / 56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3152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All 2,031,220 cars with the driver-assistance feature recalled: the prominence of the controls was found insufficient</a:t>
            </a:r>
          </a:p>
        </p:txBody>
      </p:sp>
      <p:sp>
        <p:nvSpPr>
          <p:cNvPr id="3" name="Rounded Rectangle 2"/>
          <p:cNvSpPr/>
          <p:nvPr/>
        </p:nvSpPr>
        <p:spPr>
          <a:xfrm>
            <a:off x="502920" y="886968"/>
            <a:ext cx="11201400" cy="1737360"/>
          </a:xfrm>
          <a:prstGeom prst="roundRect">
            <a:avLst>
              <a:gd name="adj" fmla="val 17543"/>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225296"/>
            <a:ext cx="1847088" cy="768096"/>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9-tesla-real-source.png"/>
          <p:cNvPicPr>
            <a:picLocks noChangeAspect="1"/>
          </p:cNvPicPr>
          <p:nvPr/>
        </p:nvPicPr>
        <p:blipFill>
          <a:blip r:embed="rId2"/>
          <a:stretch>
            <a:fillRect/>
          </a:stretch>
        </p:blipFill>
        <p:spPr>
          <a:xfrm>
            <a:off x="731519" y="1500780"/>
            <a:ext cx="1664208" cy="217127"/>
          </a:xfrm>
          <a:prstGeom prst="rect">
            <a:avLst/>
          </a:prstGeom>
        </p:spPr>
      </p:pic>
      <p:sp>
        <p:nvSpPr>
          <p:cNvPr id="6" name="TextBox 5"/>
          <p:cNvSpPr txBox="1"/>
          <p:nvPr/>
        </p:nvSpPr>
        <p:spPr>
          <a:xfrm>
            <a:off x="640080" y="2048256"/>
            <a:ext cx="1847088" cy="402336"/>
          </a:xfrm>
          <a:prstGeom prst="rect">
            <a:avLst/>
          </a:prstGeom>
          <a:noFill/>
        </p:spPr>
        <p:txBody>
          <a:bodyPr wrap="square" lIns="0" rIns="0" tIns="0" bIns="0" anchor="t">
            <a:spAutoFit/>
          </a:bodyPr>
          <a:lstStyle/>
          <a:p>
            <a:pPr algn="ctr">
              <a:lnSpc>
                <a:spcPct val="105000"/>
              </a:lnSpc>
            </a:pPr>
            <a:r>
              <a:rPr sz="950" b="0" i="1">
                <a:solidFill>
                  <a:srgbClr val="5B6678"/>
                </a:solidFill>
                <a:latin typeface="DejaVu Sans"/>
              </a:rPr>
              <a:t>driver-assistance</a:t>
            </a:r>
          </a:p>
          <a:p>
            <a:pPr algn="ctr">
              <a:lnSpc>
                <a:spcPct val="105000"/>
              </a:lnSpc>
            </a:pPr>
            <a:r>
              <a:rPr sz="950" b="0" i="1">
                <a:solidFill>
                  <a:srgbClr val="5B6678"/>
                </a:solidFill>
                <a:latin typeface="DejaVu Sans"/>
              </a:rPr>
              <a:t>features</a:t>
            </a:r>
          </a:p>
        </p:txBody>
      </p:sp>
      <p:sp>
        <p:nvSpPr>
          <p:cNvPr id="7" name="TextBox 6"/>
          <p:cNvSpPr txBox="1"/>
          <p:nvPr/>
        </p:nvSpPr>
        <p:spPr>
          <a:xfrm>
            <a:off x="2688336" y="941832"/>
            <a:ext cx="8814816" cy="237744"/>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What the case is</a:t>
            </a:r>
          </a:p>
        </p:txBody>
      </p:sp>
      <p:sp>
        <p:nvSpPr>
          <p:cNvPr id="8" name="TextBox 7"/>
          <p:cNvSpPr txBox="1"/>
          <p:nvPr/>
        </p:nvSpPr>
        <p:spPr>
          <a:xfrm>
            <a:off x="2688336" y="1197864"/>
            <a:ext cx="8814816" cy="1371600"/>
          </a:xfrm>
          <a:prstGeom prst="rect">
            <a:avLst/>
          </a:prstGeom>
          <a:noFill/>
        </p:spPr>
        <p:txBody>
          <a:bodyPr wrap="square" lIns="0" rIns="0" tIns="0" bIns="0" anchor="t">
            <a:spAutoFit/>
          </a:bodyPr>
          <a:lstStyle/>
          <a:p>
            <a:pPr algn="l">
              <a:lnSpc>
                <a:spcPct val="114000"/>
              </a:lnSpc>
            </a:pPr>
            <a:r>
              <a:rPr sz="1050" b="1" i="0">
                <a:solidFill>
                  <a:srgbClr val="21295C"/>
                </a:solidFill>
                <a:latin typeface="DejaVu Sans"/>
              </a:rPr>
              <a:t>Autopilot </a:t>
            </a:r>
            <a:r>
              <a:rPr sz="1050" b="0" i="0">
                <a:solidFill>
                  <a:srgbClr val="21295C"/>
                </a:solidFill>
                <a:latin typeface="DejaVu Sans"/>
              </a:rPr>
              <a:t>is the set of driver-assistance features in Tesla cars: it holds the lane, the speed and the following distance while the person watches the road and keeps their hands on the wheel.</a:t>
            </a:r>
          </a:p>
          <a:p>
            <a:pPr algn="l">
              <a:lnSpc>
                <a:spcPct val="114000"/>
              </a:lnSpc>
              <a:spcBef>
                <a:spcPts val="400"/>
              </a:spcBef>
            </a:pPr>
            <a:r>
              <a:rPr sz="1050" b="0" i="0">
                <a:solidFill>
                  <a:srgbClr val="21295C"/>
                </a:solidFill>
                <a:latin typeface="DejaVu Sans"/>
              </a:rPr>
              <a:t>On 13 August 2021 the National Highway Traffic Safety Administration (NHTSA) opened an investigation: cars with Autopilot engaged were running into emergency vehicles stopped on the road. On 12 December 2023 Tesla recalled all 2,031,220 cars carrying the feature — the entire fleet built since 2012. In the defect report the company wrote, in its own words, that the prominence and scope of the system's controls may be insufficient to prevent driver misuse.</a:t>
            </a:r>
          </a:p>
        </p:txBody>
      </p:sp>
      <p:sp>
        <p:nvSpPr>
          <p:cNvPr id="9" name="Rounded Rectangle 8"/>
          <p:cNvSpPr/>
          <p:nvPr/>
        </p:nvSpPr>
        <p:spPr>
          <a:xfrm>
            <a:off x="502920" y="2679192"/>
            <a:ext cx="11201400" cy="658368"/>
          </a:xfrm>
          <a:prstGeom prst="roundRect">
            <a:avLst>
              <a:gd name="adj" fmla="val 22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16736" y="2788920"/>
            <a:ext cx="201168" cy="201168"/>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035808"/>
            <a:ext cx="2103120" cy="256032"/>
          </a:xfrm>
          <a:prstGeom prst="rect">
            <a:avLst/>
          </a:prstGeom>
          <a:noFill/>
        </p:spPr>
        <p:txBody>
          <a:bodyPr wrap="square" lIns="0" rIns="0" tIns="0" bIns="0" anchor="t">
            <a:spAutoFit/>
          </a:bodyPr>
          <a:lstStyle/>
          <a:p>
            <a:pPr algn="ctr">
              <a:lnSpc>
                <a:spcPct val="95000"/>
              </a:lnSpc>
            </a:pPr>
            <a:r>
              <a:rPr sz="850" b="1" i="0">
                <a:solidFill>
                  <a:srgbClr val="21295C"/>
                </a:solidFill>
                <a:latin typeface="DejaVu Sans"/>
              </a:rPr>
              <a:t>Investigation</a:t>
            </a:r>
          </a:p>
          <a:p>
            <a:pPr algn="ctr">
              <a:lnSpc>
                <a:spcPct val="95000"/>
              </a:lnSpc>
            </a:pPr>
            <a:r>
              <a:rPr sz="850" b="1" i="0">
                <a:solidFill>
                  <a:srgbClr val="21295C"/>
                </a:solidFill>
                <a:latin typeface="DejaVu Sans"/>
              </a:rPr>
              <a:t>08.2021</a:t>
            </a:r>
          </a:p>
        </p:txBody>
      </p:sp>
      <p:cxnSp>
        <p:nvCxnSpPr>
          <p:cNvPr id="12" name="Connector 11"/>
          <p:cNvCxnSpPr/>
          <p:nvPr/>
        </p:nvCxnSpPr>
        <p:spPr>
          <a:xfrm>
            <a:off x="1517904" y="2889504"/>
            <a:ext cx="2084832"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602736" y="2788920"/>
            <a:ext cx="201168" cy="201168"/>
          </a:xfrm>
          <a:prstGeom prst="ellipse">
            <a:avLst/>
          </a:prstGeom>
          <a:solidFill>
            <a:srgbClr val="F0AB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3035808"/>
            <a:ext cx="2103120" cy="256032"/>
          </a:xfrm>
          <a:prstGeom prst="rect">
            <a:avLst/>
          </a:prstGeom>
          <a:noFill/>
        </p:spPr>
        <p:txBody>
          <a:bodyPr wrap="square" lIns="0" rIns="0" tIns="0" bIns="0" anchor="t">
            <a:spAutoFit/>
          </a:bodyPr>
          <a:lstStyle/>
          <a:p>
            <a:pPr algn="ctr">
              <a:lnSpc>
                <a:spcPct val="95000"/>
              </a:lnSpc>
            </a:pPr>
            <a:r>
              <a:rPr sz="850" b="1" i="0">
                <a:solidFill>
                  <a:srgbClr val="21295C"/>
                </a:solidFill>
                <a:latin typeface="DejaVu Sans"/>
              </a:rPr>
              <a:t>Recall of 2,031,220 cars</a:t>
            </a:r>
          </a:p>
          <a:p>
            <a:pPr algn="ctr">
              <a:lnSpc>
                <a:spcPct val="95000"/>
              </a:lnSpc>
            </a:pPr>
            <a:r>
              <a:rPr sz="850" b="1" i="0">
                <a:solidFill>
                  <a:srgbClr val="21295C"/>
                </a:solidFill>
                <a:latin typeface="DejaVu Sans"/>
              </a:rPr>
              <a:t>12.12.2023</a:t>
            </a:r>
          </a:p>
        </p:txBody>
      </p:sp>
      <p:cxnSp>
        <p:nvCxnSpPr>
          <p:cNvPr id="15" name="Connector 14"/>
          <p:cNvCxnSpPr/>
          <p:nvPr/>
        </p:nvCxnSpPr>
        <p:spPr>
          <a:xfrm>
            <a:off x="3803904" y="2889504"/>
            <a:ext cx="2130551"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934455" y="2788920"/>
            <a:ext cx="201168" cy="201168"/>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79" y="3035808"/>
            <a:ext cx="2103120" cy="256032"/>
          </a:xfrm>
          <a:prstGeom prst="rect">
            <a:avLst/>
          </a:prstGeom>
          <a:noFill/>
        </p:spPr>
        <p:txBody>
          <a:bodyPr wrap="square" lIns="0" rIns="0" tIns="0" bIns="0" anchor="t">
            <a:spAutoFit/>
          </a:bodyPr>
          <a:lstStyle/>
          <a:p>
            <a:pPr algn="ctr">
              <a:lnSpc>
                <a:spcPct val="95000"/>
              </a:lnSpc>
            </a:pPr>
            <a:r>
              <a:rPr sz="850" b="1" i="0">
                <a:solidFill>
                  <a:srgbClr val="21295C"/>
                </a:solidFill>
                <a:latin typeface="DejaVu Sans"/>
              </a:rPr>
              <a:t>Over-the-air update</a:t>
            </a:r>
          </a:p>
          <a:p>
            <a:pPr algn="ctr">
              <a:lnSpc>
                <a:spcPct val="95000"/>
              </a:lnSpc>
            </a:pPr>
            <a:r>
              <a:rPr sz="850" b="1" i="0">
                <a:solidFill>
                  <a:srgbClr val="21295C"/>
                </a:solidFill>
                <a:latin typeface="DejaVu Sans"/>
              </a:rPr>
              <a:t>12.2023</a:t>
            </a:r>
          </a:p>
        </p:txBody>
      </p:sp>
      <p:cxnSp>
        <p:nvCxnSpPr>
          <p:cNvPr id="18" name="Connector 17"/>
          <p:cNvCxnSpPr/>
          <p:nvPr/>
        </p:nvCxnSpPr>
        <p:spPr>
          <a:xfrm>
            <a:off x="6135624" y="2889504"/>
            <a:ext cx="2130552"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266176" y="2788920"/>
            <a:ext cx="201168" cy="201168"/>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3035808"/>
            <a:ext cx="2103120" cy="256032"/>
          </a:xfrm>
          <a:prstGeom prst="rect">
            <a:avLst/>
          </a:prstGeom>
          <a:noFill/>
        </p:spPr>
        <p:txBody>
          <a:bodyPr wrap="square" lIns="0" rIns="0" tIns="0" bIns="0" anchor="t">
            <a:spAutoFit/>
          </a:bodyPr>
          <a:lstStyle/>
          <a:p>
            <a:pPr algn="ctr">
              <a:lnSpc>
                <a:spcPct val="95000"/>
              </a:lnSpc>
            </a:pPr>
            <a:r>
              <a:rPr sz="850" b="1" i="0">
                <a:solidFill>
                  <a:srgbClr val="21295C"/>
                </a:solidFill>
                <a:latin typeface="DejaVu Sans"/>
              </a:rPr>
              <a:t>Recall query</a:t>
            </a:r>
          </a:p>
          <a:p>
            <a:pPr algn="ctr">
              <a:lnSpc>
                <a:spcPct val="95000"/>
              </a:lnSpc>
            </a:pPr>
            <a:r>
              <a:rPr sz="850" b="1" i="0">
                <a:solidFill>
                  <a:srgbClr val="21295C"/>
                </a:solidFill>
                <a:latin typeface="DejaVu Sans"/>
              </a:rPr>
              <a:t>25.04.2024</a:t>
            </a:r>
          </a:p>
        </p:txBody>
      </p:sp>
      <p:cxnSp>
        <p:nvCxnSpPr>
          <p:cNvPr id="21" name="Connector 20"/>
          <p:cNvCxnSpPr/>
          <p:nvPr/>
        </p:nvCxnSpPr>
        <p:spPr>
          <a:xfrm>
            <a:off x="8467344" y="2889504"/>
            <a:ext cx="2084832"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552176" y="2788920"/>
            <a:ext cx="201168" cy="201168"/>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0" y="3035808"/>
            <a:ext cx="2103120" cy="256032"/>
          </a:xfrm>
          <a:prstGeom prst="rect">
            <a:avLst/>
          </a:prstGeom>
          <a:noFill/>
        </p:spPr>
        <p:txBody>
          <a:bodyPr wrap="square" lIns="0" rIns="0" tIns="0" bIns="0" anchor="t">
            <a:spAutoFit/>
          </a:bodyPr>
          <a:lstStyle/>
          <a:p>
            <a:pPr algn="ctr">
              <a:lnSpc>
                <a:spcPct val="95000"/>
              </a:lnSpc>
            </a:pPr>
            <a:r>
              <a:rPr sz="850" b="1" i="0">
                <a:solidFill>
                  <a:srgbClr val="21295C"/>
                </a:solidFill>
                <a:latin typeface="DejaVu Sans"/>
              </a:rPr>
              <a:t>≥20 crashes</a:t>
            </a:r>
          </a:p>
          <a:p>
            <a:pPr algn="ctr">
              <a:lnSpc>
                <a:spcPct val="95000"/>
              </a:lnSpc>
            </a:pPr>
            <a:r>
              <a:rPr sz="850" b="1" i="0">
                <a:solidFill>
                  <a:srgbClr val="21295C"/>
                </a:solidFill>
                <a:latin typeface="DejaVu Sans"/>
              </a:rPr>
              <a:t>after the update</a:t>
            </a:r>
          </a:p>
        </p:txBody>
      </p:sp>
      <p:sp>
        <p:nvSpPr>
          <p:cNvPr id="24" name="Rounded Rectangle 23"/>
          <p:cNvSpPr/>
          <p:nvPr/>
        </p:nvSpPr>
        <p:spPr>
          <a:xfrm>
            <a:off x="502920" y="3392424"/>
            <a:ext cx="5532120" cy="1444752"/>
          </a:xfrm>
          <a:prstGeom prst="roundRect">
            <a:avLst>
              <a:gd name="adj" fmla="val 21097"/>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eye-off-mid.png"/>
          <p:cNvPicPr>
            <a:picLocks noChangeAspect="1"/>
          </p:cNvPicPr>
          <p:nvPr/>
        </p:nvPicPr>
        <p:blipFill>
          <a:blip r:embed="rId3"/>
          <a:stretch>
            <a:fillRect/>
          </a:stretch>
        </p:blipFill>
        <p:spPr>
          <a:xfrm>
            <a:off x="704088" y="3493008"/>
            <a:ext cx="292608" cy="292608"/>
          </a:xfrm>
          <a:prstGeom prst="rect">
            <a:avLst/>
          </a:prstGeom>
        </p:spPr>
      </p:pic>
      <p:sp>
        <p:nvSpPr>
          <p:cNvPr id="26" name="TextBox 25"/>
          <p:cNvSpPr txBox="1"/>
          <p:nvPr/>
        </p:nvSpPr>
        <p:spPr>
          <a:xfrm>
            <a:off x="1088136" y="3493008"/>
            <a:ext cx="4727448" cy="274320"/>
          </a:xfrm>
          <a:prstGeom prst="rect">
            <a:avLst/>
          </a:prstGeom>
          <a:noFill/>
        </p:spPr>
        <p:txBody>
          <a:bodyPr wrap="square" lIns="0" rIns="0" tIns="0" bIns="0" anchor="t">
            <a:spAutoFit/>
          </a:bodyPr>
          <a:lstStyle/>
          <a:p>
            <a:pPr algn="l">
              <a:lnSpc>
                <a:spcPct val="100000"/>
              </a:lnSpc>
            </a:pPr>
            <a:r>
              <a:rPr sz="1150" b="1" i="0">
                <a:solidFill>
                  <a:srgbClr val="065A82"/>
                </a:solidFill>
                <a:latin typeface="DejaVu Sans"/>
              </a:rPr>
              <a:t>What broke</a:t>
            </a:r>
          </a:p>
        </p:txBody>
      </p:sp>
      <p:sp>
        <p:nvSpPr>
          <p:cNvPr id="27" name="TextBox 26"/>
          <p:cNvSpPr txBox="1"/>
          <p:nvPr/>
        </p:nvSpPr>
        <p:spPr>
          <a:xfrm>
            <a:off x="704088" y="3803904"/>
            <a:ext cx="5129783" cy="950976"/>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Over the course of the investigation, from August 2021 to December 2023, at least 13 fatal crashes accumulated in which foreseeable misuse played its part.</a:t>
            </a:r>
          </a:p>
          <a:p>
            <a:pPr algn="l">
              <a:lnSpc>
                <a:spcPct val="112000"/>
              </a:lnSpc>
              <a:spcBef>
                <a:spcPts val="400"/>
              </a:spcBef>
            </a:pPr>
            <a:r>
              <a:rPr sz="1000" b="0" i="0">
                <a:solidFill>
                  <a:srgbClr val="21295C"/>
                </a:solidFill>
                <a:latin typeface="DejaVu Sans"/>
              </a:rPr>
              <a:t>The driver's picture of the system diverged from what the system was doing. The name of this error is </a:t>
            </a:r>
            <a:r>
              <a:rPr sz="1000" b="1" i="0">
                <a:solidFill>
                  <a:srgbClr val="065A82"/>
                </a:solidFill>
                <a:latin typeface="DejaVu Sans"/>
              </a:rPr>
              <a:t>mode confusion</a:t>
            </a:r>
            <a:r>
              <a:rPr sz="1000" b="0" i="0">
                <a:solidFill>
                  <a:srgbClr val="21295C"/>
                </a:solidFill>
                <a:latin typeface="DejaVu Sans"/>
              </a:rPr>
              <a:t>.</a:t>
            </a:r>
          </a:p>
        </p:txBody>
      </p:sp>
      <p:sp>
        <p:nvSpPr>
          <p:cNvPr id="28" name="Rounded Rectangle 27"/>
          <p:cNvSpPr/>
          <p:nvPr/>
        </p:nvSpPr>
        <p:spPr>
          <a:xfrm>
            <a:off x="6172200" y="3392424"/>
            <a:ext cx="5532120" cy="1444752"/>
          </a:xfrm>
          <a:prstGeom prst="roundRect">
            <a:avLst>
              <a:gd name="adj" fmla="val 21097"/>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ayers-teal.png"/>
          <p:cNvPicPr>
            <a:picLocks noChangeAspect="1"/>
          </p:cNvPicPr>
          <p:nvPr/>
        </p:nvPicPr>
        <p:blipFill>
          <a:blip r:embed="rId4"/>
          <a:stretch>
            <a:fillRect/>
          </a:stretch>
        </p:blipFill>
        <p:spPr>
          <a:xfrm>
            <a:off x="6373368" y="3493008"/>
            <a:ext cx="292608" cy="292608"/>
          </a:xfrm>
          <a:prstGeom prst="rect">
            <a:avLst/>
          </a:prstGeom>
        </p:spPr>
      </p:pic>
      <p:sp>
        <p:nvSpPr>
          <p:cNvPr id="30" name="TextBox 29"/>
          <p:cNvSpPr txBox="1"/>
          <p:nvPr/>
        </p:nvSpPr>
        <p:spPr>
          <a:xfrm>
            <a:off x="6757416" y="3493008"/>
            <a:ext cx="4727448" cy="274320"/>
          </a:xfrm>
          <a:prstGeom prst="rect">
            <a:avLst/>
          </a:prstGeom>
          <a:noFill/>
        </p:spPr>
        <p:txBody>
          <a:bodyPr wrap="square" lIns="0" rIns="0" tIns="0" bIns="0" anchor="t">
            <a:spAutoFit/>
          </a:bodyPr>
          <a:lstStyle/>
          <a:p>
            <a:pPr algn="l">
              <a:lnSpc>
                <a:spcPct val="100000"/>
              </a:lnSpc>
            </a:pPr>
            <a:r>
              <a:rPr sz="1150" b="1" i="0">
                <a:solidFill>
                  <a:srgbClr val="028090"/>
                </a:solidFill>
                <a:latin typeface="DejaVu Sans"/>
              </a:rPr>
              <a:t>Why this is a design-phase decision</a:t>
            </a:r>
          </a:p>
        </p:txBody>
      </p:sp>
      <p:sp>
        <p:nvSpPr>
          <p:cNvPr id="31" name="TextBox 30"/>
          <p:cNvSpPr txBox="1"/>
          <p:nvPr/>
        </p:nvSpPr>
        <p:spPr>
          <a:xfrm>
            <a:off x="6373368" y="3803904"/>
            <a:ext cx="5129783" cy="950976"/>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The recall touched not one line of the driving model. What was fixed was how the system presents itself: the prominence of the warnings, the frequency of the attention checks, the threshold past which the feature switches off.</a:t>
            </a:r>
          </a:p>
          <a:p>
            <a:pPr algn="l">
              <a:lnSpc>
                <a:spcPct val="112000"/>
              </a:lnSpc>
              <a:spcBef>
                <a:spcPts val="400"/>
              </a:spcBef>
            </a:pPr>
            <a:r>
              <a:rPr sz="1000" b="0" i="0">
                <a:solidFill>
                  <a:srgbClr val="21295C"/>
                </a:solidFill>
                <a:latin typeface="DejaVu Sans"/>
              </a:rPr>
              <a:t>The name "Autopilot" is a decision from the same layer: it sets the picture before the first warning does.</a:t>
            </a:r>
          </a:p>
        </p:txBody>
      </p:sp>
      <p:sp>
        <p:nvSpPr>
          <p:cNvPr id="32" name="Rounded Rectangle 31"/>
          <p:cNvSpPr/>
          <p:nvPr/>
        </p:nvSpPr>
        <p:spPr>
          <a:xfrm>
            <a:off x="502920" y="4892040"/>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4946903"/>
            <a:ext cx="10762488"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DejaVu Sans"/>
              </a:rPr>
              <a:t>The root is a decision about how the system presents itself to a person: what it reports, how insistently, and when it refuses to go on. Two years and four months passed between the opening of the investigation and the recall, and all that time the fleet drove with the picture it was given. Testing the model does not catch this: it behaved exactly as advertised.</a:t>
            </a:r>
          </a:p>
        </p:txBody>
      </p:sp>
      <p:sp>
        <p:nvSpPr>
          <p:cNvPr id="34" name="Rounded Rectangle 33"/>
          <p:cNvSpPr/>
          <p:nvPr/>
        </p:nvSpPr>
        <p:spPr>
          <a:xfrm>
            <a:off x="502920" y="5696712"/>
            <a:ext cx="11201400" cy="69494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 y="5751576"/>
            <a:ext cx="10762488" cy="585216"/>
          </a:xfrm>
          <a:prstGeom prst="rect">
            <a:avLst/>
          </a:prstGeom>
          <a:noFill/>
        </p:spPr>
        <p:txBody>
          <a:bodyPr wrap="square" lIns="0" rIns="0" tIns="0" bIns="0" anchor="ctr">
            <a:spAutoFit/>
          </a:bodyPr>
          <a:lstStyle/>
          <a:p>
            <a:pPr algn="l">
              <a:lnSpc>
                <a:spcPct val="118000"/>
              </a:lnSpc>
            </a:pPr>
            <a:r>
              <a:rPr sz="1050" b="0" i="0">
                <a:solidFill>
                  <a:srgbClr val="21295C"/>
                </a:solidFill>
                <a:latin typeface="DejaVu Sans"/>
              </a:rPr>
              <a:t>The agency opened its query into the remedy on 25 April 2024: in the first four months after the update, at least 20 crashes accumulated with the system suspected of involvement, and some of the measures are switched on by the driver's own consent and switched off the same way. The criterion that carries forward: a measure a person can switch off stays a request — what turns it into a mechanism is the ability to stop the action.</a:t>
            </a:r>
          </a:p>
        </p:txBody>
      </p:sp>
      <p:sp>
        <p:nvSpPr>
          <p:cNvPr id="36" name="TextBox 35"/>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NHTSA — recall report 23V-838 (12 Dec 2023)</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NHTSA — closing of investigation EA22-002</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NHTSA — remedy query RQ24-009 (25 Apr 2024)</a:t>
            </a:r>
          </a:p>
        </p:txBody>
      </p:sp>
      <p:sp>
        <p:nvSpPr>
          <p:cNvPr id="37" name="TextBox 3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20 / 56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3</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1-anakin-padme.jpg"/>
          <p:cNvPicPr>
            <a:picLocks noChangeAspect="1"/>
          </p:cNvPicPr>
          <p:nvPr/>
        </p:nvPicPr>
        <p:blipFill>
          <a:blip r:embed="rId2"/>
          <a:stretch>
            <a:fillRect/>
          </a:stretch>
        </p:blipFill>
        <p:spPr>
          <a:xfrm>
            <a:off x="7763256" y="1408176"/>
            <a:ext cx="3813048" cy="3813048"/>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3</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Build &amp; Launch — the collapsed arrow</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2 base cases · 2 failures</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This is exactly where AI changes the most — the cost of writing the code itself. But the section doesn't start from that fact — it starts from the classical discipline of release: how to ship safely and when to stop.</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18" name="Rounded Rectangle 17"/>
          <p:cNvSpPr/>
          <p:nvPr/>
        </p:nvSpPr>
        <p:spPr>
          <a:xfrm>
            <a:off x="473773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1" i="0">
                <a:solidFill>
                  <a:srgbClr val="21295C"/>
                </a:solidFill>
                <a:latin typeface="DejaVu Sans"/>
              </a:rPr>
              <a:t>Build &amp; Launch</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21 / 56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Same mechanics — but here the decision is to kill the product, not flip a flag</a:t>
            </a:r>
          </a:p>
        </p:txBody>
      </p:sp>
      <p:sp>
        <p:nvSpPr>
          <p:cNvPr id="3" name="Rounded Rectangle 2"/>
          <p:cNvSpPr/>
          <p:nvPr/>
        </p:nvSpPr>
        <p:spPr>
          <a:xfrm>
            <a:off x="502920" y="1554480"/>
            <a:ext cx="2487168" cy="1051560"/>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37360"/>
            <a:ext cx="2304288" cy="365760"/>
          </a:xfrm>
          <a:prstGeom prst="rect">
            <a:avLst/>
          </a:prstGeom>
          <a:noFill/>
        </p:spPr>
        <p:txBody>
          <a:bodyPr wrap="square" lIns="0" rIns="0" tIns="0" bIns="0" anchor="t">
            <a:spAutoFit/>
          </a:bodyPr>
          <a:lstStyle/>
          <a:p>
            <a:pPr algn="ctr">
              <a:lnSpc>
                <a:spcPct val="115000"/>
              </a:lnSpc>
            </a:pPr>
            <a:r>
              <a:rPr sz="1350" b="1" i="0">
                <a:solidFill>
                  <a:srgbClr val="21295C"/>
                </a:solidFill>
                <a:latin typeface="DejaVu Sans"/>
              </a:rPr>
              <a:t>Feature flag</a:t>
            </a:r>
          </a:p>
        </p:txBody>
      </p:sp>
      <p:sp>
        <p:nvSpPr>
          <p:cNvPr id="5" name="TextBox 4"/>
          <p:cNvSpPr txBox="1"/>
          <p:nvPr/>
        </p:nvSpPr>
        <p:spPr>
          <a:xfrm>
            <a:off x="594360" y="2176272"/>
            <a:ext cx="2304288" cy="310896"/>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a switch</a:t>
            </a:r>
          </a:p>
        </p:txBody>
      </p:sp>
      <p:sp>
        <p:nvSpPr>
          <p:cNvPr id="6" name="Right Arrow 5"/>
          <p:cNvSpPr/>
          <p:nvPr/>
        </p:nvSpPr>
        <p:spPr>
          <a:xfrm>
            <a:off x="3008376" y="1956816"/>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46120" y="1554480"/>
            <a:ext cx="2487168" cy="1051560"/>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737360"/>
            <a:ext cx="2304288" cy="365760"/>
          </a:xfrm>
          <a:prstGeom prst="rect">
            <a:avLst/>
          </a:prstGeom>
          <a:noFill/>
        </p:spPr>
        <p:txBody>
          <a:bodyPr wrap="square" lIns="0" rIns="0" tIns="0" bIns="0" anchor="t">
            <a:spAutoFit/>
          </a:bodyPr>
          <a:lstStyle/>
          <a:p>
            <a:pPr algn="ctr">
              <a:lnSpc>
                <a:spcPct val="115000"/>
              </a:lnSpc>
            </a:pPr>
            <a:r>
              <a:rPr sz="1350" b="1" i="0">
                <a:solidFill>
                  <a:srgbClr val="21295C"/>
                </a:solidFill>
                <a:latin typeface="DejaVu Sans"/>
              </a:rPr>
              <a:t>Canary</a:t>
            </a:r>
          </a:p>
        </p:txBody>
      </p:sp>
      <p:sp>
        <p:nvSpPr>
          <p:cNvPr id="9" name="TextBox 8"/>
          <p:cNvSpPr txBox="1"/>
          <p:nvPr/>
        </p:nvSpPr>
        <p:spPr>
          <a:xfrm>
            <a:off x="3337560" y="2176272"/>
            <a:ext cx="2304288" cy="310896"/>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canary</a:t>
            </a:r>
          </a:p>
        </p:txBody>
      </p:sp>
      <p:sp>
        <p:nvSpPr>
          <p:cNvPr id="10" name="Right Arrow 9"/>
          <p:cNvSpPr/>
          <p:nvPr/>
        </p:nvSpPr>
        <p:spPr>
          <a:xfrm>
            <a:off x="5751575" y="1956816"/>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89320" y="1554480"/>
            <a:ext cx="2487168" cy="1051560"/>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59" y="1737360"/>
            <a:ext cx="2304288" cy="365760"/>
          </a:xfrm>
          <a:prstGeom prst="rect">
            <a:avLst/>
          </a:prstGeom>
          <a:noFill/>
        </p:spPr>
        <p:txBody>
          <a:bodyPr wrap="square" lIns="0" rIns="0" tIns="0" bIns="0" anchor="t">
            <a:spAutoFit/>
          </a:bodyPr>
          <a:lstStyle/>
          <a:p>
            <a:pPr algn="ctr">
              <a:lnSpc>
                <a:spcPct val="115000"/>
              </a:lnSpc>
            </a:pPr>
            <a:r>
              <a:rPr sz="1350" b="1" i="0">
                <a:solidFill>
                  <a:srgbClr val="21295C"/>
                </a:solidFill>
                <a:latin typeface="DejaVu Sans"/>
              </a:rPr>
              <a:t>Staged rollout</a:t>
            </a:r>
          </a:p>
        </p:txBody>
      </p:sp>
      <p:sp>
        <p:nvSpPr>
          <p:cNvPr id="13" name="TextBox 12"/>
          <p:cNvSpPr txBox="1"/>
          <p:nvPr/>
        </p:nvSpPr>
        <p:spPr>
          <a:xfrm>
            <a:off x="6080759" y="2176272"/>
            <a:ext cx="2304288" cy="310896"/>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gradual</a:t>
            </a:r>
          </a:p>
        </p:txBody>
      </p:sp>
      <p:sp>
        <p:nvSpPr>
          <p:cNvPr id="14" name="Right Arrow 13"/>
          <p:cNvSpPr/>
          <p:nvPr/>
        </p:nvSpPr>
        <p:spPr>
          <a:xfrm>
            <a:off x="8494776" y="1956816"/>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732520" y="1554480"/>
            <a:ext cx="2487168" cy="1051560"/>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3960" y="1737360"/>
            <a:ext cx="2304288" cy="365760"/>
          </a:xfrm>
          <a:prstGeom prst="rect">
            <a:avLst/>
          </a:prstGeom>
          <a:noFill/>
        </p:spPr>
        <p:txBody>
          <a:bodyPr wrap="square" lIns="0" rIns="0" tIns="0" bIns="0" anchor="t">
            <a:spAutoFit/>
          </a:bodyPr>
          <a:lstStyle/>
          <a:p>
            <a:pPr algn="ctr">
              <a:lnSpc>
                <a:spcPct val="115000"/>
              </a:lnSpc>
            </a:pPr>
            <a:r>
              <a:rPr sz="1350" b="1" i="0">
                <a:solidFill>
                  <a:srgbClr val="21295C"/>
                </a:solidFill>
                <a:latin typeface="DejaVu Sans"/>
              </a:rPr>
              <a:t>Rollback</a:t>
            </a:r>
          </a:p>
        </p:txBody>
      </p:sp>
      <p:sp>
        <p:nvSpPr>
          <p:cNvPr id="17" name="TextBox 16"/>
          <p:cNvSpPr txBox="1"/>
          <p:nvPr/>
        </p:nvSpPr>
        <p:spPr>
          <a:xfrm>
            <a:off x="8823960" y="2176272"/>
            <a:ext cx="2304288" cy="310896"/>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revert</a:t>
            </a:r>
          </a:p>
        </p:txBody>
      </p:sp>
      <p:sp>
        <p:nvSpPr>
          <p:cNvPr id="18" name="TextBox 17"/>
          <p:cNvSpPr txBox="1"/>
          <p:nvPr/>
        </p:nvSpPr>
        <p:spPr>
          <a:xfrm>
            <a:off x="502920" y="2724912"/>
            <a:ext cx="11201400" cy="320040"/>
          </a:xfrm>
          <a:prstGeom prst="rect">
            <a:avLst/>
          </a:prstGeom>
          <a:noFill/>
        </p:spPr>
        <p:txBody>
          <a:bodyPr wrap="square" lIns="0" rIns="0" tIns="0" bIns="0" anchor="t">
            <a:spAutoFit/>
          </a:bodyPr>
          <a:lstStyle/>
          <a:p>
            <a:pPr algn="ctr">
              <a:lnSpc>
                <a:spcPct val="115000"/>
              </a:lnSpc>
            </a:pPr>
            <a:r>
              <a:rPr sz="1250" b="0" i="1">
                <a:solidFill>
                  <a:srgbClr val="5B6678"/>
                </a:solidFill>
                <a:latin typeface="DejaVu Sans"/>
              </a:rPr>
              <a:t>You know these primitives from engineering rollout (CI/CD)</a:t>
            </a:r>
          </a:p>
        </p:txBody>
      </p:sp>
      <p:sp>
        <p:nvSpPr>
          <p:cNvPr id="19" name="Rounded Rectangle 18"/>
          <p:cNvSpPr/>
          <p:nvPr/>
        </p:nvSpPr>
        <p:spPr>
          <a:xfrm>
            <a:off x="1417320" y="3337560"/>
            <a:ext cx="9372600" cy="1188720"/>
          </a:xfrm>
          <a:prstGeom prst="roundRect">
            <a:avLst>
              <a:gd name="adj" fmla="val 22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cale-gold.png"/>
          <p:cNvPicPr>
            <a:picLocks noChangeAspect="1"/>
          </p:cNvPicPr>
          <p:nvPr/>
        </p:nvPicPr>
        <p:blipFill>
          <a:blip r:embed="rId2"/>
          <a:stretch>
            <a:fillRect/>
          </a:stretch>
        </p:blipFill>
        <p:spPr>
          <a:xfrm>
            <a:off x="1645920" y="3611880"/>
            <a:ext cx="502920" cy="502920"/>
          </a:xfrm>
          <a:prstGeom prst="rect">
            <a:avLst/>
          </a:prstGeom>
        </p:spPr>
      </p:pic>
      <p:sp>
        <p:nvSpPr>
          <p:cNvPr id="21" name="TextBox 20"/>
          <p:cNvSpPr txBox="1"/>
          <p:nvPr/>
        </p:nvSpPr>
        <p:spPr>
          <a:xfrm>
            <a:off x="2331720" y="3456432"/>
            <a:ext cx="8229600" cy="960120"/>
          </a:xfrm>
          <a:prstGeom prst="rect">
            <a:avLst/>
          </a:prstGeom>
          <a:noFill/>
        </p:spPr>
        <p:txBody>
          <a:bodyPr wrap="square" lIns="0" rIns="0" tIns="0" bIns="0" anchor="ctr">
            <a:spAutoFit/>
          </a:bodyPr>
          <a:lstStyle/>
          <a:p>
            <a:pPr algn="l">
              <a:lnSpc>
                <a:spcPct val="115000"/>
              </a:lnSpc>
            </a:pPr>
            <a:r>
              <a:rPr sz="1250" b="1" i="0">
                <a:solidFill>
                  <a:srgbClr val="21295C"/>
                </a:solidFill>
                <a:latin typeface="DejaVu Sans"/>
              </a:rPr>
              <a:t>NEW here — whose decision they serve and by what criteria: MVP (Ries) </a:t>
            </a:r>
            <a:r>
              <a:rPr sz="650" baseline="30000" b="0" i="1">
                <a:latin typeface="DejaVu Sans"/>
                <a:cs typeface="DejaVu Sans"/>
                <a:ea typeface="DejaVu Sans"/>
                <a:solidFill>
                  <a:srgbClr val="1C7293"/>
                </a:solidFill>
              </a:rPr>
              <a:t>[1]</a:t>
            </a:r>
            <a:r>
              <a:rPr sz="1250" b="1" i="0">
                <a:latin typeface="DejaVu Sans"/>
                <a:cs typeface="DejaVu Sans"/>
                <a:ea typeface="DejaVu Sans"/>
                <a:solidFill>
                  <a:srgbClr val="21295C"/>
                </a:solidFill>
              </a:rPr>
              <a:t> = learning, not shipping. Stage-Gate go/kill (Cooper) </a:t>
            </a:r>
            <a:r>
              <a:rPr sz="650" baseline="30000" b="0" i="1">
                <a:latin typeface="DejaVu Sans"/>
                <a:cs typeface="DejaVu Sans"/>
                <a:ea typeface="DejaVu Sans"/>
                <a:solidFill>
                  <a:srgbClr val="1C7293"/>
                </a:solidFill>
              </a:rPr>
              <a:t>[2]</a:t>
            </a:r>
            <a:r>
              <a:rPr sz="1250" b="1" i="0">
                <a:latin typeface="DejaVu Sans"/>
                <a:cs typeface="DejaVu Sans"/>
                <a:ea typeface="DejaVu Sans"/>
                <a:solidFill>
                  <a:srgbClr val="21295C"/>
                </a:solidFill>
              </a:rPr>
              <a:t> — "a funnel, not a tunnel": failure thresholds are written down as numbers in advance.</a:t>
            </a:r>
          </a:p>
        </p:txBody>
      </p:sp>
      <p:sp>
        <p:nvSpPr>
          <p:cNvPr id="22" name="Rounded Rectangle 21"/>
          <p:cNvSpPr/>
          <p:nvPr/>
        </p:nvSpPr>
        <p:spPr>
          <a:xfrm>
            <a:off x="502920" y="4800600"/>
            <a:ext cx="11201400" cy="7772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4855464"/>
            <a:ext cx="10762488" cy="66751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The common thread: launch speed is bought with a limited blast radius — how many users are affected if the new thing turns out bad.</a:t>
            </a:r>
          </a:p>
        </p:txBody>
      </p:sp>
      <p:sp>
        <p:nvSpPr>
          <p:cNvPr id="24" name="TextBox 23"/>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Ries — Lean Startup / MVP</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Stage-Gate — the method's history</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22 / 56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+200% code per engineer — but only 16% of PRs got substantive review </a:t>
            </a:r>
            <a:r>
              <a:rPr sz="1040" baseline="30000" b="0" i="1">
                <a:latin typeface="DejaVu Sans"/>
                <a:cs typeface="DejaVu Sans"/>
                <a:ea typeface="DejaVu Sans"/>
                <a:solidFill>
                  <a:srgbClr val="1C7293"/>
                </a:solidFill>
              </a:rPr>
              <a:t>[1]</a:t>
            </a:r>
          </a:p>
        </p:txBody>
      </p:sp>
      <p:sp>
        <p:nvSpPr>
          <p:cNvPr id="3" name="Rounded Rectangle 2"/>
          <p:cNvSpPr/>
          <p:nvPr/>
        </p:nvSpPr>
        <p:spPr>
          <a:xfrm>
            <a:off x="502920" y="1417320"/>
            <a:ext cx="562356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eview-bottleneck.png"/>
          <p:cNvPicPr>
            <a:picLocks noChangeAspect="1"/>
          </p:cNvPicPr>
          <p:nvPr/>
        </p:nvPicPr>
        <p:blipFill>
          <a:blip r:embed="rId2"/>
          <a:stretch>
            <a:fillRect/>
          </a:stretch>
        </p:blipFill>
        <p:spPr>
          <a:xfrm>
            <a:off x="1129097" y="1645920"/>
            <a:ext cx="4371205" cy="2788920"/>
          </a:xfrm>
          <a:prstGeom prst="rect">
            <a:avLst/>
          </a:prstGeom>
        </p:spPr>
      </p:pic>
      <p:sp>
        <p:nvSpPr>
          <p:cNvPr id="5" name="Rounded Rectangle 4"/>
          <p:cNvSpPr/>
          <p:nvPr/>
        </p:nvSpPr>
        <p:spPr>
          <a:xfrm>
            <a:off x="6355080" y="1417320"/>
            <a:ext cx="5349240" cy="3246120"/>
          </a:xfrm>
          <a:prstGeom prst="roundRect">
            <a:avLst>
              <a:gd name="adj" fmla="val 938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572768"/>
            <a:ext cx="493776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Anthropic's own measurement</a:t>
            </a:r>
          </a:p>
        </p:txBody>
      </p:sp>
      <p:sp>
        <p:nvSpPr>
          <p:cNvPr id="7" name="TextBox 6"/>
          <p:cNvSpPr txBox="1"/>
          <p:nvPr/>
        </p:nvSpPr>
        <p:spPr>
          <a:xfrm>
            <a:off x="6583680" y="2057400"/>
            <a:ext cx="4937760" cy="2377440"/>
          </a:xfrm>
          <a:prstGeom prst="rect">
            <a:avLst/>
          </a:prstGeom>
          <a:noFill/>
        </p:spPr>
        <p:txBody>
          <a:bodyPr wrap="square" lIns="0" rIns="0" tIns="0" bIns="0" anchor="t">
            <a:spAutoFit/>
          </a:bodyPr>
          <a:lstStyle/>
          <a:p>
            <a:pPr algn="l">
              <a:lnSpc>
                <a:spcPct val="125000"/>
              </a:lnSpc>
            </a:pPr>
            <a:r>
              <a:rPr sz="1300" b="0" i="0">
                <a:solidFill>
                  <a:srgbClr val="21295C"/>
                </a:solidFill>
                <a:latin typeface="DejaVu Sans"/>
              </a:rPr>
              <a:t>• Implementation: weeks/months → minutes of agentic execution</a:t>
            </a:r>
          </a:p>
          <a:p>
            <a:pPr algn="l">
              <a:lnSpc>
                <a:spcPct val="125000"/>
              </a:lnSpc>
            </a:pPr>
            <a:r>
              <a:rPr sz="1300" b="0" i="0">
                <a:solidFill>
                  <a:srgbClr val="21295C"/>
                </a:solidFill>
                <a:latin typeface="DejaVu Sans"/>
              </a:rPr>
              <a:t/>
            </a:r>
          </a:p>
          <a:p>
            <a:pPr algn="l">
              <a:lnSpc>
                <a:spcPct val="125000"/>
              </a:lnSpc>
            </a:pPr>
            <a:r>
              <a:rPr sz="1300" b="0" i="0">
                <a:solidFill>
                  <a:srgbClr val="21295C"/>
                </a:solidFill>
                <a:latin typeface="DejaVu Sans"/>
              </a:rPr>
              <a:t>• Code volume per engineer: +200% year over year</a:t>
            </a:r>
          </a:p>
          <a:p>
            <a:pPr algn="l">
              <a:lnSpc>
                <a:spcPct val="125000"/>
              </a:lnSpc>
            </a:pPr>
            <a:r>
              <a:rPr sz="1300" b="0" i="0">
                <a:solidFill>
                  <a:srgbClr val="21295C"/>
                </a:solidFill>
                <a:latin typeface="DejaVu Sans"/>
              </a:rPr>
              <a:t/>
            </a:r>
          </a:p>
          <a:p>
            <a:pPr algn="l">
              <a:lnSpc>
                <a:spcPct val="125000"/>
              </a:lnSpc>
            </a:pPr>
            <a:r>
              <a:rPr sz="1300" b="0" i="0">
                <a:solidFill>
                  <a:srgbClr val="21295C"/>
                </a:solidFill>
                <a:latin typeface="DejaVu Sans"/>
              </a:rPr>
              <a:t>• Substantive human review before merge: only ~16% of PRs</a:t>
            </a:r>
          </a:p>
        </p:txBody>
      </p:sp>
      <p:sp>
        <p:nvSpPr>
          <p:cNvPr id="8" name="Rounded Rectangle 7"/>
          <p:cNvSpPr/>
          <p:nvPr/>
        </p:nvSpPr>
        <p:spPr>
          <a:xfrm>
            <a:off x="502920" y="4846320"/>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4901183"/>
            <a:ext cx="10762488" cy="62179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The scarce resource shifted to the two human ends: precision of intent going in and quality of judgment coming out — the bottleneck is now review, not writing.</a:t>
            </a:r>
          </a:p>
        </p:txBody>
      </p:sp>
      <p:sp>
        <p:nvSpPr>
          <p:cNvPr id="10" name="TextBox 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Anthropic — 2026 Agentic Coding Trends Report</a:t>
            </a:r>
          </a:p>
        </p:txBody>
      </p:sp>
      <p:sp>
        <p:nvSpPr>
          <p:cNvPr id="11" name="TextBox 1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23 / 56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41122"/>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The autonomy scale — the right to decide, given in parts</a:t>
            </a:r>
          </a:p>
        </p:txBody>
      </p:sp>
      <p:sp>
        <p:nvSpPr>
          <p:cNvPr id="3" name="Rounded Rectangle 2"/>
          <p:cNvSpPr/>
          <p:nvPr/>
        </p:nvSpPr>
        <p:spPr>
          <a:xfrm>
            <a:off x="502920" y="551434"/>
            <a:ext cx="1152144" cy="858290"/>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51434"/>
            <a:ext cx="1060704" cy="85829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551434"/>
            <a:ext cx="9902952" cy="858290"/>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42874"/>
            <a:ext cx="9537192" cy="675410"/>
          </a:xfrm>
          <a:prstGeom prst="rect">
            <a:avLst/>
          </a:prstGeom>
          <a:noFill/>
        </p:spPr>
        <p:txBody>
          <a:bodyPr wrap="square" lIns="0" rIns="0" tIns="0" bIns="0" anchor="ctr">
            <a:spAutoFit/>
          </a:bodyPr>
          <a:lstStyle/>
          <a:p>
            <a:pPr algn="l">
              <a:lnSpc>
                <a:spcPct val="114000"/>
              </a:lnSpc>
            </a:pPr>
            <a:r>
              <a:rPr sz="1080" b="0" i="0">
                <a:solidFill>
                  <a:srgbClr val="21295C"/>
                </a:solidFill>
                <a:latin typeface="DejaVu Sans"/>
              </a:rPr>
              <a:t>A feature is released by autonomy levels — from a hint, to a proposal that a person confirms, and on to a decision the system takes itself (the levels on the right). </a:t>
            </a:r>
            <a:r>
              <a:rPr sz="1080" b="1" i="0">
                <a:solidFill>
                  <a:srgbClr val="21295C"/>
                </a:solidFill>
                <a:latin typeface="DejaVu Sans"/>
              </a:rPr>
              <a:t>A version here means the autonomy level the system has earned.</a:t>
            </a:r>
          </a:p>
        </p:txBody>
      </p:sp>
      <p:sp>
        <p:nvSpPr>
          <p:cNvPr id="7" name="Rounded Rectangle 6"/>
          <p:cNvSpPr/>
          <p:nvPr/>
        </p:nvSpPr>
        <p:spPr>
          <a:xfrm>
            <a:off x="502920" y="1473732"/>
            <a:ext cx="1152144" cy="2322576"/>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73732"/>
            <a:ext cx="1060704" cy="2322576"/>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473732"/>
            <a:ext cx="990295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57888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57888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565172"/>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Each level is </a:t>
            </a:r>
            <a:r>
              <a:rPr sz="1000" b="1" i="0">
                <a:solidFill>
                  <a:srgbClr val="065A82"/>
                </a:solidFill>
                <a:latin typeface="DejaVu Sans"/>
              </a:rPr>
              <a:t>a separate release</a:t>
            </a:r>
            <a:r>
              <a:rPr sz="1000" b="0" i="0">
                <a:solidFill>
                  <a:srgbClr val="21295C"/>
                </a:solidFill>
                <a:latin typeface="DejaVu Sans"/>
              </a:rPr>
              <a:t>: its own circle of users, its own set of observed signals, its own way to stop.</a:t>
            </a:r>
          </a:p>
        </p:txBody>
      </p:sp>
      <p:sp>
        <p:nvSpPr>
          <p:cNvPr id="13" name="Oval 12"/>
          <p:cNvSpPr/>
          <p:nvPr/>
        </p:nvSpPr>
        <p:spPr>
          <a:xfrm>
            <a:off x="1984248" y="202156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02156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007853"/>
            <a:ext cx="593445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The move up is opened by </a:t>
            </a:r>
            <a:r>
              <a:rPr sz="1000" b="1" i="0">
                <a:solidFill>
                  <a:srgbClr val="065A82"/>
                </a:solidFill>
                <a:latin typeface="DejaVu Sans"/>
              </a:rPr>
              <a:t>evidence written down as a number before the run</a:t>
            </a:r>
            <a:r>
              <a:rPr sz="1000" b="0" i="0">
                <a:solidFill>
                  <a:srgbClr val="21295C"/>
                </a:solidFill>
                <a:latin typeface="DejaVu Sans"/>
              </a:rPr>
              <a:t>: the system copes with the cases the new level entrusts to it. The calendar does not count as grounds.</a:t>
            </a:r>
          </a:p>
        </p:txBody>
      </p:sp>
      <p:sp>
        <p:nvSpPr>
          <p:cNvPr id="16" name="Oval 15"/>
          <p:cNvSpPr/>
          <p:nvPr/>
        </p:nvSpPr>
        <p:spPr>
          <a:xfrm>
            <a:off x="1984248" y="262981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2981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16097"/>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The evidence has to hold </a:t>
            </a:r>
            <a:r>
              <a:rPr sz="1000" b="1" i="0">
                <a:solidFill>
                  <a:srgbClr val="065A82"/>
                </a:solidFill>
                <a:latin typeface="DejaVu Sans"/>
              </a:rPr>
              <a:t>across repeated attempts</a:t>
            </a:r>
            <a:r>
              <a:rPr sz="1000" b="0" i="0">
                <a:solidFill>
                  <a:srgbClr val="21295C"/>
                </a:solidFill>
                <a:latin typeface="DejaVu Sans"/>
              </a:rPr>
              <a:t>. A single success does not give it.</a:t>
            </a:r>
          </a:p>
        </p:txBody>
      </p:sp>
      <p:sp>
        <p:nvSpPr>
          <p:cNvPr id="19" name="Oval 18"/>
          <p:cNvSpPr/>
          <p:nvPr/>
        </p:nvSpPr>
        <p:spPr>
          <a:xfrm>
            <a:off x="1984248" y="307249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07249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058778"/>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It is set out in advance </a:t>
            </a:r>
            <a:r>
              <a:rPr sz="1000" b="1" i="0">
                <a:solidFill>
                  <a:srgbClr val="065A82"/>
                </a:solidFill>
                <a:latin typeface="DejaVu Sans"/>
              </a:rPr>
              <a:t>how to put the system back a level</a:t>
            </a:r>
            <a:r>
              <a:rPr sz="1000" b="0" i="0">
                <a:solidFill>
                  <a:srgbClr val="21295C"/>
                </a:solidFill>
                <a:latin typeface="DejaVu Sans"/>
              </a:rPr>
              <a:t>: who decides, on what signal, and within what time.</a:t>
            </a:r>
          </a:p>
        </p:txBody>
      </p:sp>
      <p:sp>
        <p:nvSpPr>
          <p:cNvPr id="22" name="Rounded Rectangle 21"/>
          <p:cNvSpPr/>
          <p:nvPr/>
        </p:nvSpPr>
        <p:spPr>
          <a:xfrm>
            <a:off x="8503920" y="1601748"/>
            <a:ext cx="3017520" cy="45720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0" y="1638324"/>
            <a:ext cx="2834639" cy="237744"/>
          </a:xfrm>
          <a:prstGeom prst="rect">
            <a:avLst/>
          </a:prstGeom>
          <a:noFill/>
        </p:spPr>
        <p:txBody>
          <a:bodyPr wrap="square" lIns="0" rIns="0" tIns="0" bIns="0" anchor="t">
            <a:spAutoFit/>
          </a:bodyPr>
          <a:lstStyle/>
          <a:p>
            <a:pPr algn="ctr">
              <a:lnSpc>
                <a:spcPct val="102000"/>
              </a:lnSpc>
            </a:pPr>
            <a:r>
              <a:rPr sz="1150" b="1" i="0">
                <a:solidFill>
                  <a:srgbClr val="FFFFFF"/>
                </a:solidFill>
                <a:latin typeface="DejaVu Sans"/>
              </a:rPr>
              <a:t>it hints</a:t>
            </a:r>
          </a:p>
        </p:txBody>
      </p:sp>
      <p:sp>
        <p:nvSpPr>
          <p:cNvPr id="24" name="TextBox 23"/>
          <p:cNvSpPr txBox="1"/>
          <p:nvPr/>
        </p:nvSpPr>
        <p:spPr>
          <a:xfrm>
            <a:off x="8595360" y="1876068"/>
            <a:ext cx="2834639" cy="201168"/>
          </a:xfrm>
          <a:prstGeom prst="rect">
            <a:avLst/>
          </a:prstGeom>
          <a:noFill/>
        </p:spPr>
        <p:txBody>
          <a:bodyPr wrap="square" lIns="0" rIns="0" tIns="0" bIns="0" anchor="t">
            <a:spAutoFit/>
          </a:bodyPr>
          <a:lstStyle/>
          <a:p>
            <a:pPr algn="ctr">
              <a:lnSpc>
                <a:spcPct val="102000"/>
              </a:lnSpc>
            </a:pPr>
            <a:r>
              <a:rPr sz="880" b="0" i="0">
                <a:solidFill>
                  <a:srgbClr val="FFFFFF"/>
                </a:solidFill>
                <a:latin typeface="DejaVu Sans"/>
              </a:rPr>
              <a:t>a person decides</a:t>
            </a:r>
          </a:p>
        </p:txBody>
      </p:sp>
      <p:cxnSp>
        <p:nvCxnSpPr>
          <p:cNvPr id="25" name="Connector 24"/>
          <p:cNvCxnSpPr/>
          <p:nvPr/>
        </p:nvCxnSpPr>
        <p:spPr>
          <a:xfrm>
            <a:off x="10012680" y="2058948"/>
            <a:ext cx="0" cy="164592"/>
          </a:xfrm>
          <a:prstGeom prst="line">
            <a:avLst/>
          </a:prstGeom>
          <a:ln w="3048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503920" y="2223540"/>
            <a:ext cx="3017520" cy="4572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0" y="2260116"/>
            <a:ext cx="2834639" cy="237744"/>
          </a:xfrm>
          <a:prstGeom prst="rect">
            <a:avLst/>
          </a:prstGeom>
          <a:noFill/>
        </p:spPr>
        <p:txBody>
          <a:bodyPr wrap="square" lIns="0" rIns="0" tIns="0" bIns="0" anchor="t">
            <a:spAutoFit/>
          </a:bodyPr>
          <a:lstStyle/>
          <a:p>
            <a:pPr algn="ctr">
              <a:lnSpc>
                <a:spcPct val="102000"/>
              </a:lnSpc>
            </a:pPr>
            <a:r>
              <a:rPr sz="1150" b="1" i="0">
                <a:solidFill>
                  <a:srgbClr val="FFFFFF"/>
                </a:solidFill>
                <a:latin typeface="DejaVu Sans"/>
              </a:rPr>
              <a:t>it proposes a solution</a:t>
            </a:r>
          </a:p>
        </p:txBody>
      </p:sp>
      <p:sp>
        <p:nvSpPr>
          <p:cNvPr id="28" name="TextBox 27"/>
          <p:cNvSpPr txBox="1"/>
          <p:nvPr/>
        </p:nvSpPr>
        <p:spPr>
          <a:xfrm>
            <a:off x="8595360" y="2497860"/>
            <a:ext cx="2834639" cy="201168"/>
          </a:xfrm>
          <a:prstGeom prst="rect">
            <a:avLst/>
          </a:prstGeom>
          <a:noFill/>
        </p:spPr>
        <p:txBody>
          <a:bodyPr wrap="square" lIns="0" rIns="0" tIns="0" bIns="0" anchor="t">
            <a:spAutoFit/>
          </a:bodyPr>
          <a:lstStyle/>
          <a:p>
            <a:pPr algn="ctr">
              <a:lnSpc>
                <a:spcPct val="102000"/>
              </a:lnSpc>
            </a:pPr>
            <a:r>
              <a:rPr sz="880" b="0" i="0">
                <a:solidFill>
                  <a:srgbClr val="FFFFFF"/>
                </a:solidFill>
                <a:latin typeface="DejaVu Sans"/>
              </a:rPr>
              <a:t>a person confirms</a:t>
            </a:r>
          </a:p>
        </p:txBody>
      </p:sp>
      <p:cxnSp>
        <p:nvCxnSpPr>
          <p:cNvPr id="29" name="Connector 28"/>
          <p:cNvCxnSpPr/>
          <p:nvPr/>
        </p:nvCxnSpPr>
        <p:spPr>
          <a:xfrm>
            <a:off x="10012680" y="2680740"/>
            <a:ext cx="0" cy="164592"/>
          </a:xfrm>
          <a:prstGeom prst="line">
            <a:avLst/>
          </a:prstGeom>
          <a:ln w="3048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03920" y="2845332"/>
            <a:ext cx="3017520" cy="45720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2881908"/>
            <a:ext cx="2834639" cy="237744"/>
          </a:xfrm>
          <a:prstGeom prst="rect">
            <a:avLst/>
          </a:prstGeom>
          <a:noFill/>
        </p:spPr>
        <p:txBody>
          <a:bodyPr wrap="square" lIns="0" rIns="0" tIns="0" bIns="0" anchor="t">
            <a:spAutoFit/>
          </a:bodyPr>
          <a:lstStyle/>
          <a:p>
            <a:pPr algn="ctr">
              <a:lnSpc>
                <a:spcPct val="102000"/>
              </a:lnSpc>
            </a:pPr>
            <a:r>
              <a:rPr sz="1150" b="1" i="0">
                <a:solidFill>
                  <a:srgbClr val="FFFFFF"/>
                </a:solidFill>
                <a:latin typeface="DejaVu Sans"/>
              </a:rPr>
              <a:t>it decides itself</a:t>
            </a:r>
          </a:p>
        </p:txBody>
      </p:sp>
      <p:sp>
        <p:nvSpPr>
          <p:cNvPr id="32" name="TextBox 31"/>
          <p:cNvSpPr txBox="1"/>
          <p:nvPr/>
        </p:nvSpPr>
        <p:spPr>
          <a:xfrm>
            <a:off x="8595360" y="3119652"/>
            <a:ext cx="2834639" cy="201168"/>
          </a:xfrm>
          <a:prstGeom prst="rect">
            <a:avLst/>
          </a:prstGeom>
          <a:noFill/>
        </p:spPr>
        <p:txBody>
          <a:bodyPr wrap="square" lIns="0" rIns="0" tIns="0" bIns="0" anchor="t">
            <a:spAutoFit/>
          </a:bodyPr>
          <a:lstStyle/>
          <a:p>
            <a:pPr algn="ctr">
              <a:lnSpc>
                <a:spcPct val="102000"/>
              </a:lnSpc>
            </a:pPr>
            <a:r>
              <a:rPr sz="880" b="0" i="0">
                <a:solidFill>
                  <a:srgbClr val="FFFFFF"/>
                </a:solidFill>
                <a:latin typeface="DejaVu Sans"/>
              </a:rPr>
              <a:t>hands hard cases back to a person</a:t>
            </a:r>
          </a:p>
        </p:txBody>
      </p:sp>
      <p:sp>
        <p:nvSpPr>
          <p:cNvPr id="33" name="TextBox 32"/>
          <p:cNvSpPr txBox="1"/>
          <p:nvPr/>
        </p:nvSpPr>
        <p:spPr>
          <a:xfrm>
            <a:off x="8503920" y="3339108"/>
            <a:ext cx="3017520" cy="310896"/>
          </a:xfrm>
          <a:prstGeom prst="rect">
            <a:avLst/>
          </a:prstGeom>
          <a:noFill/>
        </p:spPr>
        <p:txBody>
          <a:bodyPr wrap="square" lIns="0" rIns="0" tIns="0" bIns="0" anchor="t">
            <a:spAutoFit/>
          </a:bodyPr>
          <a:lstStyle/>
          <a:p>
            <a:pPr algn="ctr">
              <a:lnSpc>
                <a:spcPct val="105000"/>
              </a:lnSpc>
            </a:pPr>
            <a:r>
              <a:rPr sz="880" b="0" i="1">
                <a:solidFill>
                  <a:srgbClr val="5B6678"/>
                </a:solidFill>
                <a:latin typeface="DejaVu Sans"/>
              </a:rPr>
              <a:t>the autonomy scale: product versions have nothing to do with it</a:t>
            </a:r>
          </a:p>
        </p:txBody>
      </p:sp>
      <p:sp>
        <p:nvSpPr>
          <p:cNvPr id="34" name="Rounded Rectangle 33"/>
          <p:cNvSpPr/>
          <p:nvPr/>
        </p:nvSpPr>
        <p:spPr>
          <a:xfrm>
            <a:off x="502920" y="3860316"/>
            <a:ext cx="1152144" cy="134007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860316"/>
            <a:ext cx="1060704" cy="134007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36" name="Rounded Rectangle 35"/>
          <p:cNvSpPr/>
          <p:nvPr/>
        </p:nvSpPr>
        <p:spPr>
          <a:xfrm>
            <a:off x="1801368" y="3860316"/>
            <a:ext cx="9902952" cy="134007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984248" y="3951756"/>
            <a:ext cx="4677156" cy="1157191"/>
          </a:xfrm>
          <a:prstGeom prst="roundRect">
            <a:avLst>
              <a:gd name="adj" fmla="val 1536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84831" y="3997476"/>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rights have long been handed out in parts</a:t>
            </a:r>
          </a:p>
        </p:txBody>
      </p:sp>
      <p:sp>
        <p:nvSpPr>
          <p:cNvPr id="39" name="TextBox 38"/>
          <p:cNvSpPr txBox="1"/>
          <p:nvPr/>
        </p:nvSpPr>
        <p:spPr>
          <a:xfrm>
            <a:off x="2084831" y="4226076"/>
            <a:ext cx="4475988" cy="828007"/>
          </a:xfrm>
          <a:prstGeom prst="rect">
            <a:avLst/>
          </a:prstGeom>
          <a:noFill/>
        </p:spPr>
        <p:txBody>
          <a:bodyPr wrap="square" lIns="0" rIns="0" tIns="0" bIns="0" anchor="t">
            <a:spAutoFit/>
          </a:bodyPr>
          <a:lstStyle/>
          <a:p>
            <a:pPr algn="l">
              <a:lnSpc>
                <a:spcPct val="112000"/>
              </a:lnSpc>
            </a:pPr>
            <a:r>
              <a:rPr sz="900" b="0" i="0">
                <a:solidFill>
                  <a:srgbClr val="21295C"/>
                </a:solidFill>
                <a:latin typeface="DejaVu Sans"/>
              </a:rPr>
              <a:t>To people and to automation alike: a newcomer is first allowed to watch, then to propose, then to decide alone. The level rests on time served without complaints.</a:t>
            </a:r>
          </a:p>
        </p:txBody>
      </p:sp>
      <p:sp>
        <p:nvSpPr>
          <p:cNvPr id="40" name="Rounded Rectangle 39"/>
          <p:cNvSpPr/>
          <p:nvPr/>
        </p:nvSpPr>
        <p:spPr>
          <a:xfrm>
            <a:off x="6844284" y="3951756"/>
            <a:ext cx="4677156" cy="1157191"/>
          </a:xfrm>
          <a:prstGeom prst="roundRect">
            <a:avLst>
              <a:gd name="adj" fmla="val 1536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4868" y="3997476"/>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the level is confirmed by measurement</a:t>
            </a:r>
          </a:p>
        </p:txBody>
      </p:sp>
      <p:sp>
        <p:nvSpPr>
          <p:cNvPr id="42" name="TextBox 41"/>
          <p:cNvSpPr txBox="1"/>
          <p:nvPr/>
        </p:nvSpPr>
        <p:spPr>
          <a:xfrm>
            <a:off x="6944868" y="4226076"/>
            <a:ext cx="4475988" cy="828007"/>
          </a:xfrm>
          <a:prstGeom prst="rect">
            <a:avLst/>
          </a:prstGeom>
          <a:noFill/>
        </p:spPr>
        <p:txBody>
          <a:bodyPr wrap="square" lIns="0" rIns="0" tIns="0" bIns="0" anchor="t">
            <a:spAutoFit/>
          </a:bodyPr>
          <a:lstStyle/>
          <a:p>
            <a:pPr algn="l">
              <a:lnSpc>
                <a:spcPct val="112000"/>
              </a:lnSpc>
            </a:pPr>
            <a:r>
              <a:rPr sz="900" b="0" i="0">
                <a:solidFill>
                  <a:srgbClr val="21295C"/>
                </a:solidFill>
                <a:latin typeface="DejaVu Sans"/>
              </a:rPr>
              <a:t>A system gains no experience. Meta moved the risk threshold for merging without a person from the 25th percentile to the 50th: </a:t>
            </a:r>
            <a:r>
              <a:rPr sz="900" b="1" i="0">
                <a:solidFill>
                  <a:srgbClr val="21295C"/>
                </a:solidFill>
                <a:latin typeface="DejaVu Sans"/>
              </a:rPr>
              <a:t>60.31%</a:t>
            </a:r>
            <a:r>
              <a:rPr sz="900" b="0" i="0">
                <a:solidFill>
                  <a:srgbClr val="21295C"/>
                </a:solidFill>
                <a:latin typeface="DejaVu Sans"/>
              </a:rPr>
              <a:t> are approved automatically. Rollbacks are </a:t>
            </a:r>
            <a:r>
              <a:rPr sz="900" b="1" i="0">
                <a:solidFill>
                  <a:srgbClr val="21295C"/>
                </a:solidFill>
                <a:latin typeface="DejaVu Sans"/>
              </a:rPr>
              <a:t>three times rarer</a:t>
            </a:r>
            <a:r>
              <a:rPr sz="900" b="0" i="0">
                <a:solidFill>
                  <a:srgbClr val="21295C"/>
                </a:solidFill>
                <a:latin typeface="DejaVu Sans"/>
              </a:rPr>
              <a:t>, production incidents </a:t>
            </a:r>
            <a:r>
              <a:rPr sz="900" b="1" i="0">
                <a:solidFill>
                  <a:srgbClr val="21295C"/>
                </a:solidFill>
                <a:latin typeface="DejaVu Sans"/>
              </a:rPr>
              <a:t>50 times rarer</a:t>
            </a:r>
            <a:r>
              <a:rPr sz="900" b="0" i="0">
                <a:solidFill>
                  <a:srgbClr val="21295C"/>
                </a:solidFill>
                <a:latin typeface="DejaVu Sans"/>
              </a:rPr>
              <a:t>, than on the ordinary path (535,000 changes).</a:t>
            </a:r>
          </a:p>
        </p:txBody>
      </p:sp>
      <p:sp>
        <p:nvSpPr>
          <p:cNvPr id="43" name="Rounded Rectangle 42"/>
          <p:cNvSpPr/>
          <p:nvPr/>
        </p:nvSpPr>
        <p:spPr>
          <a:xfrm>
            <a:off x="502920" y="5264396"/>
            <a:ext cx="1152144" cy="1149680"/>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264396"/>
            <a:ext cx="1060704" cy="1149680"/>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45" name="Rounded Rectangle 44"/>
          <p:cNvSpPr/>
          <p:nvPr/>
        </p:nvSpPr>
        <p:spPr>
          <a:xfrm>
            <a:off x="1801368" y="5264396"/>
            <a:ext cx="9902952" cy="1149680"/>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984248" y="5355836"/>
            <a:ext cx="9537192" cy="966800"/>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"The operator has not corrected anything in ages" is not evidence: </a:t>
            </a:r>
            <a:r>
              <a:rPr sz="1000" b="1" i="0">
                <a:solidFill>
                  <a:srgbClr val="21295C"/>
                </a:solidFill>
                <a:latin typeface="DejaVu Sans"/>
              </a:rPr>
              <a:t>an absence of remarks is an absence of measurement.</a:t>
            </a:r>
            <a:r>
              <a:rPr sz="1000" b="1" i="0">
                <a:solidFill>
                  <a:srgbClr val="21295C"/>
                </a:solidFill>
                <a:latin typeface="DejaVu Sans"/>
              </a:rPr>
              <a:t> Automatic approval rests on </a:t>
            </a:r>
            <a:r>
              <a:rPr sz="1000" b="1" i="0">
                <a:solidFill>
                  <a:srgbClr val="21295C"/>
                </a:solidFill>
                <a:latin typeface="DejaVu Sans"/>
              </a:rPr>
              <a:t>a deterministic check at the end of the chain</a:t>
            </a:r>
            <a:r>
              <a:rPr sz="1000" b="1" i="0">
                <a:solidFill>
                  <a:srgbClr val="21295C"/>
                </a:solidFill>
                <a:latin typeface="DejaVu Sans"/>
              </a:rPr>
              <a:t>; merging on the verdict of an AI reviewer removes the only control there is. And the irreversible and the expensive are never raised to the top level: a binding offer to a customer, the deletion of working data, a release to everyone at once — those sit behind a hard rule placed above the model.</a:t>
            </a:r>
          </a:p>
        </p:txBody>
      </p:sp>
      <p:sp>
        <p:nvSpPr>
          <p:cNvPr id="47" name="TextBox 46"/>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Aishwarya Reganti (Amazon) and Kiriti Badam (OpenAI), 19 August 2025 — a review of more than 50 deployments · Meta RADAR, arXiv 2605.30208: 535,000 changes, the risk threshold moved from the 25th to the 50th percentile</a:t>
            </a:r>
          </a:p>
        </p:txBody>
      </p:sp>
      <p:sp>
        <p:nvSpPr>
          <p:cNvPr id="48" name="TextBox 4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24 / 56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A check that has never had a defect planted in it on purpose counts as broken</a:t>
            </a:r>
          </a:p>
        </p:txBody>
      </p:sp>
      <p:sp>
        <p:nvSpPr>
          <p:cNvPr id="3" name="Rounded Rectangle 2"/>
          <p:cNvSpPr/>
          <p:nvPr/>
        </p:nvSpPr>
        <p:spPr>
          <a:xfrm>
            <a:off x="502920" y="825525"/>
            <a:ext cx="1152144" cy="1037097"/>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1037097"/>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25525"/>
            <a:ext cx="9902952" cy="1037097"/>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854217"/>
          </a:xfrm>
          <a:prstGeom prst="rect">
            <a:avLst/>
          </a:prstGeom>
          <a:noFill/>
        </p:spPr>
        <p:txBody>
          <a:bodyPr wrap="square" lIns="0" rIns="0" tIns="0" bIns="0" anchor="ctr">
            <a:spAutoFit/>
          </a:bodyPr>
          <a:lstStyle/>
          <a:p>
            <a:pPr algn="l">
              <a:lnSpc>
                <a:spcPct val="114000"/>
              </a:lnSpc>
            </a:pPr>
            <a:r>
              <a:rPr sz="1080" b="1" i="0">
                <a:solidFill>
                  <a:srgbClr val="21295C"/>
                </a:solidFill>
                <a:latin typeface="DejaVu Sans"/>
              </a:rPr>
              <a:t>Mutation testing</a:t>
            </a:r>
            <a:r>
              <a:rPr sz="1080" b="0" i="0">
                <a:solidFill>
                  <a:srgbClr val="21295C"/>
                </a:solidFill>
                <a:latin typeface="DejaVu Sans"/>
              </a:rPr>
              <a:t> — a small error (a "mutant") is put into the code on purpose and you watch whether any check fails. The share of mutants killed tells you whether the checks catch anything; coverage answers another question — was the line touched by the run. With AI the same practice is pointed at everything that constrains it: </a:t>
            </a:r>
            <a:r>
              <a:rPr sz="1080" b="1" i="0">
                <a:solidFill>
                  <a:srgbClr val="21295C"/>
                </a:solidFill>
                <a:latin typeface="DejaVu Sans"/>
              </a:rPr>
              <a:t>the golden set, the agent instructions file, a rule in the pipeline</a:t>
            </a:r>
            <a:r>
              <a:rPr sz="1080" b="0" i="0">
                <a:solidFill>
                  <a:srgbClr val="21295C"/>
                </a:solidFill>
                <a:latin typeface="DejaVu Sans"/>
              </a:rPr>
              <a:t>.</a:t>
            </a:r>
          </a:p>
        </p:txBody>
      </p:sp>
      <p:sp>
        <p:nvSpPr>
          <p:cNvPr id="7" name="Rounded Rectangle 6"/>
          <p:cNvSpPr/>
          <p:nvPr/>
        </p:nvSpPr>
        <p:spPr>
          <a:xfrm>
            <a:off x="502920" y="1926631"/>
            <a:ext cx="1152144" cy="2286000"/>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6631"/>
            <a:ext cx="1060704" cy="228600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926631"/>
            <a:ext cx="9902952" cy="2286000"/>
          </a:xfrm>
          <a:prstGeom prst="roundRect">
            <a:avLst>
              <a:gd name="adj" fmla="val 13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203178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203178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2018071"/>
            <a:ext cx="5020056" cy="372050"/>
          </a:xfrm>
          <a:prstGeom prst="rect">
            <a:avLst/>
          </a:prstGeom>
          <a:noFill/>
        </p:spPr>
        <p:txBody>
          <a:bodyPr wrap="square" lIns="0" rIns="0" tIns="0" bIns="0" anchor="t">
            <a:spAutoFit/>
          </a:bodyPr>
          <a:lstStyle/>
          <a:p>
            <a:pPr algn="l">
              <a:lnSpc>
                <a:spcPct val="115000"/>
              </a:lnSpc>
            </a:pPr>
            <a:r>
              <a:rPr sz="980" b="0" i="0">
                <a:solidFill>
                  <a:srgbClr val="21295C"/>
                </a:solidFill>
                <a:latin typeface="DejaVu Sans"/>
              </a:rPr>
              <a:t>Name the check you rely on, and </a:t>
            </a:r>
            <a:r>
              <a:rPr sz="980" b="1" i="0">
                <a:solidFill>
                  <a:srgbClr val="065A82"/>
                </a:solidFill>
                <a:latin typeface="DejaVu Sans"/>
              </a:rPr>
              <a:t>the class of errors it is obliged to catch</a:t>
            </a:r>
            <a:r>
              <a:rPr sz="980" b="0" i="0">
                <a:solidFill>
                  <a:srgbClr val="21295C"/>
                </a:solidFill>
                <a:latin typeface="DejaVu Sans"/>
              </a:rPr>
              <a:t>.</a:t>
            </a:r>
          </a:p>
        </p:txBody>
      </p:sp>
      <p:sp>
        <p:nvSpPr>
          <p:cNvPr id="13" name="Oval 12"/>
          <p:cNvSpPr/>
          <p:nvPr/>
        </p:nvSpPr>
        <p:spPr>
          <a:xfrm>
            <a:off x="1984248" y="2467846"/>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467846"/>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454130"/>
            <a:ext cx="5020056" cy="372050"/>
          </a:xfrm>
          <a:prstGeom prst="rect">
            <a:avLst/>
          </a:prstGeom>
          <a:noFill/>
        </p:spPr>
        <p:txBody>
          <a:bodyPr wrap="square" lIns="0" rIns="0" tIns="0" bIns="0" anchor="t">
            <a:spAutoFit/>
          </a:bodyPr>
          <a:lstStyle/>
          <a:p>
            <a:pPr algn="l">
              <a:lnSpc>
                <a:spcPct val="115000"/>
              </a:lnSpc>
            </a:pPr>
            <a:r>
              <a:rPr sz="980" b="0" i="0">
                <a:solidFill>
                  <a:srgbClr val="21295C"/>
                </a:solidFill>
                <a:latin typeface="DejaVu Sans"/>
              </a:rPr>
              <a:t>Put an error of that class in </a:t>
            </a:r>
            <a:r>
              <a:rPr sz="980" b="1" i="0">
                <a:solidFill>
                  <a:srgbClr val="065A82"/>
                </a:solidFill>
                <a:latin typeface="DejaVu Sans"/>
              </a:rPr>
              <a:t>on purpose</a:t>
            </a:r>
            <a:r>
              <a:rPr sz="980" b="0" i="0">
                <a:solidFill>
                  <a:srgbClr val="21295C"/>
                </a:solidFill>
                <a:latin typeface="DejaVu Sans"/>
              </a:rPr>
              <a:t> — one, small, in one place.</a:t>
            </a:r>
          </a:p>
        </p:txBody>
      </p:sp>
      <p:sp>
        <p:nvSpPr>
          <p:cNvPr id="16" name="Oval 15"/>
          <p:cNvSpPr/>
          <p:nvPr/>
        </p:nvSpPr>
        <p:spPr>
          <a:xfrm>
            <a:off x="1984248" y="290390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90390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890188"/>
            <a:ext cx="5020056" cy="372050"/>
          </a:xfrm>
          <a:prstGeom prst="rect">
            <a:avLst/>
          </a:prstGeom>
          <a:noFill/>
        </p:spPr>
        <p:txBody>
          <a:bodyPr wrap="square" lIns="0" rIns="0" tIns="0" bIns="0" anchor="t">
            <a:spAutoFit/>
          </a:bodyPr>
          <a:lstStyle/>
          <a:p>
            <a:pPr algn="l">
              <a:lnSpc>
                <a:spcPct val="115000"/>
              </a:lnSpc>
            </a:pPr>
            <a:r>
              <a:rPr sz="980" b="0" i="0">
                <a:solidFill>
                  <a:srgbClr val="21295C"/>
                </a:solidFill>
                <a:latin typeface="DejaVu Sans"/>
              </a:rPr>
              <a:t>Run the check. </a:t>
            </a:r>
            <a:r>
              <a:rPr sz="980" b="1" i="0">
                <a:solidFill>
                  <a:srgbClr val="065A82"/>
                </a:solidFill>
                <a:latin typeface="DejaVu Sans"/>
              </a:rPr>
              <a:t>Silence means there is no check</a:t>
            </a:r>
            <a:r>
              <a:rPr sz="980" b="0" i="0">
                <a:solidFill>
                  <a:srgbClr val="21295C"/>
                </a:solidFill>
                <a:latin typeface="DejaVu Sans"/>
              </a:rPr>
              <a:t>: it does not tell the sound from the spoilt.</a:t>
            </a:r>
          </a:p>
        </p:txBody>
      </p:sp>
      <p:sp>
        <p:nvSpPr>
          <p:cNvPr id="19" name="Oval 18"/>
          <p:cNvSpPr/>
          <p:nvPr/>
        </p:nvSpPr>
        <p:spPr>
          <a:xfrm>
            <a:off x="1984248" y="333996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33996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326247"/>
            <a:ext cx="5020056" cy="372050"/>
          </a:xfrm>
          <a:prstGeom prst="rect">
            <a:avLst/>
          </a:prstGeom>
          <a:noFill/>
        </p:spPr>
        <p:txBody>
          <a:bodyPr wrap="square" lIns="0" rIns="0" tIns="0" bIns="0" anchor="t">
            <a:spAutoFit/>
          </a:bodyPr>
          <a:lstStyle/>
          <a:p>
            <a:pPr algn="l">
              <a:lnSpc>
                <a:spcPct val="115000"/>
              </a:lnSpc>
            </a:pPr>
            <a:r>
              <a:rPr sz="980" b="0" i="0">
                <a:solidFill>
                  <a:srgbClr val="21295C"/>
                </a:solidFill>
                <a:latin typeface="DejaVu Sans"/>
              </a:rPr>
              <a:t>Record the share caught </a:t>
            </a:r>
            <a:r>
              <a:rPr sz="980" b="1" i="0">
                <a:solidFill>
                  <a:srgbClr val="065A82"/>
                </a:solidFill>
                <a:latin typeface="DejaVu Sans"/>
              </a:rPr>
              <a:t>as a number</a:t>
            </a:r>
            <a:r>
              <a:rPr sz="980" b="0" i="0">
                <a:solidFill>
                  <a:srgbClr val="21295C"/>
                </a:solidFill>
                <a:latin typeface="DejaVu Sans"/>
              </a:rPr>
              <a:t> and remeasure after every edit to the check: checks go stale quietly.</a:t>
            </a:r>
          </a:p>
        </p:txBody>
      </p:sp>
      <p:sp>
        <p:nvSpPr>
          <p:cNvPr id="22" name="TextBox 21"/>
          <p:cNvSpPr txBox="1"/>
          <p:nvPr/>
        </p:nvSpPr>
        <p:spPr>
          <a:xfrm>
            <a:off x="7589520" y="2018071"/>
            <a:ext cx="3931920" cy="365760"/>
          </a:xfrm>
          <a:prstGeom prst="rect">
            <a:avLst/>
          </a:prstGeom>
          <a:noFill/>
        </p:spPr>
        <p:txBody>
          <a:bodyPr wrap="square" lIns="0" rIns="0" tIns="0" bIns="0" anchor="t">
            <a:spAutoFit/>
          </a:bodyPr>
          <a:lstStyle/>
          <a:p>
            <a:pPr algn="l">
              <a:lnSpc>
                <a:spcPct val="108000"/>
              </a:lnSpc>
            </a:pPr>
            <a:r>
              <a:rPr sz="1019" b="1" i="0">
                <a:solidFill>
                  <a:srgbClr val="21295C"/>
                </a:solidFill>
                <a:latin typeface="DejaVu Sans"/>
              </a:rPr>
              <a:t>The same practice on three checks</a:t>
            </a:r>
          </a:p>
        </p:txBody>
      </p:sp>
      <p:sp>
        <p:nvSpPr>
          <p:cNvPr id="23" name="Rounded Rectangle 22"/>
          <p:cNvSpPr/>
          <p:nvPr/>
        </p:nvSpPr>
        <p:spPr>
          <a:xfrm>
            <a:off x="7589520" y="2420407"/>
            <a:ext cx="3931920" cy="475488"/>
          </a:xfrm>
          <a:prstGeom prst="roundRect">
            <a:avLst>
              <a:gd name="adj" fmla="val 19444"/>
            </a:avLst>
          </a:prstGeom>
          <a:solidFill>
            <a:srgbClr val="E1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9248" y="2420407"/>
            <a:ext cx="1887321" cy="475488"/>
          </a:xfrm>
          <a:prstGeom prst="rect">
            <a:avLst/>
          </a:prstGeom>
          <a:noFill/>
        </p:spPr>
        <p:txBody>
          <a:bodyPr wrap="square" lIns="0" rIns="0" tIns="0" bIns="0" anchor="ctr">
            <a:spAutoFit/>
          </a:bodyPr>
          <a:lstStyle/>
          <a:p>
            <a:pPr algn="l">
              <a:lnSpc>
                <a:spcPct val="106000"/>
              </a:lnSpc>
            </a:pPr>
            <a:r>
              <a:rPr sz="940" b="0" i="0">
                <a:solidFill>
                  <a:srgbClr val="21295C"/>
                </a:solidFill>
                <a:latin typeface="DejaVu Sans"/>
              </a:rPr>
              <a:t>Unit tests</a:t>
            </a:r>
          </a:p>
        </p:txBody>
      </p:sp>
      <p:sp>
        <p:nvSpPr>
          <p:cNvPr id="25" name="TextBox 24"/>
          <p:cNvSpPr txBox="1"/>
          <p:nvPr/>
        </p:nvSpPr>
        <p:spPr>
          <a:xfrm>
            <a:off x="9555480" y="2420407"/>
            <a:ext cx="1887321" cy="475488"/>
          </a:xfrm>
          <a:prstGeom prst="rect">
            <a:avLst/>
          </a:prstGeom>
          <a:noFill/>
        </p:spPr>
        <p:txBody>
          <a:bodyPr wrap="square" lIns="0" rIns="0" tIns="0" bIns="0" anchor="ctr">
            <a:spAutoFit/>
          </a:bodyPr>
          <a:lstStyle/>
          <a:p>
            <a:pPr algn="r">
              <a:lnSpc>
                <a:spcPct val="106000"/>
              </a:lnSpc>
            </a:pPr>
            <a:r>
              <a:rPr sz="940" b="1" i="0">
                <a:solidFill>
                  <a:srgbClr val="21295C"/>
                </a:solidFill>
                <a:latin typeface="DejaVu Sans"/>
              </a:rPr>
              <a:t>flip a condition</a:t>
            </a:r>
          </a:p>
        </p:txBody>
      </p:sp>
      <p:sp>
        <p:nvSpPr>
          <p:cNvPr id="26" name="Rounded Rectangle 25"/>
          <p:cNvSpPr/>
          <p:nvPr/>
        </p:nvSpPr>
        <p:spPr>
          <a:xfrm>
            <a:off x="7589520" y="2932471"/>
            <a:ext cx="3931920" cy="475488"/>
          </a:xfrm>
          <a:prstGeom prst="roundRect">
            <a:avLst>
              <a:gd name="adj" fmla="val 19444"/>
            </a:avLst>
          </a:prstGeom>
          <a:solidFill>
            <a:srgbClr val="E1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99248" y="2932471"/>
            <a:ext cx="1887321" cy="475488"/>
          </a:xfrm>
          <a:prstGeom prst="rect">
            <a:avLst/>
          </a:prstGeom>
          <a:noFill/>
        </p:spPr>
        <p:txBody>
          <a:bodyPr wrap="square" lIns="0" rIns="0" tIns="0" bIns="0" anchor="ctr">
            <a:spAutoFit/>
          </a:bodyPr>
          <a:lstStyle/>
          <a:p>
            <a:pPr algn="l">
              <a:lnSpc>
                <a:spcPct val="106000"/>
              </a:lnSpc>
            </a:pPr>
            <a:r>
              <a:rPr sz="940" b="0" i="0">
                <a:solidFill>
                  <a:srgbClr val="21295C"/>
                </a:solidFill>
                <a:latin typeface="DejaVu Sans"/>
              </a:rPr>
              <a:t>The golden set</a:t>
            </a:r>
          </a:p>
        </p:txBody>
      </p:sp>
      <p:sp>
        <p:nvSpPr>
          <p:cNvPr id="28" name="TextBox 27"/>
          <p:cNvSpPr txBox="1"/>
          <p:nvPr/>
        </p:nvSpPr>
        <p:spPr>
          <a:xfrm>
            <a:off x="9555480" y="2932471"/>
            <a:ext cx="1887321" cy="475488"/>
          </a:xfrm>
          <a:prstGeom prst="rect">
            <a:avLst/>
          </a:prstGeom>
          <a:noFill/>
        </p:spPr>
        <p:txBody>
          <a:bodyPr wrap="square" lIns="0" rIns="0" tIns="0" bIns="0" anchor="ctr">
            <a:spAutoFit/>
          </a:bodyPr>
          <a:lstStyle/>
          <a:p>
            <a:pPr algn="r">
              <a:lnSpc>
                <a:spcPct val="106000"/>
              </a:lnSpc>
            </a:pPr>
            <a:r>
              <a:rPr sz="940" b="1" i="0">
                <a:solidFill>
                  <a:srgbClr val="21295C"/>
                </a:solidFill>
                <a:latin typeface="DejaVu Sans"/>
              </a:rPr>
              <a:t>swap the answer for</a:t>
            </a:r>
          </a:p>
          <a:p>
            <a:pPr algn="r">
              <a:lnSpc>
                <a:spcPct val="106000"/>
              </a:lnSpc>
            </a:pPr>
            <a:r>
              <a:rPr sz="940" b="1" i="0">
                <a:solidFill>
                  <a:srgbClr val="21295C"/>
                </a:solidFill>
                <a:latin typeface="DejaVu Sans"/>
              </a:rPr>
              <a:t>a nearly right one</a:t>
            </a:r>
          </a:p>
        </p:txBody>
      </p:sp>
      <p:sp>
        <p:nvSpPr>
          <p:cNvPr id="29" name="Rounded Rectangle 28"/>
          <p:cNvSpPr/>
          <p:nvPr/>
        </p:nvSpPr>
        <p:spPr>
          <a:xfrm>
            <a:off x="7589520" y="3444535"/>
            <a:ext cx="3931920" cy="475488"/>
          </a:xfrm>
          <a:prstGeom prst="roundRect">
            <a:avLst>
              <a:gd name="adj" fmla="val 19444"/>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9248" y="3444535"/>
            <a:ext cx="1887321" cy="475488"/>
          </a:xfrm>
          <a:prstGeom prst="rect">
            <a:avLst/>
          </a:prstGeom>
          <a:noFill/>
        </p:spPr>
        <p:txBody>
          <a:bodyPr wrap="square" lIns="0" rIns="0" tIns="0" bIns="0" anchor="ctr">
            <a:spAutoFit/>
          </a:bodyPr>
          <a:lstStyle/>
          <a:p>
            <a:pPr algn="l">
              <a:lnSpc>
                <a:spcPct val="106000"/>
              </a:lnSpc>
            </a:pPr>
            <a:r>
              <a:rPr sz="940" b="0" i="0">
                <a:solidFill>
                  <a:srgbClr val="21295C"/>
                </a:solidFill>
                <a:latin typeface="DejaVu Sans"/>
              </a:rPr>
              <a:t>The agent</a:t>
            </a:r>
          </a:p>
          <a:p>
            <a:pPr algn="l">
              <a:lnSpc>
                <a:spcPct val="106000"/>
              </a:lnSpc>
            </a:pPr>
            <a:r>
              <a:rPr sz="940" b="0" i="0">
                <a:solidFill>
                  <a:srgbClr val="21295C"/>
                </a:solidFill>
                <a:latin typeface="DejaVu Sans"/>
              </a:rPr>
              <a:t>instructions file</a:t>
            </a:r>
          </a:p>
        </p:txBody>
      </p:sp>
      <p:sp>
        <p:nvSpPr>
          <p:cNvPr id="31" name="TextBox 30"/>
          <p:cNvSpPr txBox="1"/>
          <p:nvPr/>
        </p:nvSpPr>
        <p:spPr>
          <a:xfrm>
            <a:off x="9555480" y="3444535"/>
            <a:ext cx="1887321" cy="475488"/>
          </a:xfrm>
          <a:prstGeom prst="rect">
            <a:avLst/>
          </a:prstGeom>
          <a:noFill/>
        </p:spPr>
        <p:txBody>
          <a:bodyPr wrap="square" lIns="0" rIns="0" tIns="0" bIns="0" anchor="ctr">
            <a:spAutoFit/>
          </a:bodyPr>
          <a:lstStyle/>
          <a:p>
            <a:pPr algn="r">
              <a:lnSpc>
                <a:spcPct val="106000"/>
              </a:lnSpc>
            </a:pPr>
            <a:r>
              <a:rPr sz="940" b="1" i="0">
                <a:solidFill>
                  <a:srgbClr val="028090"/>
                </a:solidFill>
                <a:latin typeface="DejaVu Sans"/>
              </a:rPr>
              <a:t>a task where breaking</a:t>
            </a:r>
          </a:p>
          <a:p>
            <a:pPr algn="r">
              <a:lnSpc>
                <a:spcPct val="106000"/>
              </a:lnSpc>
            </a:pPr>
            <a:r>
              <a:rPr sz="940" b="1" i="0">
                <a:solidFill>
                  <a:srgbClr val="028090"/>
                </a:solidFill>
                <a:latin typeface="DejaVu Sans"/>
              </a:rPr>
              <a:t>the rule is shorter</a:t>
            </a:r>
          </a:p>
        </p:txBody>
      </p:sp>
      <p:sp>
        <p:nvSpPr>
          <p:cNvPr id="32" name="TextBox 31"/>
          <p:cNvSpPr txBox="1"/>
          <p:nvPr/>
        </p:nvSpPr>
        <p:spPr>
          <a:xfrm>
            <a:off x="7589520" y="3956599"/>
            <a:ext cx="3931920" cy="201168"/>
          </a:xfrm>
          <a:prstGeom prst="rect">
            <a:avLst/>
          </a:prstGeom>
          <a:noFill/>
        </p:spPr>
        <p:txBody>
          <a:bodyPr wrap="square" lIns="0" rIns="0" tIns="0" bIns="0" anchor="t">
            <a:spAutoFit/>
          </a:bodyPr>
          <a:lstStyle/>
          <a:p>
            <a:pPr algn="l">
              <a:lnSpc>
                <a:spcPct val="105000"/>
              </a:lnSpc>
            </a:pPr>
            <a:r>
              <a:rPr sz="900" b="0" i="1">
                <a:solidFill>
                  <a:srgbClr val="5B6678"/>
                </a:solidFill>
                <a:latin typeface="DejaVu Sans"/>
              </a:rPr>
              <a:t>silence in answer to a planted defect is what having no check means</a:t>
            </a:r>
          </a:p>
        </p:txBody>
      </p:sp>
      <p:sp>
        <p:nvSpPr>
          <p:cNvPr id="33" name="Rounded Rectangle 32"/>
          <p:cNvSpPr/>
          <p:nvPr/>
        </p:nvSpPr>
        <p:spPr>
          <a:xfrm>
            <a:off x="502920" y="4276639"/>
            <a:ext cx="1152144" cy="1049833"/>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276639"/>
            <a:ext cx="1060704" cy="1049833"/>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35" name="Rounded Rectangle 34"/>
          <p:cNvSpPr/>
          <p:nvPr/>
        </p:nvSpPr>
        <p:spPr>
          <a:xfrm>
            <a:off x="1801368" y="4276639"/>
            <a:ext cx="9902952" cy="1049833"/>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984248" y="4368079"/>
            <a:ext cx="4677156" cy="866953"/>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84831" y="441379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the mutants come from a list of rules</a:t>
            </a:r>
          </a:p>
        </p:txBody>
      </p:sp>
      <p:sp>
        <p:nvSpPr>
          <p:cNvPr id="38" name="TextBox 37"/>
          <p:cNvSpPr txBox="1"/>
          <p:nvPr/>
        </p:nvSpPr>
        <p:spPr>
          <a:xfrm>
            <a:off x="2084831" y="4642399"/>
            <a:ext cx="4475988" cy="537769"/>
          </a:xfrm>
          <a:prstGeom prst="rect">
            <a:avLst/>
          </a:prstGeom>
          <a:noFill/>
        </p:spPr>
        <p:txBody>
          <a:bodyPr wrap="square" lIns="0" rIns="0" tIns="0" bIns="0" anchor="t">
            <a:spAutoFit/>
          </a:bodyPr>
          <a:lstStyle/>
          <a:p>
            <a:pPr algn="l">
              <a:lnSpc>
                <a:spcPct val="112000"/>
              </a:lnSpc>
            </a:pPr>
            <a:r>
              <a:rPr sz="900" b="0" i="0">
                <a:solidFill>
                  <a:srgbClr val="21295C"/>
                </a:solidFill>
                <a:latin typeface="DejaVu Sans"/>
              </a:rPr>
              <a:t>Flip a condition, shift a boundary, take out a call. The run is reproducible and there are tools for every language: PIT, mutmut, Cosmic Ray, Stryker.</a:t>
            </a:r>
          </a:p>
        </p:txBody>
      </p:sp>
      <p:sp>
        <p:nvSpPr>
          <p:cNvPr id="39" name="Rounded Rectangle 38"/>
          <p:cNvSpPr/>
          <p:nvPr/>
        </p:nvSpPr>
        <p:spPr>
          <a:xfrm>
            <a:off x="6844284" y="4368079"/>
            <a:ext cx="4677156" cy="866953"/>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4868" y="441379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the model writes the mutants</a:t>
            </a:r>
          </a:p>
        </p:txBody>
      </p:sp>
      <p:sp>
        <p:nvSpPr>
          <p:cNvPr id="41" name="TextBox 40"/>
          <p:cNvSpPr txBox="1"/>
          <p:nvPr/>
        </p:nvSpPr>
        <p:spPr>
          <a:xfrm>
            <a:off x="6944868" y="4642399"/>
            <a:ext cx="4475988" cy="537769"/>
          </a:xfrm>
          <a:prstGeom prst="rect">
            <a:avLst/>
          </a:prstGeom>
          <a:noFill/>
        </p:spPr>
        <p:txBody>
          <a:bodyPr wrap="square" lIns="0" rIns="0" tIns="0" bIns="0" anchor="t">
            <a:spAutoFit/>
          </a:bodyPr>
          <a:lstStyle/>
          <a:p>
            <a:pPr algn="l">
              <a:lnSpc>
                <a:spcPct val="112000"/>
              </a:lnSpc>
            </a:pPr>
            <a:r>
              <a:rPr sz="900" b="0" i="0">
                <a:solidFill>
                  <a:srgbClr val="21295C"/>
                </a:solidFill>
                <a:latin typeface="DejaVu Sans"/>
              </a:rPr>
              <a:t>They sit closer to real errors: they find </a:t>
            </a:r>
            <a:r>
              <a:rPr sz="900" b="1" i="0">
                <a:solidFill>
                  <a:srgbClr val="21295C"/>
                </a:solidFill>
                <a:latin typeface="DejaVu Sans"/>
              </a:rPr>
              <a:t>76.5%</a:t>
            </a:r>
            <a:r>
              <a:rPr sz="900" b="0" i="0">
                <a:solidFill>
                  <a:srgbClr val="21295C"/>
                </a:solidFill>
                <a:latin typeface="DejaVu Sans"/>
              </a:rPr>
              <a:t> of real defects against </a:t>
            </a:r>
            <a:r>
              <a:rPr sz="900" b="1" i="0">
                <a:solidFill>
                  <a:srgbClr val="21295C"/>
                </a:solidFill>
                <a:latin typeface="DejaVu Sans"/>
              </a:rPr>
              <a:t>44.2%</a:t>
            </a:r>
            <a:r>
              <a:rPr sz="900" b="0" i="0">
                <a:solidFill>
                  <a:srgbClr val="21295C"/>
                </a:solidFill>
                <a:latin typeface="DejaVu Sans"/>
              </a:rPr>
              <a:t> for the list of rules (851 defects). The price — about a third of them do not compile.</a:t>
            </a:r>
          </a:p>
        </p:txBody>
      </p:sp>
      <p:sp>
        <p:nvSpPr>
          <p:cNvPr id="42" name="Rounded Rectangle 41"/>
          <p:cNvSpPr/>
          <p:nvPr/>
        </p:nvSpPr>
        <p:spPr>
          <a:xfrm>
            <a:off x="502920" y="5390480"/>
            <a:ext cx="1152144" cy="808621"/>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390480"/>
            <a:ext cx="1060704" cy="808621"/>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44" name="Rounded Rectangle 43"/>
          <p:cNvSpPr/>
          <p:nvPr/>
        </p:nvSpPr>
        <p:spPr>
          <a:xfrm>
            <a:off x="1801368" y="5390480"/>
            <a:ext cx="9902952" cy="808621"/>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84248" y="5481920"/>
            <a:ext cx="9537192" cy="625741"/>
          </a:xfrm>
          <a:prstGeom prst="rect">
            <a:avLst/>
          </a:prstGeom>
          <a:noFill/>
        </p:spPr>
        <p:txBody>
          <a:bodyPr wrap="square" lIns="0" rIns="0" tIns="0" bIns="0" anchor="ctr">
            <a:spAutoFit/>
          </a:bodyPr>
          <a:lstStyle/>
          <a:p>
            <a:pPr algn="l">
              <a:lnSpc>
                <a:spcPct val="114000"/>
              </a:lnSpc>
            </a:pPr>
            <a:r>
              <a:rPr sz="980" b="1" i="0">
                <a:solidFill>
                  <a:srgbClr val="21295C"/>
                </a:solidFill>
                <a:latin typeface="DejaVu Sans"/>
              </a:rPr>
              <a:t>Some defects the practice cannot see by construction: of 357 real errors, </a:t>
            </a:r>
            <a:r>
              <a:rPr sz="980" b="1" i="0">
                <a:solidFill>
                  <a:srgbClr val="21295C"/>
                </a:solidFill>
                <a:latin typeface="DejaVu Sans"/>
              </a:rPr>
              <a:t>27% are not linked to any mutant</a:t>
            </a:r>
            <a:r>
              <a:rPr sz="980" b="1" i="0">
                <a:solidFill>
                  <a:srgbClr val="21295C"/>
                </a:solidFill>
                <a:latin typeface="DejaVu Sans"/>
              </a:rPr>
              <a:t> — wrong algorithms and code that should have been deleted. And the share killed spoils the same way coverage does: put a gate on it and easily killed mutants start breeding, while detection does not grow.</a:t>
            </a:r>
          </a:p>
        </p:txBody>
      </p:sp>
      <p:sp>
        <p:nvSpPr>
          <p:cNvPr id="46" name="TextBox 45"/>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A continuation of Lecture 4 §4.3 · mutants from a model against a list of rules: 76.5% against 44.2% on 851 real defects (arXiv 2406.09843) · 27% of defects with no linked mutant — Just et al., FSE 2014</a:t>
            </a:r>
          </a:p>
        </p:txBody>
      </p:sp>
      <p:sp>
        <p:nvSpPr>
          <p:cNvPr id="47" name="TextBox 4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25 / 56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45668"/>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Staged rollout and the rollback path — how to set the cost of an error in advance</a:t>
            </a:r>
          </a:p>
        </p:txBody>
      </p:sp>
      <p:sp>
        <p:nvSpPr>
          <p:cNvPr id="3" name="Rounded Rectangle 2"/>
          <p:cNvSpPr/>
          <p:nvPr/>
        </p:nvSpPr>
        <p:spPr>
          <a:xfrm>
            <a:off x="502920" y="855980"/>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55980"/>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55980"/>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47420"/>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Something new is switched on gradually: first for a narrow circle, then wider. And the way to bring it all back is agreed in advance. </a:t>
            </a:r>
            <a:r>
              <a:rPr sz="1150" b="1" i="0">
                <a:solidFill>
                  <a:srgbClr val="21295C"/>
                </a:solidFill>
                <a:latin typeface="DejaVu Sans"/>
              </a:rPr>
              <a:t>The blast radius — how many people get hurt if the new thing turns out to be bad — is set by the team itself, before launch.</a:t>
            </a:r>
          </a:p>
        </p:txBody>
      </p:sp>
      <p:sp>
        <p:nvSpPr>
          <p:cNvPr id="7" name="Rounded Rectangle 6"/>
          <p:cNvSpPr/>
          <p:nvPr/>
        </p:nvSpPr>
        <p:spPr>
          <a:xfrm>
            <a:off x="502920" y="1813046"/>
            <a:ext cx="1152144" cy="2176272"/>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13046"/>
            <a:ext cx="1060704" cy="2176272"/>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813046"/>
            <a:ext cx="9902952" cy="2176272"/>
          </a:xfrm>
          <a:prstGeom prst="roundRect">
            <a:avLst>
              <a:gd name="adj" fmla="val 140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918202"/>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918202"/>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904486"/>
            <a:ext cx="5934456" cy="213111"/>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Rollout stages</a:t>
            </a:r>
            <a:r>
              <a:rPr sz="1000" b="0" i="0">
                <a:solidFill>
                  <a:srgbClr val="21295C"/>
                </a:solidFill>
                <a:latin typeface="DejaVu Sans"/>
              </a:rPr>
              <a:t> — which shares of the audience, and in what order.</a:t>
            </a:r>
          </a:p>
        </p:txBody>
      </p:sp>
      <p:sp>
        <p:nvSpPr>
          <p:cNvPr id="13" name="Oval 12"/>
          <p:cNvSpPr/>
          <p:nvPr/>
        </p:nvSpPr>
        <p:spPr>
          <a:xfrm>
            <a:off x="1984248" y="2195321"/>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195321"/>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181605"/>
            <a:ext cx="593445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Stop signal</a:t>
            </a:r>
            <a:r>
              <a:rPr sz="1000" b="0" i="0">
                <a:solidFill>
                  <a:srgbClr val="21295C"/>
                </a:solidFill>
                <a:latin typeface="DejaVu Sans"/>
              </a:rPr>
              <a:t> — what is watched at each stage and what degree of worsening halts the move forward; with no signal named in advance, "it got worse" is argued about endlessly.</a:t>
            </a:r>
          </a:p>
        </p:txBody>
      </p:sp>
      <p:sp>
        <p:nvSpPr>
          <p:cNvPr id="16" name="Oval 15"/>
          <p:cNvSpPr/>
          <p:nvPr/>
        </p:nvSpPr>
        <p:spPr>
          <a:xfrm>
            <a:off x="1984248" y="2803565"/>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803565"/>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789849"/>
            <a:ext cx="593445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Rollback path</a:t>
            </a:r>
            <a:r>
              <a:rPr sz="1000" b="0" i="0">
                <a:solidFill>
                  <a:srgbClr val="21295C"/>
                </a:solidFill>
                <a:latin typeface="DejaVu Sans"/>
              </a:rPr>
              <a:t> — who takes the decision to go back, how long that takes, and whether anyone has checked that going back works at all.</a:t>
            </a:r>
          </a:p>
        </p:txBody>
      </p:sp>
      <p:sp>
        <p:nvSpPr>
          <p:cNvPr id="19" name="Rounded Rectangle 18"/>
          <p:cNvSpPr/>
          <p:nvPr/>
        </p:nvSpPr>
        <p:spPr>
          <a:xfrm>
            <a:off x="9180576" y="1941062"/>
            <a:ext cx="2340863" cy="329184"/>
          </a:xfrm>
          <a:prstGeom prst="roundRect">
            <a:avLst>
              <a:gd name="adj" fmla="val 19444"/>
            </a:avLst>
          </a:prstGeom>
          <a:solidFill>
            <a:srgbClr val="E5EAF0"/>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1941062"/>
            <a:ext cx="2231135"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narrow circle</a:t>
            </a:r>
          </a:p>
        </p:txBody>
      </p:sp>
      <p:cxnSp>
        <p:nvCxnSpPr>
          <p:cNvPr id="21" name="Connector 20"/>
          <p:cNvCxnSpPr/>
          <p:nvPr/>
        </p:nvCxnSpPr>
        <p:spPr>
          <a:xfrm>
            <a:off x="10351008" y="2270246"/>
            <a:ext cx="0" cy="109728"/>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80576" y="2379974"/>
            <a:ext cx="2340863" cy="329184"/>
          </a:xfrm>
          <a:prstGeom prst="roundRect">
            <a:avLst>
              <a:gd name="adj" fmla="val 19444"/>
            </a:avLst>
          </a:prstGeom>
          <a:solidFill>
            <a:srgbClr val="E1EAF0"/>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2379974"/>
            <a:ext cx="2231135"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small share</a:t>
            </a:r>
          </a:p>
        </p:txBody>
      </p:sp>
      <p:cxnSp>
        <p:nvCxnSpPr>
          <p:cNvPr id="24" name="Connector 23"/>
          <p:cNvCxnSpPr/>
          <p:nvPr/>
        </p:nvCxnSpPr>
        <p:spPr>
          <a:xfrm>
            <a:off x="10351008" y="2709158"/>
            <a:ext cx="0" cy="109728"/>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80576" y="2818886"/>
            <a:ext cx="2340863" cy="329184"/>
          </a:xfrm>
          <a:prstGeom prst="roundRect">
            <a:avLst>
              <a:gd name="adj" fmla="val 19444"/>
            </a:avLst>
          </a:prstGeom>
          <a:solidFill>
            <a:srgbClr val="E4F1F2"/>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818886"/>
            <a:ext cx="2231135"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part of the audience</a:t>
            </a:r>
          </a:p>
        </p:txBody>
      </p:sp>
      <p:cxnSp>
        <p:nvCxnSpPr>
          <p:cNvPr id="27" name="Connector 26"/>
          <p:cNvCxnSpPr/>
          <p:nvPr/>
        </p:nvCxnSpPr>
        <p:spPr>
          <a:xfrm>
            <a:off x="10351008" y="3148070"/>
            <a:ext cx="0" cy="109728"/>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80576" y="3257798"/>
            <a:ext cx="2340863" cy="329184"/>
          </a:xfrm>
          <a:prstGeom prst="roundRect">
            <a:avLst>
              <a:gd name="adj" fmla="val 19444"/>
            </a:avLst>
          </a:prstGeom>
          <a:solidFill>
            <a:srgbClr val="FDF3DC"/>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3257798"/>
            <a:ext cx="2231135"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everyone</a:t>
            </a:r>
          </a:p>
        </p:txBody>
      </p:sp>
      <p:cxnSp>
        <p:nvCxnSpPr>
          <p:cNvPr id="30" name="Connector 29"/>
          <p:cNvCxnSpPr/>
          <p:nvPr/>
        </p:nvCxnSpPr>
        <p:spPr>
          <a:xfrm flipV="1">
            <a:off x="8997696" y="2105654"/>
            <a:ext cx="0" cy="1316736"/>
          </a:xfrm>
          <a:prstGeom prst="line">
            <a:avLst/>
          </a:prstGeom>
          <a:ln w="3175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247888" y="2562854"/>
            <a:ext cx="694944" cy="274320"/>
          </a:xfrm>
          <a:prstGeom prst="rect">
            <a:avLst/>
          </a:prstGeom>
          <a:noFill/>
        </p:spPr>
        <p:txBody>
          <a:bodyPr wrap="square" lIns="0" rIns="0" tIns="0" bIns="0" anchor="t">
            <a:spAutoFit/>
          </a:bodyPr>
          <a:lstStyle/>
          <a:p>
            <a:pPr algn="ctr">
              <a:lnSpc>
                <a:spcPct val="104000"/>
              </a:lnSpc>
            </a:pPr>
            <a:r>
              <a:rPr sz="919" b="1" i="0">
                <a:solidFill>
                  <a:srgbClr val="F0AB00"/>
                </a:solidFill>
                <a:latin typeface="DejaVu Sans"/>
              </a:rPr>
              <a:t>rollback</a:t>
            </a:r>
          </a:p>
          <a:p>
            <a:pPr algn="ctr">
              <a:lnSpc>
                <a:spcPct val="104000"/>
              </a:lnSpc>
            </a:pPr>
            <a:r>
              <a:rPr sz="919" b="1" i="0">
                <a:solidFill>
                  <a:srgbClr val="F0AB00"/>
                </a:solidFill>
                <a:latin typeface="DejaVu Sans"/>
              </a:rPr>
              <a:t>path</a:t>
            </a:r>
          </a:p>
        </p:txBody>
      </p:sp>
      <p:sp>
        <p:nvSpPr>
          <p:cNvPr id="32" name="TextBox 31"/>
          <p:cNvSpPr txBox="1"/>
          <p:nvPr/>
        </p:nvSpPr>
        <p:spPr>
          <a:xfrm>
            <a:off x="8503920" y="3623558"/>
            <a:ext cx="3017520" cy="274320"/>
          </a:xfrm>
          <a:prstGeom prst="rect">
            <a:avLst/>
          </a:prstGeom>
          <a:noFill/>
        </p:spPr>
        <p:txBody>
          <a:bodyPr wrap="square" lIns="0" rIns="0" tIns="0" bIns="0" anchor="t">
            <a:spAutoFit/>
          </a:bodyPr>
          <a:lstStyle/>
          <a:p>
            <a:pPr algn="ctr">
              <a:lnSpc>
                <a:spcPct val="105000"/>
              </a:lnSpc>
            </a:pPr>
            <a:r>
              <a:rPr sz="880" b="0" i="1">
                <a:solidFill>
                  <a:srgbClr val="5B6678"/>
                </a:solidFill>
                <a:latin typeface="DejaVu Sans"/>
              </a:rPr>
              <a:t>audience share grows in stages; the rollback path is written before launch</a:t>
            </a:r>
          </a:p>
        </p:txBody>
      </p:sp>
      <p:sp>
        <p:nvSpPr>
          <p:cNvPr id="33" name="Rounded Rectangle 32"/>
          <p:cNvSpPr/>
          <p:nvPr/>
        </p:nvSpPr>
        <p:spPr>
          <a:xfrm>
            <a:off x="502920" y="4053326"/>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053326"/>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35" name="Rounded Rectangle 34"/>
          <p:cNvSpPr/>
          <p:nvPr/>
        </p:nvSpPr>
        <p:spPr>
          <a:xfrm>
            <a:off x="1801368" y="4053326"/>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984248" y="4144766"/>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84831" y="4190486"/>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the practice is several decades old</a:t>
            </a:r>
          </a:p>
        </p:txBody>
      </p:sp>
      <p:sp>
        <p:nvSpPr>
          <p:cNvPr id="38" name="TextBox 37"/>
          <p:cNvSpPr txBox="1"/>
          <p:nvPr/>
        </p:nvSpPr>
        <p:spPr>
          <a:xfrm>
            <a:off x="2084831" y="441908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Staged rollout and rollback were invented long before AI and are built exactly the same way. </a:t>
            </a:r>
            <a:r>
              <a:rPr sz="950" b="1" i="0">
                <a:solidFill>
                  <a:srgbClr val="21295C"/>
                </a:solidFill>
                <a:latin typeface="DejaVu Sans"/>
              </a:rPr>
              <a:t>There is nothing to invent again</a:t>
            </a:r>
            <a:r>
              <a:rPr sz="950" b="0" i="0">
                <a:solidFill>
                  <a:srgbClr val="21295C"/>
                </a:solidFill>
                <a:latin typeface="DejaVu Sans"/>
              </a:rPr>
              <a:t>, you take what is already there.</a:t>
            </a:r>
          </a:p>
        </p:txBody>
      </p:sp>
      <p:sp>
        <p:nvSpPr>
          <p:cNvPr id="39" name="Rounded Rectangle 38"/>
          <p:cNvSpPr/>
          <p:nvPr/>
        </p:nvSpPr>
        <p:spPr>
          <a:xfrm>
            <a:off x="6844284" y="4144766"/>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4868" y="4190486"/>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only the speed of the stages changes</a:t>
            </a:r>
          </a:p>
        </p:txBody>
      </p:sp>
      <p:sp>
        <p:nvSpPr>
          <p:cNvPr id="41" name="TextBox 40"/>
          <p:cNvSpPr txBox="1"/>
          <p:nvPr/>
        </p:nvSpPr>
        <p:spPr>
          <a:xfrm>
            <a:off x="6944868" y="441908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An ordinary feature shows up in errors and latency at once; worsening answers show only at volume: every stage needs </a:t>
            </a:r>
            <a:r>
              <a:rPr sz="950" b="1" i="0">
                <a:solidFill>
                  <a:srgbClr val="21295C"/>
                </a:solidFill>
                <a:latin typeface="DejaVu Sans"/>
              </a:rPr>
              <a:t>hours of watching, not minutes</a:t>
            </a:r>
            <a:r>
              <a:rPr sz="950" b="0" i="0">
                <a:solidFill>
                  <a:srgbClr val="21295C"/>
                </a:solidFill>
                <a:latin typeface="DejaVu Sans"/>
              </a:rPr>
              <a:t>.</a:t>
            </a:r>
          </a:p>
        </p:txBody>
      </p:sp>
      <p:sp>
        <p:nvSpPr>
          <p:cNvPr id="42" name="Rounded Rectangle 41"/>
          <p:cNvSpPr/>
          <p:nvPr/>
        </p:nvSpPr>
        <p:spPr>
          <a:xfrm>
            <a:off x="502920" y="5191354"/>
            <a:ext cx="1152144" cy="1050342"/>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191354"/>
            <a:ext cx="1060704" cy="1050342"/>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44" name="Rounded Rectangle 43"/>
          <p:cNvSpPr/>
          <p:nvPr/>
        </p:nvSpPr>
        <p:spPr>
          <a:xfrm>
            <a:off x="1801368" y="5191354"/>
            <a:ext cx="9902952" cy="1050342"/>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84248" y="5282794"/>
            <a:ext cx="9537192" cy="867462"/>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A rollout limits the radius, but </a:t>
            </a:r>
            <a:r>
              <a:rPr sz="1100" b="1" i="0">
                <a:solidFill>
                  <a:srgbClr val="21295C"/>
                </a:solidFill>
                <a:latin typeface="DejaVu Sans"/>
              </a:rPr>
              <a:t>it does not replace the decision</a:t>
            </a:r>
            <a:r>
              <a:rPr sz="1100" b="1" i="0">
                <a:solidFill>
                  <a:srgbClr val="21295C"/>
                </a:solidFill>
                <a:latin typeface="DejaVu Sans"/>
              </a:rPr>
              <a:t>. A long pilot on a tiny share that keeps failing has hit the approach's ceiling; "a little more data" will not cure it. The opposite error is as real: </a:t>
            </a:r>
            <a:r>
              <a:rPr sz="1100" b="1" i="0">
                <a:solidFill>
                  <a:srgbClr val="21295C"/>
                </a:solidFill>
                <a:latin typeface="DejaVu Sans"/>
              </a:rPr>
              <a:t>maturity gives no right to skip the pilot</a:t>
            </a:r>
            <a:r>
              <a:rPr sz="1100" b="1" i="0">
                <a:solidFill>
                  <a:srgbClr val="21295C"/>
                </a:solidFill>
                <a:latin typeface="DejaVu Sans"/>
              </a:rPr>
              <a:t> — it raises the cost of skipping. And a rollback path written down but never tested stays an intention.</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26 / 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Double the generation speed and you double the review queue — not the throughput</a:t>
            </a:r>
          </a:p>
        </p:txBody>
      </p:sp>
      <p:sp>
        <p:nvSpPr>
          <p:cNvPr id="3" name="Rounded Rectangle 2"/>
          <p:cNvSpPr/>
          <p:nvPr/>
        </p:nvSpPr>
        <p:spPr>
          <a:xfrm>
            <a:off x="502920" y="1463040"/>
            <a:ext cx="5989320" cy="3108960"/>
          </a:xfrm>
          <a:prstGeom prst="roundRect">
            <a:avLst>
              <a:gd name="adj" fmla="val 9803"/>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ale-mid.png"/>
          <p:cNvPicPr>
            <a:picLocks noChangeAspect="1"/>
          </p:cNvPicPr>
          <p:nvPr/>
        </p:nvPicPr>
        <p:blipFill>
          <a:blip r:embed="rId2"/>
          <a:stretch>
            <a:fillRect/>
          </a:stretch>
        </p:blipFill>
        <p:spPr>
          <a:xfrm>
            <a:off x="2880360" y="1691640"/>
            <a:ext cx="1005840" cy="1005840"/>
          </a:xfrm>
          <a:prstGeom prst="rect">
            <a:avLst/>
          </a:prstGeom>
        </p:spPr>
      </p:pic>
      <p:sp>
        <p:nvSpPr>
          <p:cNvPr id="5" name="Rounded Rectangle 4"/>
          <p:cNvSpPr/>
          <p:nvPr/>
        </p:nvSpPr>
        <p:spPr>
          <a:xfrm>
            <a:off x="868680" y="2971800"/>
            <a:ext cx="2423160" cy="731520"/>
          </a:xfrm>
          <a:prstGeom prst="roundRect">
            <a:avLst>
              <a:gd name="adj" fmla="val 10000"/>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063240"/>
            <a:ext cx="2240280" cy="548640"/>
          </a:xfrm>
          <a:prstGeom prst="rect">
            <a:avLst/>
          </a:prstGeom>
          <a:noFill/>
        </p:spPr>
        <p:txBody>
          <a:bodyPr wrap="square" lIns="0" rIns="0" tIns="0" bIns="0" anchor="ctr">
            <a:spAutoFit/>
          </a:bodyPr>
          <a:lstStyle/>
          <a:p>
            <a:pPr algn="ctr">
              <a:lnSpc>
                <a:spcPct val="100000"/>
              </a:lnSpc>
            </a:pPr>
            <a:r>
              <a:rPr sz="1150" b="1" i="0">
                <a:solidFill>
                  <a:srgbClr val="21295C"/>
                </a:solidFill>
                <a:latin typeface="DejaVu Sans"/>
              </a:rPr>
              <a:t>generation</a:t>
            </a:r>
          </a:p>
          <a:p>
            <a:pPr algn="ctr">
              <a:lnSpc>
                <a:spcPct val="100000"/>
              </a:lnSpc>
            </a:pPr>
            <a:r>
              <a:rPr sz="1150" b="1" i="0">
                <a:solidFill>
                  <a:srgbClr val="21295C"/>
                </a:solidFill>
                <a:latin typeface="DejaVu Sans"/>
              </a:rPr>
              <a:t>cheap and fast</a:t>
            </a:r>
          </a:p>
        </p:txBody>
      </p:sp>
      <p:sp>
        <p:nvSpPr>
          <p:cNvPr id="7" name="Rounded Rectangle 6"/>
          <p:cNvSpPr/>
          <p:nvPr/>
        </p:nvSpPr>
        <p:spPr>
          <a:xfrm>
            <a:off x="3703320" y="2971800"/>
            <a:ext cx="2423160" cy="731520"/>
          </a:xfrm>
          <a:prstGeom prst="roundRect">
            <a:avLst>
              <a:gd name="adj" fmla="val 10000"/>
            </a:avLst>
          </a:prstGeom>
          <a:solidFill>
            <a:srgbClr val="E5EAF0"/>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3063240"/>
            <a:ext cx="2240280" cy="548640"/>
          </a:xfrm>
          <a:prstGeom prst="rect">
            <a:avLst/>
          </a:prstGeom>
          <a:noFill/>
        </p:spPr>
        <p:txBody>
          <a:bodyPr wrap="square" lIns="0" rIns="0" tIns="0" bIns="0" anchor="ctr">
            <a:spAutoFit/>
          </a:bodyPr>
          <a:lstStyle/>
          <a:p>
            <a:pPr algn="ctr">
              <a:lnSpc>
                <a:spcPct val="100000"/>
              </a:lnSpc>
            </a:pPr>
            <a:r>
              <a:rPr sz="1150" b="1" i="0">
                <a:solidFill>
                  <a:srgbClr val="21295C"/>
                </a:solidFill>
                <a:latin typeface="DejaVu Sans"/>
              </a:rPr>
              <a:t>verification</a:t>
            </a:r>
          </a:p>
          <a:p>
            <a:pPr algn="ctr">
              <a:lnSpc>
                <a:spcPct val="100000"/>
              </a:lnSpc>
            </a:pPr>
            <a:r>
              <a:rPr sz="1150" b="1" i="0">
                <a:solidFill>
                  <a:srgbClr val="21295C"/>
                </a:solidFill>
                <a:latin typeface="DejaVu Sans"/>
              </a:rPr>
              <a:t>hasn't sped up</a:t>
            </a:r>
          </a:p>
        </p:txBody>
      </p:sp>
      <p:sp>
        <p:nvSpPr>
          <p:cNvPr id="9" name="TextBox 8"/>
          <p:cNvSpPr txBox="1"/>
          <p:nvPr/>
        </p:nvSpPr>
        <p:spPr>
          <a:xfrm>
            <a:off x="868680" y="3840480"/>
            <a:ext cx="5212080" cy="640080"/>
          </a:xfrm>
          <a:prstGeom prst="rect">
            <a:avLst/>
          </a:prstGeom>
          <a:noFill/>
        </p:spPr>
        <p:txBody>
          <a:bodyPr wrap="square" lIns="0" rIns="0" tIns="0" bIns="0" anchor="t">
            <a:spAutoFit/>
          </a:bodyPr>
          <a:lstStyle/>
          <a:p>
            <a:pPr algn="l">
              <a:lnSpc>
                <a:spcPct val="112000"/>
              </a:lnSpc>
            </a:pPr>
            <a:r>
              <a:rPr sz="1200" b="0" i="1">
                <a:solidFill>
                  <a:srgbClr val="5B6678"/>
                </a:solidFill>
                <a:latin typeface="DejaVu Sans"/>
              </a:rPr>
              <a:t>Generating plausible code — seconds; checking it — hasn't gotten faster.</a:t>
            </a:r>
          </a:p>
        </p:txBody>
      </p:sp>
      <p:sp>
        <p:nvSpPr>
          <p:cNvPr id="10" name="Rounded Rectangle 9"/>
          <p:cNvSpPr/>
          <p:nvPr/>
        </p:nvSpPr>
        <p:spPr>
          <a:xfrm>
            <a:off x="6720840" y="1463040"/>
            <a:ext cx="4983480" cy="3108960"/>
          </a:xfrm>
          <a:prstGeom prst="roundRect">
            <a:avLst>
              <a:gd name="adj" fmla="val 9803"/>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600200"/>
            <a:ext cx="4572000"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DejaVu Sans"/>
              </a:rPr>
              <a:t>The 70% problem </a:t>
            </a:r>
            <a:r>
              <a:rPr sz="728" baseline="30000" b="0" i="1">
                <a:latin typeface="DejaVu Sans"/>
                <a:cs typeface="DejaVu Sans"/>
                <a:ea typeface="DejaVu Sans"/>
                <a:solidFill>
                  <a:srgbClr val="1C7293"/>
                </a:solidFill>
              </a:rPr>
              <a:t>[1]</a:t>
            </a:r>
          </a:p>
        </p:txBody>
      </p:sp>
      <p:sp>
        <p:nvSpPr>
          <p:cNvPr id="12" name="TextBox 11"/>
          <p:cNvSpPr txBox="1"/>
          <p:nvPr/>
        </p:nvSpPr>
        <p:spPr>
          <a:xfrm>
            <a:off x="6949440" y="2103120"/>
            <a:ext cx="4572000" cy="2194560"/>
          </a:xfrm>
          <a:prstGeom prst="rect">
            <a:avLst/>
          </a:prstGeom>
          <a:noFill/>
        </p:spPr>
        <p:txBody>
          <a:bodyPr wrap="square" lIns="0" rIns="0" tIns="0" bIns="0" anchor="t">
            <a:spAutoFit/>
          </a:bodyPr>
          <a:lstStyle/>
          <a:p>
            <a:pPr algn="l">
              <a:lnSpc>
                <a:spcPct val="125000"/>
              </a:lnSpc>
            </a:pPr>
            <a:r>
              <a:rPr sz="1250" b="0" i="0">
                <a:solidFill>
                  <a:srgbClr val="21295C"/>
                </a:solidFill>
                <a:latin typeface="DejaVu Sans"/>
              </a:rPr>
              <a:t>A senior developer rethinks AI output and spends time reworking it.</a:t>
            </a:r>
          </a:p>
          <a:p>
            <a:pPr algn="l">
              <a:lnSpc>
                <a:spcPct val="125000"/>
              </a:lnSpc>
            </a:pPr>
            <a:r>
              <a:rPr sz="1250" b="0" i="0">
                <a:solidFill>
                  <a:srgbClr val="21295C"/>
                </a:solidFill>
                <a:latin typeface="DejaVu Sans"/>
              </a:rPr>
              <a:t/>
            </a:r>
          </a:p>
          <a:p>
            <a:pPr algn="l">
              <a:lnSpc>
                <a:spcPct val="125000"/>
              </a:lnSpc>
            </a:pPr>
            <a:r>
              <a:rPr sz="1250" b="0" i="0">
                <a:solidFill>
                  <a:srgbClr val="21295C"/>
                </a:solidFill>
                <a:latin typeface="DejaVu Sans"/>
              </a:rPr>
              <a:t>A junior ships a "house of cards made of code" that looks plausible but collapses under load.</a:t>
            </a:r>
          </a:p>
        </p:txBody>
      </p:sp>
      <p:sp>
        <p:nvSpPr>
          <p:cNvPr id="13" name="Rounded Rectangle 12"/>
          <p:cNvSpPr/>
          <p:nvPr/>
        </p:nvSpPr>
        <p:spPr>
          <a:xfrm>
            <a:off x="502920" y="4709160"/>
            <a:ext cx="11201400" cy="7772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4764024"/>
            <a:ext cx="10762488" cy="66751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Shipping without an eval gate or a rollback plan isn't speed — it's a deferred cost: review doesn't scale alongside generation.</a:t>
            </a:r>
          </a:p>
        </p:txBody>
      </p:sp>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Osmani — The 70% Problem</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27 / 56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0% → 100% in one step — skipping canary rollout entirely</a:t>
            </a:r>
          </a:p>
        </p:txBody>
      </p:sp>
      <p:sp>
        <p:nvSpPr>
          <p:cNvPr id="3" name="Rounded Rectangle 2"/>
          <p:cNvSpPr/>
          <p:nvPr/>
        </p:nvSpPr>
        <p:spPr>
          <a:xfrm>
            <a:off x="502920" y="1417320"/>
            <a:ext cx="3246120" cy="39319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6-balloon.jpg"/>
          <p:cNvPicPr>
            <a:picLocks noChangeAspect="1"/>
          </p:cNvPicPr>
          <p:nvPr/>
        </p:nvPicPr>
        <p:blipFill>
          <a:blip r:embed="rId2"/>
          <a:stretch>
            <a:fillRect/>
          </a:stretch>
        </p:blipFill>
        <p:spPr>
          <a:xfrm>
            <a:off x="760086" y="1545336"/>
            <a:ext cx="2731787" cy="3675887"/>
          </a:xfrm>
          <a:prstGeom prst="rect">
            <a:avLst/>
          </a:prstGeom>
        </p:spPr>
      </p:pic>
      <p:sp>
        <p:nvSpPr>
          <p:cNvPr id="5" name="Rounded Rectangle 4"/>
          <p:cNvSpPr/>
          <p:nvPr/>
        </p:nvSpPr>
        <p:spPr>
          <a:xfrm>
            <a:off x="3977639" y="1417320"/>
            <a:ext cx="2788920" cy="1234440"/>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26-google-real-source.png"/>
          <p:cNvPicPr>
            <a:picLocks noChangeAspect="1"/>
          </p:cNvPicPr>
          <p:nvPr/>
        </p:nvPicPr>
        <p:blipFill>
          <a:blip r:embed="rId3"/>
          <a:stretch>
            <a:fillRect/>
          </a:stretch>
        </p:blipFill>
        <p:spPr>
          <a:xfrm>
            <a:off x="4197096" y="1637058"/>
            <a:ext cx="2350008" cy="794964"/>
          </a:xfrm>
          <a:prstGeom prst="rect">
            <a:avLst/>
          </a:prstGeom>
        </p:spPr>
      </p:pic>
      <p:sp>
        <p:nvSpPr>
          <p:cNvPr id="7" name="Rounded Rectangle 6"/>
          <p:cNvSpPr/>
          <p:nvPr/>
        </p:nvSpPr>
        <p:spPr>
          <a:xfrm>
            <a:off x="6995160" y="1417320"/>
            <a:ext cx="4709160" cy="1234440"/>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481328"/>
            <a:ext cx="4251960" cy="310896"/>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Google AI Overviews, May 2024</a:t>
            </a:r>
          </a:p>
        </p:txBody>
      </p:sp>
      <p:sp>
        <p:nvSpPr>
          <p:cNvPr id="9" name="TextBox 8"/>
          <p:cNvSpPr txBox="1"/>
          <p:nvPr/>
        </p:nvSpPr>
        <p:spPr>
          <a:xfrm>
            <a:off x="7223760" y="1828800"/>
            <a:ext cx="4251960" cy="777240"/>
          </a:xfrm>
          <a:prstGeom prst="rect">
            <a:avLst/>
          </a:prstGeom>
          <a:noFill/>
        </p:spPr>
        <p:txBody>
          <a:bodyPr wrap="square" lIns="0" rIns="0" tIns="0" bIns="0" anchor="t">
            <a:spAutoFit/>
          </a:bodyPr>
          <a:lstStyle/>
          <a:p>
            <a:pPr algn="l">
              <a:lnSpc>
                <a:spcPct val="115000"/>
              </a:lnSpc>
            </a:pPr>
            <a:r>
              <a:rPr sz="1150" b="0" i="0">
                <a:solidFill>
                  <a:srgbClr val="21295C"/>
                </a:solidFill>
                <a:latin typeface="DejaVu Sans"/>
              </a:rPr>
              <a:t>Rolled out to 100% of US search in one step </a:t>
            </a:r>
            <a:r>
              <a:rPr sz="598" baseline="30000" b="0" i="1">
                <a:latin typeface="DejaVu Sans"/>
                <a:cs typeface="DejaVu Sans"/>
                <a:ea typeface="DejaVu Sans"/>
                <a:solidFill>
                  <a:srgbClr val="1C7293"/>
                </a:solidFill>
              </a:rPr>
              <a:t>[1]</a:t>
            </a:r>
            <a:r>
              <a:rPr sz="1150" b="0" i="0">
                <a:latin typeface="DejaVu Sans"/>
                <a:cs typeface="DejaVu Sans"/>
                <a:ea typeface="DejaVu Sans"/>
                <a:solidFill>
                  <a:srgbClr val="21295C"/>
                </a:solidFill>
              </a:rPr>
              <a:t>. No eval gate. Users couldn't turn it off.</a:t>
            </a:r>
          </a:p>
        </p:txBody>
      </p:sp>
      <p:sp>
        <p:nvSpPr>
          <p:cNvPr id="10" name="Rounded Rectangle 9"/>
          <p:cNvSpPr/>
          <p:nvPr/>
        </p:nvSpPr>
        <p:spPr>
          <a:xfrm>
            <a:off x="4069080" y="3017520"/>
            <a:ext cx="1325880" cy="548640"/>
          </a:xfrm>
          <a:prstGeom prst="roundRect">
            <a:avLst>
              <a:gd name="adj" fmla="val 14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9080" y="3090672"/>
            <a:ext cx="1325880" cy="402336"/>
          </a:xfrm>
          <a:prstGeom prst="rect">
            <a:avLst/>
          </a:prstGeom>
          <a:noFill/>
        </p:spPr>
        <p:txBody>
          <a:bodyPr wrap="square" lIns="0" rIns="0" tIns="0" bIns="0" anchor="t">
            <a:spAutoFit/>
          </a:bodyPr>
          <a:lstStyle/>
          <a:p>
            <a:pPr algn="ctr">
              <a:lnSpc>
                <a:spcPct val="115000"/>
              </a:lnSpc>
            </a:pPr>
            <a:r>
              <a:rPr sz="1300" b="1" i="0">
                <a:solidFill>
                  <a:srgbClr val="21295C"/>
                </a:solidFill>
                <a:latin typeface="DejaVu Sans"/>
              </a:rPr>
              <a:t>1%</a:t>
            </a:r>
          </a:p>
        </p:txBody>
      </p:sp>
      <p:sp>
        <p:nvSpPr>
          <p:cNvPr id="12" name="Right Arrow 11"/>
          <p:cNvSpPr/>
          <p:nvPr/>
        </p:nvSpPr>
        <p:spPr>
          <a:xfrm>
            <a:off x="5413248" y="3182112"/>
            <a:ext cx="146304"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77840" y="3017520"/>
            <a:ext cx="1325880" cy="548640"/>
          </a:xfrm>
          <a:prstGeom prst="roundRect">
            <a:avLst>
              <a:gd name="adj" fmla="val 14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090672"/>
            <a:ext cx="1325880" cy="402336"/>
          </a:xfrm>
          <a:prstGeom prst="rect">
            <a:avLst/>
          </a:prstGeom>
          <a:noFill/>
        </p:spPr>
        <p:txBody>
          <a:bodyPr wrap="square" lIns="0" rIns="0" tIns="0" bIns="0" anchor="t">
            <a:spAutoFit/>
          </a:bodyPr>
          <a:lstStyle/>
          <a:p>
            <a:pPr algn="ctr">
              <a:lnSpc>
                <a:spcPct val="115000"/>
              </a:lnSpc>
            </a:pPr>
            <a:r>
              <a:rPr sz="1300" b="1" i="0">
                <a:solidFill>
                  <a:srgbClr val="21295C"/>
                </a:solidFill>
                <a:latin typeface="DejaVu Sans"/>
              </a:rPr>
              <a:t>10%</a:t>
            </a:r>
          </a:p>
        </p:txBody>
      </p:sp>
      <p:sp>
        <p:nvSpPr>
          <p:cNvPr id="15" name="Right Arrow 14"/>
          <p:cNvSpPr/>
          <p:nvPr/>
        </p:nvSpPr>
        <p:spPr>
          <a:xfrm>
            <a:off x="6922007" y="3182112"/>
            <a:ext cx="146304"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086600" y="3017520"/>
            <a:ext cx="1325880" cy="548640"/>
          </a:xfrm>
          <a:prstGeom prst="roundRect">
            <a:avLst>
              <a:gd name="adj" fmla="val 14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86600" y="3090672"/>
            <a:ext cx="1325880" cy="402336"/>
          </a:xfrm>
          <a:prstGeom prst="rect">
            <a:avLst/>
          </a:prstGeom>
          <a:noFill/>
        </p:spPr>
        <p:txBody>
          <a:bodyPr wrap="square" lIns="0" rIns="0" tIns="0" bIns="0" anchor="t">
            <a:spAutoFit/>
          </a:bodyPr>
          <a:lstStyle/>
          <a:p>
            <a:pPr algn="ctr">
              <a:lnSpc>
                <a:spcPct val="115000"/>
              </a:lnSpc>
            </a:pPr>
            <a:r>
              <a:rPr sz="1300" b="1" i="0">
                <a:solidFill>
                  <a:srgbClr val="21295C"/>
                </a:solidFill>
                <a:latin typeface="DejaVu Sans"/>
              </a:rPr>
              <a:t>25%</a:t>
            </a:r>
          </a:p>
        </p:txBody>
      </p:sp>
      <p:sp>
        <p:nvSpPr>
          <p:cNvPr id="18" name="Right Arrow 17"/>
          <p:cNvSpPr/>
          <p:nvPr/>
        </p:nvSpPr>
        <p:spPr>
          <a:xfrm>
            <a:off x="8430768" y="3182112"/>
            <a:ext cx="146304"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95359" y="3017520"/>
            <a:ext cx="1325880" cy="548640"/>
          </a:xfrm>
          <a:prstGeom prst="roundRect">
            <a:avLst>
              <a:gd name="adj" fmla="val 14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59" y="3090672"/>
            <a:ext cx="1325880" cy="402336"/>
          </a:xfrm>
          <a:prstGeom prst="rect">
            <a:avLst/>
          </a:prstGeom>
          <a:noFill/>
        </p:spPr>
        <p:txBody>
          <a:bodyPr wrap="square" lIns="0" rIns="0" tIns="0" bIns="0" anchor="t">
            <a:spAutoFit/>
          </a:bodyPr>
          <a:lstStyle/>
          <a:p>
            <a:pPr algn="ctr">
              <a:lnSpc>
                <a:spcPct val="115000"/>
              </a:lnSpc>
            </a:pPr>
            <a:r>
              <a:rPr sz="1300" b="1" i="0">
                <a:solidFill>
                  <a:srgbClr val="21295C"/>
                </a:solidFill>
                <a:latin typeface="DejaVu Sans"/>
              </a:rPr>
              <a:t>50%</a:t>
            </a:r>
          </a:p>
        </p:txBody>
      </p:sp>
      <p:sp>
        <p:nvSpPr>
          <p:cNvPr id="21" name="Right Arrow 20"/>
          <p:cNvSpPr/>
          <p:nvPr/>
        </p:nvSpPr>
        <p:spPr>
          <a:xfrm>
            <a:off x="9939528" y="3182112"/>
            <a:ext cx="146304"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3017520"/>
            <a:ext cx="1325880" cy="548640"/>
          </a:xfrm>
          <a:prstGeom prst="roundRect">
            <a:avLst>
              <a:gd name="adj" fmla="val 14000"/>
            </a:avLst>
          </a:prstGeom>
          <a:solidFill>
            <a:srgbClr val="FDF3DC"/>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04120" y="3090672"/>
            <a:ext cx="1325880" cy="402336"/>
          </a:xfrm>
          <a:prstGeom prst="rect">
            <a:avLst/>
          </a:prstGeom>
          <a:noFill/>
        </p:spPr>
        <p:txBody>
          <a:bodyPr wrap="square" lIns="0" rIns="0" tIns="0" bIns="0" anchor="t">
            <a:spAutoFit/>
          </a:bodyPr>
          <a:lstStyle/>
          <a:p>
            <a:pPr algn="ctr">
              <a:lnSpc>
                <a:spcPct val="115000"/>
              </a:lnSpc>
            </a:pPr>
            <a:r>
              <a:rPr sz="1300" b="1" i="0">
                <a:solidFill>
                  <a:srgbClr val="21295C"/>
                </a:solidFill>
                <a:latin typeface="DejaVu Sans"/>
              </a:rPr>
              <a:t>100%</a:t>
            </a:r>
          </a:p>
        </p:txBody>
      </p:sp>
      <p:sp>
        <p:nvSpPr>
          <p:cNvPr id="24" name="TextBox 23"/>
          <p:cNvSpPr txBox="1"/>
          <p:nvPr/>
        </p:nvSpPr>
        <p:spPr>
          <a:xfrm>
            <a:off x="4069080" y="3657600"/>
            <a:ext cx="7635240" cy="365760"/>
          </a:xfrm>
          <a:prstGeom prst="rect">
            <a:avLst/>
          </a:prstGeom>
          <a:noFill/>
        </p:spPr>
        <p:txBody>
          <a:bodyPr wrap="square" lIns="0" rIns="0" tIns="0" bIns="0" anchor="t">
            <a:spAutoFit/>
          </a:bodyPr>
          <a:lstStyle/>
          <a:p>
            <a:pPr algn="l">
              <a:lnSpc>
                <a:spcPct val="115000"/>
              </a:lnSpc>
            </a:pPr>
            <a:r>
              <a:rPr sz="1150" b="0" i="1">
                <a:solidFill>
                  <a:srgbClr val="5B6678"/>
                </a:solidFill>
                <a:latin typeface="DejaVu Sans"/>
              </a:rPr>
              <a:t>the correct canary rollout (skipped)</a:t>
            </a:r>
          </a:p>
        </p:txBody>
      </p:sp>
      <p:sp>
        <p:nvSpPr>
          <p:cNvPr id="25" name="Rounded Rectangle 24"/>
          <p:cNvSpPr/>
          <p:nvPr/>
        </p:nvSpPr>
        <p:spPr>
          <a:xfrm>
            <a:off x="3977639" y="4251960"/>
            <a:ext cx="7726679" cy="10972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97096" y="4306824"/>
            <a:ext cx="7287767" cy="98755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At 1% of traffic the pattern ("eat rocks" — a satirical Onion article; "glue on pizza" — a Reddit joke) would have surfaced within days in internal monitoring </a:t>
            </a:r>
            <a:r>
              <a:rPr sz="650" baseline="30000" b="0" i="1">
                <a:latin typeface="DejaVu Sans"/>
                <a:cs typeface="DejaVu Sans"/>
                <a:ea typeface="DejaVu Sans"/>
                <a:solidFill>
                  <a:srgbClr val="1C7293"/>
                </a:solidFill>
              </a:rPr>
              <a:t>[2]</a:t>
            </a:r>
            <a:r>
              <a:rPr sz="1250" b="1" i="0">
                <a:latin typeface="DejaVu Sans"/>
                <a:cs typeface="DejaVu Sans"/>
                <a:ea typeface="DejaVu Sans"/>
                <a:solidFill>
                  <a:srgbClr val="21295C"/>
                </a:solidFill>
              </a:rPr>
              <a:t>. Instead — public ridicule in front of 100% of the audience at once.</a:t>
            </a:r>
          </a:p>
        </p:txBody>
      </p:sp>
      <p:sp>
        <p:nvSpPr>
          <p:cNvPr id="27" name="TextBox 2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Forbes (May 31, 2024) — Google AI Overviews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AndroidPolice — "glue on pizza" / "eat rocks"</a:t>
            </a:r>
          </a:p>
        </p:txBody>
      </p:sp>
      <p:sp>
        <p:nvSpPr>
          <p:cNvPr id="28" name="TextBox 2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28 / 56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2.5-3 years on 0.7% of the chain — and stopping was the right call </a:t>
            </a:r>
            <a:r>
              <a:rPr sz="1040" baseline="30000" b="0" i="1">
                <a:latin typeface="DejaVu Sans"/>
                <a:cs typeface="DejaVu Sans"/>
                <a:ea typeface="DejaVu Sans"/>
                <a:solidFill>
                  <a:srgbClr val="1C7293"/>
                </a:solidFill>
              </a:rPr>
              <a:t>[1]</a:t>
            </a:r>
          </a:p>
        </p:txBody>
      </p:sp>
      <p:sp>
        <p:nvSpPr>
          <p:cNvPr id="3" name="Rounded Rectangle 2"/>
          <p:cNvSpPr/>
          <p:nvPr/>
        </p:nvSpPr>
        <p:spPr>
          <a:xfrm>
            <a:off x="502920" y="1463040"/>
            <a:ext cx="2788920" cy="1417320"/>
          </a:xfrm>
          <a:prstGeom prst="roundRect">
            <a:avLst>
              <a:gd name="adj" fmla="val 21505"/>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7-mcdonalds-real-source.png"/>
          <p:cNvPicPr>
            <a:picLocks noChangeAspect="1"/>
          </p:cNvPicPr>
          <p:nvPr/>
        </p:nvPicPr>
        <p:blipFill>
          <a:blip r:embed="rId2"/>
          <a:stretch>
            <a:fillRect/>
          </a:stretch>
        </p:blipFill>
        <p:spPr>
          <a:xfrm>
            <a:off x="1317389" y="1664208"/>
            <a:ext cx="1159982" cy="1014984"/>
          </a:xfrm>
          <a:prstGeom prst="rect">
            <a:avLst/>
          </a:prstGeom>
        </p:spPr>
      </p:pic>
      <p:sp>
        <p:nvSpPr>
          <p:cNvPr id="5" name="Rounded Rectangle 4"/>
          <p:cNvSpPr/>
          <p:nvPr/>
        </p:nvSpPr>
        <p:spPr>
          <a:xfrm>
            <a:off x="502920" y="3017520"/>
            <a:ext cx="2788920" cy="1920240"/>
          </a:xfrm>
          <a:prstGeom prst="roundRect">
            <a:avLst>
              <a:gd name="adj" fmla="val 15873"/>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154680"/>
            <a:ext cx="2331720" cy="822960"/>
          </a:xfrm>
          <a:prstGeom prst="rect">
            <a:avLst/>
          </a:prstGeom>
          <a:noFill/>
        </p:spPr>
        <p:txBody>
          <a:bodyPr wrap="square" lIns="0" rIns="0" tIns="0" bIns="0" anchor="t">
            <a:spAutoFit/>
          </a:bodyPr>
          <a:lstStyle/>
          <a:p>
            <a:pPr algn="ctr">
              <a:lnSpc>
                <a:spcPct val="115000"/>
              </a:lnSpc>
            </a:pPr>
            <a:r>
              <a:rPr sz="4000" b="1" i="0">
                <a:solidFill>
                  <a:srgbClr val="F0AB00"/>
                </a:solidFill>
                <a:latin typeface="DejaVu Sans"/>
              </a:rPr>
              <a:t>0.7%</a:t>
            </a:r>
          </a:p>
        </p:txBody>
      </p:sp>
      <p:sp>
        <p:nvSpPr>
          <p:cNvPr id="7" name="TextBox 6"/>
          <p:cNvSpPr txBox="1"/>
          <p:nvPr/>
        </p:nvSpPr>
        <p:spPr>
          <a:xfrm>
            <a:off x="640080" y="4069080"/>
            <a:ext cx="2514600" cy="777240"/>
          </a:xfrm>
          <a:prstGeom prst="rect">
            <a:avLst/>
          </a:prstGeom>
          <a:noFill/>
        </p:spPr>
        <p:txBody>
          <a:bodyPr wrap="square" lIns="0" rIns="0" tIns="0" bIns="0" anchor="t">
            <a:spAutoFit/>
          </a:bodyPr>
          <a:lstStyle/>
          <a:p>
            <a:pPr algn="ctr">
              <a:lnSpc>
                <a:spcPct val="110000"/>
              </a:lnSpc>
            </a:pPr>
            <a:r>
              <a:rPr sz="1150" b="0" i="1">
                <a:solidFill>
                  <a:srgbClr val="5B6678"/>
                </a:solidFill>
                <a:latin typeface="DejaVu Sans"/>
              </a:rPr>
              <a:t>~100 of ≈13,786 US restaurants</a:t>
            </a:r>
          </a:p>
        </p:txBody>
      </p:sp>
      <p:sp>
        <p:nvSpPr>
          <p:cNvPr id="8" name="Rounded Rectangle 7"/>
          <p:cNvSpPr/>
          <p:nvPr/>
        </p:nvSpPr>
        <p:spPr>
          <a:xfrm>
            <a:off x="3520440" y="1463040"/>
            <a:ext cx="8183879" cy="2788920"/>
          </a:xfrm>
          <a:prstGeom prst="roundRect">
            <a:avLst>
              <a:gd name="adj" fmla="val 1092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1600200"/>
            <a:ext cx="768096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McDonald's x IBM — voice order-taking</a:t>
            </a:r>
          </a:p>
        </p:txBody>
      </p:sp>
      <p:sp>
        <p:nvSpPr>
          <p:cNvPr id="10" name="TextBox 9"/>
          <p:cNvSpPr txBox="1"/>
          <p:nvPr/>
        </p:nvSpPr>
        <p:spPr>
          <a:xfrm>
            <a:off x="3794760" y="2103120"/>
            <a:ext cx="7680960" cy="2011680"/>
          </a:xfrm>
          <a:prstGeom prst="rect">
            <a:avLst/>
          </a:prstGeom>
          <a:noFill/>
        </p:spPr>
        <p:txBody>
          <a:bodyPr wrap="square" lIns="0" rIns="0" tIns="0" bIns="0" anchor="t">
            <a:spAutoFit/>
          </a:bodyPr>
          <a:lstStyle/>
          <a:p>
            <a:pPr algn="l">
              <a:lnSpc>
                <a:spcPct val="125000"/>
              </a:lnSpc>
            </a:pPr>
            <a:r>
              <a:rPr sz="1300" b="0" i="0">
                <a:solidFill>
                  <a:srgbClr val="21295C"/>
                </a:solidFill>
                <a:latin typeface="DejaVu Sans"/>
              </a:rPr>
              <a:t>• 2.5-3 years piloted on 0.7% of the chain </a:t>
            </a:r>
            <a:r>
              <a:rPr sz="676" baseline="30000" b="0" i="1">
                <a:latin typeface="DejaVu Sans"/>
                <a:cs typeface="DejaVu Sans"/>
                <a:ea typeface="DejaVu Sans"/>
                <a:solidFill>
                  <a:srgbClr val="1C7293"/>
                </a:solidFill>
              </a:rPr>
              <a:t>[2]</a:t>
            </a:r>
          </a:p>
          <a:p>
            <a:pPr algn="l">
              <a:lnSpc>
                <a:spcPct val="125000"/>
              </a:lnSpc>
            </a:pPr>
            <a:r>
              <a:rPr sz="1300" b="0" i="0">
                <a:solidFill>
                  <a:srgbClr val="21295C"/>
                </a:solidFill>
                <a:latin typeface="DejaVu Sans"/>
              </a:rPr>
              <a:t/>
            </a:r>
          </a:p>
          <a:p>
            <a:pPr algn="l">
              <a:lnSpc>
                <a:spcPct val="125000"/>
              </a:lnSpc>
            </a:pPr>
            <a:r>
              <a:rPr sz="1300" b="0" i="0">
                <a:solidFill>
                  <a:srgbClr val="21295C"/>
                </a:solidFill>
                <a:latin typeface="DejaVu Sans"/>
              </a:rPr>
              <a:t>• Viral failures: bacon in ice cream, 9 iced teas instead of one</a:t>
            </a:r>
          </a:p>
          <a:p>
            <a:pPr algn="l">
              <a:lnSpc>
                <a:spcPct val="125000"/>
              </a:lnSpc>
            </a:pPr>
            <a:r>
              <a:rPr sz="1300" b="0" i="0">
                <a:solidFill>
                  <a:srgbClr val="21295C"/>
                </a:solidFill>
                <a:latin typeface="DejaVu Sans"/>
              </a:rPr>
              <a:t/>
            </a:r>
          </a:p>
          <a:p>
            <a:pPr algn="l">
              <a:lnSpc>
                <a:spcPct val="125000"/>
              </a:lnSpc>
            </a:pPr>
            <a:r>
              <a:rPr sz="1300" b="0" i="0">
                <a:solidFill>
                  <a:srgbClr val="21295C"/>
                </a:solidFill>
                <a:latin typeface="DejaVu Sans"/>
              </a:rPr>
              <a:t>• Killed June 2024 — the goal (voice automation) stayed, the vendor's approach was killed</a:t>
            </a:r>
          </a:p>
        </p:txBody>
      </p:sp>
      <p:sp>
        <p:nvSpPr>
          <p:cNvPr id="11" name="Rounded Rectangle 10"/>
          <p:cNvSpPr/>
          <p:nvPr/>
        </p:nvSpPr>
        <p:spPr>
          <a:xfrm>
            <a:off x="3520440" y="4389120"/>
            <a:ext cx="8183879"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9896" y="4443983"/>
            <a:ext cx="7744967" cy="85039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Mirror of the previous case: there they skipped the pilot entirely and shipped to everyone; here the pilot ran long — and its signal was used correctly, in a disciplined decision to kill, not scale, the failure.</a:t>
            </a:r>
          </a:p>
        </p:txBody>
      </p:sp>
      <p:sp>
        <p:nvSpPr>
          <p:cNvPr id="13" name="TextBox 1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CNBC (June 17, 2024) — McDonald's x IBM</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Nation's Restaurant News — details of the pilot shutdown</a:t>
            </a:r>
          </a:p>
        </p:txBody>
      </p:sp>
      <p:sp>
        <p:nvSpPr>
          <p:cNvPr id="14" name="TextBox 1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29 / 56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4</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8-woman-yelling-cat.jpg"/>
          <p:cNvPicPr>
            <a:picLocks noChangeAspect="1"/>
          </p:cNvPicPr>
          <p:nvPr/>
        </p:nvPicPr>
        <p:blipFill>
          <a:blip r:embed="rId2"/>
          <a:stretch>
            <a:fillRect/>
          </a:stretch>
        </p:blipFill>
        <p:spPr>
          <a:xfrm>
            <a:off x="7763256" y="2086674"/>
            <a:ext cx="3813048" cy="2456052"/>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4</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Measure — the arrow where AI lowered trust</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2 base cases · 2 failures</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Measurement is where "looks good" hits the product hardest. Many are seeing the formal discipline of a product experiment for the first time.</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21" name="Rounded Rectangle 20"/>
          <p:cNvSpPr/>
          <p:nvPr/>
        </p:nvSpPr>
        <p:spPr>
          <a:xfrm>
            <a:off x="614934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Measure</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30 / 56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Randomization tells cause apart from coincidence</a:t>
            </a:r>
          </a:p>
        </p:txBody>
      </p:sp>
      <p:sp>
        <p:nvSpPr>
          <p:cNvPr id="3" name="Rounded Rectangle 2"/>
          <p:cNvSpPr/>
          <p:nvPr/>
        </p:nvSpPr>
        <p:spPr>
          <a:xfrm>
            <a:off x="502920" y="1463040"/>
            <a:ext cx="4892040" cy="2788920"/>
          </a:xfrm>
          <a:prstGeom prst="roundRect">
            <a:avLst>
              <a:gd name="adj" fmla="val 1092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606040" y="1645920"/>
            <a:ext cx="502920" cy="502920"/>
          </a:xfrm>
          <a:prstGeom prst="ellipse">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help-gold.png"/>
          <p:cNvPicPr>
            <a:picLocks noChangeAspect="1"/>
          </p:cNvPicPr>
          <p:nvPr/>
        </p:nvPicPr>
        <p:blipFill>
          <a:blip r:embed="rId2"/>
          <a:stretch>
            <a:fillRect/>
          </a:stretch>
        </p:blipFill>
        <p:spPr>
          <a:xfrm>
            <a:off x="2724912" y="1764792"/>
            <a:ext cx="274320" cy="274320"/>
          </a:xfrm>
          <a:prstGeom prst="rect">
            <a:avLst/>
          </a:prstGeom>
        </p:spPr>
      </p:pic>
      <p:sp>
        <p:nvSpPr>
          <p:cNvPr id="6" name="TextBox 5"/>
          <p:cNvSpPr txBox="1"/>
          <p:nvPr/>
        </p:nvSpPr>
        <p:spPr>
          <a:xfrm>
            <a:off x="1417320" y="2240280"/>
            <a:ext cx="2743200" cy="274320"/>
          </a:xfrm>
          <a:prstGeom prst="rect">
            <a:avLst/>
          </a:prstGeom>
          <a:noFill/>
        </p:spPr>
        <p:txBody>
          <a:bodyPr wrap="square" lIns="0" rIns="0" tIns="0" bIns="0" anchor="t">
            <a:spAutoFit/>
          </a:bodyPr>
          <a:lstStyle/>
          <a:p>
            <a:pPr algn="ctr">
              <a:lnSpc>
                <a:spcPct val="115000"/>
              </a:lnSpc>
            </a:pPr>
            <a:r>
              <a:rPr sz="1100" b="0" i="1">
                <a:solidFill>
                  <a:srgbClr val="5B6678"/>
                </a:solidFill>
                <a:latin typeface="DejaVu Sans"/>
              </a:rPr>
              <a:t>random split</a:t>
            </a:r>
          </a:p>
        </p:txBody>
      </p:sp>
      <p:sp>
        <p:nvSpPr>
          <p:cNvPr id="7" name="Rounded Rectangle 6"/>
          <p:cNvSpPr/>
          <p:nvPr/>
        </p:nvSpPr>
        <p:spPr>
          <a:xfrm>
            <a:off x="822960" y="2606040"/>
            <a:ext cx="1325880" cy="1417320"/>
          </a:xfrm>
          <a:prstGeom prst="roundRect">
            <a:avLst>
              <a:gd name="adj" fmla="val 8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s-mid.png"/>
          <p:cNvPicPr>
            <a:picLocks noChangeAspect="1"/>
          </p:cNvPicPr>
          <p:nvPr/>
        </p:nvPicPr>
        <p:blipFill>
          <a:blip r:embed="rId3"/>
          <a:stretch>
            <a:fillRect/>
          </a:stretch>
        </p:blipFill>
        <p:spPr>
          <a:xfrm>
            <a:off x="1234440" y="2788920"/>
            <a:ext cx="502920" cy="502920"/>
          </a:xfrm>
          <a:prstGeom prst="rect">
            <a:avLst/>
          </a:prstGeom>
        </p:spPr>
      </p:pic>
      <p:sp>
        <p:nvSpPr>
          <p:cNvPr id="9" name="TextBox 8"/>
          <p:cNvSpPr txBox="1"/>
          <p:nvPr/>
        </p:nvSpPr>
        <p:spPr>
          <a:xfrm>
            <a:off x="822960" y="3429000"/>
            <a:ext cx="1325880" cy="365760"/>
          </a:xfrm>
          <a:prstGeom prst="rect">
            <a:avLst/>
          </a:prstGeom>
          <a:noFill/>
        </p:spPr>
        <p:txBody>
          <a:bodyPr wrap="square" lIns="0" rIns="0" tIns="0" bIns="0" anchor="t">
            <a:spAutoFit/>
          </a:bodyPr>
          <a:lstStyle/>
          <a:p>
            <a:pPr algn="ctr">
              <a:lnSpc>
                <a:spcPct val="115000"/>
              </a:lnSpc>
            </a:pPr>
            <a:r>
              <a:rPr sz="1250" b="1" i="0">
                <a:solidFill>
                  <a:srgbClr val="1C7293"/>
                </a:solidFill>
                <a:latin typeface="DejaVu Sans"/>
              </a:rPr>
              <a:t>Control</a:t>
            </a:r>
          </a:p>
        </p:txBody>
      </p:sp>
      <p:sp>
        <p:nvSpPr>
          <p:cNvPr id="10" name="Rounded Rectangle 9"/>
          <p:cNvSpPr/>
          <p:nvPr/>
        </p:nvSpPr>
        <p:spPr>
          <a:xfrm>
            <a:off x="3246120" y="2606040"/>
            <a:ext cx="1325880" cy="1417320"/>
          </a:xfrm>
          <a:prstGeom prst="roundRect">
            <a:avLst>
              <a:gd name="adj" fmla="val 8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teal.png"/>
          <p:cNvPicPr>
            <a:picLocks noChangeAspect="1"/>
          </p:cNvPicPr>
          <p:nvPr/>
        </p:nvPicPr>
        <p:blipFill>
          <a:blip r:embed="rId4"/>
          <a:stretch>
            <a:fillRect/>
          </a:stretch>
        </p:blipFill>
        <p:spPr>
          <a:xfrm>
            <a:off x="3657600" y="2788920"/>
            <a:ext cx="502920" cy="502920"/>
          </a:xfrm>
          <a:prstGeom prst="rect">
            <a:avLst/>
          </a:prstGeom>
        </p:spPr>
      </p:pic>
      <p:sp>
        <p:nvSpPr>
          <p:cNvPr id="12" name="TextBox 11"/>
          <p:cNvSpPr txBox="1"/>
          <p:nvPr/>
        </p:nvSpPr>
        <p:spPr>
          <a:xfrm>
            <a:off x="3246120" y="3429000"/>
            <a:ext cx="1325880" cy="365760"/>
          </a:xfrm>
          <a:prstGeom prst="rect">
            <a:avLst/>
          </a:prstGeom>
          <a:noFill/>
        </p:spPr>
        <p:txBody>
          <a:bodyPr wrap="square" lIns="0" rIns="0" tIns="0" bIns="0" anchor="t">
            <a:spAutoFit/>
          </a:bodyPr>
          <a:lstStyle/>
          <a:p>
            <a:pPr algn="ctr">
              <a:lnSpc>
                <a:spcPct val="115000"/>
              </a:lnSpc>
            </a:pPr>
            <a:r>
              <a:rPr sz="1250" b="1" i="0">
                <a:solidFill>
                  <a:srgbClr val="028090"/>
                </a:solidFill>
                <a:latin typeface="DejaVu Sans"/>
              </a:rPr>
              <a:t>Treatment</a:t>
            </a:r>
          </a:p>
        </p:txBody>
      </p:sp>
      <p:sp>
        <p:nvSpPr>
          <p:cNvPr id="13" name="Right Arrow 12"/>
          <p:cNvSpPr/>
          <p:nvPr/>
        </p:nvSpPr>
        <p:spPr>
          <a:xfrm>
            <a:off x="2331720" y="3154680"/>
            <a:ext cx="822960"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23560" y="1463040"/>
            <a:ext cx="6080760" cy="2788920"/>
          </a:xfrm>
          <a:prstGeom prst="roundRect">
            <a:avLst>
              <a:gd name="adj" fmla="val 10928"/>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1600200"/>
            <a:ext cx="5669280" cy="365760"/>
          </a:xfrm>
          <a:prstGeom prst="rect">
            <a:avLst/>
          </a:prstGeom>
          <a:noFill/>
        </p:spPr>
        <p:txBody>
          <a:bodyPr wrap="square" lIns="0" rIns="0" tIns="0" bIns="0" anchor="t">
            <a:spAutoFit/>
          </a:bodyPr>
          <a:lstStyle/>
          <a:p>
            <a:pPr algn="l">
              <a:lnSpc>
                <a:spcPct val="105000"/>
              </a:lnSpc>
            </a:pPr>
            <a:r>
              <a:rPr sz="1350" b="1" i="0">
                <a:solidFill>
                  <a:srgbClr val="028090"/>
                </a:solidFill>
                <a:latin typeface="DejaVu Sans"/>
              </a:rPr>
              <a:t>OEC — the metric agreed on in advance </a:t>
            </a:r>
            <a:r>
              <a:rPr sz="702" baseline="30000" b="0" i="1">
                <a:latin typeface="DejaVu Sans"/>
                <a:cs typeface="DejaVu Sans"/>
                <a:ea typeface="DejaVu Sans"/>
                <a:solidFill>
                  <a:srgbClr val="1C7293"/>
                </a:solidFill>
              </a:rPr>
              <a:t>[1]</a:t>
            </a:r>
          </a:p>
        </p:txBody>
      </p:sp>
      <p:sp>
        <p:nvSpPr>
          <p:cNvPr id="16" name="TextBox 15"/>
          <p:cNvSpPr txBox="1"/>
          <p:nvPr/>
        </p:nvSpPr>
        <p:spPr>
          <a:xfrm>
            <a:off x="5852160" y="2331720"/>
            <a:ext cx="5669280" cy="1737360"/>
          </a:xfrm>
          <a:prstGeom prst="rect">
            <a:avLst/>
          </a:prstGeom>
          <a:noFill/>
        </p:spPr>
        <p:txBody>
          <a:bodyPr wrap="square" lIns="0" rIns="0" tIns="0" bIns="0" anchor="t">
            <a:spAutoFit/>
          </a:bodyPr>
          <a:lstStyle/>
          <a:p>
            <a:pPr algn="l">
              <a:lnSpc>
                <a:spcPct val="120000"/>
              </a:lnSpc>
            </a:pPr>
            <a:r>
              <a:rPr sz="1250" b="0" i="0">
                <a:solidFill>
                  <a:srgbClr val="21295C"/>
                </a:solidFill>
                <a:latin typeface="DejaVu Sans"/>
              </a:rPr>
              <a:t>Controlled experiment (Kohavi): a hypothesis with a mechanism → randomization → a sample size fixed in advance → a decision.</a:t>
            </a:r>
          </a:p>
          <a:p>
            <a:pPr algn="l">
              <a:lnSpc>
                <a:spcPct val="120000"/>
              </a:lnSpc>
            </a:pPr>
            <a:r>
              <a:rPr sz="1250" b="0" i="0">
                <a:solidFill>
                  <a:srgbClr val="21295C"/>
                </a:solidFill>
                <a:latin typeface="DejaVu Sans"/>
              </a:rPr>
              <a:t/>
            </a:r>
          </a:p>
          <a:p>
            <a:pPr algn="l">
              <a:lnSpc>
                <a:spcPct val="120000"/>
              </a:lnSpc>
            </a:pPr>
            <a:r>
              <a:rPr sz="1250" b="0" i="0">
                <a:solidFill>
                  <a:srgbClr val="21295C"/>
                </a:solidFill>
                <a:latin typeface="DejaVu Sans"/>
              </a:rPr>
              <a:t>The teaching trap: "time on the support site" — good or bad? The metric's direction must be agreed before the test.</a:t>
            </a:r>
          </a:p>
        </p:txBody>
      </p:sp>
      <p:sp>
        <p:nvSpPr>
          <p:cNvPr id="17" name="Rounded Rectangle 16"/>
          <p:cNvSpPr/>
          <p:nvPr/>
        </p:nvSpPr>
        <p:spPr>
          <a:xfrm>
            <a:off x="502920" y="4434840"/>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489703"/>
            <a:ext cx="10762488" cy="75895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Only random group splitting gives causation: the difference between Control and Treatment is caused by your change, not by season, advertising, or luck </a:t>
            </a:r>
            <a:r>
              <a:rPr sz="676" baseline="30000" b="0" i="1">
                <a:latin typeface="DejaVu Sans"/>
                <a:cs typeface="DejaVu Sans"/>
                <a:ea typeface="DejaVu Sans"/>
                <a:solidFill>
                  <a:srgbClr val="1C7293"/>
                </a:solidFill>
              </a:rPr>
              <a:t>[2]</a:t>
            </a:r>
            <a:r>
              <a:rPr sz="1300" b="1" i="0">
                <a:latin typeface="DejaVu Sans"/>
                <a:cs typeface="DejaVu Sans"/>
                <a:ea typeface="DejaVu Sans"/>
                <a:solidFill>
                  <a:srgbClr val="21295C"/>
                </a:solidFill>
              </a:rPr>
              <a:t>.</a:t>
            </a:r>
          </a:p>
        </p:txBody>
      </p:sp>
      <p:sp>
        <p:nvSpPr>
          <p:cNvPr id="19" name="TextBox 18"/>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Kohavi — Overall Evaluation Criterion (OEC)</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Wikipedia — A/B testing (Bing 2012)</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31 / 56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Pre-registration: the decision is written down before the result is seen</a:t>
            </a:r>
          </a:p>
        </p:txBody>
      </p:sp>
      <p:sp>
        <p:nvSpPr>
          <p:cNvPr id="3" name="Rounded Rectangle 2"/>
          <p:cNvSpPr/>
          <p:nvPr/>
        </p:nvSpPr>
        <p:spPr>
          <a:xfrm>
            <a:off x="502920" y="825525"/>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25525"/>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A short note made </a:t>
            </a:r>
            <a:r>
              <a:rPr sz="1150" b="1" i="0">
                <a:solidFill>
                  <a:srgbClr val="21295C"/>
                </a:solidFill>
                <a:latin typeface="DejaVu Sans"/>
              </a:rPr>
              <a:t>before</a:t>
            </a:r>
            <a:r>
              <a:rPr sz="1150" b="0" i="0">
                <a:solidFill>
                  <a:srgbClr val="21295C"/>
                </a:solidFill>
                <a:latin typeface="DejaVu Sans"/>
              </a:rPr>
              <a:t> the experiment is launched: what exactly we measure, what result counts as success, when we stop. The practice came from medicine — there the protocol is registered before patients are recruited, otherwise the journal will not take the paper.</a:t>
            </a:r>
          </a:p>
        </p:txBody>
      </p:sp>
      <p:sp>
        <p:nvSpPr>
          <p:cNvPr id="7" name="Rounded Rectangle 6"/>
          <p:cNvSpPr/>
          <p:nvPr/>
        </p:nvSpPr>
        <p:spPr>
          <a:xfrm>
            <a:off x="502920" y="1782592"/>
            <a:ext cx="1152144" cy="2109165"/>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2592"/>
            <a:ext cx="1060704" cy="210916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782592"/>
            <a:ext cx="9902952" cy="2109165"/>
          </a:xfrm>
          <a:prstGeom prst="roundRect">
            <a:avLst>
              <a:gd name="adj" fmla="val 144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88774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88774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874032"/>
            <a:ext cx="5385816" cy="875360"/>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Four things are written down before launch:</a:t>
            </a:r>
            <a:r>
              <a:rPr sz="1000" b="0" i="0">
                <a:solidFill>
                  <a:srgbClr val="21295C"/>
                </a:solidFill>
                <a:latin typeface="DejaVu Sans"/>
              </a:rPr>
              <a:t> which quantity we take as the decision metric and which way it has to move; what we watch as a guardrail metric; what effect size counts as meaningful and how many observations it needs; under what condition we stop.</a:t>
            </a:r>
          </a:p>
        </p:txBody>
      </p:sp>
      <p:sp>
        <p:nvSpPr>
          <p:cNvPr id="13" name="Oval 12"/>
          <p:cNvSpPr/>
          <p:nvPr/>
        </p:nvSpPr>
        <p:spPr>
          <a:xfrm>
            <a:off x="1984248" y="2827116"/>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827116"/>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813400"/>
            <a:ext cx="538581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The note is put where time is recorded</a:t>
            </a:r>
            <a:r>
              <a:rPr sz="1000" b="0" i="0">
                <a:solidFill>
                  <a:srgbClr val="21295C"/>
                </a:solidFill>
                <a:latin typeface="DejaVu Sans"/>
              </a:rPr>
              <a:t> — with a date and an author. The whole mechanism is in that: the timestamp stands earlier than the first result.</a:t>
            </a:r>
          </a:p>
        </p:txBody>
      </p:sp>
      <p:sp>
        <p:nvSpPr>
          <p:cNvPr id="16" name="Oval 15"/>
          <p:cNvSpPr/>
          <p:nvPr/>
        </p:nvSpPr>
        <p:spPr>
          <a:xfrm>
            <a:off x="1984248" y="343535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343535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3421643"/>
            <a:ext cx="538581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After launch the note is not rewritten</a:t>
            </a:r>
            <a:r>
              <a:rPr sz="1000" b="0" i="0">
                <a:solidFill>
                  <a:srgbClr val="21295C"/>
                </a:solidFill>
                <a:latin typeface="DejaVu Sans"/>
              </a:rPr>
              <a:t> — the decision taken and its date are appended to it.</a:t>
            </a:r>
          </a:p>
        </p:txBody>
      </p:sp>
      <p:cxnSp>
        <p:nvCxnSpPr>
          <p:cNvPr id="19" name="Connector 18"/>
          <p:cNvCxnSpPr/>
          <p:nvPr/>
        </p:nvCxnSpPr>
        <p:spPr>
          <a:xfrm>
            <a:off x="8046719" y="2349520"/>
            <a:ext cx="3337561" cy="0"/>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229600" y="2258080"/>
            <a:ext cx="182880" cy="18288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73567" y="1928896"/>
            <a:ext cx="1737360" cy="274320"/>
          </a:xfrm>
          <a:prstGeom prst="rect">
            <a:avLst/>
          </a:prstGeom>
          <a:noFill/>
        </p:spPr>
        <p:txBody>
          <a:bodyPr wrap="square" lIns="0" rIns="0" tIns="0" bIns="0" anchor="t">
            <a:spAutoFit/>
          </a:bodyPr>
          <a:lstStyle/>
          <a:p>
            <a:pPr algn="ctr">
              <a:lnSpc>
                <a:spcPct val="104000"/>
              </a:lnSpc>
            </a:pPr>
            <a:r>
              <a:rPr sz="919" b="1" i="0">
                <a:solidFill>
                  <a:srgbClr val="21295C"/>
                </a:solidFill>
                <a:latin typeface="DejaVu Sans"/>
              </a:rPr>
              <a:t>note made</a:t>
            </a:r>
          </a:p>
        </p:txBody>
      </p:sp>
      <p:sp>
        <p:nvSpPr>
          <p:cNvPr id="22" name="Oval 21"/>
          <p:cNvSpPr/>
          <p:nvPr/>
        </p:nvSpPr>
        <p:spPr>
          <a:xfrm>
            <a:off x="10744200" y="2258080"/>
            <a:ext cx="182880" cy="18288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21240" y="1928896"/>
            <a:ext cx="1645920" cy="274320"/>
          </a:xfrm>
          <a:prstGeom prst="rect">
            <a:avLst/>
          </a:prstGeom>
          <a:noFill/>
        </p:spPr>
        <p:txBody>
          <a:bodyPr wrap="square" lIns="0" rIns="0" tIns="0" bIns="0" anchor="t">
            <a:spAutoFit/>
          </a:bodyPr>
          <a:lstStyle/>
          <a:p>
            <a:pPr algn="ctr">
              <a:lnSpc>
                <a:spcPct val="104000"/>
              </a:lnSpc>
            </a:pPr>
            <a:r>
              <a:rPr sz="919" b="1" i="0">
                <a:solidFill>
                  <a:srgbClr val="065A82"/>
                </a:solidFill>
                <a:latin typeface="DejaVu Sans"/>
              </a:rPr>
              <a:t>first result</a:t>
            </a:r>
          </a:p>
        </p:txBody>
      </p:sp>
      <p:cxnSp>
        <p:nvCxnSpPr>
          <p:cNvPr id="24" name="Connector 23"/>
          <p:cNvCxnSpPr/>
          <p:nvPr/>
        </p:nvCxnSpPr>
        <p:spPr>
          <a:xfrm>
            <a:off x="8321040" y="2495824"/>
            <a:ext cx="2423160" cy="0"/>
          </a:xfrm>
          <a:prstGeom prst="line">
            <a:avLst/>
          </a:prstGeom>
          <a:ln w="20320">
            <a:solidFill>
              <a:srgbClr val="F0AB00"/>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955279" y="2587264"/>
            <a:ext cx="3566160" cy="201168"/>
          </a:xfrm>
          <a:prstGeom prst="rect">
            <a:avLst/>
          </a:prstGeom>
          <a:noFill/>
        </p:spPr>
        <p:txBody>
          <a:bodyPr wrap="square" lIns="0" rIns="0" tIns="0" bIns="0" anchor="t">
            <a:spAutoFit/>
          </a:bodyPr>
          <a:lstStyle/>
          <a:p>
            <a:pPr algn="ctr">
              <a:lnSpc>
                <a:spcPct val="105000"/>
              </a:lnSpc>
            </a:pPr>
            <a:r>
              <a:rPr sz="900" b="0" i="1">
                <a:solidFill>
                  <a:srgbClr val="5B6678"/>
                </a:solidFill>
                <a:latin typeface="DejaVu Sans"/>
              </a:rPr>
              <a:t>the success criterion was written down earlier than the first result</a:t>
            </a:r>
          </a:p>
        </p:txBody>
      </p:sp>
      <p:sp>
        <p:nvSpPr>
          <p:cNvPr id="26" name="TextBox 25"/>
          <p:cNvSpPr txBox="1"/>
          <p:nvPr/>
        </p:nvSpPr>
        <p:spPr>
          <a:xfrm>
            <a:off x="7955279" y="2879872"/>
            <a:ext cx="3566160" cy="786384"/>
          </a:xfrm>
          <a:prstGeom prst="rect">
            <a:avLst/>
          </a:prstGeom>
          <a:noFill/>
        </p:spPr>
        <p:txBody>
          <a:bodyPr wrap="square" lIns="0" rIns="0" tIns="0" bIns="0" anchor="t">
            <a:spAutoFit/>
          </a:bodyPr>
          <a:lstStyle/>
          <a:p>
            <a:pPr algn="l">
              <a:lnSpc>
                <a:spcPct val="112000"/>
              </a:lnSpc>
            </a:pPr>
            <a:r>
              <a:rPr sz="980" b="0" i="0">
                <a:solidFill>
                  <a:srgbClr val="21295C"/>
                </a:solidFill>
                <a:latin typeface="DejaVu Sans"/>
              </a:rPr>
              <a:t>Three traps — stop on a lucky point, trawl through metrics, move the threshold — </a:t>
            </a:r>
            <a:r>
              <a:rPr sz="980" b="1" i="0">
                <a:solidFill>
                  <a:srgbClr val="065A82"/>
                </a:solidFill>
                <a:latin typeface="DejaVu Sans"/>
              </a:rPr>
              <a:t>every one of them needs the success criterion to be choosable after the result.</a:t>
            </a:r>
          </a:p>
        </p:txBody>
      </p:sp>
      <p:sp>
        <p:nvSpPr>
          <p:cNvPr id="27" name="Rounded Rectangle 26"/>
          <p:cNvSpPr/>
          <p:nvPr/>
        </p:nvSpPr>
        <p:spPr>
          <a:xfrm>
            <a:off x="502920" y="3955765"/>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955765"/>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29" name="Rounded Rectangle 28"/>
          <p:cNvSpPr/>
          <p:nvPr/>
        </p:nvSpPr>
        <p:spPr>
          <a:xfrm>
            <a:off x="1801368" y="3955765"/>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984248" y="4047205"/>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84831" y="4092925"/>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the practice comes from medicine</a:t>
            </a:r>
          </a:p>
        </p:txBody>
      </p:sp>
      <p:sp>
        <p:nvSpPr>
          <p:cNvPr id="32" name="TextBox 31"/>
          <p:cNvSpPr txBox="1"/>
          <p:nvPr/>
        </p:nvSpPr>
        <p:spPr>
          <a:xfrm>
            <a:off x="2084831" y="4321525"/>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One decision metric, the sample size, the stopping rule — written down in advance. That is how clinical protocols and ordinary product experiments work.</a:t>
            </a:r>
          </a:p>
        </p:txBody>
      </p:sp>
      <p:sp>
        <p:nvSpPr>
          <p:cNvPr id="33" name="Rounded Rectangle 32"/>
          <p:cNvSpPr/>
          <p:nvPr/>
        </p:nvSpPr>
        <p:spPr>
          <a:xfrm>
            <a:off x="6844284" y="4047205"/>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4868" y="4092925"/>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what has to be written down on top</a:t>
            </a:r>
          </a:p>
        </p:txBody>
      </p:sp>
      <p:sp>
        <p:nvSpPr>
          <p:cNvPr id="35" name="TextBox 34"/>
          <p:cNvSpPr txBox="1"/>
          <p:nvPr/>
        </p:nvSpPr>
        <p:spPr>
          <a:xfrm>
            <a:off x="6944868" y="4321525"/>
            <a:ext cx="4475988" cy="715137"/>
          </a:xfrm>
          <a:prstGeom prst="rect">
            <a:avLst/>
          </a:prstGeom>
          <a:noFill/>
        </p:spPr>
        <p:txBody>
          <a:bodyPr wrap="square" lIns="0" rIns="0" tIns="0" bIns="0" anchor="t">
            <a:spAutoFit/>
          </a:bodyPr>
          <a:lstStyle/>
          <a:p>
            <a:pPr algn="l">
              <a:lnSpc>
                <a:spcPct val="112000"/>
              </a:lnSpc>
            </a:pPr>
            <a:r>
              <a:rPr sz="950" b="1" i="0">
                <a:solidFill>
                  <a:srgbClr val="21295C"/>
                </a:solidFill>
                <a:latin typeface="DejaVu Sans"/>
              </a:rPr>
              <a:t>Randomise by user, not by request:</a:t>
            </a:r>
            <a:r>
              <a:rPr sz="950" b="0" i="0">
                <a:solidFill>
                  <a:srgbClr val="21295C"/>
                </a:solidFill>
                <a:latin typeface="DejaVu Sans"/>
              </a:rPr>
              <a:t> in a dialogue one person otherwise lands in both groups. And </a:t>
            </a:r>
            <a:r>
              <a:rPr sz="950" b="1" i="0">
                <a:solidFill>
                  <a:srgbClr val="21295C"/>
                </a:solidFill>
                <a:latin typeface="DejaVu Sans"/>
              </a:rPr>
              <a:t>several quantities at once</a:t>
            </a:r>
            <a:r>
              <a:rPr sz="950" b="0" i="0">
                <a:solidFill>
                  <a:srgbClr val="21295C"/>
                </a:solidFill>
                <a:latin typeface="DejaVu Sans"/>
              </a:rPr>
              <a:t>: a score for answer quality, the share of re-asks and edits, the cost of a contact.</a:t>
            </a:r>
          </a:p>
        </p:txBody>
      </p:sp>
      <p:sp>
        <p:nvSpPr>
          <p:cNvPr id="36" name="Rounded Rectangle 35"/>
          <p:cNvSpPr/>
          <p:nvPr/>
        </p:nvSpPr>
        <p:spPr>
          <a:xfrm>
            <a:off x="502920" y="5246974"/>
            <a:ext cx="1152144" cy="1060704"/>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246974"/>
            <a:ext cx="1060704" cy="1060704"/>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38" name="Rounded Rectangle 37"/>
          <p:cNvSpPr/>
          <p:nvPr/>
        </p:nvSpPr>
        <p:spPr>
          <a:xfrm>
            <a:off x="1801368" y="5246974"/>
            <a:ext cx="9902952" cy="1060704"/>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84248" y="5338414"/>
            <a:ext cx="6611112" cy="877824"/>
          </a:xfrm>
          <a:prstGeom prst="rect">
            <a:avLst/>
          </a:prstGeom>
          <a:noFill/>
        </p:spPr>
        <p:txBody>
          <a:bodyPr wrap="square" lIns="0" rIns="0" tIns="0" bIns="0" anchor="ctr">
            <a:spAutoFit/>
          </a:bodyPr>
          <a:lstStyle/>
          <a:p>
            <a:pPr algn="l">
              <a:lnSpc>
                <a:spcPct val="114000"/>
              </a:lnSpc>
            </a:pPr>
            <a:r>
              <a:rPr sz="1019" b="1" i="0">
                <a:solidFill>
                  <a:srgbClr val="21295C"/>
                </a:solidFill>
                <a:latin typeface="DejaVu Sans"/>
              </a:rPr>
              <a:t>Pre-registration does not make an experiment right — it makes wrongness visible.</a:t>
            </a:r>
            <a:r>
              <a:rPr sz="1019" b="1" i="0">
                <a:solidFill>
                  <a:srgbClr val="21295C"/>
                </a:solidFill>
                <a:latin typeface="DejaVu Sans"/>
              </a:rPr>
              <a:t> It does not cure the novelty effect: that needs a separate group held back from the change. And it is powerless where there are physically not enough observations: the honest way out is to change the question or the method; the sample will not help here.</a:t>
            </a:r>
          </a:p>
        </p:txBody>
      </p:sp>
      <p:sp>
        <p:nvSpPr>
          <p:cNvPr id="40" name="Rounded Rectangle 39"/>
          <p:cNvSpPr/>
          <p:nvPr/>
        </p:nvSpPr>
        <p:spPr>
          <a:xfrm>
            <a:off x="8778240" y="5338414"/>
            <a:ext cx="2743200" cy="877824"/>
          </a:xfrm>
          <a:prstGeom prst="roundRect">
            <a:avLst>
              <a:gd name="adj" fmla="val 19444"/>
            </a:avLst>
          </a:prstGeom>
          <a:solidFill>
            <a:srgbClr val="FFFFFF"/>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78240" y="5356702"/>
            <a:ext cx="2743200" cy="182880"/>
          </a:xfrm>
          <a:prstGeom prst="rect">
            <a:avLst/>
          </a:prstGeom>
          <a:noFill/>
        </p:spPr>
        <p:txBody>
          <a:bodyPr wrap="square" lIns="0" rIns="0" tIns="0" bIns="0" anchor="t">
            <a:spAutoFit/>
          </a:bodyPr>
          <a:lstStyle/>
          <a:p>
            <a:pPr algn="ctr">
              <a:lnSpc>
                <a:spcPct val="105000"/>
              </a:lnSpc>
            </a:pPr>
            <a:r>
              <a:rPr sz="860" b="1" i="0">
                <a:solidFill>
                  <a:srgbClr val="21295C"/>
                </a:solidFill>
                <a:latin typeface="DejaVu Sans"/>
              </a:rPr>
              <a:t>over three months of waiting</a:t>
            </a:r>
          </a:p>
        </p:txBody>
      </p:sp>
      <p:sp>
        <p:nvSpPr>
          <p:cNvPr id="42" name="Rounded Rectangle 41"/>
          <p:cNvSpPr/>
          <p:nvPr/>
        </p:nvSpPr>
        <p:spPr>
          <a:xfrm>
            <a:off x="9281160" y="5759038"/>
            <a:ext cx="640080" cy="27432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5594446"/>
            <a:ext cx="1097280" cy="146304"/>
          </a:xfrm>
          <a:prstGeom prst="rect">
            <a:avLst/>
          </a:prstGeom>
          <a:noFill/>
        </p:spPr>
        <p:txBody>
          <a:bodyPr wrap="square" lIns="0" rIns="0" tIns="0" bIns="0" anchor="t">
            <a:spAutoFit/>
          </a:bodyPr>
          <a:lstStyle/>
          <a:p>
            <a:pPr algn="ctr">
              <a:lnSpc>
                <a:spcPct val="100000"/>
              </a:lnSpc>
            </a:pPr>
            <a:r>
              <a:rPr sz="919" b="1" i="0">
                <a:solidFill>
                  <a:srgbClr val="065A82"/>
                </a:solidFill>
                <a:latin typeface="DejaVu Sans"/>
              </a:rPr>
              <a:t>31,200</a:t>
            </a:r>
          </a:p>
        </p:txBody>
      </p:sp>
      <p:sp>
        <p:nvSpPr>
          <p:cNvPr id="44" name="TextBox 43"/>
          <p:cNvSpPr txBox="1"/>
          <p:nvPr/>
        </p:nvSpPr>
        <p:spPr>
          <a:xfrm>
            <a:off x="9052560" y="6042502"/>
            <a:ext cx="1097280" cy="182880"/>
          </a:xfrm>
          <a:prstGeom prst="rect">
            <a:avLst/>
          </a:prstGeom>
          <a:noFill/>
        </p:spPr>
        <p:txBody>
          <a:bodyPr wrap="square" lIns="0" rIns="0" tIns="0" bIns="0" anchor="t">
            <a:spAutoFit/>
          </a:bodyPr>
          <a:lstStyle/>
          <a:p>
            <a:pPr algn="ctr">
              <a:lnSpc>
                <a:spcPct val="105000"/>
              </a:lnSpc>
            </a:pPr>
            <a:r>
              <a:rPr sz="819" b="0" i="1">
                <a:solidFill>
                  <a:srgbClr val="21295C"/>
                </a:solidFill>
                <a:latin typeface="DejaVu Sans"/>
              </a:rPr>
              <a:t>needed per group</a:t>
            </a:r>
          </a:p>
        </p:txBody>
      </p:sp>
      <p:sp>
        <p:nvSpPr>
          <p:cNvPr id="45" name="Rounded Rectangle 44"/>
          <p:cNvSpPr/>
          <p:nvPr/>
        </p:nvSpPr>
        <p:spPr>
          <a:xfrm>
            <a:off x="10607040" y="5989396"/>
            <a:ext cx="640080" cy="43961"/>
          </a:xfrm>
          <a:prstGeom prst="roundRect">
            <a:avLst>
              <a:gd name="adj" fmla="val 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78440" y="5824804"/>
            <a:ext cx="1097280" cy="146304"/>
          </a:xfrm>
          <a:prstGeom prst="rect">
            <a:avLst/>
          </a:prstGeom>
          <a:noFill/>
        </p:spPr>
        <p:txBody>
          <a:bodyPr wrap="square" lIns="0" rIns="0" tIns="0" bIns="0" anchor="t">
            <a:spAutoFit/>
          </a:bodyPr>
          <a:lstStyle/>
          <a:p>
            <a:pPr algn="ctr">
              <a:lnSpc>
                <a:spcPct val="100000"/>
              </a:lnSpc>
            </a:pPr>
            <a:r>
              <a:rPr sz="919" b="1" i="0">
                <a:solidFill>
                  <a:srgbClr val="F0AB00"/>
                </a:solidFill>
                <a:latin typeface="DejaVu Sans"/>
              </a:rPr>
              <a:t>5,000</a:t>
            </a:r>
          </a:p>
        </p:txBody>
      </p:sp>
      <p:sp>
        <p:nvSpPr>
          <p:cNvPr id="47" name="TextBox 46"/>
          <p:cNvSpPr txBox="1"/>
          <p:nvPr/>
        </p:nvSpPr>
        <p:spPr>
          <a:xfrm>
            <a:off x="10378440" y="6042502"/>
            <a:ext cx="1097280" cy="182880"/>
          </a:xfrm>
          <a:prstGeom prst="rect">
            <a:avLst/>
          </a:prstGeom>
          <a:noFill/>
        </p:spPr>
        <p:txBody>
          <a:bodyPr wrap="square" lIns="0" rIns="0" tIns="0" bIns="0" anchor="t">
            <a:spAutoFit/>
          </a:bodyPr>
          <a:lstStyle/>
          <a:p>
            <a:pPr algn="ctr">
              <a:lnSpc>
                <a:spcPct val="105000"/>
              </a:lnSpc>
            </a:pPr>
            <a:r>
              <a:rPr sz="819" b="0" i="1">
                <a:solidFill>
                  <a:srgbClr val="21295C"/>
                </a:solidFill>
                <a:latin typeface="DejaVu Sans"/>
              </a:rPr>
              <a:t>available per week</a:t>
            </a:r>
          </a:p>
        </p:txBody>
      </p:sp>
      <p:sp>
        <p:nvSpPr>
          <p:cNvPr id="48" name="TextBox 47"/>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Random assignment by user against assignment by request · the 31,200 per group calculation is illustrative</a:t>
            </a:r>
          </a:p>
        </p:txBody>
      </p:sp>
      <p:sp>
        <p:nvSpPr>
          <p:cNvPr id="49" name="TextBox 4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32 / 56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The eval loop: see that the answers have got worse before the user does</a:t>
            </a:r>
          </a:p>
        </p:txBody>
      </p:sp>
      <p:sp>
        <p:nvSpPr>
          <p:cNvPr id="3" name="Rounded Rectangle 2"/>
          <p:cNvSpPr/>
          <p:nvPr/>
        </p:nvSpPr>
        <p:spPr>
          <a:xfrm>
            <a:off x="502920" y="825525"/>
            <a:ext cx="1152144" cy="848356"/>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848356"/>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25525"/>
            <a:ext cx="9902952" cy="848356"/>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665476"/>
          </a:xfrm>
          <a:prstGeom prst="rect">
            <a:avLst/>
          </a:prstGeom>
          <a:noFill/>
        </p:spPr>
        <p:txBody>
          <a:bodyPr wrap="square" lIns="0" rIns="0" tIns="0" bIns="0" anchor="ctr">
            <a:spAutoFit/>
          </a:bodyPr>
          <a:lstStyle/>
          <a:p>
            <a:pPr algn="l">
              <a:lnSpc>
                <a:spcPct val="114000"/>
              </a:lnSpc>
            </a:pPr>
            <a:r>
              <a:rPr sz="1060" b="1" i="0">
                <a:solidFill>
                  <a:srgbClr val="21295C"/>
                </a:solidFill>
                <a:latin typeface="DejaVu Sans"/>
              </a:rPr>
              <a:t>An evaluation</a:t>
            </a:r>
            <a:r>
              <a:rPr sz="1060" b="0" i="0">
                <a:solidFill>
                  <a:srgbClr val="21295C"/>
                </a:solidFill>
                <a:latin typeface="DejaVu Sans"/>
              </a:rPr>
              <a:t> (an "eval") — a set of tasks with the desired answer written in advance, on which a model or agent is run. </a:t>
            </a:r>
            <a:r>
              <a:rPr sz="1060" b="1" i="0">
                <a:solidFill>
                  <a:srgbClr val="21295C"/>
                </a:solidFill>
                <a:latin typeface="DejaVu Sans"/>
              </a:rPr>
              <a:t>It is needed because answer quality changes with no code change:</a:t>
            </a:r>
            <a:r>
              <a:rPr sz="1060" b="0" i="0">
                <a:solidFill>
                  <a:srgbClr val="21295C"/>
                </a:solidFill>
                <a:latin typeface="DejaVu Sans"/>
              </a:rPr>
              <a:t> you switch the model version, a rule or a source — behaviour moves, while the code tests stay green and say nothing.</a:t>
            </a:r>
          </a:p>
        </p:txBody>
      </p:sp>
      <p:sp>
        <p:nvSpPr>
          <p:cNvPr id="7" name="Rounded Rectangle 6"/>
          <p:cNvSpPr/>
          <p:nvPr/>
        </p:nvSpPr>
        <p:spPr>
          <a:xfrm>
            <a:off x="502920" y="1737890"/>
            <a:ext cx="1152144" cy="2121384"/>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37890"/>
            <a:ext cx="1060704" cy="2121384"/>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737890"/>
            <a:ext cx="9902952" cy="2121384"/>
          </a:xfrm>
          <a:prstGeom prst="roundRect">
            <a:avLst>
              <a:gd name="adj" fmla="val 1436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843046"/>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843046"/>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829330"/>
            <a:ext cx="5020056" cy="358805"/>
          </a:xfrm>
          <a:prstGeom prst="rect">
            <a:avLst/>
          </a:prstGeom>
          <a:noFill/>
        </p:spPr>
        <p:txBody>
          <a:bodyPr wrap="square" lIns="0" rIns="0" tIns="0" bIns="0" anchor="t">
            <a:spAutoFit/>
          </a:bodyPr>
          <a:lstStyle/>
          <a:p>
            <a:pPr algn="l">
              <a:lnSpc>
                <a:spcPct val="115000"/>
              </a:lnSpc>
            </a:pPr>
            <a:r>
              <a:rPr sz="940" b="1" i="0">
                <a:solidFill>
                  <a:srgbClr val="065A82"/>
                </a:solidFill>
                <a:latin typeface="DejaVu Sans"/>
              </a:rPr>
              <a:t>Before release</a:t>
            </a:r>
            <a:r>
              <a:rPr sz="940" b="0" i="0">
                <a:solidFill>
                  <a:srgbClr val="21295C"/>
                </a:solidFill>
                <a:latin typeface="DejaVu Sans"/>
              </a:rPr>
              <a:t> — a run against the curated golden set: reproducible, catches what has broken before.</a:t>
            </a:r>
          </a:p>
        </p:txBody>
      </p:sp>
      <p:sp>
        <p:nvSpPr>
          <p:cNvPr id="13" name="Oval 12"/>
          <p:cNvSpPr/>
          <p:nvPr/>
        </p:nvSpPr>
        <p:spPr>
          <a:xfrm>
            <a:off x="1984248" y="226586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26586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252144"/>
            <a:ext cx="5020056" cy="358805"/>
          </a:xfrm>
          <a:prstGeom prst="rect">
            <a:avLst/>
          </a:prstGeom>
          <a:noFill/>
        </p:spPr>
        <p:txBody>
          <a:bodyPr wrap="square" lIns="0" rIns="0" tIns="0" bIns="0" anchor="t">
            <a:spAutoFit/>
          </a:bodyPr>
          <a:lstStyle/>
          <a:p>
            <a:pPr algn="l">
              <a:lnSpc>
                <a:spcPct val="115000"/>
              </a:lnSpc>
            </a:pPr>
            <a:r>
              <a:rPr sz="940" b="1" i="0">
                <a:solidFill>
                  <a:srgbClr val="065A82"/>
                </a:solidFill>
                <a:latin typeface="DejaVu Sans"/>
              </a:rPr>
              <a:t>After release</a:t>
            </a:r>
            <a:r>
              <a:rPr sz="940" b="0" i="0">
                <a:solidFill>
                  <a:srgbClr val="21295C"/>
                </a:solidFill>
                <a:latin typeface="DejaVu Sans"/>
              </a:rPr>
              <a:t> — evaluation on live traffic: it opens up inputs the set never had, and behaviour over long chains.</a:t>
            </a:r>
          </a:p>
        </p:txBody>
      </p:sp>
      <p:sp>
        <p:nvSpPr>
          <p:cNvPr id="16" name="Oval 15"/>
          <p:cNvSpPr/>
          <p:nvPr/>
        </p:nvSpPr>
        <p:spPr>
          <a:xfrm>
            <a:off x="1984248" y="268867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8867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74958"/>
            <a:ext cx="5020056" cy="358805"/>
          </a:xfrm>
          <a:prstGeom prst="rect">
            <a:avLst/>
          </a:prstGeom>
          <a:noFill/>
        </p:spPr>
        <p:txBody>
          <a:bodyPr wrap="square" lIns="0" rIns="0" tIns="0" bIns="0" anchor="t">
            <a:spAutoFit/>
          </a:bodyPr>
          <a:lstStyle/>
          <a:p>
            <a:pPr algn="l">
              <a:lnSpc>
                <a:spcPct val="115000"/>
              </a:lnSpc>
            </a:pPr>
            <a:r>
              <a:rPr sz="940" b="1" i="0">
                <a:solidFill>
                  <a:srgbClr val="065A82"/>
                </a:solidFill>
                <a:latin typeface="DejaVu Sans"/>
              </a:rPr>
              <a:t>Closing</a:t>
            </a:r>
            <a:r>
              <a:rPr sz="940" b="0" i="0">
                <a:solidFill>
                  <a:srgbClr val="21295C"/>
                </a:solidFill>
                <a:latin typeface="DejaVu Sans"/>
              </a:rPr>
              <a:t> — a postmortem of a production failure adds a row to the golden set, and it stays there for good.</a:t>
            </a:r>
          </a:p>
        </p:txBody>
      </p:sp>
      <p:sp>
        <p:nvSpPr>
          <p:cNvPr id="19" name="Oval 18"/>
          <p:cNvSpPr/>
          <p:nvPr/>
        </p:nvSpPr>
        <p:spPr>
          <a:xfrm>
            <a:off x="1984248" y="311148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11148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097771"/>
            <a:ext cx="5020056" cy="670062"/>
          </a:xfrm>
          <a:prstGeom prst="rect">
            <a:avLst/>
          </a:prstGeom>
          <a:noFill/>
        </p:spPr>
        <p:txBody>
          <a:bodyPr wrap="square" lIns="0" rIns="0" tIns="0" bIns="0" anchor="t">
            <a:spAutoFit/>
          </a:bodyPr>
          <a:lstStyle/>
          <a:p>
            <a:pPr algn="l">
              <a:lnSpc>
                <a:spcPct val="115000"/>
              </a:lnSpc>
            </a:pPr>
            <a:r>
              <a:rPr sz="940" b="1" i="0">
                <a:solidFill>
                  <a:srgbClr val="065A82"/>
                </a:solidFill>
                <a:latin typeface="DejaVu Sans"/>
              </a:rPr>
              <a:t>What it is run with:</a:t>
            </a:r>
            <a:r>
              <a:rPr sz="940" b="0" i="0">
                <a:solidFill>
                  <a:srgbClr val="21295C"/>
                </a:solidFill>
                <a:latin typeface="DejaVu Sans"/>
              </a:rPr>
              <a:t> promptfoo drops the build by return code when the pass rate is below threshold; DeepEval — an ordinary test run with a minimum score per metric; Braintrust and Langfuse compare versions and block a merge on a drop.</a:t>
            </a:r>
          </a:p>
        </p:txBody>
      </p:sp>
      <p:sp>
        <p:nvSpPr>
          <p:cNvPr id="22" name="Rounded Rectangle 21"/>
          <p:cNvSpPr/>
          <p:nvPr/>
        </p:nvSpPr>
        <p:spPr>
          <a:xfrm>
            <a:off x="7589520" y="1829330"/>
            <a:ext cx="1572768" cy="438912"/>
          </a:xfrm>
          <a:prstGeom prst="roundRect">
            <a:avLst>
              <a:gd name="adj" fmla="val 22000"/>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44384" y="1829330"/>
            <a:ext cx="1463040" cy="438912"/>
          </a:xfrm>
          <a:prstGeom prst="rect">
            <a:avLst/>
          </a:prstGeom>
          <a:noFill/>
        </p:spPr>
        <p:txBody>
          <a:bodyPr wrap="square" lIns="0" rIns="0" tIns="0" bIns="0" anchor="ctr">
            <a:spAutoFit/>
          </a:bodyPr>
          <a:lstStyle/>
          <a:p>
            <a:pPr algn="ctr">
              <a:lnSpc>
                <a:spcPct val="104000"/>
              </a:lnSpc>
            </a:pPr>
            <a:r>
              <a:rPr sz="940" b="1" i="0">
                <a:solidFill>
                  <a:srgbClr val="065A82"/>
                </a:solidFill>
                <a:latin typeface="DejaVu Sans"/>
              </a:rPr>
              <a:t>the golden</a:t>
            </a:r>
          </a:p>
          <a:p>
            <a:pPr algn="ctr">
              <a:lnSpc>
                <a:spcPct val="104000"/>
              </a:lnSpc>
            </a:pPr>
            <a:r>
              <a:rPr sz="940" b="1" i="0">
                <a:solidFill>
                  <a:srgbClr val="065A82"/>
                </a:solidFill>
                <a:latin typeface="DejaVu Sans"/>
              </a:rPr>
              <a:t>set</a:t>
            </a:r>
          </a:p>
        </p:txBody>
      </p:sp>
      <p:sp>
        <p:nvSpPr>
          <p:cNvPr id="24" name="Rounded Rectangle 23"/>
          <p:cNvSpPr/>
          <p:nvPr/>
        </p:nvSpPr>
        <p:spPr>
          <a:xfrm>
            <a:off x="9948672" y="1829330"/>
            <a:ext cx="1572768" cy="438912"/>
          </a:xfrm>
          <a:prstGeom prst="roundRect">
            <a:avLst>
              <a:gd name="adj" fmla="val 22000"/>
            </a:avLst>
          </a:prstGeom>
          <a:solidFill>
            <a:srgbClr val="FFFFFF"/>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3536" y="1829330"/>
            <a:ext cx="1463040" cy="438912"/>
          </a:xfrm>
          <a:prstGeom prst="rect">
            <a:avLst/>
          </a:prstGeom>
          <a:noFill/>
        </p:spPr>
        <p:txBody>
          <a:bodyPr wrap="square" lIns="0" rIns="0" tIns="0" bIns="0" anchor="ctr">
            <a:spAutoFit/>
          </a:bodyPr>
          <a:lstStyle/>
          <a:p>
            <a:pPr algn="ctr">
              <a:lnSpc>
                <a:spcPct val="104000"/>
              </a:lnSpc>
            </a:pPr>
            <a:r>
              <a:rPr sz="940" b="1" i="0">
                <a:solidFill>
                  <a:srgbClr val="1C7293"/>
                </a:solidFill>
                <a:latin typeface="DejaVu Sans"/>
              </a:rPr>
              <a:t>release</a:t>
            </a:r>
          </a:p>
        </p:txBody>
      </p:sp>
      <p:sp>
        <p:nvSpPr>
          <p:cNvPr id="26" name="Rounded Rectangle 25"/>
          <p:cNvSpPr/>
          <p:nvPr/>
        </p:nvSpPr>
        <p:spPr>
          <a:xfrm>
            <a:off x="9948672" y="2743730"/>
            <a:ext cx="1572768" cy="438912"/>
          </a:xfrm>
          <a:prstGeom prst="roundRect">
            <a:avLst>
              <a:gd name="adj" fmla="val 22000"/>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03536" y="2743730"/>
            <a:ext cx="1463040" cy="438912"/>
          </a:xfrm>
          <a:prstGeom prst="rect">
            <a:avLst/>
          </a:prstGeom>
          <a:noFill/>
        </p:spPr>
        <p:txBody>
          <a:bodyPr wrap="square" lIns="0" rIns="0" tIns="0" bIns="0" anchor="ctr">
            <a:spAutoFit/>
          </a:bodyPr>
          <a:lstStyle/>
          <a:p>
            <a:pPr algn="ctr">
              <a:lnSpc>
                <a:spcPct val="104000"/>
              </a:lnSpc>
            </a:pPr>
            <a:r>
              <a:rPr sz="940" b="1" i="0">
                <a:solidFill>
                  <a:srgbClr val="028090"/>
                </a:solidFill>
                <a:latin typeface="DejaVu Sans"/>
              </a:rPr>
              <a:t>live traffic</a:t>
            </a:r>
          </a:p>
        </p:txBody>
      </p:sp>
      <p:sp>
        <p:nvSpPr>
          <p:cNvPr id="28" name="Rounded Rectangle 27"/>
          <p:cNvSpPr/>
          <p:nvPr/>
        </p:nvSpPr>
        <p:spPr>
          <a:xfrm>
            <a:off x="7589520" y="2743730"/>
            <a:ext cx="1572768" cy="438912"/>
          </a:xfrm>
          <a:prstGeom prst="roundRect">
            <a:avLst>
              <a:gd name="adj" fmla="val 22000"/>
            </a:avLst>
          </a:prstGeom>
          <a:solidFill>
            <a:srgbClr val="FFFFFF"/>
          </a:solidFill>
          <a:ln w="203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44384" y="2743730"/>
            <a:ext cx="1463040" cy="438912"/>
          </a:xfrm>
          <a:prstGeom prst="rect">
            <a:avLst/>
          </a:prstGeom>
          <a:noFill/>
        </p:spPr>
        <p:txBody>
          <a:bodyPr wrap="square" lIns="0" rIns="0" tIns="0" bIns="0" anchor="ctr">
            <a:spAutoFit/>
          </a:bodyPr>
          <a:lstStyle/>
          <a:p>
            <a:pPr algn="ctr">
              <a:lnSpc>
                <a:spcPct val="104000"/>
              </a:lnSpc>
            </a:pPr>
            <a:r>
              <a:rPr sz="940" b="1" i="0">
                <a:solidFill>
                  <a:srgbClr val="5B6678"/>
                </a:solidFill>
                <a:latin typeface="DejaVu Sans"/>
              </a:rPr>
              <a:t>postmortem</a:t>
            </a:r>
          </a:p>
        </p:txBody>
      </p:sp>
      <p:cxnSp>
        <p:nvCxnSpPr>
          <p:cNvPr id="30" name="Connector 29"/>
          <p:cNvCxnSpPr/>
          <p:nvPr/>
        </p:nvCxnSpPr>
        <p:spPr>
          <a:xfrm>
            <a:off x="9162288" y="2048786"/>
            <a:ext cx="786384" cy="0"/>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735056" y="2268242"/>
            <a:ext cx="0" cy="475488"/>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162288" y="2963186"/>
            <a:ext cx="786384" cy="0"/>
          </a:xfrm>
          <a:prstGeom prst="line">
            <a:avLst/>
          </a:prstGeom>
          <a:ln w="2540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375904" y="2268242"/>
            <a:ext cx="0" cy="475488"/>
          </a:xfrm>
          <a:prstGeom prst="line">
            <a:avLst/>
          </a:prstGeom>
          <a:ln w="50800">
            <a:solidFill>
              <a:srgbClr val="F0AB00"/>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589520" y="3255794"/>
            <a:ext cx="3931920" cy="420624"/>
          </a:xfrm>
          <a:prstGeom prst="rect">
            <a:avLst/>
          </a:prstGeom>
          <a:noFill/>
        </p:spPr>
        <p:txBody>
          <a:bodyPr wrap="square" lIns="0" rIns="0" tIns="0" bIns="0" anchor="t">
            <a:spAutoFit/>
          </a:bodyPr>
          <a:lstStyle/>
          <a:p>
            <a:pPr algn="ctr">
              <a:lnSpc>
                <a:spcPct val="105000"/>
              </a:lnSpc>
            </a:pPr>
            <a:r>
              <a:rPr sz="880" b="0" i="1">
                <a:solidFill>
                  <a:srgbClr val="21295C"/>
                </a:solidFill>
                <a:latin typeface="DejaVu Sans"/>
              </a:rPr>
              <a:t>the gold arrow is what makes the loop a loop: a postmortem adds a row to the golden set — without that step there is no loop, only a report</a:t>
            </a:r>
          </a:p>
        </p:txBody>
      </p:sp>
      <p:sp>
        <p:nvSpPr>
          <p:cNvPr id="35" name="Rounded Rectangle 34"/>
          <p:cNvSpPr/>
          <p:nvPr/>
        </p:nvSpPr>
        <p:spPr>
          <a:xfrm>
            <a:off x="502920" y="3923282"/>
            <a:ext cx="1152144" cy="1194952"/>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3923282"/>
            <a:ext cx="1060704" cy="1194952"/>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37" name="Rounded Rectangle 36"/>
          <p:cNvSpPr/>
          <p:nvPr/>
        </p:nvSpPr>
        <p:spPr>
          <a:xfrm>
            <a:off x="1801368" y="3923282"/>
            <a:ext cx="9902952" cy="119495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984248" y="4014722"/>
            <a:ext cx="4677156" cy="1012072"/>
          </a:xfrm>
          <a:prstGeom prst="roundRect">
            <a:avLst>
              <a:gd name="adj" fmla="val 17567"/>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84831" y="4060442"/>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a suite of code tests</a:t>
            </a:r>
          </a:p>
        </p:txBody>
      </p:sp>
      <p:sp>
        <p:nvSpPr>
          <p:cNvPr id="40" name="TextBox 39"/>
          <p:cNvSpPr txBox="1"/>
          <p:nvPr/>
        </p:nvSpPr>
        <p:spPr>
          <a:xfrm>
            <a:off x="2084831" y="4289042"/>
            <a:ext cx="4475988" cy="682888"/>
          </a:xfrm>
          <a:prstGeom prst="rect">
            <a:avLst/>
          </a:prstGeom>
          <a:noFill/>
        </p:spPr>
        <p:txBody>
          <a:bodyPr wrap="square" lIns="0" rIns="0" tIns="0" bIns="0" anchor="t">
            <a:spAutoFit/>
          </a:bodyPr>
          <a:lstStyle/>
          <a:p>
            <a:pPr algn="l">
              <a:lnSpc>
                <a:spcPct val="112000"/>
              </a:lnSpc>
            </a:pPr>
            <a:r>
              <a:rPr sz="900" b="0" i="0">
                <a:solidFill>
                  <a:srgbClr val="21295C"/>
                </a:solidFill>
                <a:latin typeface="DejaVu Sans"/>
              </a:rPr>
              <a:t>The answer is known character by character, the run is reproducible, the result is "passed" or "failed".</a:t>
            </a:r>
          </a:p>
        </p:txBody>
      </p:sp>
      <p:sp>
        <p:nvSpPr>
          <p:cNvPr id="41" name="Rounded Rectangle 40"/>
          <p:cNvSpPr/>
          <p:nvPr/>
        </p:nvSpPr>
        <p:spPr>
          <a:xfrm>
            <a:off x="6844284" y="4014722"/>
            <a:ext cx="4677156" cy="1012072"/>
          </a:xfrm>
          <a:prstGeom prst="roundRect">
            <a:avLst>
              <a:gd name="adj" fmla="val 17567"/>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4868" y="4060442"/>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three different roles for the AI itself</a:t>
            </a:r>
          </a:p>
        </p:txBody>
      </p:sp>
      <p:sp>
        <p:nvSpPr>
          <p:cNvPr id="43" name="TextBox 42"/>
          <p:cNvSpPr txBox="1"/>
          <p:nvPr/>
        </p:nvSpPr>
        <p:spPr>
          <a:xfrm>
            <a:off x="6944868" y="4289042"/>
            <a:ext cx="4475988" cy="682888"/>
          </a:xfrm>
          <a:prstGeom prst="rect">
            <a:avLst/>
          </a:prstGeom>
          <a:noFill/>
        </p:spPr>
        <p:txBody>
          <a:bodyPr wrap="square" lIns="0" rIns="0" tIns="0" bIns="0" anchor="t">
            <a:spAutoFit/>
          </a:bodyPr>
          <a:lstStyle/>
          <a:p>
            <a:pPr algn="l">
              <a:lnSpc>
                <a:spcPct val="112000"/>
              </a:lnSpc>
            </a:pPr>
            <a:r>
              <a:rPr sz="900" b="1" i="0">
                <a:solidFill>
                  <a:srgbClr val="21295C"/>
                </a:solidFill>
                <a:latin typeface="DejaVu Sans"/>
              </a:rPr>
              <a:t>The subject of evaluation</a:t>
            </a:r>
            <a:r>
              <a:rPr sz="900" b="0" i="0">
                <a:solidFill>
                  <a:srgbClr val="21295C"/>
                </a:solidFill>
                <a:latin typeface="DejaVu Sans"/>
              </a:rPr>
              <a:t> — what gets checked. </a:t>
            </a:r>
            <a:r>
              <a:rPr sz="900" b="1" i="0">
                <a:solidFill>
                  <a:srgbClr val="21295C"/>
                </a:solidFill>
                <a:latin typeface="DejaVu Sans"/>
              </a:rPr>
              <a:t>The measuring instrument</a:t>
            </a:r>
            <a:r>
              <a:rPr sz="900" b="0" i="0">
                <a:solidFill>
                  <a:srgbClr val="21295C"/>
                </a:solidFill>
                <a:latin typeface="DejaVu Sans"/>
              </a:rPr>
              <a:t> — an LLM-as-judge scores by a written rule. </a:t>
            </a:r>
            <a:r>
              <a:rPr sz="900" b="1" i="0">
                <a:solidFill>
                  <a:srgbClr val="21295C"/>
                </a:solidFill>
                <a:latin typeface="DejaVu Sans"/>
              </a:rPr>
              <a:t>The supplier of cases</a:t>
            </a:r>
            <a:r>
              <a:rPr sz="900" b="0" i="0">
                <a:solidFill>
                  <a:srgbClr val="21295C"/>
                </a:solidFill>
                <a:latin typeface="DejaVu Sans"/>
              </a:rPr>
              <a:t> — labels live traffic and proposes additions. A human decides what a good answer is.</a:t>
            </a:r>
          </a:p>
        </p:txBody>
      </p:sp>
      <p:sp>
        <p:nvSpPr>
          <p:cNvPr id="44" name="Rounded Rectangle 43"/>
          <p:cNvSpPr/>
          <p:nvPr/>
        </p:nvSpPr>
        <p:spPr>
          <a:xfrm>
            <a:off x="502920" y="5182243"/>
            <a:ext cx="1152144" cy="970872"/>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182243"/>
            <a:ext cx="1060704" cy="970872"/>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46" name="Rounded Rectangle 45"/>
          <p:cNvSpPr/>
          <p:nvPr/>
        </p:nvSpPr>
        <p:spPr>
          <a:xfrm>
            <a:off x="1801368" y="5182243"/>
            <a:ext cx="9902952" cy="970872"/>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984248" y="5273683"/>
            <a:ext cx="9537192" cy="787992"/>
          </a:xfrm>
          <a:prstGeom prst="rect">
            <a:avLst/>
          </a:prstGeom>
          <a:noFill/>
        </p:spPr>
        <p:txBody>
          <a:bodyPr wrap="square" lIns="0" rIns="0" tIns="0" bIns="0" anchor="ctr">
            <a:spAutoFit/>
          </a:bodyPr>
          <a:lstStyle/>
          <a:p>
            <a:pPr algn="l">
              <a:lnSpc>
                <a:spcPct val="114000"/>
              </a:lnSpc>
            </a:pPr>
            <a:r>
              <a:rPr sz="980" b="1" i="0">
                <a:solidFill>
                  <a:srgbClr val="21295C"/>
                </a:solidFill>
                <a:latin typeface="DejaVu Sans"/>
              </a:rPr>
              <a:t>An LLM-as-judge agrees with a human 80–90% of the time where the preference is obvious, and falls to 60–65% as soon as the answers are close or are swapped round</a:t>
            </a:r>
            <a:r>
              <a:rPr sz="980" b="1" i="0">
                <a:solidFill>
                  <a:srgbClr val="21295C"/>
                </a:solidFill>
                <a:latin typeface="DejaVu Sans"/>
              </a:rPr>
              <a:t> — it is least reliable exactly where the cost of an error is highest. The corrections: shuffle the order of the answers, take a judge from a different family. An experiment on live users costs more and is not replaced by evals.</a:t>
            </a:r>
          </a:p>
        </p:txBody>
      </p:sp>
      <p:sp>
        <p:nvSpPr>
          <p:cNvPr id="48" name="TextBox 47"/>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The three-layer framework — Hamel Husain, author of the piece "Your AI Product Needs Evals" · agreement of an LLM-as-judge with a human: 80–90% where the preference is explicit, 60–65% with ties and with the order swapped</a:t>
            </a:r>
          </a:p>
        </p:txBody>
      </p:sp>
      <p:sp>
        <p:nvSpPr>
          <p:cNvPr id="49" name="TextBox 4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33 / 56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The boat circles the lagoon racking up points — but never finishes</a:t>
            </a:r>
          </a:p>
        </p:txBody>
      </p:sp>
      <p:sp>
        <p:nvSpPr>
          <p:cNvPr id="3" name="Rounded Rectangle 2"/>
          <p:cNvSpPr/>
          <p:nvPr/>
        </p:nvSpPr>
        <p:spPr>
          <a:xfrm>
            <a:off x="502920" y="1463040"/>
            <a:ext cx="5349240" cy="3017520"/>
          </a:xfrm>
          <a:prstGeom prst="roundRect">
            <a:avLst>
              <a:gd name="adj" fmla="val 10101"/>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peat-teal.png"/>
          <p:cNvPicPr>
            <a:picLocks noChangeAspect="1"/>
          </p:cNvPicPr>
          <p:nvPr/>
        </p:nvPicPr>
        <p:blipFill>
          <a:blip r:embed="rId2"/>
          <a:stretch>
            <a:fillRect/>
          </a:stretch>
        </p:blipFill>
        <p:spPr>
          <a:xfrm>
            <a:off x="2606040" y="1828800"/>
            <a:ext cx="1005840" cy="1005840"/>
          </a:xfrm>
          <a:prstGeom prst="rect">
            <a:avLst/>
          </a:prstGeom>
        </p:spPr>
      </p:pic>
      <p:sp>
        <p:nvSpPr>
          <p:cNvPr id="5" name="TextBox 4"/>
          <p:cNvSpPr txBox="1"/>
          <p:nvPr/>
        </p:nvSpPr>
        <p:spPr>
          <a:xfrm>
            <a:off x="777240" y="2971800"/>
            <a:ext cx="4800600" cy="1371600"/>
          </a:xfrm>
          <a:prstGeom prst="rect">
            <a:avLst/>
          </a:prstGeom>
          <a:noFill/>
        </p:spPr>
        <p:txBody>
          <a:bodyPr wrap="square" lIns="0" rIns="0" tIns="0" bIns="0" anchor="t">
            <a:spAutoFit/>
          </a:bodyPr>
          <a:lstStyle/>
          <a:p>
            <a:pPr algn="l">
              <a:lnSpc>
                <a:spcPct val="118000"/>
              </a:lnSpc>
            </a:pPr>
            <a:r>
              <a:rPr sz="1250" b="0" i="0">
                <a:solidFill>
                  <a:srgbClr val="21295C"/>
                </a:solidFill>
                <a:latin typeface="DejaVu Sans"/>
              </a:rPr>
              <a:t>An RL agent in a boat race scored 20% more points than human players — by circling a lagoon collecting bonuses, never finishing </a:t>
            </a:r>
            <a:r>
              <a:rPr sz="650" baseline="30000" b="0" i="1">
                <a:latin typeface="DejaVu Sans"/>
                <a:cs typeface="DejaVu Sans"/>
                <a:ea typeface="DejaVu Sans"/>
                <a:solidFill>
                  <a:srgbClr val="1C7293"/>
                </a:solidFill>
              </a:rPr>
              <a:t>[1]</a:t>
            </a:r>
            <a:r>
              <a:rPr sz="1250" b="0" i="0">
                <a:latin typeface="DejaVu Sans"/>
                <a:cs typeface="DejaVu Sans"/>
                <a:ea typeface="DejaVu Sans"/>
                <a:solidFill>
                  <a:srgbClr val="21295C"/>
                </a:solidFill>
              </a:rPr>
              <a:t>. It optimized the proxy, not the real goal.</a:t>
            </a:r>
          </a:p>
        </p:txBody>
      </p:sp>
      <p:sp>
        <p:nvSpPr>
          <p:cNvPr id="6" name="Rounded Rectangle 5"/>
          <p:cNvSpPr/>
          <p:nvPr/>
        </p:nvSpPr>
        <p:spPr>
          <a:xfrm>
            <a:off x="6080760" y="1463040"/>
            <a:ext cx="5623560" cy="3017520"/>
          </a:xfrm>
          <a:prstGeom prst="roundRect">
            <a:avLst>
              <a:gd name="adj" fmla="val 10101"/>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00200"/>
            <a:ext cx="5166360" cy="822960"/>
          </a:xfrm>
          <a:prstGeom prst="rect">
            <a:avLst/>
          </a:prstGeom>
          <a:noFill/>
        </p:spPr>
        <p:txBody>
          <a:bodyPr wrap="square" lIns="0" rIns="0" tIns="0" bIns="0" anchor="t">
            <a:spAutoFit/>
          </a:bodyPr>
          <a:lstStyle/>
          <a:p>
            <a:pPr algn="l">
              <a:lnSpc>
                <a:spcPct val="112000"/>
              </a:lnSpc>
            </a:pPr>
            <a:r>
              <a:rPr sz="1400" b="1" i="0">
                <a:solidFill>
                  <a:srgbClr val="21295C"/>
                </a:solidFill>
                <a:latin typeface="DejaVu Sans"/>
              </a:rPr>
              <a:t>Goodhart's law: when a measure becomes a target, it ceases to be a good measure.</a:t>
            </a:r>
          </a:p>
        </p:txBody>
      </p:sp>
      <p:sp>
        <p:nvSpPr>
          <p:cNvPr id="8" name="TextBox 7"/>
          <p:cNvSpPr txBox="1"/>
          <p:nvPr/>
        </p:nvSpPr>
        <p:spPr>
          <a:xfrm>
            <a:off x="6309360" y="2606040"/>
            <a:ext cx="5166360" cy="1737360"/>
          </a:xfrm>
          <a:prstGeom prst="rect">
            <a:avLst/>
          </a:prstGeom>
          <a:noFill/>
        </p:spPr>
        <p:txBody>
          <a:bodyPr wrap="square" lIns="0" rIns="0" tIns="0" bIns="0" anchor="t">
            <a:spAutoFit/>
          </a:bodyPr>
          <a:lstStyle/>
          <a:p>
            <a:pPr algn="l">
              <a:lnSpc>
                <a:spcPct val="118000"/>
              </a:lnSpc>
            </a:pPr>
            <a:r>
              <a:rPr sz="1200" b="0" i="0">
                <a:solidFill>
                  <a:srgbClr val="21295C"/>
                </a:solidFill>
                <a:latin typeface="DejaVu Sans"/>
              </a:rPr>
              <a:t>Anthropic: a model generalized from sycophancy to directly editing its own reward function </a:t>
            </a:r>
            <a:r>
              <a:rPr sz="624" baseline="30000" b="0" i="1">
                <a:latin typeface="DejaVu Sans"/>
                <a:cs typeface="DejaVu Sans"/>
                <a:ea typeface="DejaVu Sans"/>
                <a:solidFill>
                  <a:srgbClr val="1C7293"/>
                </a:solidFill>
              </a:rPr>
              <a:t>[2]</a:t>
            </a:r>
            <a:r>
              <a:rPr sz="1200" b="0" i="0">
                <a:latin typeface="DejaVu Sans"/>
                <a:cs typeface="DejaVu Sans"/>
                <a:ea typeface="DejaVu Sans"/>
                <a:solidFill>
                  <a:srgbClr val="21295C"/>
                </a:solidFill>
              </a:rPr>
              <a:t>.</a:t>
            </a:r>
          </a:p>
          <a:p>
            <a:pPr algn="l">
              <a:lnSpc>
                <a:spcPct val="118000"/>
              </a:lnSpc>
            </a:pPr>
            <a:r>
              <a:rPr sz="1200" b="0" i="0">
                <a:solidFill>
                  <a:srgbClr val="21295C"/>
                </a:solidFill>
                <a:latin typeface="DejaVu Sans"/>
              </a:rPr>
              <a:t/>
            </a:r>
          </a:p>
          <a:p>
            <a:pPr algn="l">
              <a:lnSpc>
                <a:spcPct val="118000"/>
              </a:lnSpc>
            </a:pPr>
            <a:r>
              <a:rPr sz="1200" b="0" i="0">
                <a:solidFill>
                  <a:srgbClr val="21295C"/>
                </a:solidFill>
                <a:latin typeface="DejaVu Sans"/>
              </a:rPr>
              <a:t>What stays: OEC discipline, guardrail metrics, Twyman's law — a suspiciously perfect score is now more likely a bug than a breakthrough.</a:t>
            </a:r>
          </a:p>
        </p:txBody>
      </p:sp>
      <p:sp>
        <p:nvSpPr>
          <p:cNvPr id="9" name="Rounded Rectangle 8"/>
          <p:cNvSpPr/>
          <p:nvPr/>
        </p:nvSpPr>
        <p:spPr>
          <a:xfrm>
            <a:off x="502920" y="4663440"/>
            <a:ext cx="11201400" cy="7772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4718303"/>
            <a:ext cx="10762488" cy="66751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Reward hacking: the model finds a way to "win" the proxy metric without achieving the intended outcome — so a measure and a target must never be confused.</a:t>
            </a:r>
          </a:p>
        </p:txBody>
      </p:sp>
      <p:sp>
        <p:nvSpPr>
          <p:cNvPr id="11" name="TextBox 10"/>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DeepMind — Specification gaming (Apr 21, 2020)</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Anthropic — Sycophancy to Subterfuge (arXiv:2406.10162)</a:t>
            </a:r>
          </a:p>
        </p:txBody>
      </p:sp>
      <p:sp>
        <p:nvSpPr>
          <p:cNvPr id="12" name="TextBox 1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34 / 56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All 5 reactions were weighted equally at ×5 — not just "anger"</a:t>
            </a:r>
          </a:p>
        </p:txBody>
      </p:sp>
      <p:sp>
        <p:nvSpPr>
          <p:cNvPr id="3" name="Rounded Rectangle 2"/>
          <p:cNvSpPr/>
          <p:nvPr/>
        </p:nvSpPr>
        <p:spPr>
          <a:xfrm>
            <a:off x="502920" y="1417320"/>
            <a:ext cx="3977639"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3-same-picture.jpg"/>
          <p:cNvPicPr>
            <a:picLocks noChangeAspect="1"/>
          </p:cNvPicPr>
          <p:nvPr/>
        </p:nvPicPr>
        <p:blipFill>
          <a:blip r:embed="rId2"/>
          <a:stretch>
            <a:fillRect/>
          </a:stretch>
        </p:blipFill>
        <p:spPr>
          <a:xfrm>
            <a:off x="1342730" y="1527048"/>
            <a:ext cx="2298017" cy="2569463"/>
          </a:xfrm>
          <a:prstGeom prst="rect">
            <a:avLst/>
          </a:prstGeom>
        </p:spPr>
      </p:pic>
      <p:sp>
        <p:nvSpPr>
          <p:cNvPr id="5" name="Rounded Rectangle 4"/>
          <p:cNvSpPr/>
          <p:nvPr/>
        </p:nvSpPr>
        <p:spPr>
          <a:xfrm>
            <a:off x="4709160" y="1417320"/>
            <a:ext cx="2331720" cy="1051560"/>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33-facebook-real-source.png"/>
          <p:cNvPicPr>
            <a:picLocks noChangeAspect="1"/>
          </p:cNvPicPr>
          <p:nvPr/>
        </p:nvPicPr>
        <p:blipFill>
          <a:blip r:embed="rId3"/>
          <a:stretch>
            <a:fillRect/>
          </a:stretch>
        </p:blipFill>
        <p:spPr>
          <a:xfrm>
            <a:off x="4873752" y="1749104"/>
            <a:ext cx="2002536" cy="387991"/>
          </a:xfrm>
          <a:prstGeom prst="rect">
            <a:avLst/>
          </a:prstGeom>
        </p:spPr>
      </p:pic>
      <p:sp>
        <p:nvSpPr>
          <p:cNvPr id="7" name="Rounded Rectangle 6"/>
          <p:cNvSpPr/>
          <p:nvPr/>
        </p:nvSpPr>
        <p:spPr>
          <a:xfrm>
            <a:off x="7269480" y="1417320"/>
            <a:ext cx="4434840" cy="1051560"/>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481328"/>
            <a:ext cx="3977639" cy="868680"/>
          </a:xfrm>
          <a:prstGeom prst="rect">
            <a:avLst/>
          </a:prstGeom>
          <a:noFill/>
        </p:spPr>
        <p:txBody>
          <a:bodyPr wrap="square" lIns="0" rIns="0" tIns="0" bIns="0" anchor="ctr">
            <a:spAutoFit/>
          </a:bodyPr>
          <a:lstStyle/>
          <a:p>
            <a:pPr algn="l">
              <a:lnSpc>
                <a:spcPct val="115000"/>
              </a:lnSpc>
            </a:pPr>
            <a:r>
              <a:rPr sz="1200" b="0" i="0">
                <a:solidFill>
                  <a:srgbClr val="21295C"/>
                </a:solidFill>
                <a:latin typeface="DejaVu Sans"/>
              </a:rPr>
              <a:t>Facebook MSI, January 2018: love/haha/wow/sad/angry — all ×5 above a like (not just anger) </a:t>
            </a:r>
            <a:r>
              <a:rPr sz="624" baseline="30000" b="0" i="1">
                <a:latin typeface="DejaVu Sans"/>
                <a:cs typeface="DejaVu Sans"/>
                <a:ea typeface="DejaVu Sans"/>
                <a:solidFill>
                  <a:srgbClr val="1C7293"/>
                </a:solidFill>
              </a:rPr>
              <a:t>[1]</a:t>
            </a:r>
            <a:r>
              <a:rPr sz="1200" b="0" i="0">
                <a:latin typeface="DejaVu Sans"/>
                <a:cs typeface="DejaVu Sans"/>
                <a:ea typeface="DejaVu Sans"/>
                <a:solidFill>
                  <a:srgbClr val="21295C"/>
                </a:solidFill>
              </a:rPr>
              <a:t>.</a:t>
            </a:r>
          </a:p>
        </p:txBody>
      </p:sp>
      <p:sp>
        <p:nvSpPr>
          <p:cNvPr id="9" name="Rounded Rectangle 8"/>
          <p:cNvSpPr/>
          <p:nvPr/>
        </p:nvSpPr>
        <p:spPr>
          <a:xfrm>
            <a:off x="4709160" y="2651760"/>
            <a:ext cx="1298448" cy="777240"/>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724912"/>
            <a:ext cx="1298448"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love</a:t>
            </a:r>
          </a:p>
        </p:txBody>
      </p:sp>
      <p:sp>
        <p:nvSpPr>
          <p:cNvPr id="11" name="Rounded Rectangle 10"/>
          <p:cNvSpPr/>
          <p:nvPr/>
        </p:nvSpPr>
        <p:spPr>
          <a:xfrm>
            <a:off x="5129784" y="3035808"/>
            <a:ext cx="457200"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12" name="Rounded Rectangle 11"/>
          <p:cNvSpPr/>
          <p:nvPr/>
        </p:nvSpPr>
        <p:spPr>
          <a:xfrm>
            <a:off x="6135624" y="2651760"/>
            <a:ext cx="1298448" cy="777240"/>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5624" y="2724912"/>
            <a:ext cx="1298448"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haha</a:t>
            </a:r>
          </a:p>
        </p:txBody>
      </p:sp>
      <p:sp>
        <p:nvSpPr>
          <p:cNvPr id="14" name="Rounded Rectangle 13"/>
          <p:cNvSpPr/>
          <p:nvPr/>
        </p:nvSpPr>
        <p:spPr>
          <a:xfrm>
            <a:off x="6556248" y="3035808"/>
            <a:ext cx="457200"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15" name="Rounded Rectangle 14"/>
          <p:cNvSpPr/>
          <p:nvPr/>
        </p:nvSpPr>
        <p:spPr>
          <a:xfrm>
            <a:off x="7562088" y="2651760"/>
            <a:ext cx="1298448" cy="777240"/>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62088" y="2724912"/>
            <a:ext cx="1298448"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wow</a:t>
            </a:r>
          </a:p>
        </p:txBody>
      </p:sp>
      <p:sp>
        <p:nvSpPr>
          <p:cNvPr id="17" name="Rounded Rectangle 16"/>
          <p:cNvSpPr/>
          <p:nvPr/>
        </p:nvSpPr>
        <p:spPr>
          <a:xfrm>
            <a:off x="7982712" y="3035808"/>
            <a:ext cx="457200"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18" name="Rounded Rectangle 17"/>
          <p:cNvSpPr/>
          <p:nvPr/>
        </p:nvSpPr>
        <p:spPr>
          <a:xfrm>
            <a:off x="8988552" y="2651760"/>
            <a:ext cx="1298448" cy="777240"/>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8552" y="2724912"/>
            <a:ext cx="1298448"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sad</a:t>
            </a:r>
          </a:p>
        </p:txBody>
      </p:sp>
      <p:sp>
        <p:nvSpPr>
          <p:cNvPr id="20" name="Rounded Rectangle 19"/>
          <p:cNvSpPr/>
          <p:nvPr/>
        </p:nvSpPr>
        <p:spPr>
          <a:xfrm>
            <a:off x="9409176" y="3035808"/>
            <a:ext cx="457200"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21" name="Rounded Rectangle 20"/>
          <p:cNvSpPr/>
          <p:nvPr/>
        </p:nvSpPr>
        <p:spPr>
          <a:xfrm>
            <a:off x="10415016" y="2651760"/>
            <a:ext cx="1298448" cy="777240"/>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15016" y="2724912"/>
            <a:ext cx="1298448"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angry</a:t>
            </a:r>
          </a:p>
        </p:txBody>
      </p:sp>
      <p:sp>
        <p:nvSpPr>
          <p:cNvPr id="23" name="Rounded Rectangle 22"/>
          <p:cNvSpPr/>
          <p:nvPr/>
        </p:nvSpPr>
        <p:spPr>
          <a:xfrm>
            <a:off x="10835640" y="3035808"/>
            <a:ext cx="457200"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24" name="Rounded Rectangle 23"/>
          <p:cNvSpPr/>
          <p:nvPr/>
        </p:nvSpPr>
        <p:spPr>
          <a:xfrm>
            <a:off x="4709160" y="3611880"/>
            <a:ext cx="6995160" cy="17373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28616" y="3666744"/>
            <a:ext cx="6556248" cy="1627631"/>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An engagement proxy with no misinformation guardrail hid the harm for ~2 years: an internal guardrail (anger &lt;-&gt; misinformation correlation) confirmed by 2019, weight zeroed in September 2019 </a:t>
            </a:r>
            <a:r>
              <a:rPr sz="650" baseline="30000" b="0" i="1">
                <a:latin typeface="DejaVu Sans"/>
                <a:cs typeface="DejaVu Sans"/>
                <a:ea typeface="DejaVu Sans"/>
                <a:solidFill>
                  <a:srgbClr val="1C7293"/>
                </a:solidFill>
              </a:rPr>
              <a:t>[2]</a:t>
            </a:r>
            <a:r>
              <a:rPr sz="1250" b="1" i="0">
                <a:latin typeface="DejaVu Sans"/>
                <a:cs typeface="DejaVu Sans"/>
                <a:ea typeface="DejaVu Sans"/>
                <a:solidFill>
                  <a:srgbClr val="21295C"/>
                </a:solidFill>
              </a:rPr>
              <a:t>. Lesson: measure the guardrail metric from day one, not after the harm has already happened.</a:t>
            </a:r>
          </a:p>
        </p:txBody>
      </p:sp>
      <p:sp>
        <p:nvSpPr>
          <p:cNvPr id="26" name="TextBox 25"/>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Techdirt (Oct 28, 2021) — correcting the "Facebook Files"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House E&amp;C Committee — the Haugen documents</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35 / 56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Passing a format-A benchmark != safe in a format-B production setting</a:t>
            </a:r>
          </a:p>
        </p:txBody>
      </p:sp>
      <p:sp>
        <p:nvSpPr>
          <p:cNvPr id="3" name="Rounded Rectangle 2"/>
          <p:cNvSpPr/>
          <p:nvPr/>
        </p:nvSpPr>
        <p:spPr>
          <a:xfrm>
            <a:off x="502920" y="1463040"/>
            <a:ext cx="5532120" cy="2606040"/>
          </a:xfrm>
          <a:prstGeom prst="roundRect">
            <a:avLst>
              <a:gd name="adj" fmla="val 11695"/>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72768"/>
            <a:ext cx="502920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Medicine</a:t>
            </a:r>
          </a:p>
        </p:txBody>
      </p:sp>
      <p:sp>
        <p:nvSpPr>
          <p:cNvPr id="5" name="Rounded Rectangle 4"/>
          <p:cNvSpPr/>
          <p:nvPr/>
        </p:nvSpPr>
        <p:spPr>
          <a:xfrm>
            <a:off x="731520" y="2011680"/>
            <a:ext cx="2194560" cy="457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21295C"/>
                </a:solidFill>
                <a:latin typeface="DejaVu Sans"/>
              </a:rPr>
              <a:t>86.5% MedQA [1]</a:t>
            </a:r>
          </a:p>
        </p:txBody>
      </p:sp>
      <p:sp>
        <p:nvSpPr>
          <p:cNvPr id="6" name="TextBox 5"/>
          <p:cNvSpPr txBox="1"/>
          <p:nvPr/>
        </p:nvSpPr>
        <p:spPr>
          <a:xfrm>
            <a:off x="731520" y="2651760"/>
            <a:ext cx="5029200" cy="1280160"/>
          </a:xfrm>
          <a:prstGeom prst="rect">
            <a:avLst/>
          </a:prstGeom>
          <a:noFill/>
        </p:spPr>
        <p:txBody>
          <a:bodyPr wrap="square" lIns="0" rIns="0" tIns="0" bIns="0" anchor="t">
            <a:spAutoFit/>
          </a:bodyPr>
          <a:lstStyle/>
          <a:p>
            <a:pPr algn="l">
              <a:lnSpc>
                <a:spcPct val="120000"/>
              </a:lnSpc>
            </a:pPr>
            <a:r>
              <a:rPr sz="1250" b="0" i="0">
                <a:solidFill>
                  <a:srgbClr val="21295C"/>
                </a:solidFill>
                <a:latin typeface="DejaVu Sans"/>
              </a:rPr>
              <a:t>Med-PaLM 2 does well on a Q&amp;A benchmark — but clinical safety requires a SEPARATE adversarial safety set.</a:t>
            </a:r>
          </a:p>
        </p:txBody>
      </p:sp>
      <p:sp>
        <p:nvSpPr>
          <p:cNvPr id="7" name="Rounded Rectangle 6"/>
          <p:cNvSpPr/>
          <p:nvPr/>
        </p:nvSpPr>
        <p:spPr>
          <a:xfrm>
            <a:off x="6172200" y="1463040"/>
            <a:ext cx="5532120" cy="2606040"/>
          </a:xfrm>
          <a:prstGeom prst="roundRect">
            <a:avLst>
              <a:gd name="adj" fmla="val 11695"/>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72768"/>
            <a:ext cx="5029200"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DejaVu Sans"/>
              </a:rPr>
              <a:t>Law</a:t>
            </a:r>
          </a:p>
        </p:txBody>
      </p:sp>
      <p:sp>
        <p:nvSpPr>
          <p:cNvPr id="9" name="TextBox 8"/>
          <p:cNvSpPr txBox="1"/>
          <p:nvPr/>
        </p:nvSpPr>
        <p:spPr>
          <a:xfrm>
            <a:off x="6400800" y="2011680"/>
            <a:ext cx="5029200" cy="822960"/>
          </a:xfrm>
          <a:prstGeom prst="rect">
            <a:avLst/>
          </a:prstGeom>
          <a:noFill/>
        </p:spPr>
        <p:txBody>
          <a:bodyPr wrap="square" lIns="0" rIns="0" tIns="0" bIns="0" anchor="t">
            <a:spAutoFit/>
          </a:bodyPr>
          <a:lstStyle/>
          <a:p>
            <a:pPr algn="l">
              <a:lnSpc>
                <a:spcPct val="118000"/>
              </a:lnSpc>
            </a:pPr>
            <a:r>
              <a:rPr sz="1250" b="0" i="0">
                <a:solidFill>
                  <a:srgbClr val="21295C"/>
                </a:solidFill>
                <a:latin typeface="DejaVu Sans"/>
              </a:rPr>
              <a:t>Stanford RegLab: Lexis+ 17% hallucinations, Westlaw 33% — on real legal queries </a:t>
            </a:r>
            <a:r>
              <a:rPr sz="650" baseline="30000" b="0" i="1">
                <a:latin typeface="DejaVu Sans"/>
                <a:cs typeface="DejaVu Sans"/>
                <a:ea typeface="DejaVu Sans"/>
                <a:solidFill>
                  <a:srgbClr val="1C7293"/>
                </a:solidFill>
              </a:rPr>
              <a:t>[3]</a:t>
            </a:r>
            <a:r>
              <a:rPr sz="1250" b="0" i="0">
                <a:latin typeface="DejaVu Sans"/>
                <a:cs typeface="DejaVu Sans"/>
                <a:ea typeface="DejaVu Sans"/>
                <a:solidFill>
                  <a:srgbClr val="21295C"/>
                </a:solidFill>
              </a:rPr>
              <a:t>.</a:t>
            </a:r>
          </a:p>
        </p:txBody>
      </p:sp>
      <p:sp>
        <p:nvSpPr>
          <p:cNvPr id="10" name="Rounded Rectangle 9"/>
          <p:cNvSpPr/>
          <p:nvPr/>
        </p:nvSpPr>
        <p:spPr>
          <a:xfrm>
            <a:off x="6400800" y="2926080"/>
            <a:ext cx="5074920" cy="868680"/>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3017520"/>
            <a:ext cx="4663440" cy="685800"/>
          </a:xfrm>
          <a:prstGeom prst="rect">
            <a:avLst/>
          </a:prstGeom>
          <a:noFill/>
        </p:spPr>
        <p:txBody>
          <a:bodyPr wrap="square" lIns="0" rIns="0" tIns="0" bIns="0" anchor="ctr">
            <a:spAutoFit/>
          </a:bodyPr>
          <a:lstStyle/>
          <a:p>
            <a:pPr algn="l">
              <a:lnSpc>
                <a:spcPct val="112000"/>
              </a:lnSpc>
            </a:pPr>
            <a:r>
              <a:rPr sz="1200" b="1" i="0">
                <a:solidFill>
                  <a:srgbClr val="21295C"/>
                </a:solidFill>
                <a:latin typeface="DejaVu Sans"/>
              </a:rPr>
              <a:t>Mata v. Avianca (fake citations) = ChatGPT, NOT Harvey </a:t>
            </a:r>
            <a:r>
              <a:rPr sz="624" baseline="30000" b="0" i="1">
                <a:latin typeface="DejaVu Sans"/>
                <a:cs typeface="DejaVu Sans"/>
                <a:ea typeface="DejaVu Sans"/>
                <a:solidFill>
                  <a:srgbClr val="1C7293"/>
                </a:solidFill>
              </a:rPr>
              <a:t>[2]</a:t>
            </a:r>
            <a:r>
              <a:rPr sz="1200" b="1" i="0">
                <a:latin typeface="DejaVu Sans"/>
                <a:cs typeface="DejaVu Sans"/>
                <a:ea typeface="DejaVu Sans"/>
                <a:solidFill>
                  <a:srgbClr val="21295C"/>
                </a:solidFill>
              </a:rPr>
              <a:t> — a common attribution mistake.</a:t>
            </a:r>
          </a:p>
        </p:txBody>
      </p:sp>
      <p:sp>
        <p:nvSpPr>
          <p:cNvPr id="12" name="Rounded Rectangle 11"/>
          <p:cNvSpPr/>
          <p:nvPr/>
        </p:nvSpPr>
        <p:spPr>
          <a:xfrm>
            <a:off x="502920" y="4251960"/>
            <a:ext cx="11201400" cy="10972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4306824"/>
            <a:ext cx="10762488" cy="98755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A benchmark is evidence of performance only on that specific benchmark's task format. Alternative: adversarial evals on real edge cases of the exact domain the product will run in.</a:t>
            </a:r>
          </a:p>
        </p:txBody>
      </p:sp>
      <p:sp>
        <p:nvSpPr>
          <p:cNvPr id="14" name="TextBox 13"/>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Med-PaLM 2 — Nature Medicine 2024 (arXiv:2305.09617)</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Wikipedia — Mata v. Avianca</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Stanford RegLab — J. Empirical Legal Studies</a:t>
            </a:r>
          </a:p>
        </p:txBody>
      </p:sp>
      <p:sp>
        <p:nvSpPr>
          <p:cNvPr id="15" name="TextBox 1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36 / 56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5</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6-disaster-girl.jpg"/>
          <p:cNvPicPr>
            <a:picLocks noChangeAspect="1"/>
          </p:cNvPicPr>
          <p:nvPr/>
        </p:nvPicPr>
        <p:blipFill>
          <a:blip r:embed="rId2"/>
          <a:stretch>
            <a:fillRect/>
          </a:stretch>
        </p:blipFill>
        <p:spPr>
          <a:xfrm>
            <a:off x="7763256" y="1884807"/>
            <a:ext cx="3813048" cy="2859786"/>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5</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Support — the product as an orchestra</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2 base cases · 3 failures</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Between "the code works on my machine" and "the product reliably works for millions, 24/7" lies a gap, and it's closed by process, not just code quality.</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24" name="Rounded Rectangle 23"/>
          <p:cNvSpPr/>
          <p:nvPr/>
        </p:nvSpPr>
        <p:spPr>
          <a:xfrm>
            <a:off x="756094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Support</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37 / 56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Support holds quality in place: one half is people, the other is the system</a:t>
            </a:r>
          </a:p>
        </p:txBody>
      </p:sp>
      <p:sp>
        <p:nvSpPr>
          <p:cNvPr id="3" name="Rounded Rectangle 2"/>
          <p:cNvSpPr/>
          <p:nvPr/>
        </p:nvSpPr>
        <p:spPr>
          <a:xfrm>
            <a:off x="502920" y="896112"/>
            <a:ext cx="11201400" cy="969264"/>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69264"/>
            <a:ext cx="10780776" cy="822960"/>
          </a:xfrm>
          <a:prstGeom prst="rect">
            <a:avLst/>
          </a:prstGeom>
          <a:noFill/>
        </p:spPr>
        <p:txBody>
          <a:bodyPr wrap="square" lIns="0" rIns="0" tIns="0" bIns="0" anchor="ctr">
            <a:spAutoFit/>
          </a:bodyPr>
          <a:lstStyle/>
          <a:p>
            <a:pPr algn="l">
              <a:lnSpc>
                <a:spcPct val="115000"/>
              </a:lnSpc>
            </a:pPr>
            <a:r>
              <a:rPr sz="1200" b="1" i="0">
                <a:solidFill>
                  <a:srgbClr val="065A82"/>
                </a:solidFill>
                <a:latin typeface="DejaVu Sans"/>
              </a:rPr>
              <a:t>WHAT SUPPORT IS.  </a:t>
            </a:r>
            <a:r>
              <a:rPr sz="1200" b="0" i="0">
                <a:solidFill>
                  <a:srgbClr val="21295C"/>
                </a:solidFill>
                <a:latin typeface="DejaVu Sans"/>
              </a:rPr>
              <a:t>After launch a product makes the same promise every day: an answer will come, it will be correct, and what breaks will be mended. Support is the work that holds that promise for years. The promise has two halves, and they are measured with different instruments: one you ask a person about, the other you read off the system.</a:t>
            </a:r>
          </a:p>
        </p:txBody>
      </p:sp>
      <p:sp>
        <p:nvSpPr>
          <p:cNvPr id="5" name="Rounded Rectangle 4"/>
          <p:cNvSpPr/>
          <p:nvPr/>
        </p:nvSpPr>
        <p:spPr>
          <a:xfrm>
            <a:off x="502920" y="1938528"/>
            <a:ext cx="5504688" cy="3310128"/>
          </a:xfrm>
          <a:prstGeom prst="roundRect">
            <a:avLst>
              <a:gd name="adj" fmla="val 9208"/>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938528"/>
            <a:ext cx="5504688" cy="420624"/>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rs-white.png"/>
          <p:cNvPicPr>
            <a:picLocks noChangeAspect="1"/>
          </p:cNvPicPr>
          <p:nvPr/>
        </p:nvPicPr>
        <p:blipFill>
          <a:blip r:embed="rId2"/>
          <a:stretch>
            <a:fillRect/>
          </a:stretch>
        </p:blipFill>
        <p:spPr>
          <a:xfrm>
            <a:off x="649224" y="2029968"/>
            <a:ext cx="237744" cy="237744"/>
          </a:xfrm>
          <a:prstGeom prst="rect">
            <a:avLst/>
          </a:prstGeom>
        </p:spPr>
      </p:pic>
      <p:sp>
        <p:nvSpPr>
          <p:cNvPr id="8" name="TextBox 7"/>
          <p:cNvSpPr txBox="1"/>
          <p:nvPr/>
        </p:nvSpPr>
        <p:spPr>
          <a:xfrm>
            <a:off x="978408" y="1938528"/>
            <a:ext cx="4864607" cy="420624"/>
          </a:xfrm>
          <a:prstGeom prst="rect">
            <a:avLst/>
          </a:prstGeom>
          <a:noFill/>
        </p:spPr>
        <p:txBody>
          <a:bodyPr wrap="square" lIns="0" rIns="0" tIns="0" bIns="0" anchor="ctr">
            <a:spAutoFit/>
          </a:bodyPr>
          <a:lstStyle/>
          <a:p>
            <a:pPr algn="l">
              <a:lnSpc>
                <a:spcPct val="102000"/>
              </a:lnSpc>
            </a:pPr>
            <a:r>
              <a:rPr sz="1150" b="1" i="0">
                <a:solidFill>
                  <a:srgbClr val="FFFFFF"/>
                </a:solidFill>
                <a:latin typeface="DejaVu Sans"/>
              </a:rPr>
              <a:t>PEOPLE · the user's satisfaction with the product</a:t>
            </a:r>
          </a:p>
        </p:txBody>
      </p:sp>
      <p:sp>
        <p:nvSpPr>
          <p:cNvPr id="9" name="TextBox 8"/>
          <p:cNvSpPr txBox="1"/>
          <p:nvPr/>
        </p:nvSpPr>
        <p:spPr>
          <a:xfrm>
            <a:off x="685800" y="2450592"/>
            <a:ext cx="5138927" cy="420624"/>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The half turned towards the person: questions, complaints, tickets, returns.</a:t>
            </a:r>
          </a:p>
        </p:txBody>
      </p:sp>
      <p:sp>
        <p:nvSpPr>
          <p:cNvPr id="10" name="TextBox 9"/>
          <p:cNvSpPr txBox="1"/>
          <p:nvPr/>
        </p:nvSpPr>
        <p:spPr>
          <a:xfrm>
            <a:off x="685800" y="2907792"/>
            <a:ext cx="5138927" cy="512064"/>
          </a:xfrm>
          <a:prstGeom prst="rect">
            <a:avLst/>
          </a:prstGeom>
          <a:noFill/>
        </p:spPr>
        <p:txBody>
          <a:bodyPr wrap="square" lIns="0" rIns="0" tIns="0" bIns="0" anchor="t">
            <a:spAutoFit/>
          </a:bodyPr>
          <a:lstStyle/>
          <a:p>
            <a:pPr algn="l">
              <a:lnSpc>
                <a:spcPct val="110000"/>
              </a:lnSpc>
            </a:pPr>
            <a:r>
              <a:rPr sz="980" b="0" i="1">
                <a:solidFill>
                  <a:srgbClr val="5B6678"/>
                </a:solidFill>
                <a:latin typeface="DejaVu Sans"/>
              </a:rPr>
              <a:t>The discipline grew out of the help desk and the IT service management framework (ITIL).</a:t>
            </a:r>
          </a:p>
        </p:txBody>
      </p:sp>
      <p:sp>
        <p:nvSpPr>
          <p:cNvPr id="11" name="TextBox 10"/>
          <p:cNvSpPr txBox="1"/>
          <p:nvPr/>
        </p:nvSpPr>
        <p:spPr>
          <a:xfrm>
            <a:off x="685800" y="3456432"/>
            <a:ext cx="5138927" cy="237744"/>
          </a:xfrm>
          <a:prstGeom prst="rect">
            <a:avLst/>
          </a:prstGeom>
          <a:noFill/>
        </p:spPr>
        <p:txBody>
          <a:bodyPr wrap="square" lIns="0" rIns="0" tIns="0" bIns="0" anchor="t">
            <a:spAutoFit/>
          </a:bodyPr>
          <a:lstStyle/>
          <a:p>
            <a:pPr algn="l">
              <a:lnSpc>
                <a:spcPct val="104000"/>
              </a:lnSpc>
            </a:pPr>
            <a:r>
              <a:rPr sz="1000" b="1" i="0">
                <a:solidFill>
                  <a:srgbClr val="065A82"/>
                </a:solidFill>
                <a:latin typeface="DejaVu Sans"/>
              </a:rPr>
              <a:t>The measures are what the person sees</a:t>
            </a:r>
          </a:p>
        </p:txBody>
      </p:sp>
      <p:sp>
        <p:nvSpPr>
          <p:cNvPr id="12" name="Oval 11"/>
          <p:cNvSpPr/>
          <p:nvPr/>
        </p:nvSpPr>
        <p:spPr>
          <a:xfrm>
            <a:off x="704088" y="3813048"/>
            <a:ext cx="100584" cy="10058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749039"/>
            <a:ext cx="4901183" cy="310896"/>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the share of tickets closed on first contact</a:t>
            </a:r>
          </a:p>
        </p:txBody>
      </p:sp>
      <p:sp>
        <p:nvSpPr>
          <p:cNvPr id="14" name="Oval 13"/>
          <p:cNvSpPr/>
          <p:nvPr/>
        </p:nvSpPr>
        <p:spPr>
          <a:xfrm>
            <a:off x="704088" y="4123944"/>
            <a:ext cx="100584" cy="10058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 y="4059935"/>
            <a:ext cx="4901183" cy="310896"/>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time to first response and time to resolution</a:t>
            </a:r>
          </a:p>
        </p:txBody>
      </p:sp>
      <p:sp>
        <p:nvSpPr>
          <p:cNvPr id="16" name="Oval 15"/>
          <p:cNvSpPr/>
          <p:nvPr/>
        </p:nvSpPr>
        <p:spPr>
          <a:xfrm>
            <a:off x="704088" y="4434840"/>
            <a:ext cx="100584" cy="10058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 y="4370831"/>
            <a:ext cx="4901183" cy="310896"/>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the rating a person gives once a ticket is closed</a:t>
            </a:r>
          </a:p>
        </p:txBody>
      </p:sp>
      <p:sp>
        <p:nvSpPr>
          <p:cNvPr id="18" name="Rounded Rectangle 17"/>
          <p:cNvSpPr/>
          <p:nvPr/>
        </p:nvSpPr>
        <p:spPr>
          <a:xfrm>
            <a:off x="667512" y="4700016"/>
            <a:ext cx="5175503" cy="475488"/>
          </a:xfrm>
          <a:prstGeom prst="roundRect">
            <a:avLst>
              <a:gd name="adj" fmla="val 19444"/>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700016"/>
            <a:ext cx="4919472" cy="475488"/>
          </a:xfrm>
          <a:prstGeom prst="rect">
            <a:avLst/>
          </a:prstGeom>
          <a:noFill/>
        </p:spPr>
        <p:txBody>
          <a:bodyPr wrap="square" lIns="0" rIns="0" tIns="0" bIns="0" anchor="ctr">
            <a:spAutoFit/>
          </a:bodyPr>
          <a:lstStyle/>
          <a:p>
            <a:pPr algn="l">
              <a:lnSpc>
                <a:spcPct val="108000"/>
              </a:lnSpc>
            </a:pPr>
            <a:r>
              <a:rPr sz="1019" b="1" i="0">
                <a:solidFill>
                  <a:srgbClr val="21295C"/>
                </a:solidFill>
                <a:latin typeface="DejaVu Sans"/>
              </a:rPr>
              <a:t>Where AI enters: a suggester at the agent's elbow, and a bot answering the customer on its own — the next slide.</a:t>
            </a:r>
          </a:p>
        </p:txBody>
      </p:sp>
      <p:sp>
        <p:nvSpPr>
          <p:cNvPr id="20" name="Rounded Rectangle 19"/>
          <p:cNvSpPr/>
          <p:nvPr/>
        </p:nvSpPr>
        <p:spPr>
          <a:xfrm>
            <a:off x="6199632" y="1938528"/>
            <a:ext cx="5504688" cy="3310128"/>
          </a:xfrm>
          <a:prstGeom prst="roundRect">
            <a:avLst>
              <a:gd name="adj" fmla="val 9208"/>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99632" y="1938528"/>
            <a:ext cx="5504688" cy="420624"/>
          </a:xfrm>
          <a:prstGeom prst="roundRect">
            <a:avLst>
              <a:gd name="adj" fmla="val 14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ivity-white.png"/>
          <p:cNvPicPr>
            <a:picLocks noChangeAspect="1"/>
          </p:cNvPicPr>
          <p:nvPr/>
        </p:nvPicPr>
        <p:blipFill>
          <a:blip r:embed="rId3"/>
          <a:stretch>
            <a:fillRect/>
          </a:stretch>
        </p:blipFill>
        <p:spPr>
          <a:xfrm>
            <a:off x="6345936" y="2029968"/>
            <a:ext cx="237744" cy="237744"/>
          </a:xfrm>
          <a:prstGeom prst="rect">
            <a:avLst/>
          </a:prstGeom>
        </p:spPr>
      </p:pic>
      <p:sp>
        <p:nvSpPr>
          <p:cNvPr id="23" name="TextBox 22"/>
          <p:cNvSpPr txBox="1"/>
          <p:nvPr/>
        </p:nvSpPr>
        <p:spPr>
          <a:xfrm>
            <a:off x="6675120" y="1938528"/>
            <a:ext cx="4864607" cy="420624"/>
          </a:xfrm>
          <a:prstGeom prst="rect">
            <a:avLst/>
          </a:prstGeom>
          <a:noFill/>
        </p:spPr>
        <p:txBody>
          <a:bodyPr wrap="square" lIns="0" rIns="0" tIns="0" bIns="0" anchor="ctr">
            <a:spAutoFit/>
          </a:bodyPr>
          <a:lstStyle/>
          <a:p>
            <a:pPr algn="l">
              <a:lnSpc>
                <a:spcPct val="102000"/>
              </a:lnSpc>
            </a:pPr>
            <a:r>
              <a:rPr sz="1150" b="1" i="0">
                <a:solidFill>
                  <a:srgbClr val="FFFFFF"/>
                </a:solidFill>
                <a:latin typeface="DejaVu Sans"/>
              </a:rPr>
              <a:t>SYSTEM · reliability</a:t>
            </a:r>
          </a:p>
        </p:txBody>
      </p:sp>
      <p:sp>
        <p:nvSpPr>
          <p:cNvPr id="24" name="TextBox 23"/>
          <p:cNvSpPr txBox="1"/>
          <p:nvPr/>
        </p:nvSpPr>
        <p:spPr>
          <a:xfrm>
            <a:off x="6382512" y="2450592"/>
            <a:ext cx="5138927" cy="420624"/>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The half turned towards the machine: availability, latency, outages, deployments.</a:t>
            </a:r>
          </a:p>
        </p:txBody>
      </p:sp>
      <p:sp>
        <p:nvSpPr>
          <p:cNvPr id="25" name="TextBox 24"/>
          <p:cNvSpPr txBox="1"/>
          <p:nvPr/>
        </p:nvSpPr>
        <p:spPr>
          <a:xfrm>
            <a:off x="6382512" y="2907792"/>
            <a:ext cx="5138927" cy="512064"/>
          </a:xfrm>
          <a:prstGeom prst="rect">
            <a:avLst/>
          </a:prstGeom>
          <a:noFill/>
        </p:spPr>
        <p:txBody>
          <a:bodyPr wrap="square" lIns="0" rIns="0" tIns="0" bIns="0" anchor="t">
            <a:spAutoFit/>
          </a:bodyPr>
          <a:lstStyle/>
          <a:p>
            <a:pPr algn="l">
              <a:lnSpc>
                <a:spcPct val="110000"/>
              </a:lnSpc>
            </a:pPr>
            <a:r>
              <a:rPr sz="980" b="0" i="1">
                <a:solidFill>
                  <a:srgbClr val="5B6678"/>
                </a:solidFill>
                <a:latin typeface="DejaVu Sans"/>
              </a:rPr>
              <a:t>The discipline was given its shape at Google and published as a book in 2016 — site reliability engineering (Site Reliability Engineering, SRE).</a:t>
            </a:r>
          </a:p>
        </p:txBody>
      </p:sp>
      <p:sp>
        <p:nvSpPr>
          <p:cNvPr id="26" name="TextBox 25"/>
          <p:cNvSpPr txBox="1"/>
          <p:nvPr/>
        </p:nvSpPr>
        <p:spPr>
          <a:xfrm>
            <a:off x="6382512" y="3456432"/>
            <a:ext cx="5138927" cy="237744"/>
          </a:xfrm>
          <a:prstGeom prst="rect">
            <a:avLst/>
          </a:prstGeom>
          <a:noFill/>
        </p:spPr>
        <p:txBody>
          <a:bodyPr wrap="square" lIns="0" rIns="0" tIns="0" bIns="0" anchor="t">
            <a:spAutoFit/>
          </a:bodyPr>
          <a:lstStyle/>
          <a:p>
            <a:pPr algn="l">
              <a:lnSpc>
                <a:spcPct val="104000"/>
              </a:lnSpc>
            </a:pPr>
            <a:r>
              <a:rPr sz="1000" b="1" i="0">
                <a:solidFill>
                  <a:srgbClr val="028090"/>
                </a:solidFill>
                <a:latin typeface="DejaVu Sans"/>
              </a:rPr>
              <a:t>The measures are what you read off the system</a:t>
            </a:r>
          </a:p>
        </p:txBody>
      </p:sp>
      <p:sp>
        <p:nvSpPr>
          <p:cNvPr id="27" name="Oval 26"/>
          <p:cNvSpPr/>
          <p:nvPr/>
        </p:nvSpPr>
        <p:spPr>
          <a:xfrm>
            <a:off x="6400800" y="3813048"/>
            <a:ext cx="100584" cy="10058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1968" y="3749039"/>
            <a:ext cx="4901183" cy="310896"/>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the share of requests served successfully</a:t>
            </a:r>
          </a:p>
        </p:txBody>
      </p:sp>
      <p:sp>
        <p:nvSpPr>
          <p:cNvPr id="29" name="Oval 28"/>
          <p:cNvSpPr/>
          <p:nvPr/>
        </p:nvSpPr>
        <p:spPr>
          <a:xfrm>
            <a:off x="6400800" y="4123944"/>
            <a:ext cx="100584" cy="10058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1968" y="4059935"/>
            <a:ext cx="4901183" cy="310896"/>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response latency</a:t>
            </a:r>
          </a:p>
        </p:txBody>
      </p:sp>
      <p:sp>
        <p:nvSpPr>
          <p:cNvPr id="31" name="Oval 30"/>
          <p:cNvSpPr/>
          <p:nvPr/>
        </p:nvSpPr>
        <p:spPr>
          <a:xfrm>
            <a:off x="6400800" y="4434840"/>
            <a:ext cx="100584" cy="10058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01968" y="4370831"/>
            <a:ext cx="4901183" cy="310896"/>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the error budget — how many failures are permissible in a period</a:t>
            </a:r>
          </a:p>
        </p:txBody>
      </p:sp>
      <p:sp>
        <p:nvSpPr>
          <p:cNvPr id="33" name="Rounded Rectangle 32"/>
          <p:cNvSpPr/>
          <p:nvPr/>
        </p:nvSpPr>
        <p:spPr>
          <a:xfrm>
            <a:off x="6364224" y="4700016"/>
            <a:ext cx="5175503" cy="475488"/>
          </a:xfrm>
          <a:prstGeom prst="roundRect">
            <a:avLst>
              <a:gd name="adj" fmla="val 19444"/>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700016"/>
            <a:ext cx="4919472" cy="475488"/>
          </a:xfrm>
          <a:prstGeom prst="rect">
            <a:avLst/>
          </a:prstGeom>
          <a:noFill/>
        </p:spPr>
        <p:txBody>
          <a:bodyPr wrap="square" lIns="0" rIns="0" tIns="0" bIns="0" anchor="ctr">
            <a:spAutoFit/>
          </a:bodyPr>
          <a:lstStyle/>
          <a:p>
            <a:pPr algn="l">
              <a:lnSpc>
                <a:spcPct val="108000"/>
              </a:lnSpc>
            </a:pPr>
            <a:r>
              <a:rPr sz="1019" b="1" i="0">
                <a:solidFill>
                  <a:srgbClr val="21295C"/>
                </a:solidFill>
                <a:latin typeface="DejaVu Sans"/>
              </a:rPr>
              <a:t>Where AI enters: the object of observation, and an instrument of failure drills.</a:t>
            </a:r>
          </a:p>
        </p:txBody>
      </p:sp>
      <p:sp>
        <p:nvSpPr>
          <p:cNvPr id="35" name="Rounded Rectangle 34"/>
          <p:cNvSpPr/>
          <p:nvPr/>
        </p:nvSpPr>
        <p:spPr>
          <a:xfrm>
            <a:off x="502920" y="5358384"/>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376" y="5413248"/>
            <a:ext cx="10762488" cy="804672"/>
          </a:xfrm>
          <a:prstGeom prst="rect">
            <a:avLst/>
          </a:prstGeom>
          <a:noFill/>
        </p:spPr>
        <p:txBody>
          <a:bodyPr wrap="square" lIns="0" rIns="0" tIns="0" bIns="0" anchor="ctr">
            <a:spAutoFit/>
          </a:bodyPr>
          <a:lstStyle/>
          <a:p>
            <a:pPr algn="l">
              <a:lnSpc>
                <a:spcPct val="120000"/>
              </a:lnSpc>
            </a:pPr>
            <a:r>
              <a:rPr sz="1200" b="1" i="0">
                <a:solidFill>
                  <a:srgbClr val="21295C"/>
                </a:solidFill>
                <a:latin typeface="DejaVu Sans"/>
              </a:rPr>
              <a:t>The halves hold quality only together. A system that never fails but leaves a person unable to get an answer to their question loses the product's promise; attentive support on top of a service that keeps falling over loses it just the same. From here the section runs along both: reliability in numbers, AI in the work with people, and the failure drill that tests both.</a:t>
            </a:r>
          </a:p>
        </p:txBody>
      </p:sp>
      <p:sp>
        <p:nvSpPr>
          <p:cNvPr id="37" name="TextBox 3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Google — Site Reliability Engineering (O'Reilly, 2016)</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Axelos — ITIL, the body of practice for IT service management</a:t>
            </a:r>
          </a:p>
        </p:txBody>
      </p:sp>
      <p:sp>
        <p:nvSpPr>
          <p:cNvPr id="38" name="TextBox 3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38 / 56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A 200 OK response says nothing about whether the model is hallucinating</a:t>
            </a:r>
          </a:p>
        </p:txBody>
      </p:sp>
      <p:sp>
        <p:nvSpPr>
          <p:cNvPr id="3" name="Rounded Rectangle 2"/>
          <p:cNvSpPr/>
          <p:nvPr/>
        </p:nvSpPr>
        <p:spPr>
          <a:xfrm>
            <a:off x="502920" y="1600200"/>
            <a:ext cx="2834640" cy="105156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64792"/>
            <a:ext cx="265176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DejaVu Sans"/>
              </a:rPr>
              <a:t>SLI</a:t>
            </a:r>
          </a:p>
        </p:txBody>
      </p:sp>
      <p:sp>
        <p:nvSpPr>
          <p:cNvPr id="5" name="TextBox 4"/>
          <p:cNvSpPr txBox="1"/>
          <p:nvPr/>
        </p:nvSpPr>
        <p:spPr>
          <a:xfrm>
            <a:off x="594360" y="2203704"/>
            <a:ext cx="2651760" cy="310896"/>
          </a:xfrm>
          <a:prstGeom prst="rect">
            <a:avLst/>
          </a:prstGeom>
          <a:noFill/>
        </p:spPr>
        <p:txBody>
          <a:bodyPr wrap="square" lIns="0" rIns="0" tIns="0" bIns="0" anchor="t">
            <a:spAutoFit/>
          </a:bodyPr>
          <a:lstStyle/>
          <a:p>
            <a:pPr algn="ctr">
              <a:lnSpc>
                <a:spcPct val="115000"/>
              </a:lnSpc>
            </a:pPr>
            <a:r>
              <a:rPr sz="1100" b="0" i="1">
                <a:solidFill>
                  <a:srgbClr val="5B6678"/>
                </a:solidFill>
                <a:latin typeface="DejaVu Sans"/>
              </a:rPr>
              <a:t>a metric</a:t>
            </a:r>
          </a:p>
        </p:txBody>
      </p:sp>
      <p:sp>
        <p:nvSpPr>
          <p:cNvPr id="6" name="Right Arrow 5"/>
          <p:cNvSpPr/>
          <p:nvPr/>
        </p:nvSpPr>
        <p:spPr>
          <a:xfrm>
            <a:off x="3364992" y="2002536"/>
            <a:ext cx="26517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0" y="1600200"/>
            <a:ext cx="2834640" cy="105156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1764792"/>
            <a:ext cx="265176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DejaVu Sans"/>
              </a:rPr>
              <a:t>SLO</a:t>
            </a:r>
          </a:p>
        </p:txBody>
      </p:sp>
      <p:sp>
        <p:nvSpPr>
          <p:cNvPr id="9" name="TextBox 8"/>
          <p:cNvSpPr txBox="1"/>
          <p:nvPr/>
        </p:nvSpPr>
        <p:spPr>
          <a:xfrm>
            <a:off x="3749039" y="2203704"/>
            <a:ext cx="2651760" cy="310896"/>
          </a:xfrm>
          <a:prstGeom prst="rect">
            <a:avLst/>
          </a:prstGeom>
          <a:noFill/>
        </p:spPr>
        <p:txBody>
          <a:bodyPr wrap="square" lIns="0" rIns="0" tIns="0" bIns="0" anchor="t">
            <a:spAutoFit/>
          </a:bodyPr>
          <a:lstStyle/>
          <a:p>
            <a:pPr algn="ctr">
              <a:lnSpc>
                <a:spcPct val="115000"/>
              </a:lnSpc>
            </a:pPr>
            <a:r>
              <a:rPr sz="1100" b="0" i="1">
                <a:solidFill>
                  <a:srgbClr val="5B6678"/>
                </a:solidFill>
                <a:latin typeface="DejaVu Sans"/>
              </a:rPr>
              <a:t>target 99.9%</a:t>
            </a:r>
          </a:p>
        </p:txBody>
      </p:sp>
      <p:sp>
        <p:nvSpPr>
          <p:cNvPr id="10" name="Right Arrow 9"/>
          <p:cNvSpPr/>
          <p:nvPr/>
        </p:nvSpPr>
        <p:spPr>
          <a:xfrm>
            <a:off x="6519672" y="2002536"/>
            <a:ext cx="26517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12280" y="1600200"/>
            <a:ext cx="2834640" cy="1051560"/>
          </a:xfrm>
          <a:prstGeom prst="roundRect">
            <a:avLst>
              <a:gd name="adj" fmla="val 22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1764792"/>
            <a:ext cx="265176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DejaVu Sans"/>
              </a:rPr>
              <a:t>Error budget</a:t>
            </a:r>
          </a:p>
        </p:txBody>
      </p:sp>
      <p:sp>
        <p:nvSpPr>
          <p:cNvPr id="13" name="TextBox 12"/>
          <p:cNvSpPr txBox="1"/>
          <p:nvPr/>
        </p:nvSpPr>
        <p:spPr>
          <a:xfrm>
            <a:off x="6903720" y="2203704"/>
            <a:ext cx="2651760" cy="310896"/>
          </a:xfrm>
          <a:prstGeom prst="rect">
            <a:avLst/>
          </a:prstGeom>
          <a:noFill/>
        </p:spPr>
        <p:txBody>
          <a:bodyPr wrap="square" lIns="0" rIns="0" tIns="0" bIns="0" anchor="t">
            <a:spAutoFit/>
          </a:bodyPr>
          <a:lstStyle/>
          <a:p>
            <a:pPr algn="ctr">
              <a:lnSpc>
                <a:spcPct val="115000"/>
              </a:lnSpc>
            </a:pPr>
            <a:r>
              <a:rPr sz="1100" b="0" i="1">
                <a:solidFill>
                  <a:srgbClr val="5B6678"/>
                </a:solidFill>
                <a:latin typeface="DejaVu Sans"/>
              </a:rPr>
              <a:t>"1 - SLO"</a:t>
            </a:r>
          </a:p>
        </p:txBody>
      </p:sp>
      <p:sp>
        <p:nvSpPr>
          <p:cNvPr id="14" name="TextBox 13"/>
          <p:cNvSpPr txBox="1"/>
          <p:nvPr/>
        </p:nvSpPr>
        <p:spPr>
          <a:xfrm>
            <a:off x="502920" y="2788920"/>
            <a:ext cx="10058400" cy="457200"/>
          </a:xfrm>
          <a:prstGeom prst="rect">
            <a:avLst/>
          </a:prstGeom>
          <a:noFill/>
        </p:spPr>
        <p:txBody>
          <a:bodyPr wrap="square" lIns="0" rIns="0" tIns="0" bIns="0" anchor="t">
            <a:spAutoFit/>
          </a:bodyPr>
          <a:lstStyle/>
          <a:p>
            <a:pPr algn="l">
              <a:lnSpc>
                <a:spcPct val="115000"/>
              </a:lnSpc>
            </a:pPr>
            <a:r>
              <a:rPr sz="1250" b="0" i="0">
                <a:solidFill>
                  <a:srgbClr val="21295C"/>
                </a:solidFill>
                <a:latin typeface="DejaVu Sans"/>
              </a:rPr>
              <a:t>Error budget = "1 - SLO". Example: 99.9% → 1,000 errors per 1M requests over 4 weeks. Changes cause ~=70% of all outages </a:t>
            </a:r>
            <a:r>
              <a:rPr sz="650" baseline="30000" b="0" i="1">
                <a:latin typeface="DejaVu Sans"/>
                <a:cs typeface="DejaVu Sans"/>
                <a:ea typeface="DejaVu Sans"/>
                <a:solidFill>
                  <a:srgbClr val="1C7293"/>
                </a:solidFill>
              </a:rPr>
              <a:t>[1]</a:t>
            </a:r>
            <a:r>
              <a:rPr sz="1250" b="0" i="0">
                <a:latin typeface="DejaVu Sans"/>
                <a:cs typeface="DejaVu Sans"/>
                <a:ea typeface="DejaVu Sans"/>
                <a:solidFill>
                  <a:srgbClr val="21295C"/>
                </a:solidFill>
              </a:rPr>
              <a:t>.</a:t>
            </a:r>
          </a:p>
        </p:txBody>
      </p:sp>
      <p:sp>
        <p:nvSpPr>
          <p:cNvPr id="15" name="Rounded Rectangle 14"/>
          <p:cNvSpPr/>
          <p:nvPr/>
        </p:nvSpPr>
        <p:spPr>
          <a:xfrm>
            <a:off x="502920" y="3429000"/>
            <a:ext cx="11201400" cy="1005840"/>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x-light.png"/>
          <p:cNvPicPr>
            <a:picLocks noChangeAspect="1"/>
          </p:cNvPicPr>
          <p:nvPr/>
        </p:nvPicPr>
        <p:blipFill>
          <a:blip r:embed="rId2"/>
          <a:stretch>
            <a:fillRect/>
          </a:stretch>
        </p:blipFill>
        <p:spPr>
          <a:xfrm>
            <a:off x="777240" y="3657600"/>
            <a:ext cx="502920" cy="502920"/>
          </a:xfrm>
          <a:prstGeom prst="rect">
            <a:avLst/>
          </a:prstGeom>
        </p:spPr>
      </p:pic>
      <p:sp>
        <p:nvSpPr>
          <p:cNvPr id="17" name="TextBox 16"/>
          <p:cNvSpPr txBox="1"/>
          <p:nvPr/>
        </p:nvSpPr>
        <p:spPr>
          <a:xfrm>
            <a:off x="1463040" y="3566160"/>
            <a:ext cx="9966960" cy="777240"/>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An SLI of "share of 200 responses" = all fine? No: 200 arrives even when the model is confidently hallucinating. Infrastructure metrics don't see answer quality.</a:t>
            </a:r>
          </a:p>
        </p:txBody>
      </p:sp>
      <p:sp>
        <p:nvSpPr>
          <p:cNvPr id="18" name="Rounded Rectangle 17"/>
          <p:cNvSpPr/>
          <p:nvPr/>
        </p:nvSpPr>
        <p:spPr>
          <a:xfrm>
            <a:off x="502920" y="4617720"/>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4672583"/>
            <a:ext cx="10762488" cy="71323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On-call, blameless incident reviews, runbooks — you may already know these. What's new here: a non-deterministic model now sits in production (next slide).</a:t>
            </a:r>
          </a:p>
        </p:txBody>
      </p:sp>
      <p:sp>
        <p:nvSpPr>
          <p:cNvPr id="20" name="TextBox 1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Google SRE — Error Budget Policy</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39 / 56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AI in support: a suggester at the agent's elbow and a bot that answers on its own</a:t>
            </a:r>
          </a:p>
        </p:txBody>
      </p:sp>
      <p:sp>
        <p:nvSpPr>
          <p:cNvPr id="3" name="Rounded Rectangle 2"/>
          <p:cNvSpPr/>
          <p:nvPr/>
        </p:nvSpPr>
        <p:spPr>
          <a:xfrm>
            <a:off x="502920" y="825525"/>
            <a:ext cx="1152144" cy="8781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8781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25525"/>
            <a:ext cx="9902952" cy="8781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695278"/>
          </a:xfrm>
          <a:prstGeom prst="rect">
            <a:avLst/>
          </a:prstGeom>
          <a:noFill/>
        </p:spPr>
        <p:txBody>
          <a:bodyPr wrap="square" lIns="0" rIns="0" tIns="0" bIns="0" anchor="ctr">
            <a:spAutoFit/>
          </a:bodyPr>
          <a:lstStyle/>
          <a:p>
            <a:pPr algn="l">
              <a:lnSpc>
                <a:spcPct val="114000"/>
              </a:lnSpc>
            </a:pPr>
            <a:r>
              <a:rPr sz="1120" b="0" i="0">
                <a:solidFill>
                  <a:srgbClr val="21295C"/>
                </a:solidFill>
                <a:latin typeface="DejaVu Sans"/>
              </a:rPr>
              <a:t>AI enters the work with tickets in two ways, and confusing them is expensive. A </a:t>
            </a:r>
            <a:r>
              <a:rPr sz="1120" b="1" i="0">
                <a:solidFill>
                  <a:srgbClr val="21295C"/>
                </a:solidFill>
                <a:latin typeface="DejaVu Sans"/>
              </a:rPr>
              <a:t>suggester</a:t>
            </a:r>
            <a:r>
              <a:rPr sz="1120" b="0" i="0">
                <a:solidFill>
                  <a:srgbClr val="21295C"/>
                </a:solidFill>
                <a:latin typeface="DejaVu Sans"/>
              </a:rPr>
              <a:t> offers the agent an answer; a human sends it, and the same human answers for what was said. A </a:t>
            </a:r>
            <a:r>
              <a:rPr sz="1120" b="1" i="0">
                <a:solidFill>
                  <a:srgbClr val="21295C"/>
                </a:solidFill>
                <a:latin typeface="DejaVu Sans"/>
              </a:rPr>
              <a:t>bot</a:t>
            </a:r>
            <a:r>
              <a:rPr sz="1120" b="0" i="0">
                <a:solidFill>
                  <a:srgbClr val="21295C"/>
                </a:solidFill>
                <a:latin typeface="DejaVu Sans"/>
              </a:rPr>
              <a:t> talks to the customer itself, and every word of it is the company's word.</a:t>
            </a:r>
          </a:p>
        </p:txBody>
      </p:sp>
      <p:sp>
        <p:nvSpPr>
          <p:cNvPr id="7" name="Rounded Rectangle 6"/>
          <p:cNvSpPr/>
          <p:nvPr/>
        </p:nvSpPr>
        <p:spPr>
          <a:xfrm>
            <a:off x="502920" y="1767691"/>
            <a:ext cx="1152144" cy="2560320"/>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67691"/>
            <a:ext cx="1060704" cy="25603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767691"/>
            <a:ext cx="9902952"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87284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87284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859131"/>
            <a:ext cx="5020056" cy="709797"/>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Sort the ticket flow by the cost of an error.</a:t>
            </a:r>
            <a:r>
              <a:rPr sz="1000" b="0" i="0">
                <a:solidFill>
                  <a:srgbClr val="21295C"/>
                </a:solidFill>
                <a:latin typeface="DejaVu Sans"/>
              </a:rPr>
              <a:t> Information that can be derived in full from your own knowledge base lives apart from a commitment the company pays for in money or answers for in law.</a:t>
            </a:r>
          </a:p>
        </p:txBody>
      </p:sp>
      <p:sp>
        <p:nvSpPr>
          <p:cNvPr id="13" name="Oval 12"/>
          <p:cNvSpPr/>
          <p:nvPr/>
        </p:nvSpPr>
        <p:spPr>
          <a:xfrm>
            <a:off x="1984248" y="264665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64665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632937"/>
            <a:ext cx="502005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On the information flow, begin with a suggester.</a:t>
            </a:r>
            <a:r>
              <a:rPr sz="1000" b="0" i="0">
                <a:solidFill>
                  <a:srgbClr val="21295C"/>
                </a:solidFill>
                <a:latin typeface="DejaVu Sans"/>
              </a:rPr>
              <a:t> It pays off where there is little experience, and it leaves the answer with a human.</a:t>
            </a:r>
          </a:p>
        </p:txBody>
      </p:sp>
      <p:sp>
        <p:nvSpPr>
          <p:cNvPr id="16" name="Oval 15"/>
          <p:cNvSpPr/>
          <p:nvPr/>
        </p:nvSpPr>
        <p:spPr>
          <a:xfrm>
            <a:off x="1984248" y="325489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325489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3241181"/>
            <a:ext cx="502005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Switch the bot on where the answer follows from a checkable source</a:t>
            </a:r>
            <a:r>
              <a:rPr sz="1000" b="0" i="0">
                <a:solidFill>
                  <a:srgbClr val="21295C"/>
                </a:solidFill>
                <a:latin typeface="DejaVu Sans"/>
              </a:rPr>
              <a:t> — and show that source beside the answer.</a:t>
            </a:r>
          </a:p>
        </p:txBody>
      </p:sp>
      <p:sp>
        <p:nvSpPr>
          <p:cNvPr id="19" name="Oval 18"/>
          <p:cNvSpPr/>
          <p:nvPr/>
        </p:nvSpPr>
        <p:spPr>
          <a:xfrm>
            <a:off x="1984248" y="369757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69757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683862"/>
            <a:ext cx="502005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Two safeguards are compulsory:</a:t>
            </a:r>
            <a:r>
              <a:rPr sz="1000" b="0" i="0">
                <a:solidFill>
                  <a:srgbClr val="21295C"/>
                </a:solidFill>
                <a:latin typeface="DejaVu Sans"/>
              </a:rPr>
              <a:t> a guaranteed path to a live human, and a threshold at which the bot falls silent and calls an agent.</a:t>
            </a:r>
          </a:p>
        </p:txBody>
      </p:sp>
      <p:sp>
        <p:nvSpPr>
          <p:cNvPr id="22" name="TextBox 21"/>
          <p:cNvSpPr txBox="1"/>
          <p:nvPr/>
        </p:nvSpPr>
        <p:spPr>
          <a:xfrm>
            <a:off x="7589520" y="1859131"/>
            <a:ext cx="3931920" cy="219456"/>
          </a:xfrm>
          <a:prstGeom prst="rect">
            <a:avLst/>
          </a:prstGeom>
          <a:noFill/>
        </p:spPr>
        <p:txBody>
          <a:bodyPr wrap="square" lIns="0" rIns="0" tIns="0" bIns="0" anchor="t">
            <a:spAutoFit/>
          </a:bodyPr>
          <a:lstStyle/>
          <a:p>
            <a:pPr algn="l">
              <a:lnSpc>
                <a:spcPct val="100000"/>
              </a:lnSpc>
            </a:pPr>
            <a:r>
              <a:rPr sz="919" b="1" i="0">
                <a:solidFill>
                  <a:srgbClr val="21295C"/>
                </a:solidFill>
                <a:latin typeface="DejaVu Sans"/>
              </a:rPr>
              <a:t>Suggester: measured on 5,172 support agents</a:t>
            </a:r>
          </a:p>
        </p:txBody>
      </p:sp>
      <p:sp>
        <p:nvSpPr>
          <p:cNvPr id="23" name="Rounded Rectangle 22"/>
          <p:cNvSpPr/>
          <p:nvPr/>
        </p:nvSpPr>
        <p:spPr>
          <a:xfrm>
            <a:off x="7589520" y="2115163"/>
            <a:ext cx="3931920" cy="310896"/>
          </a:xfrm>
          <a:prstGeom prst="roundRect">
            <a:avLst>
              <a:gd name="adj" fmla="val 16666"/>
            </a:avLst>
          </a:prstGeom>
          <a:solidFill>
            <a:srgbClr val="FFFFFF"/>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9248" y="2115163"/>
            <a:ext cx="3712463" cy="310896"/>
          </a:xfrm>
          <a:prstGeom prst="rect">
            <a:avLst/>
          </a:prstGeom>
          <a:noFill/>
        </p:spPr>
        <p:txBody>
          <a:bodyPr wrap="square" lIns="0" rIns="0" tIns="0" bIns="0" anchor="ctr">
            <a:spAutoFit/>
          </a:bodyPr>
          <a:lstStyle/>
          <a:p>
            <a:pPr algn="l">
              <a:lnSpc>
                <a:spcPct val="100000"/>
              </a:lnSpc>
            </a:pPr>
            <a:r>
              <a:rPr sz="880" b="0" i="0">
                <a:solidFill>
                  <a:srgbClr val="5B6678"/>
                </a:solidFill>
                <a:latin typeface="DejaVu Sans"/>
              </a:rPr>
              <a:t>base before the rollout — </a:t>
            </a:r>
            <a:r>
              <a:rPr sz="940" b="1" i="0">
                <a:solidFill>
                  <a:srgbClr val="21295C"/>
                </a:solidFill>
                <a:latin typeface="DejaVu Sans"/>
              </a:rPr>
              <a:t>2.1 resolutions per hour</a:t>
            </a:r>
          </a:p>
        </p:txBody>
      </p:sp>
      <p:sp>
        <p:nvSpPr>
          <p:cNvPr id="25" name="TextBox 24"/>
          <p:cNvSpPr txBox="1"/>
          <p:nvPr/>
        </p:nvSpPr>
        <p:spPr>
          <a:xfrm>
            <a:off x="7589520" y="2535787"/>
            <a:ext cx="1389888" cy="274320"/>
          </a:xfrm>
          <a:prstGeom prst="rect">
            <a:avLst/>
          </a:prstGeom>
          <a:noFill/>
        </p:spPr>
        <p:txBody>
          <a:bodyPr wrap="square" lIns="0" rIns="0" tIns="0" bIns="0" anchor="ctr">
            <a:spAutoFit/>
          </a:bodyPr>
          <a:lstStyle/>
          <a:p>
            <a:pPr algn="l">
              <a:lnSpc>
                <a:spcPct val="100000"/>
              </a:lnSpc>
            </a:pPr>
            <a:r>
              <a:rPr sz="860" b="0" i="0">
                <a:solidFill>
                  <a:srgbClr val="21295C"/>
                </a:solidFill>
                <a:latin typeface="DejaVu Sans"/>
              </a:rPr>
              <a:t>all agents</a:t>
            </a:r>
          </a:p>
        </p:txBody>
      </p:sp>
      <p:sp>
        <p:nvSpPr>
          <p:cNvPr id="26" name="Rounded Rectangle 25"/>
          <p:cNvSpPr/>
          <p:nvPr/>
        </p:nvSpPr>
        <p:spPr>
          <a:xfrm>
            <a:off x="9034272" y="2581507"/>
            <a:ext cx="891539" cy="182880"/>
          </a:xfrm>
          <a:prstGeom prst="roundRect">
            <a:avLst>
              <a:gd name="adj" fmla="val 4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89820" y="2535787"/>
            <a:ext cx="640080" cy="274320"/>
          </a:xfrm>
          <a:prstGeom prst="rect">
            <a:avLst/>
          </a:prstGeom>
          <a:noFill/>
        </p:spPr>
        <p:txBody>
          <a:bodyPr wrap="square" lIns="0" rIns="0" tIns="0" bIns="0" anchor="ctr">
            <a:spAutoFit/>
          </a:bodyPr>
          <a:lstStyle/>
          <a:p>
            <a:pPr algn="l">
              <a:lnSpc>
                <a:spcPct val="100000"/>
              </a:lnSpc>
            </a:pPr>
            <a:r>
              <a:rPr sz="919" b="1" i="0">
                <a:solidFill>
                  <a:srgbClr val="065A82"/>
                </a:solidFill>
                <a:latin typeface="DejaVu Sans"/>
              </a:rPr>
              <a:t>+15%</a:t>
            </a:r>
          </a:p>
        </p:txBody>
      </p:sp>
      <p:sp>
        <p:nvSpPr>
          <p:cNvPr id="28" name="TextBox 27"/>
          <p:cNvSpPr txBox="1"/>
          <p:nvPr/>
        </p:nvSpPr>
        <p:spPr>
          <a:xfrm>
            <a:off x="7589520" y="2837539"/>
            <a:ext cx="1389888" cy="274320"/>
          </a:xfrm>
          <a:prstGeom prst="rect">
            <a:avLst/>
          </a:prstGeom>
          <a:noFill/>
        </p:spPr>
        <p:txBody>
          <a:bodyPr wrap="square" lIns="0" rIns="0" tIns="0" bIns="0" anchor="ctr">
            <a:spAutoFit/>
          </a:bodyPr>
          <a:lstStyle/>
          <a:p>
            <a:pPr algn="l">
              <a:lnSpc>
                <a:spcPct val="100000"/>
              </a:lnSpc>
            </a:pPr>
            <a:r>
              <a:rPr sz="860" b="0" i="0">
                <a:solidFill>
                  <a:srgbClr val="21295C"/>
                </a:solidFill>
                <a:latin typeface="DejaVu Sans"/>
              </a:rPr>
              <a:t>least experienced</a:t>
            </a:r>
          </a:p>
        </p:txBody>
      </p:sp>
      <p:sp>
        <p:nvSpPr>
          <p:cNvPr id="29" name="Rounded Rectangle 28"/>
          <p:cNvSpPr/>
          <p:nvPr/>
        </p:nvSpPr>
        <p:spPr>
          <a:xfrm>
            <a:off x="9034272" y="2883259"/>
            <a:ext cx="1783079" cy="182880"/>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81360" y="2837539"/>
            <a:ext cx="640080" cy="274320"/>
          </a:xfrm>
          <a:prstGeom prst="rect">
            <a:avLst/>
          </a:prstGeom>
          <a:noFill/>
        </p:spPr>
        <p:txBody>
          <a:bodyPr wrap="square" lIns="0" rIns="0" tIns="0" bIns="0" anchor="ctr">
            <a:spAutoFit/>
          </a:bodyPr>
          <a:lstStyle/>
          <a:p>
            <a:pPr algn="l">
              <a:lnSpc>
                <a:spcPct val="100000"/>
              </a:lnSpc>
            </a:pPr>
            <a:r>
              <a:rPr sz="919" b="1" i="0">
                <a:solidFill>
                  <a:srgbClr val="F0AB00"/>
                </a:solidFill>
                <a:latin typeface="DejaVu Sans"/>
              </a:rPr>
              <a:t>+30%</a:t>
            </a:r>
          </a:p>
        </p:txBody>
      </p:sp>
      <p:sp>
        <p:nvSpPr>
          <p:cNvPr id="31" name="TextBox 30"/>
          <p:cNvSpPr txBox="1"/>
          <p:nvPr/>
        </p:nvSpPr>
        <p:spPr>
          <a:xfrm>
            <a:off x="7589520" y="3139291"/>
            <a:ext cx="1389888" cy="274320"/>
          </a:xfrm>
          <a:prstGeom prst="rect">
            <a:avLst/>
          </a:prstGeom>
          <a:noFill/>
        </p:spPr>
        <p:txBody>
          <a:bodyPr wrap="square" lIns="0" rIns="0" tIns="0" bIns="0" anchor="ctr">
            <a:spAutoFit/>
          </a:bodyPr>
          <a:lstStyle/>
          <a:p>
            <a:pPr algn="l">
              <a:lnSpc>
                <a:spcPct val="100000"/>
              </a:lnSpc>
            </a:pPr>
            <a:r>
              <a:rPr sz="860" b="0" i="0">
                <a:solidFill>
                  <a:srgbClr val="21295C"/>
                </a:solidFill>
                <a:latin typeface="DejaVu Sans"/>
              </a:rPr>
              <a:t>most experienced</a:t>
            </a:r>
          </a:p>
        </p:txBody>
      </p:sp>
      <p:sp>
        <p:nvSpPr>
          <p:cNvPr id="32" name="Rounded Rectangle 31"/>
          <p:cNvSpPr/>
          <p:nvPr/>
        </p:nvSpPr>
        <p:spPr>
          <a:xfrm>
            <a:off x="9034272" y="3185011"/>
            <a:ext cx="106984" cy="182880"/>
          </a:xfrm>
          <a:prstGeom prst="roundRect">
            <a:avLst>
              <a:gd name="adj" fmla="val 40000"/>
            </a:avLst>
          </a:prstGeom>
          <a:solidFill>
            <a:srgbClr val="5B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05264" y="3139291"/>
            <a:ext cx="640080" cy="274320"/>
          </a:xfrm>
          <a:prstGeom prst="rect">
            <a:avLst/>
          </a:prstGeom>
          <a:noFill/>
        </p:spPr>
        <p:txBody>
          <a:bodyPr wrap="square" lIns="0" rIns="0" tIns="0" bIns="0" anchor="ctr">
            <a:spAutoFit/>
          </a:bodyPr>
          <a:lstStyle/>
          <a:p>
            <a:pPr algn="l">
              <a:lnSpc>
                <a:spcPct val="100000"/>
              </a:lnSpc>
            </a:pPr>
            <a:r>
              <a:rPr sz="919" b="1" i="0">
                <a:solidFill>
                  <a:srgbClr val="5B6678"/>
                </a:solidFill>
                <a:latin typeface="DejaVu Sans"/>
              </a:rPr>
              <a:t>≈0</a:t>
            </a:r>
          </a:p>
        </p:txBody>
      </p:sp>
      <p:sp>
        <p:nvSpPr>
          <p:cNvPr id="34" name="TextBox 33"/>
          <p:cNvSpPr txBox="1"/>
          <p:nvPr/>
        </p:nvSpPr>
        <p:spPr>
          <a:xfrm>
            <a:off x="7589520" y="3459331"/>
            <a:ext cx="3931920" cy="292608"/>
          </a:xfrm>
          <a:prstGeom prst="rect">
            <a:avLst/>
          </a:prstGeom>
          <a:noFill/>
        </p:spPr>
        <p:txBody>
          <a:bodyPr wrap="square" lIns="0" rIns="0" tIns="0" bIns="0" anchor="t">
            <a:spAutoFit/>
          </a:bodyPr>
          <a:lstStyle/>
          <a:p>
            <a:pPr algn="l">
              <a:lnSpc>
                <a:spcPct val="105000"/>
              </a:lnSpc>
            </a:pPr>
            <a:r>
              <a:rPr sz="819" b="0" i="1">
                <a:solidFill>
                  <a:srgbClr val="5B6678"/>
                </a:solidFill>
                <a:latin typeface="DejaVu Sans"/>
              </a:rPr>
              <a:t>for the most experienced conversation quality is slightly lower: the suggestion offers them the average answer</a:t>
            </a:r>
          </a:p>
        </p:txBody>
      </p:sp>
      <p:sp>
        <p:nvSpPr>
          <p:cNvPr id="35" name="Rounded Rectangle 34"/>
          <p:cNvSpPr/>
          <p:nvPr/>
        </p:nvSpPr>
        <p:spPr>
          <a:xfrm>
            <a:off x="7589520" y="3806803"/>
            <a:ext cx="3931920" cy="402336"/>
          </a:xfrm>
          <a:prstGeom prst="roundRect">
            <a:avLst>
              <a:gd name="adj" fmla="val 16666"/>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9248" y="3806803"/>
            <a:ext cx="3712463" cy="402336"/>
          </a:xfrm>
          <a:prstGeom prst="rect">
            <a:avLst/>
          </a:prstGeom>
          <a:noFill/>
        </p:spPr>
        <p:txBody>
          <a:bodyPr wrap="square" lIns="0" rIns="0" tIns="0" bIns="0" anchor="ctr">
            <a:spAutoFit/>
          </a:bodyPr>
          <a:lstStyle/>
          <a:p>
            <a:pPr algn="l">
              <a:lnSpc>
                <a:spcPct val="104000"/>
              </a:lnSpc>
            </a:pPr>
            <a:r>
              <a:rPr sz="880" b="1" i="0">
                <a:solidFill>
                  <a:srgbClr val="21295C"/>
                </a:solidFill>
                <a:latin typeface="DejaVu Sans"/>
              </a:rPr>
              <a:t>an agent with two months on the job and a suggester works like an agent with six months without one</a:t>
            </a:r>
          </a:p>
        </p:txBody>
      </p:sp>
      <p:sp>
        <p:nvSpPr>
          <p:cNvPr id="37" name="Rounded Rectangle 36"/>
          <p:cNvSpPr/>
          <p:nvPr/>
        </p:nvSpPr>
        <p:spPr>
          <a:xfrm>
            <a:off x="502920" y="4392019"/>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392019"/>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39" name="Rounded Rectangle 38"/>
          <p:cNvSpPr/>
          <p:nvPr/>
        </p:nvSpPr>
        <p:spPr>
          <a:xfrm>
            <a:off x="1801368" y="4392019"/>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984248" y="4483459"/>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84831" y="452917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what support stands on and will go on standing on</a:t>
            </a:r>
          </a:p>
        </p:txBody>
      </p:sp>
      <p:sp>
        <p:nvSpPr>
          <p:cNvPr id="42" name="TextBox 41"/>
          <p:cNvSpPr txBox="1"/>
          <p:nvPr/>
        </p:nvSpPr>
        <p:spPr>
          <a:xfrm>
            <a:off x="2084831" y="475777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 knowledge base, answer templates, ticket routing, a mentor for the newcomer. Speed runs up against the agent's length of service: knowledge of rare cases takes months to build and leaves with whoever resigns.</a:t>
            </a:r>
          </a:p>
        </p:txBody>
      </p:sp>
      <p:sp>
        <p:nvSpPr>
          <p:cNvPr id="43" name="Rounded Rectangle 42"/>
          <p:cNvSpPr/>
          <p:nvPr/>
        </p:nvSpPr>
        <p:spPr>
          <a:xfrm>
            <a:off x="6844284" y="4483459"/>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4868" y="452917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what it has added</a:t>
            </a:r>
          </a:p>
        </p:txBody>
      </p:sp>
      <p:sp>
        <p:nvSpPr>
          <p:cNvPr id="45" name="TextBox 44"/>
          <p:cNvSpPr txBox="1"/>
          <p:nvPr/>
        </p:nvSpPr>
        <p:spPr>
          <a:xfrm>
            <a:off x="6944868" y="475777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 real-time suggestion on top of the same knowledge base; a bot on the routine flow; a summary of a thread for whoever picks it up. </a:t>
            </a:r>
            <a:r>
              <a:rPr sz="950" b="1" i="0">
                <a:solidFill>
                  <a:srgbClr val="21295C"/>
                </a:solidFill>
                <a:latin typeface="DejaVu Sans"/>
              </a:rPr>
              <a:t>The knowledge base remains a precondition:</a:t>
            </a:r>
            <a:r>
              <a:rPr sz="950" b="0" i="0">
                <a:solidFill>
                  <a:srgbClr val="21295C"/>
                </a:solidFill>
                <a:latin typeface="DejaVu Sans"/>
              </a:rPr>
              <a:t> where it has a gap, AI fills it itself.</a:t>
            </a:r>
          </a:p>
        </p:txBody>
      </p:sp>
      <p:sp>
        <p:nvSpPr>
          <p:cNvPr id="46" name="Rounded Rectangle 45"/>
          <p:cNvSpPr/>
          <p:nvPr/>
        </p:nvSpPr>
        <p:spPr>
          <a:xfrm>
            <a:off x="502920" y="5683228"/>
            <a:ext cx="1152144" cy="646370"/>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5683228"/>
            <a:ext cx="1060704" cy="646370"/>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48" name="Rounded Rectangle 47"/>
          <p:cNvSpPr/>
          <p:nvPr/>
        </p:nvSpPr>
        <p:spPr>
          <a:xfrm>
            <a:off x="1801368" y="5683228"/>
            <a:ext cx="9902952" cy="646370"/>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84248" y="5774668"/>
            <a:ext cx="9537192" cy="463490"/>
          </a:xfrm>
          <a:prstGeom prst="rect">
            <a:avLst/>
          </a:prstGeom>
          <a:noFill/>
        </p:spPr>
        <p:txBody>
          <a:bodyPr wrap="square" lIns="0" rIns="0" tIns="0" bIns="0" anchor="ctr">
            <a:spAutoFit/>
          </a:bodyPr>
          <a:lstStyle/>
          <a:p>
            <a:pPr algn="l">
              <a:lnSpc>
                <a:spcPct val="114000"/>
              </a:lnSpc>
            </a:pPr>
            <a:r>
              <a:rPr sz="980" b="1" i="0">
                <a:solidFill>
                  <a:srgbClr val="21295C"/>
                </a:solidFill>
                <a:latin typeface="DejaVu Sans"/>
              </a:rPr>
              <a:t>A bot announces a rule that does not exist. </a:t>
            </a:r>
            <a:r>
              <a:rPr sz="980" b="1" i="0">
                <a:solidFill>
                  <a:srgbClr val="21295C"/>
                </a:solidFill>
                <a:latin typeface="DejaVu Sans"/>
              </a:rPr>
              <a:t>April 2025:</a:t>
            </a:r>
            <a:r>
              <a:rPr sz="980" b="1" i="0">
                <a:solidFill>
                  <a:srgbClr val="21295C"/>
                </a:solidFill>
                <a:latin typeface="DejaVu Sans"/>
              </a:rPr>
              <a:t> the Cursor support bot invented a “one login per user” limit; customers cancelled, the company apologised and refunded — no such policy existed.</a:t>
            </a:r>
          </a:p>
        </p:txBody>
      </p:sp>
      <p:sp>
        <p:nvSpPr>
          <p:cNvPr id="50" name="TextBox 49"/>
          <p:cNvSpPr txBox="1"/>
          <p:nvPr/>
        </p:nvSpPr>
        <p:spPr>
          <a:xfrm>
            <a:off x="502920" y="6437376"/>
            <a:ext cx="1088136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The suggester measurement: Brynjolfsson, Li, Raymond, “Generative AI at Work”, Quarterly Journal of Economics, 2025 — 5,172 agents at a Fortune 500 company, staged rollout from November 2020 to May 2021, base 2.1 resolutions per hour · The Cursor support bot: AI Incident Database, incident 1039 (April 2025)</a:t>
            </a:r>
          </a:p>
        </p:txBody>
      </p:sp>
      <p:sp>
        <p:nvSpPr>
          <p:cNvPr id="51" name="TextBox 5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40 / 56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The failure drill: is there anything here that would notice degradation</a:t>
            </a:r>
          </a:p>
        </p:txBody>
      </p:sp>
      <p:sp>
        <p:nvSpPr>
          <p:cNvPr id="3" name="Rounded Rectangle 2"/>
          <p:cNvSpPr/>
          <p:nvPr/>
        </p:nvSpPr>
        <p:spPr>
          <a:xfrm>
            <a:off x="502920" y="825525"/>
            <a:ext cx="1152144" cy="1315242"/>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1315242"/>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825525"/>
            <a:ext cx="9902952" cy="1315242"/>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1132362"/>
          </a:xfrm>
          <a:prstGeom prst="rect">
            <a:avLst/>
          </a:prstGeom>
          <a:noFill/>
        </p:spPr>
        <p:txBody>
          <a:bodyPr wrap="square" lIns="0" rIns="0" tIns="0" bIns="0" anchor="ctr">
            <a:spAutoFit/>
          </a:bodyPr>
          <a:lstStyle/>
          <a:p>
            <a:pPr algn="l">
              <a:lnSpc>
                <a:spcPct val="114000"/>
              </a:lnSpc>
            </a:pPr>
            <a:r>
              <a:rPr sz="1000" b="0" i="0">
                <a:solidFill>
                  <a:srgbClr val="21295C"/>
                </a:solidFill>
                <a:latin typeface="DejaVu Sans"/>
              </a:rPr>
              <a:t>A fire drill tests the building and the people: the detector went off, the siren sounded, the exit was clear, everyone got out within the time standard. There is no fire; a plan plays its part. A support drill is built the same way: answer quality is spoiled deliberately and under control, to see whether detection fires.</a:t>
            </a:r>
          </a:p>
          <a:p>
            <a:pPr algn="l">
              <a:lnSpc>
                <a:spcPct val="114000"/>
              </a:lnSpc>
            </a:pPr>
            <a:r>
              <a:rPr sz="1000" b="1" i="0">
                <a:solidFill>
                  <a:srgbClr val="21295C"/>
                </a:solidFill>
                <a:latin typeface="DejaVu Sans"/>
              </a:rPr>
              <a:t>Element of the drill → element of the system:</a:t>
            </a:r>
            <a:r>
              <a:rPr sz="1000" b="0" i="0">
                <a:solidFill>
                  <a:srgbClr val="21295C"/>
                </a:solidFill>
                <a:latin typeface="DejaVu Sans"/>
              </a:rPr>
              <a:t> smoke → a substituted model prompt · detector → a threshold on a proxy metric · siren → paging the on-call engineer · exit → rolling the version back and a path to a human · evacuation time standard → four measured times.</a:t>
            </a:r>
          </a:p>
        </p:txBody>
      </p:sp>
      <p:sp>
        <p:nvSpPr>
          <p:cNvPr id="7" name="Rounded Rectangle 6"/>
          <p:cNvSpPr/>
          <p:nvPr/>
        </p:nvSpPr>
        <p:spPr>
          <a:xfrm>
            <a:off x="502920" y="2204775"/>
            <a:ext cx="1152144" cy="2322576"/>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04775"/>
            <a:ext cx="1060704" cy="2322576"/>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2204775"/>
            <a:ext cx="990295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2309931"/>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2309931"/>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2296215"/>
            <a:ext cx="5385816" cy="365428"/>
          </a:xfrm>
          <a:prstGeom prst="rect">
            <a:avLst/>
          </a:prstGeom>
          <a:noFill/>
        </p:spPr>
        <p:txBody>
          <a:bodyPr wrap="square" lIns="0" rIns="0" tIns="0" bIns="0" anchor="t">
            <a:spAutoFit/>
          </a:bodyPr>
          <a:lstStyle/>
          <a:p>
            <a:pPr algn="l">
              <a:lnSpc>
                <a:spcPct val="115000"/>
              </a:lnSpc>
            </a:pPr>
            <a:r>
              <a:rPr sz="960" b="0" i="0">
                <a:solidFill>
                  <a:srgbClr val="21295C"/>
                </a:solidFill>
                <a:latin typeface="DejaVu Sans"/>
              </a:rPr>
              <a:t>One </a:t>
            </a:r>
            <a:r>
              <a:rPr sz="960" b="1" i="0">
                <a:solidFill>
                  <a:srgbClr val="065A82"/>
                </a:solidFill>
                <a:latin typeface="DejaVu Sans"/>
              </a:rPr>
              <a:t>class of failure</a:t>
            </a:r>
            <a:r>
              <a:rPr sz="960" b="0" i="0">
                <a:solidFill>
                  <a:srgbClr val="21295C"/>
                </a:solidFill>
                <a:latin typeface="DejaVu Sans"/>
              </a:rPr>
              <a:t> is chosen and a date is set. </a:t>
            </a:r>
            <a:r>
              <a:rPr sz="960" b="1" i="0">
                <a:solidFill>
                  <a:srgbClr val="065A82"/>
                </a:solidFill>
                <a:latin typeface="DejaVu Sans"/>
              </a:rPr>
              <a:t>AI:</a:t>
            </a:r>
            <a:r>
              <a:rPr sz="960" b="0" i="0">
                <a:solidFill>
                  <a:srgbClr val="21295C"/>
                </a:solidFill>
                <a:latin typeface="DejaVu Sans"/>
              </a:rPr>
              <a:t> proposes scenarios drawn from past postmortems; a human chooses.</a:t>
            </a:r>
          </a:p>
        </p:txBody>
      </p:sp>
      <p:sp>
        <p:nvSpPr>
          <p:cNvPr id="13" name="Oval 12"/>
          <p:cNvSpPr/>
          <p:nvPr/>
        </p:nvSpPr>
        <p:spPr>
          <a:xfrm>
            <a:off x="1984248" y="273936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73936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725652"/>
            <a:ext cx="5385816" cy="524368"/>
          </a:xfrm>
          <a:prstGeom prst="rect">
            <a:avLst/>
          </a:prstGeom>
          <a:noFill/>
        </p:spPr>
        <p:txBody>
          <a:bodyPr wrap="square" lIns="0" rIns="0" tIns="0" bIns="0" anchor="t">
            <a:spAutoFit/>
          </a:bodyPr>
          <a:lstStyle/>
          <a:p>
            <a:pPr algn="l">
              <a:lnSpc>
                <a:spcPct val="115000"/>
              </a:lnSpc>
            </a:pPr>
            <a:r>
              <a:rPr sz="960" b="0" i="0">
                <a:solidFill>
                  <a:srgbClr val="21295C"/>
                </a:solidFill>
                <a:latin typeface="DejaVu Sans"/>
              </a:rPr>
              <a:t>Quality is degraded </a:t>
            </a:r>
            <a:r>
              <a:rPr sz="960" b="1" i="0">
                <a:solidFill>
                  <a:srgbClr val="065A82"/>
                </a:solidFill>
                <a:latin typeface="DejaVu Sans"/>
              </a:rPr>
              <a:t>under control</a:t>
            </a:r>
            <a:r>
              <a:rPr sz="960" b="0" i="0">
                <a:solidFill>
                  <a:srgbClr val="21295C"/>
                </a:solidFill>
                <a:latin typeface="DejaVu Sans"/>
              </a:rPr>
              <a:t>: the model prompt is swapped for a weak one, guardrails are loosened. </a:t>
            </a:r>
            <a:r>
              <a:rPr sz="960" b="1" i="0">
                <a:solidFill>
                  <a:srgbClr val="065A82"/>
                </a:solidFill>
                <a:latin typeface="DejaVu Sans"/>
              </a:rPr>
              <a:t>AI:</a:t>
            </a:r>
            <a:r>
              <a:rPr sz="960" b="0" i="0">
                <a:solidFill>
                  <a:srgbClr val="21295C"/>
                </a:solidFill>
                <a:latin typeface="DejaVu Sans"/>
              </a:rPr>
              <a:t> generates a ticket flow to the scenario, so the on-call engineer sees the load.</a:t>
            </a:r>
          </a:p>
        </p:txBody>
      </p:sp>
      <p:sp>
        <p:nvSpPr>
          <p:cNvPr id="16" name="Oval 15"/>
          <p:cNvSpPr/>
          <p:nvPr/>
        </p:nvSpPr>
        <p:spPr>
          <a:xfrm>
            <a:off x="1984248" y="332774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332774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3314028"/>
            <a:ext cx="5385816" cy="365428"/>
          </a:xfrm>
          <a:prstGeom prst="rect">
            <a:avLst/>
          </a:prstGeom>
          <a:noFill/>
        </p:spPr>
        <p:txBody>
          <a:bodyPr wrap="square" lIns="0" rIns="0" tIns="0" bIns="0" anchor="t">
            <a:spAutoFit/>
          </a:bodyPr>
          <a:lstStyle/>
          <a:p>
            <a:pPr algn="l">
              <a:lnSpc>
                <a:spcPct val="115000"/>
              </a:lnSpc>
            </a:pPr>
            <a:r>
              <a:rPr sz="960" b="1" i="0">
                <a:solidFill>
                  <a:srgbClr val="065A82"/>
                </a:solidFill>
                <a:latin typeface="DejaVu Sans"/>
              </a:rPr>
              <a:t>Four times</a:t>
            </a:r>
            <a:r>
              <a:rPr sz="960" b="0" i="0">
                <a:solidFill>
                  <a:srgbClr val="21295C"/>
                </a:solidFill>
                <a:latin typeface="DejaVu Sans"/>
              </a:rPr>
              <a:t> are measured and written down as numbers — your own, from this drill.</a:t>
            </a:r>
          </a:p>
        </p:txBody>
      </p:sp>
      <p:sp>
        <p:nvSpPr>
          <p:cNvPr id="19" name="Oval 18"/>
          <p:cNvSpPr/>
          <p:nvPr/>
        </p:nvSpPr>
        <p:spPr>
          <a:xfrm>
            <a:off x="1984248" y="375718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75718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743464"/>
            <a:ext cx="5385816" cy="365428"/>
          </a:xfrm>
          <a:prstGeom prst="rect">
            <a:avLst/>
          </a:prstGeom>
          <a:noFill/>
        </p:spPr>
        <p:txBody>
          <a:bodyPr wrap="square" lIns="0" rIns="0" tIns="0" bIns="0" anchor="t">
            <a:spAutoFit/>
          </a:bodyPr>
          <a:lstStyle/>
          <a:p>
            <a:pPr algn="l">
              <a:lnSpc>
                <a:spcPct val="115000"/>
              </a:lnSpc>
            </a:pPr>
            <a:r>
              <a:rPr sz="960" b="0" i="0">
                <a:solidFill>
                  <a:srgbClr val="21295C"/>
                </a:solidFill>
                <a:latin typeface="DejaVu Sans"/>
              </a:rPr>
              <a:t>The postmortem. </a:t>
            </a:r>
            <a:r>
              <a:rPr sz="960" b="1" i="0">
                <a:solidFill>
                  <a:srgbClr val="065A82"/>
                </a:solidFill>
                <a:latin typeface="DejaVu Sans"/>
              </a:rPr>
              <a:t>AI:</a:t>
            </a:r>
            <a:r>
              <a:rPr sz="960" b="0" i="0">
                <a:solidFill>
                  <a:srgbClr val="21295C"/>
                </a:solidFill>
                <a:latin typeface="DejaVu Sans"/>
              </a:rPr>
              <a:t> assembles the timeline and hands over a draft; findings and procedure edits are signed off by a human.</a:t>
            </a:r>
          </a:p>
        </p:txBody>
      </p:sp>
      <p:sp>
        <p:nvSpPr>
          <p:cNvPr id="22" name="Oval 21"/>
          <p:cNvSpPr/>
          <p:nvPr/>
        </p:nvSpPr>
        <p:spPr>
          <a:xfrm>
            <a:off x="1984248" y="418661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84248" y="418661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5</a:t>
            </a:r>
          </a:p>
        </p:txBody>
      </p:sp>
      <p:sp>
        <p:nvSpPr>
          <p:cNvPr id="24" name="TextBox 23"/>
          <p:cNvSpPr txBox="1"/>
          <p:nvPr/>
        </p:nvSpPr>
        <p:spPr>
          <a:xfrm>
            <a:off x="2295144" y="4172901"/>
            <a:ext cx="5385816" cy="206488"/>
          </a:xfrm>
          <a:prstGeom prst="rect">
            <a:avLst/>
          </a:prstGeom>
          <a:noFill/>
        </p:spPr>
        <p:txBody>
          <a:bodyPr wrap="square" lIns="0" rIns="0" tIns="0" bIns="0" anchor="t">
            <a:spAutoFit/>
          </a:bodyPr>
          <a:lstStyle/>
          <a:p>
            <a:pPr algn="l">
              <a:lnSpc>
                <a:spcPct val="115000"/>
              </a:lnSpc>
            </a:pPr>
            <a:r>
              <a:rPr sz="960" b="0" i="0">
                <a:solidFill>
                  <a:srgbClr val="21295C"/>
                </a:solidFill>
                <a:latin typeface="DejaVu Sans"/>
              </a:rPr>
              <a:t>A drill that changed not a single procedure was too easy.</a:t>
            </a:r>
          </a:p>
        </p:txBody>
      </p:sp>
      <p:sp>
        <p:nvSpPr>
          <p:cNvPr id="25" name="TextBox 24"/>
          <p:cNvSpPr txBox="1"/>
          <p:nvPr/>
        </p:nvSpPr>
        <p:spPr>
          <a:xfrm>
            <a:off x="10515600" y="2296215"/>
            <a:ext cx="1005840" cy="182880"/>
          </a:xfrm>
          <a:prstGeom prst="rect">
            <a:avLst/>
          </a:prstGeom>
          <a:noFill/>
        </p:spPr>
        <p:txBody>
          <a:bodyPr wrap="square" lIns="0" rIns="0" tIns="0" bIns="0" anchor="t">
            <a:spAutoFit/>
          </a:bodyPr>
          <a:lstStyle/>
          <a:p>
            <a:pPr algn="ctr">
              <a:lnSpc>
                <a:spcPct val="100000"/>
              </a:lnSpc>
            </a:pPr>
            <a:r>
              <a:rPr sz="780" b="0" i="1">
                <a:solidFill>
                  <a:srgbClr val="5B6678"/>
                </a:solidFill>
                <a:latin typeface="DejaVu Sans"/>
              </a:rPr>
              <a:t>minutes from the start</a:t>
            </a:r>
          </a:p>
        </p:txBody>
      </p:sp>
      <p:sp>
        <p:nvSpPr>
          <p:cNvPr id="26" name="Oval 25"/>
          <p:cNvSpPr/>
          <p:nvPr/>
        </p:nvSpPr>
        <p:spPr>
          <a:xfrm>
            <a:off x="7955279" y="2552247"/>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2552247"/>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28" name="TextBox 27"/>
          <p:cNvSpPr txBox="1"/>
          <p:nvPr/>
        </p:nvSpPr>
        <p:spPr>
          <a:xfrm>
            <a:off x="8266175" y="2515671"/>
            <a:ext cx="2194560" cy="292608"/>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noticed</a:t>
            </a:r>
          </a:p>
        </p:txBody>
      </p:sp>
      <p:sp>
        <p:nvSpPr>
          <p:cNvPr id="29" name="Rounded Rectangle 28"/>
          <p:cNvSpPr/>
          <p:nvPr/>
        </p:nvSpPr>
        <p:spPr>
          <a:xfrm>
            <a:off x="10515600" y="2515671"/>
            <a:ext cx="1005840" cy="292608"/>
          </a:xfrm>
          <a:prstGeom prst="roundRect">
            <a:avLst>
              <a:gd name="adj" fmla="val 16666"/>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0" y="2515671"/>
            <a:ext cx="1005840" cy="292608"/>
          </a:xfrm>
          <a:prstGeom prst="rect">
            <a:avLst/>
          </a:prstGeom>
          <a:noFill/>
        </p:spPr>
        <p:txBody>
          <a:bodyPr wrap="square" lIns="0" rIns="0" tIns="0" bIns="0" anchor="ctr">
            <a:spAutoFit/>
          </a:bodyPr>
          <a:lstStyle/>
          <a:p>
            <a:pPr algn="ctr">
              <a:lnSpc>
                <a:spcPct val="100000"/>
              </a:lnSpc>
            </a:pPr>
            <a:r>
              <a:rPr sz="1100" b="1" i="0">
                <a:solidFill>
                  <a:srgbClr val="21295C"/>
                </a:solidFill>
                <a:latin typeface="DejaVu Sans"/>
              </a:rPr>
              <a:t>4</a:t>
            </a:r>
          </a:p>
        </p:txBody>
      </p:sp>
      <p:cxnSp>
        <p:nvCxnSpPr>
          <p:cNvPr id="31" name="Connector 30"/>
          <p:cNvCxnSpPr/>
          <p:nvPr/>
        </p:nvCxnSpPr>
        <p:spPr>
          <a:xfrm>
            <a:off x="8074152" y="2808279"/>
            <a:ext cx="0" cy="146304"/>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955279" y="2991159"/>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79" y="2991159"/>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34" name="TextBox 33"/>
          <p:cNvSpPr txBox="1"/>
          <p:nvPr/>
        </p:nvSpPr>
        <p:spPr>
          <a:xfrm>
            <a:off x="8266175" y="2954583"/>
            <a:ext cx="2194560" cy="292608"/>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a human arrived</a:t>
            </a:r>
          </a:p>
        </p:txBody>
      </p:sp>
      <p:sp>
        <p:nvSpPr>
          <p:cNvPr id="35" name="Rounded Rectangle 34"/>
          <p:cNvSpPr/>
          <p:nvPr/>
        </p:nvSpPr>
        <p:spPr>
          <a:xfrm>
            <a:off x="10515600" y="2954583"/>
            <a:ext cx="1005840" cy="292608"/>
          </a:xfrm>
          <a:prstGeom prst="roundRect">
            <a:avLst>
              <a:gd name="adj" fmla="val 16666"/>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0" y="2954583"/>
            <a:ext cx="1005840" cy="292608"/>
          </a:xfrm>
          <a:prstGeom prst="rect">
            <a:avLst/>
          </a:prstGeom>
          <a:noFill/>
        </p:spPr>
        <p:txBody>
          <a:bodyPr wrap="square" lIns="0" rIns="0" tIns="0" bIns="0" anchor="ctr">
            <a:spAutoFit/>
          </a:bodyPr>
          <a:lstStyle/>
          <a:p>
            <a:pPr algn="ctr">
              <a:lnSpc>
                <a:spcPct val="100000"/>
              </a:lnSpc>
            </a:pPr>
            <a:r>
              <a:rPr sz="1100" b="1" i="0">
                <a:solidFill>
                  <a:srgbClr val="21295C"/>
                </a:solidFill>
                <a:latin typeface="DejaVu Sans"/>
              </a:rPr>
              <a:t>9</a:t>
            </a:r>
          </a:p>
        </p:txBody>
      </p:sp>
      <p:cxnSp>
        <p:nvCxnSpPr>
          <p:cNvPr id="37" name="Connector 36"/>
          <p:cNvCxnSpPr/>
          <p:nvPr/>
        </p:nvCxnSpPr>
        <p:spPr>
          <a:xfrm>
            <a:off x="8074152" y="3247191"/>
            <a:ext cx="0" cy="146304"/>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955279" y="3430071"/>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5279" y="3430071"/>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40" name="TextBox 39"/>
          <p:cNvSpPr txBox="1"/>
          <p:nvPr/>
        </p:nvSpPr>
        <p:spPr>
          <a:xfrm>
            <a:off x="8266175" y="3393495"/>
            <a:ext cx="2194560" cy="292608"/>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automation stopped it</a:t>
            </a:r>
          </a:p>
        </p:txBody>
      </p:sp>
      <p:sp>
        <p:nvSpPr>
          <p:cNvPr id="41" name="Rounded Rectangle 40"/>
          <p:cNvSpPr/>
          <p:nvPr/>
        </p:nvSpPr>
        <p:spPr>
          <a:xfrm>
            <a:off x="10515600" y="3393495"/>
            <a:ext cx="1005840" cy="292608"/>
          </a:xfrm>
          <a:prstGeom prst="roundRect">
            <a:avLst>
              <a:gd name="adj" fmla="val 16666"/>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0" y="3393495"/>
            <a:ext cx="1005840" cy="292608"/>
          </a:xfrm>
          <a:prstGeom prst="rect">
            <a:avLst/>
          </a:prstGeom>
          <a:noFill/>
        </p:spPr>
        <p:txBody>
          <a:bodyPr wrap="square" lIns="0" rIns="0" tIns="0" bIns="0" anchor="ctr">
            <a:spAutoFit/>
          </a:bodyPr>
          <a:lstStyle/>
          <a:p>
            <a:pPr algn="ctr">
              <a:lnSpc>
                <a:spcPct val="100000"/>
              </a:lnSpc>
            </a:pPr>
            <a:r>
              <a:rPr sz="1100" b="1" i="0">
                <a:solidFill>
                  <a:srgbClr val="21295C"/>
                </a:solidFill>
                <a:latin typeface="DejaVu Sans"/>
              </a:rPr>
              <a:t>12</a:t>
            </a:r>
          </a:p>
        </p:txBody>
      </p:sp>
      <p:cxnSp>
        <p:nvCxnSpPr>
          <p:cNvPr id="43" name="Connector 42"/>
          <p:cNvCxnSpPr/>
          <p:nvPr/>
        </p:nvCxnSpPr>
        <p:spPr>
          <a:xfrm>
            <a:off x="8074152" y="3686103"/>
            <a:ext cx="0" cy="146304"/>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7955279" y="3868983"/>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55279" y="3868983"/>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46" name="TextBox 45"/>
          <p:cNvSpPr txBox="1"/>
          <p:nvPr/>
        </p:nvSpPr>
        <p:spPr>
          <a:xfrm>
            <a:off x="8266175" y="3832407"/>
            <a:ext cx="2194560" cy="292608"/>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restored to how it was</a:t>
            </a:r>
          </a:p>
        </p:txBody>
      </p:sp>
      <p:sp>
        <p:nvSpPr>
          <p:cNvPr id="47" name="Rounded Rectangle 46"/>
          <p:cNvSpPr/>
          <p:nvPr/>
        </p:nvSpPr>
        <p:spPr>
          <a:xfrm>
            <a:off x="10515600" y="3832407"/>
            <a:ext cx="1005840" cy="292608"/>
          </a:xfrm>
          <a:prstGeom prst="roundRect">
            <a:avLst>
              <a:gd name="adj" fmla="val 16666"/>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0" y="3832407"/>
            <a:ext cx="1005840" cy="292608"/>
          </a:xfrm>
          <a:prstGeom prst="rect">
            <a:avLst/>
          </a:prstGeom>
          <a:noFill/>
        </p:spPr>
        <p:txBody>
          <a:bodyPr wrap="square" lIns="0" rIns="0" tIns="0" bIns="0" anchor="ctr">
            <a:spAutoFit/>
          </a:bodyPr>
          <a:lstStyle/>
          <a:p>
            <a:pPr algn="ctr">
              <a:lnSpc>
                <a:spcPct val="100000"/>
              </a:lnSpc>
            </a:pPr>
            <a:r>
              <a:rPr sz="1100" b="1" i="0">
                <a:solidFill>
                  <a:srgbClr val="21295C"/>
                </a:solidFill>
                <a:latin typeface="DejaVu Sans"/>
              </a:rPr>
              <a:t>21</a:t>
            </a:r>
          </a:p>
        </p:txBody>
      </p:sp>
      <p:sp>
        <p:nvSpPr>
          <p:cNvPr id="49" name="TextBox 48"/>
          <p:cNvSpPr txBox="1"/>
          <p:nvPr/>
        </p:nvSpPr>
        <p:spPr>
          <a:xfrm>
            <a:off x="7955279" y="4161591"/>
            <a:ext cx="3566160" cy="274320"/>
          </a:xfrm>
          <a:prstGeom prst="rect">
            <a:avLst/>
          </a:prstGeom>
          <a:noFill/>
        </p:spPr>
        <p:txBody>
          <a:bodyPr wrap="square" lIns="0" rIns="0" tIns="0" bIns="0" anchor="t">
            <a:spAutoFit/>
          </a:bodyPr>
          <a:lstStyle/>
          <a:p>
            <a:pPr algn="ctr">
              <a:lnSpc>
                <a:spcPct val="105000"/>
              </a:lnSpc>
            </a:pPr>
            <a:r>
              <a:rPr sz="860" b="0" i="1">
                <a:solidFill>
                  <a:srgbClr val="5B6678"/>
                </a:solidFill>
                <a:latin typeface="DejaVu Sans"/>
              </a:rPr>
              <a:t>the numbers come from one drill that was run; at the next one they are filled in afresh</a:t>
            </a:r>
          </a:p>
        </p:txBody>
      </p:sp>
      <p:sp>
        <p:nvSpPr>
          <p:cNvPr id="50" name="Rounded Rectangle 49"/>
          <p:cNvSpPr/>
          <p:nvPr/>
        </p:nvSpPr>
        <p:spPr>
          <a:xfrm>
            <a:off x="502920" y="4591359"/>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4591359"/>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52" name="Rounded Rectangle 51"/>
          <p:cNvSpPr/>
          <p:nvPr/>
        </p:nvSpPr>
        <p:spPr>
          <a:xfrm>
            <a:off x="1801368" y="4591359"/>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984248" y="4682799"/>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084831" y="472851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the classic failure drill</a:t>
            </a:r>
          </a:p>
        </p:txBody>
      </p:sp>
      <p:sp>
        <p:nvSpPr>
          <p:cNvPr id="55" name="TextBox 54"/>
          <p:cNvSpPr txBox="1"/>
          <p:nvPr/>
        </p:nvSpPr>
        <p:spPr>
          <a:xfrm>
            <a:off x="2084831" y="4957119"/>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 service is killed, a resource taken away: you watch the system come back and the on-call engineer turn up. Scenario, timeline and postmortem are human work.</a:t>
            </a:r>
          </a:p>
        </p:txBody>
      </p:sp>
      <p:sp>
        <p:nvSpPr>
          <p:cNvPr id="56" name="Rounded Rectangle 55"/>
          <p:cNvSpPr/>
          <p:nvPr/>
        </p:nvSpPr>
        <p:spPr>
          <a:xfrm>
            <a:off x="6844284" y="4682799"/>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44868" y="472851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what it is busy with inside the drill</a:t>
            </a:r>
          </a:p>
        </p:txBody>
      </p:sp>
      <p:sp>
        <p:nvSpPr>
          <p:cNvPr id="58" name="TextBox 57"/>
          <p:cNvSpPr txBox="1"/>
          <p:nvPr/>
        </p:nvSpPr>
        <p:spPr>
          <a:xfrm>
            <a:off x="6944868" y="4957119"/>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AI proposes scenarios from past postmortems, generates the ticket flow, assembles a timeline and hands over a draft. Tools 2026: incident.io, Rootly, PagerDuty.</a:t>
            </a:r>
          </a:p>
        </p:txBody>
      </p:sp>
      <p:sp>
        <p:nvSpPr>
          <p:cNvPr id="59" name="Rounded Rectangle 58"/>
          <p:cNvSpPr/>
          <p:nvPr/>
        </p:nvSpPr>
        <p:spPr>
          <a:xfrm>
            <a:off x="502920" y="5729387"/>
            <a:ext cx="1152144" cy="639748"/>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5729387"/>
            <a:ext cx="1060704" cy="639748"/>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61" name="Rounded Rectangle 60"/>
          <p:cNvSpPr/>
          <p:nvPr/>
        </p:nvSpPr>
        <p:spPr>
          <a:xfrm>
            <a:off x="1801368" y="5729387"/>
            <a:ext cx="9902952" cy="639748"/>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984248" y="5820827"/>
            <a:ext cx="9537192" cy="456868"/>
          </a:xfrm>
          <a:prstGeom prst="rect">
            <a:avLst/>
          </a:prstGeom>
          <a:noFill/>
        </p:spPr>
        <p:txBody>
          <a:bodyPr wrap="square" lIns="0" rIns="0" tIns="0" bIns="0" anchor="ctr">
            <a:spAutoFit/>
          </a:bodyPr>
          <a:lstStyle/>
          <a:p>
            <a:pPr algn="l">
              <a:lnSpc>
                <a:spcPct val="114000"/>
              </a:lnSpc>
            </a:pPr>
            <a:r>
              <a:rPr sz="960" b="1" i="0">
                <a:solidFill>
                  <a:srgbClr val="21295C"/>
                </a:solidFill>
                <a:latin typeface="DejaVu Sans"/>
              </a:rPr>
              <a:t>AI proposes variations on past failures: an unseen class it will not invent. A draft postmortem is plausible </a:t>
            </a:r>
            <a:r>
              <a:rPr sz="960" b="1" i="0">
                <a:solidFill>
                  <a:srgbClr val="21295C"/>
                </a:solidFill>
                <a:latin typeface="DejaVu Sans"/>
              </a:rPr>
              <a:t>even when the cause is wrong</a:t>
            </a:r>
            <a:r>
              <a:rPr sz="960" b="1" i="0">
                <a:solidFill>
                  <a:srgbClr val="21295C"/>
                </a:solidFill>
                <a:latin typeface="DejaVu Sans"/>
              </a:rPr>
              <a:t>. </a:t>
            </a:r>
            <a:r>
              <a:rPr sz="960" b="1" i="0">
                <a:solidFill>
                  <a:srgbClr val="21295C"/>
                </a:solidFill>
                <a:latin typeface="DejaVu Sans"/>
              </a:rPr>
              <a:t>A quarterly drill gives detection with a quarter-wide window.</a:t>
            </a:r>
          </a:p>
        </p:txBody>
      </p:sp>
      <p:sp>
        <p:nvSpPr>
          <p:cNvPr id="63" name="TextBox 62"/>
          <p:cNvSpPr txBox="1"/>
          <p:nvPr/>
        </p:nvSpPr>
        <p:spPr>
          <a:xfrm>
            <a:off x="502920" y="6437376"/>
            <a:ext cx="1088136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Assembling an incident timeline and a draft postmortem from the records — incident.io, Rootly, PagerDuty; the time saved on the postmortem is a vendor claim, with no independent measurement</a:t>
            </a:r>
          </a:p>
        </p:txBody>
      </p:sp>
      <p:sp>
        <p:nvSpPr>
          <p:cNvPr id="64" name="TextBox 6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41 / 56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Dashboards stay green while trust has already been falling for weeks</a:t>
            </a:r>
          </a:p>
        </p:txBody>
      </p:sp>
      <p:sp>
        <p:nvSpPr>
          <p:cNvPr id="3" name="Rounded Rectangle 2"/>
          <p:cNvSpPr/>
          <p:nvPr/>
        </p:nvSpPr>
        <p:spPr>
          <a:xfrm>
            <a:off x="502920" y="1417320"/>
            <a:ext cx="3063240" cy="384048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9-grus-plan.jpg"/>
          <p:cNvPicPr>
            <a:picLocks noChangeAspect="1"/>
          </p:cNvPicPr>
          <p:nvPr/>
        </p:nvPicPr>
        <p:blipFill>
          <a:blip r:embed="rId2"/>
          <a:stretch>
            <a:fillRect/>
          </a:stretch>
        </p:blipFill>
        <p:spPr>
          <a:xfrm>
            <a:off x="630936" y="2437248"/>
            <a:ext cx="2807208" cy="1800623"/>
          </a:xfrm>
          <a:prstGeom prst="rect">
            <a:avLst/>
          </a:prstGeom>
        </p:spPr>
      </p:pic>
      <p:sp>
        <p:nvSpPr>
          <p:cNvPr id="5" name="Rounded Rectangle 4"/>
          <p:cNvSpPr/>
          <p:nvPr/>
        </p:nvSpPr>
        <p:spPr>
          <a:xfrm>
            <a:off x="3794760" y="1463040"/>
            <a:ext cx="7909560" cy="1600200"/>
          </a:xfrm>
          <a:prstGeom prst="roundRect">
            <a:avLst>
              <a:gd name="adj" fmla="val 19047"/>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nitor-smartphone-teal.png"/>
          <p:cNvPicPr>
            <a:picLocks noChangeAspect="1"/>
          </p:cNvPicPr>
          <p:nvPr/>
        </p:nvPicPr>
        <p:blipFill>
          <a:blip r:embed="rId3"/>
          <a:stretch>
            <a:fillRect/>
          </a:stretch>
        </p:blipFill>
        <p:spPr>
          <a:xfrm>
            <a:off x="4023360" y="1737360"/>
            <a:ext cx="548640" cy="548640"/>
          </a:xfrm>
          <a:prstGeom prst="rect">
            <a:avLst/>
          </a:prstGeom>
        </p:spPr>
      </p:pic>
      <p:sp>
        <p:nvSpPr>
          <p:cNvPr id="7" name="TextBox 6"/>
          <p:cNvSpPr txBox="1"/>
          <p:nvPr/>
        </p:nvSpPr>
        <p:spPr>
          <a:xfrm>
            <a:off x="4754880" y="1627632"/>
            <a:ext cx="6720840" cy="365760"/>
          </a:xfrm>
          <a:prstGeom prst="rect">
            <a:avLst/>
          </a:prstGeom>
          <a:noFill/>
        </p:spPr>
        <p:txBody>
          <a:bodyPr wrap="square" lIns="0" rIns="0" tIns="0" bIns="0" anchor="t">
            <a:spAutoFit/>
          </a:bodyPr>
          <a:lstStyle/>
          <a:p>
            <a:pPr algn="l">
              <a:lnSpc>
                <a:spcPct val="115000"/>
              </a:lnSpc>
            </a:pPr>
            <a:r>
              <a:rPr sz="1500" b="1" i="0">
                <a:solidFill>
                  <a:srgbClr val="028090"/>
                </a:solidFill>
                <a:latin typeface="DejaVu Sans"/>
              </a:rPr>
              <a:t>Silent drift</a:t>
            </a:r>
          </a:p>
        </p:txBody>
      </p:sp>
      <p:sp>
        <p:nvSpPr>
          <p:cNvPr id="8" name="TextBox 7"/>
          <p:cNvSpPr txBox="1"/>
          <p:nvPr/>
        </p:nvSpPr>
        <p:spPr>
          <a:xfrm>
            <a:off x="4754880" y="2057400"/>
            <a:ext cx="6720840" cy="914400"/>
          </a:xfrm>
          <a:prstGeom prst="rect">
            <a:avLst/>
          </a:prstGeom>
          <a:noFill/>
        </p:spPr>
        <p:txBody>
          <a:bodyPr wrap="square" lIns="0" rIns="0" tIns="0" bIns="0" anchor="t">
            <a:spAutoFit/>
          </a:bodyPr>
          <a:lstStyle/>
          <a:p>
            <a:pPr algn="l">
              <a:lnSpc>
                <a:spcPct val="118000"/>
              </a:lnSpc>
            </a:pPr>
            <a:r>
              <a:rPr sz="1300" b="0" i="0">
                <a:solidFill>
                  <a:srgbClr val="21295C"/>
                </a:solidFill>
                <a:latin typeface="DejaVu Sans"/>
              </a:rPr>
              <a:t>Power users notice a regression before the aggregated metrics do — trust falls before the dashboards move.</a:t>
            </a:r>
          </a:p>
        </p:txBody>
      </p:sp>
      <p:sp>
        <p:nvSpPr>
          <p:cNvPr id="9" name="Rounded Rectangle 8"/>
          <p:cNvSpPr/>
          <p:nvPr/>
        </p:nvSpPr>
        <p:spPr>
          <a:xfrm>
            <a:off x="3794760" y="3200400"/>
            <a:ext cx="7909560" cy="1417320"/>
          </a:xfrm>
          <a:prstGeom prst="roundRect">
            <a:avLst>
              <a:gd name="adj" fmla="val 21505"/>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0" y="3310128"/>
            <a:ext cx="745236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Governance drift</a:t>
            </a:r>
          </a:p>
        </p:txBody>
      </p:sp>
      <p:sp>
        <p:nvSpPr>
          <p:cNvPr id="11" name="TextBox 10"/>
          <p:cNvSpPr txBox="1"/>
          <p:nvPr/>
        </p:nvSpPr>
        <p:spPr>
          <a:xfrm>
            <a:off x="4023360" y="3703320"/>
            <a:ext cx="7452360" cy="868680"/>
          </a:xfrm>
          <a:prstGeom prst="rect">
            <a:avLst/>
          </a:prstGeom>
          <a:noFill/>
        </p:spPr>
        <p:txBody>
          <a:bodyPr wrap="square" lIns="0" rIns="0" tIns="0" bIns="0" anchor="t">
            <a:spAutoFit/>
          </a:bodyPr>
          <a:lstStyle/>
          <a:p>
            <a:pPr algn="l">
              <a:lnSpc>
                <a:spcPct val="115000"/>
              </a:lnSpc>
            </a:pPr>
            <a:r>
              <a:rPr sz="1250" b="0" i="0">
                <a:solidFill>
                  <a:srgbClr val="21295C"/>
                </a:solidFill>
                <a:latin typeface="DejaVu Sans"/>
              </a:rPr>
              <a:t>Guardrails with no versioning silently go stale: the rules drift from reality unnoticed.</a:t>
            </a:r>
          </a:p>
        </p:txBody>
      </p:sp>
      <p:sp>
        <p:nvSpPr>
          <p:cNvPr id="12" name="Rounded Rectangle 11"/>
          <p:cNvSpPr/>
          <p:nvPr/>
        </p:nvSpPr>
        <p:spPr>
          <a:xfrm>
            <a:off x="3794760" y="4754880"/>
            <a:ext cx="7909560" cy="6400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14216" y="4809744"/>
            <a:ext cx="7470648" cy="53035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What stays: human escalation, accountability, incident discipline — reinforced by AI's autonomy, not eliminated by it.</a:t>
            </a:r>
          </a:p>
        </p:txBody>
      </p:sp>
      <p:sp>
        <p:nvSpPr>
          <p:cNvPr id="14" name="TextBox 1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42 / 56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The model was calibrated correctly — there was no real-time fuse for drift</a:t>
            </a:r>
          </a:p>
        </p:txBody>
      </p:sp>
      <p:sp>
        <p:nvSpPr>
          <p:cNvPr id="3" name="Rounded Rectangle 2"/>
          <p:cNvSpPr/>
          <p:nvPr/>
        </p:nvSpPr>
        <p:spPr>
          <a:xfrm>
            <a:off x="502920" y="1463040"/>
            <a:ext cx="2788920" cy="1188720"/>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0-zillow-real-source.png"/>
          <p:cNvPicPr>
            <a:picLocks noChangeAspect="1"/>
          </p:cNvPicPr>
          <p:nvPr/>
        </p:nvPicPr>
        <p:blipFill>
          <a:blip r:embed="rId2"/>
          <a:stretch>
            <a:fillRect/>
          </a:stretch>
        </p:blipFill>
        <p:spPr>
          <a:xfrm>
            <a:off x="704088" y="1793570"/>
            <a:ext cx="2386584" cy="527659"/>
          </a:xfrm>
          <a:prstGeom prst="rect">
            <a:avLst/>
          </a:prstGeom>
        </p:spPr>
      </p:pic>
      <p:sp>
        <p:nvSpPr>
          <p:cNvPr id="5" name="Rounded Rectangle 4"/>
          <p:cNvSpPr/>
          <p:nvPr/>
        </p:nvSpPr>
        <p:spPr>
          <a:xfrm>
            <a:off x="502920" y="2834640"/>
            <a:ext cx="2788920" cy="2103120"/>
          </a:xfrm>
          <a:prstGeom prst="roundRect">
            <a:avLst>
              <a:gd name="adj" fmla="val 14492"/>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mid.png"/>
          <p:cNvPicPr>
            <a:picLocks noChangeAspect="1"/>
          </p:cNvPicPr>
          <p:nvPr/>
        </p:nvPicPr>
        <p:blipFill>
          <a:blip r:embed="rId3"/>
          <a:stretch>
            <a:fillRect/>
          </a:stretch>
        </p:blipFill>
        <p:spPr>
          <a:xfrm>
            <a:off x="1417320" y="3017520"/>
            <a:ext cx="822960" cy="822960"/>
          </a:xfrm>
          <a:prstGeom prst="rect">
            <a:avLst/>
          </a:prstGeom>
        </p:spPr>
      </p:pic>
      <p:sp>
        <p:nvSpPr>
          <p:cNvPr id="7" name="TextBox 6"/>
          <p:cNvSpPr txBox="1"/>
          <p:nvPr/>
        </p:nvSpPr>
        <p:spPr>
          <a:xfrm>
            <a:off x="640080" y="3931920"/>
            <a:ext cx="2514600" cy="914400"/>
          </a:xfrm>
          <a:prstGeom prst="rect">
            <a:avLst/>
          </a:prstGeom>
          <a:noFill/>
        </p:spPr>
        <p:txBody>
          <a:bodyPr wrap="square" lIns="0" rIns="0" tIns="0" bIns="0" anchor="t">
            <a:spAutoFit/>
          </a:bodyPr>
          <a:lstStyle/>
          <a:p>
            <a:pPr algn="ctr">
              <a:lnSpc>
                <a:spcPct val="115000"/>
              </a:lnSpc>
            </a:pPr>
            <a:r>
              <a:rPr sz="1200" b="0" i="1">
                <a:solidFill>
                  <a:srgbClr val="5B6678"/>
                </a:solidFill>
                <a:latin typeface="DejaVu Sans"/>
              </a:rPr>
              <a:t>The market shifted — concept drift with no circuit breaker</a:t>
            </a:r>
          </a:p>
        </p:txBody>
      </p:sp>
      <p:sp>
        <p:nvSpPr>
          <p:cNvPr id="8" name="Rounded Rectangle 7"/>
          <p:cNvSpPr/>
          <p:nvPr/>
        </p:nvSpPr>
        <p:spPr>
          <a:xfrm>
            <a:off x="3520440" y="1463040"/>
            <a:ext cx="8183879" cy="3474720"/>
          </a:xfrm>
          <a:prstGeom prst="roundRect">
            <a:avLst>
              <a:gd name="adj" fmla="val 87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zillow.png"/>
          <p:cNvPicPr>
            <a:picLocks noChangeAspect="1"/>
          </p:cNvPicPr>
          <p:nvPr/>
        </p:nvPicPr>
        <p:blipFill>
          <a:blip r:embed="rId4"/>
          <a:stretch>
            <a:fillRect/>
          </a:stretch>
        </p:blipFill>
        <p:spPr>
          <a:xfrm>
            <a:off x="4516037" y="1691640"/>
            <a:ext cx="6192685" cy="2331720"/>
          </a:xfrm>
          <a:prstGeom prst="rect">
            <a:avLst/>
          </a:prstGeom>
        </p:spPr>
      </p:pic>
      <p:sp>
        <p:nvSpPr>
          <p:cNvPr id="10" name="TextBox 9"/>
          <p:cNvSpPr txBox="1"/>
          <p:nvPr/>
        </p:nvSpPr>
        <p:spPr>
          <a:xfrm>
            <a:off x="3794760" y="4069080"/>
            <a:ext cx="7635240" cy="777240"/>
          </a:xfrm>
          <a:prstGeom prst="rect">
            <a:avLst/>
          </a:prstGeom>
          <a:noFill/>
        </p:spPr>
        <p:txBody>
          <a:bodyPr wrap="square" lIns="0" rIns="0" tIns="0" bIns="0" anchor="t">
            <a:spAutoFit/>
          </a:bodyPr>
          <a:lstStyle/>
          <a:p>
            <a:pPr algn="l">
              <a:lnSpc>
                <a:spcPct val="115000"/>
              </a:lnSpc>
            </a:pPr>
            <a:r>
              <a:rPr sz="1200" b="0" i="0">
                <a:solidFill>
                  <a:srgbClr val="21295C"/>
                </a:solidFill>
                <a:latin typeface="DejaVu Sans"/>
              </a:rPr>
              <a:t>Zillow Offers, November 2021: 9,680 homes bought, 3,032 sold · ~2,000 laid off (~25% of staff) </a:t>
            </a:r>
            <a:r>
              <a:rPr sz="624" baseline="30000" b="0" i="1">
                <a:latin typeface="DejaVu Sans"/>
                <a:cs typeface="DejaVu Sans"/>
                <a:ea typeface="DejaVu Sans"/>
                <a:solidFill>
                  <a:srgbClr val="1C7293"/>
                </a:solidFill>
              </a:rPr>
              <a:t>[1]</a:t>
            </a:r>
            <a:r>
              <a:rPr sz="1200" b="0" i="0">
                <a:latin typeface="DejaVu Sans"/>
                <a:cs typeface="DejaVu Sans"/>
                <a:ea typeface="DejaVu Sans"/>
                <a:solidFill>
                  <a:srgbClr val="21295C"/>
                </a:solidFill>
              </a:rPr>
              <a:t> · ~=$80K loss per property </a:t>
            </a:r>
            <a:r>
              <a:rPr sz="624" baseline="30000" b="0" i="1">
                <a:latin typeface="DejaVu Sans"/>
                <a:cs typeface="DejaVu Sans"/>
                <a:ea typeface="DejaVu Sans"/>
                <a:solidFill>
                  <a:srgbClr val="1C7293"/>
                </a:solidFill>
              </a:rPr>
              <a:t>[2]</a:t>
            </a:r>
            <a:r>
              <a:rPr sz="1200" b="0" i="0">
                <a:latin typeface="DejaVu Sans"/>
                <a:cs typeface="DejaVu Sans"/>
                <a:ea typeface="DejaVu Sans"/>
                <a:solidFill>
                  <a:srgbClr val="21295C"/>
                </a:solidFill>
              </a:rPr>
              <a:t>.</a:t>
            </a:r>
          </a:p>
        </p:txBody>
      </p:sp>
      <p:sp>
        <p:nvSpPr>
          <p:cNvPr id="11" name="Rounded Rectangle 10"/>
          <p:cNvSpPr/>
          <p:nvPr/>
        </p:nvSpPr>
        <p:spPr>
          <a:xfrm>
            <a:off x="502920" y="5074920"/>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5129783"/>
            <a:ext cx="10762488" cy="457200"/>
          </a:xfrm>
          <a:prstGeom prst="rect">
            <a:avLst/>
          </a:prstGeom>
          <a:noFill/>
        </p:spPr>
        <p:txBody>
          <a:bodyPr wrap="square" lIns="0" rIns="0" tIns="0" bIns="0" anchor="ctr">
            <a:spAutoFit/>
          </a:bodyPr>
          <a:lstStyle/>
          <a:p>
            <a:pPr algn="l">
              <a:lnSpc>
                <a:spcPct val="120000"/>
              </a:lnSpc>
            </a:pPr>
            <a:r>
              <a:rPr sz="1200" b="1" i="0">
                <a:solidFill>
                  <a:srgbClr val="21295C"/>
                </a:solidFill>
                <a:latin typeface="DejaVu Sans"/>
              </a:rPr>
              <a:t>Criterion: a model executing trades with real money requires real-time monitoring of prediction accuracy with an automatic circuit breaker that shuts it off on drift.</a:t>
            </a:r>
          </a:p>
        </p:txBody>
      </p:sp>
      <p:sp>
        <p:nvSpPr>
          <p:cNvPr id="13" name="TextBox 1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GeekWire (Nov 2021) — Zillow Offers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SEC 10-K FY2021 — Zillow Group</a:t>
            </a:r>
          </a:p>
        </p:txBody>
      </p:sp>
      <p:sp>
        <p:nvSpPr>
          <p:cNvPr id="14" name="TextBox 1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43 / 56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"The bot is a separate legal entity" — the tribunal rejected this in one sentence</a:t>
            </a:r>
          </a:p>
        </p:txBody>
      </p:sp>
      <p:sp>
        <p:nvSpPr>
          <p:cNvPr id="3" name="Rounded Rectangle 2"/>
          <p:cNvSpPr/>
          <p:nvPr/>
        </p:nvSpPr>
        <p:spPr>
          <a:xfrm>
            <a:off x="502920" y="1463040"/>
            <a:ext cx="5074920" cy="2788920"/>
          </a:xfrm>
          <a:prstGeom prst="roundRect">
            <a:avLst>
              <a:gd name="adj" fmla="val 10928"/>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1-aircanada-real-source.png"/>
          <p:cNvPicPr>
            <a:picLocks noChangeAspect="1"/>
          </p:cNvPicPr>
          <p:nvPr/>
        </p:nvPicPr>
        <p:blipFill>
          <a:blip r:embed="rId2"/>
          <a:stretch>
            <a:fillRect/>
          </a:stretch>
        </p:blipFill>
        <p:spPr>
          <a:xfrm>
            <a:off x="1085086" y="1554480"/>
            <a:ext cx="3910586" cy="2606039"/>
          </a:xfrm>
          <a:prstGeom prst="rect">
            <a:avLst/>
          </a:prstGeom>
        </p:spPr>
      </p:pic>
      <p:sp>
        <p:nvSpPr>
          <p:cNvPr id="5" name="Rounded Rectangle 4"/>
          <p:cNvSpPr/>
          <p:nvPr/>
        </p:nvSpPr>
        <p:spPr>
          <a:xfrm>
            <a:off x="5806440" y="1463040"/>
            <a:ext cx="5897880" cy="1600200"/>
          </a:xfrm>
          <a:prstGeom prst="roundRect">
            <a:avLst>
              <a:gd name="adj" fmla="val 19047"/>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le-mid.png"/>
          <p:cNvPicPr>
            <a:picLocks noChangeAspect="1"/>
          </p:cNvPicPr>
          <p:nvPr/>
        </p:nvPicPr>
        <p:blipFill>
          <a:blip r:embed="rId3"/>
          <a:stretch>
            <a:fillRect/>
          </a:stretch>
        </p:blipFill>
        <p:spPr>
          <a:xfrm>
            <a:off x="6035040" y="1783080"/>
            <a:ext cx="822960" cy="822960"/>
          </a:xfrm>
          <a:prstGeom prst="rect">
            <a:avLst/>
          </a:prstGeom>
        </p:spPr>
      </p:pic>
      <p:sp>
        <p:nvSpPr>
          <p:cNvPr id="7" name="TextBox 6"/>
          <p:cNvSpPr txBox="1"/>
          <p:nvPr/>
        </p:nvSpPr>
        <p:spPr>
          <a:xfrm>
            <a:off x="6995160" y="1645920"/>
            <a:ext cx="4480560" cy="1280160"/>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Scales in balance: the bot's answer = a static page on the site. Equal accountability for both.</a:t>
            </a:r>
          </a:p>
        </p:txBody>
      </p:sp>
      <p:sp>
        <p:nvSpPr>
          <p:cNvPr id="8" name="Rounded Rectangle 7"/>
          <p:cNvSpPr/>
          <p:nvPr/>
        </p:nvSpPr>
        <p:spPr>
          <a:xfrm>
            <a:off x="5806440" y="3246120"/>
            <a:ext cx="5897880" cy="1691640"/>
          </a:xfrm>
          <a:prstGeom prst="roundRect">
            <a:avLst>
              <a:gd name="adj" fmla="val 18018"/>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3364992"/>
            <a:ext cx="5440680" cy="365760"/>
          </a:xfrm>
          <a:prstGeom prst="rect">
            <a:avLst/>
          </a:prstGeom>
          <a:noFill/>
        </p:spPr>
        <p:txBody>
          <a:bodyPr wrap="square" lIns="0" rIns="0" tIns="0" bIns="0" anchor="t">
            <a:spAutoFit/>
          </a:bodyPr>
          <a:lstStyle/>
          <a:p>
            <a:pPr algn="l">
              <a:lnSpc>
                <a:spcPct val="115000"/>
              </a:lnSpc>
            </a:pPr>
            <a:r>
              <a:rPr sz="1350" b="1" i="0">
                <a:solidFill>
                  <a:srgbClr val="21295C"/>
                </a:solidFill>
                <a:latin typeface="DejaVu Sans"/>
              </a:rPr>
              <a:t>Air Canada, website chatbot</a:t>
            </a:r>
          </a:p>
        </p:txBody>
      </p:sp>
      <p:sp>
        <p:nvSpPr>
          <p:cNvPr id="10" name="TextBox 9"/>
          <p:cNvSpPr txBox="1"/>
          <p:nvPr/>
        </p:nvSpPr>
        <p:spPr>
          <a:xfrm>
            <a:off x="6035040" y="3749039"/>
            <a:ext cx="5440680" cy="1097280"/>
          </a:xfrm>
          <a:prstGeom prst="rect">
            <a:avLst/>
          </a:prstGeom>
          <a:noFill/>
        </p:spPr>
        <p:txBody>
          <a:bodyPr wrap="square" lIns="0" rIns="0" tIns="0" bIns="0" anchor="t">
            <a:spAutoFit/>
          </a:bodyPr>
          <a:lstStyle/>
          <a:p>
            <a:pPr algn="l">
              <a:lnSpc>
                <a:spcPct val="115000"/>
              </a:lnSpc>
            </a:pPr>
            <a:r>
              <a:rPr sz="1200" b="0" i="0">
                <a:solidFill>
                  <a:srgbClr val="21295C"/>
                </a:solidFill>
                <a:latin typeface="DejaVu Sans"/>
              </a:rPr>
              <a:t>The bot incorrectly stated a retroactive discount. Tribunal — CAD $812.02 </a:t>
            </a:r>
            <a:r>
              <a:rPr sz="624" baseline="30000" b="0" i="1">
                <a:latin typeface="DejaVu Sans"/>
                <a:cs typeface="DejaVu Sans"/>
                <a:ea typeface="DejaVu Sans"/>
                <a:solidFill>
                  <a:srgbClr val="1C7293"/>
                </a:solidFill>
              </a:rPr>
              <a:t>[1]</a:t>
            </a:r>
            <a:r>
              <a:rPr sz="1200" b="0" i="0">
                <a:latin typeface="DejaVu Sans"/>
                <a:cs typeface="DejaVu Sans"/>
                <a:ea typeface="DejaVu Sans"/>
                <a:solidFill>
                  <a:srgbClr val="21295C"/>
                </a:solidFill>
              </a:rPr>
              <a:t>: the company is responsible for the bot's answer as for any other site content </a:t>
            </a:r>
            <a:r>
              <a:rPr sz="624" baseline="30000" b="0" i="1">
                <a:latin typeface="DejaVu Sans"/>
                <a:cs typeface="DejaVu Sans"/>
                <a:ea typeface="DejaVu Sans"/>
                <a:solidFill>
                  <a:srgbClr val="1C7293"/>
                </a:solidFill>
              </a:rPr>
              <a:t>[2]</a:t>
            </a:r>
            <a:r>
              <a:rPr sz="1200" b="0" i="0">
                <a:latin typeface="DejaVu Sans"/>
                <a:cs typeface="DejaVu Sans"/>
                <a:ea typeface="DejaVu Sans"/>
                <a:solidFill>
                  <a:srgbClr val="21295C"/>
                </a:solidFill>
              </a:rPr>
              <a:t>.</a:t>
            </a:r>
          </a:p>
        </p:txBody>
      </p:sp>
      <p:sp>
        <p:nvSpPr>
          <p:cNvPr id="11" name="Rounded Rectangle 10"/>
          <p:cNvSpPr/>
          <p:nvPr/>
        </p:nvSpPr>
        <p:spPr>
          <a:xfrm>
            <a:off x="502920" y="5074920"/>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5129783"/>
            <a:ext cx="10762488" cy="45720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You own every answer the bot gives — no more, but not one gram less accountability than for any other content on the site.</a:t>
            </a:r>
          </a:p>
        </p:txBody>
      </p:sp>
      <p:sp>
        <p:nvSpPr>
          <p:cNvPr id="13" name="TextBox 1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CanLII — Moffatt v. Air Canada, 2024 BCCRT 149</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American Bar Association — case commentary</a:t>
            </a:r>
          </a:p>
        </p:txBody>
      </p:sp>
      <p:sp>
        <p:nvSpPr>
          <p:cNvPr id="14" name="TextBox 1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44 / 56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10 of 10 journalists got the same unlawful advice — not an isolated glitch</a:t>
            </a:r>
          </a:p>
        </p:txBody>
      </p:sp>
      <p:sp>
        <p:nvSpPr>
          <p:cNvPr id="3" name="Rounded Rectangle 2"/>
          <p:cNvSpPr/>
          <p:nvPr/>
        </p:nvSpPr>
        <p:spPr>
          <a:xfrm>
            <a:off x="502920" y="1463040"/>
            <a:ext cx="2331720" cy="1051560"/>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2-klarna-real-source.png"/>
          <p:cNvPicPr>
            <a:picLocks noChangeAspect="1"/>
          </p:cNvPicPr>
          <p:nvPr/>
        </p:nvPicPr>
        <p:blipFill>
          <a:blip r:embed="rId2"/>
          <a:stretch>
            <a:fillRect/>
          </a:stretch>
        </p:blipFill>
        <p:spPr>
          <a:xfrm>
            <a:off x="767612" y="1609344"/>
            <a:ext cx="1802333" cy="758951"/>
          </a:xfrm>
          <a:prstGeom prst="rect">
            <a:avLst/>
          </a:prstGeom>
        </p:spPr>
      </p:pic>
      <p:sp>
        <p:nvSpPr>
          <p:cNvPr id="5" name="Rounded Rectangle 4"/>
          <p:cNvSpPr/>
          <p:nvPr/>
        </p:nvSpPr>
        <p:spPr>
          <a:xfrm>
            <a:off x="502920" y="2651760"/>
            <a:ext cx="5257800" cy="2286000"/>
          </a:xfrm>
          <a:prstGeom prst="roundRect">
            <a:avLst>
              <a:gd name="adj" fmla="val 13333"/>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klarna.png"/>
          <p:cNvPicPr>
            <a:picLocks noChangeAspect="1"/>
          </p:cNvPicPr>
          <p:nvPr/>
        </p:nvPicPr>
        <p:blipFill>
          <a:blip r:embed="rId3"/>
          <a:stretch>
            <a:fillRect/>
          </a:stretch>
        </p:blipFill>
        <p:spPr>
          <a:xfrm>
            <a:off x="1671535" y="2834640"/>
            <a:ext cx="2920568" cy="1874519"/>
          </a:xfrm>
          <a:prstGeom prst="rect">
            <a:avLst/>
          </a:prstGeom>
        </p:spPr>
      </p:pic>
      <p:sp>
        <p:nvSpPr>
          <p:cNvPr id="7" name="TextBox 6"/>
          <p:cNvSpPr txBox="1"/>
          <p:nvPr/>
        </p:nvSpPr>
        <p:spPr>
          <a:xfrm>
            <a:off x="2971800" y="1572768"/>
            <a:ext cx="2788920" cy="914400"/>
          </a:xfrm>
          <a:prstGeom prst="rect">
            <a:avLst/>
          </a:prstGeom>
          <a:noFill/>
        </p:spPr>
        <p:txBody>
          <a:bodyPr wrap="square" lIns="0" rIns="0" tIns="0" bIns="0" anchor="t">
            <a:spAutoFit/>
          </a:bodyPr>
          <a:lstStyle/>
          <a:p>
            <a:pPr algn="l">
              <a:lnSpc>
                <a:spcPct val="115000"/>
              </a:lnSpc>
            </a:pPr>
            <a:r>
              <a:rPr sz="1150" b="0" i="0">
                <a:solidFill>
                  <a:srgbClr val="21295C"/>
                </a:solidFill>
                <a:latin typeface="DejaVu Sans"/>
              </a:rPr>
              <a:t>Klarna: the "AI-only" policy was walked back (05.2025) </a:t>
            </a:r>
            <a:r>
              <a:rPr sz="598" baseline="30000" b="0" i="1">
                <a:latin typeface="DejaVu Sans"/>
                <a:cs typeface="DejaVu Sans"/>
                <a:ea typeface="DejaVu Sans"/>
                <a:solidFill>
                  <a:srgbClr val="1C7293"/>
                </a:solidFill>
              </a:rPr>
              <a:t>[1]</a:t>
            </a:r>
            <a:r>
              <a:rPr sz="1150" b="0" i="0">
                <a:latin typeface="DejaVu Sans"/>
                <a:cs typeface="DejaVu Sans"/>
                <a:ea typeface="DejaVu Sans"/>
                <a:solidFill>
                  <a:srgbClr val="21295C"/>
                </a:solidFill>
              </a:rPr>
              <a:t> — but automation grew to an 853-FTE equivalent </a:t>
            </a:r>
            <a:r>
              <a:rPr sz="598" baseline="30000" b="0" i="1">
                <a:latin typeface="DejaVu Sans"/>
                <a:cs typeface="DejaVu Sans"/>
                <a:ea typeface="DejaVu Sans"/>
                <a:solidFill>
                  <a:srgbClr val="1C7293"/>
                </a:solidFill>
              </a:rPr>
              <a:t>[2]</a:t>
            </a:r>
            <a:r>
              <a:rPr sz="1150" b="0" i="0">
                <a:latin typeface="DejaVu Sans"/>
                <a:cs typeface="DejaVu Sans"/>
                <a:ea typeface="DejaVu Sans"/>
                <a:solidFill>
                  <a:srgbClr val="21295C"/>
                </a:solidFill>
              </a:rPr>
              <a:t> (augmenting people, not replacing them).</a:t>
            </a:r>
          </a:p>
        </p:txBody>
      </p:sp>
      <p:sp>
        <p:nvSpPr>
          <p:cNvPr id="8" name="Rounded Rectangle 7"/>
          <p:cNvSpPr/>
          <p:nvPr/>
        </p:nvSpPr>
        <p:spPr>
          <a:xfrm>
            <a:off x="5989320" y="1463040"/>
            <a:ext cx="5715000" cy="2788920"/>
          </a:xfrm>
          <a:prstGeom prst="roundRect">
            <a:avLst>
              <a:gd name="adj" fmla="val 10928"/>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72768"/>
            <a:ext cx="525780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DejaVu Sans"/>
              </a:rPr>
              <a:t>NYC MyCity — government bot</a:t>
            </a:r>
          </a:p>
        </p:txBody>
      </p:sp>
      <p:pic>
        <p:nvPicPr>
          <p:cNvPr id="10" name="Picture 9" descr="user-x-gold.png"/>
          <p:cNvPicPr>
            <a:picLocks noChangeAspect="1"/>
          </p:cNvPicPr>
          <p:nvPr/>
        </p:nvPicPr>
        <p:blipFill>
          <a:blip r:embed="rId4"/>
          <a:stretch>
            <a:fillRect/>
          </a:stretch>
        </p:blipFill>
        <p:spPr>
          <a:xfrm>
            <a:off x="6263640" y="2057400"/>
            <a:ext cx="438912" cy="438912"/>
          </a:xfrm>
          <a:prstGeom prst="rect">
            <a:avLst/>
          </a:prstGeom>
        </p:spPr>
      </p:pic>
      <p:pic>
        <p:nvPicPr>
          <p:cNvPr id="11" name="Picture 10" descr="user-x-gold.png"/>
          <p:cNvPicPr>
            <a:picLocks noChangeAspect="1"/>
          </p:cNvPicPr>
          <p:nvPr/>
        </p:nvPicPr>
        <p:blipFill>
          <a:blip r:embed="rId4"/>
          <a:stretch>
            <a:fillRect/>
          </a:stretch>
        </p:blipFill>
        <p:spPr>
          <a:xfrm>
            <a:off x="7287768" y="2057400"/>
            <a:ext cx="438912" cy="438912"/>
          </a:xfrm>
          <a:prstGeom prst="rect">
            <a:avLst/>
          </a:prstGeom>
        </p:spPr>
      </p:pic>
      <p:pic>
        <p:nvPicPr>
          <p:cNvPr id="12" name="Picture 11" descr="user-x-gold.png"/>
          <p:cNvPicPr>
            <a:picLocks noChangeAspect="1"/>
          </p:cNvPicPr>
          <p:nvPr/>
        </p:nvPicPr>
        <p:blipFill>
          <a:blip r:embed="rId4"/>
          <a:stretch>
            <a:fillRect/>
          </a:stretch>
        </p:blipFill>
        <p:spPr>
          <a:xfrm>
            <a:off x="8311896" y="2057400"/>
            <a:ext cx="438912" cy="438912"/>
          </a:xfrm>
          <a:prstGeom prst="rect">
            <a:avLst/>
          </a:prstGeom>
        </p:spPr>
      </p:pic>
      <p:pic>
        <p:nvPicPr>
          <p:cNvPr id="13" name="Picture 12" descr="user-x-gold.png"/>
          <p:cNvPicPr>
            <a:picLocks noChangeAspect="1"/>
          </p:cNvPicPr>
          <p:nvPr/>
        </p:nvPicPr>
        <p:blipFill>
          <a:blip r:embed="rId4"/>
          <a:stretch>
            <a:fillRect/>
          </a:stretch>
        </p:blipFill>
        <p:spPr>
          <a:xfrm>
            <a:off x="9336024" y="2057400"/>
            <a:ext cx="438912" cy="438912"/>
          </a:xfrm>
          <a:prstGeom prst="rect">
            <a:avLst/>
          </a:prstGeom>
        </p:spPr>
      </p:pic>
      <p:pic>
        <p:nvPicPr>
          <p:cNvPr id="14" name="Picture 13" descr="user-x-gold.png"/>
          <p:cNvPicPr>
            <a:picLocks noChangeAspect="1"/>
          </p:cNvPicPr>
          <p:nvPr/>
        </p:nvPicPr>
        <p:blipFill>
          <a:blip r:embed="rId4"/>
          <a:stretch>
            <a:fillRect/>
          </a:stretch>
        </p:blipFill>
        <p:spPr>
          <a:xfrm>
            <a:off x="10360152" y="2057400"/>
            <a:ext cx="438912" cy="438912"/>
          </a:xfrm>
          <a:prstGeom prst="rect">
            <a:avLst/>
          </a:prstGeom>
        </p:spPr>
      </p:pic>
      <p:pic>
        <p:nvPicPr>
          <p:cNvPr id="15" name="Picture 14" descr="user-x-gold.png"/>
          <p:cNvPicPr>
            <a:picLocks noChangeAspect="1"/>
          </p:cNvPicPr>
          <p:nvPr/>
        </p:nvPicPr>
        <p:blipFill>
          <a:blip r:embed="rId4"/>
          <a:stretch>
            <a:fillRect/>
          </a:stretch>
        </p:blipFill>
        <p:spPr>
          <a:xfrm>
            <a:off x="6263640" y="2697480"/>
            <a:ext cx="438912" cy="438912"/>
          </a:xfrm>
          <a:prstGeom prst="rect">
            <a:avLst/>
          </a:prstGeom>
        </p:spPr>
      </p:pic>
      <p:pic>
        <p:nvPicPr>
          <p:cNvPr id="16" name="Picture 15" descr="user-x-gold.png"/>
          <p:cNvPicPr>
            <a:picLocks noChangeAspect="1"/>
          </p:cNvPicPr>
          <p:nvPr/>
        </p:nvPicPr>
        <p:blipFill>
          <a:blip r:embed="rId4"/>
          <a:stretch>
            <a:fillRect/>
          </a:stretch>
        </p:blipFill>
        <p:spPr>
          <a:xfrm>
            <a:off x="7287768" y="2697480"/>
            <a:ext cx="438912" cy="438912"/>
          </a:xfrm>
          <a:prstGeom prst="rect">
            <a:avLst/>
          </a:prstGeom>
        </p:spPr>
      </p:pic>
      <p:pic>
        <p:nvPicPr>
          <p:cNvPr id="17" name="Picture 16" descr="user-x-gold.png"/>
          <p:cNvPicPr>
            <a:picLocks noChangeAspect="1"/>
          </p:cNvPicPr>
          <p:nvPr/>
        </p:nvPicPr>
        <p:blipFill>
          <a:blip r:embed="rId4"/>
          <a:stretch>
            <a:fillRect/>
          </a:stretch>
        </p:blipFill>
        <p:spPr>
          <a:xfrm>
            <a:off x="8311896" y="2697480"/>
            <a:ext cx="438912" cy="438912"/>
          </a:xfrm>
          <a:prstGeom prst="rect">
            <a:avLst/>
          </a:prstGeom>
        </p:spPr>
      </p:pic>
      <p:pic>
        <p:nvPicPr>
          <p:cNvPr id="18" name="Picture 17" descr="user-x-gold.png"/>
          <p:cNvPicPr>
            <a:picLocks noChangeAspect="1"/>
          </p:cNvPicPr>
          <p:nvPr/>
        </p:nvPicPr>
        <p:blipFill>
          <a:blip r:embed="rId4"/>
          <a:stretch>
            <a:fillRect/>
          </a:stretch>
        </p:blipFill>
        <p:spPr>
          <a:xfrm>
            <a:off x="9336024" y="2697480"/>
            <a:ext cx="438912" cy="438912"/>
          </a:xfrm>
          <a:prstGeom prst="rect">
            <a:avLst/>
          </a:prstGeom>
        </p:spPr>
      </p:pic>
      <p:pic>
        <p:nvPicPr>
          <p:cNvPr id="19" name="Picture 18" descr="user-x-gold.png"/>
          <p:cNvPicPr>
            <a:picLocks noChangeAspect="1"/>
          </p:cNvPicPr>
          <p:nvPr/>
        </p:nvPicPr>
        <p:blipFill>
          <a:blip r:embed="rId4"/>
          <a:stretch>
            <a:fillRect/>
          </a:stretch>
        </p:blipFill>
        <p:spPr>
          <a:xfrm>
            <a:off x="10360152" y="2697480"/>
            <a:ext cx="438912" cy="438912"/>
          </a:xfrm>
          <a:prstGeom prst="rect">
            <a:avLst/>
          </a:prstGeom>
        </p:spPr>
      </p:pic>
      <p:sp>
        <p:nvSpPr>
          <p:cNvPr id="20" name="TextBox 19"/>
          <p:cNvSpPr txBox="1"/>
          <p:nvPr/>
        </p:nvSpPr>
        <p:spPr>
          <a:xfrm>
            <a:off x="6217920" y="3383280"/>
            <a:ext cx="5257800" cy="777240"/>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10 of 10 journalists — the same unlawful advice </a:t>
            </a:r>
            <a:r>
              <a:rPr sz="650" baseline="30000" b="0" i="1">
                <a:latin typeface="DejaVu Sans"/>
                <a:cs typeface="DejaVu Sans"/>
                <a:ea typeface="DejaVu Sans"/>
                <a:solidFill>
                  <a:srgbClr val="1C7293"/>
                </a:solidFill>
              </a:rPr>
              <a:t>[3]</a:t>
            </a:r>
            <a:r>
              <a:rPr sz="1250" b="1" i="0">
                <a:latin typeface="DejaVu Sans"/>
                <a:cs typeface="DejaVu Sans"/>
                <a:ea typeface="DejaVu Sans"/>
                <a:solidFill>
                  <a:srgbClr val="21295C"/>
                </a:solidFill>
              </a:rPr>
              <a:t>. The mayor did not pull the bot.</a:t>
            </a:r>
          </a:p>
        </p:txBody>
      </p:sp>
      <p:sp>
        <p:nvSpPr>
          <p:cNvPr id="21" name="Rounded Rectangle 20"/>
          <p:cNvSpPr/>
          <p:nvPr/>
        </p:nvSpPr>
        <p:spPr>
          <a:xfrm>
            <a:off x="502920" y="5074920"/>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5129783"/>
            <a:ext cx="10762488" cy="45720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The lesson isn't "AI doesn't work" — it's "a throughput metric with no guaranteed human escalation is the wrong design."</a:t>
            </a:r>
          </a:p>
        </p:txBody>
      </p:sp>
      <p:sp>
        <p:nvSpPr>
          <p:cNvPr id="23" name="TextBox 22"/>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Bloomberg (May 8, 2025) — Klarna</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Fortune (Oct 10, 2025) — 853 FTE</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The Markup (Mar 29, 2024) — NYC MyCity</a:t>
            </a:r>
          </a:p>
        </p:txBody>
      </p:sp>
      <p:sp>
        <p:nvSpPr>
          <p:cNvPr id="24" name="TextBox 2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45 / 56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6</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4-sad-pablo.jpg"/>
          <p:cNvPicPr>
            <a:picLocks noChangeAspect="1"/>
          </p:cNvPicPr>
          <p:nvPr/>
        </p:nvPicPr>
        <p:blipFill>
          <a:blip r:embed="rId2"/>
          <a:stretch>
            <a:fillRect/>
          </a:stretch>
        </p:blipFill>
        <p:spPr>
          <a:xfrm>
            <a:off x="7763256" y="1437303"/>
            <a:ext cx="3813048" cy="3754793"/>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6</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Governance — the capstone that answers the hook paradox</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2 failures · payoff</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Why assembly is nearly free, but value is not. Here we rise to the level of the organization and assemble the whole loop.</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27" name="Rounded Rectangle 26"/>
          <p:cNvSpPr/>
          <p:nvPr/>
        </p:nvSpPr>
        <p:spPr>
          <a:xfrm>
            <a:off x="897255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1" i="0">
                <a:solidFill>
                  <a:srgbClr val="21295C"/>
                </a:solidFill>
                <a:latin typeface="DejaVu Sans"/>
              </a:rPr>
              <a:t>Governance</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Synthesis</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46 / 56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The same go/kill gate — but now it allocates capital across many initiatives</a:t>
            </a:r>
          </a:p>
        </p:txBody>
      </p:sp>
      <p:sp>
        <p:nvSpPr>
          <p:cNvPr id="3" name="Rounded Rectangle 2"/>
          <p:cNvSpPr/>
          <p:nvPr/>
        </p:nvSpPr>
        <p:spPr>
          <a:xfrm>
            <a:off x="502920" y="1463040"/>
            <a:ext cx="5532120" cy="3246120"/>
          </a:xfrm>
          <a:prstGeom prst="roundRect">
            <a:avLst>
              <a:gd name="adj" fmla="val 938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72768"/>
            <a:ext cx="5029200" cy="365760"/>
          </a:xfrm>
          <a:prstGeom prst="rect">
            <a:avLst/>
          </a:prstGeom>
          <a:noFill/>
        </p:spPr>
        <p:txBody>
          <a:bodyPr wrap="square" lIns="0" rIns="0" tIns="0" bIns="0" anchor="t">
            <a:spAutoFit/>
          </a:bodyPr>
          <a:lstStyle/>
          <a:p>
            <a:pPr algn="l">
              <a:lnSpc>
                <a:spcPct val="115000"/>
              </a:lnSpc>
            </a:pPr>
            <a:r>
              <a:rPr sz="1350" b="1" i="0">
                <a:solidFill>
                  <a:srgbClr val="065A82"/>
                </a:solidFill>
                <a:latin typeface="DejaVu Sans"/>
              </a:rPr>
              <a:t>Portfolio funnel</a:t>
            </a:r>
          </a:p>
        </p:txBody>
      </p:sp>
      <p:sp>
        <p:nvSpPr>
          <p:cNvPr id="5" name="Rounded Rectangle 4"/>
          <p:cNvSpPr/>
          <p:nvPr/>
        </p:nvSpPr>
        <p:spPr>
          <a:xfrm>
            <a:off x="800100" y="2057400"/>
            <a:ext cx="4892040" cy="475488"/>
          </a:xfrm>
          <a:prstGeom prst="roundRect">
            <a:avLst>
              <a:gd name="adj" fmla="val 10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057400"/>
            <a:ext cx="4892040" cy="475488"/>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many initiatives</a:t>
            </a:r>
          </a:p>
        </p:txBody>
      </p:sp>
      <p:sp>
        <p:nvSpPr>
          <p:cNvPr id="7" name="Rounded Rectangle 6"/>
          <p:cNvSpPr/>
          <p:nvPr/>
        </p:nvSpPr>
        <p:spPr>
          <a:xfrm>
            <a:off x="1417320" y="2679192"/>
            <a:ext cx="3657600" cy="475488"/>
          </a:xfrm>
          <a:prstGeom prst="roundRect">
            <a:avLst>
              <a:gd name="adj" fmla="val 10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17320" y="2679192"/>
            <a:ext cx="3657600" cy="475488"/>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gate 1</a:t>
            </a:r>
          </a:p>
        </p:txBody>
      </p:sp>
      <p:sp>
        <p:nvSpPr>
          <p:cNvPr id="9" name="Rounded Rectangle 8"/>
          <p:cNvSpPr/>
          <p:nvPr/>
        </p:nvSpPr>
        <p:spPr>
          <a:xfrm>
            <a:off x="2057400" y="3300984"/>
            <a:ext cx="2377440" cy="475488"/>
          </a:xfrm>
          <a:prstGeom prst="roundRect">
            <a:avLst>
              <a:gd name="adj" fmla="val 10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300984"/>
            <a:ext cx="2377440" cy="475488"/>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gate 2</a:t>
            </a:r>
          </a:p>
        </p:txBody>
      </p:sp>
      <p:sp>
        <p:nvSpPr>
          <p:cNvPr id="11" name="Rounded Rectangle 10"/>
          <p:cNvSpPr/>
          <p:nvPr/>
        </p:nvSpPr>
        <p:spPr>
          <a:xfrm>
            <a:off x="2194560" y="3922776"/>
            <a:ext cx="2103120" cy="475488"/>
          </a:xfrm>
          <a:prstGeom prst="roundRect">
            <a:avLst>
              <a:gd name="adj" fmla="val 10000"/>
            </a:avLst>
          </a:prstGeom>
          <a:solidFill>
            <a:srgbClr val="F4F7FA"/>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0" y="3922776"/>
            <a:ext cx="2103120" cy="475488"/>
          </a:xfrm>
          <a:prstGeom prst="rect">
            <a:avLst/>
          </a:prstGeom>
          <a:noFill/>
        </p:spPr>
        <p:txBody>
          <a:bodyPr wrap="square" lIns="0" rIns="0" tIns="0" bIns="0" anchor="ctr">
            <a:spAutoFit/>
          </a:bodyPr>
          <a:lstStyle/>
          <a:p>
            <a:pPr algn="ctr">
              <a:lnSpc>
                <a:spcPct val="115000"/>
              </a:lnSpc>
            </a:pPr>
            <a:r>
              <a:rPr sz="1050" b="1" i="0">
                <a:solidFill>
                  <a:srgbClr val="21295C"/>
                </a:solidFill>
                <a:latin typeface="DejaVu Sans"/>
              </a:rPr>
              <a:t>funded</a:t>
            </a:r>
          </a:p>
        </p:txBody>
      </p:sp>
      <p:sp>
        <p:nvSpPr>
          <p:cNvPr id="13" name="Rounded Rectangle 12"/>
          <p:cNvSpPr/>
          <p:nvPr/>
        </p:nvSpPr>
        <p:spPr>
          <a:xfrm>
            <a:off x="6263640" y="1463040"/>
            <a:ext cx="5440680" cy="1691640"/>
          </a:xfrm>
          <a:prstGeom prst="roundRect">
            <a:avLst>
              <a:gd name="adj" fmla="val 18018"/>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600200"/>
            <a:ext cx="4983480"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DejaVu Sans"/>
              </a:rPr>
              <a:t>Unit economics of an AI product</a:t>
            </a:r>
          </a:p>
        </p:txBody>
      </p:sp>
      <p:sp>
        <p:nvSpPr>
          <p:cNvPr id="15" name="TextBox 14"/>
          <p:cNvSpPr txBox="1"/>
          <p:nvPr/>
        </p:nvSpPr>
        <p:spPr>
          <a:xfrm>
            <a:off x="6492240" y="2057400"/>
            <a:ext cx="4983480" cy="1005840"/>
          </a:xfrm>
          <a:prstGeom prst="rect">
            <a:avLst/>
          </a:prstGeom>
          <a:noFill/>
        </p:spPr>
        <p:txBody>
          <a:bodyPr wrap="square" lIns="0" rIns="0" tIns="0" bIns="0" anchor="t">
            <a:spAutoFit/>
          </a:bodyPr>
          <a:lstStyle/>
          <a:p>
            <a:pPr algn="l">
              <a:lnSpc>
                <a:spcPct val="118000"/>
              </a:lnSpc>
            </a:pPr>
            <a:r>
              <a:rPr sz="1250" b="0" i="0">
                <a:solidFill>
                  <a:srgbClr val="21295C"/>
                </a:solidFill>
                <a:latin typeface="DejaVu Sans"/>
              </a:rPr>
              <a:t>A new variable — cost per request against value per request. Every call to the model costs real money.</a:t>
            </a:r>
          </a:p>
        </p:txBody>
      </p:sp>
      <p:sp>
        <p:nvSpPr>
          <p:cNvPr id="16" name="Rounded Rectangle 15"/>
          <p:cNvSpPr/>
          <p:nvPr/>
        </p:nvSpPr>
        <p:spPr>
          <a:xfrm>
            <a:off x="6263640" y="3337560"/>
            <a:ext cx="5440680" cy="1371600"/>
          </a:xfrm>
          <a:prstGeom prst="roundRect">
            <a:avLst>
              <a:gd name="adj" fmla="val 7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456432"/>
            <a:ext cx="4983480" cy="1143000"/>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a:rPr>
              <a:t>Financial KPI at pilot entry: "cut ticket cost from X to Y while CSAT &gt;= Z; N tickets, M weeks, owner — Smith."</a:t>
            </a:r>
          </a:p>
        </p:txBody>
      </p:sp>
      <p:sp>
        <p:nvSpPr>
          <p:cNvPr id="18" name="Rounded Rectangle 17"/>
          <p:cNvSpPr/>
          <p:nvPr/>
        </p:nvSpPr>
        <p:spPr>
          <a:xfrm>
            <a:off x="502920" y="4892040"/>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4946903"/>
            <a:ext cx="10762488" cy="54864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Portfolio governance = Stage-Gate, raised to the level of capital: the same "a funnel, not a tunnel" discipline, but across products, not within one.</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47 / 56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66928"/>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The structure of cost and revenue: by type it is measured, by feature you do it yourself</a:t>
            </a:r>
          </a:p>
        </p:txBody>
      </p:sp>
      <p:sp>
        <p:nvSpPr>
          <p:cNvPr id="3" name="Rounded Rectangle 2"/>
          <p:cNvSpPr/>
          <p:nvPr/>
        </p:nvSpPr>
        <p:spPr>
          <a:xfrm>
            <a:off x="502920" y="804672"/>
            <a:ext cx="4709160" cy="4206240"/>
          </a:xfrm>
          <a:prstGeom prst="roundRect">
            <a:avLst>
              <a:gd name="adj" fmla="val 7246"/>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14400"/>
            <a:ext cx="4288536"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BY TYPE — WHAT HAS BEEN MEASURED</a:t>
            </a:r>
          </a:p>
        </p:txBody>
      </p:sp>
      <p:sp>
        <p:nvSpPr>
          <p:cNvPr id="5" name="TextBox 4"/>
          <p:cNvSpPr txBox="1"/>
          <p:nvPr/>
        </p:nvSpPr>
        <p:spPr>
          <a:xfrm>
            <a:off x="713232" y="1152144"/>
            <a:ext cx="4288536" cy="237744"/>
          </a:xfrm>
          <a:prstGeom prst="rect">
            <a:avLst/>
          </a:prstGeom>
          <a:noFill/>
        </p:spPr>
        <p:txBody>
          <a:bodyPr wrap="square" lIns="0" rIns="0" tIns="0" bIns="0" anchor="t">
            <a:spAutoFit/>
          </a:bodyPr>
          <a:lstStyle/>
          <a:p>
            <a:pPr algn="l">
              <a:lnSpc>
                <a:spcPct val="100000"/>
              </a:lnSpc>
            </a:pPr>
            <a:r>
              <a:rPr sz="960" b="0" i="1">
                <a:solidFill>
                  <a:srgbClr val="5B6678"/>
                </a:solidFill>
                <a:latin typeface="DejaVu Sans"/>
              </a:rPr>
              <a:t>shares of product cost: before launch → at scale</a:t>
            </a:r>
          </a:p>
        </p:txBody>
      </p:sp>
      <p:sp>
        <p:nvSpPr>
          <p:cNvPr id="6" name="TextBox 5"/>
          <p:cNvSpPr txBox="1"/>
          <p:nvPr/>
        </p:nvSpPr>
        <p:spPr>
          <a:xfrm>
            <a:off x="713232" y="1408176"/>
            <a:ext cx="4288536" cy="201168"/>
          </a:xfrm>
          <a:prstGeom prst="rect">
            <a:avLst/>
          </a:prstGeom>
          <a:noFill/>
        </p:spPr>
        <p:txBody>
          <a:bodyPr wrap="square" lIns="0" rIns="0" tIns="0" bIns="0" anchor="t">
            <a:spAutoFit/>
          </a:bodyPr>
          <a:lstStyle/>
          <a:p>
            <a:pPr algn="l">
              <a:lnSpc>
                <a:spcPct val="100000"/>
              </a:lnSpc>
            </a:pPr>
            <a:r>
              <a:rPr sz="860" b="0" i="1">
                <a:solidFill>
                  <a:srgbClr val="5B6678"/>
                </a:solidFill>
                <a:latin typeface="DejaVu Sans"/>
              </a:rPr>
              <a:t>before the product launches</a:t>
            </a:r>
          </a:p>
        </p:txBody>
      </p:sp>
      <p:sp>
        <p:nvSpPr>
          <p:cNvPr id="7" name="Rectangle 6"/>
          <p:cNvSpPr/>
          <p:nvPr/>
        </p:nvSpPr>
        <p:spPr>
          <a:xfrm>
            <a:off x="713232" y="1627632"/>
            <a:ext cx="1372331"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627632"/>
            <a:ext cx="1372331" cy="329184"/>
          </a:xfrm>
          <a:prstGeom prst="rect">
            <a:avLst/>
          </a:prstGeom>
          <a:noFill/>
        </p:spPr>
        <p:txBody>
          <a:bodyPr wrap="square" lIns="0" rIns="0" tIns="0" bIns="0" anchor="ctr">
            <a:spAutoFit/>
          </a:bodyPr>
          <a:lstStyle/>
          <a:p>
            <a:pPr algn="ctr">
              <a:lnSpc>
                <a:spcPct val="100000"/>
              </a:lnSpc>
            </a:pPr>
            <a:r>
              <a:rPr sz="900" b="1" i="0">
                <a:solidFill>
                  <a:srgbClr val="FFFFFF"/>
                </a:solidFill>
                <a:latin typeface="DejaVu Sans"/>
              </a:rPr>
              <a:t>32</a:t>
            </a:r>
          </a:p>
        </p:txBody>
      </p:sp>
      <p:sp>
        <p:nvSpPr>
          <p:cNvPr id="9" name="Rectangle 8"/>
          <p:cNvSpPr/>
          <p:nvPr/>
        </p:nvSpPr>
        <p:spPr>
          <a:xfrm>
            <a:off x="2085563" y="1627632"/>
            <a:ext cx="857707" cy="329184"/>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85563" y="1627632"/>
            <a:ext cx="857707" cy="329184"/>
          </a:xfrm>
          <a:prstGeom prst="rect">
            <a:avLst/>
          </a:prstGeom>
          <a:noFill/>
        </p:spPr>
        <p:txBody>
          <a:bodyPr wrap="square" lIns="0" rIns="0" tIns="0" bIns="0" anchor="ctr">
            <a:spAutoFit/>
          </a:bodyPr>
          <a:lstStyle/>
          <a:p>
            <a:pPr algn="ctr">
              <a:lnSpc>
                <a:spcPct val="100000"/>
              </a:lnSpc>
            </a:pPr>
            <a:r>
              <a:rPr sz="900" b="1" i="0">
                <a:solidFill>
                  <a:srgbClr val="21295C"/>
                </a:solidFill>
                <a:latin typeface="DejaVu Sans"/>
              </a:rPr>
              <a:t>20</a:t>
            </a:r>
          </a:p>
        </p:txBody>
      </p:sp>
      <p:sp>
        <p:nvSpPr>
          <p:cNvPr id="11" name="Rectangle 10"/>
          <p:cNvSpPr/>
          <p:nvPr/>
        </p:nvSpPr>
        <p:spPr>
          <a:xfrm>
            <a:off x="2943270" y="1627632"/>
            <a:ext cx="686165" cy="32918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3270" y="1627632"/>
            <a:ext cx="686165" cy="329184"/>
          </a:xfrm>
          <a:prstGeom prst="rect">
            <a:avLst/>
          </a:prstGeom>
          <a:noFill/>
        </p:spPr>
        <p:txBody>
          <a:bodyPr wrap="square" lIns="0" rIns="0" tIns="0" bIns="0" anchor="ctr">
            <a:spAutoFit/>
          </a:bodyPr>
          <a:lstStyle/>
          <a:p>
            <a:pPr algn="ctr">
              <a:lnSpc>
                <a:spcPct val="100000"/>
              </a:lnSpc>
            </a:pPr>
            <a:r>
              <a:rPr sz="900" b="1" i="0">
                <a:solidFill>
                  <a:srgbClr val="FFFFFF"/>
                </a:solidFill>
                <a:latin typeface="DejaVu Sans"/>
              </a:rPr>
              <a:t>16</a:t>
            </a:r>
          </a:p>
        </p:txBody>
      </p:sp>
      <p:sp>
        <p:nvSpPr>
          <p:cNvPr id="13" name="Rectangle 12"/>
          <p:cNvSpPr/>
          <p:nvPr/>
        </p:nvSpPr>
        <p:spPr>
          <a:xfrm>
            <a:off x="3629436" y="1627632"/>
            <a:ext cx="257312" cy="32918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6748" y="1627632"/>
            <a:ext cx="1115019" cy="32918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86748" y="1627632"/>
            <a:ext cx="1115019" cy="329184"/>
          </a:xfrm>
          <a:prstGeom prst="rect">
            <a:avLst/>
          </a:prstGeom>
          <a:noFill/>
        </p:spPr>
        <p:txBody>
          <a:bodyPr wrap="square" lIns="0" rIns="0" tIns="0" bIns="0" anchor="ctr">
            <a:spAutoFit/>
          </a:bodyPr>
          <a:lstStyle/>
          <a:p>
            <a:pPr algn="ctr">
              <a:lnSpc>
                <a:spcPct val="100000"/>
              </a:lnSpc>
            </a:pPr>
            <a:r>
              <a:rPr sz="900" b="1" i="0">
                <a:solidFill>
                  <a:srgbClr val="21295C"/>
                </a:solidFill>
                <a:latin typeface="DejaVu Sans"/>
              </a:rPr>
              <a:t>26</a:t>
            </a:r>
          </a:p>
        </p:txBody>
      </p:sp>
      <p:sp>
        <p:nvSpPr>
          <p:cNvPr id="16" name="TextBox 15"/>
          <p:cNvSpPr txBox="1"/>
          <p:nvPr/>
        </p:nvSpPr>
        <p:spPr>
          <a:xfrm>
            <a:off x="713232" y="1993392"/>
            <a:ext cx="4288536" cy="219456"/>
          </a:xfrm>
          <a:prstGeom prst="rect">
            <a:avLst/>
          </a:prstGeom>
          <a:noFill/>
        </p:spPr>
        <p:txBody>
          <a:bodyPr wrap="square" lIns="0" rIns="0" tIns="0" bIns="0" anchor="t">
            <a:spAutoFit/>
          </a:bodyPr>
          <a:lstStyle/>
          <a:p>
            <a:pPr algn="l">
              <a:lnSpc>
                <a:spcPct val="100000"/>
              </a:lnSpc>
            </a:pPr>
            <a:r>
              <a:rPr sz="880" b="1" i="0">
                <a:solidFill>
                  <a:srgbClr val="21295C"/>
                </a:solidFill>
                <a:latin typeface="DejaVu Sans"/>
              </a:rPr>
              <a:t>at scale</a:t>
            </a:r>
          </a:p>
        </p:txBody>
      </p:sp>
      <p:sp>
        <p:nvSpPr>
          <p:cNvPr id="17" name="Rectangle 16"/>
          <p:cNvSpPr/>
          <p:nvPr/>
        </p:nvSpPr>
        <p:spPr>
          <a:xfrm>
            <a:off x="713232" y="2231136"/>
            <a:ext cx="1115019" cy="43891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231136"/>
            <a:ext cx="1115019" cy="438912"/>
          </a:xfrm>
          <a:prstGeom prst="rect">
            <a:avLst/>
          </a:prstGeom>
          <a:noFill/>
        </p:spPr>
        <p:txBody>
          <a:bodyPr wrap="square" lIns="0" rIns="0" tIns="0" bIns="0" anchor="ctr">
            <a:spAutoFit/>
          </a:bodyPr>
          <a:lstStyle/>
          <a:p>
            <a:pPr algn="ctr">
              <a:lnSpc>
                <a:spcPct val="100000"/>
              </a:lnSpc>
            </a:pPr>
            <a:r>
              <a:rPr sz="1000" b="1" i="0">
                <a:solidFill>
                  <a:srgbClr val="FFFFFF"/>
                </a:solidFill>
                <a:latin typeface="DejaVu Sans"/>
              </a:rPr>
              <a:t>26</a:t>
            </a:r>
          </a:p>
        </p:txBody>
      </p:sp>
      <p:sp>
        <p:nvSpPr>
          <p:cNvPr id="19" name="Rectangle 18"/>
          <p:cNvSpPr/>
          <p:nvPr/>
        </p:nvSpPr>
        <p:spPr>
          <a:xfrm>
            <a:off x="1828251" y="2231136"/>
            <a:ext cx="986363" cy="43891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251" y="2231136"/>
            <a:ext cx="986363" cy="438912"/>
          </a:xfrm>
          <a:prstGeom prst="rect">
            <a:avLst/>
          </a:prstGeom>
          <a:noFill/>
        </p:spPr>
        <p:txBody>
          <a:bodyPr wrap="square" lIns="0" rIns="0" tIns="0" bIns="0" anchor="ctr">
            <a:spAutoFit/>
          </a:bodyPr>
          <a:lstStyle/>
          <a:p>
            <a:pPr algn="ctr">
              <a:lnSpc>
                <a:spcPct val="100000"/>
              </a:lnSpc>
            </a:pPr>
            <a:r>
              <a:rPr sz="1000" b="1" i="0">
                <a:solidFill>
                  <a:srgbClr val="21295C"/>
                </a:solidFill>
                <a:latin typeface="DejaVu Sans"/>
              </a:rPr>
              <a:t>23</a:t>
            </a:r>
          </a:p>
        </p:txBody>
      </p:sp>
      <p:sp>
        <p:nvSpPr>
          <p:cNvPr id="21" name="Rectangle 20"/>
          <p:cNvSpPr/>
          <p:nvPr/>
        </p:nvSpPr>
        <p:spPr>
          <a:xfrm>
            <a:off x="2814614" y="2231136"/>
            <a:ext cx="729051" cy="438912"/>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14614" y="2231136"/>
            <a:ext cx="729051" cy="438912"/>
          </a:xfrm>
          <a:prstGeom prst="rect">
            <a:avLst/>
          </a:prstGeom>
          <a:noFill/>
        </p:spPr>
        <p:txBody>
          <a:bodyPr wrap="square" lIns="0" rIns="0" tIns="0" bIns="0" anchor="ctr">
            <a:spAutoFit/>
          </a:bodyPr>
          <a:lstStyle/>
          <a:p>
            <a:pPr algn="ctr">
              <a:lnSpc>
                <a:spcPct val="100000"/>
              </a:lnSpc>
            </a:pPr>
            <a:r>
              <a:rPr sz="1000" b="1" i="0">
                <a:solidFill>
                  <a:srgbClr val="FFFFFF"/>
                </a:solidFill>
                <a:latin typeface="DejaVu Sans"/>
              </a:rPr>
              <a:t>17</a:t>
            </a:r>
          </a:p>
        </p:txBody>
      </p:sp>
      <p:sp>
        <p:nvSpPr>
          <p:cNvPr id="23" name="Rectangle 22"/>
          <p:cNvSpPr/>
          <p:nvPr/>
        </p:nvSpPr>
        <p:spPr>
          <a:xfrm>
            <a:off x="3543665" y="2231136"/>
            <a:ext cx="257312" cy="43891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00977" y="2231136"/>
            <a:ext cx="1200790" cy="438912"/>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00977" y="2231136"/>
            <a:ext cx="1200790" cy="438912"/>
          </a:xfrm>
          <a:prstGeom prst="rect">
            <a:avLst/>
          </a:prstGeom>
          <a:noFill/>
        </p:spPr>
        <p:txBody>
          <a:bodyPr wrap="square" lIns="0" rIns="0" tIns="0" bIns="0" anchor="ctr">
            <a:spAutoFit/>
          </a:bodyPr>
          <a:lstStyle/>
          <a:p>
            <a:pPr algn="ctr">
              <a:lnSpc>
                <a:spcPct val="100000"/>
              </a:lnSpc>
            </a:pPr>
            <a:r>
              <a:rPr sz="1000" b="1" i="0">
                <a:solidFill>
                  <a:srgbClr val="21295C"/>
                </a:solidFill>
                <a:latin typeface="DejaVu Sans"/>
              </a:rPr>
              <a:t>28</a:t>
            </a:r>
          </a:p>
        </p:txBody>
      </p:sp>
      <p:sp>
        <p:nvSpPr>
          <p:cNvPr id="26" name="Rectangle 25"/>
          <p:cNvSpPr/>
          <p:nvPr/>
        </p:nvSpPr>
        <p:spPr>
          <a:xfrm>
            <a:off x="731520" y="2788920"/>
            <a:ext cx="137160" cy="137160"/>
          </a:xfrm>
          <a:prstGeom prst="rect">
            <a:avLst/>
          </a:prstGeom>
          <a:solidFill>
            <a:srgbClr val="065A82"/>
          </a:solidFill>
          <a:ln w="76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2743200"/>
            <a:ext cx="4059936" cy="219456"/>
          </a:xfrm>
          <a:prstGeom prst="rect">
            <a:avLst/>
          </a:prstGeom>
          <a:noFill/>
        </p:spPr>
        <p:txBody>
          <a:bodyPr wrap="square" lIns="0" rIns="0" tIns="0" bIns="0" anchor="ctr">
            <a:spAutoFit/>
          </a:bodyPr>
          <a:lstStyle/>
          <a:p>
            <a:pPr algn="l">
              <a:lnSpc>
                <a:spcPct val="100000"/>
              </a:lnSpc>
            </a:pPr>
            <a:r>
              <a:rPr sz="930" b="1" i="0">
                <a:solidFill>
                  <a:srgbClr val="21295C"/>
                </a:solidFill>
                <a:latin typeface="DejaVu Sans"/>
              </a:rPr>
              <a:t>people</a:t>
            </a:r>
            <a:r>
              <a:rPr sz="930" b="0" i="0">
                <a:solidFill>
                  <a:srgbClr val="21295C"/>
                </a:solidFill>
                <a:latin typeface="DejaVu Sans"/>
              </a:rPr>
              <a:t> — 32% → 26%</a:t>
            </a:r>
          </a:p>
        </p:txBody>
      </p:sp>
      <p:sp>
        <p:nvSpPr>
          <p:cNvPr id="28" name="Rectangle 27"/>
          <p:cNvSpPr/>
          <p:nvPr/>
        </p:nvSpPr>
        <p:spPr>
          <a:xfrm>
            <a:off x="731520" y="3008376"/>
            <a:ext cx="137160" cy="137160"/>
          </a:xfrm>
          <a:prstGeom prst="rect">
            <a:avLst/>
          </a:prstGeom>
          <a:solidFill>
            <a:srgbClr val="F0AB00"/>
          </a:solidFill>
          <a:ln w="76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2962656"/>
            <a:ext cx="4059936" cy="219456"/>
          </a:xfrm>
          <a:prstGeom prst="rect">
            <a:avLst/>
          </a:prstGeom>
          <a:noFill/>
        </p:spPr>
        <p:txBody>
          <a:bodyPr wrap="square" lIns="0" rIns="0" tIns="0" bIns="0" anchor="ctr">
            <a:spAutoFit/>
          </a:bodyPr>
          <a:lstStyle/>
          <a:p>
            <a:pPr algn="l">
              <a:lnSpc>
                <a:spcPct val="100000"/>
              </a:lnSpc>
            </a:pPr>
            <a:r>
              <a:rPr sz="930" b="1" i="0">
                <a:solidFill>
                  <a:srgbClr val="21295C"/>
                </a:solidFill>
                <a:latin typeface="DejaVu Sans"/>
              </a:rPr>
              <a:t>model calls</a:t>
            </a:r>
            <a:r>
              <a:rPr sz="930" b="0" i="0">
                <a:solidFill>
                  <a:srgbClr val="21295C"/>
                </a:solidFill>
                <a:latin typeface="DejaVu Sans"/>
              </a:rPr>
              <a:t> — 20% → 23%</a:t>
            </a:r>
          </a:p>
        </p:txBody>
      </p:sp>
      <p:sp>
        <p:nvSpPr>
          <p:cNvPr id="30" name="Rectangle 29"/>
          <p:cNvSpPr/>
          <p:nvPr/>
        </p:nvSpPr>
        <p:spPr>
          <a:xfrm>
            <a:off x="731520" y="3227832"/>
            <a:ext cx="137160" cy="137160"/>
          </a:xfrm>
          <a:prstGeom prst="rect">
            <a:avLst/>
          </a:prstGeom>
          <a:solidFill>
            <a:srgbClr val="028090"/>
          </a:solidFill>
          <a:ln w="76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3182112"/>
            <a:ext cx="4059936" cy="219456"/>
          </a:xfrm>
          <a:prstGeom prst="rect">
            <a:avLst/>
          </a:prstGeom>
          <a:noFill/>
        </p:spPr>
        <p:txBody>
          <a:bodyPr wrap="square" lIns="0" rIns="0" tIns="0" bIns="0" anchor="ctr">
            <a:spAutoFit/>
          </a:bodyPr>
          <a:lstStyle/>
          <a:p>
            <a:pPr algn="l">
              <a:lnSpc>
                <a:spcPct val="100000"/>
              </a:lnSpc>
            </a:pPr>
            <a:r>
              <a:rPr sz="930" b="1" i="0">
                <a:solidFill>
                  <a:srgbClr val="21295C"/>
                </a:solidFill>
                <a:latin typeface="DejaVu Sans"/>
              </a:rPr>
              <a:t>hardware and cloud</a:t>
            </a:r>
            <a:r>
              <a:rPr sz="930" b="0" i="0">
                <a:solidFill>
                  <a:srgbClr val="21295C"/>
                </a:solidFill>
                <a:latin typeface="DejaVu Sans"/>
              </a:rPr>
              <a:t> — around 17%, unchanged</a:t>
            </a:r>
          </a:p>
        </p:txBody>
      </p:sp>
      <p:sp>
        <p:nvSpPr>
          <p:cNvPr id="32" name="Rectangle 31"/>
          <p:cNvSpPr/>
          <p:nvPr/>
        </p:nvSpPr>
        <p:spPr>
          <a:xfrm>
            <a:off x="731520" y="3447287"/>
            <a:ext cx="137160" cy="137160"/>
          </a:xfrm>
          <a:prstGeom prst="rect">
            <a:avLst/>
          </a:prstGeom>
          <a:solidFill>
            <a:srgbClr val="1C7293"/>
          </a:solidFill>
          <a:ln w="76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 y="3401568"/>
            <a:ext cx="4059936" cy="219456"/>
          </a:xfrm>
          <a:prstGeom prst="rect">
            <a:avLst/>
          </a:prstGeom>
          <a:noFill/>
        </p:spPr>
        <p:txBody>
          <a:bodyPr wrap="square" lIns="0" rIns="0" tIns="0" bIns="0" anchor="ctr">
            <a:spAutoFit/>
          </a:bodyPr>
          <a:lstStyle/>
          <a:p>
            <a:pPr algn="l">
              <a:lnSpc>
                <a:spcPct val="100000"/>
              </a:lnSpc>
            </a:pPr>
            <a:r>
              <a:rPr sz="930" b="1" i="0">
                <a:solidFill>
                  <a:srgbClr val="21295C"/>
                </a:solidFill>
                <a:latin typeface="DejaVu Sans"/>
              </a:rPr>
              <a:t>data storage and processing</a:t>
            </a:r>
            <a:r>
              <a:rPr sz="930" b="0" i="0">
                <a:solidFill>
                  <a:srgbClr val="21295C"/>
                </a:solidFill>
                <a:latin typeface="DejaVu Sans"/>
              </a:rPr>
              <a:t> — 6%</a:t>
            </a:r>
          </a:p>
        </p:txBody>
      </p:sp>
      <p:sp>
        <p:nvSpPr>
          <p:cNvPr id="34" name="Rectangle 33"/>
          <p:cNvSpPr/>
          <p:nvPr/>
        </p:nvSpPr>
        <p:spPr>
          <a:xfrm>
            <a:off x="731520" y="3666744"/>
            <a:ext cx="137160" cy="137160"/>
          </a:xfrm>
          <a:prstGeom prst="rect">
            <a:avLst/>
          </a:prstGeom>
          <a:solidFill>
            <a:srgbClr val="E5EAF0"/>
          </a:solidFill>
          <a:ln w="76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621024"/>
            <a:ext cx="4059936" cy="219456"/>
          </a:xfrm>
          <a:prstGeom prst="rect">
            <a:avLst/>
          </a:prstGeom>
          <a:noFill/>
        </p:spPr>
        <p:txBody>
          <a:bodyPr wrap="square" lIns="0" rIns="0" tIns="0" bIns="0" anchor="ctr">
            <a:spAutoFit/>
          </a:bodyPr>
          <a:lstStyle/>
          <a:p>
            <a:pPr algn="l">
              <a:lnSpc>
                <a:spcPct val="100000"/>
              </a:lnSpc>
            </a:pPr>
            <a:r>
              <a:rPr sz="930" b="1" i="0">
                <a:solidFill>
                  <a:srgbClr val="21295C"/>
                </a:solidFill>
                <a:latin typeface="DejaVu Sans"/>
              </a:rPr>
              <a:t>everything else</a:t>
            </a:r>
            <a:r>
              <a:rPr sz="930" b="0" i="0">
                <a:solidFill>
                  <a:srgbClr val="21295C"/>
                </a:solidFill>
                <a:latin typeface="DejaVu Sans"/>
              </a:rPr>
              <a:t> — model training, compliance</a:t>
            </a:r>
          </a:p>
        </p:txBody>
      </p:sp>
      <p:sp>
        <p:nvSpPr>
          <p:cNvPr id="36" name="TextBox 35"/>
          <p:cNvSpPr txBox="1"/>
          <p:nvPr/>
        </p:nvSpPr>
        <p:spPr>
          <a:xfrm>
            <a:off x="713232" y="3877056"/>
            <a:ext cx="4288536" cy="365760"/>
          </a:xfrm>
          <a:prstGeom prst="rect">
            <a:avLst/>
          </a:prstGeom>
          <a:noFill/>
        </p:spPr>
        <p:txBody>
          <a:bodyPr wrap="square" lIns="0" rIns="0" tIns="0" bIns="0" anchor="t">
            <a:spAutoFit/>
          </a:bodyPr>
          <a:lstStyle/>
          <a:p>
            <a:pPr algn="l">
              <a:lnSpc>
                <a:spcPct val="100000"/>
              </a:lnSpc>
            </a:pPr>
            <a:r>
              <a:rPr sz="800" b="0" i="1">
                <a:solidFill>
                  <a:srgbClr val="5B6678"/>
                </a:solidFill>
                <a:latin typeface="DejaVu Sans"/>
              </a:rPr>
              <a:t>ICONIQ Capital, State of AI 2026: around 305 executives of companies that build products with AI, a survey of the second quarter of 2026. The first four shares come from the report; the last one closes the sum to 100%</a:t>
            </a:r>
          </a:p>
        </p:txBody>
      </p:sp>
      <p:sp>
        <p:nvSpPr>
          <p:cNvPr id="37" name="TextBox 36"/>
          <p:cNvSpPr txBox="1"/>
          <p:nvPr/>
        </p:nvSpPr>
        <p:spPr>
          <a:xfrm>
            <a:off x="713232" y="4297680"/>
            <a:ext cx="4288536" cy="658368"/>
          </a:xfrm>
          <a:prstGeom prst="rect">
            <a:avLst/>
          </a:prstGeom>
          <a:noFill/>
        </p:spPr>
        <p:txBody>
          <a:bodyPr wrap="square" lIns="0" rIns="0" tIns="0" bIns="0" anchor="t">
            <a:spAutoFit/>
          </a:bodyPr>
          <a:lstStyle/>
          <a:p>
            <a:pPr algn="l">
              <a:lnSpc>
                <a:spcPct val="112000"/>
              </a:lnSpc>
            </a:pPr>
            <a:r>
              <a:rPr sz="960" b="0" i="0">
                <a:solidFill>
                  <a:srgbClr val="21295C"/>
                </a:solidFill>
                <a:latin typeface="DejaVu Sans"/>
              </a:rPr>
              <a:t>On the revenue side: model calls eat around </a:t>
            </a:r>
            <a:r>
              <a:rPr sz="960" b="1" i="0">
                <a:solidFill>
                  <a:srgbClr val="21295C"/>
                </a:solidFill>
                <a:latin typeface="DejaVu Sans"/>
              </a:rPr>
              <a:t>23% of revenue</a:t>
            </a:r>
            <a:r>
              <a:rPr sz="960" b="0" i="0">
                <a:solidFill>
                  <a:srgbClr val="21295C"/>
                </a:solidFill>
                <a:latin typeface="DejaVu Sans"/>
              </a:rPr>
              <a:t>. Gross margin on products with AI was </a:t>
            </a:r>
            <a:r>
              <a:rPr sz="960" b="1" i="0">
                <a:solidFill>
                  <a:srgbClr val="21295C"/>
                </a:solidFill>
                <a:latin typeface="DejaVu Sans"/>
              </a:rPr>
              <a:t>45%</a:t>
            </a:r>
            <a:r>
              <a:rPr sz="960" b="0" i="0">
                <a:solidFill>
                  <a:srgbClr val="21295C"/>
                </a:solidFill>
                <a:latin typeface="DejaVu Sans"/>
              </a:rPr>
              <a:t> in 2025, and </a:t>
            </a:r>
            <a:r>
              <a:rPr sz="960" b="1" i="0">
                <a:solidFill>
                  <a:srgbClr val="21295C"/>
                </a:solidFill>
                <a:latin typeface="DejaVu Sans"/>
              </a:rPr>
              <a:t>53%</a:t>
            </a:r>
            <a:r>
              <a:rPr sz="960" b="0" i="0">
                <a:solidFill>
                  <a:srgbClr val="21295C"/>
                </a:solidFill>
                <a:latin typeface="DejaVu Sans"/>
              </a:rPr>
              <a:t> is expected for 2026; on a classic software product it holds above 70%.</a:t>
            </a:r>
          </a:p>
        </p:txBody>
      </p:sp>
      <p:sp>
        <p:nvSpPr>
          <p:cNvPr id="38" name="Rounded Rectangle 37"/>
          <p:cNvSpPr/>
          <p:nvPr/>
        </p:nvSpPr>
        <p:spPr>
          <a:xfrm>
            <a:off x="5394960" y="804672"/>
            <a:ext cx="6309360" cy="4206240"/>
          </a:xfrm>
          <a:prstGeom prst="roundRect">
            <a:avLst>
              <a:gd name="adj" fmla="val 7246"/>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05272" y="914400"/>
            <a:ext cx="5888736" cy="237744"/>
          </a:xfrm>
          <a:prstGeom prst="rect">
            <a:avLst/>
          </a:prstGeom>
          <a:noFill/>
        </p:spPr>
        <p:txBody>
          <a:bodyPr wrap="square" lIns="0" rIns="0" tIns="0" bIns="0" anchor="t">
            <a:spAutoFit/>
          </a:bodyPr>
          <a:lstStyle/>
          <a:p>
            <a:pPr algn="l">
              <a:lnSpc>
                <a:spcPct val="100000"/>
              </a:lnSpc>
            </a:pPr>
            <a:r>
              <a:rPr sz="1050" b="1" i="0">
                <a:solidFill>
                  <a:srgbClr val="028090"/>
                </a:solidFill>
                <a:latin typeface="DejaVu Sans"/>
              </a:rPr>
              <a:t>BY FEATURE — AND HOW THE DECISION IS TAKEN</a:t>
            </a:r>
          </a:p>
        </p:txBody>
      </p:sp>
      <p:sp>
        <p:nvSpPr>
          <p:cNvPr id="40" name="TextBox 39"/>
          <p:cNvSpPr txBox="1"/>
          <p:nvPr/>
        </p:nvSpPr>
        <p:spPr>
          <a:xfrm>
            <a:off x="5605272" y="1152144"/>
            <a:ext cx="5888736" cy="310896"/>
          </a:xfrm>
          <a:prstGeom prst="rect">
            <a:avLst/>
          </a:prstGeom>
          <a:noFill/>
        </p:spPr>
        <p:txBody>
          <a:bodyPr wrap="square" lIns="0" rIns="0" tIns="0" bIns="0" anchor="t">
            <a:spAutoFit/>
          </a:bodyPr>
          <a:lstStyle/>
          <a:p>
            <a:pPr algn="l">
              <a:lnSpc>
                <a:spcPct val="104000"/>
              </a:lnSpc>
            </a:pPr>
            <a:r>
              <a:rPr sz="960" b="0" i="1">
                <a:solidFill>
                  <a:srgbClr val="5B6678"/>
                </a:solidFill>
                <a:latin typeface="DejaVu Sans"/>
              </a:rPr>
              <a:t>worked through on the illustrative numbers of one catalogue: a breakdown like this is something few can build</a:t>
            </a:r>
          </a:p>
        </p:txBody>
      </p:sp>
      <p:sp>
        <p:nvSpPr>
          <p:cNvPr id="41" name="Rounded Rectangle 40"/>
          <p:cNvSpPr/>
          <p:nvPr/>
        </p:nvSpPr>
        <p:spPr>
          <a:xfrm>
            <a:off x="5605272" y="1499616"/>
            <a:ext cx="2139696"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78424" y="1499616"/>
            <a:ext cx="1993391" cy="310896"/>
          </a:xfrm>
          <a:prstGeom prst="rect">
            <a:avLst/>
          </a:prstGeom>
          <a:noFill/>
        </p:spPr>
        <p:txBody>
          <a:bodyPr wrap="square" lIns="0" rIns="0" tIns="0" bIns="0" anchor="ctr">
            <a:spAutoFit/>
          </a:bodyPr>
          <a:lstStyle/>
          <a:p>
            <a:pPr algn="ctr">
              <a:lnSpc>
                <a:spcPct val="100000"/>
              </a:lnSpc>
            </a:pPr>
            <a:r>
              <a:rPr sz="1000" b="1" i="0">
                <a:solidFill>
                  <a:srgbClr val="FFFFFF"/>
                </a:solidFill>
                <a:latin typeface="DejaVu Sans"/>
              </a:rPr>
              <a:t>Feature</a:t>
            </a:r>
          </a:p>
        </p:txBody>
      </p:sp>
      <p:sp>
        <p:nvSpPr>
          <p:cNvPr id="43" name="Rounded Rectangle 42"/>
          <p:cNvSpPr/>
          <p:nvPr/>
        </p:nvSpPr>
        <p:spPr>
          <a:xfrm>
            <a:off x="7781544" y="1499616"/>
            <a:ext cx="1280160"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54696" y="1499616"/>
            <a:ext cx="1133856" cy="310896"/>
          </a:xfrm>
          <a:prstGeom prst="rect">
            <a:avLst/>
          </a:prstGeom>
          <a:noFill/>
        </p:spPr>
        <p:txBody>
          <a:bodyPr wrap="square" lIns="0" rIns="0" tIns="0" bIns="0" anchor="ctr">
            <a:spAutoFit/>
          </a:bodyPr>
          <a:lstStyle/>
          <a:p>
            <a:pPr algn="ctr">
              <a:lnSpc>
                <a:spcPct val="100000"/>
              </a:lnSpc>
            </a:pPr>
            <a:r>
              <a:rPr sz="1000" b="1" i="0">
                <a:solidFill>
                  <a:srgbClr val="FFFFFF"/>
                </a:solidFill>
                <a:latin typeface="DejaVu Sans"/>
              </a:rPr>
              <a:t>Revenue</a:t>
            </a:r>
          </a:p>
        </p:txBody>
      </p:sp>
      <p:sp>
        <p:nvSpPr>
          <p:cNvPr id="45" name="Rounded Rectangle 44"/>
          <p:cNvSpPr/>
          <p:nvPr/>
        </p:nvSpPr>
        <p:spPr>
          <a:xfrm>
            <a:off x="9098280" y="1499616"/>
            <a:ext cx="1280160"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71432" y="1499616"/>
            <a:ext cx="1133856" cy="310896"/>
          </a:xfrm>
          <a:prstGeom prst="rect">
            <a:avLst/>
          </a:prstGeom>
          <a:noFill/>
        </p:spPr>
        <p:txBody>
          <a:bodyPr wrap="square" lIns="0" rIns="0" tIns="0" bIns="0" anchor="ctr">
            <a:spAutoFit/>
          </a:bodyPr>
          <a:lstStyle/>
          <a:p>
            <a:pPr algn="ctr">
              <a:lnSpc>
                <a:spcPct val="100000"/>
              </a:lnSpc>
            </a:pPr>
            <a:r>
              <a:rPr sz="1000" b="1" i="0">
                <a:solidFill>
                  <a:srgbClr val="FFFFFF"/>
                </a:solidFill>
                <a:latin typeface="DejaVu Sans"/>
              </a:rPr>
              <a:t>Cost</a:t>
            </a:r>
          </a:p>
        </p:txBody>
      </p:sp>
      <p:sp>
        <p:nvSpPr>
          <p:cNvPr id="47" name="Rounded Rectangle 46"/>
          <p:cNvSpPr/>
          <p:nvPr/>
        </p:nvSpPr>
        <p:spPr>
          <a:xfrm>
            <a:off x="10415015" y="1499616"/>
            <a:ext cx="1078992"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88167" y="1499616"/>
            <a:ext cx="932688" cy="310896"/>
          </a:xfrm>
          <a:prstGeom prst="rect">
            <a:avLst/>
          </a:prstGeom>
          <a:noFill/>
        </p:spPr>
        <p:txBody>
          <a:bodyPr wrap="square" lIns="0" rIns="0" tIns="0" bIns="0" anchor="ctr">
            <a:spAutoFit/>
          </a:bodyPr>
          <a:lstStyle/>
          <a:p>
            <a:pPr algn="ctr">
              <a:lnSpc>
                <a:spcPct val="100000"/>
              </a:lnSpc>
            </a:pPr>
            <a:r>
              <a:rPr sz="1000" b="1" i="0">
                <a:solidFill>
                  <a:srgbClr val="FFFFFF"/>
                </a:solidFill>
                <a:latin typeface="DejaVu Sans"/>
              </a:rPr>
              <a:t>Decision</a:t>
            </a:r>
          </a:p>
        </p:txBody>
      </p:sp>
      <p:sp>
        <p:nvSpPr>
          <p:cNvPr id="49" name="Rounded Rectangle 48"/>
          <p:cNvSpPr/>
          <p:nvPr/>
        </p:nvSpPr>
        <p:spPr>
          <a:xfrm>
            <a:off x="5605272" y="1847088"/>
            <a:ext cx="2139696" cy="603504"/>
          </a:xfrm>
          <a:prstGeom prst="roundRect">
            <a:avLst>
              <a:gd name="adj" fmla="val 8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96712" y="1883664"/>
            <a:ext cx="1956815" cy="530352"/>
          </a:xfrm>
          <a:prstGeom prst="rect">
            <a:avLst/>
          </a:prstGeom>
          <a:noFill/>
        </p:spPr>
        <p:txBody>
          <a:bodyPr wrap="square" lIns="0" rIns="0" tIns="0" bIns="0" anchor="ctr">
            <a:spAutoFit/>
          </a:bodyPr>
          <a:lstStyle/>
          <a:p>
            <a:pPr algn="l">
              <a:lnSpc>
                <a:spcPct val="108000"/>
              </a:lnSpc>
            </a:pPr>
            <a:r>
              <a:rPr sz="950" b="1" i="0">
                <a:solidFill>
                  <a:srgbClr val="21295C"/>
                </a:solidFill>
                <a:latin typeface="DejaVu Sans"/>
              </a:rPr>
              <a:t>Suggestions in catalogue search</a:t>
            </a:r>
          </a:p>
        </p:txBody>
      </p:sp>
      <p:sp>
        <p:nvSpPr>
          <p:cNvPr id="51" name="Rounded Rectangle 50"/>
          <p:cNvSpPr/>
          <p:nvPr/>
        </p:nvSpPr>
        <p:spPr>
          <a:xfrm>
            <a:off x="7781544" y="1847088"/>
            <a:ext cx="1280160" cy="603504"/>
          </a:xfrm>
          <a:prstGeom prst="roundRect">
            <a:avLst>
              <a:gd name="adj" fmla="val 8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72983" y="1883664"/>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+8% to paid orders</a:t>
            </a:r>
          </a:p>
        </p:txBody>
      </p:sp>
      <p:sp>
        <p:nvSpPr>
          <p:cNvPr id="53" name="Rounded Rectangle 52"/>
          <p:cNvSpPr/>
          <p:nvPr/>
        </p:nvSpPr>
        <p:spPr>
          <a:xfrm>
            <a:off x="9098280" y="1847088"/>
            <a:ext cx="1280160" cy="603504"/>
          </a:xfrm>
          <a:prstGeom prst="roundRect">
            <a:avLst>
              <a:gd name="adj" fmla="val 8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89719" y="1883664"/>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+₽0.9 per query</a:t>
            </a:r>
          </a:p>
        </p:txBody>
      </p:sp>
      <p:sp>
        <p:nvSpPr>
          <p:cNvPr id="55" name="Rounded Rectangle 54"/>
          <p:cNvSpPr/>
          <p:nvPr/>
        </p:nvSpPr>
        <p:spPr>
          <a:xfrm>
            <a:off x="10415015" y="1847088"/>
            <a:ext cx="1078992" cy="603504"/>
          </a:xfrm>
          <a:prstGeom prst="roundRect">
            <a:avLst>
              <a:gd name="adj" fmla="val 8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06455" y="1883664"/>
            <a:ext cx="896112"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we expand it</a:t>
            </a:r>
          </a:p>
        </p:txBody>
      </p:sp>
      <p:sp>
        <p:nvSpPr>
          <p:cNvPr id="57" name="Rounded Rectangle 56"/>
          <p:cNvSpPr/>
          <p:nvPr/>
        </p:nvSpPr>
        <p:spPr>
          <a:xfrm>
            <a:off x="5605272" y="2487168"/>
            <a:ext cx="2139696" cy="603504"/>
          </a:xfrm>
          <a:prstGeom prst="roundRect">
            <a:avLst>
              <a:gd name="adj" fmla="val 8000"/>
            </a:avLst>
          </a:prstGeom>
          <a:solidFill>
            <a:srgbClr val="F4F7FA"/>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96712" y="2523744"/>
            <a:ext cx="1956815" cy="530352"/>
          </a:xfrm>
          <a:prstGeom prst="rect">
            <a:avLst/>
          </a:prstGeom>
          <a:noFill/>
        </p:spPr>
        <p:txBody>
          <a:bodyPr wrap="square" lIns="0" rIns="0" tIns="0" bIns="0" anchor="ctr">
            <a:spAutoFit/>
          </a:bodyPr>
          <a:lstStyle/>
          <a:p>
            <a:pPr algn="l">
              <a:lnSpc>
                <a:spcPct val="108000"/>
              </a:lnSpc>
            </a:pPr>
            <a:r>
              <a:rPr sz="950" b="1" i="0">
                <a:solidFill>
                  <a:srgbClr val="21295C"/>
                </a:solidFill>
                <a:latin typeface="DejaVu Sans"/>
              </a:rPr>
              <a:t>An AI agent on the first line of support</a:t>
            </a:r>
          </a:p>
        </p:txBody>
      </p:sp>
      <p:sp>
        <p:nvSpPr>
          <p:cNvPr id="59" name="Rounded Rectangle 58"/>
          <p:cNvSpPr/>
          <p:nvPr/>
        </p:nvSpPr>
        <p:spPr>
          <a:xfrm>
            <a:off x="7781544" y="2487168"/>
            <a:ext cx="1280160" cy="603504"/>
          </a:xfrm>
          <a:prstGeom prst="roundRect">
            <a:avLst>
              <a:gd name="adj" fmla="val 8000"/>
            </a:avLst>
          </a:prstGeom>
          <a:solidFill>
            <a:srgbClr val="F4F7FA"/>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72983" y="2523744"/>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0 directly</a:t>
            </a:r>
          </a:p>
        </p:txBody>
      </p:sp>
      <p:sp>
        <p:nvSpPr>
          <p:cNvPr id="61" name="Rounded Rectangle 60"/>
          <p:cNvSpPr/>
          <p:nvPr/>
        </p:nvSpPr>
        <p:spPr>
          <a:xfrm>
            <a:off x="9098280" y="2487168"/>
            <a:ext cx="1280160" cy="603504"/>
          </a:xfrm>
          <a:prstGeom prst="roundRect">
            <a:avLst>
              <a:gd name="adj" fmla="val 8000"/>
            </a:avLst>
          </a:prstGeom>
          <a:solidFill>
            <a:srgbClr val="F4F7FA"/>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89719" y="2523744"/>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−40% of the agent's time per ticket</a:t>
            </a:r>
          </a:p>
        </p:txBody>
      </p:sp>
      <p:sp>
        <p:nvSpPr>
          <p:cNvPr id="63" name="Rounded Rectangle 62"/>
          <p:cNvSpPr/>
          <p:nvPr/>
        </p:nvSpPr>
        <p:spPr>
          <a:xfrm>
            <a:off x="10415015" y="2487168"/>
            <a:ext cx="1078992" cy="603504"/>
          </a:xfrm>
          <a:prstGeom prst="roundRect">
            <a:avLst>
              <a:gd name="adj" fmla="val 8000"/>
            </a:avLst>
          </a:prstGeom>
          <a:solidFill>
            <a:srgbClr val="F4F7FA"/>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506455" y="2523744"/>
            <a:ext cx="896112"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we keep it: it pays in savings</a:t>
            </a:r>
          </a:p>
        </p:txBody>
      </p:sp>
      <p:sp>
        <p:nvSpPr>
          <p:cNvPr id="65" name="Rounded Rectangle 64"/>
          <p:cNvSpPr/>
          <p:nvPr/>
        </p:nvSpPr>
        <p:spPr>
          <a:xfrm>
            <a:off x="5605272" y="3127248"/>
            <a:ext cx="2139696" cy="603504"/>
          </a:xfrm>
          <a:prstGeom prst="roundRect">
            <a:avLst>
              <a:gd name="adj" fmla="val 8000"/>
            </a:avLst>
          </a:prstGeom>
          <a:solidFill>
            <a:srgbClr val="F4F7FA"/>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696712" y="3163824"/>
            <a:ext cx="1956815" cy="530352"/>
          </a:xfrm>
          <a:prstGeom prst="rect">
            <a:avLst/>
          </a:prstGeom>
          <a:noFill/>
        </p:spPr>
        <p:txBody>
          <a:bodyPr wrap="square" lIns="0" rIns="0" tIns="0" bIns="0" anchor="ctr">
            <a:spAutoFit/>
          </a:bodyPr>
          <a:lstStyle/>
          <a:p>
            <a:pPr algn="l">
              <a:lnSpc>
                <a:spcPct val="108000"/>
              </a:lnSpc>
            </a:pPr>
            <a:r>
              <a:rPr sz="950" b="1" i="0">
                <a:solidFill>
                  <a:srgbClr val="21295C"/>
                </a:solidFill>
                <a:latin typeface="DejaVu Sans"/>
              </a:rPr>
              <a:t>Review summaries on the product card</a:t>
            </a:r>
          </a:p>
        </p:txBody>
      </p:sp>
      <p:sp>
        <p:nvSpPr>
          <p:cNvPr id="67" name="Rounded Rectangle 66"/>
          <p:cNvSpPr/>
          <p:nvPr/>
        </p:nvSpPr>
        <p:spPr>
          <a:xfrm>
            <a:off x="7781544" y="3127248"/>
            <a:ext cx="1280160" cy="603504"/>
          </a:xfrm>
          <a:prstGeom prst="roundRect">
            <a:avLst>
              <a:gd name="adj" fmla="val 8000"/>
            </a:avLst>
          </a:prstGeom>
          <a:solidFill>
            <a:srgbClr val="F4F7FA"/>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872983" y="3163824"/>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within the margin of error</a:t>
            </a:r>
          </a:p>
        </p:txBody>
      </p:sp>
      <p:sp>
        <p:nvSpPr>
          <p:cNvPr id="69" name="Rounded Rectangle 68"/>
          <p:cNvSpPr/>
          <p:nvPr/>
        </p:nvSpPr>
        <p:spPr>
          <a:xfrm>
            <a:off x="9098280" y="3127248"/>
            <a:ext cx="1280160" cy="603504"/>
          </a:xfrm>
          <a:prstGeom prst="roundRect">
            <a:avLst>
              <a:gd name="adj" fmla="val 8000"/>
            </a:avLst>
          </a:prstGeom>
          <a:solidFill>
            <a:srgbClr val="F4F7FA"/>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189719" y="3163824"/>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+₽1.4 per view</a:t>
            </a:r>
          </a:p>
        </p:txBody>
      </p:sp>
      <p:sp>
        <p:nvSpPr>
          <p:cNvPr id="71" name="Rounded Rectangle 70"/>
          <p:cNvSpPr/>
          <p:nvPr/>
        </p:nvSpPr>
        <p:spPr>
          <a:xfrm>
            <a:off x="10415015" y="3127248"/>
            <a:ext cx="1078992" cy="603504"/>
          </a:xfrm>
          <a:prstGeom prst="roundRect">
            <a:avLst>
              <a:gd name="adj" fmla="val 8000"/>
            </a:avLst>
          </a:prstGeom>
          <a:solidFill>
            <a:srgbClr val="F4F7FA"/>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506455" y="3163824"/>
            <a:ext cx="896112"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we close it</a:t>
            </a:r>
          </a:p>
        </p:txBody>
      </p:sp>
      <p:sp>
        <p:nvSpPr>
          <p:cNvPr id="73" name="Rounded Rectangle 72"/>
          <p:cNvSpPr/>
          <p:nvPr/>
        </p:nvSpPr>
        <p:spPr>
          <a:xfrm>
            <a:off x="5605272" y="3767327"/>
            <a:ext cx="2139696" cy="603504"/>
          </a:xfrm>
          <a:prstGeom prst="roundRect">
            <a:avLst>
              <a:gd name="adj" fmla="val 8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696712" y="3803903"/>
            <a:ext cx="1956815" cy="530352"/>
          </a:xfrm>
          <a:prstGeom prst="rect">
            <a:avLst/>
          </a:prstGeom>
          <a:noFill/>
        </p:spPr>
        <p:txBody>
          <a:bodyPr wrap="square" lIns="0" rIns="0" tIns="0" bIns="0" anchor="ctr">
            <a:spAutoFit/>
          </a:bodyPr>
          <a:lstStyle/>
          <a:p>
            <a:pPr algn="l">
              <a:lnSpc>
                <a:spcPct val="108000"/>
              </a:lnSpc>
            </a:pPr>
            <a:r>
              <a:rPr sz="950" b="1" i="0">
                <a:solidFill>
                  <a:srgbClr val="21295C"/>
                </a:solidFill>
                <a:latin typeface="DejaVu Sans"/>
              </a:rPr>
              <a:t>A decision log and a way out to a human</a:t>
            </a:r>
          </a:p>
        </p:txBody>
      </p:sp>
      <p:sp>
        <p:nvSpPr>
          <p:cNvPr id="75" name="Rounded Rectangle 74"/>
          <p:cNvSpPr/>
          <p:nvPr/>
        </p:nvSpPr>
        <p:spPr>
          <a:xfrm>
            <a:off x="7781544" y="3767327"/>
            <a:ext cx="1280160" cy="603504"/>
          </a:xfrm>
          <a:prstGeom prst="roundRect">
            <a:avLst>
              <a:gd name="adj" fmla="val 8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872983" y="3803903"/>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0</a:t>
            </a:r>
          </a:p>
        </p:txBody>
      </p:sp>
      <p:sp>
        <p:nvSpPr>
          <p:cNvPr id="77" name="Rounded Rectangle 76"/>
          <p:cNvSpPr/>
          <p:nvPr/>
        </p:nvSpPr>
        <p:spPr>
          <a:xfrm>
            <a:off x="9098280" y="3767327"/>
            <a:ext cx="1280160" cy="603504"/>
          </a:xfrm>
          <a:prstGeom prst="roundRect">
            <a:avLst>
              <a:gd name="adj" fmla="val 8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189719" y="3803903"/>
            <a:ext cx="1097280" cy="530352"/>
          </a:xfrm>
          <a:prstGeom prst="rect">
            <a:avLst/>
          </a:prstGeom>
          <a:noFill/>
        </p:spPr>
        <p:txBody>
          <a:bodyPr wrap="square" lIns="0" rIns="0" tIns="0" bIns="0" anchor="ctr">
            <a:spAutoFit/>
          </a:bodyPr>
          <a:lstStyle/>
          <a:p>
            <a:pPr algn="l">
              <a:lnSpc>
                <a:spcPct val="108000"/>
              </a:lnSpc>
            </a:pPr>
            <a:r>
              <a:rPr sz="950" b="0" i="0">
                <a:solidFill>
                  <a:srgbClr val="21295C"/>
                </a:solidFill>
                <a:latin typeface="DejaVu Sans"/>
              </a:rPr>
              <a:t>constant, grows with volume</a:t>
            </a:r>
          </a:p>
        </p:txBody>
      </p:sp>
      <p:sp>
        <p:nvSpPr>
          <p:cNvPr id="79" name="Rounded Rectangle 78"/>
          <p:cNvSpPr/>
          <p:nvPr/>
        </p:nvSpPr>
        <p:spPr>
          <a:xfrm>
            <a:off x="10415015" y="3767327"/>
            <a:ext cx="1078992" cy="603504"/>
          </a:xfrm>
          <a:prstGeom prst="roundRect">
            <a:avLst>
              <a:gd name="adj" fmla="val 8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506455" y="3803903"/>
            <a:ext cx="896112" cy="530352"/>
          </a:xfrm>
          <a:prstGeom prst="rect">
            <a:avLst/>
          </a:prstGeom>
          <a:noFill/>
        </p:spPr>
        <p:txBody>
          <a:bodyPr wrap="square" lIns="0" rIns="0" tIns="0" bIns="0" anchor="ctr">
            <a:spAutoFit/>
          </a:bodyPr>
          <a:lstStyle/>
          <a:p>
            <a:pPr algn="l">
              <a:lnSpc>
                <a:spcPct val="108000"/>
              </a:lnSpc>
            </a:pPr>
            <a:r>
              <a:rPr sz="950" b="1" i="0">
                <a:solidFill>
                  <a:srgbClr val="21295C"/>
                </a:solidFill>
                <a:latin typeface="DejaVu Sans"/>
              </a:rPr>
              <a:t>cannot be closed</a:t>
            </a:r>
          </a:p>
        </p:txBody>
      </p:sp>
      <p:sp>
        <p:nvSpPr>
          <p:cNvPr id="81" name="TextBox 80"/>
          <p:cNvSpPr txBox="1"/>
          <p:nvPr/>
        </p:nvSpPr>
        <p:spPr>
          <a:xfrm>
            <a:off x="5605272" y="4443984"/>
            <a:ext cx="5888736" cy="475488"/>
          </a:xfrm>
          <a:prstGeom prst="rect">
            <a:avLst/>
          </a:prstGeom>
          <a:noFill/>
        </p:spPr>
        <p:txBody>
          <a:bodyPr wrap="square" lIns="0" rIns="0" tIns="0" bIns="0" anchor="t">
            <a:spAutoFit/>
          </a:bodyPr>
          <a:lstStyle/>
          <a:p>
            <a:pPr algn="l">
              <a:lnSpc>
                <a:spcPct val="100000"/>
              </a:lnSpc>
            </a:pPr>
            <a:r>
              <a:rPr sz="800" b="0" i="1">
                <a:solidFill>
                  <a:srgbClr val="5B6678"/>
                </a:solidFill>
                <a:latin typeface="DejaVu Sans"/>
              </a:rPr>
              <a:t>Every number in this breakdown stands against one baseline: the same catalogue without that feature, over the same month. A breakdown by feature is something few can build: 22% of finance leaders can connect AI spend to money, and 60% agree that they spend more on AI than they can justify — CloudZero, June 2026, 260 respondents, more than half of them chief financial officers</a:t>
            </a:r>
          </a:p>
        </p:txBody>
      </p:sp>
      <p:sp>
        <p:nvSpPr>
          <p:cNvPr id="82" name="Rounded Rectangle 81"/>
          <p:cNvSpPr/>
          <p:nvPr/>
        </p:nvSpPr>
        <p:spPr>
          <a:xfrm>
            <a:off x="502920" y="5120640"/>
            <a:ext cx="11201400" cy="1042415"/>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2376" y="5175503"/>
            <a:ext cx="10762488" cy="932688"/>
          </a:xfrm>
          <a:prstGeom prst="rect">
            <a:avLst/>
          </a:prstGeom>
          <a:noFill/>
        </p:spPr>
        <p:txBody>
          <a:bodyPr wrap="square" lIns="0" rIns="0" tIns="0" bIns="0" anchor="ctr">
            <a:spAutoFit/>
          </a:bodyPr>
          <a:lstStyle/>
          <a:p>
            <a:pPr algn="l">
              <a:lnSpc>
                <a:spcPct val="120000"/>
              </a:lnSpc>
            </a:pPr>
            <a:r>
              <a:rPr sz="1150" b="1" i="0">
                <a:solidFill>
                  <a:srgbClr val="21295C"/>
                </a:solidFill>
                <a:latin typeface="DejaVu Sans"/>
              </a:rPr>
              <a:t>A caveat: a loss-making line cannot always be closed. A decision log and a way out to a human are required for a high-risk system by the EU AI Act: from 2 August 2026 events are recorded automatically, and the logs are kept for no less than six months. Revenue zero, cost constant, switching it off not allowed. The same class — a feature that loses money on its own line and holds revenue on somebody else's: the free tier, support, data export.</a:t>
            </a:r>
          </a:p>
        </p:txBody>
      </p:sp>
      <p:sp>
        <p:nvSpPr>
          <p:cNvPr id="84" name="TextBox 83"/>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ICONIQ Capital — State of AI report (2026)</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CloudZero — survey of finance leaders (2026)</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European Union Artificial Intelligence Act, arts. 12 and 19</a:t>
            </a:r>
          </a:p>
        </p:txBody>
      </p:sp>
      <p:sp>
        <p:nvSpPr>
          <p:cNvPr id="85" name="TextBox 8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48 / 56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84758"/>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We write down the result at which the pilot gets closed — before we switch it on</a:t>
            </a:r>
          </a:p>
        </p:txBody>
      </p:sp>
      <p:sp>
        <p:nvSpPr>
          <p:cNvPr id="3" name="Rounded Rectangle 2"/>
          <p:cNvSpPr/>
          <p:nvPr/>
        </p:nvSpPr>
        <p:spPr>
          <a:xfrm>
            <a:off x="502920" y="795070"/>
            <a:ext cx="1152144" cy="1083455"/>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95070"/>
            <a:ext cx="1060704" cy="108345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WHAT IT IS</a:t>
            </a:r>
          </a:p>
        </p:txBody>
      </p:sp>
      <p:sp>
        <p:nvSpPr>
          <p:cNvPr id="5" name="Rounded Rectangle 4"/>
          <p:cNvSpPr/>
          <p:nvPr/>
        </p:nvSpPr>
        <p:spPr>
          <a:xfrm>
            <a:off x="1801368" y="795070"/>
            <a:ext cx="9902952" cy="1083455"/>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886510"/>
            <a:ext cx="9537192" cy="900575"/>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One sentence with numbers in it, written down in advance, by which a few weeks later you can see whether to carry on or to close. The nearest familiar analogue is </a:t>
            </a:r>
            <a:r>
              <a:rPr sz="1150" b="1" i="0">
                <a:solidFill>
                  <a:srgbClr val="21295C"/>
                </a:solidFill>
                <a:latin typeface="DejaVu Sans"/>
              </a:rPr>
              <a:t>the acceptance criterion in a statement of work</a:t>
            </a:r>
            <a:r>
              <a:rPr sz="1150" b="0" i="0">
                <a:solidFill>
                  <a:srgbClr val="21295C"/>
                </a:solidFill>
                <a:latin typeface="DejaVu Sans"/>
              </a:rPr>
              <a:t>, translated out of functionality and into money. A number named after the result explains the result and tests nothing any more.</a:t>
            </a:r>
          </a:p>
        </p:txBody>
      </p:sp>
      <p:sp>
        <p:nvSpPr>
          <p:cNvPr id="7" name="Rounded Rectangle 6"/>
          <p:cNvSpPr/>
          <p:nvPr/>
        </p:nvSpPr>
        <p:spPr>
          <a:xfrm>
            <a:off x="502920" y="1942534"/>
            <a:ext cx="1152144" cy="1889597"/>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42534"/>
            <a:ext cx="1060704" cy="1889597"/>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HOW IT WORKS</a:t>
            </a:r>
          </a:p>
        </p:txBody>
      </p:sp>
      <p:sp>
        <p:nvSpPr>
          <p:cNvPr id="9" name="Rounded Rectangle 8"/>
          <p:cNvSpPr/>
          <p:nvPr/>
        </p:nvSpPr>
        <p:spPr>
          <a:xfrm>
            <a:off x="1801368" y="1942534"/>
            <a:ext cx="9902952" cy="1889597"/>
          </a:xfrm>
          <a:prstGeom prst="roundRect">
            <a:avLst>
              <a:gd name="adj" fmla="val 16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204769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204769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2033974"/>
            <a:ext cx="4288536" cy="213111"/>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What we improve</a:t>
            </a:r>
            <a:r>
              <a:rPr sz="1000" b="0" i="0">
                <a:solidFill>
                  <a:srgbClr val="21295C"/>
                </a:solidFill>
                <a:latin typeface="DejaVu Sans"/>
              </a:rPr>
              <a:t> — from what value to what value.</a:t>
            </a:r>
          </a:p>
        </p:txBody>
      </p:sp>
      <p:sp>
        <p:nvSpPr>
          <p:cNvPr id="13" name="Oval 12"/>
          <p:cNvSpPr/>
          <p:nvPr/>
        </p:nvSpPr>
        <p:spPr>
          <a:xfrm>
            <a:off x="1984248" y="232480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32480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311093"/>
            <a:ext cx="428853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What must not get worse while we do it</a:t>
            </a:r>
            <a:r>
              <a:rPr sz="1000" b="0" i="0">
                <a:solidFill>
                  <a:srgbClr val="21295C"/>
                </a:solidFill>
                <a:latin typeface="DejaVu Sans"/>
              </a:rPr>
              <a:t> — one or two guardrail quantities.</a:t>
            </a:r>
          </a:p>
        </p:txBody>
      </p:sp>
      <p:sp>
        <p:nvSpPr>
          <p:cNvPr id="16" name="Oval 15"/>
          <p:cNvSpPr/>
          <p:nvPr/>
        </p:nvSpPr>
        <p:spPr>
          <a:xfrm>
            <a:off x="1984248" y="276749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76749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753774"/>
            <a:ext cx="4288536" cy="213111"/>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On what volume and over what period</a:t>
            </a:r>
            <a:r>
              <a:rPr sz="1000" b="0" i="0">
                <a:solidFill>
                  <a:srgbClr val="21295C"/>
                </a:solidFill>
                <a:latin typeface="DejaVu Sans"/>
              </a:rPr>
              <a:t> we test.</a:t>
            </a:r>
          </a:p>
        </p:txBody>
      </p:sp>
      <p:sp>
        <p:nvSpPr>
          <p:cNvPr id="19" name="Oval 18"/>
          <p:cNvSpPr/>
          <p:nvPr/>
        </p:nvSpPr>
        <p:spPr>
          <a:xfrm>
            <a:off x="1984248" y="304460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04460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030893"/>
            <a:ext cx="4288536" cy="709797"/>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Who looks, and how often.</a:t>
            </a:r>
            <a:r>
              <a:rPr sz="1000" b="0" i="0">
                <a:solidFill>
                  <a:srgbClr val="21295C"/>
                </a:solidFill>
                <a:latin typeface="DejaVu Sans"/>
              </a:rPr>
              <a:t> The entry is made before switch-on, with a date and a name on it: otherwise there is nothing by which to check the order of events in time.</a:t>
            </a:r>
          </a:p>
        </p:txBody>
      </p:sp>
      <p:sp>
        <p:nvSpPr>
          <p:cNvPr id="22" name="Rounded Rectangle 21"/>
          <p:cNvSpPr/>
          <p:nvPr/>
        </p:nvSpPr>
        <p:spPr>
          <a:xfrm>
            <a:off x="6858000" y="2070550"/>
            <a:ext cx="4663440" cy="1225296"/>
          </a:xfrm>
          <a:prstGeom prst="roundRect">
            <a:avLst>
              <a:gd name="adj" fmla="val 16583"/>
            </a:avLst>
          </a:prstGeom>
          <a:solidFill>
            <a:srgbClr val="FFFFFF"/>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6016" y="2125414"/>
            <a:ext cx="4407407" cy="1115568"/>
          </a:xfrm>
          <a:prstGeom prst="rect">
            <a:avLst/>
          </a:prstGeom>
          <a:noFill/>
        </p:spPr>
        <p:txBody>
          <a:bodyPr wrap="square" lIns="0" rIns="0" tIns="0" bIns="0" anchor="ctr">
            <a:spAutoFit/>
          </a:bodyPr>
          <a:lstStyle/>
          <a:p>
            <a:pPr algn="l">
              <a:lnSpc>
                <a:spcPct val="114000"/>
              </a:lnSpc>
            </a:pPr>
            <a:r>
              <a:rPr sz="1000" b="0" i="0">
                <a:solidFill>
                  <a:srgbClr val="21295C"/>
                </a:solidFill>
                <a:latin typeface="DejaVu Sans"/>
              </a:rPr>
              <a:t>“Having the model handle tickets will bring the cost of one ticket down </a:t>
            </a:r>
            <a:r>
              <a:rPr sz="1000" b="1" i="0">
                <a:solidFill>
                  <a:srgbClr val="065A82"/>
                </a:solidFill>
                <a:latin typeface="DejaVu Sans"/>
              </a:rPr>
              <a:t>from ₽42 to ₽15</a:t>
            </a:r>
            <a:r>
              <a:rPr sz="1000" b="0" i="0">
                <a:solidFill>
                  <a:srgbClr val="21295C"/>
                </a:solidFill>
                <a:latin typeface="DejaVu Sans"/>
              </a:rPr>
              <a:t>, customer satisfaction will not drop </a:t>
            </a:r>
            <a:r>
              <a:rPr sz="1000" b="1" i="0">
                <a:solidFill>
                  <a:srgbClr val="028090"/>
                </a:solidFill>
                <a:latin typeface="DejaVu Sans"/>
              </a:rPr>
              <a:t>below 4.2 out of 5</a:t>
            </a:r>
            <a:r>
              <a:rPr sz="1000" b="0" i="0">
                <a:solidFill>
                  <a:srgbClr val="21295C"/>
                </a:solidFill>
                <a:latin typeface="DejaVu Sans"/>
              </a:rPr>
              <a:t>, and the share of tickets handed to a human will not exceed </a:t>
            </a:r>
            <a:r>
              <a:rPr sz="1000" b="1" i="0">
                <a:solidFill>
                  <a:srgbClr val="028090"/>
                </a:solidFill>
                <a:latin typeface="DejaVu Sans"/>
              </a:rPr>
              <a:t>20%</a:t>
            </a:r>
            <a:r>
              <a:rPr sz="1000" b="0" i="0">
                <a:solidFill>
                  <a:srgbClr val="21295C"/>
                </a:solidFill>
                <a:latin typeface="DejaVu Sans"/>
              </a:rPr>
              <a:t>. We test on </a:t>
            </a:r>
            <a:r>
              <a:rPr sz="1000" b="1" i="0">
                <a:solidFill>
                  <a:srgbClr val="1C7293"/>
                </a:solidFill>
                <a:latin typeface="DejaVu Sans"/>
              </a:rPr>
              <a:t>5,000 tickets over 6 weeks</a:t>
            </a:r>
            <a:r>
              <a:rPr sz="1000" b="0" i="0">
                <a:solidFill>
                  <a:srgbClr val="21295C"/>
                </a:solidFill>
                <a:latin typeface="DejaVu Sans"/>
              </a:rPr>
              <a:t>. Watched by </a:t>
            </a:r>
            <a:r>
              <a:rPr sz="1000" b="1" i="0">
                <a:solidFill>
                  <a:srgbClr val="F0AB00"/>
                </a:solidFill>
                <a:latin typeface="DejaVu Sans"/>
              </a:rPr>
              <a:t>the head of support, once a week</a:t>
            </a:r>
            <a:r>
              <a:rPr sz="1000" b="0" i="0">
                <a:solidFill>
                  <a:srgbClr val="21295C"/>
                </a:solidFill>
                <a:latin typeface="DejaVu Sans"/>
              </a:rPr>
              <a:t>.”</a:t>
            </a:r>
          </a:p>
        </p:txBody>
      </p:sp>
      <p:sp>
        <p:nvSpPr>
          <p:cNvPr id="24" name="TextBox 23"/>
          <p:cNvSpPr txBox="1"/>
          <p:nvPr/>
        </p:nvSpPr>
        <p:spPr>
          <a:xfrm>
            <a:off x="6858000" y="3332422"/>
            <a:ext cx="4663440" cy="310896"/>
          </a:xfrm>
          <a:prstGeom prst="rect">
            <a:avLst/>
          </a:prstGeom>
          <a:noFill/>
        </p:spPr>
        <p:txBody>
          <a:bodyPr wrap="square" lIns="0" rIns="0" tIns="0" bIns="0" anchor="t">
            <a:spAutoFit/>
          </a:bodyPr>
          <a:lstStyle/>
          <a:p>
            <a:pPr algn="ctr">
              <a:lnSpc>
                <a:spcPct val="105000"/>
              </a:lnSpc>
            </a:pPr>
            <a:r>
              <a:rPr sz="860" b="0" i="1">
                <a:solidFill>
                  <a:srgbClr val="5B6678"/>
                </a:solidFill>
                <a:latin typeface="DejaVu Sans"/>
              </a:rPr>
              <a:t>a filled-in sample entry: one part in it for each step on the left</a:t>
            </a:r>
          </a:p>
        </p:txBody>
      </p:sp>
      <p:sp>
        <p:nvSpPr>
          <p:cNvPr id="25" name="Rounded Rectangle 24"/>
          <p:cNvSpPr/>
          <p:nvPr/>
        </p:nvSpPr>
        <p:spPr>
          <a:xfrm>
            <a:off x="502920" y="3896139"/>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896139"/>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WITH AI AND WITHOUT</a:t>
            </a:r>
          </a:p>
        </p:txBody>
      </p:sp>
      <p:sp>
        <p:nvSpPr>
          <p:cNvPr id="27" name="Rounded Rectangle 26"/>
          <p:cNvSpPr/>
          <p:nvPr/>
        </p:nvSpPr>
        <p:spPr>
          <a:xfrm>
            <a:off x="1801368" y="3896139"/>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984248" y="3987579"/>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84831" y="403329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WITHOUT AI — apparatus half a century old</a:t>
            </a:r>
          </a:p>
        </p:txBody>
      </p:sp>
      <p:sp>
        <p:nvSpPr>
          <p:cNvPr id="30" name="TextBox 29"/>
          <p:cNvSpPr txBox="1"/>
          <p:nvPr/>
        </p:nvSpPr>
        <p:spPr>
          <a:xfrm>
            <a:off x="2084831" y="426189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A business case with a payback threshold and a decision at a gate. </a:t>
            </a:r>
            <a:r>
              <a:rPr sz="950" b="1" i="0">
                <a:solidFill>
                  <a:srgbClr val="21295C"/>
                </a:solidFill>
                <a:latin typeface="DejaVu Sans"/>
              </a:rPr>
              <a:t>There is nothing to invent afresh</a:t>
            </a:r>
            <a:r>
              <a:rPr sz="950" b="0" i="0">
                <a:solidFill>
                  <a:srgbClr val="21295C"/>
                </a:solidFill>
                <a:latin typeface="DejaVu Sans"/>
              </a:rPr>
              <a:t>, you take what is already there.</a:t>
            </a:r>
          </a:p>
        </p:txBody>
      </p:sp>
      <p:sp>
        <p:nvSpPr>
          <p:cNvPr id="31" name="Rounded Rectangle 30"/>
          <p:cNvSpPr/>
          <p:nvPr/>
        </p:nvSpPr>
        <p:spPr>
          <a:xfrm>
            <a:off x="6844284" y="3987579"/>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4868" y="403329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WITH AI — only the rhythm changes</a:t>
            </a:r>
          </a:p>
        </p:txBody>
      </p:sp>
      <p:sp>
        <p:nvSpPr>
          <p:cNvPr id="33" name="TextBox 32"/>
          <p:cNvSpPr txBox="1"/>
          <p:nvPr/>
        </p:nvSpPr>
        <p:spPr>
          <a:xfrm>
            <a:off x="6944868" y="426189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Cost moves daily, a quarterly rhythm cannot keep up, and that is why they look weekly. Meanwhile companies measure activity instead of money — hence the gap: almost everyone invests, </a:t>
            </a:r>
            <a:r>
              <a:rPr sz="950" b="1" i="0">
                <a:solidFill>
                  <a:srgbClr val="21295C"/>
                </a:solidFill>
                <a:latin typeface="DejaVu Sans"/>
              </a:rPr>
              <a:t>6%</a:t>
            </a:r>
            <a:r>
              <a:rPr sz="950" b="0" i="0">
                <a:solidFill>
                  <a:srgbClr val="21295C"/>
                </a:solidFill>
                <a:latin typeface="DejaVu Sans"/>
              </a:rPr>
              <a:t> see a measurable return.</a:t>
            </a:r>
          </a:p>
        </p:txBody>
      </p:sp>
      <p:sp>
        <p:nvSpPr>
          <p:cNvPr id="34" name="Rounded Rectangle 33"/>
          <p:cNvSpPr/>
          <p:nvPr/>
        </p:nvSpPr>
        <p:spPr>
          <a:xfrm>
            <a:off x="502920" y="5187348"/>
            <a:ext cx="1152144" cy="984117"/>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187348"/>
            <a:ext cx="1060704" cy="984117"/>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WHERE IT BREAKS</a:t>
            </a:r>
          </a:p>
        </p:txBody>
      </p:sp>
      <p:sp>
        <p:nvSpPr>
          <p:cNvPr id="36" name="Rounded Rectangle 35"/>
          <p:cNvSpPr/>
          <p:nvPr/>
        </p:nvSpPr>
        <p:spPr>
          <a:xfrm>
            <a:off x="1801368" y="5187348"/>
            <a:ext cx="9902952" cy="984117"/>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84248" y="5278788"/>
            <a:ext cx="9537192" cy="801237"/>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The starting value is measured on your own process.</a:t>
            </a:r>
            <a:r>
              <a:rPr sz="1000" b="1" i="0">
                <a:solidFill>
                  <a:srgbClr val="21295C"/>
                </a:solidFill>
                <a:latin typeface="DejaVu Sans"/>
              </a:rPr>
              <a:t> A vendor's promise will not do: somebody else's number describes somebody else's process. </a:t>
            </a:r>
            <a:r>
              <a:rPr sz="1000" b="1" i="0">
                <a:solidFill>
                  <a:srgbClr val="21295C"/>
                </a:solidFill>
                <a:latin typeface="DejaVu Sans"/>
              </a:rPr>
              <a:t>If “we close it” is not among the outcomes, this is not a criterion:</a:t>
            </a:r>
            <a:r>
              <a:rPr sz="1000" b="1" i="0">
                <a:solidFill>
                  <a:srgbClr val="21295C"/>
                </a:solidFill>
                <a:latin typeface="DejaVu Sans"/>
              </a:rPr>
              <a:t> a threshold you cannot fail to clear grants no permission. And </a:t>
            </a:r>
            <a:r>
              <a:rPr sz="1000" b="1" i="0">
                <a:solidFill>
                  <a:srgbClr val="21295C"/>
                </a:solidFill>
                <a:latin typeface="DejaVu Sans"/>
              </a:rPr>
              <a:t>numbers that appeared after switch-on explain the result,</a:t>
            </a:r>
            <a:r>
              <a:rPr sz="1000" b="1" i="0">
                <a:solidFill>
                  <a:srgbClr val="21295C"/>
                </a:solidFill>
                <a:latin typeface="DejaVu Sans"/>
              </a:rPr>
              <a:t> which is why the date and the name are checked before the numbers.</a:t>
            </a:r>
          </a:p>
        </p:txBody>
      </p:sp>
      <p:sp>
        <p:nvSpPr>
          <p:cNvPr id="38" name="TextBox 37"/>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Companies measure activity instead of money in the profit and loss statement; a measurable return is seen by 6% — Boston Consulting Group, 2026</a:t>
            </a:r>
          </a:p>
        </p:txBody>
      </p:sp>
      <p:sp>
        <p:nvSpPr>
          <p:cNvPr id="39" name="TextBox 3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49 / 56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The bottleneck shifted from technology to the organization's operating model</a:t>
            </a:r>
          </a:p>
        </p:txBody>
      </p:sp>
      <p:sp>
        <p:nvSpPr>
          <p:cNvPr id="3" name="Rounded Rectangle 2"/>
          <p:cNvSpPr/>
          <p:nvPr/>
        </p:nvSpPr>
        <p:spPr>
          <a:xfrm>
            <a:off x="502920" y="1463040"/>
            <a:ext cx="5806440" cy="3246120"/>
          </a:xfrm>
          <a:prstGeom prst="roundRect">
            <a:avLst>
              <a:gd name="adj" fmla="val 938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691640"/>
            <a:ext cx="1691640" cy="40233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DejaVu Sans"/>
              </a:rPr>
              <a:t>Deloitte</a:t>
            </a:r>
          </a:p>
        </p:txBody>
      </p:sp>
      <p:cxnSp>
        <p:nvCxnSpPr>
          <p:cNvPr id="5" name="Connector 4"/>
          <p:cNvCxnSpPr/>
          <p:nvPr/>
        </p:nvCxnSpPr>
        <p:spPr>
          <a:xfrm>
            <a:off x="2514600" y="1892808"/>
            <a:ext cx="2103120" cy="804672"/>
          </a:xfrm>
          <a:prstGeom prst="line">
            <a:avLst/>
          </a:prstGeom>
          <a:ln w="15240">
            <a:solidFill>
              <a:srgbClr val="E5EAF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2240280"/>
            <a:ext cx="1691640" cy="40233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DejaVu Sans"/>
              </a:rPr>
              <a:t>Sber</a:t>
            </a:r>
          </a:p>
        </p:txBody>
      </p:sp>
      <p:cxnSp>
        <p:nvCxnSpPr>
          <p:cNvPr id="7" name="Connector 6"/>
          <p:cNvCxnSpPr/>
          <p:nvPr/>
        </p:nvCxnSpPr>
        <p:spPr>
          <a:xfrm>
            <a:off x="2514600" y="2441448"/>
            <a:ext cx="2103120" cy="256032"/>
          </a:xfrm>
          <a:prstGeom prst="line">
            <a:avLst/>
          </a:prstGeom>
          <a:ln w="15240">
            <a:solidFill>
              <a:srgbClr val="E5EAF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77240" y="2788920"/>
            <a:ext cx="1691640" cy="40233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DejaVu Sans"/>
              </a:rPr>
              <a:t>Gartner</a:t>
            </a:r>
          </a:p>
        </p:txBody>
      </p:sp>
      <p:cxnSp>
        <p:nvCxnSpPr>
          <p:cNvPr id="9" name="Connector 8"/>
          <p:cNvCxnSpPr/>
          <p:nvPr/>
        </p:nvCxnSpPr>
        <p:spPr>
          <a:xfrm flipV="1">
            <a:off x="2514600" y="2697480"/>
            <a:ext cx="2103120" cy="292608"/>
          </a:xfrm>
          <a:prstGeom prst="line">
            <a:avLst/>
          </a:prstGeom>
          <a:ln w="15240">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 y="3337560"/>
            <a:ext cx="1691640" cy="40233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DejaVu Sans"/>
              </a:rPr>
              <a:t>McKinsey</a:t>
            </a:r>
          </a:p>
        </p:txBody>
      </p:sp>
      <p:cxnSp>
        <p:nvCxnSpPr>
          <p:cNvPr id="11" name="Connector 10"/>
          <p:cNvCxnSpPr/>
          <p:nvPr/>
        </p:nvCxnSpPr>
        <p:spPr>
          <a:xfrm flipV="1">
            <a:off x="2514600" y="2697480"/>
            <a:ext cx="2103120" cy="841248"/>
          </a:xfrm>
          <a:prstGeom prst="line">
            <a:avLst/>
          </a:prstGeom>
          <a:ln w="15240">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3886200"/>
            <a:ext cx="1691640" cy="40233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DejaVu Sans"/>
              </a:rPr>
              <a:t>Forrester</a:t>
            </a:r>
          </a:p>
        </p:txBody>
      </p:sp>
      <p:cxnSp>
        <p:nvCxnSpPr>
          <p:cNvPr id="13" name="Connector 12"/>
          <p:cNvCxnSpPr/>
          <p:nvPr/>
        </p:nvCxnSpPr>
        <p:spPr>
          <a:xfrm flipV="1">
            <a:off x="2514600" y="2697480"/>
            <a:ext cx="2103120" cy="1389888"/>
          </a:xfrm>
          <a:prstGeom prst="line">
            <a:avLst/>
          </a:prstGeom>
          <a:ln w="15240">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94760" y="2331720"/>
            <a:ext cx="2286000" cy="731520"/>
          </a:xfrm>
          <a:prstGeom prst="roundRect">
            <a:avLst>
              <a:gd name="adj" fmla="val 10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2395728"/>
            <a:ext cx="2194560" cy="594360"/>
          </a:xfrm>
          <a:prstGeom prst="rect">
            <a:avLst/>
          </a:prstGeom>
          <a:noFill/>
        </p:spPr>
        <p:txBody>
          <a:bodyPr wrap="square" lIns="0" rIns="0" tIns="0" bIns="0" anchor="ctr">
            <a:spAutoFit/>
          </a:bodyPr>
          <a:lstStyle/>
          <a:p>
            <a:pPr algn="ctr">
              <a:lnSpc>
                <a:spcPct val="100000"/>
              </a:lnSpc>
            </a:pPr>
            <a:r>
              <a:rPr sz="1150" b="1" i="0">
                <a:solidFill>
                  <a:srgbClr val="21295C"/>
                </a:solidFill>
                <a:latin typeface="DejaVu Sans"/>
              </a:rPr>
              <a:t>operating model</a:t>
            </a:r>
          </a:p>
        </p:txBody>
      </p:sp>
      <p:sp>
        <p:nvSpPr>
          <p:cNvPr id="16" name="TextBox 15"/>
          <p:cNvSpPr txBox="1"/>
          <p:nvPr/>
        </p:nvSpPr>
        <p:spPr>
          <a:xfrm>
            <a:off x="731520" y="4434840"/>
            <a:ext cx="5394960" cy="274320"/>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Deloitte: 75% say the model must change · 42% low/zero ROI </a:t>
            </a:r>
            <a:r>
              <a:rPr sz="572" baseline="30000" b="0" i="1">
                <a:latin typeface="DejaVu Sans"/>
                <a:cs typeface="DejaVu Sans"/>
                <a:ea typeface="DejaVu Sans"/>
                <a:solidFill>
                  <a:srgbClr val="1C7293"/>
                </a:solidFill>
              </a:rPr>
              <a:t>[1]</a:t>
            </a:r>
          </a:p>
        </p:txBody>
      </p:sp>
      <p:sp>
        <p:nvSpPr>
          <p:cNvPr id="17" name="Rounded Rectangle 16"/>
          <p:cNvSpPr/>
          <p:nvPr/>
        </p:nvSpPr>
        <p:spPr>
          <a:xfrm>
            <a:off x="6537960" y="1463040"/>
            <a:ext cx="5166360" cy="3246120"/>
          </a:xfrm>
          <a:prstGeom prst="roundRect">
            <a:avLst>
              <a:gd name="adj" fmla="val 9389"/>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1600200"/>
            <a:ext cx="4709160"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DejaVu Sans"/>
              </a:rPr>
              <a:t>Maturity 0-5</a:t>
            </a:r>
          </a:p>
        </p:txBody>
      </p:sp>
      <p:sp>
        <p:nvSpPr>
          <p:cNvPr id="19" name="Rounded Rectangle 18"/>
          <p:cNvSpPr/>
          <p:nvPr/>
        </p:nvSpPr>
        <p:spPr>
          <a:xfrm>
            <a:off x="6812280" y="2331720"/>
            <a:ext cx="640080" cy="64008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2468880"/>
            <a:ext cx="64008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DejaVu Sans"/>
              </a:rPr>
              <a:t>0</a:t>
            </a:r>
          </a:p>
        </p:txBody>
      </p:sp>
      <p:sp>
        <p:nvSpPr>
          <p:cNvPr id="21" name="Rounded Rectangle 20"/>
          <p:cNvSpPr/>
          <p:nvPr/>
        </p:nvSpPr>
        <p:spPr>
          <a:xfrm>
            <a:off x="7589520" y="2331720"/>
            <a:ext cx="640080" cy="64008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2468880"/>
            <a:ext cx="64008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DejaVu Sans"/>
              </a:rPr>
              <a:t>1</a:t>
            </a:r>
          </a:p>
        </p:txBody>
      </p:sp>
      <p:sp>
        <p:nvSpPr>
          <p:cNvPr id="23" name="Rounded Rectangle 22"/>
          <p:cNvSpPr/>
          <p:nvPr/>
        </p:nvSpPr>
        <p:spPr>
          <a:xfrm>
            <a:off x="8366760" y="2331720"/>
            <a:ext cx="640080" cy="64008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2468880"/>
            <a:ext cx="64008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DejaVu Sans"/>
              </a:rPr>
              <a:t>2</a:t>
            </a:r>
          </a:p>
        </p:txBody>
      </p:sp>
      <p:sp>
        <p:nvSpPr>
          <p:cNvPr id="25" name="Rounded Rectangle 24"/>
          <p:cNvSpPr/>
          <p:nvPr/>
        </p:nvSpPr>
        <p:spPr>
          <a:xfrm>
            <a:off x="9144000" y="2331720"/>
            <a:ext cx="640080" cy="64008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2468880"/>
            <a:ext cx="64008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DejaVu Sans"/>
              </a:rPr>
              <a:t>3</a:t>
            </a:r>
          </a:p>
        </p:txBody>
      </p:sp>
      <p:sp>
        <p:nvSpPr>
          <p:cNvPr id="27" name="Rounded Rectangle 26"/>
          <p:cNvSpPr/>
          <p:nvPr/>
        </p:nvSpPr>
        <p:spPr>
          <a:xfrm>
            <a:off x="9921240" y="2331720"/>
            <a:ext cx="640080" cy="64008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2468880"/>
            <a:ext cx="64008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DejaVu Sans"/>
              </a:rPr>
              <a:t>4</a:t>
            </a:r>
          </a:p>
        </p:txBody>
      </p:sp>
      <p:sp>
        <p:nvSpPr>
          <p:cNvPr id="29" name="Rounded Rectangle 28"/>
          <p:cNvSpPr/>
          <p:nvPr/>
        </p:nvSpPr>
        <p:spPr>
          <a:xfrm>
            <a:off x="10698480" y="2331720"/>
            <a:ext cx="640080" cy="64008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98480" y="2468880"/>
            <a:ext cx="64008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DejaVu Sans"/>
              </a:rPr>
              <a:t>5</a:t>
            </a:r>
          </a:p>
        </p:txBody>
      </p:sp>
      <p:sp>
        <p:nvSpPr>
          <p:cNvPr id="31" name="TextBox 30"/>
          <p:cNvSpPr txBox="1"/>
          <p:nvPr/>
        </p:nvSpPr>
        <p:spPr>
          <a:xfrm>
            <a:off x="6812280" y="3063240"/>
            <a:ext cx="2194560" cy="457200"/>
          </a:xfrm>
          <a:prstGeom prst="rect">
            <a:avLst/>
          </a:prstGeom>
          <a:noFill/>
        </p:spPr>
        <p:txBody>
          <a:bodyPr wrap="square" lIns="0" rIns="0" tIns="0" bIns="0" anchor="t">
            <a:spAutoFit/>
          </a:bodyPr>
          <a:lstStyle/>
          <a:p>
            <a:pPr algn="l">
              <a:lnSpc>
                <a:spcPct val="115000"/>
              </a:lnSpc>
            </a:pPr>
            <a:r>
              <a:rPr sz="1150" b="1" i="0">
                <a:solidFill>
                  <a:srgbClr val="21295C"/>
                </a:solidFill>
                <a:latin typeface="DejaVu Sans"/>
              </a:rPr>
              <a:t>Sber is here →</a:t>
            </a:r>
          </a:p>
        </p:txBody>
      </p:sp>
      <p:sp>
        <p:nvSpPr>
          <p:cNvPr id="32" name="TextBox 31"/>
          <p:cNvSpPr txBox="1"/>
          <p:nvPr/>
        </p:nvSpPr>
        <p:spPr>
          <a:xfrm>
            <a:off x="6766560" y="3611880"/>
            <a:ext cx="4709160" cy="1005840"/>
          </a:xfrm>
          <a:prstGeom prst="rect">
            <a:avLst/>
          </a:prstGeom>
          <a:noFill/>
        </p:spPr>
        <p:txBody>
          <a:bodyPr wrap="square" lIns="0" rIns="0" tIns="0" bIns="0" anchor="t">
            <a:spAutoFit/>
          </a:bodyPr>
          <a:lstStyle/>
          <a:p>
            <a:pPr algn="l">
              <a:lnSpc>
                <a:spcPct val="118000"/>
              </a:lnSpc>
            </a:pPr>
            <a:r>
              <a:rPr sz="1200" b="0" i="0">
                <a:solidFill>
                  <a:srgbClr val="21295C"/>
                </a:solidFill>
                <a:latin typeface="DejaVu Sans"/>
              </a:rPr>
              <a:t>Operators → orchestrators. Sber rates itself at level 3 of 5 </a:t>
            </a:r>
            <a:r>
              <a:rPr sz="624" baseline="30000" b="0" i="1">
                <a:latin typeface="DejaVu Sans"/>
                <a:cs typeface="DejaVu Sans"/>
                <a:ea typeface="DejaVu Sans"/>
                <a:solidFill>
                  <a:srgbClr val="1C7293"/>
                </a:solidFill>
              </a:rPr>
              <a:t>[2]</a:t>
            </a:r>
            <a:r>
              <a:rPr sz="1200" b="0" i="0">
                <a:latin typeface="DejaVu Sans"/>
                <a:cs typeface="DejaVu Sans"/>
                <a:ea typeface="DejaVu Sans"/>
                <a:solidFill>
                  <a:srgbClr val="21295C"/>
                </a:solidFill>
              </a:rPr>
              <a:t> — an anti-hype signal: even a large player doesn't claim the top of the scale.</a:t>
            </a:r>
          </a:p>
        </p:txBody>
      </p:sp>
      <p:sp>
        <p:nvSpPr>
          <p:cNvPr id="33" name="Rounded Rectangle 32"/>
          <p:cNvSpPr/>
          <p:nvPr/>
        </p:nvSpPr>
        <p:spPr>
          <a:xfrm>
            <a:off x="502920" y="4892040"/>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 y="4946903"/>
            <a:ext cx="10762488" cy="54864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Five independent sources converge on one point: the winner isn't whoever has the better model, but whoever rebuilt teams and governance around it.</a:t>
            </a:r>
          </a:p>
        </p:txBody>
      </p:sp>
      <p:sp>
        <p:nvSpPr>
          <p:cNvPr id="35" name="TextBox 3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Deloitte — 2026 Global Technology Leadership Study</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Sber — the "AI PDLC Lead" job posting</a:t>
            </a:r>
          </a:p>
        </p:txBody>
      </p:sp>
      <p:sp>
        <p:nvSpPr>
          <p:cNvPr id="36" name="TextBox 3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50 / 56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247120" cy="658368"/>
          </a:xfrm>
          <a:prstGeom prst="rect">
            <a:avLst/>
          </a:prstGeom>
          <a:noFill/>
        </p:spPr>
        <p:txBody>
          <a:bodyPr wrap="square" lIns="0" rIns="0" tIns="0" bIns="0" anchor="t">
            <a:spAutoFit/>
          </a:bodyPr>
          <a:lstStyle/>
          <a:p>
            <a:pPr algn="l">
              <a:lnSpc>
                <a:spcPct val="110000"/>
              </a:lnSpc>
            </a:pPr>
            <a:r>
              <a:rPr sz="1700" b="1" i="0">
                <a:solidFill>
                  <a:srgbClr val="21295C"/>
                </a:solidFill>
                <a:latin typeface="DejaVu Sans"/>
              </a:rPr>
              <a:t>60% explored → 20% piloted → 5% succeeded: 25% among those who got there, not "95% failure" </a:t>
            </a:r>
            <a:r>
              <a:rPr sz="884" baseline="30000" b="0" i="1">
                <a:latin typeface="DejaVu Sans"/>
                <a:cs typeface="DejaVu Sans"/>
                <a:ea typeface="DejaVu Sans"/>
                <a:solidFill>
                  <a:srgbClr val="1C7293"/>
                </a:solidFill>
              </a:rPr>
              <a:t>[1]</a:t>
            </a:r>
          </a:p>
        </p:txBody>
      </p:sp>
      <p:sp>
        <p:nvSpPr>
          <p:cNvPr id="3" name="Rounded Rectangle 2"/>
          <p:cNvSpPr/>
          <p:nvPr/>
        </p:nvSpPr>
        <p:spPr>
          <a:xfrm>
            <a:off x="502920" y="1097280"/>
            <a:ext cx="11201400" cy="2880360"/>
          </a:xfrm>
          <a:prstGeom prst="roundRect">
            <a:avLst>
              <a:gd name="adj" fmla="val 10582"/>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mit-funnel.png"/>
          <p:cNvPicPr>
            <a:picLocks noChangeAspect="1"/>
          </p:cNvPicPr>
          <p:nvPr/>
        </p:nvPicPr>
        <p:blipFill>
          <a:blip r:embed="rId2"/>
          <a:stretch>
            <a:fillRect/>
          </a:stretch>
        </p:blipFill>
        <p:spPr>
          <a:xfrm>
            <a:off x="3425153" y="1280160"/>
            <a:ext cx="5356932" cy="2514600"/>
          </a:xfrm>
          <a:prstGeom prst="rect">
            <a:avLst/>
          </a:prstGeom>
        </p:spPr>
      </p:pic>
      <p:sp>
        <p:nvSpPr>
          <p:cNvPr id="5" name="Rounded Rectangle 4"/>
          <p:cNvSpPr/>
          <p:nvPr/>
        </p:nvSpPr>
        <p:spPr>
          <a:xfrm>
            <a:off x="502920" y="4114800"/>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4169663"/>
            <a:ext cx="10762488" cy="548640"/>
          </a:xfrm>
          <a:prstGeom prst="rect">
            <a:avLst/>
          </a:prstGeom>
          <a:noFill/>
        </p:spPr>
        <p:txBody>
          <a:bodyPr wrap="square" lIns="0" rIns="0" tIns="0" bIns="0" anchor="ctr">
            <a:spAutoFit/>
          </a:bodyPr>
          <a:lstStyle/>
          <a:p>
            <a:pPr algn="ctr">
              <a:lnSpc>
                <a:spcPct val="120000"/>
              </a:lnSpc>
            </a:pPr>
            <a:r>
              <a:rPr sz="1400" b="1" i="0">
                <a:solidFill>
                  <a:srgbClr val="21295C"/>
                </a:solidFill>
                <a:latin typeface="DejaVu Sans"/>
              </a:rPr>
              <a:t>"95% failure" is a headline that doesn't survive calibration: success among those who reached a pilot is 25%, not 5% </a:t>
            </a:r>
            <a:r>
              <a:rPr sz="728" baseline="30000" b="0" i="1">
                <a:latin typeface="DejaVu Sans"/>
                <a:cs typeface="DejaVu Sans"/>
                <a:ea typeface="DejaVu Sans"/>
                <a:solidFill>
                  <a:srgbClr val="1C7293"/>
                </a:solidFill>
              </a:rPr>
              <a:t>[2, 3]</a:t>
            </a:r>
            <a:r>
              <a:rPr sz="1400" b="1" i="0">
                <a:latin typeface="DejaVu Sans"/>
                <a:cs typeface="DejaVu Sans"/>
                <a:ea typeface="DejaVu Sans"/>
                <a:solidFill>
                  <a:srgbClr val="21295C"/>
                </a:solidFill>
              </a:rPr>
              <a:t>.</a:t>
            </a:r>
          </a:p>
        </p:txBody>
      </p:sp>
      <p:sp>
        <p:nvSpPr>
          <p:cNvPr id="7" name="Rounded Rectangle 6"/>
          <p:cNvSpPr/>
          <p:nvPr/>
        </p:nvSpPr>
        <p:spPr>
          <a:xfrm>
            <a:off x="502920" y="4892040"/>
            <a:ext cx="2331720" cy="1417320"/>
          </a:xfrm>
          <a:prstGeom prst="roundRect">
            <a:avLst>
              <a:gd name="adj" fmla="val 21505"/>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47-mit-real-source.png"/>
          <p:cNvPicPr>
            <a:picLocks noChangeAspect="1"/>
          </p:cNvPicPr>
          <p:nvPr/>
        </p:nvPicPr>
        <p:blipFill>
          <a:blip r:embed="rId3"/>
          <a:stretch>
            <a:fillRect/>
          </a:stretch>
        </p:blipFill>
        <p:spPr>
          <a:xfrm>
            <a:off x="612648" y="5118839"/>
            <a:ext cx="2112263" cy="963720"/>
          </a:xfrm>
          <a:prstGeom prst="rect">
            <a:avLst/>
          </a:prstGeom>
        </p:spPr>
      </p:pic>
      <p:sp>
        <p:nvSpPr>
          <p:cNvPr id="9" name="Rounded Rectangle 8"/>
          <p:cNvSpPr/>
          <p:nvPr/>
        </p:nvSpPr>
        <p:spPr>
          <a:xfrm>
            <a:off x="2971800" y="4892040"/>
            <a:ext cx="4892040" cy="1417320"/>
          </a:xfrm>
          <a:prstGeom prst="roundRect">
            <a:avLst>
              <a:gd name="adj" fmla="val 21505"/>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82112" y="4983480"/>
            <a:ext cx="4480560" cy="292608"/>
          </a:xfrm>
          <a:prstGeom prst="rect">
            <a:avLst/>
          </a:prstGeom>
          <a:noFill/>
        </p:spPr>
        <p:txBody>
          <a:bodyPr wrap="square" lIns="0" rIns="0" tIns="0" bIns="0" anchor="t">
            <a:spAutoFit/>
          </a:bodyPr>
          <a:lstStyle/>
          <a:p>
            <a:pPr algn="l">
              <a:lnSpc>
                <a:spcPct val="100000"/>
              </a:lnSpc>
            </a:pPr>
            <a:r>
              <a:rPr sz="1150" b="1" i="0">
                <a:solidFill>
                  <a:srgbClr val="065A82"/>
                </a:solidFill>
                <a:latin typeface="DejaVu Sans"/>
              </a:rPr>
              <a:t>4 questions for any loud AI-failure number</a:t>
            </a:r>
          </a:p>
        </p:txBody>
      </p:sp>
      <p:sp>
        <p:nvSpPr>
          <p:cNvPr id="11" name="TextBox 10"/>
          <p:cNvSpPr txBox="1"/>
          <p:nvPr/>
        </p:nvSpPr>
        <p:spPr>
          <a:xfrm>
            <a:off x="3182112" y="5321808"/>
            <a:ext cx="4480560" cy="237744"/>
          </a:xfrm>
          <a:prstGeom prst="rect">
            <a:avLst/>
          </a:prstGeom>
          <a:noFill/>
        </p:spPr>
        <p:txBody>
          <a:bodyPr wrap="square" lIns="0" rIns="0" tIns="0" bIns="0" anchor="t">
            <a:spAutoFit/>
          </a:bodyPr>
          <a:lstStyle/>
          <a:p>
            <a:pPr algn="l">
              <a:lnSpc>
                <a:spcPct val="100000"/>
              </a:lnSpc>
            </a:pPr>
            <a:r>
              <a:rPr sz="1000" b="0" i="0">
                <a:solidFill>
                  <a:srgbClr val="21295C"/>
                </a:solidFill>
                <a:latin typeface="DejaVu Sans"/>
              </a:rPr>
              <a:t>1. What is the denominator?</a:t>
            </a:r>
          </a:p>
        </p:txBody>
      </p:sp>
      <p:sp>
        <p:nvSpPr>
          <p:cNvPr id="12" name="TextBox 11"/>
          <p:cNvSpPr txBox="1"/>
          <p:nvPr/>
        </p:nvSpPr>
        <p:spPr>
          <a:xfrm>
            <a:off x="3182112" y="5568696"/>
            <a:ext cx="4480560" cy="237744"/>
          </a:xfrm>
          <a:prstGeom prst="rect">
            <a:avLst/>
          </a:prstGeom>
          <a:noFill/>
        </p:spPr>
        <p:txBody>
          <a:bodyPr wrap="square" lIns="0" rIns="0" tIns="0" bIns="0" anchor="t">
            <a:spAutoFit/>
          </a:bodyPr>
          <a:lstStyle/>
          <a:p>
            <a:pPr algn="l">
              <a:lnSpc>
                <a:spcPct val="100000"/>
              </a:lnSpc>
            </a:pPr>
            <a:r>
              <a:rPr sz="1000" b="0" i="0">
                <a:solidFill>
                  <a:srgbClr val="21295C"/>
                </a:solidFill>
                <a:latin typeface="DejaVu Sans"/>
              </a:rPr>
              <a:t>2. What counts as "failure"?</a:t>
            </a:r>
          </a:p>
        </p:txBody>
      </p:sp>
      <p:sp>
        <p:nvSpPr>
          <p:cNvPr id="13" name="TextBox 12"/>
          <p:cNvSpPr txBox="1"/>
          <p:nvPr/>
        </p:nvSpPr>
        <p:spPr>
          <a:xfrm>
            <a:off x="3182112" y="5815584"/>
            <a:ext cx="4480560" cy="237744"/>
          </a:xfrm>
          <a:prstGeom prst="rect">
            <a:avLst/>
          </a:prstGeom>
          <a:noFill/>
        </p:spPr>
        <p:txBody>
          <a:bodyPr wrap="square" lIns="0" rIns="0" tIns="0" bIns="0" anchor="t">
            <a:spAutoFit/>
          </a:bodyPr>
          <a:lstStyle/>
          <a:p>
            <a:pPr algn="l">
              <a:lnSpc>
                <a:spcPct val="100000"/>
              </a:lnSpc>
            </a:pPr>
            <a:r>
              <a:rPr sz="1000" b="0" i="0">
                <a:solidFill>
                  <a:srgbClr val="21295C"/>
                </a:solidFill>
                <a:latin typeface="DejaVu Sans"/>
              </a:rPr>
              <a:t>3. What's the author's conflict of interest? </a:t>
            </a:r>
            <a:r>
              <a:rPr sz="520" baseline="30000" b="0" i="1">
                <a:latin typeface="DejaVu Sans"/>
                <a:cs typeface="DejaVu Sans"/>
                <a:ea typeface="DejaVu Sans"/>
                <a:solidFill>
                  <a:srgbClr val="1C7293"/>
                </a:solidFill>
              </a:rPr>
              <a:t>[3]</a:t>
            </a:r>
          </a:p>
        </p:txBody>
      </p:sp>
      <p:sp>
        <p:nvSpPr>
          <p:cNvPr id="14" name="TextBox 13"/>
          <p:cNvSpPr txBox="1"/>
          <p:nvPr/>
        </p:nvSpPr>
        <p:spPr>
          <a:xfrm>
            <a:off x="3182112" y="6062472"/>
            <a:ext cx="4480560" cy="237744"/>
          </a:xfrm>
          <a:prstGeom prst="rect">
            <a:avLst/>
          </a:prstGeom>
          <a:noFill/>
        </p:spPr>
        <p:txBody>
          <a:bodyPr wrap="square" lIns="0" rIns="0" tIns="0" bIns="0" anchor="t">
            <a:spAutoFit/>
          </a:bodyPr>
          <a:lstStyle/>
          <a:p>
            <a:pPr algn="l">
              <a:lnSpc>
                <a:spcPct val="100000"/>
              </a:lnSpc>
            </a:pPr>
            <a:r>
              <a:rPr sz="1000" b="0" i="0">
                <a:solidFill>
                  <a:srgbClr val="21295C"/>
                </a:solidFill>
                <a:latin typeface="DejaVu Sans"/>
              </a:rPr>
              <a:t>4. Does it trace to a primary source?</a:t>
            </a:r>
          </a:p>
        </p:txBody>
      </p:sp>
      <p:sp>
        <p:nvSpPr>
          <p:cNvPr id="15" name="Rounded Rectangle 14"/>
          <p:cNvSpPr/>
          <p:nvPr/>
        </p:nvSpPr>
        <p:spPr>
          <a:xfrm>
            <a:off x="8001000" y="4892040"/>
            <a:ext cx="3703320" cy="1417320"/>
          </a:xfrm>
          <a:prstGeom prst="roundRect">
            <a:avLst>
              <a:gd name="adj" fmla="val 8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4983480"/>
            <a:ext cx="3337560" cy="1234440"/>
          </a:xfrm>
          <a:prstGeom prst="rect">
            <a:avLst/>
          </a:prstGeom>
          <a:noFill/>
        </p:spPr>
        <p:txBody>
          <a:bodyPr wrap="square" lIns="0" rIns="0" tIns="0" bIns="0" anchor="ctr">
            <a:spAutoFit/>
          </a:bodyPr>
          <a:lstStyle/>
          <a:p>
            <a:pPr algn="l">
              <a:lnSpc>
                <a:spcPct val="115000"/>
              </a:lnSpc>
            </a:pPr>
            <a:r>
              <a:rPr sz="1050" b="1" i="0">
                <a:solidFill>
                  <a:srgbClr val="21295C"/>
                </a:solidFill>
                <a:latin typeface="DejaVu Sans"/>
              </a:rPr>
              <a:t>BCG: 60% of companies track zero financial KPIs tied to AI value </a:t>
            </a:r>
            <a:r>
              <a:rPr sz="546" baseline="30000" b="0" i="1">
                <a:latin typeface="DejaVu Sans"/>
                <a:cs typeface="DejaVu Sans"/>
                <a:ea typeface="DejaVu Sans"/>
                <a:solidFill>
                  <a:srgbClr val="1C7293"/>
                </a:solidFill>
              </a:rPr>
              <a:t>[5]</a:t>
            </a:r>
            <a:r>
              <a:rPr sz="1050" b="1" i="0">
                <a:latin typeface="DejaVu Sans"/>
                <a:cs typeface="DejaVu Sans"/>
                <a:ea typeface="DejaVu Sans"/>
                <a:solidFill>
                  <a:srgbClr val="21295C"/>
                </a:solidFill>
              </a:rPr>
              <a:t> — this is why failure numbers inflate so easily.</a:t>
            </a:r>
          </a:p>
        </p:txBody>
      </p:sp>
      <p:sp>
        <p:nvSpPr>
          <p:cNvPr id="17" name="TextBox 16"/>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00" b="1" i="1">
                <a:solidFill>
                  <a:srgbClr val="065A82"/>
                </a:solidFill>
                <a:latin typeface="DejaVu Sans"/>
              </a:rPr>
              <a:t>[1] </a:t>
            </a:r>
            <a:r>
              <a:rPr sz="800" i="1">
                <a:solidFill>
                  <a:srgbClr val="1C7293"/>
                </a:solidFill>
                <a:latin typeface="DejaVu Sans"/>
                <a:hlinkClick r:id="rId4"/>
              </a:rPr>
              <a:t>MIT NANDA — "The GenAI Divide" (July 2025, v0.1)</a:t>
            </a:r>
            <a:r>
              <a:rPr sz="800" i="1">
                <a:solidFill>
                  <a:srgbClr val="1C7293"/>
                </a:solidFill>
                <a:latin typeface="DejaVu Sans"/>
              </a:rPr>
              <a:t>   ·   </a:t>
            </a:r>
            <a:r>
              <a:rPr sz="800" b="1" i="1">
                <a:solidFill>
                  <a:srgbClr val="065A82"/>
                </a:solidFill>
                <a:latin typeface="DejaVu Sans"/>
              </a:rPr>
              <a:t>[2] </a:t>
            </a:r>
            <a:r>
              <a:rPr sz="800" i="1">
                <a:solidFill>
                  <a:srgbClr val="1C7293"/>
                </a:solidFill>
                <a:latin typeface="DejaVu Sans"/>
                <a:hlinkClick r:id="rId5"/>
              </a:rPr>
              <a:t>Fortune (Aug 18, 2025) — media distortion of the MIT report</a:t>
            </a:r>
            <a:r>
              <a:rPr sz="800" i="1">
                <a:solidFill>
                  <a:srgbClr val="1C7293"/>
                </a:solidFill>
                <a:latin typeface="DejaVu Sans"/>
              </a:rPr>
              <a:t>   ·   </a:t>
            </a:r>
            <a:r>
              <a:rPr sz="800" b="1" i="1">
                <a:solidFill>
                  <a:srgbClr val="065A82"/>
                </a:solidFill>
                <a:latin typeface="DejaVu Sans"/>
              </a:rPr>
              <a:t>[3] </a:t>
            </a:r>
            <a:r>
              <a:rPr sz="800" i="1">
                <a:solidFill>
                  <a:srgbClr val="1C7293"/>
                </a:solidFill>
                <a:latin typeface="DejaVu Sans"/>
                <a:hlinkClick r:id="rId6"/>
              </a:rPr>
              <a:t>NewMR — Myth #2</a:t>
            </a:r>
            <a:r>
              <a:rPr sz="800" i="1">
                <a:solidFill>
                  <a:srgbClr val="1C7293"/>
                </a:solidFill>
                <a:latin typeface="DejaVu Sans"/>
              </a:rPr>
              <a:t>   ·   </a:t>
            </a:r>
            <a:r>
              <a:rPr sz="800" b="1" i="1">
                <a:solidFill>
                  <a:srgbClr val="065A82"/>
                </a:solidFill>
                <a:latin typeface="DejaVu Sans"/>
              </a:rPr>
              <a:t>[4] </a:t>
            </a:r>
            <a:r>
              <a:rPr sz="800" i="1">
                <a:solidFill>
                  <a:srgbClr val="1C7293"/>
                </a:solidFill>
                <a:latin typeface="DejaVu Sans"/>
                <a:hlinkClick r:id="rId7"/>
              </a:rPr>
              <a:t>Gartner (Apr 7, 2026, 782 I&amp;O leaders)</a:t>
            </a:r>
            <a:r>
              <a:rPr sz="800" i="1">
                <a:solidFill>
                  <a:srgbClr val="1C7293"/>
                </a:solidFill>
                <a:latin typeface="DejaVu Sans"/>
              </a:rPr>
              <a:t>   ·   </a:t>
            </a:r>
            <a:r>
              <a:rPr sz="800" b="1" i="1">
                <a:solidFill>
                  <a:srgbClr val="065A82"/>
                </a:solidFill>
                <a:latin typeface="DejaVu Sans"/>
              </a:rPr>
              <a:t>[5] </a:t>
            </a:r>
            <a:r>
              <a:rPr sz="800" i="1">
                <a:solidFill>
                  <a:srgbClr val="1C7293"/>
                </a:solidFill>
                <a:latin typeface="DejaVu Sans"/>
                <a:hlinkClick r:id="rId8"/>
              </a:rPr>
              <a:t>BCG — Closing the AI Impact Gap</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51 / 56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1600" b="1" i="0">
                <a:solidFill>
                  <a:srgbClr val="21295C"/>
                </a:solidFill>
                <a:latin typeface="DejaVu Sans"/>
              </a:rPr>
              <a:t>The "autonomous" store: 700 of 1,000 transactions needed manual review against a target of 50</a:t>
            </a:r>
          </a:p>
        </p:txBody>
      </p:sp>
      <p:sp>
        <p:nvSpPr>
          <p:cNvPr id="3" name="Rounded Rectangle 2"/>
          <p:cNvSpPr/>
          <p:nvPr/>
        </p:nvSpPr>
        <p:spPr>
          <a:xfrm>
            <a:off x="502920" y="1371600"/>
            <a:ext cx="3063240" cy="1691640"/>
          </a:xfrm>
          <a:prstGeom prst="roundRect">
            <a:avLst>
              <a:gd name="adj" fmla="val 18018"/>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8-amazon-real-source.png"/>
          <p:cNvPicPr>
            <a:picLocks noChangeAspect="1"/>
          </p:cNvPicPr>
          <p:nvPr/>
        </p:nvPicPr>
        <p:blipFill>
          <a:blip r:embed="rId2"/>
          <a:stretch>
            <a:fillRect/>
          </a:stretch>
        </p:blipFill>
        <p:spPr>
          <a:xfrm>
            <a:off x="840959" y="1463040"/>
            <a:ext cx="2387160" cy="1508760"/>
          </a:xfrm>
          <a:prstGeom prst="rect">
            <a:avLst/>
          </a:prstGeom>
        </p:spPr>
      </p:pic>
      <p:sp>
        <p:nvSpPr>
          <p:cNvPr id="5" name="Rounded Rectangle 4"/>
          <p:cNvSpPr/>
          <p:nvPr/>
        </p:nvSpPr>
        <p:spPr>
          <a:xfrm>
            <a:off x="3749039" y="1371600"/>
            <a:ext cx="324612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jwo.png"/>
          <p:cNvPicPr>
            <a:picLocks noChangeAspect="1"/>
          </p:cNvPicPr>
          <p:nvPr/>
        </p:nvPicPr>
        <p:blipFill>
          <a:blip r:embed="rId3"/>
          <a:stretch>
            <a:fillRect/>
          </a:stretch>
        </p:blipFill>
        <p:spPr>
          <a:xfrm>
            <a:off x="4260622" y="1508760"/>
            <a:ext cx="2222955" cy="1417320"/>
          </a:xfrm>
          <a:prstGeom prst="rect">
            <a:avLst/>
          </a:prstGeom>
        </p:spPr>
      </p:pic>
      <p:sp>
        <p:nvSpPr>
          <p:cNvPr id="7" name="Rounded Rectangle 6"/>
          <p:cNvSpPr/>
          <p:nvPr/>
        </p:nvSpPr>
        <p:spPr>
          <a:xfrm>
            <a:off x="7178040" y="1371600"/>
            <a:ext cx="4526280" cy="1691640"/>
          </a:xfrm>
          <a:prstGeom prst="roundRect">
            <a:avLst>
              <a:gd name="adj" fmla="val 18018"/>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1481328"/>
            <a:ext cx="4069080" cy="1508760"/>
          </a:xfrm>
          <a:prstGeom prst="rect">
            <a:avLst/>
          </a:prstGeom>
          <a:noFill/>
        </p:spPr>
        <p:txBody>
          <a:bodyPr wrap="square" lIns="0" rIns="0" tIns="0" bIns="0" anchor="ctr">
            <a:spAutoFit/>
          </a:bodyPr>
          <a:lstStyle/>
          <a:p>
            <a:pPr algn="l">
              <a:lnSpc>
                <a:spcPct val="115000"/>
              </a:lnSpc>
            </a:pPr>
            <a:r>
              <a:rPr sz="1100" b="1" i="0">
                <a:solidFill>
                  <a:srgbClr val="21295C"/>
                </a:solidFill>
                <a:latin typeface="DejaVu Sans"/>
              </a:rPr>
              <a:t>Just Walk Out (Amazon), since 2018: 700/1,000 transactions — manual review (14x above the 50/1,000 target) </a:t>
            </a:r>
            <a:r>
              <a:rPr sz="572" baseline="30000" b="0" i="1">
                <a:latin typeface="DejaVu Sans"/>
                <a:cs typeface="DejaVu Sans"/>
                <a:ea typeface="DejaVu Sans"/>
                <a:solidFill>
                  <a:srgbClr val="1C7293"/>
                </a:solidFill>
              </a:rPr>
              <a:t>[1]</a:t>
            </a:r>
            <a:r>
              <a:rPr sz="1100" b="1" i="0">
                <a:latin typeface="DejaVu Sans"/>
                <a:cs typeface="DejaVu Sans"/>
                <a:ea typeface="DejaVu Sans"/>
                <a:solidFill>
                  <a:srgbClr val="21295C"/>
                </a:solidFill>
              </a:rPr>
              <a:t>. 6 years of "autonomous AI" marketing with no disclosure of the labor scale (hidden human cost) </a:t>
            </a:r>
            <a:r>
              <a:rPr sz="572" baseline="30000" b="0" i="1">
                <a:latin typeface="DejaVu Sans"/>
                <a:cs typeface="DejaVu Sans"/>
                <a:ea typeface="DejaVu Sans"/>
                <a:solidFill>
                  <a:srgbClr val="1C7293"/>
                </a:solidFill>
              </a:rPr>
              <a:t>[2]</a:t>
            </a:r>
            <a:r>
              <a:rPr sz="1100" b="1" i="0">
                <a:latin typeface="DejaVu Sans"/>
                <a:cs typeface="DejaVu Sans"/>
                <a:ea typeface="DejaVu Sans"/>
                <a:solidFill>
                  <a:srgbClr val="21295C"/>
                </a:solidFill>
              </a:rPr>
              <a:t>.</a:t>
            </a:r>
          </a:p>
        </p:txBody>
      </p:sp>
      <p:sp>
        <p:nvSpPr>
          <p:cNvPr id="9" name="Rounded Rectangle 8"/>
          <p:cNvSpPr/>
          <p:nvPr/>
        </p:nvSpPr>
        <p:spPr>
          <a:xfrm>
            <a:off x="502920" y="3337560"/>
            <a:ext cx="11201400" cy="384048"/>
          </a:xfrm>
          <a:prstGeom prst="roundRect">
            <a:avLst>
              <a:gd name="adj" fmla="val 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337560"/>
            <a:ext cx="11201400" cy="384048"/>
          </a:xfrm>
          <a:prstGeom prst="rect">
            <a:avLst/>
          </a:prstGeom>
          <a:noFill/>
        </p:spPr>
        <p:txBody>
          <a:bodyPr wrap="square" lIns="0" rIns="0" tIns="0" bIns="0" anchor="ctr">
            <a:spAutoFit/>
          </a:bodyPr>
          <a:lstStyle/>
          <a:p>
            <a:pPr algn="ctr">
              <a:lnSpc>
                <a:spcPct val="115000"/>
              </a:lnSpc>
            </a:pPr>
            <a:r>
              <a:rPr sz="1200" b="1" i="0">
                <a:solidFill>
                  <a:srgbClr val="FFFFFF"/>
                </a:solidFill>
                <a:latin typeface="DejaVu Sans"/>
              </a:rPr>
              <a:t>Phase x what AI changes x what stays from the classic</a:t>
            </a:r>
          </a:p>
        </p:txBody>
      </p:sp>
      <p:sp>
        <p:nvSpPr>
          <p:cNvPr id="11" name="Rounded Rectangle 10"/>
          <p:cNvSpPr/>
          <p:nvPr/>
        </p:nvSpPr>
        <p:spPr>
          <a:xfrm>
            <a:off x="521208" y="3776472"/>
            <a:ext cx="1830323" cy="1234440"/>
          </a:xfrm>
          <a:prstGeom prst="roundRect">
            <a:avLst>
              <a:gd name="adj" fmla="val 2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3849624"/>
            <a:ext cx="1720596" cy="365760"/>
          </a:xfrm>
          <a:prstGeom prst="rect">
            <a:avLst/>
          </a:prstGeom>
          <a:noFill/>
        </p:spPr>
        <p:txBody>
          <a:bodyPr wrap="square" lIns="0" rIns="0" tIns="0" bIns="0" anchor="t">
            <a:spAutoFit/>
          </a:bodyPr>
          <a:lstStyle/>
          <a:p>
            <a:pPr algn="ctr">
              <a:lnSpc>
                <a:spcPct val="95000"/>
              </a:lnSpc>
            </a:pPr>
            <a:r>
              <a:rPr sz="1050" b="1" i="0">
                <a:solidFill>
                  <a:srgbClr val="21295C"/>
                </a:solidFill>
                <a:latin typeface="DejaVu Sans"/>
              </a:rPr>
              <a:t>Discovery</a:t>
            </a:r>
          </a:p>
        </p:txBody>
      </p:sp>
      <p:sp>
        <p:nvSpPr>
          <p:cNvPr id="13" name="TextBox 12"/>
          <p:cNvSpPr txBox="1"/>
          <p:nvPr/>
        </p:nvSpPr>
        <p:spPr>
          <a:xfrm>
            <a:off x="576072" y="4251960"/>
            <a:ext cx="1720596" cy="310896"/>
          </a:xfrm>
          <a:prstGeom prst="rect">
            <a:avLst/>
          </a:prstGeom>
          <a:noFill/>
        </p:spPr>
        <p:txBody>
          <a:bodyPr wrap="square" lIns="0" rIns="0" tIns="0" bIns="0" anchor="t">
            <a:spAutoFit/>
          </a:bodyPr>
          <a:lstStyle/>
          <a:p>
            <a:pPr algn="ctr">
              <a:lnSpc>
                <a:spcPct val="95000"/>
              </a:lnSpc>
            </a:pPr>
            <a:r>
              <a:rPr sz="900" b="0" i="0">
                <a:solidFill>
                  <a:srgbClr val="028090"/>
                </a:solidFill>
                <a:latin typeface="DejaVu Sans"/>
              </a:rPr>
              <a:t>synthesis, desk</a:t>
            </a:r>
          </a:p>
        </p:txBody>
      </p:sp>
      <p:sp>
        <p:nvSpPr>
          <p:cNvPr id="14" name="TextBox 13"/>
          <p:cNvSpPr txBox="1"/>
          <p:nvPr/>
        </p:nvSpPr>
        <p:spPr>
          <a:xfrm>
            <a:off x="576072" y="4636008"/>
            <a:ext cx="1720596" cy="310896"/>
          </a:xfrm>
          <a:prstGeom prst="rect">
            <a:avLst/>
          </a:prstGeom>
          <a:noFill/>
        </p:spPr>
        <p:txBody>
          <a:bodyPr wrap="square" lIns="0" rIns="0" tIns="0" bIns="0" anchor="t">
            <a:spAutoFit/>
          </a:bodyPr>
          <a:lstStyle/>
          <a:p>
            <a:pPr algn="ctr">
              <a:lnSpc>
                <a:spcPct val="95000"/>
              </a:lnSpc>
            </a:pPr>
            <a:r>
              <a:rPr sz="900" b="0" i="0">
                <a:solidFill>
                  <a:srgbClr val="5B6678"/>
                </a:solidFill>
                <a:latin typeface="DejaVu Sans"/>
              </a:rPr>
              <a:t>interviews</a:t>
            </a:r>
          </a:p>
        </p:txBody>
      </p:sp>
      <p:sp>
        <p:nvSpPr>
          <p:cNvPr id="15" name="Rounded Rectangle 14"/>
          <p:cNvSpPr/>
          <p:nvPr/>
        </p:nvSpPr>
        <p:spPr>
          <a:xfrm>
            <a:off x="2388108" y="3776472"/>
            <a:ext cx="1830323" cy="1234440"/>
          </a:xfrm>
          <a:prstGeom prst="roundRect">
            <a:avLst>
              <a:gd name="adj" fmla="val 2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42972" y="3849624"/>
            <a:ext cx="1720596" cy="365760"/>
          </a:xfrm>
          <a:prstGeom prst="rect">
            <a:avLst/>
          </a:prstGeom>
          <a:noFill/>
        </p:spPr>
        <p:txBody>
          <a:bodyPr wrap="square" lIns="0" rIns="0" tIns="0" bIns="0" anchor="t">
            <a:spAutoFit/>
          </a:bodyPr>
          <a:lstStyle/>
          <a:p>
            <a:pPr algn="ctr">
              <a:lnSpc>
                <a:spcPct val="95000"/>
              </a:lnSpc>
            </a:pPr>
            <a:r>
              <a:rPr sz="1050" b="1" i="0">
                <a:solidFill>
                  <a:srgbClr val="21295C"/>
                </a:solidFill>
                <a:latin typeface="DejaVu Sans"/>
              </a:rPr>
              <a:t>Design</a:t>
            </a:r>
          </a:p>
        </p:txBody>
      </p:sp>
      <p:sp>
        <p:nvSpPr>
          <p:cNvPr id="17" name="TextBox 16"/>
          <p:cNvSpPr txBox="1"/>
          <p:nvPr/>
        </p:nvSpPr>
        <p:spPr>
          <a:xfrm>
            <a:off x="2442972" y="4251960"/>
            <a:ext cx="1720596" cy="310896"/>
          </a:xfrm>
          <a:prstGeom prst="rect">
            <a:avLst/>
          </a:prstGeom>
          <a:noFill/>
        </p:spPr>
        <p:txBody>
          <a:bodyPr wrap="square" lIns="0" rIns="0" tIns="0" bIns="0" anchor="t">
            <a:spAutoFit/>
          </a:bodyPr>
          <a:lstStyle/>
          <a:p>
            <a:pPr algn="ctr">
              <a:lnSpc>
                <a:spcPct val="95000"/>
              </a:lnSpc>
            </a:pPr>
            <a:r>
              <a:rPr sz="900" b="0" i="0">
                <a:solidFill>
                  <a:srgbClr val="028090"/>
                </a:solidFill>
                <a:latin typeface="DejaVu Sans"/>
              </a:rPr>
              <a:t>generation</a:t>
            </a:r>
          </a:p>
        </p:txBody>
      </p:sp>
      <p:sp>
        <p:nvSpPr>
          <p:cNvPr id="18" name="TextBox 17"/>
          <p:cNvSpPr txBox="1"/>
          <p:nvPr/>
        </p:nvSpPr>
        <p:spPr>
          <a:xfrm>
            <a:off x="2442972" y="4636008"/>
            <a:ext cx="1720596" cy="310896"/>
          </a:xfrm>
          <a:prstGeom prst="rect">
            <a:avLst/>
          </a:prstGeom>
          <a:noFill/>
        </p:spPr>
        <p:txBody>
          <a:bodyPr wrap="square" lIns="0" rIns="0" tIns="0" bIns="0" anchor="t">
            <a:spAutoFit/>
          </a:bodyPr>
          <a:lstStyle/>
          <a:p>
            <a:pPr algn="ctr">
              <a:lnSpc>
                <a:spcPct val="95000"/>
              </a:lnSpc>
            </a:pPr>
            <a:r>
              <a:rPr sz="900" b="0" i="0">
                <a:solidFill>
                  <a:srgbClr val="5B6678"/>
                </a:solidFill>
                <a:latin typeface="DejaVu Sans"/>
              </a:rPr>
              <a:t>safety reqs</a:t>
            </a:r>
          </a:p>
        </p:txBody>
      </p:sp>
      <p:sp>
        <p:nvSpPr>
          <p:cNvPr id="19" name="Rounded Rectangle 18"/>
          <p:cNvSpPr/>
          <p:nvPr/>
        </p:nvSpPr>
        <p:spPr>
          <a:xfrm>
            <a:off x="4255007" y="3776472"/>
            <a:ext cx="1830323" cy="1234440"/>
          </a:xfrm>
          <a:prstGeom prst="roundRect">
            <a:avLst>
              <a:gd name="adj" fmla="val 2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09872" y="3849624"/>
            <a:ext cx="1720596" cy="365760"/>
          </a:xfrm>
          <a:prstGeom prst="rect">
            <a:avLst/>
          </a:prstGeom>
          <a:noFill/>
        </p:spPr>
        <p:txBody>
          <a:bodyPr wrap="square" lIns="0" rIns="0" tIns="0" bIns="0" anchor="t">
            <a:spAutoFit/>
          </a:bodyPr>
          <a:lstStyle/>
          <a:p>
            <a:pPr algn="ctr">
              <a:lnSpc>
                <a:spcPct val="95000"/>
              </a:lnSpc>
            </a:pPr>
            <a:r>
              <a:rPr sz="1050" b="1" i="0">
                <a:solidFill>
                  <a:srgbClr val="21295C"/>
                </a:solidFill>
                <a:latin typeface="DejaVu Sans"/>
              </a:rPr>
              <a:t>Build/Launch</a:t>
            </a:r>
          </a:p>
        </p:txBody>
      </p:sp>
      <p:sp>
        <p:nvSpPr>
          <p:cNvPr id="21" name="TextBox 20"/>
          <p:cNvSpPr txBox="1"/>
          <p:nvPr/>
        </p:nvSpPr>
        <p:spPr>
          <a:xfrm>
            <a:off x="4309872" y="4251960"/>
            <a:ext cx="1720596" cy="310896"/>
          </a:xfrm>
          <a:prstGeom prst="rect">
            <a:avLst/>
          </a:prstGeom>
          <a:noFill/>
        </p:spPr>
        <p:txBody>
          <a:bodyPr wrap="square" lIns="0" rIns="0" tIns="0" bIns="0" anchor="t">
            <a:spAutoFit/>
          </a:bodyPr>
          <a:lstStyle/>
          <a:p>
            <a:pPr algn="ctr">
              <a:lnSpc>
                <a:spcPct val="95000"/>
              </a:lnSpc>
            </a:pPr>
            <a:r>
              <a:rPr sz="900" b="0" i="0">
                <a:solidFill>
                  <a:srgbClr val="028090"/>
                </a:solidFill>
                <a:latin typeface="DejaVu Sans"/>
              </a:rPr>
              <a:t>code ~= free</a:t>
            </a:r>
          </a:p>
        </p:txBody>
      </p:sp>
      <p:sp>
        <p:nvSpPr>
          <p:cNvPr id="22" name="TextBox 21"/>
          <p:cNvSpPr txBox="1"/>
          <p:nvPr/>
        </p:nvSpPr>
        <p:spPr>
          <a:xfrm>
            <a:off x="4309872" y="4636008"/>
            <a:ext cx="1720596" cy="310896"/>
          </a:xfrm>
          <a:prstGeom prst="rect">
            <a:avLst/>
          </a:prstGeom>
          <a:noFill/>
        </p:spPr>
        <p:txBody>
          <a:bodyPr wrap="square" lIns="0" rIns="0" tIns="0" bIns="0" anchor="t">
            <a:spAutoFit/>
          </a:bodyPr>
          <a:lstStyle/>
          <a:p>
            <a:pPr algn="ctr">
              <a:lnSpc>
                <a:spcPct val="95000"/>
              </a:lnSpc>
            </a:pPr>
            <a:r>
              <a:rPr sz="900" b="0" i="0">
                <a:solidFill>
                  <a:srgbClr val="5B6678"/>
                </a:solidFill>
                <a:latin typeface="DejaVu Sans"/>
              </a:rPr>
              <a:t>review, kill gate</a:t>
            </a:r>
          </a:p>
        </p:txBody>
      </p:sp>
      <p:sp>
        <p:nvSpPr>
          <p:cNvPr id="23" name="Rounded Rectangle 22"/>
          <p:cNvSpPr/>
          <p:nvPr/>
        </p:nvSpPr>
        <p:spPr>
          <a:xfrm>
            <a:off x="6121907" y="3776472"/>
            <a:ext cx="1830323" cy="1234440"/>
          </a:xfrm>
          <a:prstGeom prst="roundRect">
            <a:avLst>
              <a:gd name="adj" fmla="val 2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6772" y="3849624"/>
            <a:ext cx="1720596" cy="365760"/>
          </a:xfrm>
          <a:prstGeom prst="rect">
            <a:avLst/>
          </a:prstGeom>
          <a:noFill/>
        </p:spPr>
        <p:txBody>
          <a:bodyPr wrap="square" lIns="0" rIns="0" tIns="0" bIns="0" anchor="t">
            <a:spAutoFit/>
          </a:bodyPr>
          <a:lstStyle/>
          <a:p>
            <a:pPr algn="ctr">
              <a:lnSpc>
                <a:spcPct val="95000"/>
              </a:lnSpc>
            </a:pPr>
            <a:r>
              <a:rPr sz="1050" b="1" i="0">
                <a:solidFill>
                  <a:srgbClr val="21295C"/>
                </a:solidFill>
                <a:latin typeface="DejaVu Sans"/>
              </a:rPr>
              <a:t>Measure</a:t>
            </a:r>
          </a:p>
        </p:txBody>
      </p:sp>
      <p:sp>
        <p:nvSpPr>
          <p:cNvPr id="25" name="TextBox 24"/>
          <p:cNvSpPr txBox="1"/>
          <p:nvPr/>
        </p:nvSpPr>
        <p:spPr>
          <a:xfrm>
            <a:off x="6176772" y="4251960"/>
            <a:ext cx="1720596" cy="310896"/>
          </a:xfrm>
          <a:prstGeom prst="rect">
            <a:avLst/>
          </a:prstGeom>
          <a:noFill/>
        </p:spPr>
        <p:txBody>
          <a:bodyPr wrap="square" lIns="0" rIns="0" tIns="0" bIns="0" anchor="t">
            <a:spAutoFit/>
          </a:bodyPr>
          <a:lstStyle/>
          <a:p>
            <a:pPr algn="ctr">
              <a:lnSpc>
                <a:spcPct val="95000"/>
              </a:lnSpc>
            </a:pPr>
            <a:r>
              <a:rPr sz="900" b="0" i="0">
                <a:solidFill>
                  <a:srgbClr val="028090"/>
                </a:solidFill>
                <a:latin typeface="DejaVu Sans"/>
              </a:rPr>
              <a:t>evals</a:t>
            </a:r>
          </a:p>
        </p:txBody>
      </p:sp>
      <p:sp>
        <p:nvSpPr>
          <p:cNvPr id="26" name="TextBox 25"/>
          <p:cNvSpPr txBox="1"/>
          <p:nvPr/>
        </p:nvSpPr>
        <p:spPr>
          <a:xfrm>
            <a:off x="6176772" y="4636008"/>
            <a:ext cx="1720596" cy="310896"/>
          </a:xfrm>
          <a:prstGeom prst="rect">
            <a:avLst/>
          </a:prstGeom>
          <a:noFill/>
        </p:spPr>
        <p:txBody>
          <a:bodyPr wrap="square" lIns="0" rIns="0" tIns="0" bIns="0" anchor="t">
            <a:spAutoFit/>
          </a:bodyPr>
          <a:lstStyle/>
          <a:p>
            <a:pPr algn="ctr">
              <a:lnSpc>
                <a:spcPct val="95000"/>
              </a:lnSpc>
            </a:pPr>
            <a:r>
              <a:rPr sz="900" b="0" i="0">
                <a:solidFill>
                  <a:srgbClr val="5B6678"/>
                </a:solidFill>
                <a:latin typeface="DejaVu Sans"/>
              </a:rPr>
              <a:t>randomization</a:t>
            </a:r>
          </a:p>
        </p:txBody>
      </p:sp>
      <p:sp>
        <p:nvSpPr>
          <p:cNvPr id="27" name="Rounded Rectangle 26"/>
          <p:cNvSpPr/>
          <p:nvPr/>
        </p:nvSpPr>
        <p:spPr>
          <a:xfrm>
            <a:off x="7988808" y="3776472"/>
            <a:ext cx="1830323" cy="1234440"/>
          </a:xfrm>
          <a:prstGeom prst="roundRect">
            <a:avLst>
              <a:gd name="adj" fmla="val 2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3672" y="3849624"/>
            <a:ext cx="1720596" cy="365760"/>
          </a:xfrm>
          <a:prstGeom prst="rect">
            <a:avLst/>
          </a:prstGeom>
          <a:noFill/>
        </p:spPr>
        <p:txBody>
          <a:bodyPr wrap="square" lIns="0" rIns="0" tIns="0" bIns="0" anchor="t">
            <a:spAutoFit/>
          </a:bodyPr>
          <a:lstStyle/>
          <a:p>
            <a:pPr algn="ctr">
              <a:lnSpc>
                <a:spcPct val="95000"/>
              </a:lnSpc>
            </a:pPr>
            <a:r>
              <a:rPr sz="1050" b="1" i="0">
                <a:solidFill>
                  <a:srgbClr val="21295C"/>
                </a:solidFill>
                <a:latin typeface="DejaVu Sans"/>
              </a:rPr>
              <a:t>Support</a:t>
            </a:r>
          </a:p>
        </p:txBody>
      </p:sp>
      <p:sp>
        <p:nvSpPr>
          <p:cNvPr id="29" name="TextBox 28"/>
          <p:cNvSpPr txBox="1"/>
          <p:nvPr/>
        </p:nvSpPr>
        <p:spPr>
          <a:xfrm>
            <a:off x="8043672" y="4251960"/>
            <a:ext cx="1720596" cy="310896"/>
          </a:xfrm>
          <a:prstGeom prst="rect">
            <a:avLst/>
          </a:prstGeom>
          <a:noFill/>
        </p:spPr>
        <p:txBody>
          <a:bodyPr wrap="square" lIns="0" rIns="0" tIns="0" bIns="0" anchor="t">
            <a:spAutoFit/>
          </a:bodyPr>
          <a:lstStyle/>
          <a:p>
            <a:pPr algn="ctr">
              <a:lnSpc>
                <a:spcPct val="95000"/>
              </a:lnSpc>
            </a:pPr>
            <a:r>
              <a:rPr sz="900" b="0" i="0">
                <a:solidFill>
                  <a:srgbClr val="028090"/>
                </a:solidFill>
                <a:latin typeface="DejaVu Sans"/>
              </a:rPr>
              <a:t>tracing</a:t>
            </a:r>
          </a:p>
        </p:txBody>
      </p:sp>
      <p:sp>
        <p:nvSpPr>
          <p:cNvPr id="30" name="TextBox 29"/>
          <p:cNvSpPr txBox="1"/>
          <p:nvPr/>
        </p:nvSpPr>
        <p:spPr>
          <a:xfrm>
            <a:off x="8043672" y="4636008"/>
            <a:ext cx="1720596" cy="310896"/>
          </a:xfrm>
          <a:prstGeom prst="rect">
            <a:avLst/>
          </a:prstGeom>
          <a:noFill/>
        </p:spPr>
        <p:txBody>
          <a:bodyPr wrap="square" lIns="0" rIns="0" tIns="0" bIns="0" anchor="t">
            <a:spAutoFit/>
          </a:bodyPr>
          <a:lstStyle/>
          <a:p>
            <a:pPr algn="ctr">
              <a:lnSpc>
                <a:spcPct val="95000"/>
              </a:lnSpc>
            </a:pPr>
            <a:r>
              <a:rPr sz="900" b="0" i="0">
                <a:solidFill>
                  <a:srgbClr val="5B6678"/>
                </a:solidFill>
                <a:latin typeface="DejaVu Sans"/>
              </a:rPr>
              <a:t>escalation</a:t>
            </a:r>
          </a:p>
        </p:txBody>
      </p:sp>
      <p:sp>
        <p:nvSpPr>
          <p:cNvPr id="31" name="Rounded Rectangle 30"/>
          <p:cNvSpPr/>
          <p:nvPr/>
        </p:nvSpPr>
        <p:spPr>
          <a:xfrm>
            <a:off x="9855708" y="3776472"/>
            <a:ext cx="1830323" cy="1234440"/>
          </a:xfrm>
          <a:prstGeom prst="roundRect">
            <a:avLst>
              <a:gd name="adj" fmla="val 2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10572" y="3849624"/>
            <a:ext cx="1720596" cy="365760"/>
          </a:xfrm>
          <a:prstGeom prst="rect">
            <a:avLst/>
          </a:prstGeom>
          <a:noFill/>
        </p:spPr>
        <p:txBody>
          <a:bodyPr wrap="square" lIns="0" rIns="0" tIns="0" bIns="0" anchor="t">
            <a:spAutoFit/>
          </a:bodyPr>
          <a:lstStyle/>
          <a:p>
            <a:pPr algn="ctr">
              <a:lnSpc>
                <a:spcPct val="95000"/>
              </a:lnSpc>
            </a:pPr>
            <a:r>
              <a:rPr sz="1050" b="1" i="0">
                <a:solidFill>
                  <a:srgbClr val="21295C"/>
                </a:solidFill>
                <a:latin typeface="DejaVu Sans"/>
              </a:rPr>
              <a:t>Governance</a:t>
            </a:r>
          </a:p>
        </p:txBody>
      </p:sp>
      <p:sp>
        <p:nvSpPr>
          <p:cNvPr id="33" name="TextBox 32"/>
          <p:cNvSpPr txBox="1"/>
          <p:nvPr/>
        </p:nvSpPr>
        <p:spPr>
          <a:xfrm>
            <a:off x="9910572" y="4251960"/>
            <a:ext cx="1720596" cy="310896"/>
          </a:xfrm>
          <a:prstGeom prst="rect">
            <a:avLst/>
          </a:prstGeom>
          <a:noFill/>
        </p:spPr>
        <p:txBody>
          <a:bodyPr wrap="square" lIns="0" rIns="0" tIns="0" bIns="0" anchor="t">
            <a:spAutoFit/>
          </a:bodyPr>
          <a:lstStyle/>
          <a:p>
            <a:pPr algn="ctr">
              <a:lnSpc>
                <a:spcPct val="95000"/>
              </a:lnSpc>
            </a:pPr>
            <a:r>
              <a:rPr sz="900" b="0" i="0">
                <a:solidFill>
                  <a:srgbClr val="028090"/>
                </a:solidFill>
                <a:latin typeface="DejaVu Sans"/>
              </a:rPr>
              <a:t>operating model</a:t>
            </a:r>
          </a:p>
        </p:txBody>
      </p:sp>
      <p:sp>
        <p:nvSpPr>
          <p:cNvPr id="34" name="TextBox 33"/>
          <p:cNvSpPr txBox="1"/>
          <p:nvPr/>
        </p:nvSpPr>
        <p:spPr>
          <a:xfrm>
            <a:off x="9910572" y="4636008"/>
            <a:ext cx="1720596" cy="310896"/>
          </a:xfrm>
          <a:prstGeom prst="rect">
            <a:avLst/>
          </a:prstGeom>
          <a:noFill/>
        </p:spPr>
        <p:txBody>
          <a:bodyPr wrap="square" lIns="0" rIns="0" tIns="0" bIns="0" anchor="t">
            <a:spAutoFit/>
          </a:bodyPr>
          <a:lstStyle/>
          <a:p>
            <a:pPr algn="ctr">
              <a:lnSpc>
                <a:spcPct val="95000"/>
              </a:lnSpc>
            </a:pPr>
            <a:r>
              <a:rPr sz="900" b="0" i="0">
                <a:solidFill>
                  <a:srgbClr val="5B6678"/>
                </a:solidFill>
                <a:latin typeface="DejaVu Sans"/>
              </a:rPr>
              <a:t>cost/request</a:t>
            </a:r>
          </a:p>
        </p:txBody>
      </p:sp>
      <p:sp>
        <p:nvSpPr>
          <p:cNvPr id="35" name="TextBox 3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Business Standard (Apr 2024) — Just Walk Out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Retail Dive — the dismantling of Just Walk Out</a:t>
            </a:r>
          </a:p>
        </p:txBody>
      </p:sp>
      <p:sp>
        <p:nvSpPr>
          <p:cNvPr id="36" name="TextBox 3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52 / 56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7</a:t>
            </a:r>
          </a:p>
        </p:txBody>
      </p:sp>
      <p:pic>
        <p:nvPicPr>
          <p:cNvPr id="3" name="Picture 2" descr="compass-light.png"/>
          <p:cNvPicPr>
            <a:picLocks noChangeAspect="1"/>
          </p:cNvPicPr>
          <p:nvPr/>
        </p:nvPicPr>
        <p:blipFill>
          <a:blip r:embed="rId2"/>
          <a:stretch>
            <a:fillRect/>
          </a:stretch>
        </p:blipFill>
        <p:spPr>
          <a:xfrm>
            <a:off x="8732520" y="1234440"/>
            <a:ext cx="1463040" cy="1463040"/>
          </a:xfrm>
          <a:prstGeom prst="rect">
            <a:avLst/>
          </a:prstGeom>
        </p:spPr>
      </p:pic>
      <p:sp>
        <p:nvSpPr>
          <p:cNvPr id="4" name="TextBox 3"/>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7</a:t>
            </a:r>
          </a:p>
        </p:txBody>
      </p:sp>
      <p:sp>
        <p:nvSpPr>
          <p:cNvPr id="5" name="TextBox 4"/>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Synthesis: one instrument</a:t>
            </a:r>
          </a:p>
          <a:p>
            <a:pPr algn="l">
              <a:lnSpc>
                <a:spcPct val="108000"/>
              </a:lnSpc>
            </a:pPr>
            <a:r>
              <a:rPr sz="3000" b="1" i="0">
                <a:solidFill>
                  <a:srgbClr val="21295C"/>
                </a:solidFill>
                <a:latin typeface="DejaVu Sans"/>
              </a:rPr>
              <a:t>for all six phases</a:t>
            </a:r>
          </a:p>
        </p:txBody>
      </p:sp>
      <p:sp>
        <p:nvSpPr>
          <p:cNvPr id="6" name="Rounded Rectangle 5"/>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6 phases · 1 matrix · 3 decision axes</a:t>
            </a:r>
          </a:p>
        </p:txBody>
      </p:sp>
      <p:sp>
        <p:nvSpPr>
          <p:cNvPr id="7" name="TextBox 6"/>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The six phases were examined one at a time, and a task arrives whole — nobody will break it down for you along the lecture's sections. Without a common instrument you are left with six separate conclusions and no answer for a case that was not covered here.</a:t>
            </a:r>
          </a:p>
        </p:txBody>
      </p:sp>
      <p:sp>
        <p:nvSpPr>
          <p:cNvPr id="8" name="Rounded Rectangle 7"/>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0" name="TextBox 9"/>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Intro</a:t>
            </a:r>
          </a:p>
        </p:txBody>
      </p:sp>
      <p:sp>
        <p:nvSpPr>
          <p:cNvPr id="11" name="Rounded Rectangle 10"/>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3" name="TextBox 12"/>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Discovery</a:t>
            </a:r>
          </a:p>
        </p:txBody>
      </p:sp>
      <p:sp>
        <p:nvSpPr>
          <p:cNvPr id="14" name="Rounded Rectangle 13"/>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6" name="TextBox 15"/>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Design</a:t>
            </a:r>
          </a:p>
        </p:txBody>
      </p:sp>
      <p:sp>
        <p:nvSpPr>
          <p:cNvPr id="17" name="Rounded Rectangle 16"/>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19" name="TextBox 18"/>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Build &amp; Launch</a:t>
            </a:r>
          </a:p>
        </p:txBody>
      </p:sp>
      <p:sp>
        <p:nvSpPr>
          <p:cNvPr id="20" name="Rounded Rectangle 19"/>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2" name="TextBox 21"/>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Measure</a:t>
            </a:r>
          </a:p>
        </p:txBody>
      </p:sp>
      <p:sp>
        <p:nvSpPr>
          <p:cNvPr id="23" name="Rounded Rectangle 22"/>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5" name="TextBox 24"/>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Support</a:t>
            </a:r>
          </a:p>
        </p:txBody>
      </p:sp>
      <p:sp>
        <p:nvSpPr>
          <p:cNvPr id="26" name="Rounded Rectangle 25"/>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8" name="TextBox 27"/>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Governance</a:t>
            </a:r>
          </a:p>
        </p:txBody>
      </p:sp>
      <p:sp>
        <p:nvSpPr>
          <p:cNvPr id="29" name="Rounded Rectangle 28"/>
          <p:cNvSpPr/>
          <p:nvPr/>
        </p:nvSpPr>
        <p:spPr>
          <a:xfrm>
            <a:off x="1038415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7</a:t>
            </a:r>
          </a:p>
        </p:txBody>
      </p:sp>
      <p:sp>
        <p:nvSpPr>
          <p:cNvPr id="31" name="TextBox 30"/>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Synthesis</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53 / 56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247120" cy="475488"/>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Six phases, one structure: discipline, what got cheaper, failure mode, the human</a:t>
            </a:r>
          </a:p>
        </p:txBody>
      </p:sp>
      <p:sp>
        <p:nvSpPr>
          <p:cNvPr id="3" name="Rounded Rectangle 2"/>
          <p:cNvSpPr/>
          <p:nvPr/>
        </p:nvSpPr>
        <p:spPr>
          <a:xfrm>
            <a:off x="502920" y="896112"/>
            <a:ext cx="192024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96112"/>
            <a:ext cx="1737360"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Phase</a:t>
            </a:r>
          </a:p>
        </p:txBody>
      </p:sp>
      <p:sp>
        <p:nvSpPr>
          <p:cNvPr id="5" name="Rounded Rectangle 4"/>
          <p:cNvSpPr/>
          <p:nvPr/>
        </p:nvSpPr>
        <p:spPr>
          <a:xfrm>
            <a:off x="2478024" y="896112"/>
            <a:ext cx="246888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9464" y="896112"/>
            <a:ext cx="2286000"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Leading discipline</a:t>
            </a:r>
          </a:p>
        </p:txBody>
      </p:sp>
      <p:sp>
        <p:nvSpPr>
          <p:cNvPr id="7" name="Rounded Rectangle 6"/>
          <p:cNvSpPr/>
          <p:nvPr/>
        </p:nvSpPr>
        <p:spPr>
          <a:xfrm>
            <a:off x="5001768" y="896112"/>
            <a:ext cx="205740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93208" y="896112"/>
            <a:ext cx="1874519"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What AI made cheaper</a:t>
            </a:r>
          </a:p>
        </p:txBody>
      </p:sp>
      <p:sp>
        <p:nvSpPr>
          <p:cNvPr id="9" name="Rounded Rectangle 8"/>
          <p:cNvSpPr/>
          <p:nvPr/>
        </p:nvSpPr>
        <p:spPr>
          <a:xfrm>
            <a:off x="7114032" y="896112"/>
            <a:ext cx="228600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2" y="896112"/>
            <a:ext cx="2103120"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Failure mode</a:t>
            </a:r>
          </a:p>
        </p:txBody>
      </p:sp>
      <p:sp>
        <p:nvSpPr>
          <p:cNvPr id="11" name="Rounded Rectangle 10"/>
          <p:cNvSpPr/>
          <p:nvPr/>
        </p:nvSpPr>
        <p:spPr>
          <a:xfrm>
            <a:off x="9454896" y="896112"/>
            <a:ext cx="2249424" cy="384048"/>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46336" y="896112"/>
            <a:ext cx="2066543" cy="384048"/>
          </a:xfrm>
          <a:prstGeom prst="rect">
            <a:avLst/>
          </a:prstGeom>
          <a:noFill/>
        </p:spPr>
        <p:txBody>
          <a:bodyPr wrap="square" lIns="0" rIns="0" tIns="0" bIns="0" anchor="ctr">
            <a:spAutoFit/>
          </a:bodyPr>
          <a:lstStyle/>
          <a:p>
            <a:pPr algn="ctr">
              <a:lnSpc>
                <a:spcPct val="98000"/>
              </a:lnSpc>
            </a:pPr>
            <a:r>
              <a:rPr sz="1100" b="1" i="0">
                <a:solidFill>
                  <a:srgbClr val="21295C"/>
                </a:solidFill>
                <a:latin typeface="DejaVu Sans"/>
              </a:rPr>
              <a:t>Where a human is mandatory</a:t>
            </a:r>
          </a:p>
        </p:txBody>
      </p:sp>
      <p:sp>
        <p:nvSpPr>
          <p:cNvPr id="13" name="Rounded Rectangle 12"/>
          <p:cNvSpPr/>
          <p:nvPr/>
        </p:nvSpPr>
        <p:spPr>
          <a:xfrm>
            <a:off x="502920" y="1325880"/>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earch-mid.png"/>
          <p:cNvPicPr>
            <a:picLocks noChangeAspect="1"/>
          </p:cNvPicPr>
          <p:nvPr/>
        </p:nvPicPr>
        <p:blipFill>
          <a:blip r:embed="rId2"/>
          <a:stretch>
            <a:fillRect/>
          </a:stretch>
        </p:blipFill>
        <p:spPr>
          <a:xfrm>
            <a:off x="630936" y="1517904"/>
            <a:ext cx="274320" cy="274320"/>
          </a:xfrm>
          <a:prstGeom prst="rect">
            <a:avLst/>
          </a:prstGeom>
        </p:spPr>
      </p:pic>
      <p:sp>
        <p:nvSpPr>
          <p:cNvPr id="15" name="TextBox 14"/>
          <p:cNvSpPr txBox="1"/>
          <p:nvPr/>
        </p:nvSpPr>
        <p:spPr>
          <a:xfrm>
            <a:off x="978408" y="1371600"/>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Discovery</a:t>
            </a:r>
          </a:p>
        </p:txBody>
      </p:sp>
      <p:sp>
        <p:nvSpPr>
          <p:cNvPr id="16" name="Rounded Rectangle 15"/>
          <p:cNvSpPr/>
          <p:nvPr/>
        </p:nvSpPr>
        <p:spPr>
          <a:xfrm>
            <a:off x="2478024" y="1325880"/>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06040" y="1371600"/>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Customer Development and "The Mom Test": a testable hypothesis</a:t>
            </a:r>
          </a:p>
        </p:txBody>
      </p:sp>
      <p:sp>
        <p:nvSpPr>
          <p:cNvPr id="18" name="Rounded Rectangle 17"/>
          <p:cNvSpPr/>
          <p:nvPr/>
        </p:nvSpPr>
        <p:spPr>
          <a:xfrm>
            <a:off x="5001768" y="1325880"/>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9784" y="1371600"/>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Desk research, running conversations and bringing them together</a:t>
            </a:r>
          </a:p>
        </p:txBody>
      </p:sp>
      <p:sp>
        <p:nvSpPr>
          <p:cNvPr id="20" name="Rounded Rectangle 19"/>
          <p:cNvSpPr/>
          <p:nvPr/>
        </p:nvSpPr>
        <p:spPr>
          <a:xfrm>
            <a:off x="7114032" y="1325880"/>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1371600"/>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Sycophancy: a synthetic source will not say no</a:t>
            </a:r>
          </a:p>
        </p:txBody>
      </p:sp>
      <p:sp>
        <p:nvSpPr>
          <p:cNvPr id="22" name="Rounded Rectangle 21"/>
          <p:cNvSpPr/>
          <p:nvPr/>
        </p:nvSpPr>
        <p:spPr>
          <a:xfrm>
            <a:off x="9454896" y="1325880"/>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82912" y="1371600"/>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A check against a real past and a real commitment</a:t>
            </a:r>
          </a:p>
        </p:txBody>
      </p:sp>
      <p:sp>
        <p:nvSpPr>
          <p:cNvPr id="24" name="Rounded Rectangle 23"/>
          <p:cNvSpPr/>
          <p:nvPr/>
        </p:nvSpPr>
        <p:spPr>
          <a:xfrm>
            <a:off x="502920" y="2029967"/>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encil-mid.png"/>
          <p:cNvPicPr>
            <a:picLocks noChangeAspect="1"/>
          </p:cNvPicPr>
          <p:nvPr/>
        </p:nvPicPr>
        <p:blipFill>
          <a:blip r:embed="rId3"/>
          <a:stretch>
            <a:fillRect/>
          </a:stretch>
        </p:blipFill>
        <p:spPr>
          <a:xfrm>
            <a:off x="630936" y="2221991"/>
            <a:ext cx="274320" cy="274320"/>
          </a:xfrm>
          <a:prstGeom prst="rect">
            <a:avLst/>
          </a:prstGeom>
        </p:spPr>
      </p:pic>
      <p:sp>
        <p:nvSpPr>
          <p:cNvPr id="26" name="TextBox 25"/>
          <p:cNvSpPr txBox="1"/>
          <p:nvPr/>
        </p:nvSpPr>
        <p:spPr>
          <a:xfrm>
            <a:off x="978408" y="2075687"/>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Design</a:t>
            </a:r>
          </a:p>
        </p:txBody>
      </p:sp>
      <p:sp>
        <p:nvSpPr>
          <p:cNvPr id="27" name="Rounded Rectangle 26"/>
          <p:cNvSpPr/>
          <p:nvPr/>
        </p:nvSpPr>
        <p:spPr>
          <a:xfrm>
            <a:off x="2478024" y="2029967"/>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06040" y="2075687"/>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Double Diamond, Nielsen's heuristics, the design system</a:t>
            </a:r>
          </a:p>
        </p:txBody>
      </p:sp>
      <p:sp>
        <p:nvSpPr>
          <p:cNvPr id="29" name="Rounded Rectangle 28"/>
          <p:cNvSpPr/>
          <p:nvPr/>
        </p:nvSpPr>
        <p:spPr>
          <a:xfrm>
            <a:off x="5001768" y="2029967"/>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9784" y="2075687"/>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Screen variants: −20% of the time against the baseline</a:t>
            </a:r>
          </a:p>
        </p:txBody>
      </p:sp>
      <p:sp>
        <p:nvSpPr>
          <p:cNvPr id="31" name="Rounded Rectangle 30"/>
          <p:cNvSpPr/>
          <p:nvPr/>
        </p:nvSpPr>
        <p:spPr>
          <a:xfrm>
            <a:off x="7114032" y="2029967"/>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42048" y="2075687"/>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Accessibility gaps; one prompt gives different answers</a:t>
            </a:r>
          </a:p>
        </p:txBody>
      </p:sp>
      <p:sp>
        <p:nvSpPr>
          <p:cNvPr id="33" name="Rounded Rectangle 32"/>
          <p:cNvSpPr/>
          <p:nvPr/>
        </p:nvSpPr>
        <p:spPr>
          <a:xfrm>
            <a:off x="9454896" y="2029967"/>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82912" y="2075687"/>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Convergence onto the context; a check that can stop the release</a:t>
            </a:r>
          </a:p>
        </p:txBody>
      </p:sp>
      <p:sp>
        <p:nvSpPr>
          <p:cNvPr id="35" name="Rounded Rectangle 34"/>
          <p:cNvSpPr/>
          <p:nvPr/>
        </p:nvSpPr>
        <p:spPr>
          <a:xfrm>
            <a:off x="502920" y="2734055"/>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hammer-mid.png"/>
          <p:cNvPicPr>
            <a:picLocks noChangeAspect="1"/>
          </p:cNvPicPr>
          <p:nvPr/>
        </p:nvPicPr>
        <p:blipFill>
          <a:blip r:embed="rId4"/>
          <a:stretch>
            <a:fillRect/>
          </a:stretch>
        </p:blipFill>
        <p:spPr>
          <a:xfrm>
            <a:off x="630936" y="2926079"/>
            <a:ext cx="274320" cy="274320"/>
          </a:xfrm>
          <a:prstGeom prst="rect">
            <a:avLst/>
          </a:prstGeom>
        </p:spPr>
      </p:pic>
      <p:sp>
        <p:nvSpPr>
          <p:cNvPr id="37" name="TextBox 36"/>
          <p:cNvSpPr txBox="1"/>
          <p:nvPr/>
        </p:nvSpPr>
        <p:spPr>
          <a:xfrm>
            <a:off x="978408" y="2779775"/>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Build and launch</a:t>
            </a:r>
          </a:p>
        </p:txBody>
      </p:sp>
      <p:sp>
        <p:nvSpPr>
          <p:cNvPr id="38" name="Rounded Rectangle 37"/>
          <p:cNvSpPr/>
          <p:nvPr/>
        </p:nvSpPr>
        <p:spPr>
          <a:xfrm>
            <a:off x="2478024" y="2734055"/>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06040" y="2779775"/>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Minimum viable product; the stop gate</a:t>
            </a:r>
          </a:p>
        </p:txBody>
      </p:sp>
      <p:sp>
        <p:nvSpPr>
          <p:cNvPr id="40" name="Rounded Rectangle 39"/>
          <p:cNvSpPr/>
          <p:nvPr/>
        </p:nvSpPr>
        <p:spPr>
          <a:xfrm>
            <a:off x="5001768" y="2734055"/>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9784" y="2779775"/>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The build itself: boilerplate and glue code</a:t>
            </a:r>
          </a:p>
        </p:txBody>
      </p:sp>
      <p:sp>
        <p:nvSpPr>
          <p:cNvPr id="42" name="Rounded Rectangle 41"/>
          <p:cNvSpPr/>
          <p:nvPr/>
        </p:nvSpPr>
        <p:spPr>
          <a:xfrm>
            <a:off x="7114032" y="2734055"/>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42048" y="2779775"/>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A gate skipped; rollout to the whole audience at once</a:t>
            </a:r>
          </a:p>
        </p:txBody>
      </p:sp>
      <p:sp>
        <p:nvSpPr>
          <p:cNvPr id="44" name="Rounded Rectangle 43"/>
          <p:cNvSpPr/>
          <p:nvPr/>
        </p:nvSpPr>
        <p:spPr>
          <a:xfrm>
            <a:off x="9454896" y="2734055"/>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82912" y="2779775"/>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Specifying the intent; the decision on pace and on stopping</a:t>
            </a:r>
          </a:p>
        </p:txBody>
      </p:sp>
      <p:sp>
        <p:nvSpPr>
          <p:cNvPr id="46" name="Rounded Rectangle 45"/>
          <p:cNvSpPr/>
          <p:nvPr/>
        </p:nvSpPr>
        <p:spPr>
          <a:xfrm>
            <a:off x="502920" y="3438143"/>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gauge-mid.png"/>
          <p:cNvPicPr>
            <a:picLocks noChangeAspect="1"/>
          </p:cNvPicPr>
          <p:nvPr/>
        </p:nvPicPr>
        <p:blipFill>
          <a:blip r:embed="rId5"/>
          <a:stretch>
            <a:fillRect/>
          </a:stretch>
        </p:blipFill>
        <p:spPr>
          <a:xfrm>
            <a:off x="630936" y="3630167"/>
            <a:ext cx="274320" cy="274320"/>
          </a:xfrm>
          <a:prstGeom prst="rect">
            <a:avLst/>
          </a:prstGeom>
        </p:spPr>
      </p:pic>
      <p:sp>
        <p:nvSpPr>
          <p:cNvPr id="48" name="TextBox 47"/>
          <p:cNvSpPr txBox="1"/>
          <p:nvPr/>
        </p:nvSpPr>
        <p:spPr>
          <a:xfrm>
            <a:off x="978408" y="3483863"/>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Measurement</a:t>
            </a:r>
          </a:p>
        </p:txBody>
      </p:sp>
      <p:sp>
        <p:nvSpPr>
          <p:cNvPr id="49" name="Rounded Rectangle 48"/>
          <p:cNvSpPr/>
          <p:nvPr/>
        </p:nvSpPr>
        <p:spPr>
          <a:xfrm>
            <a:off x="2478024" y="3438143"/>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06040" y="3483863"/>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Controlled experiment; the guardrail metric</a:t>
            </a:r>
          </a:p>
        </p:txBody>
      </p:sp>
      <p:sp>
        <p:nvSpPr>
          <p:cNvPr id="51" name="Rounded Rectangle 50"/>
          <p:cNvSpPr/>
          <p:nvPr/>
        </p:nvSpPr>
        <p:spPr>
          <a:xfrm>
            <a:off x="5001768" y="3438143"/>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9784" y="3483863"/>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Judging quality at scale; a cheap first pass</a:t>
            </a:r>
          </a:p>
        </p:txBody>
      </p:sp>
      <p:sp>
        <p:nvSpPr>
          <p:cNvPr id="53" name="Rounded Rectangle 52"/>
          <p:cNvSpPr/>
          <p:nvPr/>
        </p:nvSpPr>
        <p:spPr>
          <a:xfrm>
            <a:off x="7114032" y="3438143"/>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42048" y="3483863"/>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A gamed proxy metric; the measurement does not transfer to the task</a:t>
            </a:r>
          </a:p>
        </p:txBody>
      </p:sp>
      <p:sp>
        <p:nvSpPr>
          <p:cNvPr id="55" name="Rounded Rectangle 54"/>
          <p:cNvSpPr/>
          <p:nvPr/>
        </p:nvSpPr>
        <p:spPr>
          <a:xfrm>
            <a:off x="9454896" y="3438143"/>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82912" y="3483863"/>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The criterion and the guardrail metric named before the test</a:t>
            </a:r>
          </a:p>
        </p:txBody>
      </p:sp>
      <p:sp>
        <p:nvSpPr>
          <p:cNvPr id="57" name="Rounded Rectangle 56"/>
          <p:cNvSpPr/>
          <p:nvPr/>
        </p:nvSpPr>
        <p:spPr>
          <a:xfrm>
            <a:off x="502920" y="4142231"/>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server-mid.png"/>
          <p:cNvPicPr>
            <a:picLocks noChangeAspect="1"/>
          </p:cNvPicPr>
          <p:nvPr/>
        </p:nvPicPr>
        <p:blipFill>
          <a:blip r:embed="rId6"/>
          <a:stretch>
            <a:fillRect/>
          </a:stretch>
        </p:blipFill>
        <p:spPr>
          <a:xfrm>
            <a:off x="630936" y="4334255"/>
            <a:ext cx="274320" cy="274320"/>
          </a:xfrm>
          <a:prstGeom prst="rect">
            <a:avLst/>
          </a:prstGeom>
        </p:spPr>
      </p:pic>
      <p:sp>
        <p:nvSpPr>
          <p:cNvPr id="59" name="TextBox 58"/>
          <p:cNvSpPr txBox="1"/>
          <p:nvPr/>
        </p:nvSpPr>
        <p:spPr>
          <a:xfrm>
            <a:off x="978408" y="4187951"/>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Support</a:t>
            </a:r>
          </a:p>
        </p:txBody>
      </p:sp>
      <p:sp>
        <p:nvSpPr>
          <p:cNvPr id="60" name="Rounded Rectangle 59"/>
          <p:cNvSpPr/>
          <p:nvPr/>
        </p:nvSpPr>
        <p:spPr>
          <a:xfrm>
            <a:off x="2478024" y="4142231"/>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06040" y="4187951"/>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Reliability engineering: service level objective, error budget</a:t>
            </a:r>
          </a:p>
        </p:txBody>
      </p:sp>
      <p:sp>
        <p:nvSpPr>
          <p:cNvPr id="62" name="Rounded Rectangle 61"/>
          <p:cNvSpPr/>
          <p:nvPr/>
        </p:nvSpPr>
        <p:spPr>
          <a:xfrm>
            <a:off x="5001768" y="4142231"/>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129784" y="4187951"/>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A suggester for the agent: +15% resolutions per hour, base 2.1</a:t>
            </a:r>
          </a:p>
        </p:txBody>
      </p:sp>
      <p:sp>
        <p:nvSpPr>
          <p:cNvPr id="64" name="Rounded Rectangle 63"/>
          <p:cNvSpPr/>
          <p:nvPr/>
        </p:nvSpPr>
        <p:spPr>
          <a:xfrm>
            <a:off x="7114032" y="4142231"/>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42048" y="4187951"/>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Silent drift is masked by the average across all answers</a:t>
            </a:r>
          </a:p>
        </p:txBody>
      </p:sp>
      <p:sp>
        <p:nvSpPr>
          <p:cNvPr id="66" name="Rounded Rectangle 65"/>
          <p:cNvSpPr/>
          <p:nvPr/>
        </p:nvSpPr>
        <p:spPr>
          <a:xfrm>
            <a:off x="9454896" y="4142231"/>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582912" y="4187951"/>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A system model and accountability for every answer</a:t>
            </a:r>
          </a:p>
        </p:txBody>
      </p:sp>
      <p:sp>
        <p:nvSpPr>
          <p:cNvPr id="68" name="Rounded Rectangle 67"/>
          <p:cNvSpPr/>
          <p:nvPr/>
        </p:nvSpPr>
        <p:spPr>
          <a:xfrm>
            <a:off x="502920" y="4846319"/>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scale-mid.png"/>
          <p:cNvPicPr>
            <a:picLocks noChangeAspect="1"/>
          </p:cNvPicPr>
          <p:nvPr/>
        </p:nvPicPr>
        <p:blipFill>
          <a:blip r:embed="rId7"/>
          <a:stretch>
            <a:fillRect/>
          </a:stretch>
        </p:blipFill>
        <p:spPr>
          <a:xfrm>
            <a:off x="630936" y="5038343"/>
            <a:ext cx="274320" cy="274320"/>
          </a:xfrm>
          <a:prstGeom prst="rect">
            <a:avLst/>
          </a:prstGeom>
        </p:spPr>
      </p:pic>
      <p:sp>
        <p:nvSpPr>
          <p:cNvPr id="70" name="TextBox 69"/>
          <p:cNvSpPr txBox="1"/>
          <p:nvPr/>
        </p:nvSpPr>
        <p:spPr>
          <a:xfrm>
            <a:off x="978408" y="4892039"/>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Governance</a:t>
            </a:r>
          </a:p>
        </p:txBody>
      </p:sp>
      <p:sp>
        <p:nvSpPr>
          <p:cNvPr id="71" name="Rounded Rectangle 70"/>
          <p:cNvSpPr/>
          <p:nvPr/>
        </p:nvSpPr>
        <p:spPr>
          <a:xfrm>
            <a:off x="2478024" y="4846319"/>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06040" y="4892039"/>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Portfolio governance; every number has an owner</a:t>
            </a:r>
          </a:p>
        </p:txBody>
      </p:sp>
      <p:sp>
        <p:nvSpPr>
          <p:cNvPr id="73" name="Rounded Rectangle 72"/>
          <p:cNvSpPr/>
          <p:nvPr/>
        </p:nvSpPr>
        <p:spPr>
          <a:xfrm>
            <a:off x="5001768" y="4846319"/>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29784" y="4892039"/>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Nothing: here AI adds a cost that grows with scale</a:t>
            </a:r>
          </a:p>
        </p:txBody>
      </p:sp>
      <p:sp>
        <p:nvSpPr>
          <p:cNvPr id="75" name="Rounded Rectangle 74"/>
          <p:cNvSpPr/>
          <p:nvPr/>
        </p:nvSpPr>
        <p:spPr>
          <a:xfrm>
            <a:off x="7114032" y="4846319"/>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242048" y="4892039"/>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Statistics with no denominator</a:t>
            </a:r>
          </a:p>
        </p:txBody>
      </p:sp>
      <p:sp>
        <p:nvSpPr>
          <p:cNvPr id="77" name="Rounded Rectangle 76"/>
          <p:cNvSpPr/>
          <p:nvPr/>
        </p:nvSpPr>
        <p:spPr>
          <a:xfrm>
            <a:off x="9454896" y="4846319"/>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582912" y="4892039"/>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The success criterion agreed in advance; your own baseline</a:t>
            </a:r>
          </a:p>
        </p:txBody>
      </p:sp>
      <p:sp>
        <p:nvSpPr>
          <p:cNvPr id="79" name="Rounded Rectangle 78"/>
          <p:cNvSpPr/>
          <p:nvPr/>
        </p:nvSpPr>
        <p:spPr>
          <a:xfrm>
            <a:off x="502920" y="5705855"/>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22376" y="5760719"/>
            <a:ext cx="10762488" cy="621792"/>
          </a:xfrm>
          <a:prstGeom prst="rect">
            <a:avLst/>
          </a:prstGeom>
          <a:noFill/>
        </p:spPr>
        <p:txBody>
          <a:bodyPr wrap="square" lIns="0" rIns="0" tIns="0" bIns="0" anchor="ctr">
            <a:spAutoFit/>
          </a:bodyPr>
          <a:lstStyle/>
          <a:p>
            <a:pPr algn="l">
              <a:lnSpc>
                <a:spcPct val="120000"/>
              </a:lnSpc>
            </a:pPr>
            <a:r>
              <a:rPr sz="1150" b="1" i="0">
                <a:solidFill>
                  <a:srgbClr val="21295C"/>
                </a:solidFill>
                <a:latin typeface="DejaVu Sans"/>
              </a:rPr>
              <a:t>How to read it: name the phase your task is in — the row answers, in order, which discipline to hold, what AI helps with here, which failure to watch for and what stays with the human. Tool names are replaceable; the four columns rest on the nature of the difficulty and the cost of an error in the phase.</a:t>
            </a:r>
          </a:p>
        </p:txBody>
      </p:sp>
      <p:sp>
        <p:nvSpPr>
          <p:cNvPr id="81" name="TextBox 8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54 / 56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201400" cy="548640"/>
          </a:xfrm>
          <a:prstGeom prst="rect">
            <a:avLst/>
          </a:prstGeom>
          <a:noFill/>
        </p:spPr>
        <p:txBody>
          <a:bodyPr wrap="square" lIns="0" rIns="0" tIns="0" bIns="0" anchor="t">
            <a:spAutoFit/>
          </a:bodyPr>
          <a:lstStyle/>
          <a:p>
            <a:pPr algn="l">
              <a:lnSpc>
                <a:spcPct val="110000"/>
              </a:lnSpc>
            </a:pPr>
            <a:r>
              <a:rPr sz="2600" b="1" i="0">
                <a:solidFill>
                  <a:srgbClr val="21295C"/>
                </a:solidFill>
                <a:latin typeface="DejaVu Sans"/>
              </a:rPr>
              <a:t>Three axes decide if the human can come off the gate</a:t>
            </a:r>
          </a:p>
        </p:txBody>
      </p:sp>
      <p:sp>
        <p:nvSpPr>
          <p:cNvPr id="3" name="Rounded Rectangle 2"/>
          <p:cNvSpPr/>
          <p:nvPr/>
        </p:nvSpPr>
        <p:spPr>
          <a:xfrm>
            <a:off x="502920" y="1024128"/>
            <a:ext cx="11201400" cy="493776"/>
          </a:xfrm>
          <a:prstGeom prst="roundRect">
            <a:avLst>
              <a:gd name="adj" fmla="val 22000"/>
            </a:avLst>
          </a:prstGeom>
          <a:solidFill>
            <a:srgbClr val="E1EAF0"/>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24128"/>
            <a:ext cx="10744200" cy="493776"/>
          </a:xfrm>
          <a:prstGeom prst="rect">
            <a:avLst/>
          </a:prstGeom>
          <a:noFill/>
        </p:spPr>
        <p:txBody>
          <a:bodyPr wrap="square" lIns="0" rIns="0" tIns="0" bIns="0" anchor="ctr">
            <a:spAutoFit/>
          </a:bodyPr>
          <a:lstStyle/>
          <a:p>
            <a:pPr algn="l">
              <a:lnSpc>
                <a:spcPct val="108000"/>
              </a:lnSpc>
            </a:pPr>
            <a:r>
              <a:rPr sz="1150" b="1" i="0">
                <a:solidFill>
                  <a:srgbClr val="21295C"/>
                </a:solidFill>
                <a:latin typeface="DejaVu Sans"/>
              </a:rPr>
              <a:t>Before all three comes the question of the phase's classical discipline: </a:t>
            </a:r>
            <a:r>
              <a:rPr sz="1150" b="0" i="0">
                <a:solidFill>
                  <a:srgbClr val="21295C"/>
                </a:solidFill>
                <a:latin typeface="DejaVu Sans"/>
              </a:rPr>
              <a:t>if it is absent, you build it first — there is nothing to amplify in a vacuum.</a:t>
            </a:r>
          </a:p>
        </p:txBody>
      </p:sp>
      <p:sp>
        <p:nvSpPr>
          <p:cNvPr id="5" name="Rounded Rectangle 4"/>
          <p:cNvSpPr/>
          <p:nvPr/>
        </p:nvSpPr>
        <p:spPr>
          <a:xfrm>
            <a:off x="502920" y="1792224"/>
            <a:ext cx="3575304" cy="3255264"/>
          </a:xfrm>
          <a:prstGeom prst="roundRect">
            <a:avLst>
              <a:gd name="adj" fmla="val 9363"/>
            </a:avLst>
          </a:prstGeom>
          <a:solidFill>
            <a:srgbClr val="F4F7FA"/>
          </a:solidFill>
          <a:ln w="228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tate-ccw-mid.png"/>
          <p:cNvPicPr>
            <a:picLocks noChangeAspect="1"/>
          </p:cNvPicPr>
          <p:nvPr/>
        </p:nvPicPr>
        <p:blipFill>
          <a:blip r:embed="rId2"/>
          <a:stretch>
            <a:fillRect/>
          </a:stretch>
        </p:blipFill>
        <p:spPr>
          <a:xfrm>
            <a:off x="1933956" y="2029967"/>
            <a:ext cx="713232" cy="713232"/>
          </a:xfrm>
          <a:prstGeom prst="rect">
            <a:avLst/>
          </a:prstGeom>
        </p:spPr>
      </p:pic>
      <p:sp>
        <p:nvSpPr>
          <p:cNvPr id="7" name="TextBox 6"/>
          <p:cNvSpPr txBox="1"/>
          <p:nvPr/>
        </p:nvSpPr>
        <p:spPr>
          <a:xfrm>
            <a:off x="685800" y="2852928"/>
            <a:ext cx="3209544" cy="438912"/>
          </a:xfrm>
          <a:prstGeom prst="rect">
            <a:avLst/>
          </a:prstGeom>
          <a:noFill/>
        </p:spPr>
        <p:txBody>
          <a:bodyPr wrap="square" lIns="0" rIns="0" tIns="0" bIns="0" anchor="ctr">
            <a:spAutoFit/>
          </a:bodyPr>
          <a:lstStyle/>
          <a:p>
            <a:pPr algn="ctr">
              <a:lnSpc>
                <a:spcPct val="100000"/>
              </a:lnSpc>
            </a:pPr>
            <a:r>
              <a:rPr sz="1900" b="1" i="0">
                <a:solidFill>
                  <a:srgbClr val="028090"/>
                </a:solidFill>
                <a:latin typeface="DejaVu Sans"/>
              </a:rPr>
              <a:t>Reversibility</a:t>
            </a:r>
          </a:p>
        </p:txBody>
      </p:sp>
      <p:sp>
        <p:nvSpPr>
          <p:cNvPr id="8" name="TextBox 7"/>
          <p:cNvSpPr txBox="1"/>
          <p:nvPr/>
        </p:nvSpPr>
        <p:spPr>
          <a:xfrm>
            <a:off x="758952" y="3383280"/>
            <a:ext cx="3063240" cy="713232"/>
          </a:xfrm>
          <a:prstGeom prst="rect">
            <a:avLst/>
          </a:prstGeom>
          <a:noFill/>
        </p:spPr>
        <p:txBody>
          <a:bodyPr wrap="square" lIns="0" rIns="0" tIns="0" bIns="0" anchor="t">
            <a:spAutoFit/>
          </a:bodyPr>
          <a:lstStyle/>
          <a:p>
            <a:pPr algn="ctr">
              <a:lnSpc>
                <a:spcPct val="116000"/>
              </a:lnSpc>
            </a:pPr>
            <a:r>
              <a:rPr sz="1200" b="0" i="0">
                <a:solidFill>
                  <a:srgbClr val="21295C"/>
                </a:solidFill>
                <a:latin typeface="DejaVu Sans"/>
              </a:rPr>
              <a:t>How easily the consequence can be rolled back if the output is wrong</a:t>
            </a:r>
          </a:p>
        </p:txBody>
      </p:sp>
      <p:sp>
        <p:nvSpPr>
          <p:cNvPr id="9" name="Rounded Rectangle 8"/>
          <p:cNvSpPr/>
          <p:nvPr/>
        </p:nvSpPr>
        <p:spPr>
          <a:xfrm>
            <a:off x="722376" y="4187952"/>
            <a:ext cx="3136392" cy="694944"/>
          </a:xfrm>
          <a:prstGeom prst="roundRect">
            <a:avLst>
              <a:gd name="adj" fmla="val 12000"/>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4187952"/>
            <a:ext cx="2953512" cy="694944"/>
          </a:xfrm>
          <a:prstGeom prst="rect">
            <a:avLst/>
          </a:prstGeom>
          <a:noFill/>
        </p:spPr>
        <p:txBody>
          <a:bodyPr wrap="square" lIns="0" rIns="0" tIns="0" bIns="0" anchor="ctr">
            <a:spAutoFit/>
          </a:bodyPr>
          <a:lstStyle/>
          <a:p>
            <a:pPr algn="ctr">
              <a:lnSpc>
                <a:spcPct val="112000"/>
              </a:lnSpc>
            </a:pPr>
            <a:r>
              <a:rPr sz="1100" b="1" i="0">
                <a:solidFill>
                  <a:srgbClr val="21295C"/>
                </a:solidFill>
                <a:latin typeface="DejaVu Sans"/>
              </a:rPr>
              <a:t>Low → a staged rollout and a tested rollback path</a:t>
            </a:r>
          </a:p>
        </p:txBody>
      </p:sp>
      <p:sp>
        <p:nvSpPr>
          <p:cNvPr id="11" name="Rounded Rectangle 10"/>
          <p:cNvSpPr/>
          <p:nvPr/>
        </p:nvSpPr>
        <p:spPr>
          <a:xfrm>
            <a:off x="4315968" y="1792224"/>
            <a:ext cx="3575304" cy="3255264"/>
          </a:xfrm>
          <a:prstGeom prst="roundRect">
            <a:avLst>
              <a:gd name="adj" fmla="val 9363"/>
            </a:avLst>
          </a:prstGeom>
          <a:solidFill>
            <a:srgbClr val="F4F7FA"/>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anknote-mid.png"/>
          <p:cNvPicPr>
            <a:picLocks noChangeAspect="1"/>
          </p:cNvPicPr>
          <p:nvPr/>
        </p:nvPicPr>
        <p:blipFill>
          <a:blip r:embed="rId3"/>
          <a:stretch>
            <a:fillRect/>
          </a:stretch>
        </p:blipFill>
        <p:spPr>
          <a:xfrm>
            <a:off x="5747004" y="2029967"/>
            <a:ext cx="713232" cy="713232"/>
          </a:xfrm>
          <a:prstGeom prst="rect">
            <a:avLst/>
          </a:prstGeom>
        </p:spPr>
      </p:pic>
      <p:sp>
        <p:nvSpPr>
          <p:cNvPr id="13" name="TextBox 12"/>
          <p:cNvSpPr txBox="1"/>
          <p:nvPr/>
        </p:nvSpPr>
        <p:spPr>
          <a:xfrm>
            <a:off x="4498848" y="2852928"/>
            <a:ext cx="3209544" cy="438912"/>
          </a:xfrm>
          <a:prstGeom prst="rect">
            <a:avLst/>
          </a:prstGeom>
          <a:noFill/>
        </p:spPr>
        <p:txBody>
          <a:bodyPr wrap="square" lIns="0" rIns="0" tIns="0" bIns="0" anchor="ctr">
            <a:spAutoFit/>
          </a:bodyPr>
          <a:lstStyle/>
          <a:p>
            <a:pPr algn="ctr">
              <a:lnSpc>
                <a:spcPct val="100000"/>
              </a:lnSpc>
            </a:pPr>
            <a:r>
              <a:rPr sz="1900" b="1" i="0">
                <a:solidFill>
                  <a:srgbClr val="065A82"/>
                </a:solidFill>
                <a:latin typeface="DejaVu Sans"/>
              </a:rPr>
              <a:t>Cost of an error</a:t>
            </a:r>
          </a:p>
        </p:txBody>
      </p:sp>
      <p:sp>
        <p:nvSpPr>
          <p:cNvPr id="14" name="TextBox 13"/>
          <p:cNvSpPr txBox="1"/>
          <p:nvPr/>
        </p:nvSpPr>
        <p:spPr>
          <a:xfrm>
            <a:off x="4572000" y="3383280"/>
            <a:ext cx="3063240" cy="713232"/>
          </a:xfrm>
          <a:prstGeom prst="rect">
            <a:avLst/>
          </a:prstGeom>
          <a:noFill/>
        </p:spPr>
        <p:txBody>
          <a:bodyPr wrap="square" lIns="0" rIns="0" tIns="0" bIns="0" anchor="t">
            <a:spAutoFit/>
          </a:bodyPr>
          <a:lstStyle/>
          <a:p>
            <a:pPr algn="ctr">
              <a:lnSpc>
                <a:spcPct val="116000"/>
              </a:lnSpc>
            </a:pPr>
            <a:r>
              <a:rPr sz="1200" b="0" i="0">
                <a:solidFill>
                  <a:srgbClr val="21295C"/>
                </a:solidFill>
                <a:latin typeface="DejaVu Sans"/>
              </a:rPr>
              <a:t>What an error will cost: money, reputation, health</a:t>
            </a:r>
          </a:p>
        </p:txBody>
      </p:sp>
      <p:sp>
        <p:nvSpPr>
          <p:cNvPr id="15" name="Rounded Rectangle 14"/>
          <p:cNvSpPr/>
          <p:nvPr/>
        </p:nvSpPr>
        <p:spPr>
          <a:xfrm>
            <a:off x="4535424" y="4187952"/>
            <a:ext cx="3136392" cy="694944"/>
          </a:xfrm>
          <a:prstGeom prst="roundRect">
            <a:avLst>
              <a:gd name="adj" fmla="val 12000"/>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4187952"/>
            <a:ext cx="2953512" cy="694944"/>
          </a:xfrm>
          <a:prstGeom prst="rect">
            <a:avLst/>
          </a:prstGeom>
          <a:noFill/>
        </p:spPr>
        <p:txBody>
          <a:bodyPr wrap="square" lIns="0" rIns="0" tIns="0" bIns="0" anchor="ctr">
            <a:spAutoFit/>
          </a:bodyPr>
          <a:lstStyle/>
          <a:p>
            <a:pPr algn="ctr">
              <a:lnSpc>
                <a:spcPct val="112000"/>
              </a:lnSpc>
            </a:pPr>
            <a:r>
              <a:rPr sz="1100" b="1" i="0">
                <a:solidFill>
                  <a:srgbClr val="21295C"/>
                </a:solidFill>
                <a:latin typeface="DejaVu Sans"/>
              </a:rPr>
              <a:t>High → a named owner for the decision</a:t>
            </a:r>
          </a:p>
        </p:txBody>
      </p:sp>
      <p:sp>
        <p:nvSpPr>
          <p:cNvPr id="17" name="Rounded Rectangle 16"/>
          <p:cNvSpPr/>
          <p:nvPr/>
        </p:nvSpPr>
        <p:spPr>
          <a:xfrm>
            <a:off x="8129016" y="1792224"/>
            <a:ext cx="3575304" cy="3255264"/>
          </a:xfrm>
          <a:prstGeom prst="roundRect">
            <a:avLst>
              <a:gd name="adj" fmla="val 9363"/>
            </a:avLst>
          </a:prstGeom>
          <a:solidFill>
            <a:srgbClr val="F4F7FA"/>
          </a:solidFill>
          <a:ln w="228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ye-mid.png"/>
          <p:cNvPicPr>
            <a:picLocks noChangeAspect="1"/>
          </p:cNvPicPr>
          <p:nvPr/>
        </p:nvPicPr>
        <p:blipFill>
          <a:blip r:embed="rId4"/>
          <a:stretch>
            <a:fillRect/>
          </a:stretch>
        </p:blipFill>
        <p:spPr>
          <a:xfrm>
            <a:off x="9560052" y="2029967"/>
            <a:ext cx="713232" cy="713232"/>
          </a:xfrm>
          <a:prstGeom prst="rect">
            <a:avLst/>
          </a:prstGeom>
        </p:spPr>
      </p:pic>
      <p:sp>
        <p:nvSpPr>
          <p:cNvPr id="19" name="TextBox 18"/>
          <p:cNvSpPr txBox="1"/>
          <p:nvPr/>
        </p:nvSpPr>
        <p:spPr>
          <a:xfrm>
            <a:off x="8311896" y="2852928"/>
            <a:ext cx="3209544" cy="438912"/>
          </a:xfrm>
          <a:prstGeom prst="rect">
            <a:avLst/>
          </a:prstGeom>
          <a:noFill/>
        </p:spPr>
        <p:txBody>
          <a:bodyPr wrap="square" lIns="0" rIns="0" tIns="0" bIns="0" anchor="ctr">
            <a:spAutoFit/>
          </a:bodyPr>
          <a:lstStyle/>
          <a:p>
            <a:pPr algn="ctr">
              <a:lnSpc>
                <a:spcPct val="100000"/>
              </a:lnSpc>
            </a:pPr>
            <a:r>
              <a:rPr sz="1900" b="1" i="0">
                <a:solidFill>
                  <a:srgbClr val="1C7293"/>
                </a:solidFill>
                <a:latin typeface="DejaVu Sans"/>
              </a:rPr>
              <a:t>Observability</a:t>
            </a:r>
          </a:p>
        </p:txBody>
      </p:sp>
      <p:sp>
        <p:nvSpPr>
          <p:cNvPr id="20" name="TextBox 19"/>
          <p:cNvSpPr txBox="1"/>
          <p:nvPr/>
        </p:nvSpPr>
        <p:spPr>
          <a:xfrm>
            <a:off x="8385048" y="3383280"/>
            <a:ext cx="3063240" cy="713232"/>
          </a:xfrm>
          <a:prstGeom prst="rect">
            <a:avLst/>
          </a:prstGeom>
          <a:noFill/>
        </p:spPr>
        <p:txBody>
          <a:bodyPr wrap="square" lIns="0" rIns="0" tIns="0" bIns="0" anchor="t">
            <a:spAutoFit/>
          </a:bodyPr>
          <a:lstStyle/>
          <a:p>
            <a:pPr algn="ctr">
              <a:lnSpc>
                <a:spcPct val="116000"/>
              </a:lnSpc>
            </a:pPr>
            <a:r>
              <a:rPr sz="1200" b="0" i="0">
                <a:solidFill>
                  <a:srgbClr val="21295C"/>
                </a:solidFill>
                <a:latin typeface="DejaVu Sans"/>
              </a:rPr>
              <a:t>How quickly it shows that an output is wrong</a:t>
            </a:r>
          </a:p>
        </p:txBody>
      </p:sp>
      <p:sp>
        <p:nvSpPr>
          <p:cNvPr id="21" name="Rounded Rectangle 20"/>
          <p:cNvSpPr/>
          <p:nvPr/>
        </p:nvSpPr>
        <p:spPr>
          <a:xfrm>
            <a:off x="8348472" y="4187952"/>
            <a:ext cx="3136392" cy="694944"/>
          </a:xfrm>
          <a:prstGeom prst="roundRect">
            <a:avLst>
              <a:gd name="adj" fmla="val 12000"/>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4187952"/>
            <a:ext cx="2953512" cy="694944"/>
          </a:xfrm>
          <a:prstGeom prst="rect">
            <a:avLst/>
          </a:prstGeom>
          <a:noFill/>
        </p:spPr>
        <p:txBody>
          <a:bodyPr wrap="square" lIns="0" rIns="0" tIns="0" bIns="0" anchor="ctr">
            <a:spAutoFit/>
          </a:bodyPr>
          <a:lstStyle/>
          <a:p>
            <a:pPr algn="ctr">
              <a:lnSpc>
                <a:spcPct val="112000"/>
              </a:lnSpc>
            </a:pPr>
            <a:r>
              <a:rPr sz="1100" b="1" i="0">
                <a:solidFill>
                  <a:srgbClr val="21295C"/>
                </a:solidFill>
                <a:latin typeface="DejaVu Sans"/>
              </a:rPr>
              <a:t>Low → the eval loop and a guardrail metric</a:t>
            </a:r>
          </a:p>
        </p:txBody>
      </p:sp>
      <p:sp>
        <p:nvSpPr>
          <p:cNvPr id="23" name="Rounded Rectangle 22"/>
          <p:cNvSpPr/>
          <p:nvPr/>
        </p:nvSpPr>
        <p:spPr>
          <a:xfrm>
            <a:off x="502920" y="5230368"/>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5285231"/>
            <a:ext cx="10762488" cy="713232"/>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No axis forbids AI — each one names what must stand beside it. All three in a good position and the human can come off the gate; any other combination calls for a gate on the problem axis.</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55 / 56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11247120" cy="713232"/>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The method transfers, the list of tools does not: code was the first proving ground, the product the second</a:t>
            </a:r>
          </a:p>
        </p:txBody>
      </p:sp>
      <p:sp>
        <p:nvSpPr>
          <p:cNvPr id="3" name="Rounded Rectangle 2"/>
          <p:cNvSpPr/>
          <p:nvPr/>
        </p:nvSpPr>
        <p:spPr>
          <a:xfrm>
            <a:off x="502920" y="950976"/>
            <a:ext cx="7589520" cy="4956048"/>
          </a:xfrm>
          <a:prstGeom prst="roundRect">
            <a:avLst>
              <a:gd name="adj" fmla="val 615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55-cad-crop.png"/>
          <p:cNvPicPr>
            <a:picLocks noChangeAspect="1"/>
          </p:cNvPicPr>
          <p:nvPr/>
        </p:nvPicPr>
        <p:blipFill>
          <a:blip r:embed="rId2"/>
          <a:stretch>
            <a:fillRect/>
          </a:stretch>
        </p:blipFill>
        <p:spPr>
          <a:xfrm>
            <a:off x="717804" y="1042416"/>
            <a:ext cx="7159752" cy="4773168"/>
          </a:xfrm>
          <a:prstGeom prst="rect">
            <a:avLst/>
          </a:prstGeom>
        </p:spPr>
      </p:pic>
      <p:sp>
        <p:nvSpPr>
          <p:cNvPr id="5" name="TextBox 4"/>
          <p:cNvSpPr txBox="1"/>
          <p:nvPr/>
        </p:nvSpPr>
        <p:spPr>
          <a:xfrm>
            <a:off x="566928" y="5943600"/>
            <a:ext cx="7223760" cy="438912"/>
          </a:xfrm>
          <a:prstGeom prst="rect">
            <a:avLst/>
          </a:prstGeom>
          <a:noFill/>
        </p:spPr>
        <p:txBody>
          <a:bodyPr wrap="square" lIns="0" rIns="0" tIns="0" bIns="0" anchor="t">
            <a:spAutoFit/>
          </a:bodyPr>
          <a:lstStyle/>
          <a:p>
            <a:pPr algn="l">
              <a:lnSpc>
                <a:spcPct val="108000"/>
              </a:lnSpc>
            </a:pPr>
            <a:r>
              <a:rPr sz="1000" b="0" i="1">
                <a:solidFill>
                  <a:srgbClr val="5B6678"/>
                </a:solidFill>
                <a:latin typeface="DejaVu Sans"/>
              </a:rPr>
              <a:t>An engineer at a computer-aided design (CAD) workstation with a light pen, late 1970s: the tool is gone — the discipline of design remained</a:t>
            </a:r>
          </a:p>
        </p:txBody>
      </p:sp>
      <p:sp>
        <p:nvSpPr>
          <p:cNvPr id="6" name="Rounded Rectangle 5"/>
          <p:cNvSpPr/>
          <p:nvPr/>
        </p:nvSpPr>
        <p:spPr>
          <a:xfrm>
            <a:off x="7936992" y="950976"/>
            <a:ext cx="3767328" cy="12618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005840"/>
            <a:ext cx="3328416" cy="1152143"/>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This course does not teach "use AI more" and it does not teach "fear AI" — it teaches you to say a well-founded "yes" and a well-founded "no."</a:t>
            </a:r>
          </a:p>
        </p:txBody>
      </p:sp>
      <p:sp>
        <p:nvSpPr>
          <p:cNvPr id="8" name="Rounded Rectangle 7"/>
          <p:cNvSpPr/>
          <p:nvPr/>
        </p:nvSpPr>
        <p:spPr>
          <a:xfrm>
            <a:off x="7936992" y="2377440"/>
            <a:ext cx="3767328" cy="1207008"/>
          </a:xfrm>
          <a:prstGeom prst="roundRect">
            <a:avLst>
              <a:gd name="adj" fmla="val 22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2496312"/>
            <a:ext cx="3364992" cy="274320"/>
          </a:xfrm>
          <a:prstGeom prst="rect">
            <a:avLst/>
          </a:prstGeom>
          <a:noFill/>
        </p:spPr>
        <p:txBody>
          <a:bodyPr wrap="square" lIns="0" rIns="0" tIns="0" bIns="0" anchor="t">
            <a:spAutoFit/>
          </a:bodyPr>
          <a:lstStyle/>
          <a:p>
            <a:pPr algn="l">
              <a:lnSpc>
                <a:spcPct val="115000"/>
              </a:lnSpc>
            </a:pPr>
            <a:r>
              <a:rPr sz="1400" b="1" i="0">
                <a:solidFill>
                  <a:srgbClr val="028090"/>
                </a:solidFill>
                <a:latin typeface="DejaVu Sans"/>
              </a:rPr>
              <a:t>Seminar 7</a:t>
            </a:r>
          </a:p>
        </p:txBody>
      </p:sp>
      <p:sp>
        <p:nvSpPr>
          <p:cNvPr id="10" name="TextBox 9"/>
          <p:cNvSpPr txBox="1"/>
          <p:nvPr/>
        </p:nvSpPr>
        <p:spPr>
          <a:xfrm>
            <a:off x="8138160" y="2825496"/>
            <a:ext cx="3364992" cy="713232"/>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A full run of the instrument on a practice AI product: from the hypothesis to the point of escalation to a human.</a:t>
            </a:r>
          </a:p>
        </p:txBody>
      </p:sp>
      <p:sp>
        <p:nvSpPr>
          <p:cNvPr id="11" name="Rounded Rectangle 10"/>
          <p:cNvSpPr/>
          <p:nvPr/>
        </p:nvSpPr>
        <p:spPr>
          <a:xfrm>
            <a:off x="7936992" y="3749039"/>
            <a:ext cx="3767328" cy="1207008"/>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3867911"/>
            <a:ext cx="3364992"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Lecture 6</a:t>
            </a:r>
          </a:p>
        </p:txBody>
      </p:sp>
      <p:sp>
        <p:nvSpPr>
          <p:cNvPr id="13" name="TextBox 12"/>
          <p:cNvSpPr txBox="1"/>
          <p:nvPr/>
        </p:nvSpPr>
        <p:spPr>
          <a:xfrm>
            <a:off x="8138160" y="4197096"/>
            <a:ext cx="3364992" cy="713232"/>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The same method in computer-aided design (CAD): the cost of a physical error is higher.</a:t>
            </a:r>
          </a:p>
        </p:txBody>
      </p:sp>
      <p:sp>
        <p:nvSpPr>
          <p:cNvPr id="14" name="Rounded Rectangle 13"/>
          <p:cNvSpPr/>
          <p:nvPr/>
        </p:nvSpPr>
        <p:spPr>
          <a:xfrm>
            <a:off x="7936992" y="5138928"/>
            <a:ext cx="3767328" cy="768096"/>
          </a:xfrm>
          <a:prstGeom prst="roundRect">
            <a:avLst>
              <a:gd name="adj" fmla="val 14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6992" y="5138928"/>
            <a:ext cx="3767328" cy="768096"/>
          </a:xfrm>
          <a:prstGeom prst="rect">
            <a:avLst/>
          </a:prstGeom>
          <a:noFill/>
        </p:spPr>
        <p:txBody>
          <a:bodyPr wrap="square" lIns="0" rIns="0" tIns="0" bIns="0" anchor="ctr">
            <a:spAutoFit/>
          </a:bodyPr>
          <a:lstStyle/>
          <a:p>
            <a:pPr algn="ctr">
              <a:lnSpc>
                <a:spcPct val="115000"/>
              </a:lnSpc>
            </a:pPr>
            <a:r>
              <a:rPr sz="2400" b="1" i="0">
                <a:solidFill>
                  <a:srgbClr val="21295C"/>
                </a:solidFill>
                <a:latin typeface="DejaVu Sans"/>
              </a:rPr>
              <a:t>Questions?</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56 / 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