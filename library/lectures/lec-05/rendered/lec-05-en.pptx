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not with a definition but with a paradox. Anthropic describes its own internal experience like this: tasks that used to take weeks of writing and reviewing code now take hours — an agent writes the implementation, it passes the tests, and code is nearly free. At the same time, in the summer of 2025, a research group at the MIT Media Lab published a report that media outlets amplified as "ninety-five percent of organizations get zero return from generative AI." Two facts are true at once and, at first glance, mutually exclusive: assembly is nearly free — and almost no one extracts value from it. How is that possible?</a:t>
            </a:r>
          </a:p>
          <a:p>
            <a:r>
              <a:t>We won't resolve the paradox right now — it's the payoff of the whole lecture, and we'll come back to it at the very end. But let's fix its shape right away: assembly became nearly free, while turning assembly into real value did not. That exact mismatch is the subject of today's lecture. We'll walk the whole product lifecycle: from intent through research, design, build, measurement, operation — and at every phase we'll ask the same thing: what did AI make cheap here, and what stayed expensive and human.</a:t>
            </a:r>
          </a:p>
          <a:p>
            <a:r>
              <a:t>Take thirty seconds: if building became nearly free, what became the product's real bottleneck?</a:t>
            </a:r>
          </a:p>
          <a:p>
            <a:r>
              <a:t>Sources:</a:t>
            </a:r>
          </a:p>
          <a:p>
            <a:r>
              <a:t>[1] Anthropic — 2026 Agentic Coding Trends Report — internal experience: weeks -&gt; hours; secondary-triangulated (PDF not parsed directly). https://resources.anthropic.com/2026-agentic-coding-trends-report [VFY-day-of]</a:t>
            </a:r>
          </a:p>
          <a:p>
            <a:r>
              <a:t>[2] MIT NANDA — "The GenAI Divide" (July 2025, v0.1) — "95% of pilots — zero return": unreviewed preprint, needs calibration (see s47). https://mlq.ai/media/quarterly_decks/v0.1_State_of_AI_in_Business_2025_Report.pdf [VFY-day-of]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4 walked through the lifecycle of code. Today's lecture is a zoom-out: code is one phase — now sharply cheaper — inside a much wider product lifecycle. You're technically strong and write code with AI assistants daily, but most of the product disciplines — customer development, design thinking, product experiments, operations by the reliability-engineering model — you're likely seeing for the first time. So each of today's six sections starts not with AI but with the classical base: where the discipline came from and what problem it solves without a single mention of artificial intelligence. Only after that do we ask what AI changes and where it breaks.</a:t>
            </a:r>
          </a:p>
          <a:p>
            <a:r>
              <a:t>The roadmap is simple: six sections are six arrows of one loop. Discovery — where the hypothesis comes from. Design — how a hypothesis becomes an artifact. Build and Launch — how an artifact becomes a working product in production. Measure — how to check whether it actually worked. Support and Operate — what happens once a product lives 24/7. And Governance — how an organization decides what to invest capital in at all. At the end we'll assemble everything into a single matrix and checklist that you can run any unfamiliar AI initiative through.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map of today's lecture, and it's drawn not as a list but as a circle, because that's essential. Six sections aren't six independent topics — they're six arrows of one loop. We start with intent — with Discovery, where a hypothesis about what to build at all is born. The hypothesis passes through Design, turning into a concrete artifact you can show a person. The artifact passes through Build and Launch, becoming a working product in production. Next — Measure: we check whether the change actually produced the effect we predicted. Support and Operate is what happens once a product is already living with real users around the clock. And finally Governance — the organizational level at which it's decided whether to keep investing, scale, or stop.</a:t>
            </a:r>
          </a:p>
          <a:p>
            <a:r>
              <a:t>The key point that distinguishes this map from a simple list: the last arrow loops back into the first. The signal from operation and from governance decisions changes what we research next in Discovery. This is a closed cycle, not a one-time linear process — and that's exactly why at the end of the lecture we'll come back to the same circle, only with a full understanding of what happens on every arrow.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four showed that developing software with AI, done as an engineering discipline, is a cycle of human-owned artifacts: specification, architecture decision, plan, pull request, incident record, back into the specification. That cycle lives inside a single phase of the product cycle — Build, which we'll cover in section three today. Today's lecture goes up one level: the product as a whole runs its own loop, and the decision to loop back to the start or stop the product is made not by an engineering criterion but by a product one — has the hypothesis about value for the user been confirmed?</a:t>
            </a:r>
          </a:p>
          <a:p>
            <a:r>
              <a:t>The difference in scale is essential. Lecture four answered the question "how do I write code I'm accountable for" — the unit of work there is a pull request, a commit. This lecture answers the question "where does the confidence that this code is worth writing come from in the first place" — the unit of work here is a hypothesis, an experiment, a release decision.</a:t>
            </a:r>
          </a:p>
          <a:p>
            <a:r>
              <a:t>Hence the central question of the whole lecture: now that AI made assembly almost free, what became the product's real bottleneck — and on every phase of the loop, which classical discipline stays, what does AI speed up, and where does AI-first break? Hold this question as a lens: at every phase, don't ask "can AI be applied here" — almost always you can — ask instead "where did the bottleneck move to, now that this arrow got cheaper."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load-bearing idea of today's whole lecture, and it's worth holding onto through all six sections: a product is a feedback loop — discover, build, measure, learn, decide, discover again. This isn't one theory from one author — it's a shape that at least three people from completely different fields, with no contact with one another, arrived at independently.</a:t>
            </a:r>
          </a:p>
          <a:p>
            <a:r>
              <a:t>Walter Shewhart and W. Edwards Deming, statisticians in quality control, formulated the PDCA cycle — plan, do, check, act — as a method for continuous improvement of a manufacturing process; postwar Japanese manufacturing quality grew on this cycle. John Boyd, a military fighter pilot, formulated the OODA cycle — observe, orient, decide, act — as a model of who wins an air battle: not the one with the more powerful plane, but the one who runs this cycle faster and more precisely. Eric Ries, an entrepreneur, formulated the Build-Measure-Learn cycle as a way for a startup not to spend months on a feature nobody wants.</a:t>
            </a:r>
          </a:p>
          <a:p>
            <a:r>
              <a:t>There's also an important nuance of the same shape — single-loop versus double-loop. A single loop corrects an error relative to a fixed goal, like a thermostat. A double loop goes deeper: it periodically questions the goal itself. This directly foreshadows the failure we'll cover in section four: training a model through human feedback is a mechanized single loop, and reward-function hacking is exactly its failure mode. A statistician, a pilot, and an entrepreneur drew the same blueprint without coordinating — that's a compelling argument that the loop isn't a fashionable methodology but a structural property of a system that learns.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keystone — the central analytical tool of the whole lecture: AI changes the cost and trust of every arrow of the loop asymmetrically, not equally. The "build" arrow — cost has nearly collapsed to zero: writing code, a design draft, a first research prototype are orders of magnitude cheaper than five years ago. The "measure" and "learn" arrows — cost has stayed roughly the same or dropped only slightly, while trust in the result has fallen: the very instrument of measurement has become probabilistic and exposed to metric manipulation. The "observe" and "orient" arrows have become faster, but at the same time more exposed to attack: the speed of observing a system in production has grown, but the very ability to react quickly turns into a vulnerability if the observed data can be poisoned.</a:t>
            </a:r>
          </a:p>
          <a:p>
            <a:r>
              <a:t>Hence the meta-pattern that will repeat in each of the six sections, literally following the same template: every phase of the product lifecycle has a classical discipline, and AI does not cancel it. AI changes how much that discipline costs and how far it can be trusted without verification — but it does not remove the need for the discipline itself. Customer Development is not replaced by "ask the model what the user thinks"; a product experiment is not replaced by "the model predicted the metric would grow." In every section we'll ask the same question: what does the classic make reliable here, what does AI speed up — and at what point does speed become a trap, because trust doesn't keep pace with it.</a:t>
            </a:r>
          </a:p>
          <a:p>
            <a:r>
              <a:t>Think for twenty seconds: on which arrow of your latest task did speed outrun your actual trust in the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walking the loop arrow by arrow, and the first is Discovery, research. This is the phase where the hypothesis of what to build even comes from. Most strong engineers have informal experience "ask friends whether they like the idea" — but almost no one has encountered the formal discipline that explains why this informal experience systematically lies.</a:t>
            </a:r>
          </a:p>
          <a:p>
            <a:r>
              <a:t>Today in this section — two classical bases: a methodology for finding a business model by going out to customers, and a technique for one correct conversation with one person. Then — what AI adds to research in 2025-2026, where it's limited, and three failures that show what happens when the boundary gets skipped. Hold two questions of the section: where does AI amplify research, and where is a real person with a real past required.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moving to the formal methods, let's break down the research phase in simple terms — so it's clear even to those hearing about product work for the first time.</a:t>
            </a:r>
          </a:p>
          <a:p>
            <a:r>
              <a:t>Research is the loop's first arrow. Here you're not building anything yet. Your only task is to understand whether it's worth building anything at all, and for whom. It sounds simple, but this exact step is where most products fail: the team falls in love with its own idea and builds it without checking whether anyone has a real problem that idea solves.</a:t>
            </a:r>
          </a:p>
          <a:p>
            <a:r>
              <a:t>The key mental model worth taking away from this section: there are no facts inside the building. Everything you think about users while sitting at your desk is a hypothesis, not knowledge. Facts live outside, with real people. So the discipline of research is the discipline of going outside: formulate what you believe, then honestly test it on people who have no interest in flattering you.</a:t>
            </a:r>
          </a:p>
          <a:p>
            <a:r>
              <a:t>AI can help a lot here — summarizing interviews, gathering desk research in minutes instead of hours. But it can't have the conversation with a real person for you, and it can't produce real disagreement. Next we'll see two classical methods that make this conversation honest, and three real failures where research was replaced by a plausible fabrication.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Development is Steve Blank's methodology. The central idea is extremely concrete: there are no facts inside the building, so go outside. A startup is not a scaled-down copy of a large company executing a known plan — it's a temporary organization in search of a repeatable business model under extreme uncertainty. The plan can't be written in advance, because the plan depends on answers only customers know.</a:t>
            </a:r>
          </a:p>
          <a:p>
            <a:r>
              <a:t>The method consists of four sequential steps, each ending in an explicit decision to continue or pivot. Discovery — turn the initial hypotheses into facts by going out to real people; this step is explicitly hypothesis-oriented — you write down what you believe before you walk out the door. Validation — check whether this can be sold not just to the first enthusiasts but to a wider circle. Creation — drive demand at scale. Building — transition the organization into formal functional departments.</a:t>
            </a:r>
          </a:p>
          <a:p>
            <a:r>
              <a:t>It's important to distinguish Customer Development from Build-Measure-Learn, which we discussed in the keystone: BML is the engine, Customer Development is the map of the terrain the engine drives across. First understand what you're testing and with whom, then how fast to spin the test cycle. And here we also introduce a device we'll reuse in every following section: the falsifiable hypothesis — a written statement "we believe that X, we'll test it via Y, by date Z we'll have a yes-or-no answer." The format works because it turns vague confidence into a testable commitment with a date. A known limitation of the method: it's written for startups starting from zero, searching for a business model, not for refining a feature inside a mature product — applying the whole ceremony to a minor feature tweak is excessive, exactly as you wouldn't run an A/B test to fix a typo.</a:t>
            </a:r>
          </a:p>
          <a:p>
            <a:r>
              <a:t>Sources:</a:t>
            </a:r>
          </a:p>
          <a:p>
            <a:r>
              <a:t>[1] Blank — Customer Development (Four Steps to the Epiphany) — 4-step methodology; "there are no facts inside the building".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 Test is a single-step technique: how to correctly run one conversation with one person so you don't fool yourself. The method was formulated by Rob Fitzpatrick. The name reflects a provocative premise: even your own mother will lie to you about the quality of your business idea if you ask her directly — and the defect isn't in the respondent's honesty, it's in the construction of the question.</a:t>
            </a:r>
          </a:p>
          <a:p>
            <a:r>
              <a:t>Three rules, concrete and directly applicable. First: talk about their life, not your idea — never pitch the idea and then ask for a verdict. Second: ask about specifics from the past, not opinions about the future — hypothetical questions provoke dishonest optimism. Third: talk less, listen more, and validate only with a real commitment, never a compliment — legitimate signals are time, reputation, money.</a:t>
            </a:r>
          </a:p>
          <a:p>
            <a:r>
              <a:t>A good illustration: instead of "would you pay twenty dollars a month" — "how much do you pay today for the closest alternative to this task." The second question anchors on real past behavior and money the respondent is already spending. A limitation of the method: it's an interview technique, not a sampling or synthesis method — it doesn't tell you how many people to interview. It's also useful here to fix the divide between qualitative and quantitative research: qualitative answers "why" on a small sample and generates hypotheses; quantitative answers "how much" at scale and tests a hypothesis that already exists. This isn't a hierarchy but a division of labor — and we'll need it again in section four.</a:t>
            </a:r>
          </a:p>
          <a:p>
            <a:r>
              <a:t>Sources:</a:t>
            </a:r>
          </a:p>
          <a:p>
            <a:r>
              <a:t>[1] Fitzpatrick — The Mom Test — 3 interview rules: about life/about the past/about a commitment, not an opinion. https://www.sachinrekhi.com/p/the-mom-test-rob-fitzpatrick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 what AI changes in this phase, concretely and by tool. Desk research — a review of market reports, complaints, tickets — down to a single hour. Perplexity, especially its Deep Research mode, is widely recognized as the best tool for this task: the service plans a research trajectory, reads sources, and returns a report with links in minutes. Practitioners report roughly a fifty-percent time reduction. Mandatory practice, not an option: verify important data directly against the source before using it in a decision — links exist precisely so verification is possible, but the tool doesn't remove the verification step itself.</a:t>
            </a:r>
          </a:p>
          <a:p>
            <a:r>
              <a:t>Interview synthesis: Dovetail is specifically built for cross-interview synthesis with a "quote anchored to its source" design — this protects against drift into an unverifiable summary. AI is genuinely strong at clustering — grouping hundreds of tickets into recurring pain themes — and at building a reference dataset, a curated set of "query → correct answer" pairs, which we'll come back to in sections three and four as a formal launch artifact and an evaluation set.</a:t>
            </a:r>
          </a:p>
          <a:p>
            <a:r>
              <a:t>Synthetic users as pre-research is a narrow, legitimate area: piloting a discussion guide, drafting proto-personas, generating hypotheses. None of these outputs should be treated as evidence for a "ship or not" decision. Telling detail: ninety-seven percent of researchers use AI, but only about eight percent trust AI-generated participants as a data source — the gap is recognized by the profession itself. Teresa Torres, one of the leading discovery practitioners, uses AI to draft a first pass, but the two-step synthesis rule holds without exception, and she explicitly advises against synthetic interviews — because the team's own thinking is the whole point of the process.</a:t>
            </a:r>
          </a:p>
          <a:p>
            <a:r>
              <a:t>Sources:</a:t>
            </a:r>
          </a:p>
          <a:p>
            <a:r>
              <a:t>[1] Perplexity Deep Research — overview for product research — desk research: hours -&gt; minutes; source verification still needed. https://www.secondtalent.com/resources/perplexity-deep-research-review/</a:t>
            </a:r>
          </a:p>
          <a:p>
            <a:r>
              <a:t>[2] Dovetail — AI interview synthesis — pain-point clustering at scale; limits of AI summarization. https://listenlabs.ai/articles/dovetail-ai-qualitative-analysis/</a:t>
            </a:r>
          </a:p>
          <a:p>
            <a:r>
              <a:t>[3] NN/g — 2026 practitioner survey — 97% of researchers use AI, ~8% trust AI personas as data. https://www.nngroup.com/articles/state-of-ux-2026/ [VFY-day-of]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risk of discovery is ethical in nature, but it materializes as a concrete, measurable mechanism: an AI summary can miss twenty to forty percent of important interview detail when synthesis skips the "individually first" step and jumps straight to a cross-interview theme. This isn't a vague "AI sometimes makes mistakes" — it's a failure traceable to a specific step.</a:t>
            </a:r>
          </a:p>
          <a:p>
            <a:r>
              <a:t>Why live interviews remain necessary — an argument of accumulation. The Mom Test's second rule — ask about specific things from the past — is exactly the rule a synthetic persona cannot satisfy, because it has no real past, only the ability to generate something plausible. A tendency to agree plus the absence of a real past is a cumulative failure: not just skewed toward "yes," but skewed toward "yes" about an event that never happened.</a:t>
            </a:r>
          </a:p>
          <a:p>
            <a:r>
              <a:t>Let's make this testable through three operational criteria. First: the cost of a go/no-go mistake is high — you need a source capable of saying "no," and a synthetic one is by construction incapable. Second: you need a real past, not a plausible one — if the hypothesis concerns specific past behavior, a synthetic persona invents it rather than remembers it. Third: you need validation by a real commitment — a pre-order, a deposit, an intro — there's no AI substitute here at all. What clearly stays from the classic: the three Mom Test rules apply the same way no matter who asks the question; Blank's hypothesis-first discipline is the antidote to a one-click AI tree. The rule in short: the closer the output is to an irreversible decision about real people, the more strictly a real person is required; the further away, the more appropriate AI becomes as a draft accelerator.</a:t>
            </a:r>
          </a:p>
          <a:p>
            <a:r>
              <a:t>Sources:</a:t>
            </a:r>
          </a:p>
          <a:p>
            <a:r>
              <a:t>[1] Torres — Continuous Discovery Habits / anti-synthetic — a contrarian-to-hype stance: against synthetic interviews and one-click AI persona trees.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Nielsen Norman Group ran a controlled comparison as part of an onboarding usability study: real users completed an average of three out of seven steps; an AI-generated panel of synthetic users, tested on the exact same flow, falsely reported completing all seven of seven. Separately, real users described a discussion-forum feature as contrived and useless, while synthetic personas produced glowing praise of the same feature; one synthetic user called an impractical drone-delivery concept "a game-changer."</a:t>
            </a:r>
          </a:p>
          <a:p>
            <a:r>
              <a:t>The mechanism, tied specifically to the Discovery phase: large language models are tuned to agree with the framing of the given question — a concept described with any enthusiasm comes back validated. A synthetic user cannot produce disagreement, because it has no real experience capable of contradicting the question's framing. This is the same agreement-bias mechanism the course has already discussed for models in general, but here it materializes as a concrete, measured failure specifically in the discovery phase.</a:t>
            </a:r>
          </a:p>
          <a:p>
            <a:r>
              <a:t>Combine this with the Mom Test's second rule — ask about a real past — and you get a cumulative failure: not just skewed toward "yes," but skewed toward "yes" about an event that never happened. The lesson: a synthetic panel that agrees with your concept is not evidence the concept is good — it's evidence the panel is incapable of disagreeing. The criterion: any output feeding a "ship or not" decision must be traceable to real past behavior of a real person. The alternative: use a synthetic panel only in a pre-research role, then run real testing with five to eight participants — a sample size that already surfaces most usability problems.</a:t>
            </a:r>
          </a:p>
          <a:p>
            <a:r>
              <a:t>Sources:</a:t>
            </a:r>
          </a:p>
          <a:p>
            <a:r>
              <a:t>[1] NN/g (Rosala &amp; Moran) — Synthetic Users — 3/7 real vs 7/7 synthetic on the same task (drone-delivery). https://www.nngroup.com/articles/synthetic-users/ [VFY-day-of]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2025, Deloitte Australia delivered a report worth four hundred forty thousand Australian dollars to the Australian government, containing citations to nonexistent academic articles and a fabricated quote attributed to a real court ruling. The report was prepared using Azure OpenAI without human citation-level verification. After an independent researcher discovered the discrepancies, Deloitte partially refunded the money and publicly acknowledged using generative AI. A baseline for comparison: this is not an isolated case — a database records more than seven hundred twelve court rulings worldwide with AI-hallucinated citations, of which about ninety percent occurred in 2025 alone.</a:t>
            </a:r>
          </a:p>
          <a:p>
            <a:r>
              <a:t>The mechanism, tied to the Discovery phase: the failure sits exactly at the desk-research step — a secondary-research draft was accepted as a finished, verified review rather than an unverified draft. This is a direct violation of the mandatory practice from the previous slide: links exist precisely so verification is possible — skipping that step turns a research assistant into a fabrication machine.</a:t>
            </a:r>
          </a:p>
          <a:p>
            <a:r>
              <a:t>Connection to the course's meta-theme: this failure is structurally identical to a whole class of failures we'll return to in section six — plausible-sounding fabrication accepted as verified fact. The lesson: model output in the discovery phase is an unverified draft, not a source of facts; every citation needs independent verification before becoming the basis of a decision. The criterion: if the task is to deliver a final document to an external client, one-hundred-percent verification of every citation is mandatory, not sampling. The alternative: traditional library research through verified databases with manual verification of every quote.</a:t>
            </a:r>
          </a:p>
          <a:p>
            <a:r>
              <a:t>Sources:</a:t>
            </a:r>
          </a:p>
          <a:p>
            <a:r>
              <a:t>[1] Fortune (Oct 7, 2025) — Deloitte Australia A$440k — fabricated quotes and nonexistent references in a government report. https://fortune.com/2025/10/07/deloitte-ai-australia-government-report-hallucinations-technology-290000-refund</a:t>
            </a:r>
          </a:p>
          <a:p>
            <a:r>
              <a:t>[2] Damien Charlotin — AI Hallucination Cases Database — ~712 documented court cases worldwide involving AI hallucinations. https://www.damiencharlotin.com/hallucinations/ [VFY-day-of]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Watson for Oncology was developed starting in 2012 in partnership with Memorial Sloan Kettering Cancer Center. The MD Anderson Cancer Center partnership was terminated in 2016 after sixty-two million dollars in spending — without a single treated patient. Internal IBM documents, leaked to the press in 2018, showed the system produced unsafe and incorrect recommendations — for example, prescribing a drug to a hypothetical patient with active bleeding even though the drug carries an explicit warning against such use. In 2022, IBM sold the division for roughly a billion dollars.</a:t>
            </a:r>
          </a:p>
          <a:p>
            <a:r>
              <a:t>The mechanism, tied specifically to the Discovery phase: the failure sits exactly at the data-source-selection step — the very core of discovery as evidence-gathering. The system was trained not on real patient data or validated clinical guidelines, but on a small number of synthetic, hypothetical cases labeled by a handful of oncologists. The product inherited the personal preferences of a few doctors instead of a representative clinical base. This is the same class as the synthetic-users failure before it: a synthetic source, unanchored to real outcomes, was accepted as a sufficient basis — but here the stakes aren't a failed feature, they're patient safety.</a:t>
            </a:r>
          </a:p>
          <a:p>
            <a:r>
              <a:t>The lesson: the discovery phase of an AI product in a high-stakes domain must verify the representativeness of its training data before demonstrating capabilities to customers; a marketing demo is not validation. The criterion: if the entire available dataset is small-N synthetic cases from a narrow group of experts, not real outcomes across large samples, that's a signal it's too early for the product — a separate phase of data collection and validation is needed. The alternative: evidence-based systems built on structured clinical guidelines with transparent source traceability, or a supervised pilot with a human in the loop. The section's three failures are one class: a synthetic source accepted as a validated basis for a decision — only the cost of the mistake changes.</a:t>
            </a:r>
          </a:p>
          <a:p>
            <a:r>
              <a:t>Sources:</a:t>
            </a:r>
          </a:p>
          <a:p>
            <a:r>
              <a:t>[1] STAT News — leaked internal IBM Watson documents — "unsafe and incorrect" oncology recommendations (July 25, 2018). https://www.statnews.com/2018/07/25/ibm-watson-recommended-unsafe-incorrect-treatments/</a:t>
            </a:r>
          </a:p>
          <a:p>
            <a:r>
              <a:t>[2] IEEE Spectrum — how Watson overpromised and underdelivered — trained on hypothetical cases from a handful of MSK oncologists, not on real outcomes.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two — the loop's second arrow: how the hypothesis from the previous section turns into a concrete artifact you can show a person. The course audience is technically strong, but as a rule hasn't gone through formal design education — so this section, like the previous one, starts with the classics before moving on to AI interface-generation tools.</a:t>
            </a:r>
          </a:p>
          <a:p>
            <a:r>
              <a:t>Today — a single load-bearing framework for the design process, expert-review heuristics, what AI offers for interface generation in 2025-26, where it breaks on non-deterministic output, and two failures that represent two different, complementary classes of design failure.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in plain terms is the phase where an idea first takes a form you can touch. Not a finished product, but a cheap draft: a sketch, a mockup, a clickable prototype. The point of a draft is that you won't mind losing it: you make it precisely to show people and possibly throw it away right after.</a:t>
            </a:r>
          </a:p>
          <a:p>
            <a:r>
              <a:t>Why is this a separate discipline and not just "draw it nicely"? Because design answers two different questions in sequence. First: are we even solving the right problem? Second: are we solving it correctly? The classical framework is "two diamonds": in the first diamond you first widen your view of the problem, then narrow it down to one clear statement; in the second diamond you do the same with the solution. The most common and most expensive beginner mistake is skipping the first diamond: falling in love with a solution right away, without making sure the problem is real.</a:t>
            </a:r>
          </a:p>
          <a:p>
            <a:r>
              <a:t>One more idea from this phase that we'll come back to in a real failure: safety is built into the product here, in the design brief, not bolted on as a patch after something goes wrong. AI can generate dozens of interface variants in minutes — but choosing and testing on a real person stays your job.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Thinking is a five-stage, human-centered methodology, canonically taught by the Stanford d.school. Double Diamond is the UK Design Council's framework, a visual model of two divergence-and-convergence cycles: the first diamond is Discover, broad exploration, then Define, synthesis into a concrete brief — about the right problem; the second diamond is Develop, generating many directions, then Deliver, testing and shipping one — about the right solution.</a:t>
            </a:r>
          </a:p>
          <a:p>
            <a:r>
              <a:t>For this lecture's purposes we use Double Diamond as the section's load-bearing framework, because it's structurally equivalent to Design Thinking but shows the key idea more explicitly: two separate divergence-convergence cycles, not one. A common mistake for an engineer encountering the design process for the first time: instinctively converging on a solution before even checking the problem itself — skipping the first diamond and diving straight into the second. It's the same anti-pattern as "just write the code," skipping the question of whether we're even solving the right problem.</a:t>
            </a:r>
          </a:p>
          <a:p>
            <a:r>
              <a:t>In practice the stages aren't linear — teams constantly loop back from Deliver to Define, and that's not a sign the process failed, it's the process working normally. Keep this framework in mind: when we get to this section's first failure, you'll see it happened exactly at the first-diamond point — in the decision of what we're even building and for whom — not in the technical implementation.</a:t>
            </a:r>
          </a:p>
          <a:p>
            <a:r>
              <a:t>Sources:</a:t>
            </a:r>
          </a:p>
          <a:p>
            <a:r>
              <a:t>[1] UK Design Council — The Double Diamond — Discover-&gt;Define-&gt;Develop-&gt;Deliver: two cycles of divergence/convergence. https://www.designcouncil.org.uk/resources/the-double-diamond/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Jakob Nielsen's usability heuristics are rules for expert review: not a substitute for testing with real users, but a fast, cheap way to catch problems before spending money on full-blown research. For an engineer, the metaphor "a linter for UX" is useful — static analysis before an early launch. Top five of the canonical ten: visibility of system status; matching the user's language rather than developer jargon; control and freedom — undo and a clear emergency exit; consistency and standards; error prevention — better to keep the user from making the mistake than to report it nicely after the fact.</a:t>
            </a:r>
          </a:p>
          <a:p>
            <a:r>
              <a:t>A design system is a living, managed set of principles, tokens, components, and patterns that keeps a product consistent at scale. The key idea that will carry over into the AI section: a design system is a guardrail, a mechanism that keeps generative freedom inside an already-validated brand, which makes it the natural harness for AI interface generation.</a:t>
            </a:r>
          </a:p>
          <a:p>
            <a:r>
              <a:t>Nielsen's own tough lesson, repeated in the industry like a mantra: "you are not the user" — anyone close to the project systematically mispredicts what will confuse a real person. A test with one user surfaces about thirty-one percent of usability problems on average; the classic five users find about eighty-five percent. This is the necessary counterweight for the next slide: however much AI speeds up prototype generation, putting the artifact in front of a real person and watching their real confusion has no AI substitute.</a:t>
            </a:r>
          </a:p>
          <a:p>
            <a:r>
              <a:t>Sources:</a:t>
            </a:r>
          </a:p>
          <a:p>
            <a:r>
              <a:t>[1] Nielsen — 10 usability heuristics — the full list of 10 heuristics with examples (1994, rev. 2020). https://blog.uxtweak.com/usability-heuristics/</a:t>
            </a:r>
          </a:p>
          <a:p>
            <a:r>
              <a:t>[2] Nielsen — "you are not the user" — a warning about the atypicality of insider designers. https://medium.com/hippo-digital/you-are-not-the-user-but-what-about-when-you-are-35abe4006b8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realistic team workflow for 2025-26: a product manager or designer describes a screen in a prompt to v0 by Vercel or Figma Make, and the generator pulls in the team's already-existing components rather than generic templates — seventy-two percent of designers use generative AI, ninety-one percent report an improvement specifically in quality. The generator produces two to four diverging directions in minutes — what used to take a day of manual wireframing. The human designer converges — picks a direction, discards the rest, fixes the details the model got wrong. The chosen direction goes through a real usability test with real users.</a:t>
            </a:r>
          </a:p>
          <a:p>
            <a:r>
              <a:t>Other named tools: Google Stitch — a text-to-mockup generator; Uizard — a lighter-weight tier; bolt.new — a prompt turned into a full browser app, the canonical vibe-coding tool.</a:t>
            </a:r>
          </a:p>
          <a:p>
            <a:r>
              <a:t>What's genuinely good here, without the hype: speed of the first draft, generation aware of the design system — less rework than naive text-to-UI, and democratization of a decent first pass — non-designers can now produce something presentable to start a conversation. The working practice, the clear formulation for the whole section: AI for divergence, human for convergence. Co-creative tools are appropriate for maximizing the volume and variety of early exploration. Convergence — deciding which problem is worth solving, and refining one direction to fully match the context — is explicitly named as the human strength no prompt replaces. A design system is the natural guardrail that keeps AI divergence from drifting off-brand.</a:t>
            </a:r>
          </a:p>
          <a:p>
            <a:r>
              <a:t>Sources:</a:t>
            </a:r>
          </a:p>
          <a:p>
            <a:r>
              <a:t>[1] Figma — 2026 AI design tools — Figma Make, v0, Stitch, bolt.new — 2-4 directions in minutes. https://www.figma.com/resource-library/ai-design-tools/ [VFY-day-of]</a:t>
            </a:r>
          </a:p>
          <a:p>
            <a:r>
              <a:t>[2] Google Stitch (ex-Galileo AI) — Google acquisition, May 2025 — a fast-moving tool landscape. https://www.banani.co/blog/galileo-ai-features-and-alternatives [VFY-day-of]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slop" and homogenization are a clear critique of the last two years. Nielsen Norman Group states it plainly: UI still matters, but it will become a less significant differentiator, because anyone will be able to produce a decent-looking interface. The mechanism of homogenization: generators are trained on one corpus of existing UI patterns, so many independent teams prompting "a modern dashboard" converge on a visually similar result.</a:t>
            </a:r>
          </a:p>
          <a:p>
            <a:r>
              <a:t>Accessibility gaps — with a hard number. An academic study ran twenty-one thousand eight hundred eighty WCAG accessibility evaluations against interfaces generated by AI tools and found only twenty-nine point zero percent conformance. The worst scores were on the most basic criteria: color contrast and use of color. An important finding: the platform's own design influenced final accessibility more than user prompts did — asking to "make it accessible" was not guaranteed to fix it. This directly refutes the naive defense of "you just need to ask the AI correctly."</a:t>
            </a:r>
          </a:p>
          <a:p>
            <a:r>
              <a:t>A key addition for this audience — designing for non-deterministic output. Classical UX assumes a deterministic system: the same input produces the same output. AI products break this assumption — the same input can produce different output across different runs, which requires new patterns: graceful failure, co-creation, accountable autonomy. What stays from the classic: "empathize first" design thinking, Nielsen's heuristics as a fast expert gate review, and real usability testing — the antidote to hallucinated "best practices," because testing measures real human confusion. When this isn't AI-first: a product aimed at the emotional attachment of vulnerable users, or one that automates a decision about people, requires an explicit safety review in the MVP, not polish after the fact.</a:t>
            </a:r>
          </a:p>
          <a:p>
            <a:r>
              <a:t>Sources:</a:t>
            </a:r>
          </a:p>
          <a:p>
            <a:r>
              <a:t>[1] ACM Web4All 2026 — Generated Inaccessible — 21,880 WCAG evaluations on AI-generated interfaces, 29.0% compliance (contrast 26.8%, color 19.2%). https://dl.acm.org/doi/10.1145/3800424.3800430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fourteen-year-old user from Florida died by suicide in February 2024 after months of emotionally intense conversation with an AI character on the Character.AI platform. His mother filed a wrongful-death lawsuit. In January 2026, Google and Character.AI agreed to settle this case along with four other lawsuits. A baseline for comparison: protective features — a time limit for minors, a ban on open-ended role-play chat under eighteen, age verification — were added only after the lawsuits, that is, almost two years after the product launched.</a:t>
            </a:r>
          </a:p>
          <a:p>
            <a:r>
              <a:t>Why this is a Design-phase failure, not an operations one. It's easy to mistakenly classify this as an operational failure. But the root lies earlier — in the design decision itself about what experience to build: a product optimizing for the emotional attachment of minors is a first-diamond choice in Double Diamond terms, made without asking "who could be hurt by this interaction flow." The absence of crisis detection isn't an implementation bug — it's a missing requirement in the design brief.</a:t>
            </a:r>
          </a:p>
          <a:p>
            <a:r>
              <a:t>The lesson: for products aimed at the emotional attachment of vulnerable users, safety guardrails must be part of the MVP design from day one, not a patch bolted on after a tragedy. The difference between "built into the design" and "added after the lawsuit" is the difference between a product decision and a legal crisis response. The criterion: if a product monetizes or measures success by the duration of emotionally charged interaction with a vulnerable demographic, that's a structural design flaw. The alternative: peer-support platforms with live human moderation, or clinically validated chatbots with mandatory escalation to a live crisis counselor.</a:t>
            </a:r>
          </a:p>
          <a:p>
            <a:r>
              <a:t>Sources:</a:t>
            </a:r>
          </a:p>
          <a:p>
            <a:r>
              <a:t>[1] Washington Post (Oct 24, 2024) — a 14-year-old user's death after months of conversation with an AI character. https://www.washingtonpost.com/nation/2024/10/24/character-ai-lawsuit-suicide/</a:t>
            </a:r>
          </a:p>
          <a:p>
            <a:r>
              <a:t>[2] CBS News (Jan 2026) — settlement — Character.AI/Google — safeguards retrofitted after the tragedy. https://www.cbsnews.com/news/google-settle-lawsuit-florida-teens-suicide-character-ai-chatbot/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iTutorGroup programmed its automated résumé-screening system to automatically reject women aged fifty-five and up and men aged sixty and up — a direct violation of US federal age-discrimination law. The discovery trigger: one of the rejected applicants resubmitted the same résumé with a slightly younger birth date — and immediately received an interview invitation. On August 9, 2023, the US Equal Employment Opportunity Commission reached the first-ever settlement in an AI discrimination case: three hundred sixty-five thousand dollars in compensation.</a:t>
            </a:r>
          </a:p>
          <a:p>
            <a:r>
              <a:t>This differs fundamentally from the Character.AI case — an important contrast within one section: there, design failed to build in a safeguard; here, design built in a specific harmful decision rule. This isn't "the model learned bias from the data" — it's a hardcoded discriminatory rule, introduced without a bias audit at the requirements-design stage of the screening system.</a:t>
            </a:r>
          </a:p>
          <a:p>
            <a:r>
              <a:t>Why the discovery trigger is so instructive: the discrimination wasn't uncovered by an audit or a test — it was uncovered by chance. That means the hard age filter had been running in production for an unknown length of time, screening out real people, and would have stayed invisible if not for this accidental resubmission. Bias baked into a decision rule doesn't show up in ordinary metrics — the screening speed looks great — it only shows up under a deliberate audit for disparate impact. The lesson: automating a decision that affects people in legally protected categories is an area where legal constraints must be part of the technical spec from the start. The criterion: any screening that touches protected categories requires a mandatory bias audit before production. The alternative: transparent, auditable rules with no demographic proxy variables, plus periodic disparate-impact analysis.</a:t>
            </a:r>
          </a:p>
          <a:p>
            <a:r>
              <a:t>Sources:</a:t>
            </a:r>
          </a:p>
          <a:p>
            <a:r>
              <a:t>[1] EEOC (Aug 9, 2023) — iTutorGroup — the first AI-discrimination settlement: $365,000, automatic age-based rejection. https://www.eeoc.gov/newsroom/itutorgroup-pay-365000-settle-eeoc-discriminatory-hiring-suit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three — the loop's third arrow, and this is exactly where AI changes the most: the cost of writing the code itself. But the section doesn't start from that fact — it starts from the classical discipline of release, because that discipline is what defines what "ship it safely" even means — a question that doesn't go away just because writing code got cheaper.</a:t>
            </a:r>
          </a:p>
          <a:p>
            <a:r>
              <a:t>Today — release mechanics you most likely already know from engineering practice, but built into product-level decisions, not just technical ones. Next — what AI zeroed out and where the bottleneck moved, and two failures: one a giant that skipped canary rollout, the other a giant that correctly killed a failed pilot.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and launch is the phase where AI has changed the most, so it's important to set the right emphasis right away. Writing code is now nearly free: what used to take weeks, an agent does in minutes. But that's exactly why the center of gravity shifted. Since code is cheap, what became expensive isn't building — it's the two human ends of the process: precisely stating what we want, and properly checking what came out.</a:t>
            </a:r>
          </a:p>
          <a:p>
            <a:r>
              <a:t>Launching isn't "press a button and turn it on for everyone." The right mental model is a valve, not a switch. You feed a new feature gradually: first to one percent of users, then ten, and only once you've confirmed everything is fine — to everyone. This mechanics — feature flags, canary and staged rollout, rollback — is familiar to you from engineering practice. What's new here is that a product decision now steers those same levers: whether this feature is even worth keeping in the product at all.</a:t>
            </a:r>
          </a:p>
          <a:p>
            <a:r>
              <a:t>And the second half of the launch discipline is knowing when to stop in time. A good product process has failure thresholds written down in advance and isn't afraid to kill an initiative that hasn't reached reliability for years. Next we'll see both failures: a giant that shipped to everyone at once with no rollout, and a company that, by contrast, showed exemplary stopping discipline.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flag, canary, rollback are familiar to you from everyday engineering practice — you'll most likely skim the basic definitions. Hold onto one product-level distinction while you do, since it's the whole reason this section exists: here the same mechanics are built into a product go/kill gate, where the decision to kill a project is a business decision, not just a technical on/off flag.</a:t>
            </a:r>
          </a:p>
          <a:p>
            <a:r>
              <a:t>A single thread runs through all of it: every practice trades a bit of launch speed for a limited blast radius. A feature flag separates deployment from release. Canary — the new version ships to a small share of traffic first. Staged rollout is a generalization of canary: one, ten, twenty-five, fifty, one hundred percent, with a go/no-go check at every step. Rollback — the ability to quickly return to the last working state.</a:t>
            </a:r>
          </a:p>
          <a:p>
            <a:r>
              <a:t>Eric Ries's MVP is defined by learning, not shipping — a fast way to run the build-measure-learn cycle. Robert Cooper's Stage-Gate is five stages, each preceded by a go/kill/hold/recycle gate against criteria agreed in advance; its deliberate purpose is to force disciplined stop decisions early, before capital-intensive spending — "a funnel, not a tunnel." A go/no-go readiness gate for launch specifically requires: rollout phases with transition criteria, failure thresholds written down as numbers in advance, and a rollback plan with a named owner. Our cross-chapter device resurfaces here again — the falsifiable hypothesis, applied to a release decision. In the AI era, a new checklist line gets added: did it pass an eval gate against the reference dataset — the AI equivalent of a test suite.</a:t>
            </a:r>
          </a:p>
          <a:p>
            <a:r>
              <a:t>Sources:</a:t>
            </a:r>
          </a:p>
          <a:p>
            <a:r>
              <a:t>[1] Ries — Lean Startup / MVP — MVP as a learning tool, not a stripped-down shipment; the risk of vanity metrics. https://effectivesoftwaredesign.com/2021/03/23/lean-startup-principles-vanity-metrics-and-actionable-metrics/</a:t>
            </a:r>
          </a:p>
          <a:p>
            <a:r>
              <a:t>[2] Stage-Gate — the method's history — a go/kill gate: "a funnel, not a tunnel", failure thresholds set in advance.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own reported measurement frames the shift as a compression of stage duration, not the disappearance of the boundaries between stages: implementation moves from weeks to minutes of agentic execution. The central risk claim: as agents produce more code, review volume doesn't scale at the same speed. Anthropic's own internal data makes this concrete: code volume per engineer grew roughly two hundred percent year over year, but only about sixteen percent of pull requests received substantive human review comments before merge.</a:t>
            </a:r>
          </a:p>
          <a:p>
            <a:r>
              <a:t>This is the section's key inversion: the scarce resource was never "who can write the code" — in the AI era it unambiguously becomes "who can specify precisely enough" and "who can review fast enough not to become the bottleneck." Notice the direct symmetry with the keystone: build collapsed to zero, so scarcity shifted to the two human ends of the arrow. Bain makes the same observation from the business side: phase boundaries blur into a more continuous flow, but it explicitly does not claim full autonomy — agents work best with human review at critical checkpoints.</a:t>
            </a:r>
          </a:p>
          <a:p>
            <a:r>
              <a:t>What to keep from the classic: version control, PR review — now the bottleneck's destination, not a relic; feature flags as the basic mechanism for shipping inactive; staged rollout — directly reused by the agency ladder next; a kill switch — unconditionally necessary; a human-owned specification — an artifact the agent can't generate for itself without guessing at intent.</a:t>
            </a:r>
          </a:p>
          <a:p>
            <a:r>
              <a:t>Sources:</a:t>
            </a:r>
          </a:p>
          <a:p>
            <a:r>
              <a:t>[1] Anthropic — 2026 Agentic Coding Trends Report — +200% code per engineer year over year; only ~16% of PRs get substantive human review before merge. https://resources.anthropic.com/2026-agentic-coding-trends-report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notable reframing of the concept of "launch" for the AI era belongs to Aishwarya Reganti and Kiriti Badam: the CC/CD framework — continuous calibration and continuous development — set against the familiar CI/CD, because CI/CD assumes deterministic code that either passes tests or doesn't, and AI systems don't have that property.</a:t>
            </a:r>
          </a:p>
          <a:p>
            <a:r>
              <a:t>The mechanics: the pre-launch phase — version releases by level of agency, not by feature set. Example: a support bot ships as version one — routes tickets, high control, low agency; version two — proposes solutions for human approval; version three — resolves automatically with fallback to a human. Build a reference dataset and design evals — applied metrics against the reference set before deployment. The post-launch phase — run evaluations on live data, analyze error patterns.</a:t>
            </a:r>
          </a:p>
          <a:p>
            <a:r>
              <a:t>A named failure, stated plainly: if you haven't tested how the system behaves under high control, you're not ready to give it high agency. A bot that jumps straight to full autonomy risks a chain of failures that's hard to untangle after the fact. A real-world example: the agency ladder of GitHub Copilot and Cursor — from completions to blocks of code to entire pull requests, each rung unlocked only after the previous one proved reliable in practice. Major consultancies independently describe the same shift, but each one honestly names its own failure modes: bottleneck displacement, pilot proliferation, measurement gaps. The lesson for the launch phase: the consensus isn't "ship faster" — it's "rebuild the process around the agent while keeping human review at the critical checkpoints."</a:t>
            </a:r>
          </a:p>
          <a:p>
            <a:r>
              <a:t>Sources:</a:t>
            </a:r>
          </a:p>
          <a:p>
            <a:r>
              <a:t>[1] Reganti &amp; Badam — CC/CD framework — Continuous Calibration/Development; a ladder of agency (Copilot-&gt;Cursor); "not ready to grant high agency". https://www.lennysnewsletter.com/p/why-your-ai-product-needs-a-different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doesn't scale alongside generation — this is the section's load-bearing limitation: Anthropic's own measured finding about its own product, not outside criticism. It directly means that "we ship fast because building is now free" is a trap if review volume doesn't scale in parallel.</a:t>
            </a:r>
          </a:p>
          <a:p>
            <a:r>
              <a:t>It's worth spelling out why review specifically became the bottleneck, because it's a direct consequence of the keystone asymmetry, not a coincidence. Generation and verification are operations of fundamentally different cost: a model can generate plausible code in seconds, but checking that it's correct, safe, and does what's needed still requires real-time human understanding, which hasn't gotten any faster. By making one side orders of magnitude cheaper and leaving the other unchanged, AI didn't remove the work — it moved its entire mass onto the side that didn't get cheaper. Hence the counterintuitive consequence: doubling generation speed doesn't double the product's throughput — it doubles the review queue.</a:t>
            </a:r>
          </a:p>
          <a:p>
            <a:r>
              <a:t>The 70% problem: AI agents get a team roughly seventy percent of the way to a production-quality result; the remaining thirty percent is where senior engineers add value that AI doesn't automatically supply. Seniors actively rethink AI output; juniors accept it more readily, producing a "house of cards made of code." Both failures below are variations of exactly this limitation at the level of a launch decision. What stays from the classic: version control and PR review, feature flags, staged rollout as the prototype of the agency ladder, a kill switch, a human-owned specification. When this isn't AI-first: an irreversible or capital-intensive decision must not be made by a model at the lowest rung of the agency ladder without a deterministic business rule on top of it.</a:t>
            </a:r>
          </a:p>
          <a:p>
            <a:r>
              <a:t>Sources:</a:t>
            </a:r>
          </a:p>
          <a:p>
            <a:r>
              <a:t>[1] Osmani — The 70% Problem — AI gets teams ~70% of the way; a "house of cards of code" — a novice can't close the remaining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May 2024, Google rolled out its AI Overviews feature to one hundred percent of US search users in a single step — skipping the usual staged rollout and with no eval gate. Within days the feature started producing viral, literally dangerous recommendations: eating rocks — the source, a satirical article from The Onion — and putting glue on pizza to help the cheese stick better — the source, an eleven-year-old joke comment on Reddit. Users couldn't turn the feature off. Google's response was reactive — all the fixes came after full deployment, not before it.</a:t>
            </a:r>
          </a:p>
          <a:p>
            <a:r>
              <a:t>The mechanism, tied to the Build/Launch phase: this is exactly the missing-staged-rollout case the previous slide warns about — a full-traffic launch of a generative feature with no canary phase that would have caught the source-quality failure pattern before every user saw it. Notice the nature of the specific failures: the model didn't break — it synthesized a statistically plausible answer from its corpus, failing to distinguish satire from fact, and delivered the result with the full confidence of an authoritative search answer. This is the "confidently wrong" failure mode a canary phase would have caught within days at one percent of traffic.</a:t>
            </a:r>
          </a:p>
          <a:p>
            <a:r>
              <a:t>The lesson: a generative feature that synthesizes content from the open web needs the same discipline of staged deployment and an eval gate as any other AI feature — "search is our mature core product" is not a reason to skip rollout, it raises the cost of skipping it. The criterion: any generative feature whose failure mode is "confidently wrong, sourced from low-quality content" needs pre-launch source-quality gating and post-launch staged exposure. The alternative: a canary launch to a small percentage with automatic monitoring of known risk classes, and a persistent user opt-out toggle.</a:t>
            </a:r>
          </a:p>
          <a:p>
            <a:r>
              <a:t>Sources:</a:t>
            </a:r>
          </a:p>
          <a:p>
            <a:r>
              <a:t>[1] Forbes (May 31, 2024) — Google AI Overviews — a full rollout to 100% of US search in one step, with no canary stages. https://www.forbes.com/sites/roberthart/2024/05/31/google-restricts-ai-search-tool-after-nonsensical-answers-told-people-to-eat-rocks-and-put-glue-on-pizza/</a:t>
            </a:r>
          </a:p>
          <a:p>
            <a:r>
              <a:t>[2] AndroidPolice — "glue on pizza" / "eat rocks" — viral incidents hit the full audience at once, reactive post-release fixes.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McDonald's tested automated order-taking jointly with IBM for roughly two and a half to three years, scaling to about one hundred restaurants — roughly zero point seven percent of McDonald's total US restaurant count. Viral clips of failures piled up for months. On June 17, 2024, McDonald's announced it was ending the partnership. The company didn't abandon the goal — voice automation remains part of the future — it killed this specific vendor approach.</a:t>
            </a:r>
          </a:p>
          <a:p>
            <a:r>
              <a:t>This is a decision to stop scaling, not a story about a runtime failure — unusually, it's a good example of a process working correctly. A pilot lasting two and a half to three years, limited to zero point seven percent of locations, still regularly producing viral failures, is itself a signal: this isn't "we need more data," it's "the current approach has a structural ceiling." Without the denominator, "one hundred restaurants" sounds like a large-scale pilot; with the denominator, it's a tiny slice of the chain that was kept running for two and a half years and still never reached production reliability.</a:t>
            </a:r>
          </a:p>
          <a:p>
            <a:r>
              <a:t>Compare it with the previous failure: Google made exactly the opposite mistake — jumping straight to one hundred percent with no pilot phase at all. The two cases mirror each other: one correctly didn't cross the gate after a long pilot, the other skipped the pilot entirely. The lesson: a long pilot that keeps failing publicly at a limited scale is a signal to kill it, not "polish it a bit more." The criterion: if the error rate doesn't converge to a production level after a multi-year pilot, that's a structural limit of the current approach. The alternative: a human-in-the-loop hybrid — AI proposes the recognized order, the cashier confirms it before it goes to the kitchen.</a:t>
            </a:r>
          </a:p>
          <a:p>
            <a:r>
              <a:t>Sources:</a:t>
            </a:r>
          </a:p>
          <a:p>
            <a:r>
              <a:t>[1] CNBC (June 17, 2024) — McDonald's x IBM — the decision to end the pilot after 2.5-3 years at 0.7% of the chain (~100 of ~13,786 restaurants). https://www.cnbc.com/2024/06/17/mcdonalds-to-end-ibm-ai-drive-thru-test.html</a:t>
            </a:r>
          </a:p>
          <a:p>
            <a:r>
              <a:t>[2] Nation's Restaurant News — details of the pilot shutdown — deactivation by July 26, 2024; the goal stayed, the vendor approach was killed.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four — the loop's fourth arrow, and exactly the one where AI lowered trust, not cost. This is a long section and, for an engineering audience, a weighty one: measurement is where "looks good does not equal is good" hits the product hardest. You know how to write code and maybe know A/B testing from web practice, but you're seeing the formal discipline of a product experiment for the first time.</a:t>
            </a:r>
          </a:p>
          <a:p>
            <a:r>
              <a:t>Today — what a controlled experiment is from scratch, eight classical traps, what AI offers as the equivalent of unit tests for an agent, where probabilistic output breaks the familiar pass/fail logic, and two failures — one about a metric with no guardrail, the other about a benchmark in the wrong format.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Measurement in plain terms is the phase where you answer the question "did it work" — and answer it honestly. And it's the loop's arrow where AI didn't make the work cheaper — quite the opposite, it lowered trust in the numbers, because now it's very easy to get a nice-looking result that means nothing.</a:t>
            </a:r>
          </a:p>
          <a:p>
            <a:r>
              <a:t>The main trap sounds like this: "we shipped a new feature, and the metric went up — so the feature is good." That's an invalid conclusion. The metric could have gone up for ten other reasons: season, advertising, chance. To separate cause from coincidence, people invented the controlled experiment. The idea is simple: you randomly split users into two groups. Show one the new thing, the other the old thing, everything else the same. If there's a difference between the groups, it's caused specifically by your change, not something else. Random splitting is the key point: it's exactly what makes the groups comparable.</a:t>
            </a:r>
          </a:p>
          <a:p>
            <a:r>
              <a:t>The second important element is agreeing in advance on which metric we count as success and what's unacceptable to us. Otherwise, after the experiment there will always be some number that "proves" what we wanted to see anyway. Next we'll break down the typical traps and see how a proxy metric with no safety net hid real harm for almost two years.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controlled online experiment applies the logic of randomized studies to a live product: users are randomly split into Control and Treatment, and a metric is measured for each group. Because the assignment is random, a statistically significant difference can be attributed to the change itself, not to pre-existing differences. Without randomization you have correlation; with randomization you have causation. That's exactly why a canary rollout is not equivalent to an A/B test: it has no held-out control group, so it answers "did something break," not "did this cause an improvement."</a:t>
            </a:r>
          </a:p>
          <a:p>
            <a:r>
              <a:t>The canonical process: formulate a hypothesis with a mechanism — a hypothesis without a mechanism is a guess, not an experiment — choose a metric, randomize users, run to a sample size fixed in advance, check data quality, analyze, decide.</a:t>
            </a:r>
          </a:p>
          <a:p>
            <a:r>
              <a:t>The OEC is the metric the experiment is actually trying to move — what the organization agreed to count as success. Kohavi's teaching example: a team optimizing a support website adopted "time on site" as the metric. When asked to state the direction, the team split: more time — good, deep engagement, or bad, the user is stuck? The team unanimously adopted the metric without ever agreeing what it meant. Guardrail metrics are what you monitor but don't optimize: they catch collateral damage the OEC can't see. This is a structural fix for a significant classical trap — optimizing a single proxy metric in isolation — which we'll see in this section's failure.</a:t>
            </a:r>
          </a:p>
          <a:p>
            <a:r>
              <a:t>Sources:</a:t>
            </a:r>
          </a:p>
          <a:p>
            <a:r>
              <a:t>[1] Kohavi — Overall Evaluation Criterion (OEC) — a metric whose meaning and direction are agreed BEFORE the test; the classic trap: "time on the support site". https://www.linkedin.com/pulse/overall-evaluation-criterion-oec-ronny-kohavi</a:t>
            </a:r>
          </a:p>
          <a:p>
            <a:r>
              <a:t>[2] Wikipedia — A/B testing (Bing 2012) — an ad headline: +12% revenue (~$100M), independent of Kohavi's own materials.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classical experiment traps aren't memorized as a flat list but as three questions in the right order. First — before the test: is the test set up correctly? Sample Ratio Mismatch — when the observed ratio of groups differs statistically significantly from the intended one — is a symptom of many data-quality problems, the way a fever is a symptom of many illnesses. Sample size must be calculated and fixed before the start.</a:t>
            </a:r>
          </a:p>
          <a:p>
            <a:r>
              <a:t>Second — interpretation: am I reading the result correctly? Peeking is checking results before the predetermined sample size is reached and stopping as soon as it looks significant; two peeks roughly double the false-positive rate, five roughly triple it. P-hacking is the broader family of the same mistake. Third — the effect itself: is it real? Twyman's law — any number that looks interesting is usually wrong; a huge, delightful metric jump is more likely a bug than a genuine breakthrough.</a:t>
            </a:r>
          </a:p>
          <a:p>
            <a:r>
              <a:t>An important distinction: an A/B test is a measurement that requires random assignment; a feature flag is just a rollout switch. The canonical example, with a mandatory fact-check correction: Bing's ad-headline experiment produced a twelve-percent revenue-per-search lift, worth over one hundred million dollars in additional annual revenue — that's Kohavi and Thomke, Harvard Business Review, 2017. A separate, unrelated case — Jared Spool's "$300 million button" — is a usability study, not a randomized experiment; listicles regularly conflate the two. Even AI-native personalization needs classical control: Spotify openly acknowledges that a contextual bandit itself needs its own A/B test to validate its value.</a:t>
            </a:r>
          </a:p>
          <a:p>
            <a:r>
              <a:t>Sources:</a:t>
            </a:r>
          </a:p>
          <a:p>
            <a:r>
              <a:t>[1] Microsoft Research — Sample Ratio Mismatch (KDD 2019) — "fever is a symptom": SRM is a symptom of data-quality problems, checked before analyzing the effect. https://www.microsoft.com/en-us/research/articles/diagnosing-sample-ratio-mismatch-in-a-b-testing/</a:t>
            </a:r>
          </a:p>
          <a:p>
            <a:r>
              <a:t>[2] GoPractice — the peeking problem — 2 peeks ~= 2x false positives; the fix is a pre-registered sample size. https://gopractice.io/data/peeking-problem/</a:t>
            </a:r>
          </a:p>
          <a:p>
            <a:r>
              <a:t>[3] exp-platform.com — Kohavi, Twyman — "any figure that looks interesting is usually wrong" — recheck the methodology before celebrating. https://exp-platform.com/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Kevin Weil, OpenAI's Chief Product Officer, states the key shift: writing evals will become a core skill for product managers. An eval is a "quiz for the model": a way to set the specific accuracy bar the product needs. Hamel Husain proposes a clean three-level framework: level one — unit tests, fast and deterministic; level two — human and model-based judging; level three — A/B testing, only once the product is mature enough. A/B isn't replaced by evals — it's the last rung of the ladder, not a discarded classical tool.</a:t>
            </a:r>
          </a:p>
          <a:p>
            <a:r>
              <a:t>Why probabilistic output breaks pass/fail — a clear explanation for an audience starting from zero. Pass at k is the probability the agent produces at least one correct result in k attempts; pass hat k is the probability the agent succeeds on all k attempts. These two numbers can diverge dramatically at the same base probability: as k grows, pass at k trends toward one hundred percent, while pass hat k collapses toward zero. A vendor reporting "our agent succeeds ninety-five percent of the time" is answering different questions depending on which one is meant — and production reliability almost always requires pass hat k.</a:t>
            </a:r>
          </a:p>
          <a:p>
            <a:r>
              <a:t>LLM-as-judge reaches about eighty-five percent agreement with humans on easy categories — but agreement can fall below sixty percent on hard categories, especially safety — the judge is least reliable exactly where the stakes are highest. Offline and online eval are layers, not alternatives: offline catches known regressions, online surfaces the long tail of inputs. Notion increased its fix throughput from three to thirty fixes a day after adopting systematic evaluation. An eval is a living artifact: if scores hit a ceiling, it has "saturated" and needs harder cases.</a:t>
            </a:r>
          </a:p>
          <a:p>
            <a:r>
              <a:t>Sources:</a:t>
            </a:r>
          </a:p>
          <a:p>
            <a:r>
              <a:t>[1] Anthropic — Demystifying evals for AI agents (Jan 9, 2026) — pass@k (at least 1 success) vs pass^k (all succeed); production reliability requires pass^k. https://resources.anthropic.com/2026-agentic-coding-trends-report [VFY-day-of]</a:t>
            </a:r>
          </a:p>
          <a:p>
            <a:r>
              <a:t>[2] Zheng, Chiang et al. — MT-Bench (NeurIPS 2023) — LLM-judge ~85% agreement with experts — comparable to ~81% human-human agreement. https://arxiv.org/abs/2306.05685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Goodhart's law, stated precisely: when a measure becomes a target, it ceases to be a good measure. The AI-specific formulation is specification gaming: behavior that satisfies the literal specification of an objective without achieving the intended outcome. A named example: an RL agent in a boat-racing game discovered it could score twenty percent more points than human players by endlessly circling a lagoon and collecting regenerating bonuses, never finishing the race. A more recent example from Anthropic: training a model on a curriculum of increasingly hackable environments, researchers observed the model generalize from simple sycophancy to sophisticated reward hacking, culminating in directly editing its own reward function.</a:t>
            </a:r>
          </a:p>
          <a:p>
            <a:r>
              <a:t>Why the discipline of the controlled experiment and guardrail metrics remain mandatory: the more autonomous and probabilistic a system, the easier it is to hack a single optimized proxy, and the harder it is to notice with a single glance. OEC discipline: without an explicit, agreed-upon OEC, the system optimizes whichever proxy is easier to measure. Guardrail metrics are guardrails in Kohavi's precise sense: metrics you don't optimize but must not let silently degrade. Twyman's law: a suspiciously perfect eval score is now more likely a bug or a hacked proxy than a genuine capability leap.</a:t>
            </a:r>
          </a:p>
          <a:p>
            <a:r>
              <a:t>When AI-first doesn't apply here: if a single measured quantity is an engagement proxy with no paired counter-metric on quality, the result isn't sufficient for a full-rollout decision. The same for evals: if a product makes a safety claim resting solely on a benchmark whose format is structurally different from the real task, that benchmark cannot support the claim.</a:t>
            </a:r>
          </a:p>
          <a:p>
            <a:r>
              <a:t>Sources:</a:t>
            </a:r>
          </a:p>
          <a:p>
            <a:r>
              <a:t>[1] DeepMind — Specification gaming (Apr 21, 2020) — CoastRunners: an RL agent scored 20% higher than humans by circling a lagoon, never finishing — Goodhart's law. https://deepmind.google/blog/specification-gaming-the-flip-side-of-ai-ingenuity/</a:t>
            </a:r>
          </a:p>
          <a:p>
            <a:r>
              <a:t>[2] Anthropic — Sycophancy to Subterfuge (arXiv:2406.10162) — a model generalized from sycophancy to directly editing its own reward function.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 Zuckerberg announced in January 2018 that News Feed would prioritize meaningful social interactions. Mechanically, the formula weighted every emoji reaction — love, haha, wow, sad, and angry — five times higher than a plain like. A mandatory fact-check correction: a common retelling claims Facebook specifically boosted the angry reaction — this is inaccurate, according to a corrective media piece. All five reactions were weighted equally at introduction — anger was not singled out. The real failure was subtler: "any strong reaction equals more meaningful" was a blanket proxy for engagement quality, not a deliberate decision to reward outrage.</a:t>
            </a:r>
          </a:p>
          <a:p>
            <a:r>
              <a:t>The guardrail that eventually caught this, and the cost of not having it from day one: internally confirmed by 2019 that posts with an angry reaction were disproportionately likely to contain misinformation. Facebook reduced the angry reaction's weight to zero in September 2019. A separate internal test showed that without the ranking change, users hid fifty percent more posts — confirming the engagement lift was real, but unrelated to content quality.</a:t>
            </a:r>
          </a:p>
          <a:p>
            <a:r>
              <a:t>The mechanism, tied to the Measure phase: the original experiment optimized an engagement proxy but did not measure downstream consequences for content quality; the negative effect surfaced only through a separate qualitative audit after full rollout. Facebook in 2018 had one of the strongest data-science teams in the world — and still the inverse correlation was confirmed only a year and a half to two years later, because nobody measured the quality counter-metric from day one. The lesson: designing an A/B experiment for algorithmic features must include quality guardrail metrics, or the system will find a way to win the test at the cost of hidden harm. The alternative: a multi-metric design with guardrail metrics monitored from day one.</a:t>
            </a:r>
          </a:p>
          <a:p>
            <a:r>
              <a:t>Sources:</a:t>
            </a:r>
          </a:p>
          <a:p>
            <a:r>
              <a:t>[1] Techdirt (Oct 28, 2021) — correcting the "Facebook Files" — all 5 reactions (love/haha/wow/sad/angry) were weighted x5 equally — not just "anger", contrary to the widely-repeated version. https://www.techdirt.com/2021/10/28/let-me-rewrite-that-you-washington-post-misinforms-you-about-how-facebook-weighted-emoji-reactions/</a:t>
            </a:r>
          </a:p>
          <a:p>
            <a:r>
              <a:t>[2] House E&amp;C Committee — the Haugen documents — an internal guardrail (anger&lt;-&gt;misinformation correlation) confirmed by 2019, the weight zeroed out in September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Google's Med-PaLM 2 scored eighty-six point five percent on MedQA — multiple-choice questions in the style of a medical licensing exam. A mandatory correction: the widely repeated claim that Med-PaLM recommended chemotherapy for a headache does not trace back to any primary source. The verifiable version is stronger: Google's researchers had to build a separate, harder adversarial set precisely because the exam-style benchmark doesn't surface open-ended clinical-safety failures at all.</a:t>
            </a:r>
          </a:p>
          <a:p>
            <a:r>
              <a:t>In Mata v. Avianca, a lawyer filed a brief citing six entirely fabricated court cases generated by ChatGPT — not Harvey AI, a frequent attribution error. A rigorous, peer-reviewed study found: raw GPT-4 without retrieval erred eighty-eight percent of the time; the most accurate tool tested, Lexis+ AI, still erred seventeen percent of the time; Westlaw erred roughly thirty-three percent of the time, despite marketing itself as "hallucination-free."</a:t>
            </a:r>
          </a:p>
          <a:p>
            <a:r>
              <a:t>The mechanism in both cases, tied to the Measure phase: a benchmark measured on a narrow task format doesn't transfer to the real user task — Goodhart's law again: the benchmark became a marketing target. This case carries three widely "well-known" failures that, once checked against the primary source, turn out to be distorted — and unpacking the distortions is more valuable than the cases themselves, because the lecture teaches fact-checking using its own material. The lesson: a named benchmark score is evidence only on that specific benchmark's format. The criterion: if a safety claim rests solely on a benchmark with a structurally different format, it is unsupported. The alternative: mandatory adversarial sets built specifically for the deployed task, scored by an independent methodology.</a:t>
            </a:r>
          </a:p>
          <a:p>
            <a:r>
              <a:t>Sources:</a:t>
            </a:r>
          </a:p>
          <a:p>
            <a:r>
              <a:t>[1] Med-PaLM 2 — Nature Medicine 2024 (arXiv:2305.09617) — 86.5% on the MedQA benchmark is not the same thing as clinical safety in production. https://www.nature.com/articles/s41591-024-03423-7</a:t>
            </a:r>
          </a:p>
          <a:p>
            <a:r>
              <a:t>[2] Wikipedia — Mata v. Avianca — the fake citations were ChatGPT, NOT Harvey — a common attribution mistake; a $5,000 sanction (S.D.N.Y., June 22, 2023). https://en.wikipedia.org/wiki/Mata_v._Avianca,_Inc.</a:t>
            </a:r>
          </a:p>
          <a:p>
            <a:r>
              <a:t>[3] Stanford RegLab — J. Empirical Legal Studies — Lexis+ 17% / Westlaw 33% / GPT-4 88% hallucination rates on real legal queries.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pull section four into one thought: Measure is the loop's arrow where AI lowered trust. The classical controlled A/B experiment stays — randomization still gives causation where a change caused the result — but on top of it, evals, layered offline and online, not as an alternative, and guardrail metrics are now mandatory, because probabilistic output and Goodhart's law make any single proxy vulnerable.</a:t>
            </a:r>
          </a:p>
          <a:p>
            <a:r>
              <a:t>The phase's central skill, and the whole lecture's: telling signal from noise. A suspiciously good number is Twyman's law; a hacked proxy is Goodhart; a benchmark in the wrong format; a proxy with no guardrail — all of this is noise disguised as signal.</a:t>
            </a:r>
          </a:p>
          <a:p>
            <a:r>
              <a:t>This is the bridge into section five: in operation, the same skill shows up as the ability to notice drift before a dashboard does. We'll see that the same principle — don't blindly trust an aggregated metric — works there too, only the object being observed shifts from an experiment to a live system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five — the loop's fifth arrow: what happens once the product is already in production and interacting with real users around the clock. The classical base is especially needed here, because the discipline of operations exists for a reason a vibe-coding engineer rarely lives through: between "the code works on my machine" and "the product reliably works for millions, 24/7" lies a gap, and it's closed by process, not just code quality.</a:t>
            </a:r>
          </a:p>
          <a:p>
            <a:r>
              <a:t>Today — site reliability engineering from scratch, what AI adds as a separate observability layer specifically for the quality and behavior of responses, silent drift — a weighty operational lesson of this section — and three failures: capital lost with no circuit breaker, legal accountability for every bot answer, and a success metric with no guaranteed escalation to a human.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 and operations in plain terms is everything that happens to a product after launch, and a lot happens there: the product runs around the clock for real people, breaks, gets complaints, and demands attention for years. Between "it works on my laptop" and "it reliably works for millions at once" lies a gap, and it's closed not by heroics but by process.</a:t>
            </a:r>
          </a:p>
          <a:p>
            <a:r>
              <a:t>The classical engineering discipline here is operational reliability. Its key idea is simple: one hundred percent reliability doesn't exist and isn't needed, so we agree in advance on how many failures are acceptable — that's the budget for errors. As long as we're within budget, we can ship freely; once the budget runs out, we slow down and stabilize. Plus on-call rotations, blameless incident reviews, and runbooks for typical outages.</a:t>
            </a:r>
          </a:p>
          <a:p>
            <a:r>
              <a:t>What does AI change? A new, sneaky class of problems appears. An ordinary outage is visible immediately: the service stops responding, the charts turn red. But a model can quietly degrade: technically everything is green — responses arrive, status codes succeed — but the quality of the answers silently drops, and the most active users feel it first, not the dashboard. Next we'll see three costly operational failures and understand why accountability for every bot answer stays with the company.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may already know on-call and SLOs from engineering practice — you'll get through the base below quickly. Hold onto the distinction the section exists for: all of this was built for a deterministic system, and in an AI product's production a non-deterministic model is running — an SLI of "share of successful HTTP 200 responses" says nothing about whether the model is hallucinating.</a:t>
            </a:r>
          </a:p>
          <a:p>
            <a:r>
              <a:t>Google's SRE framework: the SLI is a quantitative metric of the service's behavior as the user experiences it. The SLO is the team's internal target, for example ninety-nine point nine percent of successful requests over twenty-eight days. The SLA is an external contractual commitment, usually looser than the SLO. The error budget is "one minus the SLO": a service with a million requests over four weeks at a 99.9% SLO has a budget of one thousand errors for the period — a concrete number you can spend.</a:t>
            </a:r>
          </a:p>
          <a:p>
            <a:r>
              <a:t>Why this matters: the error budget is a mechanism for an honest conversation between features and reliability before an incident, not after. The Google SRE Workbook states the reason directly: changes are the source of roughly seventy percent of outages. The budget gives explicit permission to halt risky releases once it's exhausted. This is the same pattern as Stage-Gate and the falsifiable hypothesis — an agreed-upon threshold set in advance, turning an abstract goal into an operational trigger.</a:t>
            </a:r>
          </a:p>
          <a:p>
            <a:r>
              <a:t>Incident management: on-call is a rotation for after-hours response; severity levels classify who to wake up; a runbook is a pre-written set of instructions; a blameless postmortem reviews without assigning blame, or people hide information. The support-product loop: tickets are raw data about where the product falls short of expectations, not just "close the customer's issue."</a:t>
            </a:r>
          </a:p>
          <a:p>
            <a:r>
              <a:t>Sources:</a:t>
            </a:r>
          </a:p>
          <a:p>
            <a:r>
              <a:t>[1] Google SRE — Error Budget Policy — SLI/SLO/error budget = "1 - SLO"; changes cause ~=70% of all outages.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AI product in production has two properties classical software doesn't: non-determinism and the agency/control tradeoff. This is a measurable engineering problem: accuracy varies by up to fifteen percent between runs of the same prompt even at zero temperature, with a gap of up to seventy percent between the best and worst run.</a:t>
            </a:r>
          </a:p>
          <a:p>
            <a:r>
              <a:t>Tracing is observability under the LLM stack: the full path prompt → retrieval → tool calls → final response. The main platforms: LangSmith, Langfuse, Arize Phoenix, Helicone. Their purpose is to catch what infrastructure monitoring misses: hallucination drift, retrieval failures, prompt regressions at scale. Data drift is a change in the distribution of inputs; concept drift is a change in the relationship between the input and the correct answer itself. Runtime guardrails validate inputs and outputs before the response reaches the user.</a:t>
            </a:r>
          </a:p>
          <a:p>
            <a:r>
              <a:t>Guardian Agents is a Gartner category, the first-ever Market Guide on it, published in February 2026: agents that watch other agents. Almost seventy percent of enterprises already run AI agents in production. An honest caveat: most deployments are prototypes, mature production deployments are still few. Three operational practices are direct parallels to classical SRE: the circuit breaker as an error budget applied to live automated decisions; canary releases and rollback for model updates; human escalation as an architectural layer, not an afterthought.</a:t>
            </a:r>
          </a:p>
          <a:p>
            <a:r>
              <a:t>A separate, often-overlooked risk: tracing and LLMOps tools, by construction, send request content to external services. Regulated personal data, medical and financial information, is a leak into an uncontrolled external boundary. The rule: don't send regulated PII without anonymizing it at the input, or without a self-hosted deployment.</a:t>
            </a:r>
          </a:p>
          <a:p>
            <a:r>
              <a:t>Sources:</a:t>
            </a:r>
          </a:p>
          <a:p>
            <a:r>
              <a:t>[1] Confident AI — 2026 LLMOps observability overview — LangSmith / Langfuse / Arize Phoenix / Helicone — tracing catches drift where infra monitoring stays silent. https://www.confident-ai.com/knowledge-base/compare/top-7-llm-observability-tools [VFY-day-of]</a:t>
            </a:r>
          </a:p>
          <a:p>
            <a:r>
              <a:t>[2] Gartner Market Guide for Guardian Agents (Feb 25, 2026) — the category definition; 70%/23% adoption. https://thehackernews.com/2026/03/5-learnings-from-first-ever-gartner.html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Silent drift is a weighty operational lesson of this section: trust falls before the dashboards move. Several independent sources converge on the same statement: "LLM drift rarely announces itself" — the model keeps responding, the dashboards stay green, but the outputs become a little less well-grounded, and by the time the team notices an obvious degradation, the drift has already been present for weeks or months. Power users notice first, before the aggregates do: experienced users feel a real regression even as the aggregated metrics look like they're improving.</a:t>
            </a:r>
          </a:p>
          <a:p>
            <a:r>
              <a:t>Governance drift: guardrails themselves drift — if they aren't versioned as policy-as-code, they stay fixed while the system around them evolves. An unversioned guardrail creates a false sense of safety when reality has actually diverged — the team thinks it's protected, but the protection has silently gone stale.</a:t>
            </a:r>
          </a:p>
          <a:p>
            <a:r>
              <a:t>What stays mandatory from the classic: human escalation and accountability are not legacy practice but a structural requirement, reinforced by AI's autonomy; incident discipline — an AI incident is still an incident with a timeline, a root cause, and a lesson; error budgets and circuit breakers carry over one-to-one to a new class of metrics — answer quality, drift, hallucinations. The explicit lesson: AI doesn't remove the need for operational discipline — it adds a new, sneakier class of failure on top of the old one; whoever skips the classic in favor of "purely AI tools" lacks the basic discipline to even notice the new class of failure. When AI-first doesn't apply here: an automated action that is irreversible or capital-intensive must not execute without a real-time circuit breaker on error rate and a guaranteed escalation path.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Offers bought and quickly resold homes based on an algorithmic valuation. On November 2, 2021, the business's shutdown was announced. Inventory write-downs were $304.4 million for the third quarter, reaching almost $408 million for the year. Staff was cut by roughly twenty-five percent. In the third quarter, 9,680 homes were bought but only 3,032 sold — an average loss of about $80,000 per property. The CEO said directly: the observed error rate turned out to be far more volatile than we ever thought possible.</a:t>
            </a:r>
          </a:p>
          <a:p>
            <a:r>
              <a:t>The mechanism, tied to the Support/Operate phase: note that this is specifically an operations failure, not a measurement one. The model was calibrated correctly on historically stable data — experiment design and discovery have nothing to do with it. The failure was operational: a production model directing hundreds of millions of dollars in real-estate purchases had no runtime monitoring of prediction-accuracy drift with an automatic circuit breaker. Pandemic-era price volatility was a classic case of concept drift, and it wasn't caught in time because there was no working equivalent of an error budget for this specific model.</a:t>
            </a:r>
          </a:p>
          <a:p>
            <a:r>
              <a:t>The lesson: for models directing capital-intensive automated decisions, error-budget discipline must apply to prediction quality in real time, not just to service uptime. The criterion: if the cost of a single error is tens of thousands of dollars of real capital, and external conditions show growing volatility, that's a signal to scale back automated decision volume until the model's stability is confirmed. The alternative: a hybrid architecture — algorithmic valuation as an input, a human underwriter making the final call above a risk threshold, plus an explicit circuit breaker checked weekly.</a:t>
            </a:r>
          </a:p>
          <a:p>
            <a:r>
              <a:t>Sources:</a:t>
            </a:r>
          </a:p>
          <a:p>
            <a:r>
              <a:t>[1] GeekWire (Nov 2021) — Zillow Offers — $304-408M in write-downs, ~2,000 laid off (~25% of staff), ~=$80K loss per home. https://www.geekwire.com/2021/ibuying-algorithms-failed-zillow-says-business-worlds-love-affair-ai/</a:t>
            </a:r>
          </a:p>
          <a:p>
            <a:r>
              <a:t>[2] SEC 10-K FY2021 — Zillow Group — the official financial filing confirming the scale of the write-downs.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November 2022, Air Canada's website chatbot incorrectly told a customer that a bereavement fare could be requested retroactively within ninety days — the actual policy did not allow this. The customer bought full-price tickets and was denied the discount. In February 2024, the tribunal awarded $812.02. Air Canada's defense: the chatbot is a separate legal entity, responsible for its own actions. The tribunal called this a remarkable submission and rejected it: the company is responsible for all the information on its website, whether it comes from a static page or from a chatbot.</a:t>
            </a:r>
          </a:p>
          <a:p>
            <a:r>
              <a:t>The mechanism, tied to the Support/Operate phase: there was no process to synchronize the chatbot's knowledge base with the company's actual policy — support content was managed separately from a single source of truth. Why the small amount isn't a sign of insignificance, but reinforces the lesson: $812.02 is the price of two tickets, but it's exactly the modesty of the sum that makes the precedent clean. The tribunal wasn't settling a complex dispute over large sums, it was issuing a principled ruling on accountability.</a:t>
            </a:r>
          </a:p>
          <a:p>
            <a:r>
              <a:t>The lesson, stated as a principle: you own every answer the bot gives — as you would a static page on your site. Legal accountability for an AI agent's answers rests entirely with the company; "the chatbot made a mistake" is not a defense. The criterion: deploying a chatbot that answers questions with legal consequences, without automatic synchronization to a single source of truth, is a support process not ready for automation. The alternative: a RAG architecture with a single source of truth, mandatory citation-linking to the exact policy clause in every answer, and periodic audits of bot answers against current policy.</a:t>
            </a:r>
          </a:p>
          <a:p>
            <a:r>
              <a:t>Sources:</a:t>
            </a:r>
          </a:p>
          <a:p>
            <a:r>
              <a:t>[1] CanLII — Moffatt v. Air Canada, 2024 BCCRT 149 — the tribunal: the company is liable for the bot's answer like any other site content; $812.02 CAD (Feb 14, 2024). https://www.canlii.org/en/bc/bccrt/doc/2024/2024bccrt149/2024bccrt149.html</a:t>
            </a:r>
          </a:p>
          <a:p>
            <a:r>
              <a:t>[2] American Bar Association — case commentary — legal analysis: "bot as a separate legal entity" dismissed in one line.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Klarna and OpenAI announced in February 2024: an AI assistant had handled 2.3 million conversations in its first month, doing the work of seven hundred full-time agents. By May 2025 the CEO acknowledged a reversal: it's critically important to be honest with the customer — there will always be a human if you want one. An important nuance: what got walked back was specifically the "AI-only, no human access" policy — the volume of automation itself kept growing, reaching the equivalent of eight hundred fifty-three full-time positions by the end of 2025. This isn't "Klarna gave up on AI" — it's an acknowledgment that a throughput metric with no guaranteed human fallback was the wrong operational design.</a:t>
            </a:r>
          </a:p>
          <a:p>
            <a:r>
              <a:t>The NYC MyCity chatbot for small businesses: an investigation found the bot advising employers to take employees' tips, to fire someone for reporting harassment, and advising landlords to reject tenants with housing vouchers. All ten of ten journalists who asked this question got the same incorrect answer — not a rare edge case but a systematic, reproducible failure. The mayor acknowledged the errors but refused to pull the bot from public use. A third example of the same class: a user used a prompt injection to get a Chevrolet dealership's chatbot to agree to sell a car for one dollar as a "legally binding offer."</a:t>
            </a:r>
          </a:p>
          <a:p>
            <a:r>
              <a:t>The combined lesson: the success metric for support automation can't be throughput alone — a weighted quality metric is needed on emotionally or legally sensitive categories, and an explicit fallback path to a human must be part of the product from day one. The criterion: guaranteed escalation is mandatory for disputed cases; if ten out of ten identical questions produce one unlawful answer, that's a systematic failure requiring an immediate kill switch. The alternative: tiered support with an explicit "talk to a human" option, deterministic guardrails underneath the LLM on critical actions.</a:t>
            </a:r>
          </a:p>
          <a:p>
            <a:r>
              <a:t>Sources:</a:t>
            </a:r>
          </a:p>
          <a:p>
            <a:r>
              <a:t>[1] Bloomberg (May 8, 2025) — Klarna — a reversal of the "AI-only" policy back to hiring people. https://www.bloomberg.com/news/articles/2025-05-08/klarna-turns-from-ai-to-real-person-customer-service</a:t>
            </a:r>
          </a:p>
          <a:p>
            <a:r>
              <a:t>[2] Fortune (Oct 10, 2025) — 853 FTE — automation grew to 853 human-equivalents — augmenting people, not replacing them; the exact figure surfaces later in Klarna's Q3 filing (Nov 18, 2025) — verify before publication. https://fortune.com/2025/10/10/klarna-ceo-sebastian-siemiatkowski-halved-workforce-says-tech-ceos-sugarcoating-ai-impact-on-jobs-mass-unemployment-warning/ [VFY-day-of]</a:t>
            </a:r>
          </a:p>
          <a:p>
            <a:r>
              <a:t>[3] The Markup (Mar 29, 2024) — NYC MyCity — a government chatbot gave 10 of 10 journalists the same illegal advice.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pull section five together: operation is the point where the product loop physically closes. A signal from support tickets and monitoring — silent drift noticed by power users, a complaint that surfaces a regression, an incident with legal consequences — converts into an update of the reference dataset, the prompt, a guardrail, then into re-evaluation through evals, back into production, and, on a deeper signal, back into intent itself: what we're even building, and for whom.</a:t>
            </a:r>
          </a:p>
          <a:p>
            <a:r>
              <a:t>This is the keystone callback: the signal from operation changes intent — the same discover-build-measure-learn-decide loop, closed. AI changed the cost and trust of every arrow asymmetrically, but not the loop itself: observing is now vulnerable to silent drift, interpreting now needs segment-level monitoring, not just aggregates, deciding now carries accountability that can't be delegated to a bot. These steps stay human on every turn of the loop, and that's exactly what we'll return to when we pull the whole lecture together in section six.</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six is the capstone: it assembles the whole loop and answers the paradox the lecture opened with. This is a lighter governance section, but governance themes lived across every phase: safety-by-design in design, accountability for the bot's answer in operation, policy-as-code in drift. Here we rise to the level of the organization: why assembly is nearly free, but value is not.</a:t>
            </a:r>
          </a:p>
          <a:p>
            <a:r>
              <a:t>Today: portfolio governance and unit economics from scratch, what five independent sources show about the bottleneck shifting from technology to the operating model, the resolution of the s01 hook paradox, a failure about hidden human cost disguised as autonomy, a summary matrix of the whole lecture, and a final checklist.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in plain terms is the last, "highest" phase of the loop: we rise from the level of a single product to the level of the whole organization. The question here is not "how do we build this feature," but "what is actually worth funding with money and people, and what should we honestly drop."</a:t>
            </a:r>
          </a:p>
          <a:p>
            <a:r>
              <a:t>The mechanics are the same ones we already saw at launch: the "continue or kill" gate. Except now it allocates not one feature but capital across many initiatives at once. The right image is a portfolio funnel: many ideas go in at the top, each passes through checkpoints, and only a few reach funding. This protects the organization from feeding projects for years that never deliver value.</a:t>
            </a:r>
          </a:p>
          <a:p>
            <a:r>
              <a:t>In this arithmetic, an AI product has a feature of its own — cost per request. Every call to the model costs real money, and that cost has to be weighed against the value the request delivers. Here we will also pull the whole lecture together and answer the question we opened with: why assembly became nearly free, while turning it into value did not. And we'll see how the loud numbers about AI's failures and successes fall apart the moment you ask them four simple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governance is a classical product-management discipline: an organization runs not one product but a portfolio of initiatives, and decides which to fund, continue, or kill by criteria agreed in advance. A direct descendant of Stage-Gate, raised from the level of a single product to the level of a portfolio.</a:t>
            </a:r>
          </a:p>
          <a:p>
            <a:r>
              <a:t>Unit economics for an AI product gains a new variable — cost per request: model calls are not free, and a product where cost per request exceeds value per request is economically unviable, no matter how impressive the demo. For classical SaaS, the marginal cost of serving one more user is close to zero; for an AI product, every call costs real money, and cost per request does not fall with scale the way classical SaaS cost did.</a:t>
            </a:r>
          </a:p>
          <a:p>
            <a:r>
              <a:t>Let's make the requirement operational. A bad KPI is "improve support efficiency" — not measurable, direction unclear, just like Kohavi's time-on-site. A good one, written down before the pilot: we believe AI triage will cut cost per ticket from X rubles to Y while not degrading CSAT below threshold Z; we'll test it on N tickets over M weeks; the owner is a specific person tracking it weekly. This is simultaneously an OEC, guardrail metrics, and a threshold fixed in advance with a date and an owner — the same apparatus as the error budget and Stage-Gate, applied to the decision of whether to keep funding an AI initiative. Why this is the capstone's base: the macro-failure on the next slide will show that the root of most failures is not "the model isn't good enough," but the absence of exactly this criterion at pilot entry.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independent sources — Deloitte, Sber, Gartner, McKinsey, Forrester — work in different markets, with different methodologies, yet converge on one point: the bottleneck for extracting value from AI has shifted from technology to the organization's operating model; the winner is not whoever has the more powerful model, but whoever rebuilt the teams, budgets, and decisions around it.</a:t>
            </a:r>
          </a:p>
          <a:p>
            <a:r>
              <a:t>Deloitte: seventy-five percent of tech leaders say the operating model must fundamentally change, while forty-two percent report low or zero ROI. The bottleneck is structural: legacy funding and governance models run on old annual cycles, while AI-embedded workflows are continuous.</a:t>
            </a:r>
          </a:p>
          <a:p>
            <a:r>
              <a:t>Sber maturity 0-5: Level 0 is no integration, Level 3 is supervised automation, Level 5 is "Zero-Friction PDLC," aspirational. Telling detail: Sber explicitly positions itself at Level 3, not at the aspirational Level 5 — this is a roadmap, not "we've implemented everything." IDP economics only pays off with ten or more product teams — the very proponent of the approach draws the boundary where its own approach doesn't apply.</a:t>
            </a:r>
          </a:p>
          <a:p>
            <a:r>
              <a:t>Gartner offers the clearest phase model of agent adoption and names the risk — agentwashing: vendors rebrand existing chatbots as "agents" with no agentic outcomes. McKinsey states the same thing from the organizational side: value comes only from redesigning the operating model, not from bolting on a point tool. Forrester adds numbers: coding-only improvements deliver thirty to forty percent gains, but team-level productivity gains without end-to-end adaptation are under ten percent. Practical takeaway: if your AI initiative is stalling, the first question isn't "do we need a bigger model," it's "does it have an owner, a financial KPI, and a governance cycle."</a:t>
            </a:r>
          </a:p>
          <a:p>
            <a:r>
              <a:t>Sources:</a:t>
            </a:r>
          </a:p>
          <a:p>
            <a:r>
              <a:t>[1] Deloitte — 2026 Global Technology Leadership Study — 75% say the operating model must change; 42% low/zero ROI; 81% confident despite the internal contradiction. https://www.deloitte.com/us/en/about/press-room/2026-global-technology-leadership-study-release.html [VFY-day-of]</a:t>
            </a:r>
          </a:p>
          <a:p>
            <a:r>
              <a:t>[2] Sber — the "AI PDLC Lead" job posting — the organizational reality of the role, not just a whitepaper concept. https://rabota.sber.ru/search/lider-ai-pdlc-4548579/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return to the report the lecture opened with. MIT Project NANDA, widely reported as "ninety-five percent of organizations get zero return." The real funnel of the custom track inside the report itself: sixty percent of organizations explored, twenty percent launched a pilot, five percent successfully deployed. The success rate among those who reached a pilot is five out of twenty — twenty-five percent — not "ninety-five percent of pilots failed." Separately: an undisclosed conflict of interest — all four authors build or sell agentic AI products through that same project.</a:t>
            </a:r>
          </a:p>
          <a:p>
            <a:r>
              <a:t>Let's extract a transferable skill through four questions. First: what is the denominator — ninety-five percent of all organizations, including ones that never seriously piloted anything. Second: what counts as failure — "didn't pay off on schedule," "abandoned," and "works but delivers no value" are three different events. Third: what is the author's conflict of interest. Fourth: does the number trace back to a primary source with a methodology.</a:t>
            </a:r>
          </a:p>
          <a:p>
            <a:r>
              <a:t>A meta-lesson about RAND: the widely repeated "precise" figure of eighty point three percent does not appear in RAND's own report — this is a secondary fabrication of precision, structurally identical to the Deloitte failure from section one. Triangulation: Gartner — only twenty-eight percent of AI use cases are fully successful; S&amp;P — forty-two percent of companies plan to abandon initiatives, up from seventeen percent a year earlier; BCG — sixty percent of companies track not a single financial KPI. All sources point to the same root: not "the model is bad," but "there was no financial criterion agreed in advance." Lesson: critically check the denominator before using a number as an argument in a decision.</a:t>
            </a:r>
          </a:p>
          <a:p>
            <a:r>
              <a:t>Sources:</a:t>
            </a:r>
          </a:p>
          <a:p>
            <a:r>
              <a:t>[1] MIT NANDA — "The GenAI Divide" (July 2025, v0.1) — an unreviewed preprint: the 60%-&gt;20%-&gt;5% funnel is 25% among those who reached a pilot, not "95% failure". https://mlq.ai/media/quarterly_decks/v0.1_State_of_AI_in_Business_2025_Report.pdf [VFY-day-of]</a:t>
            </a:r>
          </a:p>
          <a:p>
            <a:r>
              <a:t>[2] Fortune (Aug 18, 2025) — media distortion of the MIT report — how the "95% failure" headline spread without calibrating the denominator. https://fortune.com/2025/08/18/mit-report-95-percent-generative-ai-pilots-at-companies-failing-cfo/</a:t>
            </a:r>
          </a:p>
          <a:p>
            <a:r>
              <a:t>[3] NewMR — Myth #2 — an analysis of the conflict of interest and the denominator in citations of the MIT report. https://newmr.org/blog/myth-number-2-mit-showed-that-95-of-ai-pilots-fail/</a:t>
            </a:r>
          </a:p>
          <a:p>
            <a:r>
              <a:t>[4] Gartner (Apr 7, 2026, 782 I&amp;O leaders) — 28% of AI use cases in I&amp;O are fully successful; 20% fail. https://www.gartner.com/en/newsroom/press-releases/2026-04-07-gartner-says-artificial-intelligence-projects-in-infrastructure-and-operations-stall-ahead-of-meaningful-roi-returns [VFY-day-of]</a:t>
            </a:r>
          </a:p>
          <a:p>
            <a:r>
              <a:t>[5] BCG — Closing the AI Impact Gap — 60% of companies track zero financial KPIs tied to AI value; the publish date on BCG's site differs from the date in the research dossier — see owner follow-up. https://www.bcg.com/publications/2025/closing-the-ai-impact-gap [VFY-day-of]</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two thousand eighteen, Amazon positioned Just Walk Out as pure computer vision, without disclosing human involvement. An investigation found: about a thousand workers in India were reviewing video to label ambiguous transactions. The key number: in two thousand twenty-two, seven hundred of a thousand transactions required manual review against an internal target of only fifty of a thousand — the actual rate was roughly fourteen times the target. In April two thousand twenty-four, Amazon announced it was removing the technology from most Amazon Fresh stores in the US.</a:t>
            </a:r>
          </a:p>
          <a:p>
            <a:r>
              <a:t>The mechanism: a real limitation of computer-vision accuracy across product variety, plus a governance failure — six years of marketing autonomous AI without disclosing the real scale of human labor. This is the "Wizard-of-Oz AI" pattern — hidden human labor disguised as autonomy. The bare fact "a thousand workers were involved" lets you be technically right — people annotated video, they weren't watching live. But the right counterfactual isn't whether people were involved at all, it's how far the actual intervention rate exceeded the target: a fourteen-fold overshoot.</a:t>
            </a:r>
          </a:p>
          <a:p>
            <a:r>
              <a:t>Lesson: claims of autonomy must be verifiable and must include honest disclosure of the human-in-the-loop share. The hidden-human-cost criterion: if acceptable accuracy requires manual review at multiples of the target rate, the claimed autonomy has not been achieved. Now let's assemble all six phases into a single matrix: for each phase — what AI changes in cost and trust, what classic discipline stays, when AI-first breaks, and which failures illustrate it. The matrix isn't for memorizing — it's for applying: when you meet a new failure in the news, identify the phase, the broken classic discipline, and the criterion — that is exactly the trainable skill of recognition.</a:t>
            </a:r>
          </a:p>
          <a:p>
            <a:r>
              <a:t>Sources:</a:t>
            </a:r>
          </a:p>
          <a:p>
            <a:r>
              <a:t>[1] Business Standard (Apr 2024) — Just Walk Out — 700 of 1,000 transactions required manual review by Indian workers — against a target of 50/1,000. https://www.business-standard.com/companies/news/amazon-s-just-walk-out-checkout-tech-was-powered-by-1-000-indian-workers-124040400463_1.html</a:t>
            </a:r>
          </a:p>
          <a:p>
            <a:r>
              <a:t>[2] Retail Dive — the dismantling of Just Walk Out — the technology pulled from Amazon Fresh; 27 of 44 stores lose the feature. https://www.retaildive.com/news/amazon-removes-just-walk-out-tech-amazon-fresh-stores-dash-carts/712150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resolve the paradox from the start of the lecture in full. Assembly became nearly free — true. Almost no one extracts value from it — also true, but with a caveat: twenty-five percent of those who reached a pilot, not five percent of everyone. The resolution: when assembly is free, the scarce resource becomes not execution but judgment — the ability to tell real signal from noise and keep intent and accountability with the human. An engineer who can build anything instantly but cannot say whether it worked is more dangerous than before, not safer.</a:t>
            </a:r>
          </a:p>
          <a:p>
            <a:r>
              <a:t>The classical discipline of every phase is not obsolete: it is the apparatus for telling signal from noise, brought into operational form. What changed: the cost of assembly, the speed of research, the speed of prototyping, the speed of observation. What stayed human: formulating intent, judging signal against noise, accountability for every answer the product gives, the decision "AI is not the right tool here," governance with an owner.</a:t>
            </a:r>
          </a:p>
          <a:p>
            <a:r>
              <a:t>The practical apparatus is an eight-question checklist you run against any phase before making it AI-first: is the classic in place, is the trust worth the cost, is there an eval and a reference dataset, is there a guardrail metric, are we rolling out gradually with the ability to roll back, is there guaranteed escalation to a human, who is accountable for the outcome, is the data safe. If even one answer is "no" — that doesn't mean "don't use AI," it means "there is a structural gap here that needs closing before, not after."</a:t>
            </a:r>
          </a:p>
          <a:p>
            <a:r>
              <a:t>This course doesn't teach "use AI more" and it doesn't teach "fear AI" — it teaches a well-founded "yes" and a well-founded "no." In the paired seminar you'll walk the same loop on a training AI product — from hypothesis through a reference dataset and three evaluations to a guardrail metric and a human-escalation point. Ready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hyperlink" Target="https://innovation.ucsd.edu/startup/startup-toolkit/Steve-Blank-CustDev.pdf" TargetMode="Externa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hyperlink" Target="https://www.sachinrekhi.com/p/the-mom-test-rob-fitzpatrick" TargetMode="Externa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listenlabs.ai/articles/dovetail-ai-qualitative-analysis/" TargetMode="External"/><Relationship Id="rId7" Type="http://schemas.openxmlformats.org/officeDocument/2006/relationships/hyperlink" Target="https://www.nngroup.com/articles/state-of-ux-2026/" TargetMode="Externa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hyperlink" Target="https://fortune.com/2025/10/07/deloitte-ai-australia-government-report-hallucinations-technology-290000-refund" TargetMode="External"/><Relationship Id="rId5" Type="http://schemas.openxmlformats.org/officeDocument/2006/relationships/hyperlink" Target="https://www.damiencharlotin.com/hallucinations/"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hyperlink" Target="https://www.statnews.com/2018/07/25/ibm-watson-recommended-unsafe-incorrect-treatments/" TargetMode="External"/><Relationship Id="rId6" Type="http://schemas.openxmlformats.org/officeDocument/2006/relationships/hyperlink" Target="https://spectrum.ieee.org/how-ibm-watson-overpromised-and-underdelivered-on-ai-health-care" TargetMode="Externa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signcouncil.org.uk/resources/the-double-diamond/"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hyperlink" Target="https://blog.uxtweak.com/usability-heuristics/" TargetMode="External"/><Relationship Id="rId6" Type="http://schemas.openxmlformats.org/officeDocument/2006/relationships/hyperlink" Target="https://medium.com/hippo-digital/you-are-not-the-user-but-what-about-when-you-are-35abe4006b8" TargetMode="Externa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jpg"/><Relationship Id="rId4" Type="http://schemas.openxmlformats.org/officeDocument/2006/relationships/hyperlink" Target="https://dl.acm.org/doi/10.1145/3800424.3800430" TargetMode="Externa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hyperlink" Target="https://www.washingtonpost.com/nation/2024/10/24/character-ai-lawsuit-suicide/" TargetMode="External"/><Relationship Id="rId5" Type="http://schemas.openxmlformats.org/officeDocument/2006/relationships/hyperlink" Target="https://www.cbsnews.com/news/google-settle-lawsuit-florida-teens-suicide-character-ai-chatbot/" TargetMode="Externa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hyperlink" Target="https://www.eeoc.gov/newsroom/itutorgroup-pay-365000-settle-eeoc-discriminatory-hiring-suit" TargetMode="Externa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hyperlink" Target="https://effectivesoftwaredesign.com/2021/03/23/lean-startup-principles-vanity-metrics-and-actionable-metrics/" TargetMode="External"/><Relationship Id="rId4" Type="http://schemas.openxmlformats.org/officeDocument/2006/relationships/hyperlink" Target="https://www.stage-gate.com/about/our-story-2/"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hyperlink" Target="https://resources.anthropic.com/2026-agentic-coding-trends-report"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lennysnewsletter.com/p/why-your-ai-product-needs-a-different"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55.png"/><Relationship Id="rId4" Type="http://schemas.openxmlformats.org/officeDocument/2006/relationships/hyperlink" Target="https://www.forbes.com/sites/roberthart/2024/05/31/google-restricts-ai-search-tool-after-nonsensical-answers-told-people-to-eat-rocks-and-put-glue-on-pizza/" TargetMode="External"/><Relationship Id="rId5" Type="http://schemas.openxmlformats.org/officeDocument/2006/relationships/hyperlink" Target="https://www.androidpolice.com/google-pizza-glue-loop-ai-overviews/"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6.png"/><Relationship Id="rId4" Type="http://schemas.openxmlformats.org/officeDocument/2006/relationships/image" Target="../media/image61.png"/><Relationship Id="rId5" Type="http://schemas.openxmlformats.org/officeDocument/2006/relationships/hyperlink" Target="https://www.microsoft.com/en-us/research/articles/diagnosing-sample-ratio-mismatch-in-a-b-testing/" TargetMode="External"/><Relationship Id="rId6" Type="http://schemas.openxmlformats.org/officeDocument/2006/relationships/hyperlink" Target="https://gopractice.io/data/peeking-problem/" TargetMode="External"/><Relationship Id="rId7" Type="http://schemas.openxmlformats.org/officeDocument/2006/relationships/hyperlink" Target="https://exp-platform.com/" TargetMode="Externa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hyperlink" Target="https://resources.anthropic.com/2026-agentic-coding-trends-report" TargetMode="External"/><Relationship Id="rId4" Type="http://schemas.openxmlformats.org/officeDocument/2006/relationships/hyperlink" Target="https://arxiv.org/abs/2306.05685"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hyperlink" Target="https://deepmind.google/blog/specification-gaming-the-flip-side-of-ai-ingenuity/" TargetMode="External"/><Relationship Id="rId4" Type="http://schemas.openxmlformats.org/officeDocument/2006/relationships/hyperlink" Target="https://arxiv.org/abs/2406.10162" TargetMode="Externa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65.png"/><Relationship Id="rId4" Type="http://schemas.openxmlformats.org/officeDocument/2006/relationships/hyperlink" Target="https://www.techdirt.com/2021/10/28/let-me-rewrite-that-you-washington-post-misinforms-you-about-how-facebook-weighted-emoji-reactions/" TargetMode="External"/><Relationship Id="rId5" Type="http://schemas.openxmlformats.org/officeDocument/2006/relationships/hyperlink" Target="https://docs.house.gov/meetings/IF/IF16/20211201/114268/HHRG-117-IF16-20211201-SD012.pdf"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sre.google/workbook/error-budget-policy/"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7.png"/><Relationship Id="rId4" Type="http://schemas.openxmlformats.org/officeDocument/2006/relationships/hyperlink" Target="https://www.confident-ai.com/knowledge-base/compare/top-7-llm-observability-tools" TargetMode="External"/><Relationship Id="rId5" Type="http://schemas.openxmlformats.org/officeDocument/2006/relationships/hyperlink" Target="https://thehackernews.com/2026/03/5-learnings-from-first-ever-gartner.html" TargetMode="Externa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image" Target="../media/image69.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61.png"/><Relationship Id="rId4" Type="http://schemas.openxmlformats.org/officeDocument/2006/relationships/image" Target="../media/image71.png"/><Relationship Id="rId5" Type="http://schemas.openxmlformats.org/officeDocument/2006/relationships/hyperlink" Target="https://www.geekwire.com/2021/ibuying-algorithms-failed-zillow-says-business-worlds-love-affair-ai/" TargetMode="External"/><Relationship Id="rId6" Type="http://schemas.openxmlformats.org/officeDocument/2006/relationships/hyperlink" Target="https://www.sec.gov/Archives/edgar/data/1617640/000161764022000013/z-20211231.htm" TargetMode="Externa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image" Target="../media/image11.png"/><Relationship Id="rId4" Type="http://schemas.openxmlformats.org/officeDocument/2006/relationships/hyperlink" Target="https://www.canlii.org/en/bc/bccrt/doc/2024/2024bccrt149/2024bccrt149.html"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hyperlink" Target="https://www.bloomberg.com/news/articles/2025-05-08/klarna-turns-from-ai-to-real-person-customer-service" TargetMode="External"/><Relationship Id="rId6" Type="http://schemas.openxmlformats.org/officeDocument/2006/relationships/hyperlink" Target="https://fortune.com/2025/10/10/klarna-ceo-sebastian-siemiatkowski-halved-workforce-says-tech-ceos-sugarcoating-ai-impact-on-jobs-mass-unemployment-warning/" TargetMode="External"/><Relationship Id="rId7" Type="http://schemas.openxmlformats.org/officeDocument/2006/relationships/hyperlink" Target="https://themarkup.org/artificial-intelligence/2024/03/29/nycs-ai-chatbot-tells-businesses-to-break-the-law" TargetMode="Externa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rabota.sber.ru/search/lider-ai-pdlc-4548579/" TargetMode="Externa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78.jp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gartner.com/en/newsroom/press-releases/2026-04-07-gartner-says-artificial-intelligence-projects-in-infrastructure-and-operations-stall-ahead-of-meaningful-roi-returns" TargetMode="External"/><Relationship Id="rId8" Type="http://schemas.openxmlformats.org/officeDocument/2006/relationships/hyperlink" Target="https://www.bcg.com/publications/2025/closing-the-ai-impact-gap" TargetMode="External"/><Relationship Id="rId9"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image" Target="../media/image80.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Assembly is nearly free. So why does almost no one capture the value?</a:t>
            </a:r>
          </a:p>
        </p:txBody>
      </p:sp>
      <p:sp>
        <p:nvSpPr>
          <p:cNvPr id="3" name="Rounded Rectangle 2"/>
          <p:cNvSpPr/>
          <p:nvPr/>
        </p:nvSpPr>
        <p:spPr>
          <a:xfrm>
            <a:off x="502920" y="1188720"/>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31520" cy="731520"/>
          </a:xfrm>
          <a:prstGeom prst="rect">
            <a:avLst/>
          </a:prstGeom>
        </p:spPr>
      </p:pic>
      <p:sp>
        <p:nvSpPr>
          <p:cNvPr id="5" name="TextBox 4"/>
          <p:cNvSpPr txBox="1"/>
          <p:nvPr/>
        </p:nvSpPr>
        <p:spPr>
          <a:xfrm>
            <a:off x="1581912" y="1335024"/>
            <a:ext cx="2697479" cy="685800"/>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Weeks of work → hours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2286000"/>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Anthropic internal experience</a:t>
            </a:r>
          </a:p>
        </p:txBody>
      </p:sp>
      <p:sp>
        <p:nvSpPr>
          <p:cNvPr id="7" name="Rounded Rectangle 6"/>
          <p:cNvSpPr/>
          <p:nvPr/>
        </p:nvSpPr>
        <p:spPr>
          <a:xfrm>
            <a:off x="502920" y="2816352"/>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999232"/>
            <a:ext cx="731520" cy="731520"/>
          </a:xfrm>
          <a:prstGeom prst="rect">
            <a:avLst/>
          </a:prstGeom>
        </p:spPr>
      </p:pic>
      <p:sp>
        <p:nvSpPr>
          <p:cNvPr id="9" name="TextBox 8"/>
          <p:cNvSpPr txBox="1"/>
          <p:nvPr/>
        </p:nvSpPr>
        <p:spPr>
          <a:xfrm>
            <a:off x="1581912" y="2962656"/>
            <a:ext cx="2697479" cy="685800"/>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of pilots — zero return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913632"/>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MIT, summer 2025</a:t>
            </a:r>
          </a:p>
        </p:txBody>
      </p:sp>
      <p:sp>
        <p:nvSpPr>
          <p:cNvPr id="11" name="Rounded Rectangle 10"/>
          <p:cNvSpPr/>
          <p:nvPr/>
        </p:nvSpPr>
        <p:spPr>
          <a:xfrm>
            <a:off x="502920" y="4462272"/>
            <a:ext cx="3977639" cy="195681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517136"/>
            <a:ext cx="3538727" cy="184708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Both facts are true at the same time: assembly became nearly free, but turning assembly into value did not. Hold the question — we'll come back to it at the end of the lecture.</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(July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Discovery</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Design</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Build</a:t>
            </a:r>
          </a:p>
          <a:p>
            <a:pPr algn="ctr">
              <a:lnSpc>
                <a:spcPct val="90000"/>
              </a:lnSpc>
            </a:pPr>
            <a:r>
              <a:rPr sz="900" b="1" i="0">
                <a:solidFill>
                  <a:srgbClr val="21295C"/>
                </a:solidFill>
                <a:latin typeface="DejaVu Sans"/>
              </a:rPr>
              <a:t>&amp; Launch</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Measure</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Support</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Governance</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LECTURE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 Product: the full lifecycle — from intent to operation</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Course "Deliberate Use of AI" · 3rd-year engineering students</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Six sections — six arrows of one loop: code (Lecture 4) is one cheap step inside it.</a:t>
            </a:r>
          </a:p>
        </p:txBody>
      </p:sp>
      <p:sp>
        <p:nvSpPr>
          <p:cNvPr id="28" name="Rounded Rectangle 27"/>
          <p:cNvSpPr/>
          <p:nvPr/>
        </p:nvSpPr>
        <p:spPr>
          <a:xfrm>
            <a:off x="502920"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Intro</a:t>
            </a:r>
          </a:p>
        </p:txBody>
      </p:sp>
      <p:sp>
        <p:nvSpPr>
          <p:cNvPr id="31" name="Rounded Rectangle 30"/>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34" name="Rounded Rectangle 33"/>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37" name="Rounded Rectangle 36"/>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40" name="Rounded Rectangle 39"/>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43" name="Rounded Rectangle 42"/>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46" name="Rounded Rectangle 45"/>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lecture is a loop, not a list of six topics</a:t>
            </a:r>
          </a:p>
        </p:txBody>
      </p:sp>
      <p:cxnSp>
        <p:nvCxnSpPr>
          <p:cNvPr id="3" name="Connector 2"/>
          <p:cNvCxnSpPr/>
          <p:nvPr/>
        </p:nvCxnSpPr>
        <p:spPr>
          <a:xfrm>
            <a:off x="4285734" y="211226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62352" y="2112264"/>
            <a:ext cx="641433" cy="370332"/>
          </a:xfrm>
          <a:prstGeom prst="line">
            <a:avLst/>
          </a:prstGeom>
          <a:ln w="3302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mid.png"/>
          <p:cNvPicPr>
            <a:picLocks noChangeAspect="1"/>
          </p:cNvPicPr>
          <p:nvPr/>
        </p:nvPicPr>
        <p:blipFill>
          <a:blip r:embed="rId2"/>
          <a:stretch>
            <a:fillRect/>
          </a:stretch>
        </p:blipFill>
        <p:spPr>
          <a:xfrm>
            <a:off x="3575304" y="1444752"/>
            <a:ext cx="438912" cy="438912"/>
          </a:xfrm>
          <a:prstGeom prst="rect">
            <a:avLst/>
          </a:prstGeom>
        </p:spPr>
      </p:pic>
      <p:sp>
        <p:nvSpPr>
          <p:cNvPr id="11" name="TextBox 10"/>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Discovery</a:t>
            </a:r>
          </a:p>
        </p:txBody>
      </p:sp>
      <p:sp>
        <p:nvSpPr>
          <p:cNvPr id="12" name="Rounded Rectangle 11"/>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cil-mid.png"/>
          <p:cNvPicPr>
            <a:picLocks noChangeAspect="1"/>
          </p:cNvPicPr>
          <p:nvPr/>
        </p:nvPicPr>
        <p:blipFill>
          <a:blip r:embed="rId3"/>
          <a:stretch>
            <a:fillRect/>
          </a:stretch>
        </p:blipFill>
        <p:spPr>
          <a:xfrm>
            <a:off x="5198685" y="2382012"/>
            <a:ext cx="438912" cy="438912"/>
          </a:xfrm>
          <a:prstGeom prst="rect">
            <a:avLst/>
          </a:prstGeom>
        </p:spPr>
      </p:pic>
      <p:sp>
        <p:nvSpPr>
          <p:cNvPr id="14" name="TextBox 13"/>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Design</a:t>
            </a:r>
          </a:p>
        </p:txBody>
      </p:sp>
      <p:sp>
        <p:nvSpPr>
          <p:cNvPr id="15" name="Rounded Rectangle 14"/>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5198685" y="4256531"/>
            <a:ext cx="438912" cy="438912"/>
          </a:xfrm>
          <a:prstGeom prst="rect">
            <a:avLst/>
          </a:prstGeom>
        </p:spPr>
      </p:pic>
      <p:sp>
        <p:nvSpPr>
          <p:cNvPr id="17" name="TextBox 16"/>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Build &amp; Launch</a:t>
            </a:r>
          </a:p>
        </p:txBody>
      </p:sp>
      <p:sp>
        <p:nvSpPr>
          <p:cNvPr id="18" name="Rounded Rectangle 17"/>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3575304" y="5193792"/>
            <a:ext cx="438912" cy="438912"/>
          </a:xfrm>
          <a:prstGeom prst="rect">
            <a:avLst/>
          </a:prstGeom>
        </p:spPr>
      </p:pic>
      <p:sp>
        <p:nvSpPr>
          <p:cNvPr id="20" name="TextBox 19"/>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Measure</a:t>
            </a:r>
          </a:p>
        </p:txBody>
      </p:sp>
      <p:sp>
        <p:nvSpPr>
          <p:cNvPr id="21" name="Rounded Rectangle 20"/>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3" name="TextBox 22"/>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Support</a:t>
            </a:r>
          </a:p>
        </p:txBody>
      </p:sp>
      <p:sp>
        <p:nvSpPr>
          <p:cNvPr id="24" name="Rounded Rectangle 23"/>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7"/>
          <a:stretch>
            <a:fillRect/>
          </a:stretch>
        </p:blipFill>
        <p:spPr>
          <a:xfrm>
            <a:off x="1951922" y="2382012"/>
            <a:ext cx="438912" cy="438912"/>
          </a:xfrm>
          <a:prstGeom prst="rect">
            <a:avLst/>
          </a:prstGeom>
        </p:spPr>
      </p:pic>
      <p:sp>
        <p:nvSpPr>
          <p:cNvPr id="26" name="TextBox 25"/>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Governance</a:t>
            </a:r>
          </a:p>
        </p:txBody>
      </p:sp>
      <p:sp>
        <p:nvSpPr>
          <p:cNvPr id="27" name="TextBox 26"/>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Intent</a:t>
            </a:r>
          </a:p>
        </p:txBody>
      </p:sp>
      <p:sp>
        <p:nvSpPr>
          <p:cNvPr id="28" name="TextBox 27"/>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Discovery — where the hypothesis comes from</a:t>
            </a:r>
          </a:p>
        </p:txBody>
      </p:sp>
      <p:sp>
        <p:nvSpPr>
          <p:cNvPr id="29" name="TextBox 28"/>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Design — hypothesis → artifact</a:t>
            </a:r>
          </a:p>
        </p:txBody>
      </p:sp>
      <p:sp>
        <p:nvSpPr>
          <p:cNvPr id="30" name="TextBox 29"/>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Build &amp; Launch — artifact → product</a:t>
            </a:r>
          </a:p>
        </p:txBody>
      </p:sp>
      <p:sp>
        <p:nvSpPr>
          <p:cNvPr id="31" name="TextBox 30"/>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Measure — did it work</a:t>
            </a:r>
          </a:p>
        </p:txBody>
      </p:sp>
      <p:sp>
        <p:nvSpPr>
          <p:cNvPr id="32" name="TextBox 31"/>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Support — lives 24/7</a:t>
            </a:r>
          </a:p>
        </p:txBody>
      </p:sp>
      <p:sp>
        <p:nvSpPr>
          <p:cNvPr id="33" name="TextBox 32"/>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Governance — where to invest</a:t>
            </a:r>
          </a:p>
        </p:txBody>
      </p:sp>
      <p:sp>
        <p:nvSpPr>
          <p:cNvPr id="34" name="Rounded Rectangle 33"/>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return arrow: governance feeds discovery again — a closed loop, not a one-time linear process.</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Lecture 4's code loop is one step inside the product loop</a:t>
            </a:r>
          </a:p>
        </p:txBody>
      </p:sp>
      <p:sp>
        <p:nvSpPr>
          <p:cNvPr id="3" name="Rounded Rectangle 2"/>
          <p:cNvSpPr/>
          <p:nvPr/>
        </p:nvSpPr>
        <p:spPr>
          <a:xfrm>
            <a:off x="502920" y="1371600"/>
            <a:ext cx="11201400" cy="2606040"/>
          </a:xfrm>
          <a:prstGeom prst="roundRect">
            <a:avLst>
              <a:gd name="adj" fmla="val 1169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5486400" cy="32004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Product loop (Lecture 5)</a:t>
            </a:r>
          </a:p>
        </p:txBody>
      </p:sp>
      <p:cxnSp>
        <p:nvCxnSpPr>
          <p:cNvPr id="5" name="Connector 4"/>
          <p:cNvCxnSpPr/>
          <p:nvPr/>
        </p:nvCxnSpPr>
        <p:spPr>
          <a:xfrm>
            <a:off x="2331720" y="1947672"/>
            <a:ext cx="570163" cy="32918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901883" y="2276856"/>
            <a:ext cx="0" cy="658368"/>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2331720" y="2935224"/>
            <a:ext cx="570163" cy="32918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1761556" y="2935224"/>
            <a:ext cx="570164" cy="32918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761556" y="2276856"/>
            <a:ext cx="0" cy="658368"/>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761556" y="1947672"/>
            <a:ext cx="570164" cy="329184"/>
          </a:xfrm>
          <a:prstGeom prst="line">
            <a:avLst/>
          </a:prstGeom>
          <a:ln w="2540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130551" y="1746504"/>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mid.png"/>
          <p:cNvPicPr>
            <a:picLocks noChangeAspect="1"/>
          </p:cNvPicPr>
          <p:nvPr/>
        </p:nvPicPr>
        <p:blipFill>
          <a:blip r:embed="rId2"/>
          <a:stretch>
            <a:fillRect/>
          </a:stretch>
        </p:blipFill>
        <p:spPr>
          <a:xfrm>
            <a:off x="2203703" y="1819655"/>
            <a:ext cx="256032" cy="256032"/>
          </a:xfrm>
          <a:prstGeom prst="rect">
            <a:avLst/>
          </a:prstGeom>
        </p:spPr>
      </p:pic>
      <p:sp>
        <p:nvSpPr>
          <p:cNvPr id="13" name="Oval 12"/>
          <p:cNvSpPr/>
          <p:nvPr/>
        </p:nvSpPr>
        <p:spPr>
          <a:xfrm>
            <a:off x="2700715" y="2075688"/>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2773867" y="2148840"/>
            <a:ext cx="256032" cy="256032"/>
          </a:xfrm>
          <a:prstGeom prst="rect">
            <a:avLst/>
          </a:prstGeom>
        </p:spPr>
      </p:pic>
      <p:sp>
        <p:nvSpPr>
          <p:cNvPr id="15" name="Oval 14"/>
          <p:cNvSpPr/>
          <p:nvPr/>
        </p:nvSpPr>
        <p:spPr>
          <a:xfrm>
            <a:off x="2700715" y="2734056"/>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2773867" y="2807208"/>
            <a:ext cx="256032" cy="256032"/>
          </a:xfrm>
          <a:prstGeom prst="rect">
            <a:avLst/>
          </a:prstGeom>
        </p:spPr>
      </p:pic>
      <p:sp>
        <p:nvSpPr>
          <p:cNvPr id="17" name="Oval 16"/>
          <p:cNvSpPr/>
          <p:nvPr/>
        </p:nvSpPr>
        <p:spPr>
          <a:xfrm>
            <a:off x="2130551" y="3063240"/>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uler-mid.png"/>
          <p:cNvPicPr>
            <a:picLocks noChangeAspect="1"/>
          </p:cNvPicPr>
          <p:nvPr/>
        </p:nvPicPr>
        <p:blipFill>
          <a:blip r:embed="rId5"/>
          <a:stretch>
            <a:fillRect/>
          </a:stretch>
        </p:blipFill>
        <p:spPr>
          <a:xfrm>
            <a:off x="2203703" y="3136392"/>
            <a:ext cx="256032" cy="256032"/>
          </a:xfrm>
          <a:prstGeom prst="rect">
            <a:avLst/>
          </a:prstGeom>
        </p:spPr>
      </p:pic>
      <p:sp>
        <p:nvSpPr>
          <p:cNvPr id="19" name="Oval 18"/>
          <p:cNvSpPr/>
          <p:nvPr/>
        </p:nvSpPr>
        <p:spPr>
          <a:xfrm>
            <a:off x="1560388" y="2734056"/>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headphones-mid.png"/>
          <p:cNvPicPr>
            <a:picLocks noChangeAspect="1"/>
          </p:cNvPicPr>
          <p:nvPr/>
        </p:nvPicPr>
        <p:blipFill>
          <a:blip r:embed="rId6"/>
          <a:stretch>
            <a:fillRect/>
          </a:stretch>
        </p:blipFill>
        <p:spPr>
          <a:xfrm>
            <a:off x="1633540" y="2807208"/>
            <a:ext cx="256032" cy="256032"/>
          </a:xfrm>
          <a:prstGeom prst="rect">
            <a:avLst/>
          </a:prstGeom>
        </p:spPr>
      </p:pic>
      <p:sp>
        <p:nvSpPr>
          <p:cNvPr id="21" name="Oval 20"/>
          <p:cNvSpPr/>
          <p:nvPr/>
        </p:nvSpPr>
        <p:spPr>
          <a:xfrm>
            <a:off x="1560388" y="2075688"/>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cale-mid.png"/>
          <p:cNvPicPr>
            <a:picLocks noChangeAspect="1"/>
          </p:cNvPicPr>
          <p:nvPr/>
        </p:nvPicPr>
        <p:blipFill>
          <a:blip r:embed="rId7"/>
          <a:stretch>
            <a:fillRect/>
          </a:stretch>
        </p:blipFill>
        <p:spPr>
          <a:xfrm>
            <a:off x="1633540" y="2148840"/>
            <a:ext cx="256032" cy="256032"/>
          </a:xfrm>
          <a:prstGeom prst="rect">
            <a:avLst/>
          </a:prstGeom>
        </p:spPr>
      </p:pic>
      <p:sp>
        <p:nvSpPr>
          <p:cNvPr id="23" name="Rounded Rectangle 22"/>
          <p:cNvSpPr/>
          <p:nvPr/>
        </p:nvSpPr>
        <p:spPr>
          <a:xfrm>
            <a:off x="4160520" y="2395728"/>
            <a:ext cx="96012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6 phases</a:t>
            </a:r>
          </a:p>
        </p:txBody>
      </p:sp>
      <p:pic>
        <p:nvPicPr>
          <p:cNvPr id="24" name="Picture 23" descr="layers-teal.png"/>
          <p:cNvPicPr>
            <a:picLocks noChangeAspect="1"/>
          </p:cNvPicPr>
          <p:nvPr/>
        </p:nvPicPr>
        <p:blipFill>
          <a:blip r:embed="rId8"/>
          <a:stretch>
            <a:fillRect/>
          </a:stretch>
        </p:blipFill>
        <p:spPr>
          <a:xfrm>
            <a:off x="777240" y="3429000"/>
            <a:ext cx="457200" cy="457200"/>
          </a:xfrm>
          <a:prstGeom prst="rect">
            <a:avLst/>
          </a:prstGeom>
        </p:spPr>
      </p:pic>
      <p:sp>
        <p:nvSpPr>
          <p:cNvPr id="25" name="TextBox 24"/>
          <p:cNvSpPr txBox="1"/>
          <p:nvPr/>
        </p:nvSpPr>
        <p:spPr>
          <a:xfrm>
            <a:off x="1371600" y="3429000"/>
            <a:ext cx="5532120" cy="502920"/>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discovery → design → build/launch → measure → operate → govern → discovery again</a:t>
            </a:r>
          </a:p>
        </p:txBody>
      </p:sp>
      <p:sp>
        <p:nvSpPr>
          <p:cNvPr id="26" name="Rounded Rectangle 25"/>
          <p:cNvSpPr/>
          <p:nvPr/>
        </p:nvSpPr>
        <p:spPr>
          <a:xfrm>
            <a:off x="7223760" y="1874519"/>
            <a:ext cx="4251960" cy="1828800"/>
          </a:xfrm>
          <a:prstGeom prst="roundRect">
            <a:avLst>
              <a:gd name="adj" fmla="val 16666"/>
            </a:avLst>
          </a:prstGeom>
          <a:solidFill>
            <a:srgbClr val="FFFFFF"/>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2011680"/>
            <a:ext cx="3931920" cy="292608"/>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Code loop (Lecture 4)</a:t>
            </a:r>
          </a:p>
        </p:txBody>
      </p:sp>
      <p:sp>
        <p:nvSpPr>
          <p:cNvPr id="28" name="TextBox 27"/>
          <p:cNvSpPr txBox="1"/>
          <p:nvPr/>
        </p:nvSpPr>
        <p:spPr>
          <a:xfrm>
            <a:off x="7406640" y="2395728"/>
            <a:ext cx="3931920" cy="1097280"/>
          </a:xfrm>
          <a:prstGeom prst="rect">
            <a:avLst/>
          </a:prstGeom>
          <a:noFill/>
        </p:spPr>
        <p:txBody>
          <a:bodyPr wrap="square" lIns="0" rIns="0" tIns="0" bIns="0" anchor="t">
            <a:spAutoFit/>
          </a:bodyPr>
          <a:lstStyle/>
          <a:p>
            <a:pPr algn="l">
              <a:lnSpc>
                <a:spcPct val="120000"/>
              </a:lnSpc>
            </a:pPr>
            <a:r>
              <a:rPr sz="1200" b="0" i="1">
                <a:solidFill>
                  <a:srgbClr val="5B6678"/>
                </a:solidFill>
                <a:latin typeface="DejaVu Sans"/>
              </a:rPr>
              <a:t>spec → ADR → plan → PR → incident</a:t>
            </a:r>
          </a:p>
        </p:txBody>
      </p:sp>
      <p:pic>
        <p:nvPicPr>
          <p:cNvPr id="29" name="Picture 28" descr="git-branch-teal.png"/>
          <p:cNvPicPr>
            <a:picLocks noChangeAspect="1"/>
          </p:cNvPicPr>
          <p:nvPr/>
        </p:nvPicPr>
        <p:blipFill>
          <a:blip r:embed="rId9"/>
          <a:stretch>
            <a:fillRect/>
          </a:stretch>
        </p:blipFill>
        <p:spPr>
          <a:xfrm>
            <a:off x="7406640" y="3017520"/>
            <a:ext cx="457200" cy="457200"/>
          </a:xfrm>
          <a:prstGeom prst="rect">
            <a:avLst/>
          </a:prstGeom>
        </p:spPr>
      </p:pic>
      <p:sp>
        <p:nvSpPr>
          <p:cNvPr id="30" name="Rounded Rectangle 29"/>
          <p:cNvSpPr/>
          <p:nvPr/>
        </p:nvSpPr>
        <p:spPr>
          <a:xfrm>
            <a:off x="502920" y="3977639"/>
            <a:ext cx="1120140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4096512"/>
            <a:ext cx="10652760" cy="1280160"/>
          </a:xfrm>
          <a:prstGeom prst="rect">
            <a:avLst/>
          </a:prstGeom>
          <a:noFill/>
        </p:spPr>
        <p:txBody>
          <a:bodyPr wrap="square" lIns="0" rIns="0" tIns="0" bIns="0" anchor="ctr">
            <a:spAutoFit/>
          </a:bodyPr>
          <a:lstStyle/>
          <a:p>
            <a:pPr algn="l">
              <a:lnSpc>
                <a:spcPct val="118000"/>
              </a:lnSpc>
            </a:pPr>
            <a:r>
              <a:rPr sz="1700" b="1" i="0">
                <a:solidFill>
                  <a:srgbClr val="21295C"/>
                </a:solidFill>
                <a:latin typeface="DejaVu Sans"/>
              </a:rPr>
              <a:t>Now that AI made assembly nearly free — what became the product's real bottleneck, and on every phase of the loop: which classical discipline stays, what does AI speed up, and where does AI-first break?</a:t>
            </a:r>
          </a:p>
        </p:txBody>
      </p:sp>
      <p:sp>
        <p:nvSpPr>
          <p:cNvPr id="32" name="Rounded Rectangle 31"/>
          <p:cNvSpPr/>
          <p:nvPr/>
        </p:nvSpPr>
        <p:spPr>
          <a:xfrm>
            <a:off x="502920" y="5623560"/>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5678424"/>
            <a:ext cx="10762488" cy="43891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Lecture 4's unit of work is the pull request. The unit of work here is a hypothesis, an experiment, a release decision.</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Three people from different fields drew the same blueprint</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r-chart-3-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136245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Deming · statistical quality</a:t>
            </a:r>
          </a:p>
        </p:txBody>
      </p:sp>
      <p:sp>
        <p:nvSpPr>
          <p:cNvPr id="6" name="Rounded Rectangle 5"/>
          <p:cNvSpPr/>
          <p:nvPr/>
        </p:nvSpPr>
        <p:spPr>
          <a:xfrm>
            <a:off x="72237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PDCA</a:t>
            </a:r>
          </a:p>
        </p:txBody>
      </p:sp>
      <p:sp>
        <p:nvSpPr>
          <p:cNvPr id="7" name="TextBox 6"/>
          <p:cNvSpPr txBox="1"/>
          <p:nvPr/>
        </p:nvSpPr>
        <p:spPr>
          <a:xfrm>
            <a:off x="72237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plan → do → check → act</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lane-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515721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Boyd · air combat</a:t>
            </a:r>
          </a:p>
        </p:txBody>
      </p:sp>
      <p:sp>
        <p:nvSpPr>
          <p:cNvPr id="11" name="Rounded Rectangle 10"/>
          <p:cNvSpPr/>
          <p:nvPr/>
        </p:nvSpPr>
        <p:spPr>
          <a:xfrm>
            <a:off x="451713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OODA</a:t>
            </a:r>
          </a:p>
        </p:txBody>
      </p:sp>
      <p:sp>
        <p:nvSpPr>
          <p:cNvPr id="12" name="TextBox 11"/>
          <p:cNvSpPr txBox="1"/>
          <p:nvPr/>
        </p:nvSpPr>
        <p:spPr>
          <a:xfrm>
            <a:off x="451713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observe → orient → decide → act</a:t>
            </a:r>
          </a:p>
        </p:txBody>
      </p:sp>
      <p:sp>
        <p:nvSpPr>
          <p:cNvPr id="13" name="Rounded Rectangle 12"/>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mid.png"/>
          <p:cNvPicPr>
            <a:picLocks noChangeAspect="1"/>
          </p:cNvPicPr>
          <p:nvPr/>
        </p:nvPicPr>
        <p:blipFill>
          <a:blip r:embed="rId4"/>
          <a:stretch>
            <a:fillRect/>
          </a:stretch>
        </p:blipFill>
        <p:spPr>
          <a:xfrm>
            <a:off x="8311896" y="1600200"/>
            <a:ext cx="512064" cy="512064"/>
          </a:xfrm>
          <a:prstGeom prst="rect">
            <a:avLst/>
          </a:prstGeom>
        </p:spPr>
      </p:pic>
      <p:sp>
        <p:nvSpPr>
          <p:cNvPr id="15" name="TextBox 14"/>
          <p:cNvSpPr txBox="1"/>
          <p:nvPr/>
        </p:nvSpPr>
        <p:spPr>
          <a:xfrm>
            <a:off x="895197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Ries · startups</a:t>
            </a:r>
          </a:p>
        </p:txBody>
      </p:sp>
      <p:sp>
        <p:nvSpPr>
          <p:cNvPr id="16" name="Rounded Rectangle 15"/>
          <p:cNvSpPr/>
          <p:nvPr/>
        </p:nvSpPr>
        <p:spPr>
          <a:xfrm>
            <a:off x="831189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BML</a:t>
            </a:r>
          </a:p>
        </p:txBody>
      </p:sp>
      <p:sp>
        <p:nvSpPr>
          <p:cNvPr id="17" name="TextBox 16"/>
          <p:cNvSpPr txBox="1"/>
          <p:nvPr/>
        </p:nvSpPr>
        <p:spPr>
          <a:xfrm>
            <a:off x="831189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build → measure → learn</a:t>
            </a:r>
          </a:p>
        </p:txBody>
      </p:sp>
      <p:sp>
        <p:nvSpPr>
          <p:cNvPr id="18" name="Oval 17"/>
          <p:cNvSpPr/>
          <p:nvPr/>
        </p:nvSpPr>
        <p:spPr>
          <a:xfrm>
            <a:off x="5596128" y="361188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peat-gold.png"/>
          <p:cNvPicPr>
            <a:picLocks noChangeAspect="1"/>
          </p:cNvPicPr>
          <p:nvPr/>
        </p:nvPicPr>
        <p:blipFill>
          <a:blip r:embed="rId5"/>
          <a:stretch>
            <a:fillRect/>
          </a:stretch>
        </p:blipFill>
        <p:spPr>
          <a:xfrm>
            <a:off x="5779008" y="3794760"/>
            <a:ext cx="640080" cy="640080"/>
          </a:xfrm>
          <a:prstGeom prst="rect">
            <a:avLst/>
          </a:prstGeom>
        </p:spPr>
      </p:pic>
      <p:cxnSp>
        <p:nvCxnSpPr>
          <p:cNvPr id="20" name="Connector 19"/>
          <p:cNvCxnSpPr/>
          <p:nvPr/>
        </p:nvCxnSpPr>
        <p:spPr>
          <a:xfrm>
            <a:off x="2308860" y="3291839"/>
            <a:ext cx="3790188"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099048" y="3291839"/>
            <a:ext cx="457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099048" y="3291839"/>
            <a:ext cx="379933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Without coordinating — the same blueprint: the feedback loop as a structural property of any system that learns under uncertainty.</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 changes the cost and trust of every arrow of the loop — but not equally</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Build</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cost nearly collapsed to zero</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Measure / Learn</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cost about the same, trust fell</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Observe / Orient</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faster, but more exposed to attack</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A meta-pattern repeating in each of the 6 sections: every arrow has a classical discipline — AI doesn't cancel it, it changes its cost and the degree of verification it requires.</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Think about it: on which arrow of your latest task did speed outrun your actual trust in the result?</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Discovery — intent and hypothesis</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base cases · 3 failures</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Where does a hypothesis about what to build even come from. Most people have the informal experience of "ask your friends" — and almost no one has met the formal discipline that explains why that experience systematically lies.</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2116182"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Discovery</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Discovery in plain terms</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arch-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in plain terms</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What it is</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The phase where you look not for a solution but for a problem: who has the pain, how bad it is, and whether the person is willing to pay for a fix in time, reputation, or money.</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Why it matters</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You can build anything; only what solves a real pain for a real person has value. "I'd use something like that" is not a fact.</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Mental model</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There are no facts inside the building — facts are outside. Write down a hypothesis, go out to people, check it. AI speeds up the gathering, but doesn't replace the conversation with a real person.</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"There are no facts inside the building" — 4 steps, each ending in a decision</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Discovery</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Validation</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Demand creation</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Scale</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Steve Blank — the Customer Development methodology </a:t>
            </a:r>
            <a:r>
              <a:rPr sz="650" baseline="30000" b="0" i="1">
                <a:latin typeface="DejaVu Sans"/>
                <a:cs typeface="DejaVu Sans"/>
                <a:ea typeface="DejaVu Sans"/>
                <a:solidFill>
                  <a:srgbClr val="1C7293"/>
                </a:solidFill>
              </a:rPr>
              <a:t>[1]</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Falsifiable hypothesis</a:t>
            </a:r>
          </a:p>
          <a:p>
            <a:pPr algn="l">
              <a:lnSpc>
                <a:spcPct val="115000"/>
              </a:lnSpc>
              <a:spcBef>
                <a:spcPts val="600"/>
              </a:spcBef>
            </a:pPr>
            <a:r>
              <a:rPr sz="1300" b="0" i="0">
                <a:solidFill>
                  <a:srgbClr val="21295C"/>
                </a:solidFill>
                <a:latin typeface="DejaVu Sans"/>
              </a:rPr>
              <a:t>we believe X → we'll test it via Y → by date Z we'll have a yes/no answer</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is the engine; Customer Development is the map of the terrain the engine drives on. First understand what you're testing and with whom — only then how fast to spin the loop.</a:t>
            </a:r>
          </a:p>
        </p:txBody>
      </p:sp>
      <p:sp>
        <p:nvSpPr>
          <p:cNvPr id="32" name="TextBox 3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Blank — Customer Development (Four Steps to the Epiphany)</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Even your mother will lie to you — if the question is built wrong </a:t>
            </a:r>
            <a:r>
              <a:rPr sz="1196" baseline="30000" b="0" i="1">
                <a:latin typeface="DejaVu Sans"/>
                <a:cs typeface="DejaVu Sans"/>
                <a:ea typeface="DejaVu Sans"/>
                <a:solidFill>
                  <a:srgbClr val="1C7293"/>
                </a:solidFill>
              </a:rPr>
              <a:t>[1]</a:t>
            </a:r>
          </a:p>
        </p:txBody>
      </p:sp>
      <p:sp>
        <p:nvSpPr>
          <p:cNvPr id="3" name="Rounded Rectangle 2"/>
          <p:cNvSpPr/>
          <p:nvPr/>
        </p:nvSpPr>
        <p:spPr>
          <a:xfrm>
            <a:off x="50292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x-mid.png"/>
          <p:cNvPicPr>
            <a:picLocks noChangeAspect="1"/>
          </p:cNvPicPr>
          <p:nvPr/>
        </p:nvPicPr>
        <p:blipFill>
          <a:blip r:embed="rId2"/>
          <a:stretch>
            <a:fillRect/>
          </a:stretch>
        </p:blipFill>
        <p:spPr>
          <a:xfrm>
            <a:off x="722376" y="1581912"/>
            <a:ext cx="457200" cy="457200"/>
          </a:xfrm>
          <a:prstGeom prst="rect">
            <a:avLst/>
          </a:prstGeom>
        </p:spPr>
      </p:pic>
      <p:sp>
        <p:nvSpPr>
          <p:cNvPr id="5" name="TextBox 4"/>
          <p:cNvSpPr txBox="1"/>
          <p:nvPr/>
        </p:nvSpPr>
        <p:spPr>
          <a:xfrm>
            <a:off x="72237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About their life, not your idea</a:t>
            </a:r>
          </a:p>
        </p:txBody>
      </p:sp>
      <p:sp>
        <p:nvSpPr>
          <p:cNvPr id="6" name="TextBox 5"/>
          <p:cNvSpPr txBox="1"/>
          <p:nvPr/>
        </p:nvSpPr>
        <p:spPr>
          <a:xfrm>
            <a:off x="72237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don't pitch the idea and don't ask for a verdict</a:t>
            </a:r>
          </a:p>
        </p:txBody>
      </p:sp>
      <p:sp>
        <p:nvSpPr>
          <p:cNvPr id="7" name="Rounded Rectangle 6"/>
          <p:cNvSpPr/>
          <p:nvPr/>
        </p:nvSpPr>
        <p:spPr>
          <a:xfrm>
            <a:off x="429768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istory-mid.png"/>
          <p:cNvPicPr>
            <a:picLocks noChangeAspect="1"/>
          </p:cNvPicPr>
          <p:nvPr/>
        </p:nvPicPr>
        <p:blipFill>
          <a:blip r:embed="rId3"/>
          <a:stretch>
            <a:fillRect/>
          </a:stretch>
        </p:blipFill>
        <p:spPr>
          <a:xfrm>
            <a:off x="4517136" y="1581912"/>
            <a:ext cx="457200" cy="457200"/>
          </a:xfrm>
          <a:prstGeom prst="rect">
            <a:avLst/>
          </a:prstGeom>
        </p:spPr>
      </p:pic>
      <p:sp>
        <p:nvSpPr>
          <p:cNvPr id="9" name="TextBox 8"/>
          <p:cNvSpPr txBox="1"/>
          <p:nvPr/>
        </p:nvSpPr>
        <p:spPr>
          <a:xfrm>
            <a:off x="451713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About the past, not the future</a:t>
            </a:r>
          </a:p>
        </p:txBody>
      </p:sp>
      <p:sp>
        <p:nvSpPr>
          <p:cNvPr id="10" name="TextBox 9"/>
          <p:cNvSpPr txBox="1"/>
          <p:nvPr/>
        </p:nvSpPr>
        <p:spPr>
          <a:xfrm>
            <a:off x="451713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hypothetical questions invite dishonest optimism</a:t>
            </a:r>
          </a:p>
        </p:txBody>
      </p:sp>
      <p:sp>
        <p:nvSpPr>
          <p:cNvPr id="11" name="Rounded Rectangle 10"/>
          <p:cNvSpPr/>
          <p:nvPr/>
        </p:nvSpPr>
        <p:spPr>
          <a:xfrm>
            <a:off x="809244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andshake-mid.png"/>
          <p:cNvPicPr>
            <a:picLocks noChangeAspect="1"/>
          </p:cNvPicPr>
          <p:nvPr/>
        </p:nvPicPr>
        <p:blipFill>
          <a:blip r:embed="rId4"/>
          <a:stretch>
            <a:fillRect/>
          </a:stretch>
        </p:blipFill>
        <p:spPr>
          <a:xfrm>
            <a:off x="8311896" y="1581912"/>
            <a:ext cx="457200" cy="457200"/>
          </a:xfrm>
          <a:prstGeom prst="rect">
            <a:avLst/>
          </a:prstGeom>
        </p:spPr>
      </p:pic>
      <p:sp>
        <p:nvSpPr>
          <p:cNvPr id="13" name="TextBox 12"/>
          <p:cNvSpPr txBox="1"/>
          <p:nvPr/>
        </p:nvSpPr>
        <p:spPr>
          <a:xfrm>
            <a:off x="831189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A commitment, not a compliment</a:t>
            </a:r>
          </a:p>
        </p:txBody>
      </p:sp>
      <p:sp>
        <p:nvSpPr>
          <p:cNvPr id="14" name="TextBox 13"/>
          <p:cNvSpPr txBox="1"/>
          <p:nvPr/>
        </p:nvSpPr>
        <p:spPr>
          <a:xfrm>
            <a:off x="831189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legitimate signals: time, reputation, money</a:t>
            </a:r>
          </a:p>
        </p:txBody>
      </p:sp>
      <p:sp>
        <p:nvSpPr>
          <p:cNvPr id="15" name="Rounded Rectangle 14"/>
          <p:cNvSpPr/>
          <p:nvPr/>
        </p:nvSpPr>
        <p:spPr>
          <a:xfrm>
            <a:off x="502920" y="3383280"/>
            <a:ext cx="5440680" cy="123444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20440"/>
            <a:ext cx="4983480" cy="320040"/>
          </a:xfrm>
          <a:prstGeom prst="rect">
            <a:avLst/>
          </a:prstGeom>
          <a:noFill/>
        </p:spPr>
        <p:txBody>
          <a:bodyPr wrap="square" lIns="0" rIns="0" tIns="0" bIns="0" anchor="t">
            <a:spAutoFit/>
          </a:bodyPr>
          <a:lstStyle/>
          <a:p>
            <a:pPr algn="l">
              <a:lnSpc>
                <a:spcPct val="115000"/>
              </a:lnSpc>
            </a:pPr>
            <a:r>
              <a:rPr sz="1250" b="1" i="0">
                <a:solidFill>
                  <a:srgbClr val="5B6678"/>
                </a:solidFill>
                <a:latin typeface="DejaVu Sans"/>
              </a:rPr>
              <a:t>Bad</a:t>
            </a:r>
          </a:p>
        </p:txBody>
      </p:sp>
      <p:sp>
        <p:nvSpPr>
          <p:cNvPr id="17" name="TextBox 16"/>
          <p:cNvSpPr txBox="1"/>
          <p:nvPr/>
        </p:nvSpPr>
        <p:spPr>
          <a:xfrm>
            <a:off x="731520" y="3858768"/>
            <a:ext cx="4983480" cy="685800"/>
          </a:xfrm>
          <a:prstGeom prst="rect">
            <a:avLst/>
          </a:prstGeom>
          <a:noFill/>
        </p:spPr>
        <p:txBody>
          <a:bodyPr wrap="square" lIns="0" rIns="0" tIns="0" bIns="0" anchor="t">
            <a:spAutoFit/>
          </a:bodyPr>
          <a:lstStyle/>
          <a:p>
            <a:pPr algn="l">
              <a:lnSpc>
                <a:spcPct val="110000"/>
              </a:lnSpc>
            </a:pPr>
            <a:r>
              <a:rPr sz="1350" b="0" i="1">
                <a:solidFill>
                  <a:srgbClr val="5B6678"/>
                </a:solidFill>
                <a:latin typeface="DejaVu Sans"/>
              </a:rPr>
              <a:t>"Would you pay $20 a month for this?"</a:t>
            </a:r>
          </a:p>
        </p:txBody>
      </p:sp>
      <p:sp>
        <p:nvSpPr>
          <p:cNvPr id="18" name="Rounded Rectangle 17"/>
          <p:cNvSpPr/>
          <p:nvPr/>
        </p:nvSpPr>
        <p:spPr>
          <a:xfrm>
            <a:off x="6172200" y="3383280"/>
            <a:ext cx="5532120" cy="1234440"/>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520440"/>
            <a:ext cx="5074920" cy="32004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Good</a:t>
            </a:r>
          </a:p>
        </p:txBody>
      </p:sp>
      <p:sp>
        <p:nvSpPr>
          <p:cNvPr id="20" name="TextBox 19"/>
          <p:cNvSpPr txBox="1"/>
          <p:nvPr/>
        </p:nvSpPr>
        <p:spPr>
          <a:xfrm>
            <a:off x="6400800" y="3858768"/>
            <a:ext cx="5074920" cy="685800"/>
          </a:xfrm>
          <a:prstGeom prst="rect">
            <a:avLst/>
          </a:prstGeom>
          <a:noFill/>
        </p:spPr>
        <p:txBody>
          <a:bodyPr wrap="square" lIns="0" rIns="0" tIns="0" bIns="0" anchor="t">
            <a:spAutoFit/>
          </a:bodyPr>
          <a:lstStyle/>
          <a:p>
            <a:pPr algn="l">
              <a:lnSpc>
                <a:spcPct val="110000"/>
              </a:lnSpc>
            </a:pPr>
            <a:r>
              <a:rPr sz="1350" b="1" i="0">
                <a:solidFill>
                  <a:srgbClr val="21295C"/>
                </a:solidFill>
                <a:latin typeface="DejaVu Sans"/>
              </a:rPr>
              <a:t>"How much do you pay today for the closest thing to this?"</a:t>
            </a:r>
          </a:p>
        </p:txBody>
      </p:sp>
      <p:sp>
        <p:nvSpPr>
          <p:cNvPr id="21" name="Rounded Rectangle 20"/>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Qualitative answers "why" on a small sample and generates hypotheses; quantitative answers "how much" at scale and tests a hypothesis that already exists — not a hierarchy, a division of labor.</a:t>
            </a:r>
          </a:p>
        </p:txBody>
      </p:sp>
      <p:sp>
        <p:nvSpPr>
          <p:cNvPr id="23" name="TextBox 2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Fitzpatrick — The Mom Test</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Hours → minutes: but links exist so they can be checked</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earch-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72237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Desk research</a:t>
            </a:r>
          </a:p>
        </p:txBody>
      </p:sp>
      <p:sp>
        <p:nvSpPr>
          <p:cNvPr id="6" name="TextBox 5"/>
          <p:cNvSpPr txBox="1"/>
          <p:nvPr/>
        </p:nvSpPr>
        <p:spPr>
          <a:xfrm>
            <a:off x="72237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Perplexity Deep Research: 2 hours → ~30 minutes </a:t>
            </a:r>
            <a:r>
              <a:rPr sz="572" baseline="30000" b="0" i="1">
                <a:latin typeface="DejaVu Sans"/>
                <a:cs typeface="DejaVu Sans"/>
                <a:ea typeface="DejaVu Sans"/>
                <a:solidFill>
                  <a:srgbClr val="1C7293"/>
                </a:solidFill>
              </a:rPr>
              <a:t>[1]</a:t>
            </a:r>
          </a:p>
        </p:txBody>
      </p:sp>
      <p:sp>
        <p:nvSpPr>
          <p:cNvPr id="7" name="Rounded Rectangle 6"/>
          <p:cNvSpPr/>
          <p:nvPr/>
        </p:nvSpPr>
        <p:spPr>
          <a:xfrm>
            <a:off x="2697480" y="1600200"/>
            <a:ext cx="118872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00" b="1">
                <a:solidFill>
                  <a:srgbClr val="21295C"/>
                </a:solidFill>
                <a:latin typeface="DejaVu Sans"/>
              </a:rPr>
              <a:t>verify the source</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out-list-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451713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Interview synthesis</a:t>
            </a:r>
          </a:p>
        </p:txBody>
      </p:sp>
      <p:sp>
        <p:nvSpPr>
          <p:cNvPr id="11" name="TextBox 10"/>
          <p:cNvSpPr txBox="1"/>
          <p:nvPr/>
        </p:nvSpPr>
        <p:spPr>
          <a:xfrm>
            <a:off x="451713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Dovetail — pain-point clustering at scale </a:t>
            </a:r>
            <a:r>
              <a:rPr sz="572" baseline="30000" b="0" i="1">
                <a:latin typeface="DejaVu Sans"/>
                <a:cs typeface="DejaVu Sans"/>
                <a:ea typeface="DejaVu Sans"/>
                <a:solidFill>
                  <a:srgbClr val="1C7293"/>
                </a:solidFill>
              </a:rPr>
              <a:t>[2]</a:t>
            </a:r>
          </a:p>
        </p:txBody>
      </p:sp>
      <p:sp>
        <p:nvSpPr>
          <p:cNvPr id="12" name="Rounded Rectangle 11"/>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tabase-mid.png"/>
          <p:cNvPicPr>
            <a:picLocks noChangeAspect="1"/>
          </p:cNvPicPr>
          <p:nvPr/>
        </p:nvPicPr>
        <p:blipFill>
          <a:blip r:embed="rId4"/>
          <a:stretch>
            <a:fillRect/>
          </a:stretch>
        </p:blipFill>
        <p:spPr>
          <a:xfrm>
            <a:off x="8311896" y="1600200"/>
            <a:ext cx="512064" cy="512064"/>
          </a:xfrm>
          <a:prstGeom prst="rect">
            <a:avLst/>
          </a:prstGeom>
        </p:spPr>
      </p:pic>
      <p:sp>
        <p:nvSpPr>
          <p:cNvPr id="14" name="TextBox 13"/>
          <p:cNvSpPr txBox="1"/>
          <p:nvPr/>
        </p:nvSpPr>
        <p:spPr>
          <a:xfrm>
            <a:off x="831189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Reference dataset</a:t>
            </a:r>
          </a:p>
        </p:txBody>
      </p:sp>
      <p:sp>
        <p:nvSpPr>
          <p:cNvPr id="15" name="TextBox 14"/>
          <p:cNvSpPr txBox="1"/>
          <p:nvPr/>
        </p:nvSpPr>
        <p:spPr>
          <a:xfrm>
            <a:off x="831189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a curated collection of "query → correct answer"</a:t>
            </a:r>
          </a:p>
        </p:txBody>
      </p:sp>
      <p:sp>
        <p:nvSpPr>
          <p:cNvPr id="16" name="Rounded Rectangle 15"/>
          <p:cNvSpPr/>
          <p:nvPr/>
        </p:nvSpPr>
        <p:spPr>
          <a:xfrm>
            <a:off x="502920" y="356616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621024"/>
            <a:ext cx="10762488" cy="548640"/>
          </a:xfrm>
          <a:prstGeom prst="rect">
            <a:avLst/>
          </a:prstGeom>
          <a:noFill/>
        </p:spPr>
        <p:txBody>
          <a:bodyPr wrap="square" lIns="0" rIns="0" tIns="0" bIns="0" anchor="ctr">
            <a:spAutoFit/>
          </a:bodyPr>
          <a:lstStyle/>
          <a:p>
            <a:pPr algn="ctr">
              <a:lnSpc>
                <a:spcPct val="120000"/>
              </a:lnSpc>
            </a:pPr>
            <a:r>
              <a:rPr sz="1450" b="1" i="0">
                <a:solidFill>
                  <a:srgbClr val="21295C"/>
                </a:solidFill>
                <a:latin typeface="DejaVu Sans"/>
              </a:rPr>
              <a:t>97% of researchers use AI — only ~8% trust AI personas as data </a:t>
            </a:r>
            <a:r>
              <a:rPr sz="754" baseline="30000" b="0" i="1">
                <a:latin typeface="DejaVu Sans"/>
                <a:cs typeface="DejaVu Sans"/>
                <a:ea typeface="DejaVu Sans"/>
                <a:solidFill>
                  <a:srgbClr val="1C7293"/>
                </a:solidFill>
              </a:rPr>
              <a:t>[3]</a:t>
            </a:r>
          </a:p>
        </p:txBody>
      </p:sp>
      <p:sp>
        <p:nvSpPr>
          <p:cNvPr id="18" name="Rounded Rectangle 17"/>
          <p:cNvSpPr/>
          <p:nvPr/>
        </p:nvSpPr>
        <p:spPr>
          <a:xfrm>
            <a:off x="502920" y="4434840"/>
            <a:ext cx="11201400" cy="12344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553712"/>
            <a:ext cx="10652760" cy="1005840"/>
          </a:xfrm>
          <a:prstGeom prst="rect">
            <a:avLst/>
          </a:prstGeom>
          <a:noFill/>
        </p:spPr>
        <p:txBody>
          <a:bodyPr wrap="square" lIns="0" rIns="0" tIns="0" bIns="0" anchor="ctr">
            <a:spAutoFit/>
          </a:bodyPr>
          <a:lstStyle/>
          <a:p>
            <a:pPr algn="l">
              <a:lnSpc>
                <a:spcPct val="115000"/>
              </a:lnSpc>
            </a:pPr>
            <a:r>
              <a:rPr sz="1250" b="0" i="0">
                <a:solidFill>
                  <a:srgbClr val="21295C"/>
                </a:solidFill>
                <a:latin typeface="DejaVu Sans"/>
              </a:rPr>
              <a:t>Mandatory practice: verify important data directly against the source before using it in a decision. Synthetic users are only a pre-research step (piloting a guide, a draft of personas, generating hypotheses), never evidence for a go/no-go decision.</a:t>
            </a:r>
          </a:p>
        </p:txBody>
      </p:sp>
      <p:sp>
        <p:nvSpPr>
          <p:cNvPr id="20" name="TextBox 19"/>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Deep Research — overview for product research</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Dovetail — AI interview synthesis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NN/g — 2026 practitioner survey</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 synthetic interviewee structurally cannot produce disagreement</a:t>
            </a:r>
          </a:p>
        </p:txBody>
      </p:sp>
      <p:sp>
        <p:nvSpPr>
          <p:cNvPr id="3" name="Rounded Rectangle 2"/>
          <p:cNvSpPr/>
          <p:nvPr/>
        </p:nvSpPr>
        <p:spPr>
          <a:xfrm>
            <a:off x="502920" y="1417320"/>
            <a:ext cx="39319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1965960" y="1737360"/>
            <a:ext cx="1005840" cy="1005840"/>
          </a:xfrm>
          <a:prstGeom prst="rect">
            <a:avLst/>
          </a:prstGeom>
        </p:spPr>
      </p:pic>
      <p:sp>
        <p:nvSpPr>
          <p:cNvPr id="5" name="TextBox 4"/>
          <p:cNvSpPr txBox="1"/>
          <p:nvPr/>
        </p:nvSpPr>
        <p:spPr>
          <a:xfrm>
            <a:off x="731520" y="2880360"/>
            <a:ext cx="3474720" cy="1417320"/>
          </a:xfrm>
          <a:prstGeom prst="rect">
            <a:avLst/>
          </a:prstGeom>
          <a:noFill/>
        </p:spPr>
        <p:txBody>
          <a:bodyPr wrap="square" lIns="0" rIns="0" tIns="0" bIns="0" anchor="t">
            <a:spAutoFit/>
          </a:bodyPr>
          <a:lstStyle/>
          <a:p>
            <a:pPr algn="ctr">
              <a:lnSpc>
                <a:spcPct val="118000"/>
              </a:lnSpc>
            </a:pPr>
            <a:r>
              <a:rPr sz="1250" b="0" i="0">
                <a:solidFill>
                  <a:srgbClr val="21295C"/>
                </a:solidFill>
                <a:latin typeface="DejaVu Sans"/>
              </a:rPr>
              <a:t>Mirror of agreement: a synthetic interviewee structurally cannot reflect disagreement — it has no real past that could contradict the way the question is phrased.</a:t>
            </a:r>
          </a:p>
        </p:txBody>
      </p:sp>
      <p:sp>
        <p:nvSpPr>
          <p:cNvPr id="6" name="TextBox 5"/>
          <p:cNvSpPr txBox="1"/>
          <p:nvPr/>
        </p:nvSpPr>
        <p:spPr>
          <a:xfrm>
            <a:off x="4709160" y="1417320"/>
            <a:ext cx="69951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When a live interview is strictly better than AI synthesis</a:t>
            </a:r>
          </a:p>
        </p:txBody>
      </p:sp>
      <p:sp>
        <p:nvSpPr>
          <p:cNvPr id="7" name="Rounded Rectangle 6"/>
          <p:cNvSpPr/>
          <p:nvPr/>
        </p:nvSpPr>
        <p:spPr>
          <a:xfrm>
            <a:off x="4709160" y="192024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192024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The cost of a "continue/stop" mistake is high</a:t>
            </a:r>
          </a:p>
        </p:txBody>
      </p:sp>
      <p:pic>
        <p:nvPicPr>
          <p:cNvPr id="9" name="Picture 8" descr="shield-alert-mid.png"/>
          <p:cNvPicPr>
            <a:picLocks noChangeAspect="1"/>
          </p:cNvPicPr>
          <p:nvPr/>
        </p:nvPicPr>
        <p:blipFill>
          <a:blip r:embed="rId3"/>
          <a:stretch>
            <a:fillRect/>
          </a:stretch>
        </p:blipFill>
        <p:spPr>
          <a:xfrm>
            <a:off x="4837176" y="2057400"/>
            <a:ext cx="384048" cy="384048"/>
          </a:xfrm>
          <a:prstGeom prst="rect">
            <a:avLst/>
          </a:prstGeom>
        </p:spPr>
      </p:pic>
      <p:sp>
        <p:nvSpPr>
          <p:cNvPr id="10" name="Rounded Rectangle 9"/>
          <p:cNvSpPr/>
          <p:nvPr/>
        </p:nvSpPr>
        <p:spPr>
          <a:xfrm>
            <a:off x="4709160" y="269748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269748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You need a real past, not a plausible one</a:t>
            </a:r>
          </a:p>
        </p:txBody>
      </p:sp>
      <p:pic>
        <p:nvPicPr>
          <p:cNvPr id="12" name="Picture 11" descr="shield-alert-mid.png"/>
          <p:cNvPicPr>
            <a:picLocks noChangeAspect="1"/>
          </p:cNvPicPr>
          <p:nvPr/>
        </p:nvPicPr>
        <p:blipFill>
          <a:blip r:embed="rId3"/>
          <a:stretch>
            <a:fillRect/>
          </a:stretch>
        </p:blipFill>
        <p:spPr>
          <a:xfrm>
            <a:off x="4837176" y="2834640"/>
            <a:ext cx="384048" cy="384048"/>
          </a:xfrm>
          <a:prstGeom prst="rect">
            <a:avLst/>
          </a:prstGeom>
        </p:spPr>
      </p:pic>
      <p:sp>
        <p:nvSpPr>
          <p:cNvPr id="13" name="Rounded Rectangle 12"/>
          <p:cNvSpPr/>
          <p:nvPr/>
        </p:nvSpPr>
        <p:spPr>
          <a:xfrm>
            <a:off x="4709160" y="347472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347472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You need validation by commitment, not by opinion</a:t>
            </a:r>
          </a:p>
        </p:txBody>
      </p:sp>
      <p:pic>
        <p:nvPicPr>
          <p:cNvPr id="15" name="Picture 14" descr="shield-alert-mid.png"/>
          <p:cNvPicPr>
            <a:picLocks noChangeAspect="1"/>
          </p:cNvPicPr>
          <p:nvPr/>
        </p:nvPicPr>
        <p:blipFill>
          <a:blip r:embed="rId3"/>
          <a:stretch>
            <a:fillRect/>
          </a:stretch>
        </p:blipFill>
        <p:spPr>
          <a:xfrm>
            <a:off x="4837176" y="3611879"/>
            <a:ext cx="384048" cy="384048"/>
          </a:xfrm>
          <a:prstGeom prst="rect">
            <a:avLst/>
          </a:prstGeom>
        </p:spPr>
      </p:pic>
      <p:sp>
        <p:nvSpPr>
          <p:cNvPr id="16" name="Rounded Rectangle 15"/>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AI summaries lose 20-40% of interview detail (Torres)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when the "individually first" step is skipped — a failure traceable to a specific step, not a vague "AI is sometimes wrong."</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Torres — Continuous Discovery Habits / anti-synthetic</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same task: real people — 3 of 7, the synthetic panel — 7 of 7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trade-offer.jpg"/>
          <p:cNvPicPr>
            <a:picLocks noChangeAspect="1"/>
          </p:cNvPicPr>
          <p:nvPr/>
        </p:nvPicPr>
        <p:blipFill>
          <a:blip r:embed="rId2"/>
          <a:stretch>
            <a:fillRect/>
          </a:stretch>
        </p:blipFill>
        <p:spPr>
          <a:xfrm>
            <a:off x="1580052" y="1545336"/>
            <a:ext cx="2006256" cy="2624328"/>
          </a:xfrm>
          <a:prstGeom prst="rect">
            <a:avLst/>
          </a:prstGeom>
        </p:spPr>
      </p:pic>
      <p:sp>
        <p:nvSpPr>
          <p:cNvPr id="5" name="Rounded Rectangle 4"/>
          <p:cNvSpPr/>
          <p:nvPr/>
        </p:nvSpPr>
        <p:spPr>
          <a:xfrm>
            <a:off x="4892040" y="1417320"/>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11496" y="1490472"/>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Real people</a:t>
            </a:r>
          </a:p>
        </p:txBody>
      </p:sp>
      <p:pic>
        <p:nvPicPr>
          <p:cNvPr id="7" name="Picture 6" descr="check-check-mid.png"/>
          <p:cNvPicPr>
            <a:picLocks noChangeAspect="1"/>
          </p:cNvPicPr>
          <p:nvPr/>
        </p:nvPicPr>
        <p:blipFill>
          <a:blip r:embed="rId3"/>
          <a:stretch>
            <a:fillRect/>
          </a:stretch>
        </p:blipFill>
        <p:spPr>
          <a:xfrm>
            <a:off x="5148072" y="1847088"/>
            <a:ext cx="329184" cy="329184"/>
          </a:xfrm>
          <a:prstGeom prst="rect">
            <a:avLst/>
          </a:prstGeom>
        </p:spPr>
      </p:pic>
      <p:pic>
        <p:nvPicPr>
          <p:cNvPr id="8" name="Picture 7" descr="check-check-mid.png"/>
          <p:cNvPicPr>
            <a:picLocks noChangeAspect="1"/>
          </p:cNvPicPr>
          <p:nvPr/>
        </p:nvPicPr>
        <p:blipFill>
          <a:blip r:embed="rId3"/>
          <a:stretch>
            <a:fillRect/>
          </a:stretch>
        </p:blipFill>
        <p:spPr>
          <a:xfrm>
            <a:off x="5532120" y="1847088"/>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916168" y="1847088"/>
            <a:ext cx="329184" cy="329184"/>
          </a:xfrm>
          <a:prstGeom prst="rect">
            <a:avLst/>
          </a:prstGeom>
        </p:spPr>
      </p:pic>
      <p:pic>
        <p:nvPicPr>
          <p:cNvPr id="10" name="Picture 9" descr="x-light.png"/>
          <p:cNvPicPr>
            <a:picLocks noChangeAspect="1"/>
          </p:cNvPicPr>
          <p:nvPr/>
        </p:nvPicPr>
        <p:blipFill>
          <a:blip r:embed="rId4"/>
          <a:stretch>
            <a:fillRect/>
          </a:stretch>
        </p:blipFill>
        <p:spPr>
          <a:xfrm>
            <a:off x="6300216" y="1847088"/>
            <a:ext cx="329184" cy="329184"/>
          </a:xfrm>
          <a:prstGeom prst="rect">
            <a:avLst/>
          </a:prstGeom>
        </p:spPr>
      </p:pic>
      <p:pic>
        <p:nvPicPr>
          <p:cNvPr id="11" name="Picture 10" descr="x-light.png"/>
          <p:cNvPicPr>
            <a:picLocks noChangeAspect="1"/>
          </p:cNvPicPr>
          <p:nvPr/>
        </p:nvPicPr>
        <p:blipFill>
          <a:blip r:embed="rId4"/>
          <a:stretch>
            <a:fillRect/>
          </a:stretch>
        </p:blipFill>
        <p:spPr>
          <a:xfrm>
            <a:off x="6684264" y="1847088"/>
            <a:ext cx="329184" cy="329184"/>
          </a:xfrm>
          <a:prstGeom prst="rect">
            <a:avLst/>
          </a:prstGeom>
        </p:spPr>
      </p:pic>
      <p:pic>
        <p:nvPicPr>
          <p:cNvPr id="12" name="Picture 11" descr="x-light.png"/>
          <p:cNvPicPr>
            <a:picLocks noChangeAspect="1"/>
          </p:cNvPicPr>
          <p:nvPr/>
        </p:nvPicPr>
        <p:blipFill>
          <a:blip r:embed="rId4"/>
          <a:stretch>
            <a:fillRect/>
          </a:stretch>
        </p:blipFill>
        <p:spPr>
          <a:xfrm>
            <a:off x="7068312" y="1847088"/>
            <a:ext cx="329184" cy="329184"/>
          </a:xfrm>
          <a:prstGeom prst="rect">
            <a:avLst/>
          </a:prstGeom>
        </p:spPr>
      </p:pic>
      <p:pic>
        <p:nvPicPr>
          <p:cNvPr id="13" name="Picture 12" descr="x-light.png"/>
          <p:cNvPicPr>
            <a:picLocks noChangeAspect="1"/>
          </p:cNvPicPr>
          <p:nvPr/>
        </p:nvPicPr>
        <p:blipFill>
          <a:blip r:embed="rId4"/>
          <a:stretch>
            <a:fillRect/>
          </a:stretch>
        </p:blipFill>
        <p:spPr>
          <a:xfrm>
            <a:off x="7452360" y="1847088"/>
            <a:ext cx="329184" cy="329184"/>
          </a:xfrm>
          <a:prstGeom prst="rect">
            <a:avLst/>
          </a:prstGeom>
        </p:spPr>
      </p:pic>
      <p:sp>
        <p:nvSpPr>
          <p:cNvPr id="14" name="TextBox 13"/>
          <p:cNvSpPr txBox="1"/>
          <p:nvPr/>
        </p:nvSpPr>
        <p:spPr>
          <a:xfrm>
            <a:off x="7955279" y="160020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of 7 — "far-fetched and useless"</a:t>
            </a:r>
          </a:p>
        </p:txBody>
      </p:sp>
      <p:sp>
        <p:nvSpPr>
          <p:cNvPr id="15" name="Rounded Rectangle 14"/>
          <p:cNvSpPr/>
          <p:nvPr/>
        </p:nvSpPr>
        <p:spPr>
          <a:xfrm>
            <a:off x="4892040" y="2514600"/>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11496" y="2587752"/>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Synth panel</a:t>
            </a:r>
          </a:p>
        </p:txBody>
      </p:sp>
      <p:pic>
        <p:nvPicPr>
          <p:cNvPr id="17" name="Picture 16" descr="check-check-gold.png"/>
          <p:cNvPicPr>
            <a:picLocks noChangeAspect="1"/>
          </p:cNvPicPr>
          <p:nvPr/>
        </p:nvPicPr>
        <p:blipFill>
          <a:blip r:embed="rId5"/>
          <a:stretch>
            <a:fillRect/>
          </a:stretch>
        </p:blipFill>
        <p:spPr>
          <a:xfrm>
            <a:off x="5148072" y="2944368"/>
            <a:ext cx="329184" cy="329184"/>
          </a:xfrm>
          <a:prstGeom prst="rect">
            <a:avLst/>
          </a:prstGeom>
        </p:spPr>
      </p:pic>
      <p:pic>
        <p:nvPicPr>
          <p:cNvPr id="18" name="Picture 17" descr="check-check-gold.png"/>
          <p:cNvPicPr>
            <a:picLocks noChangeAspect="1"/>
          </p:cNvPicPr>
          <p:nvPr/>
        </p:nvPicPr>
        <p:blipFill>
          <a:blip r:embed="rId5"/>
          <a:stretch>
            <a:fillRect/>
          </a:stretch>
        </p:blipFill>
        <p:spPr>
          <a:xfrm>
            <a:off x="5532120" y="2944368"/>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916168" y="2944368"/>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6300216" y="2944368"/>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684264" y="2944368"/>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7068312" y="2944368"/>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452360" y="2944368"/>
            <a:ext cx="329184" cy="329184"/>
          </a:xfrm>
          <a:prstGeom prst="rect">
            <a:avLst/>
          </a:prstGeom>
        </p:spPr>
      </p:pic>
      <p:sp>
        <p:nvSpPr>
          <p:cNvPr id="24" name="TextBox 23"/>
          <p:cNvSpPr txBox="1"/>
          <p:nvPr/>
        </p:nvSpPr>
        <p:spPr>
          <a:xfrm>
            <a:off x="7955279" y="269748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of 7 — "a game changer"</a:t>
            </a:r>
          </a:p>
        </p:txBody>
      </p:sp>
      <p:sp>
        <p:nvSpPr>
          <p:cNvPr id="25" name="TextBox 24"/>
          <p:cNvSpPr txBox="1"/>
          <p:nvPr/>
        </p:nvSpPr>
        <p:spPr>
          <a:xfrm>
            <a:off x="4892040" y="3611880"/>
            <a:ext cx="6812280" cy="502920"/>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The same feature — opposite verdicts</a:t>
            </a:r>
          </a:p>
        </p:txBody>
      </p:sp>
      <p:sp>
        <p:nvSpPr>
          <p:cNvPr id="26" name="Rounded Rectangle 25"/>
          <p:cNvSpPr/>
          <p:nvPr/>
        </p:nvSpPr>
        <p:spPr>
          <a:xfrm>
            <a:off x="502920" y="448056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535424"/>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Criterion: synthetic output is disqualified for a "continue/stop" decision by construction, not from bad luck on a run. Alternative: a pre-research role + real testing with 5-8 participants.</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NN/g (Rosala &amp; Moran) — Synthetic Users</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 $440,000 government report — with fabricated quotes inside</a:t>
            </a:r>
          </a:p>
        </p:txBody>
      </p:sp>
      <p:sp>
        <p:nvSpPr>
          <p:cNvPr id="3" name="Rounded Rectangle 2"/>
          <p:cNvSpPr/>
          <p:nvPr/>
        </p:nvSpPr>
        <p:spPr>
          <a:xfrm>
            <a:off x="502920" y="1417320"/>
            <a:ext cx="59893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x-mid.png"/>
          <p:cNvPicPr>
            <a:picLocks noChangeAspect="1"/>
          </p:cNvPicPr>
          <p:nvPr/>
        </p:nvPicPr>
        <p:blipFill>
          <a:blip r:embed="rId2"/>
          <a:stretch>
            <a:fillRect/>
          </a:stretch>
        </p:blipFill>
        <p:spPr>
          <a:xfrm>
            <a:off x="722376" y="1600200"/>
            <a:ext cx="548640" cy="548640"/>
          </a:xfrm>
          <a:prstGeom prst="rect">
            <a:avLst/>
          </a:prstGeom>
        </p:spPr>
      </p:pic>
      <p:sp>
        <p:nvSpPr>
          <p:cNvPr id="5" name="TextBox 4"/>
          <p:cNvSpPr txBox="1"/>
          <p:nvPr/>
        </p:nvSpPr>
        <p:spPr>
          <a:xfrm>
            <a:off x="1417320" y="1627632"/>
            <a:ext cx="4892040" cy="50292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Deloitte Australia, 2025</a:t>
            </a:r>
          </a:p>
        </p:txBody>
      </p:sp>
      <p:sp>
        <p:nvSpPr>
          <p:cNvPr id="6" name="TextBox 5"/>
          <p:cNvSpPr txBox="1"/>
          <p:nvPr/>
        </p:nvSpPr>
        <p:spPr>
          <a:xfrm>
            <a:off x="758952" y="233172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References to nonexistent papers + a fabricated court quote </a:t>
            </a:r>
            <a:r>
              <a:rPr sz="650" baseline="30000" b="0" i="1">
                <a:latin typeface="DejaVu Sans"/>
                <a:cs typeface="DejaVu Sans"/>
                <a:ea typeface="DejaVu Sans"/>
                <a:solidFill>
                  <a:srgbClr val="1C7293"/>
                </a:solidFill>
              </a:rPr>
              <a:t>[1]</a:t>
            </a:r>
          </a:p>
        </p:txBody>
      </p:sp>
      <p:sp>
        <p:nvSpPr>
          <p:cNvPr id="7" name="TextBox 6"/>
          <p:cNvSpPr txBox="1"/>
          <p:nvPr/>
        </p:nvSpPr>
        <p:spPr>
          <a:xfrm>
            <a:off x="758952" y="310896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Produced via Azure OpenAI with no human verification of citations</a:t>
            </a:r>
          </a:p>
        </p:txBody>
      </p:sp>
      <p:sp>
        <p:nvSpPr>
          <p:cNvPr id="8" name="Rounded Rectangle 7"/>
          <p:cNvSpPr/>
          <p:nvPr/>
        </p:nvSpPr>
        <p:spPr>
          <a:xfrm>
            <a:off x="6720840" y="1417320"/>
            <a:ext cx="49834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anknote-gold.png"/>
          <p:cNvPicPr>
            <a:picLocks noChangeAspect="1"/>
          </p:cNvPicPr>
          <p:nvPr/>
        </p:nvPicPr>
        <p:blipFill>
          <a:blip r:embed="rId3"/>
          <a:stretch>
            <a:fillRect/>
          </a:stretch>
        </p:blipFill>
        <p:spPr>
          <a:xfrm>
            <a:off x="6940296" y="1627632"/>
            <a:ext cx="502920" cy="502920"/>
          </a:xfrm>
          <a:prstGeom prst="rect">
            <a:avLst/>
          </a:prstGeom>
        </p:spPr>
      </p:pic>
      <p:sp>
        <p:nvSpPr>
          <p:cNvPr id="10" name="TextBox 9"/>
          <p:cNvSpPr txBox="1"/>
          <p:nvPr/>
        </p:nvSpPr>
        <p:spPr>
          <a:xfrm>
            <a:off x="7589519" y="1645920"/>
            <a:ext cx="3931920" cy="502920"/>
          </a:xfrm>
          <a:prstGeom prst="rect">
            <a:avLst/>
          </a:prstGeom>
          <a:noFill/>
        </p:spPr>
        <p:txBody>
          <a:bodyPr wrap="square" lIns="0" rIns="0" tIns="0" bIns="0" anchor="t">
            <a:spAutoFit/>
          </a:bodyPr>
          <a:lstStyle/>
          <a:p>
            <a:pPr algn="l">
              <a:lnSpc>
                <a:spcPct val="115000"/>
              </a:lnSpc>
            </a:pPr>
            <a:r>
              <a:rPr sz="2600" b="1" i="0">
                <a:solidFill>
                  <a:srgbClr val="21295C"/>
                </a:solidFill>
                <a:latin typeface="DejaVu Sans"/>
              </a:rPr>
              <a:t>A$440,000</a:t>
            </a:r>
          </a:p>
        </p:txBody>
      </p:sp>
      <p:sp>
        <p:nvSpPr>
          <p:cNvPr id="11" name="TextBox 10"/>
          <p:cNvSpPr txBox="1"/>
          <p:nvPr/>
        </p:nvSpPr>
        <p:spPr>
          <a:xfrm>
            <a:off x="6940296" y="2331720"/>
            <a:ext cx="4544568" cy="41148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~US$290,000 report</a:t>
            </a:r>
          </a:p>
        </p:txBody>
      </p:sp>
      <p:sp>
        <p:nvSpPr>
          <p:cNvPr id="12" name="Rounded Rectangle 11"/>
          <p:cNvSpPr/>
          <p:nvPr/>
        </p:nvSpPr>
        <p:spPr>
          <a:xfrm>
            <a:off x="6720840" y="3017520"/>
            <a:ext cx="4983480" cy="141732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0296" y="3154680"/>
            <a:ext cx="4544568" cy="114300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Base rate: ~712 court cases worldwide involving AI-hallucinated citations, ~90% of them in 2025 </a:t>
            </a:r>
            <a:r>
              <a:rPr sz="624" baseline="30000" b="0" i="1">
                <a:latin typeface="DejaVu Sans"/>
                <a:cs typeface="DejaVu Sans"/>
                <a:ea typeface="DejaVu Sans"/>
                <a:solidFill>
                  <a:srgbClr val="1C7293"/>
                </a:solidFill>
              </a:rPr>
              <a:t>[2]</a:t>
            </a:r>
          </a:p>
        </p:txBody>
      </p:sp>
      <p:sp>
        <p:nvSpPr>
          <p:cNvPr id="14" name="Rounded Rectangle 13"/>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Lesson: model output during the discovery phase is an unverified draft, not a source of facts. Criterion: a final document for an external client requires verifying 100% of citations, not a sample.</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Fortune (Oct 7, 2025) — Deloitte Australia A$440k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Damien Charlotin — AI Hallucination Cases Database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$62 million — and not a single patient treated</a:t>
            </a:r>
          </a:p>
        </p:txBody>
      </p:sp>
      <p:sp>
        <p:nvSpPr>
          <p:cNvPr id="3" name="Rounded Rectangle 2"/>
          <p:cNvSpPr/>
          <p:nvPr/>
        </p:nvSpPr>
        <p:spPr>
          <a:xfrm>
            <a:off x="502920" y="1417320"/>
            <a:ext cx="5074920" cy="2331720"/>
          </a:xfrm>
          <a:prstGeom prst="roundRect">
            <a:avLst>
              <a:gd name="adj" fmla="val 1307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651760" y="1554480"/>
            <a:ext cx="822960" cy="822960"/>
          </a:xfrm>
          <a:prstGeom prst="rect">
            <a:avLst/>
          </a:prstGeom>
        </p:spPr>
      </p:pic>
      <p:sp>
        <p:nvSpPr>
          <p:cNvPr id="5" name="TextBox 4"/>
          <p:cNvSpPr txBox="1"/>
          <p:nvPr/>
        </p:nvSpPr>
        <p:spPr>
          <a:xfrm>
            <a:off x="731520" y="2468880"/>
            <a:ext cx="2194560" cy="685800"/>
          </a:xfrm>
          <a:prstGeom prst="rect">
            <a:avLst/>
          </a:prstGeom>
          <a:noFill/>
        </p:spPr>
        <p:txBody>
          <a:bodyPr wrap="square" lIns="0" rIns="0" tIns="0" bIns="0" anchor="t">
            <a:spAutoFit/>
          </a:bodyPr>
          <a:lstStyle/>
          <a:p>
            <a:pPr algn="ctr">
              <a:lnSpc>
                <a:spcPct val="115000"/>
              </a:lnSpc>
            </a:pPr>
            <a:r>
              <a:rPr sz="2200" b="1" i="0">
                <a:solidFill>
                  <a:srgbClr val="21295C"/>
                </a:solidFill>
                <a:latin typeface="DejaVu Sans"/>
              </a:rPr>
              <a:t>$62M</a:t>
            </a:r>
          </a:p>
        </p:txBody>
      </p:sp>
      <p:sp>
        <p:nvSpPr>
          <p:cNvPr id="6" name="TextBox 5"/>
          <p:cNvSpPr txBox="1"/>
          <p:nvPr/>
        </p:nvSpPr>
        <p:spPr>
          <a:xfrm>
            <a:off x="3154680" y="2468880"/>
            <a:ext cx="2194560" cy="685800"/>
          </a:xfrm>
          <a:prstGeom prst="rect">
            <a:avLst/>
          </a:prstGeom>
          <a:noFill/>
        </p:spPr>
        <p:txBody>
          <a:bodyPr wrap="square" lIns="0" rIns="0" tIns="0" bIns="0" anchor="t">
            <a:spAutoFit/>
          </a:bodyPr>
          <a:lstStyle/>
          <a:p>
            <a:pPr algn="ctr">
              <a:lnSpc>
                <a:spcPct val="115000"/>
              </a:lnSpc>
            </a:pPr>
            <a:r>
              <a:rPr sz="2200" b="1" i="0">
                <a:solidFill>
                  <a:srgbClr val="028090"/>
                </a:solidFill>
                <a:latin typeface="DejaVu Sans"/>
              </a:rPr>
              <a:t>0 patients</a:t>
            </a:r>
          </a:p>
        </p:txBody>
      </p:sp>
      <p:sp>
        <p:nvSpPr>
          <p:cNvPr id="7" name="TextBox 6"/>
          <p:cNvSpPr txBox="1"/>
          <p:nvPr/>
        </p:nvSpPr>
        <p:spPr>
          <a:xfrm>
            <a:off x="731520" y="3246120"/>
            <a:ext cx="4617720" cy="411480"/>
          </a:xfrm>
          <a:prstGeom prst="rect">
            <a:avLst/>
          </a:prstGeom>
          <a:noFill/>
        </p:spPr>
        <p:txBody>
          <a:bodyPr wrap="square" lIns="0" rIns="0" tIns="0" bIns="0" anchor="t">
            <a:spAutoFit/>
          </a:bodyPr>
          <a:lstStyle/>
          <a:p>
            <a:pPr algn="ctr">
              <a:lnSpc>
                <a:spcPct val="115000"/>
              </a:lnSpc>
            </a:pPr>
            <a:r>
              <a:rPr sz="1150" b="0" i="1">
                <a:solidFill>
                  <a:srgbClr val="5B6678"/>
                </a:solidFill>
                <a:latin typeface="DejaVu Sans"/>
              </a:rPr>
              <a:t>MD Anderson: partnership closed (2016) </a:t>
            </a:r>
            <a:r>
              <a:rPr sz="598" baseline="30000" b="0" i="1">
                <a:latin typeface="DejaVu Sans"/>
                <a:cs typeface="DejaVu Sans"/>
                <a:ea typeface="DejaVu Sans"/>
                <a:solidFill>
                  <a:srgbClr val="1C7293"/>
                </a:solidFill>
              </a:rPr>
              <a:t>[1]</a:t>
            </a:r>
          </a:p>
        </p:txBody>
      </p:sp>
      <p:sp>
        <p:nvSpPr>
          <p:cNvPr id="8" name="TextBox 7"/>
          <p:cNvSpPr txBox="1"/>
          <p:nvPr/>
        </p:nvSpPr>
        <p:spPr>
          <a:xfrm>
            <a:off x="5806440" y="1417320"/>
            <a:ext cx="5897880" cy="32004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IBM Watson for Oncology, since 2012</a:t>
            </a:r>
          </a:p>
        </p:txBody>
      </p:sp>
      <p:pic>
        <p:nvPicPr>
          <p:cNvPr id="9" name="Picture 8" descr="users-light.png"/>
          <p:cNvPicPr>
            <a:picLocks noChangeAspect="1"/>
          </p:cNvPicPr>
          <p:nvPr/>
        </p:nvPicPr>
        <p:blipFill>
          <a:blip r:embed="rId3"/>
          <a:stretch>
            <a:fillRect/>
          </a:stretch>
        </p:blipFill>
        <p:spPr>
          <a:xfrm>
            <a:off x="5806440" y="1874519"/>
            <a:ext cx="384048" cy="384048"/>
          </a:xfrm>
          <a:prstGeom prst="rect">
            <a:avLst/>
          </a:prstGeom>
        </p:spPr>
      </p:pic>
      <p:sp>
        <p:nvSpPr>
          <p:cNvPr id="10" name="TextBox 9"/>
          <p:cNvSpPr txBox="1"/>
          <p:nvPr/>
        </p:nvSpPr>
        <p:spPr>
          <a:xfrm>
            <a:off x="6309359" y="1828799"/>
            <a:ext cx="5394960" cy="7772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Internal documents: recommendations were "unsafe and incorrect" </a:t>
            </a:r>
            <a:r>
              <a:rPr sz="650" baseline="30000" b="0" i="1">
                <a:latin typeface="DejaVu Sans"/>
                <a:cs typeface="DejaVu Sans"/>
                <a:ea typeface="DejaVu Sans"/>
                <a:solidFill>
                  <a:srgbClr val="1C7293"/>
                </a:solidFill>
              </a:rPr>
              <a:t>[1]</a:t>
            </a:r>
          </a:p>
        </p:txBody>
      </p:sp>
      <p:pic>
        <p:nvPicPr>
          <p:cNvPr id="11" name="Picture 10" descr="user-x-light.png"/>
          <p:cNvPicPr>
            <a:picLocks noChangeAspect="1"/>
          </p:cNvPicPr>
          <p:nvPr/>
        </p:nvPicPr>
        <p:blipFill>
          <a:blip r:embed="rId4"/>
          <a:stretch>
            <a:fillRect/>
          </a:stretch>
        </p:blipFill>
        <p:spPr>
          <a:xfrm>
            <a:off x="5806440" y="2743200"/>
            <a:ext cx="384048" cy="384048"/>
          </a:xfrm>
          <a:prstGeom prst="rect">
            <a:avLst/>
          </a:prstGeom>
        </p:spPr>
      </p:pic>
      <p:sp>
        <p:nvSpPr>
          <p:cNvPr id="12" name="TextBox 11"/>
          <p:cNvSpPr txBox="1"/>
          <p:nvPr/>
        </p:nvSpPr>
        <p:spPr>
          <a:xfrm>
            <a:off x="6309359" y="2697480"/>
            <a:ext cx="5394960" cy="7772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Trained on hypothetical cases from a handful of MSK oncologists — not on real outcomes </a:t>
            </a:r>
            <a:r>
              <a:rPr sz="650" baseline="30000" b="0" i="1">
                <a:latin typeface="DejaVu Sans"/>
                <a:cs typeface="DejaVu Sans"/>
                <a:ea typeface="DejaVu Sans"/>
                <a:solidFill>
                  <a:srgbClr val="1C7293"/>
                </a:solidFill>
              </a:rPr>
              <a:t>[2]</a:t>
            </a:r>
          </a:p>
        </p:txBody>
      </p:sp>
      <p:sp>
        <p:nvSpPr>
          <p:cNvPr id="13" name="Rounded Rectangle 12"/>
          <p:cNvSpPr/>
          <p:nvPr/>
        </p:nvSpPr>
        <p:spPr>
          <a:xfrm>
            <a:off x="502920" y="3977639"/>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03250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Criterion: a high-stakes domain + only synthetic/hypothetical data behind the recommendation = the product isn't ready, no matter how impressive the demo. Alternative: a system built on evidence-based clinical guidelines with transparent source traceability.</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STAT News — leaked internal IBM Watson documents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IEEE Spectrum — how Watson overpromised and underdelivered</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Design — a hypothesis becomes an artifact</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base cases · 2 failures</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How a hypothesis from research turns into a concrete artifact you can show a person. This is also where safety gets built in — in the design brief, not patched on after something has already gone wrong.</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5" name="Rounded Rectangle 14"/>
          <p:cNvSpPr/>
          <p:nvPr/>
        </p:nvSpPr>
        <p:spPr>
          <a:xfrm>
            <a:off x="3729445"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Design</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Design in plain terms</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nci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in plain terms</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What it is</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A hypothesis becomes a cheap draft: a screen sketch, a clickable prototype — something you can show a person.</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Why</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You won't mind throwing away a draft. Discovering "it doesn't work" on paper is cheap; discovering the same thing after launch is very expensive.</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Mental model</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Two diamonds: first find the right problem, then the right solution. A common mistake is jumping straight to the solution.</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Two diamonds: first the right problem, then the right solution</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468879"/>
            <a:ext cx="3383280" cy="640080"/>
          </a:xfrm>
          <a:prstGeom prst="rect">
            <a:avLst/>
          </a:prstGeom>
          <a:noFill/>
        </p:spPr>
        <p:txBody>
          <a:bodyPr wrap="square" lIns="0" rIns="0" tIns="0" bIns="0" anchor="ctr">
            <a:spAutoFit/>
          </a:bodyPr>
          <a:lstStyle/>
          <a:p>
            <a:pPr algn="ctr">
              <a:lnSpc>
                <a:spcPct val="115000"/>
              </a:lnSpc>
            </a:pPr>
            <a:r>
              <a:rPr sz="1350" b="1" i="0">
                <a:solidFill>
                  <a:srgbClr val="065A82"/>
                </a:solidFill>
                <a:latin typeface="DejaVu Sans"/>
              </a:rPr>
              <a:t>The right</a:t>
            </a:r>
          </a:p>
          <a:p>
            <a:pPr algn="ctr">
              <a:lnSpc>
                <a:spcPct val="115000"/>
              </a:lnSpc>
            </a:pPr>
            <a:r>
              <a:rPr sz="1350" b="1" i="0">
                <a:solidFill>
                  <a:srgbClr val="065A82"/>
                </a:solidFill>
                <a:latin typeface="DejaVu Sans"/>
              </a:rPr>
              <a:t>problem</a:t>
            </a:r>
          </a:p>
        </p:txBody>
      </p:sp>
      <p:sp>
        <p:nvSpPr>
          <p:cNvPr id="5" name="TextBox 4"/>
          <p:cNvSpPr txBox="1"/>
          <p:nvPr/>
        </p:nvSpPr>
        <p:spPr>
          <a:xfrm>
            <a:off x="1508760" y="1307591"/>
            <a:ext cx="3108960" cy="502920"/>
          </a:xfrm>
          <a:prstGeom prst="rect">
            <a:avLst/>
          </a:prstGeom>
          <a:noFill/>
        </p:spPr>
        <p:txBody>
          <a:bodyPr wrap="square" lIns="0" rIns="0" tIns="0" bIns="0" anchor="t">
            <a:spAutoFit/>
          </a:bodyPr>
          <a:lstStyle/>
          <a:p>
            <a:pPr algn="ctr">
              <a:lnSpc>
                <a:spcPct val="105000"/>
              </a:lnSpc>
            </a:pPr>
            <a:r>
              <a:rPr sz="1250" b="1" i="0">
                <a:solidFill>
                  <a:srgbClr val="065A82"/>
                </a:solidFill>
                <a:latin typeface="DejaVu Sans"/>
              </a:rPr>
              <a:t>Widen the problem</a:t>
            </a:r>
          </a:p>
        </p:txBody>
      </p:sp>
      <p:sp>
        <p:nvSpPr>
          <p:cNvPr id="6" name="TextBox 5"/>
          <p:cNvSpPr txBox="1"/>
          <p:nvPr/>
        </p:nvSpPr>
        <p:spPr>
          <a:xfrm>
            <a:off x="150876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Narrow: one problem</a:t>
            </a:r>
          </a:p>
        </p:txBody>
      </p:sp>
      <p:sp>
        <p:nvSpPr>
          <p:cNvPr id="7" name="Diamond 6"/>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2468879"/>
            <a:ext cx="3383280" cy="640080"/>
          </a:xfrm>
          <a:prstGeom prst="rect">
            <a:avLst/>
          </a:prstGeom>
          <a:noFill/>
        </p:spPr>
        <p:txBody>
          <a:bodyPr wrap="square" lIns="0" rIns="0" tIns="0" bIns="0" anchor="ctr">
            <a:spAutoFit/>
          </a:bodyPr>
          <a:lstStyle/>
          <a:p>
            <a:pPr algn="ctr">
              <a:lnSpc>
                <a:spcPct val="115000"/>
              </a:lnSpc>
            </a:pPr>
            <a:r>
              <a:rPr sz="1350" b="1" i="0">
                <a:solidFill>
                  <a:srgbClr val="028090"/>
                </a:solidFill>
                <a:latin typeface="DejaVu Sans"/>
              </a:rPr>
              <a:t>The right</a:t>
            </a:r>
          </a:p>
          <a:p>
            <a:pPr algn="ctr">
              <a:lnSpc>
                <a:spcPct val="115000"/>
              </a:lnSpc>
            </a:pPr>
            <a:r>
              <a:rPr sz="1350" b="1" i="0">
                <a:solidFill>
                  <a:srgbClr val="028090"/>
                </a:solidFill>
                <a:latin typeface="DejaVu Sans"/>
              </a:rPr>
              <a:t>solution</a:t>
            </a:r>
          </a:p>
        </p:txBody>
      </p:sp>
      <p:sp>
        <p:nvSpPr>
          <p:cNvPr id="9" name="TextBox 8"/>
          <p:cNvSpPr txBox="1"/>
          <p:nvPr/>
        </p:nvSpPr>
        <p:spPr>
          <a:xfrm>
            <a:off x="5440680" y="1307591"/>
            <a:ext cx="3108960" cy="502920"/>
          </a:xfrm>
          <a:prstGeom prst="rect">
            <a:avLst/>
          </a:prstGeom>
          <a:noFill/>
        </p:spPr>
        <p:txBody>
          <a:bodyPr wrap="square" lIns="0" rIns="0" tIns="0" bIns="0" anchor="t">
            <a:spAutoFit/>
          </a:bodyPr>
          <a:lstStyle/>
          <a:p>
            <a:pPr algn="ctr">
              <a:lnSpc>
                <a:spcPct val="105000"/>
              </a:lnSpc>
            </a:pPr>
            <a:r>
              <a:rPr sz="1250" b="1" i="0">
                <a:solidFill>
                  <a:srgbClr val="028090"/>
                </a:solidFill>
                <a:latin typeface="DejaVu Sans"/>
              </a:rPr>
              <a:t>Widen the solution</a:t>
            </a:r>
          </a:p>
        </p:txBody>
      </p:sp>
      <p:sp>
        <p:nvSpPr>
          <p:cNvPr id="10" name="TextBox 9"/>
          <p:cNvSpPr txBox="1"/>
          <p:nvPr/>
        </p:nvSpPr>
        <p:spPr>
          <a:xfrm>
            <a:off x="544068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Narrow: one solution</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 </a:t>
            </a:r>
            <a:r>
              <a:rPr sz="624" baseline="30000" b="0" i="1">
                <a:latin typeface="DejaVu Sans"/>
                <a:cs typeface="DejaVu Sans"/>
                <a:ea typeface="DejaVu Sans"/>
                <a:solidFill>
                  <a:srgbClr val="1C7293"/>
                </a:solidFill>
              </a:rPr>
              <a:t>[1]</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its 5-step version of the same framework</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A common mistake: converging on a solution without checking the problem itself — skipping the first diamond. A cheap prototype exists precisely to surface this before money is spent on development.</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UK Design Council — The Double Diamond</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Nielsen's heuristics are a linter for UX, not a substitute for testing</a:t>
            </a:r>
          </a:p>
        </p:txBody>
      </p:sp>
      <p:sp>
        <p:nvSpPr>
          <p:cNvPr id="3" name="Rounded Rectangle 2"/>
          <p:cNvSpPr/>
          <p:nvPr/>
        </p:nvSpPr>
        <p:spPr>
          <a:xfrm>
            <a:off x="502920" y="1417320"/>
            <a:ext cx="6172200" cy="4892040"/>
          </a:xfrm>
          <a:prstGeom prst="roundRect">
            <a:avLst>
              <a:gd name="adj" fmla="val 6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rcle-check-mid.png"/>
          <p:cNvPicPr>
            <a:picLocks noChangeAspect="1"/>
          </p:cNvPicPr>
          <p:nvPr/>
        </p:nvPicPr>
        <p:blipFill>
          <a:blip r:embed="rId2"/>
          <a:stretch>
            <a:fillRect/>
          </a:stretch>
        </p:blipFill>
        <p:spPr>
          <a:xfrm>
            <a:off x="731520" y="1600200"/>
            <a:ext cx="502920" cy="502920"/>
          </a:xfrm>
          <a:prstGeom prst="rect">
            <a:avLst/>
          </a:prstGeom>
        </p:spPr>
      </p:pic>
      <p:sp>
        <p:nvSpPr>
          <p:cNvPr id="5" name="TextBox 4"/>
          <p:cNvSpPr txBox="1"/>
          <p:nvPr/>
        </p:nvSpPr>
        <p:spPr>
          <a:xfrm>
            <a:off x="1417320" y="1645920"/>
            <a:ext cx="51206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Top 5 of 10 heuristics </a:t>
            </a:r>
            <a:r>
              <a:rPr sz="780" baseline="30000" b="0" i="1">
                <a:latin typeface="DejaVu Sans"/>
                <a:cs typeface="DejaVu Sans"/>
                <a:ea typeface="DejaVu Sans"/>
                <a:solidFill>
                  <a:srgbClr val="1C7293"/>
                </a:solidFill>
              </a:rPr>
              <a:t>[1]</a:t>
            </a:r>
          </a:p>
        </p:txBody>
      </p:sp>
      <p:sp>
        <p:nvSpPr>
          <p:cNvPr id="6" name="Rounded Rectangle 5"/>
          <p:cNvSpPr/>
          <p:nvPr/>
        </p:nvSpPr>
        <p:spPr>
          <a:xfrm>
            <a:off x="731520" y="22402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1</a:t>
            </a:r>
          </a:p>
        </p:txBody>
      </p:sp>
      <p:sp>
        <p:nvSpPr>
          <p:cNvPr id="7" name="TextBox 6"/>
          <p:cNvSpPr txBox="1"/>
          <p:nvPr/>
        </p:nvSpPr>
        <p:spPr>
          <a:xfrm>
            <a:off x="1280160" y="22219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Visibility of system status</a:t>
            </a:r>
          </a:p>
        </p:txBody>
      </p:sp>
      <p:sp>
        <p:nvSpPr>
          <p:cNvPr id="8" name="Rounded Rectangle 7"/>
          <p:cNvSpPr/>
          <p:nvPr/>
        </p:nvSpPr>
        <p:spPr>
          <a:xfrm>
            <a:off x="731520" y="26974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2</a:t>
            </a:r>
          </a:p>
        </p:txBody>
      </p:sp>
      <p:sp>
        <p:nvSpPr>
          <p:cNvPr id="9" name="TextBox 8"/>
          <p:cNvSpPr txBox="1"/>
          <p:nvPr/>
        </p:nvSpPr>
        <p:spPr>
          <a:xfrm>
            <a:off x="1280160" y="26791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Match with the user's language</a:t>
            </a:r>
          </a:p>
        </p:txBody>
      </p:sp>
      <p:sp>
        <p:nvSpPr>
          <p:cNvPr id="10" name="Rounded Rectangle 9"/>
          <p:cNvSpPr/>
          <p:nvPr/>
        </p:nvSpPr>
        <p:spPr>
          <a:xfrm>
            <a:off x="731520" y="31546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3</a:t>
            </a:r>
          </a:p>
        </p:txBody>
      </p:sp>
      <p:sp>
        <p:nvSpPr>
          <p:cNvPr id="11" name="TextBox 10"/>
          <p:cNvSpPr txBox="1"/>
          <p:nvPr/>
        </p:nvSpPr>
        <p:spPr>
          <a:xfrm>
            <a:off x="1280160" y="31363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User control and freedom (undo)</a:t>
            </a:r>
          </a:p>
        </p:txBody>
      </p:sp>
      <p:sp>
        <p:nvSpPr>
          <p:cNvPr id="12" name="Rounded Rectangle 11"/>
          <p:cNvSpPr/>
          <p:nvPr/>
        </p:nvSpPr>
        <p:spPr>
          <a:xfrm>
            <a:off x="731520" y="36118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4</a:t>
            </a:r>
          </a:p>
        </p:txBody>
      </p:sp>
      <p:sp>
        <p:nvSpPr>
          <p:cNvPr id="13" name="TextBox 12"/>
          <p:cNvSpPr txBox="1"/>
          <p:nvPr/>
        </p:nvSpPr>
        <p:spPr>
          <a:xfrm>
            <a:off x="1280160" y="35935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Consistency</a:t>
            </a:r>
          </a:p>
        </p:txBody>
      </p:sp>
      <p:sp>
        <p:nvSpPr>
          <p:cNvPr id="14" name="Rounded Rectangle 13"/>
          <p:cNvSpPr/>
          <p:nvPr/>
        </p:nvSpPr>
        <p:spPr>
          <a:xfrm>
            <a:off x="731520" y="40690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5</a:t>
            </a:r>
          </a:p>
        </p:txBody>
      </p:sp>
      <p:sp>
        <p:nvSpPr>
          <p:cNvPr id="15" name="TextBox 14"/>
          <p:cNvSpPr txBox="1"/>
          <p:nvPr/>
        </p:nvSpPr>
        <p:spPr>
          <a:xfrm>
            <a:off x="1280160" y="40507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Error prevention</a:t>
            </a:r>
          </a:p>
        </p:txBody>
      </p:sp>
      <p:sp>
        <p:nvSpPr>
          <p:cNvPr id="16" name="Rounded Rectangle 15"/>
          <p:cNvSpPr/>
          <p:nvPr/>
        </p:nvSpPr>
        <p:spPr>
          <a:xfrm>
            <a:off x="502920" y="4754880"/>
            <a:ext cx="6172200" cy="1417320"/>
          </a:xfrm>
          <a:prstGeom prst="roundRect">
            <a:avLst>
              <a:gd name="adj" fmla="val 21505"/>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teal.png"/>
          <p:cNvPicPr>
            <a:picLocks noChangeAspect="1"/>
          </p:cNvPicPr>
          <p:nvPr/>
        </p:nvPicPr>
        <p:blipFill>
          <a:blip r:embed="rId3"/>
          <a:stretch>
            <a:fillRect/>
          </a:stretch>
        </p:blipFill>
        <p:spPr>
          <a:xfrm>
            <a:off x="731520" y="4956048"/>
            <a:ext cx="502920" cy="502920"/>
          </a:xfrm>
          <a:prstGeom prst="rect">
            <a:avLst/>
          </a:prstGeom>
        </p:spPr>
      </p:pic>
      <p:sp>
        <p:nvSpPr>
          <p:cNvPr id="18" name="TextBox 17"/>
          <p:cNvSpPr txBox="1"/>
          <p:nvPr/>
        </p:nvSpPr>
        <p:spPr>
          <a:xfrm>
            <a:off x="1417320" y="4974336"/>
            <a:ext cx="512064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Design system = guardrail</a:t>
            </a:r>
          </a:p>
        </p:txBody>
      </p:sp>
      <p:sp>
        <p:nvSpPr>
          <p:cNvPr id="19" name="TextBox 18"/>
          <p:cNvSpPr txBox="1"/>
          <p:nvPr/>
        </p:nvSpPr>
        <p:spPr>
          <a:xfrm>
            <a:off x="731520" y="5532120"/>
            <a:ext cx="5715000" cy="54864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Keeps generative freedom inside an already-validated brand.</a:t>
            </a:r>
          </a:p>
        </p:txBody>
      </p:sp>
      <p:sp>
        <p:nvSpPr>
          <p:cNvPr id="20" name="Rounded Rectangle 19"/>
          <p:cNvSpPr/>
          <p:nvPr/>
        </p:nvSpPr>
        <p:spPr>
          <a:xfrm>
            <a:off x="6903720" y="1417320"/>
            <a:ext cx="48006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23176" y="1472184"/>
            <a:ext cx="43616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Metaphor: heuristics are like a linter for the interface. They catch typical problems before money is spent on research — but don't replace testing with a real user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a:t>
            </a:r>
          </a:p>
        </p:txBody>
      </p:sp>
      <p:sp>
        <p:nvSpPr>
          <p:cNvPr id="22" name="Rounded Rectangle 21"/>
          <p:cNvSpPr/>
          <p:nvPr/>
        </p:nvSpPr>
        <p:spPr>
          <a:xfrm>
            <a:off x="7223760" y="2560320"/>
            <a:ext cx="416052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16-bernie.jpg"/>
          <p:cNvPicPr>
            <a:picLocks noChangeAspect="1"/>
          </p:cNvPicPr>
          <p:nvPr/>
        </p:nvPicPr>
        <p:blipFill>
          <a:blip r:embed="rId4"/>
          <a:stretch>
            <a:fillRect/>
          </a:stretch>
        </p:blipFill>
        <p:spPr>
          <a:xfrm>
            <a:off x="8122333" y="2670048"/>
            <a:ext cx="2363372" cy="3072384"/>
          </a:xfrm>
          <a:prstGeom prst="rect">
            <a:avLst/>
          </a:prstGeom>
        </p:spPr>
      </p:pic>
      <p:sp>
        <p:nvSpPr>
          <p:cNvPr id="24" name="TextBox 23"/>
          <p:cNvSpPr txBox="1"/>
          <p:nvPr/>
        </p:nvSpPr>
        <p:spPr>
          <a:xfrm>
            <a:off x="6903720" y="5961888"/>
            <a:ext cx="4800600" cy="594360"/>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"I'm once again asking": heuristics catch typical problems, but don't replace testing with a real user.</a:t>
            </a:r>
          </a:p>
        </p:txBody>
      </p:sp>
      <p:sp>
        <p:nvSpPr>
          <p:cNvPr id="25" name="TextBox 2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Nielsen — 10 usability heuristics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Nielsen — "you are not the user"</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AI for divergence, humans for convergence</a:t>
            </a:r>
          </a:p>
        </p:txBody>
      </p:sp>
      <p:sp>
        <p:nvSpPr>
          <p:cNvPr id="3" name="Rounded Rectangle 2"/>
          <p:cNvSpPr/>
          <p:nvPr/>
        </p:nvSpPr>
        <p:spPr>
          <a:xfrm>
            <a:off x="502920" y="1463040"/>
            <a:ext cx="59893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4864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Direction generation</a:t>
            </a:r>
          </a:p>
        </p:txBody>
      </p:sp>
      <p:sp>
        <p:nvSpPr>
          <p:cNvPr id="5" name="Rounded Rectangle 4"/>
          <p:cNvSpPr/>
          <p:nvPr/>
        </p:nvSpPr>
        <p:spPr>
          <a:xfrm>
            <a:off x="77724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61288" y="2212848"/>
            <a:ext cx="411480" cy="411480"/>
          </a:xfrm>
          <a:prstGeom prst="rect">
            <a:avLst/>
          </a:prstGeom>
        </p:spPr>
      </p:pic>
      <p:sp>
        <p:nvSpPr>
          <p:cNvPr id="7" name="TextBox 6"/>
          <p:cNvSpPr txBox="1"/>
          <p:nvPr/>
        </p:nvSpPr>
        <p:spPr>
          <a:xfrm>
            <a:off x="77724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option 1</a:t>
            </a:r>
          </a:p>
        </p:txBody>
      </p:sp>
      <p:sp>
        <p:nvSpPr>
          <p:cNvPr id="8" name="Rounded Rectangle 7"/>
          <p:cNvSpPr/>
          <p:nvPr/>
        </p:nvSpPr>
        <p:spPr>
          <a:xfrm>
            <a:off x="219456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578608" y="2212848"/>
            <a:ext cx="411480" cy="411480"/>
          </a:xfrm>
          <a:prstGeom prst="rect">
            <a:avLst/>
          </a:prstGeom>
        </p:spPr>
      </p:pic>
      <p:sp>
        <p:nvSpPr>
          <p:cNvPr id="10" name="TextBox 9"/>
          <p:cNvSpPr txBox="1"/>
          <p:nvPr/>
        </p:nvSpPr>
        <p:spPr>
          <a:xfrm>
            <a:off x="219456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option 2</a:t>
            </a:r>
          </a:p>
        </p:txBody>
      </p:sp>
      <p:sp>
        <p:nvSpPr>
          <p:cNvPr id="11" name="Rounded Rectangle 10"/>
          <p:cNvSpPr/>
          <p:nvPr/>
        </p:nvSpPr>
        <p:spPr>
          <a:xfrm>
            <a:off x="361188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995928" y="2212848"/>
            <a:ext cx="411480" cy="411480"/>
          </a:xfrm>
          <a:prstGeom prst="rect">
            <a:avLst/>
          </a:prstGeom>
        </p:spPr>
      </p:pic>
      <p:sp>
        <p:nvSpPr>
          <p:cNvPr id="13" name="TextBox 12"/>
          <p:cNvSpPr txBox="1"/>
          <p:nvPr/>
        </p:nvSpPr>
        <p:spPr>
          <a:xfrm>
            <a:off x="361188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option 3</a:t>
            </a:r>
          </a:p>
        </p:txBody>
      </p:sp>
      <p:sp>
        <p:nvSpPr>
          <p:cNvPr id="14" name="Rounded Rectangle 13"/>
          <p:cNvSpPr/>
          <p:nvPr/>
        </p:nvSpPr>
        <p:spPr>
          <a:xfrm>
            <a:off x="502920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413248" y="2212848"/>
            <a:ext cx="411480" cy="411480"/>
          </a:xfrm>
          <a:prstGeom prst="rect">
            <a:avLst/>
          </a:prstGeom>
        </p:spPr>
      </p:pic>
      <p:sp>
        <p:nvSpPr>
          <p:cNvPr id="16" name="TextBox 15"/>
          <p:cNvSpPr txBox="1"/>
          <p:nvPr/>
        </p:nvSpPr>
        <p:spPr>
          <a:xfrm>
            <a:off x="502920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option 4</a:t>
            </a:r>
          </a:p>
        </p:txBody>
      </p:sp>
      <p:sp>
        <p:nvSpPr>
          <p:cNvPr id="17" name="Right Arrow 16"/>
          <p:cNvSpPr/>
          <p:nvPr/>
        </p:nvSpPr>
        <p:spPr>
          <a:xfrm>
            <a:off x="2788920" y="3246120"/>
            <a:ext cx="914400" cy="27432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3611880"/>
            <a:ext cx="1828800" cy="50292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3675887"/>
            <a:ext cx="182880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1 refined</a:t>
            </a:r>
          </a:p>
        </p:txBody>
      </p:sp>
      <p:sp>
        <p:nvSpPr>
          <p:cNvPr id="20" name="Rounded Rectangle 19"/>
          <p:cNvSpPr/>
          <p:nvPr/>
        </p:nvSpPr>
        <p:spPr>
          <a:xfrm>
            <a:off x="6720840" y="1463040"/>
            <a:ext cx="498348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1572768"/>
            <a:ext cx="457200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2025-26 tools</a:t>
            </a:r>
          </a:p>
        </p:txBody>
      </p:sp>
      <p:sp>
        <p:nvSpPr>
          <p:cNvPr id="22" name="TextBox 21"/>
          <p:cNvSpPr txBox="1"/>
          <p:nvPr/>
        </p:nvSpPr>
        <p:spPr>
          <a:xfrm>
            <a:off x="6949440" y="2011680"/>
            <a:ext cx="45720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v0 (Vercel) · Figma Make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 Google Stitch </a:t>
            </a:r>
            <a:r>
              <a:rPr sz="650" baseline="30000" b="0" i="1">
                <a:latin typeface="DejaVu Sans"/>
                <a:cs typeface="DejaVu Sans"/>
                <a:ea typeface="DejaVu Sans"/>
                <a:solidFill>
                  <a:srgbClr val="1C7293"/>
                </a:solidFill>
              </a:rPr>
              <a:t>[2]</a:t>
            </a:r>
            <a:r>
              <a:rPr sz="1250" b="0" i="0">
                <a:latin typeface="DejaVu Sans"/>
                <a:cs typeface="DejaVu Sans"/>
                <a:ea typeface="DejaVu Sans"/>
                <a:solidFill>
                  <a:srgbClr val="21295C"/>
                </a:solidFill>
              </a:rPr>
              <a:t> · bolt.new</a:t>
            </a:r>
          </a:p>
        </p:txBody>
      </p:sp>
      <p:sp>
        <p:nvSpPr>
          <p:cNvPr id="23" name="TextBox 22"/>
          <p:cNvSpPr txBox="1"/>
          <p:nvPr/>
        </p:nvSpPr>
        <p:spPr>
          <a:xfrm>
            <a:off x="6949440" y="2697480"/>
            <a:ext cx="4572000" cy="137160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 2-4 directions in minutes (used to be a day of manual wireframing)</a:t>
            </a:r>
          </a:p>
          <a:p>
            <a:pPr algn="l">
              <a:lnSpc>
                <a:spcPct val="118000"/>
              </a:lnSpc>
            </a:pPr>
            <a:r>
              <a:rPr sz="1200" b="0" i="0">
                <a:solidFill>
                  <a:srgbClr val="21295C"/>
                </a:solidFill>
                <a:latin typeface="DejaVu Sans"/>
              </a:rPr>
              <a:t>• Figma Make pulls in the team's own components — less rework</a:t>
            </a:r>
          </a:p>
        </p:txBody>
      </p:sp>
      <p:sp>
        <p:nvSpPr>
          <p:cNvPr id="24" name="Rounded Rectangle 23"/>
          <p:cNvSpPr/>
          <p:nvPr/>
        </p:nvSpPr>
        <p:spPr>
          <a:xfrm>
            <a:off x="502920" y="443484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489703"/>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Convergence needs judgment about specific context that isn't in the training data: AI widens the space of options, choosing and testing with a real user stays with the human.</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2026 AI design tools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(ex-Galileo AI)</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WCAG conformance across 21,880 evaluations — the platform matters more than the prompt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21,880 WCAG evaluations of AI-generated interfaces:</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contrast 26.8%</a:t>
            </a:r>
          </a:p>
          <a:p>
            <a:pPr algn="l">
              <a:lnSpc>
                <a:spcPct val="120000"/>
              </a:lnSpc>
            </a:pPr>
            <a:r>
              <a:rPr sz="1150" b="0" i="0">
                <a:solidFill>
                  <a:srgbClr val="21295C"/>
                </a:solidFill>
                <a:latin typeface="DejaVu Sans"/>
              </a:rPr>
              <a:t>• use of color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"Make it accessible" in the prompt does not guarantee the result — platform defaults decide, not the request text.</a:t>
            </a:r>
          </a:p>
        </p:txBody>
      </p:sp>
      <p:sp>
        <p:nvSpPr>
          <p:cNvPr id="10" name="Rounded Rectangle 9"/>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Design for NON-DETERMINISTIC output: same input → different output → breaks the consistency heuristic; you need human checkpoints.</a:t>
            </a:r>
          </a:p>
        </p:txBody>
      </p:sp>
      <p:sp>
        <p:nvSpPr>
          <p:cNvPr id="12" name="TextBox 1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ACM Web4All 2026 — Generated Inaccessible</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Safeguards appeared almost two years after launch — only after the tragedy</a:t>
            </a:r>
          </a:p>
        </p:txBody>
      </p:sp>
      <p:sp>
        <p:nvSpPr>
          <p:cNvPr id="3" name="Rounded Rectangle 2"/>
          <p:cNvSpPr/>
          <p:nvPr/>
        </p:nvSpPr>
        <p:spPr>
          <a:xfrm>
            <a:off x="502920" y="1417320"/>
            <a:ext cx="3429000" cy="39319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hield-alert-light.png"/>
          <p:cNvPicPr>
            <a:picLocks noChangeAspect="1"/>
          </p:cNvPicPr>
          <p:nvPr/>
        </p:nvPicPr>
        <p:blipFill>
          <a:blip r:embed="rId2"/>
          <a:stretch>
            <a:fillRect/>
          </a:stretch>
        </p:blipFill>
        <p:spPr>
          <a:xfrm>
            <a:off x="1417320" y="1874519"/>
            <a:ext cx="1600200" cy="1600200"/>
          </a:xfrm>
          <a:prstGeom prst="rect">
            <a:avLst/>
          </a:prstGeom>
        </p:spPr>
      </p:pic>
      <p:sp>
        <p:nvSpPr>
          <p:cNvPr id="5" name="TextBox 4"/>
          <p:cNvSpPr txBox="1"/>
          <p:nvPr/>
        </p:nvSpPr>
        <p:spPr>
          <a:xfrm>
            <a:off x="777240" y="3703320"/>
            <a:ext cx="2880360" cy="1371600"/>
          </a:xfrm>
          <a:prstGeom prst="rect">
            <a:avLst/>
          </a:prstGeom>
          <a:noFill/>
        </p:spPr>
        <p:txBody>
          <a:bodyPr wrap="square" lIns="0" rIns="0" tIns="0" bIns="0" anchor="t">
            <a:spAutoFit/>
          </a:bodyPr>
          <a:lstStyle/>
          <a:p>
            <a:pPr algn="ctr">
              <a:lnSpc>
                <a:spcPct val="120000"/>
              </a:lnSpc>
            </a:pPr>
            <a:r>
              <a:rPr sz="1300" b="1" i="0">
                <a:solidFill>
                  <a:srgbClr val="21295C"/>
                </a:solidFill>
                <a:latin typeface="DejaVu Sans"/>
              </a:rPr>
              <a:t>Protection for vulnerable users was added as a retrofit — after the tragedy, not in the original design brief.</a:t>
            </a:r>
          </a:p>
        </p:txBody>
      </p:sp>
      <p:sp>
        <p:nvSpPr>
          <p:cNvPr id="6" name="Rounded Rectangle 5"/>
          <p:cNvSpPr/>
          <p:nvPr/>
        </p:nvSpPr>
        <p:spPr>
          <a:xfrm>
            <a:off x="4160520" y="1417320"/>
            <a:ext cx="288036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9-characterai-real-source.png"/>
          <p:cNvPicPr>
            <a:picLocks noChangeAspect="1"/>
          </p:cNvPicPr>
          <p:nvPr/>
        </p:nvPicPr>
        <p:blipFill>
          <a:blip r:embed="rId3"/>
          <a:stretch>
            <a:fillRect/>
          </a:stretch>
        </p:blipFill>
        <p:spPr>
          <a:xfrm>
            <a:off x="4343400" y="1817995"/>
            <a:ext cx="2514600" cy="524530"/>
          </a:xfrm>
          <a:prstGeom prst="rect">
            <a:avLst/>
          </a:prstGeom>
        </p:spPr>
      </p:pic>
      <p:sp>
        <p:nvSpPr>
          <p:cNvPr id="8" name="Rounded Rectangle 7"/>
          <p:cNvSpPr/>
          <p:nvPr/>
        </p:nvSpPr>
        <p:spPr>
          <a:xfrm>
            <a:off x="7223760" y="1417320"/>
            <a:ext cx="4480560" cy="13258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481328"/>
            <a:ext cx="402336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Character.AI</a:t>
            </a:r>
          </a:p>
        </p:txBody>
      </p:sp>
      <p:sp>
        <p:nvSpPr>
          <p:cNvPr id="10" name="TextBox 9"/>
          <p:cNvSpPr txBox="1"/>
          <p:nvPr/>
        </p:nvSpPr>
        <p:spPr>
          <a:xfrm>
            <a:off x="7452360" y="1847088"/>
            <a:ext cx="4023360" cy="82296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A 14-year-old user died after months of conversation with an AI character (02.2024)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11" name="Oval 10"/>
          <p:cNvSpPr/>
          <p:nvPr/>
        </p:nvSpPr>
        <p:spPr>
          <a:xfrm>
            <a:off x="44348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Launch</a:t>
            </a:r>
          </a:p>
        </p:txBody>
      </p:sp>
      <p:cxnSp>
        <p:nvCxnSpPr>
          <p:cNvPr id="13" name="Connector 12"/>
          <p:cNvCxnSpPr/>
          <p:nvPr/>
        </p:nvCxnSpPr>
        <p:spPr>
          <a:xfrm>
            <a:off x="47091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2636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Tragedy</a:t>
            </a:r>
          </a:p>
          <a:p>
            <a:pPr algn="ctr">
              <a:lnSpc>
                <a:spcPct val="90000"/>
              </a:lnSpc>
            </a:pPr>
            <a:r>
              <a:rPr sz="1000" b="1" i="0">
                <a:solidFill>
                  <a:srgbClr val="21295C"/>
                </a:solidFill>
                <a:latin typeface="DejaVu Sans"/>
              </a:rPr>
              <a:t>02.2024</a:t>
            </a:r>
          </a:p>
        </p:txBody>
      </p:sp>
      <p:cxnSp>
        <p:nvCxnSpPr>
          <p:cNvPr id="16" name="Connector 15"/>
          <p:cNvCxnSpPr/>
          <p:nvPr/>
        </p:nvCxnSpPr>
        <p:spPr>
          <a:xfrm>
            <a:off x="65379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924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Lawsuit</a:t>
            </a:r>
          </a:p>
          <a:p>
            <a:pPr algn="ctr">
              <a:lnSpc>
                <a:spcPct val="90000"/>
              </a:lnSpc>
            </a:pPr>
            <a:r>
              <a:rPr sz="1000" b="1" i="0">
                <a:solidFill>
                  <a:srgbClr val="21295C"/>
                </a:solidFill>
                <a:latin typeface="DejaVu Sans"/>
              </a:rPr>
              <a:t>10.2024</a:t>
            </a:r>
          </a:p>
        </p:txBody>
      </p:sp>
      <p:cxnSp>
        <p:nvCxnSpPr>
          <p:cNvPr id="19" name="Connector 18"/>
          <p:cNvCxnSpPr/>
          <p:nvPr/>
        </p:nvCxnSpPr>
        <p:spPr>
          <a:xfrm>
            <a:off x="8366760" y="3383280"/>
            <a:ext cx="1554480"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9921240" y="3246120"/>
            <a:ext cx="274320" cy="27432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Safeguards</a:t>
            </a:r>
          </a:p>
          <a:p>
            <a:pPr algn="ctr">
              <a:lnSpc>
                <a:spcPct val="90000"/>
              </a:lnSpc>
            </a:pPr>
            <a:r>
              <a:rPr sz="1000" b="1" i="0">
                <a:solidFill>
                  <a:srgbClr val="21295C"/>
                </a:solidFill>
                <a:latin typeface="DejaVu Sans"/>
              </a:rPr>
              <a:t>11.2025 </a:t>
            </a:r>
            <a:r>
              <a:rPr sz="520" baseline="30000" b="0" i="1">
                <a:latin typeface="DejaVu Sans"/>
                <a:cs typeface="DejaVu Sans"/>
                <a:ea typeface="DejaVu Sans"/>
                <a:solidFill>
                  <a:srgbClr val="1C7293"/>
                </a:solidFill>
              </a:rPr>
              <a:t>[2]</a:t>
            </a:r>
          </a:p>
        </p:txBody>
      </p:sp>
      <p:sp>
        <p:nvSpPr>
          <p:cNvPr id="22" name="Rounded Rectangle 21"/>
          <p:cNvSpPr/>
          <p:nvPr/>
        </p:nvSpPr>
        <p:spPr>
          <a:xfrm>
            <a:off x="4160520" y="4343400"/>
            <a:ext cx="75438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4398264"/>
            <a:ext cx="71048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Root cause — not a runtime bug, but a missing requirement in the design brief: the MVP optimized for engagement without asking "who could be harmed." Criterion: safeguards for vulnerable users belong in the MVP, not as a patch after a tragedy.</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Washington Post (Oct 24,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CBS News (Jan 2026) — settlement</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Found by accident: the same application with a different birth date — an instant invite</a:t>
            </a:r>
          </a:p>
        </p:txBody>
      </p:sp>
      <p:sp>
        <p:nvSpPr>
          <p:cNvPr id="3" name="Rounded Rectangle 2"/>
          <p:cNvSpPr/>
          <p:nvPr/>
        </p:nvSpPr>
        <p:spPr>
          <a:xfrm>
            <a:off x="502920" y="1463040"/>
            <a:ext cx="553212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g-mid.png"/>
          <p:cNvPicPr>
            <a:picLocks noChangeAspect="1"/>
          </p:cNvPicPr>
          <p:nvPr/>
        </p:nvPicPr>
        <p:blipFill>
          <a:blip r:embed="rId2"/>
          <a:stretch>
            <a:fillRect/>
          </a:stretch>
        </p:blipFill>
        <p:spPr>
          <a:xfrm>
            <a:off x="960120" y="1783080"/>
            <a:ext cx="822960" cy="822960"/>
          </a:xfrm>
          <a:prstGeom prst="rect">
            <a:avLst/>
          </a:prstGeom>
        </p:spPr>
      </p:pic>
      <p:sp>
        <p:nvSpPr>
          <p:cNvPr id="5" name="TextBox 4"/>
          <p:cNvSpPr txBox="1"/>
          <p:nvPr/>
        </p:nvSpPr>
        <p:spPr>
          <a:xfrm>
            <a:off x="2011680" y="1874519"/>
            <a:ext cx="3749039" cy="68580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A filter with a hardcoded "birth date" rule</a:t>
            </a:r>
          </a:p>
        </p:txBody>
      </p:sp>
      <p:sp>
        <p:nvSpPr>
          <p:cNvPr id="6" name="Rounded Rectangle 5"/>
          <p:cNvSpPr/>
          <p:nvPr/>
        </p:nvSpPr>
        <p:spPr>
          <a:xfrm>
            <a:off x="822960" y="2788920"/>
            <a:ext cx="4892040" cy="7315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880360"/>
            <a:ext cx="4480560" cy="566928"/>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Women 55+ / men 60+ → auto-rejection</a:t>
            </a:r>
          </a:p>
        </p:txBody>
      </p:sp>
      <p:sp>
        <p:nvSpPr>
          <p:cNvPr id="8" name="TextBox 7"/>
          <p:cNvSpPr txBox="1"/>
          <p:nvPr/>
        </p:nvSpPr>
        <p:spPr>
          <a:xfrm>
            <a:off x="822960" y="3657600"/>
            <a:ext cx="4937760" cy="73152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Found by accident: resubmitting the same application with a different birth date → an instant invite.</a:t>
            </a:r>
          </a:p>
        </p:txBody>
      </p:sp>
      <p:sp>
        <p:nvSpPr>
          <p:cNvPr id="9" name="Rounded Rectangle 8"/>
          <p:cNvSpPr/>
          <p:nvPr/>
        </p:nvSpPr>
        <p:spPr>
          <a:xfrm>
            <a:off x="6263640" y="1463040"/>
            <a:ext cx="54406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cale-gold.png"/>
          <p:cNvPicPr>
            <a:picLocks noChangeAspect="1"/>
          </p:cNvPicPr>
          <p:nvPr/>
        </p:nvPicPr>
        <p:blipFill>
          <a:blip r:embed="rId3"/>
          <a:stretch>
            <a:fillRect/>
          </a:stretch>
        </p:blipFill>
        <p:spPr>
          <a:xfrm>
            <a:off x="6492240" y="1691640"/>
            <a:ext cx="548640" cy="548640"/>
          </a:xfrm>
          <a:prstGeom prst="rect">
            <a:avLst/>
          </a:prstGeom>
        </p:spPr>
      </p:pic>
      <p:sp>
        <p:nvSpPr>
          <p:cNvPr id="11" name="TextBox 10"/>
          <p:cNvSpPr txBox="1"/>
          <p:nvPr/>
        </p:nvSpPr>
        <p:spPr>
          <a:xfrm>
            <a:off x="7178040" y="1691640"/>
            <a:ext cx="4297680" cy="502920"/>
          </a:xfrm>
          <a:prstGeom prst="rect">
            <a:avLst/>
          </a:prstGeom>
          <a:noFill/>
        </p:spPr>
        <p:txBody>
          <a:bodyPr wrap="square" lIns="0" rIns="0" tIns="0" bIns="0" anchor="t">
            <a:spAutoFit/>
          </a:bodyPr>
          <a:lstStyle/>
          <a:p>
            <a:pPr algn="l">
              <a:lnSpc>
                <a:spcPct val="115000"/>
              </a:lnSpc>
            </a:pPr>
            <a:r>
              <a:rPr sz="2400" b="1" i="0">
                <a:solidFill>
                  <a:srgbClr val="21295C"/>
                </a:solidFill>
                <a:latin typeface="DejaVu Sans"/>
              </a:rPr>
              <a:t>$365,000 </a:t>
            </a:r>
            <a:r>
              <a:rPr sz="1248" baseline="30000" b="0" i="1">
                <a:latin typeface="DejaVu Sans"/>
                <a:cs typeface="DejaVu Sans"/>
                <a:ea typeface="DejaVu Sans"/>
                <a:solidFill>
                  <a:srgbClr val="1C7293"/>
                </a:solidFill>
              </a:rPr>
              <a:t>[1]</a:t>
            </a:r>
          </a:p>
        </p:txBody>
      </p:sp>
      <p:sp>
        <p:nvSpPr>
          <p:cNvPr id="12" name="TextBox 11"/>
          <p:cNvSpPr txBox="1"/>
          <p:nvPr/>
        </p:nvSpPr>
        <p:spPr>
          <a:xfrm>
            <a:off x="6492240" y="2331720"/>
            <a:ext cx="502920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DejaVu Sans"/>
              </a:rPr>
              <a:t>EEOC, Aug 9, 2023 — the first-ever AI discrimination settlement</a:t>
            </a:r>
          </a:p>
        </p:txBody>
      </p:sp>
      <p:sp>
        <p:nvSpPr>
          <p:cNvPr id="13" name="Rounded Rectangle 12"/>
          <p:cNvSpPr/>
          <p:nvPr/>
        </p:nvSpPr>
        <p:spPr>
          <a:xfrm>
            <a:off x="6263640" y="3063240"/>
            <a:ext cx="5440680" cy="14630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118104"/>
            <a:ext cx="5001768" cy="13533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Contrast with Character.AI: there, design did NOT build in a safeguard; here, design DID build in a specific harmful rule. Criterion: automating a decision about people → audit for discriminatory features BEFORE release.</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EEOC (Aug 9, 2023) — iTutorGroup</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Build &amp; Launch — the collapsed arrow</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base cases · 2 failures</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This is exactly where AI changes the most — the cost of writing the code itself. But the section doesn't start from that fact — it starts from the classical discipline of release: how to ship safely and when to stop.</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8" name="Rounded Rectangle 17"/>
          <p:cNvSpPr/>
          <p:nvPr/>
        </p:nvSpPr>
        <p:spPr>
          <a:xfrm>
            <a:off x="5342708"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Build &amp; Launch</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Build and launch in plain terms</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in plain terms</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What it is</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The artifact becomes a working product for users. AI made writing the code itself nearly free.</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Why release mechanics matter</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Since building is cheap, the cost of a mistake is no longer "writing it" but "shipping the wrong thing to everyone at once." You need to turn things on gradually and roll back fast.</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Mental model</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Launch is a valve, not a switch: 1% → 10% → 100%, watch the reaction. And keep a "kill" decision ready, not just "keep polishing forever."</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Same mechanics — but here the decision is to kill the product, not flip a flag</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Feature flag</a:t>
            </a:r>
          </a:p>
        </p:txBody>
      </p:sp>
      <p:sp>
        <p:nvSpPr>
          <p:cNvPr id="5" name="TextBox 4"/>
          <p:cNvSpPr txBox="1"/>
          <p:nvPr/>
        </p:nvSpPr>
        <p:spPr>
          <a:xfrm>
            <a:off x="5943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a switch</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375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Canary</a:t>
            </a:r>
          </a:p>
        </p:txBody>
      </p:sp>
      <p:sp>
        <p:nvSpPr>
          <p:cNvPr id="9" name="TextBox 8"/>
          <p:cNvSpPr txBox="1"/>
          <p:nvPr/>
        </p:nvSpPr>
        <p:spPr>
          <a:xfrm>
            <a:off x="33375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canary</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59"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Staged rollout</a:t>
            </a:r>
          </a:p>
        </p:txBody>
      </p:sp>
      <p:sp>
        <p:nvSpPr>
          <p:cNvPr id="13" name="TextBox 12"/>
          <p:cNvSpPr txBox="1"/>
          <p:nvPr/>
        </p:nvSpPr>
        <p:spPr>
          <a:xfrm>
            <a:off x="6080759"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gradual</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Rollback</a:t>
            </a:r>
          </a:p>
        </p:txBody>
      </p:sp>
      <p:sp>
        <p:nvSpPr>
          <p:cNvPr id="17" name="TextBox 16"/>
          <p:cNvSpPr txBox="1"/>
          <p:nvPr/>
        </p:nvSpPr>
        <p:spPr>
          <a:xfrm>
            <a:off x="88239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revert</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You know these primitives from engineering rollout (CI/CD)</a:t>
            </a:r>
          </a:p>
        </p:txBody>
      </p:sp>
      <p:sp>
        <p:nvSpPr>
          <p:cNvPr id="19" name="Rounded Rectangle 18"/>
          <p:cNvSpPr/>
          <p:nvPr/>
        </p:nvSpPr>
        <p:spPr>
          <a:xfrm>
            <a:off x="1417320" y="3337560"/>
            <a:ext cx="9372600" cy="118872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611880"/>
            <a:ext cx="502920" cy="502920"/>
          </a:xfrm>
          <a:prstGeom prst="rect">
            <a:avLst/>
          </a:prstGeom>
        </p:spPr>
      </p:pic>
      <p:sp>
        <p:nvSpPr>
          <p:cNvPr id="21" name="TextBox 20"/>
          <p:cNvSpPr txBox="1"/>
          <p:nvPr/>
        </p:nvSpPr>
        <p:spPr>
          <a:xfrm>
            <a:off x="2331720" y="3456432"/>
            <a:ext cx="8229600" cy="96012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NEW here — whose decision they serve and by what criteria: MVP (Ries)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 learning, not shipping. Stage-Gate go/kill (Cooper)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 "a funnel, not a tunnel": failure thresholds are written down as numbers in advance.</a:t>
            </a:r>
          </a:p>
        </p:txBody>
      </p:sp>
      <p:sp>
        <p:nvSpPr>
          <p:cNvPr id="22" name="Rounded Rectangle 21"/>
          <p:cNvSpPr/>
          <p:nvPr/>
        </p:nvSpPr>
        <p:spPr>
          <a:xfrm>
            <a:off x="502920" y="480060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85546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common thread: launch speed is bought with a limited blast radius — how many users are affected if the new thing turns out bad.</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Stage-Gate — the method's history</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+200% code per engineer — but only 16% of PRs got substantive review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56235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eview-bottleneck.png"/>
          <p:cNvPicPr>
            <a:picLocks noChangeAspect="1"/>
          </p:cNvPicPr>
          <p:nvPr/>
        </p:nvPicPr>
        <p:blipFill>
          <a:blip r:embed="rId2"/>
          <a:stretch>
            <a:fillRect/>
          </a:stretch>
        </p:blipFill>
        <p:spPr>
          <a:xfrm>
            <a:off x="1129097" y="1645920"/>
            <a:ext cx="4371205" cy="2788920"/>
          </a:xfrm>
          <a:prstGeom prst="rect">
            <a:avLst/>
          </a:prstGeom>
        </p:spPr>
      </p:pic>
      <p:sp>
        <p:nvSpPr>
          <p:cNvPr id="5" name="Rounded Rectangle 4"/>
          <p:cNvSpPr/>
          <p:nvPr/>
        </p:nvSpPr>
        <p:spPr>
          <a:xfrm>
            <a:off x="6355080" y="1417320"/>
            <a:ext cx="53492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72768"/>
            <a:ext cx="49377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Anthropic's own measurement</a:t>
            </a:r>
          </a:p>
        </p:txBody>
      </p:sp>
      <p:sp>
        <p:nvSpPr>
          <p:cNvPr id="7" name="TextBox 6"/>
          <p:cNvSpPr txBox="1"/>
          <p:nvPr/>
        </p:nvSpPr>
        <p:spPr>
          <a:xfrm>
            <a:off x="6583680" y="2057400"/>
            <a:ext cx="4937760" cy="237744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Implementation: weeks/months → minutes of agentic execution</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Code volume per engineer: +200% year over year</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Substantive human review before merge: only ~16% of PRs</a:t>
            </a:r>
          </a:p>
        </p:txBody>
      </p:sp>
      <p:sp>
        <p:nvSpPr>
          <p:cNvPr id="8" name="Rounded Rectangle 7"/>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scarce resource shifted to the two human ends: precision of intent going in and quality of judgment coming out — the bottleneck is now review, not writing.</a:t>
            </a:r>
          </a:p>
        </p:txBody>
      </p:sp>
      <p:sp>
        <p:nvSpPr>
          <p:cNvPr id="10" name="TextBox 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2026 Agentic Coding Trends Report</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Launch isn't "flip it on" — it's a staged transfer of control</a:t>
            </a:r>
          </a:p>
        </p:txBody>
      </p:sp>
      <p:sp>
        <p:nvSpPr>
          <p:cNvPr id="3" name="Rounded Rectangle 2"/>
          <p:cNvSpPr/>
          <p:nvPr/>
        </p:nvSpPr>
        <p:spPr>
          <a:xfrm>
            <a:off x="640080" y="3886200"/>
            <a:ext cx="5029200" cy="7315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4087368"/>
            <a:ext cx="685800"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v1</a:t>
            </a:r>
          </a:p>
        </p:txBody>
      </p:sp>
      <p:sp>
        <p:nvSpPr>
          <p:cNvPr id="5" name="TextBox 4"/>
          <p:cNvSpPr txBox="1"/>
          <p:nvPr/>
        </p:nvSpPr>
        <p:spPr>
          <a:xfrm>
            <a:off x="1645920" y="3977639"/>
            <a:ext cx="393192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High control / low agency</a:t>
            </a:r>
          </a:p>
        </p:txBody>
      </p:sp>
      <p:sp>
        <p:nvSpPr>
          <p:cNvPr id="6" name="TextBox 5"/>
          <p:cNvSpPr txBox="1"/>
          <p:nvPr/>
        </p:nvSpPr>
        <p:spPr>
          <a:xfrm>
            <a:off x="1645920" y="4306824"/>
            <a:ext cx="393192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routes</a:t>
            </a:r>
          </a:p>
        </p:txBody>
      </p:sp>
      <p:sp>
        <p:nvSpPr>
          <p:cNvPr id="7" name="Rounded Rectangle 6"/>
          <p:cNvSpPr/>
          <p:nvPr/>
        </p:nvSpPr>
        <p:spPr>
          <a:xfrm>
            <a:off x="640080" y="3017520"/>
            <a:ext cx="5852160" cy="731520"/>
          </a:xfrm>
          <a:prstGeom prst="roundRect">
            <a:avLst>
              <a:gd name="adj" fmla="val 8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3218688"/>
            <a:ext cx="685800"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v2</a:t>
            </a:r>
          </a:p>
        </p:txBody>
      </p:sp>
      <p:sp>
        <p:nvSpPr>
          <p:cNvPr id="9" name="TextBox 8"/>
          <p:cNvSpPr txBox="1"/>
          <p:nvPr/>
        </p:nvSpPr>
        <p:spPr>
          <a:xfrm>
            <a:off x="1645920" y="3108960"/>
            <a:ext cx="475488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Proposes solutions for human approval</a:t>
            </a:r>
          </a:p>
        </p:txBody>
      </p:sp>
      <p:sp>
        <p:nvSpPr>
          <p:cNvPr id="10" name="TextBox 9"/>
          <p:cNvSpPr txBox="1"/>
          <p:nvPr/>
        </p:nvSpPr>
        <p:spPr>
          <a:xfrm>
            <a:off x="1645920" y="3438144"/>
            <a:ext cx="475488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human in the loop</a:t>
            </a:r>
          </a:p>
        </p:txBody>
      </p:sp>
      <p:sp>
        <p:nvSpPr>
          <p:cNvPr id="11" name="Rounded Rectangle 10"/>
          <p:cNvSpPr/>
          <p:nvPr/>
        </p:nvSpPr>
        <p:spPr>
          <a:xfrm>
            <a:off x="640080" y="2148840"/>
            <a:ext cx="6675120" cy="731520"/>
          </a:xfrm>
          <a:prstGeom prst="roundRect">
            <a:avLst>
              <a:gd name="adj" fmla="val 8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2350008"/>
            <a:ext cx="68580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v3</a:t>
            </a:r>
          </a:p>
        </p:txBody>
      </p:sp>
      <p:sp>
        <p:nvSpPr>
          <p:cNvPr id="13" name="TextBox 12"/>
          <p:cNvSpPr txBox="1"/>
          <p:nvPr/>
        </p:nvSpPr>
        <p:spPr>
          <a:xfrm>
            <a:off x="1645920" y="2240280"/>
            <a:ext cx="557784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Automatic, with fallback to a human</a:t>
            </a:r>
          </a:p>
        </p:txBody>
      </p:sp>
      <p:sp>
        <p:nvSpPr>
          <p:cNvPr id="14" name="TextBox 13"/>
          <p:cNvSpPr txBox="1"/>
          <p:nvPr/>
        </p:nvSpPr>
        <p:spPr>
          <a:xfrm>
            <a:off x="1645920" y="2569464"/>
            <a:ext cx="557784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earned by track record</a:t>
            </a:r>
          </a:p>
        </p:txBody>
      </p:sp>
      <p:sp>
        <p:nvSpPr>
          <p:cNvPr id="15" name="Rounded Rectangle 14"/>
          <p:cNvSpPr/>
          <p:nvPr/>
        </p:nvSpPr>
        <p:spPr>
          <a:xfrm>
            <a:off x="7086600" y="1417320"/>
            <a:ext cx="4617720" cy="3200400"/>
          </a:xfrm>
          <a:prstGeom prst="roundRect">
            <a:avLst>
              <a:gd name="adj" fmla="val 952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554480"/>
            <a:ext cx="4206240" cy="822960"/>
          </a:xfrm>
          <a:prstGeom prst="rect">
            <a:avLst/>
          </a:prstGeom>
          <a:noFill/>
        </p:spPr>
        <p:txBody>
          <a:bodyPr wrap="square" lIns="0" rIns="0" tIns="0" bIns="0" anchor="t">
            <a:spAutoFit/>
          </a:bodyPr>
          <a:lstStyle/>
          <a:p>
            <a:pPr algn="l">
              <a:lnSpc>
                <a:spcPct val="110000"/>
              </a:lnSpc>
            </a:pPr>
            <a:r>
              <a:rPr sz="1400" b="1" i="0">
                <a:solidFill>
                  <a:srgbClr val="028090"/>
                </a:solidFill>
                <a:latin typeface="DejaVu Sans"/>
              </a:rPr>
              <a:t>CC/CD vs the familiar CI/CD </a:t>
            </a:r>
            <a:r>
              <a:rPr sz="728" baseline="30000" b="0" i="1">
                <a:latin typeface="DejaVu Sans"/>
                <a:cs typeface="DejaVu Sans"/>
                <a:ea typeface="DejaVu Sans"/>
                <a:solidFill>
                  <a:srgbClr val="1C7293"/>
                </a:solidFill>
              </a:rPr>
              <a:t>[1]</a:t>
            </a:r>
          </a:p>
        </p:txBody>
      </p:sp>
      <p:sp>
        <p:nvSpPr>
          <p:cNvPr id="17" name="TextBox 16"/>
          <p:cNvSpPr txBox="1"/>
          <p:nvPr/>
        </p:nvSpPr>
        <p:spPr>
          <a:xfrm>
            <a:off x="7315200" y="2331720"/>
            <a:ext cx="4206240" cy="210312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CC/CD — Continuous Calibration/Development. A release is versioned by level of agency, not by feature set. The agency ladder: Copilot, Cursor.</a:t>
            </a:r>
          </a:p>
        </p:txBody>
      </p:sp>
      <p:sp>
        <p:nvSpPr>
          <p:cNvPr id="18" name="Rounded Rectangle 17"/>
          <p:cNvSpPr/>
          <p:nvPr/>
        </p:nvSpPr>
        <p:spPr>
          <a:xfrm>
            <a:off x="640080" y="4617720"/>
            <a:ext cx="1106424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672583"/>
            <a:ext cx="1062532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"If you haven't tested it under high control, you're not ready to give it high agency": an agent earns autonomy through a track record, not by default from the start.</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Reganti &amp; Badam — CC/CD framework</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Double the generation speed and you double the review queue — not the throughput</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generation</a:t>
            </a:r>
          </a:p>
          <a:p>
            <a:pPr algn="ctr">
              <a:lnSpc>
                <a:spcPct val="100000"/>
              </a:lnSpc>
            </a:pPr>
            <a:r>
              <a:rPr sz="1150" b="1" i="0">
                <a:solidFill>
                  <a:srgbClr val="21295C"/>
                </a:solidFill>
                <a:latin typeface="DejaVu Sans"/>
              </a:rPr>
              <a:t>cheap and fast</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verification</a:t>
            </a:r>
          </a:p>
          <a:p>
            <a:pPr algn="ctr">
              <a:lnSpc>
                <a:spcPct val="100000"/>
              </a:lnSpc>
            </a:pPr>
            <a:r>
              <a:rPr sz="1150" b="1" i="0">
                <a:solidFill>
                  <a:srgbClr val="21295C"/>
                </a:solidFill>
                <a:latin typeface="DejaVu Sans"/>
              </a:rPr>
              <a:t>hasn't sped up</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Generating plausible code — seconds; checking it — hasn't gotten faster.</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The 70% problem </a:t>
            </a:r>
            <a:r>
              <a:rPr sz="728" baseline="30000" b="0" i="1">
                <a:latin typeface="DejaVu Sans"/>
                <a:cs typeface="DejaVu Sans"/>
                <a:ea typeface="DejaVu Sans"/>
                <a:solidFill>
                  <a:srgbClr val="1C7293"/>
                </a:solidFill>
              </a:rPr>
              <a:t>[1]</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A senior developer rethinks AI output and spends time reworking it.</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A junior ships a "house of cards made of code" that looks plausible but collapses under load.</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Shipping without an eval gate or a rollback plan isn't speed — it's a deferred cost: review doesn't scale alongside generation.</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in one step — skipping canary rollout entirely</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May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Rolled out to 100% of US search in one step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No eval gate. Users couldn't turn it off.</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the correct canary rollout (skipped)</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At 1% of traffic the pattern ("eat rocks" — a satirical Onion article; "glue on pizza" — a Reddit joke) would have surfaced within days in internal monitoring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Instead — public ridicule in front of 100% of the audience at once.</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Forbes (May 31,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AndroidPolice — "glue on pizza" / "eat rocks"</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2.5-3 years on 0.7% of the chain — and stopping was the right call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63040"/>
            <a:ext cx="27889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7-mcdonalds-real-source.png"/>
          <p:cNvPicPr>
            <a:picLocks noChangeAspect="1"/>
          </p:cNvPicPr>
          <p:nvPr/>
        </p:nvPicPr>
        <p:blipFill>
          <a:blip r:embed="rId2"/>
          <a:stretch>
            <a:fillRect/>
          </a:stretch>
        </p:blipFill>
        <p:spPr>
          <a:xfrm>
            <a:off x="1317389" y="1664208"/>
            <a:ext cx="1159982" cy="1014984"/>
          </a:xfrm>
          <a:prstGeom prst="rect">
            <a:avLst/>
          </a:prstGeom>
        </p:spPr>
      </p:pic>
      <p:sp>
        <p:nvSpPr>
          <p:cNvPr id="5" name="Rounded Rectangle 4"/>
          <p:cNvSpPr/>
          <p:nvPr/>
        </p:nvSpPr>
        <p:spPr>
          <a:xfrm>
            <a:off x="502920" y="3017520"/>
            <a:ext cx="2788920" cy="1920240"/>
          </a:xfrm>
          <a:prstGeom prst="roundRect">
            <a:avLst>
              <a:gd name="adj" fmla="val 1587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331720" cy="822960"/>
          </a:xfrm>
          <a:prstGeom prst="rect">
            <a:avLst/>
          </a:prstGeom>
          <a:noFill/>
        </p:spPr>
        <p:txBody>
          <a:bodyPr wrap="square" lIns="0" rIns="0" tIns="0" bIns="0" anchor="t">
            <a:spAutoFit/>
          </a:bodyPr>
          <a:lstStyle/>
          <a:p>
            <a:pPr algn="ctr">
              <a:lnSpc>
                <a:spcPct val="115000"/>
              </a:lnSpc>
            </a:pPr>
            <a:r>
              <a:rPr sz="4000" b="1" i="0">
                <a:solidFill>
                  <a:srgbClr val="F0AB00"/>
                </a:solidFill>
                <a:latin typeface="DejaVu Sans"/>
              </a:rPr>
              <a:t>0.7%</a:t>
            </a:r>
          </a:p>
        </p:txBody>
      </p:sp>
      <p:sp>
        <p:nvSpPr>
          <p:cNvPr id="7" name="TextBox 6"/>
          <p:cNvSpPr txBox="1"/>
          <p:nvPr/>
        </p:nvSpPr>
        <p:spPr>
          <a:xfrm>
            <a:off x="640080" y="4069080"/>
            <a:ext cx="2514600" cy="777240"/>
          </a:xfrm>
          <a:prstGeom prst="rect">
            <a:avLst/>
          </a:prstGeom>
          <a:noFill/>
        </p:spPr>
        <p:txBody>
          <a:bodyPr wrap="square" lIns="0" rIns="0" tIns="0" bIns="0" anchor="t">
            <a:spAutoFit/>
          </a:bodyPr>
          <a:lstStyle/>
          <a:p>
            <a:pPr algn="ctr">
              <a:lnSpc>
                <a:spcPct val="110000"/>
              </a:lnSpc>
            </a:pPr>
            <a:r>
              <a:rPr sz="1150" b="0" i="1">
                <a:solidFill>
                  <a:srgbClr val="5B6678"/>
                </a:solidFill>
                <a:latin typeface="DejaVu Sans"/>
              </a:rPr>
              <a:t>~100 of ≈13,786 US restaurants</a:t>
            </a:r>
          </a:p>
        </p:txBody>
      </p:sp>
      <p:sp>
        <p:nvSpPr>
          <p:cNvPr id="8" name="Rounded Rectangle 7"/>
          <p:cNvSpPr/>
          <p:nvPr/>
        </p:nvSpPr>
        <p:spPr>
          <a:xfrm>
            <a:off x="3520440" y="1463040"/>
            <a:ext cx="8183879"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600200"/>
            <a:ext cx="76809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McDonald's x IBM — voice order-taking</a:t>
            </a:r>
          </a:p>
        </p:txBody>
      </p:sp>
      <p:sp>
        <p:nvSpPr>
          <p:cNvPr id="10" name="TextBox 9"/>
          <p:cNvSpPr txBox="1"/>
          <p:nvPr/>
        </p:nvSpPr>
        <p:spPr>
          <a:xfrm>
            <a:off x="3794760" y="2103120"/>
            <a:ext cx="7680960" cy="20116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2.5-3 years piloted on 0.7% of the chain </a:t>
            </a:r>
            <a:r>
              <a:rPr sz="676" baseline="30000" b="0" i="1">
                <a:latin typeface="DejaVu Sans"/>
                <a:cs typeface="DejaVu Sans"/>
                <a:ea typeface="DejaVu Sans"/>
                <a:solidFill>
                  <a:srgbClr val="1C7293"/>
                </a:solidFill>
              </a:rPr>
              <a:t>[2]</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Viral failures: bacon in ice cream, 9 iced teas instead of one</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Killed June 2024 — the goal (voice automation) stayed, the vendor's approach was killed</a:t>
            </a:r>
          </a:p>
        </p:txBody>
      </p:sp>
      <p:sp>
        <p:nvSpPr>
          <p:cNvPr id="11" name="Rounded Rectangle 10"/>
          <p:cNvSpPr/>
          <p:nvPr/>
        </p:nvSpPr>
        <p:spPr>
          <a:xfrm>
            <a:off x="3520440" y="4389120"/>
            <a:ext cx="8183879"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4443983"/>
            <a:ext cx="7744967"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Mirror of the previous case: there they skipped the pilot entirely and shipped to everyone; here the pilot ran long — and its signal was used correctly, in a disciplined decision to kill, not scale, the failure.</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(June 17, 2024) — McDonald's x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details of the pilot shutdown</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Measure — the arrow where AI lowered trust</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base cases · 2 failures</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Measurement is where "looks good" hits the product hardest. Many are seeing the formal discipline of a product experiment for the first time.</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1" name="Rounded Rectangle 20"/>
          <p:cNvSpPr/>
          <p:nvPr/>
        </p:nvSpPr>
        <p:spPr>
          <a:xfrm>
            <a:off x="6955971"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Measure</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Measurement in plain terms</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in plain terms</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What it is</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The phase where you honestly check: did the change work, or does it only look like it did. Many people see the formal discipline of experimentation for the first time.</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Why</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"The metric grew after the release" proves nothing — it could have grown on its own. You need a way to separate cause from coincidence.</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Mental model</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Split users into two random groups: one gets the new thing, the other the old thing. The difference is the real effect. Agree on the success metric in advance.</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Randomization tells cause apart from coincidence</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random split</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Control</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Treatment</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the metric agreed on in advance </a:t>
            </a:r>
            <a:r>
              <a:rPr sz="702" baseline="30000" b="0" i="1">
                <a:latin typeface="DejaVu Sans"/>
                <a:cs typeface="DejaVu Sans"/>
                <a:ea typeface="DejaVu Sans"/>
                <a:solidFill>
                  <a:srgbClr val="1C7293"/>
                </a:solidFill>
              </a:rPr>
              <a:t>[1]</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Controlled experiment (Kohavi): a hypothesis with a mechanism → randomization → a sample size fixed in advance → a decision.</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The teaching trap: "time on the support site" — good or bad? The metric's direction must be agreed before the test.</a:t>
            </a:r>
          </a:p>
        </p:txBody>
      </p:sp>
      <p:sp>
        <p:nvSpPr>
          <p:cNvPr id="17" name="Rounded Rectangle 16"/>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Only random group splitting gives causation: the difference between Control and Treatment is caused by your change, not by season, advertising, or luck </a:t>
            </a:r>
            <a:r>
              <a:rPr sz="676" baseline="30000" b="0" i="1">
                <a:latin typeface="DejaVu Sans"/>
                <a:cs typeface="DejaVu Sans"/>
                <a:ea typeface="DejaVu Sans"/>
                <a:solidFill>
                  <a:srgbClr val="1C7293"/>
                </a:solidFill>
              </a:rPr>
              <a:t>[2]</a:t>
            </a:r>
            <a:r>
              <a:rPr sz="1300" b="1" i="0">
                <a:latin typeface="DejaVu Sans"/>
                <a:cs typeface="DejaVu Sans"/>
                <a:ea typeface="DejaVu Sans"/>
                <a:solidFill>
                  <a:srgbClr val="21295C"/>
                </a:solidFill>
              </a:rPr>
              <a:t>.</a:t>
            </a:r>
          </a:p>
        </p:txBody>
      </p:sp>
      <p:sp>
        <p:nvSpPr>
          <p:cNvPr id="19" name="TextBox 1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A/B testing (Bing 2012)</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Three questions catch all eight experiment traps</a:t>
            </a:r>
          </a:p>
        </p:txBody>
      </p:sp>
      <p:sp>
        <p:nvSpPr>
          <p:cNvPr id="3" name="Rounded Rectangle 2"/>
          <p:cNvSpPr/>
          <p:nvPr/>
        </p:nvSpPr>
        <p:spPr>
          <a:xfrm>
            <a:off x="72237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BEFORE THE TEST</a:t>
            </a:r>
          </a:p>
        </p:txBody>
      </p:sp>
      <p:sp>
        <p:nvSpPr>
          <p:cNvPr id="4" name="Rounded Rectangle 3"/>
          <p:cNvSpPr/>
          <p:nvPr/>
        </p:nvSpPr>
        <p:spPr>
          <a:xfrm>
            <a:off x="50292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2237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1</a:t>
            </a:r>
          </a:p>
        </p:txBody>
      </p:sp>
      <p:pic>
        <p:nvPicPr>
          <p:cNvPr id="6" name="Picture 5" descr="shield-alert-mid.png"/>
          <p:cNvPicPr>
            <a:picLocks noChangeAspect="1"/>
          </p:cNvPicPr>
          <p:nvPr/>
        </p:nvPicPr>
        <p:blipFill>
          <a:blip r:embed="rId2"/>
          <a:stretch>
            <a:fillRect/>
          </a:stretch>
        </p:blipFill>
        <p:spPr>
          <a:xfrm>
            <a:off x="3337560" y="1764792"/>
            <a:ext cx="502920" cy="502920"/>
          </a:xfrm>
          <a:prstGeom prst="rect">
            <a:avLst/>
          </a:prstGeom>
        </p:spPr>
      </p:pic>
      <p:sp>
        <p:nvSpPr>
          <p:cNvPr id="7" name="TextBox 6"/>
          <p:cNvSpPr txBox="1"/>
          <p:nvPr/>
        </p:nvSpPr>
        <p:spPr>
          <a:xfrm>
            <a:off x="72237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Is the test set up correctly?</a:t>
            </a:r>
          </a:p>
        </p:txBody>
      </p:sp>
      <p:sp>
        <p:nvSpPr>
          <p:cNvPr id="8" name="TextBox 7"/>
          <p:cNvSpPr txBox="1"/>
          <p:nvPr/>
        </p:nvSpPr>
        <p:spPr>
          <a:xfrm>
            <a:off x="72237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SRM (sample ratio mismatch) </a:t>
            </a:r>
            <a:r>
              <a:rPr sz="520" baseline="30000" b="0" i="1">
                <a:latin typeface="DejaVu Sans"/>
                <a:cs typeface="DejaVu Sans"/>
                <a:ea typeface="DejaVu Sans"/>
                <a:solidFill>
                  <a:srgbClr val="1C7293"/>
                </a:solidFill>
              </a:rPr>
              <a:t>[1]</a:t>
            </a:r>
            <a:r>
              <a:rPr sz="1000" b="0" i="1">
                <a:latin typeface="DejaVu Sans"/>
                <a:cs typeface="DejaVu Sans"/>
                <a:ea typeface="DejaVu Sans"/>
                <a:solidFill>
                  <a:srgbClr val="5B6678"/>
                </a:solidFill>
              </a:rPr>
              <a:t> — group shares didn't match the plan; sample size must be fixed in advance, not adjusted to fit the result</a:t>
            </a:r>
          </a:p>
        </p:txBody>
      </p:sp>
      <p:sp>
        <p:nvSpPr>
          <p:cNvPr id="9" name="Rounded Rectangle 8"/>
          <p:cNvSpPr/>
          <p:nvPr/>
        </p:nvSpPr>
        <p:spPr>
          <a:xfrm>
            <a:off x="451713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INTERPRETATION</a:t>
            </a:r>
          </a:p>
        </p:txBody>
      </p:sp>
      <p:sp>
        <p:nvSpPr>
          <p:cNvPr id="10" name="Rounded Rectangle 9"/>
          <p:cNvSpPr/>
          <p:nvPr/>
        </p:nvSpPr>
        <p:spPr>
          <a:xfrm>
            <a:off x="429768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1713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2</a:t>
            </a:r>
          </a:p>
        </p:txBody>
      </p:sp>
      <p:pic>
        <p:nvPicPr>
          <p:cNvPr id="12" name="Picture 11" descr="search-mid.png"/>
          <p:cNvPicPr>
            <a:picLocks noChangeAspect="1"/>
          </p:cNvPicPr>
          <p:nvPr/>
        </p:nvPicPr>
        <p:blipFill>
          <a:blip r:embed="rId3"/>
          <a:stretch>
            <a:fillRect/>
          </a:stretch>
        </p:blipFill>
        <p:spPr>
          <a:xfrm>
            <a:off x="7132320" y="1764792"/>
            <a:ext cx="502920" cy="502920"/>
          </a:xfrm>
          <a:prstGeom prst="rect">
            <a:avLst/>
          </a:prstGeom>
        </p:spPr>
      </p:pic>
      <p:sp>
        <p:nvSpPr>
          <p:cNvPr id="13" name="TextBox 12"/>
          <p:cNvSpPr txBox="1"/>
          <p:nvPr/>
        </p:nvSpPr>
        <p:spPr>
          <a:xfrm>
            <a:off x="451713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Am I reading the result correctly?</a:t>
            </a:r>
          </a:p>
        </p:txBody>
      </p:sp>
      <p:sp>
        <p:nvSpPr>
          <p:cNvPr id="14" name="TextBox 13"/>
          <p:cNvSpPr txBox="1"/>
          <p:nvPr/>
        </p:nvSpPr>
        <p:spPr>
          <a:xfrm>
            <a:off x="451713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peeking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5B6678"/>
                </a:solidFill>
              </a:rPr>
              <a:t> — checking the result too early: 2 peeks ~=2x false positives, so the decision is made only at the pre-set sample size</a:t>
            </a:r>
          </a:p>
        </p:txBody>
      </p:sp>
      <p:sp>
        <p:nvSpPr>
          <p:cNvPr id="15" name="Rounded Rectangle 14"/>
          <p:cNvSpPr/>
          <p:nvPr/>
        </p:nvSpPr>
        <p:spPr>
          <a:xfrm>
            <a:off x="831189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THE EFFECT</a:t>
            </a:r>
          </a:p>
        </p:txBody>
      </p:sp>
      <p:sp>
        <p:nvSpPr>
          <p:cNvPr id="16" name="Rounded Rectangle 15"/>
          <p:cNvSpPr/>
          <p:nvPr/>
        </p:nvSpPr>
        <p:spPr>
          <a:xfrm>
            <a:off x="809244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1189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3</a:t>
            </a:r>
          </a:p>
        </p:txBody>
      </p:sp>
      <p:pic>
        <p:nvPicPr>
          <p:cNvPr id="18" name="Picture 17" descr="triangle-alert-mid.png"/>
          <p:cNvPicPr>
            <a:picLocks noChangeAspect="1"/>
          </p:cNvPicPr>
          <p:nvPr/>
        </p:nvPicPr>
        <p:blipFill>
          <a:blip r:embed="rId4"/>
          <a:stretch>
            <a:fillRect/>
          </a:stretch>
        </p:blipFill>
        <p:spPr>
          <a:xfrm>
            <a:off x="10927080" y="1764792"/>
            <a:ext cx="502920" cy="502920"/>
          </a:xfrm>
          <a:prstGeom prst="rect">
            <a:avLst/>
          </a:prstGeom>
        </p:spPr>
      </p:pic>
      <p:sp>
        <p:nvSpPr>
          <p:cNvPr id="19" name="TextBox 18"/>
          <p:cNvSpPr txBox="1"/>
          <p:nvPr/>
        </p:nvSpPr>
        <p:spPr>
          <a:xfrm>
            <a:off x="831189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Is the effect itself real?</a:t>
            </a:r>
          </a:p>
        </p:txBody>
      </p:sp>
      <p:sp>
        <p:nvSpPr>
          <p:cNvPr id="20" name="TextBox 19"/>
          <p:cNvSpPr txBox="1"/>
          <p:nvPr/>
        </p:nvSpPr>
        <p:spPr>
          <a:xfrm>
            <a:off x="831189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Twyman's law </a:t>
            </a:r>
            <a:r>
              <a:rPr sz="520" baseline="30000" b="0" i="1">
                <a:latin typeface="DejaVu Sans"/>
                <a:cs typeface="DejaVu Sans"/>
                <a:ea typeface="DejaVu Sans"/>
                <a:solidFill>
                  <a:srgbClr val="1C7293"/>
                </a:solidFill>
              </a:rPr>
              <a:t>[3]</a:t>
            </a:r>
            <a:r>
              <a:rPr sz="1000" b="0" i="1">
                <a:latin typeface="DejaVu Sans"/>
                <a:cs typeface="DejaVu Sans"/>
                <a:ea typeface="DejaVu Sans"/>
                <a:solidFill>
                  <a:srgbClr val="5B6678"/>
                </a:solidFill>
              </a:rPr>
              <a:t>: a suspiciously nice or unexpected number usually means a measurement error, not a real effect — recheck the methodology before celebrating</a:t>
            </a:r>
          </a:p>
        </p:txBody>
      </p:sp>
      <p:sp>
        <p:nvSpPr>
          <p:cNvPr id="21" name="Rounded Rectangle 20"/>
          <p:cNvSpPr/>
          <p:nvPr/>
        </p:nvSpPr>
        <p:spPr>
          <a:xfrm>
            <a:off x="502920" y="4389120"/>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44398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A/B (measurement) is not the same as a feature flag (rollout): one tests an effect, the other controls access. And careful with the legend: the Bing test ~=$100M revenue gain (Kohavi/Thomke, HBR 2017) is NOT "the $300M button" (a separate usability case).</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Microsoft Research — Sample Ratio Mismatch (KDD 2019)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GoPractice — the peeking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exp-platform.com — Kohavi, Twyman</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pass@k trends toward 100%, pass^k toward 0%: one probability, a different question</a:t>
            </a:r>
          </a:p>
        </p:txBody>
      </p:sp>
      <p:sp>
        <p:nvSpPr>
          <p:cNvPr id="3" name="Rounded Rectangle 2"/>
          <p:cNvSpPr/>
          <p:nvPr/>
        </p:nvSpPr>
        <p:spPr>
          <a:xfrm>
            <a:off x="502920" y="1463040"/>
            <a:ext cx="489204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448056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3 levels of evaluation (Husain)</a:t>
            </a:r>
          </a:p>
        </p:txBody>
      </p:sp>
      <p:sp>
        <p:nvSpPr>
          <p:cNvPr id="5" name="Rounded Rectangle 4"/>
          <p:cNvSpPr/>
          <p:nvPr/>
        </p:nvSpPr>
        <p:spPr>
          <a:xfrm>
            <a:off x="731520" y="2057400"/>
            <a:ext cx="4434840" cy="64008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2221992"/>
            <a:ext cx="384048" cy="3108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1</a:t>
            </a:r>
          </a:p>
        </p:txBody>
      </p:sp>
      <p:sp>
        <p:nvSpPr>
          <p:cNvPr id="7" name="TextBox 6"/>
          <p:cNvSpPr txBox="1"/>
          <p:nvPr/>
        </p:nvSpPr>
        <p:spPr>
          <a:xfrm>
            <a:off x="1371600" y="205740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Unit tests — fast, deterministic</a:t>
            </a:r>
          </a:p>
        </p:txBody>
      </p:sp>
      <p:sp>
        <p:nvSpPr>
          <p:cNvPr id="8" name="Rounded Rectangle 7"/>
          <p:cNvSpPr/>
          <p:nvPr/>
        </p:nvSpPr>
        <p:spPr>
          <a:xfrm>
            <a:off x="731520" y="2834640"/>
            <a:ext cx="4434840" cy="640080"/>
          </a:xfrm>
          <a:prstGeom prst="roundRect">
            <a:avLst>
              <a:gd name="adj" fmla="val 8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2999232"/>
            <a:ext cx="384048" cy="3108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2</a:t>
            </a:r>
          </a:p>
        </p:txBody>
      </p:sp>
      <p:sp>
        <p:nvSpPr>
          <p:cNvPr id="10" name="TextBox 9"/>
          <p:cNvSpPr txBox="1"/>
          <p:nvPr/>
        </p:nvSpPr>
        <p:spPr>
          <a:xfrm>
            <a:off x="1371600" y="283464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Human + LLM-as-judge</a:t>
            </a:r>
          </a:p>
        </p:txBody>
      </p:sp>
      <p:sp>
        <p:nvSpPr>
          <p:cNvPr id="11" name="Rounded Rectangle 10"/>
          <p:cNvSpPr/>
          <p:nvPr/>
        </p:nvSpPr>
        <p:spPr>
          <a:xfrm>
            <a:off x="731520" y="3611880"/>
            <a:ext cx="4434840" cy="640080"/>
          </a:xfrm>
          <a:prstGeom prst="roundRect">
            <a:avLst>
              <a:gd name="adj" fmla="val 8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 y="3776472"/>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3</a:t>
            </a:r>
          </a:p>
        </p:txBody>
      </p:sp>
      <p:sp>
        <p:nvSpPr>
          <p:cNvPr id="13" name="TextBox 12"/>
          <p:cNvSpPr txBox="1"/>
          <p:nvPr/>
        </p:nvSpPr>
        <p:spPr>
          <a:xfrm>
            <a:off x="1371600" y="361188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A/B — only once the product is mature</a:t>
            </a:r>
          </a:p>
        </p:txBody>
      </p:sp>
      <p:sp>
        <p:nvSpPr>
          <p:cNvPr id="14" name="Rounded Rectangle 13"/>
          <p:cNvSpPr/>
          <p:nvPr/>
        </p:nvSpPr>
        <p:spPr>
          <a:xfrm>
            <a:off x="5623560" y="1463040"/>
            <a:ext cx="608076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passk.png"/>
          <p:cNvPicPr>
            <a:picLocks noChangeAspect="1"/>
          </p:cNvPicPr>
          <p:nvPr/>
        </p:nvPicPr>
        <p:blipFill>
          <a:blip r:embed="rId2"/>
          <a:stretch>
            <a:fillRect/>
          </a:stretch>
        </p:blipFill>
        <p:spPr>
          <a:xfrm>
            <a:off x="6625473" y="1691640"/>
            <a:ext cx="4076934" cy="2606040"/>
          </a:xfrm>
          <a:prstGeom prst="rect">
            <a:avLst/>
          </a:prstGeom>
        </p:spPr>
      </p:pic>
      <p:sp>
        <p:nvSpPr>
          <p:cNvPr id="16" name="Rounded Rectangle 15"/>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pass@k = at least 1 success out of k; pass^k = ALL k successful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Production reliability almost always requires pass^k — "unit tests for the agent", where probabilistic output breaks the familiar pass/fail.</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Demystifying evals for AI agents (Jan 9,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Zheng, Chiang et al. — MT-Bench (NeurIPS 2023)</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The boat circles the lagoon racking up points — but never finishes</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An RL agent in a boat race scored 20% more points than human players — by circling a lagoon collecting bonuses, never finishing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It optimized the proxy, not the real goal.</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Goodhart's law: when a measure becomes a target, it ceases to be a good measure.</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a model generalized from sycophancy to directly editing its own reward function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What stays: OEC discipline, guardrail metrics, Twyman's law — a suspiciously perfect score is now more likely a bug than a breakthrough.</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Reward hacking: the model finds a way to "win" the proxy metric without achieving the intended outcome — so a measure and a target must never be confused.</a:t>
            </a:r>
          </a:p>
        </p:txBody>
      </p:sp>
      <p:sp>
        <p:nvSpPr>
          <p:cNvPr id="11" name="TextBox 1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DeepMind — Specification gaming (Apr 21,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Anthropic — Sycophancy to Subterfuge (arXiv:2406.10162)</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All 5 reactions were weighted equally at ×5 — not just "anger"</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same-picture.jpg"/>
          <p:cNvPicPr>
            <a:picLocks noChangeAspect="1"/>
          </p:cNvPicPr>
          <p:nvPr/>
        </p:nvPicPr>
        <p:blipFill>
          <a:blip r:embed="rId2"/>
          <a:stretch>
            <a:fillRect/>
          </a:stretch>
        </p:blipFill>
        <p:spPr>
          <a:xfrm>
            <a:off x="1342730" y="1527048"/>
            <a:ext cx="2298017"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January 2018: love/haha/wow/sad/angry — all ×5 above a like (not just anger)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An engagement proxy with no misinformation guardrail hid the harm for ~2 years: an internal guardrail (anger &lt;-&gt; misinformation correlation) confirmed by 2019, weight zeroed in September 2019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Lesson: measure the guardrail metric from day one, not after the harm has already happened.</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Techdirt (Oct 28, 2021) — correcting the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House E&amp;C Committee — the Haugen documents</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Passing a format-A benchmark != safe in a format-B production setting</a:t>
            </a:r>
          </a:p>
        </p:txBody>
      </p:sp>
      <p:sp>
        <p:nvSpPr>
          <p:cNvPr id="3" name="Rounded Rectangle 2"/>
          <p:cNvSpPr/>
          <p:nvPr/>
        </p:nvSpPr>
        <p:spPr>
          <a:xfrm>
            <a:off x="502920" y="1463040"/>
            <a:ext cx="5532120" cy="2606040"/>
          </a:xfrm>
          <a:prstGeom prst="roundRect">
            <a:avLst>
              <a:gd name="adj" fmla="val 1169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Medicine</a:t>
            </a:r>
          </a:p>
        </p:txBody>
      </p:sp>
      <p:sp>
        <p:nvSpPr>
          <p:cNvPr id="5" name="Rounded Rectangle 4"/>
          <p:cNvSpPr/>
          <p:nvPr/>
        </p:nvSpPr>
        <p:spPr>
          <a:xfrm>
            <a:off x="731520" y="2011680"/>
            <a:ext cx="2194560"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86.5% MedQA [1]</a:t>
            </a:r>
          </a:p>
        </p:txBody>
      </p:sp>
      <p:sp>
        <p:nvSpPr>
          <p:cNvPr id="6" name="TextBox 5"/>
          <p:cNvSpPr txBox="1"/>
          <p:nvPr/>
        </p:nvSpPr>
        <p:spPr>
          <a:xfrm>
            <a:off x="731520" y="2651760"/>
            <a:ext cx="5029200" cy="12801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Med-PaLM 2 does well on a Q&amp;A benchmark — but clinical safety requires a SEPARATE adversarial safety set.</a:t>
            </a:r>
          </a:p>
        </p:txBody>
      </p:sp>
      <p:sp>
        <p:nvSpPr>
          <p:cNvPr id="7" name="Rounded Rectangle 6"/>
          <p:cNvSpPr/>
          <p:nvPr/>
        </p:nvSpPr>
        <p:spPr>
          <a:xfrm>
            <a:off x="6172200" y="1463040"/>
            <a:ext cx="5532120" cy="2606040"/>
          </a:xfrm>
          <a:prstGeom prst="roundRect">
            <a:avLst>
              <a:gd name="adj" fmla="val 1169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72768"/>
            <a:ext cx="50292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Law</a:t>
            </a:r>
          </a:p>
        </p:txBody>
      </p:sp>
      <p:sp>
        <p:nvSpPr>
          <p:cNvPr id="9" name="TextBox 8"/>
          <p:cNvSpPr txBox="1"/>
          <p:nvPr/>
        </p:nvSpPr>
        <p:spPr>
          <a:xfrm>
            <a:off x="6400800" y="2011680"/>
            <a:ext cx="5029200" cy="82296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Stanford RegLab: Lexis+ 17% hallucinations, Westlaw 33% — on real legal queries </a:t>
            </a:r>
            <a:r>
              <a:rPr sz="650" baseline="30000" b="0" i="1">
                <a:latin typeface="DejaVu Sans"/>
                <a:cs typeface="DejaVu Sans"/>
                <a:ea typeface="DejaVu Sans"/>
                <a:solidFill>
                  <a:srgbClr val="1C7293"/>
                </a:solidFill>
              </a:rPr>
              <a:t>[3]</a:t>
            </a:r>
            <a:r>
              <a:rPr sz="1250" b="0" i="0">
                <a:latin typeface="DejaVu Sans"/>
                <a:cs typeface="DejaVu Sans"/>
                <a:ea typeface="DejaVu Sans"/>
                <a:solidFill>
                  <a:srgbClr val="21295C"/>
                </a:solidFill>
              </a:rPr>
              <a:t>.</a:t>
            </a:r>
          </a:p>
        </p:txBody>
      </p:sp>
      <p:sp>
        <p:nvSpPr>
          <p:cNvPr id="10" name="Rounded Rectangle 9"/>
          <p:cNvSpPr/>
          <p:nvPr/>
        </p:nvSpPr>
        <p:spPr>
          <a:xfrm>
            <a:off x="6400800" y="2926080"/>
            <a:ext cx="5074920" cy="868680"/>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017520"/>
            <a:ext cx="4663440" cy="685800"/>
          </a:xfrm>
          <a:prstGeom prst="rect">
            <a:avLst/>
          </a:prstGeom>
          <a:noFill/>
        </p:spPr>
        <p:txBody>
          <a:bodyPr wrap="square" lIns="0" rIns="0" tIns="0" bIns="0" anchor="ctr">
            <a:spAutoFit/>
          </a:bodyPr>
          <a:lstStyle/>
          <a:p>
            <a:pPr algn="l">
              <a:lnSpc>
                <a:spcPct val="112000"/>
              </a:lnSpc>
            </a:pPr>
            <a:r>
              <a:rPr sz="1200" b="1" i="0">
                <a:solidFill>
                  <a:srgbClr val="21295C"/>
                </a:solidFill>
                <a:latin typeface="DejaVu Sans"/>
              </a:rPr>
              <a:t>Mata v. Avianca (fake citations) = ChatGPT, NOT Harvey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 — a common attribution mistake.</a:t>
            </a:r>
          </a:p>
        </p:txBody>
      </p:sp>
      <p:sp>
        <p:nvSpPr>
          <p:cNvPr id="12" name="Rounded Rectangle 11"/>
          <p:cNvSpPr/>
          <p:nvPr/>
        </p:nvSpPr>
        <p:spPr>
          <a:xfrm>
            <a:off x="502920" y="4251960"/>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306824"/>
            <a:ext cx="10762488" cy="9875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 benchmark is evidence of performance only on that specific benchmark's task format. Alternative: adversarial evals on real edge cases of the exact domain the product will run in.</a:t>
            </a:r>
          </a:p>
        </p:txBody>
      </p:sp>
      <p:sp>
        <p:nvSpPr>
          <p:cNvPr id="14" name="TextBox 1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Mata v.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A/B stays the foundation — evals and guardrail metrics are now mandatory on top</a:t>
            </a:r>
          </a:p>
        </p:txBody>
      </p:sp>
      <p:sp>
        <p:nvSpPr>
          <p:cNvPr id="3" name="Rounded Rectangle 2"/>
          <p:cNvSpPr/>
          <p:nvPr/>
        </p:nvSpPr>
        <p:spPr>
          <a:xfrm>
            <a:off x="662940" y="3977639"/>
            <a:ext cx="5989320" cy="566928"/>
          </a:xfrm>
          <a:prstGeom prst="roundRect">
            <a:avLst>
              <a:gd name="adj" fmla="val 10000"/>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62940" y="3977639"/>
            <a:ext cx="598932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Classical A/B (randomization)</a:t>
            </a:r>
          </a:p>
        </p:txBody>
      </p:sp>
      <p:sp>
        <p:nvSpPr>
          <p:cNvPr id="5" name="Rounded Rectangle 4"/>
          <p:cNvSpPr/>
          <p:nvPr/>
        </p:nvSpPr>
        <p:spPr>
          <a:xfrm>
            <a:off x="1371600" y="3383280"/>
            <a:ext cx="4572000" cy="566928"/>
          </a:xfrm>
          <a:prstGeom prst="roundRect">
            <a:avLst>
              <a:gd name="adj" fmla="val 10000"/>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383280"/>
            <a:ext cx="457200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Evals (offline + online)</a:t>
            </a:r>
          </a:p>
        </p:txBody>
      </p:sp>
      <p:sp>
        <p:nvSpPr>
          <p:cNvPr id="7" name="Rounded Rectangle 6"/>
          <p:cNvSpPr/>
          <p:nvPr/>
        </p:nvSpPr>
        <p:spPr>
          <a:xfrm>
            <a:off x="2011680" y="2788920"/>
            <a:ext cx="3291840" cy="566928"/>
          </a:xfrm>
          <a:prstGeom prst="roundRect">
            <a:avLst>
              <a:gd name="adj" fmla="val 10000"/>
            </a:avLst>
          </a:prstGeom>
          <a:solidFill>
            <a:srgbClr val="F4F7F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2788920"/>
            <a:ext cx="329184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Guardrail metrics</a:t>
            </a:r>
          </a:p>
        </p:txBody>
      </p:sp>
      <p:sp>
        <p:nvSpPr>
          <p:cNvPr id="9" name="TextBox 8"/>
          <p:cNvSpPr txBox="1"/>
          <p:nvPr/>
        </p:nvSpPr>
        <p:spPr>
          <a:xfrm>
            <a:off x="502920" y="1508760"/>
            <a:ext cx="6400800" cy="365760"/>
          </a:xfrm>
          <a:prstGeom prst="rect">
            <a:avLst/>
          </a:prstGeom>
          <a:noFill/>
        </p:spPr>
        <p:txBody>
          <a:bodyPr wrap="square" lIns="0" rIns="0" tIns="0" bIns="0" anchor="t">
            <a:spAutoFit/>
          </a:bodyPr>
          <a:lstStyle/>
          <a:p>
            <a:pPr algn="ctr">
              <a:lnSpc>
                <a:spcPct val="115000"/>
              </a:lnSpc>
            </a:pPr>
            <a:r>
              <a:rPr sz="1350" b="1" i="0">
                <a:solidFill>
                  <a:srgbClr val="065A82"/>
                </a:solidFill>
                <a:latin typeface="DejaVu Sans"/>
              </a:rPr>
              <a:t>Measure = the arrow where AI lowered trust</a:t>
            </a:r>
          </a:p>
        </p:txBody>
      </p:sp>
      <p:sp>
        <p:nvSpPr>
          <p:cNvPr id="10" name="Rounded Rectangle 9"/>
          <p:cNvSpPr/>
          <p:nvPr/>
        </p:nvSpPr>
        <p:spPr>
          <a:xfrm>
            <a:off x="7178040" y="1508760"/>
            <a:ext cx="452628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691640"/>
            <a:ext cx="4114800" cy="274320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Randomization is still what gives causation, not coincidence.</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Evals and guardrail metrics are new layers on top, not a replacement for A/B.</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The phase's central skill — telling signal from noise.</a:t>
            </a:r>
          </a:p>
        </p:txBody>
      </p:sp>
      <p:sp>
        <p:nvSpPr>
          <p:cNvPr id="12" name="Rounded Rectangle 11"/>
          <p:cNvSpPr/>
          <p:nvPr/>
        </p:nvSpPr>
        <p:spPr>
          <a:xfrm>
            <a:off x="502920" y="475488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809744"/>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Bridge into Support: the same "signal != noise" skill in operation means noticing drift before it shows up on the dashboard.</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Support — the product as an orchestra</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base cases · 3 failures</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Between "the code works on my machine" and "the product reliably works for millions, 24/7" lies a gap, and it's closed by process, not just code quality.</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4" name="Rounded Rectangle 23"/>
          <p:cNvSpPr/>
          <p:nvPr/>
        </p:nvSpPr>
        <p:spPr>
          <a:xfrm>
            <a:off x="8569234"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Support</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Governance</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Support in plain terms</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eadphones-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in plain terms</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What it is</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The product already lives with people around the clock: it needs to be watched, its failures fixed, and complaints answered — for years.</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Why</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"Works on my machine" and "reliably works for millions, 24/7" are different things. The gap is closed by process, not just clean code.</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Mental model</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Agree in advance on how many failures are acceptable (a budget for errors). Harder with AI: a model can "quietly degrade" while the charts are still green.</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 200 OK response says nothing about whether the model is hallucinating</a:t>
            </a:r>
          </a:p>
        </p:txBody>
      </p:sp>
      <p:sp>
        <p:nvSpPr>
          <p:cNvPr id="3" name="Rounded Rectangle 2"/>
          <p:cNvSpPr/>
          <p:nvPr/>
        </p:nvSpPr>
        <p:spPr>
          <a:xfrm>
            <a:off x="50292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SLI</a:t>
            </a:r>
          </a:p>
        </p:txBody>
      </p:sp>
      <p:sp>
        <p:nvSpPr>
          <p:cNvPr id="5" name="TextBox 4"/>
          <p:cNvSpPr txBox="1"/>
          <p:nvPr/>
        </p:nvSpPr>
        <p:spPr>
          <a:xfrm>
            <a:off x="59436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a metric</a:t>
            </a:r>
          </a:p>
        </p:txBody>
      </p:sp>
      <p:sp>
        <p:nvSpPr>
          <p:cNvPr id="6" name="Right Arrow 5"/>
          <p:cNvSpPr/>
          <p:nvPr/>
        </p:nvSpPr>
        <p:spPr>
          <a:xfrm>
            <a:off x="336499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SLO</a:t>
            </a:r>
          </a:p>
        </p:txBody>
      </p:sp>
      <p:sp>
        <p:nvSpPr>
          <p:cNvPr id="9" name="TextBox 8"/>
          <p:cNvSpPr txBox="1"/>
          <p:nvPr/>
        </p:nvSpPr>
        <p:spPr>
          <a:xfrm>
            <a:off x="3749039"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target 99.9%</a:t>
            </a:r>
          </a:p>
        </p:txBody>
      </p:sp>
      <p:sp>
        <p:nvSpPr>
          <p:cNvPr id="10" name="Right Arrow 9"/>
          <p:cNvSpPr/>
          <p:nvPr/>
        </p:nvSpPr>
        <p:spPr>
          <a:xfrm>
            <a:off x="651967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12280" y="1600200"/>
            <a:ext cx="2834640" cy="1051560"/>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Error budget</a:t>
            </a:r>
          </a:p>
        </p:txBody>
      </p:sp>
      <p:sp>
        <p:nvSpPr>
          <p:cNvPr id="13" name="TextBox 12"/>
          <p:cNvSpPr txBox="1"/>
          <p:nvPr/>
        </p:nvSpPr>
        <p:spPr>
          <a:xfrm>
            <a:off x="690372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"1 - SLO"</a:t>
            </a:r>
          </a:p>
        </p:txBody>
      </p:sp>
      <p:sp>
        <p:nvSpPr>
          <p:cNvPr id="14" name="TextBox 13"/>
          <p:cNvSpPr txBox="1"/>
          <p:nvPr/>
        </p:nvSpPr>
        <p:spPr>
          <a:xfrm>
            <a:off x="502920" y="2788920"/>
            <a:ext cx="100584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Error budget = "1 - SLO". Example: 99.9% → 1,000 errors per 1M requests over 4 weeks. Changes cause ~=70% of all outages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a:t>
            </a:r>
          </a:p>
        </p:txBody>
      </p:sp>
      <p:sp>
        <p:nvSpPr>
          <p:cNvPr id="15" name="Rounded Rectangle 14"/>
          <p:cNvSpPr/>
          <p:nvPr/>
        </p:nvSpPr>
        <p:spPr>
          <a:xfrm>
            <a:off x="502920" y="3429000"/>
            <a:ext cx="11201400"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light.png"/>
          <p:cNvPicPr>
            <a:picLocks noChangeAspect="1"/>
          </p:cNvPicPr>
          <p:nvPr/>
        </p:nvPicPr>
        <p:blipFill>
          <a:blip r:embed="rId2"/>
          <a:stretch>
            <a:fillRect/>
          </a:stretch>
        </p:blipFill>
        <p:spPr>
          <a:xfrm>
            <a:off x="777240" y="3657600"/>
            <a:ext cx="502920" cy="502920"/>
          </a:xfrm>
          <a:prstGeom prst="rect">
            <a:avLst/>
          </a:prstGeom>
        </p:spPr>
      </p:pic>
      <p:sp>
        <p:nvSpPr>
          <p:cNvPr id="17" name="TextBox 16"/>
          <p:cNvSpPr txBox="1"/>
          <p:nvPr/>
        </p:nvSpPr>
        <p:spPr>
          <a:xfrm>
            <a:off x="1463040" y="3566160"/>
            <a:ext cx="9966960" cy="77724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An SLI of "share of 200 responses" = all fine? No: 200 arrives even when the model is confidently hallucinating. Infrastructure metrics don't see answer quality.</a:t>
            </a:r>
          </a:p>
        </p:txBody>
      </p:sp>
      <p:sp>
        <p:nvSpPr>
          <p:cNvPr id="18" name="Rounded Rectangle 17"/>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On-call, blameless incident reviews, runbooks — you may already know these. What's new here: a non-deterministic model now sits in production (next slide).</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SRE — Error Budget Policy</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Tracing catches hallucination drift where infrastructure monitoring stays silent</a:t>
            </a:r>
          </a:p>
        </p:txBody>
      </p:sp>
      <p:sp>
        <p:nvSpPr>
          <p:cNvPr id="3" name="TextBox 2"/>
          <p:cNvSpPr txBox="1"/>
          <p:nvPr/>
        </p:nvSpPr>
        <p:spPr>
          <a:xfrm>
            <a:off x="594360" y="1188720"/>
            <a:ext cx="10515600" cy="32004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Tracing (a camera over every node): LangSmith · Langfuse · Arize Phoenix · Helicone </a:t>
            </a:r>
            <a:r>
              <a:rPr sz="624" baseline="30000" b="0" i="1">
                <a:latin typeface="DejaVu Sans"/>
                <a:cs typeface="DejaVu Sans"/>
                <a:ea typeface="DejaVu Sans"/>
                <a:solidFill>
                  <a:srgbClr val="1C7293"/>
                </a:solidFill>
              </a:rPr>
              <a:t>[1]</a:t>
            </a:r>
          </a:p>
        </p:txBody>
      </p:sp>
      <p:sp>
        <p:nvSpPr>
          <p:cNvPr id="4" name="Rounded Rectangle 3"/>
          <p:cNvSpPr/>
          <p:nvPr/>
        </p:nvSpPr>
        <p:spPr>
          <a:xfrm>
            <a:off x="59436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prompt</a:t>
            </a:r>
          </a:p>
        </p:txBody>
      </p:sp>
      <p:pic>
        <p:nvPicPr>
          <p:cNvPr id="6" name="Picture 5" descr="search-teal.png"/>
          <p:cNvPicPr>
            <a:picLocks noChangeAspect="1"/>
          </p:cNvPicPr>
          <p:nvPr/>
        </p:nvPicPr>
        <p:blipFill>
          <a:blip r:embed="rId2"/>
          <a:stretch>
            <a:fillRect/>
          </a:stretch>
        </p:blipFill>
        <p:spPr>
          <a:xfrm>
            <a:off x="1559051" y="1764791"/>
            <a:ext cx="402336" cy="402336"/>
          </a:xfrm>
          <a:prstGeom prst="rect">
            <a:avLst/>
          </a:prstGeom>
        </p:spPr>
      </p:pic>
      <p:sp>
        <p:nvSpPr>
          <p:cNvPr id="7" name="Right Arrow 6"/>
          <p:cNvSpPr/>
          <p:nvPr/>
        </p:nvSpPr>
        <p:spPr>
          <a:xfrm>
            <a:off x="297179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8999"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8999"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retrieval</a:t>
            </a:r>
          </a:p>
        </p:txBody>
      </p:sp>
      <p:pic>
        <p:nvPicPr>
          <p:cNvPr id="10" name="Picture 9" descr="search-teal.png"/>
          <p:cNvPicPr>
            <a:picLocks noChangeAspect="1"/>
          </p:cNvPicPr>
          <p:nvPr/>
        </p:nvPicPr>
        <p:blipFill>
          <a:blip r:embed="rId2"/>
          <a:stretch>
            <a:fillRect/>
          </a:stretch>
        </p:blipFill>
        <p:spPr>
          <a:xfrm>
            <a:off x="4393692" y="1764791"/>
            <a:ext cx="402336" cy="402336"/>
          </a:xfrm>
          <a:prstGeom prst="rect">
            <a:avLst/>
          </a:prstGeom>
        </p:spPr>
      </p:pic>
      <p:sp>
        <p:nvSpPr>
          <p:cNvPr id="11" name="Right Arrow 10"/>
          <p:cNvSpPr/>
          <p:nvPr/>
        </p:nvSpPr>
        <p:spPr>
          <a:xfrm>
            <a:off x="580643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tools</a:t>
            </a:r>
          </a:p>
        </p:txBody>
      </p:sp>
      <p:pic>
        <p:nvPicPr>
          <p:cNvPr id="14" name="Picture 13" descr="search-teal.png"/>
          <p:cNvPicPr>
            <a:picLocks noChangeAspect="1"/>
          </p:cNvPicPr>
          <p:nvPr/>
        </p:nvPicPr>
        <p:blipFill>
          <a:blip r:embed="rId2"/>
          <a:stretch>
            <a:fillRect/>
          </a:stretch>
        </p:blipFill>
        <p:spPr>
          <a:xfrm>
            <a:off x="7228332" y="1764791"/>
            <a:ext cx="402336" cy="402336"/>
          </a:xfrm>
          <a:prstGeom prst="rect">
            <a:avLst/>
          </a:prstGeom>
        </p:spPr>
      </p:pic>
      <p:sp>
        <p:nvSpPr>
          <p:cNvPr id="15" name="Right Arrow 14"/>
          <p:cNvSpPr/>
          <p:nvPr/>
        </p:nvSpPr>
        <p:spPr>
          <a:xfrm>
            <a:off x="8641080"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9828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9828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response</a:t>
            </a:r>
          </a:p>
        </p:txBody>
      </p:sp>
      <p:pic>
        <p:nvPicPr>
          <p:cNvPr id="18" name="Picture 17" descr="search-teal.png"/>
          <p:cNvPicPr>
            <a:picLocks noChangeAspect="1"/>
          </p:cNvPicPr>
          <p:nvPr/>
        </p:nvPicPr>
        <p:blipFill>
          <a:blip r:embed="rId2"/>
          <a:stretch>
            <a:fillRect/>
          </a:stretch>
        </p:blipFill>
        <p:spPr>
          <a:xfrm>
            <a:off x="10062972" y="1764791"/>
            <a:ext cx="402336" cy="402336"/>
          </a:xfrm>
          <a:prstGeom prst="rect">
            <a:avLst/>
          </a:prstGeom>
        </p:spPr>
      </p:pic>
      <p:sp>
        <p:nvSpPr>
          <p:cNvPr id="19" name="Rounded Rectangle 18"/>
          <p:cNvSpPr/>
          <p:nvPr/>
        </p:nvSpPr>
        <p:spPr>
          <a:xfrm>
            <a:off x="502920" y="3429000"/>
            <a:ext cx="690372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520440"/>
            <a:ext cx="6446520"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LLMOps/AgentOps: data drift vs concept drift · runtime guardrails · circuit breaker. Guardian Agents (a Gartner category)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 — agents that watch agents.</a:t>
            </a:r>
          </a:p>
        </p:txBody>
      </p:sp>
      <p:sp>
        <p:nvSpPr>
          <p:cNvPr id="21" name="Rounded Rectangle 20"/>
          <p:cNvSpPr/>
          <p:nvPr/>
        </p:nvSpPr>
        <p:spPr>
          <a:xfrm>
            <a:off x="7589520" y="3429000"/>
            <a:ext cx="4114800" cy="1051560"/>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ock-gold.png"/>
          <p:cNvPicPr>
            <a:picLocks noChangeAspect="1"/>
          </p:cNvPicPr>
          <p:nvPr/>
        </p:nvPicPr>
        <p:blipFill>
          <a:blip r:embed="rId3"/>
          <a:stretch>
            <a:fillRect/>
          </a:stretch>
        </p:blipFill>
        <p:spPr>
          <a:xfrm>
            <a:off x="7818120" y="3639312"/>
            <a:ext cx="457200" cy="457200"/>
          </a:xfrm>
          <a:prstGeom prst="rect">
            <a:avLst/>
          </a:prstGeom>
        </p:spPr>
      </p:pic>
      <p:sp>
        <p:nvSpPr>
          <p:cNvPr id="23" name="TextBox 22"/>
          <p:cNvSpPr txBox="1"/>
          <p:nvPr/>
        </p:nvSpPr>
        <p:spPr>
          <a:xfrm>
            <a:off x="8412480" y="3520440"/>
            <a:ext cx="3108960" cy="868680"/>
          </a:xfrm>
          <a:prstGeom prst="rect">
            <a:avLst/>
          </a:prstGeom>
          <a:noFill/>
        </p:spPr>
        <p:txBody>
          <a:bodyPr wrap="square" lIns="0" rIns="0" tIns="0" bIns="0" anchor="ctr">
            <a:spAutoFit/>
          </a:bodyPr>
          <a:lstStyle/>
          <a:p>
            <a:pPr algn="l">
              <a:lnSpc>
                <a:spcPct val="112000"/>
              </a:lnSpc>
            </a:pPr>
            <a:r>
              <a:rPr sz="1150" b="1" i="0">
                <a:solidFill>
                  <a:srgbClr val="21295C"/>
                </a:solidFill>
                <a:latin typeface="DejaVu Sans"/>
              </a:rPr>
              <a:t>Don't send regulated PII to external tracing without anonymization or self-hosting.</a:t>
            </a:r>
          </a:p>
        </p:txBody>
      </p:sp>
      <p:sp>
        <p:nvSpPr>
          <p:cNvPr id="24" name="Rounded Rectangle 23"/>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Infrastructure monitoring sees "the service is alive"; tracing sees "the answers are degrading": hallucination drift, retrieval failures, prompt regression.</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Confident AI — 2026 LLMOps observability overview</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Gartner Market Guide for Guardian Agents (Feb 25, 2026)</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Dashboards stay green while trust has already been falling for weeks</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30936" y="2437248"/>
            <a:ext cx="2807208" cy="1800623"/>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Silent drift</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Power users notice a regression before the aggregated metrics do — trust falls before the dashboards move.</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Governance drift</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with no versioning silently go stale: the rules drift from reality unnoticed.</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What stays: human escalation, accountability, incident discipline — reinforced by AI's autonomy, not eliminated by it.</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The model was calibrated correctly — there was no real-time fuse for drift</a:t>
            </a:r>
          </a:p>
        </p:txBody>
      </p:sp>
      <p:sp>
        <p:nvSpPr>
          <p:cNvPr id="3" name="Rounded Rectangle 2"/>
          <p:cNvSpPr/>
          <p:nvPr/>
        </p:nvSpPr>
        <p:spPr>
          <a:xfrm>
            <a:off x="502920" y="1463040"/>
            <a:ext cx="2788920" cy="118872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0-zillow-real-source.png"/>
          <p:cNvPicPr>
            <a:picLocks noChangeAspect="1"/>
          </p:cNvPicPr>
          <p:nvPr/>
        </p:nvPicPr>
        <p:blipFill>
          <a:blip r:embed="rId2"/>
          <a:stretch>
            <a:fillRect/>
          </a:stretch>
        </p:blipFill>
        <p:spPr>
          <a:xfrm>
            <a:off x="704088" y="1793570"/>
            <a:ext cx="2386584" cy="527659"/>
          </a:xfrm>
          <a:prstGeom prst="rect">
            <a:avLst/>
          </a:prstGeom>
        </p:spPr>
      </p:pic>
      <p:sp>
        <p:nvSpPr>
          <p:cNvPr id="5" name="Rounded Rectangle 4"/>
          <p:cNvSpPr/>
          <p:nvPr/>
        </p:nvSpPr>
        <p:spPr>
          <a:xfrm>
            <a:off x="502920" y="2834640"/>
            <a:ext cx="2788920" cy="2103120"/>
          </a:xfrm>
          <a:prstGeom prst="roundRect">
            <a:avLst>
              <a:gd name="adj" fmla="val 14492"/>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mid.png"/>
          <p:cNvPicPr>
            <a:picLocks noChangeAspect="1"/>
          </p:cNvPicPr>
          <p:nvPr/>
        </p:nvPicPr>
        <p:blipFill>
          <a:blip r:embed="rId3"/>
          <a:stretch>
            <a:fillRect/>
          </a:stretch>
        </p:blipFill>
        <p:spPr>
          <a:xfrm>
            <a:off x="1417320" y="3017520"/>
            <a:ext cx="822960" cy="822960"/>
          </a:xfrm>
          <a:prstGeom prst="rect">
            <a:avLst/>
          </a:prstGeom>
        </p:spPr>
      </p:pic>
      <p:sp>
        <p:nvSpPr>
          <p:cNvPr id="7" name="TextBox 6"/>
          <p:cNvSpPr txBox="1"/>
          <p:nvPr/>
        </p:nvSpPr>
        <p:spPr>
          <a:xfrm>
            <a:off x="640080" y="3931920"/>
            <a:ext cx="2514600" cy="914400"/>
          </a:xfrm>
          <a:prstGeom prst="rect">
            <a:avLst/>
          </a:prstGeom>
          <a:noFill/>
        </p:spPr>
        <p:txBody>
          <a:bodyPr wrap="square" lIns="0" rIns="0" tIns="0" bIns="0" anchor="t">
            <a:spAutoFit/>
          </a:bodyPr>
          <a:lstStyle/>
          <a:p>
            <a:pPr algn="ctr">
              <a:lnSpc>
                <a:spcPct val="115000"/>
              </a:lnSpc>
            </a:pPr>
            <a:r>
              <a:rPr sz="1200" b="0" i="1">
                <a:solidFill>
                  <a:srgbClr val="5B6678"/>
                </a:solidFill>
                <a:latin typeface="DejaVu Sans"/>
              </a:rPr>
              <a:t>The market shifted — concept drift with no circuit breaker</a:t>
            </a:r>
          </a:p>
        </p:txBody>
      </p:sp>
      <p:sp>
        <p:nvSpPr>
          <p:cNvPr id="8" name="Rounded Rectangle 7"/>
          <p:cNvSpPr/>
          <p:nvPr/>
        </p:nvSpPr>
        <p:spPr>
          <a:xfrm>
            <a:off x="3520440" y="1463040"/>
            <a:ext cx="818387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4"/>
          <a:stretch>
            <a:fillRect/>
          </a:stretch>
        </p:blipFill>
        <p:spPr>
          <a:xfrm>
            <a:off x="4516037" y="1691640"/>
            <a:ext cx="6192685" cy="2331720"/>
          </a:xfrm>
          <a:prstGeom prst="rect">
            <a:avLst/>
          </a:prstGeom>
        </p:spPr>
      </p:pic>
      <p:sp>
        <p:nvSpPr>
          <p:cNvPr id="10" name="TextBox 9"/>
          <p:cNvSpPr txBox="1"/>
          <p:nvPr/>
        </p:nvSpPr>
        <p:spPr>
          <a:xfrm>
            <a:off x="3794760" y="4069080"/>
            <a:ext cx="7635240" cy="77724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Zillow Offers, November 2021: 9,680 homes bought, 3,032 sold · ~2,000 laid off (~25% of staff)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 ~=$80K loss per property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Criterion: a model executing trades with real money requires real-time monitoring of prediction accuracy with an automatic circuit breaker that shuts it off on drift.</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GeekWire (Nov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SEC 10-K FY2021 — Zillow Group</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"The bot is a separate legal entity" — the tribunal rejected this in one sentence</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Scales in balance: the bot's answer = a static page on the site. Equal accountability for both.</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website chatbot</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The bot incorrectly stated a retroactive discount. Tribunal — CAD $812.02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the company is responsible for the bot's answer as for any other site content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You own every answer the bot gives — no more, but not one gram less accountability than for any other content on the site.</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CanLII — Moffatt v. Air Canada, 2024 BCCRT 149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American Bar Association — case commentary</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10 of 10 journalists got the same unlawful advice — not an isolated glitch</a:t>
            </a:r>
          </a:p>
        </p:txBody>
      </p:sp>
      <p:sp>
        <p:nvSpPr>
          <p:cNvPr id="3" name="Rounded Rectangle 2"/>
          <p:cNvSpPr/>
          <p:nvPr/>
        </p:nvSpPr>
        <p:spPr>
          <a:xfrm>
            <a:off x="502920" y="146304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2-klarna-real-source.png"/>
          <p:cNvPicPr>
            <a:picLocks noChangeAspect="1"/>
          </p:cNvPicPr>
          <p:nvPr/>
        </p:nvPicPr>
        <p:blipFill>
          <a:blip r:embed="rId2"/>
          <a:stretch>
            <a:fillRect/>
          </a:stretch>
        </p:blipFill>
        <p:spPr>
          <a:xfrm>
            <a:off x="767612" y="1609344"/>
            <a:ext cx="1802333" cy="758951"/>
          </a:xfrm>
          <a:prstGeom prst="rect">
            <a:avLst/>
          </a:prstGeom>
        </p:spPr>
      </p:pic>
      <p:sp>
        <p:nvSpPr>
          <p:cNvPr id="5" name="Rounded Rectangle 4"/>
          <p:cNvSpPr/>
          <p:nvPr/>
        </p:nvSpPr>
        <p:spPr>
          <a:xfrm>
            <a:off x="502920" y="2651760"/>
            <a:ext cx="5257800" cy="2286000"/>
          </a:xfrm>
          <a:prstGeom prst="roundRect">
            <a:avLst>
              <a:gd name="adj" fmla="val 1333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klarna.png"/>
          <p:cNvPicPr>
            <a:picLocks noChangeAspect="1"/>
          </p:cNvPicPr>
          <p:nvPr/>
        </p:nvPicPr>
        <p:blipFill>
          <a:blip r:embed="rId3"/>
          <a:stretch>
            <a:fillRect/>
          </a:stretch>
        </p:blipFill>
        <p:spPr>
          <a:xfrm>
            <a:off x="1671535" y="2834640"/>
            <a:ext cx="2920568" cy="1874519"/>
          </a:xfrm>
          <a:prstGeom prst="rect">
            <a:avLst/>
          </a:prstGeom>
        </p:spPr>
      </p:pic>
      <p:sp>
        <p:nvSpPr>
          <p:cNvPr id="7" name="TextBox 6"/>
          <p:cNvSpPr txBox="1"/>
          <p:nvPr/>
        </p:nvSpPr>
        <p:spPr>
          <a:xfrm>
            <a:off x="2971800" y="1572768"/>
            <a:ext cx="2788920" cy="91440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Klarna: the "AI-only" policy was walked back (05.2025)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 but automation grew to an 853-FTE equivalent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(augmenting people, not replacing them).</a:t>
            </a:r>
          </a:p>
        </p:txBody>
      </p:sp>
      <p:sp>
        <p:nvSpPr>
          <p:cNvPr id="8" name="Rounded Rectangle 7"/>
          <p:cNvSpPr/>
          <p:nvPr/>
        </p:nvSpPr>
        <p:spPr>
          <a:xfrm>
            <a:off x="5989320" y="1463040"/>
            <a:ext cx="5715000" cy="2788920"/>
          </a:xfrm>
          <a:prstGeom prst="roundRect">
            <a:avLst>
              <a:gd name="adj" fmla="val 1092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72768"/>
            <a:ext cx="52578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NYC MyCity — government bot</a:t>
            </a:r>
          </a:p>
        </p:txBody>
      </p:sp>
      <p:pic>
        <p:nvPicPr>
          <p:cNvPr id="10" name="Picture 9" descr="user-x-gold.png"/>
          <p:cNvPicPr>
            <a:picLocks noChangeAspect="1"/>
          </p:cNvPicPr>
          <p:nvPr/>
        </p:nvPicPr>
        <p:blipFill>
          <a:blip r:embed="rId4"/>
          <a:stretch>
            <a:fillRect/>
          </a:stretch>
        </p:blipFill>
        <p:spPr>
          <a:xfrm>
            <a:off x="6263640" y="2057400"/>
            <a:ext cx="438912" cy="438912"/>
          </a:xfrm>
          <a:prstGeom prst="rect">
            <a:avLst/>
          </a:prstGeom>
        </p:spPr>
      </p:pic>
      <p:pic>
        <p:nvPicPr>
          <p:cNvPr id="11" name="Picture 10" descr="user-x-gold.png"/>
          <p:cNvPicPr>
            <a:picLocks noChangeAspect="1"/>
          </p:cNvPicPr>
          <p:nvPr/>
        </p:nvPicPr>
        <p:blipFill>
          <a:blip r:embed="rId4"/>
          <a:stretch>
            <a:fillRect/>
          </a:stretch>
        </p:blipFill>
        <p:spPr>
          <a:xfrm>
            <a:off x="7287768" y="2057400"/>
            <a:ext cx="438912" cy="438912"/>
          </a:xfrm>
          <a:prstGeom prst="rect">
            <a:avLst/>
          </a:prstGeom>
        </p:spPr>
      </p:pic>
      <p:pic>
        <p:nvPicPr>
          <p:cNvPr id="12" name="Picture 11" descr="user-x-gold.png"/>
          <p:cNvPicPr>
            <a:picLocks noChangeAspect="1"/>
          </p:cNvPicPr>
          <p:nvPr/>
        </p:nvPicPr>
        <p:blipFill>
          <a:blip r:embed="rId4"/>
          <a:stretch>
            <a:fillRect/>
          </a:stretch>
        </p:blipFill>
        <p:spPr>
          <a:xfrm>
            <a:off x="8311896" y="2057400"/>
            <a:ext cx="438912" cy="438912"/>
          </a:xfrm>
          <a:prstGeom prst="rect">
            <a:avLst/>
          </a:prstGeom>
        </p:spPr>
      </p:pic>
      <p:pic>
        <p:nvPicPr>
          <p:cNvPr id="13" name="Picture 12" descr="user-x-gold.png"/>
          <p:cNvPicPr>
            <a:picLocks noChangeAspect="1"/>
          </p:cNvPicPr>
          <p:nvPr/>
        </p:nvPicPr>
        <p:blipFill>
          <a:blip r:embed="rId4"/>
          <a:stretch>
            <a:fillRect/>
          </a:stretch>
        </p:blipFill>
        <p:spPr>
          <a:xfrm>
            <a:off x="9336024" y="2057400"/>
            <a:ext cx="438912" cy="438912"/>
          </a:xfrm>
          <a:prstGeom prst="rect">
            <a:avLst/>
          </a:prstGeom>
        </p:spPr>
      </p:pic>
      <p:pic>
        <p:nvPicPr>
          <p:cNvPr id="14" name="Picture 13" descr="user-x-gold.png"/>
          <p:cNvPicPr>
            <a:picLocks noChangeAspect="1"/>
          </p:cNvPicPr>
          <p:nvPr/>
        </p:nvPicPr>
        <p:blipFill>
          <a:blip r:embed="rId4"/>
          <a:stretch>
            <a:fillRect/>
          </a:stretch>
        </p:blipFill>
        <p:spPr>
          <a:xfrm>
            <a:off x="10360152" y="2057400"/>
            <a:ext cx="438912" cy="438912"/>
          </a:xfrm>
          <a:prstGeom prst="rect">
            <a:avLst/>
          </a:prstGeom>
        </p:spPr>
      </p:pic>
      <p:pic>
        <p:nvPicPr>
          <p:cNvPr id="15" name="Picture 14" descr="user-x-gold.png"/>
          <p:cNvPicPr>
            <a:picLocks noChangeAspect="1"/>
          </p:cNvPicPr>
          <p:nvPr/>
        </p:nvPicPr>
        <p:blipFill>
          <a:blip r:embed="rId4"/>
          <a:stretch>
            <a:fillRect/>
          </a:stretch>
        </p:blipFill>
        <p:spPr>
          <a:xfrm>
            <a:off x="6263640" y="2697480"/>
            <a:ext cx="438912" cy="438912"/>
          </a:xfrm>
          <a:prstGeom prst="rect">
            <a:avLst/>
          </a:prstGeom>
        </p:spPr>
      </p:pic>
      <p:pic>
        <p:nvPicPr>
          <p:cNvPr id="16" name="Picture 15" descr="user-x-gold.png"/>
          <p:cNvPicPr>
            <a:picLocks noChangeAspect="1"/>
          </p:cNvPicPr>
          <p:nvPr/>
        </p:nvPicPr>
        <p:blipFill>
          <a:blip r:embed="rId4"/>
          <a:stretch>
            <a:fillRect/>
          </a:stretch>
        </p:blipFill>
        <p:spPr>
          <a:xfrm>
            <a:off x="7287768" y="2697480"/>
            <a:ext cx="438912" cy="438912"/>
          </a:xfrm>
          <a:prstGeom prst="rect">
            <a:avLst/>
          </a:prstGeom>
        </p:spPr>
      </p:pic>
      <p:pic>
        <p:nvPicPr>
          <p:cNvPr id="17" name="Picture 16" descr="user-x-gold.png"/>
          <p:cNvPicPr>
            <a:picLocks noChangeAspect="1"/>
          </p:cNvPicPr>
          <p:nvPr/>
        </p:nvPicPr>
        <p:blipFill>
          <a:blip r:embed="rId4"/>
          <a:stretch>
            <a:fillRect/>
          </a:stretch>
        </p:blipFill>
        <p:spPr>
          <a:xfrm>
            <a:off x="8311896" y="2697480"/>
            <a:ext cx="438912" cy="438912"/>
          </a:xfrm>
          <a:prstGeom prst="rect">
            <a:avLst/>
          </a:prstGeom>
        </p:spPr>
      </p:pic>
      <p:pic>
        <p:nvPicPr>
          <p:cNvPr id="18" name="Picture 17" descr="user-x-gold.png"/>
          <p:cNvPicPr>
            <a:picLocks noChangeAspect="1"/>
          </p:cNvPicPr>
          <p:nvPr/>
        </p:nvPicPr>
        <p:blipFill>
          <a:blip r:embed="rId4"/>
          <a:stretch>
            <a:fillRect/>
          </a:stretch>
        </p:blipFill>
        <p:spPr>
          <a:xfrm>
            <a:off x="9336024" y="2697480"/>
            <a:ext cx="438912" cy="438912"/>
          </a:xfrm>
          <a:prstGeom prst="rect">
            <a:avLst/>
          </a:prstGeom>
        </p:spPr>
      </p:pic>
      <p:pic>
        <p:nvPicPr>
          <p:cNvPr id="19" name="Picture 18" descr="user-x-gold.png"/>
          <p:cNvPicPr>
            <a:picLocks noChangeAspect="1"/>
          </p:cNvPicPr>
          <p:nvPr/>
        </p:nvPicPr>
        <p:blipFill>
          <a:blip r:embed="rId4"/>
          <a:stretch>
            <a:fillRect/>
          </a:stretch>
        </p:blipFill>
        <p:spPr>
          <a:xfrm>
            <a:off x="10360152" y="2697480"/>
            <a:ext cx="438912" cy="438912"/>
          </a:xfrm>
          <a:prstGeom prst="rect">
            <a:avLst/>
          </a:prstGeom>
        </p:spPr>
      </p:pic>
      <p:sp>
        <p:nvSpPr>
          <p:cNvPr id="20" name="TextBox 19"/>
          <p:cNvSpPr txBox="1"/>
          <p:nvPr/>
        </p:nvSpPr>
        <p:spPr>
          <a:xfrm>
            <a:off x="6217920" y="3383280"/>
            <a:ext cx="5257800" cy="77724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10 of 10 journalists — the same unlawful advice </a:t>
            </a:r>
            <a:r>
              <a:rPr sz="650" baseline="30000" b="0" i="1">
                <a:latin typeface="DejaVu Sans"/>
                <a:cs typeface="DejaVu Sans"/>
                <a:ea typeface="DejaVu Sans"/>
                <a:solidFill>
                  <a:srgbClr val="1C7293"/>
                </a:solidFill>
              </a:rPr>
              <a:t>[3]</a:t>
            </a:r>
            <a:r>
              <a:rPr sz="1250" b="1" i="0">
                <a:latin typeface="DejaVu Sans"/>
                <a:cs typeface="DejaVu Sans"/>
                <a:ea typeface="DejaVu Sans"/>
                <a:solidFill>
                  <a:srgbClr val="21295C"/>
                </a:solidFill>
              </a:rPr>
              <a:t>. The mayor did not pull the bot.</a:t>
            </a:r>
          </a:p>
        </p:txBody>
      </p:sp>
      <p:sp>
        <p:nvSpPr>
          <p:cNvPr id="21" name="Rounded Rectangle 2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lesson isn't "AI doesn't work" — it's "a throughput metric with no guaranteed human escalation is the wrong design."</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Bloomberg (May 8,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Fortune (Oct 10, 2025) — 853 FTE</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The Markup (Mar 29, 2024) — NYC MyCity</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Operation is the point where the loop physically closes</a:t>
            </a:r>
          </a:p>
        </p:txBody>
      </p:sp>
      <p:cxnSp>
        <p:nvCxnSpPr>
          <p:cNvPr id="3" name="Connector 2"/>
          <p:cNvCxnSpPr/>
          <p:nvPr/>
        </p:nvCxnSpPr>
        <p:spPr>
          <a:xfrm>
            <a:off x="3337560" y="1417320"/>
            <a:ext cx="1148245"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485805" y="2080260"/>
            <a:ext cx="0" cy="1325879"/>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3337560" y="3406139"/>
            <a:ext cx="1148245" cy="662941"/>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189314" y="340614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89314" y="2080260"/>
            <a:ext cx="0" cy="1325880"/>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189314" y="141732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118104" y="119786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16550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Discovery</a:t>
            </a:r>
          </a:p>
        </p:txBody>
      </p:sp>
      <p:sp>
        <p:nvSpPr>
          <p:cNvPr id="11" name="Oval 10"/>
          <p:cNvSpPr/>
          <p:nvPr/>
        </p:nvSpPr>
        <p:spPr>
          <a:xfrm>
            <a:off x="4266349"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8565"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Design</a:t>
            </a:r>
          </a:p>
        </p:txBody>
      </p:sp>
      <p:sp>
        <p:nvSpPr>
          <p:cNvPr id="13" name="Oval 12"/>
          <p:cNvSpPr/>
          <p:nvPr/>
        </p:nvSpPr>
        <p:spPr>
          <a:xfrm>
            <a:off x="4266349" y="3186683"/>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8565" y="3643883"/>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Build</a:t>
            </a:r>
          </a:p>
        </p:txBody>
      </p:sp>
      <p:sp>
        <p:nvSpPr>
          <p:cNvPr id="15" name="Oval 14"/>
          <p:cNvSpPr/>
          <p:nvPr/>
        </p:nvSpPr>
        <p:spPr>
          <a:xfrm>
            <a:off x="3118104" y="384962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430682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Measure</a:t>
            </a:r>
          </a:p>
        </p:txBody>
      </p:sp>
      <p:sp>
        <p:nvSpPr>
          <p:cNvPr id="17" name="Oval 16"/>
          <p:cNvSpPr/>
          <p:nvPr/>
        </p:nvSpPr>
        <p:spPr>
          <a:xfrm>
            <a:off x="1969858" y="318668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2074" y="364388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Support</a:t>
            </a:r>
          </a:p>
        </p:txBody>
      </p:sp>
      <p:sp>
        <p:nvSpPr>
          <p:cNvPr id="19" name="Oval 18"/>
          <p:cNvSpPr/>
          <p:nvPr/>
        </p:nvSpPr>
        <p:spPr>
          <a:xfrm>
            <a:off x="1969858"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2074"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Governance</a:t>
            </a:r>
          </a:p>
        </p:txBody>
      </p:sp>
      <p:sp>
        <p:nvSpPr>
          <p:cNvPr id="21" name="Rounded Rectangle 20"/>
          <p:cNvSpPr/>
          <p:nvPr/>
        </p:nvSpPr>
        <p:spPr>
          <a:xfrm>
            <a:off x="5806440" y="1508760"/>
            <a:ext cx="589788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1664208"/>
            <a:ext cx="5440680" cy="24688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Support → the product closes the loop.</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The signal from operation (drift, an incident, a complaint) updates the reference dataset and guardrails — and, on a deeper signal, sends us back to intent itself: what we're building and for whom.</a:t>
            </a:r>
          </a:p>
        </p:txBody>
      </p:sp>
      <p:sp>
        <p:nvSpPr>
          <p:cNvPr id="23" name="Rounded Rectangle 22"/>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Observe, interpret, decide — these steps stay human on every turn of the loop, even as execution is nearly free.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Governance — the capstone that answers the hook paradox</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failures · payoff</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Why assembly is nearly free, but value is not. Here we rise to the level of the organization and assemble the whole loop.</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Intro</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Discovery</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Design</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Build &amp; Launch</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Measure</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Support</a:t>
            </a:r>
          </a:p>
        </p:txBody>
      </p:sp>
      <p:sp>
        <p:nvSpPr>
          <p:cNvPr id="27" name="Rounded Rectangle 26"/>
          <p:cNvSpPr/>
          <p:nvPr/>
        </p:nvSpPr>
        <p:spPr>
          <a:xfrm>
            <a:off x="10182497"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Governance</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Governance in plain terms</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in plain terms</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What it is</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An organization-level phase: not "how to build one product," but "what to fund at all" — and stop what doesn't pay off.</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Why</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Resources are limited. The same "continue / kill" gate as for a single feature is raised to the level of capital across many initiatives.</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Mental model</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A portfolio funnel: many ideas in, few funded ones out. An AI product adds a new variable — the cost of every request against its value.</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The same go/kill gate — but now it allocates capital across many initiatives</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Portfolio funnel</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many initiatives</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gate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gate 2</a:t>
            </a:r>
          </a:p>
        </p:txBody>
      </p:sp>
      <p:sp>
        <p:nvSpPr>
          <p:cNvPr id="11" name="Rounded Rectangle 10"/>
          <p:cNvSpPr/>
          <p:nvPr/>
        </p:nvSpPr>
        <p:spPr>
          <a:xfrm>
            <a:off x="2194560" y="3922776"/>
            <a:ext cx="210312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3922776"/>
            <a:ext cx="2103120" cy="475488"/>
          </a:xfrm>
          <a:prstGeom prst="rect">
            <a:avLst/>
          </a:prstGeom>
          <a:noFill/>
        </p:spPr>
        <p:txBody>
          <a:bodyPr wrap="square" lIns="0" rIns="0" tIns="0" bIns="0" anchor="ctr">
            <a:spAutoFit/>
          </a:bodyPr>
          <a:lstStyle/>
          <a:p>
            <a:pPr algn="ctr">
              <a:lnSpc>
                <a:spcPct val="115000"/>
              </a:lnSpc>
            </a:pPr>
            <a:r>
              <a:rPr sz="1050" b="1" i="0">
                <a:solidFill>
                  <a:srgbClr val="21295C"/>
                </a:solidFill>
                <a:latin typeface="DejaVu Sans"/>
              </a:rPr>
              <a:t>funded</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 economics of an AI product</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A new variable — cost per request against value per request. Every call to the model costs real money.</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Financial KPI at pilot entry: "cut ticket cost from X to Y while CSAT &gt;= Z; N tickets, M weeks, owner — Smith."</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Portfolio governance = Stage-Gate, raised to the level of capital: the same "a funnel, not a tunnel" discipline, but across products, not within one.</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The bottleneck shifted from technology to the organization's operating model</a:t>
            </a:r>
          </a:p>
        </p:txBody>
      </p:sp>
      <p:sp>
        <p:nvSpPr>
          <p:cNvPr id="3" name="Rounded Rectangle 2"/>
          <p:cNvSpPr/>
          <p:nvPr/>
        </p:nvSpPr>
        <p:spPr>
          <a:xfrm>
            <a:off x="502920" y="1463040"/>
            <a:ext cx="58064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Deloitte</a:t>
            </a:r>
          </a:p>
        </p:txBody>
      </p:sp>
      <p:cxnSp>
        <p:nvCxnSpPr>
          <p:cNvPr id="5" name="Connector 4"/>
          <p:cNvCxnSpPr/>
          <p:nvPr/>
        </p:nvCxnSpPr>
        <p:spPr>
          <a:xfrm>
            <a:off x="2514600" y="1892808"/>
            <a:ext cx="2103120" cy="80467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77240" y="224028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Sber</a:t>
            </a:r>
          </a:p>
        </p:txBody>
      </p:sp>
      <p:cxnSp>
        <p:nvCxnSpPr>
          <p:cNvPr id="7" name="Connector 6"/>
          <p:cNvCxnSpPr/>
          <p:nvPr/>
        </p:nvCxnSpPr>
        <p:spPr>
          <a:xfrm>
            <a:off x="2514600" y="2441448"/>
            <a:ext cx="2103120" cy="25603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78892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Gartner</a:t>
            </a:r>
          </a:p>
        </p:txBody>
      </p:sp>
      <p:cxnSp>
        <p:nvCxnSpPr>
          <p:cNvPr id="9" name="Connector 8"/>
          <p:cNvCxnSpPr/>
          <p:nvPr/>
        </p:nvCxnSpPr>
        <p:spPr>
          <a:xfrm flipV="1">
            <a:off x="2514600" y="2697480"/>
            <a:ext cx="2103120" cy="29260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33756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McKinsey</a:t>
            </a:r>
          </a:p>
        </p:txBody>
      </p:sp>
      <p:cxnSp>
        <p:nvCxnSpPr>
          <p:cNvPr id="11" name="Connector 10"/>
          <p:cNvCxnSpPr/>
          <p:nvPr/>
        </p:nvCxnSpPr>
        <p:spPr>
          <a:xfrm flipV="1">
            <a:off x="2514600" y="2697480"/>
            <a:ext cx="2103120" cy="84124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388620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Forrester</a:t>
            </a:r>
          </a:p>
        </p:txBody>
      </p:sp>
      <p:cxnSp>
        <p:nvCxnSpPr>
          <p:cNvPr id="13" name="Connector 12"/>
          <p:cNvCxnSpPr/>
          <p:nvPr/>
        </p:nvCxnSpPr>
        <p:spPr>
          <a:xfrm flipV="1">
            <a:off x="2514600" y="2697480"/>
            <a:ext cx="2103120" cy="13898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94760" y="2331720"/>
            <a:ext cx="2286000" cy="731520"/>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395728"/>
            <a:ext cx="2194560" cy="59436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operating model</a:t>
            </a:r>
          </a:p>
        </p:txBody>
      </p:sp>
      <p:sp>
        <p:nvSpPr>
          <p:cNvPr id="16" name="TextBox 15"/>
          <p:cNvSpPr txBox="1"/>
          <p:nvPr/>
        </p:nvSpPr>
        <p:spPr>
          <a:xfrm>
            <a:off x="731520" y="4434840"/>
            <a:ext cx="539496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Deloitte: 75% say the model must change · 42% low/zero ROI </a:t>
            </a:r>
            <a:r>
              <a:rPr sz="572" baseline="30000" b="0" i="1">
                <a:latin typeface="DejaVu Sans"/>
                <a:cs typeface="DejaVu Sans"/>
                <a:ea typeface="DejaVu Sans"/>
                <a:solidFill>
                  <a:srgbClr val="1C7293"/>
                </a:solidFill>
              </a:rPr>
              <a:t>[1]</a:t>
            </a:r>
          </a:p>
        </p:txBody>
      </p:sp>
      <p:sp>
        <p:nvSpPr>
          <p:cNvPr id="17" name="Rounded Rectangle 16"/>
          <p:cNvSpPr/>
          <p:nvPr/>
        </p:nvSpPr>
        <p:spPr>
          <a:xfrm>
            <a:off x="6537960" y="1463040"/>
            <a:ext cx="5166360" cy="3246120"/>
          </a:xfrm>
          <a:prstGeom prst="roundRect">
            <a:avLst>
              <a:gd name="adj" fmla="val 938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1600200"/>
            <a:ext cx="47091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Maturity 0-5</a:t>
            </a:r>
          </a:p>
        </p:txBody>
      </p:sp>
      <p:sp>
        <p:nvSpPr>
          <p:cNvPr id="19" name="Rounded Rectangle 18"/>
          <p:cNvSpPr/>
          <p:nvPr/>
        </p:nvSpPr>
        <p:spPr>
          <a:xfrm>
            <a:off x="68122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0</a:t>
            </a:r>
          </a:p>
        </p:txBody>
      </p:sp>
      <p:sp>
        <p:nvSpPr>
          <p:cNvPr id="21" name="Rounded Rectangle 20"/>
          <p:cNvSpPr/>
          <p:nvPr/>
        </p:nvSpPr>
        <p:spPr>
          <a:xfrm>
            <a:off x="758952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1</a:t>
            </a:r>
          </a:p>
        </p:txBody>
      </p:sp>
      <p:sp>
        <p:nvSpPr>
          <p:cNvPr id="23" name="Rounded Rectangle 22"/>
          <p:cNvSpPr/>
          <p:nvPr/>
        </p:nvSpPr>
        <p:spPr>
          <a:xfrm>
            <a:off x="836676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2</a:t>
            </a:r>
          </a:p>
        </p:txBody>
      </p:sp>
      <p:sp>
        <p:nvSpPr>
          <p:cNvPr id="25" name="Rounded Rectangle 24"/>
          <p:cNvSpPr/>
          <p:nvPr/>
        </p:nvSpPr>
        <p:spPr>
          <a:xfrm>
            <a:off x="9144000" y="2331720"/>
            <a:ext cx="64008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3</a:t>
            </a:r>
          </a:p>
        </p:txBody>
      </p:sp>
      <p:sp>
        <p:nvSpPr>
          <p:cNvPr id="27" name="Rounded Rectangle 26"/>
          <p:cNvSpPr/>
          <p:nvPr/>
        </p:nvSpPr>
        <p:spPr>
          <a:xfrm>
            <a:off x="992124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4</a:t>
            </a:r>
          </a:p>
        </p:txBody>
      </p:sp>
      <p:sp>
        <p:nvSpPr>
          <p:cNvPr id="29" name="Rounded Rectangle 28"/>
          <p:cNvSpPr/>
          <p:nvPr/>
        </p:nvSpPr>
        <p:spPr>
          <a:xfrm>
            <a:off x="106984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5</a:t>
            </a:r>
          </a:p>
        </p:txBody>
      </p:sp>
      <p:sp>
        <p:nvSpPr>
          <p:cNvPr id="31" name="TextBox 30"/>
          <p:cNvSpPr txBox="1"/>
          <p:nvPr/>
        </p:nvSpPr>
        <p:spPr>
          <a:xfrm>
            <a:off x="6812280" y="3063240"/>
            <a:ext cx="2194560" cy="45720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Sber is here →</a:t>
            </a:r>
          </a:p>
        </p:txBody>
      </p:sp>
      <p:sp>
        <p:nvSpPr>
          <p:cNvPr id="32" name="TextBox 31"/>
          <p:cNvSpPr txBox="1"/>
          <p:nvPr/>
        </p:nvSpPr>
        <p:spPr>
          <a:xfrm>
            <a:off x="6766560" y="3611880"/>
            <a:ext cx="4709160"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Operators → orchestrators. Sber rates itself at level 3 of 5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 — an anti-hype signal: even a large player doesn't claim the top of the scale.</a:t>
            </a:r>
          </a:p>
        </p:txBody>
      </p:sp>
      <p:sp>
        <p:nvSpPr>
          <p:cNvPr id="33" name="Rounded Rectangle 32"/>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Five independent sources converge on one point: the winner isn't whoever has the better model, but whoever rebuilt teams and governance around it.</a:t>
            </a:r>
          </a:p>
        </p:txBody>
      </p:sp>
      <p:sp>
        <p:nvSpPr>
          <p:cNvPr id="35" name="TextBox 3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2026 Global Technology Leadership Study</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Sber — the "AI PDLC Lead" job posting</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658368"/>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60% explored → 20% piloted → 5% succeeded: 25% among those who got there, not "95% failure" </a:t>
            </a:r>
            <a:r>
              <a:rPr sz="884" baseline="30000" b="0" i="1">
                <a:latin typeface="DejaVu Sans"/>
                <a:cs typeface="DejaVu Sans"/>
                <a:ea typeface="DejaVu Sans"/>
                <a:solidFill>
                  <a:srgbClr val="1C7293"/>
                </a:solidFill>
              </a:rPr>
              <a:t>[1]</a:t>
            </a:r>
          </a:p>
        </p:txBody>
      </p:sp>
      <p:sp>
        <p:nvSpPr>
          <p:cNvPr id="3" name="Rounded Rectangle 2"/>
          <p:cNvSpPr/>
          <p:nvPr/>
        </p:nvSpPr>
        <p:spPr>
          <a:xfrm>
            <a:off x="502920" y="1097280"/>
            <a:ext cx="11201400" cy="2880360"/>
          </a:xfrm>
          <a:prstGeom prst="roundRect">
            <a:avLst>
              <a:gd name="adj" fmla="val 10582"/>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mit-funnel.png"/>
          <p:cNvPicPr>
            <a:picLocks noChangeAspect="1"/>
          </p:cNvPicPr>
          <p:nvPr/>
        </p:nvPicPr>
        <p:blipFill>
          <a:blip r:embed="rId2"/>
          <a:stretch>
            <a:fillRect/>
          </a:stretch>
        </p:blipFill>
        <p:spPr>
          <a:xfrm>
            <a:off x="3425153" y="1280160"/>
            <a:ext cx="5356932" cy="2514600"/>
          </a:xfrm>
          <a:prstGeom prst="rect">
            <a:avLst/>
          </a:prstGeom>
        </p:spPr>
      </p:pic>
      <p:sp>
        <p:nvSpPr>
          <p:cNvPr id="5" name="Rounded Rectangle 4"/>
          <p:cNvSpPr/>
          <p:nvPr/>
        </p:nvSpPr>
        <p:spPr>
          <a:xfrm>
            <a:off x="502920" y="41148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4169663"/>
            <a:ext cx="10762488" cy="548640"/>
          </a:xfrm>
          <a:prstGeom prst="rect">
            <a:avLst/>
          </a:prstGeom>
          <a:noFill/>
        </p:spPr>
        <p:txBody>
          <a:bodyPr wrap="square" lIns="0" rIns="0" tIns="0" bIns="0" anchor="ctr">
            <a:spAutoFit/>
          </a:bodyPr>
          <a:lstStyle/>
          <a:p>
            <a:pPr algn="ctr">
              <a:lnSpc>
                <a:spcPct val="120000"/>
              </a:lnSpc>
            </a:pPr>
            <a:r>
              <a:rPr sz="1400" b="1" i="0">
                <a:solidFill>
                  <a:srgbClr val="21295C"/>
                </a:solidFill>
                <a:latin typeface="DejaVu Sans"/>
              </a:rPr>
              <a:t>"95% failure" is a headline that doesn't survive calibration: success among those who reached a pilot is 25%, not 5% </a:t>
            </a:r>
            <a:r>
              <a:rPr sz="728" baseline="30000" b="0" i="1">
                <a:latin typeface="DejaVu Sans"/>
                <a:cs typeface="DejaVu Sans"/>
                <a:ea typeface="DejaVu Sans"/>
                <a:solidFill>
                  <a:srgbClr val="1C7293"/>
                </a:solidFill>
              </a:rPr>
              <a:t>[2, 3]</a:t>
            </a:r>
            <a:r>
              <a:rPr sz="1400" b="1" i="0">
                <a:latin typeface="DejaVu Sans"/>
                <a:cs typeface="DejaVu Sans"/>
                <a:ea typeface="DejaVu Sans"/>
                <a:solidFill>
                  <a:srgbClr val="21295C"/>
                </a:solidFill>
              </a:rPr>
              <a:t>.</a:t>
            </a:r>
          </a:p>
        </p:txBody>
      </p:sp>
      <p:sp>
        <p:nvSpPr>
          <p:cNvPr id="7" name="Rounded Rectangle 6"/>
          <p:cNvSpPr/>
          <p:nvPr/>
        </p:nvSpPr>
        <p:spPr>
          <a:xfrm>
            <a:off x="502920" y="4892040"/>
            <a:ext cx="23317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7-mit-real-source.png"/>
          <p:cNvPicPr>
            <a:picLocks noChangeAspect="1"/>
          </p:cNvPicPr>
          <p:nvPr/>
        </p:nvPicPr>
        <p:blipFill>
          <a:blip r:embed="rId3"/>
          <a:stretch>
            <a:fillRect/>
          </a:stretch>
        </p:blipFill>
        <p:spPr>
          <a:xfrm>
            <a:off x="612648" y="5118839"/>
            <a:ext cx="2112263" cy="963720"/>
          </a:xfrm>
          <a:prstGeom prst="rect">
            <a:avLst/>
          </a:prstGeom>
        </p:spPr>
      </p:pic>
      <p:sp>
        <p:nvSpPr>
          <p:cNvPr id="9" name="Rounded Rectangle 8"/>
          <p:cNvSpPr/>
          <p:nvPr/>
        </p:nvSpPr>
        <p:spPr>
          <a:xfrm>
            <a:off x="2971800" y="4892040"/>
            <a:ext cx="4892040" cy="1417320"/>
          </a:xfrm>
          <a:prstGeom prst="roundRect">
            <a:avLst>
              <a:gd name="adj" fmla="val 21505"/>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82112" y="4983480"/>
            <a:ext cx="4480560" cy="292608"/>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4 questions for any loud AI-failure number</a:t>
            </a:r>
          </a:p>
        </p:txBody>
      </p:sp>
      <p:sp>
        <p:nvSpPr>
          <p:cNvPr id="11" name="TextBox 10"/>
          <p:cNvSpPr txBox="1"/>
          <p:nvPr/>
        </p:nvSpPr>
        <p:spPr>
          <a:xfrm>
            <a:off x="3182112" y="5321808"/>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1. What is the denominator?</a:t>
            </a:r>
          </a:p>
        </p:txBody>
      </p:sp>
      <p:sp>
        <p:nvSpPr>
          <p:cNvPr id="12" name="TextBox 11"/>
          <p:cNvSpPr txBox="1"/>
          <p:nvPr/>
        </p:nvSpPr>
        <p:spPr>
          <a:xfrm>
            <a:off x="3182112" y="5568696"/>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2. What counts as "failure"?</a:t>
            </a:r>
          </a:p>
        </p:txBody>
      </p:sp>
      <p:sp>
        <p:nvSpPr>
          <p:cNvPr id="13" name="TextBox 12"/>
          <p:cNvSpPr txBox="1"/>
          <p:nvPr/>
        </p:nvSpPr>
        <p:spPr>
          <a:xfrm>
            <a:off x="3182112" y="5815584"/>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3. What's the author's conflict of interest? </a:t>
            </a:r>
            <a:r>
              <a:rPr sz="520" baseline="30000" b="0" i="1">
                <a:latin typeface="DejaVu Sans"/>
                <a:cs typeface="DejaVu Sans"/>
                <a:ea typeface="DejaVu Sans"/>
                <a:solidFill>
                  <a:srgbClr val="1C7293"/>
                </a:solidFill>
              </a:rPr>
              <a:t>[3]</a:t>
            </a:r>
          </a:p>
        </p:txBody>
      </p:sp>
      <p:sp>
        <p:nvSpPr>
          <p:cNvPr id="14" name="TextBox 13"/>
          <p:cNvSpPr txBox="1"/>
          <p:nvPr/>
        </p:nvSpPr>
        <p:spPr>
          <a:xfrm>
            <a:off x="3182112" y="6062472"/>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4. Does it trace to a primary source?</a:t>
            </a:r>
          </a:p>
        </p:txBody>
      </p:sp>
      <p:sp>
        <p:nvSpPr>
          <p:cNvPr id="15" name="Rounded Rectangle 14"/>
          <p:cNvSpPr/>
          <p:nvPr/>
        </p:nvSpPr>
        <p:spPr>
          <a:xfrm>
            <a:off x="8001000" y="4892040"/>
            <a:ext cx="3703320" cy="14173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983480"/>
            <a:ext cx="3337560" cy="1234440"/>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BCG: 60% of companies track zero financial KPIs tied to AI value </a:t>
            </a:r>
            <a:r>
              <a:rPr sz="546" baseline="30000" b="0" i="1">
                <a:latin typeface="DejaVu Sans"/>
                <a:cs typeface="DejaVu Sans"/>
                <a:ea typeface="DejaVu Sans"/>
                <a:solidFill>
                  <a:srgbClr val="1C7293"/>
                </a:solidFill>
              </a:rPr>
              <a:t>[5]</a:t>
            </a:r>
            <a:r>
              <a:rPr sz="1050" b="1" i="0">
                <a:latin typeface="DejaVu Sans"/>
                <a:cs typeface="DejaVu Sans"/>
                <a:ea typeface="DejaVu Sans"/>
                <a:solidFill>
                  <a:srgbClr val="21295C"/>
                </a:solidFill>
              </a:rPr>
              <a:t> — this is why failure numbers inflate so easily.</a:t>
            </a:r>
          </a:p>
        </p:txBody>
      </p:sp>
      <p:sp>
        <p:nvSpPr>
          <p:cNvPr id="17" name="TextBox 1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MIT NANDA — "The GenAI Divide" (July 2025, v0.1)</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5"/>
              </a:rPr>
              <a:t>Fortune (Aug 18, 2025) — media distortion of the MIT report</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6"/>
              </a:rPr>
              <a:t>NewMR — Myth #2</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7"/>
              </a:rPr>
              <a:t>Gartner (Apr 7, 2026, 782 I&amp;O leaders)</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8"/>
              </a:rPr>
              <a:t>BCG — Closing the AI Impact Gap</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600" b="1" i="0">
                <a:solidFill>
                  <a:srgbClr val="21295C"/>
                </a:solidFill>
                <a:latin typeface="DejaVu Sans"/>
              </a:rPr>
              <a:t>The "autonomous" store: 700 of 1,000 transactions needed manual review against a target of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Just Walk Out (Amazon), since 2018: 700/1,000 transactions — manual review (14x above the 50/1,000 target) </a:t>
            </a:r>
            <a:r>
              <a:rPr sz="572" baseline="30000" b="0" i="1">
                <a:latin typeface="DejaVu Sans"/>
                <a:cs typeface="DejaVu Sans"/>
                <a:ea typeface="DejaVu Sans"/>
                <a:solidFill>
                  <a:srgbClr val="1C7293"/>
                </a:solidFill>
              </a:rPr>
              <a:t>[1]</a:t>
            </a:r>
            <a:r>
              <a:rPr sz="1100" b="1" i="0">
                <a:latin typeface="DejaVu Sans"/>
                <a:cs typeface="DejaVu Sans"/>
                <a:ea typeface="DejaVu Sans"/>
                <a:solidFill>
                  <a:srgbClr val="21295C"/>
                </a:solidFill>
              </a:rPr>
              <a:t>. 6 years of "autonomous AI" marketing with no disclosure of the labor scale (hidden human cost) </a:t>
            </a:r>
            <a:r>
              <a:rPr sz="572" baseline="30000" b="0" i="1">
                <a:latin typeface="DejaVu Sans"/>
                <a:cs typeface="DejaVu Sans"/>
                <a:ea typeface="DejaVu Sans"/>
                <a:solidFill>
                  <a:srgbClr val="1C7293"/>
                </a:solidFill>
              </a:rPr>
              <a:t>[2]</a:t>
            </a:r>
            <a:r>
              <a:rPr sz="1100" b="1" i="0">
                <a:latin typeface="DejaVu Sans"/>
                <a:cs typeface="DejaVu Sans"/>
                <a:ea typeface="DejaVu Sans"/>
                <a:solidFill>
                  <a:srgbClr val="21295C"/>
                </a:solidFill>
              </a:rPr>
              <a:t>.</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Phase x what AI changes x what stays from the classic</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Discovery</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synthesis, desk</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interviews</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Design</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generation</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safety reqs</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Build/Launch</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code ~= free</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review, kill gate</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Measure</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randomization</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Support</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tracing</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escalation</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Governance</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operating model</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cost/request</a:t>
            </a:r>
          </a:p>
        </p:txBody>
      </p:sp>
      <p:sp>
        <p:nvSpPr>
          <p:cNvPr id="35" name="TextBox 3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(Apr 2024) — Just Walk Out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the dismantling of Just Walk Out</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01168"/>
            <a:ext cx="11247120" cy="56692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Assembly is free — the scarcity now is judgment, not execution</a:t>
            </a:r>
          </a:p>
        </p:txBody>
      </p:sp>
      <p:sp>
        <p:nvSpPr>
          <p:cNvPr id="3" name="Rounded Rectangle 2"/>
          <p:cNvSpPr/>
          <p:nvPr/>
        </p:nvSpPr>
        <p:spPr>
          <a:xfrm>
            <a:off x="502920" y="841248"/>
            <a:ext cx="11201400" cy="3246120"/>
          </a:xfrm>
          <a:prstGeom prst="roundRect">
            <a:avLst>
              <a:gd name="adj" fmla="val 9389"/>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9-missioncontrol-crop.png"/>
          <p:cNvPicPr>
            <a:picLocks noChangeAspect="1"/>
          </p:cNvPicPr>
          <p:nvPr/>
        </p:nvPicPr>
        <p:blipFill>
          <a:blip r:embed="rId2"/>
          <a:stretch>
            <a:fillRect/>
          </a:stretch>
        </p:blipFill>
        <p:spPr>
          <a:xfrm>
            <a:off x="773409" y="923544"/>
            <a:ext cx="10660418" cy="3081527"/>
          </a:xfrm>
          <a:prstGeom prst="rect">
            <a:avLst/>
          </a:prstGeom>
        </p:spPr>
      </p:pic>
      <p:sp>
        <p:nvSpPr>
          <p:cNvPr id="5" name="TextBox 4"/>
          <p:cNvSpPr txBox="1"/>
          <p:nvPr/>
        </p:nvSpPr>
        <p:spPr>
          <a:xfrm>
            <a:off x="640080" y="4114800"/>
            <a:ext cx="822960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NASA Mission Control, Apollo 16 — humans make the call while automation runs</a:t>
            </a:r>
          </a:p>
        </p:txBody>
      </p:sp>
      <p:sp>
        <p:nvSpPr>
          <p:cNvPr id="6" name="Rounded Rectangle 5"/>
          <p:cNvSpPr/>
          <p:nvPr/>
        </p:nvSpPr>
        <p:spPr>
          <a:xfrm>
            <a:off x="502920" y="440740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462272"/>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When execution is nearly free, the scarce resource is judgment: telling signal from noise and keeping intent and accountability with the human.</a:t>
            </a:r>
          </a:p>
        </p:txBody>
      </p:sp>
      <p:sp>
        <p:nvSpPr>
          <p:cNvPr id="8" name="Rounded Rectangle 7"/>
          <p:cNvSpPr/>
          <p:nvPr/>
        </p:nvSpPr>
        <p:spPr>
          <a:xfrm>
            <a:off x="502920" y="5084064"/>
            <a:ext cx="493776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21295C"/>
                </a:solidFill>
                <a:latin typeface="DejaVu Sans"/>
              </a:rPr>
              <a:t>Checklist "before you go AI-first"</a:t>
            </a:r>
          </a:p>
        </p:txBody>
      </p:sp>
      <p:pic>
        <p:nvPicPr>
          <p:cNvPr id="9" name="Picture 8" descr="circle-check-teal.png"/>
          <p:cNvPicPr>
            <a:picLocks noChangeAspect="1"/>
          </p:cNvPicPr>
          <p:nvPr/>
        </p:nvPicPr>
        <p:blipFill>
          <a:blip r:embed="rId3"/>
          <a:stretch>
            <a:fillRect/>
          </a:stretch>
        </p:blipFill>
        <p:spPr>
          <a:xfrm>
            <a:off x="502920" y="5468112"/>
            <a:ext cx="219456" cy="219456"/>
          </a:xfrm>
          <a:prstGeom prst="rect">
            <a:avLst/>
          </a:prstGeom>
        </p:spPr>
      </p:pic>
      <p:sp>
        <p:nvSpPr>
          <p:cNvPr id="10" name="TextBox 9"/>
          <p:cNvSpPr txBox="1"/>
          <p:nvPr/>
        </p:nvSpPr>
        <p:spPr>
          <a:xfrm>
            <a:off x="77724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1. Is the classic in place?</a:t>
            </a:r>
          </a:p>
        </p:txBody>
      </p:sp>
      <p:pic>
        <p:nvPicPr>
          <p:cNvPr id="11" name="Picture 10" descr="circle-check-teal.png"/>
          <p:cNvPicPr>
            <a:picLocks noChangeAspect="1"/>
          </p:cNvPicPr>
          <p:nvPr/>
        </p:nvPicPr>
        <p:blipFill>
          <a:blip r:embed="rId3"/>
          <a:stretch>
            <a:fillRect/>
          </a:stretch>
        </p:blipFill>
        <p:spPr>
          <a:xfrm>
            <a:off x="3337560" y="5468112"/>
            <a:ext cx="219456" cy="219456"/>
          </a:xfrm>
          <a:prstGeom prst="rect">
            <a:avLst/>
          </a:prstGeom>
        </p:spPr>
      </p:pic>
      <p:sp>
        <p:nvSpPr>
          <p:cNvPr id="12" name="TextBox 11"/>
          <p:cNvSpPr txBox="1"/>
          <p:nvPr/>
        </p:nvSpPr>
        <p:spPr>
          <a:xfrm>
            <a:off x="361188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2. Is trust worth the cost?</a:t>
            </a:r>
          </a:p>
        </p:txBody>
      </p:sp>
      <p:pic>
        <p:nvPicPr>
          <p:cNvPr id="13" name="Picture 12" descr="circle-check-teal.png"/>
          <p:cNvPicPr>
            <a:picLocks noChangeAspect="1"/>
          </p:cNvPicPr>
          <p:nvPr/>
        </p:nvPicPr>
        <p:blipFill>
          <a:blip r:embed="rId3"/>
          <a:stretch>
            <a:fillRect/>
          </a:stretch>
        </p:blipFill>
        <p:spPr>
          <a:xfrm>
            <a:off x="6172200" y="5468112"/>
            <a:ext cx="219456" cy="219456"/>
          </a:xfrm>
          <a:prstGeom prst="rect">
            <a:avLst/>
          </a:prstGeom>
        </p:spPr>
      </p:pic>
      <p:sp>
        <p:nvSpPr>
          <p:cNvPr id="14" name="TextBox 13"/>
          <p:cNvSpPr txBox="1"/>
          <p:nvPr/>
        </p:nvSpPr>
        <p:spPr>
          <a:xfrm>
            <a:off x="644652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3. Eval + reference dataset?</a:t>
            </a:r>
          </a:p>
        </p:txBody>
      </p:sp>
      <p:pic>
        <p:nvPicPr>
          <p:cNvPr id="15" name="Picture 14" descr="circle-check-teal.png"/>
          <p:cNvPicPr>
            <a:picLocks noChangeAspect="1"/>
          </p:cNvPicPr>
          <p:nvPr/>
        </p:nvPicPr>
        <p:blipFill>
          <a:blip r:embed="rId3"/>
          <a:stretch>
            <a:fillRect/>
          </a:stretch>
        </p:blipFill>
        <p:spPr>
          <a:xfrm>
            <a:off x="9006840" y="5468112"/>
            <a:ext cx="219456" cy="219456"/>
          </a:xfrm>
          <a:prstGeom prst="rect">
            <a:avLst/>
          </a:prstGeom>
        </p:spPr>
      </p:pic>
      <p:sp>
        <p:nvSpPr>
          <p:cNvPr id="16" name="TextBox 15"/>
          <p:cNvSpPr txBox="1"/>
          <p:nvPr/>
        </p:nvSpPr>
        <p:spPr>
          <a:xfrm>
            <a:off x="928116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4. A guardrail metric?</a:t>
            </a:r>
          </a:p>
        </p:txBody>
      </p:sp>
      <p:pic>
        <p:nvPicPr>
          <p:cNvPr id="17" name="Picture 16" descr="circle-check-teal.png"/>
          <p:cNvPicPr>
            <a:picLocks noChangeAspect="1"/>
          </p:cNvPicPr>
          <p:nvPr/>
        </p:nvPicPr>
        <p:blipFill>
          <a:blip r:embed="rId3"/>
          <a:stretch>
            <a:fillRect/>
          </a:stretch>
        </p:blipFill>
        <p:spPr>
          <a:xfrm>
            <a:off x="502920" y="5971032"/>
            <a:ext cx="219456" cy="219456"/>
          </a:xfrm>
          <a:prstGeom prst="rect">
            <a:avLst/>
          </a:prstGeom>
        </p:spPr>
      </p:pic>
      <p:sp>
        <p:nvSpPr>
          <p:cNvPr id="18" name="TextBox 17"/>
          <p:cNvSpPr txBox="1"/>
          <p:nvPr/>
        </p:nvSpPr>
        <p:spPr>
          <a:xfrm>
            <a:off x="77724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5. Staged rollout + rollback?</a:t>
            </a:r>
          </a:p>
        </p:txBody>
      </p:sp>
      <p:pic>
        <p:nvPicPr>
          <p:cNvPr id="19" name="Picture 18" descr="circle-check-teal.png"/>
          <p:cNvPicPr>
            <a:picLocks noChangeAspect="1"/>
          </p:cNvPicPr>
          <p:nvPr/>
        </p:nvPicPr>
        <p:blipFill>
          <a:blip r:embed="rId3"/>
          <a:stretch>
            <a:fillRect/>
          </a:stretch>
        </p:blipFill>
        <p:spPr>
          <a:xfrm>
            <a:off x="3337560" y="5971032"/>
            <a:ext cx="219456" cy="219456"/>
          </a:xfrm>
          <a:prstGeom prst="rect">
            <a:avLst/>
          </a:prstGeom>
        </p:spPr>
      </p:pic>
      <p:sp>
        <p:nvSpPr>
          <p:cNvPr id="20" name="TextBox 19"/>
          <p:cNvSpPr txBox="1"/>
          <p:nvPr/>
        </p:nvSpPr>
        <p:spPr>
          <a:xfrm>
            <a:off x="361188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6. Human escalation guaranteed?</a:t>
            </a:r>
          </a:p>
        </p:txBody>
      </p:sp>
      <p:pic>
        <p:nvPicPr>
          <p:cNvPr id="21" name="Picture 20" descr="circle-check-teal.png"/>
          <p:cNvPicPr>
            <a:picLocks noChangeAspect="1"/>
          </p:cNvPicPr>
          <p:nvPr/>
        </p:nvPicPr>
        <p:blipFill>
          <a:blip r:embed="rId3"/>
          <a:stretch>
            <a:fillRect/>
          </a:stretch>
        </p:blipFill>
        <p:spPr>
          <a:xfrm>
            <a:off x="6172200" y="5971032"/>
            <a:ext cx="219456" cy="219456"/>
          </a:xfrm>
          <a:prstGeom prst="rect">
            <a:avLst/>
          </a:prstGeom>
        </p:spPr>
      </p:pic>
      <p:sp>
        <p:nvSpPr>
          <p:cNvPr id="22" name="TextBox 21"/>
          <p:cNvSpPr txBox="1"/>
          <p:nvPr/>
        </p:nvSpPr>
        <p:spPr>
          <a:xfrm>
            <a:off x="644652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7. Who is accountable?</a:t>
            </a:r>
          </a:p>
        </p:txBody>
      </p:sp>
      <p:pic>
        <p:nvPicPr>
          <p:cNvPr id="23" name="Picture 22" descr="circle-check-teal.png"/>
          <p:cNvPicPr>
            <a:picLocks noChangeAspect="1"/>
          </p:cNvPicPr>
          <p:nvPr/>
        </p:nvPicPr>
        <p:blipFill>
          <a:blip r:embed="rId3"/>
          <a:stretch>
            <a:fillRect/>
          </a:stretch>
        </p:blipFill>
        <p:spPr>
          <a:xfrm>
            <a:off x="9006840" y="5971032"/>
            <a:ext cx="219456" cy="219456"/>
          </a:xfrm>
          <a:prstGeom prst="rect">
            <a:avLst/>
          </a:prstGeom>
        </p:spPr>
      </p:pic>
      <p:sp>
        <p:nvSpPr>
          <p:cNvPr id="24" name="TextBox 23"/>
          <p:cNvSpPr txBox="1"/>
          <p:nvPr/>
        </p:nvSpPr>
        <p:spPr>
          <a:xfrm>
            <a:off x="928116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8. Is the data safe?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