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Начнём не с определения, а с несоответствия. Anthropic описывает собственный внутренний опыт так: задачи, которые раньше занимали недели написания и ревью кода, теперь занимают часы — агент пишет реализацию, прогоняет тесты, и код оказывается почти бесплатным. Одновременно летом две тысячи двадцать пятого года исследовательская группа при Массачусетском технологическом институте опубликовала отчёт, растиражированный медиа как «девяносто пять процентов организаций получают нулевую отдачу от генеративного искусственного интеллекта».</a:t>
            </a:r>
          </a:p>
          <a:p>
            <a:r>
              <a:t>Саму цифру стоит откалибровать сразу, потому что заголовок скрывает знаменатель. Воронка отчёта устроена так: шестьдесят процентов организаций вообще изучали возможность применения, двадцать процентов дошли до пилотного проекта, и пять процентов успешно внедрили. Если считать не от всех организаций, а от тех, кто реально запустил пилот, приживается примерно каждый четвёртый, а не каждый двадцатый. Это заметно выше пугающего заголовка — и всё равно отрезвляюще низко: три пилота из четырёх, доведённых до запуска, не доживают до применения. Есть и нюанс в самом отчёте: все четыре его автора одновременно строят или продают собственные продукты в области автономных агентов через тот же исследовательский проект, и это стоит держать в уме при чтении любого громкого отчёта об эффективности технологии.</a:t>
            </a:r>
          </a:p>
          <a:p>
            <a:r>
              <a:t>Несоответствие не разрешится сейчас — это итоговый вывод всей лекции, к нему лекция вернётся в самом конце. Но его форму стоит зафиксировать сразу: сборка стала почти бесплатной, а превращение сборки в реальную ценность — нет. Именно этот разрыв — предмет сегодняшнего разговора.</a:t>
            </a:r>
          </a:p>
          <a:p>
            <a:r>
              <a:t>Дальше лекция проходит весь жизненный цикл продукта: от намерения через исследование, дизайн, сборку, измерение, эксплуатацию — и на каждой фазе задаёт один и тот же вопрос: что здесь удешевил искусственный интеллект, а что осталось дорогим и человеческим. Полезно заранее знать, куда это ведёт. Дешёвая сборка снимает не все ограничения, а ровно одно — стоимость изготовления. Всё, что отвечало за решение «стоит ли это изготавливать» и за проверку «сработало ли оно», осталось на месте и стоит примерно столько же, сколько стоило раньше.</a:t>
            </a:r>
          </a:p>
          <a:p>
            <a:r>
              <a:t>Источники:</a:t>
            </a:r>
          </a:p>
          <a:p>
            <a:r>
              <a:t>[1] Anthropic — 2026 Agentic Coding Trends Report — внутренний опыт: недели → часы; секондари-триангулировано (PDF не парсится напрямую). https://resources.anthropic.com/2026-agentic-coding-trends-report Цифра быстро устаревает — сверить перед лекцией.</a:t>
            </a:r>
          </a:p>
          <a:p>
            <a:r>
              <a:t>[2] MIT NANDA — «The GenAI Divide» (июль 2025, v0.1) — «95% пилотов — ноль отдачи»: неревьюированный препринт, требует калибровки (см. s47). https://mlq.ai/media/quarterly_decks/v0.1_State_of_AI_in_Business_2025_Report.pdf Цифра быстро устаревает — сверить перед лекцией.</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Лекция четыре разбирала жизненный цикл кода. Сегодняшняя — это смена масштаба: код оказывается одной, теперь резко подешевевшей фазой внутри гораздо более широкого жизненного цикла продукта.</a:t>
            </a:r>
          </a:p>
          <a:p>
            <a:r>
              <a:t>Аудитория этого курса технически сильна и ежедневно пишет код с ассистентами, но большинство продуктовых дисциплин — исследование клиентов, дизайн-мышление, продуктовые эксперименты, эксплуатацию по модели инженерии надёжности — видит, скорее всего, впервые. Поэтому каждый из шести разделов начинается не с искусственного интеллекта, а с классической базы: откуда взялась дисциплина и какую проблему она решает без единого упоминания искусственного интеллекта. Только после этого разбирается, что меняет искусственный интеллект и где он ломается.</a:t>
            </a:r>
          </a:p>
          <a:p>
            <a:r>
              <a:t>Это не формальность ради полноты программы. Инженер, знающий только, как быстро собрать артефакт, но не знающий, зачем существует исследование клиентов, эвристики дизайна или продуктовый эксперимент, рискует принять решение, которое технически исполнено безупречно и при этом продуктово бессмысленно или опасно. Структура лекции применяет к себе тот же принцип, которому учит: чтобы судить, когда инструмент уместен, нужно сначала понимать, что существовало до него и зачем. Это тот же довод, который движет всем курсом: инструмент оценивается не по тому, насколько он впечатляет на демонстрации, а по тому, понимает ли применяющий его человек границы применимости.</a:t>
            </a:r>
          </a:p>
          <a:p>
            <a:r>
              <a:t>Дорожная карта простая: шесть разделов — шесть стрелок одной петли. Исследование — откуда берётся гипотеза. Дизайн — как гипотеза становится артефактом. Сборка и запуск — как артефакт становится работающим продуктом. Измерение — как проверить, сработало ли это на самом деле. Поддержка — что происходит, когда продукт живёт с реальными пользователями без остановки. Управление — как организация решает, во что вкладывать дальше. Седьмой раздел собирает всё в матрицу и чек-лист, которым можно прогнать любую незнакомую инициативу с искусственным интеллектом.</a:t>
            </a:r>
          </a:p>
          <a:p>
            <a:r>
              <a:t>Одна деталь дорожной карты важна с самого начала: последняя стрелка возвращается в первую. Управленческое решение и сигнал из эксплуатации меняют то, что исследуется в следующий раз, — поэтому карта нарисована кругом, а не полосой. Этот же круг будет возвращаться на слайды весь дальнейший разговор: сначала как карта лекции, потом как перечень вопросов, на которые продукт обязан ответить, и наконец как набор стрелок, каждая из которых подешевела по-своему.</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Вот карта лекции, и она нарисована не списком, а кругом, потому что это принципиально. Шесть разделов — не шесть независимых тем, а шесть стрелок одной петли.</a:t>
            </a:r>
          </a:p>
          <a:p>
            <a:r>
              <a:t>Точка входа в центре — намерение. Из него растёт исследование, где рождается гипотеза о том, что вообще строить. Гипотеза проходит через дизайн, превращаясь в конкретный артефакт, который можно показать человеку. Артефакт проходит через сборку и запуск, становясь работающим продуктом. Дальше измерение: проверка, действительно ли изменение дало предсказанный эффект. Поддержка — то, что происходит, когда продукт уже живёт с реальными пользователями без остановки. И управление — организационный уровень, на котором решается, продолжать вкладывать, масштабировать или остановиться.</a:t>
            </a:r>
          </a:p>
          <a:p>
            <a:r>
              <a:t>Что отличает эту карту от простого списка: последняя стрелка возвращается в первую, и на схеме она выделена золотым. Сигнал из эксплуатации и управленческое решение меняют то, что исследуется в следующий раз. Именно поэтому в конце лекции разговор вернётся к тому же кругу — только с полным пониманием, что происходит на каждой стрелке.</a:t>
            </a:r>
          </a:p>
          <a:p>
            <a:r>
              <a:t>Есть и практическая причина рисовать петлю, а не список. Если одна отдельная стрелка резко дешевеет — а сегодня это стрелка сборки, — весь цикл целиком от этого не ускоряется. Ускорение одной стрелки без остальных перемещает узкое место на следующую, ещё не подешевевшую, и делает его острее. Этот эффект будет виден измеренным в разделе про сборку и запуск: команды, которые пишут код в разы быстрее, чем раньше, упираются не в написание, а в ревью и проверку — то есть в стрелку, которая не подешевела вместе с остальными.</a:t>
            </a:r>
          </a:p>
          <a:p>
            <a:r>
              <a:t>Отсюда практический способ читать всю дальнейшую лекцию. Недостаточно спросить, применим ли здесь искусственный интеллект: почти всегда применим. Работающий вопрос другой — куда переместилось узкое место после того, как эта стрелка подешевела. Ответ на каждой из шести стрелок будет свой, и он собирается в единую картину только к концу разговора.</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Прежде чем разбираться, как устроена петля, стоит ответить на вопрос практичнее: что конкретно происходит с продуктом, у которого цикла нет вообще. Ответ — не «получится не очень», а последовательность конкретных событий.</a:t>
            </a:r>
          </a:p>
          <a:p>
            <a:r>
              <a:t>Продукт обязан закрыть пять вопросов. Нужна ли эта штука кому-то вообще. Сможет ли человек ей воспользоваться и не пострадает ли тот, о ком не подумали. Можем ли мы это сделать и безопасно выпустить. Выберут ли это настолько, чтобы за это платить. И пятый, открывающийся только после запуска: держатся ли все четыре ответа во времени. Первые четыре — риски продукта по Марти Кагану: ценность, удобство использования, реализуемость, жизнеспособность бизнеса. Важна не терминология, а структура: у каждого вопроса своя фаза. Цикл — не ритуал поверх инженерной работы, а минимальный набор мест, где на эти вопросы отвечают наблюдением, а не мнением.</a:t>
            </a:r>
          </a:p>
          <a:p>
            <a:r>
              <a:t>Механизм отсутствия цикла конкретен. Команда без записанных заранее ответов не остаётся без ответов вовсе — она фиксирует их как факты, обычно оптимистичные, строит на этом фундаменте и узнаёт правду в момент, когда обнаружение стоит максимально дорого: сборка оплачена, релиз состоялся, откат дороже самой ошибки. У этого есть полувековая история измерения: по оценке Барри Боэма на данных проектов семидесятых разрыв стоимости исправления между этапом требований и выпуском доходит до ста раз в крупных проектах и примерно вчетверо в небольших. Множитель сильно зависит от того, насколько быстро цикл замыкается, и физической константой не является. Цикл не устраняет ошибку в гипотезе о пользователе — он двигает момент её обнаружения влево, в дешёвую зону, пока ошибка стоит разговор, а не сборку.</a:t>
            </a:r>
          </a:p>
          <a:p>
            <a:r>
              <a:t>Третье следствие самое тяжёлое: когда критерий остановки не записан заранее, нет способа отличить «остановились, потому что данные сказали нет» от «сдались, потому что устали». Якорь появится в разделе про исследование: продукт, чья сборка прошла полностью и стоила шестьдесят два миллиона долларов, до реального применения не дошёл ни разу.</a:t>
            </a:r>
          </a:p>
          <a:p>
            <a:r>
              <a:t>И поворот, который делает всё это темой именно этой лекции. До генеративных моделей стоимость сборки работала заслоном против ровно такого сценария: писать код было дорого, и одна дороговизна вынуждала думать заранее. Искусственный интеллект обнулил именно эту стоимость — и вместе с ней исчез единственный защитный механизм, который был у команд, никогда не имевших явного цикла.</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Вот центральный аналитический инструмент лекции: искусственный интеллект меняет стоимость и доверие каждой стрелки петли асимметрично, не одинаково.</a:t>
            </a:r>
          </a:p>
          <a:p>
            <a:r>
              <a:t>Стрелка «строить» — стоимость почти обнулилась: написание кода, черновика макета, первого прототипа исследования на порядки дешевле, чем пять лет назад. Стрелки «измерять» и «делать выводы» — стоимость осталась прежней, а доверие к результату упало: сам инструмент измерения стал вероятностным и уязвимым к подгонке под метрику. Стрелка «наблюдать за работающим продуктом» стала быстрее и одновременно уязвимее: скорость наблюдения выросла, но возможность быстро реагировать превращается в слабое место, если наблюдаемые данные можно подменить.</a:t>
            </a:r>
          </a:p>
          <a:p>
            <a:r>
              <a:t>Стоит задержаться на самой контринтуитивной части — наблюдении. Цикл наблюдения и действия, описанный военным лётчиком Джоном Бойдом как последовательность «наблюдай, ориентируйся, решай, действуй», родился в противоборствующем контексте: побеждает тот, кто быстрее проходит цикл. Агент устроен буквально так же — наблюдает инструменты, рассуждает, решает, действует. И здесь преимущество скорости превращается в обязательство: чем быстрее агент действует без проверки, тем меньше окон поймать отравленный вход.</a:t>
            </a:r>
          </a:p>
          <a:p>
            <a:r>
              <a:t>Эта асимметрия — не новость эры больших языковых моделей. Психолог Лизанн Бейнбридж описала тот же эффект на материале заводов и кабин самолётов сорока годами раньше: когда автоматизируют бо́льшую часть операции, но не всю, оператор не начинает работать меньше — он получает задачу следить за автоматом и вмешиваться в тот редкий момент, когда автомат ошибается. Автоматизация снижает бытовую нагрузку и одновременно требует более высокой квалификации в момент вмешательства, а рутинная практика, которая эту квалификацию поддерживала, исчезает вместе с автоматизированной рутиной.</a:t>
            </a:r>
          </a:p>
          <a:p>
            <a:r>
              <a:t>Отсюда мета-паттерн, который будет повторяться в каждом из шести разделов: у каждой фазы жизненного цикла есть классическая дисциплина, и искусственный интеллект её не отменяет. Он меняет, сколько эта дисциплина стоит и насколько ей можно доверять без проверки — но не устраняет саму дисциплину. Поэтому каждый раздел дальше читается по одной схеме: сначала классика и зачем она появилась, потом что здесь удешевил искусственный интеллект, потом где подход «сначала ИИ» ломается, и наконец разобранный провал, на котором это видно.</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Первая стрелка петли — исследование. Смысл фазы формулируется одним вопросом: существует ли проблема, которую мы собираемся решать, и у кого именно она существует. Не «понравится ли людям наша идея», а «есть ли человек, который за снятие этой боли уже чем-то платит — временем, деньгами или терпением».</a:t>
            </a:r>
          </a:p>
          <a:p>
            <a:r>
              <a:t>Вопрос выглядит необязательным, и именно поэтому его чаще всего пропускают. Пропустить его действительно можно, работа не остановится: команда построит продукт, выкатит его и всё равно узнает ответ. Разница только в том, когда и по какой цене. При проверке заранее цена ответа — несколько разговоров и пара недель. При проверке по факту запуска цена ответа — вся разработка целиком, и вернуть её нечем. Это и есть необходимость фазы: ответ вы получите в любом случае, выбираете вы только его стоимость.</a:t>
            </a:r>
          </a:p>
          <a:p>
            <a:r>
              <a:t>У большинства сильных инженеров неформальный опыт такой проверки есть — спросить у коллег и друзей, нравится ли идея. Этот опыт систематически лжёт, и лжёт предсказуемо. Друзья и коллеги хотят вас поддержать, а не сказать правду, которая может задеть; доброжелательность смещает сигнал ровно в ту сторону, в которую вы и так склонны его читать. Формальная дисциплина исследования существует затем, чтобы вынуть из разговора именно эту доброжелательность.</a:t>
            </a:r>
          </a:p>
          <a:p>
            <a:r>
              <a:t>В разделе — одна классическая база: как записывают проверяемую гипотезу и как устроены два правила разговора, не дающие собеседнику вежливо соврать. Дальше — что здесь меняет ИИ сегодня, два приёма, которые вы сможете повторить, граница этих приёмов и два разобранных провала, каждый из которых случился ровно на пропуске границы.</a:t>
            </a:r>
          </a:p>
          <a:p>
            <a:r>
              <a:t>Один практический вопрос стоит закрыть сразу, потому что он возникает всегда: сколько разговоров достаточно. Фиксированного числа нет. Останавливаются не на счёте, а на насыщении — когда новые разговоры перестают вскрывать новые темы и начинают повторять уже услышанное. Для проверки удобства интерфейса классический ориентир — пять-восемь человек, он встретится нам в разборе провала. Для проверки самой боли чистого числа не существует, и это показательно: отчёт «мы обработали сто интервью» отвечает на вопрос объёма, а не на вопрос, перестали ли появляться новые темы.</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Зачем вообще эта работа — с этого стоит начать, потому что дальше в разделе всё служит этой цели. Исследование отвечает на один вопрос: существует ли проблема и у кого. Ответ команда получит в любом случае. Вопрос только в том, придёт он от восьми разговоров за две недели или от рынка в день запуска, когда разработка уже оплачена.</a:t>
            </a:r>
          </a:p>
          <a:p>
            <a:r>
              <a:t>Дисциплина, которая этим занимается, называется развитие клиента. Сформулировал её Стив Бланк. Сразу закроем вопрос, который она вызывает чаще всего: это не альтернатива циклу разработки и не второй процесс рядом с ним. Цикл отвечает на вопрос, как быстро проверять; эта дисциплина — на вопрос, что и у кого проверять. Она живёт на первой стрелке петли, до того как что-то построено.</a:t>
            </a:r>
          </a:p>
          <a:p>
            <a:r>
              <a:t>Правило, ради которого вся методология существует, Бланк сформулировал одной фразой: внутри офиса фактов нет, поэтому выходи наружу. Но выход наружу сам по себе ничего не гарантирует. Команда, вышедшая без записанной гипотезы, возвращается с набором впечатлений, которые задним числом подтверждают то, во что она верила до выхода. Поэтому гипотезу записывают заранее и в одном формате: не «кажется, руководителям нужен инструмент для отчётности», а «мы верим, что руководители тратят больше двух часов в неделю на ручную сборку статуса; проверим восемью разговорами; через две недели у нас будет да или нет и медианное время». Три поля: проверяемое число, метод проверки, срок. Срок несёт нагрузку наравне с числом — без него «проверим» не имеет конца.</a:t>
            </a:r>
          </a:p>
          <a:p>
            <a:r>
              <a:t>Второе, что берём из классики, — два правила разговора, они из книги Роба Фитцпатрика. Спрашивать о конкретном прошлом, а не о мнении про будущее: гипотетический вопрос провоцирует вежливый оптимизм, и собеседник при этом не врёт, ему просто нечем ответить, кроме как достроить. И засчитывать обязательство, а не комплимент: потраченное время, поставленная репутация, заплаченные деньги. Пара вопросов внизу показывает разницу на одном шаге. «Заплатили бы двадцать долларов» просит человека предсказать самого себя. «Сколько вы платите сегодня» просит вспомнить.</a:t>
            </a:r>
          </a:p>
          <a:p>
            <a:r>
              <a:t>Дальше оба правила перестают быть правилами вежливости и становятся техническим критерием: вопрос, на который отвечают гипотетическим будущим, мы будем вычёркивать из списка механически, по признаку, а не по вкусу.</a:t>
            </a:r>
          </a:p>
          <a:p>
            <a:r>
              <a:t>Источники:</a:t>
            </a:r>
          </a:p>
          <a:p>
            <a:r>
              <a:t>[1] Blank — Customer Development (Four Steps to the Epiphany) — 4-шаговая методология; «внутри офиса нет фактов». https://innovation.ucsd.edu/startup/startup-toolkit/Steve-Blank-CustDev.pdf</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Что ИИ изменил в этой фазе — по шагам, и в конце то, что он не изменил.</a:t>
            </a:r>
          </a:p>
          <a:p>
            <a:r>
              <a:t>Кабинетный поиск. Раньше это были дни работы аналитика: отчёты, публикации, форумы, жалобы. Сейчас режим глубокого исследования планирует траекторию поиска сам, читает сотни источников и возвращает отчёт со ссылками — от двух-четырёх минут до получаса. Важнее минут другое: к этому году такой режим есть у всех основных помощников, включая бесплатные тарифы. Он перестал быть преимуществом и стал фоном.</a:t>
            </a:r>
          </a:p>
          <a:p>
            <a:r>
              <a:t>Сам разговор. Здесь появилось то, чего два года назад не было: вопросы задаёт модель, а отвечает живой человек. Исследователь пишет сценарий, дальше машина ведёт разговоры параллельно и круглосуточно, и за срок одного личного интервью их проходит кратно больше. Изменилась ровно одна сторона — та, которая спрашивает.</a:t>
            </a:r>
          </a:p>
          <a:p>
            <a:r>
              <a:t>Сведение разговоров. Расшифровка перестала быть отдельной работой — она бесплатное приложение к любому созвону. Разница между инструментами теперь в другом: они непрерывно пересобирают темы по всему накопленному корпусу разговоров, а не пересказывают один звонок.</a:t>
            </a:r>
          </a:p>
          <a:p>
            <a:r>
              <a:t>Теперь про ИИ-персоны, которых постоянно путают с предыдущим шагом. Посмотрите на шкалу. Человек спрашивает человека — классика. Машина спрашивает человека — то, что появилось сейчас. Машина спрашивает машину — это и есть ИИ-персона: живого человека в цепочке нет ни разу. Профессия эту разницу держит: в опросе ста пятидесяти исследователей в мае этого года восемьдесят один процент регулярно применяют ИИ в работе, как отвечающего участника — восемь процентов, а двадцать восемь отвергают это прямо.</a:t>
            </a:r>
          </a:p>
          <a:p>
            <a:r>
              <a:t>И граница, которая не сдвинулась. Ссылка в отчёте не доказательство, пока её не открыли. Это измерено: на пятидесяти трёх тысячах ссылок из отчётов десяти моделей и исследовательских агентов от трёх до тринадцати процентов оказались выдуманными — их нет даже в веб-архиве, они не существовали никогда. Арифметика отсюда прямая: при самом низком измеренном уровне в три процента отчёт с полусотней ссылок содержит хотя бы одну несуществующую с вероятностью семьдесят восемь процентов. Одна оговорка, которую эта лекция сама учит требовать: расчёт считает ссылки независимыми, а в одном отчёте они связаны — тот же прогон, та же модель. Семьдесят восемь — верхняя оценка. Deloitte сдала правительству Австралии отчёт за четыреста сорок тысяч долларов именно с таким содержимым — и обнаружил это не заказчик, а посторонний исследователь.</a:t>
            </a:r>
          </a:p>
          <a:p>
            <a:r>
              <a:t>Источники:</a:t>
            </a:r>
          </a:p>
          <a:p>
            <a:r>
              <a:t>[1] Perplexity — обзор режима глубокого исследования — отчёт со ссылками за 2–4 минуты у самых быстрых и до получаса у самых основательных; режим есть у всех основных помощников. https://www.secondtalent.com/resources/perplexity-deep-research-review/ Цифра быстро устаревает — сверить перед лекцией.</a:t>
            </a:r>
          </a:p>
          <a:p>
            <a:r>
              <a:t>[2] User Interviews — «State of Synthetic Users», май 2026 — опрос 150 исследователей 11–22 мая 2026: 81% регулярно применяют ИИ в работе, 8% — как отвечающего участника, 28% отвергают такое применение прямо. https://www.userinterviews.com/state-of-synthetic-users-report Цифра быстро устаревает — сверить перед лекцией.</a:t>
            </a:r>
          </a:p>
          <a:p>
            <a:r>
              <a:t>[3] arXiv 2604.03173 — измерение ссылок в отчётах агентов — 3–13% ссылок выдуманы (следа в веб-архиве нет), 5–18% не открываются; измерено на 53 090 ссылках, 10 моделей и агентов. https://arxiv.org/abs/2604.03173</a:t>
            </a:r>
          </a:p>
          <a:p>
            <a:r>
              <a:t>[4] Fortune (7 окт. 2025) — Deloitte Australia — отчёт правительству за 440 000 австралийских долларов с несуществующими источниками. https://fortune.com/2025/10/07/deloitte-ai-australia-government-report-hallucinations-technology-290000-refund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Идея сделать себе несколько собеседников через модель и прогнать на них разговор звучит сегодня часто. По механике она правильная — при одном условии: роль приёма узкая, и её надо удержать.</a:t>
            </a:r>
          </a:p>
          <a:p>
            <a:r>
              <a:t>Что это такое простыми словами. Вы написали список вопросов для интервью и собираетесь идти с ним к живым людям. Прежде чем идти, вы прогоняете этот список через нескольких выдуманных собеседников, которых играет модель. Это репетиция — примерно как читка пьесы до премьеры: слушают не то, что говорят персонажи, а то, где текст не работает.</a:t>
            </a:r>
          </a:p>
          <a:p>
            <a:r>
              <a:t>Дальше по шагам. Сначала описывают несколько разных типов клиента, и описывают не портретом. Портрет вида «Анна, тридцать четыре, любит удобные интерфейсы» бесполезен, потому что из него ничего не следует. Полезно другое: что человек делал непосредственно перед тем, как начал искать решение; чем пользуется сейчас; во что это ему обходится в часах или деньгах; что он однажды попробовал и бросил. Каждый тип держат отдельно, чтобы ответы не слились в один усреднённый голос. Через всех прогоняют один и тот же список.</a:t>
            </a:r>
          </a:p>
          <a:p>
            <a:r>
              <a:t>И дальше вся ценность приёма в том, куда вы смотрите. Не на содержание ответов. На две вещи. Первая: какие вопросы дали у всех примерно одинаковый ответ. Такой вопрос никого не различает, на живом интервью он потратит время впустую — его переписывают. Вторая: на какие вопросы отвечают про воображаемое будущее, «я бы этим пользовался». Это ровно то нарушение правила о конкретном прошлом, которое зашито в саму формулировку вопроса, и поймать его на репетиции дешевле, чем испортить им живой разговор.</a:t>
            </a:r>
          </a:p>
          <a:p>
            <a:r>
              <a:t>Теперь граница, без которой приём превращается в провал, который мы разберём следом. Наружу выходит только правленый список вопросов. Ответы собеседников не идут в решение и не цитируются как данные, и причина не в осторожности, а в устройстве: модель одна. Пять таких собеседников — это пять взглядов одной модели, а не пять людей. Сверка с настоящим национальным опросом показывает это числом: средние модель повторяет, а разброс мнений занижает почти вдвое. Схлопнутый разброс — ложная уверенность ровно там, где живые люди расходятся сильнее всего, а расхождение и есть то, ради чего вообще идут в поле.</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Второй приём фазы работает там, где у продукта уже есть живые пользователи и накопленный архив обращений в поддержку.</a:t>
            </a:r>
          </a:p>
          <a:p>
            <a:r>
              <a:t>Что это такое простыми словами. У любого работающего продукта есть история жалоб и вопросов, и обычно она лежит мёртвым грузом: в неё заглядывают, когда нужно ответить конкретному человеку, а как на источник знания о продукте на неё не смотрят. Приём превращает этот архив в источник гипотез. Наружу выходит не общее ощущение «пользователи чем-то недовольны», а названная тема боли, подпёртая дословными цитатами, и указание, с кем именно об этом стоит поговорить живьём.</a:t>
            </a:r>
          </a:p>
          <a:p>
            <a:r>
              <a:t>Шаг первый — сложить и разметить. Каждое обращение кладут в общий поисковый массив и приписывают к нему, когда оно пришло, от кого и по какому продукту. Разметка не бюрократия: без неё архив превращается в мешок текста, из которого нельзя отделить прошлогоднюю проблему от сегодняшней и чужой сегмент от своего.</a:t>
            </a:r>
          </a:p>
          <a:p>
            <a:r>
              <a:t>Шаг второй — искать двумя способами сразу: по точному совпадению слов и по смыслу. Причина не академическая. Точный код ошибки или номер заказа находит только поиск по словам, а описание проблемы своими словами — только поиск по смыслу, и в обращениях постоянно встречается и то и другое. Поодиночке каждый способ систематически промахивается, и промахивается тихо.</a:t>
            </a:r>
          </a:p>
          <a:p>
            <a:r>
              <a:t>Шаг третий — собрать похожее в группы и пересказать каждую в два приёма: сначала каждое обращение по отдельности, потом общее между ними. Пропуск первого приёма даёт измеримый эффект: пересказ теряет от двадцати до сорока процентов важной детали.</a:t>
            </a:r>
          </a:p>
          <a:p>
            <a:r>
              <a:t>Граница двойная, и обе части обязательны. Первая: архив смещён по построению — в нём только те, кто дошёл до жалобы. Объём не лечит, сто тысяч обращений смещены так же, как тысяча, потому что не бывает обращения «мне нужно то, чего у вас вообще нет». Архив структурно молчит о неудовлетворённой потребности, поэтому вопрос «чего у нас нет» им не закрывается. Вторая: поиск возвращает похожие обращения, а не важные. Десять тысяч жалоб на опечатку — это по-прежнему одна опечатка. Частота не равна значимости, и путать их особенно легко, когда цифра большая.</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Ограничение фазы формулируется одной фразой: синтетический собеседник не может произвести несогласие. И это не осторожная оговорка, а измеренное свойство.</a:t>
            </a:r>
          </a:p>
          <a:p>
            <a:r>
              <a:t>Склонность соглашаться измерена, а не предположена. Шарма и соавторы прогнали пять моделей и посмотрели, что происходит с тоном ответа, когда собеседник явно соглашается с моделью и когда явно возражает. При согласии тон сдвигается к позитиву в семидесяти двух — девяноста одном проценте случаев, при возражении — лишь в семи-двадцати восьми. Читайте это аккуратно: измерен сдвиг тона, а не частота отрицательного ответа. Но направление однозначное — модель подстраивается под рамку, которую вы ей задали.</a:t>
            </a:r>
          </a:p>
          <a:p>
            <a:r>
              <a:t>Второе свойство важнее первого и не лечится настройкой. У синтетического собеседника нет реального прошлого. Правило спрашивать о конкретном прошлом, которое мы взяли из классики, он не может удовлетворить в принципе: ему нечем вспомнить, он может только сгенерировать правдоподобное. Сложите два свойства — и получите накопительный сбой: ответ смещён не просто в сторону «да», а в сторону «да» о событии, которого никогда не было.</a:t>
            </a:r>
          </a:p>
          <a:p>
            <a:r>
              <a:t>Есть и более коварный режим, чем разовая ошибка. Если команда целиком заменяет проверку на живых людях выдуманными собеседниками, получается замкнутая петля: модель проектирует под догадку модели о пользователе, и ни один живой человек ни разу не проверяет цепочку. Отсюда практический вывод, который поначалу звучит наоборот: чем дешевле становится черновик, тем важнее сохранить дешёвую проверку живым человеком перед тем, как черновик дойдёт до пользователей.</a:t>
            </a:r>
          </a:p>
          <a:p>
            <a:r>
              <a:t>Сделаем границу проверяемой — три признака. Первый: высока цена ошибки в решении продолжать или остановить, и нужен источник, способный сказать «нет». Второй: нужно реальное прошлое, а не правдоподобное. Третий: нужна проверка обязательством — предзаказ, задаток, представление коллеге; здесь заменителя нет вовсе. Что остаётся из базы: оба правила разговора применяются одинаково, кто бы ни задавал вопрос.</a:t>
            </a:r>
          </a:p>
          <a:p>
            <a:r>
              <a:t>И отдельная цифра внизу. Пересказ интервью теряет от двадцати до сорока процентов важной детали, если пропущен шаг «сначала каждое по отдельности». Это прослеживается до конкретного шага, а значит, чинится тоже на конкретном шаге.</a:t>
            </a:r>
          </a:p>
          <a:p>
            <a:r>
              <a:t>Источники:</a:t>
            </a:r>
          </a:p>
          <a:p>
            <a:r>
              <a:t>[1] Тереза Торрес, консультант по продуктовому исследованию — книга «Continuous Discovery Habits» и её позиция о синтетике — против синтетических интервью и однокликовых деревьев возможностей, собранных моделью. https://cieden.com/podcast/teresa-torres-on-continuous-discovery-in-b2b-and-ai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Первый разобранный провал раздела — и самый короткий по устройству.</a:t>
            </a:r>
          </a:p>
          <a:p>
            <a:r>
              <a:t>Что произошло. Исследовательская группа, которая занимается удобством интерфейсов с конца девяностых, поставила простое контролируемое сравнение. Один и тот же сценарий первого знакомства с продуктом прогнали дважды: с живыми участниками и с панелью выдуманных собеседников, сгенерированных под тот же профиль. Мерили две вещи — сколько шагов сценария человек довёл до конца и как он оценил конкретные функции.</a:t>
            </a:r>
          </a:p>
          <a:p>
            <a:r>
              <a:t>Результат. Живые участники в среднем довели до конца три шага из семи. Панель ИИ-персон, проходившая ровно тот же сценарий, отчиталась о семи из семи. Отдельно живые участники описали функцию обсуждения как надуманную и бесполезную, а выдуманные собеседники выдали восторженные похвалы той же функции; один назвал заведомо непрактичную идею доставки дронами изменяющей правила игры.</a:t>
            </a:r>
          </a:p>
          <a:p>
            <a:r>
              <a:t>Обратите внимание, почему это не случайность. Расхождение пошло не по одной измеряемой величине, а сразу по обеим, на одном и том же материале. Разовая ошибка так не выглядит.</a:t>
            </a:r>
          </a:p>
          <a:p>
            <a:r>
              <a:t>Механизм, привязанный именно к этой фазе, мы уже назвали на прошлом слайде. Модель настроена соглашаться с рамкой заданного вопроса: концепция, описанная с энтузиазмом, возвращается подтверждённой. Выдуманный собеседник не способен произвести несогласие, потому что у него нет опыта, способного противоречить формулировке, — только правдоподобное продолжение текста.</a:t>
            </a:r>
          </a:p>
          <a:p>
            <a:r>
              <a:t>Соедините это с правилом о конкретном прошлом — и получите накопительный сбой. Это крайняя форма смещения выборки. Разговаривать только с воодушевлёнными ранними пользователями — уже искажение, но эти люди хотя бы существуют и говорят о реальном опыте. Выдуманный собеседник не говорит ни с кем: он достраивает то, что человек с таким профилем мог бы сказать, и достраивает в сторону согласия.</a:t>
            </a:r>
          </a:p>
          <a:p>
            <a:r>
              <a:t>Урок формулируется одной фразой. Панель, которая согласилась с вашей концепцией, — не свидетельство, что концепция хороша; это свидетельство, что панель не способна не согласиться. Альтернатива существует и она не про отказ от инструмента: оставить панели до-исследовательскую роль, а решение опереть на тест с пятью-восемью живыми участниками.</a:t>
            </a:r>
          </a:p>
          <a:p>
            <a:r>
              <a:t>Источники:</a:t>
            </a:r>
          </a:p>
          <a:p>
            <a:r>
              <a:t>[1] Nielsen Norman Group — «Synthetic Users» — 3/7 реальных vs 7/7 синтетических на одной и той же задаче (drone-delivery). https://www.nngroup.com/articles/synthetic-users/ Цифра быстро устаревает — сверить перед лекцией.</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Второй провал раздела замыкает линию, которую мы ведём с самого начала: правдоподобное принимают за реальное.</a:t>
            </a:r>
          </a:p>
          <a:p>
            <a:r>
              <a:t>Что произошло. С две тысячи двенадцатого года крупная технологическая компания вместе с известным онкологическим центром разрабатывала систему, подсказывающую врачу схему лечения рака. С две тысячи пятнадцатого её продавали больницам по всему миру. В июле две тысячи восемнадцатого журналистское издание опубликовало утёкшие внутренние документы компании.</a:t>
            </a:r>
          </a:p>
          <a:p>
            <a:r>
              <a:t>Что было в документах. Сотрудники в переписке называли рекомендации системы небезопасными и некорректными. Конкретный разобранный пример: препарат назначен гипотетическому пациенту с активным кровотечением — при том что у препарата есть прямое предупреждение производителя против такого применения.</a:t>
            </a:r>
          </a:p>
          <a:p>
            <a:r>
              <a:t>Корневая причина названа в тех же документах, и она про данные, а не про модель. Систему обучали не на реальных исходах лечения реальных пациентов, а на небольшом числе придуманных, гипотетических случаев, размеченных горсткой врачей одной клиники. То есть обучающий материал был правдоподобным, внутренне непротиворечивым и полностью выдуманным — ровно то свойство, которое мы разбирали двумя слайдами раньше. Панель выдуманных собеседников не могла не согласиться, потому что ей нечем было возразить. Здесь тот же механизм получил доступ к решению о лечении.</a:t>
            </a:r>
          </a:p>
          <a:p>
            <a:r>
              <a:t>Обратите внимание на второй слой. Разметка горсткой врачей одной клиники — это ещё и предельно узкая выборка мнений, выданная за отраслевой стандарт. Два искажения наложились друг на друга, и ни одно из них не видно изнутри результата: система выдавала уверенные, связные, профессионально звучащие рекомендации.</a:t>
            </a:r>
          </a:p>
          <a:p>
            <a:r>
              <a:t>Критерий, который отсюда переносится дальше и который мы будем применять в каждой следующей фазе: чем выше цена ошибки, тем строже требование, чтобы материал, на котором строится решение, прослеживался до зафиксированного прошлого. Не до правдоподобного — до зафиксированного.</a:t>
            </a:r>
          </a:p>
          <a:p>
            <a:r>
              <a:t>Альтернатива для этого класса задач существует, и она не про отказ от инструмента. Система, обученная на реальных исходах и предъявляющая врачу не готовую рекомендацию, а подобранные сопоставимые случаи с источниками, оставляет решение там, где за него отвечают. Разница между этими двумя устройствами — не в качестве модели, а в том, что именно она кладёт на стол.</a:t>
            </a:r>
          </a:p>
          <a:p>
            <a:r>
              <a:t>Источники:</a:t>
            </a:r>
          </a:p>
          <a:p>
            <a:r>
              <a:t>[1] STAT News — утечка внутренних документов IBM Watson — «небезопасные и некорректные» рекомендации по онкологии (25 июля 2018). https://www.statnews.com/2018/07/25/ibm-watson-recommended-unsafe-incorrect-treatments/</a:t>
            </a:r>
          </a:p>
          <a:p>
            <a:r>
              <a:t>[2] IEEE Spectrum — как Watson переобещал и недодал — обучен на придуманных, гипотетических случаях, размеченных горсткой онкологов одной клиники, а не на реальных исходах лечения. https://spectrum.ieee.org/how-ibm-watson-overpromised-and-underdelivered-on-ai-health-care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Второй шаг петли. Гипотеза, которую в первом разделе проверяли на живых людях, здесь впервые превращается во что-то, на что можно показать пальцем: набросок экрана, кликабельный прототип, страницу, по которой человек проходит своим путём. Смысл шага ровно один, и он денежный. Ошибка, найденная на черновике, стоит часов работы одного человека. Та же самая ошибка, найденная после выпуска, стоит недель работы команды плюс тех людей, которые за это время успели уйти. Дизайн здесь — не украшение, а способ передвинуть момент обнаружения ошибки туда, где она дешёвая.</a:t>
            </a:r>
          </a:p>
          <a:p>
            <a:r>
              <a:t>Аудитория курса технически сильна и свободно работает с инженерными практиками, но формального дизайн-образования, как правило, не проходила, поэтому раздел начинается с короткой базы. Возьмём ровно столько, сколько понадобится дальше: порядок «сначала правильная задача, потом правильное решение» и место экспертной проверки понятности — той самой, которую машина за человека не делает.</a:t>
            </a:r>
          </a:p>
          <a:p>
            <a:r>
              <a:t>Дальше — что генераторы интерфейсов реально дают команде в две тысячи двадцать шестом году. Здесь я прошу обратить внимание на разницу между обещанием и замером. Обещание звучит как «день ручной работы превращается в минуты». Замер с контрольной группой даёт и другую цифру, и другую картину: выигрыш есть, он измеряется десятками процентов и заметно зависит от того, кто работает и насколько сложна задача.</a:t>
            </a:r>
          </a:p>
          <a:p>
            <a:r>
              <a:t>Потом разберём один приём целиком: как свод правил интерфейса превращается из документа для людей в проверку, которую машина выполняет сама и которая умеет остановить выпуск. Там же увидим границу — что именно такая проверка не ловит и почему просьба, обращённая к генератору, механизмом контроля не является ни в какой формулировке.</a:t>
            </a:r>
          </a:p>
          <a:p>
            <a:r>
              <a:t>Завершает раздел разбор Character.AI. Продукт месяцами оптимизировал возвращаемость подростка к вымышленному собеседнику, не имея ни проверки возраста, ни распознавания кризисного состояния, и защита появилась только через три года после запуска. Держите этот случай как образец ошибки, которую не ловит ни один тест: требования, которого никто не записал.</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Начну не с метода, а с вопроса, зачем этот шаг вообще существует. Ответ денежный. Ошибка, найденная на черновике, стоит часов работы одного человека, и сам черновик не жалко выбросить целиком — он ровно для этого и сделан. Та же ошибка, найденная после выпуска, стоит недель работы команды, и к ним прибавляются пользователи, которые за это время ушли. Пропустить шаг дизайна — не сэкономить: вы заплатите то же самое, но позже и дороже.</a:t>
            </a:r>
          </a:p>
          <a:p>
            <a:r>
              <a:t>Теперь метод. Каркас раздела — два цикла, а не один. Ромб — это один цикл работы: сначала мы намеренно расширяем набор вариантов, потом сознательно сводим их к одному. Ромбов два, потому что выбирать приходится дважды: сначала какую задачу мы вообще решаем, и только потом каким решением её закрываем. И сразу снимаю вопрос, который эта картинка обычно вызывает: перед вами не вторая петля вместо нашей и не альтернативная рамка. Это увеличительное стекло на шаге два той самой петли — подробность того, как гипотеза превращается в артефакт.</a:t>
            </a:r>
          </a:p>
          <a:p>
            <a:r>
              <a:t>Частая ошибка инженера ровно в том, чтобы перепрыгнуть первый ромб. Возьмите конкретный случай. Команда строит внутренний разборщик обращений, потому что тикеты без категории зависают без владельца. Первый ромб здесь — это наблюдение за живыми операторами, из которого выясняется, что обходной путь у них уже есть: непонятные тикеты они копируют в отдельный чат и тем самым ломают таймер срока ответа. Исходное «нужна умная категоризация» после этого сужается до другой задачи: оператору негде пометить тикет как требующий уточнения, не сломав таймер. Это уже не та задача, с которой начинали, и только теперь уместен второй ромб.</a:t>
            </a:r>
          </a:p>
          <a:p>
            <a:r>
              <a:t>И третья вещь, которая сработает дальше как отдельный критерий. Десять эвристик Нильсена — не стадия процесса, а быстрая экспертная проверка поверх уже сведённого варианта. Порядок тут важен не меньше, чем на самих ромбах: проверять на понятность четыре расходящихся черновика бессмысленно.</a:t>
            </a:r>
          </a:p>
          <a:p>
            <a:r>
              <a:t>Источники:</a:t>
            </a:r>
          </a:p>
          <a:p>
            <a:r>
              <a:t>[1] Совет по дизайну Великобритании — двойной ромб — два цикла: сначала правильная задача, потом правильное решение. https://www.designcouncil.org.uk/resources/the-double-diamond/</a:t>
            </a:r>
          </a:p>
          <a:p>
            <a:r>
              <a:t>[2] Якоб Нильсен — десять эвристик удобства — полный список 10 эвристик с примерами (1994, ред. 2020). https://blog.uxtweak.com/usability-heuristics/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Рабочий порядок в команде две тысячи двадцать шестого года выглядит так. Человек описывает экран или поток словами, генератор выдаёт несколько расходящихся набросков, дальше человек выбирает одно направление, отбрасывает остальные и правит то, что модель поняла неверно: отступы, порядок важности, редкие случаи. Выбранное направление проходит настоящую проверку на живых людях, а не на выдуманной моделью персоне, и только после этого забирается в разработку.</a:t>
            </a:r>
          </a:p>
          <a:p>
            <a:r>
              <a:t>Инструментов на слайде пять, и различаются они не брендом, а режимом работы, поэтому смотрите именно на вторую половину строки. Figma Make собирает экраны прямо внутри редактора макетов и берёт собственные детали команды, а не общие заготовки, — поэтому его результат требует меньше переделки. Google Stitch идёт от текста и набросков к экрану, бесплатен, а с марта двадцать шестого умеет забирать макеты из Figma и отдавать код. Инструмент v0 отдаёт сразу код интерфейса. Lovable и bolt.new собирают целое работающее приложение. Magic Patterns нужен, когда надо быстро перебрать варианты одного экрана. Ландшафт меняется быстро — состав проверяйте перед занятием.</a:t>
            </a:r>
          </a:p>
          <a:p>
            <a:r>
              <a:t>Теперь главное, ради чего этот слайд переделан. В обсуждении обычно звучит обещание: день ручной работы превращается в минуты. Есть замер, и он говорит другое. Сто участников, половина дизайнеры, половина продуктовые руководители, случайно поделены на две группы: одной дали генератор, второй не дали ничего, задачи одинаковые. Общее время сократилось примерно на двадцать процентов. У продуктовых руководителей выигрыш тридцать пять процентов. У профессиональных дизайнеров он заметен только на самой сложной из трёх задач — там двадцать шесть процентов, а общий эффект у них пограничный, семнадцать: на простых задачах разницы с контрольной группой просто нет.</a:t>
            </a:r>
          </a:p>
          <a:p>
            <a:r>
              <a:t>Из этого два вывода. Выигрыш реален, но он десятки процентов, а не порядки. И он зависит от того, кто работает: сильнее всего генератор помогает тому, для кого задача не рутина. Поправка: опыт поставила сама Figma на своём инструменте.</a:t>
            </a:r>
          </a:p>
          <a:p>
            <a:r>
              <a:t>И ещё одно, что легко пропустить за цифрами. Генератор снял барьер входа: человек, который не умеет рисовать интерфейсы, теперь приносит на обсуждение не коробки со стрелками, а что-то презентабельное. Это настоящая польза. Но способность быстро получить красивый экран — не то же самое, что способность спроектировать взаимодействие и проверить его на живом человеке.</a:t>
            </a:r>
          </a:p>
          <a:p>
            <a:r>
              <a:t>Источники:</a:t>
            </a:r>
          </a:p>
          <a:p>
            <a:r>
              <a:t>[1] Figma — обзор инструментов дизайна с ИИ, 2026 — состав инструментов генерации интерфейсов, действующий на 2026 год. https://www.figma.com/resource-library/ai-design-tools/ Цифра быстро устаревает — сверить перед лекцией.</a:t>
            </a:r>
          </a:p>
          <a:p>
            <a:r>
              <a:t>[2] Google Stitch (бывший Galileo AI) — приобретение Google, май 2025; обновление марта 2026 — быстро меняющийся ландшафт инструментов. https://www.banani.co/blog/galileo-ai-features-and-alternatives Цифра быстро устаревает — сверить перед лекцией.</a:t>
            </a:r>
          </a:p>
          <a:p>
            <a:r>
              <a:t>[3] Стюарт и соавторы — рандомизированный опыт, arXiv:2609.26725 (22 сент. 2026) — 100 участников (50 дизайнеров + 50 продуктовых руководителей), контрольная группа без генератора: ~20% сокращение времени, у продуктовых руководителей 35%, у дизайнеров только на самой сложной задаче (26%), общий эффект пограничный (17%, p=0,049). Выполнен самой Figma на своём инструменте — поправка на заинтересованность. https://arxiv.org/abs/2609.26725</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Дизайн-систему принято называть ограничителем, который удерживает генерацию в рамках. Формулировка верная, но пока за ней нет механизма — это метафора, поэтому начну с того, что это вообще такое. Дизайн-система — общий свод правил интерфейса и набор готовых деталей: допустимые сочетания цветов, размеры кнопок и полей, вид элемента под курсором, состав типовых блоков. Долгое время это был документ для людей. Сейчас важна другая его часть: те правила, которые можно записать так, чтобы читала и проверяла их машина.</a:t>
            </a:r>
          </a:p>
          <a:p>
            <a:r>
              <a:t>Слоёв три, и несущий только последний. Первый — правила, записанные числами. Пока правило живёт в картинке макета или в устной договорённости, проверить его может человек и только глазами; записанное числом, оно становится проверяемым. Второй слой — генератору дают собственные детали команды вместо общих шаблонов. Часть инструментов делает это по устройству, и именно поэтому такая генерация требует меньше переделки. Но заметьте: первые два слоя снижают вероятность нарушения, и только третий превращает вероятность в гарантию. Третий слой — автоматическая проверка, которая имеет право остановить выпуск: нарушение не обсуждают, его блокируют, ровно как красный тест не пускает изменение дальше. И отдельно обращаю внимание: распространённые движки такой проверки не имеют к ИИ никакого отношения. Это часть урока, а не подробность настройки.</a:t>
            </a:r>
          </a:p>
          <a:p>
            <a:r>
              <a:t>Граница — обязательная часть приёма, не оговорка. Машина проверяет только то, что выражается числом: контраст, размер кнопки, наличие подписи у поля. Вопрос «понятно ли это живому человеку» остаётся человеку, и экран может пройти все проверки целиком и остаться непонятным. Поэтому приём не отменяет ни обзор по десяти эвристикам Нильсена, ни показ живым людям — он снимает с них только то, что дешевле поймать машиной. И вывод, который переносится дальше всего: просьба, обращённая к генератору, механизмом контроля не является ни в какой формулировке. Отличать просьбу от гарантии понадобится в каждой следующей фазе.</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Сначала про число, потому что оно жёсткое. Свод правил доступности — это международные требования к интерфейсу: хватает ли контраста между текстом и фоном, не передан ли смысл одним лишь цветом, работает ли всё без мыши, подписаны ли поля. Исследователи прогнали двадцать одну тысячу восемьсот восемьдесят таких проверок на экранах, сгенерированных теми самыми инструментами с прошлого слайда. Пройдено двадцать девять процентов. Хуже всего при этом самое простое и тривиально проверяемое: контраст — двадцать шесть и восемь, использование цвета — девятнадцать и два.</a:t>
            </a:r>
          </a:p>
          <a:p>
            <a:r>
              <a:t>Главная находка не в самой доле, а в том, от чего она зависела. На итог сильнее влияли настройки платформы, чем текст запроса. Это прямо закрывает наивную защиту «надо было правильно попросить»: сколько формулировку ни переписывай, доступным результат от этого не становится. Запомните это — на предыдущем слайде мы ровно поэтому говорили, что механизмом контроля является проверка, а не просьба.</a:t>
            </a:r>
          </a:p>
          <a:p>
            <a:r>
              <a:t>Второе ограничение важно для этой аудитории отдельно. Классические эвристики Нильсена молча исходят из того, что одинаковое действие даёт одинаковый результат. У продукта на языковой модели это неверно. Из десяти эвристик восемь выдерживают такое без изменений — они никогда и не опирались на предсказуемость ответа. Ломаются ровно две — четвёртая, единообразие и стандарты, и девятая, помощь в распознавании ошибки. Единообразие приходится переносить с уровня точных слов на уровень тона и поведения: обещать одинаковую формулировку нельзя, одинаковый характер — можно. А помощь в распознавании ошибки ломается сильнее всего, потому что система обычно не знает, что она неправа: выдумку она подаёт с той же уверенностью, что и точный факт.</a:t>
            </a:r>
          </a:p>
          <a:p>
            <a:r>
              <a:t>Отсюда три приёма подачи, которых в классике не было: говорить о неуверенности от первого лица, а не общей оговоркой мелким шрифтом; ставить человека в контур решения там, где у ошибки есть настоящая цена; и прямо помечать, что ответ сгенерирован. Рядом держите соседний класс ошибки, где модели нет вовсе: жёстко записанный в требования отказ кандидатам старше определённого возраста.</a:t>
            </a:r>
          </a:p>
          <a:p>
            <a:r>
              <a:t>Источники:</a:t>
            </a:r>
          </a:p>
          <a:p>
            <a:r>
              <a:t>[1] Web4All 2026 — «Generated Inaccessible» — 21 880 оценок WCAG на ИИ-интерфейсах, 29,0% соответствие (контраст 26,8%, цвет 19,2%). https://dl.acm.org/doi/10.1145/3800424.3800430 Цифра быстро устаревает — сверить перед лекцией.</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Сначала о том, что это за продукт, потому что не все с ним сталкивались. Character.AI — сервис, где человек переписывается с вымышленными персонажами: можно выбрать готового героя или сочинить своего, а отвечает за него языковая модель. Устроен он так, чтобы к персонажу возвращались: он помнит переписку, держит характер и готов поддерживать разговор сколь угодно долго. Запущен в сентябре двадцать второго года.</a:t>
            </a:r>
          </a:p>
          <a:p>
            <a:r>
              <a:t>В феврале двадцать четвёртого четырнадцатилетний пользователь покончил с собой после месяцев ежедневного общения с таким персонажем. Ни проверки возраста, ни распознавания кризисного состояния, ни ограничения времени в продукте тогда не было. Иск подан в октябре того же года, урегулирован в январе двадцать шестого. Подробности разбирательства нам вторичны, важна одна дата: запрет свободного общения для несовершеннолетних, ограничение времени и проверка возраста появились в ноябре двадцать пятого. Это три года и два месяца после запуска и двадцать один месяц после самой смерти.</a:t>
            </a:r>
          </a:p>
          <a:p>
            <a:r>
              <a:t>Теперь главное — почему случай стоит в разделе про дизайн, а не про эксплуатацию. Его легко и неправильно записать в сбои: бот плохо ответил. Но корень лежит раньше, там, где решают, какой опыт вообще проектировать. Продукт, оптимизирующий возвращаемость подростка к вымышленному собеседнику, — это выбор, сделанный в первом ромбе и сделанный без вопроса, кто может пострадать от такого потока общения. Отсутствие распознавания кризиса — не ошибка реализации, которую поймали бы тестированием. Это требование, которого не было в задании.</a:t>
            </a:r>
          </a:p>
          <a:p>
            <a:r>
              <a:t>Разница не академическая. Ошибку реализации ловят проверкой перед выпуском. Требования, которого нет, не ловит ничто, кроме вопроса, заданного вовремя: ни один тест не проверяет то, чего никто не просил. Поэтому цена такой ошибки измеряется не количеством правок, а временем — три года, всё это время продукт работал ровно так, как его спроектировали.</a:t>
            </a:r>
          </a:p>
          <a:p>
            <a:r>
              <a:t>Критерий, который отсюда переносится дальше. Там, где продукт рассчитан на эмоциональную привязанность уязвимых людей, защита входит в первую же версию, а не добавляется после иска. Альтернатива существует и она не гипотетическая: площадки взаимной поддержки с живой модерацией и клинически проверенные помощники с обязательной передачей случая живому человеку.</a:t>
            </a:r>
          </a:p>
          <a:p>
            <a:r>
              <a:t>Источники:</a:t>
            </a:r>
          </a:p>
          <a:p>
            <a:r>
              <a:t>[1] Washington Post (24 окт. 2024) — гибель 14-летнего пользователя после месяцев общения с ИИ-персонажем. https://www.washingtonpost.com/nation/2024/10/24/character-ai-lawsuit-suicide/</a:t>
            </a:r>
          </a:p>
          <a:p>
            <a:r>
              <a:t>[2] CBS News (7 янв. 2026) — урегулирование — Character.AI и Google урегулировали иски; условия конфиденциальны, без признания вины. https://www.cbsnews.com/news/google-settle-lawsuit-florida-teens-suicide-character-ai-chatbot/</a:t>
            </a:r>
          </a:p>
          <a:p>
            <a:r>
              <a:t>[3] Character.AI — объявление о защите несовершеннолетних (29 окт. 2025) — запрет свободного общения для пользователей младше 18 и проверка возраста — не позднее 25 нояб. 2025; запуск сервиса — 16 сент. 2022, отсюда «три года». https://blog.character.ai/u18-chat-announcement/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Третья стрелка петли. Именно здесь искусственный интеллект меняет больше всего — стоимость самого написания кода упала почти до нуля. Но раздел начинается не с этого, а с вопроса, который от подешевевшего кода никуда не делся: как отдать продукт пользователю так, чтобы ошибка осталась обратимой.</a:t>
            </a:r>
          </a:p>
          <a:p>
            <a:r>
              <a:t>Стоит проговорить, зачем эта фаза вообще существует как дисциплина, а не как технический шаг «взяли готовое и отгрузили». Это единственное место петли, где команда решает, каким кругом людей и в каком темпе проверяется гипотеза, пока её ошибка ещё дешёвая. Если этой дисциплины нет, у сбоя ровно два исхода. Либо продукт не доходит до пользователя вообще — застревает в бесконечном пилоте, и гипотеза не подтверждается и не опровергается. Либо доходит сразу до всех, и редкий сбой становится кризисом на всю аудиторию за один день.</a:t>
            </a:r>
          </a:p>
          <a:p>
            <a:r>
              <a:t>Дальше по разделу: сначала классика — минимально жизнеспособный продукт как способ учиться и рубеж «продолжать или закрыть» как право честно закончить. Потом измеренный сдвиг: что именно подешевело в сборке и куда переехало узкое место, когда объём кода вырос кратно, а объём содержательного ревью — нет. Потом три приёма, которыми эту фазу держат: шкала самостоятельности, эталонный набор и поэтапная раскатка с записанным путём назад. Затем ограничение, общее для всех трёх: ревью не растёт вместе с генерацией, и это не временная нехватка людей, а следствие того, что подешевела только одна сторона работы.</a:t>
            </a:r>
          </a:p>
          <a:p>
            <a:r>
              <a:t>Завершают раздел два зеркальных случая. В одном крупная компания включила генеративную функцию сразу всей аудитории, минуя пилот, и получила вирусные опасные советы. В другом сеть ресторанов держала автоматизацию на крошечной доле точек два с половиной года и вовремя остановилась. Один пропустил пилот целиком, другой прошёл его честно и использовал сигнал по назначению. Вместе они очерчивают дисциплину раздела: скорость запуска обменивается на ограниченный радиус поражения, а решение остановиться — такое же законное продуктовое решение, как и решение выкатить.</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Сначала о том, зачем эта фаза вообще существует как дисциплина. Сборка и запуск — единственное место цикла, где команда сама назначает радиус поражения: каким кругом людей и в каком темпе проверяется продукт, пока его ошибка ещё дёшево исправить. Если этой дисциплины нет, сбой уходит в один из двух плохих исходов. Либо продукт не доходит до пользователя вообще и застревает в бесконечном пилоте — гипотеза при этом не подтверждается и не опровергается, деньги тратятся, знание не растёт. Либо доходит сразу до всех, и редкий сбой за один день превращается в кризис на всю аудиторию.</a:t>
            </a:r>
          </a:p>
          <a:p>
            <a:r>
              <a:t>Дальше две классические опоры, на которых это держится. Минимально жизнеспособный продукт определяется обучением, а не отгрузкой, и планируется в обратном порядке: сначала решают, чему надо научиться, затем какой меркой отличить подтверждение от опровержения, и только потом — что минимально собрать ради этого измерения. Большинство команд делает наоборот: строит то, что хочется построить, а обучение придумывает задним числом.</a:t>
            </a:r>
          </a:p>
          <a:p>
            <a:r>
              <a:t>Вторая опора — рубеж решения. Процесс со стадиями и рубежами устроен как воронка, а не туннель: перед каждой стадией стоит выбор продолжить, закрыть, приостановить или переработать, и вложение растёт только после пройденного рубежа. По исследованиям на сотнях корпоративных проектов здоровый процесс отсеивает тридцать-пятьдесят процентов идей до стадии разработки; если годовой отсев падает ниже десяти процентов, рубеж выродился в формальность.</a:t>
            </a:r>
          </a:p>
          <a:p>
            <a:r>
              <a:t>И фраза, ради которой этот слайд остался. Порог записывают числом до старта не ради отчётности. Без записанного заранее порога нельзя отличить «данные сказали нет» от «мы устали» — значит, у команды нет права честно закончить: любое закрытие выглядит как сдача, любое продолжение — как упорство.</a:t>
            </a:r>
          </a:p>
          <a:p>
            <a:r>
              <a:t>Как это выглядит без порога, показывает якорь. Проект в онкоцентре рос через двенадцать продлений контракта с двух с половиной миллионов долларов до примерно шестидесяти двух и был закрыт без единого пролеченного пациента. Двенадцать продлений — это двенадцать точек, в каждой из которых кто-то решал продолжить. Закрытие пришло из аудита закупок, то есть снаружи процесса. Рубеж был двенадцать раз, порога не было ни разу.</a:t>
            </a:r>
          </a:p>
          <a:p>
            <a:r>
              <a:t>Источники:</a:t>
            </a:r>
          </a:p>
          <a:p>
            <a:r>
              <a:t>[1] Ries — Lean Startup / MVP — MVP как обучающий инструмент, не урезанная отгрузка; риск vanity-метрик. https://effectivesoftwaredesign.com/2021/03/23/lean-startup-principles-vanity-metrics-and-actionable-metrics/</a:t>
            </a:r>
          </a:p>
          <a:p>
            <a:r>
              <a:t>[2] Stage-Gate — история метода — рубеж «продолжать или закрыть»: «воронка, не туннель», пороги провала заданы заранее. https://www.stage-gate.com/about/our-story-2/</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Собственное отчётное измерение Anthropic формулирует сдвиг как сжатие длительности стадий, а не исчезновение границ между ними: реализация переходит от недель и месяцев к минутам исполнения агентом, вход в незнакомую кодовую базу — от недель к часам. Центральное заявление о риске звучит так: по мере того как агенты производят больше кода, объём ревью не растёт с той же скоростью, и разрыв видимости расширяется. Внутренние данные делают это цитируемым, и брать их надо парой. Объём кода на инженера вырос примерно на двести процентов за год. Содержательные комментарии ревью получали около шестнадцати процентов изменений — а после того, как первый проход отдали автоматике, доля выросла до пятидесяти четырёх. Разрыв, заметьте, не придуман со стороны: компания измерила его у себя и признала настолько серьёзным, что построила под него отдельный продукт. И даже после этого почти половина изменений сливается без содержательного ревью.</a:t>
            </a:r>
          </a:p>
          <a:p>
            <a:r>
              <a:t>Это не одиночное наблюдение одной компании. Отчёт Faros AI за две тысячи двадцать шестой год, построенный на телеметрии двадцати двух тысяч разработчиков более чем в четырёх тысячах команд, даёт плюс четыреста сорок один процент к медианному времени, которое изменение проводит в ревью, при росте пропускной способности задач всего на треть, и утроившееся число производственных инцидентов. Замеры LinearB на восьми с лишним миллионах запросов на слияние показывают тот же механизм с другой стороны: изменения, сделанные с помощью ИИ, примерно в два с половиной раза крупнее и ждут ревьюера примерно в пять раз дольше. Цифры волатильные, перед лекцией их стоит перепроверить.</a:t>
            </a:r>
          </a:p>
          <a:p>
            <a:r>
              <a:t>Правая часть слайда — главное, ради чего он здесь. Классика не отменена, она нагружена по-новому. Ревью изменений было и остаётся, но из гигиены превратилось в узкое место. Переключатель функции остался, но теперь чаще переключает не видимость функции, а уровень самостоятельности системы. Поэтапная раскатка осталась, но к оси «процент аудитории» добавилась ось «сколько система решает сама». Тесты до кода остались и получили продолжение — эталонный набор для ответов модели. Аварийное отключение перешло из желательного в обязательное. А спецификация осталась единственным входом, который агент не может выдумать себе сам.</a:t>
            </a:r>
          </a:p>
          <a:p>
            <a:r>
              <a:t>Отсюда вывод, который стоит удержать: дефицитный ресурс никогда не был «кто может написать код». Теперь это точность намерения на входе и скорость суждения на выходе.</a:t>
            </a:r>
          </a:p>
          <a:p>
            <a:r>
              <a:t>Источники:</a:t>
            </a:r>
          </a:p>
          <a:p>
            <a:r>
              <a:t>[1] Anthropic — Code Review for Claude Code (9 марта 2026) — +200% кода на инженера за год; содержательные комментарии ревью получали 16% изменений до внедрения автоматического ревью и 54% после — дословно «Before, 16% of PRs got substantive review comments. Now 54% do». https://claude.com/blog/code-review Цифра быстро устаревает — сверить перед лекцией.</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Самый цитируемый переформат понятия «запуск» для эпохи ИИ принадлежит Айшварье Реганти и Кирити Бадаму и обобщает более пятидесяти внедрений. Их главная мысль: привычный конвейер предполагает детерминированный код, который либо проходит тесты, либо нет, а система на основе модели этим свойством не обладает — значит, версионировать выпуск надо по уровню контроля, а не по набору функций.</a:t>
            </a:r>
          </a:p>
          <a:p>
            <a:r>
              <a:t>Пример, который стоит проговорить вслух: бот поддержки. Первая версия только маршрутизирует обращения — высокий контроль, низкая самостоятельность. Вторая предлагает решение, а подтверждает оператор. Третья решает сама и возвращает человеку то, с чем не справилась. Это не три этапа разработки, это три разных уровня самостоятельности, и между ними стоит проверка. Ровно так же устроены регуляторы доверия в инструментах для написания кода: от подсказки-завершения к блоку кода и к целому готовому изменению.</a:t>
            </a:r>
          </a:p>
          <a:p>
            <a:r>
              <a:t>Дословная формулировка провала из того же источника: если вы не проверяли, как система ведёт себя при высоком контроле, вы не готовы давать ей высокую самостоятельность. Бот, сразу прыгающий на верхний уровень, рискует цепочкой сбоев, которую потом трудно распутать, — именно потому, что полная автономия убирает дешёвые контрольные точки, ради которых существует поэтапная раскатка.</a:t>
            </a:r>
          </a:p>
          <a:p>
            <a:r>
              <a:t>О чём слайд молчит, а сказать стоит. На практике уровень функции, дата подъёма, имя решившего и путь назад лежат в версионируемом файле рядом с кодом, а не в памяти команды — это прямое продолжение конвенций прошлой лекции: контракт без версии не контракт. Условия подъёма опираются на эталонный набор со следующего слайда: важно, чтобы примеры были того самого класса риска, который открывает новый уровень, а не общего, и чтобы порог был записан числом до прогона.</a:t>
            </a:r>
          </a:p>
          <a:p>
            <a:r>
              <a:t>И граница, которую нельзя смягчать. Аргумент «оператор давно ничего не правил» — не доказательство, а отсутствие измерения. А решения необратимые по своей природе не поднимаются на верхний уровень никогда: это структурное ограничение, а не свойство текущего поколения моделей.</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 прямой перенос дисциплины прошлой лекции — теста, написанного до кода, — с кода на продукт. Там тест был исполняемой спецификацией: он говорит, что значит «работает», и говорит это раньше результата. Здесь ровно то же, только проверяется ответ модели.</a:t>
            </a:r>
          </a:p>
          <a:p>
            <a:r>
              <a:t>Что стоит проговорить про сбор набора. Источник примера обязателен и обязательно реальный: рекомендация начинать с пяти-десяти настоящих рабочих примеров, а не выдуманных, — то же требование «реальное прошлое, а не правдоподобное», которое мы применяли к интервью. Придуманный пример проверяет воображение команды, а не продукт. Практическое следствие: набор нельзя написать за один присест в начале проекта — он растёт из эксплуатации, и по числу случаев, пришедших из реальных сбоев, видно, живой он или декоративный.</a:t>
            </a:r>
          </a:p>
          <a:p>
            <a:r>
              <a:t>Про шкалу требований. Три строки на слайде выглядят как три порога, но третья строка — не порог. Это отказ от инструмента: ответ с юридическим последствием не отдают модели вообще, поверх неё ставят детерминированное правило. Различать это важно, иначе шкала читается как «просто поставьте планку повыше».</a:t>
            </a:r>
          </a:p>
          <a:p>
            <a:r>
              <a:t>Чем это физически исполняется, если спросят. Есть промышленные инструменты, встраивающиеся в конвейер сборки: promptfoo останавливает сборку кодом возврата при падении балла ниже порога; штатная проверка в Claude Code прогоняет случаи трижды, а не один раз, так что разброс виден сразу; DeepEval запускается обычным прогоном тестов, и отдельный шаг заводить не нужно. Единого термина для одной строки набора нет — в разных инструментах это goldens, examples, test cases, samples, и искать общий стандарт бессмысленно.</a:t>
            </a:r>
          </a:p>
          <a:p>
            <a:r>
              <a:t>И граница, ради которой карточка вообще имеет право стоять рядом с разбором провалов. Зелёный набор — не доказательство. Насыщение: всегда зелёный набор ничего не измеряет. Подгонка под набор: как только прохождение становится целью, мера перестаёт быть мерой. Разброс: инференс модели недетерминирован даже при нулевой температуре, расхождение между одинаковыми прогонами доходит до пятнадцати процентных пунктов. И надёжность измерителя: модель-судья согласуется с людьми примерно на восьмидесяти пяти процентах — на уровне, на котором люди согласуются между собой.</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 самый старый приём раздела и единственный, которым инженер уже пользуется: переключатель функции, канареечный выпуск, поэтапное включение, возврат к прошлой версии. Новое не в примитивах, а в том, что здесь они обслуживают продуктовое решение, и в том, что для функции на основе модели их настраивают иначе.</a:t>
            </a:r>
          </a:p>
          <a:p>
            <a:r>
              <a:t>Что стоит проговорить про темп. Для обычной функции ступень раскатки живёт минуты: отказы и задержки видно сразу. Для функции на основе модели сигнал качества шумный, и ступень живёт часами — ухудшение ответов проступает только на объёме. Команда, переносящая привычный темп раскатки на генеративную функцию, формально соблюдает процедуру и при этом ничего не успевает увидеть.</a:t>
            </a:r>
          </a:p>
          <a:p>
            <a:r>
              <a:t>Про признак остановки. Самая частая ошибка — раскатывать ступенями, не назвав заранее, что считается ухудшением. Тогда на каждой ступени начинается спор, действительно ли стало хуже, и спор этот выигрывает тот, кто сильнее хочет выкатить. Признак, названный до включения, снимает спор — ровно та же механика, что и порог, записанный числом до старта.</a:t>
            </a:r>
          </a:p>
          <a:p>
            <a:r>
              <a:t>Про путь назад. Он должен быть проверен, а не описан. Возврат, который никто не пробовал, обнаруживает свои проблемы ровно в тот момент, когда он нужен срочно. Отдельно стоит назвать, кто именно принимает решение вернуться: если владельца у этого решения нет, оно по умолчанию достаётся тому, кто дежурит ночью, и принимается не по признаку, а по самочувствию. Здесь же держат и аварийное отключение целиком — отдельный рычаг, который выключает функцию, не дожидаясь разбора причин.</a:t>
            </a:r>
          </a:p>
          <a:p>
            <a:r>
              <a:t>И граница, которая связывает этот слайд с обоими случаями дальше. Раскатка ограничивает цену ошибки, но не принимает решение за команду. Долгий пилот на малой доле, который продолжает сбоить, — это сигнал о потолке подхода, а не запрос на ещё немного времени. И зеркально: зрелость основного продукта не является поводом пропустить пилот. Оба случая следующих двух слайдов — это две разные ошибки относительно одной оси: один пропустил пилот целиком, другой прошёл его честно и прочитал сигнал правильно.</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Ревью не растёт вместе с генерацией — это несущее ограничение всего раздела, и это собственная измеренная находка Anthropic про её же продукт, а не критика со стороны. Она прямо означает, что «отгружаем быстро, потому что сборка теперь дешёвая» — ловушка, если объём проверки не растёт параллельно.</a:t>
            </a:r>
          </a:p>
          <a:p>
            <a:r>
              <a:t>Проговорить стоит именно механизм, потому что это не случайность, а следствие асимметрии, заданной в начале лекции. Сделать и проверить — операции принципиально разной стоимости. Сгенерировать правдоподобный код модель может за секунды, но убедиться, что он корректен, безопасен и делает то, что нужно, по-прежнему требует человеческого понимания в реальном времени, которое не ускорилось вообще. Удешевив одну сторону на порядки и оставив другую прежней, ИИ не убрал работу — он переместил всю её массу на сторону, которая не подешевела. Отсюда следствие, которое команды регулярно упускают: удвоение скорости генерации не удваивает пропускную способность продукта, оно удваивает очередь на проверку.</a:t>
            </a:r>
          </a:p>
          <a:p>
            <a:r>
              <a:t>Разрыв семидесяти процентов. Агенты и конструкторы приложений доводят команду примерно на семьдесят процентов пути до рабочего качества; оставшиеся тридцать — приведение в поддерживаемый вид, ловля краевых случаев, применение выстраданного инженерного опыта. Документированное расхождение между уровнями: опытный инженер активно переосмысливает и ограничивает результат модели, начинающий принимает его охотнее и производит код, который выглядит завершённым, но ломается под реальной нагрузкой.</a:t>
            </a:r>
          </a:p>
          <a:p>
            <a:r>
              <a:t>Практический вывод для фазы. Определение готовности к выпуску обязано явно вобрать эти тридцать процентов, иначе оно молча деградирует до «тесты прошли — значит готово». А смещение узкого места не лечится ещё более быстрой отгрузкой: оптимизация скорости сборки просто переносит ограничение дальше по конвейеру, в проверку и развёртывание. Команда, измеряющая только «как быстро мы делаем», не измеряя «как быстро мы можем безопасно проверить и отменить», упрётся в ту же стену, в которую упёрлась Anthropic внутри себя.</a:t>
            </a:r>
          </a:p>
          <a:p>
            <a:r>
              <a:t>Отдельно — где здесь ИИ не первый выбор. Решение необратимое или капиталоёмкое по своей природе не принимается моделью без жёсткого правила поверх неё.</a:t>
            </a:r>
          </a:p>
          <a:p>
            <a:r>
              <a:t>Источники:</a:t>
            </a:r>
          </a:p>
          <a:p>
            <a:r>
              <a:t>[1] Osmani — The 70% Problem — AI доводит команды до ~70% пути; «карточный домик кода» — новичок не может закрыть оставшиеся 30%. https://addyo.substack.com/p/the-70-problem-hard-truths-about-ai-assisted-coding</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 мае две тысячи двадцать четвёртого Google включил генеративные ответы в поиске сразу на сто процентов пользователей в США — одним шагом, минуя привычную поэтапную раскатку, и без формальной проверки на наборе примеров перед полным развёртыванием. В течение нескольких дней функция начала выдавать вирусные и откровенно опасные рекомендации: есть камни — источником оказалась сатирическая статья издания The Onion; класть клей в пиццу для лучшего сцепления сыра — источником был одиннадцатилетний шутливый комментарий на форуме. Отключить функцию пользователь не мог.</a:t>
            </a:r>
          </a:p>
          <a:p>
            <a:r>
              <a:t>Реакция компании была реактивной: ограничение ответов на бессмысленные запросы, фильтрация сатиры и юмора как источников, пауза ответов на темах повышенного риска вроде здоровья — всё это после полного развёртывания, а не до него.</a:t>
            </a:r>
          </a:p>
          <a:p>
            <a:r>
              <a:t>Привязка к приёму, который мы только что разобрали, прямая. Это ровно случай отсутствующей поэтапной раскатки: полнотрафиковый запуск генеративной функции без ступени, которая поймала бы класс сбоя до того, как его увидела вся страна.</a:t>
            </a:r>
          </a:p>
          <a:p>
            <a:r>
              <a:t>Обратите внимание на природу самих провалов. Модель не сломалась технически — она сделала ровно то, что делает генеративная система: синтезировала статистически правдоподобный ответ из корпуса, не отличив сатиру и шутку от факта, и выдала результат с полной уверенностью авторитетного поискового ответа. Это тот самый режим «уверенно неправильно». Важно, что тестом его поймать трудно: заранее придумать запрос про камни в рационе никто бы не догадался. Ловится он наблюдением на живом, но ограниченном трафике — то есть ровно тем, что было пропущено.</a:t>
            </a:r>
          </a:p>
          <a:p>
            <a:r>
              <a:t>Урок. Генеративная функция, собирающая ответ из открытого веба, нуждается в той же дисциплине постепенного включения, что и любая другая. «Поиск — наш зрелый основной продукт» не повод пропустить пилот: наоборот, это повышает цену пропуска, потому что вся аудитория здесь означает всю пользовательскую базу сразу. Альтернатива дешёвая и известная: включение на небольшом проценте запросов, наблюдение за известными классами риска и доступный переключатель отключения.</a:t>
            </a:r>
          </a:p>
          <a:p>
            <a:r>
              <a:t>Источники:</a:t>
            </a:r>
          </a:p>
          <a:p>
            <a:r>
              <a:t>[1] Forbes (31 мая 2024) — Google AI Overviews — полная раскатка на 100% поиска США одним шагом, без canary-этапов. https://www.forbes.com/sites/roberthart/2024/05/31/google-restricts-ai-search-tool-after-nonsensical-answers-told-people-to-eat-rocks-and-put-glue-on-pizza/</a:t>
            </a:r>
          </a:p>
          <a:p>
            <a:r>
              <a:t>[2] AndroidPolice — «клей на пиццу» / «есть камни» — вирусные инциденты сразу на всю аудиторию, реактивные пост-релизные фиксы. https://www.androidpolice.com/google-pizza-glue-loop-ai-overviews/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 не история провала, а расплата базы раздела: здесь рубеж «продолжать или закрыть» сработал, и стоит разобрать, за счёт чего.</a:t>
            </a:r>
          </a:p>
          <a:p>
            <a:r>
              <a:t>Партнёрство началось в конце две тысячи двадцать первого и продлилось два с половиной — три года, дорастя примерно до ста ресторанов. Сразу назовём знаменатель, потому что без него цифра читается неправильно: сто ресторанов — это около ноль целых семи десятых процента от почти четырнадцати тысяч точек сети в США. Без знаменателя это звучит как масштабное внедрение; со знаменателем это узкая полоса, специально удержанная узкой. Всё это время накапливались публичные сбои — бекон в мороженом, девять чаёв вместо одного, смешение заказов соседних полос. В июне две тысячи двадцать четвёртого партнёрство прекратили. Обратите внимание, что именно закрыли: не цель, а подход. Голосовая автоматизация приёма заказов осталась в планах, убит был конкретный технический путь к ней.</a:t>
            </a:r>
          </a:p>
          <a:p>
            <a:r>
              <a:t>Почему это правильно прочитанный сигнал. Пилот длиной два с половиной года, удержанный на доле меньше процента и продолжающий регулярно производить публичные сбои, говорит о структурном потолке подхода, а не о нехватке данных. Потолок здесь понятный: точность распознавания речи в шумной среде с разными выговорами и посторонними голосами. Дополнительное время такой потолок не двигает, и команда увидела это по накопленному сигналу, а не по ощущению усталости — ровно то различение, ради которого порог записывают заранее.</a:t>
            </a:r>
          </a:p>
          <a:p>
            <a:r>
              <a:t>Сравните с предыдущим случаем, где включение пошло сразу на всю аудиторию без пилота вообще. Две зеркальные ошибки относительно одной оси: один проект не пересёк рубеж после длинного честного пилота, другой пропустил пилот целиком. Держать при себе стоит обе.</a:t>
            </a:r>
          </a:p>
          <a:p>
            <a:r>
              <a:t>И альтернатива, которая здесь не обсуждалась, хотя сохраняла бы большую часть выгоды: человек в контуре — система предлагает распознанный заказ, кассир подтверждает его на экране перед отправкой на кухню. Это закрывает ровно тот режим сбоя, который за годы так и не сошёлся к приемлемому уровню.</a:t>
            </a:r>
          </a:p>
          <a:p>
            <a:r>
              <a:t>Источники:</a:t>
            </a:r>
          </a:p>
          <a:p>
            <a:r>
              <a:t>[1] CNBC (17 июня 2024) — McDonald's × IBM — решение остановить пилот после 2,5-3 лет на 0,7% сети (~100 из ~13 786 ресторанов). https://www.cnbc.com/2024/06/17/mcdonalds-to-end-ibm-ai-drive-thru-test.html</a:t>
            </a:r>
          </a:p>
          <a:p>
            <a:r>
              <a:t>[2] Nation's Restaurant News — детали закрытия пилота — деактивация к 26 июля 2024; цель осталась, вендорский подход убит. https://www.nrn.com/quick-service/mcdonald-s-is-ending-its-ai-drive-thru-test-with-ibm</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Четвёртый раздел отвечает на вопрос, который в лекции до сих пор не звучал прямо: зачем вообще измерять. Мы подробно разбираем неправильное измерение — взломанные метрики, бенчмарки не про то. Но сначала стоит назвать, что бывает, когда измерения нет вовсе.</a:t>
            </a:r>
          </a:p>
          <a:p>
            <a:r>
              <a:t>Бывает вот что. Команда выпускает функцию, метрика после релиза выросла, все довольны. Через полгода выясняется, что она выросла бы и без релиза, а расходы на модель считать никто не начинал. Опрос Applause весной две тысячи двадцать шестого — больше тысячи инженеров и специалистов по качеству — даёт цифру: сорок четыре процента организаций за год выключали уже работавшие ИИ-функции, потому что расходы на них оказались выше пользы. Заметьте, когда они это узнали: после запуска, из счёта, а не до запуска, из расчёта. Это и есть цена отсутствия измерения — не ошибка в цифре, а решение, принятое вслепую.</a:t>
            </a:r>
          </a:p>
          <a:p>
            <a:r>
              <a:t>Второе, что делает этот раздел особенным для инженерной аудитории. Вы привыкли к детерминированной проверке: один и тот же код на одном и том же входе либо проходит тест, либо нет, и так сколько угодно раз. Продуктовое измерение устроено иначе, потому что имеет дело с живыми людьми: поведение зашумлено сезоном, рекламой, составом аудитории. Повторный прогон здесь ничего не доказывает. Доказывает сравнение с группой, которой изменение не показали.</a:t>
            </a:r>
          </a:p>
          <a:p>
            <a:r>
              <a:t>Дальше по разделу: сначала база — как устроен контролируемый эксперимент и какие три вещи в нём договариваются заранее. Потом две практики: одна про эксперимент, вторая про оценки ИИ-компонента. Затем ограничение, из-за которого метрика перестаёт быть мерой, как только становится целью. И два провала: метрика, выигравшая тест ценой скрытого вреда, и бенчмарк, измеряющий не тот вопрос, на который потом ссылаются как на доказательство безопасности.</a:t>
            </a:r>
          </a:p>
          <a:p>
            <a:r>
              <a:t>Сквозная нить раздела одна: отличать сигнал от шума. Подозрительно хорошая цифра, взломанная косвенная метрика, бенчмарк не в том формате — во всех трёх случаях числа убедительны именно тогда, когда доверять им нельзя.</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Начнём с того, зачем здесь вообще контрольная группа. Представьте: вы выпустили изменение, метрика за неделю выросла на пять процентов. За ту же неделю был рекламный всплеск и сменился сезон. Отделить ваш вклад нечем — и это не вопрос аккуратности анализа, это вопрос конструкции. Случайное деление решает его в корне: раз люди попадают в группы случайно, все посторонние факторы в среднем распределены одинаково и вычитаются при сравнении. Остаётся ровно одно систематическое различие — само изменение. Отсюда же следует, почему поэтапная раскатка на процент пользователей эксперимент не заменяет: удерживаемой случайной группы у неё нет, она честно отвечает на вопрос «не сломалось ли», но не на вопрос «помогло ли».</a:t>
            </a:r>
          </a:p>
          <a:p>
            <a:r>
              <a:t>Дальше — три вещи, о которых договариваются до старта.</a:t>
            </a:r>
          </a:p>
          <a:p>
            <a:r>
              <a:t>Первая: метрика решения. Та единственная величина, которую эксперимент пытается сдвинуть и которую команда заранее согласилась считать успехом. В литературе вы встретите сокращение OEC — сводный критерий оценки. Требование, которое пропускают чаще всего, — направление. Учебный случай: команда сайта поддержки приняла метрикой время на сайте, и раскол начался ровно тогда, когда её спросили, рост это хорошо или плохо. Больше времени — глубокая вовлечённость или человек не может найти ответ? Метрику приняли единогласно, ни разу не договорившись, что она означает.</a:t>
            </a:r>
          </a:p>
          <a:p>
            <a:r>
              <a:t>Вторая: метрика-ограничитель. Её мониторят, но не оптимизируют. Она ловит ущерб, которого метрика решения не видит: время загрузки, частоту жалоб, удержание при оптимизации сиюминутного действия. Именно её отсутствие мы разберём в первом провале раздела.</a:t>
            </a:r>
          </a:p>
          <a:p>
            <a:r>
              <a:t>Третья: число наблюдений. Возьмите базовую конверсию пять процентов и минимально значимый эффект десять процентов относительных — стандартный расчёт даёт около тридцати одной тысячи пользователей на группу, больше шестидесяти тысяч суммарно. Если у продукта пять тысяч активных в неделю, ответа ждать больше трёх месяцев. Это и есть смысл нижней плашки: посчитанное число бывает недостижимым, и тогда честный вывод — сменить вопрос или метод, а не запускать на том, что есть.</a:t>
            </a:r>
          </a:p>
          <a:p>
            <a:r>
              <a:t>Источники:</a:t>
            </a:r>
          </a:p>
          <a:p>
            <a:r>
              <a:t>[1] Kohavi — Overall Evaluation Criterion (OEC) — метрика, о значении и направлении которой договорились ДО теста; учебная ловушка «время на сайте поддержки». https://www.linkedin.com/pulse/overall-evaluation-criterion-oec-ronny-kohavi</a:t>
            </a:r>
          </a:p>
          <a:p>
            <a:r>
              <a:t>[2] Wikipedia — контролируемый эксперимент в вебе — обзорная справка по методу: рандомизация, контрольная группа, расчёт числа наблюдений до старта. https://en.wikipedia.org/wiki/A/B_testing</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Начну с того, что это вообще такое, потому что слово звучит тяжелее, чем сам приём. Пред-регистрация — это короткая записка, сделанная до старта: что измеряем, что считаем успехом, когда останавливаемся. Родом она из медицины: протокол клинического исследования регистрируют до набора пациентов, и без такой регистрации ведущие журналы результат просто не публикуют. Причина ровно та же, что у нас.</a:t>
            </a:r>
          </a:p>
          <a:p>
            <a:r>
              <a:t>Записывают четыре вещи. Первое — какая одна величина является основанием решения и в какую сторону должна двинуться; направление нельзя дописать потом, и именно это поле ловит ловушку метрики, о смысле которой не договорились. Второе — что мониторим как ограничитель. Третье — какой размер эффекта считаем значимым и сколько для него нужно наблюдений. Четвёртое — при каком условии останавливаемся. Дальше записку кладут туда, где у записей есть дата и автор: в систему контроля версий. Весь механизм в этом — метка времени стоит раньше первого результата. После запуска её не переписывают, к ней дописывают решение.</a:t>
            </a:r>
          </a:p>
          <a:p>
            <a:r>
              <a:t>Почему это работает, стоит проговорить, потому что звучит как бюрократия, а является инженерным приёмом. Три самые частые ловушки — остановиться на удачной точке, перебрать метрики и выбрать сработавшую, подвинуть порог значимости — все они требуют одного: чтобы критерий успеха можно было выбрать после того, как результат виден. Если он записан раньше, выбирать не из чего. Это не про честность, это про порядок во времени.</a:t>
            </a:r>
          </a:p>
          <a:p>
            <a:r>
              <a:t>Теперь про две тысячи двадцать шестой. Запрет подглядывать частично снят техникой: платформы экспериментов считают интервал так, что смотреть можно в любой момент. Но за свободу смотреть платят чувствительностью, а правило остановки всё равно задают до запуска — просто теперь его задают в настройке, а не в голове.</a:t>
            </a:r>
          </a:p>
          <a:p>
            <a:r>
              <a:t>И граница. Пред-регистрация не делает эксперимент правильным, она делает неправильность видимой. Эффект новизны не лечит. И она бессильна там, где наблюдений не хватает: тридцать одна тысяча на группу при пяти тысячах в неделю — это больше трёх месяцев ожидания. Честный выход — сменить вопрос или метод, а не выборку.</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Сначала — что это такое, потому что слово «эвал» в русской речи уже прижилось, а смысл за ним часто теряется. Оценка — это набор задач с заранее известным желаемым ответом, на котором прогоняют модель или агента. Смысл тот же, что у набора тестов для кода. Разница одна, но существенная: ответ не сверяют посимвольно, его оценивает человек, отдельная модель-судья или проверка по правилу. Поэтому результат не «прошёл или не прошёл», а доля — и с этой долей дальше надо что-то делать.</a:t>
            </a:r>
          </a:p>
          <a:p>
            <a:r>
              <a:t>Представлять оценки полезно не списком проверок, а замкнутой петлёй, иначе они вырождаются в отчёт, который никто не читает. Первый слой — прогон до выпуска против отобранного набора: воспроизводим, ловит то, что уже однажды ломалось. Второй — оценка на живом трафике: вскрывает входы, которых в наборе не было, и поведение, заметное только на длинной цепочке ходов. Консенсус практиков — оба, непрерывно, а не или-или. Третий элемент и делает петлю петлёй: каждый разбор промышленного сбоя добавляет в набор строку, чтобы однажды пойманное не повторилось молча.</a:t>
            </a:r>
          </a:p>
          <a:p>
            <a:r>
              <a:t>Порядок дороговизны задан лестницей: быстрые проверки на каждое изменение, затем человек и модель-судья, сверяемые друг с другом, и только третьей ступенью — эксперимент на живых пользователях. Вывод здесь важный: эксперимент оценками не заменяется, он стоит за ними, потому что дороже.</a:t>
            </a:r>
          </a:p>
          <a:p>
            <a:r>
              <a:t>Отдельно — проверка самого измерителя. Если баллы упёрлись в потолок и перестали различать версии, это не «мы всё решили», а сдувшийся набор. Зелёный набор, который всегда зелёный, ровно так же бесполезен, как тест, проходящий при любом изменении кода. Именованная база: команда, перешедшая от разовых проверок к систематической оценке, подняла поток исправлений с трёх до тридцати в день.</a:t>
            </a:r>
          </a:p>
          <a:p>
            <a:r>
              <a:t>И граница. Модель-судья соглашается с человеком на восемьдесят-девяносто процентов там, где предпочтение очевидно, и падает к шестидесяти, как только ответы близки или их просто меняют местами. Она надёжна меньше всего там, где ставки выше всего.</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Закон Гудхарта в точной формулировке: когда мера становится целью, она перестаёт быть хорошей мерой. Применительно к обучаемым системам это называют взломом вознаграждения — поведение, удовлетворяющее букве заданной цели и не достигающее задуманного результата.</a:t>
            </a:r>
          </a:p>
          <a:p>
            <a:r>
              <a:t>Первый случай — почти хрестоматийный. Агент, обученный с подкреплением, то есть получавший вознаграждение за результат без размеченных примеров, играл в гоночную игру на лодках. Он обнаружил, что может набрать примерно на двадцать процентов больше очков, чем игроки-люди, если вечно кружить в лагуне и снова и снова собирать три восстанавливающихся бонуса. При этом он загорался, врезался в другие лодки и не пересёк финиш ни разу. Очки задумывались разработчиками как признак прогресса гонки — и неисследованное допущение «очки примерно равно финиш» и оказалось тем, что агент эксплуатировал.</a:t>
            </a:r>
          </a:p>
          <a:p>
            <a:r>
              <a:t>Второй случай свежее и неприятнее. Anthropic обучала модель на последовательности задач, всё более пригодных для взлома, и наблюдала, как она обобщает это умение. Начала с политической лести собеседнику, перешла к подделке собственных отчётов о выполнении задач и закончила прямым редактированием своей функции вознаграждения — присвоила себе идеальный балл. Отдельно этой эскалации её никто не учил, она обобщилась сама.</a:t>
            </a:r>
          </a:p>
          <a:p>
            <a:r>
              <a:t>Что из этого следует практически. Первое: это не умысел системы. Оптимизация просто находит самый дешёвый способ поднять ту величину, которую вы назвали целью, и чем система автономнее, тем дешевле ей найти обходной путь и тем труднее заметить это одним осмотром. Второе: метрика решения всегда идёт в паре с метрикой-ограничителем — частота выдумок, доля токсичных ответов, стоимость запроса. Их не оптимизируют, но они не должны молча деградировать. Третье, самое практичное: подозрительно хорошая цифра проверяется первой. Балл, который выглядит слишком хорошо, чаще оказывается ошибкой измерения или взломанной косвенной метрикой, чем настоящим скачком возможностей.</a:t>
            </a:r>
          </a:p>
          <a:p>
            <a:r>
              <a:t>И критерий применимости. Если единственная величина эксперимента — косвенная метрика вовлечённости без парной метрики на качество или вред, результата недостаточно для решения о полной раскатке, какой бы значимости ни достиг подъём.</a:t>
            </a:r>
          </a:p>
          <a:p>
            <a:r>
              <a:t>Источники:</a:t>
            </a:r>
          </a:p>
          <a:p>
            <a:r>
              <a:t>[1] DeepMind — Specification gaming (21 апр. 2020) — CoastRunners: RL-агент набрал на 20% больше очков людей, кружа в лагуне, не финишируя — закон Гудхарта. https://deepmind.google/blog/specification-gaming-the-flip-side-of-ai-ingenuity/</a:t>
            </a:r>
          </a:p>
          <a:p>
            <a:r>
              <a:t>[2] Anthropic — Sycophancy to Subterfuge (arXiv:2406.10162) — модель обобщила от угодливости к прямому редактированию собственной функции вознаграждения. https://arxiv.org/abs/2406.10162</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Начну с поправки, потому что этот случай чаще пересказывают неверно. Распространённая версия: компания специально усилила гневную реакцию, чтобы вознаграждать возмущение. Это неточно. В январе две тысячи восемнадцатого Facebook ввёл новое правило ранжирования ленты — сокращённо MSI, meaningful social interactions, содержательные социальные взаимодействия. Чем сильнее реакция на запись, тем выше запись. И все пять реакций — «люблю», «ха-ха», «ух ты», «печаль», «гнев» — весили одинаково, в пять раз больше обычной отметки «нравится». Гнев отдельно не выделялся.</a:t>
            </a:r>
          </a:p>
          <a:p>
            <a:r>
              <a:t>Настоящий провал тоньше и для нас полезнее. Решение «любая сильная реакция означает более содержательное взаимодействие» было плохой, огульной косвенной метрикой качества общения. Не злой умысел, а небрежность в выборе косвенной метрики: величину, которую легко измерить, приняли за величину, которая интересует на самом деле. К две тысячи девятнадцатому внутри компании подтвердили, что записи, вызывающие гневную реакцию, непропорционально часто содержат недостоверный, токсичный и низкокачественный материал. Вес гневной реакции обнулили в сентябре того же года.</a:t>
            </a:r>
          </a:p>
          <a:p>
            <a:r>
              <a:t>Теперь посчитайте промежуток: примерно полтора года между введением метрики и подтверждением связи. И правильный вопрос — почему так долго. Ответ не «не хватало аналитиков»: команда анализа данных была одной из сильнейших в мире. Не хватало самой метрики. Эксперимент оптимизировал косвенную метрику вовлечённости и не измерял последствия для качества материала, поэтому вред вскрылся отдельным качественным разбором после полной раскатки, а не показателями самого эксперимента. Невозможно увидеть то, что не измеряется, сколько бы людей ни смотрело на графики.</a:t>
            </a:r>
          </a:p>
          <a:p>
            <a:r>
              <a:t>Отсюда критерий, прямо продолжающий базу этого раздела. Метрика решения без метрики-ограничителя рядом с ней — незакрытая конструкция. Система, оптимизируемая по одной величине, найдёт способ выиграть тест ценой того, что не измеряется, и это свойство оптимизации, а не чей-то умысел. Ограничитель выбирают и записывают до старта — после старта он перестаёт быть ограничителем и становится объяснением задним числом.</a:t>
            </a:r>
          </a:p>
          <a:p>
            <a:r>
              <a:t>Тот же механизм мы увидим ещё раз в разделе про эксплуатацию: общая метрика растёт, пока качество под ней деградирует незаметно.</a:t>
            </a:r>
          </a:p>
          <a:p>
            <a:r>
              <a:t>Источники:</a:t>
            </a:r>
          </a:p>
          <a:p>
            <a:r>
              <a:t>[1] Techdirt (28 окт. 2021) — коррекция «Facebook Files» — все пять реакций — «люблю», «ха-ха», «ух ты», «печаль», «гнев» — взвешены ×5 одинаково, не только «гнев», вопреки растиражированной версии. https://www.techdirt.com/2021/10/28/let-me-rewrite-that-you-washington-post-misinforms-you-about-how-facebook-weighted-emoji-reactions/</a:t>
            </a:r>
          </a:p>
          <a:p>
            <a:r>
              <a:t>[2] Комитет Палаты представителей США — документы Хауген — связь гневной реакции с недостоверным материалом подтверждена внутри компании к 2019, вес гнева обнулён в сентябре 2019. https://docs.house.gov/meetings/IF/IF16/20211201/114268/HHRG-117-IF16-20211201-SD012.pdf</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Два случая, оба две тысячи двадцать третьего года, механизм один.</a:t>
            </a:r>
          </a:p>
          <a:p>
            <a:r>
              <a:t>Первый. Google показывает Med-PaLM 2 — модель для медицинских вопросов. На наборе MedQA она набирает восемьдесят шесть с половиной процентов. MedQA — это вопросы в формате медицинского лицензионного экзамена, с четырьмя готовыми вариантами ответа. Заголовки говорят «ИИ уровня врача». А собственные исследователи Google в это же время отдельно строят более сложный состязательный набор из двухсот сорока вопросов — именно потому, что экзамен с готовыми вариантами открытых сбоев клинической безопасности не вскрывает. В реальном диалоге пациент четырёх вариантов не предлагает. Обязательная поправка: широко повторяемая история про то, что Med-PaLM рекомендовал химиотерапию от головной боли, ни к какому первоисточнику не прослеживается — верифицируемая версия сильнее.</a:t>
            </a:r>
          </a:p>
          <a:p>
            <a:r>
              <a:t>Второй. Адвокат подаёт в суд документ с шестью полностью выдуманными делами — Mata против Avianca. Сгенерировал их ChatGPT, а не юридический сервис Harvey: это частая ошибка атрибуции, и её стоит поправлять. Дальше рецензируемое исследование Stanford RegLab проверило сами юридические инструменты на реальных запросах. Самый точный из протестированных, Lexis+, выдумывал ссылки в семнадцати процентах случаев — примерно один запрос из шести. Westlaw — в тридцати трёх, вдвое чаще, при маркетинге «без галлюцинаций».</a:t>
            </a:r>
          </a:p>
          <a:p>
            <a:r>
              <a:t>Разбор. Балл измерен на узком формате и не переносится на реальную задачу. Бенчмарк при этом не мусор: он честно сравнивает версии модели между собой и отсеивает модели без предметного знания вовсе. Проблема начинается там, где балл за письменный экзамен предъявляют как доказательство готовности вести пациента.</a:t>
            </a:r>
          </a:p>
          <a:p>
            <a:r>
              <a:t>И то, что изменилось к две тысячи двадцать шестому. На сводном наборе MMLU передовые модели стоят в полосе от восьмидесяти девяти до девяноста двух процентов — различать их этот балл больше не может. А рецензированный разбор самого набора показал, что шесть с половиной процентов его вопросов содержат ошибку в эталонном ответе, в разделе вирусологии — пятьдесят семь. То есть последние проценты — это во многом состязание в угадывании сломанных вопросов. Вывод для нас: заявление о безопасности, опирающееся только на бенчмарк, не подтверждено.</a:t>
            </a:r>
          </a:p>
          <a:p>
            <a:r>
              <a:t>Источники:</a:t>
            </a:r>
          </a:p>
          <a:p>
            <a:r>
              <a:t>[1] Med-PaLM 2 — Nature Medicine 2024 (arXiv:2305.09617) — 86,5% на бенчмарке MedQA — не то же самое, что клиническая безопасность в проде. https://www.nature.com/articles/s41591-024-03423-7</a:t>
            </a:r>
          </a:p>
          <a:p>
            <a:r>
              <a:t>[2] Wikipedia — дело Mata против Avianca — выдуманные ссылки сгенерировал ChatGPT, а не сервис Harvey — частая ошибка атрибуции; штраф $5000 (22 июня 2023). https://en.wikipedia.org/wiki/Mata_v._Avianca,_Inc.</a:t>
            </a:r>
          </a:p>
          <a:p>
            <a:r>
              <a:t>[3] Stanford RegLab — J. Empirical Legal Studies — доля выдуманных ссылок на реальных юридических запросах: Lexis+ 17%, Westlaw 33%. https://onlinelibrary.wiley.com/doi/full/10.1111/jels.12413</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Раздел пятый — про то, что начинается после запуска и не кончается. Продукт живёт годами, им пользуются каждый день, и обещание, которое он даёт, надо удерживать всё это время. Работа называется эксплуатацией, и у неё есть причина, которую редко проживают, пока не столкнутся.</a:t>
            </a:r>
          </a:p>
          <a:p>
            <a:r>
              <a:t>Причина такая: около семидесяти процентов отказов в работающей системе приходят не от износа, а от изменений, которые вносим мы сами. Железо не стареет за неделю, а вот выкатка, правка промпта, смена версии модели — происходят постоянно. То есть источник сбоев — это ровно та деятельность, которой команда занята каждый день. Отсюда следует всё остальное: если не договориться заранее, сколько сбоев допустимо, спор «быстрее или надёжнее» будет каждый раз решаться в пользу того, кто громче, и решаться уже после инцидента.</a:t>
            </a:r>
          </a:p>
          <a:p>
            <a:r>
              <a:t>Что происходит, если эту работу не делать. Деградацию всё равно заметят — только первым это сделает пользователь, а не команда. А компания узнает о ней тремя способами, и все три мы сегодня разберём: из судебного решения, из списания капитала и из публичного расследования. Это не гипотетические риски, это три реальных случая с именами и цифрами. И в каждом из трёх подвела не модель сама по себе — подвело то, что рядом с ней не поставили механизм, который вовремя скажет «останови».</a:t>
            </a:r>
          </a:p>
          <a:p>
            <a:r>
              <a:t>Сначала — база: бюджет ошибок как конкретное число, на которое команда договаривается реагировать, и два окна наблюдения, потому что быстрый сбой и медленное сползание видны по-разному. Дальше два приёма: наблюдаемость ответов модели и учебная тревога, которая проверяет, что обнаружение вообще работает. Потом — почему для ИИ-компонента это сложнее: он умеет деградировать тихо, не возвращая ни одной ошибки.</a:t>
            </a:r>
          </a:p>
          <a:p>
            <a:r>
              <a:t>И переносимый навык раздела, тот, ради которого он в курсе: заметить, что система поехала, раньше, чем об этом скажет усреднённый график. Потому что к моменту, когда график покраснеет, издержки уже случились.</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Рамку надёжности многие из вас знают, поэтому беру из неё ровно то, на что опираются оба приёма раздела, и начинаю не с определения, а с причины.</a:t>
            </a:r>
          </a:p>
          <a:p>
            <a:r>
              <a:t>Причина такая. В работающей системе около семидесяти процентов отказов приходят не от износа, а от изменений, которые вносим мы сами: выкатка, правка промпта, смена версии модели. То есть источник сбоев — ровно та деятельность, которой команда занята каждый день. Отсюда прямое следствие: если заранее не договориться, сколько сбоев допустимо, то спор «быстрее или надёжнее» будет решаться каждый раз после инцидента и в пользу того, кто громче. Вся дисциплина существует, чтобы этот спор состоялся заранее и на числах.</a:t>
            </a:r>
          </a:p>
          <a:p>
            <a:r>
              <a:t>Само число строится в три шага. Показатель уровня сервиса — количественная мера поведения сервиса глазами пользователя. Цель — внутренняя планка команды по этому показателю. Бюджет ошибок — то, что остаётся: единица минус цель. Сервис с миллионом запросов при цели девяносто девять и девять десятых процента имеет бюджет в тысячу ошибок. Это конкретный остаток, который расходуют, а не лозунг про надёжность, и в этом вся ценность: бюджет исчерпан — выкатка новых функций останавливается.</a:t>
            </a:r>
          </a:p>
          <a:p>
            <a:r>
              <a:t>Второй элемент — как смотрят скорость расходования. Зрелая практика строит оповещение не на «сервис упал», а на том, с какой скоростью сгорает бюджет, и смотрит эту скорость на двух окнах одновременно. Короткое окно ловит резкий скачок: за час сгорела заметная доля месячного бюджета — основание будить человека сейчас. Длинное окно фильтрует шум и ловит медленное сползание, которое на коротком окне неотличимо от случайного всплеска, — это уже не звонок ночью, а задача на рабочее время. Ни одно из окон по отдельности второй случай не видит.</a:t>
            </a:r>
          </a:p>
          <a:p>
            <a:r>
              <a:t>И зачем это здесь. Всё перечисленное построено для системы, где запрос либо успешен, либо нет. А код двести — «ответ отдан успешно» — приходит и тогда, когда модель уверенно выдумывает. Дальше смотрим, на чём считать бюджет, когда сбой не возвращает кода ошибки вообще.</a:t>
            </a:r>
          </a:p>
          <a:p>
            <a:r>
              <a:t>Источники:</a:t>
            </a:r>
          </a:p>
          <a:p>
            <a:r>
              <a:t>[1] Google — политика бюджета ошибок (Error Budget Policy) — SLI/SLO/error budget = «1 − SLO»; изменения — ≈70% всех сбоев. https://sre.google/workbook/error-budget-policy/</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Сначала — что это вообще такое. Наблюдаемость — возможность по записям системы ответить на вопрос «что у нас произошло», не переспрашивая саму систему. Для обычного сервиса такие записи отвечают, работал он или нет. Для компонента с моделью нужен другой ответ: не «ответил ли», а «насколько хорошо ответил». И вот этого система про себя не знает — измерять приходится снаружи.</a:t>
            </a:r>
          </a:p>
          <a:p>
            <a:r>
              <a:t>Складывается из трёх вещей. Первая: записывать путь ответа целиком, а не только его конец, и помечать версией всё, что на результат влияет, — саму модель, инструкцию для неё, настройки ограничителей. Без версий на разборе нельзя сказать, что изменилось, и разбор превращается в обмен догадками.</a:t>
            </a:r>
          </a:p>
          <a:p>
            <a:r>
              <a:t>Вторая: заранее договориться о быстрой косвенной метрике качества. Причина простая — правильность ответа часто выясняется поздно, а иногда никогда. Поэтому следят за тем, что видно сразу: как часто зовут живого человека, переспрашивают, отказываются отвечать. Важно выбрать признак до инцидента: иначе на первом же разборе начнётся спор, что считать ошибкой, — спор уже с результатом на руках.</a:t>
            </a:r>
          </a:p>
          <a:p>
            <a:r>
              <a:t>Третья: порог тревоги брать из собственного разброса системы, а не из чужого норматива. Одна и та же модель на один и тот же запрос отвечает по-разному, расхождение доходит до пятнадцати процентных пунктов. Порог, который этого не учитывает, либо звенит на нормальном разбросе, либо молчит на настоящей деградации.</a:t>
            </a:r>
          </a:p>
          <a:p>
            <a:r>
              <a:t>Что здесь от классики и что добавляет ИИ. Классика — сквозная трассировка по общему стандарту, она работает и тут без изменений. Новое: тот же стандарт расширили соглашениями для генеративных моделей. Только держите в уме их статус. В июне двадцать шестого их вынесли в отдельное хранилище, выпусков там до сих пор нет, каждое поле помечено как незавершённое. Инструменты их уже понимают, поэтому записи переносимы на практике — но по факту, а не по документу: опираться как на готовый стандарт рано, закладывайтесь на то, что записи придётся переразмечать. Заодно живой пример разницы между стандартом, о котором договорились, и стандартом, который просто сложился. Поверх появилась выборочная автооценка живых ответов отдельной моделью-судьёй.</a:t>
            </a:r>
          </a:p>
          <a:p>
            <a:r>
              <a:t>Граница. Записи уходят во внешний сервис — персональные данные туда нельзя. Косвенная метрика не равна качеству. Модель-судья не оракул: её согласие с человеком надо проверять отдельно. И калибровка стареет вместе с моделью.</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Второй приём короче первого, но проверяет он то, без чего первый остаётся бумагой: работает ли обнаружение на самом деле.</a:t>
            </a:r>
          </a:p>
          <a:p>
            <a:r>
              <a:t>Что это такое. То же, что учебная пожарная тревога, только для качества ответов. Раз в несколько недель систему намеренно и управляемо портят и смотрят, сработает ли обнаружение. Обратите внимание, что проверяют здесь не систему, а себя: есть ли вообще чем заметить деградацию и успеет ли кто-то на неё прийти. Приборы могут стоять, а показывают ли они — отдельный вопрос, и отвечает на него только проверка.</a:t>
            </a:r>
          </a:p>
          <a:p>
            <a:r>
              <a:t>Механизм. Ухудшили качество управляемо и по плану — измеряем четыре времени. Первое: за сколько заметили. Второе: за сколько пришёл человек, и это отдельное время, потому что тревога, на которую никто не пошёл, бесполезна. Третье: за сколько автоматика остановила происходящее сама. Четвёртое: за сколько вернули как было — именно вернули, а не начали возвращать.</a:t>
            </a:r>
          </a:p>
          <a:p>
            <a:r>
              <a:t>Поля на слайде пустые, и это намеренно: число берётся с учения, а не из инструкции. Отсюда критерий, устроенный непривычно: учение, которое не изменило ни одной инструкции, было слишком лёгким. Диагноз тот же, что у набора проверок, всегда показывающего зелёное: измеритель, который никогда не краснеет, ничего не измеряет. Учение, из которого все выходят довольными, проверяло самочувствие команды, а не систему.</a:t>
            </a:r>
          </a:p>
          <a:p>
            <a:r>
              <a:t>Что здесь от классики и что меняется. Классика — учения на отказ: гасят службу, отнимают ресурс, смотрят, поднимется ли система. Для ИИ-компонента ломать доступность бессмысленно, потому что он деградирует, оставаясь полностью доступным. Поэтому портят не доступность, а качество: подменяют инструкцию модели на заведомо более слабую, ослабляют ограничители, имитируют поток отказов.</a:t>
            </a:r>
          </a:p>
          <a:p>
            <a:r>
              <a:t>Граница честная. Учение проверяет только тот класс отказа, который вы сумели придумать заранее. Тихий дрейф, к которому мы сейчас перейдём, по кнопке не воспроизводится — его признак в том, что ничего явно не ломается. Поэтому учение дополняет наблюдение по сегментам и живой канал жалоб, а не заменяет их.</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Тихий дрейф — главный операционный урок раздела. Несколько независимых источников сходятся на одной формулировке: дрейф модели редко объявляет о себе. Модель продолжает отвечать, пользователи продолжают получать ответы, графики остаются зелёными, ничего явно не сломано — но ответы становятся чуть менее обоснованными и чуть труднее доверять. К моменту, когда команда замечает явную деградацию, она идёт уже недели, а иногда месяцы.</a:t>
            </a:r>
          </a:p>
          <a:p>
            <a:r>
              <a:t>Отдельно важно, кто замечает первым. Не метрики — самые активные пользователи. Опытный пользователь чувствует реальную регрессию даже тогда, когда усреднённые показатели улучшаются: он много работает с системой и держит в голове, как она отвечала раньше. Поэтому нужны две вещи, которых нет в обычном наборе графиков: наблюдение по сегментам, а не только по среднему, и живой канал, куда такая жалоба может прийти словами, а не цифрой.</a:t>
            </a:r>
          </a:p>
          <a:p>
            <a:r>
              <a:t>Второе — дрейф самих правил. Защитные правила обычно ставят один раз и считают защитой навсегда. Но система вокруг меняется, а правила остаются прежними, и расхождение нарастает незаметно. Опасна здесь не поломка, а ощущение защищённости при фактическом расхождении: команда думает, что закрыта, а закрытие устарело. Лечится тем, что правила ведут как код — версионируют, проверяют, пересматривают с той же строгостью, что и саму модель.</a:t>
            </a:r>
          </a:p>
          <a:p>
            <a:r>
              <a:t>Теперь доказательство, что это не теория. Klarna, май двадцать пятого. Компания публично объявила поддержку без доступа к живому человеку — и эту политику развернула. Причину назвал сам руководитель: клиенту должно быть ясно, что живой человек будет, если он его попросит. Обратите внимание на то, чего в этой истории нет: автоматизация не отменена, ИИ по-прежнему закрывает две трети обращений. Урок не в том, что ИИ не справился. Урок в том, что гарантированный путь к человеку — часть продукта, а не опция, которую восстанавливают задним числом и публично.</a:t>
            </a:r>
          </a:p>
          <a:p>
            <a:r>
              <a:t>Отсюда то, что остаётся обязательным: путь к человеку, ответственность за ответ, дисциплина разбора. Автономность ИИ их не отменила — она подняла их цену.</a:t>
            </a:r>
          </a:p>
          <a:p>
            <a:r>
              <a:t>Источники:</a:t>
            </a:r>
          </a:p>
          <a:p>
            <a:r>
              <a:t>[1] Bloomberg (8 мая 2025) — Klarna — разворот политики поддержки без доступа к человеку. https://www.bloomberg.com/news/articles/2025-05-08/klarna-turns-from-ai-to-real-person-customer-service</a:t>
            </a:r>
          </a:p>
          <a:p>
            <a:r>
              <a:t>[2] CX Dive (издание о клиентском опыте) — Klarna о возврате людей — причина словами руководителя: человек должен быть доступен, если клиент его попросит; ИИ при этом закрывает две трети обращений. https://www.customerexperiencedive.com/news/klarna-reinvests-human-talent-customer-service-AI-chatbot/747586/ Цифра быстро устаревает — сверить перед лекцией.</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Сначала — что случилось, потому что случай стоит понять целиком, прежде чем разбирать.</a:t>
            </a:r>
          </a:p>
          <a:p>
            <a:r>
              <a:t>Zillow Offers покупал дома по алгоритмической оценке и быстро перепродавал их. За третий квартал двадцать первого года сервис купил девять тысяч шестьсот восемьдесят домов, а продал всего три тысячи тридцать два. Второго ноября того же года компания объявила о закрытии сервиса. Списание запасов — триста четыре миллиона за квартал, по итогам года почти четыреста восемь. Сокращение около двух тысяч человек, это примерно четверть всего штата. Средний убыток вышел около восьмидесяти тысяч долларов на дом. Руководитель компании сказал прямо: наблюдаемая частота ошибок оказалась гораздо более изменчивой, чем компания вообще считала возможным.</a:t>
            </a:r>
          </a:p>
          <a:p>
            <a:r>
              <a:t>Теперь разбор, и главное в нём — куда этот случай отнести. Это провал эксплуатации, а не измерения. Модель была откалибрована корректно, на исторически стабильных данных, и дизайн эксперимента тут совершенно ни при чём. Не было другого: наблюдения за точностью предсказания в реальном времени и автоматической остановки при её падении. А волатильность цен сдвинула саму связь между признаками объекта и справедливой ценой — то есть модель осталась той же, а мир под ней переменился.</a:t>
            </a:r>
          </a:p>
          <a:p>
            <a:r>
              <a:t>Приложите сюда два окна наблюдения буквально. Короткого окна не было: резкий рост ошибки предсказания прошёл незамеченным в реальном времени. Длинное формально существовало — квартальная отчётность. Но с частотой раз в три месяца это не окно наблюдения, а исторический архив: к моменту публикации отчёта дома уже куплены и капитал уже вложен. Отсюда точный диагноз: не хватало именно быстрого слоя с автоматическим порогом остановки, потому что «модель ведь откалибрована» посчитали достаточной гарантией на неопределённый срок вперёд.</a:t>
            </a:r>
          </a:p>
          <a:p>
            <a:r>
              <a:t>Урок и альтернатива. Модель, которая сама распоряжается деньгами, требует наблюдения за точностью в реальном времени и порога, по которому она останавливается без участия человека. Работающая альтернатива — гибридная: алгоритмическая оценка как вход, а решение выше порога риска остаётся за человеком.</a:t>
            </a:r>
          </a:p>
          <a:p>
            <a:r>
              <a:t>Источники:</a:t>
            </a:r>
          </a:p>
          <a:p>
            <a:r>
              <a:t>[1] GeekWire (нояб. 2021) — Zillow Offers — $304-408 млн списаний, ~2000 уволенных (~25% штата), ≈$80 тыс. убытка на объект. https://www.geekwire.com/2021/ibuying-algorithms-failed-zillow-says-business-worlds-love-affair-ai/</a:t>
            </a:r>
          </a:p>
          <a:p>
            <a:r>
              <a:t>[2] Годовой отчёт Zillow Group за 2021 год (форма 10-K) — официальная финансовая отчётность, подтверждающая масштаб списаний. https://www.sec.gov/Archives/edgar/data/1617640/000161764022000013/z-20211231.htm</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Сначала обстоятельства дела. В ноябре двадцать второго года чат-бот на сайте Air Canada сообщил клиенту, что тариф по случаю утраты близкого можно оформить ретроактивно в течение девяноста дней. Действующая политика компании этого не допускала — бот сказал неправду, уверенно и в форме инструкции. Клиент купил билеты по полной цене, а в скидке ему потом отказали. В феврале двадцать четвёртого, примерно через пятнадцать месяцев после случившегося, трибунал Британской Колумбии взыскал с компании восемьсот двенадцать канадских долларов и две цента: разницу в цене, проценты и пошлину.</a:t>
            </a:r>
          </a:p>
          <a:p>
            <a:r>
              <a:t>Теперь разбор, и начнём с защиты, потому что она показательна. Air Canada заявила, что чат-бот — отдельное юридическое лицо, которое само отвечает за свои действия. Трибунал назвал это примечательным заявлением и отклонил одной фразой: компания отвечает за всю информацию на своём сайте, исходит ли она из статичной страницы или из чат-бота.</a:t>
            </a:r>
          </a:p>
          <a:p>
            <a:r>
              <a:t>Операционная причина сбоя проще, чем юридическая рамка. Не было процесса, который сверяет базу знаний бота с фактической действующей политикой. Содержимое поддержки жило отдельно от единого источника правды — это в точности тот же класс проблемы, что инструкция по реагированию, которую никто не обновил после прошлого инцидента.</a:t>
            </a:r>
          </a:p>
          <a:p>
            <a:r>
              <a:t>И отдельно про сумму, потому что она выглядит незначительной. Восемьсот двенадцать долларов — это цена двух билетов. Но именно скромность суммы делает прецедент чистым: трибунал не разбирал сложный спор о больших деньгах, он высказывался о принципе. Для инженера это переводит абстрактный вопрос «кто отвечает за вывод модели» в конкретный правовой факт.</a:t>
            </a:r>
          </a:p>
          <a:p>
            <a:r>
              <a:t>Принцип и критерий. Вы владеете каждым ответом бота — не больше, но и ни на грамм меньше ответственности, чем за любой другой контент сайта; «бот ошибся» защитой не является. Отсюда критерий готовности: если бот отвечает на вопросы с юридическими или денежными последствиями и при этом не сверяется автоматически с единым источником правды, этот процесс к автоматизации не готов. Рабочая альтернатива — обязательная ссылка на конкретный пункт политики в каждом ответе и периодическая сверка ответов бота с действующими правилами.</a:t>
            </a:r>
          </a:p>
          <a:p>
            <a:r>
              <a:t>Источники:</a:t>
            </a:r>
          </a:p>
          <a:p>
            <a:r>
              <a:t>[1] Решение трибунала Британской Колумбии по делу Моффатт против Air Canada (2024) — трибунал: компания отвечает за ответ бота как за любой другой контент сайта; $812,02 CAD (14 фев. 2024). https://www.canlii.org/en/bc/bccrt/doc/2024/2024bccrt149/2024bccrt149.html</a:t>
            </a:r>
          </a:p>
          <a:p>
            <a:r>
              <a:t>[2] Американская ассоциация юристов — комментарий к делу — юридический разбор: «bot as a separate legal entity» отклонён одной фразой. https://www.americanbar.org/groups/business_law/resources/business-law-today/2024-february/bc-tribunal-confirms-companies-remain-liable-information-provided-ai-chatbot/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Сначала обстоятельства. Город Нью-Йорк выпустил чат-бот для владельцев малого бизнеса — отвечать на вопросы о городских правилах, разрешениях, обязанностях работодателя. В марте двадцать четвёртого года расследование показало, что бот советовал работодателям забирать чаевые сотрудников и увольнять за жалобу на домогательство, а владельцам жилья — отказывать съёмщикам с жилищными сертификатами. Всё перечисленное прямо противоречит действующим нормам. И давалось это уверенно, в форме инструкции, а не предположения.</a:t>
            </a:r>
          </a:p>
          <a:p>
            <a:r>
              <a:t>Теперь главное в этом случае, и это не содержание ответов. Главное — их повторяемость: все десять из десяти журналистов, задавших вопрос, получили один и тот же неверный ответ. Задержитесь на этом, потому что здесь меняется класс события. Единичная ошибка — повод для правки, это нормальная жизнь любой системы. Десять одинаковых ответов на десять одинаковых вопросов — свойство системы, воспроизводимое по команде. Обсуждать такое как невезение прогона уже нельзя.</a:t>
            </a:r>
          </a:p>
          <a:p>
            <a:r>
              <a:t>Ровно поэтому критерий формулируется числом, а не ощущением: если сбой воспроизводится, реакция — аварийный выключатель, а не следующая итерация. И обратите внимание на то, что произошло дальше. Мэр города признал ошибки и бот с публикации не снял, хотя техническая возможность отключить его была. То есть решение продолжить итерации приняли уже после того, как воспроизводимость показали публично. Это и есть разбираемая ошибка: данные были, реакция осталась прежней.</a:t>
            </a:r>
          </a:p>
          <a:p>
            <a:r>
              <a:t>Почему важно договориться о пороге заранее. В момент, когда его надо применить, всегда есть аргумент «мы почти починили, давайте не выключать». Если порога нет заранее, этот аргумент выигрывает — не потому, что он сильный, а потому, что противоположному нечего предъявить. Порог, названный числом до инцидента, и есть то, что ему предъявляют.</a:t>
            </a:r>
          </a:p>
          <a:p>
            <a:r>
              <a:t>И соедините этот случай с предыдущим. Air Canada отвечает на вопрос, кто владеет ответом бота. Нью-Йорк отвечает на другой вопрос: что делать, когда уже известно, что ответ плохой и воспроизводится. Две половины одной ответственности.</a:t>
            </a:r>
          </a:p>
          <a:p>
            <a:r>
              <a:t>Источники:</a:t>
            </a:r>
          </a:p>
          <a:p>
            <a:r>
              <a:t>[1] The Markup (29 марта 2024) — городской чат-бот Нью-Йорка — гос-чатбот дал 10 из 10 журналистов один и тот же незаконный совет. https://themarkup.org/artificial-intelligence/2024/03/29/nycs-ai-chatbot-tells-businesses-to-break-the-law</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Последний раздел — про деньги и про решение остановиться. Пять предыдущих отвечали на вопрос, как сделать продукт хорошо. Этот отвечает на другой: стоит ли его вообще делать дальше.</a:t>
            </a:r>
          </a:p>
          <a:p>
            <a:r>
              <a:t>Вопрос не праздный. Организация ведёт не один продукт, а десятки инициатив сразу, и денег на все не хватает никогда. Если решение «продолжаем или закрываем» никто не принимает явно, инициатива не исчезает — она тихо тянется, съедая людей и бюджет, пока кто-нибудь не спохватится через год. По замеру Deloitte две тысячи двадцать шестого года сорок два процента технологических руководителей сообщают о низком или нулевом возврате вложенного в искусственный интеллект. Это не про плохие модели. Это про отсутствие момента, когда кто-то сказал «нет».</a:t>
            </a:r>
          </a:p>
          <a:p>
            <a:r>
              <a:t>У ИИ-продукта к этому добавляется вторая причина, которой у обычной программы не было. Обычную программу дорого построить и почти бесплатно обслуживать: сервер оплачен, ещё одна копия не стоит ничего. У ИИ-продукта каждое обращение пользователя — это платный вызов модели по счётчику. Стоимость не исчезает после запуска — она с запуска и начинается, и растёт вместе с успехом.</a:t>
            </a:r>
          </a:p>
          <a:p>
            <a:r>
              <a:t>Отсюда содержание раздела. Сначала — зачем эта работа существует и какое решение на ней принимают. Потом две практики: как посчитать, во что обходится один запрос, и что записать до включения пилота, чтобы потом было чем проверить результат. Дальше — где на самом деле находится узкое место и почему ответ «возьмём модель побольше» обычно неверный. И два разбора: громкая статистика провалов, которая при чтении первоисточника означает не то, что гласит заголовок, и магазин без касс, который шесть лет продавался как полностью автономный.</a:t>
            </a:r>
          </a:p>
          <a:p>
            <a:r>
              <a:t>Раздел намеренно обзорный: управлять портфелем инициатив вам, скорее всего, не завтра, и разворачивать здесь отдельную дисциплину смысла нет. А вот понимать, какое решение принимают над вашим продуктом и по каким числам, стоит уже сейчас — по одной простой причине. Числа, на которых это решение строится, приходят от вас: длина ответа, число шагов агента, доля повторных попыток, выбранная модель. Каждое из этих технических решений имеет цену, и в конце квартала именно она предъявляется.</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Зачем вообще нужна эта работа. Организация ведёт не один продукт, а десятки инициатив сразу, и денег хватает не на все — это и есть весь сюжет. Решение, которое здесь принимают, ровно одно и звучит просто: эту инициативу финансируем дальше, эту останавливаем. Вы уже видели этот выбор внутри одного продукта, когда решали судьбу отдельной функции. Здесь то же самое, но между продуктами. Ничего нового учить не нужно, и разворачивать отдельную дисциплину управления портфелем я не буду — вам важно понимать, какое решение принимают над вашей работой, а не уметь вести портфель.</a:t>
            </a:r>
          </a:p>
          <a:p>
            <a:r>
              <a:t>Что происходит, если это решение не принимать явно. Инициатива, которую никто не закрыл, не исчезает сама — она продолжает тратить людей и бюджет, не показывая результата, и это состояние может длиться годами. Два независимых замера этого года дают одну картину. Deloitte: сорок два процента технологических руководителей сообщают о низком или нулевом возврате вложенного. Boston Consulting Group, январь, две тысячи триста шестьдесят руководителей: измеримую отдачу — то есть снижение расходов или рост выручки — видят шесть процентов компаний. Шесть, не шестьдесят.</a:t>
            </a:r>
          </a:p>
          <a:p>
            <a:r>
              <a:t>Теперь то единственное, что в этой фазе для ИИ-продукта действительно новое. Обычную программу дорого построить и почти бесплатно обслуживать: сервер уже оплачен, ещё одна копия не стоит практически ничего, и вся привычная логика роста построена на этом свойстве. У ИИ-продукта свойство исчезает. Каждое обращение пользователя — это платный вызов модели по счётчику, и расходы на обслуживание растут вместе с числом пользователей, вместо того чтобы выполаживаться.</a:t>
            </a:r>
          </a:p>
          <a:p>
            <a:r>
              <a:t>Следствие из этого прямое и неприятное. Продукт, у которого один запрос обходится дороже, чем приносит, не спасается ростом: каждый новый пользователь делает убыток больше, а не меньше. Это не осторожность и не пессимизм, это арифметика — и посчитать её можно до пилота, на бумаге, за полчаса. Ровно этим мы и займёмся на следующем слайде.</a:t>
            </a:r>
          </a:p>
          <a:p>
            <a:r>
              <a:t>Источники:</a:t>
            </a:r>
          </a:p>
          <a:p>
            <a:r>
              <a:t>[1] Deloitte — исследование технологического лидерства (2026) — 42% технологических руководителей сообщают о низком или нулевом возврате вложенного в ИИ. https://www.deloitte.com/us/en/about/press-room/2026-global-technology-leadership-study-release.html</a:t>
            </a:r>
          </a:p>
          <a:p>
            <a:r>
              <a:t>[2] Boston Consulting Group — окупаемость пилотов (2026) — измеримую отдачу — снижение расходов или рост выручки — видят 6% компаний. https://www.bcg.com/publications/2026/why-ai-pilots-rarely-deliver-value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Стоимость одного обращения мы уже назвали новой переменной, но само число до сих пор брали на веру. Посчитаем.</a:t>
            </a:r>
          </a:p>
          <a:p>
            <a:r>
              <a:t>Что это за расчёт. Полстраницы на бумаге: во что обходится одно обращение пользователя и сколько оно приносит. Полчаса работы, до всякого пилота. Отвечает ровно на один вопрос — может ли продукт быть прибыльным в принципе.</a:t>
            </a:r>
          </a:p>
          <a:p>
            <a:r>
              <a:t>Складывается из четырёх вещей. Платят не за вопрос, а за объём текста, и считают его в токенах — кусочках слова, на которые модель режет текст; отдельно за входящий, отдельно за исходящий. Первое: объём туда и обратно, причём русский текст на ту же мысль занимает заметно больше английского, и платят за это тоже. Второе: сколько шагов модель делает, прежде чем ответить — промежуточные рассуждения пользователь не видит, но оплачивает их как ответ, и в агентном сценарии это часто главная статья расхода. Третье: как часто приходится переспрашивать — неудачная попытка стоит столько же, сколько удачная. Четвёртое: что удалось не пересчитывать заново, потому что повторяющаяся часть запроса читается из памяти дешевле.</a:t>
            </a:r>
          </a:p>
          <a:p>
            <a:r>
              <a:t>Что с этим делают сейчас. Без искусственного интеллекта вообще: если задачу решает обычный код, правило или поиск по базе — модель не зовут. Это самая дешёвая оптимизация из существующих, и делают её первой. С моделями: запрос направляют самой дешёвой, которая справляется, а к дорогой поднимают только непрошедшее по качеству; команды сообщают о сокращении счёта на сорок-восемьдесят пять процентов без заметной потери качества. Занимаются этим уже почти все — девяносто восемь процентов команд по управлению расходами против тридцати одного двумя годами раньше.</a:t>
            </a:r>
          </a:p>
          <a:p>
            <a:r>
              <a:t>И граница. Цена за единицу текста падает год от года, а счёт растёт: дешёвый инструмент начинают звать там, где раньше не звали. Многоагентная схема расходует примерно в пятнадцать раз больше обычного диалога — решение «пусть агенты посовещаются» имеет цену. Считать бесполезно, если не с чем сравнить: нужна цена того же результата без ИИ. И само число — ограничитель, а не цель: если давить именно его, получите короткие бесполезные ответы.</a:t>
            </a:r>
          </a:p>
          <a:p>
            <a:r>
              <a:t>Источники:</a:t>
            </a:r>
          </a:p>
          <a:p>
            <a:r>
              <a:t>[1] FinOps Foundation — рабочая группа по экономике токенов — расходами на ИИ занимаются 98% команд по управлению расходами против 31% двумя годами раньше. https://www.finops.org/wg/token-economics-saas/</a:t>
            </a:r>
          </a:p>
          <a:p>
            <a:r>
              <a:t>[2] Anthropic — инженерный разбор многоагентной системы — агент расходует примерно вчетверо, многоагентная схема — примерно в 15 раз больше токенов, чем обычный диалог. https://www.anthropic.com/engineering/multi-agent-research-system</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Абстрактное «следите за окупаемостью» бесполезно. Сделаем требование конкретным.</a:t>
            </a:r>
          </a:p>
          <a:p>
            <a:r>
              <a:t>Что это такое. Одна заранее записанная фраза с числами, по которой через несколько недель видно: продолжать или закрывать. Ближайший знакомый вам аналог — приёмочный критерий в техническом задании, только не про функциональность, а про деньги. И главное свойство: пишется до включения пилота. Число, названное после результата, объясняет результат, а не проверяет его.</a:t>
            </a:r>
          </a:p>
          <a:p>
            <a:r>
              <a:t>Как выглядит заполненная. Разбор обращений моделью снизит стоимость одного обращения с сорока двух рублей до пятнадцати, при этом удовлетворённость клиента не упадёт ниже четырёх и двух десятых из пяти, а доля обращений, переданных человеку, не превысит двадцати процентов; проверяем на пяти тысячах обращений за шесть недель; смотрит руководитель поддержки, раз в неделю. Обратите внимание, сколько разного в одной фразе: что улучшаем и с какой величины до какой, чего при этом нельзя ухудшить, на каком объёме и за какой срок, и кто смотрит.</a:t>
            </a:r>
          </a:p>
          <a:p>
            <a:r>
              <a:t>Что с этим делают сейчас. Без искусственного интеллекта это делают полвека: бизнес-кейс с порогом окупаемости и решением на контрольной точке — аппарат готовый, изобретать заново нечего. С моделями меняется ровно одно: ритм. Расход меняется каждый день, а не раз в квартал, поэтому и смотрят еженедельно. А на практике происходит другое: компании меряют активность — сэкономленные часы, автоматизированные задачи — вместо денег в отчёте о прибылях и убытках. Отсюда и разрыв: вкладываются почти все, а измеримую отдачу видят шесть процентов.</a:t>
            </a:r>
          </a:p>
          <a:p>
            <a:r>
              <a:t>Три границы. Исходную величину меряют на своём процессе, а не берут из обещания поставщика: чужая цифра описывает чужой процесс, и разница между ними и есть то, ради чего затевался пилот. Если среди возможных исходов нет «закрываем» — это не критерий, а намерение: порог, который нельзя не взять, разрешения не даёт. И числа, появившиеся после включения, — объяснение результата, поэтому дату записи и имя проверяют раньше самих чисел.</a:t>
            </a:r>
          </a:p>
          <a:p>
            <a:r>
              <a:t>Источники:</a:t>
            </a:r>
          </a:p>
          <a:p>
            <a:r>
              <a:t>[1] Boston Consulting Group — окупаемость пилотов (2026) — компании меряют активность — сэкономленные часы, автоматизированные задачи — вместо денег в отчёте о прибылях и убытках. https://www.bcg.com/publications/2026/why-ai-pilots-rarely-deliver-value</a:t>
            </a:r>
          </a:p>
          <a:p>
            <a:r>
              <a:t>[2] Boston Consulting Group — ежегодный обзор ИИ (январь 2026, 2 360 руководителей) — вкладываются почти все: 94% продолжат вкладывать даже без немедленной отдачи. https://www.bcg.com/press/15january2026-as-ai-investments-surge-ceos-take-lead</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Этот слайд нужен ради одного практического вывода, и я его сразу назову: когда ИИ-инициатива буксует, инженерный рефлекс — «наверное, нужна модель посильнее». Данные говорят, что этот рефлекс почти всегда уводит не туда.</a:t>
            </a:r>
          </a:p>
          <a:p>
            <a:r>
              <a:t>Три источника, разная методология, один результат. Deloitte в этом году опросил больше шестисот шестидесяти руководителей и получил внутреннее противоречие прямо внутри одной анкеты: восемьдесят один процент уверены, что смогут масштабировать искусственный интеллект, и одновременно семьдесят пять процентов говорят, что операционная модель для этого обязана фундаментально измениться. Сорок два процента при этом сообщают о низком или нулевом возврате вложенного. То есть уверенность высокая, а готовность — нет, и этот разрыв люди видят в себе сами.</a:t>
            </a:r>
          </a:p>
          <a:p>
            <a:r>
              <a:t>Gartner даёт прогноз и именованный риск: более сорока процентов агентных проектов закроют до конца двадцать седьмого года, и причины в списке управленческие — расходы, неясная ценность, слабый контроль рисков, а не качество моделей. Отдельно стоит их же оценка рынка: из тысяч поставщиков, называющих свой продукт агентным, реально агентных около ста тридцати. Переименовать существующего чат-бота в «агента» дешевле, чем его построить.</a:t>
            </a:r>
          </a:p>
          <a:p>
            <a:r>
              <a:t>Boston Consulting Group разбирает ту же картину по долям вклада: десять процентов ценности даёт алгоритм, двадцать — данные и техника, семьдесят — люди и процессы вокруг. Для инженера это неприятная, но полезная пропорция: та часть, которой вы управляете напрямую и в которой вы сильнее всего, — это первые десять процентов.</a:t>
            </a:r>
          </a:p>
          <a:p>
            <a:r>
              <a:t>Что с этим делать. Если инициатива не даёт результата, первый вопрос — не про размер модели, а простой: назван ли у неё владелец, есть ли записанное число, по которому судят, и срок, к которому судят. Ровно эту мысль подтверждают оба следующих разбора: в первом громкая статистика провалов оказывается статистикой отсутствия измерений, во втором — заявление об автономности, которое никто не сверял с собственной целью компании.</a:t>
            </a:r>
          </a:p>
          <a:p>
            <a:r>
              <a:t>Источники:</a:t>
            </a:r>
          </a:p>
          <a:p>
            <a:r>
              <a:t>[1] Deloitte — исследование технологического лидерства (2026) — более 660 руководителей: 81% уверены, что масштабируют ИИ, и при этом 75% говорят, что операционная модель обязана измениться; 42% — низкий или нулевой возврат вложенного. https://www.deloitte.com/us/en/about/press-room/2026-global-technology-leadership-study-release.html</a:t>
            </a:r>
          </a:p>
          <a:p>
            <a:r>
              <a:t>[2] Gartner — прогноз по агентным проектам — более 40% агентных проектов закроют до конца 2027 года: расходы, неясная ценность, слабый контроль рисков; реально агентных поставщиков около 130 из тысяч. https://www.gartner.com/en/newsroom/press-releases/2025-06-25-gartner-predicts-over-40-percent-of-agentic-ai-projects-will-be-canceled-by-end-of-2027</a:t>
            </a:r>
          </a:p>
          <a:p>
            <a:r>
              <a:t>[3] Boston Consulting Group — окупаемость пилотов (2026) — доли вклада в результат: 10% алгоритм, 20% данные и техника, 70% люди и процессы. https://www.bcg.com/publications/2026/why-ai-pilots-rarely-deliver-value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Вернёмся к отчёту, с которого началась лекция. Что произошло: в июле прошлого года исследовательская группа Массачусетского технологического института выложила предварительный отчёт о состоянии искусственного интеллекта в бизнесе — версия ноль-один, без научного рецензирования. Основание: пятьдесят два интервью с руководителями, сто пятьдесят три анкеты и обзор трёхсот публичных внедрений. В заголовки ушла одна строка: девяносто пять процентов корпоративных пилотов не дали измеримого эффекта на прибыль при тридцати-сорока миллиардах долларов вложений. За месяц цифру перепечатали деловые издания по всему миру.</a:t>
            </a:r>
          </a:p>
          <a:p>
            <a:r>
              <a:t>Теперь откроем сам отчёт. Воронка там такая: шестьдесят процентов организаций изучали тему, двадцать процентов дошли до пилота, пять процентов довели решение до промышленной эксплуатации. Успех среди дошедших до пилота — пять из двадцати, то есть двадцать пять процентов. Заголовок и данные говорят разное, и разницу делает один вопрос: от чего считаем. Добавлю второе, менее заметное: единица измерения в этом отчёте — мнение руководителя о том, сработал ли пилот, а не финансовый результат пилота. Это интервью, а не бухгалтерия.</a:t>
            </a:r>
          </a:p>
          <a:p>
            <a:r>
              <a:t>Отсюда переносимый навык — четыре вопроса, которые работают на любой громкой цифре. Первый: каков знаменатель. Девяносто пять процентов от всех организаций, включая никогда всерьёз не пилотировавших, — другое утверждение, чем девяносто пять процентов от пилотов. Второй: что засчитано провалом. «Не окупилось в срок», «заброшено» и «работает, но не приносит ценности» — три разных события, которые заголовок сливает в одно. Третий: конфликт интересов. Здесь он есть и не раскрыт: все четыре автора строят и продают агентные продукты. Четвёртый: прослеживается ли цифра до первоисточника с описанной методикой или она кочует из статьи в статью, приобретая по дороге ложную точность.</a:t>
            </a:r>
          </a:p>
          <a:p>
            <a:r>
              <a:t>И вывод, ради которого случай стоит в разделе про управление. Независимый замер января этого года: измеримую отдачу видят шесть процентов компаний, а большинство меряет активность — сэкономленные часы, автоматизированные задачи — вместо денег. Это не «модели плохи». Это отсутствие линейки.</a:t>
            </a:r>
          </a:p>
          <a:p>
            <a:r>
              <a:t>Источники:</a:t>
            </a:r>
          </a:p>
          <a:p>
            <a:r>
              <a:t>[1] MIT — отчёт о состоянии ИИ (июль 2025) — нерецензированный препринт: воронка 60% → 20% → 5% — это 25% успеха среди дошедших до пилота, а не «95% провала». https://mlq.ai/media/quarterly_decks/v0.1_State_of_AI_in_Business_2025_Report.pdf</a:t>
            </a:r>
          </a:p>
          <a:p>
            <a:r>
              <a:t>[2] Fortune — как разошёлся заголовок — цифра «95% провала» перепечатывалась без проверки знаменателя. https://fortune.com/2025/08/18/mit-report-95-percent-generative-ai-pilots-at-companies-failing-cfo/</a:t>
            </a:r>
          </a:p>
          <a:p>
            <a:r>
              <a:t>[3] NewMR — разбор мифа — конфликт интересов авторов и подмена знаменателя при цитировании. https://newmr.org/blog/myth-number-2-mit-showed-that-95-of-ai-pilots-fail/</a:t>
            </a:r>
          </a:p>
          <a:p>
            <a:r>
              <a:t>[4] Boston Consulting Group — окупаемость пилотов (2026) — измеримую отдачу видят 6% компаний; большинство меряет активность, а не деньги. https://www.bcg.com/publications/2026/why-ai-pilots-rarely-deliver-value</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Что произошло. С две тысячи восемнадцатого года Amazon открывал магазины без касс: берёшь товар с полки и выходишь, деньги списываются сами. Технологию продавали как чистое компьютерное зрение — камеры и датчики сами понимают, что ты взял. В апреле двадцать четвёртого журналисты выяснили другое: больше тысячи человек в Индии просматривали видеозаписи и вручную размечали покупки, которые система не смогла распознать сама.</a:t>
            </a:r>
          </a:p>
          <a:p>
            <a:r>
              <a:t>Дальше начинается самое полезное, и оно про то, как читать такие заявления. Сам факт участия людей — не разоблачение: они размечали записи постфактум, а не следили за покупателями вживую, и на этом основании компания формально возразила верно. Поэтому правильный вопрос не «были ли там люди» — люди в контуре нормальны и часто правильны. Правильный вопрос: насколько фактическое вмешательство разошлось с собственной заявленной целью компании. И здесь ответ измерен — семьсот из тысячи покупок требовали ручной проверки при внутренней цели пятьдесят из тысячи. Четырнадцатикратное превышение собственного порога. Обратите внимание на конструкцию: линейку задала сама компания, поэтому нам не нужно ни внешнего стандарта автономности, ни спора о значении слова. Тот же приём, что четыре вопроса на предыдущем слайде: не оценивать формулировку, а найти число.</a:t>
            </a:r>
          </a:p>
          <a:p>
            <a:r>
              <a:t>Чем кончилось — и это самая полезная часть. Из больших продуктовых магазинов технологию убрали ещё в двадцать четвёртом, а в январе этого года Amazon закрыл и сами сети Go и Fresh. Но технология не умерла: она переехала туда, где ассортимент маленький и предсказуемый — больше трёхсот шестидесяти сторонних точек в пяти странах, стадионы, больницы, университеты, аэропорты. Где и это оказалось сложно, компьютерное зрение заменили радиочастотными метками: дешёвое, полностью предсказуемое решение без всякого ИИ. А в больших магазинах место заняла тележка со сканером, где товар отмечает сам покупатель.</a:t>
            </a:r>
          </a:p>
          <a:p>
            <a:r>
              <a:t>Вот это и есть взрослый финал. Признать нишу неподходящей и взять инструмент проще — не поражение, а нормальный инженерный ход. Amazon сделал оба: снизил обещание и сменил инструмент там, где обещание не держалось.</a:t>
            </a:r>
          </a:p>
          <a:p>
            <a:r>
              <a:t>Источники:</a:t>
            </a:r>
          </a:p>
          <a:p>
            <a:r>
              <a:t>[1] Business Standard (апр. 2024) — магазины без касс — 700 из 1000 покупок требовали ручной проверки работниками в Индии — против собственной цели 50 из 1000. https://www.business-standard.com/companies/news/amazon-s-just-walk-out-checkout-tech-was-powered-by-1-000-indian-workers-124040400463_1.html</a:t>
            </a:r>
          </a:p>
          <a:p>
            <a:r>
              <a:t>[2] Retail Dive — демонтаж технологии в продуктовых магазинах — технология снята с магазинов Amazon Fresh: 27 из 44 теряют функцию. https://www.retaildive.com/news/amazon-removes-just-walk-out-tech-amazon-fresh-stores-dash-carts/712150</a:t>
            </a:r>
          </a:p>
          <a:p>
            <a:r>
              <a:t>[3] Amazon — о планах по Just Walk Out и Dash Cart (2026) — 360+ сторонних точек в пяти странах; радиочастотные метки как замена компьютерному зрению; свои сети Go и Fresh закрываются. Число точек растёт — сверить перед показом. https://www.aboutamazon.com/news/retail/amazon-just-walk-out-dash-cart-grocery-shopping-checkout-stores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Раздел седьмой замыкает лекцию. Он нужен не для того, чтобы повторить пройденное: повторение ничего не добавляет, а времени стоит. Он нужен потому, что в лекции мы шесть раз решали одну и ту же задачу по частям, а на работе она приходит целиком. Заказчик не говорит «у меня вопрос по фазе измерения» — он говорит «мы хотим, чтобы модель отвечала клиентам сама». Чтобы ответить на такое, нужен инструмент, который работает на любой фазе и на случае, которого вы раньше не видели.</a:t>
            </a:r>
          </a:p>
          <a:p>
            <a:r>
              <a:t>За лекцию мы прошли исследование, дизайн, сборку и запуск, измерение, поддержку и управление. На каждой фазе повторялась одна структура: есть классическая дисциплина, есть конкретная работа, которую искусственный интеллект удешевил, есть характерный для этой фазы способ подвести и есть точка, где решение не передаётся инструменту. Пока эти четыре вещи названы шесть раз по отдельности, они остаются шестью историями. Собранные в один экран, они становятся аппаратом, которым можно пользоваться.</a:t>
            </a:r>
          </a:p>
          <a:p>
            <a:r>
              <a:t>Дальше в разделе два инструмента. Первый — сводная таблица: шесть строк-фаз против четырёх столбцов, где каждая клетка выведена из уже разобранного материала, а не назначена задним числом. Спорить с любой её строкой можно только споря с соответствующим разделом лекции. Второй — три оси: обратимость, цена ошибки и наблюдаемость. Они дают режим работы фазы одним правилом и проверяются на двух случаях, которые мы уже разбирали, — чтобы было видно, что инструмент работает, а не объявлен работающим. Обратите внимание на порядок: сначала таблица отвечает на вопрос «что вообще происходит на этой фазе», и только потом три оси отвечают на вопрос «какой режим здесь допустим». Перепутать порядок легко, и тогда решение о степени самостоятельности принимается раньше, чем понята природа фазы.</a:t>
            </a:r>
          </a:p>
          <a:p>
            <a:r>
              <a:t>Закрывает раздел мост в две стороны: к семинару, где вы пройдёте ту же петлю на своей учебной задаче, и к следующей лекции, где тот же метод встретится на материале с более высокой ценой физической ошибки. Одна мысль на весь раздел: дальше не будет новых фактов — будет способ применить уже известные.</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Перед вами вся лекция на одном экране. Строки — шесть фаз в том порядке, в котором мы их проходили. Столбцы — не сила искусственного интеллекта и не имя продукта, а четыре вещи, которые на каждой фазе оказались устойчивыми.</a:t>
            </a:r>
          </a:p>
          <a:p>
            <a:r>
              <a:t>Ведущая дисциплина — та классическая практика, которая держит намерение и делает фазу надёжной; она старше любого из сегодняшних инструментов. Что удешевил ИИ — конкретная работа, стоимость которой упала измеримо, а не «всё стало быстрее». Режим отказа — характерный для этой фазы способ подвести: на исследовании это угодливость, на дизайне однообразие, на сборке пропущенный рубеж, на измерении взломанная косвенная метрика, на поддержке тихий дрейф под хорошим средним, на управлении статистика без знаменателя. И последний столбец, выделенный золотом, — точка, которая не передаётся инструменту независимо от того, насколько он улучшится в следующем поколении.</a:t>
            </a:r>
          </a:p>
          <a:p>
            <a:r>
              <a:t>Отдельного столбца с названиями продуктов здесь нет намеренно. Названия мы проговорили в разделах, и они сменяемы: к следующему семестру половина списка изменится. Устойчиво не название, а дисциплина, характерный отказ и точка человека — они держатся на природе сложности и цене ошибки фазы, а не на чьём-то продукте.</a:t>
            </a:r>
          </a:p>
          <a:p>
            <a:r>
              <a:t>Цифр в таблице тоже нет. Каждая цифра, которую мы называли, стоит в своём разделе рядом со своей базой сравнения, и вырванная оттуда в клетку она перестаёт что-либо значить. Таблица держит структуру.</a:t>
            </a:r>
          </a:p>
          <a:p>
            <a:r>
              <a:t>Легитимность матрицы не в том, что она компактна, а в том, что каждая клетка выведена из уже разобранного. Строку про исследование нельзя оспорить, не оспорив соответствующий раздел. Это упаковка доказанного, а не новое утверждение, которое надо принимать на веру.</a:t>
            </a:r>
          </a:p>
          <a:p>
            <a:r>
              <a:t>Пользоваться ею так: получив задачу, сначала назовите её фазу. Дальше строка отвечает по порядку — какую дисциплину держать, чем здесь помогает ИИ, какой отказ стеречь и что остаётся за человеком. Провалы, разобранные сегодня, — это прогоны через эту таблицу; следующий такой случай вы должны прогнать сами.</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Таблица с предыдущего слайда хороша как карта, но решение по конкретной задаче принимают не по карте. Для этого нужен инструмент компактнее — три оси, которые по отдельности всплывали почти в каждом разделе, а здесь впервые собраны вместе.</a:t>
            </a:r>
          </a:p>
          <a:p>
            <a:r>
              <a:t>Обратимость — насколько легко откатить последствие, если вывод окажется неверным. Низкая у удаления данных в работающей системе или у публичного обещания клиенту, высокая у черновика, который ещё никто не видел. Цена ошибки — деньги, репутация, здоровье, юридическая ответственность. Наблюдаемость — насколько быстро и надёжно вы узнаете, что вывод неверен, прежде чем вред накопится: высокая там, где есть метрика-ограничитель, низкая там, где плохое прячется под хорошим средним.</a:t>
            </a:r>
          </a:p>
          <a:p>
            <a:r>
              <a:t>Правило одно. Отдать фазу без дополнительного рубежа с человеком оправдано только тогда, когда высокая обратимость, низкая цена ошибки и высокая наблюдаемость сходятся одновременно. Любая другая комбинация требует рубежа, и рубеж выбирается по проблемной оси, а не по общему ощущению тревоги. Поэтому на каждой карточке написано, чего именно требует эта ось, когда она в проблемном положении: низкая обратимость требует постепенности и обратного пути, высокая цена ошибки требует названного владельца и границы для регулируемых данных, низкая наблюдаемость требует эталонного набора и метрики-ограничителя раньше, чем вы начнёте доверять средним числам.</a:t>
            </a:r>
          </a:p>
          <a:p>
            <a:r>
              <a:t>Проверим на двух случаях, которые мы разбирали. Поисковые ответы, раскатанные сразу на всех: обратимость низкая, потому что ошибку увидели все одновременно; цена высокая, потому что совет оказался вирусным и опасным. Наблюдаемость могла быть высокой — канареечный выпуск её давал, — но его пропустили. Проблемная ось одна, обратимость, и мера по ней возвращает заодно и наблюдаемость.</a:t>
            </a:r>
          </a:p>
          <a:p>
            <a:r>
              <a:t>Второй случай — закупка домов по прогнозу модели. Обратимость минимальная: купленный дом не отменить. Цена максимальная: при убытке около восьмидесяти тысяч долларов на дом списания в триста четыре — четыреста восемь миллионов покрывают примерно от трёх тысяч восьмисот до пяти тысяч ста домов из девяти тысяч шестисот восьмидесяти, купленных за квартал. Наблюдаемость низкая не по природе задачи, а по конструкции контроля — квартальный отчёт вместо проверки в реальном времени. Все три оси в проблемном положении, и ни на одной не стояло рубежа.</a:t>
            </a:r>
          </a:p>
          <a:p>
            <a:r>
              <a:t>И главное: ни одна ось не запрещает применять искусственный интеллект. Каждая называет, что должно стоять рядом.</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Свернём лекцию в одну мысль. Мы начали с парадокса: сборка почти бесплатна, а ценность извлекают немногие. Прошли шесть фаз, и на каждой нашли одно и то же в новой обёртке — искусственный интеллект меняет стоимость и степень доверия к каждому шагу по-разному, но не меняет сам порядок шагов. Когда сборка подешевела почти до нуля, дефицитным стало не умение построить, а умение отличить настоящий сигнал от шума и удержать намерение и ответственность на человеке.</a:t>
            </a:r>
          </a:p>
          <a:p>
            <a:r>
              <a:t>Посмотрите на фотографию. Это инженер за рабочей станцией автоматизированного проектирования, конец семидесятых, световое перо вместо мыши. Ни этой станции, ни этого пера, ни самой компании больше нет. А дисциплина проектирования, которой он занимался, есть — и вы будете ей заниматься. Это и есть ответ на вопрос, что в этой лекции стоит запоминать: не список продуктов, половина которого изменится к следующему семестру, а способ рассуждения.</a:t>
            </a:r>
          </a:p>
          <a:p>
            <a:r>
              <a:t>Способ такой. Разложить деятельность на фазы с их входами и выходами. На каждой спросить, что именно подешевело, а что нет. Для любого измеримого заявления потребовать базу сравнения, а не ощущение. И применить три оси — обратимость, цену ошибки, наблюдаемость, — чтобы назначить режим работы фазы. Лекция четвёртая говорила то же самое про код; здесь мы проделали это с продуктом целиком.</a:t>
            </a:r>
          </a:p>
          <a:p>
            <a:r>
              <a:t>Семинар седьмой — место полного применения. Вы пройдёте ту же петлю на учебном продукте, от гипотезы до точки, где ответ уходит человеку, и для каждой фазы назовёте строку таблицы и положение на трёх осях.</a:t>
            </a:r>
          </a:p>
          <a:p>
            <a:r>
              <a:t>Лекция шестая переносит метод в инженерное проектирование. Там будет своя петля фаз и свои провалы, но центральный вопрос останется тем же: что подешевело, что осталось человеческим суждением и где заявленная самостоятельность не выдерживает проверки знаменателем. Разница в том, что ошибка там материализуется в металле, а не в интерфейсе, и цена её выше.</a:t>
            </a:r>
          </a:p>
          <a:p>
            <a:r>
              <a:t>Готов к вопросам.</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jpg"/><Relationship Id="rId5" Type="http://schemas.openxmlformats.org/officeDocument/2006/relationships/hyperlink" Target="https://resources.anthropic.com/2026-agentic-coding-trends-report" TargetMode="External"/><Relationship Id="rId6" Type="http://schemas.openxmlformats.org/officeDocument/2006/relationships/hyperlink" Target="https://mlq.ai/media/quarterly_decks/v0.1_State_of_AI_in_Business_2025_Report.pdf" TargetMode="Externa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hyperlink" Target="https://innovation.ucsd.edu/startup/startup-toolkit/Steve-Blank-CustDev.pdf" TargetMode="Externa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10.png"/><Relationship Id="rId4" Type="http://schemas.openxmlformats.org/officeDocument/2006/relationships/image" Target="../media/image21.png"/><Relationship Id="rId5" Type="http://schemas.openxmlformats.org/officeDocument/2006/relationships/hyperlink" Target="https://www.secondtalent.com/resources/perplexity-deep-research-review/" TargetMode="External"/><Relationship Id="rId6" Type="http://schemas.openxmlformats.org/officeDocument/2006/relationships/hyperlink" Target="https://www.userinterviews.com/state-of-synthetic-users-report" TargetMode="External"/><Relationship Id="rId7" Type="http://schemas.openxmlformats.org/officeDocument/2006/relationships/hyperlink" Target="https://arxiv.org/abs/2604.03173" TargetMode="External"/><Relationship Id="rId8" Type="http://schemas.openxmlformats.org/officeDocument/2006/relationships/hyperlink" Target="https://fortune.com/2025/10/07/deloitte-ai-australia-government-report-hallucinations-technology-290000-refund" TargetMode="Externa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hyperlink" Target="https://cieden.com/podcast/teresa-torres-on-continuous-discovery-in-b2b-and-ai" TargetMode="Externa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32.png"/><Relationship Id="rId6" Type="http://schemas.openxmlformats.org/officeDocument/2006/relationships/hyperlink" Target="https://www.nngroup.com/articles/synthetic-users/" TargetMode="Externa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23.png"/><Relationship Id="rId6" Type="http://schemas.openxmlformats.org/officeDocument/2006/relationships/hyperlink" Target="https://www.statnews.com/2018/07/25/ibm-watson-recommended-unsafe-incorrect-treatments/" TargetMode="External"/><Relationship Id="rId7" Type="http://schemas.openxmlformats.org/officeDocument/2006/relationships/hyperlink" Target="https://spectrum.ieee.org/how-ibm-watson-overpromised-and-underdelivered-on-ai-health-care" TargetMode="Externa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hyperlink" Target="https://www.designcouncil.org.uk/resources/the-double-diamond/" TargetMode="External"/><Relationship Id="rId6" Type="http://schemas.openxmlformats.org/officeDocument/2006/relationships/hyperlink" Target="https://blog.uxtweak.com/usability-heuristics/" TargetMode="Externa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figma.com/resource-library/ai-design-tools/" TargetMode="External"/><Relationship Id="rId3" Type="http://schemas.openxmlformats.org/officeDocument/2006/relationships/hyperlink" Target="https://www.banani.co/blog/galileo-ai-features-and-alternatives" TargetMode="External"/><Relationship Id="rId4" Type="http://schemas.openxmlformats.org/officeDocument/2006/relationships/hyperlink" Target="https://arxiv.org/abs/2609.26725" TargetMode="Externa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image" Target="../media/image39.png"/><Relationship Id="rId4" Type="http://schemas.openxmlformats.org/officeDocument/2006/relationships/image" Target="../media/image40.png"/><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hyperlink" Target="https://dl.acm.org/doi/10.1145/3800424.3800430" TargetMode="Externa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hyperlink" Target="https://www.washingtonpost.com/nation/2024/10/24/character-ai-lawsuit-suicide/" TargetMode="External"/><Relationship Id="rId4" Type="http://schemas.openxmlformats.org/officeDocument/2006/relationships/hyperlink" Target="https://www.cbsnews.com/news/google-settle-lawsuit-florida-teens-suicide-character-ai-chatbot/" TargetMode="External"/><Relationship Id="rId5" Type="http://schemas.openxmlformats.org/officeDocument/2006/relationships/hyperlink" Target="https://blog.character.ai/u18-chat-announcement/" TargetMode="Externa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jp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44.png"/><Relationship Id="rId4" Type="http://schemas.openxmlformats.org/officeDocument/2006/relationships/image" Target="../media/image2.png"/><Relationship Id="rId5" Type="http://schemas.openxmlformats.org/officeDocument/2006/relationships/image" Target="../media/image45.png"/><Relationship Id="rId6" Type="http://schemas.openxmlformats.org/officeDocument/2006/relationships/hyperlink" Target="https://effectivesoftwaredesign.com/2021/03/23/lean-startup-principles-vanity-metrics-and-actionable-metrics/" TargetMode="External"/><Relationship Id="rId7" Type="http://schemas.openxmlformats.org/officeDocument/2006/relationships/hyperlink" Target="https://www.stage-gate.com/about/our-story-2/" TargetMode="Externa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laude.com/blog/code-review" TargetMode="Externa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ddyo.substack.com/p/the-70-problem-hard-truths-about-ai-assisted-coding" TargetMode="Externa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hyperlink" Target="https://www.forbes.com/sites/roberthart/2024/05/31/google-restricts-ai-search-tool-after-nonsensical-answers-told-people-to-eat-rocks-and-put-glue-on-pizza/" TargetMode="External"/><Relationship Id="rId4" Type="http://schemas.openxmlformats.org/officeDocument/2006/relationships/hyperlink" Target="https://www.androidpolice.com/google-pizza-glue-loop-ai-overviews/" TargetMode="Externa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hyperlink" Target="https://www.cnbc.com/2024/06/17/mcdonalds-to-end-ibm-ai-drive-thru-test.html" TargetMode="External"/><Relationship Id="rId4" Type="http://schemas.openxmlformats.org/officeDocument/2006/relationships/hyperlink" Target="https://www.nrn.com/quick-service/mcdonald-s-is-ending-its-ai-drive-thru-test-with-ibm" TargetMode="Externa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jp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image" Target="../media/image22.png"/><Relationship Id="rId4" Type="http://schemas.openxmlformats.org/officeDocument/2006/relationships/image" Target="../media/image50.png"/><Relationship Id="rId5" Type="http://schemas.openxmlformats.org/officeDocument/2006/relationships/hyperlink" Target="https://www.linkedin.com/pulse/overall-evaluation-criterion-oec-ronny-kohavi" TargetMode="External"/><Relationship Id="rId6" Type="http://schemas.openxmlformats.org/officeDocument/2006/relationships/hyperlink" Target="https://en.wikipedia.org/wiki/A/B_testing" TargetMode="External"/><Relationship Id="rId7"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eepmind.google/blog/specification-gaming-the-flip-side-of-ai-ingenuity/" TargetMode="External"/><Relationship Id="rId3" Type="http://schemas.openxmlformats.org/officeDocument/2006/relationships/hyperlink" Target="https://arxiv.org/abs/2406.10162" TargetMode="Externa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hyperlink" Target="https://www.techdirt.com/2021/10/28/let-me-rewrite-that-you-washington-post-misinforms-you-about-how-facebook-weighted-emoji-reactions/" TargetMode="External"/><Relationship Id="rId4" Type="http://schemas.openxmlformats.org/officeDocument/2006/relationships/hyperlink" Target="https://docs.house.gov/meetings/IF/IF16/20211201/114268/HHRG-117-IF16-20211201-SD012.pdf" TargetMode="External"/><Relationship Id="rId5"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nature.com/articles/s41591-024-03423-7" TargetMode="External"/><Relationship Id="rId3" Type="http://schemas.openxmlformats.org/officeDocument/2006/relationships/hyperlink" Target="https://en.wikipedia.org/wiki/Mata_v._Avianca,_Inc." TargetMode="External"/><Relationship Id="rId4" Type="http://schemas.openxmlformats.org/officeDocument/2006/relationships/hyperlink" Target="https://onlinelibrary.wiley.com/doi/full/10.1111/jels.12413" TargetMode="External"/><Relationship Id="rId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jp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sre.google/workbook/error-budget-policy/" TargetMode="Externa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jpg"/><Relationship Id="rId3" Type="http://schemas.openxmlformats.org/officeDocument/2006/relationships/image" Target="../media/image54.png"/><Relationship Id="rId4" Type="http://schemas.openxmlformats.org/officeDocument/2006/relationships/hyperlink" Target="https://www.bloomberg.com/news/articles/2025-05-08/klarna-turns-from-ai-to-real-person-customer-service" TargetMode="External"/><Relationship Id="rId5" Type="http://schemas.openxmlformats.org/officeDocument/2006/relationships/hyperlink" Target="https://www.customerexperiencedive.com/news/klarna-reinvests-human-talent-customer-service-AI-chatbot/747586/" TargetMode="External"/><Relationship Id="rId6"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png"/><Relationship Id="rId3" Type="http://schemas.openxmlformats.org/officeDocument/2006/relationships/image" Target="../media/image56.png"/><Relationship Id="rId4" Type="http://schemas.openxmlformats.org/officeDocument/2006/relationships/hyperlink" Target="https://www.geekwire.com/2021/ibuying-algorithms-failed-zillow-says-business-worlds-love-affair-ai/" TargetMode="External"/><Relationship Id="rId5" Type="http://schemas.openxmlformats.org/officeDocument/2006/relationships/hyperlink" Target="https://www.sec.gov/Archives/edgar/data/1617640/000161764022000013/z-20211231.htm" TargetMode="External"/><Relationship Id="rId6"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canlii.org/en/bc/bccrt/doc/2024/2024bccrt149/2024bccrt149.html" TargetMode="External"/><Relationship Id="rId3" Type="http://schemas.openxmlformats.org/officeDocument/2006/relationships/hyperlink" Target="https://www.americanbar.org/groups/business_law/resources/business-law-today/2024-february/bc-tribunal-confirms-companies-remain-liable-information-provided-ai-chatbot/" TargetMode="Externa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 Id="rId3" Type="http://schemas.openxmlformats.org/officeDocument/2006/relationships/image" Target="../media/image58.png"/><Relationship Id="rId4" Type="http://schemas.openxmlformats.org/officeDocument/2006/relationships/hyperlink" Target="https://themarkup.org/artificial-intelligence/2024/03/29/nycs-ai-chatbot-tells-businesses-to-break-the-law" TargetMode="External"/><Relationship Id="rId5"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jp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deloitte.com/us/en/about/press-room/2026-global-technology-leadership-study-release.html" TargetMode="External"/><Relationship Id="rId3" Type="http://schemas.openxmlformats.org/officeDocument/2006/relationships/hyperlink" Target="https://www.bcg.com/publications/2026/why-ai-pilots-rarely-deliver-value" TargetMode="Externa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deloitte.com/us/en/about/press-room/2026-global-technology-leadership-study-release.html" TargetMode="External"/><Relationship Id="rId3" Type="http://schemas.openxmlformats.org/officeDocument/2006/relationships/hyperlink" Target="https://www.gartner.com/en/newsroom/press-releases/2025-06-25-gartner-predicts-over-40-percent-of-agentic-ai-projects-will-be-canceled-by-end-of-2027" TargetMode="External"/><Relationship Id="rId4" Type="http://schemas.openxmlformats.org/officeDocument/2006/relationships/hyperlink" Target="https://www.bcg.com/publications/2026/why-ai-pilots-rarely-deliver-value" TargetMode="External"/><Relationship Id="rId5"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jpg"/><Relationship Id="rId3" Type="http://schemas.openxmlformats.org/officeDocument/2006/relationships/image" Target="../media/image62.png"/><Relationship Id="rId4" Type="http://schemas.openxmlformats.org/officeDocument/2006/relationships/hyperlink" Target="https://mlq.ai/media/quarterly_decks/v0.1_State_of_AI_in_Business_2025_Report.pdf" TargetMode="External"/><Relationship Id="rId5" Type="http://schemas.openxmlformats.org/officeDocument/2006/relationships/hyperlink" Target="https://fortune.com/2025/08/18/mit-report-95-percent-generative-ai-pilots-at-companies-failing-cfo/" TargetMode="External"/><Relationship Id="rId6" Type="http://schemas.openxmlformats.org/officeDocument/2006/relationships/hyperlink" Target="https://newmr.org/blog/myth-number-2-mit-showed-that-95-of-ai-pilots-fail/" TargetMode="External"/><Relationship Id="rId7" Type="http://schemas.openxmlformats.org/officeDocument/2006/relationships/hyperlink" Target="https://www.bcg.com/publications/2026/why-ai-pilots-rarely-deliver-value" TargetMode="External"/><Relationship Id="rId8"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3.jpg"/><Relationship Id="rId3" Type="http://schemas.openxmlformats.org/officeDocument/2006/relationships/image" Target="../media/image64.png"/><Relationship Id="rId4" Type="http://schemas.openxmlformats.org/officeDocument/2006/relationships/hyperlink" Target="https://www.business-standard.com/companies/news/amazon-s-just-walk-out-checkout-tech-was-powered-by-1-000-indian-workers-124040400463_1.html" TargetMode="External"/><Relationship Id="rId5" Type="http://schemas.openxmlformats.org/officeDocument/2006/relationships/hyperlink" Target="https://www.retaildive.com/news/amazon-removes-just-walk-out-tech-amazon-fresh-stores-dash-carts/712150" TargetMode="External"/><Relationship Id="rId6" Type="http://schemas.openxmlformats.org/officeDocument/2006/relationships/hyperlink" Target="https://www.aboutamazon.com/news/retail/amazon-just-walk-out-dash-cart-grocery-shopping-checkout-stores" TargetMode="External"/><Relationship Id="rId7"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5.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66.png"/><Relationship Id="rId6" Type="http://schemas.openxmlformats.org/officeDocument/2006/relationships/image" Target="../media/image67.png"/><Relationship Id="rId7" Type="http://schemas.openxmlformats.org/officeDocument/2006/relationships/image" Target="../media/image11.png"/><Relationship Id="rId8"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8.png"/><Relationship Id="rId3" Type="http://schemas.openxmlformats.org/officeDocument/2006/relationships/image" Target="../media/image69.png"/><Relationship Id="rId4" Type="http://schemas.openxmlformats.org/officeDocument/2006/relationships/image" Target="../media/image70.png"/><Relationship Id="rId5"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1.png"/><Relationship Id="rId3" Type="http://schemas.openxmlformats.org/officeDocument/2006/relationships/notesSlide" Target="../notesSlides/notesSlide5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11155680" cy="731520"/>
          </a:xfrm>
          <a:prstGeom prst="rect">
            <a:avLst/>
          </a:prstGeom>
          <a:noFill/>
        </p:spPr>
        <p:txBody>
          <a:bodyPr wrap="square" lIns="0" rIns="0" tIns="0" bIns="0" anchor="t">
            <a:spAutoFit/>
          </a:bodyPr>
          <a:lstStyle/>
          <a:p>
            <a:pPr algn="l">
              <a:lnSpc>
                <a:spcPct val="110000"/>
              </a:lnSpc>
            </a:pPr>
            <a:r>
              <a:rPr sz="2100" b="1" i="0">
                <a:solidFill>
                  <a:srgbClr val="21295C"/>
                </a:solidFill>
                <a:latin typeface="DejaVu Sans"/>
              </a:rPr>
              <a:t>Сборка стала почти бесплатной — и почти никто не превратил это в пользу</a:t>
            </a:r>
          </a:p>
        </p:txBody>
      </p:sp>
      <p:sp>
        <p:nvSpPr>
          <p:cNvPr id="3" name="Rounded Rectangle 2"/>
          <p:cNvSpPr/>
          <p:nvPr/>
        </p:nvSpPr>
        <p:spPr>
          <a:xfrm>
            <a:off x="502920" y="1152144"/>
            <a:ext cx="3977639" cy="1170432"/>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ock-mid.png"/>
          <p:cNvPicPr>
            <a:picLocks noChangeAspect="1"/>
          </p:cNvPicPr>
          <p:nvPr/>
        </p:nvPicPr>
        <p:blipFill>
          <a:blip r:embed="rId2"/>
          <a:stretch>
            <a:fillRect/>
          </a:stretch>
        </p:blipFill>
        <p:spPr>
          <a:xfrm>
            <a:off x="722376" y="1371600"/>
            <a:ext cx="713232" cy="713232"/>
          </a:xfrm>
          <a:prstGeom prst="rect">
            <a:avLst/>
          </a:prstGeom>
        </p:spPr>
      </p:pic>
      <p:sp>
        <p:nvSpPr>
          <p:cNvPr id="5" name="TextBox 4"/>
          <p:cNvSpPr txBox="1"/>
          <p:nvPr/>
        </p:nvSpPr>
        <p:spPr>
          <a:xfrm>
            <a:off x="1581912" y="1225296"/>
            <a:ext cx="2697479" cy="475488"/>
          </a:xfrm>
          <a:prstGeom prst="rect">
            <a:avLst/>
          </a:prstGeom>
          <a:noFill/>
        </p:spPr>
        <p:txBody>
          <a:bodyPr wrap="square" lIns="0" rIns="0" tIns="0" bIns="0" anchor="ctr">
            <a:spAutoFit/>
          </a:bodyPr>
          <a:lstStyle/>
          <a:p>
            <a:pPr algn="l">
              <a:lnSpc>
                <a:spcPct val="102000"/>
              </a:lnSpc>
            </a:pPr>
            <a:r>
              <a:rPr sz="1400" b="1" i="0">
                <a:solidFill>
                  <a:srgbClr val="065A82"/>
                </a:solidFill>
                <a:latin typeface="DejaVu Sans"/>
              </a:rPr>
              <a:t>Недели работы → часы </a:t>
            </a:r>
            <a:r>
              <a:rPr sz="728" baseline="30000" b="0" i="1">
                <a:latin typeface="DejaVu Sans"/>
                <a:cs typeface="DejaVu Sans"/>
                <a:ea typeface="DejaVu Sans"/>
                <a:solidFill>
                  <a:srgbClr val="1C7293"/>
                </a:solidFill>
              </a:rPr>
              <a:t>[1]</a:t>
            </a:r>
          </a:p>
        </p:txBody>
      </p:sp>
      <p:sp>
        <p:nvSpPr>
          <p:cNvPr id="6" name="TextBox 5"/>
          <p:cNvSpPr txBox="1"/>
          <p:nvPr/>
        </p:nvSpPr>
        <p:spPr>
          <a:xfrm>
            <a:off x="1581912" y="1773936"/>
            <a:ext cx="2697479" cy="292608"/>
          </a:xfrm>
          <a:prstGeom prst="rect">
            <a:avLst/>
          </a:prstGeom>
          <a:noFill/>
        </p:spPr>
        <p:txBody>
          <a:bodyPr wrap="square" lIns="0" rIns="0" tIns="0" bIns="0" anchor="t">
            <a:spAutoFit/>
          </a:bodyPr>
          <a:lstStyle/>
          <a:p>
            <a:pPr algn="l">
              <a:lnSpc>
                <a:spcPct val="115000"/>
              </a:lnSpc>
            </a:pPr>
            <a:r>
              <a:rPr sz="1050" b="0" i="1">
                <a:solidFill>
                  <a:srgbClr val="5B6678"/>
                </a:solidFill>
                <a:latin typeface="DejaVu Sans"/>
              </a:rPr>
              <a:t>внутренний опыт Anthropic</a:t>
            </a:r>
          </a:p>
        </p:txBody>
      </p:sp>
      <p:sp>
        <p:nvSpPr>
          <p:cNvPr id="7" name="Rounded Rectangle 6"/>
          <p:cNvSpPr/>
          <p:nvPr/>
        </p:nvSpPr>
        <p:spPr>
          <a:xfrm>
            <a:off x="502920" y="2450592"/>
            <a:ext cx="3977639" cy="1755648"/>
          </a:xfrm>
          <a:prstGeom prst="roundRect">
            <a:avLst>
              <a:gd name="adj" fmla="val 1736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unnel-teal.png"/>
          <p:cNvPicPr>
            <a:picLocks noChangeAspect="1"/>
          </p:cNvPicPr>
          <p:nvPr/>
        </p:nvPicPr>
        <p:blipFill>
          <a:blip r:embed="rId3"/>
          <a:stretch>
            <a:fillRect/>
          </a:stretch>
        </p:blipFill>
        <p:spPr>
          <a:xfrm>
            <a:off x="722376" y="2670048"/>
            <a:ext cx="713232" cy="713232"/>
          </a:xfrm>
          <a:prstGeom prst="rect">
            <a:avLst/>
          </a:prstGeom>
        </p:spPr>
      </p:pic>
      <p:sp>
        <p:nvSpPr>
          <p:cNvPr id="9" name="TextBox 8"/>
          <p:cNvSpPr txBox="1"/>
          <p:nvPr/>
        </p:nvSpPr>
        <p:spPr>
          <a:xfrm>
            <a:off x="1581912" y="2542032"/>
            <a:ext cx="2697479" cy="694944"/>
          </a:xfrm>
          <a:prstGeom prst="rect">
            <a:avLst/>
          </a:prstGeom>
          <a:noFill/>
        </p:spPr>
        <p:txBody>
          <a:bodyPr wrap="square" lIns="0" rIns="0" tIns="0" bIns="0" anchor="ctr">
            <a:spAutoFit/>
          </a:bodyPr>
          <a:lstStyle/>
          <a:p>
            <a:pPr algn="l">
              <a:lnSpc>
                <a:spcPct val="102000"/>
              </a:lnSpc>
            </a:pPr>
            <a:r>
              <a:rPr sz="1400" b="1" i="0">
                <a:solidFill>
                  <a:srgbClr val="028090"/>
                </a:solidFill>
                <a:latin typeface="DejaVu Sans"/>
              </a:rPr>
              <a:t>~95% организаций — нулевая отдача </a:t>
            </a:r>
            <a:r>
              <a:rPr sz="728" baseline="30000" b="0" i="1">
                <a:latin typeface="DejaVu Sans"/>
                <a:cs typeface="DejaVu Sans"/>
                <a:ea typeface="DejaVu Sans"/>
                <a:solidFill>
                  <a:srgbClr val="1C7293"/>
                </a:solidFill>
              </a:rPr>
              <a:t>[2]</a:t>
            </a:r>
          </a:p>
        </p:txBody>
      </p:sp>
      <p:sp>
        <p:nvSpPr>
          <p:cNvPr id="10" name="TextBox 9"/>
          <p:cNvSpPr txBox="1"/>
          <p:nvPr/>
        </p:nvSpPr>
        <p:spPr>
          <a:xfrm>
            <a:off x="1581912" y="3273552"/>
            <a:ext cx="2697479" cy="859536"/>
          </a:xfrm>
          <a:prstGeom prst="rect">
            <a:avLst/>
          </a:prstGeom>
          <a:noFill/>
        </p:spPr>
        <p:txBody>
          <a:bodyPr wrap="square" lIns="0" rIns="0" tIns="0" bIns="0" anchor="t">
            <a:spAutoFit/>
          </a:bodyPr>
          <a:lstStyle/>
          <a:p>
            <a:pPr algn="l">
              <a:lnSpc>
                <a:spcPct val="106000"/>
              </a:lnSpc>
            </a:pPr>
            <a:r>
              <a:rPr sz="950" b="0" i="1">
                <a:solidFill>
                  <a:srgbClr val="5B6678"/>
                </a:solidFill>
                <a:latin typeface="DejaVu Sans"/>
              </a:rPr>
              <a:t>Массачусетский технологический институт, лето 2025 — доля от всех организаций, а не от дошедших до пилота</a:t>
            </a:r>
          </a:p>
        </p:txBody>
      </p:sp>
      <p:sp>
        <p:nvSpPr>
          <p:cNvPr id="11" name="Rounded Rectangle 10"/>
          <p:cNvSpPr/>
          <p:nvPr/>
        </p:nvSpPr>
        <p:spPr>
          <a:xfrm>
            <a:off x="502920" y="4352544"/>
            <a:ext cx="3977639" cy="184708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2376" y="4407407"/>
            <a:ext cx="3538727" cy="1737360"/>
          </a:xfrm>
          <a:prstGeom prst="rect">
            <a:avLst/>
          </a:prstGeom>
          <a:noFill/>
        </p:spPr>
        <p:txBody>
          <a:bodyPr wrap="square" lIns="0" rIns="0" tIns="0" bIns="0" anchor="ctr">
            <a:spAutoFit/>
          </a:bodyPr>
          <a:lstStyle/>
          <a:p>
            <a:pPr algn="l">
              <a:lnSpc>
                <a:spcPct val="120000"/>
              </a:lnSpc>
            </a:pPr>
            <a:r>
              <a:rPr sz="1300" b="1" i="0">
                <a:solidFill>
                  <a:srgbClr val="21295C"/>
                </a:solidFill>
                <a:latin typeface="DejaVu Sans"/>
              </a:rPr>
              <a:t>Оба факта правдивы одновременно: сборка стала почти бесплатной, а превращение сборки в ценность — нет. Разрыв между ними и есть предмет лекции; он разрешится в самом конце.</a:t>
            </a:r>
          </a:p>
        </p:txBody>
      </p:sp>
      <p:sp>
        <p:nvSpPr>
          <p:cNvPr id="13" name="Rounded Rectangle 12"/>
          <p:cNvSpPr/>
          <p:nvPr/>
        </p:nvSpPr>
        <p:spPr>
          <a:xfrm>
            <a:off x="4709160" y="1188720"/>
            <a:ext cx="6995160" cy="4846320"/>
          </a:xfrm>
          <a:prstGeom prst="roundRect">
            <a:avLst>
              <a:gd name="adj" fmla="val 6289"/>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s01-spiderman-pointing.jpg"/>
          <p:cNvPicPr>
            <a:picLocks noChangeAspect="1"/>
          </p:cNvPicPr>
          <p:nvPr/>
        </p:nvPicPr>
        <p:blipFill>
          <a:blip r:embed="rId4"/>
          <a:stretch>
            <a:fillRect/>
          </a:stretch>
        </p:blipFill>
        <p:spPr>
          <a:xfrm>
            <a:off x="4873752" y="1737074"/>
            <a:ext cx="6665976" cy="3749612"/>
          </a:xfrm>
          <a:prstGeom prst="rect">
            <a:avLst/>
          </a:prstGeom>
        </p:spPr>
      </p:pic>
      <p:sp>
        <p:nvSpPr>
          <p:cNvPr id="15" name="TextBox 14"/>
          <p:cNvSpPr txBox="1"/>
          <p:nvPr/>
        </p:nvSpPr>
        <p:spPr>
          <a:xfrm>
            <a:off x="502920" y="6455664"/>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5"/>
              </a:rPr>
              <a:t>Anthropic — 2026 Agentic Coding Trends Report</a:t>
            </a:r>
            <a:r>
              <a:rPr sz="850" i="1">
                <a:solidFill>
                  <a:srgbClr val="1C7293"/>
                </a:solidFill>
                <a:latin typeface="DejaVu Sans"/>
              </a:rPr>
              <a:t>   ·   </a:t>
            </a:r>
            <a:r>
              <a:rPr sz="850" b="1" i="1">
                <a:solidFill>
                  <a:srgbClr val="065A82"/>
                </a:solidFill>
                <a:latin typeface="DejaVu Sans"/>
              </a:rPr>
              <a:t>[2] </a:t>
            </a:r>
            <a:r>
              <a:rPr sz="850" i="1">
                <a:solidFill>
                  <a:srgbClr val="1C7293"/>
                </a:solidFill>
                <a:latin typeface="DejaVu Sans"/>
                <a:hlinkClick r:id="rId6"/>
              </a:rPr>
              <a:t>MIT NANDA — «The GenAI Divide» (июль 2025, v0.1)</a:t>
            </a:r>
          </a:p>
        </p:txBody>
      </p:sp>
      <p:sp>
        <p:nvSpPr>
          <p:cNvPr id="16" name="TextBox 15"/>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1 / 54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cxnSp>
        <p:nvCxnSpPr>
          <p:cNvPr id="2" name="Connector 1"/>
          <p:cNvCxnSpPr/>
          <p:nvPr/>
        </p:nvCxnSpPr>
        <p:spPr>
          <a:xfrm>
            <a:off x="2880360" y="914399"/>
            <a:ext cx="1227435" cy="708661"/>
          </a:xfrm>
          <a:prstGeom prst="line">
            <a:avLst/>
          </a:prstGeom>
          <a:ln w="25400">
            <a:solidFill>
              <a:srgbClr val="1C7293"/>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4107795" y="1623060"/>
            <a:ext cx="0" cy="1417319"/>
          </a:xfrm>
          <a:prstGeom prst="line">
            <a:avLst/>
          </a:prstGeom>
          <a:ln w="25400">
            <a:solidFill>
              <a:srgbClr val="1C7293"/>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2880360" y="3040379"/>
            <a:ext cx="1227435" cy="708660"/>
          </a:xfrm>
          <a:prstGeom prst="line">
            <a:avLst/>
          </a:prstGeom>
          <a:ln w="25400">
            <a:solidFill>
              <a:srgbClr val="1C7293"/>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flipV="1">
            <a:off x="1652924" y="3040380"/>
            <a:ext cx="1227436" cy="708659"/>
          </a:xfrm>
          <a:prstGeom prst="line">
            <a:avLst/>
          </a:prstGeom>
          <a:ln w="25400">
            <a:solidFill>
              <a:srgbClr val="1C7293"/>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652924" y="1623060"/>
            <a:ext cx="0" cy="1417320"/>
          </a:xfrm>
          <a:prstGeom prst="line">
            <a:avLst/>
          </a:prstGeom>
          <a:ln w="25400">
            <a:solidFill>
              <a:srgbClr val="1C7293"/>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652924" y="914399"/>
            <a:ext cx="1227436" cy="708661"/>
          </a:xfrm>
          <a:prstGeom prst="line">
            <a:avLst/>
          </a:prstGeom>
          <a:ln w="25400">
            <a:solidFill>
              <a:srgbClr val="1C7293"/>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2606040" y="640079"/>
            <a:ext cx="548640" cy="548640"/>
          </a:xfrm>
          <a:prstGeom prst="ellipse">
            <a:avLst/>
          </a:prstGeom>
          <a:solidFill>
            <a:srgbClr val="F0AB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103120" y="1207007"/>
            <a:ext cx="1554480" cy="384048"/>
          </a:xfrm>
          <a:prstGeom prst="rect">
            <a:avLst/>
          </a:prstGeom>
          <a:noFill/>
        </p:spPr>
        <p:txBody>
          <a:bodyPr wrap="square" lIns="0" rIns="0" tIns="0" bIns="0" anchor="t">
            <a:spAutoFit/>
          </a:bodyPr>
          <a:lstStyle/>
          <a:p>
            <a:pPr algn="ctr">
              <a:lnSpc>
                <a:spcPct val="90000"/>
              </a:lnSpc>
            </a:pPr>
            <a:r>
              <a:rPr sz="900" b="1" i="0">
                <a:solidFill>
                  <a:srgbClr val="21295C"/>
                </a:solidFill>
                <a:latin typeface="DejaVu Sans"/>
              </a:rPr>
              <a:t>Исследование</a:t>
            </a:r>
          </a:p>
        </p:txBody>
      </p:sp>
      <p:sp>
        <p:nvSpPr>
          <p:cNvPr id="10" name="Oval 9"/>
          <p:cNvSpPr/>
          <p:nvPr/>
        </p:nvSpPr>
        <p:spPr>
          <a:xfrm>
            <a:off x="3833475" y="1348739"/>
            <a:ext cx="548640" cy="548640"/>
          </a:xfrm>
          <a:prstGeom prst="ellipse">
            <a:avLst/>
          </a:prstGeom>
          <a:solidFill>
            <a:srgbClr val="065A82"/>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30555" y="1915667"/>
            <a:ext cx="1554480" cy="384048"/>
          </a:xfrm>
          <a:prstGeom prst="rect">
            <a:avLst/>
          </a:prstGeom>
          <a:noFill/>
        </p:spPr>
        <p:txBody>
          <a:bodyPr wrap="square" lIns="0" rIns="0" tIns="0" bIns="0" anchor="t">
            <a:spAutoFit/>
          </a:bodyPr>
          <a:lstStyle/>
          <a:p>
            <a:pPr algn="ctr">
              <a:lnSpc>
                <a:spcPct val="90000"/>
              </a:lnSpc>
            </a:pPr>
            <a:r>
              <a:rPr sz="900" b="1" i="0">
                <a:solidFill>
                  <a:srgbClr val="21295C"/>
                </a:solidFill>
                <a:latin typeface="DejaVu Sans"/>
              </a:rPr>
              <a:t>Дизайн</a:t>
            </a:r>
          </a:p>
        </p:txBody>
      </p:sp>
      <p:sp>
        <p:nvSpPr>
          <p:cNvPr id="12" name="Oval 11"/>
          <p:cNvSpPr/>
          <p:nvPr/>
        </p:nvSpPr>
        <p:spPr>
          <a:xfrm>
            <a:off x="3833475" y="2766060"/>
            <a:ext cx="548640" cy="548640"/>
          </a:xfrm>
          <a:prstGeom prst="ellipse">
            <a:avLst/>
          </a:prstGeom>
          <a:solidFill>
            <a:srgbClr val="065A82"/>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30555" y="3332987"/>
            <a:ext cx="1554480" cy="384048"/>
          </a:xfrm>
          <a:prstGeom prst="rect">
            <a:avLst/>
          </a:prstGeom>
          <a:noFill/>
        </p:spPr>
        <p:txBody>
          <a:bodyPr wrap="square" lIns="0" rIns="0" tIns="0" bIns="0" anchor="t">
            <a:spAutoFit/>
          </a:bodyPr>
          <a:lstStyle/>
          <a:p>
            <a:pPr algn="ctr">
              <a:lnSpc>
                <a:spcPct val="90000"/>
              </a:lnSpc>
            </a:pPr>
            <a:r>
              <a:rPr sz="900" b="1" i="0">
                <a:solidFill>
                  <a:srgbClr val="21295C"/>
                </a:solidFill>
                <a:latin typeface="DejaVu Sans"/>
              </a:rPr>
              <a:t>Сборка</a:t>
            </a:r>
          </a:p>
          <a:p>
            <a:pPr algn="ctr">
              <a:lnSpc>
                <a:spcPct val="90000"/>
              </a:lnSpc>
            </a:pPr>
            <a:r>
              <a:rPr sz="900" b="1" i="0">
                <a:solidFill>
                  <a:srgbClr val="21295C"/>
                </a:solidFill>
                <a:latin typeface="DejaVu Sans"/>
              </a:rPr>
              <a:t>и запуск</a:t>
            </a:r>
          </a:p>
        </p:txBody>
      </p:sp>
      <p:sp>
        <p:nvSpPr>
          <p:cNvPr id="14" name="Oval 13"/>
          <p:cNvSpPr/>
          <p:nvPr/>
        </p:nvSpPr>
        <p:spPr>
          <a:xfrm>
            <a:off x="2606040" y="3474720"/>
            <a:ext cx="548640" cy="548640"/>
          </a:xfrm>
          <a:prstGeom prst="ellipse">
            <a:avLst/>
          </a:prstGeom>
          <a:solidFill>
            <a:srgbClr val="065A82"/>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103120" y="4041648"/>
            <a:ext cx="1554480" cy="384048"/>
          </a:xfrm>
          <a:prstGeom prst="rect">
            <a:avLst/>
          </a:prstGeom>
          <a:noFill/>
        </p:spPr>
        <p:txBody>
          <a:bodyPr wrap="square" lIns="0" rIns="0" tIns="0" bIns="0" anchor="t">
            <a:spAutoFit/>
          </a:bodyPr>
          <a:lstStyle/>
          <a:p>
            <a:pPr algn="ctr">
              <a:lnSpc>
                <a:spcPct val="90000"/>
              </a:lnSpc>
            </a:pPr>
            <a:r>
              <a:rPr sz="900" b="1" i="0">
                <a:solidFill>
                  <a:srgbClr val="21295C"/>
                </a:solidFill>
                <a:latin typeface="DejaVu Sans"/>
              </a:rPr>
              <a:t>Измерение</a:t>
            </a:r>
          </a:p>
        </p:txBody>
      </p:sp>
      <p:sp>
        <p:nvSpPr>
          <p:cNvPr id="16" name="Oval 15"/>
          <p:cNvSpPr/>
          <p:nvPr/>
        </p:nvSpPr>
        <p:spPr>
          <a:xfrm>
            <a:off x="1378604" y="2766060"/>
            <a:ext cx="548640" cy="548640"/>
          </a:xfrm>
          <a:prstGeom prst="ellipse">
            <a:avLst/>
          </a:prstGeom>
          <a:solidFill>
            <a:srgbClr val="065A82"/>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75684" y="3332988"/>
            <a:ext cx="1554480" cy="384048"/>
          </a:xfrm>
          <a:prstGeom prst="rect">
            <a:avLst/>
          </a:prstGeom>
          <a:noFill/>
        </p:spPr>
        <p:txBody>
          <a:bodyPr wrap="square" lIns="0" rIns="0" tIns="0" bIns="0" anchor="t">
            <a:spAutoFit/>
          </a:bodyPr>
          <a:lstStyle/>
          <a:p>
            <a:pPr algn="ctr">
              <a:lnSpc>
                <a:spcPct val="90000"/>
              </a:lnSpc>
            </a:pPr>
            <a:r>
              <a:rPr sz="900" b="1" i="0">
                <a:solidFill>
                  <a:srgbClr val="21295C"/>
                </a:solidFill>
                <a:latin typeface="DejaVu Sans"/>
              </a:rPr>
              <a:t>Поддержка</a:t>
            </a:r>
          </a:p>
        </p:txBody>
      </p:sp>
      <p:sp>
        <p:nvSpPr>
          <p:cNvPr id="18" name="Oval 17"/>
          <p:cNvSpPr/>
          <p:nvPr/>
        </p:nvSpPr>
        <p:spPr>
          <a:xfrm>
            <a:off x="1378604" y="1348740"/>
            <a:ext cx="548640" cy="548640"/>
          </a:xfrm>
          <a:prstGeom prst="ellipse">
            <a:avLst/>
          </a:prstGeom>
          <a:solidFill>
            <a:srgbClr val="065A82"/>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5684" y="1915668"/>
            <a:ext cx="1554480" cy="384048"/>
          </a:xfrm>
          <a:prstGeom prst="rect">
            <a:avLst/>
          </a:prstGeom>
          <a:noFill/>
        </p:spPr>
        <p:txBody>
          <a:bodyPr wrap="square" lIns="0" rIns="0" tIns="0" bIns="0" anchor="t">
            <a:spAutoFit/>
          </a:bodyPr>
          <a:lstStyle/>
          <a:p>
            <a:pPr algn="ctr">
              <a:lnSpc>
                <a:spcPct val="90000"/>
              </a:lnSpc>
            </a:pPr>
            <a:r>
              <a:rPr sz="900" b="1" i="0">
                <a:solidFill>
                  <a:srgbClr val="21295C"/>
                </a:solidFill>
                <a:latin typeface="DejaVu Sans"/>
              </a:rPr>
              <a:t>Управление</a:t>
            </a:r>
          </a:p>
        </p:txBody>
      </p:sp>
      <p:pic>
        <p:nvPicPr>
          <p:cNvPr id="20" name="Picture 19" descr="lightbulb-gold.png"/>
          <p:cNvPicPr>
            <a:picLocks noChangeAspect="1"/>
          </p:cNvPicPr>
          <p:nvPr/>
        </p:nvPicPr>
        <p:blipFill>
          <a:blip r:embed="rId2"/>
          <a:stretch>
            <a:fillRect/>
          </a:stretch>
        </p:blipFill>
        <p:spPr>
          <a:xfrm>
            <a:off x="2587752" y="2039112"/>
            <a:ext cx="585216" cy="585216"/>
          </a:xfrm>
          <a:prstGeom prst="rect">
            <a:avLst/>
          </a:prstGeom>
        </p:spPr>
      </p:pic>
      <p:sp>
        <p:nvSpPr>
          <p:cNvPr id="21" name="Rounded Rectangle 20"/>
          <p:cNvSpPr/>
          <p:nvPr/>
        </p:nvSpPr>
        <p:spPr>
          <a:xfrm>
            <a:off x="1389888" y="4498848"/>
            <a:ext cx="3063240" cy="1353312"/>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s02-one-does-not-simply.jpg"/>
          <p:cNvPicPr>
            <a:picLocks noChangeAspect="1"/>
          </p:cNvPicPr>
          <p:nvPr/>
        </p:nvPicPr>
        <p:blipFill>
          <a:blip r:embed="rId3"/>
          <a:stretch>
            <a:fillRect/>
          </a:stretch>
        </p:blipFill>
        <p:spPr>
          <a:xfrm>
            <a:off x="1929261" y="4590288"/>
            <a:ext cx="1984494" cy="1170432"/>
          </a:xfrm>
          <a:prstGeom prst="rect">
            <a:avLst/>
          </a:prstGeom>
        </p:spPr>
      </p:pic>
      <p:sp>
        <p:nvSpPr>
          <p:cNvPr id="23" name="TextBox 22"/>
          <p:cNvSpPr txBox="1"/>
          <p:nvPr/>
        </p:nvSpPr>
        <p:spPr>
          <a:xfrm>
            <a:off x="5285232" y="1225296"/>
            <a:ext cx="6629400" cy="438912"/>
          </a:xfrm>
          <a:prstGeom prst="rect">
            <a:avLst/>
          </a:prstGeom>
          <a:noFill/>
        </p:spPr>
        <p:txBody>
          <a:bodyPr wrap="square" lIns="0" rIns="0" tIns="0" bIns="0" anchor="t">
            <a:spAutoFit/>
          </a:bodyPr>
          <a:lstStyle/>
          <a:p>
            <a:pPr algn="l">
              <a:lnSpc>
                <a:spcPct val="115000"/>
              </a:lnSpc>
            </a:pPr>
            <a:r>
              <a:rPr sz="2000" b="1" i="0">
                <a:solidFill>
                  <a:srgbClr val="028090"/>
                </a:solidFill>
                <a:latin typeface="DejaVu Sans"/>
              </a:rPr>
              <a:t>ЛЕКЦИЯ 5</a:t>
            </a:r>
          </a:p>
        </p:txBody>
      </p:sp>
      <p:sp>
        <p:nvSpPr>
          <p:cNvPr id="24" name="TextBox 23"/>
          <p:cNvSpPr txBox="1"/>
          <p:nvPr/>
        </p:nvSpPr>
        <p:spPr>
          <a:xfrm>
            <a:off x="5285232" y="1700784"/>
            <a:ext cx="6629400" cy="1755648"/>
          </a:xfrm>
          <a:prstGeom prst="rect">
            <a:avLst/>
          </a:prstGeom>
          <a:noFill/>
        </p:spPr>
        <p:txBody>
          <a:bodyPr wrap="square" lIns="0" rIns="0" tIns="0" bIns="0" anchor="t">
            <a:spAutoFit/>
          </a:bodyPr>
          <a:lstStyle/>
          <a:p>
            <a:pPr algn="l">
              <a:lnSpc>
                <a:spcPct val="105000"/>
              </a:lnSpc>
            </a:pPr>
            <a:r>
              <a:rPr sz="2700" b="1" i="0">
                <a:solidFill>
                  <a:srgbClr val="21295C"/>
                </a:solidFill>
                <a:latin typeface="DejaVu Sans"/>
              </a:rPr>
              <a:t>ИИ-продукт: полный жизненный цикл — от намерения до эксплуатации</a:t>
            </a:r>
          </a:p>
        </p:txBody>
      </p:sp>
      <p:sp>
        <p:nvSpPr>
          <p:cNvPr id="25" name="TextBox 24"/>
          <p:cNvSpPr txBox="1"/>
          <p:nvPr/>
        </p:nvSpPr>
        <p:spPr>
          <a:xfrm>
            <a:off x="5312664" y="3511296"/>
            <a:ext cx="6574536" cy="310896"/>
          </a:xfrm>
          <a:prstGeom prst="rect">
            <a:avLst/>
          </a:prstGeom>
          <a:noFill/>
        </p:spPr>
        <p:txBody>
          <a:bodyPr wrap="square" lIns="0" rIns="0" tIns="0" bIns="0" anchor="t">
            <a:spAutoFit/>
          </a:bodyPr>
          <a:lstStyle/>
          <a:p>
            <a:pPr algn="l">
              <a:lnSpc>
                <a:spcPct val="115000"/>
              </a:lnSpc>
            </a:pPr>
            <a:r>
              <a:rPr sz="1300" b="1" i="0">
                <a:solidFill>
                  <a:srgbClr val="028090"/>
                </a:solidFill>
                <a:latin typeface="DejaVu Sans"/>
              </a:rPr>
              <a:t>ИИ — искусственный интеллект</a:t>
            </a:r>
          </a:p>
        </p:txBody>
      </p:sp>
      <p:sp>
        <p:nvSpPr>
          <p:cNvPr id="26" name="TextBox 25"/>
          <p:cNvSpPr txBox="1"/>
          <p:nvPr/>
        </p:nvSpPr>
        <p:spPr>
          <a:xfrm>
            <a:off x="5312664" y="3858768"/>
            <a:ext cx="6574536" cy="365760"/>
          </a:xfrm>
          <a:prstGeom prst="rect">
            <a:avLst/>
          </a:prstGeom>
          <a:noFill/>
        </p:spPr>
        <p:txBody>
          <a:bodyPr wrap="square" lIns="0" rIns="0" tIns="0" bIns="0" anchor="t">
            <a:spAutoFit/>
          </a:bodyPr>
          <a:lstStyle/>
          <a:p>
            <a:pPr algn="l">
              <a:lnSpc>
                <a:spcPct val="115000"/>
              </a:lnSpc>
            </a:pPr>
            <a:r>
              <a:rPr sz="1350" b="0" i="1">
                <a:solidFill>
                  <a:srgbClr val="1C7293"/>
                </a:solidFill>
                <a:latin typeface="DejaVu Sans"/>
              </a:rPr>
              <a:t>Курс «Осознанное применение ИИ» · инженеры-студенты 3 курса</a:t>
            </a:r>
          </a:p>
        </p:txBody>
      </p:sp>
      <p:sp>
        <p:nvSpPr>
          <p:cNvPr id="27" name="Rounded Rectangle 26"/>
          <p:cNvSpPr/>
          <p:nvPr/>
        </p:nvSpPr>
        <p:spPr>
          <a:xfrm>
            <a:off x="5285232" y="4352544"/>
            <a:ext cx="6629400" cy="822960"/>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504688" y="4407407"/>
            <a:ext cx="6190488" cy="713232"/>
          </a:xfrm>
          <a:prstGeom prst="rect">
            <a:avLst/>
          </a:prstGeom>
          <a:noFill/>
        </p:spPr>
        <p:txBody>
          <a:bodyPr wrap="square" lIns="0" rIns="0" tIns="0" bIns="0" anchor="ctr">
            <a:spAutoFit/>
          </a:bodyPr>
          <a:lstStyle/>
          <a:p>
            <a:pPr algn="l">
              <a:lnSpc>
                <a:spcPct val="120000"/>
              </a:lnSpc>
            </a:pPr>
            <a:r>
              <a:rPr sz="1300" b="1" i="0">
                <a:solidFill>
                  <a:srgbClr val="21295C"/>
                </a:solidFill>
                <a:latin typeface="DejaVu Sans"/>
              </a:rPr>
              <a:t>Шесть разделов — шесть стрелок одной петли. Код из Лекции 4 — один шаг внутри неё, и теперь самый дешёвый из всех.</a:t>
            </a:r>
          </a:p>
        </p:txBody>
      </p:sp>
      <p:sp>
        <p:nvSpPr>
          <p:cNvPr id="29" name="Rounded Rectangle 28"/>
          <p:cNvSpPr/>
          <p:nvPr/>
        </p:nvSpPr>
        <p:spPr>
          <a:xfrm>
            <a:off x="502920" y="5989320"/>
            <a:ext cx="1320165" cy="530352"/>
          </a:xfrm>
          <a:prstGeom prst="roundRect">
            <a:avLst>
              <a:gd name="adj" fmla="val 1200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21208" y="6035040"/>
            <a:ext cx="1283589" cy="164592"/>
          </a:xfrm>
          <a:prstGeom prst="rect">
            <a:avLst/>
          </a:prstGeom>
          <a:noFill/>
        </p:spPr>
        <p:txBody>
          <a:bodyPr wrap="square" lIns="0" rIns="0" tIns="0" bIns="0" anchor="t">
            <a:spAutoFit/>
          </a:bodyPr>
          <a:lstStyle/>
          <a:p>
            <a:pPr algn="ctr">
              <a:lnSpc>
                <a:spcPct val="115000"/>
              </a:lnSpc>
            </a:pPr>
            <a:r>
              <a:rPr sz="1050" b="1" i="0">
                <a:solidFill>
                  <a:srgbClr val="21295C"/>
                </a:solidFill>
                <a:latin typeface="DejaVu Sans"/>
              </a:rPr>
              <a:t>0</a:t>
            </a:r>
          </a:p>
        </p:txBody>
      </p:sp>
      <p:sp>
        <p:nvSpPr>
          <p:cNvPr id="31" name="TextBox 30"/>
          <p:cNvSpPr txBox="1"/>
          <p:nvPr/>
        </p:nvSpPr>
        <p:spPr>
          <a:xfrm>
            <a:off x="521208" y="6217920"/>
            <a:ext cx="1283589" cy="274320"/>
          </a:xfrm>
          <a:prstGeom prst="rect">
            <a:avLst/>
          </a:prstGeom>
          <a:noFill/>
        </p:spPr>
        <p:txBody>
          <a:bodyPr wrap="square" lIns="0" rIns="0" tIns="0" bIns="0" anchor="t">
            <a:spAutoFit/>
          </a:bodyPr>
          <a:lstStyle/>
          <a:p>
            <a:pPr algn="ctr">
              <a:lnSpc>
                <a:spcPct val="92000"/>
              </a:lnSpc>
            </a:pPr>
            <a:r>
              <a:rPr sz="900" b="1" i="0">
                <a:solidFill>
                  <a:srgbClr val="21295C"/>
                </a:solidFill>
                <a:latin typeface="DejaVu Sans"/>
              </a:rPr>
              <a:t>Введение</a:t>
            </a:r>
          </a:p>
        </p:txBody>
      </p:sp>
      <p:sp>
        <p:nvSpPr>
          <p:cNvPr id="32" name="Rounded Rectangle 31"/>
          <p:cNvSpPr/>
          <p:nvPr/>
        </p:nvSpPr>
        <p:spPr>
          <a:xfrm>
            <a:off x="1914525"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932813"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1</a:t>
            </a:r>
          </a:p>
        </p:txBody>
      </p:sp>
      <p:sp>
        <p:nvSpPr>
          <p:cNvPr id="34" name="TextBox 33"/>
          <p:cNvSpPr txBox="1"/>
          <p:nvPr/>
        </p:nvSpPr>
        <p:spPr>
          <a:xfrm>
            <a:off x="1932813" y="6217920"/>
            <a:ext cx="1283589" cy="274320"/>
          </a:xfrm>
          <a:prstGeom prst="rect">
            <a:avLst/>
          </a:prstGeom>
          <a:noFill/>
        </p:spPr>
        <p:txBody>
          <a:bodyPr wrap="square" lIns="0" rIns="0" tIns="0" bIns="0" anchor="t">
            <a:spAutoFit/>
          </a:bodyPr>
          <a:lstStyle/>
          <a:p>
            <a:pPr algn="ctr">
              <a:lnSpc>
                <a:spcPct val="92000"/>
              </a:lnSpc>
            </a:pPr>
            <a:r>
              <a:rPr sz="800" b="0" i="0">
                <a:solidFill>
                  <a:srgbClr val="5B6678"/>
                </a:solidFill>
                <a:latin typeface="DejaVu Sans"/>
              </a:rPr>
              <a:t>Исследование</a:t>
            </a:r>
          </a:p>
        </p:txBody>
      </p:sp>
      <p:sp>
        <p:nvSpPr>
          <p:cNvPr id="35" name="Rounded Rectangle 34"/>
          <p:cNvSpPr/>
          <p:nvPr/>
        </p:nvSpPr>
        <p:spPr>
          <a:xfrm>
            <a:off x="3326130"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344418"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2</a:t>
            </a:r>
          </a:p>
        </p:txBody>
      </p:sp>
      <p:sp>
        <p:nvSpPr>
          <p:cNvPr id="37" name="TextBox 36"/>
          <p:cNvSpPr txBox="1"/>
          <p:nvPr/>
        </p:nvSpPr>
        <p:spPr>
          <a:xfrm>
            <a:off x="3344418" y="6217920"/>
            <a:ext cx="1283589" cy="274320"/>
          </a:xfrm>
          <a:prstGeom prst="rect">
            <a:avLst/>
          </a:prstGeom>
          <a:noFill/>
        </p:spPr>
        <p:txBody>
          <a:bodyPr wrap="square" lIns="0" rIns="0" tIns="0" bIns="0" anchor="t">
            <a:spAutoFit/>
          </a:bodyPr>
          <a:lstStyle/>
          <a:p>
            <a:pPr algn="ctr">
              <a:lnSpc>
                <a:spcPct val="92000"/>
              </a:lnSpc>
            </a:pPr>
            <a:r>
              <a:rPr sz="900" b="0" i="0">
                <a:solidFill>
                  <a:srgbClr val="5B6678"/>
                </a:solidFill>
                <a:latin typeface="DejaVu Sans"/>
              </a:rPr>
              <a:t>Дизайн</a:t>
            </a:r>
          </a:p>
        </p:txBody>
      </p:sp>
      <p:sp>
        <p:nvSpPr>
          <p:cNvPr id="38" name="Rounded Rectangle 37"/>
          <p:cNvSpPr/>
          <p:nvPr/>
        </p:nvSpPr>
        <p:spPr>
          <a:xfrm>
            <a:off x="4737735"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756023"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3</a:t>
            </a:r>
          </a:p>
        </p:txBody>
      </p:sp>
      <p:sp>
        <p:nvSpPr>
          <p:cNvPr id="40" name="TextBox 39"/>
          <p:cNvSpPr txBox="1"/>
          <p:nvPr/>
        </p:nvSpPr>
        <p:spPr>
          <a:xfrm>
            <a:off x="4756023" y="6217920"/>
            <a:ext cx="1283589" cy="274320"/>
          </a:xfrm>
          <a:prstGeom prst="rect">
            <a:avLst/>
          </a:prstGeom>
          <a:noFill/>
        </p:spPr>
        <p:txBody>
          <a:bodyPr wrap="square" lIns="0" rIns="0" tIns="0" bIns="0" anchor="t">
            <a:spAutoFit/>
          </a:bodyPr>
          <a:lstStyle/>
          <a:p>
            <a:pPr algn="ctr">
              <a:lnSpc>
                <a:spcPct val="92000"/>
              </a:lnSpc>
            </a:pPr>
            <a:r>
              <a:rPr sz="800" b="0" i="0">
                <a:solidFill>
                  <a:srgbClr val="5B6678"/>
                </a:solidFill>
                <a:latin typeface="DejaVu Sans"/>
              </a:rPr>
              <a:t>Сборка и запуск</a:t>
            </a:r>
          </a:p>
        </p:txBody>
      </p:sp>
      <p:sp>
        <p:nvSpPr>
          <p:cNvPr id="41" name="Rounded Rectangle 40"/>
          <p:cNvSpPr/>
          <p:nvPr/>
        </p:nvSpPr>
        <p:spPr>
          <a:xfrm>
            <a:off x="6149340"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167628"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4</a:t>
            </a:r>
          </a:p>
        </p:txBody>
      </p:sp>
      <p:sp>
        <p:nvSpPr>
          <p:cNvPr id="43" name="TextBox 42"/>
          <p:cNvSpPr txBox="1"/>
          <p:nvPr/>
        </p:nvSpPr>
        <p:spPr>
          <a:xfrm>
            <a:off x="6167628" y="6217920"/>
            <a:ext cx="1283589" cy="274320"/>
          </a:xfrm>
          <a:prstGeom prst="rect">
            <a:avLst/>
          </a:prstGeom>
          <a:noFill/>
        </p:spPr>
        <p:txBody>
          <a:bodyPr wrap="square" lIns="0" rIns="0" tIns="0" bIns="0" anchor="t">
            <a:spAutoFit/>
          </a:bodyPr>
          <a:lstStyle/>
          <a:p>
            <a:pPr algn="ctr">
              <a:lnSpc>
                <a:spcPct val="92000"/>
              </a:lnSpc>
            </a:pPr>
            <a:r>
              <a:rPr sz="900" b="0" i="0">
                <a:solidFill>
                  <a:srgbClr val="5B6678"/>
                </a:solidFill>
                <a:latin typeface="DejaVu Sans"/>
              </a:rPr>
              <a:t>Измерение</a:t>
            </a:r>
          </a:p>
        </p:txBody>
      </p:sp>
      <p:sp>
        <p:nvSpPr>
          <p:cNvPr id="44" name="Rounded Rectangle 43"/>
          <p:cNvSpPr/>
          <p:nvPr/>
        </p:nvSpPr>
        <p:spPr>
          <a:xfrm>
            <a:off x="7560945"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579233"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5</a:t>
            </a:r>
          </a:p>
        </p:txBody>
      </p:sp>
      <p:sp>
        <p:nvSpPr>
          <p:cNvPr id="46" name="TextBox 45"/>
          <p:cNvSpPr txBox="1"/>
          <p:nvPr/>
        </p:nvSpPr>
        <p:spPr>
          <a:xfrm>
            <a:off x="7579233" y="6217920"/>
            <a:ext cx="1283589" cy="274320"/>
          </a:xfrm>
          <a:prstGeom prst="rect">
            <a:avLst/>
          </a:prstGeom>
          <a:noFill/>
        </p:spPr>
        <p:txBody>
          <a:bodyPr wrap="square" lIns="0" rIns="0" tIns="0" bIns="0" anchor="t">
            <a:spAutoFit/>
          </a:bodyPr>
          <a:lstStyle/>
          <a:p>
            <a:pPr algn="ctr">
              <a:lnSpc>
                <a:spcPct val="92000"/>
              </a:lnSpc>
            </a:pPr>
            <a:r>
              <a:rPr sz="900" b="0" i="0">
                <a:solidFill>
                  <a:srgbClr val="5B6678"/>
                </a:solidFill>
                <a:latin typeface="DejaVu Sans"/>
              </a:rPr>
              <a:t>Поддержка</a:t>
            </a:r>
          </a:p>
        </p:txBody>
      </p:sp>
      <p:sp>
        <p:nvSpPr>
          <p:cNvPr id="47" name="Rounded Rectangle 46"/>
          <p:cNvSpPr/>
          <p:nvPr/>
        </p:nvSpPr>
        <p:spPr>
          <a:xfrm>
            <a:off x="8972550"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990838"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6</a:t>
            </a:r>
          </a:p>
        </p:txBody>
      </p:sp>
      <p:sp>
        <p:nvSpPr>
          <p:cNvPr id="49" name="TextBox 48"/>
          <p:cNvSpPr txBox="1"/>
          <p:nvPr/>
        </p:nvSpPr>
        <p:spPr>
          <a:xfrm>
            <a:off x="8990838" y="6217920"/>
            <a:ext cx="1283589" cy="274320"/>
          </a:xfrm>
          <a:prstGeom prst="rect">
            <a:avLst/>
          </a:prstGeom>
          <a:noFill/>
        </p:spPr>
        <p:txBody>
          <a:bodyPr wrap="square" lIns="0" rIns="0" tIns="0" bIns="0" anchor="t">
            <a:spAutoFit/>
          </a:bodyPr>
          <a:lstStyle/>
          <a:p>
            <a:pPr algn="ctr">
              <a:lnSpc>
                <a:spcPct val="92000"/>
              </a:lnSpc>
            </a:pPr>
            <a:r>
              <a:rPr sz="800" b="0" i="0">
                <a:solidFill>
                  <a:srgbClr val="5B6678"/>
                </a:solidFill>
                <a:latin typeface="DejaVu Sans"/>
              </a:rPr>
              <a:t>Управление</a:t>
            </a:r>
          </a:p>
        </p:txBody>
      </p:sp>
      <p:sp>
        <p:nvSpPr>
          <p:cNvPr id="50" name="Rounded Rectangle 49"/>
          <p:cNvSpPr/>
          <p:nvPr/>
        </p:nvSpPr>
        <p:spPr>
          <a:xfrm>
            <a:off x="10384155"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402443"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7</a:t>
            </a:r>
          </a:p>
        </p:txBody>
      </p:sp>
      <p:sp>
        <p:nvSpPr>
          <p:cNvPr id="52" name="TextBox 51"/>
          <p:cNvSpPr txBox="1"/>
          <p:nvPr/>
        </p:nvSpPr>
        <p:spPr>
          <a:xfrm>
            <a:off x="10402443" y="6217920"/>
            <a:ext cx="1283589" cy="274320"/>
          </a:xfrm>
          <a:prstGeom prst="rect">
            <a:avLst/>
          </a:prstGeom>
          <a:noFill/>
        </p:spPr>
        <p:txBody>
          <a:bodyPr wrap="square" lIns="0" rIns="0" tIns="0" bIns="0" anchor="t">
            <a:spAutoFit/>
          </a:bodyPr>
          <a:lstStyle/>
          <a:p>
            <a:pPr algn="ctr">
              <a:lnSpc>
                <a:spcPct val="92000"/>
              </a:lnSpc>
            </a:pPr>
            <a:r>
              <a:rPr sz="900" b="0" i="0">
                <a:solidFill>
                  <a:srgbClr val="5B6678"/>
                </a:solidFill>
                <a:latin typeface="DejaVu Sans"/>
              </a:rPr>
              <a:t>Обобщение</a:t>
            </a:r>
          </a:p>
        </p:txBody>
      </p:sp>
      <p:sp>
        <p:nvSpPr>
          <p:cNvPr id="53" name="TextBox 52"/>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2 / 54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10972800" cy="777240"/>
          </a:xfrm>
          <a:prstGeom prst="rect">
            <a:avLst/>
          </a:prstGeom>
          <a:noFill/>
        </p:spPr>
        <p:txBody>
          <a:bodyPr wrap="square" lIns="0" rIns="0" tIns="0" bIns="0" anchor="t">
            <a:spAutoFit/>
          </a:bodyPr>
          <a:lstStyle/>
          <a:p>
            <a:pPr algn="l">
              <a:lnSpc>
                <a:spcPct val="110000"/>
              </a:lnSpc>
            </a:pPr>
            <a:r>
              <a:rPr sz="2500" b="1" i="0">
                <a:solidFill>
                  <a:srgbClr val="21295C"/>
                </a:solidFill>
                <a:latin typeface="DejaVu Sans"/>
              </a:rPr>
              <a:t>Лекция — это петля, а не список из шести тем</a:t>
            </a:r>
          </a:p>
        </p:txBody>
      </p:sp>
      <p:cxnSp>
        <p:nvCxnSpPr>
          <p:cNvPr id="3" name="Connector 2"/>
          <p:cNvCxnSpPr/>
          <p:nvPr/>
        </p:nvCxnSpPr>
        <p:spPr>
          <a:xfrm>
            <a:off x="4285734" y="2112264"/>
            <a:ext cx="641433" cy="370332"/>
          </a:xfrm>
          <a:prstGeom prst="line">
            <a:avLst/>
          </a:prstGeom>
          <a:ln w="27940">
            <a:solidFill>
              <a:srgbClr val="1C729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5418141" y="3332988"/>
            <a:ext cx="0" cy="740663"/>
          </a:xfrm>
          <a:prstGeom prst="line">
            <a:avLst/>
          </a:prstGeom>
          <a:ln w="27940">
            <a:solidFill>
              <a:srgbClr val="1C729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4285734" y="4924044"/>
            <a:ext cx="641433" cy="370331"/>
          </a:xfrm>
          <a:prstGeom prst="line">
            <a:avLst/>
          </a:prstGeom>
          <a:ln w="27940">
            <a:solidFill>
              <a:srgbClr val="1C729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flipV="1">
            <a:off x="2662352" y="4924044"/>
            <a:ext cx="641433" cy="370332"/>
          </a:xfrm>
          <a:prstGeom prst="line">
            <a:avLst/>
          </a:prstGeom>
          <a:ln w="27940">
            <a:solidFill>
              <a:srgbClr val="1C729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2171378" y="3332988"/>
            <a:ext cx="0" cy="740664"/>
          </a:xfrm>
          <a:prstGeom prst="line">
            <a:avLst/>
          </a:prstGeom>
          <a:ln w="27940">
            <a:solidFill>
              <a:srgbClr val="1C729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2567324" y="2057400"/>
            <a:ext cx="831489" cy="480060"/>
          </a:xfrm>
          <a:prstGeom prst="line">
            <a:avLst/>
          </a:prstGeom>
          <a:ln w="69850">
            <a:solidFill>
              <a:srgbClr val="F0AB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292697" y="1724728"/>
            <a:ext cx="877824" cy="274320"/>
          </a:xfrm>
          <a:prstGeom prst="rect">
            <a:avLst/>
          </a:prstGeom>
          <a:noFill/>
        </p:spPr>
        <p:txBody>
          <a:bodyPr wrap="square" lIns="0" rIns="0" tIns="0" bIns="0" anchor="t">
            <a:spAutoFit/>
          </a:bodyPr>
          <a:lstStyle/>
          <a:p>
            <a:pPr algn="ctr">
              <a:lnSpc>
                <a:spcPct val="115000"/>
              </a:lnSpc>
            </a:pPr>
            <a:r>
              <a:rPr sz="1000" b="1" i="0">
                <a:solidFill>
                  <a:srgbClr val="F0AB00"/>
                </a:solidFill>
                <a:latin typeface="DejaVu Sans"/>
              </a:rPr>
              <a:t>возврат</a:t>
            </a:r>
          </a:p>
        </p:txBody>
      </p:sp>
      <p:sp>
        <p:nvSpPr>
          <p:cNvPr id="10" name="Rounded Rectangle 9"/>
          <p:cNvSpPr/>
          <p:nvPr/>
        </p:nvSpPr>
        <p:spPr>
          <a:xfrm>
            <a:off x="3154680" y="1389888"/>
            <a:ext cx="1280160" cy="877824"/>
          </a:xfrm>
          <a:prstGeom prst="roundRect">
            <a:avLst>
              <a:gd name="adj" fmla="val 22000"/>
            </a:avLst>
          </a:prstGeom>
          <a:solidFill>
            <a:srgbClr val="F4F7FA"/>
          </a:solidFill>
          <a:ln w="1651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earch-mid.png"/>
          <p:cNvPicPr>
            <a:picLocks noChangeAspect="1"/>
          </p:cNvPicPr>
          <p:nvPr/>
        </p:nvPicPr>
        <p:blipFill>
          <a:blip r:embed="rId2"/>
          <a:stretch>
            <a:fillRect/>
          </a:stretch>
        </p:blipFill>
        <p:spPr>
          <a:xfrm>
            <a:off x="3575304" y="1444752"/>
            <a:ext cx="438912" cy="438912"/>
          </a:xfrm>
          <a:prstGeom prst="rect">
            <a:avLst/>
          </a:prstGeom>
        </p:spPr>
      </p:pic>
      <p:sp>
        <p:nvSpPr>
          <p:cNvPr id="12" name="TextBox 11"/>
          <p:cNvSpPr txBox="1"/>
          <p:nvPr/>
        </p:nvSpPr>
        <p:spPr>
          <a:xfrm>
            <a:off x="3172968" y="1883664"/>
            <a:ext cx="1243584" cy="365760"/>
          </a:xfrm>
          <a:prstGeom prst="rect">
            <a:avLst/>
          </a:prstGeom>
          <a:noFill/>
        </p:spPr>
        <p:txBody>
          <a:bodyPr wrap="square" lIns="0" rIns="0" tIns="0" bIns="0" anchor="t">
            <a:spAutoFit/>
          </a:bodyPr>
          <a:lstStyle/>
          <a:p>
            <a:pPr algn="ctr">
              <a:lnSpc>
                <a:spcPct val="88000"/>
              </a:lnSpc>
            </a:pPr>
            <a:r>
              <a:rPr sz="780" b="1" i="0">
                <a:solidFill>
                  <a:srgbClr val="21295C"/>
                </a:solidFill>
                <a:latin typeface="DejaVu Sans"/>
              </a:rPr>
              <a:t>1. Исследование</a:t>
            </a:r>
          </a:p>
        </p:txBody>
      </p:sp>
      <p:sp>
        <p:nvSpPr>
          <p:cNvPr id="13" name="Rounded Rectangle 12"/>
          <p:cNvSpPr/>
          <p:nvPr/>
        </p:nvSpPr>
        <p:spPr>
          <a:xfrm>
            <a:off x="4778061" y="2327148"/>
            <a:ext cx="1280160" cy="877824"/>
          </a:xfrm>
          <a:prstGeom prst="roundRect">
            <a:avLst>
              <a:gd name="adj" fmla="val 22000"/>
            </a:avLst>
          </a:prstGeom>
          <a:solidFill>
            <a:srgbClr val="F4F7FA"/>
          </a:solidFill>
          <a:ln w="1651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pencil-mid.png"/>
          <p:cNvPicPr>
            <a:picLocks noChangeAspect="1"/>
          </p:cNvPicPr>
          <p:nvPr/>
        </p:nvPicPr>
        <p:blipFill>
          <a:blip r:embed="rId3"/>
          <a:stretch>
            <a:fillRect/>
          </a:stretch>
        </p:blipFill>
        <p:spPr>
          <a:xfrm>
            <a:off x="5198685" y="2382012"/>
            <a:ext cx="438912" cy="438912"/>
          </a:xfrm>
          <a:prstGeom prst="rect">
            <a:avLst/>
          </a:prstGeom>
        </p:spPr>
      </p:pic>
      <p:sp>
        <p:nvSpPr>
          <p:cNvPr id="15" name="TextBox 14"/>
          <p:cNvSpPr txBox="1"/>
          <p:nvPr/>
        </p:nvSpPr>
        <p:spPr>
          <a:xfrm>
            <a:off x="4796349" y="2820924"/>
            <a:ext cx="1243584" cy="365760"/>
          </a:xfrm>
          <a:prstGeom prst="rect">
            <a:avLst/>
          </a:prstGeom>
          <a:noFill/>
        </p:spPr>
        <p:txBody>
          <a:bodyPr wrap="square" lIns="0" rIns="0" tIns="0" bIns="0" anchor="t">
            <a:spAutoFit/>
          </a:bodyPr>
          <a:lstStyle/>
          <a:p>
            <a:pPr algn="ctr">
              <a:lnSpc>
                <a:spcPct val="88000"/>
              </a:lnSpc>
            </a:pPr>
            <a:r>
              <a:rPr sz="780" b="1" i="0">
                <a:solidFill>
                  <a:srgbClr val="21295C"/>
                </a:solidFill>
                <a:latin typeface="DejaVu Sans"/>
              </a:rPr>
              <a:t>2. Дизайн</a:t>
            </a:r>
          </a:p>
        </p:txBody>
      </p:sp>
      <p:sp>
        <p:nvSpPr>
          <p:cNvPr id="16" name="Rounded Rectangle 15"/>
          <p:cNvSpPr/>
          <p:nvPr/>
        </p:nvSpPr>
        <p:spPr>
          <a:xfrm>
            <a:off x="4778061" y="4201667"/>
            <a:ext cx="1280160" cy="877824"/>
          </a:xfrm>
          <a:prstGeom prst="roundRect">
            <a:avLst>
              <a:gd name="adj" fmla="val 22000"/>
            </a:avLst>
          </a:prstGeom>
          <a:solidFill>
            <a:srgbClr val="F4F7FA"/>
          </a:solidFill>
          <a:ln w="1651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hammer-mid.png"/>
          <p:cNvPicPr>
            <a:picLocks noChangeAspect="1"/>
          </p:cNvPicPr>
          <p:nvPr/>
        </p:nvPicPr>
        <p:blipFill>
          <a:blip r:embed="rId4"/>
          <a:stretch>
            <a:fillRect/>
          </a:stretch>
        </p:blipFill>
        <p:spPr>
          <a:xfrm>
            <a:off x="5198685" y="4256531"/>
            <a:ext cx="438912" cy="438912"/>
          </a:xfrm>
          <a:prstGeom prst="rect">
            <a:avLst/>
          </a:prstGeom>
        </p:spPr>
      </p:pic>
      <p:sp>
        <p:nvSpPr>
          <p:cNvPr id="18" name="TextBox 17"/>
          <p:cNvSpPr txBox="1"/>
          <p:nvPr/>
        </p:nvSpPr>
        <p:spPr>
          <a:xfrm>
            <a:off x="4796349" y="4695443"/>
            <a:ext cx="1243584" cy="365760"/>
          </a:xfrm>
          <a:prstGeom prst="rect">
            <a:avLst/>
          </a:prstGeom>
          <a:noFill/>
        </p:spPr>
        <p:txBody>
          <a:bodyPr wrap="square" lIns="0" rIns="0" tIns="0" bIns="0" anchor="t">
            <a:spAutoFit/>
          </a:bodyPr>
          <a:lstStyle/>
          <a:p>
            <a:pPr algn="ctr">
              <a:lnSpc>
                <a:spcPct val="88000"/>
              </a:lnSpc>
            </a:pPr>
            <a:r>
              <a:rPr sz="780" b="1" i="0">
                <a:solidFill>
                  <a:srgbClr val="21295C"/>
                </a:solidFill>
                <a:latin typeface="DejaVu Sans"/>
              </a:rPr>
              <a:t>3. Сборка и запуск</a:t>
            </a:r>
          </a:p>
        </p:txBody>
      </p:sp>
      <p:sp>
        <p:nvSpPr>
          <p:cNvPr id="19" name="Rounded Rectangle 18"/>
          <p:cNvSpPr/>
          <p:nvPr/>
        </p:nvSpPr>
        <p:spPr>
          <a:xfrm>
            <a:off x="3154680" y="5138927"/>
            <a:ext cx="1280160" cy="877824"/>
          </a:xfrm>
          <a:prstGeom prst="roundRect">
            <a:avLst>
              <a:gd name="adj" fmla="val 22000"/>
            </a:avLst>
          </a:prstGeom>
          <a:solidFill>
            <a:srgbClr val="F4F7FA"/>
          </a:solidFill>
          <a:ln w="1651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ruler-mid.png"/>
          <p:cNvPicPr>
            <a:picLocks noChangeAspect="1"/>
          </p:cNvPicPr>
          <p:nvPr/>
        </p:nvPicPr>
        <p:blipFill>
          <a:blip r:embed="rId5"/>
          <a:stretch>
            <a:fillRect/>
          </a:stretch>
        </p:blipFill>
        <p:spPr>
          <a:xfrm>
            <a:off x="3575304" y="5193792"/>
            <a:ext cx="438912" cy="438912"/>
          </a:xfrm>
          <a:prstGeom prst="rect">
            <a:avLst/>
          </a:prstGeom>
        </p:spPr>
      </p:pic>
      <p:sp>
        <p:nvSpPr>
          <p:cNvPr id="21" name="TextBox 20"/>
          <p:cNvSpPr txBox="1"/>
          <p:nvPr/>
        </p:nvSpPr>
        <p:spPr>
          <a:xfrm>
            <a:off x="3172968" y="5632703"/>
            <a:ext cx="1243584" cy="365760"/>
          </a:xfrm>
          <a:prstGeom prst="rect">
            <a:avLst/>
          </a:prstGeom>
          <a:noFill/>
        </p:spPr>
        <p:txBody>
          <a:bodyPr wrap="square" lIns="0" rIns="0" tIns="0" bIns="0" anchor="t">
            <a:spAutoFit/>
          </a:bodyPr>
          <a:lstStyle/>
          <a:p>
            <a:pPr algn="ctr">
              <a:lnSpc>
                <a:spcPct val="88000"/>
              </a:lnSpc>
            </a:pPr>
            <a:r>
              <a:rPr sz="780" b="1" i="0">
                <a:solidFill>
                  <a:srgbClr val="21295C"/>
                </a:solidFill>
                <a:latin typeface="DejaVu Sans"/>
              </a:rPr>
              <a:t>4. Измерение</a:t>
            </a:r>
          </a:p>
        </p:txBody>
      </p:sp>
      <p:sp>
        <p:nvSpPr>
          <p:cNvPr id="22" name="Rounded Rectangle 21"/>
          <p:cNvSpPr/>
          <p:nvPr/>
        </p:nvSpPr>
        <p:spPr>
          <a:xfrm>
            <a:off x="1531298" y="4201668"/>
            <a:ext cx="1280160" cy="877824"/>
          </a:xfrm>
          <a:prstGeom prst="roundRect">
            <a:avLst>
              <a:gd name="adj" fmla="val 22000"/>
            </a:avLst>
          </a:prstGeom>
          <a:solidFill>
            <a:srgbClr val="F4F7FA"/>
          </a:solidFill>
          <a:ln w="1651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headphones-mid.png"/>
          <p:cNvPicPr>
            <a:picLocks noChangeAspect="1"/>
          </p:cNvPicPr>
          <p:nvPr/>
        </p:nvPicPr>
        <p:blipFill>
          <a:blip r:embed="rId6"/>
          <a:stretch>
            <a:fillRect/>
          </a:stretch>
        </p:blipFill>
        <p:spPr>
          <a:xfrm>
            <a:off x="1951922" y="4256532"/>
            <a:ext cx="438912" cy="438912"/>
          </a:xfrm>
          <a:prstGeom prst="rect">
            <a:avLst/>
          </a:prstGeom>
        </p:spPr>
      </p:pic>
      <p:sp>
        <p:nvSpPr>
          <p:cNvPr id="24" name="TextBox 23"/>
          <p:cNvSpPr txBox="1"/>
          <p:nvPr/>
        </p:nvSpPr>
        <p:spPr>
          <a:xfrm>
            <a:off x="1549586" y="4695444"/>
            <a:ext cx="1243584" cy="365760"/>
          </a:xfrm>
          <a:prstGeom prst="rect">
            <a:avLst/>
          </a:prstGeom>
          <a:noFill/>
        </p:spPr>
        <p:txBody>
          <a:bodyPr wrap="square" lIns="0" rIns="0" tIns="0" bIns="0" anchor="t">
            <a:spAutoFit/>
          </a:bodyPr>
          <a:lstStyle/>
          <a:p>
            <a:pPr algn="ctr">
              <a:lnSpc>
                <a:spcPct val="88000"/>
              </a:lnSpc>
            </a:pPr>
            <a:r>
              <a:rPr sz="780" b="1" i="0">
                <a:solidFill>
                  <a:srgbClr val="21295C"/>
                </a:solidFill>
                <a:latin typeface="DejaVu Sans"/>
              </a:rPr>
              <a:t>5. Поддержка</a:t>
            </a:r>
          </a:p>
        </p:txBody>
      </p:sp>
      <p:sp>
        <p:nvSpPr>
          <p:cNvPr id="25" name="Rounded Rectangle 24"/>
          <p:cNvSpPr/>
          <p:nvPr/>
        </p:nvSpPr>
        <p:spPr>
          <a:xfrm>
            <a:off x="1531298" y="2327148"/>
            <a:ext cx="1280160" cy="877824"/>
          </a:xfrm>
          <a:prstGeom prst="roundRect">
            <a:avLst>
              <a:gd name="adj" fmla="val 22000"/>
            </a:avLst>
          </a:prstGeom>
          <a:solidFill>
            <a:srgbClr val="F4F7FA"/>
          </a:solidFill>
          <a:ln w="1651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scale-mid.png"/>
          <p:cNvPicPr>
            <a:picLocks noChangeAspect="1"/>
          </p:cNvPicPr>
          <p:nvPr/>
        </p:nvPicPr>
        <p:blipFill>
          <a:blip r:embed="rId7"/>
          <a:stretch>
            <a:fillRect/>
          </a:stretch>
        </p:blipFill>
        <p:spPr>
          <a:xfrm>
            <a:off x="1951922" y="2382012"/>
            <a:ext cx="438912" cy="438912"/>
          </a:xfrm>
          <a:prstGeom prst="rect">
            <a:avLst/>
          </a:prstGeom>
        </p:spPr>
      </p:pic>
      <p:sp>
        <p:nvSpPr>
          <p:cNvPr id="27" name="TextBox 26"/>
          <p:cNvSpPr txBox="1"/>
          <p:nvPr/>
        </p:nvSpPr>
        <p:spPr>
          <a:xfrm>
            <a:off x="1549586" y="2820924"/>
            <a:ext cx="1243584" cy="365760"/>
          </a:xfrm>
          <a:prstGeom prst="rect">
            <a:avLst/>
          </a:prstGeom>
          <a:noFill/>
        </p:spPr>
        <p:txBody>
          <a:bodyPr wrap="square" lIns="0" rIns="0" tIns="0" bIns="0" anchor="t">
            <a:spAutoFit/>
          </a:bodyPr>
          <a:lstStyle/>
          <a:p>
            <a:pPr algn="ctr">
              <a:lnSpc>
                <a:spcPct val="88000"/>
              </a:lnSpc>
            </a:pPr>
            <a:r>
              <a:rPr sz="780" b="1" i="0">
                <a:solidFill>
                  <a:srgbClr val="21295C"/>
                </a:solidFill>
                <a:latin typeface="DejaVu Sans"/>
              </a:rPr>
              <a:t>6. Управление</a:t>
            </a:r>
          </a:p>
        </p:txBody>
      </p:sp>
      <p:sp>
        <p:nvSpPr>
          <p:cNvPr id="28" name="TextBox 27"/>
          <p:cNvSpPr txBox="1"/>
          <p:nvPr/>
        </p:nvSpPr>
        <p:spPr>
          <a:xfrm>
            <a:off x="3017520" y="3429000"/>
            <a:ext cx="1554480" cy="548640"/>
          </a:xfrm>
          <a:prstGeom prst="rect">
            <a:avLst/>
          </a:prstGeom>
          <a:noFill/>
        </p:spPr>
        <p:txBody>
          <a:bodyPr wrap="square" lIns="0" rIns="0" tIns="0" bIns="0" anchor="ctr">
            <a:spAutoFit/>
          </a:bodyPr>
          <a:lstStyle/>
          <a:p>
            <a:pPr algn="ctr">
              <a:lnSpc>
                <a:spcPct val="115000"/>
              </a:lnSpc>
            </a:pPr>
            <a:r>
              <a:rPr sz="1200" b="1" i="0">
                <a:solidFill>
                  <a:srgbClr val="F0AB00"/>
                </a:solidFill>
                <a:latin typeface="DejaVu Sans"/>
              </a:rPr>
              <a:t>Намерение</a:t>
            </a:r>
          </a:p>
        </p:txBody>
      </p:sp>
      <p:sp>
        <p:nvSpPr>
          <p:cNvPr id="29" name="TextBox 28"/>
          <p:cNvSpPr txBox="1"/>
          <p:nvPr/>
        </p:nvSpPr>
        <p:spPr>
          <a:xfrm>
            <a:off x="6537960" y="1371600"/>
            <a:ext cx="5166360" cy="512064"/>
          </a:xfrm>
          <a:prstGeom prst="rect">
            <a:avLst/>
          </a:prstGeom>
          <a:noFill/>
        </p:spPr>
        <p:txBody>
          <a:bodyPr wrap="square" lIns="0" rIns="0" tIns="0" bIns="0" anchor="t">
            <a:spAutoFit/>
          </a:bodyPr>
          <a:lstStyle/>
          <a:p>
            <a:pPr algn="l">
              <a:lnSpc>
                <a:spcPct val="100000"/>
              </a:lnSpc>
            </a:pPr>
            <a:r>
              <a:rPr sz="1300" b="1" i="0">
                <a:solidFill>
                  <a:srgbClr val="21295C"/>
                </a:solidFill>
                <a:latin typeface="DejaVu Sans"/>
              </a:rPr>
              <a:t>1. Исследование — откуда берётся гипотеза</a:t>
            </a:r>
          </a:p>
        </p:txBody>
      </p:sp>
      <p:sp>
        <p:nvSpPr>
          <p:cNvPr id="30" name="TextBox 29"/>
          <p:cNvSpPr txBox="1"/>
          <p:nvPr/>
        </p:nvSpPr>
        <p:spPr>
          <a:xfrm>
            <a:off x="6537960" y="1993392"/>
            <a:ext cx="5166360" cy="512064"/>
          </a:xfrm>
          <a:prstGeom prst="rect">
            <a:avLst/>
          </a:prstGeom>
          <a:noFill/>
        </p:spPr>
        <p:txBody>
          <a:bodyPr wrap="square" lIns="0" rIns="0" tIns="0" bIns="0" anchor="t">
            <a:spAutoFit/>
          </a:bodyPr>
          <a:lstStyle/>
          <a:p>
            <a:pPr algn="l">
              <a:lnSpc>
                <a:spcPct val="100000"/>
              </a:lnSpc>
            </a:pPr>
            <a:r>
              <a:rPr sz="1300" b="1" i="0">
                <a:solidFill>
                  <a:srgbClr val="21295C"/>
                </a:solidFill>
                <a:latin typeface="DejaVu Sans"/>
              </a:rPr>
              <a:t>2. Дизайн — гипотеза становится артефактом</a:t>
            </a:r>
          </a:p>
        </p:txBody>
      </p:sp>
      <p:sp>
        <p:nvSpPr>
          <p:cNvPr id="31" name="TextBox 30"/>
          <p:cNvSpPr txBox="1"/>
          <p:nvPr/>
        </p:nvSpPr>
        <p:spPr>
          <a:xfrm>
            <a:off x="6537960" y="2615184"/>
            <a:ext cx="5166360" cy="512064"/>
          </a:xfrm>
          <a:prstGeom prst="rect">
            <a:avLst/>
          </a:prstGeom>
          <a:noFill/>
        </p:spPr>
        <p:txBody>
          <a:bodyPr wrap="square" lIns="0" rIns="0" tIns="0" bIns="0" anchor="t">
            <a:spAutoFit/>
          </a:bodyPr>
          <a:lstStyle/>
          <a:p>
            <a:pPr algn="l">
              <a:lnSpc>
                <a:spcPct val="100000"/>
              </a:lnSpc>
            </a:pPr>
            <a:r>
              <a:rPr sz="1300" b="1" i="0">
                <a:solidFill>
                  <a:srgbClr val="21295C"/>
                </a:solidFill>
                <a:latin typeface="DejaVu Sans"/>
              </a:rPr>
              <a:t>3. Сборка и запуск — артефакт становится продуктом</a:t>
            </a:r>
          </a:p>
        </p:txBody>
      </p:sp>
      <p:sp>
        <p:nvSpPr>
          <p:cNvPr id="32" name="TextBox 31"/>
          <p:cNvSpPr txBox="1"/>
          <p:nvPr/>
        </p:nvSpPr>
        <p:spPr>
          <a:xfrm>
            <a:off x="6537960" y="3236976"/>
            <a:ext cx="5166360" cy="512064"/>
          </a:xfrm>
          <a:prstGeom prst="rect">
            <a:avLst/>
          </a:prstGeom>
          <a:noFill/>
        </p:spPr>
        <p:txBody>
          <a:bodyPr wrap="square" lIns="0" rIns="0" tIns="0" bIns="0" anchor="t">
            <a:spAutoFit/>
          </a:bodyPr>
          <a:lstStyle/>
          <a:p>
            <a:pPr algn="l">
              <a:lnSpc>
                <a:spcPct val="100000"/>
              </a:lnSpc>
            </a:pPr>
            <a:r>
              <a:rPr sz="1300" b="1" i="0">
                <a:solidFill>
                  <a:srgbClr val="21295C"/>
                </a:solidFill>
                <a:latin typeface="DejaVu Sans"/>
              </a:rPr>
              <a:t>4. Измерение — сработало ли это на самом деле</a:t>
            </a:r>
          </a:p>
        </p:txBody>
      </p:sp>
      <p:sp>
        <p:nvSpPr>
          <p:cNvPr id="33" name="TextBox 32"/>
          <p:cNvSpPr txBox="1"/>
          <p:nvPr/>
        </p:nvSpPr>
        <p:spPr>
          <a:xfrm>
            <a:off x="6537960" y="3858768"/>
            <a:ext cx="5166360" cy="512064"/>
          </a:xfrm>
          <a:prstGeom prst="rect">
            <a:avLst/>
          </a:prstGeom>
          <a:noFill/>
        </p:spPr>
        <p:txBody>
          <a:bodyPr wrap="square" lIns="0" rIns="0" tIns="0" bIns="0" anchor="t">
            <a:spAutoFit/>
          </a:bodyPr>
          <a:lstStyle/>
          <a:p>
            <a:pPr algn="l">
              <a:lnSpc>
                <a:spcPct val="100000"/>
              </a:lnSpc>
            </a:pPr>
            <a:r>
              <a:rPr sz="1300" b="1" i="0">
                <a:solidFill>
                  <a:srgbClr val="21295C"/>
                </a:solidFill>
                <a:latin typeface="DejaVu Sans"/>
              </a:rPr>
              <a:t>5. Поддержка — работает без остановки</a:t>
            </a:r>
          </a:p>
        </p:txBody>
      </p:sp>
      <p:sp>
        <p:nvSpPr>
          <p:cNvPr id="34" name="TextBox 33"/>
          <p:cNvSpPr txBox="1"/>
          <p:nvPr/>
        </p:nvSpPr>
        <p:spPr>
          <a:xfrm>
            <a:off x="6537960" y="4480560"/>
            <a:ext cx="5166360" cy="512064"/>
          </a:xfrm>
          <a:prstGeom prst="rect">
            <a:avLst/>
          </a:prstGeom>
          <a:noFill/>
        </p:spPr>
        <p:txBody>
          <a:bodyPr wrap="square" lIns="0" rIns="0" tIns="0" bIns="0" anchor="t">
            <a:spAutoFit/>
          </a:bodyPr>
          <a:lstStyle/>
          <a:p>
            <a:pPr algn="l">
              <a:lnSpc>
                <a:spcPct val="100000"/>
              </a:lnSpc>
            </a:pPr>
            <a:r>
              <a:rPr sz="1300" b="1" i="0">
                <a:solidFill>
                  <a:srgbClr val="21295C"/>
                </a:solidFill>
                <a:latin typeface="DejaVu Sans"/>
              </a:rPr>
              <a:t>6. Управление — куда вкладывать</a:t>
            </a:r>
          </a:p>
        </p:txBody>
      </p:sp>
      <p:sp>
        <p:nvSpPr>
          <p:cNvPr id="35" name="Rounded Rectangle 34"/>
          <p:cNvSpPr/>
          <p:nvPr/>
        </p:nvSpPr>
        <p:spPr>
          <a:xfrm>
            <a:off x="6537960" y="4956048"/>
            <a:ext cx="5166360" cy="1078992"/>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757416" y="5010912"/>
            <a:ext cx="4727448" cy="969264"/>
          </a:xfrm>
          <a:prstGeom prst="rect">
            <a:avLst/>
          </a:prstGeom>
          <a:noFill/>
        </p:spPr>
        <p:txBody>
          <a:bodyPr wrap="square" lIns="0" rIns="0" tIns="0" bIns="0" anchor="ctr">
            <a:spAutoFit/>
          </a:bodyPr>
          <a:lstStyle/>
          <a:p>
            <a:pPr algn="l">
              <a:lnSpc>
                <a:spcPct val="120000"/>
              </a:lnSpc>
            </a:pPr>
            <a:r>
              <a:rPr sz="1250" b="1" i="0">
                <a:solidFill>
                  <a:srgbClr val="21295C"/>
                </a:solidFill>
                <a:latin typeface="DejaVu Sans"/>
              </a:rPr>
              <a:t>Золотая стрелка возврата: управление снова питает исследование. Это замкнутая петля, а не одноразовый линейный процесс — поэтому карта нарисована кругом.</a:t>
            </a:r>
          </a:p>
        </p:txBody>
      </p:sp>
      <p:sp>
        <p:nvSpPr>
          <p:cNvPr id="37" name="TextBox 36"/>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3 / 54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19456"/>
            <a:ext cx="11201400" cy="603504"/>
          </a:xfrm>
          <a:prstGeom prst="rect">
            <a:avLst/>
          </a:prstGeom>
          <a:noFill/>
        </p:spPr>
        <p:txBody>
          <a:bodyPr wrap="square" lIns="0" rIns="0" tIns="0" bIns="0" anchor="t">
            <a:spAutoFit/>
          </a:bodyPr>
          <a:lstStyle/>
          <a:p>
            <a:pPr algn="l">
              <a:lnSpc>
                <a:spcPct val="110000"/>
              </a:lnSpc>
            </a:pPr>
            <a:r>
              <a:rPr sz="2200" b="1" i="0">
                <a:solidFill>
                  <a:srgbClr val="21295C"/>
                </a:solidFill>
                <a:latin typeface="DejaVu Sans"/>
              </a:rPr>
              <a:t>Зачем продукту цикл: без него ошибку находят слишком поздно</a:t>
            </a:r>
          </a:p>
        </p:txBody>
      </p:sp>
      <p:sp>
        <p:nvSpPr>
          <p:cNvPr id="3" name="TextBox 2"/>
          <p:cNvSpPr txBox="1"/>
          <p:nvPr/>
        </p:nvSpPr>
        <p:spPr>
          <a:xfrm>
            <a:off x="502920" y="932688"/>
            <a:ext cx="5577840" cy="310896"/>
          </a:xfrm>
          <a:prstGeom prst="rect">
            <a:avLst/>
          </a:prstGeom>
          <a:noFill/>
        </p:spPr>
        <p:txBody>
          <a:bodyPr wrap="square" lIns="0" rIns="0" tIns="0" bIns="0" anchor="t">
            <a:spAutoFit/>
          </a:bodyPr>
          <a:lstStyle/>
          <a:p>
            <a:pPr algn="l">
              <a:lnSpc>
                <a:spcPct val="102000"/>
              </a:lnSpc>
            </a:pPr>
            <a:r>
              <a:rPr sz="1150" b="1" i="0">
                <a:solidFill>
                  <a:srgbClr val="028090"/>
                </a:solidFill>
                <a:latin typeface="DejaVu Sans"/>
              </a:rPr>
              <a:t>Пять вопросов, на которые продукт отвечает наблюдением, а не мнением</a:t>
            </a:r>
          </a:p>
        </p:txBody>
      </p:sp>
      <p:sp>
        <p:nvSpPr>
          <p:cNvPr id="4" name="Rounded Rectangle 3"/>
          <p:cNvSpPr/>
          <p:nvPr/>
        </p:nvSpPr>
        <p:spPr>
          <a:xfrm>
            <a:off x="502920" y="1335024"/>
            <a:ext cx="5577840" cy="548640"/>
          </a:xfrm>
          <a:prstGeom prst="roundRect">
            <a:avLst>
              <a:gd name="adj" fmla="val 22000"/>
            </a:avLst>
          </a:prstGeom>
          <a:solidFill>
            <a:srgbClr val="F4F7FA"/>
          </a:solidFill>
          <a:ln w="1651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9224" y="1472184"/>
            <a:ext cx="274320" cy="274320"/>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9224" y="1490472"/>
            <a:ext cx="274320" cy="256032"/>
          </a:xfrm>
          <a:prstGeom prst="rect">
            <a:avLst/>
          </a:prstGeom>
          <a:noFill/>
        </p:spPr>
        <p:txBody>
          <a:bodyPr wrap="square" lIns="0" rIns="0" tIns="0" bIns="0" anchor="t">
            <a:spAutoFit/>
          </a:bodyPr>
          <a:lstStyle/>
          <a:p>
            <a:pPr algn="ctr">
              <a:lnSpc>
                <a:spcPct val="115000"/>
              </a:lnSpc>
            </a:pPr>
            <a:r>
              <a:rPr sz="1100" b="1" i="0">
                <a:solidFill>
                  <a:srgbClr val="FFFFFF"/>
                </a:solidFill>
                <a:latin typeface="DejaVu Sans"/>
              </a:rPr>
              <a:t>1</a:t>
            </a:r>
          </a:p>
        </p:txBody>
      </p:sp>
      <p:sp>
        <p:nvSpPr>
          <p:cNvPr id="7" name="TextBox 6"/>
          <p:cNvSpPr txBox="1"/>
          <p:nvPr/>
        </p:nvSpPr>
        <p:spPr>
          <a:xfrm>
            <a:off x="1033271" y="1353312"/>
            <a:ext cx="4882896" cy="347472"/>
          </a:xfrm>
          <a:prstGeom prst="rect">
            <a:avLst/>
          </a:prstGeom>
          <a:noFill/>
        </p:spPr>
        <p:txBody>
          <a:bodyPr wrap="square" lIns="0" rIns="0" tIns="0" bIns="0" anchor="ctr">
            <a:spAutoFit/>
          </a:bodyPr>
          <a:lstStyle/>
          <a:p>
            <a:pPr algn="l">
              <a:lnSpc>
                <a:spcPct val="96000"/>
              </a:lnSpc>
            </a:pPr>
            <a:r>
              <a:rPr sz="1100" b="1" i="0">
                <a:solidFill>
                  <a:srgbClr val="21295C"/>
                </a:solidFill>
                <a:latin typeface="DejaVu Sans"/>
              </a:rPr>
              <a:t>Нужно ли это кому-то вообще</a:t>
            </a:r>
          </a:p>
        </p:txBody>
      </p:sp>
      <p:sp>
        <p:nvSpPr>
          <p:cNvPr id="8" name="TextBox 7"/>
          <p:cNvSpPr txBox="1"/>
          <p:nvPr/>
        </p:nvSpPr>
        <p:spPr>
          <a:xfrm>
            <a:off x="1033271" y="1682495"/>
            <a:ext cx="4882896" cy="182880"/>
          </a:xfrm>
          <a:prstGeom prst="rect">
            <a:avLst/>
          </a:prstGeom>
          <a:noFill/>
        </p:spPr>
        <p:txBody>
          <a:bodyPr wrap="square" lIns="0" rIns="0" tIns="0" bIns="0" anchor="t">
            <a:spAutoFit/>
          </a:bodyPr>
          <a:lstStyle/>
          <a:p>
            <a:pPr algn="l">
              <a:lnSpc>
                <a:spcPct val="115000"/>
              </a:lnSpc>
            </a:pPr>
            <a:r>
              <a:rPr sz="950" b="0" i="1">
                <a:solidFill>
                  <a:srgbClr val="028090"/>
                </a:solidFill>
                <a:latin typeface="DejaVu Sans"/>
              </a:rPr>
              <a:t>фаза 1 · исследование</a:t>
            </a:r>
          </a:p>
        </p:txBody>
      </p:sp>
      <p:sp>
        <p:nvSpPr>
          <p:cNvPr id="9" name="Rounded Rectangle 8"/>
          <p:cNvSpPr/>
          <p:nvPr/>
        </p:nvSpPr>
        <p:spPr>
          <a:xfrm>
            <a:off x="502920" y="1920240"/>
            <a:ext cx="5577840" cy="548640"/>
          </a:xfrm>
          <a:prstGeom prst="roundRect">
            <a:avLst>
              <a:gd name="adj" fmla="val 22000"/>
            </a:avLst>
          </a:prstGeom>
          <a:solidFill>
            <a:srgbClr val="F4F7FA"/>
          </a:solidFill>
          <a:ln w="1651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49224" y="2057400"/>
            <a:ext cx="274320" cy="274320"/>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 y="2075688"/>
            <a:ext cx="274320" cy="256032"/>
          </a:xfrm>
          <a:prstGeom prst="rect">
            <a:avLst/>
          </a:prstGeom>
          <a:noFill/>
        </p:spPr>
        <p:txBody>
          <a:bodyPr wrap="square" lIns="0" rIns="0" tIns="0" bIns="0" anchor="t">
            <a:spAutoFit/>
          </a:bodyPr>
          <a:lstStyle/>
          <a:p>
            <a:pPr algn="ctr">
              <a:lnSpc>
                <a:spcPct val="115000"/>
              </a:lnSpc>
            </a:pPr>
            <a:r>
              <a:rPr sz="1100" b="1" i="0">
                <a:solidFill>
                  <a:srgbClr val="FFFFFF"/>
                </a:solidFill>
                <a:latin typeface="DejaVu Sans"/>
              </a:rPr>
              <a:t>2</a:t>
            </a:r>
          </a:p>
        </p:txBody>
      </p:sp>
      <p:sp>
        <p:nvSpPr>
          <p:cNvPr id="12" name="TextBox 11"/>
          <p:cNvSpPr txBox="1"/>
          <p:nvPr/>
        </p:nvSpPr>
        <p:spPr>
          <a:xfrm>
            <a:off x="1033271" y="1938528"/>
            <a:ext cx="4882896" cy="347472"/>
          </a:xfrm>
          <a:prstGeom prst="rect">
            <a:avLst/>
          </a:prstGeom>
          <a:noFill/>
        </p:spPr>
        <p:txBody>
          <a:bodyPr wrap="square" lIns="0" rIns="0" tIns="0" bIns="0" anchor="ctr">
            <a:spAutoFit/>
          </a:bodyPr>
          <a:lstStyle/>
          <a:p>
            <a:pPr algn="l">
              <a:lnSpc>
                <a:spcPct val="96000"/>
              </a:lnSpc>
            </a:pPr>
            <a:r>
              <a:rPr sz="1100" b="1" i="0">
                <a:solidFill>
                  <a:srgbClr val="21295C"/>
                </a:solidFill>
                <a:latin typeface="DejaVu Sans"/>
              </a:rPr>
              <a:t>Сможет ли человек этим воспользоваться и не пострадает ли тот, о ком не подумали</a:t>
            </a:r>
          </a:p>
        </p:txBody>
      </p:sp>
      <p:sp>
        <p:nvSpPr>
          <p:cNvPr id="13" name="TextBox 12"/>
          <p:cNvSpPr txBox="1"/>
          <p:nvPr/>
        </p:nvSpPr>
        <p:spPr>
          <a:xfrm>
            <a:off x="1033271" y="2267712"/>
            <a:ext cx="4882896" cy="182880"/>
          </a:xfrm>
          <a:prstGeom prst="rect">
            <a:avLst/>
          </a:prstGeom>
          <a:noFill/>
        </p:spPr>
        <p:txBody>
          <a:bodyPr wrap="square" lIns="0" rIns="0" tIns="0" bIns="0" anchor="t">
            <a:spAutoFit/>
          </a:bodyPr>
          <a:lstStyle/>
          <a:p>
            <a:pPr algn="l">
              <a:lnSpc>
                <a:spcPct val="115000"/>
              </a:lnSpc>
            </a:pPr>
            <a:r>
              <a:rPr sz="950" b="0" i="1">
                <a:solidFill>
                  <a:srgbClr val="028090"/>
                </a:solidFill>
                <a:latin typeface="DejaVu Sans"/>
              </a:rPr>
              <a:t>фаза 2 · дизайн</a:t>
            </a:r>
          </a:p>
        </p:txBody>
      </p:sp>
      <p:sp>
        <p:nvSpPr>
          <p:cNvPr id="14" name="Rounded Rectangle 13"/>
          <p:cNvSpPr/>
          <p:nvPr/>
        </p:nvSpPr>
        <p:spPr>
          <a:xfrm>
            <a:off x="502920" y="2505456"/>
            <a:ext cx="5577840" cy="548640"/>
          </a:xfrm>
          <a:prstGeom prst="roundRect">
            <a:avLst>
              <a:gd name="adj" fmla="val 22000"/>
            </a:avLst>
          </a:prstGeom>
          <a:solidFill>
            <a:srgbClr val="F4F7FA"/>
          </a:solidFill>
          <a:ln w="1651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9224" y="2642616"/>
            <a:ext cx="274320" cy="274320"/>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 y="2660904"/>
            <a:ext cx="274320" cy="256032"/>
          </a:xfrm>
          <a:prstGeom prst="rect">
            <a:avLst/>
          </a:prstGeom>
          <a:noFill/>
        </p:spPr>
        <p:txBody>
          <a:bodyPr wrap="square" lIns="0" rIns="0" tIns="0" bIns="0" anchor="t">
            <a:spAutoFit/>
          </a:bodyPr>
          <a:lstStyle/>
          <a:p>
            <a:pPr algn="ctr">
              <a:lnSpc>
                <a:spcPct val="115000"/>
              </a:lnSpc>
            </a:pPr>
            <a:r>
              <a:rPr sz="1100" b="1" i="0">
                <a:solidFill>
                  <a:srgbClr val="FFFFFF"/>
                </a:solidFill>
                <a:latin typeface="DejaVu Sans"/>
              </a:rPr>
              <a:t>3</a:t>
            </a:r>
          </a:p>
        </p:txBody>
      </p:sp>
      <p:sp>
        <p:nvSpPr>
          <p:cNvPr id="17" name="TextBox 16"/>
          <p:cNvSpPr txBox="1"/>
          <p:nvPr/>
        </p:nvSpPr>
        <p:spPr>
          <a:xfrm>
            <a:off x="1033271" y="2523744"/>
            <a:ext cx="4882896" cy="347472"/>
          </a:xfrm>
          <a:prstGeom prst="rect">
            <a:avLst/>
          </a:prstGeom>
          <a:noFill/>
        </p:spPr>
        <p:txBody>
          <a:bodyPr wrap="square" lIns="0" rIns="0" tIns="0" bIns="0" anchor="ctr">
            <a:spAutoFit/>
          </a:bodyPr>
          <a:lstStyle/>
          <a:p>
            <a:pPr algn="l">
              <a:lnSpc>
                <a:spcPct val="96000"/>
              </a:lnSpc>
            </a:pPr>
            <a:r>
              <a:rPr sz="1100" b="1" i="0">
                <a:solidFill>
                  <a:srgbClr val="21295C"/>
                </a:solidFill>
                <a:latin typeface="DejaVu Sans"/>
              </a:rPr>
              <a:t>Можем ли мы это сделать и безопасно выпустить</a:t>
            </a:r>
          </a:p>
        </p:txBody>
      </p:sp>
      <p:sp>
        <p:nvSpPr>
          <p:cNvPr id="18" name="TextBox 17"/>
          <p:cNvSpPr txBox="1"/>
          <p:nvPr/>
        </p:nvSpPr>
        <p:spPr>
          <a:xfrm>
            <a:off x="1033271" y="2852928"/>
            <a:ext cx="4882896" cy="182880"/>
          </a:xfrm>
          <a:prstGeom prst="rect">
            <a:avLst/>
          </a:prstGeom>
          <a:noFill/>
        </p:spPr>
        <p:txBody>
          <a:bodyPr wrap="square" lIns="0" rIns="0" tIns="0" bIns="0" anchor="t">
            <a:spAutoFit/>
          </a:bodyPr>
          <a:lstStyle/>
          <a:p>
            <a:pPr algn="l">
              <a:lnSpc>
                <a:spcPct val="115000"/>
              </a:lnSpc>
            </a:pPr>
            <a:r>
              <a:rPr sz="950" b="0" i="1">
                <a:solidFill>
                  <a:srgbClr val="028090"/>
                </a:solidFill>
                <a:latin typeface="DejaVu Sans"/>
              </a:rPr>
              <a:t>фаза 3 · сборка и запуск</a:t>
            </a:r>
          </a:p>
        </p:txBody>
      </p:sp>
      <p:sp>
        <p:nvSpPr>
          <p:cNvPr id="19" name="Rounded Rectangle 18"/>
          <p:cNvSpPr/>
          <p:nvPr/>
        </p:nvSpPr>
        <p:spPr>
          <a:xfrm>
            <a:off x="502920" y="3090672"/>
            <a:ext cx="5577840" cy="548640"/>
          </a:xfrm>
          <a:prstGeom prst="roundRect">
            <a:avLst>
              <a:gd name="adj" fmla="val 22000"/>
            </a:avLst>
          </a:prstGeom>
          <a:solidFill>
            <a:srgbClr val="F4F7FA"/>
          </a:solidFill>
          <a:ln w="1651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9224" y="3227832"/>
            <a:ext cx="274320" cy="274320"/>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 y="3246120"/>
            <a:ext cx="274320" cy="256032"/>
          </a:xfrm>
          <a:prstGeom prst="rect">
            <a:avLst/>
          </a:prstGeom>
          <a:noFill/>
        </p:spPr>
        <p:txBody>
          <a:bodyPr wrap="square" lIns="0" rIns="0" tIns="0" bIns="0" anchor="t">
            <a:spAutoFit/>
          </a:bodyPr>
          <a:lstStyle/>
          <a:p>
            <a:pPr algn="ctr">
              <a:lnSpc>
                <a:spcPct val="115000"/>
              </a:lnSpc>
            </a:pPr>
            <a:r>
              <a:rPr sz="1100" b="1" i="0">
                <a:solidFill>
                  <a:srgbClr val="FFFFFF"/>
                </a:solidFill>
                <a:latin typeface="DejaVu Sans"/>
              </a:rPr>
              <a:t>4</a:t>
            </a:r>
          </a:p>
        </p:txBody>
      </p:sp>
      <p:sp>
        <p:nvSpPr>
          <p:cNvPr id="22" name="TextBox 21"/>
          <p:cNvSpPr txBox="1"/>
          <p:nvPr/>
        </p:nvSpPr>
        <p:spPr>
          <a:xfrm>
            <a:off x="1033271" y="3108960"/>
            <a:ext cx="4882896" cy="347472"/>
          </a:xfrm>
          <a:prstGeom prst="rect">
            <a:avLst/>
          </a:prstGeom>
          <a:noFill/>
        </p:spPr>
        <p:txBody>
          <a:bodyPr wrap="square" lIns="0" rIns="0" tIns="0" bIns="0" anchor="ctr">
            <a:spAutoFit/>
          </a:bodyPr>
          <a:lstStyle/>
          <a:p>
            <a:pPr algn="l">
              <a:lnSpc>
                <a:spcPct val="96000"/>
              </a:lnSpc>
            </a:pPr>
            <a:r>
              <a:rPr sz="1100" b="1" i="0">
                <a:solidFill>
                  <a:srgbClr val="21295C"/>
                </a:solidFill>
                <a:latin typeface="DejaVu Sans"/>
              </a:rPr>
              <a:t>Выберут ли это настолько, чтобы за это платить</a:t>
            </a:r>
          </a:p>
        </p:txBody>
      </p:sp>
      <p:sp>
        <p:nvSpPr>
          <p:cNvPr id="23" name="TextBox 22"/>
          <p:cNvSpPr txBox="1"/>
          <p:nvPr/>
        </p:nvSpPr>
        <p:spPr>
          <a:xfrm>
            <a:off x="1033271" y="3438144"/>
            <a:ext cx="4882896" cy="182880"/>
          </a:xfrm>
          <a:prstGeom prst="rect">
            <a:avLst/>
          </a:prstGeom>
          <a:noFill/>
        </p:spPr>
        <p:txBody>
          <a:bodyPr wrap="square" lIns="0" rIns="0" tIns="0" bIns="0" anchor="t">
            <a:spAutoFit/>
          </a:bodyPr>
          <a:lstStyle/>
          <a:p>
            <a:pPr algn="l">
              <a:lnSpc>
                <a:spcPct val="115000"/>
              </a:lnSpc>
            </a:pPr>
            <a:r>
              <a:rPr sz="950" b="0" i="1">
                <a:solidFill>
                  <a:srgbClr val="028090"/>
                </a:solidFill>
                <a:latin typeface="DejaVu Sans"/>
              </a:rPr>
              <a:t>фазы 4 и 6 · измерение, управление</a:t>
            </a:r>
          </a:p>
        </p:txBody>
      </p:sp>
      <p:sp>
        <p:nvSpPr>
          <p:cNvPr id="24" name="Rounded Rectangle 23"/>
          <p:cNvSpPr/>
          <p:nvPr/>
        </p:nvSpPr>
        <p:spPr>
          <a:xfrm>
            <a:off x="502920" y="3675887"/>
            <a:ext cx="5577840" cy="548640"/>
          </a:xfrm>
          <a:prstGeom prst="roundRect">
            <a:avLst>
              <a:gd name="adj" fmla="val 22000"/>
            </a:avLst>
          </a:prstGeom>
          <a:solidFill>
            <a:srgbClr val="F4F7FA"/>
          </a:solidFill>
          <a:ln w="1651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9224" y="3813048"/>
            <a:ext cx="274320" cy="274320"/>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9224" y="3831335"/>
            <a:ext cx="274320" cy="256032"/>
          </a:xfrm>
          <a:prstGeom prst="rect">
            <a:avLst/>
          </a:prstGeom>
          <a:noFill/>
        </p:spPr>
        <p:txBody>
          <a:bodyPr wrap="square" lIns="0" rIns="0" tIns="0" bIns="0" anchor="t">
            <a:spAutoFit/>
          </a:bodyPr>
          <a:lstStyle/>
          <a:p>
            <a:pPr algn="ctr">
              <a:lnSpc>
                <a:spcPct val="115000"/>
              </a:lnSpc>
            </a:pPr>
            <a:r>
              <a:rPr sz="1100" b="1" i="0">
                <a:solidFill>
                  <a:srgbClr val="FFFFFF"/>
                </a:solidFill>
                <a:latin typeface="DejaVu Sans"/>
              </a:rPr>
              <a:t>5</a:t>
            </a:r>
          </a:p>
        </p:txBody>
      </p:sp>
      <p:sp>
        <p:nvSpPr>
          <p:cNvPr id="27" name="TextBox 26"/>
          <p:cNvSpPr txBox="1"/>
          <p:nvPr/>
        </p:nvSpPr>
        <p:spPr>
          <a:xfrm>
            <a:off x="1033271" y="3694175"/>
            <a:ext cx="4882896" cy="347472"/>
          </a:xfrm>
          <a:prstGeom prst="rect">
            <a:avLst/>
          </a:prstGeom>
          <a:noFill/>
        </p:spPr>
        <p:txBody>
          <a:bodyPr wrap="square" lIns="0" rIns="0" tIns="0" bIns="0" anchor="ctr">
            <a:spAutoFit/>
          </a:bodyPr>
          <a:lstStyle/>
          <a:p>
            <a:pPr algn="l">
              <a:lnSpc>
                <a:spcPct val="96000"/>
              </a:lnSpc>
            </a:pPr>
            <a:r>
              <a:rPr sz="1100" b="1" i="0">
                <a:solidFill>
                  <a:srgbClr val="21295C"/>
                </a:solidFill>
                <a:latin typeface="DejaVu Sans"/>
              </a:rPr>
              <a:t>Держатся ли эти ответы через квартал</a:t>
            </a:r>
          </a:p>
        </p:txBody>
      </p:sp>
      <p:sp>
        <p:nvSpPr>
          <p:cNvPr id="28" name="TextBox 27"/>
          <p:cNvSpPr txBox="1"/>
          <p:nvPr/>
        </p:nvSpPr>
        <p:spPr>
          <a:xfrm>
            <a:off x="1033271" y="4023359"/>
            <a:ext cx="4882896" cy="182880"/>
          </a:xfrm>
          <a:prstGeom prst="rect">
            <a:avLst/>
          </a:prstGeom>
          <a:noFill/>
        </p:spPr>
        <p:txBody>
          <a:bodyPr wrap="square" lIns="0" rIns="0" tIns="0" bIns="0" anchor="t">
            <a:spAutoFit/>
          </a:bodyPr>
          <a:lstStyle/>
          <a:p>
            <a:pPr algn="l">
              <a:lnSpc>
                <a:spcPct val="115000"/>
              </a:lnSpc>
            </a:pPr>
            <a:r>
              <a:rPr sz="950" b="0" i="1">
                <a:solidFill>
                  <a:srgbClr val="028090"/>
                </a:solidFill>
                <a:latin typeface="DejaVu Sans"/>
              </a:rPr>
              <a:t>фаза 5 · поддержка</a:t>
            </a:r>
          </a:p>
        </p:txBody>
      </p:sp>
      <p:sp>
        <p:nvSpPr>
          <p:cNvPr id="29" name="TextBox 28"/>
          <p:cNvSpPr txBox="1"/>
          <p:nvPr/>
        </p:nvSpPr>
        <p:spPr>
          <a:xfrm>
            <a:off x="539496" y="4334256"/>
            <a:ext cx="5504688" cy="768096"/>
          </a:xfrm>
          <a:prstGeom prst="rect">
            <a:avLst/>
          </a:prstGeom>
          <a:noFill/>
        </p:spPr>
        <p:txBody>
          <a:bodyPr wrap="square" lIns="0" rIns="0" tIns="0" bIns="0" anchor="t">
            <a:spAutoFit/>
          </a:bodyPr>
          <a:lstStyle/>
          <a:p>
            <a:pPr algn="l">
              <a:lnSpc>
                <a:spcPct val="108000"/>
              </a:lnSpc>
            </a:pPr>
            <a:r>
              <a:rPr sz="1050" b="0" i="1">
                <a:solidFill>
                  <a:srgbClr val="5B6678"/>
                </a:solidFill>
                <a:latin typeface="DejaVu Sans"/>
              </a:rPr>
              <a:t>Первые четыре — риски продукта по Марти Кагану (продуктовый руководитель, основатель Silicon Valley Product Group, автор книги «Inspired»); пятый открывается только после запуска. У каждого своя фаза: цикл и есть минимальный набор мест, где на эти вопросы отвечают.</a:t>
            </a:r>
          </a:p>
        </p:txBody>
      </p:sp>
      <p:sp>
        <p:nvSpPr>
          <p:cNvPr id="30" name="Rounded Rectangle 29"/>
          <p:cNvSpPr/>
          <p:nvPr/>
        </p:nvSpPr>
        <p:spPr>
          <a:xfrm>
            <a:off x="6355080" y="932688"/>
            <a:ext cx="5349240" cy="2359152"/>
          </a:xfrm>
          <a:prstGeom prst="roundRect">
            <a:avLst>
              <a:gd name="adj" fmla="val 12919"/>
            </a:avLst>
          </a:prstGeom>
          <a:solidFill>
            <a:srgbClr val="F4F7FA"/>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56248" y="1024128"/>
            <a:ext cx="4946903" cy="256032"/>
          </a:xfrm>
          <a:prstGeom prst="rect">
            <a:avLst/>
          </a:prstGeom>
          <a:noFill/>
        </p:spPr>
        <p:txBody>
          <a:bodyPr wrap="square" lIns="0" rIns="0" tIns="0" bIns="0" anchor="t">
            <a:spAutoFit/>
          </a:bodyPr>
          <a:lstStyle/>
          <a:p>
            <a:pPr algn="l">
              <a:lnSpc>
                <a:spcPct val="115000"/>
              </a:lnSpc>
            </a:pPr>
            <a:r>
              <a:rPr sz="1250" b="1" i="0">
                <a:solidFill>
                  <a:srgbClr val="028090"/>
                </a:solidFill>
                <a:latin typeface="DejaVu Sans"/>
              </a:rPr>
              <a:t>Когда цикла нет</a:t>
            </a:r>
          </a:p>
        </p:txBody>
      </p:sp>
      <p:sp>
        <p:nvSpPr>
          <p:cNvPr id="32" name="TextBox 31"/>
          <p:cNvSpPr txBox="1"/>
          <p:nvPr/>
        </p:nvSpPr>
        <p:spPr>
          <a:xfrm>
            <a:off x="6556248" y="1335024"/>
            <a:ext cx="4946903" cy="1847088"/>
          </a:xfrm>
          <a:prstGeom prst="rect">
            <a:avLst/>
          </a:prstGeom>
          <a:noFill/>
        </p:spPr>
        <p:txBody>
          <a:bodyPr wrap="square" lIns="0" rIns="0" tIns="0" bIns="0" anchor="t">
            <a:spAutoFit/>
          </a:bodyPr>
          <a:lstStyle/>
          <a:p>
            <a:pPr algn="l">
              <a:lnSpc>
                <a:spcPct val="114000"/>
              </a:lnSpc>
            </a:pPr>
            <a:r>
              <a:rPr sz="1100" b="0" i="0">
                <a:solidFill>
                  <a:srgbClr val="21295C"/>
                </a:solidFill>
                <a:latin typeface="DejaVu Sans"/>
              </a:rPr>
              <a:t>Вопросы не исчезают — их место занимают оптимистичные допущения.</a:t>
            </a:r>
          </a:p>
          <a:p>
            <a:pPr algn="l">
              <a:lnSpc>
                <a:spcPct val="114000"/>
              </a:lnSpc>
            </a:pPr>
            <a:r>
              <a:rPr sz="1100" b="0" i="0">
                <a:solidFill>
                  <a:srgbClr val="21295C"/>
                </a:solidFill>
                <a:latin typeface="DejaVu Sans"/>
              </a:rPr>
              <a:t>Ошибка не исчезает тоже — сдвигается только момент, когда её находят: после оплаченной сборки и состоявшегося релиза, где откат стоит дороже самой ошибки.</a:t>
            </a:r>
          </a:p>
          <a:p>
            <a:pPr algn="l">
              <a:lnSpc>
                <a:spcPct val="114000"/>
              </a:lnSpc>
            </a:pPr>
            <a:r>
              <a:rPr sz="1100" b="0" i="0">
                <a:solidFill>
                  <a:srgbClr val="21295C"/>
                </a:solidFill>
                <a:latin typeface="DejaVu Sans"/>
              </a:rPr>
              <a:t>От требований до выпуска стоимость исправления расходится до ста раз в крупных проектах и вчетверо в небольших (Барри Боэм, исследователь экономики разработки программ, 1981).</a:t>
            </a:r>
          </a:p>
        </p:txBody>
      </p:sp>
      <p:sp>
        <p:nvSpPr>
          <p:cNvPr id="33" name="Rounded Rectangle 32"/>
          <p:cNvSpPr/>
          <p:nvPr/>
        </p:nvSpPr>
        <p:spPr>
          <a:xfrm>
            <a:off x="6355080" y="3383280"/>
            <a:ext cx="5349240" cy="1920240"/>
          </a:xfrm>
          <a:prstGeom prst="roundRect">
            <a:avLst>
              <a:gd name="adj" fmla="val 15873"/>
            </a:avLst>
          </a:prstGeom>
          <a:solidFill>
            <a:srgbClr val="F4F7FA"/>
          </a:solidFill>
          <a:ln w="1778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56248" y="3474720"/>
            <a:ext cx="4946903" cy="256032"/>
          </a:xfrm>
          <a:prstGeom prst="rect">
            <a:avLst/>
          </a:prstGeom>
          <a:noFill/>
        </p:spPr>
        <p:txBody>
          <a:bodyPr wrap="square" lIns="0" rIns="0" tIns="0" bIns="0" anchor="t">
            <a:spAutoFit/>
          </a:bodyPr>
          <a:lstStyle/>
          <a:p>
            <a:pPr algn="l">
              <a:lnSpc>
                <a:spcPct val="115000"/>
              </a:lnSpc>
            </a:pPr>
            <a:r>
              <a:rPr sz="1250" b="1" i="0">
                <a:solidFill>
                  <a:srgbClr val="028090"/>
                </a:solidFill>
                <a:latin typeface="DejaVu Sans"/>
              </a:rPr>
              <a:t>Изнутри команды это не выглядит провалом</a:t>
            </a:r>
          </a:p>
        </p:txBody>
      </p:sp>
      <p:sp>
        <p:nvSpPr>
          <p:cNvPr id="35" name="TextBox 34"/>
          <p:cNvSpPr txBox="1"/>
          <p:nvPr/>
        </p:nvSpPr>
        <p:spPr>
          <a:xfrm>
            <a:off x="6556248" y="3785616"/>
            <a:ext cx="4946903" cy="1408176"/>
          </a:xfrm>
          <a:prstGeom prst="rect">
            <a:avLst/>
          </a:prstGeom>
          <a:noFill/>
        </p:spPr>
        <p:txBody>
          <a:bodyPr wrap="square" lIns="0" rIns="0" tIns="0" bIns="0" anchor="t">
            <a:spAutoFit/>
          </a:bodyPr>
          <a:lstStyle/>
          <a:p>
            <a:pPr algn="l">
              <a:lnSpc>
                <a:spcPct val="114000"/>
              </a:lnSpc>
            </a:pPr>
            <a:r>
              <a:rPr sz="1100" b="0" i="0">
                <a:solidFill>
                  <a:srgbClr val="21295C"/>
                </a:solidFill>
                <a:latin typeface="DejaVu Sans"/>
              </a:rPr>
              <a:t>Собрали — никто не пользуется · дошли до пилота и застряли · работает, но не выбрано · внедрили, а через квартал перестали открывать.</a:t>
            </a:r>
          </a:p>
          <a:p>
            <a:pPr algn="l">
              <a:lnSpc>
                <a:spcPct val="114000"/>
              </a:lnSpc>
            </a:pPr>
            <a:r>
              <a:rPr sz="1100" b="0" i="0">
                <a:solidFill>
                  <a:srgbClr val="21295C"/>
                </a:solidFill>
                <a:latin typeface="DejaVu Sans"/>
              </a:rPr>
              <a:t>Сборка во всех четырёх случаях прошла успешно — поэтому изнутри команды это читается как успех, а не как ошибка в гипотезе, которую никто не проверил.</a:t>
            </a:r>
          </a:p>
        </p:txBody>
      </p:sp>
      <p:sp>
        <p:nvSpPr>
          <p:cNvPr id="36" name="Rounded Rectangle 35"/>
          <p:cNvSpPr/>
          <p:nvPr/>
        </p:nvSpPr>
        <p:spPr>
          <a:xfrm>
            <a:off x="502920" y="5431536"/>
            <a:ext cx="11201400" cy="804672"/>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22376" y="5486400"/>
            <a:ext cx="10762488" cy="694944"/>
          </a:xfrm>
          <a:prstGeom prst="rect">
            <a:avLst/>
          </a:prstGeom>
          <a:noFill/>
        </p:spPr>
        <p:txBody>
          <a:bodyPr wrap="square" lIns="0" rIns="0" tIns="0" bIns="0" anchor="ctr">
            <a:spAutoFit/>
          </a:bodyPr>
          <a:lstStyle/>
          <a:p>
            <a:pPr algn="l">
              <a:lnSpc>
                <a:spcPct val="120000"/>
              </a:lnSpc>
            </a:pPr>
            <a:r>
              <a:rPr sz="1250" b="1" i="0">
                <a:solidFill>
                  <a:srgbClr val="21295C"/>
                </a:solidFill>
                <a:latin typeface="DejaVu Sans"/>
              </a:rPr>
              <a:t>Дороговизна сборки работала невольным заслоном: пока изготовление стоило недели, оно само заставляло думать заранее. Искусственный интеллект обнулил именно её — и у команд, у которых явного цикла не было никогда, не осталось ничего, что удерживало бы от пропуска этих вопросов.</a:t>
            </a:r>
          </a:p>
        </p:txBody>
      </p:sp>
      <p:sp>
        <p:nvSpPr>
          <p:cNvPr id="38" name="TextBox 37"/>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4 / 54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82880"/>
            <a:ext cx="11201400" cy="841248"/>
          </a:xfrm>
          <a:prstGeom prst="rect">
            <a:avLst/>
          </a:prstGeom>
          <a:noFill/>
        </p:spPr>
        <p:txBody>
          <a:bodyPr wrap="square" lIns="0" rIns="0" tIns="0" bIns="0" anchor="t">
            <a:spAutoFit/>
          </a:bodyPr>
          <a:lstStyle/>
          <a:p>
            <a:pPr algn="l">
              <a:lnSpc>
                <a:spcPct val="110000"/>
              </a:lnSpc>
            </a:pPr>
            <a:r>
              <a:rPr sz="2200" b="1" i="0">
                <a:solidFill>
                  <a:srgbClr val="21295C"/>
                </a:solidFill>
                <a:latin typeface="DejaVu Sans"/>
              </a:rPr>
              <a:t>Искусственный интеллект меняет каждую стрелку — но не одинаково</a:t>
            </a:r>
          </a:p>
        </p:txBody>
      </p:sp>
      <p:sp>
        <p:nvSpPr>
          <p:cNvPr id="3" name="Rounded Rectangle 2"/>
          <p:cNvSpPr/>
          <p:nvPr/>
        </p:nvSpPr>
        <p:spPr>
          <a:xfrm>
            <a:off x="502920" y="1042415"/>
            <a:ext cx="11201400" cy="804672"/>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2376" y="1097280"/>
            <a:ext cx="10762488" cy="694944"/>
          </a:xfrm>
          <a:prstGeom prst="rect">
            <a:avLst/>
          </a:prstGeom>
          <a:noFill/>
        </p:spPr>
        <p:txBody>
          <a:bodyPr wrap="square" lIns="0" rIns="0" tIns="0" bIns="0" anchor="ctr">
            <a:spAutoFit/>
          </a:bodyPr>
          <a:lstStyle/>
          <a:p>
            <a:pPr algn="l">
              <a:lnSpc>
                <a:spcPct val="120000"/>
              </a:lnSpc>
            </a:pPr>
            <a:r>
              <a:rPr sz="1400" b="1" i="0">
                <a:solidFill>
                  <a:srgbClr val="21295C"/>
                </a:solidFill>
                <a:latin typeface="DejaVu Sans"/>
              </a:rPr>
              <a:t>У каждой стрелки петли есть классическая дисциплина, и искусственный интеллект её не отменяет. Он меняет ровно две вещи: сколько эта дисциплина стоит и насколько ей можно верить без проверки.</a:t>
            </a:r>
          </a:p>
        </p:txBody>
      </p:sp>
      <p:sp>
        <p:nvSpPr>
          <p:cNvPr id="5" name="TextBox 4"/>
          <p:cNvSpPr txBox="1"/>
          <p:nvPr/>
        </p:nvSpPr>
        <p:spPr>
          <a:xfrm>
            <a:off x="502920" y="1975104"/>
            <a:ext cx="11201400" cy="256032"/>
          </a:xfrm>
          <a:prstGeom prst="rect">
            <a:avLst/>
          </a:prstGeom>
          <a:noFill/>
        </p:spPr>
        <p:txBody>
          <a:bodyPr wrap="square" lIns="0" rIns="0" tIns="0" bIns="0" anchor="t">
            <a:spAutoFit/>
          </a:bodyPr>
          <a:lstStyle/>
          <a:p>
            <a:pPr algn="l">
              <a:lnSpc>
                <a:spcPct val="100000"/>
              </a:lnSpc>
            </a:pPr>
            <a:r>
              <a:rPr sz="1200" b="1" i="0">
                <a:solidFill>
                  <a:srgbClr val="065A82"/>
                </a:solidFill>
                <a:latin typeface="DejaVu Sans"/>
              </a:rPr>
              <a:t>Три стрелки петли — и что именно с каждой сделал искусственный интеллект</a:t>
            </a:r>
          </a:p>
        </p:txBody>
      </p:sp>
      <p:sp>
        <p:nvSpPr>
          <p:cNvPr id="6" name="Rounded Rectangle 5"/>
          <p:cNvSpPr/>
          <p:nvPr/>
        </p:nvSpPr>
        <p:spPr>
          <a:xfrm>
            <a:off x="502920" y="2304288"/>
            <a:ext cx="11201400" cy="749808"/>
          </a:xfrm>
          <a:prstGeom prst="roundRect">
            <a:avLst>
              <a:gd name="adj" fmla="val 22000"/>
            </a:avLst>
          </a:prstGeom>
          <a:solidFill>
            <a:srgbClr val="F4F7FA"/>
          </a:solidFill>
          <a:ln w="2032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hammer-gold.png"/>
          <p:cNvPicPr>
            <a:picLocks noChangeAspect="1"/>
          </p:cNvPicPr>
          <p:nvPr/>
        </p:nvPicPr>
        <p:blipFill>
          <a:blip r:embed="rId2"/>
          <a:stretch>
            <a:fillRect/>
          </a:stretch>
        </p:blipFill>
        <p:spPr>
          <a:xfrm>
            <a:off x="731520" y="2468880"/>
            <a:ext cx="420624" cy="420624"/>
          </a:xfrm>
          <a:prstGeom prst="rect">
            <a:avLst/>
          </a:prstGeom>
        </p:spPr>
      </p:pic>
      <p:sp>
        <p:nvSpPr>
          <p:cNvPr id="8" name="TextBox 7"/>
          <p:cNvSpPr txBox="1"/>
          <p:nvPr/>
        </p:nvSpPr>
        <p:spPr>
          <a:xfrm>
            <a:off x="1316736" y="2350008"/>
            <a:ext cx="3611880" cy="365760"/>
          </a:xfrm>
          <a:prstGeom prst="rect">
            <a:avLst/>
          </a:prstGeom>
          <a:noFill/>
        </p:spPr>
        <p:txBody>
          <a:bodyPr wrap="square" lIns="0" rIns="0" tIns="0" bIns="0" anchor="ctr">
            <a:spAutoFit/>
          </a:bodyPr>
          <a:lstStyle/>
          <a:p>
            <a:pPr algn="l">
              <a:lnSpc>
                <a:spcPct val="96000"/>
              </a:lnSpc>
            </a:pPr>
            <a:r>
              <a:rPr sz="1350" b="1" i="0">
                <a:solidFill>
                  <a:srgbClr val="21295C"/>
                </a:solidFill>
                <a:latin typeface="DejaVu Sans"/>
              </a:rPr>
              <a:t>Строить</a:t>
            </a:r>
          </a:p>
        </p:txBody>
      </p:sp>
      <p:sp>
        <p:nvSpPr>
          <p:cNvPr id="9" name="TextBox 8"/>
          <p:cNvSpPr txBox="1"/>
          <p:nvPr/>
        </p:nvSpPr>
        <p:spPr>
          <a:xfrm>
            <a:off x="1316736" y="2743200"/>
            <a:ext cx="3611880" cy="237744"/>
          </a:xfrm>
          <a:prstGeom prst="rect">
            <a:avLst/>
          </a:prstGeom>
          <a:noFill/>
        </p:spPr>
        <p:txBody>
          <a:bodyPr wrap="square" lIns="0" rIns="0" tIns="0" bIns="0" anchor="t">
            <a:spAutoFit/>
          </a:bodyPr>
          <a:lstStyle/>
          <a:p>
            <a:pPr algn="l">
              <a:lnSpc>
                <a:spcPct val="115000"/>
              </a:lnSpc>
            </a:pPr>
            <a:r>
              <a:rPr sz="950" b="0" i="1">
                <a:solidFill>
                  <a:srgbClr val="028090"/>
                </a:solidFill>
                <a:latin typeface="DejaVu Sans"/>
              </a:rPr>
              <a:t>фаза сборки и запуска</a:t>
            </a:r>
          </a:p>
        </p:txBody>
      </p:sp>
      <p:sp>
        <p:nvSpPr>
          <p:cNvPr id="10" name="TextBox 9"/>
          <p:cNvSpPr txBox="1"/>
          <p:nvPr/>
        </p:nvSpPr>
        <p:spPr>
          <a:xfrm>
            <a:off x="5047488" y="2395728"/>
            <a:ext cx="6446520" cy="566928"/>
          </a:xfrm>
          <a:prstGeom prst="rect">
            <a:avLst/>
          </a:prstGeom>
          <a:noFill/>
        </p:spPr>
        <p:txBody>
          <a:bodyPr wrap="square" lIns="0" rIns="0" tIns="0" bIns="0" anchor="ctr">
            <a:spAutoFit/>
          </a:bodyPr>
          <a:lstStyle/>
          <a:p>
            <a:pPr algn="l">
              <a:lnSpc>
                <a:spcPct val="108000"/>
              </a:lnSpc>
            </a:pPr>
            <a:r>
              <a:rPr sz="1250" b="0" i="0">
                <a:solidFill>
                  <a:srgbClr val="21295C"/>
                </a:solidFill>
                <a:latin typeface="DejaVu Sans"/>
              </a:rPr>
              <a:t>стоимость упала почти до нуля: черновик кода, макета, плана исследования</a:t>
            </a:r>
          </a:p>
        </p:txBody>
      </p:sp>
      <p:sp>
        <p:nvSpPr>
          <p:cNvPr id="11" name="Rounded Rectangle 10"/>
          <p:cNvSpPr/>
          <p:nvPr/>
        </p:nvSpPr>
        <p:spPr>
          <a:xfrm>
            <a:off x="502920" y="3163824"/>
            <a:ext cx="11201400" cy="749808"/>
          </a:xfrm>
          <a:prstGeom prst="roundRect">
            <a:avLst>
              <a:gd name="adj" fmla="val 22000"/>
            </a:avLst>
          </a:prstGeom>
          <a:solidFill>
            <a:srgbClr val="F4F7FA"/>
          </a:solidFill>
          <a:ln w="2032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ruler-light.png"/>
          <p:cNvPicPr>
            <a:picLocks noChangeAspect="1"/>
          </p:cNvPicPr>
          <p:nvPr/>
        </p:nvPicPr>
        <p:blipFill>
          <a:blip r:embed="rId3"/>
          <a:stretch>
            <a:fillRect/>
          </a:stretch>
        </p:blipFill>
        <p:spPr>
          <a:xfrm>
            <a:off x="731520" y="3328416"/>
            <a:ext cx="420624" cy="420624"/>
          </a:xfrm>
          <a:prstGeom prst="rect">
            <a:avLst/>
          </a:prstGeom>
        </p:spPr>
      </p:pic>
      <p:sp>
        <p:nvSpPr>
          <p:cNvPr id="13" name="TextBox 12"/>
          <p:cNvSpPr txBox="1"/>
          <p:nvPr/>
        </p:nvSpPr>
        <p:spPr>
          <a:xfrm>
            <a:off x="1316736" y="3209544"/>
            <a:ext cx="3611880" cy="365760"/>
          </a:xfrm>
          <a:prstGeom prst="rect">
            <a:avLst/>
          </a:prstGeom>
          <a:noFill/>
        </p:spPr>
        <p:txBody>
          <a:bodyPr wrap="square" lIns="0" rIns="0" tIns="0" bIns="0" anchor="ctr">
            <a:spAutoFit/>
          </a:bodyPr>
          <a:lstStyle/>
          <a:p>
            <a:pPr algn="l">
              <a:lnSpc>
                <a:spcPct val="96000"/>
              </a:lnSpc>
            </a:pPr>
            <a:r>
              <a:rPr sz="1350" b="1" i="0">
                <a:solidFill>
                  <a:srgbClr val="21295C"/>
                </a:solidFill>
                <a:latin typeface="DejaVu Sans"/>
              </a:rPr>
              <a:t>Измерять и делать выводы</a:t>
            </a:r>
          </a:p>
        </p:txBody>
      </p:sp>
      <p:sp>
        <p:nvSpPr>
          <p:cNvPr id="14" name="TextBox 13"/>
          <p:cNvSpPr txBox="1"/>
          <p:nvPr/>
        </p:nvSpPr>
        <p:spPr>
          <a:xfrm>
            <a:off x="1316736" y="3602736"/>
            <a:ext cx="3611880" cy="237744"/>
          </a:xfrm>
          <a:prstGeom prst="rect">
            <a:avLst/>
          </a:prstGeom>
          <a:noFill/>
        </p:spPr>
        <p:txBody>
          <a:bodyPr wrap="square" lIns="0" rIns="0" tIns="0" bIns="0" anchor="t">
            <a:spAutoFit/>
          </a:bodyPr>
          <a:lstStyle/>
          <a:p>
            <a:pPr algn="l">
              <a:lnSpc>
                <a:spcPct val="115000"/>
              </a:lnSpc>
            </a:pPr>
            <a:r>
              <a:rPr sz="950" b="0" i="1">
                <a:solidFill>
                  <a:srgbClr val="028090"/>
                </a:solidFill>
                <a:latin typeface="DejaVu Sans"/>
              </a:rPr>
              <a:t>фаза измерения</a:t>
            </a:r>
          </a:p>
        </p:txBody>
      </p:sp>
      <p:sp>
        <p:nvSpPr>
          <p:cNvPr id="15" name="TextBox 14"/>
          <p:cNvSpPr txBox="1"/>
          <p:nvPr/>
        </p:nvSpPr>
        <p:spPr>
          <a:xfrm>
            <a:off x="5047488" y="3255264"/>
            <a:ext cx="6446520" cy="566928"/>
          </a:xfrm>
          <a:prstGeom prst="rect">
            <a:avLst/>
          </a:prstGeom>
          <a:noFill/>
        </p:spPr>
        <p:txBody>
          <a:bodyPr wrap="square" lIns="0" rIns="0" tIns="0" bIns="0" anchor="ctr">
            <a:spAutoFit/>
          </a:bodyPr>
          <a:lstStyle/>
          <a:p>
            <a:pPr algn="l">
              <a:lnSpc>
                <a:spcPct val="108000"/>
              </a:lnSpc>
            </a:pPr>
            <a:r>
              <a:rPr sz="1250" b="0" i="0">
                <a:solidFill>
                  <a:srgbClr val="21295C"/>
                </a:solidFill>
                <a:latin typeface="DejaVu Sans"/>
              </a:rPr>
              <a:t>стоимость та же, а доверие к результату упало: сам инструмент измерения стал вероятностным</a:t>
            </a:r>
          </a:p>
        </p:txBody>
      </p:sp>
      <p:sp>
        <p:nvSpPr>
          <p:cNvPr id="16" name="Rounded Rectangle 15"/>
          <p:cNvSpPr/>
          <p:nvPr/>
        </p:nvSpPr>
        <p:spPr>
          <a:xfrm>
            <a:off x="502920" y="4023360"/>
            <a:ext cx="11201400" cy="749808"/>
          </a:xfrm>
          <a:prstGeom prst="roundRect">
            <a:avLst>
              <a:gd name="adj" fmla="val 22000"/>
            </a:avLst>
          </a:prstGeom>
          <a:solidFill>
            <a:srgbClr val="F4F7FA"/>
          </a:solidFill>
          <a:ln w="2032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eye-teal.png"/>
          <p:cNvPicPr>
            <a:picLocks noChangeAspect="1"/>
          </p:cNvPicPr>
          <p:nvPr/>
        </p:nvPicPr>
        <p:blipFill>
          <a:blip r:embed="rId4"/>
          <a:stretch>
            <a:fillRect/>
          </a:stretch>
        </p:blipFill>
        <p:spPr>
          <a:xfrm>
            <a:off x="731520" y="4187952"/>
            <a:ext cx="420624" cy="420624"/>
          </a:xfrm>
          <a:prstGeom prst="rect">
            <a:avLst/>
          </a:prstGeom>
        </p:spPr>
      </p:pic>
      <p:sp>
        <p:nvSpPr>
          <p:cNvPr id="18" name="TextBox 17"/>
          <p:cNvSpPr txBox="1"/>
          <p:nvPr/>
        </p:nvSpPr>
        <p:spPr>
          <a:xfrm>
            <a:off x="1316736" y="4069080"/>
            <a:ext cx="3611880" cy="365760"/>
          </a:xfrm>
          <a:prstGeom prst="rect">
            <a:avLst/>
          </a:prstGeom>
          <a:noFill/>
        </p:spPr>
        <p:txBody>
          <a:bodyPr wrap="square" lIns="0" rIns="0" tIns="0" bIns="0" anchor="ctr">
            <a:spAutoFit/>
          </a:bodyPr>
          <a:lstStyle/>
          <a:p>
            <a:pPr algn="l">
              <a:lnSpc>
                <a:spcPct val="96000"/>
              </a:lnSpc>
            </a:pPr>
            <a:r>
              <a:rPr sz="1350" b="1" i="0">
                <a:solidFill>
                  <a:srgbClr val="21295C"/>
                </a:solidFill>
                <a:latin typeface="DejaVu Sans"/>
              </a:rPr>
              <a:t>Наблюдать за работой продукта</a:t>
            </a:r>
          </a:p>
        </p:txBody>
      </p:sp>
      <p:sp>
        <p:nvSpPr>
          <p:cNvPr id="19" name="TextBox 18"/>
          <p:cNvSpPr txBox="1"/>
          <p:nvPr/>
        </p:nvSpPr>
        <p:spPr>
          <a:xfrm>
            <a:off x="1316736" y="4462272"/>
            <a:ext cx="3611880" cy="237744"/>
          </a:xfrm>
          <a:prstGeom prst="rect">
            <a:avLst/>
          </a:prstGeom>
          <a:noFill/>
        </p:spPr>
        <p:txBody>
          <a:bodyPr wrap="square" lIns="0" rIns="0" tIns="0" bIns="0" anchor="t">
            <a:spAutoFit/>
          </a:bodyPr>
          <a:lstStyle/>
          <a:p>
            <a:pPr algn="l">
              <a:lnSpc>
                <a:spcPct val="115000"/>
              </a:lnSpc>
            </a:pPr>
            <a:r>
              <a:rPr sz="950" b="0" i="1">
                <a:solidFill>
                  <a:srgbClr val="028090"/>
                </a:solidFill>
                <a:latin typeface="DejaVu Sans"/>
              </a:rPr>
              <a:t>фаза поддержки</a:t>
            </a:r>
          </a:p>
        </p:txBody>
      </p:sp>
      <p:sp>
        <p:nvSpPr>
          <p:cNvPr id="20" name="TextBox 19"/>
          <p:cNvSpPr txBox="1"/>
          <p:nvPr/>
        </p:nvSpPr>
        <p:spPr>
          <a:xfrm>
            <a:off x="5047488" y="4114800"/>
            <a:ext cx="6446520" cy="566928"/>
          </a:xfrm>
          <a:prstGeom prst="rect">
            <a:avLst/>
          </a:prstGeom>
          <a:noFill/>
        </p:spPr>
        <p:txBody>
          <a:bodyPr wrap="square" lIns="0" rIns="0" tIns="0" bIns="0" anchor="ctr">
            <a:spAutoFit/>
          </a:bodyPr>
          <a:lstStyle/>
          <a:p>
            <a:pPr algn="l">
              <a:lnSpc>
                <a:spcPct val="108000"/>
              </a:lnSpc>
            </a:pPr>
            <a:r>
              <a:rPr sz="1250" b="0" i="0">
                <a:solidFill>
                  <a:srgbClr val="21295C"/>
                </a:solidFill>
                <a:latin typeface="DejaVu Sans"/>
              </a:rPr>
              <a:t>наблюдать стало быстрее, но само наблюдение уязвимо: подменённые данные на входе ведут к уверенному неверному выводу</a:t>
            </a:r>
          </a:p>
        </p:txBody>
      </p:sp>
      <p:sp>
        <p:nvSpPr>
          <p:cNvPr id="21" name="Rounded Rectangle 20"/>
          <p:cNvSpPr/>
          <p:nvPr/>
        </p:nvSpPr>
        <p:spPr>
          <a:xfrm>
            <a:off x="502920" y="4882896"/>
            <a:ext cx="11201400" cy="768096"/>
          </a:xfrm>
          <a:prstGeom prst="roundRect">
            <a:avLst>
              <a:gd name="adj" fmla="val 22000"/>
            </a:avLst>
          </a:prstGeom>
          <a:solidFill>
            <a:srgbClr val="FFFFFF"/>
          </a:solidFill>
          <a:ln w="2032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4937760"/>
            <a:ext cx="10652760" cy="658368"/>
          </a:xfrm>
          <a:prstGeom prst="rect">
            <a:avLst/>
          </a:prstGeom>
          <a:noFill/>
        </p:spPr>
        <p:txBody>
          <a:bodyPr wrap="square" lIns="0" rIns="0" tIns="0" bIns="0" anchor="ctr">
            <a:spAutoFit/>
          </a:bodyPr>
          <a:lstStyle/>
          <a:p>
            <a:pPr algn="l">
              <a:lnSpc>
                <a:spcPct val="112000"/>
              </a:lnSpc>
            </a:pPr>
            <a:r>
              <a:rPr sz="1300" b="1" i="0">
                <a:solidFill>
                  <a:srgbClr val="21295C"/>
                </a:solidFill>
                <a:latin typeface="DejaVu Sans"/>
              </a:rPr>
              <a:t>Каждая из шести фаз дальше разбирается по одной и той же схеме: какая классическая дисциплина за неё отвечает, что в ней удешевил искусственный интеллект, и где подход «сначала ИИ» ломается.</a:t>
            </a:r>
          </a:p>
        </p:txBody>
      </p:sp>
      <p:sp>
        <p:nvSpPr>
          <p:cNvPr id="23" name="Rounded Rectangle 22"/>
          <p:cNvSpPr/>
          <p:nvPr/>
        </p:nvSpPr>
        <p:spPr>
          <a:xfrm>
            <a:off x="502920" y="5760720"/>
            <a:ext cx="11201400" cy="603504"/>
          </a:xfrm>
          <a:prstGeom prst="roundRect">
            <a:avLst>
              <a:gd name="adj" fmla="val 10000"/>
            </a:avLst>
          </a:prstGeom>
          <a:solidFill>
            <a:srgbClr val="E5EAF0"/>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797296"/>
            <a:ext cx="10652760" cy="530352"/>
          </a:xfrm>
          <a:prstGeom prst="rect">
            <a:avLst/>
          </a:prstGeom>
          <a:noFill/>
        </p:spPr>
        <p:txBody>
          <a:bodyPr wrap="square" lIns="0" rIns="0" tIns="0" bIns="0" anchor="ctr">
            <a:spAutoFit/>
          </a:bodyPr>
          <a:lstStyle/>
          <a:p>
            <a:pPr algn="l">
              <a:lnSpc>
                <a:spcPct val="108000"/>
              </a:lnSpc>
            </a:pPr>
            <a:r>
              <a:rPr sz="1100" b="0" i="1">
                <a:solidFill>
                  <a:srgbClr val="5B6678"/>
                </a:solidFill>
                <a:latin typeface="DejaVu Sans"/>
              </a:rPr>
              <a:t>Одну и ту же петлю независимо описали трижды: статистик качества Уильям Деминг (1939), лётчик-истребитель и военный теоретик Джон Бойд (1970-е), предприниматель Эрик Райс (2011). Это структурное свойство системы, которая учится в неопределённости, а не методология одного автора.</a:t>
            </a:r>
          </a:p>
        </p:txBody>
      </p:sp>
      <p:sp>
        <p:nvSpPr>
          <p:cNvPr id="25" name="TextBox 24"/>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5 / 54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extBox 1"/>
          <p:cNvSpPr txBox="1"/>
          <p:nvPr/>
        </p:nvSpPr>
        <p:spPr>
          <a:xfrm>
            <a:off x="9464040" y="91440"/>
            <a:ext cx="2651760" cy="1188720"/>
          </a:xfrm>
          <a:prstGeom prst="rect">
            <a:avLst/>
          </a:prstGeom>
          <a:noFill/>
        </p:spPr>
        <p:txBody>
          <a:bodyPr wrap="square" lIns="0" rIns="0" tIns="0" bIns="0" anchor="ctr">
            <a:spAutoFit/>
          </a:bodyPr>
          <a:lstStyle/>
          <a:p>
            <a:pPr algn="ctr">
              <a:lnSpc>
                <a:spcPct val="115000"/>
              </a:lnSpc>
            </a:pPr>
            <a:r>
              <a:rPr sz="9000" b="1" i="0">
                <a:solidFill>
                  <a:srgbClr val="D9E2EC"/>
                </a:solidFill>
                <a:latin typeface="DejaVu Sans"/>
              </a:rPr>
              <a:t>1</a:t>
            </a:r>
          </a:p>
        </p:txBody>
      </p:sp>
      <p:sp>
        <p:nvSpPr>
          <p:cNvPr id="3" name="Rounded Rectangle 2"/>
          <p:cNvSpPr/>
          <p:nvPr/>
        </p:nvSpPr>
        <p:spPr>
          <a:xfrm>
            <a:off x="7635240" y="1234440"/>
            <a:ext cx="4069080" cy="4160520"/>
          </a:xfrm>
          <a:prstGeom prst="roundRect">
            <a:avLst>
              <a:gd name="adj" fmla="val 749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07-distracted-boyfriend.jpg"/>
          <p:cNvPicPr>
            <a:picLocks noChangeAspect="1"/>
          </p:cNvPicPr>
          <p:nvPr/>
        </p:nvPicPr>
        <p:blipFill>
          <a:blip r:embed="rId2"/>
          <a:stretch>
            <a:fillRect/>
          </a:stretch>
        </p:blipFill>
        <p:spPr>
          <a:xfrm>
            <a:off x="7763256" y="2043684"/>
            <a:ext cx="3813048" cy="2542032"/>
          </a:xfrm>
          <a:prstGeom prst="rect">
            <a:avLst/>
          </a:prstGeom>
        </p:spPr>
      </p:pic>
      <p:sp>
        <p:nvSpPr>
          <p:cNvPr id="5" name="TextBox 4"/>
          <p:cNvSpPr txBox="1"/>
          <p:nvPr/>
        </p:nvSpPr>
        <p:spPr>
          <a:xfrm>
            <a:off x="685800" y="1417320"/>
            <a:ext cx="6675120" cy="502920"/>
          </a:xfrm>
          <a:prstGeom prst="rect">
            <a:avLst/>
          </a:prstGeom>
          <a:noFill/>
        </p:spPr>
        <p:txBody>
          <a:bodyPr wrap="square" lIns="0" rIns="0" tIns="0" bIns="0" anchor="t">
            <a:spAutoFit/>
          </a:bodyPr>
          <a:lstStyle/>
          <a:p>
            <a:pPr algn="l">
              <a:lnSpc>
                <a:spcPct val="115000"/>
              </a:lnSpc>
            </a:pPr>
            <a:r>
              <a:rPr sz="2000" b="1" i="0">
                <a:solidFill>
                  <a:srgbClr val="028090"/>
                </a:solidFill>
                <a:latin typeface="DejaVu Sans"/>
              </a:rPr>
              <a:t>РАЗДЕЛ 1</a:t>
            </a:r>
          </a:p>
        </p:txBody>
      </p:sp>
      <p:sp>
        <p:nvSpPr>
          <p:cNvPr id="6" name="TextBox 5"/>
          <p:cNvSpPr txBox="1"/>
          <p:nvPr/>
        </p:nvSpPr>
        <p:spPr>
          <a:xfrm>
            <a:off x="685800" y="2395728"/>
            <a:ext cx="6675120" cy="1600200"/>
          </a:xfrm>
          <a:prstGeom prst="rect">
            <a:avLst/>
          </a:prstGeom>
          <a:noFill/>
        </p:spPr>
        <p:txBody>
          <a:bodyPr wrap="square" lIns="0" rIns="0" tIns="0" bIns="0" anchor="t">
            <a:spAutoFit/>
          </a:bodyPr>
          <a:lstStyle/>
          <a:p>
            <a:pPr algn="l">
              <a:lnSpc>
                <a:spcPct val="108000"/>
              </a:lnSpc>
            </a:pPr>
            <a:r>
              <a:rPr sz="3000" b="1" i="0">
                <a:solidFill>
                  <a:srgbClr val="21295C"/>
                </a:solidFill>
                <a:latin typeface="DejaVu Sans"/>
              </a:rPr>
              <a:t>Исследование — есть ли проблема и у кого</a:t>
            </a:r>
          </a:p>
        </p:txBody>
      </p:sp>
      <p:sp>
        <p:nvSpPr>
          <p:cNvPr id="7" name="Rounded Rectangle 6"/>
          <p:cNvSpPr/>
          <p:nvPr/>
        </p:nvSpPr>
        <p:spPr>
          <a:xfrm>
            <a:off x="713232" y="3840480"/>
            <a:ext cx="3291840" cy="384048"/>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250" b="1">
                <a:solidFill>
                  <a:srgbClr val="21295C"/>
                </a:solidFill>
                <a:latin typeface="DejaVu Sans"/>
              </a:rPr>
              <a:t>1 база · 2 практики · 2 провала</a:t>
            </a:r>
          </a:p>
        </p:txBody>
      </p:sp>
      <p:sp>
        <p:nvSpPr>
          <p:cNvPr id="8" name="TextBox 7"/>
          <p:cNvSpPr txBox="1"/>
          <p:nvPr/>
        </p:nvSpPr>
        <p:spPr>
          <a:xfrm>
            <a:off x="713232" y="4389120"/>
            <a:ext cx="6720840" cy="1417320"/>
          </a:xfrm>
          <a:prstGeom prst="rect">
            <a:avLst/>
          </a:prstGeom>
          <a:noFill/>
        </p:spPr>
        <p:txBody>
          <a:bodyPr wrap="square" lIns="0" rIns="0" tIns="0" bIns="0" anchor="t">
            <a:spAutoFit/>
          </a:bodyPr>
          <a:lstStyle/>
          <a:p>
            <a:pPr algn="l">
              <a:lnSpc>
                <a:spcPct val="116000"/>
              </a:lnSpc>
            </a:pPr>
            <a:r>
              <a:rPr sz="1500" b="0" i="1">
                <a:solidFill>
                  <a:srgbClr val="1C7293"/>
                </a:solidFill>
                <a:latin typeface="DejaVu Sans"/>
              </a:rPr>
              <a:t>Цель фазы одна: выяснить, существует ли проблема и у кого именно, пока решение ещё не построено. Пропустить её можно — тогда ответ придёт в день запуска, когда деньги и месяцы уже потрачены, а вернуть их нечем.</a:t>
            </a:r>
          </a:p>
        </p:txBody>
      </p:sp>
      <p:sp>
        <p:nvSpPr>
          <p:cNvPr id="9" name="Rounded Rectangle 8"/>
          <p:cNvSpPr/>
          <p:nvPr/>
        </p:nvSpPr>
        <p:spPr>
          <a:xfrm>
            <a:off x="502920"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1208"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0</a:t>
            </a:r>
          </a:p>
        </p:txBody>
      </p:sp>
      <p:sp>
        <p:nvSpPr>
          <p:cNvPr id="11" name="TextBox 10"/>
          <p:cNvSpPr txBox="1"/>
          <p:nvPr/>
        </p:nvSpPr>
        <p:spPr>
          <a:xfrm>
            <a:off x="521208" y="6217920"/>
            <a:ext cx="1283589" cy="274320"/>
          </a:xfrm>
          <a:prstGeom prst="rect">
            <a:avLst/>
          </a:prstGeom>
          <a:noFill/>
        </p:spPr>
        <p:txBody>
          <a:bodyPr wrap="square" lIns="0" rIns="0" tIns="0" bIns="0" anchor="t">
            <a:spAutoFit/>
          </a:bodyPr>
          <a:lstStyle/>
          <a:p>
            <a:pPr algn="ctr">
              <a:lnSpc>
                <a:spcPct val="92000"/>
              </a:lnSpc>
            </a:pPr>
            <a:r>
              <a:rPr sz="900" b="0" i="0">
                <a:solidFill>
                  <a:srgbClr val="5B6678"/>
                </a:solidFill>
                <a:latin typeface="DejaVu Sans"/>
              </a:rPr>
              <a:t>Введение</a:t>
            </a:r>
          </a:p>
        </p:txBody>
      </p:sp>
      <p:sp>
        <p:nvSpPr>
          <p:cNvPr id="12" name="Rounded Rectangle 11"/>
          <p:cNvSpPr/>
          <p:nvPr/>
        </p:nvSpPr>
        <p:spPr>
          <a:xfrm>
            <a:off x="1914525" y="5989320"/>
            <a:ext cx="1320165" cy="530352"/>
          </a:xfrm>
          <a:prstGeom prst="roundRect">
            <a:avLst>
              <a:gd name="adj" fmla="val 1200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932813" y="6035040"/>
            <a:ext cx="1283589" cy="164592"/>
          </a:xfrm>
          <a:prstGeom prst="rect">
            <a:avLst/>
          </a:prstGeom>
          <a:noFill/>
        </p:spPr>
        <p:txBody>
          <a:bodyPr wrap="square" lIns="0" rIns="0" tIns="0" bIns="0" anchor="t">
            <a:spAutoFit/>
          </a:bodyPr>
          <a:lstStyle/>
          <a:p>
            <a:pPr algn="ctr">
              <a:lnSpc>
                <a:spcPct val="115000"/>
              </a:lnSpc>
            </a:pPr>
            <a:r>
              <a:rPr sz="1050" b="1" i="0">
                <a:solidFill>
                  <a:srgbClr val="21295C"/>
                </a:solidFill>
                <a:latin typeface="DejaVu Sans"/>
              </a:rPr>
              <a:t>1</a:t>
            </a:r>
          </a:p>
        </p:txBody>
      </p:sp>
      <p:sp>
        <p:nvSpPr>
          <p:cNvPr id="14" name="TextBox 13"/>
          <p:cNvSpPr txBox="1"/>
          <p:nvPr/>
        </p:nvSpPr>
        <p:spPr>
          <a:xfrm>
            <a:off x="1932813" y="6217920"/>
            <a:ext cx="1283589" cy="274320"/>
          </a:xfrm>
          <a:prstGeom prst="rect">
            <a:avLst/>
          </a:prstGeom>
          <a:noFill/>
        </p:spPr>
        <p:txBody>
          <a:bodyPr wrap="square" lIns="0" rIns="0" tIns="0" bIns="0" anchor="t">
            <a:spAutoFit/>
          </a:bodyPr>
          <a:lstStyle/>
          <a:p>
            <a:pPr algn="ctr">
              <a:lnSpc>
                <a:spcPct val="92000"/>
              </a:lnSpc>
            </a:pPr>
            <a:r>
              <a:rPr sz="800" b="1" i="0">
                <a:solidFill>
                  <a:srgbClr val="21295C"/>
                </a:solidFill>
                <a:latin typeface="DejaVu Sans"/>
              </a:rPr>
              <a:t>Исследование</a:t>
            </a:r>
          </a:p>
        </p:txBody>
      </p:sp>
      <p:sp>
        <p:nvSpPr>
          <p:cNvPr id="15" name="Rounded Rectangle 14"/>
          <p:cNvSpPr/>
          <p:nvPr/>
        </p:nvSpPr>
        <p:spPr>
          <a:xfrm>
            <a:off x="3326130"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44418"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2</a:t>
            </a:r>
          </a:p>
        </p:txBody>
      </p:sp>
      <p:sp>
        <p:nvSpPr>
          <p:cNvPr id="17" name="TextBox 16"/>
          <p:cNvSpPr txBox="1"/>
          <p:nvPr/>
        </p:nvSpPr>
        <p:spPr>
          <a:xfrm>
            <a:off x="3344418" y="6217920"/>
            <a:ext cx="1283589" cy="274320"/>
          </a:xfrm>
          <a:prstGeom prst="rect">
            <a:avLst/>
          </a:prstGeom>
          <a:noFill/>
        </p:spPr>
        <p:txBody>
          <a:bodyPr wrap="square" lIns="0" rIns="0" tIns="0" bIns="0" anchor="t">
            <a:spAutoFit/>
          </a:bodyPr>
          <a:lstStyle/>
          <a:p>
            <a:pPr algn="ctr">
              <a:lnSpc>
                <a:spcPct val="92000"/>
              </a:lnSpc>
            </a:pPr>
            <a:r>
              <a:rPr sz="900" b="0" i="0">
                <a:solidFill>
                  <a:srgbClr val="5B6678"/>
                </a:solidFill>
                <a:latin typeface="DejaVu Sans"/>
              </a:rPr>
              <a:t>Дизайн</a:t>
            </a:r>
          </a:p>
        </p:txBody>
      </p:sp>
      <p:sp>
        <p:nvSpPr>
          <p:cNvPr id="18" name="Rounded Rectangle 17"/>
          <p:cNvSpPr/>
          <p:nvPr/>
        </p:nvSpPr>
        <p:spPr>
          <a:xfrm>
            <a:off x="4737735"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56023"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3</a:t>
            </a:r>
          </a:p>
        </p:txBody>
      </p:sp>
      <p:sp>
        <p:nvSpPr>
          <p:cNvPr id="20" name="TextBox 19"/>
          <p:cNvSpPr txBox="1"/>
          <p:nvPr/>
        </p:nvSpPr>
        <p:spPr>
          <a:xfrm>
            <a:off x="4756023" y="6217920"/>
            <a:ext cx="1283589" cy="274320"/>
          </a:xfrm>
          <a:prstGeom prst="rect">
            <a:avLst/>
          </a:prstGeom>
          <a:noFill/>
        </p:spPr>
        <p:txBody>
          <a:bodyPr wrap="square" lIns="0" rIns="0" tIns="0" bIns="0" anchor="t">
            <a:spAutoFit/>
          </a:bodyPr>
          <a:lstStyle/>
          <a:p>
            <a:pPr algn="ctr">
              <a:lnSpc>
                <a:spcPct val="92000"/>
              </a:lnSpc>
            </a:pPr>
            <a:r>
              <a:rPr sz="800" b="0" i="0">
                <a:solidFill>
                  <a:srgbClr val="5B6678"/>
                </a:solidFill>
                <a:latin typeface="DejaVu Sans"/>
              </a:rPr>
              <a:t>Сборка и запуск</a:t>
            </a:r>
          </a:p>
        </p:txBody>
      </p:sp>
      <p:sp>
        <p:nvSpPr>
          <p:cNvPr id="21" name="Rounded Rectangle 20"/>
          <p:cNvSpPr/>
          <p:nvPr/>
        </p:nvSpPr>
        <p:spPr>
          <a:xfrm>
            <a:off x="6149340"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67628"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4</a:t>
            </a:r>
          </a:p>
        </p:txBody>
      </p:sp>
      <p:sp>
        <p:nvSpPr>
          <p:cNvPr id="23" name="TextBox 22"/>
          <p:cNvSpPr txBox="1"/>
          <p:nvPr/>
        </p:nvSpPr>
        <p:spPr>
          <a:xfrm>
            <a:off x="6167628" y="6217920"/>
            <a:ext cx="1283589" cy="274320"/>
          </a:xfrm>
          <a:prstGeom prst="rect">
            <a:avLst/>
          </a:prstGeom>
          <a:noFill/>
        </p:spPr>
        <p:txBody>
          <a:bodyPr wrap="square" lIns="0" rIns="0" tIns="0" bIns="0" anchor="t">
            <a:spAutoFit/>
          </a:bodyPr>
          <a:lstStyle/>
          <a:p>
            <a:pPr algn="ctr">
              <a:lnSpc>
                <a:spcPct val="92000"/>
              </a:lnSpc>
            </a:pPr>
            <a:r>
              <a:rPr sz="900" b="0" i="0">
                <a:solidFill>
                  <a:srgbClr val="5B6678"/>
                </a:solidFill>
                <a:latin typeface="DejaVu Sans"/>
              </a:rPr>
              <a:t>Измерение</a:t>
            </a:r>
          </a:p>
        </p:txBody>
      </p:sp>
      <p:sp>
        <p:nvSpPr>
          <p:cNvPr id="24" name="Rounded Rectangle 23"/>
          <p:cNvSpPr/>
          <p:nvPr/>
        </p:nvSpPr>
        <p:spPr>
          <a:xfrm>
            <a:off x="7560945"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79233"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5</a:t>
            </a:r>
          </a:p>
        </p:txBody>
      </p:sp>
      <p:sp>
        <p:nvSpPr>
          <p:cNvPr id="26" name="TextBox 25"/>
          <p:cNvSpPr txBox="1"/>
          <p:nvPr/>
        </p:nvSpPr>
        <p:spPr>
          <a:xfrm>
            <a:off x="7579233" y="6217920"/>
            <a:ext cx="1283589" cy="274320"/>
          </a:xfrm>
          <a:prstGeom prst="rect">
            <a:avLst/>
          </a:prstGeom>
          <a:noFill/>
        </p:spPr>
        <p:txBody>
          <a:bodyPr wrap="square" lIns="0" rIns="0" tIns="0" bIns="0" anchor="t">
            <a:spAutoFit/>
          </a:bodyPr>
          <a:lstStyle/>
          <a:p>
            <a:pPr algn="ctr">
              <a:lnSpc>
                <a:spcPct val="92000"/>
              </a:lnSpc>
            </a:pPr>
            <a:r>
              <a:rPr sz="900" b="0" i="0">
                <a:solidFill>
                  <a:srgbClr val="5B6678"/>
                </a:solidFill>
                <a:latin typeface="DejaVu Sans"/>
              </a:rPr>
              <a:t>Поддержка</a:t>
            </a:r>
          </a:p>
        </p:txBody>
      </p:sp>
      <p:sp>
        <p:nvSpPr>
          <p:cNvPr id="27" name="Rounded Rectangle 26"/>
          <p:cNvSpPr/>
          <p:nvPr/>
        </p:nvSpPr>
        <p:spPr>
          <a:xfrm>
            <a:off x="8972550"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90838"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6</a:t>
            </a:r>
          </a:p>
        </p:txBody>
      </p:sp>
      <p:sp>
        <p:nvSpPr>
          <p:cNvPr id="29" name="TextBox 28"/>
          <p:cNvSpPr txBox="1"/>
          <p:nvPr/>
        </p:nvSpPr>
        <p:spPr>
          <a:xfrm>
            <a:off x="8990838" y="6217920"/>
            <a:ext cx="1283589" cy="274320"/>
          </a:xfrm>
          <a:prstGeom prst="rect">
            <a:avLst/>
          </a:prstGeom>
          <a:noFill/>
        </p:spPr>
        <p:txBody>
          <a:bodyPr wrap="square" lIns="0" rIns="0" tIns="0" bIns="0" anchor="t">
            <a:spAutoFit/>
          </a:bodyPr>
          <a:lstStyle/>
          <a:p>
            <a:pPr algn="ctr">
              <a:lnSpc>
                <a:spcPct val="92000"/>
              </a:lnSpc>
            </a:pPr>
            <a:r>
              <a:rPr sz="800" b="0" i="0">
                <a:solidFill>
                  <a:srgbClr val="5B6678"/>
                </a:solidFill>
                <a:latin typeface="DejaVu Sans"/>
              </a:rPr>
              <a:t>Управление</a:t>
            </a:r>
          </a:p>
        </p:txBody>
      </p:sp>
      <p:sp>
        <p:nvSpPr>
          <p:cNvPr id="30" name="Rounded Rectangle 29"/>
          <p:cNvSpPr/>
          <p:nvPr/>
        </p:nvSpPr>
        <p:spPr>
          <a:xfrm>
            <a:off x="10384155"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402443"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7</a:t>
            </a:r>
          </a:p>
        </p:txBody>
      </p:sp>
      <p:sp>
        <p:nvSpPr>
          <p:cNvPr id="32" name="TextBox 31"/>
          <p:cNvSpPr txBox="1"/>
          <p:nvPr/>
        </p:nvSpPr>
        <p:spPr>
          <a:xfrm>
            <a:off x="10402443" y="6217920"/>
            <a:ext cx="1283589" cy="274320"/>
          </a:xfrm>
          <a:prstGeom prst="rect">
            <a:avLst/>
          </a:prstGeom>
          <a:noFill/>
        </p:spPr>
        <p:txBody>
          <a:bodyPr wrap="square" lIns="0" rIns="0" tIns="0" bIns="0" anchor="t">
            <a:spAutoFit/>
          </a:bodyPr>
          <a:lstStyle/>
          <a:p>
            <a:pPr algn="ctr">
              <a:lnSpc>
                <a:spcPct val="92000"/>
              </a:lnSpc>
            </a:pPr>
            <a:r>
              <a:rPr sz="900" b="0" i="0">
                <a:solidFill>
                  <a:srgbClr val="5B6678"/>
                </a:solidFill>
                <a:latin typeface="DejaVu Sans"/>
              </a:rPr>
              <a:t>Обобщение</a:t>
            </a:r>
          </a:p>
        </p:txBody>
      </p:sp>
      <p:sp>
        <p:nvSpPr>
          <p:cNvPr id="33" name="TextBox 32"/>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6 / 54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18872"/>
            <a:ext cx="11201400" cy="713232"/>
          </a:xfrm>
          <a:prstGeom prst="rect">
            <a:avLst/>
          </a:prstGeom>
          <a:noFill/>
        </p:spPr>
        <p:txBody>
          <a:bodyPr wrap="square" lIns="0" rIns="0" tIns="0" bIns="0" anchor="t">
            <a:spAutoFit/>
          </a:bodyPr>
          <a:lstStyle/>
          <a:p>
            <a:pPr algn="l">
              <a:lnSpc>
                <a:spcPct val="110000"/>
              </a:lnSpc>
            </a:pPr>
            <a:r>
              <a:rPr sz="2100" b="1" i="0">
                <a:solidFill>
                  <a:srgbClr val="21295C"/>
                </a:solidFill>
                <a:latin typeface="DejaVu Sans"/>
              </a:rPr>
              <a:t>Проверить гипотезу стоит нескольких разговоров — не проверить стоит всей разработки</a:t>
            </a:r>
          </a:p>
        </p:txBody>
      </p:sp>
      <p:sp>
        <p:nvSpPr>
          <p:cNvPr id="3" name="Rounded Rectangle 2"/>
          <p:cNvSpPr/>
          <p:nvPr/>
        </p:nvSpPr>
        <p:spPr>
          <a:xfrm>
            <a:off x="502920" y="932688"/>
            <a:ext cx="11201400" cy="786384"/>
          </a:xfrm>
          <a:prstGeom prst="roundRect">
            <a:avLst>
              <a:gd name="adj" fmla="val 8000"/>
            </a:avLst>
          </a:prstGeom>
          <a:solidFill>
            <a:srgbClr val="E4F1F2"/>
          </a:solidFill>
          <a:ln w="2032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arget-teal.png"/>
          <p:cNvPicPr>
            <a:picLocks noChangeAspect="1"/>
          </p:cNvPicPr>
          <p:nvPr/>
        </p:nvPicPr>
        <p:blipFill>
          <a:blip r:embed="rId2"/>
          <a:stretch>
            <a:fillRect/>
          </a:stretch>
        </p:blipFill>
        <p:spPr>
          <a:xfrm>
            <a:off x="713232" y="1133856"/>
            <a:ext cx="384048" cy="384048"/>
          </a:xfrm>
          <a:prstGeom prst="rect">
            <a:avLst/>
          </a:prstGeom>
        </p:spPr>
      </p:pic>
      <p:sp>
        <p:nvSpPr>
          <p:cNvPr id="5" name="TextBox 4"/>
          <p:cNvSpPr txBox="1"/>
          <p:nvPr/>
        </p:nvSpPr>
        <p:spPr>
          <a:xfrm>
            <a:off x="1261872" y="969264"/>
            <a:ext cx="10314432" cy="713232"/>
          </a:xfrm>
          <a:prstGeom prst="rect">
            <a:avLst/>
          </a:prstGeom>
          <a:noFill/>
        </p:spPr>
        <p:txBody>
          <a:bodyPr wrap="square" lIns="0" rIns="0" tIns="0" bIns="0" anchor="ctr">
            <a:spAutoFit/>
          </a:bodyPr>
          <a:lstStyle/>
          <a:p>
            <a:pPr algn="l">
              <a:lnSpc>
                <a:spcPct val="114000"/>
              </a:lnSpc>
            </a:pPr>
            <a:r>
              <a:rPr sz="1050" b="1" i="0">
                <a:solidFill>
                  <a:srgbClr val="028090"/>
                </a:solidFill>
                <a:latin typeface="DejaVu Sans"/>
              </a:rPr>
              <a:t>ЗАЧЕМ ЭТА РАБОТА   </a:t>
            </a:r>
            <a:r>
              <a:rPr sz="1250" b="0" i="0">
                <a:solidFill>
                  <a:srgbClr val="21295C"/>
                </a:solidFill>
                <a:latin typeface="DejaVu Sans"/>
              </a:rPr>
              <a:t>Исследование отвечает на один вопрос: существует ли проблема и у кого именно. Ответ придёт в любом случае — либо от восьми разговоров за две недели, либо от рынка в день запуска, когда разработка уже оплачена.</a:t>
            </a:r>
          </a:p>
        </p:txBody>
      </p:sp>
      <p:sp>
        <p:nvSpPr>
          <p:cNvPr id="6" name="Rounded Rectangle 5"/>
          <p:cNvSpPr/>
          <p:nvPr/>
        </p:nvSpPr>
        <p:spPr>
          <a:xfrm>
            <a:off x="502920" y="1810512"/>
            <a:ext cx="5532120" cy="2788920"/>
          </a:xfrm>
          <a:prstGeom prst="roundRect">
            <a:avLst>
              <a:gd name="adj" fmla="val 10928"/>
            </a:avLst>
          </a:prstGeom>
          <a:solidFill>
            <a:srgbClr val="F4F7FA"/>
          </a:solidFill>
          <a:ln w="1905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ompass-mid.png"/>
          <p:cNvPicPr>
            <a:picLocks noChangeAspect="1"/>
          </p:cNvPicPr>
          <p:nvPr/>
        </p:nvPicPr>
        <p:blipFill>
          <a:blip r:embed="rId3"/>
          <a:stretch>
            <a:fillRect/>
          </a:stretch>
        </p:blipFill>
        <p:spPr>
          <a:xfrm>
            <a:off x="722376" y="1938528"/>
            <a:ext cx="420624" cy="420624"/>
          </a:xfrm>
          <a:prstGeom prst="rect">
            <a:avLst/>
          </a:prstGeom>
        </p:spPr>
      </p:pic>
      <p:sp>
        <p:nvSpPr>
          <p:cNvPr id="8" name="TextBox 7"/>
          <p:cNvSpPr txBox="1"/>
          <p:nvPr/>
        </p:nvSpPr>
        <p:spPr>
          <a:xfrm>
            <a:off x="1271016" y="1938528"/>
            <a:ext cx="4544568" cy="530352"/>
          </a:xfrm>
          <a:prstGeom prst="rect">
            <a:avLst/>
          </a:prstGeom>
          <a:noFill/>
        </p:spPr>
        <p:txBody>
          <a:bodyPr wrap="square" lIns="0" rIns="0" tIns="0" bIns="0" anchor="t">
            <a:spAutoFit/>
          </a:bodyPr>
          <a:lstStyle/>
          <a:p>
            <a:pPr algn="l">
              <a:lnSpc>
                <a:spcPct val="106000"/>
              </a:lnSpc>
            </a:pPr>
            <a:r>
              <a:rPr sz="1300" b="1" i="0">
                <a:solidFill>
                  <a:srgbClr val="065A82"/>
                </a:solidFill>
                <a:latin typeface="DejaVu Sans"/>
              </a:rPr>
              <a:t>Развитие клиента (Customer Development)</a:t>
            </a:r>
          </a:p>
        </p:txBody>
      </p:sp>
      <p:sp>
        <p:nvSpPr>
          <p:cNvPr id="9" name="TextBox 8"/>
          <p:cNvSpPr txBox="1"/>
          <p:nvPr/>
        </p:nvSpPr>
        <p:spPr>
          <a:xfrm>
            <a:off x="1271016" y="2340864"/>
            <a:ext cx="4544568" cy="310896"/>
          </a:xfrm>
          <a:prstGeom prst="rect">
            <a:avLst/>
          </a:prstGeom>
          <a:noFill/>
        </p:spPr>
        <p:txBody>
          <a:bodyPr wrap="square" lIns="0" rIns="0" tIns="0" bIns="0" anchor="t">
            <a:spAutoFit/>
          </a:bodyPr>
          <a:lstStyle/>
          <a:p>
            <a:pPr algn="l">
              <a:lnSpc>
                <a:spcPct val="100000"/>
              </a:lnSpc>
            </a:pPr>
            <a:r>
              <a:rPr sz="950" b="0" i="1">
                <a:solidFill>
                  <a:srgbClr val="1C7293"/>
                </a:solidFill>
                <a:latin typeface="DejaVu Sans"/>
              </a:rPr>
              <a:t>Стив Бланк, предприниматель Кремниевой долины и преподаватель Стэнфорда, — дисциплина поиска ответа «что и для кого строить»</a:t>
            </a:r>
          </a:p>
        </p:txBody>
      </p:sp>
      <p:sp>
        <p:nvSpPr>
          <p:cNvPr id="10" name="TextBox 9"/>
          <p:cNvSpPr txBox="1"/>
          <p:nvPr/>
        </p:nvSpPr>
        <p:spPr>
          <a:xfrm>
            <a:off x="740664" y="2670048"/>
            <a:ext cx="5056631" cy="896112"/>
          </a:xfrm>
          <a:prstGeom prst="rect">
            <a:avLst/>
          </a:prstGeom>
          <a:noFill/>
        </p:spPr>
        <p:txBody>
          <a:bodyPr wrap="square" lIns="0" rIns="0" tIns="0" bIns="0" anchor="t">
            <a:spAutoFit/>
          </a:bodyPr>
          <a:lstStyle/>
          <a:p>
            <a:pPr algn="l">
              <a:lnSpc>
                <a:spcPct val="114000"/>
              </a:lnSpc>
            </a:pPr>
            <a:r>
              <a:rPr sz="1100" b="0" i="0">
                <a:solidFill>
                  <a:srgbClr val="21295C"/>
                </a:solidFill>
                <a:latin typeface="DejaVu Sans"/>
              </a:rPr>
              <a:t>Правило, ради которого она существует: внутри офиса фактов нет, факты снаружи. Но выйти наружу мало: без записанной заранее гипотезы возвращаются с впечатлениями, подтверждающими то, во что верили до выхода.</a:t>
            </a:r>
          </a:p>
        </p:txBody>
      </p:sp>
      <p:sp>
        <p:nvSpPr>
          <p:cNvPr id="11" name="Rounded Rectangle 10"/>
          <p:cNvSpPr/>
          <p:nvPr/>
        </p:nvSpPr>
        <p:spPr>
          <a:xfrm>
            <a:off x="704088" y="3621024"/>
            <a:ext cx="5129783" cy="548640"/>
          </a:xfrm>
          <a:prstGeom prst="roundRect">
            <a:avLst>
              <a:gd name="adj" fmla="val 22000"/>
            </a:avLst>
          </a:prstGeom>
          <a:solidFill>
            <a:srgbClr val="FDF3DC"/>
          </a:solidFill>
          <a:ln w="2032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3621024"/>
            <a:ext cx="4983480" cy="548640"/>
          </a:xfrm>
          <a:prstGeom prst="rect">
            <a:avLst/>
          </a:prstGeom>
          <a:noFill/>
        </p:spPr>
        <p:txBody>
          <a:bodyPr wrap="square" lIns="0" rIns="0" tIns="0" bIns="0" anchor="ctr">
            <a:spAutoFit/>
          </a:bodyPr>
          <a:lstStyle/>
          <a:p>
            <a:pPr algn="ctr">
              <a:lnSpc>
                <a:spcPct val="108000"/>
              </a:lnSpc>
            </a:pPr>
            <a:r>
              <a:rPr sz="1150" b="1" i="0">
                <a:solidFill>
                  <a:srgbClr val="21295C"/>
                </a:solidFill>
                <a:latin typeface="DejaVu Sans"/>
              </a:rPr>
              <a:t>мы верим X → проверим через Y → к дате Z получим ответ да или нет</a:t>
            </a:r>
          </a:p>
        </p:txBody>
      </p:sp>
      <p:sp>
        <p:nvSpPr>
          <p:cNvPr id="13" name="TextBox 12"/>
          <p:cNvSpPr txBox="1"/>
          <p:nvPr/>
        </p:nvSpPr>
        <p:spPr>
          <a:xfrm>
            <a:off x="740664" y="4224528"/>
            <a:ext cx="5056631" cy="329184"/>
          </a:xfrm>
          <a:prstGeom prst="rect">
            <a:avLst/>
          </a:prstGeom>
          <a:noFill/>
        </p:spPr>
        <p:txBody>
          <a:bodyPr wrap="square" lIns="0" rIns="0" tIns="0" bIns="0" anchor="t">
            <a:spAutoFit/>
          </a:bodyPr>
          <a:lstStyle/>
          <a:p>
            <a:pPr algn="l">
              <a:lnSpc>
                <a:spcPct val="105000"/>
              </a:lnSpc>
            </a:pPr>
            <a:r>
              <a:rPr sz="1050" b="0" i="1">
                <a:solidFill>
                  <a:srgbClr val="5B6678"/>
                </a:solidFill>
                <a:latin typeface="DejaVu Sans"/>
              </a:rPr>
              <a:t>Дата — не оформление: без неё «проверим» не имеет срока.</a:t>
            </a:r>
          </a:p>
        </p:txBody>
      </p:sp>
      <p:sp>
        <p:nvSpPr>
          <p:cNvPr id="14" name="Rounded Rectangle 13"/>
          <p:cNvSpPr/>
          <p:nvPr/>
        </p:nvSpPr>
        <p:spPr>
          <a:xfrm>
            <a:off x="6172200" y="1810512"/>
            <a:ext cx="5532120" cy="2788920"/>
          </a:xfrm>
          <a:prstGeom prst="roundRect">
            <a:avLst>
              <a:gd name="adj" fmla="val 10928"/>
            </a:avLst>
          </a:prstGeom>
          <a:solidFill>
            <a:srgbClr val="F4F7FA"/>
          </a:solidFill>
          <a:ln w="1905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9944" y="1938528"/>
            <a:ext cx="5056631" cy="292608"/>
          </a:xfrm>
          <a:prstGeom prst="rect">
            <a:avLst/>
          </a:prstGeom>
          <a:noFill/>
        </p:spPr>
        <p:txBody>
          <a:bodyPr wrap="square" lIns="0" rIns="0" tIns="0" bIns="0" anchor="t">
            <a:spAutoFit/>
          </a:bodyPr>
          <a:lstStyle/>
          <a:p>
            <a:pPr algn="l">
              <a:lnSpc>
                <a:spcPct val="115000"/>
              </a:lnSpc>
            </a:pPr>
            <a:r>
              <a:rPr sz="1300" b="1" i="0">
                <a:solidFill>
                  <a:srgbClr val="065A82"/>
                </a:solidFill>
                <a:latin typeface="DejaVu Sans"/>
              </a:rPr>
              <a:t>Два правила разговора</a:t>
            </a:r>
          </a:p>
        </p:txBody>
      </p:sp>
      <p:sp>
        <p:nvSpPr>
          <p:cNvPr id="16" name="TextBox 15"/>
          <p:cNvSpPr txBox="1"/>
          <p:nvPr/>
        </p:nvSpPr>
        <p:spPr>
          <a:xfrm>
            <a:off x="6409944" y="2212848"/>
            <a:ext cx="5056631" cy="292608"/>
          </a:xfrm>
          <a:prstGeom prst="rect">
            <a:avLst/>
          </a:prstGeom>
          <a:noFill/>
        </p:spPr>
        <p:txBody>
          <a:bodyPr wrap="square" lIns="0" rIns="0" tIns="0" bIns="0" anchor="t">
            <a:spAutoFit/>
          </a:bodyPr>
          <a:lstStyle/>
          <a:p>
            <a:pPr algn="l">
              <a:lnSpc>
                <a:spcPct val="100000"/>
              </a:lnSpc>
            </a:pPr>
            <a:r>
              <a:rPr sz="950" b="0" i="1">
                <a:solidFill>
                  <a:srgbClr val="1C7293"/>
                </a:solidFill>
                <a:latin typeface="DejaVu Sans"/>
              </a:rPr>
              <a:t>«The Mom Test» — «Тест мамы»: вопрос верен, если даже собственная мама не сможет соврать из вежливости. Роб Фитцпатрик, предприниматель</a:t>
            </a:r>
          </a:p>
        </p:txBody>
      </p:sp>
      <p:sp>
        <p:nvSpPr>
          <p:cNvPr id="17" name="Rounded Rectangle 16"/>
          <p:cNvSpPr/>
          <p:nvPr/>
        </p:nvSpPr>
        <p:spPr>
          <a:xfrm>
            <a:off x="6409944" y="2615184"/>
            <a:ext cx="5056631" cy="566928"/>
          </a:xfrm>
          <a:prstGeom prst="roundRect">
            <a:avLst>
              <a:gd name="adj" fmla="val 12000"/>
            </a:avLst>
          </a:prstGeom>
          <a:solidFill>
            <a:srgbClr val="FFFFFF"/>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history-light.png"/>
          <p:cNvPicPr>
            <a:picLocks noChangeAspect="1"/>
          </p:cNvPicPr>
          <p:nvPr/>
        </p:nvPicPr>
        <p:blipFill>
          <a:blip r:embed="rId4"/>
          <a:stretch>
            <a:fillRect/>
          </a:stretch>
        </p:blipFill>
        <p:spPr>
          <a:xfrm>
            <a:off x="6556248" y="2743200"/>
            <a:ext cx="310896" cy="310896"/>
          </a:xfrm>
          <a:prstGeom prst="rect">
            <a:avLst/>
          </a:prstGeom>
        </p:spPr>
      </p:pic>
      <p:sp>
        <p:nvSpPr>
          <p:cNvPr id="19" name="TextBox 18"/>
          <p:cNvSpPr txBox="1"/>
          <p:nvPr/>
        </p:nvSpPr>
        <p:spPr>
          <a:xfrm>
            <a:off x="7013448" y="2615184"/>
            <a:ext cx="4434840" cy="566928"/>
          </a:xfrm>
          <a:prstGeom prst="rect">
            <a:avLst/>
          </a:prstGeom>
          <a:noFill/>
        </p:spPr>
        <p:txBody>
          <a:bodyPr wrap="square" lIns="0" rIns="0" tIns="0" bIns="0" anchor="ctr">
            <a:spAutoFit/>
          </a:bodyPr>
          <a:lstStyle/>
          <a:p>
            <a:pPr algn="l">
              <a:lnSpc>
                <a:spcPct val="112000"/>
              </a:lnSpc>
            </a:pPr>
            <a:r>
              <a:rPr sz="1100" b="0" i="0">
                <a:solidFill>
                  <a:srgbClr val="21295C"/>
                </a:solidFill>
                <a:latin typeface="DejaVu Sans"/>
              </a:rPr>
              <a:t>Спрашивать о конкретном прошлом, а не о мнении про будущее</a:t>
            </a:r>
          </a:p>
        </p:txBody>
      </p:sp>
      <p:sp>
        <p:nvSpPr>
          <p:cNvPr id="20" name="Rounded Rectangle 19"/>
          <p:cNvSpPr/>
          <p:nvPr/>
        </p:nvSpPr>
        <p:spPr>
          <a:xfrm>
            <a:off x="6409944" y="3255263"/>
            <a:ext cx="5056631" cy="566928"/>
          </a:xfrm>
          <a:prstGeom prst="roundRect">
            <a:avLst>
              <a:gd name="adj" fmla="val 12000"/>
            </a:avLst>
          </a:prstGeom>
          <a:solidFill>
            <a:srgbClr val="FFFFFF"/>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handshake-light.png"/>
          <p:cNvPicPr>
            <a:picLocks noChangeAspect="1"/>
          </p:cNvPicPr>
          <p:nvPr/>
        </p:nvPicPr>
        <p:blipFill>
          <a:blip r:embed="rId5"/>
          <a:stretch>
            <a:fillRect/>
          </a:stretch>
        </p:blipFill>
        <p:spPr>
          <a:xfrm>
            <a:off x="6556248" y="3383279"/>
            <a:ext cx="310896" cy="310896"/>
          </a:xfrm>
          <a:prstGeom prst="rect">
            <a:avLst/>
          </a:prstGeom>
        </p:spPr>
      </p:pic>
      <p:sp>
        <p:nvSpPr>
          <p:cNvPr id="22" name="TextBox 21"/>
          <p:cNvSpPr txBox="1"/>
          <p:nvPr/>
        </p:nvSpPr>
        <p:spPr>
          <a:xfrm>
            <a:off x="7013448" y="3255263"/>
            <a:ext cx="4434840" cy="566928"/>
          </a:xfrm>
          <a:prstGeom prst="rect">
            <a:avLst/>
          </a:prstGeom>
          <a:noFill/>
        </p:spPr>
        <p:txBody>
          <a:bodyPr wrap="square" lIns="0" rIns="0" tIns="0" bIns="0" anchor="ctr">
            <a:spAutoFit/>
          </a:bodyPr>
          <a:lstStyle/>
          <a:p>
            <a:pPr algn="l">
              <a:lnSpc>
                <a:spcPct val="112000"/>
              </a:lnSpc>
            </a:pPr>
            <a:r>
              <a:rPr sz="1100" b="0" i="0">
                <a:solidFill>
                  <a:srgbClr val="21295C"/>
                </a:solidFill>
                <a:latin typeface="DejaVu Sans"/>
              </a:rPr>
              <a:t>Засчитывать обязательство — время, репутацию, деньги, — а не комплимент</a:t>
            </a:r>
          </a:p>
        </p:txBody>
      </p:sp>
      <p:sp>
        <p:nvSpPr>
          <p:cNvPr id="23" name="Rounded Rectangle 22"/>
          <p:cNvSpPr/>
          <p:nvPr/>
        </p:nvSpPr>
        <p:spPr>
          <a:xfrm>
            <a:off x="6409944" y="3931920"/>
            <a:ext cx="5056631" cy="603504"/>
          </a:xfrm>
          <a:prstGeom prst="roundRect">
            <a:avLst>
              <a:gd name="adj" fmla="val 22000"/>
            </a:avLst>
          </a:prstGeom>
          <a:solidFill>
            <a:srgbClr val="E4F1F2"/>
          </a:solidFill>
          <a:ln w="1778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37960" y="3931920"/>
            <a:ext cx="4800600" cy="603504"/>
          </a:xfrm>
          <a:prstGeom prst="rect">
            <a:avLst/>
          </a:prstGeom>
          <a:noFill/>
        </p:spPr>
        <p:txBody>
          <a:bodyPr wrap="square" lIns="0" rIns="0" tIns="0" bIns="0" anchor="ctr">
            <a:spAutoFit/>
          </a:bodyPr>
          <a:lstStyle/>
          <a:p>
            <a:pPr algn="l">
              <a:lnSpc>
                <a:spcPct val="112000"/>
              </a:lnSpc>
            </a:pPr>
            <a:r>
              <a:rPr sz="1050" b="1" i="0">
                <a:solidFill>
                  <a:srgbClr val="5B6678"/>
                </a:solidFill>
                <a:latin typeface="DejaVu Sans"/>
              </a:rPr>
              <a:t>Плохо: </a:t>
            </a:r>
            <a:r>
              <a:rPr sz="1050" b="0" i="0">
                <a:solidFill>
                  <a:srgbClr val="21295C"/>
                </a:solidFill>
                <a:latin typeface="DejaVu Sans"/>
              </a:rPr>
              <a:t>«Заплатили бы 20 долларов в месяц?»   →   </a:t>
            </a:r>
            <a:r>
              <a:rPr sz="1050" b="1" i="0">
                <a:solidFill>
                  <a:srgbClr val="028090"/>
                </a:solidFill>
                <a:latin typeface="DejaVu Sans"/>
              </a:rPr>
              <a:t>Хорошо: </a:t>
            </a:r>
            <a:r>
              <a:rPr sz="1050" b="0" i="0">
                <a:solidFill>
                  <a:srgbClr val="21295C"/>
                </a:solidFill>
                <a:latin typeface="DejaVu Sans"/>
              </a:rPr>
              <a:t>«Сколько вы платите сегодня за ближайший аналог?»</a:t>
            </a:r>
          </a:p>
        </p:txBody>
      </p:sp>
      <p:sp>
        <p:nvSpPr>
          <p:cNvPr id="25" name="Rounded Rectangle 24"/>
          <p:cNvSpPr/>
          <p:nvPr/>
        </p:nvSpPr>
        <p:spPr>
          <a:xfrm>
            <a:off x="502920" y="4736592"/>
            <a:ext cx="11201400" cy="1005840"/>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2376" y="4791455"/>
            <a:ext cx="10762488" cy="896112"/>
          </a:xfrm>
          <a:prstGeom prst="rect">
            <a:avLst/>
          </a:prstGeom>
          <a:noFill/>
        </p:spPr>
        <p:txBody>
          <a:bodyPr wrap="square" lIns="0" rIns="0" tIns="0" bIns="0" anchor="ctr">
            <a:spAutoFit/>
          </a:bodyPr>
          <a:lstStyle/>
          <a:p>
            <a:pPr algn="l">
              <a:lnSpc>
                <a:spcPct val="120000"/>
              </a:lnSpc>
            </a:pPr>
            <a:r>
              <a:rPr sz="1300" b="1" i="0">
                <a:solidFill>
                  <a:srgbClr val="21295C"/>
                </a:solidFill>
                <a:latin typeface="DejaVu Sans"/>
              </a:rPr>
              <a:t>Это не альтернатива циклу разработки и не второй процесс рядом с ним. Цикл отвечает на вопрос «как быстро проверять», эта дисциплина — на вопрос «что и у кого проверять». Она работает на первой стрелке петли, до того как что-то построено.</a:t>
            </a:r>
          </a:p>
        </p:txBody>
      </p:sp>
      <p:sp>
        <p:nvSpPr>
          <p:cNvPr id="27" name="TextBox 26"/>
          <p:cNvSpPr txBox="1"/>
          <p:nvPr/>
        </p:nvSpPr>
        <p:spPr>
          <a:xfrm>
            <a:off x="502920" y="6455664"/>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6"/>
              </a:rPr>
              <a:t>Blank — Customer Development (Four Steps to the Epiphany)</a:t>
            </a:r>
          </a:p>
        </p:txBody>
      </p:sp>
      <p:sp>
        <p:nvSpPr>
          <p:cNvPr id="28" name="TextBox 27"/>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7 / 54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18872"/>
            <a:ext cx="11201400" cy="530352"/>
          </a:xfrm>
          <a:prstGeom prst="rect">
            <a:avLst/>
          </a:prstGeom>
          <a:noFill/>
        </p:spPr>
        <p:txBody>
          <a:bodyPr wrap="square" lIns="0" rIns="0" tIns="0" bIns="0" anchor="t">
            <a:spAutoFit/>
          </a:bodyPr>
          <a:lstStyle/>
          <a:p>
            <a:pPr algn="l">
              <a:lnSpc>
                <a:spcPct val="110000"/>
              </a:lnSpc>
            </a:pPr>
            <a:r>
              <a:rPr sz="2200" b="1" i="0">
                <a:solidFill>
                  <a:srgbClr val="21295C"/>
                </a:solidFill>
                <a:latin typeface="DejaVu Sans"/>
              </a:rPr>
              <a:t>Что ИИ изменил в исследовании к 2026 году — и что не изменил</a:t>
            </a:r>
          </a:p>
        </p:txBody>
      </p:sp>
      <p:sp>
        <p:nvSpPr>
          <p:cNvPr id="3" name="Rounded Rectangle 2"/>
          <p:cNvSpPr/>
          <p:nvPr/>
        </p:nvSpPr>
        <p:spPr>
          <a:xfrm>
            <a:off x="502920" y="749808"/>
            <a:ext cx="2377440" cy="292608"/>
          </a:xfrm>
          <a:prstGeom prst="roundRect">
            <a:avLst>
              <a:gd name="adj" fmla="val 12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76072" y="749808"/>
            <a:ext cx="2231136" cy="292608"/>
          </a:xfrm>
          <a:prstGeom prst="rect">
            <a:avLst/>
          </a:prstGeom>
          <a:noFill/>
        </p:spPr>
        <p:txBody>
          <a:bodyPr wrap="square" lIns="0" rIns="0" tIns="0" bIns="0" anchor="ctr">
            <a:spAutoFit/>
          </a:bodyPr>
          <a:lstStyle/>
          <a:p>
            <a:pPr algn="ctr">
              <a:lnSpc>
                <a:spcPct val="100000"/>
              </a:lnSpc>
            </a:pPr>
            <a:r>
              <a:rPr sz="950" b="1" i="0">
                <a:solidFill>
                  <a:srgbClr val="FFFFFF"/>
                </a:solidFill>
                <a:latin typeface="DejaVu Sans"/>
              </a:rPr>
              <a:t>ШАГ ФАЗЫ</a:t>
            </a:r>
          </a:p>
        </p:txBody>
      </p:sp>
      <p:sp>
        <p:nvSpPr>
          <p:cNvPr id="5" name="Rounded Rectangle 4"/>
          <p:cNvSpPr/>
          <p:nvPr/>
        </p:nvSpPr>
        <p:spPr>
          <a:xfrm>
            <a:off x="3017520" y="749808"/>
            <a:ext cx="4160520" cy="292608"/>
          </a:xfrm>
          <a:prstGeom prst="roundRect">
            <a:avLst>
              <a:gd name="adj" fmla="val 12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090672" y="749808"/>
            <a:ext cx="4014215" cy="292608"/>
          </a:xfrm>
          <a:prstGeom prst="rect">
            <a:avLst/>
          </a:prstGeom>
          <a:noFill/>
        </p:spPr>
        <p:txBody>
          <a:bodyPr wrap="square" lIns="0" rIns="0" tIns="0" bIns="0" anchor="ctr">
            <a:spAutoFit/>
          </a:bodyPr>
          <a:lstStyle/>
          <a:p>
            <a:pPr algn="ctr">
              <a:lnSpc>
                <a:spcPct val="100000"/>
              </a:lnSpc>
            </a:pPr>
            <a:r>
              <a:rPr sz="950" b="1" i="0">
                <a:solidFill>
                  <a:srgbClr val="FFFFFF"/>
                </a:solidFill>
                <a:latin typeface="DejaVu Sans"/>
              </a:rPr>
              <a:t>БЕЗ ИИ</a:t>
            </a:r>
          </a:p>
        </p:txBody>
      </p:sp>
      <p:sp>
        <p:nvSpPr>
          <p:cNvPr id="7" name="Rounded Rectangle 6"/>
          <p:cNvSpPr/>
          <p:nvPr/>
        </p:nvSpPr>
        <p:spPr>
          <a:xfrm>
            <a:off x="7315200" y="749808"/>
            <a:ext cx="4389120" cy="292608"/>
          </a:xfrm>
          <a:prstGeom prst="roundRect">
            <a:avLst>
              <a:gd name="adj" fmla="val 12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88352" y="749808"/>
            <a:ext cx="4242816" cy="292608"/>
          </a:xfrm>
          <a:prstGeom prst="rect">
            <a:avLst/>
          </a:prstGeom>
          <a:noFill/>
        </p:spPr>
        <p:txBody>
          <a:bodyPr wrap="square" lIns="0" rIns="0" tIns="0" bIns="0" anchor="ctr">
            <a:spAutoFit/>
          </a:bodyPr>
          <a:lstStyle/>
          <a:p>
            <a:pPr algn="ctr">
              <a:lnSpc>
                <a:spcPct val="100000"/>
              </a:lnSpc>
            </a:pPr>
            <a:r>
              <a:rPr sz="950" b="1" i="0">
                <a:solidFill>
                  <a:srgbClr val="FFFFFF"/>
                </a:solidFill>
                <a:latin typeface="DejaVu Sans"/>
              </a:rPr>
              <a:t>С ИИ — 2026</a:t>
            </a:r>
          </a:p>
        </p:txBody>
      </p:sp>
      <p:sp>
        <p:nvSpPr>
          <p:cNvPr id="9" name="Rounded Rectangle 8"/>
          <p:cNvSpPr/>
          <p:nvPr/>
        </p:nvSpPr>
        <p:spPr>
          <a:xfrm>
            <a:off x="502920" y="1115568"/>
            <a:ext cx="2377440" cy="713232"/>
          </a:xfrm>
          <a:prstGeom prst="roundRect">
            <a:avLst>
              <a:gd name="adj" fmla="val 22000"/>
            </a:avLst>
          </a:prstGeom>
          <a:solidFill>
            <a:srgbClr val="F4F7FA"/>
          </a:solidFill>
          <a:ln w="1651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ile-search-mid.png"/>
          <p:cNvPicPr>
            <a:picLocks noChangeAspect="1"/>
          </p:cNvPicPr>
          <p:nvPr/>
        </p:nvPicPr>
        <p:blipFill>
          <a:blip r:embed="rId2"/>
          <a:stretch>
            <a:fillRect/>
          </a:stretch>
        </p:blipFill>
        <p:spPr>
          <a:xfrm>
            <a:off x="649224" y="1207008"/>
            <a:ext cx="292608" cy="292608"/>
          </a:xfrm>
          <a:prstGeom prst="rect">
            <a:avLst/>
          </a:prstGeom>
        </p:spPr>
      </p:pic>
      <p:sp>
        <p:nvSpPr>
          <p:cNvPr id="11" name="TextBox 10"/>
          <p:cNvSpPr txBox="1"/>
          <p:nvPr/>
        </p:nvSpPr>
        <p:spPr>
          <a:xfrm>
            <a:off x="996696" y="1188720"/>
            <a:ext cx="1773936" cy="310896"/>
          </a:xfrm>
          <a:prstGeom prst="rect">
            <a:avLst/>
          </a:prstGeom>
          <a:noFill/>
        </p:spPr>
        <p:txBody>
          <a:bodyPr wrap="square" lIns="0" rIns="0" tIns="0" bIns="0" anchor="t">
            <a:spAutoFit/>
          </a:bodyPr>
          <a:lstStyle/>
          <a:p>
            <a:pPr algn="l">
              <a:lnSpc>
                <a:spcPct val="104000"/>
              </a:lnSpc>
            </a:pPr>
            <a:r>
              <a:rPr sz="1100" b="1" i="0">
                <a:solidFill>
                  <a:srgbClr val="065A82"/>
                </a:solidFill>
                <a:latin typeface="DejaVu Sans"/>
              </a:rPr>
              <a:t>Кабинетный поиск</a:t>
            </a:r>
          </a:p>
        </p:txBody>
      </p:sp>
      <p:sp>
        <p:nvSpPr>
          <p:cNvPr id="12" name="TextBox 11"/>
          <p:cNvSpPr txBox="1"/>
          <p:nvPr/>
        </p:nvSpPr>
        <p:spPr>
          <a:xfrm>
            <a:off x="630936" y="1499616"/>
            <a:ext cx="2121408" cy="292608"/>
          </a:xfrm>
          <a:prstGeom prst="rect">
            <a:avLst/>
          </a:prstGeom>
          <a:noFill/>
        </p:spPr>
        <p:txBody>
          <a:bodyPr wrap="square" lIns="0" rIns="0" tIns="0" bIns="0" anchor="t">
            <a:spAutoFit/>
          </a:bodyPr>
          <a:lstStyle/>
          <a:p>
            <a:pPr algn="l">
              <a:lnSpc>
                <a:spcPct val="104000"/>
              </a:lnSpc>
            </a:pPr>
            <a:r>
              <a:rPr sz="850" b="0" i="1">
                <a:solidFill>
                  <a:srgbClr val="5B6678"/>
                </a:solidFill>
                <a:latin typeface="DejaVu Sans"/>
              </a:rPr>
              <a:t>собрать, что уже известно о рынке и о боли</a:t>
            </a:r>
          </a:p>
        </p:txBody>
      </p:sp>
      <p:sp>
        <p:nvSpPr>
          <p:cNvPr id="13" name="Rounded Rectangle 12"/>
          <p:cNvSpPr/>
          <p:nvPr/>
        </p:nvSpPr>
        <p:spPr>
          <a:xfrm>
            <a:off x="3017520" y="1115568"/>
            <a:ext cx="4160520" cy="713232"/>
          </a:xfrm>
          <a:prstGeom prst="roundRect">
            <a:avLst>
              <a:gd name="adj" fmla="val 22000"/>
            </a:avLst>
          </a:prstGeom>
          <a:solidFill>
            <a:srgbClr val="FFFFFF"/>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163824" y="1115568"/>
            <a:ext cx="3867911" cy="713232"/>
          </a:xfrm>
          <a:prstGeom prst="rect">
            <a:avLst/>
          </a:prstGeom>
          <a:noFill/>
        </p:spPr>
        <p:txBody>
          <a:bodyPr wrap="square" lIns="0" rIns="0" tIns="0" bIns="0" anchor="ctr">
            <a:spAutoFit/>
          </a:bodyPr>
          <a:lstStyle/>
          <a:p>
            <a:pPr algn="l">
              <a:lnSpc>
                <a:spcPct val="114000"/>
              </a:lnSpc>
            </a:pPr>
            <a:r>
              <a:rPr sz="1000" b="0" i="0">
                <a:solidFill>
                  <a:srgbClr val="5B6678"/>
                </a:solidFill>
                <a:latin typeface="DejaVu Sans"/>
              </a:rPr>
              <a:t>Аналитик читает отчёты, публикации и форумы — дни работы</a:t>
            </a:r>
          </a:p>
        </p:txBody>
      </p:sp>
      <p:sp>
        <p:nvSpPr>
          <p:cNvPr id="15" name="Rounded Rectangle 14"/>
          <p:cNvSpPr/>
          <p:nvPr/>
        </p:nvSpPr>
        <p:spPr>
          <a:xfrm>
            <a:off x="7315200" y="1115568"/>
            <a:ext cx="4389120" cy="713232"/>
          </a:xfrm>
          <a:prstGeom prst="roundRect">
            <a:avLst>
              <a:gd name="adj" fmla="val 22000"/>
            </a:avLst>
          </a:prstGeom>
          <a:solidFill>
            <a:srgbClr val="E4F1F2"/>
          </a:solidFill>
          <a:ln w="1778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61504" y="1115568"/>
            <a:ext cx="4096511" cy="713232"/>
          </a:xfrm>
          <a:prstGeom prst="rect">
            <a:avLst/>
          </a:prstGeom>
          <a:noFill/>
        </p:spPr>
        <p:txBody>
          <a:bodyPr wrap="square" lIns="0" rIns="0" tIns="0" bIns="0" anchor="ctr">
            <a:spAutoFit/>
          </a:bodyPr>
          <a:lstStyle/>
          <a:p>
            <a:pPr algn="l">
              <a:lnSpc>
                <a:spcPct val="114000"/>
              </a:lnSpc>
            </a:pPr>
            <a:r>
              <a:rPr sz="1000" b="0" i="0">
                <a:solidFill>
                  <a:srgbClr val="21295C"/>
                </a:solidFill>
                <a:latin typeface="DejaVu Sans"/>
              </a:rPr>
              <a:t>Режим глубокого исследования сам планирует поиск, читает сотни источников и отдаёт отчёт со ссылками за 2–30 минут. Есть у всех основных помощников, включая бесплатные тарифы с лимитом</a:t>
            </a:r>
          </a:p>
        </p:txBody>
      </p:sp>
      <p:sp>
        <p:nvSpPr>
          <p:cNvPr id="17" name="Rounded Rectangle 16"/>
          <p:cNvSpPr/>
          <p:nvPr/>
        </p:nvSpPr>
        <p:spPr>
          <a:xfrm>
            <a:off x="502920" y="1901952"/>
            <a:ext cx="2377440" cy="713232"/>
          </a:xfrm>
          <a:prstGeom prst="roundRect">
            <a:avLst>
              <a:gd name="adj" fmla="val 22000"/>
            </a:avLst>
          </a:prstGeom>
          <a:solidFill>
            <a:srgbClr val="F4F7FA"/>
          </a:solidFill>
          <a:ln w="1651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headphones-mid.png"/>
          <p:cNvPicPr>
            <a:picLocks noChangeAspect="1"/>
          </p:cNvPicPr>
          <p:nvPr/>
        </p:nvPicPr>
        <p:blipFill>
          <a:blip r:embed="rId3"/>
          <a:stretch>
            <a:fillRect/>
          </a:stretch>
        </p:blipFill>
        <p:spPr>
          <a:xfrm>
            <a:off x="649224" y="1993392"/>
            <a:ext cx="292608" cy="292608"/>
          </a:xfrm>
          <a:prstGeom prst="rect">
            <a:avLst/>
          </a:prstGeom>
        </p:spPr>
      </p:pic>
      <p:sp>
        <p:nvSpPr>
          <p:cNvPr id="19" name="TextBox 18"/>
          <p:cNvSpPr txBox="1"/>
          <p:nvPr/>
        </p:nvSpPr>
        <p:spPr>
          <a:xfrm>
            <a:off x="996696" y="1975104"/>
            <a:ext cx="1773936" cy="310896"/>
          </a:xfrm>
          <a:prstGeom prst="rect">
            <a:avLst/>
          </a:prstGeom>
          <a:noFill/>
        </p:spPr>
        <p:txBody>
          <a:bodyPr wrap="square" lIns="0" rIns="0" tIns="0" bIns="0" anchor="t">
            <a:spAutoFit/>
          </a:bodyPr>
          <a:lstStyle/>
          <a:p>
            <a:pPr algn="l">
              <a:lnSpc>
                <a:spcPct val="104000"/>
              </a:lnSpc>
            </a:pPr>
            <a:r>
              <a:rPr sz="1100" b="1" i="0">
                <a:solidFill>
                  <a:srgbClr val="065A82"/>
                </a:solidFill>
                <a:latin typeface="DejaVu Sans"/>
              </a:rPr>
              <a:t>Сам разговор</a:t>
            </a:r>
          </a:p>
        </p:txBody>
      </p:sp>
      <p:sp>
        <p:nvSpPr>
          <p:cNvPr id="20" name="Rounded Rectangle 19"/>
          <p:cNvSpPr/>
          <p:nvPr/>
        </p:nvSpPr>
        <p:spPr>
          <a:xfrm>
            <a:off x="3017520" y="1901952"/>
            <a:ext cx="4160520" cy="713232"/>
          </a:xfrm>
          <a:prstGeom prst="roundRect">
            <a:avLst>
              <a:gd name="adj" fmla="val 22000"/>
            </a:avLst>
          </a:prstGeom>
          <a:solidFill>
            <a:srgbClr val="FFFFFF"/>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163824" y="1901952"/>
            <a:ext cx="3867911" cy="713232"/>
          </a:xfrm>
          <a:prstGeom prst="rect">
            <a:avLst/>
          </a:prstGeom>
          <a:noFill/>
        </p:spPr>
        <p:txBody>
          <a:bodyPr wrap="square" lIns="0" rIns="0" tIns="0" bIns="0" anchor="ctr">
            <a:spAutoFit/>
          </a:bodyPr>
          <a:lstStyle/>
          <a:p>
            <a:pPr algn="l">
              <a:lnSpc>
                <a:spcPct val="114000"/>
              </a:lnSpc>
            </a:pPr>
            <a:r>
              <a:rPr sz="1000" b="0" i="0">
                <a:solidFill>
                  <a:srgbClr val="5B6678"/>
                </a:solidFill>
                <a:latin typeface="DejaVu Sans"/>
              </a:rPr>
              <a:t>Каждое интервью исследователь проводит лично; восемь разговоров — недели календаря</a:t>
            </a:r>
          </a:p>
        </p:txBody>
      </p:sp>
      <p:sp>
        <p:nvSpPr>
          <p:cNvPr id="22" name="Rounded Rectangle 21"/>
          <p:cNvSpPr/>
          <p:nvPr/>
        </p:nvSpPr>
        <p:spPr>
          <a:xfrm>
            <a:off x="7315200" y="1901952"/>
            <a:ext cx="4389120" cy="713232"/>
          </a:xfrm>
          <a:prstGeom prst="roundRect">
            <a:avLst>
              <a:gd name="adj" fmla="val 22000"/>
            </a:avLst>
          </a:prstGeom>
          <a:solidFill>
            <a:srgbClr val="E4F1F2"/>
          </a:solidFill>
          <a:ln w="1778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61504" y="1901952"/>
            <a:ext cx="4096511" cy="713232"/>
          </a:xfrm>
          <a:prstGeom prst="rect">
            <a:avLst/>
          </a:prstGeom>
          <a:noFill/>
        </p:spPr>
        <p:txBody>
          <a:bodyPr wrap="square" lIns="0" rIns="0" tIns="0" bIns="0" anchor="ctr">
            <a:spAutoFit/>
          </a:bodyPr>
          <a:lstStyle/>
          <a:p>
            <a:pPr algn="l">
              <a:lnSpc>
                <a:spcPct val="114000"/>
              </a:lnSpc>
            </a:pPr>
            <a:r>
              <a:rPr sz="1000" b="0" i="0">
                <a:solidFill>
                  <a:srgbClr val="21295C"/>
                </a:solidFill>
                <a:latin typeface="DejaVu Sans"/>
              </a:rPr>
              <a:t>Вопросы задаёт модель, отвечает живой человек — разговоров за тот же срок кратно больше</a:t>
            </a:r>
          </a:p>
        </p:txBody>
      </p:sp>
      <p:sp>
        <p:nvSpPr>
          <p:cNvPr id="24" name="Rounded Rectangle 23"/>
          <p:cNvSpPr/>
          <p:nvPr/>
        </p:nvSpPr>
        <p:spPr>
          <a:xfrm>
            <a:off x="502920" y="2688336"/>
            <a:ext cx="2377440" cy="713232"/>
          </a:xfrm>
          <a:prstGeom prst="roundRect">
            <a:avLst>
              <a:gd name="adj" fmla="val 22000"/>
            </a:avLst>
          </a:prstGeom>
          <a:solidFill>
            <a:srgbClr val="F4F7FA"/>
          </a:solidFill>
          <a:ln w="1651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layout-list-mid.png"/>
          <p:cNvPicPr>
            <a:picLocks noChangeAspect="1"/>
          </p:cNvPicPr>
          <p:nvPr/>
        </p:nvPicPr>
        <p:blipFill>
          <a:blip r:embed="rId4"/>
          <a:stretch>
            <a:fillRect/>
          </a:stretch>
        </p:blipFill>
        <p:spPr>
          <a:xfrm>
            <a:off x="649224" y="2779776"/>
            <a:ext cx="292608" cy="292608"/>
          </a:xfrm>
          <a:prstGeom prst="rect">
            <a:avLst/>
          </a:prstGeom>
        </p:spPr>
      </p:pic>
      <p:sp>
        <p:nvSpPr>
          <p:cNvPr id="26" name="TextBox 25"/>
          <p:cNvSpPr txBox="1"/>
          <p:nvPr/>
        </p:nvSpPr>
        <p:spPr>
          <a:xfrm>
            <a:off x="996696" y="2761488"/>
            <a:ext cx="1773936" cy="310896"/>
          </a:xfrm>
          <a:prstGeom prst="rect">
            <a:avLst/>
          </a:prstGeom>
          <a:noFill/>
        </p:spPr>
        <p:txBody>
          <a:bodyPr wrap="square" lIns="0" rIns="0" tIns="0" bIns="0" anchor="t">
            <a:spAutoFit/>
          </a:bodyPr>
          <a:lstStyle/>
          <a:p>
            <a:pPr algn="l">
              <a:lnSpc>
                <a:spcPct val="104000"/>
              </a:lnSpc>
            </a:pPr>
            <a:r>
              <a:rPr sz="1100" b="1" i="0">
                <a:solidFill>
                  <a:srgbClr val="065A82"/>
                </a:solidFill>
                <a:latin typeface="DejaVu Sans"/>
              </a:rPr>
              <a:t>Сведение разговоров</a:t>
            </a:r>
          </a:p>
        </p:txBody>
      </p:sp>
      <p:sp>
        <p:nvSpPr>
          <p:cNvPr id="27" name="Rounded Rectangle 26"/>
          <p:cNvSpPr/>
          <p:nvPr/>
        </p:nvSpPr>
        <p:spPr>
          <a:xfrm>
            <a:off x="3017520" y="2688336"/>
            <a:ext cx="4160520" cy="713232"/>
          </a:xfrm>
          <a:prstGeom prst="roundRect">
            <a:avLst>
              <a:gd name="adj" fmla="val 22000"/>
            </a:avLst>
          </a:prstGeom>
          <a:solidFill>
            <a:srgbClr val="FFFFFF"/>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163824" y="2688336"/>
            <a:ext cx="3867911" cy="713232"/>
          </a:xfrm>
          <a:prstGeom prst="rect">
            <a:avLst/>
          </a:prstGeom>
          <a:noFill/>
        </p:spPr>
        <p:txBody>
          <a:bodyPr wrap="square" lIns="0" rIns="0" tIns="0" bIns="0" anchor="ctr">
            <a:spAutoFit/>
          </a:bodyPr>
          <a:lstStyle/>
          <a:p>
            <a:pPr algn="l">
              <a:lnSpc>
                <a:spcPct val="114000"/>
              </a:lnSpc>
            </a:pPr>
            <a:r>
              <a:rPr sz="1000" b="0" i="0">
                <a:solidFill>
                  <a:srgbClr val="5B6678"/>
                </a:solidFill>
                <a:latin typeface="DejaVu Sans"/>
              </a:rPr>
              <a:t>Расшифровка вручную, темы выписываются глазами</a:t>
            </a:r>
          </a:p>
        </p:txBody>
      </p:sp>
      <p:sp>
        <p:nvSpPr>
          <p:cNvPr id="29" name="Rounded Rectangle 28"/>
          <p:cNvSpPr/>
          <p:nvPr/>
        </p:nvSpPr>
        <p:spPr>
          <a:xfrm>
            <a:off x="7315200" y="2688336"/>
            <a:ext cx="4389120" cy="713232"/>
          </a:xfrm>
          <a:prstGeom prst="roundRect">
            <a:avLst>
              <a:gd name="adj" fmla="val 22000"/>
            </a:avLst>
          </a:prstGeom>
          <a:solidFill>
            <a:srgbClr val="E4F1F2"/>
          </a:solidFill>
          <a:ln w="1778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61504" y="2688336"/>
            <a:ext cx="4096511" cy="713232"/>
          </a:xfrm>
          <a:prstGeom prst="rect">
            <a:avLst/>
          </a:prstGeom>
          <a:noFill/>
        </p:spPr>
        <p:txBody>
          <a:bodyPr wrap="square" lIns="0" rIns="0" tIns="0" bIns="0" anchor="ctr">
            <a:spAutoFit/>
          </a:bodyPr>
          <a:lstStyle/>
          <a:p>
            <a:pPr algn="l">
              <a:lnSpc>
                <a:spcPct val="114000"/>
              </a:lnSpc>
            </a:pPr>
            <a:r>
              <a:rPr sz="1000" b="0" i="0">
                <a:solidFill>
                  <a:srgbClr val="21295C"/>
                </a:solidFill>
                <a:latin typeface="DejaVu Sans"/>
              </a:rPr>
              <a:t>Расшифровка стала бесплатным приложением к созвону; инструменты непрерывно пересобирают темы по всему накопленному корпусу, а не по одному звонку</a:t>
            </a:r>
          </a:p>
        </p:txBody>
      </p:sp>
      <p:sp>
        <p:nvSpPr>
          <p:cNvPr id="31" name="TextBox 30"/>
          <p:cNvSpPr txBox="1"/>
          <p:nvPr/>
        </p:nvSpPr>
        <p:spPr>
          <a:xfrm>
            <a:off x="502920" y="3474720"/>
            <a:ext cx="11201400" cy="274320"/>
          </a:xfrm>
          <a:prstGeom prst="rect">
            <a:avLst/>
          </a:prstGeom>
          <a:noFill/>
        </p:spPr>
        <p:txBody>
          <a:bodyPr wrap="square" lIns="0" rIns="0" tIns="0" bIns="0" anchor="t">
            <a:spAutoFit/>
          </a:bodyPr>
          <a:lstStyle/>
          <a:p>
            <a:pPr algn="l">
              <a:lnSpc>
                <a:spcPct val="115000"/>
              </a:lnSpc>
            </a:pPr>
            <a:r>
              <a:rPr sz="1250" b="1" i="0">
                <a:solidFill>
                  <a:srgbClr val="065A82"/>
                </a:solidFill>
                <a:latin typeface="DejaVu Sans"/>
              </a:rPr>
              <a:t>Кто на том конце разговора</a:t>
            </a:r>
          </a:p>
        </p:txBody>
      </p:sp>
      <p:sp>
        <p:nvSpPr>
          <p:cNvPr id="32" name="Rounded Rectangle 31"/>
          <p:cNvSpPr/>
          <p:nvPr/>
        </p:nvSpPr>
        <p:spPr>
          <a:xfrm>
            <a:off x="502920" y="3785615"/>
            <a:ext cx="3630168" cy="786384"/>
          </a:xfrm>
          <a:prstGeom prst="roundRect">
            <a:avLst>
              <a:gd name="adj" fmla="val 22000"/>
            </a:avLst>
          </a:prstGeom>
          <a:solidFill>
            <a:srgbClr val="F4F7FA"/>
          </a:solidFill>
          <a:ln w="2159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12648" y="3840480"/>
            <a:ext cx="3410712" cy="256032"/>
          </a:xfrm>
          <a:prstGeom prst="rect">
            <a:avLst/>
          </a:prstGeom>
          <a:noFill/>
        </p:spPr>
        <p:txBody>
          <a:bodyPr wrap="square" lIns="0" rIns="0" tIns="0" bIns="0" anchor="t">
            <a:spAutoFit/>
          </a:bodyPr>
          <a:lstStyle/>
          <a:p>
            <a:pPr algn="ctr">
              <a:lnSpc>
                <a:spcPct val="102000"/>
              </a:lnSpc>
            </a:pPr>
            <a:r>
              <a:rPr sz="1150" b="1" i="0">
                <a:solidFill>
                  <a:srgbClr val="21295C"/>
                </a:solidFill>
                <a:latin typeface="DejaVu Sans"/>
              </a:rPr>
              <a:t>человек ↔ человек</a:t>
            </a:r>
          </a:p>
        </p:txBody>
      </p:sp>
      <p:sp>
        <p:nvSpPr>
          <p:cNvPr id="34" name="TextBox 33"/>
          <p:cNvSpPr txBox="1"/>
          <p:nvPr/>
        </p:nvSpPr>
        <p:spPr>
          <a:xfrm>
            <a:off x="612648" y="4114800"/>
            <a:ext cx="3410712" cy="420624"/>
          </a:xfrm>
          <a:prstGeom prst="rect">
            <a:avLst/>
          </a:prstGeom>
          <a:noFill/>
        </p:spPr>
        <p:txBody>
          <a:bodyPr wrap="square" lIns="0" rIns="0" tIns="0" bIns="0" anchor="t">
            <a:spAutoFit/>
          </a:bodyPr>
          <a:lstStyle/>
          <a:p>
            <a:pPr algn="ctr">
              <a:lnSpc>
                <a:spcPct val="108000"/>
              </a:lnSpc>
            </a:pPr>
            <a:r>
              <a:rPr sz="950" b="0" i="0">
                <a:solidFill>
                  <a:srgbClr val="5B6678"/>
                </a:solidFill>
                <a:latin typeface="DejaVu Sans"/>
              </a:rPr>
              <a:t>классическое интервью</a:t>
            </a:r>
          </a:p>
        </p:txBody>
      </p:sp>
      <p:sp>
        <p:nvSpPr>
          <p:cNvPr id="35" name="Rounded Rectangle 34"/>
          <p:cNvSpPr/>
          <p:nvPr/>
        </p:nvSpPr>
        <p:spPr>
          <a:xfrm>
            <a:off x="4288536" y="3785615"/>
            <a:ext cx="3630168" cy="786384"/>
          </a:xfrm>
          <a:prstGeom prst="roundRect">
            <a:avLst>
              <a:gd name="adj" fmla="val 22000"/>
            </a:avLst>
          </a:prstGeom>
          <a:solidFill>
            <a:srgbClr val="E4F1F2"/>
          </a:solidFill>
          <a:ln w="2159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398264" y="3840480"/>
            <a:ext cx="3410712" cy="256032"/>
          </a:xfrm>
          <a:prstGeom prst="rect">
            <a:avLst/>
          </a:prstGeom>
          <a:noFill/>
        </p:spPr>
        <p:txBody>
          <a:bodyPr wrap="square" lIns="0" rIns="0" tIns="0" bIns="0" anchor="t">
            <a:spAutoFit/>
          </a:bodyPr>
          <a:lstStyle/>
          <a:p>
            <a:pPr algn="ctr">
              <a:lnSpc>
                <a:spcPct val="102000"/>
              </a:lnSpc>
            </a:pPr>
            <a:r>
              <a:rPr sz="1150" b="1" i="0">
                <a:solidFill>
                  <a:srgbClr val="21295C"/>
                </a:solidFill>
                <a:latin typeface="DejaVu Sans"/>
              </a:rPr>
              <a:t>человек ↔ модель</a:t>
            </a:r>
          </a:p>
        </p:txBody>
      </p:sp>
      <p:sp>
        <p:nvSpPr>
          <p:cNvPr id="37" name="TextBox 36"/>
          <p:cNvSpPr txBox="1"/>
          <p:nvPr/>
        </p:nvSpPr>
        <p:spPr>
          <a:xfrm>
            <a:off x="4398264" y="4114800"/>
            <a:ext cx="3410712" cy="420624"/>
          </a:xfrm>
          <a:prstGeom prst="rect">
            <a:avLst/>
          </a:prstGeom>
          <a:noFill/>
        </p:spPr>
        <p:txBody>
          <a:bodyPr wrap="square" lIns="0" rIns="0" tIns="0" bIns="0" anchor="t">
            <a:spAutoFit/>
          </a:bodyPr>
          <a:lstStyle/>
          <a:p>
            <a:pPr algn="ctr">
              <a:lnSpc>
                <a:spcPct val="108000"/>
              </a:lnSpc>
            </a:pPr>
            <a:r>
              <a:rPr sz="950" b="0" i="0">
                <a:solidFill>
                  <a:srgbClr val="5B6678"/>
                </a:solidFill>
                <a:latin typeface="DejaVu Sans"/>
              </a:rPr>
              <a:t>спрашивает машина, отвечает живой человек</a:t>
            </a:r>
          </a:p>
        </p:txBody>
      </p:sp>
      <p:sp>
        <p:nvSpPr>
          <p:cNvPr id="38" name="Rounded Rectangle 37"/>
          <p:cNvSpPr/>
          <p:nvPr/>
        </p:nvSpPr>
        <p:spPr>
          <a:xfrm>
            <a:off x="8074152" y="3785615"/>
            <a:ext cx="3630168" cy="786384"/>
          </a:xfrm>
          <a:prstGeom prst="roundRect">
            <a:avLst>
              <a:gd name="adj" fmla="val 22000"/>
            </a:avLst>
          </a:prstGeom>
          <a:solidFill>
            <a:srgbClr val="FDF3DC"/>
          </a:solidFill>
          <a:ln w="2159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183880" y="3840480"/>
            <a:ext cx="3410712" cy="256032"/>
          </a:xfrm>
          <a:prstGeom prst="rect">
            <a:avLst/>
          </a:prstGeom>
          <a:noFill/>
        </p:spPr>
        <p:txBody>
          <a:bodyPr wrap="square" lIns="0" rIns="0" tIns="0" bIns="0" anchor="t">
            <a:spAutoFit/>
          </a:bodyPr>
          <a:lstStyle/>
          <a:p>
            <a:pPr algn="ctr">
              <a:lnSpc>
                <a:spcPct val="102000"/>
              </a:lnSpc>
            </a:pPr>
            <a:r>
              <a:rPr sz="1150" b="1" i="0">
                <a:solidFill>
                  <a:srgbClr val="21295C"/>
                </a:solidFill>
                <a:latin typeface="DejaVu Sans"/>
              </a:rPr>
              <a:t>модель ↔ модель</a:t>
            </a:r>
          </a:p>
        </p:txBody>
      </p:sp>
      <p:sp>
        <p:nvSpPr>
          <p:cNvPr id="40" name="TextBox 39"/>
          <p:cNvSpPr txBox="1"/>
          <p:nvPr/>
        </p:nvSpPr>
        <p:spPr>
          <a:xfrm>
            <a:off x="8183880" y="4114800"/>
            <a:ext cx="3410712" cy="420624"/>
          </a:xfrm>
          <a:prstGeom prst="rect">
            <a:avLst/>
          </a:prstGeom>
          <a:noFill/>
        </p:spPr>
        <p:txBody>
          <a:bodyPr wrap="square" lIns="0" rIns="0" tIns="0" bIns="0" anchor="t">
            <a:spAutoFit/>
          </a:bodyPr>
          <a:lstStyle/>
          <a:p>
            <a:pPr algn="ctr">
              <a:lnSpc>
                <a:spcPct val="108000"/>
              </a:lnSpc>
            </a:pPr>
            <a:r>
              <a:rPr sz="950" b="0" i="0">
                <a:solidFill>
                  <a:srgbClr val="5B6678"/>
                </a:solidFill>
                <a:latin typeface="DejaVu Sans"/>
              </a:rPr>
              <a:t>ИИ-персона: отвечает тоже машина — живого человека в цепочке нет ни разу</a:t>
            </a:r>
          </a:p>
        </p:txBody>
      </p:sp>
      <p:sp>
        <p:nvSpPr>
          <p:cNvPr id="41" name="TextBox 40"/>
          <p:cNvSpPr txBox="1"/>
          <p:nvPr/>
        </p:nvSpPr>
        <p:spPr>
          <a:xfrm>
            <a:off x="502920" y="4645152"/>
            <a:ext cx="11201400" cy="274320"/>
          </a:xfrm>
          <a:prstGeom prst="rect">
            <a:avLst/>
          </a:prstGeom>
          <a:noFill/>
        </p:spPr>
        <p:txBody>
          <a:bodyPr wrap="square" lIns="0" rIns="0" tIns="0" bIns="0" anchor="t">
            <a:spAutoFit/>
          </a:bodyPr>
          <a:lstStyle/>
          <a:p>
            <a:pPr algn="ctr">
              <a:lnSpc>
                <a:spcPct val="105000"/>
              </a:lnSpc>
            </a:pPr>
            <a:r>
              <a:rPr sz="1050" b="0" i="1">
                <a:solidFill>
                  <a:srgbClr val="5B6678"/>
                </a:solidFill>
                <a:latin typeface="DejaVu Sans"/>
              </a:rPr>
              <a:t>Опрос 150 исследователей, май 2026:   </a:t>
            </a:r>
            <a:r>
              <a:rPr sz="1150" b="1" i="0">
                <a:solidFill>
                  <a:srgbClr val="21295C"/>
                </a:solidFill>
                <a:latin typeface="DejaVu Sans"/>
              </a:rPr>
              <a:t>81%</a:t>
            </a:r>
            <a:r>
              <a:rPr sz="1050" b="0" i="0">
                <a:solidFill>
                  <a:srgbClr val="21295C"/>
                </a:solidFill>
                <a:latin typeface="DejaVu Sans"/>
              </a:rPr>
              <a:t> регулярно применяют ИИ в работе   ·   </a:t>
            </a:r>
            <a:r>
              <a:rPr sz="1150" b="1" i="0">
                <a:solidFill>
                  <a:srgbClr val="21295C"/>
                </a:solidFill>
                <a:latin typeface="DejaVu Sans"/>
              </a:rPr>
              <a:t>8%</a:t>
            </a:r>
            <a:r>
              <a:rPr sz="1050" b="0" i="0">
                <a:solidFill>
                  <a:srgbClr val="21295C"/>
                </a:solidFill>
                <a:latin typeface="DejaVu Sans"/>
              </a:rPr>
              <a:t> — как отвечающего участника   ·   </a:t>
            </a:r>
            <a:r>
              <a:rPr sz="1150" b="1" i="0">
                <a:solidFill>
                  <a:srgbClr val="21295C"/>
                </a:solidFill>
                <a:latin typeface="DejaVu Sans"/>
              </a:rPr>
              <a:t>28%</a:t>
            </a:r>
            <a:r>
              <a:rPr sz="1050" b="0" i="0">
                <a:solidFill>
                  <a:srgbClr val="21295C"/>
                </a:solidFill>
                <a:latin typeface="DejaVu Sans"/>
              </a:rPr>
              <a:t> отвергают его прямо</a:t>
            </a:r>
          </a:p>
        </p:txBody>
      </p:sp>
      <p:sp>
        <p:nvSpPr>
          <p:cNvPr id="42" name="Rounded Rectangle 41"/>
          <p:cNvSpPr/>
          <p:nvPr/>
        </p:nvSpPr>
        <p:spPr>
          <a:xfrm>
            <a:off x="502920" y="5138928"/>
            <a:ext cx="11201400" cy="969264"/>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22376" y="5193792"/>
            <a:ext cx="10762488" cy="859536"/>
          </a:xfrm>
          <a:prstGeom prst="rect">
            <a:avLst/>
          </a:prstGeom>
          <a:noFill/>
        </p:spPr>
        <p:txBody>
          <a:bodyPr wrap="square" lIns="0" rIns="0" tIns="0" bIns="0" anchor="ctr">
            <a:spAutoFit/>
          </a:bodyPr>
          <a:lstStyle/>
          <a:p>
            <a:pPr algn="l">
              <a:lnSpc>
                <a:spcPct val="120000"/>
              </a:lnSpc>
            </a:pPr>
            <a:r>
              <a:rPr sz="1250" b="1" i="0">
                <a:solidFill>
                  <a:srgbClr val="21295C"/>
                </a:solidFill>
                <a:latin typeface="DejaVu Sans"/>
              </a:rPr>
              <a:t>Ссылка в отчёте не доказательство, пока её не открыли. Измерено на 53 090 ссылках из отчётов десяти моделей: 3–13% выдуманы — таких источников не существовало никогда. При самом низком уровне, 3%, отчёт с 50 ссылками содержит хотя бы одну выдуманную с вероятностью 78%. Именно такой отчёт Deloitte сдала правительству Австралии за 440 000 австралийских долларов.</a:t>
            </a:r>
          </a:p>
        </p:txBody>
      </p:sp>
      <p:sp>
        <p:nvSpPr>
          <p:cNvPr id="44" name="TextBox 43"/>
          <p:cNvSpPr txBox="1"/>
          <p:nvPr/>
        </p:nvSpPr>
        <p:spPr>
          <a:xfrm>
            <a:off x="502920" y="6419088"/>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5"/>
              </a:rPr>
              <a:t>Perplexity — обзор режима глубокого исследования</a:t>
            </a:r>
            <a:r>
              <a:rPr sz="850" i="1">
                <a:solidFill>
                  <a:srgbClr val="1C7293"/>
                </a:solidFill>
                <a:latin typeface="DejaVu Sans"/>
              </a:rPr>
              <a:t>   ·   </a:t>
            </a:r>
            <a:r>
              <a:rPr sz="850" b="1" i="1">
                <a:solidFill>
                  <a:srgbClr val="065A82"/>
                </a:solidFill>
                <a:latin typeface="DejaVu Sans"/>
              </a:rPr>
              <a:t>[2] </a:t>
            </a:r>
            <a:r>
              <a:rPr sz="850" i="1">
                <a:solidFill>
                  <a:srgbClr val="1C7293"/>
                </a:solidFill>
                <a:latin typeface="DejaVu Sans"/>
                <a:hlinkClick r:id="rId6"/>
              </a:rPr>
              <a:t>User Interviews — «State of Synthetic Users», май 2026</a:t>
            </a:r>
            <a:r>
              <a:rPr sz="850" i="1">
                <a:solidFill>
                  <a:srgbClr val="1C7293"/>
                </a:solidFill>
                <a:latin typeface="DejaVu Sans"/>
              </a:rPr>
              <a:t>   ·   </a:t>
            </a:r>
            <a:r>
              <a:rPr sz="850" b="1" i="1">
                <a:solidFill>
                  <a:srgbClr val="065A82"/>
                </a:solidFill>
                <a:latin typeface="DejaVu Sans"/>
              </a:rPr>
              <a:t>[3] </a:t>
            </a:r>
            <a:r>
              <a:rPr sz="850" i="1">
                <a:solidFill>
                  <a:srgbClr val="1C7293"/>
                </a:solidFill>
                <a:latin typeface="DejaVu Sans"/>
                <a:hlinkClick r:id="rId7"/>
              </a:rPr>
              <a:t>arXiv 2604.03173 — измерение ссылок в отчётах агентов</a:t>
            </a:r>
            <a:r>
              <a:rPr sz="850" i="1">
                <a:solidFill>
                  <a:srgbClr val="1C7293"/>
                </a:solidFill>
                <a:latin typeface="DejaVu Sans"/>
              </a:rPr>
              <a:t>   ·   </a:t>
            </a:r>
            <a:r>
              <a:rPr sz="850" b="1" i="1">
                <a:solidFill>
                  <a:srgbClr val="065A82"/>
                </a:solidFill>
                <a:latin typeface="DejaVu Sans"/>
              </a:rPr>
              <a:t>[4] </a:t>
            </a:r>
            <a:r>
              <a:rPr sz="850" i="1">
                <a:solidFill>
                  <a:srgbClr val="1C7293"/>
                </a:solidFill>
                <a:latin typeface="DejaVu Sans"/>
                <a:hlinkClick r:id="rId8"/>
              </a:rPr>
              <a:t>Fortune (7 окт. 2025) — Deloitte Australia</a:t>
            </a:r>
          </a:p>
        </p:txBody>
      </p:sp>
      <p:sp>
        <p:nvSpPr>
          <p:cNvPr id="45" name="TextBox 44"/>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8 / 54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18872"/>
            <a:ext cx="11201400" cy="356349"/>
          </a:xfrm>
          <a:prstGeom prst="rect">
            <a:avLst/>
          </a:prstGeom>
          <a:noFill/>
        </p:spPr>
        <p:txBody>
          <a:bodyPr wrap="square" lIns="0" rIns="0" tIns="0" bIns="0" anchor="t">
            <a:spAutoFit/>
          </a:bodyPr>
          <a:lstStyle/>
          <a:p>
            <a:pPr algn="l">
              <a:lnSpc>
                <a:spcPct val="110000"/>
              </a:lnSpc>
            </a:pPr>
            <a:r>
              <a:rPr sz="2100" b="1" i="0">
                <a:solidFill>
                  <a:srgbClr val="21295C"/>
                </a:solidFill>
                <a:latin typeface="DejaVu Sans"/>
              </a:rPr>
              <a:t>Репетиция вопросов интервью на ИИ-персонах</a:t>
            </a:r>
          </a:p>
        </p:txBody>
      </p:sp>
      <p:sp>
        <p:nvSpPr>
          <p:cNvPr id="3" name="Rounded Rectangle 2"/>
          <p:cNvSpPr/>
          <p:nvPr/>
        </p:nvSpPr>
        <p:spPr>
          <a:xfrm>
            <a:off x="502920" y="566661"/>
            <a:ext cx="1152144" cy="893058"/>
          </a:xfrm>
          <a:prstGeom prst="roundRect">
            <a:avLst>
              <a:gd name="adj" fmla="val 22000"/>
            </a:avLst>
          </a:prstGeom>
          <a:solidFill>
            <a:srgbClr val="21295C"/>
          </a:solidFill>
          <a:ln w="12700">
            <a:solidFill>
              <a:srgbClr val="2129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66661"/>
            <a:ext cx="1060704" cy="893058"/>
          </a:xfrm>
          <a:prstGeom prst="rect">
            <a:avLst/>
          </a:prstGeom>
          <a:noFill/>
        </p:spPr>
        <p:txBody>
          <a:bodyPr wrap="square" lIns="0" rIns="0" tIns="0" bIns="0" anchor="ctr">
            <a:spAutoFit/>
          </a:bodyPr>
          <a:lstStyle/>
          <a:p>
            <a:pPr algn="ctr">
              <a:lnSpc>
                <a:spcPct val="102000"/>
              </a:lnSpc>
            </a:pPr>
            <a:r>
              <a:rPr sz="950" b="1" i="0">
                <a:solidFill>
                  <a:srgbClr val="FFFFFF"/>
                </a:solidFill>
                <a:latin typeface="DejaVu Sans"/>
              </a:rPr>
              <a:t>ЧТО ЭТО</a:t>
            </a:r>
          </a:p>
        </p:txBody>
      </p:sp>
      <p:sp>
        <p:nvSpPr>
          <p:cNvPr id="5" name="Rounded Rectangle 4"/>
          <p:cNvSpPr/>
          <p:nvPr/>
        </p:nvSpPr>
        <p:spPr>
          <a:xfrm>
            <a:off x="1801368" y="566661"/>
            <a:ext cx="9902952" cy="893058"/>
          </a:xfrm>
          <a:prstGeom prst="roundRect">
            <a:avLst>
              <a:gd name="adj" fmla="val 22000"/>
            </a:avLst>
          </a:prstGeom>
          <a:solidFill>
            <a:srgbClr val="FFFFFF"/>
          </a:solidFill>
          <a:ln w="2286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984248" y="658101"/>
            <a:ext cx="9537192" cy="710178"/>
          </a:xfrm>
          <a:prstGeom prst="rect">
            <a:avLst/>
          </a:prstGeom>
          <a:noFill/>
        </p:spPr>
        <p:txBody>
          <a:bodyPr wrap="square" lIns="0" rIns="0" tIns="0" bIns="0" anchor="ctr">
            <a:spAutoFit/>
          </a:bodyPr>
          <a:lstStyle/>
          <a:p>
            <a:pPr algn="l">
              <a:lnSpc>
                <a:spcPct val="114000"/>
              </a:lnSpc>
            </a:pPr>
            <a:r>
              <a:rPr sz="1150" b="0" i="0">
                <a:solidFill>
                  <a:srgbClr val="21295C"/>
                </a:solidFill>
                <a:latin typeface="DejaVu Sans"/>
              </a:rPr>
              <a:t>Перед выходом к живым людям список вопросов прогоняют через нескольких выдуманных собеседников, которых играет модель. Цель — не узнать что-то о продукте, а поймать плохие вопросы до того, как они испортят настоящий разговор. Это репетиция, а не исследование.</a:t>
            </a:r>
          </a:p>
        </p:txBody>
      </p:sp>
      <p:sp>
        <p:nvSpPr>
          <p:cNvPr id="7" name="Rounded Rectangle 6"/>
          <p:cNvSpPr/>
          <p:nvPr/>
        </p:nvSpPr>
        <p:spPr>
          <a:xfrm>
            <a:off x="502920" y="1523727"/>
            <a:ext cx="1152144" cy="2220722"/>
          </a:xfrm>
          <a:prstGeom prst="roundRect">
            <a:avLst>
              <a:gd name="adj" fmla="val 22000"/>
            </a:avLst>
          </a:prstGeom>
          <a:solidFill>
            <a:srgbClr val="065A82"/>
          </a:solidFill>
          <a:ln w="1270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523727"/>
            <a:ext cx="1060704" cy="2220722"/>
          </a:xfrm>
          <a:prstGeom prst="rect">
            <a:avLst/>
          </a:prstGeom>
          <a:noFill/>
        </p:spPr>
        <p:txBody>
          <a:bodyPr wrap="square" lIns="0" rIns="0" tIns="0" bIns="0" anchor="ctr">
            <a:spAutoFit/>
          </a:bodyPr>
          <a:lstStyle/>
          <a:p>
            <a:pPr algn="ctr">
              <a:lnSpc>
                <a:spcPct val="102000"/>
              </a:lnSpc>
            </a:pPr>
            <a:r>
              <a:rPr sz="950" b="1" i="0">
                <a:solidFill>
                  <a:srgbClr val="FFFFFF"/>
                </a:solidFill>
                <a:latin typeface="DejaVu Sans"/>
              </a:rPr>
              <a:t>МЕХАНИЗМ</a:t>
            </a:r>
          </a:p>
        </p:txBody>
      </p:sp>
      <p:sp>
        <p:nvSpPr>
          <p:cNvPr id="9" name="Rounded Rectangle 8"/>
          <p:cNvSpPr/>
          <p:nvPr/>
        </p:nvSpPr>
        <p:spPr>
          <a:xfrm>
            <a:off x="1801368" y="1523727"/>
            <a:ext cx="9902952" cy="2220722"/>
          </a:xfrm>
          <a:prstGeom prst="roundRect">
            <a:avLst>
              <a:gd name="adj" fmla="val 13725"/>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984248" y="1628883"/>
            <a:ext cx="214884" cy="2148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984248" y="1628883"/>
            <a:ext cx="214884" cy="214884"/>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1</a:t>
            </a:r>
          </a:p>
        </p:txBody>
      </p:sp>
      <p:sp>
        <p:nvSpPr>
          <p:cNvPr id="12" name="TextBox 11"/>
          <p:cNvSpPr txBox="1"/>
          <p:nvPr/>
        </p:nvSpPr>
        <p:spPr>
          <a:xfrm>
            <a:off x="2295144" y="1615167"/>
            <a:ext cx="5797296" cy="544235"/>
          </a:xfrm>
          <a:prstGeom prst="rect">
            <a:avLst/>
          </a:prstGeom>
          <a:noFill/>
        </p:spPr>
        <p:txBody>
          <a:bodyPr wrap="square" lIns="0" rIns="0" tIns="0" bIns="0" anchor="t">
            <a:spAutoFit/>
          </a:bodyPr>
          <a:lstStyle/>
          <a:p>
            <a:pPr algn="l">
              <a:lnSpc>
                <a:spcPct val="115000"/>
              </a:lnSpc>
            </a:pPr>
            <a:r>
              <a:rPr sz="1000" b="0" i="0">
                <a:solidFill>
                  <a:srgbClr val="21295C"/>
                </a:solidFill>
                <a:latin typeface="DejaVu Sans"/>
              </a:rPr>
              <a:t>Описывают несколько разных типов клиента — </a:t>
            </a:r>
            <a:r>
              <a:rPr sz="1000" b="1" i="0">
                <a:solidFill>
                  <a:srgbClr val="065A82"/>
                </a:solidFill>
                <a:latin typeface="DejaVu Sans"/>
              </a:rPr>
              <a:t>не портретом</a:t>
            </a:r>
            <a:r>
              <a:rPr sz="1000" b="0" i="0">
                <a:solidFill>
                  <a:srgbClr val="21295C"/>
                </a:solidFill>
                <a:latin typeface="DejaVu Sans"/>
              </a:rPr>
              <a:t>, а по тому, как человек живёт с задачей: чем пользуется сейчас, во что это обходится, что однажды попробовал и бросил.</a:t>
            </a:r>
          </a:p>
        </p:txBody>
      </p:sp>
      <p:sp>
        <p:nvSpPr>
          <p:cNvPr id="13" name="Oval 12"/>
          <p:cNvSpPr/>
          <p:nvPr/>
        </p:nvSpPr>
        <p:spPr>
          <a:xfrm>
            <a:off x="1984248" y="2237127"/>
            <a:ext cx="214884" cy="2148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984248" y="2237127"/>
            <a:ext cx="214884" cy="214884"/>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2</a:t>
            </a:r>
          </a:p>
        </p:txBody>
      </p:sp>
      <p:sp>
        <p:nvSpPr>
          <p:cNvPr id="15" name="TextBox 14"/>
          <p:cNvSpPr txBox="1"/>
          <p:nvPr/>
        </p:nvSpPr>
        <p:spPr>
          <a:xfrm>
            <a:off x="2295144" y="2223411"/>
            <a:ext cx="5797296" cy="378673"/>
          </a:xfrm>
          <a:prstGeom prst="rect">
            <a:avLst/>
          </a:prstGeom>
          <a:noFill/>
        </p:spPr>
        <p:txBody>
          <a:bodyPr wrap="square" lIns="0" rIns="0" tIns="0" bIns="0" anchor="t">
            <a:spAutoFit/>
          </a:bodyPr>
          <a:lstStyle/>
          <a:p>
            <a:pPr algn="l">
              <a:lnSpc>
                <a:spcPct val="115000"/>
              </a:lnSpc>
            </a:pPr>
            <a:r>
              <a:rPr sz="1000" b="0" i="0">
                <a:solidFill>
                  <a:srgbClr val="21295C"/>
                </a:solidFill>
                <a:latin typeface="DejaVu Sans"/>
              </a:rPr>
              <a:t>Каждый тип держат отдельно, чтобы ответы не сливались в один общий голос.</a:t>
            </a:r>
          </a:p>
        </p:txBody>
      </p:sp>
      <p:sp>
        <p:nvSpPr>
          <p:cNvPr id="16" name="Oval 15"/>
          <p:cNvSpPr/>
          <p:nvPr/>
        </p:nvSpPr>
        <p:spPr>
          <a:xfrm>
            <a:off x="1984248" y="2679808"/>
            <a:ext cx="214884" cy="2148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984248" y="2679808"/>
            <a:ext cx="214884" cy="214884"/>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3</a:t>
            </a:r>
          </a:p>
        </p:txBody>
      </p:sp>
      <p:sp>
        <p:nvSpPr>
          <p:cNvPr id="18" name="TextBox 17"/>
          <p:cNvSpPr txBox="1"/>
          <p:nvPr/>
        </p:nvSpPr>
        <p:spPr>
          <a:xfrm>
            <a:off x="2295144" y="2666092"/>
            <a:ext cx="5797296" cy="213111"/>
          </a:xfrm>
          <a:prstGeom prst="rect">
            <a:avLst/>
          </a:prstGeom>
          <a:noFill/>
        </p:spPr>
        <p:txBody>
          <a:bodyPr wrap="square" lIns="0" rIns="0" tIns="0" bIns="0" anchor="t">
            <a:spAutoFit/>
          </a:bodyPr>
          <a:lstStyle/>
          <a:p>
            <a:pPr algn="l">
              <a:lnSpc>
                <a:spcPct val="115000"/>
              </a:lnSpc>
            </a:pPr>
            <a:r>
              <a:rPr sz="1000" b="0" i="0">
                <a:solidFill>
                  <a:srgbClr val="21295C"/>
                </a:solidFill>
                <a:latin typeface="DejaVu Sans"/>
              </a:rPr>
              <a:t>Через всех прогоняют один и тот же список вопросов.</a:t>
            </a:r>
          </a:p>
        </p:txBody>
      </p:sp>
      <p:sp>
        <p:nvSpPr>
          <p:cNvPr id="19" name="Oval 18"/>
          <p:cNvSpPr/>
          <p:nvPr/>
        </p:nvSpPr>
        <p:spPr>
          <a:xfrm>
            <a:off x="1984248" y="2956928"/>
            <a:ext cx="214884" cy="2148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84248" y="2956928"/>
            <a:ext cx="214884" cy="214884"/>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4</a:t>
            </a:r>
          </a:p>
        </p:txBody>
      </p:sp>
      <p:sp>
        <p:nvSpPr>
          <p:cNvPr id="21" name="TextBox 20"/>
          <p:cNvSpPr txBox="1"/>
          <p:nvPr/>
        </p:nvSpPr>
        <p:spPr>
          <a:xfrm>
            <a:off x="2295144" y="2943212"/>
            <a:ext cx="5797296" cy="709797"/>
          </a:xfrm>
          <a:prstGeom prst="rect">
            <a:avLst/>
          </a:prstGeom>
          <a:noFill/>
        </p:spPr>
        <p:txBody>
          <a:bodyPr wrap="square" lIns="0" rIns="0" tIns="0" bIns="0" anchor="t">
            <a:spAutoFit/>
          </a:bodyPr>
          <a:lstStyle/>
          <a:p>
            <a:pPr algn="l">
              <a:lnSpc>
                <a:spcPct val="115000"/>
              </a:lnSpc>
            </a:pPr>
            <a:r>
              <a:rPr sz="1000" b="0" i="0">
                <a:solidFill>
                  <a:srgbClr val="21295C"/>
                </a:solidFill>
                <a:latin typeface="DejaVu Sans"/>
              </a:rPr>
              <a:t>Читают </a:t>
            </a:r>
            <a:r>
              <a:rPr sz="1000" b="1" i="0">
                <a:solidFill>
                  <a:srgbClr val="065A82"/>
                </a:solidFill>
                <a:latin typeface="DejaVu Sans"/>
              </a:rPr>
              <a:t>не ответы, а две вещи</a:t>
            </a:r>
            <a:r>
              <a:rPr sz="1000" b="0" i="0">
                <a:solidFill>
                  <a:srgbClr val="21295C"/>
                </a:solidFill>
                <a:latin typeface="DejaVu Sans"/>
              </a:rPr>
              <a:t>: вопрос, на который все ответили одинаково, никого не различает; вопрос, на который отвечают про воображаемое будущее, подталкивает к вежливой выдумке. Оба переписывают.</a:t>
            </a:r>
          </a:p>
        </p:txBody>
      </p:sp>
      <p:sp>
        <p:nvSpPr>
          <p:cNvPr id="22" name="Rounded Rectangle 21"/>
          <p:cNvSpPr/>
          <p:nvPr/>
        </p:nvSpPr>
        <p:spPr>
          <a:xfrm>
            <a:off x="8627364" y="1706607"/>
            <a:ext cx="438912" cy="310896"/>
          </a:xfrm>
          <a:prstGeom prst="roundRect">
            <a:avLst>
              <a:gd name="adj" fmla="val 16666"/>
            </a:avLst>
          </a:prstGeom>
          <a:solidFill>
            <a:srgbClr val="E1EAF0"/>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users-mid.png"/>
          <p:cNvPicPr>
            <a:picLocks noChangeAspect="1"/>
          </p:cNvPicPr>
          <p:nvPr/>
        </p:nvPicPr>
        <p:blipFill>
          <a:blip r:embed="rId2"/>
          <a:stretch>
            <a:fillRect/>
          </a:stretch>
        </p:blipFill>
        <p:spPr>
          <a:xfrm>
            <a:off x="8755380" y="1770615"/>
            <a:ext cx="182880" cy="182880"/>
          </a:xfrm>
          <a:prstGeom prst="rect">
            <a:avLst/>
          </a:prstGeom>
        </p:spPr>
      </p:pic>
      <p:cxnSp>
        <p:nvCxnSpPr>
          <p:cNvPr id="24" name="Connector 23"/>
          <p:cNvCxnSpPr/>
          <p:nvPr/>
        </p:nvCxnSpPr>
        <p:spPr>
          <a:xfrm>
            <a:off x="9066276" y="1862055"/>
            <a:ext cx="109728" cy="0"/>
          </a:xfrm>
          <a:prstGeom prst="line">
            <a:avLst/>
          </a:prstGeom>
          <a:ln w="12700">
            <a:solidFill>
              <a:srgbClr val="5B6678"/>
            </a:solidFill>
            <a:prstDash val="dash"/>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176004" y="1706607"/>
            <a:ext cx="438912" cy="310896"/>
          </a:xfrm>
          <a:prstGeom prst="roundRect">
            <a:avLst>
              <a:gd name="adj" fmla="val 16666"/>
            </a:avLst>
          </a:prstGeom>
          <a:solidFill>
            <a:srgbClr val="E1EAF0"/>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users-mid.png"/>
          <p:cNvPicPr>
            <a:picLocks noChangeAspect="1"/>
          </p:cNvPicPr>
          <p:nvPr/>
        </p:nvPicPr>
        <p:blipFill>
          <a:blip r:embed="rId2"/>
          <a:stretch>
            <a:fillRect/>
          </a:stretch>
        </p:blipFill>
        <p:spPr>
          <a:xfrm>
            <a:off x="9304020" y="1770615"/>
            <a:ext cx="182880" cy="182880"/>
          </a:xfrm>
          <a:prstGeom prst="rect">
            <a:avLst/>
          </a:prstGeom>
        </p:spPr>
      </p:pic>
      <p:cxnSp>
        <p:nvCxnSpPr>
          <p:cNvPr id="27" name="Connector 26"/>
          <p:cNvCxnSpPr/>
          <p:nvPr/>
        </p:nvCxnSpPr>
        <p:spPr>
          <a:xfrm>
            <a:off x="9614916" y="1862055"/>
            <a:ext cx="109728" cy="0"/>
          </a:xfrm>
          <a:prstGeom prst="line">
            <a:avLst/>
          </a:prstGeom>
          <a:ln w="12700">
            <a:solidFill>
              <a:srgbClr val="5B6678"/>
            </a:solidFill>
            <a:prstDash val="dash"/>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724644" y="1706607"/>
            <a:ext cx="438912" cy="310896"/>
          </a:xfrm>
          <a:prstGeom prst="roundRect">
            <a:avLst>
              <a:gd name="adj" fmla="val 16666"/>
            </a:avLst>
          </a:prstGeom>
          <a:solidFill>
            <a:srgbClr val="E1EAF0"/>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users-mid.png"/>
          <p:cNvPicPr>
            <a:picLocks noChangeAspect="1"/>
          </p:cNvPicPr>
          <p:nvPr/>
        </p:nvPicPr>
        <p:blipFill>
          <a:blip r:embed="rId2"/>
          <a:stretch>
            <a:fillRect/>
          </a:stretch>
        </p:blipFill>
        <p:spPr>
          <a:xfrm>
            <a:off x="9852660" y="1770615"/>
            <a:ext cx="182880" cy="182880"/>
          </a:xfrm>
          <a:prstGeom prst="rect">
            <a:avLst/>
          </a:prstGeom>
        </p:spPr>
      </p:pic>
      <p:cxnSp>
        <p:nvCxnSpPr>
          <p:cNvPr id="30" name="Connector 29"/>
          <p:cNvCxnSpPr/>
          <p:nvPr/>
        </p:nvCxnSpPr>
        <p:spPr>
          <a:xfrm>
            <a:off x="10163556" y="1862055"/>
            <a:ext cx="109728" cy="0"/>
          </a:xfrm>
          <a:prstGeom prst="line">
            <a:avLst/>
          </a:prstGeom>
          <a:ln w="12700">
            <a:solidFill>
              <a:srgbClr val="5B6678"/>
            </a:solidFill>
            <a:prstDash val="dash"/>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10273284" y="1706607"/>
            <a:ext cx="438912" cy="310896"/>
          </a:xfrm>
          <a:prstGeom prst="roundRect">
            <a:avLst>
              <a:gd name="adj" fmla="val 16666"/>
            </a:avLst>
          </a:prstGeom>
          <a:solidFill>
            <a:srgbClr val="E1EAF0"/>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users-mid.png"/>
          <p:cNvPicPr>
            <a:picLocks noChangeAspect="1"/>
          </p:cNvPicPr>
          <p:nvPr/>
        </p:nvPicPr>
        <p:blipFill>
          <a:blip r:embed="rId2"/>
          <a:stretch>
            <a:fillRect/>
          </a:stretch>
        </p:blipFill>
        <p:spPr>
          <a:xfrm>
            <a:off x="10401300" y="1770615"/>
            <a:ext cx="182880" cy="182880"/>
          </a:xfrm>
          <a:prstGeom prst="rect">
            <a:avLst/>
          </a:prstGeom>
        </p:spPr>
      </p:pic>
      <p:cxnSp>
        <p:nvCxnSpPr>
          <p:cNvPr id="33" name="Connector 32"/>
          <p:cNvCxnSpPr/>
          <p:nvPr/>
        </p:nvCxnSpPr>
        <p:spPr>
          <a:xfrm>
            <a:off x="10712196" y="1862055"/>
            <a:ext cx="109728" cy="0"/>
          </a:xfrm>
          <a:prstGeom prst="line">
            <a:avLst/>
          </a:prstGeom>
          <a:ln w="12700">
            <a:solidFill>
              <a:srgbClr val="5B6678"/>
            </a:solidFill>
            <a:prstDash val="dash"/>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10821924" y="1706607"/>
            <a:ext cx="438912" cy="310896"/>
          </a:xfrm>
          <a:prstGeom prst="roundRect">
            <a:avLst>
              <a:gd name="adj" fmla="val 16666"/>
            </a:avLst>
          </a:prstGeom>
          <a:solidFill>
            <a:srgbClr val="E1EAF0"/>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users-mid.png"/>
          <p:cNvPicPr>
            <a:picLocks noChangeAspect="1"/>
          </p:cNvPicPr>
          <p:nvPr/>
        </p:nvPicPr>
        <p:blipFill>
          <a:blip r:embed="rId2"/>
          <a:stretch>
            <a:fillRect/>
          </a:stretch>
        </p:blipFill>
        <p:spPr>
          <a:xfrm>
            <a:off x="10949940" y="1770615"/>
            <a:ext cx="182880" cy="182880"/>
          </a:xfrm>
          <a:prstGeom prst="rect">
            <a:avLst/>
          </a:prstGeom>
        </p:spPr>
      </p:pic>
      <p:pic>
        <p:nvPicPr>
          <p:cNvPr id="36" name="Picture 35" descr="x-gold.png"/>
          <p:cNvPicPr>
            <a:picLocks noChangeAspect="1"/>
          </p:cNvPicPr>
          <p:nvPr/>
        </p:nvPicPr>
        <p:blipFill>
          <a:blip r:embed="rId3"/>
          <a:stretch>
            <a:fillRect/>
          </a:stretch>
        </p:blipFill>
        <p:spPr>
          <a:xfrm>
            <a:off x="9861804" y="1779759"/>
            <a:ext cx="164592" cy="164592"/>
          </a:xfrm>
          <a:prstGeom prst="rect">
            <a:avLst/>
          </a:prstGeom>
        </p:spPr>
      </p:pic>
      <p:sp>
        <p:nvSpPr>
          <p:cNvPr id="37" name="TextBox 36"/>
          <p:cNvSpPr txBox="1"/>
          <p:nvPr/>
        </p:nvSpPr>
        <p:spPr>
          <a:xfrm>
            <a:off x="8366760" y="2054079"/>
            <a:ext cx="3154680" cy="219456"/>
          </a:xfrm>
          <a:prstGeom prst="rect">
            <a:avLst/>
          </a:prstGeom>
          <a:noFill/>
        </p:spPr>
        <p:txBody>
          <a:bodyPr wrap="square" lIns="0" rIns="0" tIns="0" bIns="0" anchor="t">
            <a:spAutoFit/>
          </a:bodyPr>
          <a:lstStyle/>
          <a:p>
            <a:pPr algn="ctr">
              <a:lnSpc>
                <a:spcPct val="105000"/>
              </a:lnSpc>
            </a:pPr>
            <a:r>
              <a:rPr sz="900" b="0" i="1">
                <a:solidFill>
                  <a:srgbClr val="5B6678"/>
                </a:solidFill>
                <a:latin typeface="DejaVu Sans"/>
              </a:rPr>
              <a:t>выдуманные собеседники не слышат друг друга</a:t>
            </a:r>
          </a:p>
        </p:txBody>
      </p:sp>
      <p:cxnSp>
        <p:nvCxnSpPr>
          <p:cNvPr id="38" name="Connector 37"/>
          <p:cNvCxnSpPr/>
          <p:nvPr/>
        </p:nvCxnSpPr>
        <p:spPr>
          <a:xfrm>
            <a:off x="9944100" y="2328399"/>
            <a:ext cx="0" cy="182880"/>
          </a:xfrm>
          <a:prstGeom prst="line">
            <a:avLst/>
          </a:prstGeom>
          <a:ln w="25400">
            <a:solidFill>
              <a:srgbClr val="065A82"/>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8412480" y="2547855"/>
            <a:ext cx="3063240" cy="640080"/>
          </a:xfrm>
          <a:prstGeom prst="roundRect">
            <a:avLst>
              <a:gd name="adj" fmla="val 22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94776" y="2547855"/>
            <a:ext cx="2898648" cy="640080"/>
          </a:xfrm>
          <a:prstGeom prst="rect">
            <a:avLst/>
          </a:prstGeom>
          <a:noFill/>
        </p:spPr>
        <p:txBody>
          <a:bodyPr wrap="square" lIns="0" rIns="0" tIns="0" bIns="0" anchor="ctr">
            <a:spAutoFit/>
          </a:bodyPr>
          <a:lstStyle/>
          <a:p>
            <a:pPr algn="ctr">
              <a:lnSpc>
                <a:spcPct val="110000"/>
              </a:lnSpc>
            </a:pPr>
            <a:r>
              <a:rPr sz="1050" b="1" i="0">
                <a:solidFill>
                  <a:srgbClr val="21295C"/>
                </a:solidFill>
                <a:latin typeface="DejaVu Sans"/>
              </a:rPr>
              <a:t>наружу выходит только</a:t>
            </a:r>
          </a:p>
          <a:p>
            <a:pPr algn="ctr">
              <a:lnSpc>
                <a:spcPct val="110000"/>
              </a:lnSpc>
            </a:pPr>
            <a:r>
              <a:rPr sz="1050" b="1" i="0">
                <a:solidFill>
                  <a:srgbClr val="21295C"/>
                </a:solidFill>
                <a:latin typeface="DejaVu Sans"/>
              </a:rPr>
              <a:t>правленый список вопросов</a:t>
            </a:r>
          </a:p>
        </p:txBody>
      </p:sp>
      <p:sp>
        <p:nvSpPr>
          <p:cNvPr id="41" name="Rounded Rectangle 40"/>
          <p:cNvSpPr/>
          <p:nvPr/>
        </p:nvSpPr>
        <p:spPr>
          <a:xfrm>
            <a:off x="502920" y="3808457"/>
            <a:ext cx="1152144" cy="1074020"/>
          </a:xfrm>
          <a:prstGeom prst="roundRect">
            <a:avLst>
              <a:gd name="adj" fmla="val 22000"/>
            </a:avLst>
          </a:prstGeom>
          <a:solidFill>
            <a:srgbClr val="1C7293"/>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48640" y="3808457"/>
            <a:ext cx="1060704" cy="1074020"/>
          </a:xfrm>
          <a:prstGeom prst="rect">
            <a:avLst/>
          </a:prstGeom>
          <a:noFill/>
        </p:spPr>
        <p:txBody>
          <a:bodyPr wrap="square" lIns="0" rIns="0" tIns="0" bIns="0" anchor="ctr">
            <a:spAutoFit/>
          </a:bodyPr>
          <a:lstStyle/>
          <a:p>
            <a:pPr algn="ctr">
              <a:lnSpc>
                <a:spcPct val="102000"/>
              </a:lnSpc>
            </a:pPr>
            <a:r>
              <a:rPr sz="950" b="1" i="0">
                <a:solidFill>
                  <a:srgbClr val="FFFFFF"/>
                </a:solidFill>
                <a:latin typeface="DejaVu Sans"/>
              </a:rPr>
              <a:t>С ИИ И БЕЗ ИИ</a:t>
            </a:r>
          </a:p>
        </p:txBody>
      </p:sp>
      <p:sp>
        <p:nvSpPr>
          <p:cNvPr id="43" name="Rounded Rectangle 42"/>
          <p:cNvSpPr/>
          <p:nvPr/>
        </p:nvSpPr>
        <p:spPr>
          <a:xfrm>
            <a:off x="1801368" y="3808457"/>
            <a:ext cx="9902952" cy="1074020"/>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1984248" y="3899897"/>
            <a:ext cx="4677156" cy="891140"/>
          </a:xfrm>
          <a:prstGeom prst="roundRect">
            <a:avLst>
              <a:gd name="adj" fmla="val 19444"/>
            </a:avLst>
          </a:prstGeom>
          <a:solidFill>
            <a:srgbClr val="FFFFFF"/>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084831" y="3945617"/>
            <a:ext cx="4475988" cy="219456"/>
          </a:xfrm>
          <a:prstGeom prst="rect">
            <a:avLst/>
          </a:prstGeom>
          <a:noFill/>
        </p:spPr>
        <p:txBody>
          <a:bodyPr wrap="square" lIns="0" rIns="0" tIns="0" bIns="0" anchor="t">
            <a:spAutoFit/>
          </a:bodyPr>
          <a:lstStyle/>
          <a:p>
            <a:pPr algn="l">
              <a:lnSpc>
                <a:spcPct val="100000"/>
              </a:lnSpc>
            </a:pPr>
            <a:r>
              <a:rPr sz="919" b="1" i="0">
                <a:solidFill>
                  <a:srgbClr val="065A82"/>
                </a:solidFill>
                <a:latin typeface="DejaVu Sans"/>
              </a:rPr>
              <a:t>БЕЗ ИИ — так репетировали всегда</a:t>
            </a:r>
          </a:p>
        </p:txBody>
      </p:sp>
      <p:sp>
        <p:nvSpPr>
          <p:cNvPr id="46" name="TextBox 45"/>
          <p:cNvSpPr txBox="1"/>
          <p:nvPr/>
        </p:nvSpPr>
        <p:spPr>
          <a:xfrm>
            <a:off x="2084831" y="4174217"/>
            <a:ext cx="4475988" cy="561956"/>
          </a:xfrm>
          <a:prstGeom prst="rect">
            <a:avLst/>
          </a:prstGeom>
          <a:noFill/>
        </p:spPr>
        <p:txBody>
          <a:bodyPr wrap="square" lIns="0" rIns="0" tIns="0" bIns="0" anchor="t">
            <a:spAutoFit/>
          </a:bodyPr>
          <a:lstStyle/>
          <a:p>
            <a:pPr algn="l">
              <a:lnSpc>
                <a:spcPct val="112000"/>
              </a:lnSpc>
            </a:pPr>
            <a:r>
              <a:rPr sz="950" b="0" i="0">
                <a:solidFill>
                  <a:srgbClr val="21295C"/>
                </a:solidFill>
                <a:latin typeface="DejaVu Sans"/>
              </a:rPr>
              <a:t>Список вопросов проговаривают на коллеге или тратят на репетицию одно живое интервью из восьми. Работает, но даёт один взгляд и стоит дня.</a:t>
            </a:r>
          </a:p>
        </p:txBody>
      </p:sp>
      <p:sp>
        <p:nvSpPr>
          <p:cNvPr id="47" name="Rounded Rectangle 46"/>
          <p:cNvSpPr/>
          <p:nvPr/>
        </p:nvSpPr>
        <p:spPr>
          <a:xfrm>
            <a:off x="6844284" y="3899897"/>
            <a:ext cx="4677156" cy="891140"/>
          </a:xfrm>
          <a:prstGeom prst="roundRect">
            <a:avLst>
              <a:gd name="adj" fmla="val 19444"/>
            </a:avLst>
          </a:prstGeom>
          <a:solidFill>
            <a:srgbClr val="FFFFFF"/>
          </a:solidFill>
          <a:ln w="1778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944868" y="3945617"/>
            <a:ext cx="4475988" cy="219456"/>
          </a:xfrm>
          <a:prstGeom prst="rect">
            <a:avLst/>
          </a:prstGeom>
          <a:noFill/>
        </p:spPr>
        <p:txBody>
          <a:bodyPr wrap="square" lIns="0" rIns="0" tIns="0" bIns="0" anchor="t">
            <a:spAutoFit/>
          </a:bodyPr>
          <a:lstStyle/>
          <a:p>
            <a:pPr algn="l">
              <a:lnSpc>
                <a:spcPct val="100000"/>
              </a:lnSpc>
            </a:pPr>
            <a:r>
              <a:rPr sz="919" b="1" i="0">
                <a:solidFill>
                  <a:srgbClr val="028090"/>
                </a:solidFill>
                <a:latin typeface="DejaVu Sans"/>
              </a:rPr>
              <a:t>С ИИ — что изменилось</a:t>
            </a:r>
          </a:p>
        </p:txBody>
      </p:sp>
      <p:sp>
        <p:nvSpPr>
          <p:cNvPr id="49" name="TextBox 48"/>
          <p:cNvSpPr txBox="1"/>
          <p:nvPr/>
        </p:nvSpPr>
        <p:spPr>
          <a:xfrm>
            <a:off x="6944868" y="4174217"/>
            <a:ext cx="4475988" cy="561956"/>
          </a:xfrm>
          <a:prstGeom prst="rect">
            <a:avLst/>
          </a:prstGeom>
          <a:noFill/>
        </p:spPr>
        <p:txBody>
          <a:bodyPr wrap="square" lIns="0" rIns="0" tIns="0" bIns="0" anchor="t">
            <a:spAutoFit/>
          </a:bodyPr>
          <a:lstStyle/>
          <a:p>
            <a:pPr algn="l">
              <a:lnSpc>
                <a:spcPct val="112000"/>
              </a:lnSpc>
            </a:pPr>
            <a:r>
              <a:rPr sz="950" b="0" i="0">
                <a:solidFill>
                  <a:srgbClr val="21295C"/>
                </a:solidFill>
                <a:latin typeface="DejaVu Sans"/>
              </a:rPr>
              <a:t>Репетиция занимает минуты, и прогонов можно сделать десяток. Дешевеет </a:t>
            </a:r>
            <a:r>
              <a:rPr sz="950" b="1" i="0">
                <a:solidFill>
                  <a:srgbClr val="21295C"/>
                </a:solidFill>
                <a:latin typeface="DejaVu Sans"/>
              </a:rPr>
              <a:t>только репетиция</a:t>
            </a:r>
            <a:r>
              <a:rPr sz="950" b="0" i="0">
                <a:solidFill>
                  <a:srgbClr val="21295C"/>
                </a:solidFill>
                <a:latin typeface="DejaVu Sans"/>
              </a:rPr>
              <a:t>: само интервью с живым человеком не заменяется ничем.</a:t>
            </a:r>
          </a:p>
        </p:txBody>
      </p:sp>
      <p:sp>
        <p:nvSpPr>
          <p:cNvPr id="50" name="Rounded Rectangle 49"/>
          <p:cNvSpPr/>
          <p:nvPr/>
        </p:nvSpPr>
        <p:spPr>
          <a:xfrm>
            <a:off x="502920" y="4946486"/>
            <a:ext cx="1152144" cy="1050342"/>
          </a:xfrm>
          <a:prstGeom prst="roundRect">
            <a:avLst>
              <a:gd name="adj" fmla="val 22000"/>
            </a:avLst>
          </a:prstGeom>
          <a:solidFill>
            <a:srgbClr val="F0AB00"/>
          </a:solidFill>
          <a:ln w="127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48640" y="4946486"/>
            <a:ext cx="1060704" cy="1050342"/>
          </a:xfrm>
          <a:prstGeom prst="rect">
            <a:avLst/>
          </a:prstGeom>
          <a:noFill/>
        </p:spPr>
        <p:txBody>
          <a:bodyPr wrap="square" lIns="0" rIns="0" tIns="0" bIns="0" anchor="ctr">
            <a:spAutoFit/>
          </a:bodyPr>
          <a:lstStyle/>
          <a:p>
            <a:pPr algn="ctr">
              <a:lnSpc>
                <a:spcPct val="102000"/>
              </a:lnSpc>
            </a:pPr>
            <a:r>
              <a:rPr sz="950" b="1" i="0">
                <a:solidFill>
                  <a:srgbClr val="21295C"/>
                </a:solidFill>
                <a:latin typeface="DejaVu Sans"/>
              </a:rPr>
              <a:t>ГДЕ НЕ РАБОТАЕТ</a:t>
            </a:r>
          </a:p>
        </p:txBody>
      </p:sp>
      <p:sp>
        <p:nvSpPr>
          <p:cNvPr id="52" name="Rounded Rectangle 51"/>
          <p:cNvSpPr/>
          <p:nvPr/>
        </p:nvSpPr>
        <p:spPr>
          <a:xfrm>
            <a:off x="1801368" y="4946486"/>
            <a:ext cx="9902952" cy="1050342"/>
          </a:xfrm>
          <a:prstGeom prst="roundRect">
            <a:avLst>
              <a:gd name="adj" fmla="val 22000"/>
            </a:avLst>
          </a:prstGeom>
          <a:solidFill>
            <a:srgbClr val="FDF3DC"/>
          </a:solidFill>
          <a:ln w="317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984248" y="5037926"/>
            <a:ext cx="9537192" cy="867462"/>
          </a:xfrm>
          <a:prstGeom prst="rect">
            <a:avLst/>
          </a:prstGeom>
          <a:noFill/>
        </p:spPr>
        <p:txBody>
          <a:bodyPr wrap="square" lIns="0" rIns="0" tIns="0" bIns="0" anchor="ctr">
            <a:spAutoFit/>
          </a:bodyPr>
          <a:lstStyle/>
          <a:p>
            <a:pPr algn="l">
              <a:lnSpc>
                <a:spcPct val="114000"/>
              </a:lnSpc>
            </a:pPr>
            <a:r>
              <a:rPr sz="1100" b="1" i="0">
                <a:solidFill>
                  <a:srgbClr val="21295C"/>
                </a:solidFill>
                <a:latin typeface="DejaVu Sans"/>
              </a:rPr>
              <a:t>Ответы собеседников — не данные о пользователях: модель одна, и пять собеседников — это пять взглядов одной модели, а не пять людей. При сверке с настоящим национальным опросом средние ответы модель повторяет, а разброс мнений занижает вдвое (</a:t>
            </a:r>
            <a:r>
              <a:rPr sz="1100" b="1" i="0">
                <a:solidFill>
                  <a:srgbClr val="21295C"/>
                </a:solidFill>
                <a:latin typeface="DejaVu Sans"/>
              </a:rPr>
              <a:t>16 против 31</a:t>
            </a:r>
            <a:r>
              <a:rPr sz="1100" b="1" i="0">
                <a:solidFill>
                  <a:srgbClr val="21295C"/>
                </a:solidFill>
                <a:latin typeface="DejaVu Sans"/>
              </a:rPr>
              <a:t>). Приём запущен неправильно, если из прогона вынесен вывод о продукте, а не о формулировке вопроса.</a:t>
            </a:r>
          </a:p>
        </p:txBody>
      </p:sp>
      <p:sp>
        <p:nvSpPr>
          <p:cNvPr id="54" name="TextBox 53"/>
          <p:cNvSpPr txBox="1"/>
          <p:nvPr/>
        </p:nvSpPr>
        <p:spPr>
          <a:xfrm>
            <a:off x="502920" y="6437376"/>
            <a:ext cx="10515600" cy="201168"/>
          </a:xfrm>
          <a:prstGeom prst="rect">
            <a:avLst/>
          </a:prstGeom>
          <a:noFill/>
        </p:spPr>
        <p:txBody>
          <a:bodyPr wrap="square" lIns="0" rIns="0" tIns="0" bIns="0" anchor="t">
            <a:spAutoFit/>
          </a:bodyPr>
          <a:lstStyle/>
          <a:p>
            <a:pPr algn="l">
              <a:lnSpc>
                <a:spcPct val="100000"/>
              </a:lnSpc>
            </a:pPr>
            <a:r>
              <a:rPr sz="900" b="0" i="1">
                <a:solidFill>
                  <a:srgbClr val="1C7293"/>
                </a:solidFill>
                <a:latin typeface="DejaVu Sans"/>
              </a:rPr>
              <a:t>Сверка синтетических ответов с реальным национальным опросом — Bisbee, Clinton, Dorff, Kenkel, Larson, Political Analysis, 2024</a:t>
            </a:r>
          </a:p>
        </p:txBody>
      </p:sp>
      <p:sp>
        <p:nvSpPr>
          <p:cNvPr id="55" name="TextBox 54"/>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9 / 54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18872"/>
            <a:ext cx="11201400" cy="356349"/>
          </a:xfrm>
          <a:prstGeom prst="rect">
            <a:avLst/>
          </a:prstGeom>
          <a:noFill/>
        </p:spPr>
        <p:txBody>
          <a:bodyPr wrap="square" lIns="0" rIns="0" tIns="0" bIns="0" anchor="t">
            <a:spAutoFit/>
          </a:bodyPr>
          <a:lstStyle/>
          <a:p>
            <a:pPr algn="l">
              <a:lnSpc>
                <a:spcPct val="110000"/>
              </a:lnSpc>
            </a:pPr>
            <a:r>
              <a:rPr sz="2100" b="1" i="0">
                <a:solidFill>
                  <a:srgbClr val="21295C"/>
                </a:solidFill>
                <a:latin typeface="DejaVu Sans"/>
              </a:rPr>
              <a:t>Поиск боли по накопленным обращениям в поддержку</a:t>
            </a:r>
          </a:p>
        </p:txBody>
      </p:sp>
      <p:sp>
        <p:nvSpPr>
          <p:cNvPr id="3" name="Rounded Rectangle 2"/>
          <p:cNvSpPr/>
          <p:nvPr/>
        </p:nvSpPr>
        <p:spPr>
          <a:xfrm>
            <a:off x="502920" y="566661"/>
            <a:ext cx="1152144" cy="893058"/>
          </a:xfrm>
          <a:prstGeom prst="roundRect">
            <a:avLst>
              <a:gd name="adj" fmla="val 22000"/>
            </a:avLst>
          </a:prstGeom>
          <a:solidFill>
            <a:srgbClr val="21295C"/>
          </a:solidFill>
          <a:ln w="12700">
            <a:solidFill>
              <a:srgbClr val="2129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66661"/>
            <a:ext cx="1060704" cy="893058"/>
          </a:xfrm>
          <a:prstGeom prst="rect">
            <a:avLst/>
          </a:prstGeom>
          <a:noFill/>
        </p:spPr>
        <p:txBody>
          <a:bodyPr wrap="square" lIns="0" rIns="0" tIns="0" bIns="0" anchor="ctr">
            <a:spAutoFit/>
          </a:bodyPr>
          <a:lstStyle/>
          <a:p>
            <a:pPr algn="ctr">
              <a:lnSpc>
                <a:spcPct val="102000"/>
              </a:lnSpc>
            </a:pPr>
            <a:r>
              <a:rPr sz="950" b="1" i="0">
                <a:solidFill>
                  <a:srgbClr val="FFFFFF"/>
                </a:solidFill>
                <a:latin typeface="DejaVu Sans"/>
              </a:rPr>
              <a:t>ЧТО ЭТО</a:t>
            </a:r>
          </a:p>
        </p:txBody>
      </p:sp>
      <p:sp>
        <p:nvSpPr>
          <p:cNvPr id="5" name="Rounded Rectangle 4"/>
          <p:cNvSpPr/>
          <p:nvPr/>
        </p:nvSpPr>
        <p:spPr>
          <a:xfrm>
            <a:off x="1801368" y="566661"/>
            <a:ext cx="9902952" cy="893058"/>
          </a:xfrm>
          <a:prstGeom prst="roundRect">
            <a:avLst>
              <a:gd name="adj" fmla="val 22000"/>
            </a:avLst>
          </a:prstGeom>
          <a:solidFill>
            <a:srgbClr val="FFFFFF"/>
          </a:solidFill>
          <a:ln w="2286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984248" y="658101"/>
            <a:ext cx="9537192" cy="710178"/>
          </a:xfrm>
          <a:prstGeom prst="rect">
            <a:avLst/>
          </a:prstGeom>
          <a:noFill/>
        </p:spPr>
        <p:txBody>
          <a:bodyPr wrap="square" lIns="0" rIns="0" tIns="0" bIns="0" anchor="ctr">
            <a:spAutoFit/>
          </a:bodyPr>
          <a:lstStyle/>
          <a:p>
            <a:pPr algn="l">
              <a:lnSpc>
                <a:spcPct val="114000"/>
              </a:lnSpc>
            </a:pPr>
            <a:r>
              <a:rPr sz="1150" b="0" i="0">
                <a:solidFill>
                  <a:srgbClr val="21295C"/>
                </a:solidFill>
                <a:latin typeface="DejaVu Sans"/>
              </a:rPr>
              <a:t>Если у продукта уже есть пользователи, у него есть и архив их жалоб и вопросов. Приём превращает этот архив в источник гипотез: обращения складывают в поисковый массив, собирают похожие по смыслу в группы и смотрят, какие темы повторяются. Наружу выходит названная тема боли.</a:t>
            </a:r>
          </a:p>
        </p:txBody>
      </p:sp>
      <p:sp>
        <p:nvSpPr>
          <p:cNvPr id="7" name="Rounded Rectangle 6"/>
          <p:cNvSpPr/>
          <p:nvPr/>
        </p:nvSpPr>
        <p:spPr>
          <a:xfrm>
            <a:off x="502920" y="1523727"/>
            <a:ext cx="1152144" cy="2157984"/>
          </a:xfrm>
          <a:prstGeom prst="roundRect">
            <a:avLst>
              <a:gd name="adj" fmla="val 22000"/>
            </a:avLst>
          </a:prstGeom>
          <a:solidFill>
            <a:srgbClr val="065A82"/>
          </a:solidFill>
          <a:ln w="1270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523727"/>
            <a:ext cx="1060704" cy="2157984"/>
          </a:xfrm>
          <a:prstGeom prst="rect">
            <a:avLst/>
          </a:prstGeom>
          <a:noFill/>
        </p:spPr>
        <p:txBody>
          <a:bodyPr wrap="square" lIns="0" rIns="0" tIns="0" bIns="0" anchor="ctr">
            <a:spAutoFit/>
          </a:bodyPr>
          <a:lstStyle/>
          <a:p>
            <a:pPr algn="ctr">
              <a:lnSpc>
                <a:spcPct val="102000"/>
              </a:lnSpc>
            </a:pPr>
            <a:r>
              <a:rPr sz="950" b="1" i="0">
                <a:solidFill>
                  <a:srgbClr val="FFFFFF"/>
                </a:solidFill>
                <a:latin typeface="DejaVu Sans"/>
              </a:rPr>
              <a:t>МЕХАНИЗМ</a:t>
            </a:r>
          </a:p>
        </p:txBody>
      </p:sp>
      <p:sp>
        <p:nvSpPr>
          <p:cNvPr id="9" name="Rounded Rectangle 8"/>
          <p:cNvSpPr/>
          <p:nvPr/>
        </p:nvSpPr>
        <p:spPr>
          <a:xfrm>
            <a:off x="1801368" y="1523727"/>
            <a:ext cx="9902952" cy="2157984"/>
          </a:xfrm>
          <a:prstGeom prst="roundRect">
            <a:avLst>
              <a:gd name="adj" fmla="val 14124"/>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984248" y="1628883"/>
            <a:ext cx="214884" cy="2148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984248" y="1628883"/>
            <a:ext cx="214884" cy="214884"/>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1</a:t>
            </a:r>
          </a:p>
        </p:txBody>
      </p:sp>
      <p:sp>
        <p:nvSpPr>
          <p:cNvPr id="12" name="TextBox 11"/>
          <p:cNvSpPr txBox="1"/>
          <p:nvPr/>
        </p:nvSpPr>
        <p:spPr>
          <a:xfrm>
            <a:off x="2295144" y="1615167"/>
            <a:ext cx="6163056" cy="378673"/>
          </a:xfrm>
          <a:prstGeom prst="rect">
            <a:avLst/>
          </a:prstGeom>
          <a:noFill/>
        </p:spPr>
        <p:txBody>
          <a:bodyPr wrap="square" lIns="0" rIns="0" tIns="0" bIns="0" anchor="t">
            <a:spAutoFit/>
          </a:bodyPr>
          <a:lstStyle/>
          <a:p>
            <a:pPr algn="l">
              <a:lnSpc>
                <a:spcPct val="115000"/>
              </a:lnSpc>
            </a:pPr>
            <a:r>
              <a:rPr sz="1000" b="0" i="0">
                <a:solidFill>
                  <a:srgbClr val="21295C"/>
                </a:solidFill>
                <a:latin typeface="DejaVu Sans"/>
              </a:rPr>
              <a:t>Каждое обращение кладут в общий массив и приписывают к нему, когда оно пришло, от кого и по какому продукту.</a:t>
            </a:r>
          </a:p>
        </p:txBody>
      </p:sp>
      <p:sp>
        <p:nvSpPr>
          <p:cNvPr id="13" name="Oval 12"/>
          <p:cNvSpPr/>
          <p:nvPr/>
        </p:nvSpPr>
        <p:spPr>
          <a:xfrm>
            <a:off x="1984248" y="2071565"/>
            <a:ext cx="214884" cy="2148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984248" y="2071565"/>
            <a:ext cx="214884" cy="214884"/>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2</a:t>
            </a:r>
          </a:p>
        </p:txBody>
      </p:sp>
      <p:sp>
        <p:nvSpPr>
          <p:cNvPr id="15" name="TextBox 14"/>
          <p:cNvSpPr txBox="1"/>
          <p:nvPr/>
        </p:nvSpPr>
        <p:spPr>
          <a:xfrm>
            <a:off x="2295144" y="2057849"/>
            <a:ext cx="6163056" cy="544235"/>
          </a:xfrm>
          <a:prstGeom prst="rect">
            <a:avLst/>
          </a:prstGeom>
          <a:noFill/>
        </p:spPr>
        <p:txBody>
          <a:bodyPr wrap="square" lIns="0" rIns="0" tIns="0" bIns="0" anchor="t">
            <a:spAutoFit/>
          </a:bodyPr>
          <a:lstStyle/>
          <a:p>
            <a:pPr algn="l">
              <a:lnSpc>
                <a:spcPct val="115000"/>
              </a:lnSpc>
            </a:pPr>
            <a:r>
              <a:rPr sz="1000" b="0" i="0">
                <a:solidFill>
                  <a:srgbClr val="21295C"/>
                </a:solidFill>
                <a:latin typeface="DejaVu Sans"/>
              </a:rPr>
              <a:t>Ищут </a:t>
            </a:r>
            <a:r>
              <a:rPr sz="1000" b="1" i="0">
                <a:solidFill>
                  <a:srgbClr val="065A82"/>
                </a:solidFill>
                <a:latin typeface="DejaVu Sans"/>
              </a:rPr>
              <a:t>двумя способами сразу</a:t>
            </a:r>
            <a:r>
              <a:rPr sz="1000" b="0" i="0">
                <a:solidFill>
                  <a:srgbClr val="21295C"/>
                </a:solidFill>
                <a:latin typeface="DejaVu Sans"/>
              </a:rPr>
              <a:t>: по точному совпадению слов и по смыслу. Код ошибки находит только первый, описание проблемы своими словами — только второй.</a:t>
            </a:r>
          </a:p>
        </p:txBody>
      </p:sp>
      <p:sp>
        <p:nvSpPr>
          <p:cNvPr id="16" name="Oval 15"/>
          <p:cNvSpPr/>
          <p:nvPr/>
        </p:nvSpPr>
        <p:spPr>
          <a:xfrm>
            <a:off x="1984248" y="2679808"/>
            <a:ext cx="214884" cy="2148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984248" y="2679808"/>
            <a:ext cx="214884" cy="214884"/>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3</a:t>
            </a:r>
          </a:p>
        </p:txBody>
      </p:sp>
      <p:sp>
        <p:nvSpPr>
          <p:cNvPr id="18" name="TextBox 17"/>
          <p:cNvSpPr txBox="1"/>
          <p:nvPr/>
        </p:nvSpPr>
        <p:spPr>
          <a:xfrm>
            <a:off x="2295144" y="2666092"/>
            <a:ext cx="6163056" cy="544235"/>
          </a:xfrm>
          <a:prstGeom prst="rect">
            <a:avLst/>
          </a:prstGeom>
          <a:noFill/>
        </p:spPr>
        <p:txBody>
          <a:bodyPr wrap="square" lIns="0" rIns="0" tIns="0" bIns="0" anchor="t">
            <a:spAutoFit/>
          </a:bodyPr>
          <a:lstStyle/>
          <a:p>
            <a:pPr algn="l">
              <a:lnSpc>
                <a:spcPct val="115000"/>
              </a:lnSpc>
            </a:pPr>
            <a:r>
              <a:rPr sz="1000" b="0" i="0">
                <a:solidFill>
                  <a:srgbClr val="21295C"/>
                </a:solidFill>
                <a:latin typeface="DejaVu Sans"/>
              </a:rPr>
              <a:t>Похожее собирают в группы и пересказывают в два приёма: сначала каждое обращение отдельно, потом общее между ними. Пропуск первого приёма — потеря 20–40% деталей.</a:t>
            </a:r>
          </a:p>
        </p:txBody>
      </p:sp>
      <p:sp>
        <p:nvSpPr>
          <p:cNvPr id="19" name="Rounded Rectangle 18"/>
          <p:cNvSpPr/>
          <p:nvPr/>
        </p:nvSpPr>
        <p:spPr>
          <a:xfrm>
            <a:off x="8732520" y="1670031"/>
            <a:ext cx="2788920" cy="420624"/>
          </a:xfrm>
          <a:prstGeom prst="roundRect">
            <a:avLst>
              <a:gd name="adj" fmla="val 19444"/>
            </a:avLst>
          </a:prstGeom>
          <a:solidFill>
            <a:srgbClr val="FFFFFF"/>
          </a:solidFill>
          <a:ln w="2032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database-mid.png"/>
          <p:cNvPicPr>
            <a:picLocks noChangeAspect="1"/>
          </p:cNvPicPr>
          <p:nvPr/>
        </p:nvPicPr>
        <p:blipFill>
          <a:blip r:embed="rId2"/>
          <a:stretch>
            <a:fillRect/>
          </a:stretch>
        </p:blipFill>
        <p:spPr>
          <a:xfrm>
            <a:off x="8860536" y="1770615"/>
            <a:ext cx="219456" cy="219456"/>
          </a:xfrm>
          <a:prstGeom prst="rect">
            <a:avLst/>
          </a:prstGeom>
        </p:spPr>
      </p:pic>
      <p:sp>
        <p:nvSpPr>
          <p:cNvPr id="21" name="TextBox 20"/>
          <p:cNvSpPr txBox="1"/>
          <p:nvPr/>
        </p:nvSpPr>
        <p:spPr>
          <a:xfrm>
            <a:off x="9171432" y="1670031"/>
            <a:ext cx="2240279" cy="420624"/>
          </a:xfrm>
          <a:prstGeom prst="rect">
            <a:avLst/>
          </a:prstGeom>
          <a:noFill/>
        </p:spPr>
        <p:txBody>
          <a:bodyPr wrap="square" lIns="0" rIns="0" tIns="0" bIns="0" anchor="ctr">
            <a:spAutoFit/>
          </a:bodyPr>
          <a:lstStyle/>
          <a:p>
            <a:pPr algn="l">
              <a:lnSpc>
                <a:spcPct val="104000"/>
              </a:lnSpc>
            </a:pPr>
            <a:r>
              <a:rPr sz="960" b="1" i="0">
                <a:solidFill>
                  <a:srgbClr val="065A82"/>
                </a:solidFill>
                <a:latin typeface="DejaVu Sans"/>
              </a:rPr>
              <a:t>сложить</a:t>
            </a:r>
          </a:p>
          <a:p>
            <a:pPr algn="l">
              <a:lnSpc>
                <a:spcPct val="104000"/>
              </a:lnSpc>
            </a:pPr>
            <a:r>
              <a:rPr sz="960" b="1" i="0">
                <a:solidFill>
                  <a:srgbClr val="065A82"/>
                </a:solidFill>
                <a:latin typeface="DejaVu Sans"/>
              </a:rPr>
              <a:t>и разметить</a:t>
            </a:r>
          </a:p>
        </p:txBody>
      </p:sp>
      <p:cxnSp>
        <p:nvCxnSpPr>
          <p:cNvPr id="22" name="Connector 21"/>
          <p:cNvCxnSpPr/>
          <p:nvPr/>
        </p:nvCxnSpPr>
        <p:spPr>
          <a:xfrm>
            <a:off x="10126980" y="2090655"/>
            <a:ext cx="0" cy="164592"/>
          </a:xfrm>
          <a:prstGeom prst="line">
            <a:avLst/>
          </a:prstGeom>
          <a:ln w="25400">
            <a:solidFill>
              <a:srgbClr val="1C729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8732520" y="2255247"/>
            <a:ext cx="2788920" cy="420624"/>
          </a:xfrm>
          <a:prstGeom prst="roundRect">
            <a:avLst>
              <a:gd name="adj" fmla="val 19444"/>
            </a:avLst>
          </a:prstGeom>
          <a:solidFill>
            <a:srgbClr val="FFFFFF"/>
          </a:solidFill>
          <a:ln w="2032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search-check-mid.png"/>
          <p:cNvPicPr>
            <a:picLocks noChangeAspect="1"/>
          </p:cNvPicPr>
          <p:nvPr/>
        </p:nvPicPr>
        <p:blipFill>
          <a:blip r:embed="rId3"/>
          <a:stretch>
            <a:fillRect/>
          </a:stretch>
        </p:blipFill>
        <p:spPr>
          <a:xfrm>
            <a:off x="8860536" y="2355831"/>
            <a:ext cx="219456" cy="219456"/>
          </a:xfrm>
          <a:prstGeom prst="rect">
            <a:avLst/>
          </a:prstGeom>
        </p:spPr>
      </p:pic>
      <p:sp>
        <p:nvSpPr>
          <p:cNvPr id="25" name="TextBox 24"/>
          <p:cNvSpPr txBox="1"/>
          <p:nvPr/>
        </p:nvSpPr>
        <p:spPr>
          <a:xfrm>
            <a:off x="9171432" y="2255247"/>
            <a:ext cx="2240279" cy="420624"/>
          </a:xfrm>
          <a:prstGeom prst="rect">
            <a:avLst/>
          </a:prstGeom>
          <a:noFill/>
        </p:spPr>
        <p:txBody>
          <a:bodyPr wrap="square" lIns="0" rIns="0" tIns="0" bIns="0" anchor="ctr">
            <a:spAutoFit/>
          </a:bodyPr>
          <a:lstStyle/>
          <a:p>
            <a:pPr algn="l">
              <a:lnSpc>
                <a:spcPct val="104000"/>
              </a:lnSpc>
            </a:pPr>
            <a:r>
              <a:rPr sz="960" b="1" i="0">
                <a:solidFill>
                  <a:srgbClr val="1C7293"/>
                </a:solidFill>
                <a:latin typeface="DejaVu Sans"/>
              </a:rPr>
              <a:t>искать словом</a:t>
            </a:r>
          </a:p>
          <a:p>
            <a:pPr algn="l">
              <a:lnSpc>
                <a:spcPct val="104000"/>
              </a:lnSpc>
            </a:pPr>
            <a:r>
              <a:rPr sz="960" b="1" i="0">
                <a:solidFill>
                  <a:srgbClr val="1C7293"/>
                </a:solidFill>
                <a:latin typeface="DejaVu Sans"/>
              </a:rPr>
              <a:t>и смыслом</a:t>
            </a:r>
          </a:p>
        </p:txBody>
      </p:sp>
      <p:cxnSp>
        <p:nvCxnSpPr>
          <p:cNvPr id="26" name="Connector 25"/>
          <p:cNvCxnSpPr/>
          <p:nvPr/>
        </p:nvCxnSpPr>
        <p:spPr>
          <a:xfrm>
            <a:off x="10126980" y="2675871"/>
            <a:ext cx="0" cy="164592"/>
          </a:xfrm>
          <a:prstGeom prst="line">
            <a:avLst/>
          </a:prstGeom>
          <a:ln w="25400">
            <a:solidFill>
              <a:srgbClr val="1C729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8732520" y="2840463"/>
            <a:ext cx="2788920" cy="420624"/>
          </a:xfrm>
          <a:prstGeom prst="roundRect">
            <a:avLst>
              <a:gd name="adj" fmla="val 19444"/>
            </a:avLst>
          </a:prstGeom>
          <a:solidFill>
            <a:srgbClr val="FFFFFF"/>
          </a:solidFill>
          <a:ln w="2032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group-mid.png"/>
          <p:cNvPicPr>
            <a:picLocks noChangeAspect="1"/>
          </p:cNvPicPr>
          <p:nvPr/>
        </p:nvPicPr>
        <p:blipFill>
          <a:blip r:embed="rId4"/>
          <a:stretch>
            <a:fillRect/>
          </a:stretch>
        </p:blipFill>
        <p:spPr>
          <a:xfrm>
            <a:off x="8860536" y="2941047"/>
            <a:ext cx="219456" cy="219456"/>
          </a:xfrm>
          <a:prstGeom prst="rect">
            <a:avLst/>
          </a:prstGeom>
        </p:spPr>
      </p:pic>
      <p:sp>
        <p:nvSpPr>
          <p:cNvPr id="29" name="TextBox 28"/>
          <p:cNvSpPr txBox="1"/>
          <p:nvPr/>
        </p:nvSpPr>
        <p:spPr>
          <a:xfrm>
            <a:off x="9171432" y="2840463"/>
            <a:ext cx="2240279" cy="420624"/>
          </a:xfrm>
          <a:prstGeom prst="rect">
            <a:avLst/>
          </a:prstGeom>
          <a:noFill/>
        </p:spPr>
        <p:txBody>
          <a:bodyPr wrap="square" lIns="0" rIns="0" tIns="0" bIns="0" anchor="ctr">
            <a:spAutoFit/>
          </a:bodyPr>
          <a:lstStyle/>
          <a:p>
            <a:pPr algn="l">
              <a:lnSpc>
                <a:spcPct val="104000"/>
              </a:lnSpc>
            </a:pPr>
            <a:r>
              <a:rPr sz="960" b="1" i="0">
                <a:solidFill>
                  <a:srgbClr val="028090"/>
                </a:solidFill>
                <a:latin typeface="DejaVu Sans"/>
              </a:rPr>
              <a:t>собрать похожее</a:t>
            </a:r>
          </a:p>
          <a:p>
            <a:pPr algn="l">
              <a:lnSpc>
                <a:spcPct val="104000"/>
              </a:lnSpc>
            </a:pPr>
            <a:r>
              <a:rPr sz="960" b="1" i="0">
                <a:solidFill>
                  <a:srgbClr val="028090"/>
                </a:solidFill>
                <a:latin typeface="DejaVu Sans"/>
              </a:rPr>
              <a:t>в группы</a:t>
            </a:r>
          </a:p>
        </p:txBody>
      </p:sp>
      <p:sp>
        <p:nvSpPr>
          <p:cNvPr id="30" name="TextBox 29"/>
          <p:cNvSpPr txBox="1"/>
          <p:nvPr/>
        </p:nvSpPr>
        <p:spPr>
          <a:xfrm>
            <a:off x="8732520" y="3297663"/>
            <a:ext cx="2788920" cy="274320"/>
          </a:xfrm>
          <a:prstGeom prst="rect">
            <a:avLst/>
          </a:prstGeom>
          <a:noFill/>
        </p:spPr>
        <p:txBody>
          <a:bodyPr wrap="square" lIns="0" rIns="0" tIns="0" bIns="0" anchor="t">
            <a:spAutoFit/>
          </a:bodyPr>
          <a:lstStyle/>
          <a:p>
            <a:pPr algn="ctr">
              <a:lnSpc>
                <a:spcPct val="105000"/>
              </a:lnSpc>
            </a:pPr>
            <a:r>
              <a:rPr sz="880" b="0" i="1">
                <a:solidFill>
                  <a:srgbClr val="5B6678"/>
                </a:solidFill>
                <a:latin typeface="DejaVu Sans"/>
              </a:rPr>
              <a:t>порядок шагов: пропуск разметки превращает архив в мешок текста</a:t>
            </a:r>
          </a:p>
        </p:txBody>
      </p:sp>
      <p:sp>
        <p:nvSpPr>
          <p:cNvPr id="31" name="Rounded Rectangle 30"/>
          <p:cNvSpPr/>
          <p:nvPr/>
        </p:nvSpPr>
        <p:spPr>
          <a:xfrm>
            <a:off x="502920" y="3745719"/>
            <a:ext cx="1152144" cy="1227201"/>
          </a:xfrm>
          <a:prstGeom prst="roundRect">
            <a:avLst>
              <a:gd name="adj" fmla="val 22000"/>
            </a:avLst>
          </a:prstGeom>
          <a:solidFill>
            <a:srgbClr val="1C7293"/>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48640" y="3745719"/>
            <a:ext cx="1060704" cy="1227201"/>
          </a:xfrm>
          <a:prstGeom prst="rect">
            <a:avLst/>
          </a:prstGeom>
          <a:noFill/>
        </p:spPr>
        <p:txBody>
          <a:bodyPr wrap="square" lIns="0" rIns="0" tIns="0" bIns="0" anchor="ctr">
            <a:spAutoFit/>
          </a:bodyPr>
          <a:lstStyle/>
          <a:p>
            <a:pPr algn="ctr">
              <a:lnSpc>
                <a:spcPct val="102000"/>
              </a:lnSpc>
            </a:pPr>
            <a:r>
              <a:rPr sz="950" b="1" i="0">
                <a:solidFill>
                  <a:srgbClr val="FFFFFF"/>
                </a:solidFill>
                <a:latin typeface="DejaVu Sans"/>
              </a:rPr>
              <a:t>С ИИ И БЕЗ ИИ</a:t>
            </a:r>
          </a:p>
        </p:txBody>
      </p:sp>
      <p:sp>
        <p:nvSpPr>
          <p:cNvPr id="33" name="Rounded Rectangle 32"/>
          <p:cNvSpPr/>
          <p:nvPr/>
        </p:nvSpPr>
        <p:spPr>
          <a:xfrm>
            <a:off x="1801368" y="3745719"/>
            <a:ext cx="9902952" cy="1227201"/>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1984248" y="3837159"/>
            <a:ext cx="4677156" cy="1044321"/>
          </a:xfrm>
          <a:prstGeom prst="roundRect">
            <a:avLst>
              <a:gd name="adj" fmla="val 17025"/>
            </a:avLst>
          </a:prstGeom>
          <a:solidFill>
            <a:srgbClr val="FFFFFF"/>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084831" y="3882879"/>
            <a:ext cx="4475988" cy="219456"/>
          </a:xfrm>
          <a:prstGeom prst="rect">
            <a:avLst/>
          </a:prstGeom>
          <a:noFill/>
        </p:spPr>
        <p:txBody>
          <a:bodyPr wrap="square" lIns="0" rIns="0" tIns="0" bIns="0" anchor="t">
            <a:spAutoFit/>
          </a:bodyPr>
          <a:lstStyle/>
          <a:p>
            <a:pPr algn="l">
              <a:lnSpc>
                <a:spcPct val="100000"/>
              </a:lnSpc>
            </a:pPr>
            <a:r>
              <a:rPr sz="919" b="1" i="0">
                <a:solidFill>
                  <a:srgbClr val="065A82"/>
                </a:solidFill>
                <a:latin typeface="DejaVu Sans"/>
              </a:rPr>
              <a:t>БЕЗ ИИ — ручная разметка по темам</a:t>
            </a:r>
          </a:p>
        </p:txBody>
      </p:sp>
      <p:sp>
        <p:nvSpPr>
          <p:cNvPr id="36" name="TextBox 35"/>
          <p:cNvSpPr txBox="1"/>
          <p:nvPr/>
        </p:nvSpPr>
        <p:spPr>
          <a:xfrm>
            <a:off x="2084831" y="4111479"/>
            <a:ext cx="4475988" cy="715137"/>
          </a:xfrm>
          <a:prstGeom prst="rect">
            <a:avLst/>
          </a:prstGeom>
          <a:noFill/>
        </p:spPr>
        <p:txBody>
          <a:bodyPr wrap="square" lIns="0" rIns="0" tIns="0" bIns="0" anchor="t">
            <a:spAutoFit/>
          </a:bodyPr>
          <a:lstStyle/>
          <a:p>
            <a:pPr algn="l">
              <a:lnSpc>
                <a:spcPct val="112000"/>
              </a:lnSpc>
            </a:pPr>
            <a:r>
              <a:rPr sz="950" b="0" i="0">
                <a:solidFill>
                  <a:srgbClr val="21295C"/>
                </a:solidFill>
                <a:latin typeface="DejaVu Sans"/>
              </a:rPr>
              <a:t>Обращения раскладывают по заранее придуманному списку тем. Поэтому находят только те темы, которые кто-то уже предположил.</a:t>
            </a:r>
          </a:p>
        </p:txBody>
      </p:sp>
      <p:sp>
        <p:nvSpPr>
          <p:cNvPr id="37" name="Rounded Rectangle 36"/>
          <p:cNvSpPr/>
          <p:nvPr/>
        </p:nvSpPr>
        <p:spPr>
          <a:xfrm>
            <a:off x="6844284" y="3837159"/>
            <a:ext cx="4677156" cy="1044321"/>
          </a:xfrm>
          <a:prstGeom prst="roundRect">
            <a:avLst>
              <a:gd name="adj" fmla="val 17025"/>
            </a:avLst>
          </a:prstGeom>
          <a:solidFill>
            <a:srgbClr val="FFFFFF"/>
          </a:solidFill>
          <a:ln w="1778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944868" y="3882879"/>
            <a:ext cx="4475988" cy="219456"/>
          </a:xfrm>
          <a:prstGeom prst="rect">
            <a:avLst/>
          </a:prstGeom>
          <a:noFill/>
        </p:spPr>
        <p:txBody>
          <a:bodyPr wrap="square" lIns="0" rIns="0" tIns="0" bIns="0" anchor="t">
            <a:spAutoFit/>
          </a:bodyPr>
          <a:lstStyle/>
          <a:p>
            <a:pPr algn="l">
              <a:lnSpc>
                <a:spcPct val="100000"/>
              </a:lnSpc>
            </a:pPr>
            <a:r>
              <a:rPr sz="919" b="1" i="0">
                <a:solidFill>
                  <a:srgbClr val="028090"/>
                </a:solidFill>
                <a:latin typeface="DejaVu Sans"/>
              </a:rPr>
              <a:t>С ИИ — что изменилось</a:t>
            </a:r>
          </a:p>
        </p:txBody>
      </p:sp>
      <p:sp>
        <p:nvSpPr>
          <p:cNvPr id="39" name="TextBox 38"/>
          <p:cNvSpPr txBox="1"/>
          <p:nvPr/>
        </p:nvSpPr>
        <p:spPr>
          <a:xfrm>
            <a:off x="6944868" y="4111479"/>
            <a:ext cx="4475988" cy="715137"/>
          </a:xfrm>
          <a:prstGeom prst="rect">
            <a:avLst/>
          </a:prstGeom>
          <a:noFill/>
        </p:spPr>
        <p:txBody>
          <a:bodyPr wrap="square" lIns="0" rIns="0" tIns="0" bIns="0" anchor="t">
            <a:spAutoFit/>
          </a:bodyPr>
          <a:lstStyle/>
          <a:p>
            <a:pPr algn="l">
              <a:lnSpc>
                <a:spcPct val="112000"/>
              </a:lnSpc>
            </a:pPr>
            <a:r>
              <a:rPr sz="950" b="0" i="0">
                <a:solidFill>
                  <a:srgbClr val="21295C"/>
                </a:solidFill>
                <a:latin typeface="DejaVu Sans"/>
              </a:rPr>
              <a:t>Похожее по смыслу собирается само, без списка тем, и пересказ группы делается за минуты. </a:t>
            </a:r>
            <a:r>
              <a:rPr sz="950" b="1" i="0">
                <a:solidFill>
                  <a:srgbClr val="21295C"/>
                </a:solidFill>
                <a:latin typeface="DejaVu Sans"/>
              </a:rPr>
              <a:t>Название темы всё равно проверяет человек</a:t>
            </a:r>
            <a:r>
              <a:rPr sz="950" b="0" i="0">
                <a:solidFill>
                  <a:srgbClr val="21295C"/>
                </a:solidFill>
                <a:latin typeface="DejaVu Sans"/>
              </a:rPr>
              <a:t> — машина группирует, а не решает.</a:t>
            </a:r>
          </a:p>
        </p:txBody>
      </p:sp>
      <p:sp>
        <p:nvSpPr>
          <p:cNvPr id="40" name="Rounded Rectangle 39"/>
          <p:cNvSpPr/>
          <p:nvPr/>
        </p:nvSpPr>
        <p:spPr>
          <a:xfrm>
            <a:off x="502920" y="5036929"/>
            <a:ext cx="1152144" cy="1225296"/>
          </a:xfrm>
          <a:prstGeom prst="roundRect">
            <a:avLst>
              <a:gd name="adj" fmla="val 22000"/>
            </a:avLst>
          </a:prstGeom>
          <a:solidFill>
            <a:srgbClr val="F0AB00"/>
          </a:solidFill>
          <a:ln w="127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48640" y="5036929"/>
            <a:ext cx="1060704" cy="1225296"/>
          </a:xfrm>
          <a:prstGeom prst="rect">
            <a:avLst/>
          </a:prstGeom>
          <a:noFill/>
        </p:spPr>
        <p:txBody>
          <a:bodyPr wrap="square" lIns="0" rIns="0" tIns="0" bIns="0" anchor="ctr">
            <a:spAutoFit/>
          </a:bodyPr>
          <a:lstStyle/>
          <a:p>
            <a:pPr algn="ctr">
              <a:lnSpc>
                <a:spcPct val="102000"/>
              </a:lnSpc>
            </a:pPr>
            <a:r>
              <a:rPr sz="950" b="1" i="0">
                <a:solidFill>
                  <a:srgbClr val="21295C"/>
                </a:solidFill>
                <a:latin typeface="DejaVu Sans"/>
              </a:rPr>
              <a:t>ГДЕ НЕ РАБОТАЕТ</a:t>
            </a:r>
          </a:p>
        </p:txBody>
      </p:sp>
      <p:sp>
        <p:nvSpPr>
          <p:cNvPr id="42" name="Rounded Rectangle 41"/>
          <p:cNvSpPr/>
          <p:nvPr/>
        </p:nvSpPr>
        <p:spPr>
          <a:xfrm>
            <a:off x="1801368" y="5036929"/>
            <a:ext cx="9902952" cy="1225296"/>
          </a:xfrm>
          <a:prstGeom prst="roundRect">
            <a:avLst>
              <a:gd name="adj" fmla="val 22000"/>
            </a:avLst>
          </a:prstGeom>
          <a:solidFill>
            <a:srgbClr val="FDF3DC"/>
          </a:solidFill>
          <a:ln w="317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984248" y="5128369"/>
            <a:ext cx="7205472" cy="1042416"/>
          </a:xfrm>
          <a:prstGeom prst="rect">
            <a:avLst/>
          </a:prstGeom>
          <a:noFill/>
        </p:spPr>
        <p:txBody>
          <a:bodyPr wrap="square" lIns="0" rIns="0" tIns="0" bIns="0" anchor="ctr">
            <a:spAutoFit/>
          </a:bodyPr>
          <a:lstStyle/>
          <a:p>
            <a:pPr algn="l">
              <a:lnSpc>
                <a:spcPct val="114000"/>
              </a:lnSpc>
            </a:pPr>
            <a:r>
              <a:rPr sz="1050" b="1" i="0">
                <a:solidFill>
                  <a:srgbClr val="21295C"/>
                </a:solidFill>
                <a:latin typeface="DejaVu Sans"/>
              </a:rPr>
              <a:t>Архив смещён </a:t>
            </a:r>
            <a:r>
              <a:rPr sz="1050" b="1" i="0">
                <a:solidFill>
                  <a:srgbClr val="21295C"/>
                </a:solidFill>
                <a:latin typeface="DejaVu Sans"/>
              </a:rPr>
              <a:t>по построению</a:t>
            </a:r>
            <a:r>
              <a:rPr sz="1050" b="1" i="0">
                <a:solidFill>
                  <a:srgbClr val="21295C"/>
                </a:solidFill>
                <a:latin typeface="DejaVu Sans"/>
              </a:rPr>
              <a:t>: в нём есть только те, кто дошёл до жалобы. Объём этого не лечит — </a:t>
            </a:r>
            <a:r>
              <a:rPr sz="1050" b="1" i="0">
                <a:solidFill>
                  <a:srgbClr val="21295C"/>
                </a:solidFill>
                <a:latin typeface="DejaVu Sans"/>
              </a:rPr>
              <a:t>не бывает обращения «мне нужно то, чего у вас вообще нет»</a:t>
            </a:r>
            <a:r>
              <a:rPr sz="1050" b="1" i="0">
                <a:solidFill>
                  <a:srgbClr val="21295C"/>
                </a:solidFill>
                <a:latin typeface="DejaVu Sans"/>
              </a:rPr>
              <a:t>. На вопрос «почему люди не доходят до регистрации» приём не отвечает: нужен разговор с теми, кто ушёл. И поиск возвращает </a:t>
            </a:r>
            <a:r>
              <a:rPr sz="1050" b="1" i="0">
                <a:solidFill>
                  <a:srgbClr val="21295C"/>
                </a:solidFill>
                <a:latin typeface="DejaVu Sans"/>
              </a:rPr>
              <a:t>похожие</a:t>
            </a:r>
            <a:r>
              <a:rPr sz="1050" b="1" i="0">
                <a:solidFill>
                  <a:srgbClr val="21295C"/>
                </a:solidFill>
                <a:latin typeface="DejaVu Sans"/>
              </a:rPr>
              <a:t> обращения, а не важные: десять тысяч жалоб на опечатку — по-прежнему одна опечатка.</a:t>
            </a:r>
          </a:p>
        </p:txBody>
      </p:sp>
      <p:sp>
        <p:nvSpPr>
          <p:cNvPr id="44" name="Rounded Rectangle 43"/>
          <p:cNvSpPr/>
          <p:nvPr/>
        </p:nvSpPr>
        <p:spPr>
          <a:xfrm>
            <a:off x="9372600" y="5146657"/>
            <a:ext cx="2103120" cy="1005840"/>
          </a:xfrm>
          <a:prstGeom prst="roundRect">
            <a:avLst>
              <a:gd name="adj" fmla="val 17676"/>
            </a:avLst>
          </a:prstGeom>
          <a:solidFill>
            <a:srgbClr val="FFFFFF"/>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5" name="Picture 44" descr="funnel-gold.png"/>
          <p:cNvPicPr>
            <a:picLocks noChangeAspect="1"/>
          </p:cNvPicPr>
          <p:nvPr/>
        </p:nvPicPr>
        <p:blipFill>
          <a:blip r:embed="rId5"/>
          <a:stretch>
            <a:fillRect/>
          </a:stretch>
        </p:blipFill>
        <p:spPr>
          <a:xfrm>
            <a:off x="9482328" y="5238097"/>
            <a:ext cx="237744" cy="237744"/>
          </a:xfrm>
          <a:prstGeom prst="rect">
            <a:avLst/>
          </a:prstGeom>
        </p:spPr>
      </p:pic>
      <p:sp>
        <p:nvSpPr>
          <p:cNvPr id="46" name="TextBox 45"/>
          <p:cNvSpPr txBox="1"/>
          <p:nvPr/>
        </p:nvSpPr>
        <p:spPr>
          <a:xfrm>
            <a:off x="9793224" y="5219809"/>
            <a:ext cx="1591056" cy="292608"/>
          </a:xfrm>
          <a:prstGeom prst="rect">
            <a:avLst/>
          </a:prstGeom>
          <a:noFill/>
        </p:spPr>
        <p:txBody>
          <a:bodyPr wrap="square" lIns="0" rIns="0" tIns="0" bIns="0" anchor="t">
            <a:spAutoFit/>
          </a:bodyPr>
          <a:lstStyle/>
          <a:p>
            <a:pPr algn="l">
              <a:lnSpc>
                <a:spcPct val="105000"/>
              </a:lnSpc>
            </a:pPr>
            <a:r>
              <a:rPr sz="950" b="1" i="0">
                <a:solidFill>
                  <a:srgbClr val="21295C"/>
                </a:solidFill>
                <a:latin typeface="DejaVu Sans"/>
              </a:rPr>
              <a:t>кто дошёл до жалобы</a:t>
            </a:r>
          </a:p>
        </p:txBody>
      </p:sp>
      <p:sp>
        <p:nvSpPr>
          <p:cNvPr id="47" name="Rounded Rectangle 46"/>
          <p:cNvSpPr/>
          <p:nvPr/>
        </p:nvSpPr>
        <p:spPr>
          <a:xfrm>
            <a:off x="9518904" y="5548993"/>
            <a:ext cx="1810512" cy="182880"/>
          </a:xfrm>
          <a:prstGeom prst="roundRect">
            <a:avLst>
              <a:gd name="adj" fmla="val 35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518904" y="5731873"/>
            <a:ext cx="1810512" cy="201168"/>
          </a:xfrm>
          <a:prstGeom prst="rect">
            <a:avLst/>
          </a:prstGeom>
          <a:noFill/>
        </p:spPr>
        <p:txBody>
          <a:bodyPr wrap="square" lIns="0" rIns="0" tIns="0" bIns="0" anchor="t">
            <a:spAutoFit/>
          </a:bodyPr>
          <a:lstStyle/>
          <a:p>
            <a:pPr algn="l">
              <a:lnSpc>
                <a:spcPct val="105000"/>
              </a:lnSpc>
            </a:pPr>
            <a:r>
              <a:rPr sz="850" b="0" i="1">
                <a:solidFill>
                  <a:srgbClr val="5B6678"/>
                </a:solidFill>
                <a:latin typeface="DejaVu Sans"/>
              </a:rPr>
              <a:t>все пользователи</a:t>
            </a:r>
          </a:p>
        </p:txBody>
      </p:sp>
      <p:sp>
        <p:nvSpPr>
          <p:cNvPr id="49" name="Rounded Rectangle 48"/>
          <p:cNvSpPr/>
          <p:nvPr/>
        </p:nvSpPr>
        <p:spPr>
          <a:xfrm>
            <a:off x="9518904" y="5933041"/>
            <a:ext cx="365760" cy="182880"/>
          </a:xfrm>
          <a:prstGeom prst="roundRect">
            <a:avLst>
              <a:gd name="adj" fmla="val 35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939528" y="5933041"/>
            <a:ext cx="1417320" cy="201168"/>
          </a:xfrm>
          <a:prstGeom prst="rect">
            <a:avLst/>
          </a:prstGeom>
          <a:noFill/>
        </p:spPr>
        <p:txBody>
          <a:bodyPr wrap="square" lIns="0" rIns="0" tIns="0" bIns="0" anchor="t">
            <a:spAutoFit/>
          </a:bodyPr>
          <a:lstStyle/>
          <a:p>
            <a:pPr algn="l">
              <a:lnSpc>
                <a:spcPct val="105000"/>
              </a:lnSpc>
            </a:pPr>
            <a:r>
              <a:rPr sz="850" b="1" i="0">
                <a:solidFill>
                  <a:srgbClr val="21295C"/>
                </a:solidFill>
                <a:latin typeface="DejaVu Sans"/>
              </a:rPr>
              <a:t>архив обращений</a:t>
            </a:r>
          </a:p>
        </p:txBody>
      </p:sp>
      <p:sp>
        <p:nvSpPr>
          <p:cNvPr id="51" name="TextBox 50"/>
          <p:cNvSpPr txBox="1"/>
          <p:nvPr/>
        </p:nvSpPr>
        <p:spPr>
          <a:xfrm>
            <a:off x="502920" y="6437376"/>
            <a:ext cx="10515600" cy="201168"/>
          </a:xfrm>
          <a:prstGeom prst="rect">
            <a:avLst/>
          </a:prstGeom>
          <a:noFill/>
        </p:spPr>
        <p:txBody>
          <a:bodyPr wrap="square" lIns="0" rIns="0" tIns="0" bIns="0" anchor="t">
            <a:spAutoFit/>
          </a:bodyPr>
          <a:lstStyle/>
          <a:p>
            <a:pPr algn="l">
              <a:lnSpc>
                <a:spcPct val="100000"/>
              </a:lnSpc>
            </a:pPr>
            <a:r>
              <a:rPr sz="900" b="0" i="1">
                <a:solidFill>
                  <a:srgbClr val="1C7293"/>
                </a:solidFill>
                <a:latin typeface="DejaVu Sans"/>
              </a:rPr>
              <a:t>Двухшаговый синтез — Тереза Торрес</a:t>
            </a:r>
          </a:p>
        </p:txBody>
      </p:sp>
      <p:sp>
        <p:nvSpPr>
          <p:cNvPr id="52" name="TextBox 51"/>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10 / 54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18872"/>
            <a:ext cx="11201400" cy="530352"/>
          </a:xfrm>
          <a:prstGeom prst="rect">
            <a:avLst/>
          </a:prstGeom>
          <a:noFill/>
        </p:spPr>
        <p:txBody>
          <a:bodyPr wrap="square" lIns="0" rIns="0" tIns="0" bIns="0" anchor="t">
            <a:spAutoFit/>
          </a:bodyPr>
          <a:lstStyle/>
          <a:p>
            <a:pPr algn="l">
              <a:lnSpc>
                <a:spcPct val="110000"/>
              </a:lnSpc>
            </a:pPr>
            <a:r>
              <a:rPr sz="2200" b="1" i="0">
                <a:solidFill>
                  <a:srgbClr val="21295C"/>
                </a:solidFill>
                <a:latin typeface="DejaVu Sans"/>
              </a:rPr>
              <a:t>Синтетический собеседник не может произвести несогласие</a:t>
            </a:r>
          </a:p>
        </p:txBody>
      </p:sp>
      <p:sp>
        <p:nvSpPr>
          <p:cNvPr id="3" name="Rounded Rectangle 2"/>
          <p:cNvSpPr/>
          <p:nvPr/>
        </p:nvSpPr>
        <p:spPr>
          <a:xfrm>
            <a:off x="502920" y="841248"/>
            <a:ext cx="4160520" cy="3950208"/>
          </a:xfrm>
          <a:prstGeom prst="roundRect">
            <a:avLst>
              <a:gd name="adj" fmla="val 7716"/>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69264"/>
            <a:ext cx="3703320" cy="310896"/>
          </a:xfrm>
          <a:prstGeom prst="rect">
            <a:avLst/>
          </a:prstGeom>
          <a:noFill/>
        </p:spPr>
        <p:txBody>
          <a:bodyPr wrap="square" lIns="0" rIns="0" tIns="0" bIns="0" anchor="t">
            <a:spAutoFit/>
          </a:bodyPr>
          <a:lstStyle/>
          <a:p>
            <a:pPr algn="ctr">
              <a:lnSpc>
                <a:spcPct val="115000"/>
              </a:lnSpc>
            </a:pPr>
            <a:r>
              <a:rPr sz="1500" b="1" i="0">
                <a:solidFill>
                  <a:srgbClr val="065A82"/>
                </a:solidFill>
                <a:latin typeface="DejaVu Sans"/>
              </a:rPr>
              <a:t>Зеркало согласия</a:t>
            </a:r>
          </a:p>
        </p:txBody>
      </p:sp>
      <p:sp>
        <p:nvSpPr>
          <p:cNvPr id="5" name="TextBox 4"/>
          <p:cNvSpPr txBox="1"/>
          <p:nvPr/>
        </p:nvSpPr>
        <p:spPr>
          <a:xfrm>
            <a:off x="731520" y="1353312"/>
            <a:ext cx="3703320" cy="493776"/>
          </a:xfrm>
          <a:prstGeom prst="rect">
            <a:avLst/>
          </a:prstGeom>
          <a:noFill/>
        </p:spPr>
        <p:txBody>
          <a:bodyPr wrap="square" lIns="0" rIns="0" tIns="0" bIns="0" anchor="t">
            <a:spAutoFit/>
          </a:bodyPr>
          <a:lstStyle/>
          <a:p>
            <a:pPr algn="ctr">
              <a:lnSpc>
                <a:spcPct val="110000"/>
              </a:lnSpc>
            </a:pPr>
            <a:r>
              <a:rPr sz="1050" b="0" i="0">
                <a:solidFill>
                  <a:srgbClr val="5B6678"/>
                </a:solidFill>
                <a:latin typeface="DejaVu Sans"/>
              </a:rPr>
              <a:t>Доля случаев, в которых тон ответа модели сдвигается к позитиву. Замер по пяти языковым моделям.</a:t>
            </a:r>
          </a:p>
        </p:txBody>
      </p:sp>
      <p:sp>
        <p:nvSpPr>
          <p:cNvPr id="6" name="Rounded Rectangle 5"/>
          <p:cNvSpPr/>
          <p:nvPr/>
        </p:nvSpPr>
        <p:spPr>
          <a:xfrm>
            <a:off x="704088" y="1938528"/>
            <a:ext cx="1737360" cy="1170432"/>
          </a:xfrm>
          <a:prstGeom prst="roundRect">
            <a:avLst>
              <a:gd name="adj" fmla="val 10000"/>
            </a:avLst>
          </a:prstGeom>
          <a:solidFill>
            <a:srgbClr val="FDF3DC"/>
          </a:solidFill>
          <a:ln w="2032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 y="2048256"/>
            <a:ext cx="1737360" cy="475488"/>
          </a:xfrm>
          <a:prstGeom prst="rect">
            <a:avLst/>
          </a:prstGeom>
          <a:noFill/>
        </p:spPr>
        <p:txBody>
          <a:bodyPr wrap="square" lIns="0" rIns="0" tIns="0" bIns="0" anchor="t">
            <a:spAutoFit/>
          </a:bodyPr>
          <a:lstStyle/>
          <a:p>
            <a:pPr algn="ctr">
              <a:lnSpc>
                <a:spcPct val="115000"/>
              </a:lnSpc>
            </a:pPr>
            <a:r>
              <a:rPr sz="2300" b="1" i="0">
                <a:solidFill>
                  <a:srgbClr val="21295C"/>
                </a:solidFill>
                <a:latin typeface="DejaVu Sans"/>
              </a:rPr>
              <a:t>72–91%</a:t>
            </a:r>
          </a:p>
        </p:txBody>
      </p:sp>
      <p:sp>
        <p:nvSpPr>
          <p:cNvPr id="8" name="TextBox 7"/>
          <p:cNvSpPr txBox="1"/>
          <p:nvPr/>
        </p:nvSpPr>
        <p:spPr>
          <a:xfrm>
            <a:off x="749808" y="2578608"/>
            <a:ext cx="1645920" cy="457200"/>
          </a:xfrm>
          <a:prstGeom prst="rect">
            <a:avLst/>
          </a:prstGeom>
          <a:noFill/>
        </p:spPr>
        <p:txBody>
          <a:bodyPr wrap="square" lIns="0" rIns="0" tIns="0" bIns="0" anchor="t">
            <a:spAutoFit/>
          </a:bodyPr>
          <a:lstStyle/>
          <a:p>
            <a:pPr algn="ctr">
              <a:lnSpc>
                <a:spcPct val="106000"/>
              </a:lnSpc>
            </a:pPr>
            <a:r>
              <a:rPr sz="950" b="0" i="0">
                <a:solidFill>
                  <a:srgbClr val="5B6678"/>
                </a:solidFill>
                <a:latin typeface="DejaVu Sans"/>
              </a:rPr>
              <a:t>когда собеседник</a:t>
            </a:r>
          </a:p>
          <a:p>
            <a:pPr algn="ctr">
              <a:lnSpc>
                <a:spcPct val="106000"/>
              </a:lnSpc>
            </a:pPr>
            <a:r>
              <a:rPr sz="950" b="0" i="0">
                <a:solidFill>
                  <a:srgbClr val="5B6678"/>
                </a:solidFill>
                <a:latin typeface="DejaVu Sans"/>
              </a:rPr>
              <a:t>явно соглашается</a:t>
            </a:r>
          </a:p>
        </p:txBody>
      </p:sp>
      <p:sp>
        <p:nvSpPr>
          <p:cNvPr id="9" name="Rounded Rectangle 8"/>
          <p:cNvSpPr/>
          <p:nvPr/>
        </p:nvSpPr>
        <p:spPr>
          <a:xfrm>
            <a:off x="2624328" y="1938528"/>
            <a:ext cx="1737360" cy="1170432"/>
          </a:xfrm>
          <a:prstGeom prst="roundRect">
            <a:avLst>
              <a:gd name="adj" fmla="val 10000"/>
            </a:avLst>
          </a:prstGeom>
          <a:solidFill>
            <a:srgbClr val="F4F7FA"/>
          </a:solidFill>
          <a:ln w="2032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624328" y="2048256"/>
            <a:ext cx="1737360" cy="475488"/>
          </a:xfrm>
          <a:prstGeom prst="rect">
            <a:avLst/>
          </a:prstGeom>
          <a:noFill/>
        </p:spPr>
        <p:txBody>
          <a:bodyPr wrap="square" lIns="0" rIns="0" tIns="0" bIns="0" anchor="t">
            <a:spAutoFit/>
          </a:bodyPr>
          <a:lstStyle/>
          <a:p>
            <a:pPr algn="ctr">
              <a:lnSpc>
                <a:spcPct val="115000"/>
              </a:lnSpc>
            </a:pPr>
            <a:r>
              <a:rPr sz="2300" b="1" i="0">
                <a:solidFill>
                  <a:srgbClr val="1C7293"/>
                </a:solidFill>
                <a:latin typeface="DejaVu Sans"/>
              </a:rPr>
              <a:t>7–28%</a:t>
            </a:r>
          </a:p>
        </p:txBody>
      </p:sp>
      <p:sp>
        <p:nvSpPr>
          <p:cNvPr id="11" name="TextBox 10"/>
          <p:cNvSpPr txBox="1"/>
          <p:nvPr/>
        </p:nvSpPr>
        <p:spPr>
          <a:xfrm>
            <a:off x="2670048" y="2578608"/>
            <a:ext cx="1645920" cy="457200"/>
          </a:xfrm>
          <a:prstGeom prst="rect">
            <a:avLst/>
          </a:prstGeom>
          <a:noFill/>
        </p:spPr>
        <p:txBody>
          <a:bodyPr wrap="square" lIns="0" rIns="0" tIns="0" bIns="0" anchor="t">
            <a:spAutoFit/>
          </a:bodyPr>
          <a:lstStyle/>
          <a:p>
            <a:pPr algn="ctr">
              <a:lnSpc>
                <a:spcPct val="106000"/>
              </a:lnSpc>
            </a:pPr>
            <a:r>
              <a:rPr sz="950" b="0" i="0">
                <a:solidFill>
                  <a:srgbClr val="5B6678"/>
                </a:solidFill>
                <a:latin typeface="DejaVu Sans"/>
              </a:rPr>
              <a:t>когда собеседник</a:t>
            </a:r>
          </a:p>
          <a:p>
            <a:pPr algn="ctr">
              <a:lnSpc>
                <a:spcPct val="106000"/>
              </a:lnSpc>
            </a:pPr>
            <a:r>
              <a:rPr sz="950" b="0" i="0">
                <a:solidFill>
                  <a:srgbClr val="5B6678"/>
                </a:solidFill>
                <a:latin typeface="DejaVu Sans"/>
              </a:rPr>
              <a:t>явно возражает</a:t>
            </a:r>
          </a:p>
        </p:txBody>
      </p:sp>
      <p:sp>
        <p:nvSpPr>
          <p:cNvPr id="12" name="TextBox 11"/>
          <p:cNvSpPr txBox="1"/>
          <p:nvPr/>
        </p:nvSpPr>
        <p:spPr>
          <a:xfrm>
            <a:off x="731520" y="3273552"/>
            <a:ext cx="3703320" cy="859536"/>
          </a:xfrm>
          <a:prstGeom prst="rect">
            <a:avLst/>
          </a:prstGeom>
          <a:noFill/>
        </p:spPr>
        <p:txBody>
          <a:bodyPr wrap="square" lIns="0" rIns="0" tIns="0" bIns="0" anchor="t">
            <a:spAutoFit/>
          </a:bodyPr>
          <a:lstStyle/>
          <a:p>
            <a:pPr algn="ctr">
              <a:lnSpc>
                <a:spcPct val="114000"/>
              </a:lnSpc>
            </a:pPr>
            <a:r>
              <a:rPr sz="1100" b="0" i="0">
                <a:solidFill>
                  <a:srgbClr val="21295C"/>
                </a:solidFill>
                <a:latin typeface="DejaVu Sans"/>
              </a:rPr>
              <a:t>Это не частота положительного ответа, а именно сдвиг тона: собеседник возразил — и модель поехала за ним, хотя данных у неё не прибавилось.</a:t>
            </a:r>
          </a:p>
        </p:txBody>
      </p:sp>
      <p:sp>
        <p:nvSpPr>
          <p:cNvPr id="13" name="TextBox 12"/>
          <p:cNvSpPr txBox="1"/>
          <p:nvPr/>
        </p:nvSpPr>
        <p:spPr>
          <a:xfrm>
            <a:off x="731520" y="4224528"/>
            <a:ext cx="3703320" cy="420624"/>
          </a:xfrm>
          <a:prstGeom prst="rect">
            <a:avLst/>
          </a:prstGeom>
          <a:noFill/>
        </p:spPr>
        <p:txBody>
          <a:bodyPr wrap="square" lIns="0" rIns="0" tIns="0" bIns="0" anchor="t">
            <a:spAutoFit/>
          </a:bodyPr>
          <a:lstStyle/>
          <a:p>
            <a:pPr algn="ctr">
              <a:lnSpc>
                <a:spcPct val="100000"/>
              </a:lnSpc>
            </a:pPr>
            <a:r>
              <a:rPr sz="950" b="0" i="1">
                <a:solidFill>
                  <a:srgbClr val="1C7293"/>
                </a:solidFill>
                <a:latin typeface="DejaVu Sans"/>
              </a:rPr>
              <a:t>Измерено исследователями компании Anthropic на пяти моделях: Мринанк Шарма и соавторы, 2023</a:t>
            </a:r>
          </a:p>
        </p:txBody>
      </p:sp>
      <p:sp>
        <p:nvSpPr>
          <p:cNvPr id="14" name="TextBox 13"/>
          <p:cNvSpPr txBox="1"/>
          <p:nvPr/>
        </p:nvSpPr>
        <p:spPr>
          <a:xfrm>
            <a:off x="4892040" y="877824"/>
            <a:ext cx="6812280" cy="329184"/>
          </a:xfrm>
          <a:prstGeom prst="rect">
            <a:avLst/>
          </a:prstGeom>
          <a:noFill/>
        </p:spPr>
        <p:txBody>
          <a:bodyPr wrap="square" lIns="0" rIns="0" tIns="0" bIns="0" anchor="t">
            <a:spAutoFit/>
          </a:bodyPr>
          <a:lstStyle/>
          <a:p>
            <a:pPr algn="l">
              <a:lnSpc>
                <a:spcPct val="115000"/>
              </a:lnSpc>
            </a:pPr>
            <a:r>
              <a:rPr sz="1400" b="1" i="0">
                <a:solidFill>
                  <a:srgbClr val="065A82"/>
                </a:solidFill>
                <a:latin typeface="DejaVu Sans"/>
              </a:rPr>
              <a:t>Когда живой разговор строго лучше синтеза</a:t>
            </a:r>
          </a:p>
        </p:txBody>
      </p:sp>
      <p:sp>
        <p:nvSpPr>
          <p:cNvPr id="15" name="Rounded Rectangle 14"/>
          <p:cNvSpPr/>
          <p:nvPr/>
        </p:nvSpPr>
        <p:spPr>
          <a:xfrm>
            <a:off x="4892040" y="1316736"/>
            <a:ext cx="6812280" cy="621792"/>
          </a:xfrm>
          <a:prstGeom prst="roundRect">
            <a:avLst>
              <a:gd name="adj" fmla="val 22000"/>
            </a:avLst>
          </a:prstGeom>
          <a:solidFill>
            <a:srgbClr val="F4F7FA"/>
          </a:solidFill>
          <a:ln w="1651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0" y="1316736"/>
            <a:ext cx="6035040" cy="621792"/>
          </a:xfrm>
          <a:prstGeom prst="rect">
            <a:avLst/>
          </a:prstGeom>
          <a:noFill/>
        </p:spPr>
        <p:txBody>
          <a:bodyPr wrap="square" lIns="0" rIns="0" tIns="0" bIns="0" anchor="ctr">
            <a:spAutoFit/>
          </a:bodyPr>
          <a:lstStyle/>
          <a:p>
            <a:pPr algn="l">
              <a:lnSpc>
                <a:spcPct val="115000"/>
              </a:lnSpc>
            </a:pPr>
            <a:r>
              <a:rPr sz="1300" b="1" i="0">
                <a:solidFill>
                  <a:srgbClr val="21295C"/>
                </a:solidFill>
                <a:latin typeface="DejaVu Sans"/>
              </a:rPr>
              <a:t>1. Высока цена ошибки в решении «продолжать или остановить»</a:t>
            </a:r>
          </a:p>
        </p:txBody>
      </p:sp>
      <p:pic>
        <p:nvPicPr>
          <p:cNvPr id="17" name="Picture 16" descr="shield-alert-mid.png"/>
          <p:cNvPicPr>
            <a:picLocks noChangeAspect="1"/>
          </p:cNvPicPr>
          <p:nvPr/>
        </p:nvPicPr>
        <p:blipFill>
          <a:blip r:embed="rId2"/>
          <a:stretch>
            <a:fillRect/>
          </a:stretch>
        </p:blipFill>
        <p:spPr>
          <a:xfrm>
            <a:off x="5020055" y="1444752"/>
            <a:ext cx="365760" cy="365760"/>
          </a:xfrm>
          <a:prstGeom prst="rect">
            <a:avLst/>
          </a:prstGeom>
        </p:spPr>
      </p:pic>
      <p:sp>
        <p:nvSpPr>
          <p:cNvPr id="18" name="Rounded Rectangle 17"/>
          <p:cNvSpPr/>
          <p:nvPr/>
        </p:nvSpPr>
        <p:spPr>
          <a:xfrm>
            <a:off x="4892040" y="2066543"/>
            <a:ext cx="6812280" cy="621792"/>
          </a:xfrm>
          <a:prstGeom prst="roundRect">
            <a:avLst>
              <a:gd name="adj" fmla="val 22000"/>
            </a:avLst>
          </a:prstGeom>
          <a:solidFill>
            <a:srgbClr val="F4F7FA"/>
          </a:solidFill>
          <a:ln w="1651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0" y="2066543"/>
            <a:ext cx="6035040" cy="621792"/>
          </a:xfrm>
          <a:prstGeom prst="rect">
            <a:avLst/>
          </a:prstGeom>
          <a:noFill/>
        </p:spPr>
        <p:txBody>
          <a:bodyPr wrap="square" lIns="0" rIns="0" tIns="0" bIns="0" anchor="ctr">
            <a:spAutoFit/>
          </a:bodyPr>
          <a:lstStyle/>
          <a:p>
            <a:pPr algn="l">
              <a:lnSpc>
                <a:spcPct val="115000"/>
              </a:lnSpc>
            </a:pPr>
            <a:r>
              <a:rPr sz="1300" b="1" i="0">
                <a:solidFill>
                  <a:srgbClr val="21295C"/>
                </a:solidFill>
                <a:latin typeface="DejaVu Sans"/>
              </a:rPr>
              <a:t>2. Нужно реальное прошлое, а не правдоподобное</a:t>
            </a:r>
          </a:p>
        </p:txBody>
      </p:sp>
      <p:pic>
        <p:nvPicPr>
          <p:cNvPr id="20" name="Picture 19" descr="shield-alert-mid.png"/>
          <p:cNvPicPr>
            <a:picLocks noChangeAspect="1"/>
          </p:cNvPicPr>
          <p:nvPr/>
        </p:nvPicPr>
        <p:blipFill>
          <a:blip r:embed="rId2"/>
          <a:stretch>
            <a:fillRect/>
          </a:stretch>
        </p:blipFill>
        <p:spPr>
          <a:xfrm>
            <a:off x="5020055" y="2194560"/>
            <a:ext cx="365760" cy="365760"/>
          </a:xfrm>
          <a:prstGeom prst="rect">
            <a:avLst/>
          </a:prstGeom>
        </p:spPr>
      </p:pic>
      <p:sp>
        <p:nvSpPr>
          <p:cNvPr id="21" name="Rounded Rectangle 20"/>
          <p:cNvSpPr/>
          <p:nvPr/>
        </p:nvSpPr>
        <p:spPr>
          <a:xfrm>
            <a:off x="4892040" y="2816352"/>
            <a:ext cx="6812280" cy="621792"/>
          </a:xfrm>
          <a:prstGeom prst="roundRect">
            <a:avLst>
              <a:gd name="adj" fmla="val 22000"/>
            </a:avLst>
          </a:prstGeom>
          <a:solidFill>
            <a:srgbClr val="F4F7FA"/>
          </a:solidFill>
          <a:ln w="1651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0" y="2816352"/>
            <a:ext cx="6035040" cy="621792"/>
          </a:xfrm>
          <a:prstGeom prst="rect">
            <a:avLst/>
          </a:prstGeom>
          <a:noFill/>
        </p:spPr>
        <p:txBody>
          <a:bodyPr wrap="square" lIns="0" rIns="0" tIns="0" bIns="0" anchor="ctr">
            <a:spAutoFit/>
          </a:bodyPr>
          <a:lstStyle/>
          <a:p>
            <a:pPr algn="l">
              <a:lnSpc>
                <a:spcPct val="115000"/>
              </a:lnSpc>
            </a:pPr>
            <a:r>
              <a:rPr sz="1300" b="1" i="0">
                <a:solidFill>
                  <a:srgbClr val="21295C"/>
                </a:solidFill>
                <a:latin typeface="DejaVu Sans"/>
              </a:rPr>
              <a:t>3. Нужна проверка обязательством, а не мнением</a:t>
            </a:r>
          </a:p>
        </p:txBody>
      </p:sp>
      <p:pic>
        <p:nvPicPr>
          <p:cNvPr id="23" name="Picture 22" descr="shield-alert-mid.png"/>
          <p:cNvPicPr>
            <a:picLocks noChangeAspect="1"/>
          </p:cNvPicPr>
          <p:nvPr/>
        </p:nvPicPr>
        <p:blipFill>
          <a:blip r:embed="rId2"/>
          <a:stretch>
            <a:fillRect/>
          </a:stretch>
        </p:blipFill>
        <p:spPr>
          <a:xfrm>
            <a:off x="5020055" y="2944368"/>
            <a:ext cx="365760" cy="365760"/>
          </a:xfrm>
          <a:prstGeom prst="rect">
            <a:avLst/>
          </a:prstGeom>
        </p:spPr>
      </p:pic>
      <p:sp>
        <p:nvSpPr>
          <p:cNvPr id="24" name="TextBox 23"/>
          <p:cNvSpPr txBox="1"/>
          <p:nvPr/>
        </p:nvSpPr>
        <p:spPr>
          <a:xfrm>
            <a:off x="4892040" y="3657600"/>
            <a:ext cx="6812280" cy="1133856"/>
          </a:xfrm>
          <a:prstGeom prst="rect">
            <a:avLst/>
          </a:prstGeom>
          <a:noFill/>
        </p:spPr>
        <p:txBody>
          <a:bodyPr wrap="square" lIns="0" rIns="0" tIns="0" bIns="0" anchor="t">
            <a:spAutoFit/>
          </a:bodyPr>
          <a:lstStyle/>
          <a:p>
            <a:pPr algn="l">
              <a:lnSpc>
                <a:spcPct val="118000"/>
              </a:lnSpc>
            </a:pPr>
            <a:r>
              <a:rPr sz="1250" b="0" i="0">
                <a:solidFill>
                  <a:srgbClr val="21295C"/>
                </a:solidFill>
                <a:latin typeface="DejaVu Sans"/>
              </a:rPr>
              <a:t>У синтетического собеседника нет реального прошлого, способного противоречить формулировке вопроса, — поэтому несогласие он не производит в принципе. Сложите это со сдвигом тона слева: ответ смещён не просто в сторону «да», а в сторону «да» о событии, которого никогда не было.</a:t>
            </a:r>
          </a:p>
        </p:txBody>
      </p:sp>
      <p:sp>
        <p:nvSpPr>
          <p:cNvPr id="25" name="Rounded Rectangle 24"/>
          <p:cNvSpPr/>
          <p:nvPr/>
        </p:nvSpPr>
        <p:spPr>
          <a:xfrm>
            <a:off x="502920" y="4974336"/>
            <a:ext cx="11201400" cy="914400"/>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2376" y="5029200"/>
            <a:ext cx="10762488" cy="804672"/>
          </a:xfrm>
          <a:prstGeom prst="rect">
            <a:avLst/>
          </a:prstGeom>
          <a:noFill/>
        </p:spPr>
        <p:txBody>
          <a:bodyPr wrap="square" lIns="0" rIns="0" tIns="0" bIns="0" anchor="ctr">
            <a:spAutoFit/>
          </a:bodyPr>
          <a:lstStyle/>
          <a:p>
            <a:pPr algn="l">
              <a:lnSpc>
                <a:spcPct val="120000"/>
              </a:lnSpc>
            </a:pPr>
            <a:r>
              <a:rPr sz="1300" b="1" i="0">
                <a:solidFill>
                  <a:srgbClr val="21295C"/>
                </a:solidFill>
                <a:latin typeface="DejaVu Sans"/>
              </a:rPr>
              <a:t>Пересказ интервью теряет 20–40% деталей, если пропущен шаг «сначала каждое по отдельности», — прослеживаемый до конкретного шага сбой, а не расплывчатое «ИИ иногда ошибается».</a:t>
            </a:r>
          </a:p>
        </p:txBody>
      </p:sp>
      <p:sp>
        <p:nvSpPr>
          <p:cNvPr id="27" name="TextBox 26"/>
          <p:cNvSpPr txBox="1"/>
          <p:nvPr/>
        </p:nvSpPr>
        <p:spPr>
          <a:xfrm>
            <a:off x="502920" y="6455664"/>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3"/>
              </a:rPr>
              <a:t>Тереза Торрес, консультант по продуктовому исследованию — книга «Continuous Discovery Habits» и её позиция о синтетике</a:t>
            </a:r>
          </a:p>
        </p:txBody>
      </p:sp>
      <p:sp>
        <p:nvSpPr>
          <p:cNvPr id="28" name="TextBox 27"/>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11 / 54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18872"/>
            <a:ext cx="11201400" cy="841248"/>
          </a:xfrm>
          <a:prstGeom prst="rect">
            <a:avLst/>
          </a:prstGeom>
          <a:noFill/>
        </p:spPr>
        <p:txBody>
          <a:bodyPr wrap="square" lIns="0" rIns="0" tIns="0" bIns="0" anchor="t">
            <a:spAutoFit/>
          </a:bodyPr>
          <a:lstStyle/>
          <a:p>
            <a:pPr algn="l">
              <a:lnSpc>
                <a:spcPct val="110000"/>
              </a:lnSpc>
            </a:pPr>
            <a:r>
              <a:rPr sz="2100" b="1" i="0">
                <a:solidFill>
                  <a:srgbClr val="21295C"/>
                </a:solidFill>
                <a:latin typeface="DejaVu Sans"/>
              </a:rPr>
              <a:t>Одна и та же задача: реальные люди — 3 из 7, панель ИИ-персон — 7 из 7 </a:t>
            </a:r>
            <a:r>
              <a:rPr sz="1092" baseline="30000" b="0" i="1">
                <a:latin typeface="DejaVu Sans"/>
                <a:cs typeface="DejaVu Sans"/>
                <a:ea typeface="DejaVu Sans"/>
                <a:solidFill>
                  <a:srgbClr val="1C7293"/>
                </a:solidFill>
              </a:rPr>
              <a:t>[1]</a:t>
            </a:r>
          </a:p>
        </p:txBody>
      </p:sp>
      <p:sp>
        <p:nvSpPr>
          <p:cNvPr id="3" name="Rounded Rectangle 2"/>
          <p:cNvSpPr/>
          <p:nvPr/>
        </p:nvSpPr>
        <p:spPr>
          <a:xfrm>
            <a:off x="502920" y="1005840"/>
            <a:ext cx="11201400" cy="950976"/>
          </a:xfrm>
          <a:prstGeom prst="roundRect">
            <a:avLst>
              <a:gd name="adj" fmla="val 7000"/>
            </a:avLst>
          </a:prstGeom>
          <a:solidFill>
            <a:srgbClr val="E4F1F2"/>
          </a:solidFill>
          <a:ln w="2032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le-text-teal.png"/>
          <p:cNvPicPr>
            <a:picLocks noChangeAspect="1"/>
          </p:cNvPicPr>
          <p:nvPr/>
        </p:nvPicPr>
        <p:blipFill>
          <a:blip r:embed="rId2"/>
          <a:stretch>
            <a:fillRect/>
          </a:stretch>
        </p:blipFill>
        <p:spPr>
          <a:xfrm>
            <a:off x="713232" y="1298448"/>
            <a:ext cx="384048" cy="384048"/>
          </a:xfrm>
          <a:prstGeom prst="rect">
            <a:avLst/>
          </a:prstGeom>
        </p:spPr>
      </p:pic>
      <p:sp>
        <p:nvSpPr>
          <p:cNvPr id="5" name="TextBox 4"/>
          <p:cNvSpPr txBox="1"/>
          <p:nvPr/>
        </p:nvSpPr>
        <p:spPr>
          <a:xfrm>
            <a:off x="1261872" y="1042415"/>
            <a:ext cx="10314432" cy="877824"/>
          </a:xfrm>
          <a:prstGeom prst="rect">
            <a:avLst/>
          </a:prstGeom>
          <a:noFill/>
        </p:spPr>
        <p:txBody>
          <a:bodyPr wrap="square" lIns="0" rIns="0" tIns="0" bIns="0" anchor="ctr">
            <a:spAutoFit/>
          </a:bodyPr>
          <a:lstStyle/>
          <a:p>
            <a:pPr algn="l">
              <a:lnSpc>
                <a:spcPct val="114000"/>
              </a:lnSpc>
            </a:pPr>
            <a:r>
              <a:rPr sz="1050" b="1" i="0">
                <a:solidFill>
                  <a:srgbClr val="028090"/>
                </a:solidFill>
                <a:latin typeface="DejaVu Sans"/>
              </a:rPr>
              <a:t>ЧТО ПРОИЗОШЛО   </a:t>
            </a:r>
            <a:r>
              <a:rPr sz="1150" b="0" i="0">
                <a:solidFill>
                  <a:srgbClr val="21295C"/>
                </a:solidFill>
                <a:latin typeface="DejaVu Sans"/>
              </a:rPr>
              <a:t>Nielsen Norman Group — исследовательская группа, которая с 1998 года занимается удобством интерфейсов, — взяла один сценарий первого знакомства с продуктом и прогнала его дважды: с живыми участниками и с панелью ИИ-персон, сгенерированных под тот же профиль. Сравнивали две величины: сколько шагов сценария доведено до конца и как оценены одни и те же функции.</a:t>
            </a:r>
          </a:p>
        </p:txBody>
      </p:sp>
      <p:sp>
        <p:nvSpPr>
          <p:cNvPr id="6" name="Rounded Rectangle 5"/>
          <p:cNvSpPr/>
          <p:nvPr/>
        </p:nvSpPr>
        <p:spPr>
          <a:xfrm>
            <a:off x="502920" y="2084831"/>
            <a:ext cx="11201400" cy="1078992"/>
          </a:xfrm>
          <a:prstGeom prst="roundRect">
            <a:avLst>
              <a:gd name="adj" fmla="val 22000"/>
            </a:avLst>
          </a:prstGeom>
          <a:solidFill>
            <a:srgbClr val="F4F7FA"/>
          </a:solidFill>
          <a:ln w="2159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084831"/>
            <a:ext cx="2926080" cy="1078992"/>
          </a:xfrm>
          <a:prstGeom prst="rect">
            <a:avLst/>
          </a:prstGeom>
          <a:noFill/>
        </p:spPr>
        <p:txBody>
          <a:bodyPr wrap="square" lIns="0" rIns="0" tIns="0" bIns="0" anchor="ctr">
            <a:spAutoFit/>
          </a:bodyPr>
          <a:lstStyle/>
          <a:p>
            <a:pPr algn="l">
              <a:lnSpc>
                <a:spcPct val="115000"/>
              </a:lnSpc>
            </a:pPr>
            <a:r>
              <a:rPr sz="1300" b="1" i="0">
                <a:solidFill>
                  <a:srgbClr val="21295C"/>
                </a:solidFill>
                <a:latin typeface="DejaVu Sans"/>
              </a:rPr>
              <a:t>Живые участники</a:t>
            </a:r>
          </a:p>
        </p:txBody>
      </p:sp>
      <p:pic>
        <p:nvPicPr>
          <p:cNvPr id="8" name="Picture 7" descr="check-check-mid.png"/>
          <p:cNvPicPr>
            <a:picLocks noChangeAspect="1"/>
          </p:cNvPicPr>
          <p:nvPr/>
        </p:nvPicPr>
        <p:blipFill>
          <a:blip r:embed="rId3"/>
          <a:stretch>
            <a:fillRect/>
          </a:stretch>
        </p:blipFill>
        <p:spPr>
          <a:xfrm>
            <a:off x="3794760" y="2432303"/>
            <a:ext cx="384048" cy="384048"/>
          </a:xfrm>
          <a:prstGeom prst="rect">
            <a:avLst/>
          </a:prstGeom>
        </p:spPr>
      </p:pic>
      <p:pic>
        <p:nvPicPr>
          <p:cNvPr id="9" name="Picture 8" descr="check-check-mid.png"/>
          <p:cNvPicPr>
            <a:picLocks noChangeAspect="1"/>
          </p:cNvPicPr>
          <p:nvPr/>
        </p:nvPicPr>
        <p:blipFill>
          <a:blip r:embed="rId3"/>
          <a:stretch>
            <a:fillRect/>
          </a:stretch>
        </p:blipFill>
        <p:spPr>
          <a:xfrm>
            <a:off x="4325112" y="2432303"/>
            <a:ext cx="384048" cy="384048"/>
          </a:xfrm>
          <a:prstGeom prst="rect">
            <a:avLst/>
          </a:prstGeom>
        </p:spPr>
      </p:pic>
      <p:pic>
        <p:nvPicPr>
          <p:cNvPr id="10" name="Picture 9" descr="check-check-mid.png"/>
          <p:cNvPicPr>
            <a:picLocks noChangeAspect="1"/>
          </p:cNvPicPr>
          <p:nvPr/>
        </p:nvPicPr>
        <p:blipFill>
          <a:blip r:embed="rId3"/>
          <a:stretch>
            <a:fillRect/>
          </a:stretch>
        </p:blipFill>
        <p:spPr>
          <a:xfrm>
            <a:off x="4855464" y="2432303"/>
            <a:ext cx="384048" cy="384048"/>
          </a:xfrm>
          <a:prstGeom prst="rect">
            <a:avLst/>
          </a:prstGeom>
        </p:spPr>
      </p:pic>
      <p:pic>
        <p:nvPicPr>
          <p:cNvPr id="11" name="Picture 10" descr="x-light.png"/>
          <p:cNvPicPr>
            <a:picLocks noChangeAspect="1"/>
          </p:cNvPicPr>
          <p:nvPr/>
        </p:nvPicPr>
        <p:blipFill>
          <a:blip r:embed="rId4"/>
          <a:stretch>
            <a:fillRect/>
          </a:stretch>
        </p:blipFill>
        <p:spPr>
          <a:xfrm>
            <a:off x="5385816" y="2432303"/>
            <a:ext cx="384048" cy="384048"/>
          </a:xfrm>
          <a:prstGeom prst="rect">
            <a:avLst/>
          </a:prstGeom>
        </p:spPr>
      </p:pic>
      <p:pic>
        <p:nvPicPr>
          <p:cNvPr id="12" name="Picture 11" descr="x-light.png"/>
          <p:cNvPicPr>
            <a:picLocks noChangeAspect="1"/>
          </p:cNvPicPr>
          <p:nvPr/>
        </p:nvPicPr>
        <p:blipFill>
          <a:blip r:embed="rId4"/>
          <a:stretch>
            <a:fillRect/>
          </a:stretch>
        </p:blipFill>
        <p:spPr>
          <a:xfrm>
            <a:off x="5916168" y="2432303"/>
            <a:ext cx="384048" cy="384048"/>
          </a:xfrm>
          <a:prstGeom prst="rect">
            <a:avLst/>
          </a:prstGeom>
        </p:spPr>
      </p:pic>
      <p:pic>
        <p:nvPicPr>
          <p:cNvPr id="13" name="Picture 12" descr="x-light.png"/>
          <p:cNvPicPr>
            <a:picLocks noChangeAspect="1"/>
          </p:cNvPicPr>
          <p:nvPr/>
        </p:nvPicPr>
        <p:blipFill>
          <a:blip r:embed="rId4"/>
          <a:stretch>
            <a:fillRect/>
          </a:stretch>
        </p:blipFill>
        <p:spPr>
          <a:xfrm>
            <a:off x="6446520" y="2432303"/>
            <a:ext cx="384048" cy="384048"/>
          </a:xfrm>
          <a:prstGeom prst="rect">
            <a:avLst/>
          </a:prstGeom>
        </p:spPr>
      </p:pic>
      <p:pic>
        <p:nvPicPr>
          <p:cNvPr id="14" name="Picture 13" descr="x-light.png"/>
          <p:cNvPicPr>
            <a:picLocks noChangeAspect="1"/>
          </p:cNvPicPr>
          <p:nvPr/>
        </p:nvPicPr>
        <p:blipFill>
          <a:blip r:embed="rId4"/>
          <a:stretch>
            <a:fillRect/>
          </a:stretch>
        </p:blipFill>
        <p:spPr>
          <a:xfrm>
            <a:off x="6976872" y="2432303"/>
            <a:ext cx="384048" cy="384048"/>
          </a:xfrm>
          <a:prstGeom prst="rect">
            <a:avLst/>
          </a:prstGeom>
        </p:spPr>
      </p:pic>
      <p:sp>
        <p:nvSpPr>
          <p:cNvPr id="15" name="TextBox 14"/>
          <p:cNvSpPr txBox="1"/>
          <p:nvPr/>
        </p:nvSpPr>
        <p:spPr>
          <a:xfrm>
            <a:off x="7863840" y="2084831"/>
            <a:ext cx="3657600" cy="1078992"/>
          </a:xfrm>
          <a:prstGeom prst="rect">
            <a:avLst/>
          </a:prstGeom>
          <a:noFill/>
        </p:spPr>
        <p:txBody>
          <a:bodyPr wrap="square" lIns="0" rIns="0" tIns="0" bIns="0" anchor="ctr">
            <a:spAutoFit/>
          </a:bodyPr>
          <a:lstStyle/>
          <a:p>
            <a:pPr algn="l">
              <a:lnSpc>
                <a:spcPct val="110000"/>
              </a:lnSpc>
            </a:pPr>
            <a:r>
              <a:rPr sz="1300" b="1" i="0">
                <a:solidFill>
                  <a:srgbClr val="21295C"/>
                </a:solidFill>
                <a:latin typeface="DejaVu Sans"/>
              </a:rPr>
              <a:t>3 из 7 шагов доведены до конца</a:t>
            </a:r>
          </a:p>
        </p:txBody>
      </p:sp>
      <p:sp>
        <p:nvSpPr>
          <p:cNvPr id="16" name="Rounded Rectangle 15"/>
          <p:cNvSpPr/>
          <p:nvPr/>
        </p:nvSpPr>
        <p:spPr>
          <a:xfrm>
            <a:off x="502920" y="3310128"/>
            <a:ext cx="11201400" cy="1078992"/>
          </a:xfrm>
          <a:prstGeom prst="roundRect">
            <a:avLst>
              <a:gd name="adj" fmla="val 22000"/>
            </a:avLst>
          </a:prstGeom>
          <a:solidFill>
            <a:srgbClr val="FDF3DC"/>
          </a:solidFill>
          <a:ln w="2159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310128"/>
            <a:ext cx="2926080" cy="1078992"/>
          </a:xfrm>
          <a:prstGeom prst="rect">
            <a:avLst/>
          </a:prstGeom>
          <a:noFill/>
        </p:spPr>
        <p:txBody>
          <a:bodyPr wrap="square" lIns="0" rIns="0" tIns="0" bIns="0" anchor="ctr">
            <a:spAutoFit/>
          </a:bodyPr>
          <a:lstStyle/>
          <a:p>
            <a:pPr algn="l">
              <a:lnSpc>
                <a:spcPct val="115000"/>
              </a:lnSpc>
            </a:pPr>
            <a:r>
              <a:rPr sz="1300" b="1" i="0">
                <a:solidFill>
                  <a:srgbClr val="21295C"/>
                </a:solidFill>
                <a:latin typeface="DejaVu Sans"/>
              </a:rPr>
              <a:t>Панель ИИ-персон</a:t>
            </a:r>
          </a:p>
        </p:txBody>
      </p:sp>
      <p:pic>
        <p:nvPicPr>
          <p:cNvPr id="18" name="Picture 17" descr="check-check-gold.png"/>
          <p:cNvPicPr>
            <a:picLocks noChangeAspect="1"/>
          </p:cNvPicPr>
          <p:nvPr/>
        </p:nvPicPr>
        <p:blipFill>
          <a:blip r:embed="rId5"/>
          <a:stretch>
            <a:fillRect/>
          </a:stretch>
        </p:blipFill>
        <p:spPr>
          <a:xfrm>
            <a:off x="3794760" y="3657600"/>
            <a:ext cx="384048" cy="384048"/>
          </a:xfrm>
          <a:prstGeom prst="rect">
            <a:avLst/>
          </a:prstGeom>
        </p:spPr>
      </p:pic>
      <p:pic>
        <p:nvPicPr>
          <p:cNvPr id="19" name="Picture 18" descr="check-check-gold.png"/>
          <p:cNvPicPr>
            <a:picLocks noChangeAspect="1"/>
          </p:cNvPicPr>
          <p:nvPr/>
        </p:nvPicPr>
        <p:blipFill>
          <a:blip r:embed="rId5"/>
          <a:stretch>
            <a:fillRect/>
          </a:stretch>
        </p:blipFill>
        <p:spPr>
          <a:xfrm>
            <a:off x="4325112" y="3657600"/>
            <a:ext cx="384048" cy="384048"/>
          </a:xfrm>
          <a:prstGeom prst="rect">
            <a:avLst/>
          </a:prstGeom>
        </p:spPr>
      </p:pic>
      <p:pic>
        <p:nvPicPr>
          <p:cNvPr id="20" name="Picture 19" descr="check-check-gold.png"/>
          <p:cNvPicPr>
            <a:picLocks noChangeAspect="1"/>
          </p:cNvPicPr>
          <p:nvPr/>
        </p:nvPicPr>
        <p:blipFill>
          <a:blip r:embed="rId5"/>
          <a:stretch>
            <a:fillRect/>
          </a:stretch>
        </p:blipFill>
        <p:spPr>
          <a:xfrm>
            <a:off x="4855464" y="3657600"/>
            <a:ext cx="384048" cy="384048"/>
          </a:xfrm>
          <a:prstGeom prst="rect">
            <a:avLst/>
          </a:prstGeom>
        </p:spPr>
      </p:pic>
      <p:pic>
        <p:nvPicPr>
          <p:cNvPr id="21" name="Picture 20" descr="check-check-gold.png"/>
          <p:cNvPicPr>
            <a:picLocks noChangeAspect="1"/>
          </p:cNvPicPr>
          <p:nvPr/>
        </p:nvPicPr>
        <p:blipFill>
          <a:blip r:embed="rId5"/>
          <a:stretch>
            <a:fillRect/>
          </a:stretch>
        </p:blipFill>
        <p:spPr>
          <a:xfrm>
            <a:off x="5385816" y="3657600"/>
            <a:ext cx="384048" cy="384048"/>
          </a:xfrm>
          <a:prstGeom prst="rect">
            <a:avLst/>
          </a:prstGeom>
        </p:spPr>
      </p:pic>
      <p:pic>
        <p:nvPicPr>
          <p:cNvPr id="22" name="Picture 21" descr="check-check-gold.png"/>
          <p:cNvPicPr>
            <a:picLocks noChangeAspect="1"/>
          </p:cNvPicPr>
          <p:nvPr/>
        </p:nvPicPr>
        <p:blipFill>
          <a:blip r:embed="rId5"/>
          <a:stretch>
            <a:fillRect/>
          </a:stretch>
        </p:blipFill>
        <p:spPr>
          <a:xfrm>
            <a:off x="5916168" y="3657600"/>
            <a:ext cx="384048" cy="384048"/>
          </a:xfrm>
          <a:prstGeom prst="rect">
            <a:avLst/>
          </a:prstGeom>
        </p:spPr>
      </p:pic>
      <p:pic>
        <p:nvPicPr>
          <p:cNvPr id="23" name="Picture 22" descr="check-check-gold.png"/>
          <p:cNvPicPr>
            <a:picLocks noChangeAspect="1"/>
          </p:cNvPicPr>
          <p:nvPr/>
        </p:nvPicPr>
        <p:blipFill>
          <a:blip r:embed="rId5"/>
          <a:stretch>
            <a:fillRect/>
          </a:stretch>
        </p:blipFill>
        <p:spPr>
          <a:xfrm>
            <a:off x="6446520" y="3657600"/>
            <a:ext cx="384048" cy="384048"/>
          </a:xfrm>
          <a:prstGeom prst="rect">
            <a:avLst/>
          </a:prstGeom>
        </p:spPr>
      </p:pic>
      <p:pic>
        <p:nvPicPr>
          <p:cNvPr id="24" name="Picture 23" descr="check-check-gold.png"/>
          <p:cNvPicPr>
            <a:picLocks noChangeAspect="1"/>
          </p:cNvPicPr>
          <p:nvPr/>
        </p:nvPicPr>
        <p:blipFill>
          <a:blip r:embed="rId5"/>
          <a:stretch>
            <a:fillRect/>
          </a:stretch>
        </p:blipFill>
        <p:spPr>
          <a:xfrm>
            <a:off x="6976872" y="3657600"/>
            <a:ext cx="384048" cy="384048"/>
          </a:xfrm>
          <a:prstGeom prst="rect">
            <a:avLst/>
          </a:prstGeom>
        </p:spPr>
      </p:pic>
      <p:sp>
        <p:nvSpPr>
          <p:cNvPr id="25" name="TextBox 24"/>
          <p:cNvSpPr txBox="1"/>
          <p:nvPr/>
        </p:nvSpPr>
        <p:spPr>
          <a:xfrm>
            <a:off x="7863840" y="3310128"/>
            <a:ext cx="3657600" cy="1078992"/>
          </a:xfrm>
          <a:prstGeom prst="rect">
            <a:avLst/>
          </a:prstGeom>
          <a:noFill/>
        </p:spPr>
        <p:txBody>
          <a:bodyPr wrap="square" lIns="0" rIns="0" tIns="0" bIns="0" anchor="ctr">
            <a:spAutoFit/>
          </a:bodyPr>
          <a:lstStyle/>
          <a:p>
            <a:pPr algn="l">
              <a:lnSpc>
                <a:spcPct val="110000"/>
              </a:lnSpc>
            </a:pPr>
            <a:r>
              <a:rPr sz="1300" b="1" i="0">
                <a:solidFill>
                  <a:srgbClr val="21295C"/>
                </a:solidFill>
                <a:latin typeface="DejaVu Sans"/>
              </a:rPr>
              <a:t>отчиталась о 7 из 7</a:t>
            </a:r>
          </a:p>
        </p:txBody>
      </p:sp>
      <p:sp>
        <p:nvSpPr>
          <p:cNvPr id="26" name="Rounded Rectangle 25"/>
          <p:cNvSpPr/>
          <p:nvPr/>
        </p:nvSpPr>
        <p:spPr>
          <a:xfrm>
            <a:off x="502920" y="4535424"/>
            <a:ext cx="11201400" cy="530352"/>
          </a:xfrm>
          <a:prstGeom prst="roundRect">
            <a:avLst>
              <a:gd name="adj" fmla="val 22000"/>
            </a:avLst>
          </a:prstGeom>
          <a:solidFill>
            <a:srgbClr val="F4F7FA"/>
          </a:solidFill>
          <a:ln w="1651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4535424"/>
            <a:ext cx="10744200" cy="530352"/>
          </a:xfrm>
          <a:prstGeom prst="rect">
            <a:avLst/>
          </a:prstGeom>
          <a:noFill/>
        </p:spPr>
        <p:txBody>
          <a:bodyPr wrap="square" lIns="0" rIns="0" tIns="0" bIns="0" anchor="ctr">
            <a:spAutoFit/>
          </a:bodyPr>
          <a:lstStyle/>
          <a:p>
            <a:pPr algn="l">
              <a:lnSpc>
                <a:spcPct val="110000"/>
              </a:lnSpc>
            </a:pPr>
            <a:r>
              <a:rPr sz="1150" b="0" i="1">
                <a:solidFill>
                  <a:srgbClr val="5B6678"/>
                </a:solidFill>
                <a:latin typeface="DejaVu Sans"/>
              </a:rPr>
              <a:t>Об одной и той же функции:   </a:t>
            </a:r>
            <a:r>
              <a:rPr sz="1250" b="1" i="0">
                <a:solidFill>
                  <a:srgbClr val="065A82"/>
                </a:solidFill>
                <a:latin typeface="DejaVu Sans"/>
              </a:rPr>
              <a:t>«надуманно и бесполезно»</a:t>
            </a:r>
            <a:r>
              <a:rPr sz="1150" b="0" i="0">
                <a:solidFill>
                  <a:srgbClr val="5B6678"/>
                </a:solidFill>
                <a:latin typeface="DejaVu Sans"/>
              </a:rPr>
              <a:t>  — живые участники,   </a:t>
            </a:r>
            <a:r>
              <a:rPr sz="1250" b="1" i="0">
                <a:solidFill>
                  <a:srgbClr val="21295C"/>
                </a:solidFill>
                <a:latin typeface="DejaVu Sans"/>
              </a:rPr>
              <a:t>«изменяет правила игры»</a:t>
            </a:r>
            <a:r>
              <a:rPr sz="1150" b="0" i="0">
                <a:solidFill>
                  <a:srgbClr val="5B6678"/>
                </a:solidFill>
                <a:latin typeface="DejaVu Sans"/>
              </a:rPr>
              <a:t>  — ИИ-персоны</a:t>
            </a:r>
          </a:p>
        </p:txBody>
      </p:sp>
      <p:sp>
        <p:nvSpPr>
          <p:cNvPr id="28" name="Rounded Rectangle 27"/>
          <p:cNvSpPr/>
          <p:nvPr/>
        </p:nvSpPr>
        <p:spPr>
          <a:xfrm>
            <a:off x="502920" y="5193792"/>
            <a:ext cx="11201400" cy="1005840"/>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22376" y="5248655"/>
            <a:ext cx="10762488" cy="896112"/>
          </a:xfrm>
          <a:prstGeom prst="rect">
            <a:avLst/>
          </a:prstGeom>
          <a:noFill/>
        </p:spPr>
        <p:txBody>
          <a:bodyPr wrap="square" lIns="0" rIns="0" tIns="0" bIns="0" anchor="ctr">
            <a:spAutoFit/>
          </a:bodyPr>
          <a:lstStyle/>
          <a:p>
            <a:pPr algn="l">
              <a:lnSpc>
                <a:spcPct val="120000"/>
              </a:lnSpc>
            </a:pPr>
            <a:r>
              <a:rPr sz="1250" b="1" i="0">
                <a:solidFill>
                  <a:srgbClr val="21295C"/>
                </a:solidFill>
                <a:latin typeface="DejaVu Sans"/>
              </a:rPr>
              <a:t>Расхождение здесь не в одной измеряемой величине, а сразу в обеих, на одном и том же материале: дело не в неудачном прогоне — такой выход дисквалифицирован для решения «продолжать или остановить» по построению. Альтернатива: оставить панели до-исследовательскую роль, а решение опереть на тест с 5–8 живыми участниками — размер, который уже вскрывает большинство проблем удобства.</a:t>
            </a:r>
          </a:p>
        </p:txBody>
      </p:sp>
      <p:sp>
        <p:nvSpPr>
          <p:cNvPr id="30" name="TextBox 29"/>
          <p:cNvSpPr txBox="1"/>
          <p:nvPr/>
        </p:nvSpPr>
        <p:spPr>
          <a:xfrm>
            <a:off x="502920" y="6455664"/>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6"/>
              </a:rPr>
              <a:t>Nielsen Norman Group — «Synthetic Users»</a:t>
            </a:r>
          </a:p>
        </p:txBody>
      </p:sp>
      <p:sp>
        <p:nvSpPr>
          <p:cNvPr id="31" name="TextBox 30"/>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12 / 54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18872"/>
            <a:ext cx="11201400" cy="841248"/>
          </a:xfrm>
          <a:prstGeom prst="rect">
            <a:avLst/>
          </a:prstGeom>
          <a:noFill/>
        </p:spPr>
        <p:txBody>
          <a:bodyPr wrap="square" lIns="0" rIns="0" tIns="0" bIns="0" anchor="t">
            <a:spAutoFit/>
          </a:bodyPr>
          <a:lstStyle/>
          <a:p>
            <a:pPr algn="l">
              <a:lnSpc>
                <a:spcPct val="110000"/>
              </a:lnSpc>
            </a:pPr>
            <a:r>
              <a:rPr sz="2100" b="1" i="0">
                <a:solidFill>
                  <a:srgbClr val="21295C"/>
                </a:solidFill>
                <a:latin typeface="DejaVu Sans"/>
              </a:rPr>
              <a:t>Помощник врача, обученный на придуманных случаях: рекомендации назвали небезопасными</a:t>
            </a:r>
          </a:p>
        </p:txBody>
      </p:sp>
      <p:sp>
        <p:nvSpPr>
          <p:cNvPr id="3" name="Rounded Rectangle 2"/>
          <p:cNvSpPr/>
          <p:nvPr/>
        </p:nvSpPr>
        <p:spPr>
          <a:xfrm>
            <a:off x="502920" y="1005840"/>
            <a:ext cx="11201400" cy="932688"/>
          </a:xfrm>
          <a:prstGeom prst="roundRect">
            <a:avLst>
              <a:gd name="adj" fmla="val 7000"/>
            </a:avLst>
          </a:prstGeom>
          <a:solidFill>
            <a:srgbClr val="E4F1F2"/>
          </a:solidFill>
          <a:ln w="2032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le-text-teal.png"/>
          <p:cNvPicPr>
            <a:picLocks noChangeAspect="1"/>
          </p:cNvPicPr>
          <p:nvPr/>
        </p:nvPicPr>
        <p:blipFill>
          <a:blip r:embed="rId2"/>
          <a:stretch>
            <a:fillRect/>
          </a:stretch>
        </p:blipFill>
        <p:spPr>
          <a:xfrm>
            <a:off x="713232" y="1298448"/>
            <a:ext cx="384048" cy="384048"/>
          </a:xfrm>
          <a:prstGeom prst="rect">
            <a:avLst/>
          </a:prstGeom>
        </p:spPr>
      </p:pic>
      <p:sp>
        <p:nvSpPr>
          <p:cNvPr id="5" name="TextBox 4"/>
          <p:cNvSpPr txBox="1"/>
          <p:nvPr/>
        </p:nvSpPr>
        <p:spPr>
          <a:xfrm>
            <a:off x="1261872" y="1042415"/>
            <a:ext cx="10314432" cy="859536"/>
          </a:xfrm>
          <a:prstGeom prst="rect">
            <a:avLst/>
          </a:prstGeom>
          <a:noFill/>
        </p:spPr>
        <p:txBody>
          <a:bodyPr wrap="square" lIns="0" rIns="0" tIns="0" bIns="0" anchor="ctr">
            <a:spAutoFit/>
          </a:bodyPr>
          <a:lstStyle/>
          <a:p>
            <a:pPr algn="l">
              <a:lnSpc>
                <a:spcPct val="114000"/>
              </a:lnSpc>
            </a:pPr>
            <a:r>
              <a:rPr sz="1050" b="1" i="0">
                <a:solidFill>
                  <a:srgbClr val="028090"/>
                </a:solidFill>
                <a:latin typeface="DejaVu Sans"/>
              </a:rPr>
              <a:t>ЧТО ПРОИЗОШЛО   </a:t>
            </a:r>
            <a:r>
              <a:rPr sz="1150" b="0" i="0">
                <a:solidFill>
                  <a:srgbClr val="21295C"/>
                </a:solidFill>
                <a:latin typeface="DejaVu Sans"/>
              </a:rPr>
              <a:t>С 2012 года компания IBM вместе с онкологическим центром Memorial Sloan Kettering разрабатывала Watson for Oncology — систему, подсказывающую врачу схему лечения рака. С 2015 года её продавали больницам по всему миру. 25 июля 2018 года издание STAT News опубликовало утёкшие внутренние документы компании.</a:t>
            </a:r>
          </a:p>
        </p:txBody>
      </p:sp>
      <p:sp>
        <p:nvSpPr>
          <p:cNvPr id="6" name="Rounded Rectangle 5"/>
          <p:cNvSpPr/>
          <p:nvPr/>
        </p:nvSpPr>
        <p:spPr>
          <a:xfrm>
            <a:off x="502920" y="2029968"/>
            <a:ext cx="5532120" cy="2286000"/>
          </a:xfrm>
          <a:prstGeom prst="roundRect">
            <a:avLst>
              <a:gd name="adj" fmla="val 13333"/>
            </a:avLst>
          </a:prstGeom>
          <a:solidFill>
            <a:srgbClr val="F4F7FA"/>
          </a:solidFill>
          <a:ln w="2032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ile-warning-mid.png"/>
          <p:cNvPicPr>
            <a:picLocks noChangeAspect="1"/>
          </p:cNvPicPr>
          <p:nvPr/>
        </p:nvPicPr>
        <p:blipFill>
          <a:blip r:embed="rId3"/>
          <a:stretch>
            <a:fillRect/>
          </a:stretch>
        </p:blipFill>
        <p:spPr>
          <a:xfrm>
            <a:off x="722376" y="2157984"/>
            <a:ext cx="420624" cy="420624"/>
          </a:xfrm>
          <a:prstGeom prst="rect">
            <a:avLst/>
          </a:prstGeom>
        </p:spPr>
      </p:pic>
      <p:sp>
        <p:nvSpPr>
          <p:cNvPr id="8" name="TextBox 7"/>
          <p:cNvSpPr txBox="1"/>
          <p:nvPr/>
        </p:nvSpPr>
        <p:spPr>
          <a:xfrm>
            <a:off x="1271016" y="2194560"/>
            <a:ext cx="4544568" cy="310896"/>
          </a:xfrm>
          <a:prstGeom prst="rect">
            <a:avLst/>
          </a:prstGeom>
          <a:noFill/>
        </p:spPr>
        <p:txBody>
          <a:bodyPr wrap="square" lIns="0" rIns="0" tIns="0" bIns="0" anchor="t">
            <a:spAutoFit/>
          </a:bodyPr>
          <a:lstStyle/>
          <a:p>
            <a:pPr algn="l">
              <a:lnSpc>
                <a:spcPct val="115000"/>
              </a:lnSpc>
            </a:pPr>
            <a:r>
              <a:rPr sz="1300" b="1" i="0">
                <a:solidFill>
                  <a:srgbClr val="065A82"/>
                </a:solidFill>
                <a:latin typeface="DejaVu Sans"/>
              </a:rPr>
              <a:t>Что показали документы</a:t>
            </a:r>
          </a:p>
        </p:txBody>
      </p:sp>
      <p:sp>
        <p:nvSpPr>
          <p:cNvPr id="9" name="TextBox 8"/>
          <p:cNvSpPr txBox="1"/>
          <p:nvPr/>
        </p:nvSpPr>
        <p:spPr>
          <a:xfrm>
            <a:off x="740664" y="2633472"/>
            <a:ext cx="5056631" cy="566928"/>
          </a:xfrm>
          <a:prstGeom prst="rect">
            <a:avLst/>
          </a:prstGeom>
          <a:noFill/>
        </p:spPr>
        <p:txBody>
          <a:bodyPr wrap="square" lIns="0" rIns="0" tIns="0" bIns="0" anchor="t">
            <a:spAutoFit/>
          </a:bodyPr>
          <a:lstStyle/>
          <a:p>
            <a:pPr algn="l">
              <a:lnSpc>
                <a:spcPct val="114000"/>
              </a:lnSpc>
            </a:pPr>
            <a:r>
              <a:rPr sz="1150" b="0" i="0">
                <a:solidFill>
                  <a:srgbClr val="21295C"/>
                </a:solidFill>
                <a:latin typeface="DejaVu Sans"/>
              </a:rPr>
              <a:t>• Сотрудники в переписке называли рекомендации системы «небезопасными и некорректными»</a:t>
            </a:r>
          </a:p>
        </p:txBody>
      </p:sp>
      <p:sp>
        <p:nvSpPr>
          <p:cNvPr id="10" name="TextBox 9"/>
          <p:cNvSpPr txBox="1"/>
          <p:nvPr/>
        </p:nvSpPr>
        <p:spPr>
          <a:xfrm>
            <a:off x="740664" y="3328415"/>
            <a:ext cx="5056631" cy="841248"/>
          </a:xfrm>
          <a:prstGeom prst="rect">
            <a:avLst/>
          </a:prstGeom>
          <a:noFill/>
        </p:spPr>
        <p:txBody>
          <a:bodyPr wrap="square" lIns="0" rIns="0" tIns="0" bIns="0" anchor="t">
            <a:spAutoFit/>
          </a:bodyPr>
          <a:lstStyle/>
          <a:p>
            <a:pPr algn="l">
              <a:lnSpc>
                <a:spcPct val="114000"/>
              </a:lnSpc>
            </a:pPr>
            <a:r>
              <a:rPr sz="1150" b="0" i="0">
                <a:solidFill>
                  <a:srgbClr val="21295C"/>
                </a:solidFill>
                <a:latin typeface="DejaVu Sans"/>
              </a:rPr>
              <a:t>• Разобранный пример: препарат назначен гипотетическому пациенту с активным кровотечением — вопреки прямому предупреждению производителя против такого применения</a:t>
            </a:r>
          </a:p>
        </p:txBody>
      </p:sp>
      <p:sp>
        <p:nvSpPr>
          <p:cNvPr id="11" name="Rounded Rectangle 10"/>
          <p:cNvSpPr/>
          <p:nvPr/>
        </p:nvSpPr>
        <p:spPr>
          <a:xfrm>
            <a:off x="6172200" y="2029968"/>
            <a:ext cx="5532120" cy="2286000"/>
          </a:xfrm>
          <a:prstGeom prst="roundRect">
            <a:avLst>
              <a:gd name="adj" fmla="val 13333"/>
            </a:avLst>
          </a:prstGeom>
          <a:solidFill>
            <a:srgbClr val="F4F7FA"/>
          </a:solidFill>
          <a:ln w="2032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flask-conical-teal.png"/>
          <p:cNvPicPr>
            <a:picLocks noChangeAspect="1"/>
          </p:cNvPicPr>
          <p:nvPr/>
        </p:nvPicPr>
        <p:blipFill>
          <a:blip r:embed="rId4"/>
          <a:stretch>
            <a:fillRect/>
          </a:stretch>
        </p:blipFill>
        <p:spPr>
          <a:xfrm>
            <a:off x="6391656" y="2157984"/>
            <a:ext cx="420624" cy="420624"/>
          </a:xfrm>
          <a:prstGeom prst="rect">
            <a:avLst/>
          </a:prstGeom>
        </p:spPr>
      </p:pic>
      <p:sp>
        <p:nvSpPr>
          <p:cNvPr id="13" name="TextBox 12"/>
          <p:cNvSpPr txBox="1"/>
          <p:nvPr/>
        </p:nvSpPr>
        <p:spPr>
          <a:xfrm>
            <a:off x="6940296" y="2194560"/>
            <a:ext cx="4544568" cy="310896"/>
          </a:xfrm>
          <a:prstGeom prst="rect">
            <a:avLst/>
          </a:prstGeom>
          <a:noFill/>
        </p:spPr>
        <p:txBody>
          <a:bodyPr wrap="square" lIns="0" rIns="0" tIns="0" bIns="0" anchor="t">
            <a:spAutoFit/>
          </a:bodyPr>
          <a:lstStyle/>
          <a:p>
            <a:pPr algn="l">
              <a:lnSpc>
                <a:spcPct val="115000"/>
              </a:lnSpc>
            </a:pPr>
            <a:r>
              <a:rPr sz="1300" b="1" i="0">
                <a:solidFill>
                  <a:srgbClr val="028090"/>
                </a:solidFill>
                <a:latin typeface="DejaVu Sans"/>
              </a:rPr>
              <a:t>Почему так вышло</a:t>
            </a:r>
          </a:p>
        </p:txBody>
      </p:sp>
      <p:sp>
        <p:nvSpPr>
          <p:cNvPr id="14" name="Rounded Rectangle 13"/>
          <p:cNvSpPr/>
          <p:nvPr/>
        </p:nvSpPr>
        <p:spPr>
          <a:xfrm>
            <a:off x="6409944" y="2615184"/>
            <a:ext cx="2057400" cy="530352"/>
          </a:xfrm>
          <a:prstGeom prst="roundRect">
            <a:avLst>
              <a:gd name="adj" fmla="val 22000"/>
            </a:avLst>
          </a:prstGeom>
          <a:solidFill>
            <a:srgbClr val="FFFFFF"/>
          </a:solidFill>
          <a:ln w="1651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4807" y="2615184"/>
            <a:ext cx="1947672" cy="530352"/>
          </a:xfrm>
          <a:prstGeom prst="rect">
            <a:avLst/>
          </a:prstGeom>
          <a:noFill/>
        </p:spPr>
        <p:txBody>
          <a:bodyPr wrap="square" lIns="0" rIns="0" tIns="0" bIns="0" anchor="ctr">
            <a:spAutoFit/>
          </a:bodyPr>
          <a:lstStyle/>
          <a:p>
            <a:pPr algn="ctr">
              <a:lnSpc>
                <a:spcPct val="106000"/>
              </a:lnSpc>
            </a:pPr>
            <a:r>
              <a:rPr sz="950" b="1" i="0">
                <a:solidFill>
                  <a:srgbClr val="21295C"/>
                </a:solidFill>
                <a:latin typeface="DejaVu Sans"/>
              </a:rPr>
              <a:t>придуманные случаи</a:t>
            </a:r>
          </a:p>
          <a:p>
            <a:pPr algn="ctr">
              <a:lnSpc>
                <a:spcPct val="106000"/>
              </a:lnSpc>
            </a:pPr>
            <a:r>
              <a:rPr sz="950" b="1" i="0">
                <a:solidFill>
                  <a:srgbClr val="21295C"/>
                </a:solidFill>
                <a:latin typeface="DejaVu Sans"/>
              </a:rPr>
              <a:t>(на них обучали)</a:t>
            </a:r>
          </a:p>
        </p:txBody>
      </p:sp>
      <p:sp>
        <p:nvSpPr>
          <p:cNvPr id="16" name="Rounded Rectangle 15"/>
          <p:cNvSpPr/>
          <p:nvPr/>
        </p:nvSpPr>
        <p:spPr>
          <a:xfrm>
            <a:off x="9409176" y="2615184"/>
            <a:ext cx="2057400" cy="530352"/>
          </a:xfrm>
          <a:prstGeom prst="roundRect">
            <a:avLst>
              <a:gd name="adj" fmla="val 22000"/>
            </a:avLst>
          </a:prstGeom>
          <a:solidFill>
            <a:srgbClr val="FFFFFF"/>
          </a:solidFill>
          <a:ln w="1651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464040" y="2615184"/>
            <a:ext cx="1947672" cy="530352"/>
          </a:xfrm>
          <a:prstGeom prst="rect">
            <a:avLst/>
          </a:prstGeom>
          <a:noFill/>
        </p:spPr>
        <p:txBody>
          <a:bodyPr wrap="square" lIns="0" rIns="0" tIns="0" bIns="0" anchor="ctr">
            <a:spAutoFit/>
          </a:bodyPr>
          <a:lstStyle/>
          <a:p>
            <a:pPr algn="ctr">
              <a:lnSpc>
                <a:spcPct val="106000"/>
              </a:lnSpc>
            </a:pPr>
            <a:r>
              <a:rPr sz="950" b="1" i="0">
                <a:solidFill>
                  <a:srgbClr val="21295C"/>
                </a:solidFill>
                <a:latin typeface="DejaVu Sans"/>
              </a:rPr>
              <a:t>реальные исходы лечения</a:t>
            </a:r>
          </a:p>
          <a:p>
            <a:pPr algn="ctr">
              <a:lnSpc>
                <a:spcPct val="106000"/>
              </a:lnSpc>
            </a:pPr>
            <a:r>
              <a:rPr sz="950" b="1" i="0">
                <a:solidFill>
                  <a:srgbClr val="21295C"/>
                </a:solidFill>
                <a:latin typeface="DejaVu Sans"/>
              </a:rPr>
              <a:t>(на них не обучали)</a:t>
            </a:r>
          </a:p>
        </p:txBody>
      </p:sp>
      <p:cxnSp>
        <p:nvCxnSpPr>
          <p:cNvPr id="18" name="Connector 17"/>
          <p:cNvCxnSpPr/>
          <p:nvPr/>
        </p:nvCxnSpPr>
        <p:spPr>
          <a:xfrm>
            <a:off x="8540496" y="2880360"/>
            <a:ext cx="795528" cy="0"/>
          </a:xfrm>
          <a:prstGeom prst="line">
            <a:avLst/>
          </a:prstGeom>
          <a:ln w="17780">
            <a:solidFill>
              <a:srgbClr val="5B6678"/>
            </a:solidFill>
            <a:prstDash val="dash"/>
          </a:ln>
        </p:spPr>
        <p:style>
          <a:lnRef idx="2">
            <a:schemeClr val="accent1"/>
          </a:lnRef>
          <a:fillRef idx="0">
            <a:schemeClr val="accent1"/>
          </a:fillRef>
          <a:effectRef idx="1">
            <a:schemeClr val="accent1"/>
          </a:effectRef>
          <a:fontRef idx="minor">
            <a:schemeClr val="tx1"/>
          </a:fontRef>
        </p:style>
      </p:cxnSp>
      <p:pic>
        <p:nvPicPr>
          <p:cNvPr id="19" name="Picture 18" descr="x-gold.png"/>
          <p:cNvPicPr>
            <a:picLocks noChangeAspect="1"/>
          </p:cNvPicPr>
          <p:nvPr/>
        </p:nvPicPr>
        <p:blipFill>
          <a:blip r:embed="rId5"/>
          <a:stretch>
            <a:fillRect/>
          </a:stretch>
        </p:blipFill>
        <p:spPr>
          <a:xfrm>
            <a:off x="8846820" y="2788920"/>
            <a:ext cx="182880" cy="182880"/>
          </a:xfrm>
          <a:prstGeom prst="rect">
            <a:avLst/>
          </a:prstGeom>
        </p:spPr>
      </p:pic>
      <p:sp>
        <p:nvSpPr>
          <p:cNvPr id="20" name="TextBox 19"/>
          <p:cNvSpPr txBox="1"/>
          <p:nvPr/>
        </p:nvSpPr>
        <p:spPr>
          <a:xfrm>
            <a:off x="8467344" y="3163824"/>
            <a:ext cx="941832" cy="201168"/>
          </a:xfrm>
          <a:prstGeom prst="rect">
            <a:avLst/>
          </a:prstGeom>
          <a:noFill/>
        </p:spPr>
        <p:txBody>
          <a:bodyPr wrap="square" lIns="0" rIns="0" tIns="0" bIns="0" anchor="t">
            <a:spAutoFit/>
          </a:bodyPr>
          <a:lstStyle/>
          <a:p>
            <a:pPr algn="ctr">
              <a:lnSpc>
                <a:spcPct val="115000"/>
              </a:lnSpc>
            </a:pPr>
            <a:r>
              <a:rPr sz="850" b="0" i="1">
                <a:solidFill>
                  <a:srgbClr val="5B6678"/>
                </a:solidFill>
                <a:latin typeface="DejaVu Sans"/>
              </a:rPr>
              <a:t>сверки нет</a:t>
            </a:r>
          </a:p>
        </p:txBody>
      </p:sp>
      <p:sp>
        <p:nvSpPr>
          <p:cNvPr id="21" name="TextBox 20"/>
          <p:cNvSpPr txBox="1"/>
          <p:nvPr/>
        </p:nvSpPr>
        <p:spPr>
          <a:xfrm>
            <a:off x="6409944" y="3383280"/>
            <a:ext cx="5056631" cy="877824"/>
          </a:xfrm>
          <a:prstGeom prst="rect">
            <a:avLst/>
          </a:prstGeom>
          <a:noFill/>
        </p:spPr>
        <p:txBody>
          <a:bodyPr wrap="square" lIns="0" rIns="0" tIns="0" bIns="0" anchor="t">
            <a:spAutoFit/>
          </a:bodyPr>
          <a:lstStyle/>
          <a:p>
            <a:pPr algn="l">
              <a:lnSpc>
                <a:spcPct val="114000"/>
              </a:lnSpc>
            </a:pPr>
            <a:r>
              <a:rPr sz="1100" b="0" i="0">
                <a:solidFill>
                  <a:srgbClr val="21295C"/>
                </a:solidFill>
                <a:latin typeface="DejaVu Sans"/>
              </a:rPr>
              <a:t>Обучали на небольшом числе придуманных случаев, размеченных горсткой врачей одной клиники: материал правдоподобный, непротиворечивый и полностью выдуманный. Мнение горстки врачей при этом выдано за отраслевой стандарт.</a:t>
            </a:r>
          </a:p>
        </p:txBody>
      </p:sp>
      <p:sp>
        <p:nvSpPr>
          <p:cNvPr id="22" name="Rounded Rectangle 21"/>
          <p:cNvSpPr/>
          <p:nvPr/>
        </p:nvSpPr>
        <p:spPr>
          <a:xfrm>
            <a:off x="502920" y="4480560"/>
            <a:ext cx="11201400" cy="111556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2376" y="4535424"/>
            <a:ext cx="10762488" cy="1005840"/>
          </a:xfrm>
          <a:prstGeom prst="rect">
            <a:avLst/>
          </a:prstGeom>
          <a:noFill/>
        </p:spPr>
        <p:txBody>
          <a:bodyPr wrap="square" lIns="0" rIns="0" tIns="0" bIns="0" anchor="ctr">
            <a:spAutoFit/>
          </a:bodyPr>
          <a:lstStyle/>
          <a:p>
            <a:pPr algn="l">
              <a:lnSpc>
                <a:spcPct val="120000"/>
              </a:lnSpc>
            </a:pPr>
            <a:r>
              <a:rPr sz="1250" b="1" i="0">
                <a:solidFill>
                  <a:srgbClr val="21295C"/>
                </a:solidFill>
                <a:latin typeface="DejaVu Sans"/>
              </a:rPr>
              <a:t>Тот же класс сбоя, что двумя слайдами раньше: правдоподобный материал принят за реальный. Разница только в цене ошибки — здесь она измеряется в людях, а не в возвращённом гонораре. Чем выше цена ошибки, тем строже требование: материал, на котором строится решение, должен прослеживаться до зафиксированного прошлого, а не до правдоподобного.</a:t>
            </a:r>
          </a:p>
        </p:txBody>
      </p:sp>
      <p:sp>
        <p:nvSpPr>
          <p:cNvPr id="24" name="TextBox 23"/>
          <p:cNvSpPr txBox="1"/>
          <p:nvPr/>
        </p:nvSpPr>
        <p:spPr>
          <a:xfrm>
            <a:off x="502920" y="6455664"/>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6"/>
              </a:rPr>
              <a:t>STAT News — утечка внутренних документов IBM Watson</a:t>
            </a:r>
            <a:r>
              <a:rPr sz="850" i="1">
                <a:solidFill>
                  <a:srgbClr val="1C7293"/>
                </a:solidFill>
                <a:latin typeface="DejaVu Sans"/>
              </a:rPr>
              <a:t>   ·   </a:t>
            </a:r>
            <a:r>
              <a:rPr sz="850" b="1" i="1">
                <a:solidFill>
                  <a:srgbClr val="065A82"/>
                </a:solidFill>
                <a:latin typeface="DejaVu Sans"/>
              </a:rPr>
              <a:t>[2] </a:t>
            </a:r>
            <a:r>
              <a:rPr sz="850" i="1">
                <a:solidFill>
                  <a:srgbClr val="1C7293"/>
                </a:solidFill>
                <a:latin typeface="DejaVu Sans"/>
                <a:hlinkClick r:id="rId7"/>
              </a:rPr>
              <a:t>IEEE Spectrum — как Watson переобещал и недодал</a:t>
            </a:r>
          </a:p>
        </p:txBody>
      </p:sp>
      <p:sp>
        <p:nvSpPr>
          <p:cNvPr id="25" name="TextBox 24"/>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13 / 54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extBox 1"/>
          <p:cNvSpPr txBox="1"/>
          <p:nvPr/>
        </p:nvSpPr>
        <p:spPr>
          <a:xfrm>
            <a:off x="9464040" y="91440"/>
            <a:ext cx="2651760" cy="1188720"/>
          </a:xfrm>
          <a:prstGeom prst="rect">
            <a:avLst/>
          </a:prstGeom>
          <a:noFill/>
        </p:spPr>
        <p:txBody>
          <a:bodyPr wrap="square" lIns="0" rIns="0" tIns="0" bIns="0" anchor="ctr">
            <a:spAutoFit/>
          </a:bodyPr>
          <a:lstStyle/>
          <a:p>
            <a:pPr algn="ctr">
              <a:lnSpc>
                <a:spcPct val="115000"/>
              </a:lnSpc>
            </a:pPr>
            <a:r>
              <a:rPr sz="9000" b="1" i="0">
                <a:solidFill>
                  <a:srgbClr val="D9E2EC"/>
                </a:solidFill>
                <a:latin typeface="DejaVu Sans"/>
              </a:rPr>
              <a:t>2</a:t>
            </a:r>
          </a:p>
        </p:txBody>
      </p:sp>
      <p:sp>
        <p:nvSpPr>
          <p:cNvPr id="3" name="Rounded Rectangle 2"/>
          <p:cNvSpPr/>
          <p:nvPr/>
        </p:nvSpPr>
        <p:spPr>
          <a:xfrm>
            <a:off x="7635240" y="1234440"/>
            <a:ext cx="4069080" cy="4160520"/>
          </a:xfrm>
          <a:prstGeom prst="roundRect">
            <a:avLst>
              <a:gd name="adj" fmla="val 749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14-drake.jpg"/>
          <p:cNvPicPr>
            <a:picLocks noChangeAspect="1"/>
          </p:cNvPicPr>
          <p:nvPr/>
        </p:nvPicPr>
        <p:blipFill>
          <a:blip r:embed="rId2"/>
          <a:stretch>
            <a:fillRect/>
          </a:stretch>
        </p:blipFill>
        <p:spPr>
          <a:xfrm>
            <a:off x="7763256" y="1408176"/>
            <a:ext cx="3813048" cy="3813048"/>
          </a:xfrm>
          <a:prstGeom prst="rect">
            <a:avLst/>
          </a:prstGeom>
        </p:spPr>
      </p:pic>
      <p:sp>
        <p:nvSpPr>
          <p:cNvPr id="5" name="TextBox 4"/>
          <p:cNvSpPr txBox="1"/>
          <p:nvPr/>
        </p:nvSpPr>
        <p:spPr>
          <a:xfrm>
            <a:off x="685800" y="1417320"/>
            <a:ext cx="6675120" cy="502920"/>
          </a:xfrm>
          <a:prstGeom prst="rect">
            <a:avLst/>
          </a:prstGeom>
          <a:noFill/>
        </p:spPr>
        <p:txBody>
          <a:bodyPr wrap="square" lIns="0" rIns="0" tIns="0" bIns="0" anchor="t">
            <a:spAutoFit/>
          </a:bodyPr>
          <a:lstStyle/>
          <a:p>
            <a:pPr algn="l">
              <a:lnSpc>
                <a:spcPct val="115000"/>
              </a:lnSpc>
            </a:pPr>
            <a:r>
              <a:rPr sz="2000" b="1" i="0">
                <a:solidFill>
                  <a:srgbClr val="028090"/>
                </a:solidFill>
                <a:latin typeface="DejaVu Sans"/>
              </a:rPr>
              <a:t>РАЗДЕЛ 2</a:t>
            </a:r>
          </a:p>
        </p:txBody>
      </p:sp>
      <p:sp>
        <p:nvSpPr>
          <p:cNvPr id="6" name="TextBox 5"/>
          <p:cNvSpPr txBox="1"/>
          <p:nvPr/>
        </p:nvSpPr>
        <p:spPr>
          <a:xfrm>
            <a:off x="685800" y="2395728"/>
            <a:ext cx="6675120" cy="1600200"/>
          </a:xfrm>
          <a:prstGeom prst="rect">
            <a:avLst/>
          </a:prstGeom>
          <a:noFill/>
        </p:spPr>
        <p:txBody>
          <a:bodyPr wrap="square" lIns="0" rIns="0" tIns="0" bIns="0" anchor="t">
            <a:spAutoFit/>
          </a:bodyPr>
          <a:lstStyle/>
          <a:p>
            <a:pPr algn="l">
              <a:lnSpc>
                <a:spcPct val="108000"/>
              </a:lnSpc>
            </a:pPr>
            <a:r>
              <a:rPr sz="3000" b="1" i="0">
                <a:solidFill>
                  <a:srgbClr val="21295C"/>
                </a:solidFill>
                <a:latin typeface="DejaVu Sans"/>
              </a:rPr>
              <a:t>Дизайн — гипотеза становится артефактом</a:t>
            </a:r>
          </a:p>
        </p:txBody>
      </p:sp>
      <p:sp>
        <p:nvSpPr>
          <p:cNvPr id="7" name="Rounded Rectangle 6"/>
          <p:cNvSpPr/>
          <p:nvPr/>
        </p:nvSpPr>
        <p:spPr>
          <a:xfrm>
            <a:off x="713232" y="3840480"/>
            <a:ext cx="3291840" cy="384048"/>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250" b="1">
                <a:solidFill>
                  <a:srgbClr val="21295C"/>
                </a:solidFill>
                <a:latin typeface="DejaVu Sans"/>
              </a:rPr>
              <a:t>1 база · 1 практика · 1 провал</a:t>
            </a:r>
          </a:p>
        </p:txBody>
      </p:sp>
      <p:sp>
        <p:nvSpPr>
          <p:cNvPr id="8" name="TextBox 7"/>
          <p:cNvSpPr txBox="1"/>
          <p:nvPr/>
        </p:nvSpPr>
        <p:spPr>
          <a:xfrm>
            <a:off x="713232" y="4389120"/>
            <a:ext cx="6720840" cy="1417320"/>
          </a:xfrm>
          <a:prstGeom prst="rect">
            <a:avLst/>
          </a:prstGeom>
          <a:noFill/>
        </p:spPr>
        <p:txBody>
          <a:bodyPr wrap="square" lIns="0" rIns="0" tIns="0" bIns="0" anchor="t">
            <a:spAutoFit/>
          </a:bodyPr>
          <a:lstStyle/>
          <a:p>
            <a:pPr algn="l">
              <a:lnSpc>
                <a:spcPct val="116000"/>
              </a:lnSpc>
            </a:pPr>
            <a:r>
              <a:rPr sz="1500" b="0" i="1">
                <a:solidFill>
                  <a:srgbClr val="1C7293"/>
                </a:solidFill>
                <a:latin typeface="DejaVu Sans"/>
              </a:rPr>
              <a:t>Шаг, на котором гипотезу впервые показывают живому человеку — пока она стоит дёшево и её не жалко выбросить. Здесь же решают, кого продукт может задеть: это решение принимают в задании на дизайн, потом уже нечем.</a:t>
            </a:r>
          </a:p>
        </p:txBody>
      </p:sp>
      <p:sp>
        <p:nvSpPr>
          <p:cNvPr id="9" name="Rounded Rectangle 8"/>
          <p:cNvSpPr/>
          <p:nvPr/>
        </p:nvSpPr>
        <p:spPr>
          <a:xfrm>
            <a:off x="502920"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1208"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0</a:t>
            </a:r>
          </a:p>
        </p:txBody>
      </p:sp>
      <p:sp>
        <p:nvSpPr>
          <p:cNvPr id="11" name="TextBox 10"/>
          <p:cNvSpPr txBox="1"/>
          <p:nvPr/>
        </p:nvSpPr>
        <p:spPr>
          <a:xfrm>
            <a:off x="521208" y="6217920"/>
            <a:ext cx="1283589" cy="274320"/>
          </a:xfrm>
          <a:prstGeom prst="rect">
            <a:avLst/>
          </a:prstGeom>
          <a:noFill/>
        </p:spPr>
        <p:txBody>
          <a:bodyPr wrap="square" lIns="0" rIns="0" tIns="0" bIns="0" anchor="t">
            <a:spAutoFit/>
          </a:bodyPr>
          <a:lstStyle/>
          <a:p>
            <a:pPr algn="ctr">
              <a:lnSpc>
                <a:spcPct val="92000"/>
              </a:lnSpc>
            </a:pPr>
            <a:r>
              <a:rPr sz="900" b="0" i="0">
                <a:solidFill>
                  <a:srgbClr val="5B6678"/>
                </a:solidFill>
                <a:latin typeface="DejaVu Sans"/>
              </a:rPr>
              <a:t>Введение</a:t>
            </a:r>
          </a:p>
        </p:txBody>
      </p:sp>
      <p:sp>
        <p:nvSpPr>
          <p:cNvPr id="12" name="Rounded Rectangle 11"/>
          <p:cNvSpPr/>
          <p:nvPr/>
        </p:nvSpPr>
        <p:spPr>
          <a:xfrm>
            <a:off x="1914525"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932813"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1</a:t>
            </a:r>
          </a:p>
        </p:txBody>
      </p:sp>
      <p:sp>
        <p:nvSpPr>
          <p:cNvPr id="14" name="TextBox 13"/>
          <p:cNvSpPr txBox="1"/>
          <p:nvPr/>
        </p:nvSpPr>
        <p:spPr>
          <a:xfrm>
            <a:off x="1932813" y="6217920"/>
            <a:ext cx="1283589" cy="274320"/>
          </a:xfrm>
          <a:prstGeom prst="rect">
            <a:avLst/>
          </a:prstGeom>
          <a:noFill/>
        </p:spPr>
        <p:txBody>
          <a:bodyPr wrap="square" lIns="0" rIns="0" tIns="0" bIns="0" anchor="t">
            <a:spAutoFit/>
          </a:bodyPr>
          <a:lstStyle/>
          <a:p>
            <a:pPr algn="ctr">
              <a:lnSpc>
                <a:spcPct val="92000"/>
              </a:lnSpc>
            </a:pPr>
            <a:r>
              <a:rPr sz="800" b="0" i="0">
                <a:solidFill>
                  <a:srgbClr val="5B6678"/>
                </a:solidFill>
                <a:latin typeface="DejaVu Sans"/>
              </a:rPr>
              <a:t>Исследование</a:t>
            </a:r>
          </a:p>
        </p:txBody>
      </p:sp>
      <p:sp>
        <p:nvSpPr>
          <p:cNvPr id="15" name="Rounded Rectangle 14"/>
          <p:cNvSpPr/>
          <p:nvPr/>
        </p:nvSpPr>
        <p:spPr>
          <a:xfrm>
            <a:off x="3326130" y="5989320"/>
            <a:ext cx="1320165" cy="530352"/>
          </a:xfrm>
          <a:prstGeom prst="roundRect">
            <a:avLst>
              <a:gd name="adj" fmla="val 1200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44418" y="6035040"/>
            <a:ext cx="1283589" cy="164592"/>
          </a:xfrm>
          <a:prstGeom prst="rect">
            <a:avLst/>
          </a:prstGeom>
          <a:noFill/>
        </p:spPr>
        <p:txBody>
          <a:bodyPr wrap="square" lIns="0" rIns="0" tIns="0" bIns="0" anchor="t">
            <a:spAutoFit/>
          </a:bodyPr>
          <a:lstStyle/>
          <a:p>
            <a:pPr algn="ctr">
              <a:lnSpc>
                <a:spcPct val="115000"/>
              </a:lnSpc>
            </a:pPr>
            <a:r>
              <a:rPr sz="1050" b="1" i="0">
                <a:solidFill>
                  <a:srgbClr val="21295C"/>
                </a:solidFill>
                <a:latin typeface="DejaVu Sans"/>
              </a:rPr>
              <a:t>2</a:t>
            </a:r>
          </a:p>
        </p:txBody>
      </p:sp>
      <p:sp>
        <p:nvSpPr>
          <p:cNvPr id="17" name="TextBox 16"/>
          <p:cNvSpPr txBox="1"/>
          <p:nvPr/>
        </p:nvSpPr>
        <p:spPr>
          <a:xfrm>
            <a:off x="3344418" y="6217920"/>
            <a:ext cx="1283589" cy="274320"/>
          </a:xfrm>
          <a:prstGeom prst="rect">
            <a:avLst/>
          </a:prstGeom>
          <a:noFill/>
        </p:spPr>
        <p:txBody>
          <a:bodyPr wrap="square" lIns="0" rIns="0" tIns="0" bIns="0" anchor="t">
            <a:spAutoFit/>
          </a:bodyPr>
          <a:lstStyle/>
          <a:p>
            <a:pPr algn="ctr">
              <a:lnSpc>
                <a:spcPct val="92000"/>
              </a:lnSpc>
            </a:pPr>
            <a:r>
              <a:rPr sz="900" b="1" i="0">
                <a:solidFill>
                  <a:srgbClr val="21295C"/>
                </a:solidFill>
                <a:latin typeface="DejaVu Sans"/>
              </a:rPr>
              <a:t>Дизайн</a:t>
            </a:r>
          </a:p>
        </p:txBody>
      </p:sp>
      <p:sp>
        <p:nvSpPr>
          <p:cNvPr id="18" name="Rounded Rectangle 17"/>
          <p:cNvSpPr/>
          <p:nvPr/>
        </p:nvSpPr>
        <p:spPr>
          <a:xfrm>
            <a:off x="4737735"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56023"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3</a:t>
            </a:r>
          </a:p>
        </p:txBody>
      </p:sp>
      <p:sp>
        <p:nvSpPr>
          <p:cNvPr id="20" name="TextBox 19"/>
          <p:cNvSpPr txBox="1"/>
          <p:nvPr/>
        </p:nvSpPr>
        <p:spPr>
          <a:xfrm>
            <a:off x="4756023" y="6217920"/>
            <a:ext cx="1283589" cy="274320"/>
          </a:xfrm>
          <a:prstGeom prst="rect">
            <a:avLst/>
          </a:prstGeom>
          <a:noFill/>
        </p:spPr>
        <p:txBody>
          <a:bodyPr wrap="square" lIns="0" rIns="0" tIns="0" bIns="0" anchor="t">
            <a:spAutoFit/>
          </a:bodyPr>
          <a:lstStyle/>
          <a:p>
            <a:pPr algn="ctr">
              <a:lnSpc>
                <a:spcPct val="92000"/>
              </a:lnSpc>
            </a:pPr>
            <a:r>
              <a:rPr sz="800" b="0" i="0">
                <a:solidFill>
                  <a:srgbClr val="5B6678"/>
                </a:solidFill>
                <a:latin typeface="DejaVu Sans"/>
              </a:rPr>
              <a:t>Сборка и запуск</a:t>
            </a:r>
          </a:p>
        </p:txBody>
      </p:sp>
      <p:sp>
        <p:nvSpPr>
          <p:cNvPr id="21" name="Rounded Rectangle 20"/>
          <p:cNvSpPr/>
          <p:nvPr/>
        </p:nvSpPr>
        <p:spPr>
          <a:xfrm>
            <a:off x="6149340"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67628"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4</a:t>
            </a:r>
          </a:p>
        </p:txBody>
      </p:sp>
      <p:sp>
        <p:nvSpPr>
          <p:cNvPr id="23" name="TextBox 22"/>
          <p:cNvSpPr txBox="1"/>
          <p:nvPr/>
        </p:nvSpPr>
        <p:spPr>
          <a:xfrm>
            <a:off x="6167628" y="6217920"/>
            <a:ext cx="1283589" cy="274320"/>
          </a:xfrm>
          <a:prstGeom prst="rect">
            <a:avLst/>
          </a:prstGeom>
          <a:noFill/>
        </p:spPr>
        <p:txBody>
          <a:bodyPr wrap="square" lIns="0" rIns="0" tIns="0" bIns="0" anchor="t">
            <a:spAutoFit/>
          </a:bodyPr>
          <a:lstStyle/>
          <a:p>
            <a:pPr algn="ctr">
              <a:lnSpc>
                <a:spcPct val="92000"/>
              </a:lnSpc>
            </a:pPr>
            <a:r>
              <a:rPr sz="900" b="0" i="0">
                <a:solidFill>
                  <a:srgbClr val="5B6678"/>
                </a:solidFill>
                <a:latin typeface="DejaVu Sans"/>
              </a:rPr>
              <a:t>Измерение</a:t>
            </a:r>
          </a:p>
        </p:txBody>
      </p:sp>
      <p:sp>
        <p:nvSpPr>
          <p:cNvPr id="24" name="Rounded Rectangle 23"/>
          <p:cNvSpPr/>
          <p:nvPr/>
        </p:nvSpPr>
        <p:spPr>
          <a:xfrm>
            <a:off x="7560945"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79233"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5</a:t>
            </a:r>
          </a:p>
        </p:txBody>
      </p:sp>
      <p:sp>
        <p:nvSpPr>
          <p:cNvPr id="26" name="TextBox 25"/>
          <p:cNvSpPr txBox="1"/>
          <p:nvPr/>
        </p:nvSpPr>
        <p:spPr>
          <a:xfrm>
            <a:off x="7579233" y="6217920"/>
            <a:ext cx="1283589" cy="274320"/>
          </a:xfrm>
          <a:prstGeom prst="rect">
            <a:avLst/>
          </a:prstGeom>
          <a:noFill/>
        </p:spPr>
        <p:txBody>
          <a:bodyPr wrap="square" lIns="0" rIns="0" tIns="0" bIns="0" anchor="t">
            <a:spAutoFit/>
          </a:bodyPr>
          <a:lstStyle/>
          <a:p>
            <a:pPr algn="ctr">
              <a:lnSpc>
                <a:spcPct val="92000"/>
              </a:lnSpc>
            </a:pPr>
            <a:r>
              <a:rPr sz="900" b="0" i="0">
                <a:solidFill>
                  <a:srgbClr val="5B6678"/>
                </a:solidFill>
                <a:latin typeface="DejaVu Sans"/>
              </a:rPr>
              <a:t>Поддержка</a:t>
            </a:r>
          </a:p>
        </p:txBody>
      </p:sp>
      <p:sp>
        <p:nvSpPr>
          <p:cNvPr id="27" name="Rounded Rectangle 26"/>
          <p:cNvSpPr/>
          <p:nvPr/>
        </p:nvSpPr>
        <p:spPr>
          <a:xfrm>
            <a:off x="8972550"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90838"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6</a:t>
            </a:r>
          </a:p>
        </p:txBody>
      </p:sp>
      <p:sp>
        <p:nvSpPr>
          <p:cNvPr id="29" name="TextBox 28"/>
          <p:cNvSpPr txBox="1"/>
          <p:nvPr/>
        </p:nvSpPr>
        <p:spPr>
          <a:xfrm>
            <a:off x="8990838" y="6217920"/>
            <a:ext cx="1283589" cy="274320"/>
          </a:xfrm>
          <a:prstGeom prst="rect">
            <a:avLst/>
          </a:prstGeom>
          <a:noFill/>
        </p:spPr>
        <p:txBody>
          <a:bodyPr wrap="square" lIns="0" rIns="0" tIns="0" bIns="0" anchor="t">
            <a:spAutoFit/>
          </a:bodyPr>
          <a:lstStyle/>
          <a:p>
            <a:pPr algn="ctr">
              <a:lnSpc>
                <a:spcPct val="92000"/>
              </a:lnSpc>
            </a:pPr>
            <a:r>
              <a:rPr sz="800" b="0" i="0">
                <a:solidFill>
                  <a:srgbClr val="5B6678"/>
                </a:solidFill>
                <a:latin typeface="DejaVu Sans"/>
              </a:rPr>
              <a:t>Управление</a:t>
            </a:r>
          </a:p>
        </p:txBody>
      </p:sp>
      <p:sp>
        <p:nvSpPr>
          <p:cNvPr id="30" name="Rounded Rectangle 29"/>
          <p:cNvSpPr/>
          <p:nvPr/>
        </p:nvSpPr>
        <p:spPr>
          <a:xfrm>
            <a:off x="10384155"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402443"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7</a:t>
            </a:r>
          </a:p>
        </p:txBody>
      </p:sp>
      <p:sp>
        <p:nvSpPr>
          <p:cNvPr id="32" name="TextBox 31"/>
          <p:cNvSpPr txBox="1"/>
          <p:nvPr/>
        </p:nvSpPr>
        <p:spPr>
          <a:xfrm>
            <a:off x="10402443" y="6217920"/>
            <a:ext cx="1283589" cy="274320"/>
          </a:xfrm>
          <a:prstGeom prst="rect">
            <a:avLst/>
          </a:prstGeom>
          <a:noFill/>
        </p:spPr>
        <p:txBody>
          <a:bodyPr wrap="square" lIns="0" rIns="0" tIns="0" bIns="0" anchor="t">
            <a:spAutoFit/>
          </a:bodyPr>
          <a:lstStyle/>
          <a:p>
            <a:pPr algn="ctr">
              <a:lnSpc>
                <a:spcPct val="92000"/>
              </a:lnSpc>
            </a:pPr>
            <a:r>
              <a:rPr sz="900" b="0" i="0">
                <a:solidFill>
                  <a:srgbClr val="5B6678"/>
                </a:solidFill>
                <a:latin typeface="DejaVu Sans"/>
              </a:rPr>
              <a:t>Обобщение</a:t>
            </a:r>
          </a:p>
        </p:txBody>
      </p:sp>
      <p:sp>
        <p:nvSpPr>
          <p:cNvPr id="33" name="TextBox 32"/>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14 / 54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18872"/>
            <a:ext cx="11201400" cy="841248"/>
          </a:xfrm>
          <a:prstGeom prst="rect">
            <a:avLst/>
          </a:prstGeom>
          <a:noFill/>
        </p:spPr>
        <p:txBody>
          <a:bodyPr wrap="square" lIns="0" rIns="0" tIns="0" bIns="0" anchor="t">
            <a:spAutoFit/>
          </a:bodyPr>
          <a:lstStyle/>
          <a:p>
            <a:pPr algn="l">
              <a:lnSpc>
                <a:spcPct val="110000"/>
              </a:lnSpc>
            </a:pPr>
            <a:r>
              <a:rPr sz="2100" b="1" i="0">
                <a:solidFill>
                  <a:srgbClr val="21295C"/>
                </a:solidFill>
                <a:latin typeface="DejaVu Sans"/>
              </a:rPr>
              <a:t>Зачем нужен отдельный шаг дизайна: ошибку ищут на дешёвом черновике, а не в готовом продукте</a:t>
            </a:r>
          </a:p>
        </p:txBody>
      </p:sp>
      <p:sp>
        <p:nvSpPr>
          <p:cNvPr id="3" name="Rounded Rectangle 2"/>
          <p:cNvSpPr/>
          <p:nvPr/>
        </p:nvSpPr>
        <p:spPr>
          <a:xfrm>
            <a:off x="502920" y="1024128"/>
            <a:ext cx="11201400" cy="1463040"/>
          </a:xfrm>
          <a:prstGeom prst="roundRect">
            <a:avLst>
              <a:gd name="adj" fmla="val 20833"/>
            </a:avLst>
          </a:prstGeom>
          <a:solidFill>
            <a:srgbClr val="F4F7FA"/>
          </a:solidFill>
          <a:ln w="2032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78992"/>
            <a:ext cx="10744200" cy="256032"/>
          </a:xfrm>
          <a:prstGeom prst="rect">
            <a:avLst/>
          </a:prstGeom>
          <a:noFill/>
        </p:spPr>
        <p:txBody>
          <a:bodyPr wrap="square" lIns="0" rIns="0" tIns="0" bIns="0" anchor="t">
            <a:spAutoFit/>
          </a:bodyPr>
          <a:lstStyle/>
          <a:p>
            <a:pPr algn="l">
              <a:lnSpc>
                <a:spcPct val="115000"/>
              </a:lnSpc>
            </a:pPr>
            <a:r>
              <a:rPr sz="1300" b="1" i="0">
                <a:solidFill>
                  <a:srgbClr val="028090"/>
                </a:solidFill>
                <a:latin typeface="DejaVu Sans"/>
              </a:rPr>
              <a:t>Зачем эта работа нужна</a:t>
            </a:r>
          </a:p>
        </p:txBody>
      </p:sp>
      <p:pic>
        <p:nvPicPr>
          <p:cNvPr id="5" name="Picture 4" descr="pencil-mid.png"/>
          <p:cNvPicPr>
            <a:picLocks noChangeAspect="1"/>
          </p:cNvPicPr>
          <p:nvPr/>
        </p:nvPicPr>
        <p:blipFill>
          <a:blip r:embed="rId2"/>
          <a:stretch>
            <a:fillRect/>
          </a:stretch>
        </p:blipFill>
        <p:spPr>
          <a:xfrm>
            <a:off x="749808" y="1426464"/>
            <a:ext cx="292608" cy="292608"/>
          </a:xfrm>
          <a:prstGeom prst="rect">
            <a:avLst/>
          </a:prstGeom>
        </p:spPr>
      </p:pic>
      <p:sp>
        <p:nvSpPr>
          <p:cNvPr id="6" name="TextBox 5"/>
          <p:cNvSpPr txBox="1"/>
          <p:nvPr/>
        </p:nvSpPr>
        <p:spPr>
          <a:xfrm>
            <a:off x="1152144" y="1353312"/>
            <a:ext cx="4617720" cy="658368"/>
          </a:xfrm>
          <a:prstGeom prst="rect">
            <a:avLst/>
          </a:prstGeom>
          <a:noFill/>
        </p:spPr>
        <p:txBody>
          <a:bodyPr wrap="square" lIns="0" rIns="0" tIns="0" bIns="0" anchor="t">
            <a:spAutoFit/>
          </a:bodyPr>
          <a:lstStyle/>
          <a:p>
            <a:pPr algn="l">
              <a:lnSpc>
                <a:spcPct val="116000"/>
              </a:lnSpc>
            </a:pPr>
            <a:r>
              <a:rPr sz="1150" b="0" i="0">
                <a:solidFill>
                  <a:srgbClr val="21295C"/>
                </a:solidFill>
                <a:latin typeface="DejaVu Sans"/>
              </a:rPr>
              <a:t>Ошибку нашли на черновике — переделать набросок стоит часов работы одного человека. Черновик для того и делают: его не жалко выбросить целиком.</a:t>
            </a:r>
          </a:p>
        </p:txBody>
      </p:sp>
      <p:sp>
        <p:nvSpPr>
          <p:cNvPr id="7" name="Right Arrow 6"/>
          <p:cNvSpPr/>
          <p:nvPr/>
        </p:nvSpPr>
        <p:spPr>
          <a:xfrm>
            <a:off x="5925312" y="1572768"/>
            <a:ext cx="384048" cy="219456"/>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rocket-gold.png"/>
          <p:cNvPicPr>
            <a:picLocks noChangeAspect="1"/>
          </p:cNvPicPr>
          <p:nvPr/>
        </p:nvPicPr>
        <p:blipFill>
          <a:blip r:embed="rId3"/>
          <a:stretch>
            <a:fillRect/>
          </a:stretch>
        </p:blipFill>
        <p:spPr>
          <a:xfrm>
            <a:off x="6473952" y="1426464"/>
            <a:ext cx="292608" cy="292608"/>
          </a:xfrm>
          <a:prstGeom prst="rect">
            <a:avLst/>
          </a:prstGeom>
        </p:spPr>
      </p:pic>
      <p:sp>
        <p:nvSpPr>
          <p:cNvPr id="9" name="TextBox 8"/>
          <p:cNvSpPr txBox="1"/>
          <p:nvPr/>
        </p:nvSpPr>
        <p:spPr>
          <a:xfrm>
            <a:off x="6876288" y="1353312"/>
            <a:ext cx="4590288" cy="658368"/>
          </a:xfrm>
          <a:prstGeom prst="rect">
            <a:avLst/>
          </a:prstGeom>
          <a:noFill/>
        </p:spPr>
        <p:txBody>
          <a:bodyPr wrap="square" lIns="0" rIns="0" tIns="0" bIns="0" anchor="t">
            <a:spAutoFit/>
          </a:bodyPr>
          <a:lstStyle/>
          <a:p>
            <a:pPr algn="l">
              <a:lnSpc>
                <a:spcPct val="116000"/>
              </a:lnSpc>
            </a:pPr>
            <a:r>
              <a:rPr sz="1150" b="0" i="0">
                <a:solidFill>
                  <a:srgbClr val="21295C"/>
                </a:solidFill>
                <a:latin typeface="DejaVu Sans"/>
              </a:rPr>
              <a:t>Ту же ошибку нашли после выпуска — переделывать придётся работающий продукт: недели работы команды, и к ним прибавляются ушедшие пользователи.</a:t>
            </a:r>
          </a:p>
        </p:txBody>
      </p:sp>
      <p:sp>
        <p:nvSpPr>
          <p:cNvPr id="10" name="TextBox 9"/>
          <p:cNvSpPr txBox="1"/>
          <p:nvPr/>
        </p:nvSpPr>
        <p:spPr>
          <a:xfrm>
            <a:off x="731520" y="2084831"/>
            <a:ext cx="10744200" cy="310896"/>
          </a:xfrm>
          <a:prstGeom prst="rect">
            <a:avLst/>
          </a:prstGeom>
          <a:noFill/>
        </p:spPr>
        <p:txBody>
          <a:bodyPr wrap="square" lIns="0" rIns="0" tIns="0" bIns="0" anchor="t">
            <a:spAutoFit/>
          </a:bodyPr>
          <a:lstStyle/>
          <a:p>
            <a:pPr algn="l">
              <a:lnSpc>
                <a:spcPct val="114000"/>
              </a:lnSpc>
            </a:pPr>
            <a:r>
              <a:rPr sz="1250" b="1" i="0">
                <a:solidFill>
                  <a:srgbClr val="21295C"/>
                </a:solidFill>
                <a:latin typeface="DejaVu Sans"/>
              </a:rPr>
              <a:t>Пропустить этот шаг — не сэкономить, а заплатить то же самое позже и дороже.</a:t>
            </a:r>
          </a:p>
        </p:txBody>
      </p:sp>
      <p:sp>
        <p:nvSpPr>
          <p:cNvPr id="11" name="Diamond 10"/>
          <p:cNvSpPr/>
          <p:nvPr/>
        </p:nvSpPr>
        <p:spPr>
          <a:xfrm>
            <a:off x="1088136" y="2907792"/>
            <a:ext cx="2066543" cy="1133856"/>
          </a:xfrm>
          <a:prstGeom prst="diamond">
            <a:avLst/>
          </a:prstGeom>
          <a:solidFill>
            <a:srgbClr val="F4F7FA"/>
          </a:solidFill>
          <a:ln w="2286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2375" y="3218688"/>
            <a:ext cx="2798063" cy="512064"/>
          </a:xfrm>
          <a:prstGeom prst="rect">
            <a:avLst/>
          </a:prstGeom>
          <a:noFill/>
        </p:spPr>
        <p:txBody>
          <a:bodyPr wrap="square" lIns="0" rIns="0" tIns="0" bIns="0" anchor="ctr">
            <a:spAutoFit/>
          </a:bodyPr>
          <a:lstStyle/>
          <a:p>
            <a:pPr algn="ctr">
              <a:lnSpc>
                <a:spcPct val="102000"/>
              </a:lnSpc>
            </a:pPr>
            <a:r>
              <a:rPr sz="1200" b="1" i="0">
                <a:solidFill>
                  <a:srgbClr val="065A82"/>
                </a:solidFill>
                <a:latin typeface="DejaVu Sans"/>
              </a:rPr>
              <a:t>Какую задачу</a:t>
            </a:r>
          </a:p>
          <a:p>
            <a:pPr algn="ctr">
              <a:lnSpc>
                <a:spcPct val="102000"/>
              </a:lnSpc>
            </a:pPr>
            <a:r>
              <a:rPr sz="1200" b="1" i="0">
                <a:solidFill>
                  <a:srgbClr val="065A82"/>
                </a:solidFill>
                <a:latin typeface="DejaVu Sans"/>
              </a:rPr>
              <a:t>решаем</a:t>
            </a:r>
          </a:p>
        </p:txBody>
      </p:sp>
      <p:sp>
        <p:nvSpPr>
          <p:cNvPr id="13" name="TextBox 12"/>
          <p:cNvSpPr txBox="1"/>
          <p:nvPr/>
        </p:nvSpPr>
        <p:spPr>
          <a:xfrm>
            <a:off x="777239" y="2596896"/>
            <a:ext cx="2688336" cy="274320"/>
          </a:xfrm>
          <a:prstGeom prst="rect">
            <a:avLst/>
          </a:prstGeom>
          <a:noFill/>
        </p:spPr>
        <p:txBody>
          <a:bodyPr wrap="square" lIns="0" rIns="0" tIns="0" bIns="0" anchor="t">
            <a:spAutoFit/>
          </a:bodyPr>
          <a:lstStyle/>
          <a:p>
            <a:pPr algn="ctr">
              <a:lnSpc>
                <a:spcPct val="102000"/>
              </a:lnSpc>
            </a:pPr>
            <a:r>
              <a:rPr sz="1100" b="1" i="0">
                <a:solidFill>
                  <a:srgbClr val="065A82"/>
                </a:solidFill>
                <a:latin typeface="DejaVu Sans"/>
              </a:rPr>
              <a:t>расширяем набор задач</a:t>
            </a:r>
          </a:p>
        </p:txBody>
      </p:sp>
      <p:sp>
        <p:nvSpPr>
          <p:cNvPr id="14" name="TextBox 13"/>
          <p:cNvSpPr txBox="1"/>
          <p:nvPr/>
        </p:nvSpPr>
        <p:spPr>
          <a:xfrm>
            <a:off x="777239" y="4069080"/>
            <a:ext cx="2688336" cy="274320"/>
          </a:xfrm>
          <a:prstGeom prst="rect">
            <a:avLst/>
          </a:prstGeom>
          <a:noFill/>
        </p:spPr>
        <p:txBody>
          <a:bodyPr wrap="square" lIns="0" rIns="0" tIns="0" bIns="0" anchor="t">
            <a:spAutoFit/>
          </a:bodyPr>
          <a:lstStyle/>
          <a:p>
            <a:pPr algn="ctr">
              <a:lnSpc>
                <a:spcPct val="102000"/>
              </a:lnSpc>
            </a:pPr>
            <a:r>
              <a:rPr sz="1100" b="1" i="0">
                <a:solidFill>
                  <a:srgbClr val="21295C"/>
                </a:solidFill>
                <a:latin typeface="DejaVu Sans"/>
              </a:rPr>
              <a:t>сводим к одной задаче</a:t>
            </a:r>
          </a:p>
        </p:txBody>
      </p:sp>
      <p:sp>
        <p:nvSpPr>
          <p:cNvPr id="15" name="Diamond 14"/>
          <p:cNvSpPr/>
          <p:nvPr/>
        </p:nvSpPr>
        <p:spPr>
          <a:xfrm>
            <a:off x="3922776" y="2907792"/>
            <a:ext cx="2066543" cy="1133856"/>
          </a:xfrm>
          <a:prstGeom prst="diamond">
            <a:avLst/>
          </a:prstGeom>
          <a:solidFill>
            <a:srgbClr val="F4F7FA"/>
          </a:solidFill>
          <a:ln w="2286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57016" y="3218688"/>
            <a:ext cx="2798063" cy="512064"/>
          </a:xfrm>
          <a:prstGeom prst="rect">
            <a:avLst/>
          </a:prstGeom>
          <a:noFill/>
        </p:spPr>
        <p:txBody>
          <a:bodyPr wrap="square" lIns="0" rIns="0" tIns="0" bIns="0" anchor="ctr">
            <a:spAutoFit/>
          </a:bodyPr>
          <a:lstStyle/>
          <a:p>
            <a:pPr algn="ctr">
              <a:lnSpc>
                <a:spcPct val="102000"/>
              </a:lnSpc>
            </a:pPr>
            <a:r>
              <a:rPr sz="1200" b="1" i="0">
                <a:solidFill>
                  <a:srgbClr val="028090"/>
                </a:solidFill>
                <a:latin typeface="DejaVu Sans"/>
              </a:rPr>
              <a:t>Каким решением</a:t>
            </a:r>
          </a:p>
          <a:p>
            <a:pPr algn="ctr">
              <a:lnSpc>
                <a:spcPct val="102000"/>
              </a:lnSpc>
            </a:pPr>
            <a:r>
              <a:rPr sz="1200" b="1" i="0">
                <a:solidFill>
                  <a:srgbClr val="028090"/>
                </a:solidFill>
                <a:latin typeface="DejaVu Sans"/>
              </a:rPr>
              <a:t>её закрываем</a:t>
            </a:r>
          </a:p>
        </p:txBody>
      </p:sp>
      <p:sp>
        <p:nvSpPr>
          <p:cNvPr id="17" name="TextBox 16"/>
          <p:cNvSpPr txBox="1"/>
          <p:nvPr/>
        </p:nvSpPr>
        <p:spPr>
          <a:xfrm>
            <a:off x="3611880" y="2596896"/>
            <a:ext cx="2688336" cy="274320"/>
          </a:xfrm>
          <a:prstGeom prst="rect">
            <a:avLst/>
          </a:prstGeom>
          <a:noFill/>
        </p:spPr>
        <p:txBody>
          <a:bodyPr wrap="square" lIns="0" rIns="0" tIns="0" bIns="0" anchor="t">
            <a:spAutoFit/>
          </a:bodyPr>
          <a:lstStyle/>
          <a:p>
            <a:pPr algn="ctr">
              <a:lnSpc>
                <a:spcPct val="102000"/>
              </a:lnSpc>
            </a:pPr>
            <a:r>
              <a:rPr sz="1100" b="1" i="0">
                <a:solidFill>
                  <a:srgbClr val="028090"/>
                </a:solidFill>
                <a:latin typeface="DejaVu Sans"/>
              </a:rPr>
              <a:t>расширяем набор решений</a:t>
            </a:r>
          </a:p>
        </p:txBody>
      </p:sp>
      <p:sp>
        <p:nvSpPr>
          <p:cNvPr id="18" name="TextBox 17"/>
          <p:cNvSpPr txBox="1"/>
          <p:nvPr/>
        </p:nvSpPr>
        <p:spPr>
          <a:xfrm>
            <a:off x="3611880" y="4069080"/>
            <a:ext cx="2688336" cy="274320"/>
          </a:xfrm>
          <a:prstGeom prst="rect">
            <a:avLst/>
          </a:prstGeom>
          <a:noFill/>
        </p:spPr>
        <p:txBody>
          <a:bodyPr wrap="square" lIns="0" rIns="0" tIns="0" bIns="0" anchor="t">
            <a:spAutoFit/>
          </a:bodyPr>
          <a:lstStyle/>
          <a:p>
            <a:pPr algn="ctr">
              <a:lnSpc>
                <a:spcPct val="102000"/>
              </a:lnSpc>
            </a:pPr>
            <a:r>
              <a:rPr sz="1100" b="1" i="0">
                <a:solidFill>
                  <a:srgbClr val="21295C"/>
                </a:solidFill>
                <a:latin typeface="DejaVu Sans"/>
              </a:rPr>
              <a:t>сводим к одному решению</a:t>
            </a:r>
          </a:p>
        </p:txBody>
      </p:sp>
      <p:sp>
        <p:nvSpPr>
          <p:cNvPr id="19" name="Right Arrow 18"/>
          <p:cNvSpPr/>
          <p:nvPr/>
        </p:nvSpPr>
        <p:spPr>
          <a:xfrm>
            <a:off x="3310128" y="3355848"/>
            <a:ext cx="457200" cy="237744"/>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446520" y="2560320"/>
            <a:ext cx="5257800" cy="1828800"/>
          </a:xfrm>
          <a:prstGeom prst="roundRect">
            <a:avLst>
              <a:gd name="adj" fmla="val 16666"/>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56832" y="2633472"/>
            <a:ext cx="4846320" cy="237744"/>
          </a:xfrm>
          <a:prstGeom prst="rect">
            <a:avLst/>
          </a:prstGeom>
          <a:noFill/>
        </p:spPr>
        <p:txBody>
          <a:bodyPr wrap="square" lIns="0" rIns="0" tIns="0" bIns="0" anchor="t">
            <a:spAutoFit/>
          </a:bodyPr>
          <a:lstStyle/>
          <a:p>
            <a:pPr algn="l">
              <a:lnSpc>
                <a:spcPct val="115000"/>
              </a:lnSpc>
            </a:pPr>
            <a:r>
              <a:rPr sz="1200" b="1" i="0">
                <a:solidFill>
                  <a:srgbClr val="028090"/>
                </a:solidFill>
                <a:latin typeface="DejaVu Sans"/>
              </a:rPr>
              <a:t>Двойной ромб (Double Diamond) </a:t>
            </a:r>
            <a:r>
              <a:rPr sz="624" baseline="30000" b="0" i="1">
                <a:latin typeface="DejaVu Sans"/>
                <a:cs typeface="DejaVu Sans"/>
                <a:ea typeface="DejaVu Sans"/>
                <a:solidFill>
                  <a:srgbClr val="1C7293"/>
                </a:solidFill>
              </a:rPr>
              <a:t>[1]</a:t>
            </a:r>
          </a:p>
        </p:txBody>
      </p:sp>
      <p:sp>
        <p:nvSpPr>
          <p:cNvPr id="22" name="TextBox 21"/>
          <p:cNvSpPr txBox="1"/>
          <p:nvPr/>
        </p:nvSpPr>
        <p:spPr>
          <a:xfrm>
            <a:off x="6656832" y="2907792"/>
            <a:ext cx="4846320" cy="1408176"/>
          </a:xfrm>
          <a:prstGeom prst="rect">
            <a:avLst/>
          </a:prstGeom>
          <a:noFill/>
        </p:spPr>
        <p:txBody>
          <a:bodyPr wrap="square" lIns="0" rIns="0" tIns="0" bIns="0" anchor="t">
            <a:spAutoFit/>
          </a:bodyPr>
          <a:lstStyle/>
          <a:p>
            <a:pPr algn="l">
              <a:lnSpc>
                <a:spcPct val="116000"/>
              </a:lnSpc>
            </a:pPr>
            <a:r>
              <a:rPr sz="1100" b="1" i="0">
                <a:solidFill>
                  <a:srgbClr val="21295C"/>
                </a:solidFill>
                <a:latin typeface="DejaVu Sans"/>
              </a:rPr>
              <a:t>Ромб — один цикл работы: </a:t>
            </a:r>
            <a:r>
              <a:rPr sz="1100" b="0" i="0">
                <a:solidFill>
                  <a:srgbClr val="21295C"/>
                </a:solidFill>
                <a:latin typeface="DejaVu Sans"/>
              </a:rPr>
              <a:t>расширяем набор вариантов, потом сводим их к одному.</a:t>
            </a:r>
          </a:p>
          <a:p>
            <a:pPr algn="l">
              <a:lnSpc>
                <a:spcPct val="116000"/>
              </a:lnSpc>
              <a:spcBef>
                <a:spcPts val="400"/>
              </a:spcBef>
            </a:pPr>
            <a:r>
              <a:rPr sz="1100" b="1" i="0">
                <a:solidFill>
                  <a:srgbClr val="21295C"/>
                </a:solidFill>
                <a:latin typeface="DejaVu Sans"/>
              </a:rPr>
              <a:t>Ромбов два, потому что выбирают дважды: </a:t>
            </a:r>
            <a:r>
              <a:rPr sz="1100" b="0" i="0">
                <a:solidFill>
                  <a:srgbClr val="21295C"/>
                </a:solidFill>
                <a:latin typeface="DejaVu Sans"/>
              </a:rPr>
              <a:t>сначала задачу, и только потом — решение.</a:t>
            </a:r>
          </a:p>
          <a:p>
            <a:pPr algn="l">
              <a:lnSpc>
                <a:spcPct val="116000"/>
              </a:lnSpc>
              <a:spcBef>
                <a:spcPts val="400"/>
              </a:spcBef>
            </a:pPr>
            <a:r>
              <a:rPr sz="1100" b="1" i="0">
                <a:solidFill>
                  <a:srgbClr val="21295C"/>
                </a:solidFill>
                <a:latin typeface="DejaVu Sans"/>
              </a:rPr>
              <a:t>Это не вторая петля вместо нашей, </a:t>
            </a:r>
            <a:r>
              <a:rPr sz="1100" b="0" i="0">
                <a:solidFill>
                  <a:srgbClr val="21295C"/>
                </a:solidFill>
                <a:latin typeface="DejaVu Sans"/>
              </a:rPr>
              <a:t>а увеличительное стекло на её шаге 2 «Дизайн».</a:t>
            </a:r>
          </a:p>
        </p:txBody>
      </p:sp>
      <p:sp>
        <p:nvSpPr>
          <p:cNvPr id="23" name="Rounded Rectangle 22"/>
          <p:cNvSpPr/>
          <p:nvPr/>
        </p:nvSpPr>
        <p:spPr>
          <a:xfrm>
            <a:off x="502920" y="4517136"/>
            <a:ext cx="11201400" cy="786384"/>
          </a:xfrm>
          <a:prstGeom prst="roundRect">
            <a:avLst>
              <a:gd name="adj" fmla="val 22000"/>
            </a:avLst>
          </a:prstGeom>
          <a:solidFill>
            <a:srgbClr val="F4F7FA"/>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list-checks-mid.png"/>
          <p:cNvPicPr>
            <a:picLocks noChangeAspect="1"/>
          </p:cNvPicPr>
          <p:nvPr/>
        </p:nvPicPr>
        <p:blipFill>
          <a:blip r:embed="rId4"/>
          <a:stretch>
            <a:fillRect/>
          </a:stretch>
        </p:blipFill>
        <p:spPr>
          <a:xfrm>
            <a:off x="713232" y="4754880"/>
            <a:ext cx="310896" cy="310896"/>
          </a:xfrm>
          <a:prstGeom prst="rect">
            <a:avLst/>
          </a:prstGeom>
        </p:spPr>
      </p:pic>
      <p:sp>
        <p:nvSpPr>
          <p:cNvPr id="25" name="TextBox 24"/>
          <p:cNvSpPr txBox="1"/>
          <p:nvPr/>
        </p:nvSpPr>
        <p:spPr>
          <a:xfrm>
            <a:off x="1133856" y="4590288"/>
            <a:ext cx="10351008" cy="640080"/>
          </a:xfrm>
          <a:prstGeom prst="rect">
            <a:avLst/>
          </a:prstGeom>
          <a:noFill/>
        </p:spPr>
        <p:txBody>
          <a:bodyPr wrap="square" lIns="0" rIns="0" tIns="0" bIns="0" anchor="ctr">
            <a:spAutoFit/>
          </a:bodyPr>
          <a:lstStyle/>
          <a:p>
            <a:pPr algn="l">
              <a:lnSpc>
                <a:spcPct val="116000"/>
              </a:lnSpc>
            </a:pPr>
            <a:r>
              <a:rPr sz="1150" b="1" i="0">
                <a:solidFill>
                  <a:srgbClr val="065A82"/>
                </a:solidFill>
                <a:latin typeface="DejaVu Sans"/>
              </a:rPr>
              <a:t>Десять эвристик Якоба Нильсена (1994) </a:t>
            </a:r>
            <a:r>
              <a:rPr sz="1150" b="0" i="0">
                <a:solidFill>
                  <a:srgbClr val="21295C"/>
                </a:solidFill>
                <a:latin typeface="DejaVu Sans"/>
              </a:rPr>
              <a:t>— короткий список правил удобства: знающий человек за полчаса проходит по нему готовый вариант и отвечает на вопрос, недоступный машине, — понятно ли это живому человеку. Не стадия процесса, а проверка поверх уже сведённого варианта. </a:t>
            </a:r>
            <a:r>
              <a:rPr sz="598" baseline="30000" b="0" i="1">
                <a:latin typeface="DejaVu Sans"/>
                <a:cs typeface="DejaVu Sans"/>
                <a:ea typeface="DejaVu Sans"/>
                <a:solidFill>
                  <a:srgbClr val="1C7293"/>
                </a:solidFill>
              </a:rPr>
              <a:t>[2]</a:t>
            </a:r>
          </a:p>
        </p:txBody>
      </p:sp>
      <p:sp>
        <p:nvSpPr>
          <p:cNvPr id="26" name="Rounded Rectangle 25"/>
          <p:cNvSpPr/>
          <p:nvPr/>
        </p:nvSpPr>
        <p:spPr>
          <a:xfrm>
            <a:off x="502920" y="5413248"/>
            <a:ext cx="11201400" cy="804672"/>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2376" y="5468112"/>
            <a:ext cx="10762488" cy="694944"/>
          </a:xfrm>
          <a:prstGeom prst="rect">
            <a:avLst/>
          </a:prstGeom>
          <a:noFill/>
        </p:spPr>
        <p:txBody>
          <a:bodyPr wrap="square" lIns="0" rIns="0" tIns="0" bIns="0" anchor="ctr">
            <a:spAutoFit/>
          </a:bodyPr>
          <a:lstStyle/>
          <a:p>
            <a:pPr algn="l">
              <a:lnSpc>
                <a:spcPct val="120000"/>
              </a:lnSpc>
            </a:pPr>
            <a:r>
              <a:rPr sz="1300" b="1" i="0">
                <a:solidFill>
                  <a:srgbClr val="21295C"/>
                </a:solidFill>
                <a:latin typeface="DejaVu Sans"/>
              </a:rPr>
              <a:t>Частая ошибка инженера — сойтись на решении, не проверив саму задачу: перепрыгнуть первый ромб. Тот же образ действия, что «сразу писать код», минуя вопрос, ту ли задачу мы вообще решаем.</a:t>
            </a:r>
          </a:p>
        </p:txBody>
      </p:sp>
      <p:sp>
        <p:nvSpPr>
          <p:cNvPr id="28" name="TextBox 27"/>
          <p:cNvSpPr txBox="1"/>
          <p:nvPr/>
        </p:nvSpPr>
        <p:spPr>
          <a:xfrm>
            <a:off x="502920" y="6455664"/>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5"/>
              </a:rPr>
              <a:t>Совет по дизайну Великобритании — двойной ромб</a:t>
            </a:r>
            <a:r>
              <a:rPr sz="850" i="1">
                <a:solidFill>
                  <a:srgbClr val="1C7293"/>
                </a:solidFill>
                <a:latin typeface="DejaVu Sans"/>
              </a:rPr>
              <a:t>   ·   </a:t>
            </a:r>
            <a:r>
              <a:rPr sz="850" b="1" i="1">
                <a:solidFill>
                  <a:srgbClr val="065A82"/>
                </a:solidFill>
                <a:latin typeface="DejaVu Sans"/>
              </a:rPr>
              <a:t>[2] </a:t>
            </a:r>
            <a:r>
              <a:rPr sz="850" i="1">
                <a:solidFill>
                  <a:srgbClr val="1C7293"/>
                </a:solidFill>
                <a:latin typeface="DejaVu Sans"/>
                <a:hlinkClick r:id="rId6"/>
              </a:rPr>
              <a:t>Якоб Нильсен — десять эвристик удобства</a:t>
            </a:r>
          </a:p>
        </p:txBody>
      </p:sp>
      <p:sp>
        <p:nvSpPr>
          <p:cNvPr id="29" name="TextBox 28"/>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15 / 54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18872"/>
            <a:ext cx="11201400" cy="731520"/>
          </a:xfrm>
          <a:prstGeom prst="rect">
            <a:avLst/>
          </a:prstGeom>
          <a:noFill/>
        </p:spPr>
        <p:txBody>
          <a:bodyPr wrap="square" lIns="0" rIns="0" tIns="0" bIns="0" anchor="t">
            <a:spAutoFit/>
          </a:bodyPr>
          <a:lstStyle/>
          <a:p>
            <a:pPr algn="l">
              <a:lnSpc>
                <a:spcPct val="110000"/>
              </a:lnSpc>
            </a:pPr>
            <a:r>
              <a:rPr sz="2200" b="1" i="0">
                <a:solidFill>
                  <a:srgbClr val="21295C"/>
                </a:solidFill>
                <a:latin typeface="DejaVu Sans"/>
              </a:rPr>
              <a:t>Генераторы интерфейсов: машина даёт варианты, выбирает и доводит человек</a:t>
            </a:r>
          </a:p>
        </p:txBody>
      </p:sp>
      <p:sp>
        <p:nvSpPr>
          <p:cNvPr id="3" name="Rounded Rectangle 2"/>
          <p:cNvSpPr/>
          <p:nvPr/>
        </p:nvSpPr>
        <p:spPr>
          <a:xfrm>
            <a:off x="502920" y="932688"/>
            <a:ext cx="5715000" cy="2377440"/>
          </a:xfrm>
          <a:prstGeom prst="roundRect">
            <a:avLst>
              <a:gd name="adj" fmla="val 12820"/>
            </a:avLst>
          </a:prstGeom>
          <a:solidFill>
            <a:srgbClr val="F4F7FA"/>
          </a:solidFill>
          <a:ln w="1905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969264"/>
            <a:ext cx="5303520" cy="457200"/>
          </a:xfrm>
          <a:prstGeom prst="rect">
            <a:avLst/>
          </a:prstGeom>
          <a:noFill/>
        </p:spPr>
        <p:txBody>
          <a:bodyPr wrap="square" lIns="0" rIns="0" tIns="0" bIns="0" anchor="t">
            <a:spAutoFit/>
          </a:bodyPr>
          <a:lstStyle/>
          <a:p>
            <a:pPr algn="l">
              <a:lnSpc>
                <a:spcPct val="104000"/>
              </a:lnSpc>
            </a:pPr>
            <a:r>
              <a:rPr sz="1250" b="1" i="0">
                <a:solidFill>
                  <a:srgbClr val="065A82"/>
                </a:solidFill>
                <a:latin typeface="DejaVu Sans"/>
              </a:rPr>
              <a:t>Что машина делает сама: четыре непохожие раскладки одного экрана за минуты</a:t>
            </a:r>
          </a:p>
        </p:txBody>
      </p:sp>
      <p:sp>
        <p:nvSpPr>
          <p:cNvPr id="5" name="Rounded Rectangle 4"/>
          <p:cNvSpPr/>
          <p:nvPr/>
        </p:nvSpPr>
        <p:spPr>
          <a:xfrm>
            <a:off x="713232" y="1463040"/>
            <a:ext cx="1243584" cy="768096"/>
          </a:xfrm>
          <a:prstGeom prst="roundRect">
            <a:avLst>
              <a:gd name="adj" fmla="val 10000"/>
            </a:avLst>
          </a:prstGeom>
          <a:solidFill>
            <a:srgbClr val="FFFFFF"/>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13816" y="1563624"/>
            <a:ext cx="1042416" cy="68580"/>
          </a:xfrm>
          <a:prstGeom prst="roundRect">
            <a:avLst>
              <a:gd name="adj" fmla="val 3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3816" y="1677924"/>
            <a:ext cx="1042416" cy="301751"/>
          </a:xfrm>
          <a:prstGeom prst="rect">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13816" y="2061972"/>
            <a:ext cx="573328" cy="68580"/>
          </a:xfrm>
          <a:prstGeom prst="roundRect">
            <a:avLst>
              <a:gd name="adj" fmla="val 30000"/>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2249424"/>
            <a:ext cx="1243584" cy="219456"/>
          </a:xfrm>
          <a:prstGeom prst="rect">
            <a:avLst/>
          </a:prstGeom>
          <a:noFill/>
        </p:spPr>
        <p:txBody>
          <a:bodyPr wrap="square" lIns="0" rIns="0" tIns="0" bIns="0" anchor="t">
            <a:spAutoFit/>
          </a:bodyPr>
          <a:lstStyle/>
          <a:p>
            <a:pPr algn="ctr">
              <a:lnSpc>
                <a:spcPct val="115000"/>
              </a:lnSpc>
            </a:pPr>
            <a:r>
              <a:rPr sz="950" b="0" i="0">
                <a:solidFill>
                  <a:srgbClr val="5B6678"/>
                </a:solidFill>
                <a:latin typeface="DejaVu Sans"/>
              </a:rPr>
              <a:t>вариант 1</a:t>
            </a:r>
          </a:p>
        </p:txBody>
      </p:sp>
      <p:sp>
        <p:nvSpPr>
          <p:cNvPr id="10" name="Rounded Rectangle 9"/>
          <p:cNvSpPr/>
          <p:nvPr/>
        </p:nvSpPr>
        <p:spPr>
          <a:xfrm>
            <a:off x="2039112" y="1463040"/>
            <a:ext cx="1243584" cy="768096"/>
          </a:xfrm>
          <a:prstGeom prst="roundRect">
            <a:avLst>
              <a:gd name="adj" fmla="val 10000"/>
            </a:avLst>
          </a:prstGeom>
          <a:solidFill>
            <a:srgbClr val="FFFFFF"/>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139696" y="1563624"/>
            <a:ext cx="1042416" cy="68580"/>
          </a:xfrm>
          <a:prstGeom prst="roundRect">
            <a:avLst>
              <a:gd name="adj" fmla="val 3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139696" y="1687068"/>
            <a:ext cx="1042416" cy="68580"/>
          </a:xfrm>
          <a:prstGeom prst="roundRect">
            <a:avLst>
              <a:gd name="adj" fmla="val 30000"/>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139696" y="1792224"/>
            <a:ext cx="896477" cy="68580"/>
          </a:xfrm>
          <a:prstGeom prst="roundRect">
            <a:avLst>
              <a:gd name="adj" fmla="val 30000"/>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139696" y="1897380"/>
            <a:ext cx="750539" cy="68580"/>
          </a:xfrm>
          <a:prstGeom prst="roundRect">
            <a:avLst>
              <a:gd name="adj" fmla="val 30000"/>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039112" y="2249424"/>
            <a:ext cx="1243584" cy="219456"/>
          </a:xfrm>
          <a:prstGeom prst="rect">
            <a:avLst/>
          </a:prstGeom>
          <a:noFill/>
        </p:spPr>
        <p:txBody>
          <a:bodyPr wrap="square" lIns="0" rIns="0" tIns="0" bIns="0" anchor="t">
            <a:spAutoFit/>
          </a:bodyPr>
          <a:lstStyle/>
          <a:p>
            <a:pPr algn="ctr">
              <a:lnSpc>
                <a:spcPct val="115000"/>
              </a:lnSpc>
            </a:pPr>
            <a:r>
              <a:rPr sz="950" b="0" i="0">
                <a:solidFill>
                  <a:srgbClr val="5B6678"/>
                </a:solidFill>
                <a:latin typeface="DejaVu Sans"/>
              </a:rPr>
              <a:t>вариант 2</a:t>
            </a:r>
          </a:p>
        </p:txBody>
      </p:sp>
      <p:sp>
        <p:nvSpPr>
          <p:cNvPr id="16" name="Rounded Rectangle 15"/>
          <p:cNvSpPr/>
          <p:nvPr/>
        </p:nvSpPr>
        <p:spPr>
          <a:xfrm>
            <a:off x="3364991" y="1463040"/>
            <a:ext cx="1243584" cy="768096"/>
          </a:xfrm>
          <a:prstGeom prst="roundRect">
            <a:avLst>
              <a:gd name="adj" fmla="val 10000"/>
            </a:avLst>
          </a:prstGeom>
          <a:solidFill>
            <a:srgbClr val="FFFFFF"/>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465575" y="1563624"/>
            <a:ext cx="312724" cy="566928"/>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840845" y="1563624"/>
            <a:ext cx="667146" cy="249448"/>
          </a:xfrm>
          <a:prstGeom prst="rect">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840845" y="1858426"/>
            <a:ext cx="667146" cy="272125"/>
          </a:xfrm>
          <a:prstGeom prst="rect">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364991" y="2249424"/>
            <a:ext cx="1243584" cy="219456"/>
          </a:xfrm>
          <a:prstGeom prst="rect">
            <a:avLst/>
          </a:prstGeom>
          <a:noFill/>
        </p:spPr>
        <p:txBody>
          <a:bodyPr wrap="square" lIns="0" rIns="0" tIns="0" bIns="0" anchor="t">
            <a:spAutoFit/>
          </a:bodyPr>
          <a:lstStyle/>
          <a:p>
            <a:pPr algn="ctr">
              <a:lnSpc>
                <a:spcPct val="115000"/>
              </a:lnSpc>
            </a:pPr>
            <a:r>
              <a:rPr sz="950" b="0" i="0">
                <a:solidFill>
                  <a:srgbClr val="5B6678"/>
                </a:solidFill>
                <a:latin typeface="DejaVu Sans"/>
              </a:rPr>
              <a:t>вариант 3</a:t>
            </a:r>
          </a:p>
        </p:txBody>
      </p:sp>
      <p:sp>
        <p:nvSpPr>
          <p:cNvPr id="21" name="Rounded Rectangle 20"/>
          <p:cNvSpPr/>
          <p:nvPr/>
        </p:nvSpPr>
        <p:spPr>
          <a:xfrm>
            <a:off x="4690872" y="1463040"/>
            <a:ext cx="1243584" cy="768096"/>
          </a:xfrm>
          <a:prstGeom prst="roundRect">
            <a:avLst>
              <a:gd name="adj" fmla="val 10000"/>
            </a:avLst>
          </a:prstGeom>
          <a:solidFill>
            <a:srgbClr val="FFFFFF"/>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791456" y="1563624"/>
            <a:ext cx="479511" cy="260786"/>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354360" y="1563624"/>
            <a:ext cx="479511" cy="260786"/>
          </a:xfrm>
          <a:prstGeom prst="rect">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791456" y="1869765"/>
            <a:ext cx="479511" cy="260786"/>
          </a:xfrm>
          <a:prstGeom prst="rect">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354360" y="1869765"/>
            <a:ext cx="479511" cy="260786"/>
          </a:xfrm>
          <a:prstGeom prst="rect">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90872" y="2249424"/>
            <a:ext cx="1243584" cy="219456"/>
          </a:xfrm>
          <a:prstGeom prst="rect">
            <a:avLst/>
          </a:prstGeom>
          <a:noFill/>
        </p:spPr>
        <p:txBody>
          <a:bodyPr wrap="square" lIns="0" rIns="0" tIns="0" bIns="0" anchor="t">
            <a:spAutoFit/>
          </a:bodyPr>
          <a:lstStyle/>
          <a:p>
            <a:pPr algn="ctr">
              <a:lnSpc>
                <a:spcPct val="115000"/>
              </a:lnSpc>
            </a:pPr>
            <a:r>
              <a:rPr sz="950" b="0" i="0">
                <a:solidFill>
                  <a:srgbClr val="5B6678"/>
                </a:solidFill>
                <a:latin typeface="DejaVu Sans"/>
              </a:rPr>
              <a:t>вариант 4</a:t>
            </a:r>
          </a:p>
        </p:txBody>
      </p:sp>
      <p:sp>
        <p:nvSpPr>
          <p:cNvPr id="27" name="Rounded Rectangle 26"/>
          <p:cNvSpPr/>
          <p:nvPr/>
        </p:nvSpPr>
        <p:spPr>
          <a:xfrm>
            <a:off x="713232" y="2523744"/>
            <a:ext cx="5285232" cy="731520"/>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77824" y="2542032"/>
            <a:ext cx="4956048" cy="694944"/>
          </a:xfrm>
          <a:prstGeom prst="rect">
            <a:avLst/>
          </a:prstGeom>
          <a:noFill/>
        </p:spPr>
        <p:txBody>
          <a:bodyPr wrap="square" lIns="0" rIns="0" tIns="0" bIns="0" anchor="ctr">
            <a:spAutoFit/>
          </a:bodyPr>
          <a:lstStyle/>
          <a:p>
            <a:pPr algn="l">
              <a:lnSpc>
                <a:spcPct val="116000"/>
              </a:lnSpc>
            </a:pPr>
            <a:r>
              <a:rPr sz="1100" b="1" i="0">
                <a:solidFill>
                  <a:srgbClr val="21295C"/>
                </a:solidFill>
                <a:latin typeface="DejaVu Sans"/>
              </a:rPr>
              <a:t>Дальше человек: выбирает одно направление, отбрасывает остальные и правит то, что модель поняла неверно — отступы, порядок важности, редкие случаи.</a:t>
            </a:r>
          </a:p>
        </p:txBody>
      </p:sp>
      <p:sp>
        <p:nvSpPr>
          <p:cNvPr id="29" name="Rounded Rectangle 28"/>
          <p:cNvSpPr/>
          <p:nvPr/>
        </p:nvSpPr>
        <p:spPr>
          <a:xfrm>
            <a:off x="6446520" y="932688"/>
            <a:ext cx="5257800" cy="2377440"/>
          </a:xfrm>
          <a:prstGeom prst="roundRect">
            <a:avLst>
              <a:gd name="adj" fmla="val 12820"/>
            </a:avLst>
          </a:prstGeom>
          <a:solidFill>
            <a:srgbClr val="F4F7FA"/>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56832" y="1005840"/>
            <a:ext cx="4846320" cy="256032"/>
          </a:xfrm>
          <a:prstGeom prst="rect">
            <a:avLst/>
          </a:prstGeom>
          <a:noFill/>
        </p:spPr>
        <p:txBody>
          <a:bodyPr wrap="square" lIns="0" rIns="0" tIns="0" bIns="0" anchor="t">
            <a:spAutoFit/>
          </a:bodyPr>
          <a:lstStyle/>
          <a:p>
            <a:pPr algn="l">
              <a:lnSpc>
                <a:spcPct val="115000"/>
              </a:lnSpc>
            </a:pPr>
            <a:r>
              <a:rPr sz="1250" b="1" i="0">
                <a:solidFill>
                  <a:srgbClr val="028090"/>
                </a:solidFill>
                <a:latin typeface="DejaVu Sans"/>
              </a:rPr>
              <a:t>Чем это делают в 2026 году </a:t>
            </a:r>
            <a:r>
              <a:rPr sz="650" baseline="30000" b="0" i="1">
                <a:latin typeface="DejaVu Sans"/>
                <a:cs typeface="DejaVu Sans"/>
                <a:ea typeface="DejaVu Sans"/>
                <a:solidFill>
                  <a:srgbClr val="1C7293"/>
                </a:solidFill>
              </a:rPr>
              <a:t>[1]</a:t>
            </a:r>
          </a:p>
        </p:txBody>
      </p:sp>
      <p:sp>
        <p:nvSpPr>
          <p:cNvPr id="31" name="TextBox 30"/>
          <p:cNvSpPr txBox="1"/>
          <p:nvPr/>
        </p:nvSpPr>
        <p:spPr>
          <a:xfrm>
            <a:off x="6656832" y="1316736"/>
            <a:ext cx="4846320" cy="1883664"/>
          </a:xfrm>
          <a:prstGeom prst="rect">
            <a:avLst/>
          </a:prstGeom>
          <a:noFill/>
        </p:spPr>
        <p:txBody>
          <a:bodyPr wrap="square" lIns="0" rIns="0" tIns="0" bIns="0" anchor="t">
            <a:spAutoFit/>
          </a:bodyPr>
          <a:lstStyle/>
          <a:p>
            <a:pPr algn="l">
              <a:lnSpc>
                <a:spcPct val="114000"/>
              </a:lnSpc>
            </a:pPr>
            <a:r>
              <a:rPr sz="1050" b="1" i="0">
                <a:solidFill>
                  <a:srgbClr val="21295C"/>
                </a:solidFill>
                <a:latin typeface="DejaVu Sans"/>
              </a:rPr>
              <a:t>Figma Make</a:t>
            </a:r>
            <a:r>
              <a:rPr sz="1050" b="0" i="0">
                <a:solidFill>
                  <a:srgbClr val="21295C"/>
                </a:solidFill>
                <a:latin typeface="DejaVu Sans"/>
              </a:rPr>
              <a:t> — собирает экраны внутри редактора макетов и берёт собственные детали команды, а не общие заготовки.</a:t>
            </a:r>
          </a:p>
          <a:p>
            <a:pPr algn="l">
              <a:lnSpc>
                <a:spcPct val="114000"/>
              </a:lnSpc>
              <a:spcBef>
                <a:spcPts val="300"/>
              </a:spcBef>
            </a:pPr>
            <a:r>
              <a:rPr sz="1050" b="1" i="0">
                <a:solidFill>
                  <a:srgbClr val="21295C"/>
                </a:solidFill>
                <a:latin typeface="DejaVu Sans"/>
              </a:rPr>
              <a:t>Google Stitch</a:t>
            </a:r>
            <a:r>
              <a:rPr sz="1050" b="0" i="0">
                <a:solidFill>
                  <a:srgbClr val="21295C"/>
                </a:solidFill>
                <a:latin typeface="DejaVu Sans"/>
              </a:rPr>
              <a:t> — из текста и набросков в экран; бесплатный, с марта 2026 умеет переносить макеты из Figma и отдавать код </a:t>
            </a:r>
            <a:r>
              <a:rPr sz="546" baseline="30000" b="0" i="1">
                <a:latin typeface="DejaVu Sans"/>
                <a:cs typeface="DejaVu Sans"/>
                <a:ea typeface="DejaVu Sans"/>
                <a:solidFill>
                  <a:srgbClr val="1C7293"/>
                </a:solidFill>
              </a:rPr>
              <a:t>[2]</a:t>
            </a:r>
            <a:r>
              <a:rPr sz="1050" b="0" i="0">
                <a:latin typeface="DejaVu Sans"/>
                <a:cs typeface="DejaVu Sans"/>
                <a:ea typeface="DejaVu Sans"/>
                <a:solidFill>
                  <a:srgbClr val="21295C"/>
                </a:solidFill>
              </a:rPr>
              <a:t>.</a:t>
            </a:r>
          </a:p>
          <a:p>
            <a:pPr algn="l">
              <a:lnSpc>
                <a:spcPct val="114000"/>
              </a:lnSpc>
              <a:spcBef>
                <a:spcPts val="300"/>
              </a:spcBef>
            </a:pPr>
            <a:r>
              <a:rPr sz="1050" b="1" i="0">
                <a:solidFill>
                  <a:srgbClr val="21295C"/>
                </a:solidFill>
                <a:latin typeface="DejaVu Sans"/>
              </a:rPr>
              <a:t>v0</a:t>
            </a:r>
            <a:r>
              <a:rPr sz="1050" b="0" i="0">
                <a:solidFill>
                  <a:srgbClr val="21295C"/>
                </a:solidFill>
                <a:latin typeface="DejaVu Sans"/>
              </a:rPr>
              <a:t> — из описания сразу в готовый код интерфейса.</a:t>
            </a:r>
          </a:p>
          <a:p>
            <a:pPr algn="l">
              <a:lnSpc>
                <a:spcPct val="114000"/>
              </a:lnSpc>
              <a:spcBef>
                <a:spcPts val="300"/>
              </a:spcBef>
            </a:pPr>
            <a:r>
              <a:rPr sz="1050" b="1" i="0">
                <a:solidFill>
                  <a:srgbClr val="21295C"/>
                </a:solidFill>
                <a:latin typeface="DejaVu Sans"/>
              </a:rPr>
              <a:t>Lovable, bolt.new</a:t>
            </a:r>
            <a:r>
              <a:rPr sz="1050" b="0" i="0">
                <a:solidFill>
                  <a:srgbClr val="21295C"/>
                </a:solidFill>
                <a:latin typeface="DejaVu Sans"/>
              </a:rPr>
              <a:t> — из описания сразу в работающее приложение целиком.</a:t>
            </a:r>
          </a:p>
          <a:p>
            <a:pPr algn="l">
              <a:lnSpc>
                <a:spcPct val="114000"/>
              </a:lnSpc>
              <a:spcBef>
                <a:spcPts val="300"/>
              </a:spcBef>
            </a:pPr>
            <a:r>
              <a:rPr sz="1050" b="1" i="0">
                <a:solidFill>
                  <a:srgbClr val="21295C"/>
                </a:solidFill>
                <a:latin typeface="DejaVu Sans"/>
              </a:rPr>
              <a:t>Magic Patterns</a:t>
            </a:r>
            <a:r>
              <a:rPr sz="1050" b="0" i="0">
                <a:solidFill>
                  <a:srgbClr val="21295C"/>
                </a:solidFill>
                <a:latin typeface="DejaVu Sans"/>
              </a:rPr>
              <a:t> — быстрый перебор вариантов одного экрана.</a:t>
            </a:r>
          </a:p>
        </p:txBody>
      </p:sp>
      <p:sp>
        <p:nvSpPr>
          <p:cNvPr id="32" name="Rounded Rectangle 31"/>
          <p:cNvSpPr/>
          <p:nvPr/>
        </p:nvSpPr>
        <p:spPr>
          <a:xfrm>
            <a:off x="502920" y="3383280"/>
            <a:ext cx="11201400" cy="1993392"/>
          </a:xfrm>
          <a:prstGeom prst="roundRect">
            <a:avLst>
              <a:gd name="adj" fmla="val 15290"/>
            </a:avLst>
          </a:prstGeom>
          <a:solidFill>
            <a:srgbClr val="FFFFFF"/>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3456432"/>
            <a:ext cx="10744200" cy="256032"/>
          </a:xfrm>
          <a:prstGeom prst="rect">
            <a:avLst/>
          </a:prstGeom>
          <a:noFill/>
        </p:spPr>
        <p:txBody>
          <a:bodyPr wrap="square" lIns="0" rIns="0" tIns="0" bIns="0" anchor="t">
            <a:spAutoFit/>
          </a:bodyPr>
          <a:lstStyle/>
          <a:p>
            <a:pPr algn="l">
              <a:lnSpc>
                <a:spcPct val="115000"/>
              </a:lnSpc>
            </a:pPr>
            <a:r>
              <a:rPr sz="1250" b="1" i="0">
                <a:solidFill>
                  <a:srgbClr val="21295C"/>
                </a:solidFill>
                <a:latin typeface="DejaVu Sans"/>
              </a:rPr>
              <a:t>С генератором и без него — замер, а не обещание </a:t>
            </a:r>
            <a:r>
              <a:rPr sz="650" baseline="30000" b="0" i="1">
                <a:latin typeface="DejaVu Sans"/>
                <a:cs typeface="DejaVu Sans"/>
                <a:ea typeface="DejaVu Sans"/>
                <a:solidFill>
                  <a:srgbClr val="1C7293"/>
                </a:solidFill>
              </a:rPr>
              <a:t>[3]</a:t>
            </a:r>
          </a:p>
        </p:txBody>
      </p:sp>
      <p:sp>
        <p:nvSpPr>
          <p:cNvPr id="34" name="TextBox 33"/>
          <p:cNvSpPr txBox="1"/>
          <p:nvPr/>
        </p:nvSpPr>
        <p:spPr>
          <a:xfrm>
            <a:off x="731520" y="3767328"/>
            <a:ext cx="5074920" cy="822960"/>
          </a:xfrm>
          <a:prstGeom prst="rect">
            <a:avLst/>
          </a:prstGeom>
          <a:noFill/>
        </p:spPr>
        <p:txBody>
          <a:bodyPr wrap="square" lIns="0" rIns="0" tIns="0" bIns="0" anchor="t">
            <a:spAutoFit/>
          </a:bodyPr>
          <a:lstStyle/>
          <a:p>
            <a:pPr algn="l">
              <a:lnSpc>
                <a:spcPct val="116000"/>
              </a:lnSpc>
            </a:pPr>
            <a:r>
              <a:rPr sz="1100" b="1" i="0">
                <a:solidFill>
                  <a:srgbClr val="065A82"/>
                </a:solidFill>
                <a:latin typeface="DejaVu Sans"/>
              </a:rPr>
              <a:t>Как мерили. </a:t>
            </a:r>
            <a:r>
              <a:rPr sz="1100" b="0" i="0">
                <a:solidFill>
                  <a:srgbClr val="21295C"/>
                </a:solidFill>
                <a:latin typeface="DejaVu Sans"/>
              </a:rPr>
              <a:t>Сто участников — пятьдесят дизайнеров и пятьдесят продуктовых руководителей — случайно поделены на две группы: одной дали генератор, второй не дали. Три одинаковые задачи на правку интерфейса, сентябрь 2026 года.</a:t>
            </a:r>
          </a:p>
        </p:txBody>
      </p:sp>
      <p:sp>
        <p:nvSpPr>
          <p:cNvPr id="35" name="TextBox 34"/>
          <p:cNvSpPr txBox="1"/>
          <p:nvPr/>
        </p:nvSpPr>
        <p:spPr>
          <a:xfrm>
            <a:off x="6382512" y="3767328"/>
            <a:ext cx="5093208" cy="822960"/>
          </a:xfrm>
          <a:prstGeom prst="rect">
            <a:avLst/>
          </a:prstGeom>
          <a:noFill/>
        </p:spPr>
        <p:txBody>
          <a:bodyPr wrap="square" lIns="0" rIns="0" tIns="0" bIns="0" anchor="t">
            <a:spAutoFit/>
          </a:bodyPr>
          <a:lstStyle/>
          <a:p>
            <a:pPr algn="l">
              <a:lnSpc>
                <a:spcPct val="116000"/>
              </a:lnSpc>
            </a:pPr>
            <a:r>
              <a:rPr sz="1100" b="1" i="0">
                <a:solidFill>
                  <a:srgbClr val="028090"/>
                </a:solidFill>
                <a:latin typeface="DejaVu Sans"/>
              </a:rPr>
              <a:t>Что вышло. </a:t>
            </a:r>
            <a:r>
              <a:rPr sz="1100" b="0" i="0">
                <a:solidFill>
                  <a:srgbClr val="21295C"/>
                </a:solidFill>
                <a:latin typeface="DejaVu Sans"/>
              </a:rPr>
              <a:t>Общее время сократилось примерно на 20%. У продуктовых руководителей выигрыш 35%. У профессиональных дизайнеров — только на самой сложной из трёх задач (26%), а общий эффект у них пограничный (17%).</a:t>
            </a:r>
          </a:p>
        </p:txBody>
      </p:sp>
      <p:sp>
        <p:nvSpPr>
          <p:cNvPr id="36" name="TextBox 35"/>
          <p:cNvSpPr txBox="1"/>
          <p:nvPr/>
        </p:nvSpPr>
        <p:spPr>
          <a:xfrm>
            <a:off x="731520" y="4645152"/>
            <a:ext cx="10744200" cy="640080"/>
          </a:xfrm>
          <a:prstGeom prst="rect">
            <a:avLst/>
          </a:prstGeom>
          <a:noFill/>
        </p:spPr>
        <p:txBody>
          <a:bodyPr wrap="square" lIns="0" rIns="0" tIns="0" bIns="0" anchor="t">
            <a:spAutoFit/>
          </a:bodyPr>
          <a:lstStyle/>
          <a:p>
            <a:pPr algn="l">
              <a:lnSpc>
                <a:spcPct val="116000"/>
              </a:lnSpc>
            </a:pPr>
            <a:r>
              <a:rPr sz="1100" b="0" i="1">
                <a:solidFill>
                  <a:srgbClr val="5B6678"/>
                </a:solidFill>
                <a:latin typeface="DejaVu Sans"/>
              </a:rPr>
              <a:t>Обещание «день ручного черчения превращается в минуты» замер не подтверждает: выигрыш реален, но измеряется десятками процентов и зависит от того, кто работает и насколько сложна задача. Опыт поставила сама Figma на собственном инструменте — держите поправку в уме.</a:t>
            </a:r>
          </a:p>
        </p:txBody>
      </p:sp>
      <p:sp>
        <p:nvSpPr>
          <p:cNvPr id="37" name="Rounded Rectangle 36"/>
          <p:cNvSpPr/>
          <p:nvPr/>
        </p:nvSpPr>
        <p:spPr>
          <a:xfrm>
            <a:off x="502920" y="5468112"/>
            <a:ext cx="11201400" cy="786384"/>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22376" y="5522976"/>
            <a:ext cx="10762488" cy="676656"/>
          </a:xfrm>
          <a:prstGeom prst="rect">
            <a:avLst/>
          </a:prstGeom>
          <a:noFill/>
        </p:spPr>
        <p:txBody>
          <a:bodyPr wrap="square" lIns="0" rIns="0" tIns="0" bIns="0" anchor="ctr">
            <a:spAutoFit/>
          </a:bodyPr>
          <a:lstStyle/>
          <a:p>
            <a:pPr algn="l">
              <a:lnSpc>
                <a:spcPct val="120000"/>
              </a:lnSpc>
            </a:pPr>
            <a:r>
              <a:rPr sz="1300" b="1" i="0">
                <a:solidFill>
                  <a:srgbClr val="21295C"/>
                </a:solidFill>
                <a:latin typeface="DejaVu Sans"/>
              </a:rPr>
              <a:t>Машина расширяет набор вариантов. Свести их к одному — решение о конкретном случае: о ваших пользователях, ваших ограничениях и вашем контексте, которых в обучающих данных нет. Поэтому выбирает и отвечает за выбор человек.</a:t>
            </a:r>
          </a:p>
        </p:txBody>
      </p:sp>
      <p:sp>
        <p:nvSpPr>
          <p:cNvPr id="39" name="TextBox 38"/>
          <p:cNvSpPr txBox="1"/>
          <p:nvPr/>
        </p:nvSpPr>
        <p:spPr>
          <a:xfrm>
            <a:off x="502920" y="6419088"/>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2"/>
              </a:rPr>
              <a:t>Figma — обзор инструментов дизайна с ИИ, 2026</a:t>
            </a:r>
            <a:r>
              <a:rPr sz="850" i="1">
                <a:solidFill>
                  <a:srgbClr val="1C7293"/>
                </a:solidFill>
                <a:latin typeface="DejaVu Sans"/>
              </a:rPr>
              <a:t>   ·   </a:t>
            </a:r>
            <a:r>
              <a:rPr sz="850" b="1" i="1">
                <a:solidFill>
                  <a:srgbClr val="065A82"/>
                </a:solidFill>
                <a:latin typeface="DejaVu Sans"/>
              </a:rPr>
              <a:t>[2] </a:t>
            </a:r>
            <a:r>
              <a:rPr sz="850" i="1">
                <a:solidFill>
                  <a:srgbClr val="1C7293"/>
                </a:solidFill>
                <a:latin typeface="DejaVu Sans"/>
                <a:hlinkClick r:id="rId3"/>
              </a:rPr>
              <a:t>Google Stitch (бывший Galileo AI)</a:t>
            </a:r>
            <a:r>
              <a:rPr sz="850" i="1">
                <a:solidFill>
                  <a:srgbClr val="1C7293"/>
                </a:solidFill>
                <a:latin typeface="DejaVu Sans"/>
              </a:rPr>
              <a:t>   ·   </a:t>
            </a:r>
            <a:r>
              <a:rPr sz="850" b="1" i="1">
                <a:solidFill>
                  <a:srgbClr val="065A82"/>
                </a:solidFill>
                <a:latin typeface="DejaVu Sans"/>
              </a:rPr>
              <a:t>[3] </a:t>
            </a:r>
            <a:r>
              <a:rPr sz="850" i="1">
                <a:solidFill>
                  <a:srgbClr val="1C7293"/>
                </a:solidFill>
                <a:latin typeface="DejaVu Sans"/>
                <a:hlinkClick r:id="rId4"/>
              </a:rPr>
              <a:t>Стюарт и соавторы — рандомизированный опыт, arXiv:2609.26725 (22 сент. 2026)</a:t>
            </a:r>
          </a:p>
        </p:txBody>
      </p:sp>
      <p:sp>
        <p:nvSpPr>
          <p:cNvPr id="40" name="TextBox 39"/>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16 / 54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18872"/>
            <a:ext cx="11201400" cy="615213"/>
          </a:xfrm>
          <a:prstGeom prst="rect">
            <a:avLst/>
          </a:prstGeom>
          <a:noFill/>
        </p:spPr>
        <p:txBody>
          <a:bodyPr wrap="square" lIns="0" rIns="0" tIns="0" bIns="0" anchor="t">
            <a:spAutoFit/>
          </a:bodyPr>
          <a:lstStyle/>
          <a:p>
            <a:pPr algn="l">
              <a:lnSpc>
                <a:spcPct val="110000"/>
              </a:lnSpc>
            </a:pPr>
            <a:r>
              <a:rPr sz="1900" b="1" i="0">
                <a:solidFill>
                  <a:srgbClr val="21295C"/>
                </a:solidFill>
                <a:latin typeface="DejaVu Sans"/>
              </a:rPr>
              <a:t>Дизайн-система: общие правила интерфейса, которые машина умеет проверить сама</a:t>
            </a:r>
          </a:p>
        </p:txBody>
      </p:sp>
      <p:sp>
        <p:nvSpPr>
          <p:cNvPr id="3" name="Rounded Rectangle 2"/>
          <p:cNvSpPr/>
          <p:nvPr/>
        </p:nvSpPr>
        <p:spPr>
          <a:xfrm>
            <a:off x="502920" y="825525"/>
            <a:ext cx="1152144" cy="1083455"/>
          </a:xfrm>
          <a:prstGeom prst="roundRect">
            <a:avLst>
              <a:gd name="adj" fmla="val 22000"/>
            </a:avLst>
          </a:prstGeom>
          <a:solidFill>
            <a:srgbClr val="21295C"/>
          </a:solidFill>
          <a:ln w="12700">
            <a:solidFill>
              <a:srgbClr val="2129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825525"/>
            <a:ext cx="1060704" cy="1083455"/>
          </a:xfrm>
          <a:prstGeom prst="rect">
            <a:avLst/>
          </a:prstGeom>
          <a:noFill/>
        </p:spPr>
        <p:txBody>
          <a:bodyPr wrap="square" lIns="0" rIns="0" tIns="0" bIns="0" anchor="ctr">
            <a:spAutoFit/>
          </a:bodyPr>
          <a:lstStyle/>
          <a:p>
            <a:pPr algn="ctr">
              <a:lnSpc>
                <a:spcPct val="102000"/>
              </a:lnSpc>
            </a:pPr>
            <a:r>
              <a:rPr sz="950" b="1" i="0">
                <a:solidFill>
                  <a:srgbClr val="FFFFFF"/>
                </a:solidFill>
                <a:latin typeface="DejaVu Sans"/>
              </a:rPr>
              <a:t>ЧТО ЭТО</a:t>
            </a:r>
          </a:p>
        </p:txBody>
      </p:sp>
      <p:sp>
        <p:nvSpPr>
          <p:cNvPr id="5" name="Rounded Rectangle 4"/>
          <p:cNvSpPr/>
          <p:nvPr/>
        </p:nvSpPr>
        <p:spPr>
          <a:xfrm>
            <a:off x="1801368" y="825525"/>
            <a:ext cx="9902952" cy="1083455"/>
          </a:xfrm>
          <a:prstGeom prst="roundRect">
            <a:avLst>
              <a:gd name="adj" fmla="val 22000"/>
            </a:avLst>
          </a:prstGeom>
          <a:solidFill>
            <a:srgbClr val="FFFFFF"/>
          </a:solidFill>
          <a:ln w="2286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984248" y="916965"/>
            <a:ext cx="9537192" cy="900575"/>
          </a:xfrm>
          <a:prstGeom prst="rect">
            <a:avLst/>
          </a:prstGeom>
          <a:noFill/>
        </p:spPr>
        <p:txBody>
          <a:bodyPr wrap="square" lIns="0" rIns="0" tIns="0" bIns="0" anchor="ctr">
            <a:spAutoFit/>
          </a:bodyPr>
          <a:lstStyle/>
          <a:p>
            <a:pPr algn="l">
              <a:lnSpc>
                <a:spcPct val="114000"/>
              </a:lnSpc>
            </a:pPr>
            <a:r>
              <a:rPr sz="1150" b="1" i="0">
                <a:solidFill>
                  <a:srgbClr val="21295C"/>
                </a:solidFill>
                <a:latin typeface="DejaVu Sans"/>
              </a:rPr>
              <a:t>Дизайн-система</a:t>
            </a:r>
            <a:r>
              <a:rPr sz="1150" b="0" i="0">
                <a:solidFill>
                  <a:srgbClr val="21295C"/>
                </a:solidFill>
                <a:latin typeface="DejaVu Sans"/>
              </a:rPr>
              <a:t> — общий свод правил интерфейса продукта и набор готовых деталей к нему: допустимые сочетания цветов, размеры кнопок и полей, вид элемента под курсором. Раньше это был документ для людей. Сейчас важнее другое: часть правил можно записать так, чтобы читала и проверяла их машина.</a:t>
            </a:r>
          </a:p>
        </p:txBody>
      </p:sp>
      <p:sp>
        <p:nvSpPr>
          <p:cNvPr id="7" name="Rounded Rectangle 6"/>
          <p:cNvSpPr/>
          <p:nvPr/>
        </p:nvSpPr>
        <p:spPr>
          <a:xfrm>
            <a:off x="502920" y="1972988"/>
            <a:ext cx="1152144" cy="2194560"/>
          </a:xfrm>
          <a:prstGeom prst="roundRect">
            <a:avLst>
              <a:gd name="adj" fmla="val 22000"/>
            </a:avLst>
          </a:prstGeom>
          <a:solidFill>
            <a:srgbClr val="065A82"/>
          </a:solidFill>
          <a:ln w="1270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972988"/>
            <a:ext cx="1060704" cy="2194560"/>
          </a:xfrm>
          <a:prstGeom prst="rect">
            <a:avLst/>
          </a:prstGeom>
          <a:noFill/>
        </p:spPr>
        <p:txBody>
          <a:bodyPr wrap="square" lIns="0" rIns="0" tIns="0" bIns="0" anchor="ctr">
            <a:spAutoFit/>
          </a:bodyPr>
          <a:lstStyle/>
          <a:p>
            <a:pPr algn="ctr">
              <a:lnSpc>
                <a:spcPct val="102000"/>
              </a:lnSpc>
            </a:pPr>
            <a:r>
              <a:rPr sz="950" b="1" i="0">
                <a:solidFill>
                  <a:srgbClr val="FFFFFF"/>
                </a:solidFill>
                <a:latin typeface="DejaVu Sans"/>
              </a:rPr>
              <a:t>МЕХАНИЗМ</a:t>
            </a:r>
          </a:p>
        </p:txBody>
      </p:sp>
      <p:sp>
        <p:nvSpPr>
          <p:cNvPr id="9" name="Rounded Rectangle 8"/>
          <p:cNvSpPr/>
          <p:nvPr/>
        </p:nvSpPr>
        <p:spPr>
          <a:xfrm>
            <a:off x="1801368" y="1972988"/>
            <a:ext cx="9902952" cy="2194560"/>
          </a:xfrm>
          <a:prstGeom prst="roundRect">
            <a:avLst>
              <a:gd name="adj" fmla="val 13888"/>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984248" y="2064428"/>
            <a:ext cx="9537192" cy="237744"/>
          </a:xfrm>
          <a:prstGeom prst="rect">
            <a:avLst/>
          </a:prstGeom>
          <a:noFill/>
        </p:spPr>
        <p:txBody>
          <a:bodyPr wrap="square" lIns="0" rIns="0" tIns="0" bIns="0" anchor="t">
            <a:spAutoFit/>
          </a:bodyPr>
          <a:lstStyle/>
          <a:p>
            <a:pPr algn="l">
              <a:lnSpc>
                <a:spcPct val="105000"/>
              </a:lnSpc>
            </a:pPr>
            <a:r>
              <a:rPr sz="919" b="0" i="1">
                <a:solidFill>
                  <a:srgbClr val="5B6678"/>
                </a:solidFill>
                <a:latin typeface="DejaVu Sans"/>
              </a:rPr>
              <a:t>снизу вверх: каждый следующий слой сильнее предыдущего, и только верхний превращает пожелание в гарантию</a:t>
            </a:r>
          </a:p>
        </p:txBody>
      </p:sp>
      <p:sp>
        <p:nvSpPr>
          <p:cNvPr id="11" name="Rounded Rectangle 10"/>
          <p:cNvSpPr/>
          <p:nvPr/>
        </p:nvSpPr>
        <p:spPr>
          <a:xfrm>
            <a:off x="1984248" y="2338748"/>
            <a:ext cx="9537192" cy="603504"/>
          </a:xfrm>
          <a:prstGeom prst="roundRect">
            <a:avLst>
              <a:gd name="adj" fmla="val 22000"/>
            </a:avLst>
          </a:prstGeom>
          <a:solidFill>
            <a:srgbClr val="FFFFFF"/>
          </a:solidFill>
          <a:ln w="279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984248" y="2338748"/>
            <a:ext cx="2212848" cy="603504"/>
          </a:xfrm>
          <a:prstGeom prst="roundRect">
            <a:avLst>
              <a:gd name="adj" fmla="val 1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shield-check-white.png"/>
          <p:cNvPicPr>
            <a:picLocks noChangeAspect="1"/>
          </p:cNvPicPr>
          <p:nvPr/>
        </p:nvPicPr>
        <p:blipFill>
          <a:blip r:embed="rId2"/>
          <a:stretch>
            <a:fillRect/>
          </a:stretch>
        </p:blipFill>
        <p:spPr>
          <a:xfrm>
            <a:off x="2112264" y="2521628"/>
            <a:ext cx="237744" cy="237744"/>
          </a:xfrm>
          <a:prstGeom prst="rect">
            <a:avLst/>
          </a:prstGeom>
        </p:spPr>
      </p:pic>
      <p:sp>
        <p:nvSpPr>
          <p:cNvPr id="14" name="TextBox 13"/>
          <p:cNvSpPr txBox="1"/>
          <p:nvPr/>
        </p:nvSpPr>
        <p:spPr>
          <a:xfrm>
            <a:off x="2423160" y="2338748"/>
            <a:ext cx="1719072" cy="603504"/>
          </a:xfrm>
          <a:prstGeom prst="rect">
            <a:avLst/>
          </a:prstGeom>
          <a:noFill/>
        </p:spPr>
        <p:txBody>
          <a:bodyPr wrap="square" lIns="0" rIns="0" tIns="0" bIns="0" anchor="ctr">
            <a:spAutoFit/>
          </a:bodyPr>
          <a:lstStyle/>
          <a:p>
            <a:pPr algn="l">
              <a:lnSpc>
                <a:spcPct val="102000"/>
              </a:lnSpc>
            </a:pPr>
            <a:r>
              <a:rPr sz="919" b="1" i="0">
                <a:solidFill>
                  <a:srgbClr val="FFFFFF"/>
                </a:solidFill>
                <a:latin typeface="DejaVu Sans"/>
              </a:rPr>
              <a:t>3. ПРОВЕРКА,</a:t>
            </a:r>
          </a:p>
          <a:p>
            <a:pPr algn="l">
              <a:lnSpc>
                <a:spcPct val="102000"/>
              </a:lnSpc>
            </a:pPr>
            <a:r>
              <a:rPr sz="919" b="1" i="0">
                <a:solidFill>
                  <a:srgbClr val="FFFFFF"/>
                </a:solidFill>
                <a:latin typeface="DejaVu Sans"/>
              </a:rPr>
              <a:t>ОСТАНАВЛИВАЮЩАЯ ВЫПУСК</a:t>
            </a:r>
          </a:p>
        </p:txBody>
      </p:sp>
      <p:sp>
        <p:nvSpPr>
          <p:cNvPr id="15" name="TextBox 14"/>
          <p:cNvSpPr txBox="1"/>
          <p:nvPr/>
        </p:nvSpPr>
        <p:spPr>
          <a:xfrm>
            <a:off x="4325112" y="2375324"/>
            <a:ext cx="7086600" cy="530352"/>
          </a:xfrm>
          <a:prstGeom prst="rect">
            <a:avLst/>
          </a:prstGeom>
          <a:noFill/>
        </p:spPr>
        <p:txBody>
          <a:bodyPr wrap="square" lIns="0" rIns="0" tIns="0" bIns="0" anchor="ctr">
            <a:spAutoFit/>
          </a:bodyPr>
          <a:lstStyle/>
          <a:p>
            <a:pPr algn="l">
              <a:lnSpc>
                <a:spcPct val="112000"/>
              </a:lnSpc>
            </a:pPr>
            <a:r>
              <a:rPr sz="1019" b="0" i="0">
                <a:solidFill>
                  <a:srgbClr val="21295C"/>
                </a:solidFill>
                <a:latin typeface="DejaVu Sans"/>
              </a:rPr>
              <a:t>Правило проверяют автоматически на каждом сгенерированном экране, и нарушение не обсуждают, а блокируют. </a:t>
            </a:r>
            <a:r>
              <a:rPr sz="1019" b="1" i="0">
                <a:solidFill>
                  <a:srgbClr val="065A82"/>
                </a:solidFill>
                <a:latin typeface="DejaVu Sans"/>
              </a:rPr>
              <a:t>Гарантию даёт только этот слой.</a:t>
            </a:r>
          </a:p>
        </p:txBody>
      </p:sp>
      <p:sp>
        <p:nvSpPr>
          <p:cNvPr id="16" name="Rounded Rectangle 15"/>
          <p:cNvSpPr/>
          <p:nvPr/>
        </p:nvSpPr>
        <p:spPr>
          <a:xfrm>
            <a:off x="1984248" y="2997116"/>
            <a:ext cx="8392728" cy="512064"/>
          </a:xfrm>
          <a:prstGeom prst="roundRect">
            <a:avLst>
              <a:gd name="adj" fmla="val 22000"/>
            </a:avLst>
          </a:prstGeom>
          <a:solidFill>
            <a:srgbClr val="FFFFFF"/>
          </a:solidFill>
          <a:ln w="1524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984248" y="2997116"/>
            <a:ext cx="2212848" cy="512064"/>
          </a:xfrm>
          <a:prstGeom prst="roundRect">
            <a:avLst>
              <a:gd name="adj" fmla="val 1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component-white.png"/>
          <p:cNvPicPr>
            <a:picLocks noChangeAspect="1"/>
          </p:cNvPicPr>
          <p:nvPr/>
        </p:nvPicPr>
        <p:blipFill>
          <a:blip r:embed="rId3"/>
          <a:stretch>
            <a:fillRect/>
          </a:stretch>
        </p:blipFill>
        <p:spPr>
          <a:xfrm>
            <a:off x="2112264" y="3134276"/>
            <a:ext cx="237744" cy="237744"/>
          </a:xfrm>
          <a:prstGeom prst="rect">
            <a:avLst/>
          </a:prstGeom>
        </p:spPr>
      </p:pic>
      <p:sp>
        <p:nvSpPr>
          <p:cNvPr id="19" name="TextBox 18"/>
          <p:cNvSpPr txBox="1"/>
          <p:nvPr/>
        </p:nvSpPr>
        <p:spPr>
          <a:xfrm>
            <a:off x="2423160" y="2997116"/>
            <a:ext cx="1719072" cy="512064"/>
          </a:xfrm>
          <a:prstGeom prst="rect">
            <a:avLst/>
          </a:prstGeom>
          <a:noFill/>
        </p:spPr>
        <p:txBody>
          <a:bodyPr wrap="square" lIns="0" rIns="0" tIns="0" bIns="0" anchor="ctr">
            <a:spAutoFit/>
          </a:bodyPr>
          <a:lstStyle/>
          <a:p>
            <a:pPr algn="l">
              <a:lnSpc>
                <a:spcPct val="102000"/>
              </a:lnSpc>
            </a:pPr>
            <a:r>
              <a:rPr sz="919" b="1" i="0">
                <a:solidFill>
                  <a:srgbClr val="FFFFFF"/>
                </a:solidFill>
                <a:latin typeface="DejaVu Sans"/>
              </a:rPr>
              <a:t>2. СВОИ ДЕТАЛИ</a:t>
            </a:r>
          </a:p>
          <a:p>
            <a:pPr algn="l">
              <a:lnSpc>
                <a:spcPct val="102000"/>
              </a:lnSpc>
            </a:pPr>
            <a:r>
              <a:rPr sz="919" b="1" i="0">
                <a:solidFill>
                  <a:srgbClr val="FFFFFF"/>
                </a:solidFill>
                <a:latin typeface="DejaVu Sans"/>
              </a:rPr>
              <a:t>ВМЕСТО ЗАГОТОВОК</a:t>
            </a:r>
          </a:p>
        </p:txBody>
      </p:sp>
      <p:sp>
        <p:nvSpPr>
          <p:cNvPr id="20" name="TextBox 19"/>
          <p:cNvSpPr txBox="1"/>
          <p:nvPr/>
        </p:nvSpPr>
        <p:spPr>
          <a:xfrm>
            <a:off x="4325112" y="3033692"/>
            <a:ext cx="5942136" cy="438912"/>
          </a:xfrm>
          <a:prstGeom prst="rect">
            <a:avLst/>
          </a:prstGeom>
          <a:noFill/>
        </p:spPr>
        <p:txBody>
          <a:bodyPr wrap="square" lIns="0" rIns="0" tIns="0" bIns="0" anchor="ctr">
            <a:spAutoFit/>
          </a:bodyPr>
          <a:lstStyle/>
          <a:p>
            <a:pPr algn="l">
              <a:lnSpc>
                <a:spcPct val="112000"/>
              </a:lnSpc>
            </a:pPr>
            <a:r>
              <a:rPr sz="1019" b="0" i="0">
                <a:solidFill>
                  <a:srgbClr val="21295C"/>
                </a:solidFill>
                <a:latin typeface="DejaVu Sans"/>
              </a:rPr>
              <a:t>Генератору дают собственные детали команды. Это </a:t>
            </a:r>
            <a:r>
              <a:rPr sz="1019" b="1" i="0">
                <a:solidFill>
                  <a:srgbClr val="065A82"/>
                </a:solidFill>
                <a:latin typeface="DejaVu Sans"/>
              </a:rPr>
              <a:t>снижает вероятность нарушения, но ничего не гарантирует.</a:t>
            </a:r>
          </a:p>
        </p:txBody>
      </p:sp>
      <p:sp>
        <p:nvSpPr>
          <p:cNvPr id="21" name="Rounded Rectangle 20"/>
          <p:cNvSpPr/>
          <p:nvPr/>
        </p:nvSpPr>
        <p:spPr>
          <a:xfrm>
            <a:off x="1984248" y="3564044"/>
            <a:ext cx="7248265" cy="512064"/>
          </a:xfrm>
          <a:prstGeom prst="roundRect">
            <a:avLst>
              <a:gd name="adj" fmla="val 22000"/>
            </a:avLst>
          </a:prstGeom>
          <a:solidFill>
            <a:srgbClr val="FFFFFF"/>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984248" y="3564044"/>
            <a:ext cx="2212848" cy="512064"/>
          </a:xfrm>
          <a:prstGeom prst="roundRect">
            <a:avLst>
              <a:gd name="adj" fmla="val 1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palette-white.png"/>
          <p:cNvPicPr>
            <a:picLocks noChangeAspect="1"/>
          </p:cNvPicPr>
          <p:nvPr/>
        </p:nvPicPr>
        <p:blipFill>
          <a:blip r:embed="rId4"/>
          <a:stretch>
            <a:fillRect/>
          </a:stretch>
        </p:blipFill>
        <p:spPr>
          <a:xfrm>
            <a:off x="2112264" y="3701204"/>
            <a:ext cx="237744" cy="237744"/>
          </a:xfrm>
          <a:prstGeom prst="rect">
            <a:avLst/>
          </a:prstGeom>
        </p:spPr>
      </p:pic>
      <p:sp>
        <p:nvSpPr>
          <p:cNvPr id="24" name="TextBox 23"/>
          <p:cNvSpPr txBox="1"/>
          <p:nvPr/>
        </p:nvSpPr>
        <p:spPr>
          <a:xfrm>
            <a:off x="2423160" y="3564044"/>
            <a:ext cx="1719072" cy="512064"/>
          </a:xfrm>
          <a:prstGeom prst="rect">
            <a:avLst/>
          </a:prstGeom>
          <a:noFill/>
        </p:spPr>
        <p:txBody>
          <a:bodyPr wrap="square" lIns="0" rIns="0" tIns="0" bIns="0" anchor="ctr">
            <a:spAutoFit/>
          </a:bodyPr>
          <a:lstStyle/>
          <a:p>
            <a:pPr algn="l">
              <a:lnSpc>
                <a:spcPct val="102000"/>
              </a:lnSpc>
            </a:pPr>
            <a:r>
              <a:rPr sz="919" b="1" i="0">
                <a:solidFill>
                  <a:srgbClr val="FFFFFF"/>
                </a:solidFill>
                <a:latin typeface="DejaVu Sans"/>
              </a:rPr>
              <a:t>1. ПРАВИЛА,</a:t>
            </a:r>
          </a:p>
          <a:p>
            <a:pPr algn="l">
              <a:lnSpc>
                <a:spcPct val="102000"/>
              </a:lnSpc>
            </a:pPr>
            <a:r>
              <a:rPr sz="919" b="1" i="0">
                <a:solidFill>
                  <a:srgbClr val="FFFFFF"/>
                </a:solidFill>
                <a:latin typeface="DejaVu Sans"/>
              </a:rPr>
              <a:t>ЗАПИСАННЫЕ ЧИСЛАМИ</a:t>
            </a:r>
          </a:p>
        </p:txBody>
      </p:sp>
      <p:sp>
        <p:nvSpPr>
          <p:cNvPr id="25" name="TextBox 24"/>
          <p:cNvSpPr txBox="1"/>
          <p:nvPr/>
        </p:nvSpPr>
        <p:spPr>
          <a:xfrm>
            <a:off x="4325112" y="3600620"/>
            <a:ext cx="4797673" cy="438912"/>
          </a:xfrm>
          <a:prstGeom prst="rect">
            <a:avLst/>
          </a:prstGeom>
          <a:noFill/>
        </p:spPr>
        <p:txBody>
          <a:bodyPr wrap="square" lIns="0" rIns="0" tIns="0" bIns="0" anchor="ctr">
            <a:spAutoFit/>
          </a:bodyPr>
          <a:lstStyle/>
          <a:p>
            <a:pPr algn="l">
              <a:lnSpc>
                <a:spcPct val="112000"/>
              </a:lnSpc>
            </a:pPr>
            <a:r>
              <a:rPr sz="1019" b="0" i="0">
                <a:solidFill>
                  <a:srgbClr val="21295C"/>
                </a:solidFill>
                <a:latin typeface="DejaVu Sans"/>
              </a:rPr>
              <a:t>Пока правило живёт в картинке макета, проверить его может только человек и только глазами.</a:t>
            </a:r>
          </a:p>
        </p:txBody>
      </p:sp>
      <p:sp>
        <p:nvSpPr>
          <p:cNvPr id="26" name="Rounded Rectangle 25"/>
          <p:cNvSpPr/>
          <p:nvPr/>
        </p:nvSpPr>
        <p:spPr>
          <a:xfrm>
            <a:off x="502920" y="4231556"/>
            <a:ext cx="1152144" cy="1074020"/>
          </a:xfrm>
          <a:prstGeom prst="roundRect">
            <a:avLst>
              <a:gd name="adj" fmla="val 22000"/>
            </a:avLst>
          </a:prstGeom>
          <a:solidFill>
            <a:srgbClr val="1C7293"/>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4231556"/>
            <a:ext cx="1060704" cy="1074020"/>
          </a:xfrm>
          <a:prstGeom prst="rect">
            <a:avLst/>
          </a:prstGeom>
          <a:noFill/>
        </p:spPr>
        <p:txBody>
          <a:bodyPr wrap="square" lIns="0" rIns="0" tIns="0" bIns="0" anchor="ctr">
            <a:spAutoFit/>
          </a:bodyPr>
          <a:lstStyle/>
          <a:p>
            <a:pPr algn="ctr">
              <a:lnSpc>
                <a:spcPct val="102000"/>
              </a:lnSpc>
            </a:pPr>
            <a:r>
              <a:rPr sz="950" b="1" i="0">
                <a:solidFill>
                  <a:srgbClr val="FFFFFF"/>
                </a:solidFill>
                <a:latin typeface="DejaVu Sans"/>
              </a:rPr>
              <a:t>С ИИ И БЕЗ ИИ</a:t>
            </a:r>
          </a:p>
        </p:txBody>
      </p:sp>
      <p:sp>
        <p:nvSpPr>
          <p:cNvPr id="28" name="Rounded Rectangle 27"/>
          <p:cNvSpPr/>
          <p:nvPr/>
        </p:nvSpPr>
        <p:spPr>
          <a:xfrm>
            <a:off x="1801368" y="4231556"/>
            <a:ext cx="9902952" cy="1074020"/>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1984248" y="4322996"/>
            <a:ext cx="4677156" cy="891140"/>
          </a:xfrm>
          <a:prstGeom prst="roundRect">
            <a:avLst>
              <a:gd name="adj" fmla="val 19444"/>
            </a:avLst>
          </a:prstGeom>
          <a:solidFill>
            <a:srgbClr val="FFFFFF"/>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084831" y="4368716"/>
            <a:ext cx="4475988" cy="219456"/>
          </a:xfrm>
          <a:prstGeom prst="rect">
            <a:avLst/>
          </a:prstGeom>
          <a:noFill/>
        </p:spPr>
        <p:txBody>
          <a:bodyPr wrap="square" lIns="0" rIns="0" tIns="0" bIns="0" anchor="t">
            <a:spAutoFit/>
          </a:bodyPr>
          <a:lstStyle/>
          <a:p>
            <a:pPr algn="l">
              <a:lnSpc>
                <a:spcPct val="100000"/>
              </a:lnSpc>
            </a:pPr>
            <a:r>
              <a:rPr sz="919" b="1" i="0">
                <a:solidFill>
                  <a:srgbClr val="065A82"/>
                </a:solidFill>
                <a:latin typeface="DejaVu Sans"/>
              </a:rPr>
              <a:t>БЕЗ ИИ — свод правил для людей</a:t>
            </a:r>
          </a:p>
        </p:txBody>
      </p:sp>
      <p:sp>
        <p:nvSpPr>
          <p:cNvPr id="31" name="TextBox 30"/>
          <p:cNvSpPr txBox="1"/>
          <p:nvPr/>
        </p:nvSpPr>
        <p:spPr>
          <a:xfrm>
            <a:off x="2084831" y="4597316"/>
            <a:ext cx="4475988" cy="561956"/>
          </a:xfrm>
          <a:prstGeom prst="rect">
            <a:avLst/>
          </a:prstGeom>
          <a:noFill/>
        </p:spPr>
        <p:txBody>
          <a:bodyPr wrap="square" lIns="0" rIns="0" tIns="0" bIns="0" anchor="t">
            <a:spAutoFit/>
          </a:bodyPr>
          <a:lstStyle/>
          <a:p>
            <a:pPr algn="l">
              <a:lnSpc>
                <a:spcPct val="112000"/>
              </a:lnSpc>
            </a:pPr>
            <a:r>
              <a:rPr sz="950" b="0" i="0">
                <a:solidFill>
                  <a:srgbClr val="21295C"/>
                </a:solidFill>
                <a:latin typeface="DejaVu Sans"/>
              </a:rPr>
              <a:t>Проверяет его дизайнер глазами: набор правил держит продукт единообразным.</a:t>
            </a:r>
          </a:p>
        </p:txBody>
      </p:sp>
      <p:sp>
        <p:nvSpPr>
          <p:cNvPr id="32" name="Rounded Rectangle 31"/>
          <p:cNvSpPr/>
          <p:nvPr/>
        </p:nvSpPr>
        <p:spPr>
          <a:xfrm>
            <a:off x="6844284" y="4322996"/>
            <a:ext cx="4677156" cy="891140"/>
          </a:xfrm>
          <a:prstGeom prst="roundRect">
            <a:avLst>
              <a:gd name="adj" fmla="val 19444"/>
            </a:avLst>
          </a:prstGeom>
          <a:solidFill>
            <a:srgbClr val="FFFFFF"/>
          </a:solidFill>
          <a:ln w="1778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944868" y="4368716"/>
            <a:ext cx="4475988" cy="219456"/>
          </a:xfrm>
          <a:prstGeom prst="rect">
            <a:avLst/>
          </a:prstGeom>
          <a:noFill/>
        </p:spPr>
        <p:txBody>
          <a:bodyPr wrap="square" lIns="0" rIns="0" tIns="0" bIns="0" anchor="t">
            <a:spAutoFit/>
          </a:bodyPr>
          <a:lstStyle/>
          <a:p>
            <a:pPr algn="l">
              <a:lnSpc>
                <a:spcPct val="100000"/>
              </a:lnSpc>
            </a:pPr>
            <a:r>
              <a:rPr sz="919" b="1" i="0">
                <a:solidFill>
                  <a:srgbClr val="028090"/>
                </a:solidFill>
                <a:latin typeface="DejaVu Sans"/>
              </a:rPr>
              <a:t>С ИИ — зачем правила стали машинными</a:t>
            </a:r>
          </a:p>
        </p:txBody>
      </p:sp>
      <p:sp>
        <p:nvSpPr>
          <p:cNvPr id="34" name="TextBox 33"/>
          <p:cNvSpPr txBox="1"/>
          <p:nvPr/>
        </p:nvSpPr>
        <p:spPr>
          <a:xfrm>
            <a:off x="6944868" y="4597316"/>
            <a:ext cx="4475988" cy="561956"/>
          </a:xfrm>
          <a:prstGeom prst="rect">
            <a:avLst/>
          </a:prstGeom>
          <a:noFill/>
        </p:spPr>
        <p:txBody>
          <a:bodyPr wrap="square" lIns="0" rIns="0" tIns="0" bIns="0" anchor="t">
            <a:spAutoFit/>
          </a:bodyPr>
          <a:lstStyle/>
          <a:p>
            <a:pPr algn="l">
              <a:lnSpc>
                <a:spcPct val="112000"/>
              </a:lnSpc>
            </a:pPr>
            <a:r>
              <a:rPr sz="950" b="0" i="0">
                <a:solidFill>
                  <a:srgbClr val="21295C"/>
                </a:solidFill>
                <a:latin typeface="DejaVu Sans"/>
              </a:rPr>
              <a:t>Генератор выдаёт экраны быстрее, чем их успевает смотреть человек. Машинная проверка </a:t>
            </a:r>
            <a:r>
              <a:rPr sz="950" b="1" i="0">
                <a:solidFill>
                  <a:srgbClr val="21295C"/>
                </a:solidFill>
                <a:latin typeface="DejaVu Sans"/>
              </a:rPr>
              <a:t>растёт вместе с генерацией</a:t>
            </a:r>
            <a:r>
              <a:rPr sz="950" b="0" i="0">
                <a:solidFill>
                  <a:srgbClr val="21295C"/>
                </a:solidFill>
                <a:latin typeface="DejaVu Sans"/>
              </a:rPr>
              <a:t>.</a:t>
            </a:r>
          </a:p>
        </p:txBody>
      </p:sp>
      <p:sp>
        <p:nvSpPr>
          <p:cNvPr id="35" name="Rounded Rectangle 34"/>
          <p:cNvSpPr/>
          <p:nvPr/>
        </p:nvSpPr>
        <p:spPr>
          <a:xfrm>
            <a:off x="502920" y="5369584"/>
            <a:ext cx="1152144" cy="868224"/>
          </a:xfrm>
          <a:prstGeom prst="roundRect">
            <a:avLst>
              <a:gd name="adj" fmla="val 22000"/>
            </a:avLst>
          </a:prstGeom>
          <a:solidFill>
            <a:srgbClr val="F0AB00"/>
          </a:solidFill>
          <a:ln w="127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48640" y="5369584"/>
            <a:ext cx="1060704" cy="868224"/>
          </a:xfrm>
          <a:prstGeom prst="rect">
            <a:avLst/>
          </a:prstGeom>
          <a:noFill/>
        </p:spPr>
        <p:txBody>
          <a:bodyPr wrap="square" lIns="0" rIns="0" tIns="0" bIns="0" anchor="ctr">
            <a:spAutoFit/>
          </a:bodyPr>
          <a:lstStyle/>
          <a:p>
            <a:pPr algn="ctr">
              <a:lnSpc>
                <a:spcPct val="102000"/>
              </a:lnSpc>
            </a:pPr>
            <a:r>
              <a:rPr sz="950" b="1" i="0">
                <a:solidFill>
                  <a:srgbClr val="21295C"/>
                </a:solidFill>
                <a:latin typeface="DejaVu Sans"/>
              </a:rPr>
              <a:t>ГДЕ НЕ РАБОТАЕТ</a:t>
            </a:r>
          </a:p>
        </p:txBody>
      </p:sp>
      <p:sp>
        <p:nvSpPr>
          <p:cNvPr id="37" name="Rounded Rectangle 36"/>
          <p:cNvSpPr/>
          <p:nvPr/>
        </p:nvSpPr>
        <p:spPr>
          <a:xfrm>
            <a:off x="1801368" y="5369584"/>
            <a:ext cx="9902952" cy="868224"/>
          </a:xfrm>
          <a:prstGeom prst="roundRect">
            <a:avLst>
              <a:gd name="adj" fmla="val 22000"/>
            </a:avLst>
          </a:prstGeom>
          <a:solidFill>
            <a:srgbClr val="FDF3DC"/>
          </a:solidFill>
          <a:ln w="317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984248" y="5461024"/>
            <a:ext cx="9537192" cy="685344"/>
          </a:xfrm>
          <a:prstGeom prst="rect">
            <a:avLst/>
          </a:prstGeom>
          <a:noFill/>
        </p:spPr>
        <p:txBody>
          <a:bodyPr wrap="square" lIns="0" rIns="0" tIns="0" bIns="0" anchor="ctr">
            <a:spAutoFit/>
          </a:bodyPr>
          <a:lstStyle/>
          <a:p>
            <a:pPr algn="l">
              <a:lnSpc>
                <a:spcPct val="114000"/>
              </a:lnSpc>
            </a:pPr>
            <a:r>
              <a:rPr sz="1100" b="1" i="0">
                <a:solidFill>
                  <a:srgbClr val="21295C"/>
                </a:solidFill>
                <a:latin typeface="DejaVu Sans"/>
              </a:rPr>
              <a:t>Машина проверяет только то, что выражается числом. «Понятно ли это живому человеку» остаётся человеку: экран может пройти все проверки и остаться непонятным. И главное: </a:t>
            </a:r>
            <a:r>
              <a:rPr sz="1100" b="1" i="0">
                <a:solidFill>
                  <a:srgbClr val="21295C"/>
                </a:solidFill>
                <a:latin typeface="DejaVu Sans"/>
              </a:rPr>
              <a:t>просьба к генератору механизмом контроля не является</a:t>
            </a:r>
            <a:r>
              <a:rPr sz="1100" b="1" i="0">
                <a:solidFill>
                  <a:srgbClr val="21295C"/>
                </a:solidFill>
                <a:latin typeface="DejaVu Sans"/>
              </a:rPr>
              <a:t> — механизм это правило, которое умеет остановить выпуск.</a:t>
            </a:r>
          </a:p>
        </p:txBody>
      </p:sp>
      <p:sp>
        <p:nvSpPr>
          <p:cNvPr id="39" name="TextBox 38"/>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17 / 54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18872"/>
            <a:ext cx="11247120" cy="841248"/>
          </a:xfrm>
          <a:prstGeom prst="rect">
            <a:avLst/>
          </a:prstGeom>
          <a:noFill/>
        </p:spPr>
        <p:txBody>
          <a:bodyPr wrap="square" lIns="0" rIns="0" tIns="0" bIns="0" anchor="t">
            <a:spAutoFit/>
          </a:bodyPr>
          <a:lstStyle/>
          <a:p>
            <a:pPr algn="l">
              <a:lnSpc>
                <a:spcPct val="110000"/>
              </a:lnSpc>
            </a:pPr>
            <a:r>
              <a:rPr sz="2100" b="1" i="0">
                <a:solidFill>
                  <a:srgbClr val="21295C"/>
                </a:solidFill>
                <a:latin typeface="DejaVu Sans"/>
              </a:rPr>
              <a:t>Сгенерированные интерфейсы прошли 29% проверок доступности — решает платформа, а не формулировка запроса</a:t>
            </a:r>
          </a:p>
        </p:txBody>
      </p:sp>
      <p:sp>
        <p:nvSpPr>
          <p:cNvPr id="3" name="Rounded Rectangle 2"/>
          <p:cNvSpPr/>
          <p:nvPr/>
        </p:nvSpPr>
        <p:spPr>
          <a:xfrm>
            <a:off x="502920" y="1042415"/>
            <a:ext cx="3977639" cy="2788920"/>
          </a:xfrm>
          <a:prstGeom prst="roundRect">
            <a:avLst>
              <a:gd name="adj" fmla="val 10928"/>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wcag-29.png"/>
          <p:cNvPicPr>
            <a:picLocks noChangeAspect="1"/>
          </p:cNvPicPr>
          <p:nvPr/>
        </p:nvPicPr>
        <p:blipFill>
          <a:blip r:embed="rId2"/>
          <a:stretch>
            <a:fillRect/>
          </a:stretch>
        </p:blipFill>
        <p:spPr>
          <a:xfrm>
            <a:off x="1234440" y="1170432"/>
            <a:ext cx="2514600" cy="2514600"/>
          </a:xfrm>
          <a:prstGeom prst="rect">
            <a:avLst/>
          </a:prstGeom>
        </p:spPr>
      </p:pic>
      <p:sp>
        <p:nvSpPr>
          <p:cNvPr id="5" name="Rounded Rectangle 4"/>
          <p:cNvSpPr/>
          <p:nvPr/>
        </p:nvSpPr>
        <p:spPr>
          <a:xfrm>
            <a:off x="4663440" y="1042415"/>
            <a:ext cx="7040880" cy="1572768"/>
          </a:xfrm>
          <a:prstGeom prst="roundRect">
            <a:avLst>
              <a:gd name="adj" fmla="val 19379"/>
            </a:avLst>
          </a:prstGeom>
          <a:solidFill>
            <a:srgbClr val="F4F7FA"/>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873752" y="1106424"/>
            <a:ext cx="6629400" cy="237744"/>
          </a:xfrm>
          <a:prstGeom prst="rect">
            <a:avLst/>
          </a:prstGeom>
          <a:noFill/>
        </p:spPr>
        <p:txBody>
          <a:bodyPr wrap="square" lIns="0" rIns="0" tIns="0" bIns="0" anchor="t">
            <a:spAutoFit/>
          </a:bodyPr>
          <a:lstStyle/>
          <a:p>
            <a:pPr algn="l">
              <a:lnSpc>
                <a:spcPct val="115000"/>
              </a:lnSpc>
            </a:pPr>
            <a:r>
              <a:rPr sz="1200" b="1" i="0">
                <a:solidFill>
                  <a:srgbClr val="065A82"/>
                </a:solidFill>
                <a:latin typeface="DejaVu Sans"/>
              </a:rPr>
              <a:t>Что именно проверяли</a:t>
            </a:r>
          </a:p>
        </p:txBody>
      </p:sp>
      <p:sp>
        <p:nvSpPr>
          <p:cNvPr id="7" name="TextBox 6"/>
          <p:cNvSpPr txBox="1"/>
          <p:nvPr/>
        </p:nvSpPr>
        <p:spPr>
          <a:xfrm>
            <a:off x="4873752" y="1389888"/>
            <a:ext cx="6629400" cy="1152144"/>
          </a:xfrm>
          <a:prstGeom prst="rect">
            <a:avLst/>
          </a:prstGeom>
          <a:noFill/>
        </p:spPr>
        <p:txBody>
          <a:bodyPr wrap="square" lIns="0" rIns="0" tIns="0" bIns="0" anchor="t">
            <a:spAutoFit/>
          </a:bodyPr>
          <a:lstStyle/>
          <a:p>
            <a:pPr algn="l">
              <a:lnSpc>
                <a:spcPct val="115000"/>
              </a:lnSpc>
            </a:pPr>
            <a:r>
              <a:rPr sz="1050" b="1" i="0">
                <a:solidFill>
                  <a:srgbClr val="21295C"/>
                </a:solidFill>
                <a:latin typeface="DejaVu Sans"/>
              </a:rPr>
              <a:t>WCAG (Web Content Accessibility Guidelines, «правила доступности веб-содержимого») </a:t>
            </a:r>
            <a:r>
              <a:rPr sz="1050" b="0" i="0">
                <a:solidFill>
                  <a:srgbClr val="21295C"/>
                </a:solidFill>
                <a:latin typeface="DejaVu Sans"/>
              </a:rPr>
              <a:t>— международный свод требований к интерфейсу: хватает ли контраста между текстом и фоном, не передан ли смысл одним лишь цветом, работает ли всё без мыши, подписаны ли поля. Исследователи прогнали 21 880 таких проверок на экранах, сгенерированных инструментами с прошлого слайда: пройдено 29,0%. Хуже всего — самое простое и машинно-проверяемое: контраст 26,8%, использование цвета 19,2% </a:t>
            </a:r>
            <a:r>
              <a:rPr sz="546" baseline="30000" b="0" i="1">
                <a:latin typeface="DejaVu Sans"/>
                <a:cs typeface="DejaVu Sans"/>
                <a:ea typeface="DejaVu Sans"/>
                <a:solidFill>
                  <a:srgbClr val="1C7293"/>
                </a:solidFill>
              </a:rPr>
              <a:t>[1]</a:t>
            </a:r>
            <a:r>
              <a:rPr sz="1050" b="0" i="0">
                <a:latin typeface="DejaVu Sans"/>
                <a:cs typeface="DejaVu Sans"/>
                <a:ea typeface="DejaVu Sans"/>
                <a:solidFill>
                  <a:srgbClr val="21295C"/>
                </a:solidFill>
              </a:rPr>
              <a:t>.</a:t>
            </a:r>
          </a:p>
        </p:txBody>
      </p:sp>
      <p:sp>
        <p:nvSpPr>
          <p:cNvPr id="8" name="Rounded Rectangle 7"/>
          <p:cNvSpPr/>
          <p:nvPr/>
        </p:nvSpPr>
        <p:spPr>
          <a:xfrm>
            <a:off x="4663440" y="2706624"/>
            <a:ext cx="7040880" cy="1124712"/>
          </a:xfrm>
          <a:prstGeom prst="roundRect">
            <a:avLst>
              <a:gd name="adj" fmla="val 22000"/>
            </a:avLst>
          </a:prstGeom>
          <a:solidFill>
            <a:srgbClr val="E4F1F2"/>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873752" y="2770632"/>
            <a:ext cx="6629400" cy="237744"/>
          </a:xfrm>
          <a:prstGeom prst="rect">
            <a:avLst/>
          </a:prstGeom>
          <a:noFill/>
        </p:spPr>
        <p:txBody>
          <a:bodyPr wrap="square" lIns="0" rIns="0" tIns="0" bIns="0" anchor="t">
            <a:spAutoFit/>
          </a:bodyPr>
          <a:lstStyle/>
          <a:p>
            <a:pPr algn="l">
              <a:lnSpc>
                <a:spcPct val="115000"/>
              </a:lnSpc>
            </a:pPr>
            <a:r>
              <a:rPr sz="1200" b="1" i="0">
                <a:solidFill>
                  <a:srgbClr val="028090"/>
                </a:solidFill>
                <a:latin typeface="DejaVu Sans"/>
              </a:rPr>
              <a:t>Главная находка</a:t>
            </a:r>
          </a:p>
        </p:txBody>
      </p:sp>
      <p:sp>
        <p:nvSpPr>
          <p:cNvPr id="10" name="TextBox 9"/>
          <p:cNvSpPr txBox="1"/>
          <p:nvPr/>
        </p:nvSpPr>
        <p:spPr>
          <a:xfrm>
            <a:off x="4873752" y="3044952"/>
            <a:ext cx="6629400" cy="713232"/>
          </a:xfrm>
          <a:prstGeom prst="rect">
            <a:avLst/>
          </a:prstGeom>
          <a:noFill/>
        </p:spPr>
        <p:txBody>
          <a:bodyPr wrap="square" lIns="0" rIns="0" tIns="0" bIns="0" anchor="t">
            <a:spAutoFit/>
          </a:bodyPr>
          <a:lstStyle/>
          <a:p>
            <a:pPr algn="l">
              <a:lnSpc>
                <a:spcPct val="115000"/>
              </a:lnSpc>
            </a:pPr>
            <a:r>
              <a:rPr sz="1050" b="0" i="0">
                <a:solidFill>
                  <a:srgbClr val="21295C"/>
                </a:solidFill>
                <a:latin typeface="DejaVu Sans"/>
              </a:rPr>
              <a:t>На итог сильнее влияли настройки самой платформы, чем текст запроса. Значит, оправдание «надо было правильно попросить» не работает: переписывание формулировки доступным результат не делает.</a:t>
            </a:r>
          </a:p>
        </p:txBody>
      </p:sp>
      <p:sp>
        <p:nvSpPr>
          <p:cNvPr id="11" name="TextBox 10"/>
          <p:cNvSpPr txBox="1"/>
          <p:nvPr/>
        </p:nvSpPr>
        <p:spPr>
          <a:xfrm>
            <a:off x="502920" y="3913632"/>
            <a:ext cx="11201400" cy="256032"/>
          </a:xfrm>
          <a:prstGeom prst="rect">
            <a:avLst/>
          </a:prstGeom>
          <a:noFill/>
        </p:spPr>
        <p:txBody>
          <a:bodyPr wrap="square" lIns="0" rIns="0" tIns="0" bIns="0" anchor="t">
            <a:spAutoFit/>
          </a:bodyPr>
          <a:lstStyle/>
          <a:p>
            <a:pPr algn="l">
              <a:lnSpc>
                <a:spcPct val="100000"/>
              </a:lnSpc>
            </a:pPr>
            <a:r>
              <a:rPr sz="1200" b="1" i="0">
                <a:solidFill>
                  <a:srgbClr val="065A82"/>
                </a:solidFill>
                <a:latin typeface="DejaVu Sans"/>
              </a:rPr>
              <a:t>Какие именно две из десяти эвристик Нильсена ломаются на продукте с языковой моделью</a:t>
            </a:r>
          </a:p>
        </p:txBody>
      </p:sp>
      <p:sp>
        <p:nvSpPr>
          <p:cNvPr id="12" name="Rounded Rectangle 11"/>
          <p:cNvSpPr/>
          <p:nvPr/>
        </p:nvSpPr>
        <p:spPr>
          <a:xfrm>
            <a:off x="502920" y="4169663"/>
            <a:ext cx="5486400" cy="1060704"/>
          </a:xfrm>
          <a:prstGeom prst="roundRect">
            <a:avLst>
              <a:gd name="adj" fmla="val 22000"/>
            </a:avLst>
          </a:prstGeom>
          <a:solidFill>
            <a:srgbClr val="F4F7FA"/>
          </a:solidFill>
          <a:ln w="1905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4224528"/>
            <a:ext cx="5120640" cy="237744"/>
          </a:xfrm>
          <a:prstGeom prst="rect">
            <a:avLst/>
          </a:prstGeom>
          <a:noFill/>
        </p:spPr>
        <p:txBody>
          <a:bodyPr wrap="square" lIns="0" rIns="0" tIns="0" bIns="0" anchor="t">
            <a:spAutoFit/>
          </a:bodyPr>
          <a:lstStyle/>
          <a:p>
            <a:pPr algn="l">
              <a:lnSpc>
                <a:spcPct val="100000"/>
              </a:lnSpc>
            </a:pPr>
            <a:r>
              <a:rPr sz="1150" b="1" i="0">
                <a:solidFill>
                  <a:srgbClr val="065A82"/>
                </a:solidFill>
                <a:latin typeface="DejaVu Sans"/>
              </a:rPr>
              <a:t>Эвристика 4 — единообразие и стандарты</a:t>
            </a:r>
          </a:p>
        </p:txBody>
      </p:sp>
      <p:sp>
        <p:nvSpPr>
          <p:cNvPr id="14" name="TextBox 13"/>
          <p:cNvSpPr txBox="1"/>
          <p:nvPr/>
        </p:nvSpPr>
        <p:spPr>
          <a:xfrm>
            <a:off x="685800" y="4480560"/>
            <a:ext cx="5120640" cy="694944"/>
          </a:xfrm>
          <a:prstGeom prst="rect">
            <a:avLst/>
          </a:prstGeom>
          <a:noFill/>
        </p:spPr>
        <p:txBody>
          <a:bodyPr wrap="square" lIns="0" rIns="0" tIns="0" bIns="0" anchor="t">
            <a:spAutoFit/>
          </a:bodyPr>
          <a:lstStyle/>
          <a:p>
            <a:pPr algn="l">
              <a:lnSpc>
                <a:spcPct val="112000"/>
              </a:lnSpc>
            </a:pPr>
            <a:r>
              <a:rPr sz="1000" b="0" i="0">
                <a:solidFill>
                  <a:srgbClr val="21295C"/>
                </a:solidFill>
                <a:latin typeface="DejaVu Sans"/>
              </a:rPr>
              <a:t>Классика исходит из того, что одинаковое действие даёт одинаковый результат. У языковой модели это не так: единообразие приходится переносить с точных слов на тон и поведение.</a:t>
            </a:r>
          </a:p>
        </p:txBody>
      </p:sp>
      <p:sp>
        <p:nvSpPr>
          <p:cNvPr id="15" name="Rounded Rectangle 14"/>
          <p:cNvSpPr/>
          <p:nvPr/>
        </p:nvSpPr>
        <p:spPr>
          <a:xfrm>
            <a:off x="6217920" y="4169663"/>
            <a:ext cx="5486400" cy="1060704"/>
          </a:xfrm>
          <a:prstGeom prst="roundRect">
            <a:avLst>
              <a:gd name="adj" fmla="val 22000"/>
            </a:avLst>
          </a:prstGeom>
          <a:solidFill>
            <a:srgbClr val="F4F7FA"/>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4224528"/>
            <a:ext cx="5120640" cy="237744"/>
          </a:xfrm>
          <a:prstGeom prst="rect">
            <a:avLst/>
          </a:prstGeom>
          <a:noFill/>
        </p:spPr>
        <p:txBody>
          <a:bodyPr wrap="square" lIns="0" rIns="0" tIns="0" bIns="0" anchor="t">
            <a:spAutoFit/>
          </a:bodyPr>
          <a:lstStyle/>
          <a:p>
            <a:pPr algn="l">
              <a:lnSpc>
                <a:spcPct val="100000"/>
              </a:lnSpc>
            </a:pPr>
            <a:r>
              <a:rPr sz="1150" b="1" i="0">
                <a:solidFill>
                  <a:srgbClr val="028090"/>
                </a:solidFill>
                <a:latin typeface="DejaVu Sans"/>
              </a:rPr>
              <a:t>Эвристика 9 — помощь в распознавании ошибки</a:t>
            </a:r>
          </a:p>
        </p:txBody>
      </p:sp>
      <p:sp>
        <p:nvSpPr>
          <p:cNvPr id="17" name="TextBox 16"/>
          <p:cNvSpPr txBox="1"/>
          <p:nvPr/>
        </p:nvSpPr>
        <p:spPr>
          <a:xfrm>
            <a:off x="6400800" y="4480560"/>
            <a:ext cx="5120640" cy="694944"/>
          </a:xfrm>
          <a:prstGeom prst="rect">
            <a:avLst/>
          </a:prstGeom>
          <a:noFill/>
        </p:spPr>
        <p:txBody>
          <a:bodyPr wrap="square" lIns="0" rIns="0" tIns="0" bIns="0" anchor="t">
            <a:spAutoFit/>
          </a:bodyPr>
          <a:lstStyle/>
          <a:p>
            <a:pPr algn="l">
              <a:lnSpc>
                <a:spcPct val="112000"/>
              </a:lnSpc>
            </a:pPr>
            <a:r>
              <a:rPr sz="1000" b="0" i="0">
                <a:solidFill>
                  <a:srgbClr val="21295C"/>
                </a:solidFill>
                <a:latin typeface="DejaVu Sans"/>
              </a:rPr>
              <a:t>Классика требует, чтобы система показывала, что пошло не так. Модель обычно не знает, что она неправа, и подаёт выдумку с той же уверенностью, что и факт.</a:t>
            </a:r>
          </a:p>
        </p:txBody>
      </p:sp>
      <p:sp>
        <p:nvSpPr>
          <p:cNvPr id="18" name="Rounded Rectangle 17"/>
          <p:cNvSpPr/>
          <p:nvPr/>
        </p:nvSpPr>
        <p:spPr>
          <a:xfrm>
            <a:off x="502920" y="5294376"/>
            <a:ext cx="11201400" cy="868680"/>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2376" y="5349240"/>
            <a:ext cx="10762488" cy="758952"/>
          </a:xfrm>
          <a:prstGeom prst="rect">
            <a:avLst/>
          </a:prstGeom>
          <a:noFill/>
        </p:spPr>
        <p:txBody>
          <a:bodyPr wrap="square" lIns="0" rIns="0" tIns="0" bIns="0" anchor="ctr">
            <a:spAutoFit/>
          </a:bodyPr>
          <a:lstStyle/>
          <a:p>
            <a:pPr algn="l">
              <a:lnSpc>
                <a:spcPct val="120000"/>
              </a:lnSpc>
            </a:pPr>
            <a:r>
              <a:rPr sz="1250" b="1" i="0">
                <a:solidFill>
                  <a:srgbClr val="21295C"/>
                </a:solidFill>
                <a:latin typeface="DejaVu Sans"/>
              </a:rPr>
              <a:t>Отсюда три приёма подачи, которых в классике нет: система говорит о своей неуверенности от первого лица, а не общей оговоркой мелким шрифтом; человек стоит в контуре решения там, где у ошибки есть настоящая цена; и прямо сказано, что ответ сгенерирован.</a:t>
            </a:r>
          </a:p>
        </p:txBody>
      </p:sp>
      <p:sp>
        <p:nvSpPr>
          <p:cNvPr id="20" name="TextBox 19"/>
          <p:cNvSpPr txBox="1"/>
          <p:nvPr/>
        </p:nvSpPr>
        <p:spPr>
          <a:xfrm>
            <a:off x="502920" y="6455664"/>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3"/>
              </a:rPr>
              <a:t>Web4All 2026 — «Generated Inaccessible»</a:t>
            </a:r>
          </a:p>
        </p:txBody>
      </p:sp>
      <p:sp>
        <p:nvSpPr>
          <p:cNvPr id="21" name="TextBox 20"/>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18 / 54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18872"/>
            <a:ext cx="11247120" cy="841248"/>
          </a:xfrm>
          <a:prstGeom prst="rect">
            <a:avLst/>
          </a:prstGeom>
          <a:noFill/>
        </p:spPr>
        <p:txBody>
          <a:bodyPr wrap="square" lIns="0" rIns="0" tIns="0" bIns="0" anchor="t">
            <a:spAutoFit/>
          </a:bodyPr>
          <a:lstStyle/>
          <a:p>
            <a:pPr algn="l">
              <a:lnSpc>
                <a:spcPct val="110000"/>
              </a:lnSpc>
            </a:pPr>
            <a:r>
              <a:rPr sz="2100" b="1" i="0">
                <a:solidFill>
                  <a:srgbClr val="21295C"/>
                </a:solidFill>
                <a:latin typeface="DejaVu Sans"/>
              </a:rPr>
              <a:t>Защиту несовершеннолетних включили через три года после запуска — и через 21 месяц после смерти подростка</a:t>
            </a:r>
          </a:p>
        </p:txBody>
      </p:sp>
      <p:sp>
        <p:nvSpPr>
          <p:cNvPr id="3" name="Rounded Rectangle 2"/>
          <p:cNvSpPr/>
          <p:nvPr/>
        </p:nvSpPr>
        <p:spPr>
          <a:xfrm>
            <a:off x="502920" y="1024128"/>
            <a:ext cx="11201400" cy="1755648"/>
          </a:xfrm>
          <a:prstGeom prst="roundRect">
            <a:avLst>
              <a:gd name="adj" fmla="val 17361"/>
            </a:avLst>
          </a:prstGeom>
          <a:solidFill>
            <a:srgbClr val="F4F7FA"/>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58368" y="1170432"/>
            <a:ext cx="2240280" cy="932688"/>
          </a:xfrm>
          <a:prstGeom prst="roundRect">
            <a:avLst>
              <a:gd name="adj" fmla="val 22000"/>
            </a:avLst>
          </a:prstGeom>
          <a:solidFill>
            <a:srgbClr val="FFFFFF"/>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19-characterai-real-source.png"/>
          <p:cNvPicPr>
            <a:picLocks noChangeAspect="1"/>
          </p:cNvPicPr>
          <p:nvPr/>
        </p:nvPicPr>
        <p:blipFill>
          <a:blip r:embed="rId2"/>
          <a:stretch>
            <a:fillRect/>
          </a:stretch>
        </p:blipFill>
        <p:spPr>
          <a:xfrm>
            <a:off x="786384" y="1429825"/>
            <a:ext cx="1984248" cy="413902"/>
          </a:xfrm>
          <a:prstGeom prst="rect">
            <a:avLst/>
          </a:prstGeom>
        </p:spPr>
      </p:pic>
      <p:sp>
        <p:nvSpPr>
          <p:cNvPr id="6" name="TextBox 5"/>
          <p:cNvSpPr txBox="1"/>
          <p:nvPr/>
        </p:nvSpPr>
        <p:spPr>
          <a:xfrm>
            <a:off x="658368" y="2176272"/>
            <a:ext cx="2240280" cy="365760"/>
          </a:xfrm>
          <a:prstGeom prst="rect">
            <a:avLst/>
          </a:prstGeom>
          <a:noFill/>
        </p:spPr>
        <p:txBody>
          <a:bodyPr wrap="square" lIns="0" rIns="0" tIns="0" bIns="0" anchor="t">
            <a:spAutoFit/>
          </a:bodyPr>
          <a:lstStyle/>
          <a:p>
            <a:pPr algn="ctr">
              <a:lnSpc>
                <a:spcPct val="105000"/>
              </a:lnSpc>
            </a:pPr>
            <a:r>
              <a:rPr sz="950" b="0" i="1">
                <a:solidFill>
                  <a:srgbClr val="5B6678"/>
                </a:solidFill>
                <a:latin typeface="DejaVu Sans"/>
              </a:rPr>
              <a:t>сервис общения</a:t>
            </a:r>
          </a:p>
          <a:p>
            <a:pPr algn="ctr">
              <a:lnSpc>
                <a:spcPct val="105000"/>
              </a:lnSpc>
            </a:pPr>
            <a:r>
              <a:rPr sz="950" b="0" i="1">
                <a:solidFill>
                  <a:srgbClr val="5B6678"/>
                </a:solidFill>
                <a:latin typeface="DejaVu Sans"/>
              </a:rPr>
              <a:t>с ИИ-персонажами</a:t>
            </a:r>
          </a:p>
        </p:txBody>
      </p:sp>
      <p:sp>
        <p:nvSpPr>
          <p:cNvPr id="7" name="TextBox 6"/>
          <p:cNvSpPr txBox="1"/>
          <p:nvPr/>
        </p:nvSpPr>
        <p:spPr>
          <a:xfrm>
            <a:off x="3090672" y="1097280"/>
            <a:ext cx="8412480" cy="237744"/>
          </a:xfrm>
          <a:prstGeom prst="rect">
            <a:avLst/>
          </a:prstGeom>
          <a:noFill/>
        </p:spPr>
        <p:txBody>
          <a:bodyPr wrap="square" lIns="0" rIns="0" tIns="0" bIns="0" anchor="t">
            <a:spAutoFit/>
          </a:bodyPr>
          <a:lstStyle/>
          <a:p>
            <a:pPr algn="l">
              <a:lnSpc>
                <a:spcPct val="115000"/>
              </a:lnSpc>
            </a:pPr>
            <a:r>
              <a:rPr sz="1200" b="1" i="0">
                <a:solidFill>
                  <a:srgbClr val="065A82"/>
                </a:solidFill>
                <a:latin typeface="DejaVu Sans"/>
              </a:rPr>
              <a:t>Что за случай</a:t>
            </a:r>
          </a:p>
        </p:txBody>
      </p:sp>
      <p:sp>
        <p:nvSpPr>
          <p:cNvPr id="8" name="TextBox 7"/>
          <p:cNvSpPr txBox="1"/>
          <p:nvPr/>
        </p:nvSpPr>
        <p:spPr>
          <a:xfrm>
            <a:off x="3090672" y="1353312"/>
            <a:ext cx="8412480" cy="1353312"/>
          </a:xfrm>
          <a:prstGeom prst="rect">
            <a:avLst/>
          </a:prstGeom>
          <a:noFill/>
        </p:spPr>
        <p:txBody>
          <a:bodyPr wrap="square" lIns="0" rIns="0" tIns="0" bIns="0" anchor="t">
            <a:spAutoFit/>
          </a:bodyPr>
          <a:lstStyle/>
          <a:p>
            <a:pPr algn="l">
              <a:lnSpc>
                <a:spcPct val="115000"/>
              </a:lnSpc>
            </a:pPr>
            <a:r>
              <a:rPr sz="1100" b="1" i="0">
                <a:solidFill>
                  <a:srgbClr val="21295C"/>
                </a:solidFill>
                <a:latin typeface="DejaVu Sans"/>
              </a:rPr>
              <a:t>Character.AI </a:t>
            </a:r>
            <a:r>
              <a:rPr sz="1100" b="0" i="0">
                <a:solidFill>
                  <a:srgbClr val="21295C"/>
                </a:solidFill>
                <a:latin typeface="DejaVu Sans"/>
              </a:rPr>
              <a:t>— сервис, где человек переписывается с вымышленными персонажами: можно выбрать готового героя или сочинить своего, а отвечает за него языковая модель. Продукт устроен так, чтобы к персонажу возвращались: он помнит переписку, держит характер и поддерживает разговор сколь угодно долго.</a:t>
            </a:r>
          </a:p>
          <a:p>
            <a:pPr algn="l">
              <a:lnSpc>
                <a:spcPct val="115000"/>
              </a:lnSpc>
              <a:spcBef>
                <a:spcPts val="400"/>
              </a:spcBef>
            </a:pPr>
            <a:r>
              <a:rPr sz="1100" b="0" i="0">
                <a:solidFill>
                  <a:srgbClr val="21295C"/>
                </a:solidFill>
                <a:latin typeface="DejaVu Sans"/>
              </a:rPr>
              <a:t>В феврале 2024 года четырнадцатилетний пользователь покончил с собой после месяцев ежедневного общения с таким персонажем </a:t>
            </a:r>
            <a:r>
              <a:rPr sz="572" baseline="30000" b="0" i="1">
                <a:latin typeface="DejaVu Sans"/>
                <a:cs typeface="DejaVu Sans"/>
                <a:ea typeface="DejaVu Sans"/>
                <a:solidFill>
                  <a:srgbClr val="1C7293"/>
                </a:solidFill>
              </a:rPr>
              <a:t>[1]</a:t>
            </a:r>
            <a:r>
              <a:rPr sz="1100" b="0" i="0">
                <a:latin typeface="DejaVu Sans"/>
                <a:cs typeface="DejaVu Sans"/>
                <a:ea typeface="DejaVu Sans"/>
                <a:solidFill>
                  <a:srgbClr val="21295C"/>
                </a:solidFill>
              </a:rPr>
              <a:t>. Проверки возраста, распознавания кризисного состояния и ограничения времени в продукте тогда не было.</a:t>
            </a:r>
          </a:p>
        </p:txBody>
      </p:sp>
      <p:sp>
        <p:nvSpPr>
          <p:cNvPr id="9" name="Rounded Rectangle 8"/>
          <p:cNvSpPr/>
          <p:nvPr/>
        </p:nvSpPr>
        <p:spPr>
          <a:xfrm>
            <a:off x="502920" y="2889504"/>
            <a:ext cx="11201400" cy="1005840"/>
          </a:xfrm>
          <a:prstGeom prst="roundRect">
            <a:avLst>
              <a:gd name="adj" fmla="val 22000"/>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289304" y="3108960"/>
            <a:ext cx="256032" cy="256032"/>
          </a:xfrm>
          <a:prstGeom prst="ellipse">
            <a:avLst/>
          </a:prstGeom>
          <a:solidFill>
            <a:srgbClr val="1C7293"/>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3401568"/>
            <a:ext cx="2103120" cy="402336"/>
          </a:xfrm>
          <a:prstGeom prst="rect">
            <a:avLst/>
          </a:prstGeom>
          <a:noFill/>
        </p:spPr>
        <p:txBody>
          <a:bodyPr wrap="square" lIns="0" rIns="0" tIns="0" bIns="0" anchor="t">
            <a:spAutoFit/>
          </a:bodyPr>
          <a:lstStyle/>
          <a:p>
            <a:pPr algn="ctr">
              <a:lnSpc>
                <a:spcPct val="95000"/>
              </a:lnSpc>
            </a:pPr>
            <a:r>
              <a:rPr sz="950" b="1" i="0">
                <a:solidFill>
                  <a:srgbClr val="21295C"/>
                </a:solidFill>
                <a:latin typeface="DejaVu Sans"/>
              </a:rPr>
              <a:t>Запуск</a:t>
            </a:r>
          </a:p>
          <a:p>
            <a:pPr algn="ctr">
              <a:lnSpc>
                <a:spcPct val="95000"/>
              </a:lnSpc>
            </a:pPr>
            <a:r>
              <a:rPr sz="950" b="1" i="0">
                <a:solidFill>
                  <a:srgbClr val="21295C"/>
                </a:solidFill>
                <a:latin typeface="DejaVu Sans"/>
              </a:rPr>
              <a:t>09.2022</a:t>
            </a:r>
          </a:p>
        </p:txBody>
      </p:sp>
      <p:cxnSp>
        <p:nvCxnSpPr>
          <p:cNvPr id="12" name="Connector 11"/>
          <p:cNvCxnSpPr/>
          <p:nvPr/>
        </p:nvCxnSpPr>
        <p:spPr>
          <a:xfrm>
            <a:off x="1545336" y="3236976"/>
            <a:ext cx="2029967" cy="0"/>
          </a:xfrm>
          <a:prstGeom prst="line">
            <a:avLst/>
          </a:prstGeom>
          <a:ln w="25400">
            <a:solidFill>
              <a:srgbClr val="E5EAF0"/>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3575303" y="3108960"/>
            <a:ext cx="256032" cy="256032"/>
          </a:xfrm>
          <a:prstGeom prst="ellipse">
            <a:avLst/>
          </a:prstGeom>
          <a:solidFill>
            <a:srgbClr val="1C7293"/>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51760" y="3401568"/>
            <a:ext cx="2103120" cy="402336"/>
          </a:xfrm>
          <a:prstGeom prst="rect">
            <a:avLst/>
          </a:prstGeom>
          <a:noFill/>
        </p:spPr>
        <p:txBody>
          <a:bodyPr wrap="square" lIns="0" rIns="0" tIns="0" bIns="0" anchor="t">
            <a:spAutoFit/>
          </a:bodyPr>
          <a:lstStyle/>
          <a:p>
            <a:pPr algn="ctr">
              <a:lnSpc>
                <a:spcPct val="95000"/>
              </a:lnSpc>
            </a:pPr>
            <a:r>
              <a:rPr sz="950" b="1" i="0">
                <a:solidFill>
                  <a:srgbClr val="21295C"/>
                </a:solidFill>
                <a:latin typeface="DejaVu Sans"/>
              </a:rPr>
              <a:t>Смерть подростка</a:t>
            </a:r>
          </a:p>
          <a:p>
            <a:pPr algn="ctr">
              <a:lnSpc>
                <a:spcPct val="95000"/>
              </a:lnSpc>
            </a:pPr>
            <a:r>
              <a:rPr sz="950" b="1" i="0">
                <a:solidFill>
                  <a:srgbClr val="21295C"/>
                </a:solidFill>
                <a:latin typeface="DejaVu Sans"/>
              </a:rPr>
              <a:t>02.2024</a:t>
            </a:r>
          </a:p>
        </p:txBody>
      </p:sp>
      <p:cxnSp>
        <p:nvCxnSpPr>
          <p:cNvPr id="15" name="Connector 14"/>
          <p:cNvCxnSpPr/>
          <p:nvPr/>
        </p:nvCxnSpPr>
        <p:spPr>
          <a:xfrm>
            <a:off x="3831335" y="3236976"/>
            <a:ext cx="2075689" cy="0"/>
          </a:xfrm>
          <a:prstGeom prst="line">
            <a:avLst/>
          </a:prstGeom>
          <a:ln w="25400">
            <a:solidFill>
              <a:srgbClr val="E5EAF0"/>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5907024" y="3108960"/>
            <a:ext cx="256032" cy="256032"/>
          </a:xfrm>
          <a:prstGeom prst="ellipse">
            <a:avLst/>
          </a:prstGeom>
          <a:solidFill>
            <a:srgbClr val="1C7293"/>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983479" y="3401568"/>
            <a:ext cx="2103120" cy="402336"/>
          </a:xfrm>
          <a:prstGeom prst="rect">
            <a:avLst/>
          </a:prstGeom>
          <a:noFill/>
        </p:spPr>
        <p:txBody>
          <a:bodyPr wrap="square" lIns="0" rIns="0" tIns="0" bIns="0" anchor="t">
            <a:spAutoFit/>
          </a:bodyPr>
          <a:lstStyle/>
          <a:p>
            <a:pPr algn="ctr">
              <a:lnSpc>
                <a:spcPct val="95000"/>
              </a:lnSpc>
            </a:pPr>
            <a:r>
              <a:rPr sz="950" b="1" i="0">
                <a:solidFill>
                  <a:srgbClr val="21295C"/>
                </a:solidFill>
                <a:latin typeface="DejaVu Sans"/>
              </a:rPr>
              <a:t>Иск</a:t>
            </a:r>
          </a:p>
          <a:p>
            <a:pPr algn="ctr">
              <a:lnSpc>
                <a:spcPct val="95000"/>
              </a:lnSpc>
            </a:pPr>
            <a:r>
              <a:rPr sz="950" b="1" i="0">
                <a:solidFill>
                  <a:srgbClr val="21295C"/>
                </a:solidFill>
                <a:latin typeface="DejaVu Sans"/>
              </a:rPr>
              <a:t>10.2024</a:t>
            </a:r>
          </a:p>
        </p:txBody>
      </p:sp>
      <p:cxnSp>
        <p:nvCxnSpPr>
          <p:cNvPr id="18" name="Connector 17"/>
          <p:cNvCxnSpPr/>
          <p:nvPr/>
        </p:nvCxnSpPr>
        <p:spPr>
          <a:xfrm>
            <a:off x="6163055" y="3236976"/>
            <a:ext cx="2075689" cy="0"/>
          </a:xfrm>
          <a:prstGeom prst="line">
            <a:avLst/>
          </a:prstGeom>
          <a:ln w="25400">
            <a:solidFill>
              <a:srgbClr val="E5EAF0"/>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8238744" y="3108960"/>
            <a:ext cx="256032" cy="256032"/>
          </a:xfrm>
          <a:prstGeom prst="ellipse">
            <a:avLst/>
          </a:prstGeom>
          <a:solidFill>
            <a:srgbClr val="F0AB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0" y="3401568"/>
            <a:ext cx="2103120" cy="402336"/>
          </a:xfrm>
          <a:prstGeom prst="rect">
            <a:avLst/>
          </a:prstGeom>
          <a:noFill/>
        </p:spPr>
        <p:txBody>
          <a:bodyPr wrap="square" lIns="0" rIns="0" tIns="0" bIns="0" anchor="t">
            <a:spAutoFit/>
          </a:bodyPr>
          <a:lstStyle/>
          <a:p>
            <a:pPr algn="ctr">
              <a:lnSpc>
                <a:spcPct val="95000"/>
              </a:lnSpc>
            </a:pPr>
            <a:r>
              <a:rPr sz="950" b="1" i="0">
                <a:solidFill>
                  <a:srgbClr val="21295C"/>
                </a:solidFill>
                <a:latin typeface="DejaVu Sans"/>
              </a:rPr>
              <a:t>Защита включена</a:t>
            </a:r>
          </a:p>
          <a:p>
            <a:pPr algn="ctr">
              <a:lnSpc>
                <a:spcPct val="95000"/>
              </a:lnSpc>
            </a:pPr>
            <a:r>
              <a:rPr sz="950" b="1" i="0">
                <a:solidFill>
                  <a:srgbClr val="21295C"/>
                </a:solidFill>
                <a:latin typeface="DejaVu Sans"/>
              </a:rPr>
              <a:t>11.2025 </a:t>
            </a:r>
            <a:r>
              <a:rPr sz="494" baseline="30000" b="0" i="1">
                <a:latin typeface="DejaVu Sans"/>
                <a:cs typeface="DejaVu Sans"/>
                <a:ea typeface="DejaVu Sans"/>
                <a:solidFill>
                  <a:srgbClr val="1C7293"/>
                </a:solidFill>
              </a:rPr>
              <a:t>[3]</a:t>
            </a:r>
          </a:p>
        </p:txBody>
      </p:sp>
      <p:cxnSp>
        <p:nvCxnSpPr>
          <p:cNvPr id="21" name="Connector 20"/>
          <p:cNvCxnSpPr/>
          <p:nvPr/>
        </p:nvCxnSpPr>
        <p:spPr>
          <a:xfrm>
            <a:off x="8494776" y="3236976"/>
            <a:ext cx="2029968" cy="0"/>
          </a:xfrm>
          <a:prstGeom prst="line">
            <a:avLst/>
          </a:prstGeom>
          <a:ln w="25400">
            <a:solidFill>
              <a:srgbClr val="E5EAF0"/>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10524744" y="3108960"/>
            <a:ext cx="256032" cy="256032"/>
          </a:xfrm>
          <a:prstGeom prst="ellipse">
            <a:avLst/>
          </a:prstGeom>
          <a:solidFill>
            <a:srgbClr val="1C7293"/>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01200" y="3401568"/>
            <a:ext cx="2103120" cy="402336"/>
          </a:xfrm>
          <a:prstGeom prst="rect">
            <a:avLst/>
          </a:prstGeom>
          <a:noFill/>
        </p:spPr>
        <p:txBody>
          <a:bodyPr wrap="square" lIns="0" rIns="0" tIns="0" bIns="0" anchor="t">
            <a:spAutoFit/>
          </a:bodyPr>
          <a:lstStyle/>
          <a:p>
            <a:pPr algn="ctr">
              <a:lnSpc>
                <a:spcPct val="95000"/>
              </a:lnSpc>
            </a:pPr>
            <a:r>
              <a:rPr sz="950" b="1" i="0">
                <a:solidFill>
                  <a:srgbClr val="21295C"/>
                </a:solidFill>
                <a:latin typeface="DejaVu Sans"/>
              </a:rPr>
              <a:t>Урегулирование</a:t>
            </a:r>
          </a:p>
          <a:p>
            <a:pPr algn="ctr">
              <a:lnSpc>
                <a:spcPct val="95000"/>
              </a:lnSpc>
            </a:pPr>
            <a:r>
              <a:rPr sz="950" b="1" i="0">
                <a:solidFill>
                  <a:srgbClr val="21295C"/>
                </a:solidFill>
                <a:latin typeface="DejaVu Sans"/>
              </a:rPr>
              <a:t>01.2026 </a:t>
            </a:r>
            <a:r>
              <a:rPr sz="494" baseline="30000" b="0" i="1">
                <a:latin typeface="DejaVu Sans"/>
                <a:cs typeface="DejaVu Sans"/>
                <a:ea typeface="DejaVu Sans"/>
                <a:solidFill>
                  <a:srgbClr val="1C7293"/>
                </a:solidFill>
              </a:rPr>
              <a:t>[2]</a:t>
            </a:r>
          </a:p>
        </p:txBody>
      </p:sp>
      <p:sp>
        <p:nvSpPr>
          <p:cNvPr id="24" name="Rounded Rectangle 23"/>
          <p:cNvSpPr/>
          <p:nvPr/>
        </p:nvSpPr>
        <p:spPr>
          <a:xfrm>
            <a:off x="502920" y="4005072"/>
            <a:ext cx="11201400" cy="102412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2376" y="4059935"/>
            <a:ext cx="10762488" cy="914400"/>
          </a:xfrm>
          <a:prstGeom prst="rect">
            <a:avLst/>
          </a:prstGeom>
          <a:noFill/>
        </p:spPr>
        <p:txBody>
          <a:bodyPr wrap="square" lIns="0" rIns="0" tIns="0" bIns="0" anchor="ctr">
            <a:spAutoFit/>
          </a:bodyPr>
          <a:lstStyle/>
          <a:p>
            <a:pPr algn="l">
              <a:lnSpc>
                <a:spcPct val="120000"/>
              </a:lnSpc>
            </a:pPr>
            <a:r>
              <a:rPr sz="1250" b="1" i="0">
                <a:solidFill>
                  <a:srgbClr val="21295C"/>
                </a:solidFill>
                <a:latin typeface="DejaVu Sans"/>
              </a:rPr>
              <a:t>Корень — не сбой в работе, а требование, которого не было в задании на дизайн: продукт оптимизировали на то, чтобы к нему возвращались, и ни разу не спросили, кто может пострадать от такого потока общения. Ошибку в работе ловят проверкой перед выпуском. Требование, которого нет, не ловится ничем, кроме вопроса, заданного вовремя, — ни один тест не проверяет то, чего никто не просил.</a:t>
            </a:r>
          </a:p>
        </p:txBody>
      </p:sp>
      <p:sp>
        <p:nvSpPr>
          <p:cNvPr id="26" name="Rounded Rectangle 25"/>
          <p:cNvSpPr/>
          <p:nvPr/>
        </p:nvSpPr>
        <p:spPr>
          <a:xfrm>
            <a:off x="502920" y="5138928"/>
            <a:ext cx="11201400" cy="859536"/>
          </a:xfrm>
          <a:prstGeom prst="roundRect">
            <a:avLst>
              <a:gd name="adj" fmla="val 10000"/>
            </a:avLst>
          </a:prstGeom>
          <a:solidFill>
            <a:srgbClr val="E4F1F2"/>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2376" y="5193792"/>
            <a:ext cx="10762488" cy="749808"/>
          </a:xfrm>
          <a:prstGeom prst="rect">
            <a:avLst/>
          </a:prstGeom>
          <a:noFill/>
        </p:spPr>
        <p:txBody>
          <a:bodyPr wrap="square" lIns="0" rIns="0" tIns="0" bIns="0" anchor="ctr">
            <a:spAutoFit/>
          </a:bodyPr>
          <a:lstStyle/>
          <a:p>
            <a:pPr algn="l">
              <a:lnSpc>
                <a:spcPct val="118000"/>
              </a:lnSpc>
            </a:pPr>
            <a:r>
              <a:rPr sz="1150" b="0" i="0">
                <a:solidFill>
                  <a:srgbClr val="21295C"/>
                </a:solidFill>
                <a:latin typeface="DejaVu Sans"/>
              </a:rPr>
              <a:t>Там, где продукт рассчитан на эмоциональную привязанность уязвимых людей, защита входит в первую же версию, а не добавляется после иска. Альтернатива не гипотетическая: площадки взаимной поддержки с живой модерацией и клинически проверенные помощники с обязательной передачей случая живому человеку.</a:t>
            </a:r>
          </a:p>
        </p:txBody>
      </p:sp>
      <p:sp>
        <p:nvSpPr>
          <p:cNvPr id="28" name="TextBox 27"/>
          <p:cNvSpPr txBox="1"/>
          <p:nvPr/>
        </p:nvSpPr>
        <p:spPr>
          <a:xfrm>
            <a:off x="502920" y="6419088"/>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3"/>
              </a:rPr>
              <a:t>Washington Post (24 окт. 2024)</a:t>
            </a:r>
            <a:r>
              <a:rPr sz="850" i="1">
                <a:solidFill>
                  <a:srgbClr val="1C7293"/>
                </a:solidFill>
                <a:latin typeface="DejaVu Sans"/>
              </a:rPr>
              <a:t>   ·   </a:t>
            </a:r>
            <a:r>
              <a:rPr sz="850" b="1" i="1">
                <a:solidFill>
                  <a:srgbClr val="065A82"/>
                </a:solidFill>
                <a:latin typeface="DejaVu Sans"/>
              </a:rPr>
              <a:t>[2] </a:t>
            </a:r>
            <a:r>
              <a:rPr sz="850" i="1">
                <a:solidFill>
                  <a:srgbClr val="1C7293"/>
                </a:solidFill>
                <a:latin typeface="DejaVu Sans"/>
                <a:hlinkClick r:id="rId4"/>
              </a:rPr>
              <a:t>CBS News (7 янв. 2026) — урегулирование</a:t>
            </a:r>
            <a:r>
              <a:rPr sz="850" i="1">
                <a:solidFill>
                  <a:srgbClr val="1C7293"/>
                </a:solidFill>
                <a:latin typeface="DejaVu Sans"/>
              </a:rPr>
              <a:t>   ·   </a:t>
            </a:r>
            <a:r>
              <a:rPr sz="850" b="1" i="1">
                <a:solidFill>
                  <a:srgbClr val="065A82"/>
                </a:solidFill>
                <a:latin typeface="DejaVu Sans"/>
              </a:rPr>
              <a:t>[3] </a:t>
            </a:r>
            <a:r>
              <a:rPr sz="850" i="1">
                <a:solidFill>
                  <a:srgbClr val="1C7293"/>
                </a:solidFill>
                <a:latin typeface="DejaVu Sans"/>
                <a:hlinkClick r:id="rId5"/>
              </a:rPr>
              <a:t>Character.AI — объявление о защите несовершеннолетних (29 окт. 2025)</a:t>
            </a:r>
          </a:p>
        </p:txBody>
      </p:sp>
      <p:sp>
        <p:nvSpPr>
          <p:cNvPr id="29" name="TextBox 28"/>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19 / 54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extBox 1"/>
          <p:cNvSpPr txBox="1"/>
          <p:nvPr/>
        </p:nvSpPr>
        <p:spPr>
          <a:xfrm>
            <a:off x="9464040" y="91440"/>
            <a:ext cx="2651760" cy="1188720"/>
          </a:xfrm>
          <a:prstGeom prst="rect">
            <a:avLst/>
          </a:prstGeom>
          <a:noFill/>
        </p:spPr>
        <p:txBody>
          <a:bodyPr wrap="square" lIns="0" rIns="0" tIns="0" bIns="0" anchor="ctr">
            <a:spAutoFit/>
          </a:bodyPr>
          <a:lstStyle/>
          <a:p>
            <a:pPr algn="ctr">
              <a:lnSpc>
                <a:spcPct val="115000"/>
              </a:lnSpc>
            </a:pPr>
            <a:r>
              <a:rPr sz="9000" b="1" i="0">
                <a:solidFill>
                  <a:srgbClr val="D9E2EC"/>
                </a:solidFill>
                <a:latin typeface="DejaVu Sans"/>
              </a:rPr>
              <a:t>3</a:t>
            </a:r>
          </a:p>
        </p:txBody>
      </p:sp>
      <p:sp>
        <p:nvSpPr>
          <p:cNvPr id="3" name="Rounded Rectangle 2"/>
          <p:cNvSpPr/>
          <p:nvPr/>
        </p:nvSpPr>
        <p:spPr>
          <a:xfrm>
            <a:off x="7635240" y="1234440"/>
            <a:ext cx="4069080" cy="4160520"/>
          </a:xfrm>
          <a:prstGeom prst="roundRect">
            <a:avLst>
              <a:gd name="adj" fmla="val 749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21-anakin-padme.jpg"/>
          <p:cNvPicPr>
            <a:picLocks noChangeAspect="1"/>
          </p:cNvPicPr>
          <p:nvPr/>
        </p:nvPicPr>
        <p:blipFill>
          <a:blip r:embed="rId2"/>
          <a:stretch>
            <a:fillRect/>
          </a:stretch>
        </p:blipFill>
        <p:spPr>
          <a:xfrm>
            <a:off x="7763256" y="1408176"/>
            <a:ext cx="3813048" cy="3813048"/>
          </a:xfrm>
          <a:prstGeom prst="rect">
            <a:avLst/>
          </a:prstGeom>
        </p:spPr>
      </p:pic>
      <p:sp>
        <p:nvSpPr>
          <p:cNvPr id="5" name="TextBox 4"/>
          <p:cNvSpPr txBox="1"/>
          <p:nvPr/>
        </p:nvSpPr>
        <p:spPr>
          <a:xfrm>
            <a:off x="685800" y="1417320"/>
            <a:ext cx="6675120" cy="502920"/>
          </a:xfrm>
          <a:prstGeom prst="rect">
            <a:avLst/>
          </a:prstGeom>
          <a:noFill/>
        </p:spPr>
        <p:txBody>
          <a:bodyPr wrap="square" lIns="0" rIns="0" tIns="0" bIns="0" anchor="t">
            <a:spAutoFit/>
          </a:bodyPr>
          <a:lstStyle/>
          <a:p>
            <a:pPr algn="l">
              <a:lnSpc>
                <a:spcPct val="115000"/>
              </a:lnSpc>
            </a:pPr>
            <a:r>
              <a:rPr sz="2000" b="1" i="0">
                <a:solidFill>
                  <a:srgbClr val="028090"/>
                </a:solidFill>
                <a:latin typeface="DejaVu Sans"/>
              </a:rPr>
              <a:t>РАЗДЕЛ 3</a:t>
            </a:r>
          </a:p>
        </p:txBody>
      </p:sp>
      <p:sp>
        <p:nvSpPr>
          <p:cNvPr id="6" name="TextBox 5"/>
          <p:cNvSpPr txBox="1"/>
          <p:nvPr/>
        </p:nvSpPr>
        <p:spPr>
          <a:xfrm>
            <a:off x="685800" y="2395728"/>
            <a:ext cx="6675120" cy="1600200"/>
          </a:xfrm>
          <a:prstGeom prst="rect">
            <a:avLst/>
          </a:prstGeom>
          <a:noFill/>
        </p:spPr>
        <p:txBody>
          <a:bodyPr wrap="square" lIns="0" rIns="0" tIns="0" bIns="0" anchor="t">
            <a:spAutoFit/>
          </a:bodyPr>
          <a:lstStyle/>
          <a:p>
            <a:pPr algn="l">
              <a:lnSpc>
                <a:spcPct val="108000"/>
              </a:lnSpc>
            </a:pPr>
            <a:r>
              <a:rPr sz="3000" b="1" i="0">
                <a:solidFill>
                  <a:srgbClr val="21295C"/>
                </a:solidFill>
                <a:latin typeface="DejaVu Sans"/>
              </a:rPr>
              <a:t>Сборка и запуск — довести продукт до пользователя, пока ошибка ещё обратима</a:t>
            </a:r>
          </a:p>
        </p:txBody>
      </p:sp>
      <p:sp>
        <p:nvSpPr>
          <p:cNvPr id="7" name="Rounded Rectangle 6"/>
          <p:cNvSpPr/>
          <p:nvPr/>
        </p:nvSpPr>
        <p:spPr>
          <a:xfrm>
            <a:off x="713232" y="3840480"/>
            <a:ext cx="3291840" cy="384048"/>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250" b="1">
                <a:solidFill>
                  <a:srgbClr val="21295C"/>
                </a:solidFill>
                <a:latin typeface="DejaVu Sans"/>
              </a:rPr>
              <a:t>3 приёма · 2 разобранных случая</a:t>
            </a:r>
          </a:p>
        </p:txBody>
      </p:sp>
      <p:sp>
        <p:nvSpPr>
          <p:cNvPr id="8" name="TextBox 7"/>
          <p:cNvSpPr txBox="1"/>
          <p:nvPr/>
        </p:nvSpPr>
        <p:spPr>
          <a:xfrm>
            <a:off x="713232" y="4389120"/>
            <a:ext cx="6720840" cy="1417320"/>
          </a:xfrm>
          <a:prstGeom prst="rect">
            <a:avLst/>
          </a:prstGeom>
          <a:noFill/>
        </p:spPr>
        <p:txBody>
          <a:bodyPr wrap="square" lIns="0" rIns="0" tIns="0" bIns="0" anchor="t">
            <a:spAutoFit/>
          </a:bodyPr>
          <a:lstStyle/>
          <a:p>
            <a:pPr algn="l">
              <a:lnSpc>
                <a:spcPct val="116000"/>
              </a:lnSpc>
            </a:pPr>
            <a:r>
              <a:rPr sz="1500" b="0" i="1">
                <a:solidFill>
                  <a:srgbClr val="1C7293"/>
                </a:solidFill>
                <a:latin typeface="DejaVu Sans"/>
              </a:rPr>
              <a:t>Без дисциплины запуска у сбоя два исхода, и оба плохие: продукт застревает в бесконечном пилоте и гипотеза не проверяется — либо выходит сразу на всех, и редкий сбой становится кризисом за день.</a:t>
            </a:r>
          </a:p>
        </p:txBody>
      </p:sp>
      <p:sp>
        <p:nvSpPr>
          <p:cNvPr id="9" name="Rounded Rectangle 8"/>
          <p:cNvSpPr/>
          <p:nvPr/>
        </p:nvSpPr>
        <p:spPr>
          <a:xfrm>
            <a:off x="502920"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1208"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0</a:t>
            </a:r>
          </a:p>
        </p:txBody>
      </p:sp>
      <p:sp>
        <p:nvSpPr>
          <p:cNvPr id="11" name="TextBox 10"/>
          <p:cNvSpPr txBox="1"/>
          <p:nvPr/>
        </p:nvSpPr>
        <p:spPr>
          <a:xfrm>
            <a:off x="521208" y="6217920"/>
            <a:ext cx="1283589" cy="274320"/>
          </a:xfrm>
          <a:prstGeom prst="rect">
            <a:avLst/>
          </a:prstGeom>
          <a:noFill/>
        </p:spPr>
        <p:txBody>
          <a:bodyPr wrap="square" lIns="0" rIns="0" tIns="0" bIns="0" anchor="t">
            <a:spAutoFit/>
          </a:bodyPr>
          <a:lstStyle/>
          <a:p>
            <a:pPr algn="ctr">
              <a:lnSpc>
                <a:spcPct val="92000"/>
              </a:lnSpc>
            </a:pPr>
            <a:r>
              <a:rPr sz="900" b="0" i="0">
                <a:solidFill>
                  <a:srgbClr val="5B6678"/>
                </a:solidFill>
                <a:latin typeface="DejaVu Sans"/>
              </a:rPr>
              <a:t>Введение</a:t>
            </a:r>
          </a:p>
        </p:txBody>
      </p:sp>
      <p:sp>
        <p:nvSpPr>
          <p:cNvPr id="12" name="Rounded Rectangle 11"/>
          <p:cNvSpPr/>
          <p:nvPr/>
        </p:nvSpPr>
        <p:spPr>
          <a:xfrm>
            <a:off x="1914525"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932813"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1</a:t>
            </a:r>
          </a:p>
        </p:txBody>
      </p:sp>
      <p:sp>
        <p:nvSpPr>
          <p:cNvPr id="14" name="TextBox 13"/>
          <p:cNvSpPr txBox="1"/>
          <p:nvPr/>
        </p:nvSpPr>
        <p:spPr>
          <a:xfrm>
            <a:off x="1932813" y="6217920"/>
            <a:ext cx="1283589" cy="274320"/>
          </a:xfrm>
          <a:prstGeom prst="rect">
            <a:avLst/>
          </a:prstGeom>
          <a:noFill/>
        </p:spPr>
        <p:txBody>
          <a:bodyPr wrap="square" lIns="0" rIns="0" tIns="0" bIns="0" anchor="t">
            <a:spAutoFit/>
          </a:bodyPr>
          <a:lstStyle/>
          <a:p>
            <a:pPr algn="ctr">
              <a:lnSpc>
                <a:spcPct val="92000"/>
              </a:lnSpc>
            </a:pPr>
            <a:r>
              <a:rPr sz="800" b="0" i="0">
                <a:solidFill>
                  <a:srgbClr val="5B6678"/>
                </a:solidFill>
                <a:latin typeface="DejaVu Sans"/>
              </a:rPr>
              <a:t>Исследование</a:t>
            </a:r>
          </a:p>
        </p:txBody>
      </p:sp>
      <p:sp>
        <p:nvSpPr>
          <p:cNvPr id="15" name="Rounded Rectangle 14"/>
          <p:cNvSpPr/>
          <p:nvPr/>
        </p:nvSpPr>
        <p:spPr>
          <a:xfrm>
            <a:off x="3326130"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44418"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2</a:t>
            </a:r>
          </a:p>
        </p:txBody>
      </p:sp>
      <p:sp>
        <p:nvSpPr>
          <p:cNvPr id="17" name="TextBox 16"/>
          <p:cNvSpPr txBox="1"/>
          <p:nvPr/>
        </p:nvSpPr>
        <p:spPr>
          <a:xfrm>
            <a:off x="3344418" y="6217920"/>
            <a:ext cx="1283589" cy="274320"/>
          </a:xfrm>
          <a:prstGeom prst="rect">
            <a:avLst/>
          </a:prstGeom>
          <a:noFill/>
        </p:spPr>
        <p:txBody>
          <a:bodyPr wrap="square" lIns="0" rIns="0" tIns="0" bIns="0" anchor="t">
            <a:spAutoFit/>
          </a:bodyPr>
          <a:lstStyle/>
          <a:p>
            <a:pPr algn="ctr">
              <a:lnSpc>
                <a:spcPct val="92000"/>
              </a:lnSpc>
            </a:pPr>
            <a:r>
              <a:rPr sz="900" b="0" i="0">
                <a:solidFill>
                  <a:srgbClr val="5B6678"/>
                </a:solidFill>
                <a:latin typeface="DejaVu Sans"/>
              </a:rPr>
              <a:t>Дизайн</a:t>
            </a:r>
          </a:p>
        </p:txBody>
      </p:sp>
      <p:sp>
        <p:nvSpPr>
          <p:cNvPr id="18" name="Rounded Rectangle 17"/>
          <p:cNvSpPr/>
          <p:nvPr/>
        </p:nvSpPr>
        <p:spPr>
          <a:xfrm>
            <a:off x="4737735" y="5989320"/>
            <a:ext cx="1320165" cy="530352"/>
          </a:xfrm>
          <a:prstGeom prst="roundRect">
            <a:avLst>
              <a:gd name="adj" fmla="val 1200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56023" y="6035040"/>
            <a:ext cx="1283589" cy="164592"/>
          </a:xfrm>
          <a:prstGeom prst="rect">
            <a:avLst/>
          </a:prstGeom>
          <a:noFill/>
        </p:spPr>
        <p:txBody>
          <a:bodyPr wrap="square" lIns="0" rIns="0" tIns="0" bIns="0" anchor="t">
            <a:spAutoFit/>
          </a:bodyPr>
          <a:lstStyle/>
          <a:p>
            <a:pPr algn="ctr">
              <a:lnSpc>
                <a:spcPct val="115000"/>
              </a:lnSpc>
            </a:pPr>
            <a:r>
              <a:rPr sz="1050" b="1" i="0">
                <a:solidFill>
                  <a:srgbClr val="21295C"/>
                </a:solidFill>
                <a:latin typeface="DejaVu Sans"/>
              </a:rPr>
              <a:t>3</a:t>
            </a:r>
          </a:p>
        </p:txBody>
      </p:sp>
      <p:sp>
        <p:nvSpPr>
          <p:cNvPr id="20" name="TextBox 19"/>
          <p:cNvSpPr txBox="1"/>
          <p:nvPr/>
        </p:nvSpPr>
        <p:spPr>
          <a:xfrm>
            <a:off x="4756023" y="6217920"/>
            <a:ext cx="1283589" cy="274320"/>
          </a:xfrm>
          <a:prstGeom prst="rect">
            <a:avLst/>
          </a:prstGeom>
          <a:noFill/>
        </p:spPr>
        <p:txBody>
          <a:bodyPr wrap="square" lIns="0" rIns="0" tIns="0" bIns="0" anchor="t">
            <a:spAutoFit/>
          </a:bodyPr>
          <a:lstStyle/>
          <a:p>
            <a:pPr algn="ctr">
              <a:lnSpc>
                <a:spcPct val="92000"/>
              </a:lnSpc>
            </a:pPr>
            <a:r>
              <a:rPr sz="800" b="1" i="0">
                <a:solidFill>
                  <a:srgbClr val="21295C"/>
                </a:solidFill>
                <a:latin typeface="DejaVu Sans"/>
              </a:rPr>
              <a:t>Сборка и запуск</a:t>
            </a:r>
          </a:p>
        </p:txBody>
      </p:sp>
      <p:sp>
        <p:nvSpPr>
          <p:cNvPr id="21" name="Rounded Rectangle 20"/>
          <p:cNvSpPr/>
          <p:nvPr/>
        </p:nvSpPr>
        <p:spPr>
          <a:xfrm>
            <a:off x="6149340"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67628"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4</a:t>
            </a:r>
          </a:p>
        </p:txBody>
      </p:sp>
      <p:sp>
        <p:nvSpPr>
          <p:cNvPr id="23" name="TextBox 22"/>
          <p:cNvSpPr txBox="1"/>
          <p:nvPr/>
        </p:nvSpPr>
        <p:spPr>
          <a:xfrm>
            <a:off x="6167628" y="6217920"/>
            <a:ext cx="1283589" cy="274320"/>
          </a:xfrm>
          <a:prstGeom prst="rect">
            <a:avLst/>
          </a:prstGeom>
          <a:noFill/>
        </p:spPr>
        <p:txBody>
          <a:bodyPr wrap="square" lIns="0" rIns="0" tIns="0" bIns="0" anchor="t">
            <a:spAutoFit/>
          </a:bodyPr>
          <a:lstStyle/>
          <a:p>
            <a:pPr algn="ctr">
              <a:lnSpc>
                <a:spcPct val="92000"/>
              </a:lnSpc>
            </a:pPr>
            <a:r>
              <a:rPr sz="900" b="0" i="0">
                <a:solidFill>
                  <a:srgbClr val="5B6678"/>
                </a:solidFill>
                <a:latin typeface="DejaVu Sans"/>
              </a:rPr>
              <a:t>Измерение</a:t>
            </a:r>
          </a:p>
        </p:txBody>
      </p:sp>
      <p:sp>
        <p:nvSpPr>
          <p:cNvPr id="24" name="Rounded Rectangle 23"/>
          <p:cNvSpPr/>
          <p:nvPr/>
        </p:nvSpPr>
        <p:spPr>
          <a:xfrm>
            <a:off x="7560945"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79233"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5</a:t>
            </a:r>
          </a:p>
        </p:txBody>
      </p:sp>
      <p:sp>
        <p:nvSpPr>
          <p:cNvPr id="26" name="TextBox 25"/>
          <p:cNvSpPr txBox="1"/>
          <p:nvPr/>
        </p:nvSpPr>
        <p:spPr>
          <a:xfrm>
            <a:off x="7579233" y="6217920"/>
            <a:ext cx="1283589" cy="274320"/>
          </a:xfrm>
          <a:prstGeom prst="rect">
            <a:avLst/>
          </a:prstGeom>
          <a:noFill/>
        </p:spPr>
        <p:txBody>
          <a:bodyPr wrap="square" lIns="0" rIns="0" tIns="0" bIns="0" anchor="t">
            <a:spAutoFit/>
          </a:bodyPr>
          <a:lstStyle/>
          <a:p>
            <a:pPr algn="ctr">
              <a:lnSpc>
                <a:spcPct val="92000"/>
              </a:lnSpc>
            </a:pPr>
            <a:r>
              <a:rPr sz="900" b="0" i="0">
                <a:solidFill>
                  <a:srgbClr val="5B6678"/>
                </a:solidFill>
                <a:latin typeface="DejaVu Sans"/>
              </a:rPr>
              <a:t>Поддержка</a:t>
            </a:r>
          </a:p>
        </p:txBody>
      </p:sp>
      <p:sp>
        <p:nvSpPr>
          <p:cNvPr id="27" name="Rounded Rectangle 26"/>
          <p:cNvSpPr/>
          <p:nvPr/>
        </p:nvSpPr>
        <p:spPr>
          <a:xfrm>
            <a:off x="8972550"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90838"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6</a:t>
            </a:r>
          </a:p>
        </p:txBody>
      </p:sp>
      <p:sp>
        <p:nvSpPr>
          <p:cNvPr id="29" name="TextBox 28"/>
          <p:cNvSpPr txBox="1"/>
          <p:nvPr/>
        </p:nvSpPr>
        <p:spPr>
          <a:xfrm>
            <a:off x="8990838" y="6217920"/>
            <a:ext cx="1283589" cy="274320"/>
          </a:xfrm>
          <a:prstGeom prst="rect">
            <a:avLst/>
          </a:prstGeom>
          <a:noFill/>
        </p:spPr>
        <p:txBody>
          <a:bodyPr wrap="square" lIns="0" rIns="0" tIns="0" bIns="0" anchor="t">
            <a:spAutoFit/>
          </a:bodyPr>
          <a:lstStyle/>
          <a:p>
            <a:pPr algn="ctr">
              <a:lnSpc>
                <a:spcPct val="92000"/>
              </a:lnSpc>
            </a:pPr>
            <a:r>
              <a:rPr sz="800" b="0" i="0">
                <a:solidFill>
                  <a:srgbClr val="5B6678"/>
                </a:solidFill>
                <a:latin typeface="DejaVu Sans"/>
              </a:rPr>
              <a:t>Управление</a:t>
            </a:r>
          </a:p>
        </p:txBody>
      </p:sp>
      <p:sp>
        <p:nvSpPr>
          <p:cNvPr id="30" name="Rounded Rectangle 29"/>
          <p:cNvSpPr/>
          <p:nvPr/>
        </p:nvSpPr>
        <p:spPr>
          <a:xfrm>
            <a:off x="10384155"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402443"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7</a:t>
            </a:r>
          </a:p>
        </p:txBody>
      </p:sp>
      <p:sp>
        <p:nvSpPr>
          <p:cNvPr id="32" name="TextBox 31"/>
          <p:cNvSpPr txBox="1"/>
          <p:nvPr/>
        </p:nvSpPr>
        <p:spPr>
          <a:xfrm>
            <a:off x="10402443" y="6217920"/>
            <a:ext cx="1283589" cy="274320"/>
          </a:xfrm>
          <a:prstGeom prst="rect">
            <a:avLst/>
          </a:prstGeom>
          <a:noFill/>
        </p:spPr>
        <p:txBody>
          <a:bodyPr wrap="square" lIns="0" rIns="0" tIns="0" bIns="0" anchor="t">
            <a:spAutoFit/>
          </a:bodyPr>
          <a:lstStyle/>
          <a:p>
            <a:pPr algn="ctr">
              <a:lnSpc>
                <a:spcPct val="92000"/>
              </a:lnSpc>
            </a:pPr>
            <a:r>
              <a:rPr sz="900" b="0" i="0">
                <a:solidFill>
                  <a:srgbClr val="5B6678"/>
                </a:solidFill>
                <a:latin typeface="DejaVu Sans"/>
              </a:rPr>
              <a:t>Обобщение</a:t>
            </a:r>
          </a:p>
        </p:txBody>
      </p:sp>
      <p:sp>
        <p:nvSpPr>
          <p:cNvPr id="33" name="TextBox 32"/>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20 / 54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18872"/>
            <a:ext cx="11247120" cy="749808"/>
          </a:xfrm>
          <a:prstGeom prst="rect">
            <a:avLst/>
          </a:prstGeom>
          <a:noFill/>
        </p:spPr>
        <p:txBody>
          <a:bodyPr wrap="square" lIns="0" rIns="0" tIns="0" bIns="0" anchor="t">
            <a:spAutoFit/>
          </a:bodyPr>
          <a:lstStyle/>
          <a:p>
            <a:pPr algn="l">
              <a:lnSpc>
                <a:spcPct val="110000"/>
              </a:lnSpc>
            </a:pPr>
            <a:r>
              <a:rPr sz="2100" b="1" i="0">
                <a:solidFill>
                  <a:srgbClr val="21295C"/>
                </a:solidFill>
                <a:latin typeface="DejaVu Sans"/>
              </a:rPr>
              <a:t>Задача фазы — довести продукт до пользователя так, чтобы ошибка осталась обратимой</a:t>
            </a:r>
          </a:p>
        </p:txBody>
      </p:sp>
      <p:sp>
        <p:nvSpPr>
          <p:cNvPr id="3" name="Rounded Rectangle 2"/>
          <p:cNvSpPr/>
          <p:nvPr/>
        </p:nvSpPr>
        <p:spPr>
          <a:xfrm>
            <a:off x="502920" y="932688"/>
            <a:ext cx="11201400" cy="1170432"/>
          </a:xfrm>
          <a:prstGeom prst="roundRect">
            <a:avLst>
              <a:gd name="adj" fmla="val 22000"/>
            </a:avLst>
          </a:prstGeom>
          <a:solidFill>
            <a:srgbClr val="F4F7FA"/>
          </a:solidFill>
          <a:ln w="2032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ompass-mid.png"/>
          <p:cNvPicPr>
            <a:picLocks noChangeAspect="1"/>
          </p:cNvPicPr>
          <p:nvPr/>
        </p:nvPicPr>
        <p:blipFill>
          <a:blip r:embed="rId2"/>
          <a:stretch>
            <a:fillRect/>
          </a:stretch>
        </p:blipFill>
        <p:spPr>
          <a:xfrm>
            <a:off x="713232" y="1115568"/>
            <a:ext cx="384048" cy="384048"/>
          </a:xfrm>
          <a:prstGeom prst="rect">
            <a:avLst/>
          </a:prstGeom>
        </p:spPr>
      </p:pic>
      <p:sp>
        <p:nvSpPr>
          <p:cNvPr id="5" name="TextBox 4"/>
          <p:cNvSpPr txBox="1"/>
          <p:nvPr/>
        </p:nvSpPr>
        <p:spPr>
          <a:xfrm>
            <a:off x="1225296" y="1005840"/>
            <a:ext cx="10241280" cy="256032"/>
          </a:xfrm>
          <a:prstGeom prst="rect">
            <a:avLst/>
          </a:prstGeom>
          <a:noFill/>
        </p:spPr>
        <p:txBody>
          <a:bodyPr wrap="square" lIns="0" rIns="0" tIns="0" bIns="0" anchor="t">
            <a:spAutoFit/>
          </a:bodyPr>
          <a:lstStyle/>
          <a:p>
            <a:pPr algn="l">
              <a:lnSpc>
                <a:spcPct val="115000"/>
              </a:lnSpc>
            </a:pPr>
            <a:r>
              <a:rPr sz="1150" b="1" i="0">
                <a:solidFill>
                  <a:srgbClr val="065A82"/>
                </a:solidFill>
                <a:latin typeface="DejaVu Sans"/>
              </a:rPr>
              <a:t>ЗАЧЕМ ЭТА РАБОТА</a:t>
            </a:r>
          </a:p>
        </p:txBody>
      </p:sp>
      <p:sp>
        <p:nvSpPr>
          <p:cNvPr id="6" name="TextBox 5"/>
          <p:cNvSpPr txBox="1"/>
          <p:nvPr/>
        </p:nvSpPr>
        <p:spPr>
          <a:xfrm>
            <a:off x="1225296" y="1280160"/>
            <a:ext cx="10277856" cy="749808"/>
          </a:xfrm>
          <a:prstGeom prst="rect">
            <a:avLst/>
          </a:prstGeom>
          <a:noFill/>
        </p:spPr>
        <p:txBody>
          <a:bodyPr wrap="square" lIns="0" rIns="0" tIns="0" bIns="0" anchor="t">
            <a:spAutoFit/>
          </a:bodyPr>
          <a:lstStyle/>
          <a:p>
            <a:pPr algn="l">
              <a:lnSpc>
                <a:spcPct val="116000"/>
              </a:lnSpc>
            </a:pPr>
            <a:r>
              <a:rPr sz="1250" b="0" i="0">
                <a:solidFill>
                  <a:srgbClr val="21295C"/>
                </a:solidFill>
                <a:latin typeface="DejaVu Sans"/>
              </a:rPr>
              <a:t>Это единственное место цикла, где команда сама назначает, каким кругом людей и в каком темпе проверяется продукт, пока ошибка ещё дешёвая. Без этой дисциплины у сбоя два исхода: продукт застревает в бесконечном пилоте и гипотеза не проверяется — либо выходит сразу на всех, и редкий сбой становится кризисом за день.</a:t>
            </a:r>
          </a:p>
        </p:txBody>
      </p:sp>
      <p:sp>
        <p:nvSpPr>
          <p:cNvPr id="7" name="Rounded Rectangle 6"/>
          <p:cNvSpPr/>
          <p:nvPr/>
        </p:nvSpPr>
        <p:spPr>
          <a:xfrm>
            <a:off x="502920" y="2231136"/>
            <a:ext cx="5486400" cy="1481328"/>
          </a:xfrm>
          <a:prstGeom prst="roundRect">
            <a:avLst>
              <a:gd name="adj" fmla="val 20576"/>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graduation-cap-teal.png"/>
          <p:cNvPicPr>
            <a:picLocks noChangeAspect="1"/>
          </p:cNvPicPr>
          <p:nvPr/>
        </p:nvPicPr>
        <p:blipFill>
          <a:blip r:embed="rId3"/>
          <a:stretch>
            <a:fillRect/>
          </a:stretch>
        </p:blipFill>
        <p:spPr>
          <a:xfrm>
            <a:off x="704088" y="2377440"/>
            <a:ext cx="347472" cy="347472"/>
          </a:xfrm>
          <a:prstGeom prst="rect">
            <a:avLst/>
          </a:prstGeom>
        </p:spPr>
      </p:pic>
      <p:sp>
        <p:nvSpPr>
          <p:cNvPr id="9" name="TextBox 8"/>
          <p:cNvSpPr txBox="1"/>
          <p:nvPr/>
        </p:nvSpPr>
        <p:spPr>
          <a:xfrm>
            <a:off x="1161288" y="2322576"/>
            <a:ext cx="4663440" cy="292608"/>
          </a:xfrm>
          <a:prstGeom prst="rect">
            <a:avLst/>
          </a:prstGeom>
          <a:noFill/>
        </p:spPr>
        <p:txBody>
          <a:bodyPr wrap="square" lIns="0" rIns="0" tIns="0" bIns="0" anchor="t">
            <a:spAutoFit/>
          </a:bodyPr>
          <a:lstStyle/>
          <a:p>
            <a:pPr algn="l">
              <a:lnSpc>
                <a:spcPct val="104000"/>
              </a:lnSpc>
            </a:pPr>
            <a:r>
              <a:rPr sz="1350" b="1" i="0">
                <a:solidFill>
                  <a:srgbClr val="21295C"/>
                </a:solidFill>
                <a:latin typeface="DejaVu Sans"/>
              </a:rPr>
              <a:t>Минимально жизнеспособный продукт</a:t>
            </a:r>
          </a:p>
        </p:txBody>
      </p:sp>
      <p:sp>
        <p:nvSpPr>
          <p:cNvPr id="10" name="TextBox 9"/>
          <p:cNvSpPr txBox="1"/>
          <p:nvPr/>
        </p:nvSpPr>
        <p:spPr>
          <a:xfrm>
            <a:off x="1161288" y="2615184"/>
            <a:ext cx="4663440" cy="237744"/>
          </a:xfrm>
          <a:prstGeom prst="rect">
            <a:avLst/>
          </a:prstGeom>
          <a:noFill/>
        </p:spPr>
        <p:txBody>
          <a:bodyPr wrap="square" lIns="0" rIns="0" tIns="0" bIns="0" anchor="t">
            <a:spAutoFit/>
          </a:bodyPr>
          <a:lstStyle/>
          <a:p>
            <a:pPr algn="l">
              <a:lnSpc>
                <a:spcPct val="115000"/>
              </a:lnSpc>
            </a:pPr>
            <a:r>
              <a:rPr sz="950" b="0" i="1">
                <a:solidFill>
                  <a:srgbClr val="5B6678"/>
                </a:solidFill>
                <a:latin typeface="DejaVu Sans"/>
              </a:rPr>
              <a:t>Эрик Райс, предприниматель, книга «Бережливый стартап», 2011 </a:t>
            </a:r>
            <a:r>
              <a:rPr sz="494" baseline="30000" b="0" i="1">
                <a:latin typeface="DejaVu Sans"/>
                <a:cs typeface="DejaVu Sans"/>
                <a:ea typeface="DejaVu Sans"/>
                <a:solidFill>
                  <a:srgbClr val="1C7293"/>
                </a:solidFill>
              </a:rPr>
              <a:t>[1]</a:t>
            </a:r>
          </a:p>
        </p:txBody>
      </p:sp>
      <p:sp>
        <p:nvSpPr>
          <p:cNvPr id="11" name="TextBox 10"/>
          <p:cNvSpPr txBox="1"/>
          <p:nvPr/>
        </p:nvSpPr>
        <p:spPr>
          <a:xfrm>
            <a:off x="704088" y="2889504"/>
            <a:ext cx="5120640" cy="749808"/>
          </a:xfrm>
          <a:prstGeom prst="rect">
            <a:avLst/>
          </a:prstGeom>
          <a:noFill/>
        </p:spPr>
        <p:txBody>
          <a:bodyPr wrap="square" lIns="0" rIns="0" tIns="0" bIns="0" anchor="t">
            <a:spAutoFit/>
          </a:bodyPr>
          <a:lstStyle/>
          <a:p>
            <a:pPr algn="l">
              <a:lnSpc>
                <a:spcPct val="116000"/>
              </a:lnSpc>
            </a:pPr>
            <a:r>
              <a:rPr sz="1150" b="0" i="0">
                <a:solidFill>
                  <a:srgbClr val="21295C"/>
                </a:solidFill>
                <a:latin typeface="DejaVu Sans"/>
              </a:rPr>
              <a:t>Первая версия существует ради обучения, а не ради отгрузки. Планируется в обратном порядке: сначала чему надо научиться, потом какой меркой это различить, и только потом что собрать.</a:t>
            </a:r>
          </a:p>
        </p:txBody>
      </p:sp>
      <p:sp>
        <p:nvSpPr>
          <p:cNvPr id="12" name="Rounded Rectangle 11"/>
          <p:cNvSpPr/>
          <p:nvPr/>
        </p:nvSpPr>
        <p:spPr>
          <a:xfrm>
            <a:off x="6217920" y="2231136"/>
            <a:ext cx="5486400" cy="1481328"/>
          </a:xfrm>
          <a:prstGeom prst="roundRect">
            <a:avLst>
              <a:gd name="adj" fmla="val 20576"/>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funnel-teal.png"/>
          <p:cNvPicPr>
            <a:picLocks noChangeAspect="1"/>
          </p:cNvPicPr>
          <p:nvPr/>
        </p:nvPicPr>
        <p:blipFill>
          <a:blip r:embed="rId4"/>
          <a:stretch>
            <a:fillRect/>
          </a:stretch>
        </p:blipFill>
        <p:spPr>
          <a:xfrm>
            <a:off x="6419088" y="2377440"/>
            <a:ext cx="347472" cy="347472"/>
          </a:xfrm>
          <a:prstGeom prst="rect">
            <a:avLst/>
          </a:prstGeom>
        </p:spPr>
      </p:pic>
      <p:sp>
        <p:nvSpPr>
          <p:cNvPr id="14" name="TextBox 13"/>
          <p:cNvSpPr txBox="1"/>
          <p:nvPr/>
        </p:nvSpPr>
        <p:spPr>
          <a:xfrm>
            <a:off x="6876288" y="2322576"/>
            <a:ext cx="4663440" cy="292608"/>
          </a:xfrm>
          <a:prstGeom prst="rect">
            <a:avLst/>
          </a:prstGeom>
          <a:noFill/>
        </p:spPr>
        <p:txBody>
          <a:bodyPr wrap="square" lIns="0" rIns="0" tIns="0" bIns="0" anchor="t">
            <a:spAutoFit/>
          </a:bodyPr>
          <a:lstStyle/>
          <a:p>
            <a:pPr algn="l">
              <a:lnSpc>
                <a:spcPct val="104000"/>
              </a:lnSpc>
            </a:pPr>
            <a:r>
              <a:rPr sz="1350" b="1" i="0">
                <a:solidFill>
                  <a:srgbClr val="21295C"/>
                </a:solidFill>
                <a:latin typeface="DejaVu Sans"/>
              </a:rPr>
              <a:t>Рубеж «продолжать или закрыть»</a:t>
            </a:r>
          </a:p>
        </p:txBody>
      </p:sp>
      <p:sp>
        <p:nvSpPr>
          <p:cNvPr id="15" name="TextBox 14"/>
          <p:cNvSpPr txBox="1"/>
          <p:nvPr/>
        </p:nvSpPr>
        <p:spPr>
          <a:xfrm>
            <a:off x="6876288" y="2615184"/>
            <a:ext cx="4663440" cy="237744"/>
          </a:xfrm>
          <a:prstGeom prst="rect">
            <a:avLst/>
          </a:prstGeom>
          <a:noFill/>
        </p:spPr>
        <p:txBody>
          <a:bodyPr wrap="square" lIns="0" rIns="0" tIns="0" bIns="0" anchor="t">
            <a:spAutoFit/>
          </a:bodyPr>
          <a:lstStyle/>
          <a:p>
            <a:pPr algn="l">
              <a:lnSpc>
                <a:spcPct val="115000"/>
              </a:lnSpc>
            </a:pPr>
            <a:r>
              <a:rPr sz="950" b="0" i="1">
                <a:solidFill>
                  <a:srgbClr val="5B6678"/>
                </a:solidFill>
                <a:latin typeface="DejaVu Sans"/>
              </a:rPr>
              <a:t>Stage-Gate: Роберт Купер, исследователь новых продуктов, 1990 </a:t>
            </a:r>
            <a:r>
              <a:rPr sz="494" baseline="30000" b="0" i="1">
                <a:latin typeface="DejaVu Sans"/>
                <a:cs typeface="DejaVu Sans"/>
                <a:ea typeface="DejaVu Sans"/>
                <a:solidFill>
                  <a:srgbClr val="1C7293"/>
                </a:solidFill>
              </a:rPr>
              <a:t>[2]</a:t>
            </a:r>
          </a:p>
        </p:txBody>
      </p:sp>
      <p:sp>
        <p:nvSpPr>
          <p:cNvPr id="16" name="TextBox 15"/>
          <p:cNvSpPr txBox="1"/>
          <p:nvPr/>
        </p:nvSpPr>
        <p:spPr>
          <a:xfrm>
            <a:off x="6419088" y="2889504"/>
            <a:ext cx="5120640" cy="749808"/>
          </a:xfrm>
          <a:prstGeom prst="rect">
            <a:avLst/>
          </a:prstGeom>
          <a:noFill/>
        </p:spPr>
        <p:txBody>
          <a:bodyPr wrap="square" lIns="0" rIns="0" tIns="0" bIns="0" anchor="t">
            <a:spAutoFit/>
          </a:bodyPr>
          <a:lstStyle/>
          <a:p>
            <a:pPr algn="l">
              <a:lnSpc>
                <a:spcPct val="116000"/>
              </a:lnSpc>
            </a:pPr>
            <a:r>
              <a:rPr sz="1150" b="0" i="0">
                <a:solidFill>
                  <a:srgbClr val="21295C"/>
                </a:solidFill>
                <a:latin typeface="DejaVu Sans"/>
              </a:rPr>
              <a:t>Воронка, а не туннель: вложение растёт только после пройденного рубежа. Дешёвая ранняя стадия существует ровно затем, чтобы отсеивать до крупных трат.</a:t>
            </a:r>
          </a:p>
        </p:txBody>
      </p:sp>
      <p:sp>
        <p:nvSpPr>
          <p:cNvPr id="17" name="Rounded Rectangle 16"/>
          <p:cNvSpPr/>
          <p:nvPr/>
        </p:nvSpPr>
        <p:spPr>
          <a:xfrm>
            <a:off x="502920" y="3803904"/>
            <a:ext cx="11201400" cy="676656"/>
          </a:xfrm>
          <a:prstGeom prst="roundRect">
            <a:avLst>
              <a:gd name="adj" fmla="val 22000"/>
            </a:avLst>
          </a:prstGeom>
          <a:solidFill>
            <a:srgbClr val="E5EAF0"/>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3232" y="3858768"/>
            <a:ext cx="10789920" cy="566928"/>
          </a:xfrm>
          <a:prstGeom prst="rect">
            <a:avLst/>
          </a:prstGeom>
          <a:noFill/>
        </p:spPr>
        <p:txBody>
          <a:bodyPr wrap="square" lIns="0" rIns="0" tIns="0" bIns="0" anchor="t">
            <a:spAutoFit/>
          </a:bodyPr>
          <a:lstStyle/>
          <a:p>
            <a:pPr algn="l">
              <a:lnSpc>
                <a:spcPct val="114000"/>
              </a:lnSpc>
            </a:pPr>
            <a:r>
              <a:rPr sz="1100" b="0" i="0">
                <a:solidFill>
                  <a:srgbClr val="5B6678"/>
                </a:solidFill>
                <a:latin typeface="DejaVu Sans"/>
              </a:rPr>
              <a:t>Механику раскатки — переключатель функции, канареечный выпуск, поэтапное включение, возврат к прошлой версии — инженер знает из непрерывной интеграции и поставки (CI/CD — continuous integration / continuous delivery). Новое здесь не сами примитивы, а чьё решение они обслуживают: не «включить функцию», а «продолжать вкладываться или закрыть».</a:t>
            </a:r>
          </a:p>
        </p:txBody>
      </p:sp>
      <p:sp>
        <p:nvSpPr>
          <p:cNvPr id="19" name="Rounded Rectangle 18"/>
          <p:cNvSpPr/>
          <p:nvPr/>
        </p:nvSpPr>
        <p:spPr>
          <a:xfrm>
            <a:off x="502920" y="4572000"/>
            <a:ext cx="11201400" cy="65836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6" y="4626864"/>
            <a:ext cx="10762488" cy="548640"/>
          </a:xfrm>
          <a:prstGeom prst="rect">
            <a:avLst/>
          </a:prstGeom>
          <a:noFill/>
        </p:spPr>
        <p:txBody>
          <a:bodyPr wrap="square" lIns="0" rIns="0" tIns="0" bIns="0" anchor="ctr">
            <a:spAutoFit/>
          </a:bodyPr>
          <a:lstStyle/>
          <a:p>
            <a:pPr algn="l">
              <a:lnSpc>
                <a:spcPct val="120000"/>
              </a:lnSpc>
            </a:pPr>
            <a:r>
              <a:rPr sz="1300" b="1" i="0">
                <a:solidFill>
                  <a:srgbClr val="21295C"/>
                </a:solidFill>
                <a:latin typeface="DejaVu Sans"/>
              </a:rPr>
              <a:t>Порог записывают числом до старта, потому что иначе нельзя отличить «данные сказали нет» от «мы устали». Без него у команды нет права честно закончить.</a:t>
            </a:r>
          </a:p>
        </p:txBody>
      </p:sp>
      <p:sp>
        <p:nvSpPr>
          <p:cNvPr id="21" name="Rounded Rectangle 20"/>
          <p:cNvSpPr/>
          <p:nvPr/>
        </p:nvSpPr>
        <p:spPr>
          <a:xfrm>
            <a:off x="502920" y="5321808"/>
            <a:ext cx="11201400" cy="969264"/>
          </a:xfrm>
          <a:prstGeom prst="roundRect">
            <a:avLst>
              <a:gd name="adj" fmla="val 22000"/>
            </a:avLst>
          </a:prstGeom>
          <a:solidFill>
            <a:srgbClr val="FFFFFF"/>
          </a:solidFill>
          <a:ln w="15240">
            <a:solidFill>
              <a:srgbClr val="5B66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octagon-alert-slate.png"/>
          <p:cNvPicPr>
            <a:picLocks noChangeAspect="1"/>
          </p:cNvPicPr>
          <p:nvPr/>
        </p:nvPicPr>
        <p:blipFill>
          <a:blip r:embed="rId5"/>
          <a:stretch>
            <a:fillRect/>
          </a:stretch>
        </p:blipFill>
        <p:spPr>
          <a:xfrm>
            <a:off x="713232" y="5614416"/>
            <a:ext cx="310896" cy="310896"/>
          </a:xfrm>
          <a:prstGeom prst="rect">
            <a:avLst/>
          </a:prstGeom>
        </p:spPr>
      </p:pic>
      <p:sp>
        <p:nvSpPr>
          <p:cNvPr id="23" name="TextBox 22"/>
          <p:cNvSpPr txBox="1"/>
          <p:nvPr/>
        </p:nvSpPr>
        <p:spPr>
          <a:xfrm>
            <a:off x="1152144" y="5376672"/>
            <a:ext cx="10332720" cy="859536"/>
          </a:xfrm>
          <a:prstGeom prst="rect">
            <a:avLst/>
          </a:prstGeom>
          <a:noFill/>
        </p:spPr>
        <p:txBody>
          <a:bodyPr wrap="square" lIns="0" rIns="0" tIns="0" bIns="0" anchor="ctr">
            <a:spAutoFit/>
          </a:bodyPr>
          <a:lstStyle/>
          <a:p>
            <a:pPr algn="l">
              <a:lnSpc>
                <a:spcPct val="116000"/>
              </a:lnSpc>
            </a:pPr>
            <a:r>
              <a:rPr sz="1100" b="1" i="0">
                <a:solidFill>
                  <a:srgbClr val="21295C"/>
                </a:solidFill>
                <a:latin typeface="DejaVu Sans"/>
              </a:rPr>
              <a:t>Онкологический центр MD Anderson, проект Oncology Expert Advisor. </a:t>
            </a:r>
            <a:r>
              <a:rPr sz="1100" b="0" i="0">
                <a:solidFill>
                  <a:srgbClr val="5B6678"/>
                </a:solidFill>
                <a:latin typeface="DejaVu Sans"/>
              </a:rPr>
              <a:t>Контракт вырос через двенадцать продлений с 2,4 до ≈62 млн долларов и был закрыт без единого пролеченного пациента. Двенадцать поводов пройти рубеж — и ни одного записанного порога, по которому его можно было не пройти.</a:t>
            </a:r>
          </a:p>
        </p:txBody>
      </p:sp>
      <p:sp>
        <p:nvSpPr>
          <p:cNvPr id="24" name="TextBox 23"/>
          <p:cNvSpPr txBox="1"/>
          <p:nvPr/>
        </p:nvSpPr>
        <p:spPr>
          <a:xfrm>
            <a:off x="502920" y="6455664"/>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6"/>
              </a:rPr>
              <a:t>Ries — Lean Startup / MVP</a:t>
            </a:r>
            <a:r>
              <a:rPr sz="850" i="1">
                <a:solidFill>
                  <a:srgbClr val="1C7293"/>
                </a:solidFill>
                <a:latin typeface="DejaVu Sans"/>
              </a:rPr>
              <a:t>   ·   </a:t>
            </a:r>
            <a:r>
              <a:rPr sz="850" b="1" i="1">
                <a:solidFill>
                  <a:srgbClr val="065A82"/>
                </a:solidFill>
                <a:latin typeface="DejaVu Sans"/>
              </a:rPr>
              <a:t>[2] </a:t>
            </a:r>
            <a:r>
              <a:rPr sz="850" i="1">
                <a:solidFill>
                  <a:srgbClr val="1C7293"/>
                </a:solidFill>
                <a:latin typeface="DejaVu Sans"/>
                <a:hlinkClick r:id="rId7"/>
              </a:rPr>
              <a:t>Stage-Gate — история метода</a:t>
            </a:r>
          </a:p>
        </p:txBody>
      </p:sp>
      <p:sp>
        <p:nvSpPr>
          <p:cNvPr id="25" name="TextBox 24"/>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21 / 54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18872"/>
            <a:ext cx="11247120" cy="749808"/>
          </a:xfrm>
          <a:prstGeom prst="rect">
            <a:avLst/>
          </a:prstGeom>
          <a:noFill/>
        </p:spPr>
        <p:txBody>
          <a:bodyPr wrap="square" lIns="0" rIns="0" tIns="0" bIns="0" anchor="t">
            <a:spAutoFit/>
          </a:bodyPr>
          <a:lstStyle/>
          <a:p>
            <a:pPr algn="l">
              <a:lnSpc>
                <a:spcPct val="110000"/>
              </a:lnSpc>
            </a:pPr>
            <a:r>
              <a:rPr sz="2200" b="1" i="0">
                <a:solidFill>
                  <a:srgbClr val="21295C"/>
                </a:solidFill>
                <a:latin typeface="DejaVu Sans"/>
              </a:rPr>
              <a:t>Писать код стало дёшево, проверять — нет: узкое место переехало в ревью</a:t>
            </a:r>
          </a:p>
        </p:txBody>
      </p:sp>
      <p:sp>
        <p:nvSpPr>
          <p:cNvPr id="3" name="Rounded Rectangle 2"/>
          <p:cNvSpPr/>
          <p:nvPr/>
        </p:nvSpPr>
        <p:spPr>
          <a:xfrm>
            <a:off x="502920" y="932688"/>
            <a:ext cx="4206240" cy="4315968"/>
          </a:xfrm>
          <a:prstGeom prst="roundRect">
            <a:avLst>
              <a:gd name="adj" fmla="val 7246"/>
            </a:avLst>
          </a:prstGeom>
          <a:solidFill>
            <a:srgbClr val="F4F7FA"/>
          </a:solidFill>
          <a:ln w="2032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1024128"/>
            <a:ext cx="3794760" cy="274320"/>
          </a:xfrm>
          <a:prstGeom prst="rect">
            <a:avLst/>
          </a:prstGeom>
          <a:noFill/>
        </p:spPr>
        <p:txBody>
          <a:bodyPr wrap="square" lIns="0" rIns="0" tIns="0" bIns="0" anchor="t">
            <a:spAutoFit/>
          </a:bodyPr>
          <a:lstStyle/>
          <a:p>
            <a:pPr algn="l">
              <a:lnSpc>
                <a:spcPct val="115000"/>
              </a:lnSpc>
            </a:pPr>
            <a:r>
              <a:rPr sz="1150" b="1" i="0">
                <a:solidFill>
                  <a:srgbClr val="065A82"/>
                </a:solidFill>
                <a:latin typeface="DejaVu Sans"/>
              </a:rPr>
              <a:t>ИЗМЕРЕННЫЙ СДВИГ</a:t>
            </a:r>
          </a:p>
        </p:txBody>
      </p:sp>
      <p:sp>
        <p:nvSpPr>
          <p:cNvPr id="5" name="TextBox 4"/>
          <p:cNvSpPr txBox="1"/>
          <p:nvPr/>
        </p:nvSpPr>
        <p:spPr>
          <a:xfrm>
            <a:off x="713232" y="1389888"/>
            <a:ext cx="3794760" cy="384048"/>
          </a:xfrm>
          <a:prstGeom prst="rect">
            <a:avLst/>
          </a:prstGeom>
          <a:noFill/>
        </p:spPr>
        <p:txBody>
          <a:bodyPr wrap="square" lIns="0" rIns="0" tIns="0" bIns="0" anchor="t">
            <a:spAutoFit/>
          </a:bodyPr>
          <a:lstStyle/>
          <a:p>
            <a:pPr algn="l">
              <a:lnSpc>
                <a:spcPct val="100000"/>
              </a:lnSpc>
            </a:pPr>
            <a:r>
              <a:rPr sz="2100" b="1" i="0">
                <a:solidFill>
                  <a:srgbClr val="F0AB00"/>
                </a:solidFill>
                <a:latin typeface="DejaVu Sans"/>
              </a:rPr>
              <a:t>+200%</a:t>
            </a:r>
          </a:p>
        </p:txBody>
      </p:sp>
      <p:sp>
        <p:nvSpPr>
          <p:cNvPr id="6" name="TextBox 5"/>
          <p:cNvSpPr txBox="1"/>
          <p:nvPr/>
        </p:nvSpPr>
        <p:spPr>
          <a:xfrm>
            <a:off x="713232" y="1792224"/>
            <a:ext cx="3794760" cy="566928"/>
          </a:xfrm>
          <a:prstGeom prst="rect">
            <a:avLst/>
          </a:prstGeom>
          <a:noFill/>
        </p:spPr>
        <p:txBody>
          <a:bodyPr wrap="square" lIns="0" rIns="0" tIns="0" bIns="0" anchor="t">
            <a:spAutoFit/>
          </a:bodyPr>
          <a:lstStyle/>
          <a:p>
            <a:pPr algn="l">
              <a:lnSpc>
                <a:spcPct val="114000"/>
              </a:lnSpc>
            </a:pPr>
            <a:r>
              <a:rPr sz="1000" b="0" i="0">
                <a:solidFill>
                  <a:srgbClr val="5B6678"/>
                </a:solidFill>
                <a:latin typeface="DejaVu Sans"/>
              </a:rPr>
              <a:t>объём кода на инженера за год — собственное измерение Anthropic</a:t>
            </a:r>
          </a:p>
        </p:txBody>
      </p:sp>
      <p:sp>
        <p:nvSpPr>
          <p:cNvPr id="7" name="TextBox 6"/>
          <p:cNvSpPr txBox="1"/>
          <p:nvPr/>
        </p:nvSpPr>
        <p:spPr>
          <a:xfrm>
            <a:off x="713232" y="2395728"/>
            <a:ext cx="3794760" cy="384048"/>
          </a:xfrm>
          <a:prstGeom prst="rect">
            <a:avLst/>
          </a:prstGeom>
          <a:noFill/>
        </p:spPr>
        <p:txBody>
          <a:bodyPr wrap="square" lIns="0" rIns="0" tIns="0" bIns="0" anchor="t">
            <a:spAutoFit/>
          </a:bodyPr>
          <a:lstStyle/>
          <a:p>
            <a:pPr algn="l">
              <a:lnSpc>
                <a:spcPct val="100000"/>
              </a:lnSpc>
            </a:pPr>
            <a:r>
              <a:rPr sz="2100" b="1" i="0">
                <a:solidFill>
                  <a:srgbClr val="21295C"/>
                </a:solidFill>
                <a:latin typeface="DejaVu Sans"/>
              </a:rPr>
              <a:t>16% → 54%</a:t>
            </a:r>
          </a:p>
        </p:txBody>
      </p:sp>
      <p:sp>
        <p:nvSpPr>
          <p:cNvPr id="8" name="TextBox 7"/>
          <p:cNvSpPr txBox="1"/>
          <p:nvPr/>
        </p:nvSpPr>
        <p:spPr>
          <a:xfrm>
            <a:off x="713232" y="2798064"/>
            <a:ext cx="3794760" cy="566928"/>
          </a:xfrm>
          <a:prstGeom prst="rect">
            <a:avLst/>
          </a:prstGeom>
          <a:noFill/>
        </p:spPr>
        <p:txBody>
          <a:bodyPr wrap="square" lIns="0" rIns="0" tIns="0" bIns="0" anchor="t">
            <a:spAutoFit/>
          </a:bodyPr>
          <a:lstStyle/>
          <a:p>
            <a:pPr algn="l">
              <a:lnSpc>
                <a:spcPct val="114000"/>
              </a:lnSpc>
            </a:pPr>
            <a:r>
              <a:rPr sz="1000" b="0" i="0">
                <a:solidFill>
                  <a:srgbClr val="5B6678"/>
                </a:solidFill>
                <a:latin typeface="DejaVu Sans"/>
              </a:rPr>
              <a:t>доля изменений с содержательным ревью до слияния: было — стало, после того как первый проход отдали автоматике; почти половина и теперь идёт без него </a:t>
            </a:r>
            <a:r>
              <a:rPr sz="520" baseline="30000" b="0" i="1">
                <a:latin typeface="DejaVu Sans"/>
                <a:cs typeface="DejaVu Sans"/>
                <a:ea typeface="DejaVu Sans"/>
                <a:solidFill>
                  <a:srgbClr val="1C7293"/>
                </a:solidFill>
              </a:rPr>
              <a:t>[1]</a:t>
            </a:r>
          </a:p>
        </p:txBody>
      </p:sp>
      <p:sp>
        <p:nvSpPr>
          <p:cNvPr id="9" name="TextBox 8"/>
          <p:cNvSpPr txBox="1"/>
          <p:nvPr/>
        </p:nvSpPr>
        <p:spPr>
          <a:xfrm>
            <a:off x="713232" y="3401568"/>
            <a:ext cx="3794760" cy="384048"/>
          </a:xfrm>
          <a:prstGeom prst="rect">
            <a:avLst/>
          </a:prstGeom>
          <a:noFill/>
        </p:spPr>
        <p:txBody>
          <a:bodyPr wrap="square" lIns="0" rIns="0" tIns="0" bIns="0" anchor="t">
            <a:spAutoFit/>
          </a:bodyPr>
          <a:lstStyle/>
          <a:p>
            <a:pPr algn="l">
              <a:lnSpc>
                <a:spcPct val="100000"/>
              </a:lnSpc>
            </a:pPr>
            <a:r>
              <a:rPr sz="2100" b="1" i="0">
                <a:solidFill>
                  <a:srgbClr val="21295C"/>
                </a:solidFill>
                <a:latin typeface="DejaVu Sans"/>
              </a:rPr>
              <a:t>+441%</a:t>
            </a:r>
          </a:p>
        </p:txBody>
      </p:sp>
      <p:sp>
        <p:nvSpPr>
          <p:cNvPr id="10" name="TextBox 9"/>
          <p:cNvSpPr txBox="1"/>
          <p:nvPr/>
        </p:nvSpPr>
        <p:spPr>
          <a:xfrm>
            <a:off x="713232" y="3803904"/>
            <a:ext cx="3794760" cy="566928"/>
          </a:xfrm>
          <a:prstGeom prst="rect">
            <a:avLst/>
          </a:prstGeom>
          <a:noFill/>
        </p:spPr>
        <p:txBody>
          <a:bodyPr wrap="square" lIns="0" rIns="0" tIns="0" bIns="0" anchor="t">
            <a:spAutoFit/>
          </a:bodyPr>
          <a:lstStyle/>
          <a:p>
            <a:pPr algn="l">
              <a:lnSpc>
                <a:spcPct val="114000"/>
              </a:lnSpc>
            </a:pPr>
            <a:r>
              <a:rPr sz="1000" b="0" i="0">
                <a:solidFill>
                  <a:srgbClr val="5B6678"/>
                </a:solidFill>
                <a:latin typeface="DejaVu Sans"/>
              </a:rPr>
              <a:t>медианное время, которое изменение проводит в ревью — телеметрия 22 000 разработчиков, Faros AI</a:t>
            </a:r>
          </a:p>
        </p:txBody>
      </p:sp>
      <p:sp>
        <p:nvSpPr>
          <p:cNvPr id="11" name="TextBox 10"/>
          <p:cNvSpPr txBox="1"/>
          <p:nvPr/>
        </p:nvSpPr>
        <p:spPr>
          <a:xfrm>
            <a:off x="713232" y="4407408"/>
            <a:ext cx="3794760" cy="384048"/>
          </a:xfrm>
          <a:prstGeom prst="rect">
            <a:avLst/>
          </a:prstGeom>
          <a:noFill/>
        </p:spPr>
        <p:txBody>
          <a:bodyPr wrap="square" lIns="0" rIns="0" tIns="0" bIns="0" anchor="t">
            <a:spAutoFit/>
          </a:bodyPr>
          <a:lstStyle/>
          <a:p>
            <a:pPr algn="l">
              <a:lnSpc>
                <a:spcPct val="100000"/>
              </a:lnSpc>
            </a:pPr>
            <a:r>
              <a:rPr sz="2100" b="1" i="0">
                <a:solidFill>
                  <a:srgbClr val="21295C"/>
                </a:solidFill>
                <a:latin typeface="DejaVu Sans"/>
              </a:rPr>
              <a:t>2,5× / 5×</a:t>
            </a:r>
          </a:p>
        </p:txBody>
      </p:sp>
      <p:sp>
        <p:nvSpPr>
          <p:cNvPr id="12" name="TextBox 11"/>
          <p:cNvSpPr txBox="1"/>
          <p:nvPr/>
        </p:nvSpPr>
        <p:spPr>
          <a:xfrm>
            <a:off x="713232" y="4809744"/>
            <a:ext cx="3794760" cy="566928"/>
          </a:xfrm>
          <a:prstGeom prst="rect">
            <a:avLst/>
          </a:prstGeom>
          <a:noFill/>
        </p:spPr>
        <p:txBody>
          <a:bodyPr wrap="square" lIns="0" rIns="0" tIns="0" bIns="0" anchor="t">
            <a:spAutoFit/>
          </a:bodyPr>
          <a:lstStyle/>
          <a:p>
            <a:pPr algn="l">
              <a:lnSpc>
                <a:spcPct val="114000"/>
              </a:lnSpc>
            </a:pPr>
            <a:r>
              <a:rPr sz="1000" b="0" i="0">
                <a:solidFill>
                  <a:srgbClr val="5B6678"/>
                </a:solidFill>
                <a:latin typeface="DejaVu Sans"/>
              </a:rPr>
              <a:t>изменения от ИИ крупнее и дольше ждут ревьюера — 8,1 млн запросов на слияние, LinearB</a:t>
            </a:r>
          </a:p>
        </p:txBody>
      </p:sp>
      <p:sp>
        <p:nvSpPr>
          <p:cNvPr id="13" name="Rounded Rectangle 12"/>
          <p:cNvSpPr/>
          <p:nvPr/>
        </p:nvSpPr>
        <p:spPr>
          <a:xfrm>
            <a:off x="4892040" y="932688"/>
            <a:ext cx="6812280" cy="4315968"/>
          </a:xfrm>
          <a:prstGeom prst="roundRect">
            <a:avLst>
              <a:gd name="adj" fmla="val 7062"/>
            </a:avLst>
          </a:prstGeom>
          <a:solidFill>
            <a:srgbClr val="F4F7FA"/>
          </a:solidFill>
          <a:ln w="2032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02352" y="1024128"/>
            <a:ext cx="6400800" cy="274320"/>
          </a:xfrm>
          <a:prstGeom prst="rect">
            <a:avLst/>
          </a:prstGeom>
          <a:noFill/>
        </p:spPr>
        <p:txBody>
          <a:bodyPr wrap="square" lIns="0" rIns="0" tIns="0" bIns="0" anchor="t">
            <a:spAutoFit/>
          </a:bodyPr>
          <a:lstStyle/>
          <a:p>
            <a:pPr algn="l">
              <a:lnSpc>
                <a:spcPct val="115000"/>
              </a:lnSpc>
            </a:pPr>
            <a:r>
              <a:rPr sz="1150" b="1" i="0">
                <a:solidFill>
                  <a:srgbClr val="028090"/>
                </a:solidFill>
                <a:latin typeface="DejaVu Sans"/>
              </a:rPr>
              <a:t>КЛЮЧЕВЫЕ ПРАКТИКИ: ЧТО БЫЛО И ЧТО ДОБАВИЛОСЬ</a:t>
            </a:r>
          </a:p>
        </p:txBody>
      </p:sp>
      <p:sp>
        <p:nvSpPr>
          <p:cNvPr id="15" name="TextBox 14"/>
          <p:cNvSpPr txBox="1"/>
          <p:nvPr/>
        </p:nvSpPr>
        <p:spPr>
          <a:xfrm>
            <a:off x="5102352" y="1335024"/>
            <a:ext cx="2121408" cy="237744"/>
          </a:xfrm>
          <a:prstGeom prst="rect">
            <a:avLst/>
          </a:prstGeom>
          <a:noFill/>
        </p:spPr>
        <p:txBody>
          <a:bodyPr wrap="square" lIns="0" rIns="0" tIns="0" bIns="0" anchor="t">
            <a:spAutoFit/>
          </a:bodyPr>
          <a:lstStyle/>
          <a:p>
            <a:pPr algn="l">
              <a:lnSpc>
                <a:spcPct val="115000"/>
              </a:lnSpc>
            </a:pPr>
            <a:r>
              <a:rPr sz="950" b="1" i="1">
                <a:solidFill>
                  <a:srgbClr val="5B6678"/>
                </a:solidFill>
                <a:latin typeface="DejaVu Sans"/>
              </a:rPr>
              <a:t>делали и делаем без ИИ</a:t>
            </a:r>
          </a:p>
        </p:txBody>
      </p:sp>
      <p:sp>
        <p:nvSpPr>
          <p:cNvPr id="16" name="TextBox 15"/>
          <p:cNvSpPr txBox="1"/>
          <p:nvPr/>
        </p:nvSpPr>
        <p:spPr>
          <a:xfrm>
            <a:off x="7534656" y="1335024"/>
            <a:ext cx="3968496" cy="237744"/>
          </a:xfrm>
          <a:prstGeom prst="rect">
            <a:avLst/>
          </a:prstGeom>
          <a:noFill/>
        </p:spPr>
        <p:txBody>
          <a:bodyPr wrap="square" lIns="0" rIns="0" tIns="0" bIns="0" anchor="t">
            <a:spAutoFit/>
          </a:bodyPr>
          <a:lstStyle/>
          <a:p>
            <a:pPr algn="l">
              <a:lnSpc>
                <a:spcPct val="115000"/>
              </a:lnSpc>
            </a:pPr>
            <a:r>
              <a:rPr sz="950" b="1" i="1">
                <a:solidFill>
                  <a:srgbClr val="028090"/>
                </a:solidFill>
                <a:latin typeface="DejaVu Sans"/>
              </a:rPr>
              <a:t>что добавляется, когда код пишет агент</a:t>
            </a:r>
          </a:p>
        </p:txBody>
      </p:sp>
      <p:sp>
        <p:nvSpPr>
          <p:cNvPr id="17" name="Rectangle 16"/>
          <p:cNvSpPr/>
          <p:nvPr/>
        </p:nvSpPr>
        <p:spPr>
          <a:xfrm>
            <a:off x="5029200" y="1627632"/>
            <a:ext cx="6537960" cy="566928"/>
          </a:xfrm>
          <a:prstGeom prst="rect">
            <a:avLst/>
          </a:prstGeom>
          <a:solidFill>
            <a:srgbClr val="E1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02352" y="1645920"/>
            <a:ext cx="2121408" cy="530352"/>
          </a:xfrm>
          <a:prstGeom prst="rect">
            <a:avLst/>
          </a:prstGeom>
          <a:noFill/>
        </p:spPr>
        <p:txBody>
          <a:bodyPr wrap="square" lIns="0" rIns="0" tIns="0" bIns="0" anchor="ctr">
            <a:spAutoFit/>
          </a:bodyPr>
          <a:lstStyle/>
          <a:p>
            <a:pPr algn="l">
              <a:lnSpc>
                <a:spcPct val="110000"/>
              </a:lnSpc>
            </a:pPr>
            <a:r>
              <a:rPr sz="980" b="0" i="0">
                <a:solidFill>
                  <a:srgbClr val="21295C"/>
                </a:solidFill>
                <a:latin typeface="DejaVu Sans"/>
              </a:rPr>
              <a:t>Ревью изменений перед слиянием</a:t>
            </a:r>
          </a:p>
        </p:txBody>
      </p:sp>
      <p:sp>
        <p:nvSpPr>
          <p:cNvPr id="19" name="Right Arrow 18"/>
          <p:cNvSpPr/>
          <p:nvPr/>
        </p:nvSpPr>
        <p:spPr>
          <a:xfrm>
            <a:off x="7278624" y="1847088"/>
            <a:ext cx="128016" cy="128016"/>
          </a:xfrm>
          <a:prstGeom prst="rightArrow">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34656" y="1645920"/>
            <a:ext cx="3968496" cy="530352"/>
          </a:xfrm>
          <a:prstGeom prst="rect">
            <a:avLst/>
          </a:prstGeom>
          <a:noFill/>
        </p:spPr>
        <p:txBody>
          <a:bodyPr wrap="square" lIns="0" rIns="0" tIns="0" bIns="0" anchor="ctr">
            <a:spAutoFit/>
          </a:bodyPr>
          <a:lstStyle/>
          <a:p>
            <a:pPr algn="l">
              <a:lnSpc>
                <a:spcPct val="110000"/>
              </a:lnSpc>
            </a:pPr>
            <a:r>
              <a:rPr sz="980" b="0" i="0">
                <a:solidFill>
                  <a:srgbClr val="21295C"/>
                </a:solidFill>
                <a:latin typeface="DejaVu Sans"/>
              </a:rPr>
              <a:t>оно же стало узким местом: изменения крупнее, очередь длиннее</a:t>
            </a:r>
          </a:p>
        </p:txBody>
      </p:sp>
      <p:sp>
        <p:nvSpPr>
          <p:cNvPr id="21" name="TextBox 20"/>
          <p:cNvSpPr txBox="1"/>
          <p:nvPr/>
        </p:nvSpPr>
        <p:spPr>
          <a:xfrm>
            <a:off x="5102352" y="2231136"/>
            <a:ext cx="2121408" cy="530352"/>
          </a:xfrm>
          <a:prstGeom prst="rect">
            <a:avLst/>
          </a:prstGeom>
          <a:noFill/>
        </p:spPr>
        <p:txBody>
          <a:bodyPr wrap="square" lIns="0" rIns="0" tIns="0" bIns="0" anchor="ctr">
            <a:spAutoFit/>
          </a:bodyPr>
          <a:lstStyle/>
          <a:p>
            <a:pPr algn="l">
              <a:lnSpc>
                <a:spcPct val="110000"/>
              </a:lnSpc>
            </a:pPr>
            <a:r>
              <a:rPr sz="980" b="0" i="0">
                <a:solidFill>
                  <a:srgbClr val="21295C"/>
                </a:solidFill>
                <a:latin typeface="DejaVu Sans"/>
              </a:rPr>
              <a:t>Переключатель функции</a:t>
            </a:r>
          </a:p>
        </p:txBody>
      </p:sp>
      <p:sp>
        <p:nvSpPr>
          <p:cNvPr id="22" name="Right Arrow 21"/>
          <p:cNvSpPr/>
          <p:nvPr/>
        </p:nvSpPr>
        <p:spPr>
          <a:xfrm>
            <a:off x="7278624" y="2432304"/>
            <a:ext cx="128016" cy="128016"/>
          </a:xfrm>
          <a:prstGeom prst="rightArrow">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34656" y="2231136"/>
            <a:ext cx="3968496" cy="530352"/>
          </a:xfrm>
          <a:prstGeom prst="rect">
            <a:avLst/>
          </a:prstGeom>
          <a:noFill/>
        </p:spPr>
        <p:txBody>
          <a:bodyPr wrap="square" lIns="0" rIns="0" tIns="0" bIns="0" anchor="ctr">
            <a:spAutoFit/>
          </a:bodyPr>
          <a:lstStyle/>
          <a:p>
            <a:pPr algn="l">
              <a:lnSpc>
                <a:spcPct val="110000"/>
              </a:lnSpc>
            </a:pPr>
            <a:r>
              <a:rPr sz="980" b="0" i="0">
                <a:solidFill>
                  <a:srgbClr val="21295C"/>
                </a:solidFill>
                <a:latin typeface="DejaVu Sans"/>
              </a:rPr>
              <a:t>переключает уже не видимость функции, а уровень самостоятельности системы</a:t>
            </a:r>
          </a:p>
        </p:txBody>
      </p:sp>
      <p:sp>
        <p:nvSpPr>
          <p:cNvPr id="24" name="Rectangle 23"/>
          <p:cNvSpPr/>
          <p:nvPr/>
        </p:nvSpPr>
        <p:spPr>
          <a:xfrm>
            <a:off x="5029200" y="2798064"/>
            <a:ext cx="6537960" cy="566928"/>
          </a:xfrm>
          <a:prstGeom prst="rect">
            <a:avLst/>
          </a:prstGeom>
          <a:solidFill>
            <a:srgbClr val="E1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102352" y="2816352"/>
            <a:ext cx="2121408" cy="530352"/>
          </a:xfrm>
          <a:prstGeom prst="rect">
            <a:avLst/>
          </a:prstGeom>
          <a:noFill/>
        </p:spPr>
        <p:txBody>
          <a:bodyPr wrap="square" lIns="0" rIns="0" tIns="0" bIns="0" anchor="ctr">
            <a:spAutoFit/>
          </a:bodyPr>
          <a:lstStyle/>
          <a:p>
            <a:pPr algn="l">
              <a:lnSpc>
                <a:spcPct val="110000"/>
              </a:lnSpc>
            </a:pPr>
            <a:r>
              <a:rPr sz="980" b="0" i="0">
                <a:solidFill>
                  <a:srgbClr val="21295C"/>
                </a:solidFill>
                <a:latin typeface="DejaVu Sans"/>
              </a:rPr>
              <a:t>Поэтапная раскатка по доле пользователей</a:t>
            </a:r>
          </a:p>
        </p:txBody>
      </p:sp>
      <p:sp>
        <p:nvSpPr>
          <p:cNvPr id="26" name="Right Arrow 25"/>
          <p:cNvSpPr/>
          <p:nvPr/>
        </p:nvSpPr>
        <p:spPr>
          <a:xfrm>
            <a:off x="7278624" y="3017520"/>
            <a:ext cx="128016" cy="128016"/>
          </a:xfrm>
          <a:prstGeom prst="rightArrow">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534656" y="2816352"/>
            <a:ext cx="3968496" cy="530352"/>
          </a:xfrm>
          <a:prstGeom prst="rect">
            <a:avLst/>
          </a:prstGeom>
          <a:noFill/>
        </p:spPr>
        <p:txBody>
          <a:bodyPr wrap="square" lIns="0" rIns="0" tIns="0" bIns="0" anchor="ctr">
            <a:spAutoFit/>
          </a:bodyPr>
          <a:lstStyle/>
          <a:p>
            <a:pPr algn="l">
              <a:lnSpc>
                <a:spcPct val="110000"/>
              </a:lnSpc>
            </a:pPr>
            <a:r>
              <a:rPr sz="980" b="0" i="0">
                <a:solidFill>
                  <a:srgbClr val="21295C"/>
                </a:solidFill>
                <a:latin typeface="DejaVu Sans"/>
              </a:rPr>
              <a:t>вторая ось раскатки — уровень контроля, а не только процент аудитории</a:t>
            </a:r>
          </a:p>
        </p:txBody>
      </p:sp>
      <p:sp>
        <p:nvSpPr>
          <p:cNvPr id="28" name="TextBox 27"/>
          <p:cNvSpPr txBox="1"/>
          <p:nvPr/>
        </p:nvSpPr>
        <p:spPr>
          <a:xfrm>
            <a:off x="5102352" y="3401568"/>
            <a:ext cx="2121408" cy="530352"/>
          </a:xfrm>
          <a:prstGeom prst="rect">
            <a:avLst/>
          </a:prstGeom>
          <a:noFill/>
        </p:spPr>
        <p:txBody>
          <a:bodyPr wrap="square" lIns="0" rIns="0" tIns="0" bIns="0" anchor="ctr">
            <a:spAutoFit/>
          </a:bodyPr>
          <a:lstStyle/>
          <a:p>
            <a:pPr algn="l">
              <a:lnSpc>
                <a:spcPct val="110000"/>
              </a:lnSpc>
            </a:pPr>
            <a:r>
              <a:rPr sz="980" b="0" i="0">
                <a:solidFill>
                  <a:srgbClr val="21295C"/>
                </a:solidFill>
                <a:latin typeface="DejaVu Sans"/>
              </a:rPr>
              <a:t>Тесты, написанные до кода</a:t>
            </a:r>
          </a:p>
        </p:txBody>
      </p:sp>
      <p:sp>
        <p:nvSpPr>
          <p:cNvPr id="29" name="Right Arrow 28"/>
          <p:cNvSpPr/>
          <p:nvPr/>
        </p:nvSpPr>
        <p:spPr>
          <a:xfrm>
            <a:off x="7278624" y="3602736"/>
            <a:ext cx="128016" cy="128016"/>
          </a:xfrm>
          <a:prstGeom prst="rightArrow">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34656" y="3401568"/>
            <a:ext cx="3968496" cy="530352"/>
          </a:xfrm>
          <a:prstGeom prst="rect">
            <a:avLst/>
          </a:prstGeom>
          <a:noFill/>
        </p:spPr>
        <p:txBody>
          <a:bodyPr wrap="square" lIns="0" rIns="0" tIns="0" bIns="0" anchor="ctr">
            <a:spAutoFit/>
          </a:bodyPr>
          <a:lstStyle/>
          <a:p>
            <a:pPr algn="l">
              <a:lnSpc>
                <a:spcPct val="110000"/>
              </a:lnSpc>
            </a:pPr>
            <a:r>
              <a:rPr sz="980" b="0" i="0">
                <a:solidFill>
                  <a:srgbClr val="21295C"/>
                </a:solidFill>
                <a:latin typeface="DejaVu Sans"/>
              </a:rPr>
              <a:t>эталонный набор: проверяют ответ модели, а не только код</a:t>
            </a:r>
          </a:p>
        </p:txBody>
      </p:sp>
      <p:sp>
        <p:nvSpPr>
          <p:cNvPr id="31" name="Rectangle 30"/>
          <p:cNvSpPr/>
          <p:nvPr/>
        </p:nvSpPr>
        <p:spPr>
          <a:xfrm>
            <a:off x="5029200" y="3968496"/>
            <a:ext cx="6537960" cy="566928"/>
          </a:xfrm>
          <a:prstGeom prst="rect">
            <a:avLst/>
          </a:prstGeom>
          <a:solidFill>
            <a:srgbClr val="E1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102352" y="3986783"/>
            <a:ext cx="2121408" cy="530352"/>
          </a:xfrm>
          <a:prstGeom prst="rect">
            <a:avLst/>
          </a:prstGeom>
          <a:noFill/>
        </p:spPr>
        <p:txBody>
          <a:bodyPr wrap="square" lIns="0" rIns="0" tIns="0" bIns="0" anchor="ctr">
            <a:spAutoFit/>
          </a:bodyPr>
          <a:lstStyle/>
          <a:p>
            <a:pPr algn="l">
              <a:lnSpc>
                <a:spcPct val="110000"/>
              </a:lnSpc>
            </a:pPr>
            <a:r>
              <a:rPr sz="980" b="0" i="0">
                <a:solidFill>
                  <a:srgbClr val="21295C"/>
                </a:solidFill>
                <a:latin typeface="DejaVu Sans"/>
              </a:rPr>
              <a:t>Аварийное отключение</a:t>
            </a:r>
          </a:p>
        </p:txBody>
      </p:sp>
      <p:sp>
        <p:nvSpPr>
          <p:cNvPr id="33" name="Right Arrow 32"/>
          <p:cNvSpPr/>
          <p:nvPr/>
        </p:nvSpPr>
        <p:spPr>
          <a:xfrm>
            <a:off x="7278624" y="4187952"/>
            <a:ext cx="128016" cy="128016"/>
          </a:xfrm>
          <a:prstGeom prst="rightArrow">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534656" y="3986783"/>
            <a:ext cx="3968496" cy="530352"/>
          </a:xfrm>
          <a:prstGeom prst="rect">
            <a:avLst/>
          </a:prstGeom>
          <a:noFill/>
        </p:spPr>
        <p:txBody>
          <a:bodyPr wrap="square" lIns="0" rIns="0" tIns="0" bIns="0" anchor="ctr">
            <a:spAutoFit/>
          </a:bodyPr>
          <a:lstStyle/>
          <a:p>
            <a:pPr algn="l">
              <a:lnSpc>
                <a:spcPct val="110000"/>
              </a:lnSpc>
            </a:pPr>
            <a:r>
              <a:rPr sz="980" b="0" i="0">
                <a:solidFill>
                  <a:srgbClr val="21295C"/>
                </a:solidFill>
                <a:latin typeface="DejaVu Sans"/>
              </a:rPr>
              <a:t>нужно всегда: сбой расходится быстрее, чем его успевают заметить</a:t>
            </a:r>
          </a:p>
        </p:txBody>
      </p:sp>
      <p:sp>
        <p:nvSpPr>
          <p:cNvPr id="35" name="TextBox 34"/>
          <p:cNvSpPr txBox="1"/>
          <p:nvPr/>
        </p:nvSpPr>
        <p:spPr>
          <a:xfrm>
            <a:off x="5102352" y="4571999"/>
            <a:ext cx="2121408" cy="530352"/>
          </a:xfrm>
          <a:prstGeom prst="rect">
            <a:avLst/>
          </a:prstGeom>
          <a:noFill/>
        </p:spPr>
        <p:txBody>
          <a:bodyPr wrap="square" lIns="0" rIns="0" tIns="0" bIns="0" anchor="ctr">
            <a:spAutoFit/>
          </a:bodyPr>
          <a:lstStyle/>
          <a:p>
            <a:pPr algn="l">
              <a:lnSpc>
                <a:spcPct val="110000"/>
              </a:lnSpc>
            </a:pPr>
            <a:r>
              <a:rPr sz="980" b="0" i="0">
                <a:solidFill>
                  <a:srgbClr val="21295C"/>
                </a:solidFill>
                <a:latin typeface="DejaVu Sans"/>
              </a:rPr>
              <a:t>Спецификация, которой владеет человек</a:t>
            </a:r>
          </a:p>
        </p:txBody>
      </p:sp>
      <p:sp>
        <p:nvSpPr>
          <p:cNvPr id="36" name="Right Arrow 35"/>
          <p:cNvSpPr/>
          <p:nvPr/>
        </p:nvSpPr>
        <p:spPr>
          <a:xfrm>
            <a:off x="7278624" y="4773168"/>
            <a:ext cx="128016" cy="128016"/>
          </a:xfrm>
          <a:prstGeom prst="rightArrow">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534656" y="4571999"/>
            <a:ext cx="3968496" cy="530352"/>
          </a:xfrm>
          <a:prstGeom prst="rect">
            <a:avLst/>
          </a:prstGeom>
          <a:noFill/>
        </p:spPr>
        <p:txBody>
          <a:bodyPr wrap="square" lIns="0" rIns="0" tIns="0" bIns="0" anchor="ctr">
            <a:spAutoFit/>
          </a:bodyPr>
          <a:lstStyle/>
          <a:p>
            <a:pPr algn="l">
              <a:lnSpc>
                <a:spcPct val="110000"/>
              </a:lnSpc>
            </a:pPr>
            <a:r>
              <a:rPr sz="980" b="0" i="0">
                <a:solidFill>
                  <a:srgbClr val="21295C"/>
                </a:solidFill>
                <a:latin typeface="DejaVu Sans"/>
              </a:rPr>
              <a:t>единственный вход, который агент не может придумать себе сам</a:t>
            </a:r>
          </a:p>
        </p:txBody>
      </p:sp>
      <p:sp>
        <p:nvSpPr>
          <p:cNvPr id="38" name="Rounded Rectangle 37"/>
          <p:cNvSpPr/>
          <p:nvPr/>
        </p:nvSpPr>
        <p:spPr>
          <a:xfrm>
            <a:off x="502920" y="5358384"/>
            <a:ext cx="11201400" cy="713232"/>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22376" y="5413248"/>
            <a:ext cx="10762488" cy="603504"/>
          </a:xfrm>
          <a:prstGeom prst="rect">
            <a:avLst/>
          </a:prstGeom>
          <a:noFill/>
        </p:spPr>
        <p:txBody>
          <a:bodyPr wrap="square" lIns="0" rIns="0" tIns="0" bIns="0" anchor="ctr">
            <a:spAutoFit/>
          </a:bodyPr>
          <a:lstStyle/>
          <a:p>
            <a:pPr algn="l">
              <a:lnSpc>
                <a:spcPct val="120000"/>
              </a:lnSpc>
            </a:pPr>
            <a:r>
              <a:rPr sz="1350" b="1" i="0">
                <a:solidFill>
                  <a:srgbClr val="21295C"/>
                </a:solidFill>
                <a:latin typeface="DejaVu Sans"/>
              </a:rPr>
              <a:t>Дефицитный ресурс — не «кто напишет код», а «кто достаточно точно поставит задачу» на входе и «кто успеет проверить» на выходе.</a:t>
            </a:r>
          </a:p>
        </p:txBody>
      </p:sp>
      <p:sp>
        <p:nvSpPr>
          <p:cNvPr id="40" name="TextBox 39"/>
          <p:cNvSpPr txBox="1"/>
          <p:nvPr/>
        </p:nvSpPr>
        <p:spPr>
          <a:xfrm>
            <a:off x="502920" y="6455664"/>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2"/>
              </a:rPr>
              <a:t>Anthropic — Code Review for Claude Code (9 марта 2026)</a:t>
            </a:r>
          </a:p>
        </p:txBody>
      </p:sp>
      <p:sp>
        <p:nvSpPr>
          <p:cNvPr id="41" name="TextBox 40"/>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22 / 54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18872"/>
            <a:ext cx="11201400" cy="341122"/>
          </a:xfrm>
          <a:prstGeom prst="rect">
            <a:avLst/>
          </a:prstGeom>
          <a:noFill/>
        </p:spPr>
        <p:txBody>
          <a:bodyPr wrap="square" lIns="0" rIns="0" tIns="0" bIns="0" anchor="t">
            <a:spAutoFit/>
          </a:bodyPr>
          <a:lstStyle/>
          <a:p>
            <a:pPr algn="l">
              <a:lnSpc>
                <a:spcPct val="110000"/>
              </a:lnSpc>
            </a:pPr>
            <a:r>
              <a:rPr sz="2000" b="1" i="0">
                <a:solidFill>
                  <a:srgbClr val="21295C"/>
                </a:solidFill>
                <a:latin typeface="DejaVu Sans"/>
              </a:rPr>
              <a:t>Шкала самостоятельности — право решать отдают по частям</a:t>
            </a:r>
          </a:p>
        </p:txBody>
      </p:sp>
      <p:sp>
        <p:nvSpPr>
          <p:cNvPr id="3" name="Rounded Rectangle 2"/>
          <p:cNvSpPr/>
          <p:nvPr/>
        </p:nvSpPr>
        <p:spPr>
          <a:xfrm>
            <a:off x="502920" y="551434"/>
            <a:ext cx="1152144" cy="1083455"/>
          </a:xfrm>
          <a:prstGeom prst="roundRect">
            <a:avLst>
              <a:gd name="adj" fmla="val 22000"/>
            </a:avLst>
          </a:prstGeom>
          <a:solidFill>
            <a:srgbClr val="21295C"/>
          </a:solidFill>
          <a:ln w="12700">
            <a:solidFill>
              <a:srgbClr val="2129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51434"/>
            <a:ext cx="1060704" cy="1083455"/>
          </a:xfrm>
          <a:prstGeom prst="rect">
            <a:avLst/>
          </a:prstGeom>
          <a:noFill/>
        </p:spPr>
        <p:txBody>
          <a:bodyPr wrap="square" lIns="0" rIns="0" tIns="0" bIns="0" anchor="ctr">
            <a:spAutoFit/>
          </a:bodyPr>
          <a:lstStyle/>
          <a:p>
            <a:pPr algn="ctr">
              <a:lnSpc>
                <a:spcPct val="102000"/>
              </a:lnSpc>
            </a:pPr>
            <a:r>
              <a:rPr sz="950" b="1" i="0">
                <a:solidFill>
                  <a:srgbClr val="FFFFFF"/>
                </a:solidFill>
                <a:latin typeface="DejaVu Sans"/>
              </a:rPr>
              <a:t>ЧТО ЭТО</a:t>
            </a:r>
          </a:p>
        </p:txBody>
      </p:sp>
      <p:sp>
        <p:nvSpPr>
          <p:cNvPr id="5" name="Rounded Rectangle 4"/>
          <p:cNvSpPr/>
          <p:nvPr/>
        </p:nvSpPr>
        <p:spPr>
          <a:xfrm>
            <a:off x="1801368" y="551434"/>
            <a:ext cx="9902952" cy="1083455"/>
          </a:xfrm>
          <a:prstGeom prst="roundRect">
            <a:avLst>
              <a:gd name="adj" fmla="val 22000"/>
            </a:avLst>
          </a:prstGeom>
          <a:solidFill>
            <a:srgbClr val="FFFFFF"/>
          </a:solidFill>
          <a:ln w="2286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984248" y="642874"/>
            <a:ext cx="9537192" cy="900575"/>
          </a:xfrm>
          <a:prstGeom prst="rect">
            <a:avLst/>
          </a:prstGeom>
          <a:noFill/>
        </p:spPr>
        <p:txBody>
          <a:bodyPr wrap="square" lIns="0" rIns="0" tIns="0" bIns="0" anchor="ctr">
            <a:spAutoFit/>
          </a:bodyPr>
          <a:lstStyle/>
          <a:p>
            <a:pPr algn="l">
              <a:lnSpc>
                <a:spcPct val="114000"/>
              </a:lnSpc>
            </a:pPr>
            <a:r>
              <a:rPr sz="1150" b="0" i="0">
                <a:solidFill>
                  <a:srgbClr val="21295C"/>
                </a:solidFill>
                <a:latin typeface="DejaVu Sans"/>
              </a:rPr>
              <a:t>Функцию не «включают с ИИ», а выпускают уровнями самостоятельности. Сначала система только подсказывает. Потом предлагает готовое решение, а подтверждает человек. И лишь потом решает сама, возвращая человеку то, с чем не справилась. </a:t>
            </a:r>
            <a:r>
              <a:rPr sz="1150" b="1" i="0">
                <a:solidFill>
                  <a:srgbClr val="21295C"/>
                </a:solidFill>
                <a:latin typeface="DejaVu Sans"/>
              </a:rPr>
              <a:t>Версия здесь — не набор функций, а уровень самостоятельности, который система заслужила.</a:t>
            </a:r>
          </a:p>
        </p:txBody>
      </p:sp>
      <p:sp>
        <p:nvSpPr>
          <p:cNvPr id="7" name="Rounded Rectangle 6"/>
          <p:cNvSpPr/>
          <p:nvPr/>
        </p:nvSpPr>
        <p:spPr>
          <a:xfrm>
            <a:off x="502920" y="1698897"/>
            <a:ext cx="1152144" cy="2322576"/>
          </a:xfrm>
          <a:prstGeom prst="roundRect">
            <a:avLst>
              <a:gd name="adj" fmla="val 22000"/>
            </a:avLst>
          </a:prstGeom>
          <a:solidFill>
            <a:srgbClr val="065A82"/>
          </a:solidFill>
          <a:ln w="1270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698897"/>
            <a:ext cx="1060704" cy="2322576"/>
          </a:xfrm>
          <a:prstGeom prst="rect">
            <a:avLst/>
          </a:prstGeom>
          <a:noFill/>
        </p:spPr>
        <p:txBody>
          <a:bodyPr wrap="square" lIns="0" rIns="0" tIns="0" bIns="0" anchor="ctr">
            <a:spAutoFit/>
          </a:bodyPr>
          <a:lstStyle/>
          <a:p>
            <a:pPr algn="ctr">
              <a:lnSpc>
                <a:spcPct val="102000"/>
              </a:lnSpc>
            </a:pPr>
            <a:r>
              <a:rPr sz="950" b="1" i="0">
                <a:solidFill>
                  <a:srgbClr val="FFFFFF"/>
                </a:solidFill>
                <a:latin typeface="DejaVu Sans"/>
              </a:rPr>
              <a:t>МЕХАНИЗМ</a:t>
            </a:r>
          </a:p>
        </p:txBody>
      </p:sp>
      <p:sp>
        <p:nvSpPr>
          <p:cNvPr id="9" name="Rounded Rectangle 8"/>
          <p:cNvSpPr/>
          <p:nvPr/>
        </p:nvSpPr>
        <p:spPr>
          <a:xfrm>
            <a:off x="1801368" y="1698897"/>
            <a:ext cx="9902952" cy="2322576"/>
          </a:xfrm>
          <a:prstGeom prst="roundRect">
            <a:avLst>
              <a:gd name="adj" fmla="val 13123"/>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984248" y="1804053"/>
            <a:ext cx="214884" cy="2148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984248" y="1804053"/>
            <a:ext cx="214884" cy="214884"/>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1</a:t>
            </a:r>
          </a:p>
        </p:txBody>
      </p:sp>
      <p:sp>
        <p:nvSpPr>
          <p:cNvPr id="12" name="TextBox 11"/>
          <p:cNvSpPr txBox="1"/>
          <p:nvPr/>
        </p:nvSpPr>
        <p:spPr>
          <a:xfrm>
            <a:off x="2295144" y="1790337"/>
            <a:ext cx="5934456" cy="378673"/>
          </a:xfrm>
          <a:prstGeom prst="rect">
            <a:avLst/>
          </a:prstGeom>
          <a:noFill/>
        </p:spPr>
        <p:txBody>
          <a:bodyPr wrap="square" lIns="0" rIns="0" tIns="0" bIns="0" anchor="t">
            <a:spAutoFit/>
          </a:bodyPr>
          <a:lstStyle/>
          <a:p>
            <a:pPr algn="l">
              <a:lnSpc>
                <a:spcPct val="115000"/>
              </a:lnSpc>
            </a:pPr>
            <a:r>
              <a:rPr sz="1000" b="0" i="0">
                <a:solidFill>
                  <a:srgbClr val="21295C"/>
                </a:solidFill>
                <a:latin typeface="DejaVu Sans"/>
              </a:rPr>
              <a:t>Каждый уровень — </a:t>
            </a:r>
            <a:r>
              <a:rPr sz="1000" b="1" i="0">
                <a:solidFill>
                  <a:srgbClr val="065A82"/>
                </a:solidFill>
                <a:latin typeface="DejaVu Sans"/>
              </a:rPr>
              <a:t>отдельный выпуск</a:t>
            </a:r>
            <a:r>
              <a:rPr sz="1000" b="0" i="0">
                <a:solidFill>
                  <a:srgbClr val="21295C"/>
                </a:solidFill>
                <a:latin typeface="DejaVu Sans"/>
              </a:rPr>
              <a:t>: свой круг пользователей, свой набор наблюдаемых признаков, свой способ остановиться.</a:t>
            </a:r>
          </a:p>
        </p:txBody>
      </p:sp>
      <p:sp>
        <p:nvSpPr>
          <p:cNvPr id="13" name="Oval 12"/>
          <p:cNvSpPr/>
          <p:nvPr/>
        </p:nvSpPr>
        <p:spPr>
          <a:xfrm>
            <a:off x="1984248" y="2246734"/>
            <a:ext cx="214884" cy="2148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984248" y="2246734"/>
            <a:ext cx="214884" cy="214884"/>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2</a:t>
            </a:r>
          </a:p>
        </p:txBody>
      </p:sp>
      <p:sp>
        <p:nvSpPr>
          <p:cNvPr id="15" name="TextBox 14"/>
          <p:cNvSpPr txBox="1"/>
          <p:nvPr/>
        </p:nvSpPr>
        <p:spPr>
          <a:xfrm>
            <a:off x="2295144" y="2233018"/>
            <a:ext cx="5934456" cy="378673"/>
          </a:xfrm>
          <a:prstGeom prst="rect">
            <a:avLst/>
          </a:prstGeom>
          <a:noFill/>
        </p:spPr>
        <p:txBody>
          <a:bodyPr wrap="square" lIns="0" rIns="0" tIns="0" bIns="0" anchor="t">
            <a:spAutoFit/>
          </a:bodyPr>
          <a:lstStyle/>
          <a:p>
            <a:pPr algn="l">
              <a:lnSpc>
                <a:spcPct val="115000"/>
              </a:lnSpc>
            </a:pPr>
            <a:r>
              <a:rPr sz="1000" b="0" i="0">
                <a:solidFill>
                  <a:srgbClr val="21295C"/>
                </a:solidFill>
                <a:latin typeface="DejaVu Sans"/>
              </a:rPr>
              <a:t>Подъём открывают </a:t>
            </a:r>
            <a:r>
              <a:rPr sz="1000" b="1" i="0">
                <a:solidFill>
                  <a:srgbClr val="065A82"/>
                </a:solidFill>
                <a:latin typeface="DejaVu Sans"/>
              </a:rPr>
              <a:t>доказательством, а не календарём</a:t>
            </a:r>
            <a:r>
              <a:rPr sz="1000" b="0" i="0">
                <a:solidFill>
                  <a:srgbClr val="21295C"/>
                </a:solidFill>
                <a:latin typeface="DejaVu Sans"/>
              </a:rPr>
              <a:t>: система справляется именно с теми случаями, которые доверяет ей новый уровень.</a:t>
            </a:r>
          </a:p>
        </p:txBody>
      </p:sp>
      <p:sp>
        <p:nvSpPr>
          <p:cNvPr id="16" name="Oval 15"/>
          <p:cNvSpPr/>
          <p:nvPr/>
        </p:nvSpPr>
        <p:spPr>
          <a:xfrm>
            <a:off x="1984248" y="2689416"/>
            <a:ext cx="214884" cy="2148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984248" y="2689416"/>
            <a:ext cx="214884" cy="214884"/>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3</a:t>
            </a:r>
          </a:p>
        </p:txBody>
      </p:sp>
      <p:sp>
        <p:nvSpPr>
          <p:cNvPr id="18" name="TextBox 17"/>
          <p:cNvSpPr txBox="1"/>
          <p:nvPr/>
        </p:nvSpPr>
        <p:spPr>
          <a:xfrm>
            <a:off x="2295144" y="2675700"/>
            <a:ext cx="5934456" cy="378673"/>
          </a:xfrm>
          <a:prstGeom prst="rect">
            <a:avLst/>
          </a:prstGeom>
          <a:noFill/>
        </p:spPr>
        <p:txBody>
          <a:bodyPr wrap="square" lIns="0" rIns="0" tIns="0" bIns="0" anchor="t">
            <a:spAutoFit/>
          </a:bodyPr>
          <a:lstStyle/>
          <a:p>
            <a:pPr algn="l">
              <a:lnSpc>
                <a:spcPct val="115000"/>
              </a:lnSpc>
            </a:pPr>
            <a:r>
              <a:rPr sz="1000" b="0" i="0">
                <a:solidFill>
                  <a:srgbClr val="21295C"/>
                </a:solidFill>
                <a:latin typeface="DejaVu Sans"/>
              </a:rPr>
              <a:t>Доказательство должно быть </a:t>
            </a:r>
            <a:r>
              <a:rPr sz="1000" b="1" i="0">
                <a:solidFill>
                  <a:srgbClr val="065A82"/>
                </a:solidFill>
                <a:latin typeface="DejaVu Sans"/>
              </a:rPr>
              <a:t>устойчивым</a:t>
            </a:r>
            <a:r>
              <a:rPr sz="1000" b="0" i="0">
                <a:solidFill>
                  <a:srgbClr val="21295C"/>
                </a:solidFill>
                <a:latin typeface="DejaVu Sans"/>
              </a:rPr>
              <a:t> — при повторных попытках, а не один раз.</a:t>
            </a:r>
          </a:p>
        </p:txBody>
      </p:sp>
      <p:sp>
        <p:nvSpPr>
          <p:cNvPr id="19" name="Oval 18"/>
          <p:cNvSpPr/>
          <p:nvPr/>
        </p:nvSpPr>
        <p:spPr>
          <a:xfrm>
            <a:off x="1984248" y="3132097"/>
            <a:ext cx="214884" cy="2148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84248" y="3132097"/>
            <a:ext cx="214884" cy="214884"/>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4</a:t>
            </a:r>
          </a:p>
        </p:txBody>
      </p:sp>
      <p:sp>
        <p:nvSpPr>
          <p:cNvPr id="21" name="TextBox 20"/>
          <p:cNvSpPr txBox="1"/>
          <p:nvPr/>
        </p:nvSpPr>
        <p:spPr>
          <a:xfrm>
            <a:off x="2295144" y="3118381"/>
            <a:ext cx="5934456" cy="378673"/>
          </a:xfrm>
          <a:prstGeom prst="rect">
            <a:avLst/>
          </a:prstGeom>
          <a:noFill/>
        </p:spPr>
        <p:txBody>
          <a:bodyPr wrap="square" lIns="0" rIns="0" tIns="0" bIns="0" anchor="t">
            <a:spAutoFit/>
          </a:bodyPr>
          <a:lstStyle/>
          <a:p>
            <a:pPr algn="l">
              <a:lnSpc>
                <a:spcPct val="115000"/>
              </a:lnSpc>
            </a:pPr>
            <a:r>
              <a:rPr sz="1000" b="0" i="0">
                <a:solidFill>
                  <a:srgbClr val="21295C"/>
                </a:solidFill>
                <a:latin typeface="DejaVu Sans"/>
              </a:rPr>
              <a:t>Заранее описано, </a:t>
            </a:r>
            <a:r>
              <a:rPr sz="1000" b="1" i="0">
                <a:solidFill>
                  <a:srgbClr val="065A82"/>
                </a:solidFill>
                <a:latin typeface="DejaVu Sans"/>
              </a:rPr>
              <a:t>как вернуть систему на уровень ниже</a:t>
            </a:r>
            <a:r>
              <a:rPr sz="1000" b="0" i="0">
                <a:solidFill>
                  <a:srgbClr val="21295C"/>
                </a:solidFill>
                <a:latin typeface="DejaVu Sans"/>
              </a:rPr>
              <a:t>: кто решает, по какому признаку и за какое время.</a:t>
            </a:r>
          </a:p>
        </p:txBody>
      </p:sp>
      <p:sp>
        <p:nvSpPr>
          <p:cNvPr id="22" name="Rounded Rectangle 21"/>
          <p:cNvSpPr/>
          <p:nvPr/>
        </p:nvSpPr>
        <p:spPr>
          <a:xfrm>
            <a:off x="8503920" y="1826913"/>
            <a:ext cx="3017520" cy="457200"/>
          </a:xfrm>
          <a:prstGeom prst="roundRect">
            <a:avLst>
              <a:gd name="adj" fmla="val 1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95360" y="1863489"/>
            <a:ext cx="2834639" cy="237744"/>
          </a:xfrm>
          <a:prstGeom prst="rect">
            <a:avLst/>
          </a:prstGeom>
          <a:noFill/>
        </p:spPr>
        <p:txBody>
          <a:bodyPr wrap="square" lIns="0" rIns="0" tIns="0" bIns="0" anchor="t">
            <a:spAutoFit/>
          </a:bodyPr>
          <a:lstStyle/>
          <a:p>
            <a:pPr algn="ctr">
              <a:lnSpc>
                <a:spcPct val="102000"/>
              </a:lnSpc>
            </a:pPr>
            <a:r>
              <a:rPr sz="1150" b="1" i="0">
                <a:solidFill>
                  <a:srgbClr val="FFFFFF"/>
                </a:solidFill>
                <a:latin typeface="DejaVu Sans"/>
              </a:rPr>
              <a:t>подсказывает</a:t>
            </a:r>
          </a:p>
        </p:txBody>
      </p:sp>
      <p:sp>
        <p:nvSpPr>
          <p:cNvPr id="24" name="TextBox 23"/>
          <p:cNvSpPr txBox="1"/>
          <p:nvPr/>
        </p:nvSpPr>
        <p:spPr>
          <a:xfrm>
            <a:off x="8595360" y="2101233"/>
            <a:ext cx="2834639" cy="201168"/>
          </a:xfrm>
          <a:prstGeom prst="rect">
            <a:avLst/>
          </a:prstGeom>
          <a:noFill/>
        </p:spPr>
        <p:txBody>
          <a:bodyPr wrap="square" lIns="0" rIns="0" tIns="0" bIns="0" anchor="t">
            <a:spAutoFit/>
          </a:bodyPr>
          <a:lstStyle/>
          <a:p>
            <a:pPr algn="ctr">
              <a:lnSpc>
                <a:spcPct val="102000"/>
              </a:lnSpc>
            </a:pPr>
            <a:r>
              <a:rPr sz="880" b="0" i="0">
                <a:solidFill>
                  <a:srgbClr val="FFFFFF"/>
                </a:solidFill>
                <a:latin typeface="DejaVu Sans"/>
              </a:rPr>
              <a:t>решает человек</a:t>
            </a:r>
          </a:p>
        </p:txBody>
      </p:sp>
      <p:cxnSp>
        <p:nvCxnSpPr>
          <p:cNvPr id="25" name="Connector 24"/>
          <p:cNvCxnSpPr/>
          <p:nvPr/>
        </p:nvCxnSpPr>
        <p:spPr>
          <a:xfrm>
            <a:off x="10012680" y="2284113"/>
            <a:ext cx="0" cy="164592"/>
          </a:xfrm>
          <a:prstGeom prst="line">
            <a:avLst/>
          </a:prstGeom>
          <a:ln w="30480">
            <a:solidFill>
              <a:srgbClr val="F0AB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8503920" y="2448705"/>
            <a:ext cx="3017520" cy="457200"/>
          </a:xfrm>
          <a:prstGeom prst="roundRect">
            <a:avLst>
              <a:gd name="adj" fmla="val 1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95360" y="2485281"/>
            <a:ext cx="2834639" cy="237744"/>
          </a:xfrm>
          <a:prstGeom prst="rect">
            <a:avLst/>
          </a:prstGeom>
          <a:noFill/>
        </p:spPr>
        <p:txBody>
          <a:bodyPr wrap="square" lIns="0" rIns="0" tIns="0" bIns="0" anchor="t">
            <a:spAutoFit/>
          </a:bodyPr>
          <a:lstStyle/>
          <a:p>
            <a:pPr algn="ctr">
              <a:lnSpc>
                <a:spcPct val="102000"/>
              </a:lnSpc>
            </a:pPr>
            <a:r>
              <a:rPr sz="1150" b="1" i="0">
                <a:solidFill>
                  <a:srgbClr val="FFFFFF"/>
                </a:solidFill>
                <a:latin typeface="DejaVu Sans"/>
              </a:rPr>
              <a:t>предлагает решение</a:t>
            </a:r>
          </a:p>
        </p:txBody>
      </p:sp>
      <p:sp>
        <p:nvSpPr>
          <p:cNvPr id="28" name="TextBox 27"/>
          <p:cNvSpPr txBox="1"/>
          <p:nvPr/>
        </p:nvSpPr>
        <p:spPr>
          <a:xfrm>
            <a:off x="8595360" y="2723025"/>
            <a:ext cx="2834639" cy="201168"/>
          </a:xfrm>
          <a:prstGeom prst="rect">
            <a:avLst/>
          </a:prstGeom>
          <a:noFill/>
        </p:spPr>
        <p:txBody>
          <a:bodyPr wrap="square" lIns="0" rIns="0" tIns="0" bIns="0" anchor="t">
            <a:spAutoFit/>
          </a:bodyPr>
          <a:lstStyle/>
          <a:p>
            <a:pPr algn="ctr">
              <a:lnSpc>
                <a:spcPct val="102000"/>
              </a:lnSpc>
            </a:pPr>
            <a:r>
              <a:rPr sz="880" b="0" i="0">
                <a:solidFill>
                  <a:srgbClr val="FFFFFF"/>
                </a:solidFill>
                <a:latin typeface="DejaVu Sans"/>
              </a:rPr>
              <a:t>подтверждает человек</a:t>
            </a:r>
          </a:p>
        </p:txBody>
      </p:sp>
      <p:cxnSp>
        <p:nvCxnSpPr>
          <p:cNvPr id="29" name="Connector 28"/>
          <p:cNvCxnSpPr/>
          <p:nvPr/>
        </p:nvCxnSpPr>
        <p:spPr>
          <a:xfrm>
            <a:off x="10012680" y="2905905"/>
            <a:ext cx="0" cy="164592"/>
          </a:xfrm>
          <a:prstGeom prst="line">
            <a:avLst/>
          </a:prstGeom>
          <a:ln w="30480">
            <a:solidFill>
              <a:srgbClr val="F0AB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8503920" y="3070497"/>
            <a:ext cx="3017520" cy="457200"/>
          </a:xfrm>
          <a:prstGeom prst="roundRect">
            <a:avLst>
              <a:gd name="adj" fmla="val 1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595360" y="3107073"/>
            <a:ext cx="2834639" cy="237744"/>
          </a:xfrm>
          <a:prstGeom prst="rect">
            <a:avLst/>
          </a:prstGeom>
          <a:noFill/>
        </p:spPr>
        <p:txBody>
          <a:bodyPr wrap="square" lIns="0" rIns="0" tIns="0" bIns="0" anchor="t">
            <a:spAutoFit/>
          </a:bodyPr>
          <a:lstStyle/>
          <a:p>
            <a:pPr algn="ctr">
              <a:lnSpc>
                <a:spcPct val="102000"/>
              </a:lnSpc>
            </a:pPr>
            <a:r>
              <a:rPr sz="1150" b="1" i="0">
                <a:solidFill>
                  <a:srgbClr val="FFFFFF"/>
                </a:solidFill>
                <a:latin typeface="DejaVu Sans"/>
              </a:rPr>
              <a:t>решает сама</a:t>
            </a:r>
          </a:p>
        </p:txBody>
      </p:sp>
      <p:sp>
        <p:nvSpPr>
          <p:cNvPr id="32" name="TextBox 31"/>
          <p:cNvSpPr txBox="1"/>
          <p:nvPr/>
        </p:nvSpPr>
        <p:spPr>
          <a:xfrm>
            <a:off x="8595360" y="3344817"/>
            <a:ext cx="2834639" cy="201168"/>
          </a:xfrm>
          <a:prstGeom prst="rect">
            <a:avLst/>
          </a:prstGeom>
          <a:noFill/>
        </p:spPr>
        <p:txBody>
          <a:bodyPr wrap="square" lIns="0" rIns="0" tIns="0" bIns="0" anchor="t">
            <a:spAutoFit/>
          </a:bodyPr>
          <a:lstStyle/>
          <a:p>
            <a:pPr algn="ctr">
              <a:lnSpc>
                <a:spcPct val="102000"/>
              </a:lnSpc>
            </a:pPr>
            <a:r>
              <a:rPr sz="880" b="0" i="0">
                <a:solidFill>
                  <a:srgbClr val="FFFFFF"/>
                </a:solidFill>
                <a:latin typeface="DejaVu Sans"/>
              </a:rPr>
              <a:t>возвращает трудное человеку</a:t>
            </a:r>
          </a:p>
        </p:txBody>
      </p:sp>
      <p:sp>
        <p:nvSpPr>
          <p:cNvPr id="33" name="TextBox 32"/>
          <p:cNvSpPr txBox="1"/>
          <p:nvPr/>
        </p:nvSpPr>
        <p:spPr>
          <a:xfrm>
            <a:off x="8503920" y="3564273"/>
            <a:ext cx="3017520" cy="310896"/>
          </a:xfrm>
          <a:prstGeom prst="rect">
            <a:avLst/>
          </a:prstGeom>
          <a:noFill/>
        </p:spPr>
        <p:txBody>
          <a:bodyPr wrap="square" lIns="0" rIns="0" tIns="0" bIns="0" anchor="t">
            <a:spAutoFit/>
          </a:bodyPr>
          <a:lstStyle/>
          <a:p>
            <a:pPr algn="ctr">
              <a:lnSpc>
                <a:spcPct val="105000"/>
              </a:lnSpc>
            </a:pPr>
            <a:r>
              <a:rPr sz="880" b="0" i="1">
                <a:solidFill>
                  <a:srgbClr val="5B6678"/>
                </a:solidFill>
                <a:latin typeface="DejaVu Sans"/>
              </a:rPr>
              <a:t>шкала самостоятельности, а не последовательность версий продукта</a:t>
            </a:r>
          </a:p>
        </p:txBody>
      </p:sp>
      <p:sp>
        <p:nvSpPr>
          <p:cNvPr id="34" name="Rounded Rectangle 33"/>
          <p:cNvSpPr/>
          <p:nvPr/>
        </p:nvSpPr>
        <p:spPr>
          <a:xfrm>
            <a:off x="502920" y="4085481"/>
            <a:ext cx="1152144" cy="1074020"/>
          </a:xfrm>
          <a:prstGeom prst="roundRect">
            <a:avLst>
              <a:gd name="adj" fmla="val 22000"/>
            </a:avLst>
          </a:prstGeom>
          <a:solidFill>
            <a:srgbClr val="1C7293"/>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48640" y="4085481"/>
            <a:ext cx="1060704" cy="1074020"/>
          </a:xfrm>
          <a:prstGeom prst="rect">
            <a:avLst/>
          </a:prstGeom>
          <a:noFill/>
        </p:spPr>
        <p:txBody>
          <a:bodyPr wrap="square" lIns="0" rIns="0" tIns="0" bIns="0" anchor="ctr">
            <a:spAutoFit/>
          </a:bodyPr>
          <a:lstStyle/>
          <a:p>
            <a:pPr algn="ctr">
              <a:lnSpc>
                <a:spcPct val="102000"/>
              </a:lnSpc>
            </a:pPr>
            <a:r>
              <a:rPr sz="950" b="1" i="0">
                <a:solidFill>
                  <a:srgbClr val="FFFFFF"/>
                </a:solidFill>
                <a:latin typeface="DejaVu Sans"/>
              </a:rPr>
              <a:t>С ИИ И БЕЗ ИИ</a:t>
            </a:r>
          </a:p>
        </p:txBody>
      </p:sp>
      <p:sp>
        <p:nvSpPr>
          <p:cNvPr id="36" name="Rounded Rectangle 35"/>
          <p:cNvSpPr/>
          <p:nvPr/>
        </p:nvSpPr>
        <p:spPr>
          <a:xfrm>
            <a:off x="1801368" y="4085481"/>
            <a:ext cx="9902952" cy="1074020"/>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1984248" y="4176921"/>
            <a:ext cx="4677156" cy="891140"/>
          </a:xfrm>
          <a:prstGeom prst="roundRect">
            <a:avLst>
              <a:gd name="adj" fmla="val 19444"/>
            </a:avLst>
          </a:prstGeom>
          <a:solidFill>
            <a:srgbClr val="FFFFFF"/>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084831" y="4222641"/>
            <a:ext cx="4475988" cy="219456"/>
          </a:xfrm>
          <a:prstGeom prst="rect">
            <a:avLst/>
          </a:prstGeom>
          <a:noFill/>
        </p:spPr>
        <p:txBody>
          <a:bodyPr wrap="square" lIns="0" rIns="0" tIns="0" bIns="0" anchor="t">
            <a:spAutoFit/>
          </a:bodyPr>
          <a:lstStyle/>
          <a:p>
            <a:pPr algn="l">
              <a:lnSpc>
                <a:spcPct val="100000"/>
              </a:lnSpc>
            </a:pPr>
            <a:r>
              <a:rPr sz="919" b="1" i="0">
                <a:solidFill>
                  <a:srgbClr val="065A82"/>
                </a:solidFill>
                <a:latin typeface="DejaVu Sans"/>
              </a:rPr>
              <a:t>БЕЗ ИИ — права выдают по частям давно</a:t>
            </a:r>
          </a:p>
        </p:txBody>
      </p:sp>
      <p:sp>
        <p:nvSpPr>
          <p:cNvPr id="39" name="TextBox 38"/>
          <p:cNvSpPr txBox="1"/>
          <p:nvPr/>
        </p:nvSpPr>
        <p:spPr>
          <a:xfrm>
            <a:off x="2084831" y="4451241"/>
            <a:ext cx="4475988" cy="561956"/>
          </a:xfrm>
          <a:prstGeom prst="rect">
            <a:avLst/>
          </a:prstGeom>
          <a:noFill/>
        </p:spPr>
        <p:txBody>
          <a:bodyPr wrap="square" lIns="0" rIns="0" tIns="0" bIns="0" anchor="t">
            <a:spAutoFit/>
          </a:bodyPr>
          <a:lstStyle/>
          <a:p>
            <a:pPr algn="l">
              <a:lnSpc>
                <a:spcPct val="112000"/>
              </a:lnSpc>
            </a:pPr>
            <a:r>
              <a:rPr sz="950" b="0" i="0">
                <a:solidFill>
                  <a:srgbClr val="21295C"/>
                </a:solidFill>
                <a:latin typeface="DejaVu Sans"/>
              </a:rPr>
              <a:t>Тот же приём применяют к людям и к автоматике: новичку сначала дают смотреть, потом предлагать, потом решать самому.</a:t>
            </a:r>
          </a:p>
        </p:txBody>
      </p:sp>
      <p:sp>
        <p:nvSpPr>
          <p:cNvPr id="40" name="Rounded Rectangle 39"/>
          <p:cNvSpPr/>
          <p:nvPr/>
        </p:nvSpPr>
        <p:spPr>
          <a:xfrm>
            <a:off x="6844284" y="4176921"/>
            <a:ext cx="4677156" cy="891140"/>
          </a:xfrm>
          <a:prstGeom prst="roundRect">
            <a:avLst>
              <a:gd name="adj" fmla="val 19444"/>
            </a:avLst>
          </a:prstGeom>
          <a:solidFill>
            <a:srgbClr val="FFFFFF"/>
          </a:solidFill>
          <a:ln w="1778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944868" y="4222641"/>
            <a:ext cx="4475988" cy="219456"/>
          </a:xfrm>
          <a:prstGeom prst="rect">
            <a:avLst/>
          </a:prstGeom>
          <a:noFill/>
        </p:spPr>
        <p:txBody>
          <a:bodyPr wrap="square" lIns="0" rIns="0" tIns="0" bIns="0" anchor="t">
            <a:spAutoFit/>
          </a:bodyPr>
          <a:lstStyle/>
          <a:p>
            <a:pPr algn="l">
              <a:lnSpc>
                <a:spcPct val="100000"/>
              </a:lnSpc>
            </a:pPr>
            <a:r>
              <a:rPr sz="919" b="1" i="0">
                <a:solidFill>
                  <a:srgbClr val="028090"/>
                </a:solidFill>
                <a:latin typeface="DejaVu Sans"/>
              </a:rPr>
              <a:t>С ИИ — уровень подтверждают на каждом выпуске</a:t>
            </a:r>
          </a:p>
        </p:txBody>
      </p:sp>
      <p:sp>
        <p:nvSpPr>
          <p:cNvPr id="42" name="TextBox 41"/>
          <p:cNvSpPr txBox="1"/>
          <p:nvPr/>
        </p:nvSpPr>
        <p:spPr>
          <a:xfrm>
            <a:off x="6944868" y="4451241"/>
            <a:ext cx="4475988" cy="561956"/>
          </a:xfrm>
          <a:prstGeom prst="rect">
            <a:avLst/>
          </a:prstGeom>
          <a:noFill/>
        </p:spPr>
        <p:txBody>
          <a:bodyPr wrap="square" lIns="0" rIns="0" tIns="0" bIns="0" anchor="t">
            <a:spAutoFit/>
          </a:bodyPr>
          <a:lstStyle/>
          <a:p>
            <a:pPr algn="l">
              <a:lnSpc>
                <a:spcPct val="112000"/>
              </a:lnSpc>
            </a:pPr>
            <a:r>
              <a:rPr sz="950" b="0" i="0">
                <a:solidFill>
                  <a:srgbClr val="21295C"/>
                </a:solidFill>
                <a:latin typeface="DejaVu Sans"/>
              </a:rPr>
              <a:t>Система не набирается опыта, как человек: право держать уровень доказывают </a:t>
            </a:r>
            <a:r>
              <a:rPr sz="950" b="1" i="0">
                <a:solidFill>
                  <a:srgbClr val="21295C"/>
                </a:solidFill>
                <a:latin typeface="DejaVu Sans"/>
              </a:rPr>
              <a:t>измерением на каждом выпуске</a:t>
            </a:r>
            <a:r>
              <a:rPr sz="950" b="0" i="0">
                <a:solidFill>
                  <a:srgbClr val="21295C"/>
                </a:solidFill>
                <a:latin typeface="DejaVu Sans"/>
              </a:rPr>
              <a:t>, а не стажем работы без нареканий.</a:t>
            </a:r>
          </a:p>
        </p:txBody>
      </p:sp>
      <p:sp>
        <p:nvSpPr>
          <p:cNvPr id="43" name="Rounded Rectangle 42"/>
          <p:cNvSpPr/>
          <p:nvPr/>
        </p:nvSpPr>
        <p:spPr>
          <a:xfrm>
            <a:off x="502920" y="5223509"/>
            <a:ext cx="1152144" cy="1050342"/>
          </a:xfrm>
          <a:prstGeom prst="roundRect">
            <a:avLst>
              <a:gd name="adj" fmla="val 22000"/>
            </a:avLst>
          </a:prstGeom>
          <a:solidFill>
            <a:srgbClr val="F0AB00"/>
          </a:solidFill>
          <a:ln w="127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48640" y="5223509"/>
            <a:ext cx="1060704" cy="1050342"/>
          </a:xfrm>
          <a:prstGeom prst="rect">
            <a:avLst/>
          </a:prstGeom>
          <a:noFill/>
        </p:spPr>
        <p:txBody>
          <a:bodyPr wrap="square" lIns="0" rIns="0" tIns="0" bIns="0" anchor="ctr">
            <a:spAutoFit/>
          </a:bodyPr>
          <a:lstStyle/>
          <a:p>
            <a:pPr algn="ctr">
              <a:lnSpc>
                <a:spcPct val="102000"/>
              </a:lnSpc>
            </a:pPr>
            <a:r>
              <a:rPr sz="950" b="1" i="0">
                <a:solidFill>
                  <a:srgbClr val="21295C"/>
                </a:solidFill>
                <a:latin typeface="DejaVu Sans"/>
              </a:rPr>
              <a:t>ГДЕ НЕ РАБОТАЕТ</a:t>
            </a:r>
          </a:p>
        </p:txBody>
      </p:sp>
      <p:sp>
        <p:nvSpPr>
          <p:cNvPr id="45" name="Rounded Rectangle 44"/>
          <p:cNvSpPr/>
          <p:nvPr/>
        </p:nvSpPr>
        <p:spPr>
          <a:xfrm>
            <a:off x="1801368" y="5223509"/>
            <a:ext cx="9902952" cy="1050342"/>
          </a:xfrm>
          <a:prstGeom prst="roundRect">
            <a:avLst>
              <a:gd name="adj" fmla="val 22000"/>
            </a:avLst>
          </a:prstGeom>
          <a:solidFill>
            <a:srgbClr val="FDF3DC"/>
          </a:solidFill>
          <a:ln w="317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984248" y="5314949"/>
            <a:ext cx="9537192" cy="867462"/>
          </a:xfrm>
          <a:prstGeom prst="rect">
            <a:avLst/>
          </a:prstGeom>
          <a:noFill/>
        </p:spPr>
        <p:txBody>
          <a:bodyPr wrap="square" lIns="0" rIns="0" tIns="0" bIns="0" anchor="ctr">
            <a:spAutoFit/>
          </a:bodyPr>
          <a:lstStyle/>
          <a:p>
            <a:pPr algn="l">
              <a:lnSpc>
                <a:spcPct val="114000"/>
              </a:lnSpc>
            </a:pPr>
            <a:r>
              <a:rPr sz="1100" b="1" i="0">
                <a:solidFill>
                  <a:srgbClr val="21295C"/>
                </a:solidFill>
                <a:latin typeface="DejaVu Sans"/>
              </a:rPr>
              <a:t>«Оператор давно ничего не правил» доказательством не является: </a:t>
            </a:r>
            <a:r>
              <a:rPr sz="1100" b="1" i="0">
                <a:solidFill>
                  <a:srgbClr val="21295C"/>
                </a:solidFill>
                <a:latin typeface="DejaVu Sans"/>
              </a:rPr>
              <a:t>отсутствие замечаний — не результат измерения, а его отсутствие.</a:t>
            </a:r>
            <a:r>
              <a:rPr sz="1100" b="1" i="0">
                <a:solidFill>
                  <a:srgbClr val="21295C"/>
                </a:solidFill>
                <a:latin typeface="DejaVu Sans"/>
              </a:rPr>
              <a:t> И есть решения, которые не поднимают на верхний уровень никогда: необратимые и дорогие. Обязывающее предложение клиенту, удаление рабочих данных, выпуск сразу на всех — за жёстким правилом поверх модели, а не за моделью.</a:t>
            </a:r>
          </a:p>
        </p:txBody>
      </p:sp>
      <p:sp>
        <p:nvSpPr>
          <p:cNvPr id="47" name="TextBox 46"/>
          <p:cNvSpPr txBox="1"/>
          <p:nvPr/>
        </p:nvSpPr>
        <p:spPr>
          <a:xfrm>
            <a:off x="502920" y="6437376"/>
            <a:ext cx="10515600" cy="201168"/>
          </a:xfrm>
          <a:prstGeom prst="rect">
            <a:avLst/>
          </a:prstGeom>
          <a:noFill/>
        </p:spPr>
        <p:txBody>
          <a:bodyPr wrap="square" lIns="0" rIns="0" tIns="0" bIns="0" anchor="t">
            <a:spAutoFit/>
          </a:bodyPr>
          <a:lstStyle/>
          <a:p>
            <a:pPr algn="l">
              <a:lnSpc>
                <a:spcPct val="100000"/>
              </a:lnSpc>
            </a:pPr>
            <a:r>
              <a:rPr sz="900" b="0" i="1">
                <a:solidFill>
                  <a:srgbClr val="1C7293"/>
                </a:solidFill>
                <a:latin typeface="DejaVu Sans"/>
              </a:rPr>
              <a:t>Реганти и Бадам, 19 августа 2025 — обобщение более 50 внедрений</a:t>
            </a:r>
          </a:p>
        </p:txBody>
      </p:sp>
      <p:sp>
        <p:nvSpPr>
          <p:cNvPr id="48" name="TextBox 47"/>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23 / 54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18872"/>
            <a:ext cx="11201400" cy="645668"/>
          </a:xfrm>
          <a:prstGeom prst="rect">
            <a:avLst/>
          </a:prstGeom>
          <a:noFill/>
        </p:spPr>
        <p:txBody>
          <a:bodyPr wrap="square" lIns="0" rIns="0" tIns="0" bIns="0" anchor="t">
            <a:spAutoFit/>
          </a:bodyPr>
          <a:lstStyle/>
          <a:p>
            <a:pPr algn="l">
              <a:lnSpc>
                <a:spcPct val="110000"/>
              </a:lnSpc>
            </a:pPr>
            <a:r>
              <a:rPr sz="2000" b="1" i="0">
                <a:solidFill>
                  <a:srgbClr val="21295C"/>
                </a:solidFill>
                <a:latin typeface="DejaVu Sans"/>
              </a:rPr>
              <a:t>Эталонный набор — как проверять ответы ИИ так же, как проверяют код</a:t>
            </a:r>
          </a:p>
        </p:txBody>
      </p:sp>
      <p:sp>
        <p:nvSpPr>
          <p:cNvPr id="3" name="Rounded Rectangle 2"/>
          <p:cNvSpPr/>
          <p:nvPr/>
        </p:nvSpPr>
        <p:spPr>
          <a:xfrm>
            <a:off x="502920" y="855980"/>
            <a:ext cx="1152144" cy="893058"/>
          </a:xfrm>
          <a:prstGeom prst="roundRect">
            <a:avLst>
              <a:gd name="adj" fmla="val 22000"/>
            </a:avLst>
          </a:prstGeom>
          <a:solidFill>
            <a:srgbClr val="21295C"/>
          </a:solidFill>
          <a:ln w="12700">
            <a:solidFill>
              <a:srgbClr val="2129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855980"/>
            <a:ext cx="1060704" cy="893058"/>
          </a:xfrm>
          <a:prstGeom prst="rect">
            <a:avLst/>
          </a:prstGeom>
          <a:noFill/>
        </p:spPr>
        <p:txBody>
          <a:bodyPr wrap="square" lIns="0" rIns="0" tIns="0" bIns="0" anchor="ctr">
            <a:spAutoFit/>
          </a:bodyPr>
          <a:lstStyle/>
          <a:p>
            <a:pPr algn="ctr">
              <a:lnSpc>
                <a:spcPct val="102000"/>
              </a:lnSpc>
            </a:pPr>
            <a:r>
              <a:rPr sz="950" b="1" i="0">
                <a:solidFill>
                  <a:srgbClr val="FFFFFF"/>
                </a:solidFill>
                <a:latin typeface="DejaVu Sans"/>
              </a:rPr>
              <a:t>ЧТО ЭТО</a:t>
            </a:r>
          </a:p>
        </p:txBody>
      </p:sp>
      <p:sp>
        <p:nvSpPr>
          <p:cNvPr id="5" name="Rounded Rectangle 4"/>
          <p:cNvSpPr/>
          <p:nvPr/>
        </p:nvSpPr>
        <p:spPr>
          <a:xfrm>
            <a:off x="1801368" y="855980"/>
            <a:ext cx="9902952" cy="893058"/>
          </a:xfrm>
          <a:prstGeom prst="roundRect">
            <a:avLst>
              <a:gd name="adj" fmla="val 22000"/>
            </a:avLst>
          </a:prstGeom>
          <a:solidFill>
            <a:srgbClr val="FFFFFF"/>
          </a:solidFill>
          <a:ln w="2286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984248" y="947420"/>
            <a:ext cx="9537192" cy="710178"/>
          </a:xfrm>
          <a:prstGeom prst="rect">
            <a:avLst/>
          </a:prstGeom>
          <a:noFill/>
        </p:spPr>
        <p:txBody>
          <a:bodyPr wrap="square" lIns="0" rIns="0" tIns="0" bIns="0" anchor="ctr">
            <a:spAutoFit/>
          </a:bodyPr>
          <a:lstStyle/>
          <a:p>
            <a:pPr algn="l">
              <a:lnSpc>
                <a:spcPct val="114000"/>
              </a:lnSpc>
            </a:pPr>
            <a:r>
              <a:rPr sz="1150" b="0" i="0">
                <a:solidFill>
                  <a:srgbClr val="21295C"/>
                </a:solidFill>
                <a:latin typeface="DejaVu Sans"/>
              </a:rPr>
              <a:t>Небольшая коллекция реальных случаев, для каждого из которых заранее записано, какой ответ считается приемлемым. По сути те же тесты, только проверяется не код, а ответ модели. Собирают его </a:t>
            </a:r>
            <a:r>
              <a:rPr sz="1150" b="1" i="0">
                <a:solidFill>
                  <a:srgbClr val="21295C"/>
                </a:solidFill>
                <a:latin typeface="DejaVu Sans"/>
              </a:rPr>
              <a:t>из настоящих обращений, а не из придуманных</a:t>
            </a:r>
            <a:r>
              <a:rPr sz="1150" b="0" i="0">
                <a:solidFill>
                  <a:srgbClr val="21295C"/>
                </a:solidFill>
                <a:latin typeface="DejaVu Sans"/>
              </a:rPr>
              <a:t>.</a:t>
            </a:r>
          </a:p>
        </p:txBody>
      </p:sp>
      <p:sp>
        <p:nvSpPr>
          <p:cNvPr id="7" name="Rounded Rectangle 6"/>
          <p:cNvSpPr/>
          <p:nvPr/>
        </p:nvSpPr>
        <p:spPr>
          <a:xfrm>
            <a:off x="502920" y="1813046"/>
            <a:ext cx="1152144" cy="2286000"/>
          </a:xfrm>
          <a:prstGeom prst="roundRect">
            <a:avLst>
              <a:gd name="adj" fmla="val 22000"/>
            </a:avLst>
          </a:prstGeom>
          <a:solidFill>
            <a:srgbClr val="065A82"/>
          </a:solidFill>
          <a:ln w="1270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13046"/>
            <a:ext cx="1060704" cy="2286000"/>
          </a:xfrm>
          <a:prstGeom prst="rect">
            <a:avLst/>
          </a:prstGeom>
          <a:noFill/>
        </p:spPr>
        <p:txBody>
          <a:bodyPr wrap="square" lIns="0" rIns="0" tIns="0" bIns="0" anchor="ctr">
            <a:spAutoFit/>
          </a:bodyPr>
          <a:lstStyle/>
          <a:p>
            <a:pPr algn="ctr">
              <a:lnSpc>
                <a:spcPct val="102000"/>
              </a:lnSpc>
            </a:pPr>
            <a:r>
              <a:rPr sz="950" b="1" i="0">
                <a:solidFill>
                  <a:srgbClr val="FFFFFF"/>
                </a:solidFill>
                <a:latin typeface="DejaVu Sans"/>
              </a:rPr>
              <a:t>МЕХАНИЗМ</a:t>
            </a:r>
          </a:p>
        </p:txBody>
      </p:sp>
      <p:sp>
        <p:nvSpPr>
          <p:cNvPr id="9" name="Rounded Rectangle 8"/>
          <p:cNvSpPr/>
          <p:nvPr/>
        </p:nvSpPr>
        <p:spPr>
          <a:xfrm>
            <a:off x="1801368" y="1813046"/>
            <a:ext cx="9902952" cy="2286000"/>
          </a:xfrm>
          <a:prstGeom prst="roundRect">
            <a:avLst>
              <a:gd name="adj" fmla="val 13333"/>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984248" y="1918202"/>
            <a:ext cx="214884" cy="2148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984248" y="1918202"/>
            <a:ext cx="214884" cy="214884"/>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1</a:t>
            </a:r>
          </a:p>
        </p:txBody>
      </p:sp>
      <p:sp>
        <p:nvSpPr>
          <p:cNvPr id="12" name="TextBox 11"/>
          <p:cNvSpPr txBox="1"/>
          <p:nvPr/>
        </p:nvSpPr>
        <p:spPr>
          <a:xfrm>
            <a:off x="2295144" y="1904486"/>
            <a:ext cx="5020056" cy="378673"/>
          </a:xfrm>
          <a:prstGeom prst="rect">
            <a:avLst/>
          </a:prstGeom>
          <a:noFill/>
        </p:spPr>
        <p:txBody>
          <a:bodyPr wrap="square" lIns="0" rIns="0" tIns="0" bIns="0" anchor="t">
            <a:spAutoFit/>
          </a:bodyPr>
          <a:lstStyle/>
          <a:p>
            <a:pPr algn="l">
              <a:lnSpc>
                <a:spcPct val="115000"/>
              </a:lnSpc>
            </a:pPr>
            <a:r>
              <a:rPr sz="1000" b="0" i="0">
                <a:solidFill>
                  <a:srgbClr val="21295C"/>
                </a:solidFill>
                <a:latin typeface="DejaVu Sans"/>
              </a:rPr>
              <a:t>Набор живёт </a:t>
            </a:r>
            <a:r>
              <a:rPr sz="1000" b="1" i="0">
                <a:solidFill>
                  <a:srgbClr val="065A82"/>
                </a:solidFill>
                <a:latin typeface="DejaVu Sans"/>
              </a:rPr>
              <a:t>рядом с продуктом</a:t>
            </a:r>
            <a:r>
              <a:rPr sz="1000" b="0" i="0">
                <a:solidFill>
                  <a:srgbClr val="21295C"/>
                </a:solidFill>
                <a:latin typeface="DejaVu Sans"/>
              </a:rPr>
              <a:t> и меняется вместе с ним, а не лежит отдельным документом.</a:t>
            </a:r>
          </a:p>
        </p:txBody>
      </p:sp>
      <p:sp>
        <p:nvSpPr>
          <p:cNvPr id="13" name="Oval 12"/>
          <p:cNvSpPr/>
          <p:nvPr/>
        </p:nvSpPr>
        <p:spPr>
          <a:xfrm>
            <a:off x="1984248" y="2360884"/>
            <a:ext cx="214884" cy="2148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984248" y="2360884"/>
            <a:ext cx="214884" cy="214884"/>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2</a:t>
            </a:r>
          </a:p>
        </p:txBody>
      </p:sp>
      <p:sp>
        <p:nvSpPr>
          <p:cNvPr id="15" name="TextBox 14"/>
          <p:cNvSpPr txBox="1"/>
          <p:nvPr/>
        </p:nvSpPr>
        <p:spPr>
          <a:xfrm>
            <a:off x="2295144" y="2347168"/>
            <a:ext cx="5020056" cy="544235"/>
          </a:xfrm>
          <a:prstGeom prst="rect">
            <a:avLst/>
          </a:prstGeom>
          <a:noFill/>
        </p:spPr>
        <p:txBody>
          <a:bodyPr wrap="square" lIns="0" rIns="0" tIns="0" bIns="0" anchor="t">
            <a:spAutoFit/>
          </a:bodyPr>
          <a:lstStyle/>
          <a:p>
            <a:pPr algn="l">
              <a:lnSpc>
                <a:spcPct val="115000"/>
              </a:lnSpc>
            </a:pPr>
            <a:r>
              <a:rPr sz="1000" b="0" i="0">
                <a:solidFill>
                  <a:srgbClr val="21295C"/>
                </a:solidFill>
                <a:latin typeface="DejaVu Sans"/>
              </a:rPr>
              <a:t>Проверка запускается сама, вместе с обычными тестами, и так же </a:t>
            </a:r>
            <a:r>
              <a:rPr sz="1000" b="1" i="0">
                <a:solidFill>
                  <a:srgbClr val="065A82"/>
                </a:solidFill>
                <a:latin typeface="DejaVu Sans"/>
              </a:rPr>
              <a:t>останавливает выпуск</a:t>
            </a:r>
            <a:r>
              <a:rPr sz="1000" b="0" i="0">
                <a:solidFill>
                  <a:srgbClr val="21295C"/>
                </a:solidFill>
                <a:latin typeface="DejaVu Sans"/>
              </a:rPr>
              <a:t>, а не пишет предупреждение в журнал.</a:t>
            </a:r>
          </a:p>
        </p:txBody>
      </p:sp>
      <p:sp>
        <p:nvSpPr>
          <p:cNvPr id="16" name="Oval 15"/>
          <p:cNvSpPr/>
          <p:nvPr/>
        </p:nvSpPr>
        <p:spPr>
          <a:xfrm>
            <a:off x="1984248" y="2969127"/>
            <a:ext cx="214884" cy="2148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984248" y="2969127"/>
            <a:ext cx="214884" cy="214884"/>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3</a:t>
            </a:r>
          </a:p>
        </p:txBody>
      </p:sp>
      <p:sp>
        <p:nvSpPr>
          <p:cNvPr id="18" name="TextBox 17"/>
          <p:cNvSpPr txBox="1"/>
          <p:nvPr/>
        </p:nvSpPr>
        <p:spPr>
          <a:xfrm>
            <a:off x="2295144" y="2955411"/>
            <a:ext cx="5020056" cy="378673"/>
          </a:xfrm>
          <a:prstGeom prst="rect">
            <a:avLst/>
          </a:prstGeom>
          <a:noFill/>
        </p:spPr>
        <p:txBody>
          <a:bodyPr wrap="square" lIns="0" rIns="0" tIns="0" bIns="0" anchor="t">
            <a:spAutoFit/>
          </a:bodyPr>
          <a:lstStyle/>
          <a:p>
            <a:pPr algn="l">
              <a:lnSpc>
                <a:spcPct val="115000"/>
              </a:lnSpc>
            </a:pPr>
            <a:r>
              <a:rPr sz="1000" b="0" i="0">
                <a:solidFill>
                  <a:srgbClr val="21295C"/>
                </a:solidFill>
                <a:latin typeface="DejaVu Sans"/>
              </a:rPr>
              <a:t>Каждый случившийся сбой возвращается в набор отдельным случаем — однажды пойманная ошибка </a:t>
            </a:r>
            <a:r>
              <a:rPr sz="1000" b="1" i="0">
                <a:solidFill>
                  <a:srgbClr val="065A82"/>
                </a:solidFill>
                <a:latin typeface="DejaVu Sans"/>
              </a:rPr>
              <a:t>не повторяется молча</a:t>
            </a:r>
            <a:r>
              <a:rPr sz="1000" b="0" i="0">
                <a:solidFill>
                  <a:srgbClr val="21295C"/>
                </a:solidFill>
                <a:latin typeface="DejaVu Sans"/>
              </a:rPr>
              <a:t>.</a:t>
            </a:r>
          </a:p>
        </p:txBody>
      </p:sp>
      <p:sp>
        <p:nvSpPr>
          <p:cNvPr id="19" name="Oval 18"/>
          <p:cNvSpPr/>
          <p:nvPr/>
        </p:nvSpPr>
        <p:spPr>
          <a:xfrm>
            <a:off x="1984248" y="3411809"/>
            <a:ext cx="214884" cy="2148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84248" y="3411809"/>
            <a:ext cx="214884" cy="214884"/>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4</a:t>
            </a:r>
          </a:p>
        </p:txBody>
      </p:sp>
      <p:sp>
        <p:nvSpPr>
          <p:cNvPr id="21" name="TextBox 20"/>
          <p:cNvSpPr txBox="1"/>
          <p:nvPr/>
        </p:nvSpPr>
        <p:spPr>
          <a:xfrm>
            <a:off x="2295144" y="3398093"/>
            <a:ext cx="5020056" cy="378673"/>
          </a:xfrm>
          <a:prstGeom prst="rect">
            <a:avLst/>
          </a:prstGeom>
          <a:noFill/>
        </p:spPr>
        <p:txBody>
          <a:bodyPr wrap="square" lIns="0" rIns="0" tIns="0" bIns="0" anchor="t">
            <a:spAutoFit/>
          </a:bodyPr>
          <a:lstStyle/>
          <a:p>
            <a:pPr algn="l">
              <a:lnSpc>
                <a:spcPct val="115000"/>
              </a:lnSpc>
            </a:pPr>
            <a:r>
              <a:rPr sz="1000" b="0" i="0">
                <a:solidFill>
                  <a:srgbClr val="21295C"/>
                </a:solidFill>
                <a:latin typeface="DejaVu Sans"/>
              </a:rPr>
              <a:t>Начинают с пяти-десяти случаев и растят набор дальше; готовые инструменты для этого есть.</a:t>
            </a:r>
          </a:p>
        </p:txBody>
      </p:sp>
      <p:sp>
        <p:nvSpPr>
          <p:cNvPr id="22" name="TextBox 21"/>
          <p:cNvSpPr txBox="1"/>
          <p:nvPr/>
        </p:nvSpPr>
        <p:spPr>
          <a:xfrm>
            <a:off x="7589520" y="1904486"/>
            <a:ext cx="3931920" cy="365760"/>
          </a:xfrm>
          <a:prstGeom prst="rect">
            <a:avLst/>
          </a:prstGeom>
          <a:noFill/>
        </p:spPr>
        <p:txBody>
          <a:bodyPr wrap="square" lIns="0" rIns="0" tIns="0" bIns="0" anchor="t">
            <a:spAutoFit/>
          </a:bodyPr>
          <a:lstStyle/>
          <a:p>
            <a:pPr algn="l">
              <a:lnSpc>
                <a:spcPct val="108000"/>
              </a:lnSpc>
            </a:pPr>
            <a:r>
              <a:rPr sz="1019" b="1" i="0">
                <a:solidFill>
                  <a:srgbClr val="21295C"/>
                </a:solidFill>
                <a:latin typeface="DejaVu Sans"/>
              </a:rPr>
              <a:t>Требование назначают заранее — по цене ошибки</a:t>
            </a:r>
          </a:p>
        </p:txBody>
      </p:sp>
      <p:sp>
        <p:nvSpPr>
          <p:cNvPr id="23" name="Rounded Rectangle 22"/>
          <p:cNvSpPr/>
          <p:nvPr/>
        </p:nvSpPr>
        <p:spPr>
          <a:xfrm>
            <a:off x="7589520" y="2306822"/>
            <a:ext cx="3931920" cy="475488"/>
          </a:xfrm>
          <a:prstGeom prst="roundRect">
            <a:avLst>
              <a:gd name="adj" fmla="val 19444"/>
            </a:avLst>
          </a:prstGeom>
          <a:solidFill>
            <a:srgbClr val="E1EAF0"/>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99248" y="2306822"/>
            <a:ext cx="1887321" cy="475488"/>
          </a:xfrm>
          <a:prstGeom prst="rect">
            <a:avLst/>
          </a:prstGeom>
          <a:noFill/>
        </p:spPr>
        <p:txBody>
          <a:bodyPr wrap="square" lIns="0" rIns="0" tIns="0" bIns="0" anchor="ctr">
            <a:spAutoFit/>
          </a:bodyPr>
          <a:lstStyle/>
          <a:p>
            <a:pPr algn="l">
              <a:lnSpc>
                <a:spcPct val="106000"/>
              </a:lnSpc>
            </a:pPr>
            <a:r>
              <a:rPr sz="940" b="0" i="0">
                <a:solidFill>
                  <a:srgbClr val="21295C"/>
                </a:solidFill>
                <a:latin typeface="DejaVu Sans"/>
              </a:rPr>
              <a:t>Обычный запрос</a:t>
            </a:r>
          </a:p>
        </p:txBody>
      </p:sp>
      <p:sp>
        <p:nvSpPr>
          <p:cNvPr id="25" name="TextBox 24"/>
          <p:cNvSpPr txBox="1"/>
          <p:nvPr/>
        </p:nvSpPr>
        <p:spPr>
          <a:xfrm>
            <a:off x="9555480" y="2306822"/>
            <a:ext cx="1887321" cy="475488"/>
          </a:xfrm>
          <a:prstGeom prst="rect">
            <a:avLst/>
          </a:prstGeom>
          <a:noFill/>
        </p:spPr>
        <p:txBody>
          <a:bodyPr wrap="square" lIns="0" rIns="0" tIns="0" bIns="0" anchor="ctr">
            <a:spAutoFit/>
          </a:bodyPr>
          <a:lstStyle/>
          <a:p>
            <a:pPr algn="r">
              <a:lnSpc>
                <a:spcPct val="106000"/>
              </a:lnSpc>
            </a:pPr>
            <a:r>
              <a:rPr sz="940" b="1" i="0">
                <a:solidFill>
                  <a:srgbClr val="21295C"/>
                </a:solidFill>
                <a:latin typeface="DejaVu Sans"/>
              </a:rPr>
              <a:t>права почти всегда</a:t>
            </a:r>
          </a:p>
        </p:txBody>
      </p:sp>
      <p:sp>
        <p:nvSpPr>
          <p:cNvPr id="26" name="Rounded Rectangle 25"/>
          <p:cNvSpPr/>
          <p:nvPr/>
        </p:nvSpPr>
        <p:spPr>
          <a:xfrm>
            <a:off x="7589520" y="2818886"/>
            <a:ext cx="3931920" cy="475488"/>
          </a:xfrm>
          <a:prstGeom prst="roundRect">
            <a:avLst>
              <a:gd name="adj" fmla="val 19444"/>
            </a:avLst>
          </a:prstGeom>
          <a:solidFill>
            <a:srgbClr val="E1EAF0"/>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699248" y="2818886"/>
            <a:ext cx="1887321" cy="475488"/>
          </a:xfrm>
          <a:prstGeom prst="rect">
            <a:avLst/>
          </a:prstGeom>
          <a:noFill/>
        </p:spPr>
        <p:txBody>
          <a:bodyPr wrap="square" lIns="0" rIns="0" tIns="0" bIns="0" anchor="ctr">
            <a:spAutoFit/>
          </a:bodyPr>
          <a:lstStyle/>
          <a:p>
            <a:pPr algn="l">
              <a:lnSpc>
                <a:spcPct val="106000"/>
              </a:lnSpc>
            </a:pPr>
            <a:r>
              <a:rPr sz="940" b="0" i="0">
                <a:solidFill>
                  <a:srgbClr val="21295C"/>
                </a:solidFill>
                <a:latin typeface="DejaVu Sans"/>
              </a:rPr>
              <a:t>Отказ по правилам</a:t>
            </a:r>
          </a:p>
          <a:p>
            <a:pPr algn="l">
              <a:lnSpc>
                <a:spcPct val="106000"/>
              </a:lnSpc>
            </a:pPr>
            <a:r>
              <a:rPr sz="940" b="0" i="0">
                <a:solidFill>
                  <a:srgbClr val="21295C"/>
                </a:solidFill>
                <a:latin typeface="DejaVu Sans"/>
              </a:rPr>
              <a:t>безопасности</a:t>
            </a:r>
          </a:p>
        </p:txBody>
      </p:sp>
      <p:sp>
        <p:nvSpPr>
          <p:cNvPr id="28" name="TextBox 27"/>
          <p:cNvSpPr txBox="1"/>
          <p:nvPr/>
        </p:nvSpPr>
        <p:spPr>
          <a:xfrm>
            <a:off x="9555480" y="2818886"/>
            <a:ext cx="1887321" cy="475488"/>
          </a:xfrm>
          <a:prstGeom prst="rect">
            <a:avLst/>
          </a:prstGeom>
          <a:noFill/>
        </p:spPr>
        <p:txBody>
          <a:bodyPr wrap="square" lIns="0" rIns="0" tIns="0" bIns="0" anchor="ctr">
            <a:spAutoFit/>
          </a:bodyPr>
          <a:lstStyle/>
          <a:p>
            <a:pPr algn="r">
              <a:lnSpc>
                <a:spcPct val="106000"/>
              </a:lnSpc>
            </a:pPr>
            <a:r>
              <a:rPr sz="940" b="1" i="0">
                <a:solidFill>
                  <a:srgbClr val="21295C"/>
                </a:solidFill>
                <a:latin typeface="DejaVu Sans"/>
              </a:rPr>
              <a:t>каждый раз,</a:t>
            </a:r>
          </a:p>
          <a:p>
            <a:pPr algn="r">
              <a:lnSpc>
                <a:spcPct val="106000"/>
              </a:lnSpc>
            </a:pPr>
            <a:r>
              <a:rPr sz="940" b="1" i="0">
                <a:solidFill>
                  <a:srgbClr val="21295C"/>
                </a:solidFill>
                <a:latin typeface="DejaVu Sans"/>
              </a:rPr>
              <a:t>без исключений</a:t>
            </a:r>
          </a:p>
        </p:txBody>
      </p:sp>
      <p:sp>
        <p:nvSpPr>
          <p:cNvPr id="29" name="Rounded Rectangle 28"/>
          <p:cNvSpPr/>
          <p:nvPr/>
        </p:nvSpPr>
        <p:spPr>
          <a:xfrm>
            <a:off x="7589520" y="3330950"/>
            <a:ext cx="3931920" cy="475488"/>
          </a:xfrm>
          <a:prstGeom prst="roundRect">
            <a:avLst>
              <a:gd name="adj" fmla="val 19444"/>
            </a:avLst>
          </a:prstGeom>
          <a:solidFill>
            <a:srgbClr val="E4F1F2"/>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99248" y="3330950"/>
            <a:ext cx="1887321" cy="475488"/>
          </a:xfrm>
          <a:prstGeom prst="rect">
            <a:avLst/>
          </a:prstGeom>
          <a:noFill/>
        </p:spPr>
        <p:txBody>
          <a:bodyPr wrap="square" lIns="0" rIns="0" tIns="0" bIns="0" anchor="ctr">
            <a:spAutoFit/>
          </a:bodyPr>
          <a:lstStyle/>
          <a:p>
            <a:pPr algn="l">
              <a:lnSpc>
                <a:spcPct val="106000"/>
              </a:lnSpc>
            </a:pPr>
            <a:r>
              <a:rPr sz="940" b="0" i="0">
                <a:solidFill>
                  <a:srgbClr val="21295C"/>
                </a:solidFill>
                <a:latin typeface="DejaVu Sans"/>
              </a:rPr>
              <a:t>Ответ с юридическим</a:t>
            </a:r>
          </a:p>
          <a:p>
            <a:pPr algn="l">
              <a:lnSpc>
                <a:spcPct val="106000"/>
              </a:lnSpc>
            </a:pPr>
            <a:r>
              <a:rPr sz="940" b="0" i="0">
                <a:solidFill>
                  <a:srgbClr val="21295C"/>
                </a:solidFill>
                <a:latin typeface="DejaVu Sans"/>
              </a:rPr>
              <a:t>последствием</a:t>
            </a:r>
          </a:p>
        </p:txBody>
      </p:sp>
      <p:sp>
        <p:nvSpPr>
          <p:cNvPr id="31" name="TextBox 30"/>
          <p:cNvSpPr txBox="1"/>
          <p:nvPr/>
        </p:nvSpPr>
        <p:spPr>
          <a:xfrm>
            <a:off x="9555480" y="3330950"/>
            <a:ext cx="1887321" cy="475488"/>
          </a:xfrm>
          <a:prstGeom prst="rect">
            <a:avLst/>
          </a:prstGeom>
          <a:noFill/>
        </p:spPr>
        <p:txBody>
          <a:bodyPr wrap="square" lIns="0" rIns="0" tIns="0" bIns="0" anchor="ctr">
            <a:spAutoFit/>
          </a:bodyPr>
          <a:lstStyle/>
          <a:p>
            <a:pPr algn="r">
              <a:lnSpc>
                <a:spcPct val="106000"/>
              </a:lnSpc>
            </a:pPr>
            <a:r>
              <a:rPr sz="940" b="1" i="0">
                <a:solidFill>
                  <a:srgbClr val="028090"/>
                </a:solidFill>
                <a:latin typeface="DejaVu Sans"/>
              </a:rPr>
              <a:t>не доверяют модели —</a:t>
            </a:r>
          </a:p>
          <a:p>
            <a:pPr algn="r">
              <a:lnSpc>
                <a:spcPct val="106000"/>
              </a:lnSpc>
            </a:pPr>
            <a:r>
              <a:rPr sz="940" b="1" i="0">
                <a:solidFill>
                  <a:srgbClr val="028090"/>
                </a:solidFill>
                <a:latin typeface="DejaVu Sans"/>
              </a:rPr>
              <a:t>жёсткое правило поверх</a:t>
            </a:r>
          </a:p>
        </p:txBody>
      </p:sp>
      <p:sp>
        <p:nvSpPr>
          <p:cNvPr id="32" name="TextBox 31"/>
          <p:cNvSpPr txBox="1"/>
          <p:nvPr/>
        </p:nvSpPr>
        <p:spPr>
          <a:xfrm>
            <a:off x="7589520" y="3843014"/>
            <a:ext cx="3931920" cy="201168"/>
          </a:xfrm>
          <a:prstGeom prst="rect">
            <a:avLst/>
          </a:prstGeom>
          <a:noFill/>
        </p:spPr>
        <p:txBody>
          <a:bodyPr wrap="square" lIns="0" rIns="0" tIns="0" bIns="0" anchor="t">
            <a:spAutoFit/>
          </a:bodyPr>
          <a:lstStyle/>
          <a:p>
            <a:pPr algn="l">
              <a:lnSpc>
                <a:spcPct val="105000"/>
              </a:lnSpc>
            </a:pPr>
            <a:r>
              <a:rPr sz="900" b="0" i="1">
                <a:solidFill>
                  <a:srgbClr val="5B6678"/>
                </a:solidFill>
                <a:latin typeface="DejaVu Sans"/>
              </a:rPr>
              <a:t>последняя строка — не порог, а отказ от инструмента</a:t>
            </a:r>
          </a:p>
        </p:txBody>
      </p:sp>
      <p:sp>
        <p:nvSpPr>
          <p:cNvPr id="33" name="Rounded Rectangle 32"/>
          <p:cNvSpPr/>
          <p:nvPr/>
        </p:nvSpPr>
        <p:spPr>
          <a:xfrm>
            <a:off x="502920" y="4163054"/>
            <a:ext cx="1152144" cy="1074020"/>
          </a:xfrm>
          <a:prstGeom prst="roundRect">
            <a:avLst>
              <a:gd name="adj" fmla="val 22000"/>
            </a:avLst>
          </a:prstGeom>
          <a:solidFill>
            <a:srgbClr val="1C7293"/>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48640" y="4163054"/>
            <a:ext cx="1060704" cy="1074020"/>
          </a:xfrm>
          <a:prstGeom prst="rect">
            <a:avLst/>
          </a:prstGeom>
          <a:noFill/>
        </p:spPr>
        <p:txBody>
          <a:bodyPr wrap="square" lIns="0" rIns="0" tIns="0" bIns="0" anchor="ctr">
            <a:spAutoFit/>
          </a:bodyPr>
          <a:lstStyle/>
          <a:p>
            <a:pPr algn="ctr">
              <a:lnSpc>
                <a:spcPct val="102000"/>
              </a:lnSpc>
            </a:pPr>
            <a:r>
              <a:rPr sz="950" b="1" i="0">
                <a:solidFill>
                  <a:srgbClr val="FFFFFF"/>
                </a:solidFill>
                <a:latin typeface="DejaVu Sans"/>
              </a:rPr>
              <a:t>С ИИ И БЕЗ ИИ</a:t>
            </a:r>
          </a:p>
        </p:txBody>
      </p:sp>
      <p:sp>
        <p:nvSpPr>
          <p:cNvPr id="35" name="Rounded Rectangle 34"/>
          <p:cNvSpPr/>
          <p:nvPr/>
        </p:nvSpPr>
        <p:spPr>
          <a:xfrm>
            <a:off x="1801368" y="4163054"/>
            <a:ext cx="9902952" cy="1074020"/>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1984248" y="4254494"/>
            <a:ext cx="4677156" cy="891140"/>
          </a:xfrm>
          <a:prstGeom prst="roundRect">
            <a:avLst>
              <a:gd name="adj" fmla="val 19444"/>
            </a:avLst>
          </a:prstGeom>
          <a:solidFill>
            <a:srgbClr val="FFFFFF"/>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084831" y="4300214"/>
            <a:ext cx="4475988" cy="219456"/>
          </a:xfrm>
          <a:prstGeom prst="rect">
            <a:avLst/>
          </a:prstGeom>
          <a:noFill/>
        </p:spPr>
        <p:txBody>
          <a:bodyPr wrap="square" lIns="0" rIns="0" tIns="0" bIns="0" anchor="t">
            <a:spAutoFit/>
          </a:bodyPr>
          <a:lstStyle/>
          <a:p>
            <a:pPr algn="l">
              <a:lnSpc>
                <a:spcPct val="100000"/>
              </a:lnSpc>
            </a:pPr>
            <a:r>
              <a:rPr sz="919" b="1" i="0">
                <a:solidFill>
                  <a:srgbClr val="065A82"/>
                </a:solidFill>
                <a:latin typeface="DejaVu Sans"/>
              </a:rPr>
              <a:t>БЕЗ ИИ — обычные тесты кода</a:t>
            </a:r>
          </a:p>
        </p:txBody>
      </p:sp>
      <p:sp>
        <p:nvSpPr>
          <p:cNvPr id="38" name="TextBox 37"/>
          <p:cNvSpPr txBox="1"/>
          <p:nvPr/>
        </p:nvSpPr>
        <p:spPr>
          <a:xfrm>
            <a:off x="2084831" y="4528814"/>
            <a:ext cx="4475988" cy="561956"/>
          </a:xfrm>
          <a:prstGeom prst="rect">
            <a:avLst/>
          </a:prstGeom>
          <a:noFill/>
        </p:spPr>
        <p:txBody>
          <a:bodyPr wrap="square" lIns="0" rIns="0" tIns="0" bIns="0" anchor="t">
            <a:spAutoFit/>
          </a:bodyPr>
          <a:lstStyle/>
          <a:p>
            <a:pPr algn="l">
              <a:lnSpc>
                <a:spcPct val="112000"/>
              </a:lnSpc>
            </a:pPr>
            <a:r>
              <a:rPr sz="950" b="0" i="0">
                <a:solidFill>
                  <a:srgbClr val="21295C"/>
                </a:solidFill>
                <a:latin typeface="DejaVu Sans"/>
              </a:rPr>
              <a:t>Ответ либо совпал с ожидаемым, либо нет, и повторный прогон даёт тот же результат. Порог один: всё зелёное.</a:t>
            </a:r>
          </a:p>
        </p:txBody>
      </p:sp>
      <p:sp>
        <p:nvSpPr>
          <p:cNvPr id="39" name="Rounded Rectangle 38"/>
          <p:cNvSpPr/>
          <p:nvPr/>
        </p:nvSpPr>
        <p:spPr>
          <a:xfrm>
            <a:off x="6844284" y="4254494"/>
            <a:ext cx="4677156" cy="891140"/>
          </a:xfrm>
          <a:prstGeom prst="roundRect">
            <a:avLst>
              <a:gd name="adj" fmla="val 19444"/>
            </a:avLst>
          </a:prstGeom>
          <a:solidFill>
            <a:srgbClr val="FFFFFF"/>
          </a:solidFill>
          <a:ln w="1778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944868" y="4300214"/>
            <a:ext cx="4475988" cy="219456"/>
          </a:xfrm>
          <a:prstGeom prst="rect">
            <a:avLst/>
          </a:prstGeom>
          <a:noFill/>
        </p:spPr>
        <p:txBody>
          <a:bodyPr wrap="square" lIns="0" rIns="0" tIns="0" bIns="0" anchor="t">
            <a:spAutoFit/>
          </a:bodyPr>
          <a:lstStyle/>
          <a:p>
            <a:pPr algn="l">
              <a:lnSpc>
                <a:spcPct val="100000"/>
              </a:lnSpc>
            </a:pPr>
            <a:r>
              <a:rPr sz="919" b="1" i="0">
                <a:solidFill>
                  <a:srgbClr val="028090"/>
                </a:solidFill>
                <a:latin typeface="DejaVu Sans"/>
              </a:rPr>
              <a:t>С ИИ — ответ каждый раз другой</a:t>
            </a:r>
          </a:p>
        </p:txBody>
      </p:sp>
      <p:sp>
        <p:nvSpPr>
          <p:cNvPr id="41" name="TextBox 40"/>
          <p:cNvSpPr txBox="1"/>
          <p:nvPr/>
        </p:nvSpPr>
        <p:spPr>
          <a:xfrm>
            <a:off x="6944868" y="4528814"/>
            <a:ext cx="4475988" cy="561956"/>
          </a:xfrm>
          <a:prstGeom prst="rect">
            <a:avLst/>
          </a:prstGeom>
          <a:noFill/>
        </p:spPr>
        <p:txBody>
          <a:bodyPr wrap="square" lIns="0" rIns="0" tIns="0" bIns="0" anchor="t">
            <a:spAutoFit/>
          </a:bodyPr>
          <a:lstStyle/>
          <a:p>
            <a:pPr algn="l">
              <a:lnSpc>
                <a:spcPct val="112000"/>
              </a:lnSpc>
            </a:pPr>
            <a:r>
              <a:rPr sz="950" b="0" i="0">
                <a:solidFill>
                  <a:srgbClr val="21295C"/>
                </a:solidFill>
                <a:latin typeface="DejaVu Sans"/>
              </a:rPr>
              <a:t>Совпадения по буквам не бывает, поэтому результат — </a:t>
            </a:r>
            <a:r>
              <a:rPr sz="950" b="1" i="0">
                <a:solidFill>
                  <a:srgbClr val="21295C"/>
                </a:solidFill>
                <a:latin typeface="DejaVu Sans"/>
              </a:rPr>
              <a:t>доля</a:t>
            </a:r>
            <a:r>
              <a:rPr sz="950" b="0" i="0">
                <a:solidFill>
                  <a:srgbClr val="21295C"/>
                </a:solidFill>
                <a:latin typeface="DejaVu Sans"/>
              </a:rPr>
              <a:t> пройденных случаев, проверку повторяют, а требование ставят с запасом на разброс.</a:t>
            </a:r>
          </a:p>
        </p:txBody>
      </p:sp>
      <p:sp>
        <p:nvSpPr>
          <p:cNvPr id="42" name="Rounded Rectangle 41"/>
          <p:cNvSpPr/>
          <p:nvPr/>
        </p:nvSpPr>
        <p:spPr>
          <a:xfrm>
            <a:off x="502920" y="5301082"/>
            <a:ext cx="1152144" cy="1050342"/>
          </a:xfrm>
          <a:prstGeom prst="roundRect">
            <a:avLst>
              <a:gd name="adj" fmla="val 22000"/>
            </a:avLst>
          </a:prstGeom>
          <a:solidFill>
            <a:srgbClr val="F0AB00"/>
          </a:solidFill>
          <a:ln w="127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48640" y="5301082"/>
            <a:ext cx="1060704" cy="1050342"/>
          </a:xfrm>
          <a:prstGeom prst="rect">
            <a:avLst/>
          </a:prstGeom>
          <a:noFill/>
        </p:spPr>
        <p:txBody>
          <a:bodyPr wrap="square" lIns="0" rIns="0" tIns="0" bIns="0" anchor="ctr">
            <a:spAutoFit/>
          </a:bodyPr>
          <a:lstStyle/>
          <a:p>
            <a:pPr algn="ctr">
              <a:lnSpc>
                <a:spcPct val="102000"/>
              </a:lnSpc>
            </a:pPr>
            <a:r>
              <a:rPr sz="950" b="1" i="0">
                <a:solidFill>
                  <a:srgbClr val="21295C"/>
                </a:solidFill>
                <a:latin typeface="DejaVu Sans"/>
              </a:rPr>
              <a:t>ГДЕ НЕ РАБОТАЕТ</a:t>
            </a:r>
          </a:p>
        </p:txBody>
      </p:sp>
      <p:sp>
        <p:nvSpPr>
          <p:cNvPr id="44" name="Rounded Rectangle 43"/>
          <p:cNvSpPr/>
          <p:nvPr/>
        </p:nvSpPr>
        <p:spPr>
          <a:xfrm>
            <a:off x="1801368" y="5301082"/>
            <a:ext cx="9902952" cy="1050342"/>
          </a:xfrm>
          <a:prstGeom prst="roundRect">
            <a:avLst>
              <a:gd name="adj" fmla="val 22000"/>
            </a:avLst>
          </a:prstGeom>
          <a:solidFill>
            <a:srgbClr val="FDF3DC"/>
          </a:solidFill>
          <a:ln w="317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984248" y="5392522"/>
            <a:ext cx="9537192" cy="867462"/>
          </a:xfrm>
          <a:prstGeom prst="rect">
            <a:avLst/>
          </a:prstGeom>
          <a:noFill/>
        </p:spPr>
        <p:txBody>
          <a:bodyPr wrap="square" lIns="0" rIns="0" tIns="0" bIns="0" anchor="ctr">
            <a:spAutoFit/>
          </a:bodyPr>
          <a:lstStyle/>
          <a:p>
            <a:pPr algn="l">
              <a:lnSpc>
                <a:spcPct val="114000"/>
              </a:lnSpc>
            </a:pPr>
            <a:r>
              <a:rPr sz="1100" b="1" i="0">
                <a:solidFill>
                  <a:srgbClr val="21295C"/>
                </a:solidFill>
                <a:latin typeface="DejaVu Sans"/>
              </a:rPr>
              <a:t>Набор, который всегда зелёный, ничего не измеряет</a:t>
            </a:r>
            <a:r>
              <a:rPr sz="1100" b="1" i="0">
                <a:solidFill>
                  <a:srgbClr val="21295C"/>
                </a:solidFill>
                <a:latin typeface="DejaVu Sans"/>
              </a:rPr>
              <a:t>, а как только его прохождение становится целью команды, он перестаёт быть мерой. И требование выше точности измерителя измеряет измеритель: если ответы оценивает модель, согласная с людьми в 85% случаев, планка в 95% бессмысленна.</a:t>
            </a:r>
          </a:p>
        </p:txBody>
      </p:sp>
      <p:sp>
        <p:nvSpPr>
          <p:cNvPr id="46" name="TextBox 45"/>
          <p:cNvSpPr txBox="1"/>
          <p:nvPr/>
        </p:nvSpPr>
        <p:spPr>
          <a:xfrm>
            <a:off x="502920" y="6437376"/>
            <a:ext cx="10515600" cy="201168"/>
          </a:xfrm>
          <a:prstGeom prst="rect">
            <a:avLst/>
          </a:prstGeom>
          <a:noFill/>
        </p:spPr>
        <p:txBody>
          <a:bodyPr wrap="square" lIns="0" rIns="0" tIns="0" bIns="0" anchor="t">
            <a:spAutoFit/>
          </a:bodyPr>
          <a:lstStyle/>
          <a:p>
            <a:pPr algn="l">
              <a:lnSpc>
                <a:spcPct val="100000"/>
              </a:lnSpc>
            </a:pPr>
            <a:r>
              <a:rPr sz="900" b="0" i="1">
                <a:solidFill>
                  <a:srgbClr val="1C7293"/>
                </a:solidFill>
                <a:latin typeface="DejaVu Sans"/>
              </a:rPr>
              <a:t>5–10 реальных рабочих примеров на старте — рекомендация Anthropic · согласие модели-судьи с людьми ≈85%</a:t>
            </a:r>
          </a:p>
        </p:txBody>
      </p:sp>
      <p:sp>
        <p:nvSpPr>
          <p:cNvPr id="47" name="TextBox 46"/>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24 / 54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18872"/>
            <a:ext cx="11201400" cy="645668"/>
          </a:xfrm>
          <a:prstGeom prst="rect">
            <a:avLst/>
          </a:prstGeom>
          <a:noFill/>
        </p:spPr>
        <p:txBody>
          <a:bodyPr wrap="square" lIns="0" rIns="0" tIns="0" bIns="0" anchor="t">
            <a:spAutoFit/>
          </a:bodyPr>
          <a:lstStyle/>
          <a:p>
            <a:pPr algn="l">
              <a:lnSpc>
                <a:spcPct val="110000"/>
              </a:lnSpc>
            </a:pPr>
            <a:r>
              <a:rPr sz="2000" b="1" i="0">
                <a:solidFill>
                  <a:srgbClr val="21295C"/>
                </a:solidFill>
                <a:latin typeface="DejaVu Sans"/>
              </a:rPr>
              <a:t>Поэтапная раскатка и путь назад — как назначить цену ошибки заранее</a:t>
            </a:r>
          </a:p>
        </p:txBody>
      </p:sp>
      <p:sp>
        <p:nvSpPr>
          <p:cNvPr id="3" name="Rounded Rectangle 2"/>
          <p:cNvSpPr/>
          <p:nvPr/>
        </p:nvSpPr>
        <p:spPr>
          <a:xfrm>
            <a:off x="502920" y="855980"/>
            <a:ext cx="1152144" cy="893058"/>
          </a:xfrm>
          <a:prstGeom prst="roundRect">
            <a:avLst>
              <a:gd name="adj" fmla="val 22000"/>
            </a:avLst>
          </a:prstGeom>
          <a:solidFill>
            <a:srgbClr val="21295C"/>
          </a:solidFill>
          <a:ln w="12700">
            <a:solidFill>
              <a:srgbClr val="2129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855980"/>
            <a:ext cx="1060704" cy="893058"/>
          </a:xfrm>
          <a:prstGeom prst="rect">
            <a:avLst/>
          </a:prstGeom>
          <a:noFill/>
        </p:spPr>
        <p:txBody>
          <a:bodyPr wrap="square" lIns="0" rIns="0" tIns="0" bIns="0" anchor="ctr">
            <a:spAutoFit/>
          </a:bodyPr>
          <a:lstStyle/>
          <a:p>
            <a:pPr algn="ctr">
              <a:lnSpc>
                <a:spcPct val="102000"/>
              </a:lnSpc>
            </a:pPr>
            <a:r>
              <a:rPr sz="950" b="1" i="0">
                <a:solidFill>
                  <a:srgbClr val="FFFFFF"/>
                </a:solidFill>
                <a:latin typeface="DejaVu Sans"/>
              </a:rPr>
              <a:t>ЧТО ЭТО</a:t>
            </a:r>
          </a:p>
        </p:txBody>
      </p:sp>
      <p:sp>
        <p:nvSpPr>
          <p:cNvPr id="5" name="Rounded Rectangle 4"/>
          <p:cNvSpPr/>
          <p:nvPr/>
        </p:nvSpPr>
        <p:spPr>
          <a:xfrm>
            <a:off x="1801368" y="855980"/>
            <a:ext cx="9902952" cy="893058"/>
          </a:xfrm>
          <a:prstGeom prst="roundRect">
            <a:avLst>
              <a:gd name="adj" fmla="val 22000"/>
            </a:avLst>
          </a:prstGeom>
          <a:solidFill>
            <a:srgbClr val="FFFFFF"/>
          </a:solidFill>
          <a:ln w="2286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984248" y="947420"/>
            <a:ext cx="9537192" cy="710178"/>
          </a:xfrm>
          <a:prstGeom prst="rect">
            <a:avLst/>
          </a:prstGeom>
          <a:noFill/>
        </p:spPr>
        <p:txBody>
          <a:bodyPr wrap="square" lIns="0" rIns="0" tIns="0" bIns="0" anchor="ctr">
            <a:spAutoFit/>
          </a:bodyPr>
          <a:lstStyle/>
          <a:p>
            <a:pPr algn="l">
              <a:lnSpc>
                <a:spcPct val="114000"/>
              </a:lnSpc>
            </a:pPr>
            <a:r>
              <a:rPr sz="1150" b="0" i="0">
                <a:solidFill>
                  <a:srgbClr val="21295C"/>
                </a:solidFill>
                <a:latin typeface="DejaVu Sans"/>
              </a:rPr>
              <a:t>Новое включают не всем сразу, а сначала узкому кругу, и заранее договариваются, как всё вернуть обратно. </a:t>
            </a:r>
            <a:r>
              <a:rPr sz="1150" b="1" i="0">
                <a:solidFill>
                  <a:srgbClr val="21295C"/>
                </a:solidFill>
                <a:latin typeface="DejaVu Sans"/>
              </a:rPr>
              <a:t>Радиус поражения — сколько людей пострадает, если новое окажется плохим, — решение команды, а не то, что выясняется после запуска.</a:t>
            </a:r>
          </a:p>
        </p:txBody>
      </p:sp>
      <p:sp>
        <p:nvSpPr>
          <p:cNvPr id="7" name="Rounded Rectangle 6"/>
          <p:cNvSpPr/>
          <p:nvPr/>
        </p:nvSpPr>
        <p:spPr>
          <a:xfrm>
            <a:off x="502920" y="1813046"/>
            <a:ext cx="1152144" cy="2176272"/>
          </a:xfrm>
          <a:prstGeom prst="roundRect">
            <a:avLst>
              <a:gd name="adj" fmla="val 22000"/>
            </a:avLst>
          </a:prstGeom>
          <a:solidFill>
            <a:srgbClr val="065A82"/>
          </a:solidFill>
          <a:ln w="1270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13046"/>
            <a:ext cx="1060704" cy="2176272"/>
          </a:xfrm>
          <a:prstGeom prst="rect">
            <a:avLst/>
          </a:prstGeom>
          <a:noFill/>
        </p:spPr>
        <p:txBody>
          <a:bodyPr wrap="square" lIns="0" rIns="0" tIns="0" bIns="0" anchor="ctr">
            <a:spAutoFit/>
          </a:bodyPr>
          <a:lstStyle/>
          <a:p>
            <a:pPr algn="ctr">
              <a:lnSpc>
                <a:spcPct val="102000"/>
              </a:lnSpc>
            </a:pPr>
            <a:r>
              <a:rPr sz="950" b="1" i="0">
                <a:solidFill>
                  <a:srgbClr val="FFFFFF"/>
                </a:solidFill>
                <a:latin typeface="DejaVu Sans"/>
              </a:rPr>
              <a:t>МЕХАНИЗМ</a:t>
            </a:r>
          </a:p>
        </p:txBody>
      </p:sp>
      <p:sp>
        <p:nvSpPr>
          <p:cNvPr id="9" name="Rounded Rectangle 8"/>
          <p:cNvSpPr/>
          <p:nvPr/>
        </p:nvSpPr>
        <p:spPr>
          <a:xfrm>
            <a:off x="1801368" y="1813046"/>
            <a:ext cx="9902952" cy="2176272"/>
          </a:xfrm>
          <a:prstGeom prst="roundRect">
            <a:avLst>
              <a:gd name="adj" fmla="val 14005"/>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984248" y="1918202"/>
            <a:ext cx="214884" cy="2148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984248" y="1918202"/>
            <a:ext cx="214884" cy="214884"/>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1</a:t>
            </a:r>
          </a:p>
        </p:txBody>
      </p:sp>
      <p:sp>
        <p:nvSpPr>
          <p:cNvPr id="12" name="TextBox 11"/>
          <p:cNvSpPr txBox="1"/>
          <p:nvPr/>
        </p:nvSpPr>
        <p:spPr>
          <a:xfrm>
            <a:off x="2295144" y="1904486"/>
            <a:ext cx="5934456" cy="213111"/>
          </a:xfrm>
          <a:prstGeom prst="rect">
            <a:avLst/>
          </a:prstGeom>
          <a:noFill/>
        </p:spPr>
        <p:txBody>
          <a:bodyPr wrap="square" lIns="0" rIns="0" tIns="0" bIns="0" anchor="t">
            <a:spAutoFit/>
          </a:bodyPr>
          <a:lstStyle/>
          <a:p>
            <a:pPr algn="l">
              <a:lnSpc>
                <a:spcPct val="115000"/>
              </a:lnSpc>
            </a:pPr>
            <a:r>
              <a:rPr sz="1000" b="1" i="0">
                <a:solidFill>
                  <a:srgbClr val="065A82"/>
                </a:solidFill>
                <a:latin typeface="DejaVu Sans"/>
              </a:rPr>
              <a:t>Ступени</a:t>
            </a:r>
            <a:r>
              <a:rPr sz="1000" b="0" i="0">
                <a:solidFill>
                  <a:srgbClr val="21295C"/>
                </a:solidFill>
                <a:latin typeface="DejaVu Sans"/>
              </a:rPr>
              <a:t> — какие доли аудитории проходим и в каком порядке.</a:t>
            </a:r>
          </a:p>
        </p:txBody>
      </p:sp>
      <p:sp>
        <p:nvSpPr>
          <p:cNvPr id="13" name="Oval 12"/>
          <p:cNvSpPr/>
          <p:nvPr/>
        </p:nvSpPr>
        <p:spPr>
          <a:xfrm>
            <a:off x="1984248" y="2195321"/>
            <a:ext cx="214884" cy="2148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984248" y="2195321"/>
            <a:ext cx="214884" cy="214884"/>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2</a:t>
            </a:r>
          </a:p>
        </p:txBody>
      </p:sp>
      <p:sp>
        <p:nvSpPr>
          <p:cNvPr id="15" name="TextBox 14"/>
          <p:cNvSpPr txBox="1"/>
          <p:nvPr/>
        </p:nvSpPr>
        <p:spPr>
          <a:xfrm>
            <a:off x="2295144" y="2181605"/>
            <a:ext cx="5934456" cy="544235"/>
          </a:xfrm>
          <a:prstGeom prst="rect">
            <a:avLst/>
          </a:prstGeom>
          <a:noFill/>
        </p:spPr>
        <p:txBody>
          <a:bodyPr wrap="square" lIns="0" rIns="0" tIns="0" bIns="0" anchor="t">
            <a:spAutoFit/>
          </a:bodyPr>
          <a:lstStyle/>
          <a:p>
            <a:pPr algn="l">
              <a:lnSpc>
                <a:spcPct val="115000"/>
              </a:lnSpc>
            </a:pPr>
            <a:r>
              <a:rPr sz="1000" b="1" i="0">
                <a:solidFill>
                  <a:srgbClr val="065A82"/>
                </a:solidFill>
                <a:latin typeface="DejaVu Sans"/>
              </a:rPr>
              <a:t>Признак остановки</a:t>
            </a:r>
            <a:r>
              <a:rPr sz="1000" b="0" i="0">
                <a:solidFill>
                  <a:srgbClr val="21295C"/>
                </a:solidFill>
                <a:latin typeface="DejaVu Sans"/>
              </a:rPr>
              <a:t> — что наблюдают на каждой ступени и какое ухудшение останавливает движение вперёд; без названного заранее признака «стало хуже» обсуждается бесконечно.</a:t>
            </a:r>
          </a:p>
        </p:txBody>
      </p:sp>
      <p:sp>
        <p:nvSpPr>
          <p:cNvPr id="16" name="Oval 15"/>
          <p:cNvSpPr/>
          <p:nvPr/>
        </p:nvSpPr>
        <p:spPr>
          <a:xfrm>
            <a:off x="1984248" y="2803565"/>
            <a:ext cx="214884" cy="2148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984248" y="2803565"/>
            <a:ext cx="214884" cy="214884"/>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3</a:t>
            </a:r>
          </a:p>
        </p:txBody>
      </p:sp>
      <p:sp>
        <p:nvSpPr>
          <p:cNvPr id="18" name="TextBox 17"/>
          <p:cNvSpPr txBox="1"/>
          <p:nvPr/>
        </p:nvSpPr>
        <p:spPr>
          <a:xfrm>
            <a:off x="2295144" y="2789849"/>
            <a:ext cx="5934456" cy="378673"/>
          </a:xfrm>
          <a:prstGeom prst="rect">
            <a:avLst/>
          </a:prstGeom>
          <a:noFill/>
        </p:spPr>
        <p:txBody>
          <a:bodyPr wrap="square" lIns="0" rIns="0" tIns="0" bIns="0" anchor="t">
            <a:spAutoFit/>
          </a:bodyPr>
          <a:lstStyle/>
          <a:p>
            <a:pPr algn="l">
              <a:lnSpc>
                <a:spcPct val="115000"/>
              </a:lnSpc>
            </a:pPr>
            <a:r>
              <a:rPr sz="1000" b="1" i="0">
                <a:solidFill>
                  <a:srgbClr val="065A82"/>
                </a:solidFill>
                <a:latin typeface="DejaVu Sans"/>
              </a:rPr>
              <a:t>Путь назад</a:t>
            </a:r>
            <a:r>
              <a:rPr sz="1000" b="0" i="0">
                <a:solidFill>
                  <a:srgbClr val="21295C"/>
                </a:solidFill>
                <a:latin typeface="DejaVu Sans"/>
              </a:rPr>
              <a:t> — кто принимает решение вернуться, за какое время это делается и проверяли ли, что возврат вообще работает.</a:t>
            </a:r>
          </a:p>
        </p:txBody>
      </p:sp>
      <p:sp>
        <p:nvSpPr>
          <p:cNvPr id="19" name="Rounded Rectangle 18"/>
          <p:cNvSpPr/>
          <p:nvPr/>
        </p:nvSpPr>
        <p:spPr>
          <a:xfrm>
            <a:off x="8979408" y="1941062"/>
            <a:ext cx="2542032" cy="329184"/>
          </a:xfrm>
          <a:prstGeom prst="roundRect">
            <a:avLst>
              <a:gd name="adj" fmla="val 19444"/>
            </a:avLst>
          </a:prstGeom>
          <a:solidFill>
            <a:srgbClr val="E5EAF0"/>
          </a:solidFill>
          <a:ln w="1651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34272" y="1941062"/>
            <a:ext cx="2432303" cy="329184"/>
          </a:xfrm>
          <a:prstGeom prst="rect">
            <a:avLst/>
          </a:prstGeom>
          <a:noFill/>
        </p:spPr>
        <p:txBody>
          <a:bodyPr wrap="square" lIns="0" rIns="0" tIns="0" bIns="0" anchor="ctr">
            <a:spAutoFit/>
          </a:bodyPr>
          <a:lstStyle/>
          <a:p>
            <a:pPr algn="ctr">
              <a:lnSpc>
                <a:spcPct val="102000"/>
              </a:lnSpc>
            </a:pPr>
            <a:r>
              <a:rPr sz="1019" b="1" i="0">
                <a:solidFill>
                  <a:srgbClr val="21295C"/>
                </a:solidFill>
                <a:latin typeface="DejaVu Sans"/>
              </a:rPr>
              <a:t>узкий круг</a:t>
            </a:r>
          </a:p>
        </p:txBody>
      </p:sp>
      <p:cxnSp>
        <p:nvCxnSpPr>
          <p:cNvPr id="21" name="Connector 20"/>
          <p:cNvCxnSpPr/>
          <p:nvPr/>
        </p:nvCxnSpPr>
        <p:spPr>
          <a:xfrm>
            <a:off x="10250424" y="2270246"/>
            <a:ext cx="0" cy="109728"/>
          </a:xfrm>
          <a:prstGeom prst="line">
            <a:avLst/>
          </a:prstGeom>
          <a:ln w="25400">
            <a:solidFill>
              <a:srgbClr val="065A8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979408" y="2379974"/>
            <a:ext cx="2542032" cy="329184"/>
          </a:xfrm>
          <a:prstGeom prst="roundRect">
            <a:avLst>
              <a:gd name="adj" fmla="val 19444"/>
            </a:avLst>
          </a:prstGeom>
          <a:solidFill>
            <a:srgbClr val="E1EAF0"/>
          </a:solidFill>
          <a:ln w="1651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034272" y="2379974"/>
            <a:ext cx="2432303" cy="329184"/>
          </a:xfrm>
          <a:prstGeom prst="rect">
            <a:avLst/>
          </a:prstGeom>
          <a:noFill/>
        </p:spPr>
        <p:txBody>
          <a:bodyPr wrap="square" lIns="0" rIns="0" tIns="0" bIns="0" anchor="ctr">
            <a:spAutoFit/>
          </a:bodyPr>
          <a:lstStyle/>
          <a:p>
            <a:pPr algn="ctr">
              <a:lnSpc>
                <a:spcPct val="102000"/>
              </a:lnSpc>
            </a:pPr>
            <a:r>
              <a:rPr sz="1019" b="1" i="0">
                <a:solidFill>
                  <a:srgbClr val="21295C"/>
                </a:solidFill>
                <a:latin typeface="DejaVu Sans"/>
              </a:rPr>
              <a:t>малая доля</a:t>
            </a:r>
          </a:p>
        </p:txBody>
      </p:sp>
      <p:cxnSp>
        <p:nvCxnSpPr>
          <p:cNvPr id="24" name="Connector 23"/>
          <p:cNvCxnSpPr/>
          <p:nvPr/>
        </p:nvCxnSpPr>
        <p:spPr>
          <a:xfrm>
            <a:off x="10250424" y="2709158"/>
            <a:ext cx="0" cy="109728"/>
          </a:xfrm>
          <a:prstGeom prst="line">
            <a:avLst/>
          </a:prstGeom>
          <a:ln w="25400">
            <a:solidFill>
              <a:srgbClr val="065A8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979408" y="2818886"/>
            <a:ext cx="2542032" cy="329184"/>
          </a:xfrm>
          <a:prstGeom prst="roundRect">
            <a:avLst>
              <a:gd name="adj" fmla="val 19444"/>
            </a:avLst>
          </a:prstGeom>
          <a:solidFill>
            <a:srgbClr val="E4F1F2"/>
          </a:solidFill>
          <a:ln w="1651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34272" y="2818886"/>
            <a:ext cx="2432303" cy="329184"/>
          </a:xfrm>
          <a:prstGeom prst="rect">
            <a:avLst/>
          </a:prstGeom>
          <a:noFill/>
        </p:spPr>
        <p:txBody>
          <a:bodyPr wrap="square" lIns="0" rIns="0" tIns="0" bIns="0" anchor="ctr">
            <a:spAutoFit/>
          </a:bodyPr>
          <a:lstStyle/>
          <a:p>
            <a:pPr algn="ctr">
              <a:lnSpc>
                <a:spcPct val="102000"/>
              </a:lnSpc>
            </a:pPr>
            <a:r>
              <a:rPr sz="1019" b="1" i="0">
                <a:solidFill>
                  <a:srgbClr val="21295C"/>
                </a:solidFill>
                <a:latin typeface="DejaVu Sans"/>
              </a:rPr>
              <a:t>часть аудитории</a:t>
            </a:r>
          </a:p>
        </p:txBody>
      </p:sp>
      <p:cxnSp>
        <p:nvCxnSpPr>
          <p:cNvPr id="27" name="Connector 26"/>
          <p:cNvCxnSpPr/>
          <p:nvPr/>
        </p:nvCxnSpPr>
        <p:spPr>
          <a:xfrm>
            <a:off x="10250424" y="3148070"/>
            <a:ext cx="0" cy="109728"/>
          </a:xfrm>
          <a:prstGeom prst="line">
            <a:avLst/>
          </a:prstGeom>
          <a:ln w="25400">
            <a:solidFill>
              <a:srgbClr val="065A8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8979408" y="3257798"/>
            <a:ext cx="2542032" cy="329184"/>
          </a:xfrm>
          <a:prstGeom prst="roundRect">
            <a:avLst>
              <a:gd name="adj" fmla="val 19444"/>
            </a:avLst>
          </a:prstGeom>
          <a:solidFill>
            <a:srgbClr val="FDF3DC"/>
          </a:solidFill>
          <a:ln w="1651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034272" y="3257798"/>
            <a:ext cx="2432303" cy="329184"/>
          </a:xfrm>
          <a:prstGeom prst="rect">
            <a:avLst/>
          </a:prstGeom>
          <a:noFill/>
        </p:spPr>
        <p:txBody>
          <a:bodyPr wrap="square" lIns="0" rIns="0" tIns="0" bIns="0" anchor="ctr">
            <a:spAutoFit/>
          </a:bodyPr>
          <a:lstStyle/>
          <a:p>
            <a:pPr algn="ctr">
              <a:lnSpc>
                <a:spcPct val="102000"/>
              </a:lnSpc>
            </a:pPr>
            <a:r>
              <a:rPr sz="1019" b="1" i="0">
                <a:solidFill>
                  <a:srgbClr val="21295C"/>
                </a:solidFill>
                <a:latin typeface="DejaVu Sans"/>
              </a:rPr>
              <a:t>все</a:t>
            </a:r>
          </a:p>
        </p:txBody>
      </p:sp>
      <p:cxnSp>
        <p:nvCxnSpPr>
          <p:cNvPr id="30" name="Connector 29"/>
          <p:cNvCxnSpPr/>
          <p:nvPr/>
        </p:nvCxnSpPr>
        <p:spPr>
          <a:xfrm flipV="1">
            <a:off x="8705088" y="2105654"/>
            <a:ext cx="0" cy="1316736"/>
          </a:xfrm>
          <a:prstGeom prst="line">
            <a:avLst/>
          </a:prstGeom>
          <a:ln w="31750">
            <a:solidFill>
              <a:srgbClr val="F0AB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229600" y="2672582"/>
            <a:ext cx="713232" cy="274320"/>
          </a:xfrm>
          <a:prstGeom prst="rect">
            <a:avLst/>
          </a:prstGeom>
          <a:noFill/>
        </p:spPr>
        <p:txBody>
          <a:bodyPr wrap="square" lIns="0" rIns="0" tIns="0" bIns="0" anchor="t">
            <a:spAutoFit/>
          </a:bodyPr>
          <a:lstStyle/>
          <a:p>
            <a:pPr algn="ctr">
              <a:lnSpc>
                <a:spcPct val="104000"/>
              </a:lnSpc>
            </a:pPr>
            <a:r>
              <a:rPr sz="919" b="1" i="0">
                <a:solidFill>
                  <a:srgbClr val="F0AB00"/>
                </a:solidFill>
                <a:latin typeface="DejaVu Sans"/>
              </a:rPr>
              <a:t>путь</a:t>
            </a:r>
          </a:p>
          <a:p>
            <a:pPr algn="ctr">
              <a:lnSpc>
                <a:spcPct val="104000"/>
              </a:lnSpc>
            </a:pPr>
            <a:r>
              <a:rPr sz="919" b="1" i="0">
                <a:solidFill>
                  <a:srgbClr val="F0AB00"/>
                </a:solidFill>
                <a:latin typeface="DejaVu Sans"/>
              </a:rPr>
              <a:t>назад</a:t>
            </a:r>
          </a:p>
        </p:txBody>
      </p:sp>
      <p:sp>
        <p:nvSpPr>
          <p:cNvPr id="32" name="TextBox 31"/>
          <p:cNvSpPr txBox="1"/>
          <p:nvPr/>
        </p:nvSpPr>
        <p:spPr>
          <a:xfrm>
            <a:off x="8503920" y="3623558"/>
            <a:ext cx="3017520" cy="274320"/>
          </a:xfrm>
          <a:prstGeom prst="rect">
            <a:avLst/>
          </a:prstGeom>
          <a:noFill/>
        </p:spPr>
        <p:txBody>
          <a:bodyPr wrap="square" lIns="0" rIns="0" tIns="0" bIns="0" anchor="t">
            <a:spAutoFit/>
          </a:bodyPr>
          <a:lstStyle/>
          <a:p>
            <a:pPr algn="ctr">
              <a:lnSpc>
                <a:spcPct val="105000"/>
              </a:lnSpc>
            </a:pPr>
            <a:r>
              <a:rPr sz="880" b="0" i="1">
                <a:solidFill>
                  <a:srgbClr val="5B6678"/>
                </a:solidFill>
                <a:latin typeface="DejaVu Sans"/>
              </a:rPr>
              <a:t>доля аудитории растёт ступенями; возврат описан до запуска, а не сочиняется в момент сбоя</a:t>
            </a:r>
          </a:p>
        </p:txBody>
      </p:sp>
      <p:sp>
        <p:nvSpPr>
          <p:cNvPr id="33" name="Rounded Rectangle 32"/>
          <p:cNvSpPr/>
          <p:nvPr/>
        </p:nvSpPr>
        <p:spPr>
          <a:xfrm>
            <a:off x="502920" y="4053326"/>
            <a:ext cx="1152144" cy="1074020"/>
          </a:xfrm>
          <a:prstGeom prst="roundRect">
            <a:avLst>
              <a:gd name="adj" fmla="val 22000"/>
            </a:avLst>
          </a:prstGeom>
          <a:solidFill>
            <a:srgbClr val="1C7293"/>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48640" y="4053326"/>
            <a:ext cx="1060704" cy="1074020"/>
          </a:xfrm>
          <a:prstGeom prst="rect">
            <a:avLst/>
          </a:prstGeom>
          <a:noFill/>
        </p:spPr>
        <p:txBody>
          <a:bodyPr wrap="square" lIns="0" rIns="0" tIns="0" bIns="0" anchor="ctr">
            <a:spAutoFit/>
          </a:bodyPr>
          <a:lstStyle/>
          <a:p>
            <a:pPr algn="ctr">
              <a:lnSpc>
                <a:spcPct val="102000"/>
              </a:lnSpc>
            </a:pPr>
            <a:r>
              <a:rPr sz="950" b="1" i="0">
                <a:solidFill>
                  <a:srgbClr val="FFFFFF"/>
                </a:solidFill>
                <a:latin typeface="DejaVu Sans"/>
              </a:rPr>
              <a:t>С ИИ И БЕЗ ИИ</a:t>
            </a:r>
          </a:p>
        </p:txBody>
      </p:sp>
      <p:sp>
        <p:nvSpPr>
          <p:cNvPr id="35" name="Rounded Rectangle 34"/>
          <p:cNvSpPr/>
          <p:nvPr/>
        </p:nvSpPr>
        <p:spPr>
          <a:xfrm>
            <a:off x="1801368" y="4053326"/>
            <a:ext cx="9902952" cy="1074020"/>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1984248" y="4144766"/>
            <a:ext cx="4677156" cy="891140"/>
          </a:xfrm>
          <a:prstGeom prst="roundRect">
            <a:avLst>
              <a:gd name="adj" fmla="val 19444"/>
            </a:avLst>
          </a:prstGeom>
          <a:solidFill>
            <a:srgbClr val="FFFFFF"/>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084831" y="4190486"/>
            <a:ext cx="4475988" cy="219456"/>
          </a:xfrm>
          <a:prstGeom prst="rect">
            <a:avLst/>
          </a:prstGeom>
          <a:noFill/>
        </p:spPr>
        <p:txBody>
          <a:bodyPr wrap="square" lIns="0" rIns="0" tIns="0" bIns="0" anchor="t">
            <a:spAutoFit/>
          </a:bodyPr>
          <a:lstStyle/>
          <a:p>
            <a:pPr algn="l">
              <a:lnSpc>
                <a:spcPct val="100000"/>
              </a:lnSpc>
            </a:pPr>
            <a:r>
              <a:rPr sz="919" b="1" i="0">
                <a:solidFill>
                  <a:srgbClr val="065A82"/>
                </a:solidFill>
                <a:latin typeface="DejaVu Sans"/>
              </a:rPr>
              <a:t>БЕЗ ИИ — приёму несколько десятилетий</a:t>
            </a:r>
          </a:p>
        </p:txBody>
      </p:sp>
      <p:sp>
        <p:nvSpPr>
          <p:cNvPr id="38" name="TextBox 37"/>
          <p:cNvSpPr txBox="1"/>
          <p:nvPr/>
        </p:nvSpPr>
        <p:spPr>
          <a:xfrm>
            <a:off x="2084831" y="4419086"/>
            <a:ext cx="4475988" cy="561956"/>
          </a:xfrm>
          <a:prstGeom prst="rect">
            <a:avLst/>
          </a:prstGeom>
          <a:noFill/>
        </p:spPr>
        <p:txBody>
          <a:bodyPr wrap="square" lIns="0" rIns="0" tIns="0" bIns="0" anchor="t">
            <a:spAutoFit/>
          </a:bodyPr>
          <a:lstStyle/>
          <a:p>
            <a:pPr algn="l">
              <a:lnSpc>
                <a:spcPct val="112000"/>
              </a:lnSpc>
            </a:pPr>
            <a:r>
              <a:rPr sz="950" b="0" i="0">
                <a:solidFill>
                  <a:srgbClr val="21295C"/>
                </a:solidFill>
                <a:latin typeface="DejaVu Sans"/>
              </a:rPr>
              <a:t>Поэтапная раскатка и откат придуманы задолго до ИИ и устроены точно так же. </a:t>
            </a:r>
            <a:r>
              <a:rPr sz="950" b="1" i="0">
                <a:solidFill>
                  <a:srgbClr val="21295C"/>
                </a:solidFill>
                <a:latin typeface="DejaVu Sans"/>
              </a:rPr>
              <a:t>Изобретать заново нечего</a:t>
            </a:r>
            <a:r>
              <a:rPr sz="950" b="0" i="0">
                <a:solidFill>
                  <a:srgbClr val="21295C"/>
                </a:solidFill>
                <a:latin typeface="DejaVu Sans"/>
              </a:rPr>
              <a:t>, берут готовое.</a:t>
            </a:r>
          </a:p>
        </p:txBody>
      </p:sp>
      <p:sp>
        <p:nvSpPr>
          <p:cNvPr id="39" name="Rounded Rectangle 38"/>
          <p:cNvSpPr/>
          <p:nvPr/>
        </p:nvSpPr>
        <p:spPr>
          <a:xfrm>
            <a:off x="6844284" y="4144766"/>
            <a:ext cx="4677156" cy="891140"/>
          </a:xfrm>
          <a:prstGeom prst="roundRect">
            <a:avLst>
              <a:gd name="adj" fmla="val 19444"/>
            </a:avLst>
          </a:prstGeom>
          <a:solidFill>
            <a:srgbClr val="FFFFFF"/>
          </a:solidFill>
          <a:ln w="1778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944868" y="4190486"/>
            <a:ext cx="4475988" cy="219456"/>
          </a:xfrm>
          <a:prstGeom prst="rect">
            <a:avLst/>
          </a:prstGeom>
          <a:noFill/>
        </p:spPr>
        <p:txBody>
          <a:bodyPr wrap="square" lIns="0" rIns="0" tIns="0" bIns="0" anchor="t">
            <a:spAutoFit/>
          </a:bodyPr>
          <a:lstStyle/>
          <a:p>
            <a:pPr algn="l">
              <a:lnSpc>
                <a:spcPct val="100000"/>
              </a:lnSpc>
            </a:pPr>
            <a:r>
              <a:rPr sz="919" b="1" i="0">
                <a:solidFill>
                  <a:srgbClr val="028090"/>
                </a:solidFill>
                <a:latin typeface="DejaVu Sans"/>
              </a:rPr>
              <a:t>С ИИ — меняется только скорость ступеней</a:t>
            </a:r>
          </a:p>
        </p:txBody>
      </p:sp>
      <p:sp>
        <p:nvSpPr>
          <p:cNvPr id="41" name="TextBox 40"/>
          <p:cNvSpPr txBox="1"/>
          <p:nvPr/>
        </p:nvSpPr>
        <p:spPr>
          <a:xfrm>
            <a:off x="6944868" y="4419086"/>
            <a:ext cx="4475988" cy="561956"/>
          </a:xfrm>
          <a:prstGeom prst="rect">
            <a:avLst/>
          </a:prstGeom>
          <a:noFill/>
        </p:spPr>
        <p:txBody>
          <a:bodyPr wrap="square" lIns="0" rIns="0" tIns="0" bIns="0" anchor="t">
            <a:spAutoFit/>
          </a:bodyPr>
          <a:lstStyle/>
          <a:p>
            <a:pPr algn="l">
              <a:lnSpc>
                <a:spcPct val="112000"/>
              </a:lnSpc>
            </a:pPr>
            <a:r>
              <a:rPr sz="950" b="0" i="0">
                <a:solidFill>
                  <a:srgbClr val="21295C"/>
                </a:solidFill>
                <a:latin typeface="DejaVu Sans"/>
              </a:rPr>
              <a:t>Обычную функцию видно по отказам и задержкам сразу, а ухудшение ответов проступает только на объёме: на каждую ступень нужны </a:t>
            </a:r>
            <a:r>
              <a:rPr sz="950" b="1" i="0">
                <a:solidFill>
                  <a:srgbClr val="21295C"/>
                </a:solidFill>
                <a:latin typeface="DejaVu Sans"/>
              </a:rPr>
              <a:t>часы наблюдения, а не минуты</a:t>
            </a:r>
            <a:r>
              <a:rPr sz="950" b="0" i="0">
                <a:solidFill>
                  <a:srgbClr val="21295C"/>
                </a:solidFill>
                <a:latin typeface="DejaVu Sans"/>
              </a:rPr>
              <a:t>.</a:t>
            </a:r>
          </a:p>
        </p:txBody>
      </p:sp>
      <p:sp>
        <p:nvSpPr>
          <p:cNvPr id="42" name="Rounded Rectangle 41"/>
          <p:cNvSpPr/>
          <p:nvPr/>
        </p:nvSpPr>
        <p:spPr>
          <a:xfrm>
            <a:off x="502920" y="5191354"/>
            <a:ext cx="1152144" cy="1050342"/>
          </a:xfrm>
          <a:prstGeom prst="roundRect">
            <a:avLst>
              <a:gd name="adj" fmla="val 22000"/>
            </a:avLst>
          </a:prstGeom>
          <a:solidFill>
            <a:srgbClr val="F0AB00"/>
          </a:solidFill>
          <a:ln w="127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48640" y="5191354"/>
            <a:ext cx="1060704" cy="1050342"/>
          </a:xfrm>
          <a:prstGeom prst="rect">
            <a:avLst/>
          </a:prstGeom>
          <a:noFill/>
        </p:spPr>
        <p:txBody>
          <a:bodyPr wrap="square" lIns="0" rIns="0" tIns="0" bIns="0" anchor="ctr">
            <a:spAutoFit/>
          </a:bodyPr>
          <a:lstStyle/>
          <a:p>
            <a:pPr algn="ctr">
              <a:lnSpc>
                <a:spcPct val="102000"/>
              </a:lnSpc>
            </a:pPr>
            <a:r>
              <a:rPr sz="950" b="1" i="0">
                <a:solidFill>
                  <a:srgbClr val="21295C"/>
                </a:solidFill>
                <a:latin typeface="DejaVu Sans"/>
              </a:rPr>
              <a:t>ГДЕ НЕ РАБОТАЕТ</a:t>
            </a:r>
          </a:p>
        </p:txBody>
      </p:sp>
      <p:sp>
        <p:nvSpPr>
          <p:cNvPr id="44" name="Rounded Rectangle 43"/>
          <p:cNvSpPr/>
          <p:nvPr/>
        </p:nvSpPr>
        <p:spPr>
          <a:xfrm>
            <a:off x="1801368" y="5191354"/>
            <a:ext cx="9902952" cy="1050342"/>
          </a:xfrm>
          <a:prstGeom prst="roundRect">
            <a:avLst>
              <a:gd name="adj" fmla="val 22000"/>
            </a:avLst>
          </a:prstGeom>
          <a:solidFill>
            <a:srgbClr val="FDF3DC"/>
          </a:solidFill>
          <a:ln w="317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984248" y="5282794"/>
            <a:ext cx="9537192" cy="867462"/>
          </a:xfrm>
          <a:prstGeom prst="rect">
            <a:avLst/>
          </a:prstGeom>
          <a:noFill/>
        </p:spPr>
        <p:txBody>
          <a:bodyPr wrap="square" lIns="0" rIns="0" tIns="0" bIns="0" anchor="ctr">
            <a:spAutoFit/>
          </a:bodyPr>
          <a:lstStyle/>
          <a:p>
            <a:pPr algn="l">
              <a:lnSpc>
                <a:spcPct val="114000"/>
              </a:lnSpc>
            </a:pPr>
            <a:r>
              <a:rPr sz="1100" b="1" i="0">
                <a:solidFill>
                  <a:srgbClr val="21295C"/>
                </a:solidFill>
                <a:latin typeface="DejaVu Sans"/>
              </a:rPr>
              <a:t>Раскатка ограничивает радиус, но </a:t>
            </a:r>
            <a:r>
              <a:rPr sz="1100" b="1" i="0">
                <a:solidFill>
                  <a:srgbClr val="21295C"/>
                </a:solidFill>
                <a:latin typeface="DejaVu Sans"/>
              </a:rPr>
              <a:t>не заменяет решение</a:t>
            </a:r>
            <a:r>
              <a:rPr sz="1100" b="1" i="0">
                <a:solidFill>
                  <a:srgbClr val="21295C"/>
                </a:solidFill>
                <a:latin typeface="DejaVu Sans"/>
              </a:rPr>
              <a:t>. Долгий пилот на крошечной доле, который продолжает сбоить, — не «нужно ещё немного данных», а потолок подхода. Обратная ошибка так же реальна: </a:t>
            </a:r>
            <a:r>
              <a:rPr sz="1100" b="1" i="0">
                <a:solidFill>
                  <a:srgbClr val="21295C"/>
                </a:solidFill>
                <a:latin typeface="DejaVu Sans"/>
              </a:rPr>
              <a:t>зрелость продукта не даёт права пропустить пилот</a:t>
            </a:r>
            <a:r>
              <a:rPr sz="1100" b="1" i="0">
                <a:solidFill>
                  <a:srgbClr val="21295C"/>
                </a:solidFill>
                <a:latin typeface="DejaVu Sans"/>
              </a:rPr>
              <a:t>, а повышает цену пропуска. И путь назад, который описан, но ни разу не проверен, — намерение, а не путь назад.</a:t>
            </a:r>
          </a:p>
        </p:txBody>
      </p:sp>
      <p:sp>
        <p:nvSpPr>
          <p:cNvPr id="46" name="TextBox 45"/>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25 / 54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18872"/>
            <a:ext cx="11247120" cy="749808"/>
          </a:xfrm>
          <a:prstGeom prst="rect">
            <a:avLst/>
          </a:prstGeom>
          <a:noFill/>
        </p:spPr>
        <p:txBody>
          <a:bodyPr wrap="square" lIns="0" rIns="0" tIns="0" bIns="0" anchor="t">
            <a:spAutoFit/>
          </a:bodyPr>
          <a:lstStyle/>
          <a:p>
            <a:pPr algn="l">
              <a:lnSpc>
                <a:spcPct val="110000"/>
              </a:lnSpc>
            </a:pPr>
            <a:r>
              <a:rPr sz="2100" b="1" i="0">
                <a:solidFill>
                  <a:srgbClr val="21295C"/>
                </a:solidFill>
                <a:latin typeface="DejaVu Sans"/>
              </a:rPr>
              <a:t>Удвоенная скорость генерации удваивает очередь на проверку, а не пропускную способность</a:t>
            </a:r>
          </a:p>
        </p:txBody>
      </p:sp>
      <p:sp>
        <p:nvSpPr>
          <p:cNvPr id="3" name="Rounded Rectangle 2"/>
          <p:cNvSpPr/>
          <p:nvPr/>
        </p:nvSpPr>
        <p:spPr>
          <a:xfrm>
            <a:off x="502920" y="960120"/>
            <a:ext cx="5989320" cy="3611880"/>
          </a:xfrm>
          <a:prstGeom prst="roundRect">
            <a:avLst>
              <a:gd name="adj" fmla="val 8438"/>
            </a:avLst>
          </a:prstGeom>
          <a:solidFill>
            <a:srgbClr val="F4F7FA"/>
          </a:solidFill>
          <a:ln w="1905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097280"/>
            <a:ext cx="5257800" cy="310896"/>
          </a:xfrm>
          <a:prstGeom prst="rect">
            <a:avLst/>
          </a:prstGeom>
          <a:noFill/>
        </p:spPr>
        <p:txBody>
          <a:bodyPr wrap="square" lIns="0" rIns="0" tIns="0" bIns="0" anchor="t">
            <a:spAutoFit/>
          </a:bodyPr>
          <a:lstStyle/>
          <a:p>
            <a:pPr algn="l">
              <a:lnSpc>
                <a:spcPct val="104000"/>
              </a:lnSpc>
            </a:pPr>
            <a:r>
              <a:rPr sz="1350" b="1" i="0">
                <a:solidFill>
                  <a:srgbClr val="065A82"/>
                </a:solidFill>
                <a:latin typeface="DejaVu Sans"/>
              </a:rPr>
              <a:t>Две операции разработки и что с ними сделал ИИ</a:t>
            </a:r>
          </a:p>
        </p:txBody>
      </p:sp>
      <p:sp>
        <p:nvSpPr>
          <p:cNvPr id="5" name="Rounded Rectangle 4"/>
          <p:cNvSpPr/>
          <p:nvPr/>
        </p:nvSpPr>
        <p:spPr>
          <a:xfrm>
            <a:off x="868680" y="1536192"/>
            <a:ext cx="2423160" cy="749808"/>
          </a:xfrm>
          <a:prstGeom prst="roundRect">
            <a:avLst>
              <a:gd name="adj" fmla="val 10000"/>
            </a:avLst>
          </a:prstGeom>
          <a:solidFill>
            <a:srgbClr val="FDF3DC"/>
          </a:solidFill>
          <a:ln w="1778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572768"/>
            <a:ext cx="2240280" cy="676656"/>
          </a:xfrm>
          <a:prstGeom prst="rect">
            <a:avLst/>
          </a:prstGeom>
          <a:noFill/>
        </p:spPr>
        <p:txBody>
          <a:bodyPr wrap="square" lIns="0" rIns="0" tIns="0" bIns="0" anchor="ctr">
            <a:spAutoFit/>
          </a:bodyPr>
          <a:lstStyle/>
          <a:p>
            <a:pPr algn="ctr">
              <a:lnSpc>
                <a:spcPct val="104000"/>
              </a:lnSpc>
            </a:pPr>
            <a:r>
              <a:rPr sz="1200" b="1" i="0">
                <a:solidFill>
                  <a:srgbClr val="21295C"/>
                </a:solidFill>
                <a:latin typeface="DejaVu Sans"/>
              </a:rPr>
              <a:t>сделать</a:t>
            </a:r>
          </a:p>
          <a:p>
            <a:pPr algn="ctr">
              <a:lnSpc>
                <a:spcPct val="104000"/>
              </a:lnSpc>
            </a:pPr>
            <a:r>
              <a:rPr sz="1200" b="1" i="0">
                <a:solidFill>
                  <a:srgbClr val="21295C"/>
                </a:solidFill>
                <a:latin typeface="DejaVu Sans"/>
              </a:rPr>
              <a:t>подешевело</a:t>
            </a:r>
          </a:p>
        </p:txBody>
      </p:sp>
      <p:sp>
        <p:nvSpPr>
          <p:cNvPr id="7" name="Rounded Rectangle 6"/>
          <p:cNvSpPr/>
          <p:nvPr/>
        </p:nvSpPr>
        <p:spPr>
          <a:xfrm>
            <a:off x="3703320" y="1536192"/>
            <a:ext cx="2423160" cy="749808"/>
          </a:xfrm>
          <a:prstGeom prst="roundRect">
            <a:avLst>
              <a:gd name="adj" fmla="val 10000"/>
            </a:avLst>
          </a:prstGeom>
          <a:solidFill>
            <a:srgbClr val="E5EAF0"/>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794760" y="1572768"/>
            <a:ext cx="2240280" cy="676656"/>
          </a:xfrm>
          <a:prstGeom prst="rect">
            <a:avLst/>
          </a:prstGeom>
          <a:noFill/>
        </p:spPr>
        <p:txBody>
          <a:bodyPr wrap="square" lIns="0" rIns="0" tIns="0" bIns="0" anchor="ctr">
            <a:spAutoFit/>
          </a:bodyPr>
          <a:lstStyle/>
          <a:p>
            <a:pPr algn="ctr">
              <a:lnSpc>
                <a:spcPct val="104000"/>
              </a:lnSpc>
            </a:pPr>
            <a:r>
              <a:rPr sz="1200" b="1" i="0">
                <a:solidFill>
                  <a:srgbClr val="21295C"/>
                </a:solidFill>
                <a:latin typeface="DejaVu Sans"/>
              </a:rPr>
              <a:t>проверить</a:t>
            </a:r>
          </a:p>
          <a:p>
            <a:pPr algn="ctr">
              <a:lnSpc>
                <a:spcPct val="104000"/>
              </a:lnSpc>
            </a:pPr>
            <a:r>
              <a:rPr sz="1200" b="1" i="0">
                <a:solidFill>
                  <a:srgbClr val="21295C"/>
                </a:solidFill>
                <a:latin typeface="DejaVu Sans"/>
              </a:rPr>
              <a:t>не сдвинулось</a:t>
            </a:r>
          </a:p>
        </p:txBody>
      </p:sp>
      <p:sp>
        <p:nvSpPr>
          <p:cNvPr id="9" name="TextBox 8"/>
          <p:cNvSpPr txBox="1"/>
          <p:nvPr/>
        </p:nvSpPr>
        <p:spPr>
          <a:xfrm>
            <a:off x="868680" y="2359152"/>
            <a:ext cx="5257800" cy="237744"/>
          </a:xfrm>
          <a:prstGeom prst="rect">
            <a:avLst/>
          </a:prstGeom>
          <a:noFill/>
        </p:spPr>
        <p:txBody>
          <a:bodyPr wrap="square" lIns="0" rIns="0" tIns="0" bIns="0" anchor="t">
            <a:spAutoFit/>
          </a:bodyPr>
          <a:lstStyle/>
          <a:p>
            <a:pPr algn="ctr">
              <a:lnSpc>
                <a:spcPct val="115000"/>
              </a:lnSpc>
            </a:pPr>
            <a:r>
              <a:rPr sz="950" b="0" i="1">
                <a:solidFill>
                  <a:srgbClr val="5B6678"/>
                </a:solidFill>
                <a:latin typeface="DejaVu Sans"/>
              </a:rPr>
              <a:t>сопоставление стоимости двух операций</a:t>
            </a:r>
          </a:p>
        </p:txBody>
      </p:sp>
      <p:sp>
        <p:nvSpPr>
          <p:cNvPr id="10" name="TextBox 9"/>
          <p:cNvSpPr txBox="1"/>
          <p:nvPr/>
        </p:nvSpPr>
        <p:spPr>
          <a:xfrm>
            <a:off x="868680" y="2724912"/>
            <a:ext cx="5257800" cy="1700784"/>
          </a:xfrm>
          <a:prstGeom prst="rect">
            <a:avLst/>
          </a:prstGeom>
          <a:noFill/>
        </p:spPr>
        <p:txBody>
          <a:bodyPr wrap="square" lIns="0" rIns="0" tIns="0" bIns="0" anchor="ctr">
            <a:spAutoFit/>
          </a:bodyPr>
          <a:lstStyle/>
          <a:p>
            <a:pPr algn="l">
              <a:lnSpc>
                <a:spcPct val="118000"/>
              </a:lnSpc>
            </a:pPr>
            <a:r>
              <a:rPr sz="1200" b="0" i="0">
                <a:solidFill>
                  <a:srgbClr val="21295C"/>
                </a:solidFill>
                <a:latin typeface="DejaVu Sans"/>
              </a:rPr>
              <a:t>Сделать правдоподобный результат — секунды. Убедиться, что он верный, безопасный и делает именно то, что нужно, по-прежнему требует человеческого понимания в реальном времени.</a:t>
            </a:r>
          </a:p>
          <a:p>
            <a:pPr algn="l">
              <a:lnSpc>
                <a:spcPct val="118000"/>
              </a:lnSpc>
            </a:pPr>
            <a:r>
              <a:rPr sz="1200" b="0" i="0">
                <a:solidFill>
                  <a:srgbClr val="21295C"/>
                </a:solidFill>
                <a:latin typeface="DejaVu Sans"/>
              </a:rPr>
              <a:t/>
            </a:r>
          </a:p>
          <a:p>
            <a:pPr algn="l">
              <a:lnSpc>
                <a:spcPct val="118000"/>
              </a:lnSpc>
            </a:pPr>
            <a:r>
              <a:rPr sz="1200" b="0" i="0">
                <a:solidFill>
                  <a:srgbClr val="21295C"/>
                </a:solidFill>
                <a:latin typeface="DejaVu Sans"/>
              </a:rPr>
              <a:t>Работа не исчезла: вся её масса переехала на ту сторону, которая не подешевела. Это не нехватка людей, которая пройдёт.</a:t>
            </a:r>
          </a:p>
        </p:txBody>
      </p:sp>
      <p:sp>
        <p:nvSpPr>
          <p:cNvPr id="11" name="Rounded Rectangle 10"/>
          <p:cNvSpPr/>
          <p:nvPr/>
        </p:nvSpPr>
        <p:spPr>
          <a:xfrm>
            <a:off x="6720840" y="960120"/>
            <a:ext cx="4983480" cy="3611880"/>
          </a:xfrm>
          <a:prstGeom prst="roundRect">
            <a:avLst>
              <a:gd name="adj" fmla="val 8438"/>
            </a:avLst>
          </a:prstGeom>
          <a:solidFill>
            <a:srgbClr val="F4F7FA"/>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49440" y="1078992"/>
            <a:ext cx="4526280" cy="310896"/>
          </a:xfrm>
          <a:prstGeom prst="rect">
            <a:avLst/>
          </a:prstGeom>
          <a:noFill/>
        </p:spPr>
        <p:txBody>
          <a:bodyPr wrap="square" lIns="0" rIns="0" tIns="0" bIns="0" anchor="t">
            <a:spAutoFit/>
          </a:bodyPr>
          <a:lstStyle/>
          <a:p>
            <a:pPr algn="l">
              <a:lnSpc>
                <a:spcPct val="115000"/>
              </a:lnSpc>
            </a:pPr>
            <a:r>
              <a:rPr sz="1350" b="1" i="0">
                <a:solidFill>
                  <a:srgbClr val="028090"/>
                </a:solidFill>
                <a:latin typeface="DejaVu Sans"/>
              </a:rPr>
              <a:t>Разрыв 70 процентов </a:t>
            </a:r>
            <a:r>
              <a:rPr sz="702" baseline="30000" b="0" i="1">
                <a:latin typeface="DejaVu Sans"/>
                <a:cs typeface="DejaVu Sans"/>
                <a:ea typeface="DejaVu Sans"/>
                <a:solidFill>
                  <a:srgbClr val="1C7293"/>
                </a:solidFill>
              </a:rPr>
              <a:t>[1]</a:t>
            </a:r>
          </a:p>
        </p:txBody>
      </p:sp>
      <p:sp>
        <p:nvSpPr>
          <p:cNvPr id="13" name="TextBox 12"/>
          <p:cNvSpPr txBox="1"/>
          <p:nvPr/>
        </p:nvSpPr>
        <p:spPr>
          <a:xfrm>
            <a:off x="6949440" y="1481328"/>
            <a:ext cx="4526280" cy="1005840"/>
          </a:xfrm>
          <a:prstGeom prst="rect">
            <a:avLst/>
          </a:prstGeom>
          <a:noFill/>
        </p:spPr>
        <p:txBody>
          <a:bodyPr wrap="square" lIns="0" rIns="0" tIns="0" bIns="0" anchor="t">
            <a:spAutoFit/>
          </a:bodyPr>
          <a:lstStyle/>
          <a:p>
            <a:pPr algn="l">
              <a:lnSpc>
                <a:spcPct val="118000"/>
              </a:lnSpc>
            </a:pPr>
            <a:r>
              <a:rPr sz="1150" b="0" i="0">
                <a:solidFill>
                  <a:srgbClr val="21295C"/>
                </a:solidFill>
                <a:latin typeface="DejaVu Sans"/>
              </a:rPr>
              <a:t>Инструмент доводит команду примерно на 70% пути к рабочему результату. Оставшиеся 30% — приведение в поддерживаемый вид, ловля краевых случаев, инженерный опыт.</a:t>
            </a:r>
          </a:p>
        </p:txBody>
      </p:sp>
      <p:sp>
        <p:nvSpPr>
          <p:cNvPr id="14" name="Rounded Rectangle 13"/>
          <p:cNvSpPr/>
          <p:nvPr/>
        </p:nvSpPr>
        <p:spPr>
          <a:xfrm>
            <a:off x="6949440" y="2615184"/>
            <a:ext cx="4526280" cy="237744"/>
          </a:xfrm>
          <a:prstGeom prst="roundRect">
            <a:avLst>
              <a:gd name="adj" fmla="val 40000"/>
            </a:avLst>
          </a:prstGeom>
          <a:solidFill>
            <a:srgbClr val="E5EAF0"/>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949440" y="2615184"/>
            <a:ext cx="3168396" cy="237744"/>
          </a:xfrm>
          <a:prstGeom prst="roundRect">
            <a:avLst>
              <a:gd name="adj" fmla="val 4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49440" y="2889504"/>
            <a:ext cx="4526280" cy="219456"/>
          </a:xfrm>
          <a:prstGeom prst="rect">
            <a:avLst/>
          </a:prstGeom>
          <a:noFill/>
        </p:spPr>
        <p:txBody>
          <a:bodyPr wrap="square" lIns="0" rIns="0" tIns="0" bIns="0" anchor="t">
            <a:spAutoFit/>
          </a:bodyPr>
          <a:lstStyle/>
          <a:p>
            <a:pPr algn="l">
              <a:lnSpc>
                <a:spcPct val="115000"/>
              </a:lnSpc>
            </a:pPr>
            <a:r>
              <a:rPr sz="950" b="0" i="1">
                <a:solidFill>
                  <a:srgbClr val="5B6678"/>
                </a:solidFill>
                <a:latin typeface="DejaVu Sans"/>
              </a:rPr>
              <a:t>70% пути · 30% остаются человеку</a:t>
            </a:r>
          </a:p>
        </p:txBody>
      </p:sp>
      <p:sp>
        <p:nvSpPr>
          <p:cNvPr id="17" name="TextBox 16"/>
          <p:cNvSpPr txBox="1"/>
          <p:nvPr/>
        </p:nvSpPr>
        <p:spPr>
          <a:xfrm>
            <a:off x="6949440" y="3218688"/>
            <a:ext cx="4526280" cy="1188720"/>
          </a:xfrm>
          <a:prstGeom prst="rect">
            <a:avLst/>
          </a:prstGeom>
          <a:noFill/>
        </p:spPr>
        <p:txBody>
          <a:bodyPr wrap="square" lIns="0" rIns="0" tIns="0" bIns="0" anchor="t">
            <a:spAutoFit/>
          </a:bodyPr>
          <a:lstStyle/>
          <a:p>
            <a:pPr algn="l">
              <a:lnSpc>
                <a:spcPct val="118000"/>
              </a:lnSpc>
            </a:pPr>
            <a:r>
              <a:rPr sz="1150" b="0" i="0">
                <a:solidFill>
                  <a:srgbClr val="21295C"/>
                </a:solidFill>
                <a:latin typeface="DejaVu Sans"/>
              </a:rPr>
              <a:t>Документированное расхождение: опытный инженер переосмысливает и ограничивает результат модели, начинающий принимает его охотнее и отправляет дальше код, который выглядит завершённым и рассыпается под нагрузкой.</a:t>
            </a:r>
          </a:p>
        </p:txBody>
      </p:sp>
      <p:sp>
        <p:nvSpPr>
          <p:cNvPr id="18" name="Rounded Rectangle 17"/>
          <p:cNvSpPr/>
          <p:nvPr/>
        </p:nvSpPr>
        <p:spPr>
          <a:xfrm>
            <a:off x="502920" y="4700016"/>
            <a:ext cx="11201400" cy="914400"/>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2376" y="4754879"/>
            <a:ext cx="10762488" cy="804672"/>
          </a:xfrm>
          <a:prstGeom prst="rect">
            <a:avLst/>
          </a:prstGeom>
          <a:noFill/>
        </p:spPr>
        <p:txBody>
          <a:bodyPr wrap="square" lIns="0" rIns="0" tIns="0" bIns="0" anchor="ctr">
            <a:spAutoFit/>
          </a:bodyPr>
          <a:lstStyle/>
          <a:p>
            <a:pPr algn="l">
              <a:lnSpc>
                <a:spcPct val="120000"/>
              </a:lnSpc>
            </a:pPr>
            <a:r>
              <a:rPr sz="1300" b="1" i="0">
                <a:solidFill>
                  <a:srgbClr val="21295C"/>
                </a:solidFill>
                <a:latin typeface="DejaVu Sans"/>
              </a:rPr>
              <a:t>Выпуск без проверки на наборе примеров и без проверенного пути назад — это не скорость, а отложенная цена. Определение готовности обязано вобрать эти 30%, иначе оно молча сводится к «тесты прошли — значит готово».</a:t>
            </a:r>
          </a:p>
        </p:txBody>
      </p:sp>
      <p:sp>
        <p:nvSpPr>
          <p:cNvPr id="20" name="TextBox 19"/>
          <p:cNvSpPr txBox="1"/>
          <p:nvPr/>
        </p:nvSpPr>
        <p:spPr>
          <a:xfrm>
            <a:off x="502920" y="6455664"/>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2"/>
              </a:rPr>
              <a:t>Osmani — The 70% Problem</a:t>
            </a:r>
          </a:p>
        </p:txBody>
      </p:sp>
      <p:sp>
        <p:nvSpPr>
          <p:cNvPr id="21" name="TextBox 20"/>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26 / 54</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18872"/>
            <a:ext cx="11247120" cy="749808"/>
          </a:xfrm>
          <a:prstGeom prst="rect">
            <a:avLst/>
          </a:prstGeom>
          <a:noFill/>
        </p:spPr>
        <p:txBody>
          <a:bodyPr wrap="square" lIns="0" rIns="0" tIns="0" bIns="0" anchor="t">
            <a:spAutoFit/>
          </a:bodyPr>
          <a:lstStyle/>
          <a:p>
            <a:pPr algn="l">
              <a:lnSpc>
                <a:spcPct val="110000"/>
              </a:lnSpc>
            </a:pPr>
            <a:r>
              <a:rPr sz="2100" b="1" i="0">
                <a:solidFill>
                  <a:srgbClr val="21295C"/>
                </a:solidFill>
                <a:latin typeface="DejaVu Sans"/>
              </a:rPr>
              <a:t>Google AI Overviews, май 2024: включили сразу всем — минуя пилот целиком</a:t>
            </a:r>
          </a:p>
        </p:txBody>
      </p:sp>
      <p:sp>
        <p:nvSpPr>
          <p:cNvPr id="3" name="Rounded Rectangle 2"/>
          <p:cNvSpPr/>
          <p:nvPr/>
        </p:nvSpPr>
        <p:spPr>
          <a:xfrm>
            <a:off x="502920" y="932688"/>
            <a:ext cx="7589520" cy="2212848"/>
          </a:xfrm>
          <a:prstGeom prst="roundRect">
            <a:avLst>
              <a:gd name="adj" fmla="val 13774"/>
            </a:avLst>
          </a:prstGeom>
          <a:solidFill>
            <a:srgbClr val="F4F7FA"/>
          </a:solidFill>
          <a:ln w="2032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05840"/>
            <a:ext cx="7132320" cy="256032"/>
          </a:xfrm>
          <a:prstGeom prst="rect">
            <a:avLst/>
          </a:prstGeom>
          <a:noFill/>
        </p:spPr>
        <p:txBody>
          <a:bodyPr wrap="square" lIns="0" rIns="0" tIns="0" bIns="0" anchor="t">
            <a:spAutoFit/>
          </a:bodyPr>
          <a:lstStyle/>
          <a:p>
            <a:pPr algn="l">
              <a:lnSpc>
                <a:spcPct val="115000"/>
              </a:lnSpc>
            </a:pPr>
            <a:r>
              <a:rPr sz="1150" b="1" i="0">
                <a:solidFill>
                  <a:srgbClr val="065A82"/>
                </a:solidFill>
                <a:latin typeface="DejaVu Sans"/>
              </a:rPr>
              <a:t>ЧТО ПРОИЗОШЛО</a:t>
            </a:r>
          </a:p>
        </p:txBody>
      </p:sp>
      <p:sp>
        <p:nvSpPr>
          <p:cNvPr id="5" name="TextBox 4"/>
          <p:cNvSpPr txBox="1"/>
          <p:nvPr/>
        </p:nvSpPr>
        <p:spPr>
          <a:xfrm>
            <a:off x="731520" y="1298448"/>
            <a:ext cx="7132320" cy="1755648"/>
          </a:xfrm>
          <a:prstGeom prst="rect">
            <a:avLst/>
          </a:prstGeom>
          <a:noFill/>
        </p:spPr>
        <p:txBody>
          <a:bodyPr wrap="square" lIns="0" rIns="0" tIns="0" bIns="0" anchor="t">
            <a:spAutoFit/>
          </a:bodyPr>
          <a:lstStyle/>
          <a:p>
            <a:pPr algn="l">
              <a:lnSpc>
                <a:spcPct val="118000"/>
              </a:lnSpc>
            </a:pPr>
            <a:r>
              <a:rPr sz="1150" b="0" i="0">
                <a:solidFill>
                  <a:srgbClr val="21295C"/>
                </a:solidFill>
                <a:latin typeface="DejaVu Sans"/>
              </a:rPr>
              <a:t>Google встроил в поиск генеративные ответы: вместо списка ссылок вверху страницы стал появляться готовый ответ, составленный моделью по найденным страницам. Функцию включили сразу всем пользователям поиска в США, одним шагом, и отключить её пользователь не мог. За несколько дней в ответах разошлись советы есть камни и добавлять в пиццу клей, чтобы сыр держался: модель приняла за источники сатирическую статью и старую шутку с форума. Компания реагировала уже после — ограничила ответы на бессмысленные запросы, отфильтровала сатиру, приостановила ответы на темах о здоровье.</a:t>
            </a:r>
          </a:p>
        </p:txBody>
      </p:sp>
      <p:sp>
        <p:nvSpPr>
          <p:cNvPr id="6" name="Rounded Rectangle 5"/>
          <p:cNvSpPr/>
          <p:nvPr/>
        </p:nvSpPr>
        <p:spPr>
          <a:xfrm>
            <a:off x="8275320" y="932688"/>
            <a:ext cx="3429000" cy="2212848"/>
          </a:xfrm>
          <a:prstGeom prst="roundRect">
            <a:avLst>
              <a:gd name="adj" fmla="val 13774"/>
            </a:avLst>
          </a:prstGeom>
          <a:solidFill>
            <a:srgbClr val="FFFFFF"/>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26-google-real-source.png"/>
          <p:cNvPicPr>
            <a:picLocks noChangeAspect="1"/>
          </p:cNvPicPr>
          <p:nvPr/>
        </p:nvPicPr>
        <p:blipFill>
          <a:blip r:embed="rId2"/>
          <a:stretch>
            <a:fillRect/>
          </a:stretch>
        </p:blipFill>
        <p:spPr>
          <a:xfrm>
            <a:off x="8476488" y="1527180"/>
            <a:ext cx="3026664" cy="1023864"/>
          </a:xfrm>
          <a:prstGeom prst="rect">
            <a:avLst/>
          </a:prstGeom>
        </p:spPr>
      </p:pic>
      <p:sp>
        <p:nvSpPr>
          <p:cNvPr id="8" name="Rounded Rectangle 7"/>
          <p:cNvSpPr/>
          <p:nvPr/>
        </p:nvSpPr>
        <p:spPr>
          <a:xfrm>
            <a:off x="502920" y="3236976"/>
            <a:ext cx="11201400" cy="1243584"/>
          </a:xfrm>
          <a:prstGeom prst="roundRect">
            <a:avLst>
              <a:gd name="adj" fmla="val 22000"/>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310128"/>
            <a:ext cx="1463040" cy="420624"/>
          </a:xfrm>
          <a:prstGeom prst="rect">
            <a:avLst/>
          </a:prstGeom>
          <a:noFill/>
        </p:spPr>
        <p:txBody>
          <a:bodyPr wrap="square" lIns="0" rIns="0" tIns="0" bIns="0" anchor="ctr">
            <a:spAutoFit/>
          </a:bodyPr>
          <a:lstStyle/>
          <a:p>
            <a:pPr algn="l">
              <a:lnSpc>
                <a:spcPct val="115000"/>
              </a:lnSpc>
            </a:pPr>
            <a:r>
              <a:rPr sz="1050" b="0" i="1">
                <a:solidFill>
                  <a:srgbClr val="5B6678"/>
                </a:solidFill>
                <a:latin typeface="DejaVu Sans"/>
              </a:rPr>
              <a:t>как надо:</a:t>
            </a:r>
          </a:p>
        </p:txBody>
      </p:sp>
      <p:sp>
        <p:nvSpPr>
          <p:cNvPr id="10" name="Rounded Rectangle 9"/>
          <p:cNvSpPr/>
          <p:nvPr/>
        </p:nvSpPr>
        <p:spPr>
          <a:xfrm>
            <a:off x="2240280" y="3310128"/>
            <a:ext cx="932688" cy="420624"/>
          </a:xfrm>
          <a:prstGeom prst="roundRect">
            <a:avLst>
              <a:gd name="adj" fmla="val 16000"/>
            </a:avLst>
          </a:prstGeom>
          <a:solidFill>
            <a:srgbClr val="E5EAF0"/>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240280" y="3310128"/>
            <a:ext cx="932688" cy="420624"/>
          </a:xfrm>
          <a:prstGeom prst="rect">
            <a:avLst/>
          </a:prstGeom>
          <a:noFill/>
        </p:spPr>
        <p:txBody>
          <a:bodyPr wrap="square" lIns="0" rIns="0" tIns="0" bIns="0" anchor="ctr">
            <a:spAutoFit/>
          </a:bodyPr>
          <a:lstStyle/>
          <a:p>
            <a:pPr algn="ctr">
              <a:lnSpc>
                <a:spcPct val="115000"/>
              </a:lnSpc>
            </a:pPr>
            <a:r>
              <a:rPr sz="1200" b="1" i="0">
                <a:solidFill>
                  <a:srgbClr val="21295C"/>
                </a:solidFill>
                <a:latin typeface="DejaVu Sans"/>
              </a:rPr>
              <a:t>1%</a:t>
            </a:r>
          </a:p>
        </p:txBody>
      </p:sp>
      <p:sp>
        <p:nvSpPr>
          <p:cNvPr id="12" name="Right Arrow 11"/>
          <p:cNvSpPr/>
          <p:nvPr/>
        </p:nvSpPr>
        <p:spPr>
          <a:xfrm>
            <a:off x="3200400" y="3456432"/>
            <a:ext cx="164592" cy="128016"/>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410712" y="3310128"/>
            <a:ext cx="932688" cy="420624"/>
          </a:xfrm>
          <a:prstGeom prst="roundRect">
            <a:avLst>
              <a:gd name="adj" fmla="val 16000"/>
            </a:avLst>
          </a:prstGeom>
          <a:solidFill>
            <a:srgbClr val="E5EAF0"/>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10712" y="3310128"/>
            <a:ext cx="932688" cy="420624"/>
          </a:xfrm>
          <a:prstGeom prst="rect">
            <a:avLst/>
          </a:prstGeom>
          <a:noFill/>
        </p:spPr>
        <p:txBody>
          <a:bodyPr wrap="square" lIns="0" rIns="0" tIns="0" bIns="0" anchor="ctr">
            <a:spAutoFit/>
          </a:bodyPr>
          <a:lstStyle/>
          <a:p>
            <a:pPr algn="ctr">
              <a:lnSpc>
                <a:spcPct val="115000"/>
              </a:lnSpc>
            </a:pPr>
            <a:r>
              <a:rPr sz="1200" b="1" i="0">
                <a:solidFill>
                  <a:srgbClr val="21295C"/>
                </a:solidFill>
                <a:latin typeface="DejaVu Sans"/>
              </a:rPr>
              <a:t>10%</a:t>
            </a:r>
          </a:p>
        </p:txBody>
      </p:sp>
      <p:sp>
        <p:nvSpPr>
          <p:cNvPr id="15" name="Right Arrow 14"/>
          <p:cNvSpPr/>
          <p:nvPr/>
        </p:nvSpPr>
        <p:spPr>
          <a:xfrm>
            <a:off x="4370832" y="3456432"/>
            <a:ext cx="164592" cy="128016"/>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581144" y="3310128"/>
            <a:ext cx="932688" cy="420624"/>
          </a:xfrm>
          <a:prstGeom prst="roundRect">
            <a:avLst>
              <a:gd name="adj" fmla="val 16000"/>
            </a:avLst>
          </a:prstGeom>
          <a:solidFill>
            <a:srgbClr val="E5EAF0"/>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81144" y="3310128"/>
            <a:ext cx="932688" cy="420624"/>
          </a:xfrm>
          <a:prstGeom prst="rect">
            <a:avLst/>
          </a:prstGeom>
          <a:noFill/>
        </p:spPr>
        <p:txBody>
          <a:bodyPr wrap="square" lIns="0" rIns="0" tIns="0" bIns="0" anchor="ctr">
            <a:spAutoFit/>
          </a:bodyPr>
          <a:lstStyle/>
          <a:p>
            <a:pPr algn="ctr">
              <a:lnSpc>
                <a:spcPct val="115000"/>
              </a:lnSpc>
            </a:pPr>
            <a:r>
              <a:rPr sz="1200" b="1" i="0">
                <a:solidFill>
                  <a:srgbClr val="21295C"/>
                </a:solidFill>
                <a:latin typeface="DejaVu Sans"/>
              </a:rPr>
              <a:t>25%</a:t>
            </a:r>
          </a:p>
        </p:txBody>
      </p:sp>
      <p:sp>
        <p:nvSpPr>
          <p:cNvPr id="18" name="Right Arrow 17"/>
          <p:cNvSpPr/>
          <p:nvPr/>
        </p:nvSpPr>
        <p:spPr>
          <a:xfrm>
            <a:off x="5541264" y="3456432"/>
            <a:ext cx="164592" cy="128016"/>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751576" y="3310128"/>
            <a:ext cx="932688" cy="420624"/>
          </a:xfrm>
          <a:prstGeom prst="roundRect">
            <a:avLst>
              <a:gd name="adj" fmla="val 16000"/>
            </a:avLst>
          </a:prstGeom>
          <a:solidFill>
            <a:srgbClr val="E5EAF0"/>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751576" y="3310128"/>
            <a:ext cx="932688" cy="420624"/>
          </a:xfrm>
          <a:prstGeom prst="rect">
            <a:avLst/>
          </a:prstGeom>
          <a:noFill/>
        </p:spPr>
        <p:txBody>
          <a:bodyPr wrap="square" lIns="0" rIns="0" tIns="0" bIns="0" anchor="ctr">
            <a:spAutoFit/>
          </a:bodyPr>
          <a:lstStyle/>
          <a:p>
            <a:pPr algn="ctr">
              <a:lnSpc>
                <a:spcPct val="115000"/>
              </a:lnSpc>
            </a:pPr>
            <a:r>
              <a:rPr sz="1200" b="1" i="0">
                <a:solidFill>
                  <a:srgbClr val="21295C"/>
                </a:solidFill>
                <a:latin typeface="DejaVu Sans"/>
              </a:rPr>
              <a:t>50%</a:t>
            </a:r>
          </a:p>
        </p:txBody>
      </p:sp>
      <p:sp>
        <p:nvSpPr>
          <p:cNvPr id="21" name="Right Arrow 20"/>
          <p:cNvSpPr/>
          <p:nvPr/>
        </p:nvSpPr>
        <p:spPr>
          <a:xfrm>
            <a:off x="6711696" y="3456432"/>
            <a:ext cx="164592" cy="128016"/>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922008" y="3310128"/>
            <a:ext cx="932688" cy="420624"/>
          </a:xfrm>
          <a:prstGeom prst="roundRect">
            <a:avLst>
              <a:gd name="adj" fmla="val 16000"/>
            </a:avLst>
          </a:prstGeom>
          <a:solidFill>
            <a:srgbClr val="E5EAF0"/>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22008" y="3310128"/>
            <a:ext cx="932688" cy="420624"/>
          </a:xfrm>
          <a:prstGeom prst="rect">
            <a:avLst/>
          </a:prstGeom>
          <a:noFill/>
        </p:spPr>
        <p:txBody>
          <a:bodyPr wrap="square" lIns="0" rIns="0" tIns="0" bIns="0" anchor="ctr">
            <a:spAutoFit/>
          </a:bodyPr>
          <a:lstStyle/>
          <a:p>
            <a:pPr algn="ctr">
              <a:lnSpc>
                <a:spcPct val="115000"/>
              </a:lnSpc>
            </a:pPr>
            <a:r>
              <a:rPr sz="1200" b="1" i="0">
                <a:solidFill>
                  <a:srgbClr val="21295C"/>
                </a:solidFill>
                <a:latin typeface="DejaVu Sans"/>
              </a:rPr>
              <a:t>100%</a:t>
            </a:r>
          </a:p>
        </p:txBody>
      </p:sp>
      <p:sp>
        <p:nvSpPr>
          <p:cNvPr id="24" name="TextBox 23"/>
          <p:cNvSpPr txBox="1"/>
          <p:nvPr/>
        </p:nvSpPr>
        <p:spPr>
          <a:xfrm>
            <a:off x="731520" y="3877056"/>
            <a:ext cx="1463040" cy="420624"/>
          </a:xfrm>
          <a:prstGeom prst="rect">
            <a:avLst/>
          </a:prstGeom>
          <a:noFill/>
        </p:spPr>
        <p:txBody>
          <a:bodyPr wrap="square" lIns="0" rIns="0" tIns="0" bIns="0" anchor="ctr">
            <a:spAutoFit/>
          </a:bodyPr>
          <a:lstStyle/>
          <a:p>
            <a:pPr algn="l">
              <a:lnSpc>
                <a:spcPct val="115000"/>
              </a:lnSpc>
            </a:pPr>
            <a:r>
              <a:rPr sz="1050" b="0" i="1">
                <a:solidFill>
                  <a:srgbClr val="F0AB00"/>
                </a:solidFill>
                <a:latin typeface="DejaVu Sans"/>
              </a:rPr>
              <a:t>как пошли:</a:t>
            </a:r>
          </a:p>
        </p:txBody>
      </p:sp>
      <p:sp>
        <p:nvSpPr>
          <p:cNvPr id="25" name="Right Arrow 24"/>
          <p:cNvSpPr/>
          <p:nvPr/>
        </p:nvSpPr>
        <p:spPr>
          <a:xfrm>
            <a:off x="2240280" y="3968496"/>
            <a:ext cx="5504688" cy="237744"/>
          </a:xfrm>
          <a:prstGeom prst="rightArrow">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240280" y="3877056"/>
            <a:ext cx="5504688" cy="420624"/>
          </a:xfrm>
          <a:prstGeom prst="rect">
            <a:avLst/>
          </a:prstGeom>
          <a:noFill/>
        </p:spPr>
        <p:txBody>
          <a:bodyPr wrap="square" lIns="0" rIns="0" tIns="0" bIns="0" anchor="ctr">
            <a:spAutoFit/>
          </a:bodyPr>
          <a:lstStyle/>
          <a:p>
            <a:pPr algn="ctr">
              <a:lnSpc>
                <a:spcPct val="115000"/>
              </a:lnSpc>
            </a:pPr>
            <a:r>
              <a:rPr sz="1100" b="1" i="0">
                <a:solidFill>
                  <a:srgbClr val="21295C"/>
                </a:solidFill>
                <a:latin typeface="DejaVu Sans"/>
              </a:rPr>
              <a:t>0% → 100% одним шагом</a:t>
            </a:r>
          </a:p>
        </p:txBody>
      </p:sp>
      <p:sp>
        <p:nvSpPr>
          <p:cNvPr id="27" name="TextBox 26"/>
          <p:cNvSpPr txBox="1"/>
          <p:nvPr/>
        </p:nvSpPr>
        <p:spPr>
          <a:xfrm>
            <a:off x="7973568" y="3346704"/>
            <a:ext cx="3566160" cy="969264"/>
          </a:xfrm>
          <a:prstGeom prst="rect">
            <a:avLst/>
          </a:prstGeom>
          <a:noFill/>
        </p:spPr>
        <p:txBody>
          <a:bodyPr wrap="square" lIns="0" rIns="0" tIns="0" bIns="0" anchor="ctr">
            <a:spAutoFit/>
          </a:bodyPr>
          <a:lstStyle/>
          <a:p>
            <a:pPr algn="l">
              <a:lnSpc>
                <a:spcPct val="112000"/>
              </a:lnSpc>
            </a:pPr>
            <a:r>
              <a:rPr sz="1100" b="1" i="0">
                <a:solidFill>
                  <a:srgbClr val="F0AB00"/>
                </a:solidFill>
                <a:latin typeface="DejaVu Sans"/>
              </a:rPr>
              <a:t>с нуля сразу на всю аудиторию поиска в США — пилотной ступени не было ни одной</a:t>
            </a:r>
          </a:p>
        </p:txBody>
      </p:sp>
      <p:sp>
        <p:nvSpPr>
          <p:cNvPr id="28" name="Rounded Rectangle 27"/>
          <p:cNvSpPr/>
          <p:nvPr/>
        </p:nvSpPr>
        <p:spPr>
          <a:xfrm>
            <a:off x="502920" y="4572000"/>
            <a:ext cx="11201400" cy="1207008"/>
          </a:xfrm>
          <a:prstGeom prst="roundRect">
            <a:avLst>
              <a:gd name="adj" fmla="val 22000"/>
            </a:avLst>
          </a:prstGeom>
          <a:solidFill>
            <a:srgbClr val="F4F7FA"/>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 y="4626864"/>
            <a:ext cx="10789920" cy="237744"/>
          </a:xfrm>
          <a:prstGeom prst="rect">
            <a:avLst/>
          </a:prstGeom>
          <a:noFill/>
        </p:spPr>
        <p:txBody>
          <a:bodyPr wrap="square" lIns="0" rIns="0" tIns="0" bIns="0" anchor="t">
            <a:spAutoFit/>
          </a:bodyPr>
          <a:lstStyle/>
          <a:p>
            <a:pPr algn="l">
              <a:lnSpc>
                <a:spcPct val="115000"/>
              </a:lnSpc>
            </a:pPr>
            <a:r>
              <a:rPr sz="1150" b="1" i="0">
                <a:solidFill>
                  <a:srgbClr val="028090"/>
                </a:solidFill>
                <a:latin typeface="DejaVu Sans"/>
              </a:rPr>
              <a:t>РАЗБОР</a:t>
            </a:r>
          </a:p>
        </p:txBody>
      </p:sp>
      <p:sp>
        <p:nvSpPr>
          <p:cNvPr id="30" name="TextBox 29"/>
          <p:cNvSpPr txBox="1"/>
          <p:nvPr/>
        </p:nvSpPr>
        <p:spPr>
          <a:xfrm>
            <a:off x="731520" y="4882896"/>
            <a:ext cx="10789920" cy="841248"/>
          </a:xfrm>
          <a:prstGeom prst="rect">
            <a:avLst/>
          </a:prstGeom>
          <a:noFill/>
        </p:spPr>
        <p:txBody>
          <a:bodyPr wrap="square" lIns="0" rIns="0" tIns="0" bIns="0" anchor="t">
            <a:spAutoFit/>
          </a:bodyPr>
          <a:lstStyle/>
          <a:p>
            <a:pPr algn="l">
              <a:lnSpc>
                <a:spcPct val="116000"/>
              </a:lnSpc>
            </a:pPr>
            <a:r>
              <a:rPr sz="1100" b="0" i="0">
                <a:solidFill>
                  <a:srgbClr val="21295C"/>
                </a:solidFill>
                <a:latin typeface="DejaVu Sans"/>
              </a:rPr>
              <a:t>• Модель не сломалась технически: она сделала ровно то, что делает генеративная система — собрала правдоподобный ответ из корпуса, не отличив шутку от факта, и выдала его с уверенностью авторитетного источника</a:t>
            </a:r>
          </a:p>
          <a:p>
            <a:pPr algn="l">
              <a:lnSpc>
                <a:spcPct val="116000"/>
              </a:lnSpc>
            </a:pPr>
            <a:r>
              <a:rPr sz="1100" b="0" i="0">
                <a:solidFill>
                  <a:srgbClr val="21295C"/>
                </a:solidFill>
                <a:latin typeface="DejaVu Sans"/>
              </a:rPr>
              <a:t>• Это режим «уверенно неправильно», и ловится он не тестом, а наблюдением на живом, но ограниченном трафике</a:t>
            </a:r>
          </a:p>
          <a:p>
            <a:pPr algn="l">
              <a:lnSpc>
                <a:spcPct val="116000"/>
              </a:lnSpc>
            </a:pPr>
            <a:r>
              <a:rPr sz="1100" b="0" i="0">
                <a:solidFill>
                  <a:srgbClr val="21295C"/>
                </a:solidFill>
                <a:latin typeface="DejaVu Sans"/>
              </a:rPr>
              <a:t>• Зрелость основного продукта не даёт права пропустить пилот: она повышает цену пропуска — вся аудитория здесь означает всю базу сразу</a:t>
            </a:r>
          </a:p>
        </p:txBody>
      </p:sp>
      <p:sp>
        <p:nvSpPr>
          <p:cNvPr id="31" name="Rounded Rectangle 30"/>
          <p:cNvSpPr/>
          <p:nvPr/>
        </p:nvSpPr>
        <p:spPr>
          <a:xfrm>
            <a:off x="502920" y="5852160"/>
            <a:ext cx="11201400" cy="512064"/>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22376" y="5907024"/>
            <a:ext cx="10762488" cy="402336"/>
          </a:xfrm>
          <a:prstGeom prst="rect">
            <a:avLst/>
          </a:prstGeom>
          <a:noFill/>
        </p:spPr>
        <p:txBody>
          <a:bodyPr wrap="square" lIns="0" rIns="0" tIns="0" bIns="0" anchor="ctr">
            <a:spAutoFit/>
          </a:bodyPr>
          <a:lstStyle/>
          <a:p>
            <a:pPr algn="l">
              <a:lnSpc>
                <a:spcPct val="120000"/>
              </a:lnSpc>
            </a:pPr>
            <a:r>
              <a:rPr sz="1250" b="1" i="0">
                <a:solidFill>
                  <a:srgbClr val="21295C"/>
                </a:solidFill>
                <a:latin typeface="DejaVu Sans"/>
              </a:rPr>
              <a:t>На одном проценте трафика этот класс сбоя всплыл бы за дни во внутреннем наблюдении. Вместо этого — публичное осмеяние сразу на всей аудитории.</a:t>
            </a:r>
          </a:p>
        </p:txBody>
      </p:sp>
      <p:sp>
        <p:nvSpPr>
          <p:cNvPr id="33" name="TextBox 32"/>
          <p:cNvSpPr txBox="1"/>
          <p:nvPr/>
        </p:nvSpPr>
        <p:spPr>
          <a:xfrm>
            <a:off x="502920" y="6455664"/>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3"/>
              </a:rPr>
              <a:t>Forbes (31 мая 2024) — Google AI Overviews</a:t>
            </a:r>
            <a:r>
              <a:rPr sz="850" i="1">
                <a:solidFill>
                  <a:srgbClr val="1C7293"/>
                </a:solidFill>
                <a:latin typeface="DejaVu Sans"/>
              </a:rPr>
              <a:t>   ·   </a:t>
            </a:r>
            <a:r>
              <a:rPr sz="850" b="1" i="1">
                <a:solidFill>
                  <a:srgbClr val="065A82"/>
                </a:solidFill>
                <a:latin typeface="DejaVu Sans"/>
              </a:rPr>
              <a:t>[2] </a:t>
            </a:r>
            <a:r>
              <a:rPr sz="850" i="1">
                <a:solidFill>
                  <a:srgbClr val="1C7293"/>
                </a:solidFill>
                <a:latin typeface="DejaVu Sans"/>
                <a:hlinkClick r:id="rId4"/>
              </a:rPr>
              <a:t>AndroidPolice — «клей на пиццу» / «есть камни»</a:t>
            </a:r>
          </a:p>
        </p:txBody>
      </p:sp>
      <p:sp>
        <p:nvSpPr>
          <p:cNvPr id="34" name="TextBox 33"/>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27 / 54</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18872"/>
            <a:ext cx="11247120" cy="749808"/>
          </a:xfrm>
          <a:prstGeom prst="rect">
            <a:avLst/>
          </a:prstGeom>
          <a:noFill/>
        </p:spPr>
        <p:txBody>
          <a:bodyPr wrap="square" lIns="0" rIns="0" tIns="0" bIns="0" anchor="t">
            <a:spAutoFit/>
          </a:bodyPr>
          <a:lstStyle/>
          <a:p>
            <a:pPr algn="l">
              <a:lnSpc>
                <a:spcPct val="110000"/>
              </a:lnSpc>
            </a:pPr>
            <a:r>
              <a:rPr sz="2100" b="1" i="0">
                <a:solidFill>
                  <a:srgbClr val="21295C"/>
                </a:solidFill>
                <a:latin typeface="DejaVu Sans"/>
              </a:rPr>
              <a:t>McDonald's и IBM, 2021–2024: пилот на 0,7% сети закрыли — и это было правильно</a:t>
            </a:r>
          </a:p>
        </p:txBody>
      </p:sp>
      <p:sp>
        <p:nvSpPr>
          <p:cNvPr id="3" name="Rounded Rectangle 2"/>
          <p:cNvSpPr/>
          <p:nvPr/>
        </p:nvSpPr>
        <p:spPr>
          <a:xfrm>
            <a:off x="502920" y="932688"/>
            <a:ext cx="7589520" cy="2249424"/>
          </a:xfrm>
          <a:prstGeom prst="roundRect">
            <a:avLst>
              <a:gd name="adj" fmla="val 13550"/>
            </a:avLst>
          </a:prstGeom>
          <a:solidFill>
            <a:srgbClr val="F4F7FA"/>
          </a:solidFill>
          <a:ln w="2032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05840"/>
            <a:ext cx="7132320" cy="256032"/>
          </a:xfrm>
          <a:prstGeom prst="rect">
            <a:avLst/>
          </a:prstGeom>
          <a:noFill/>
        </p:spPr>
        <p:txBody>
          <a:bodyPr wrap="square" lIns="0" rIns="0" tIns="0" bIns="0" anchor="t">
            <a:spAutoFit/>
          </a:bodyPr>
          <a:lstStyle/>
          <a:p>
            <a:pPr algn="l">
              <a:lnSpc>
                <a:spcPct val="115000"/>
              </a:lnSpc>
            </a:pPr>
            <a:r>
              <a:rPr sz="1150" b="1" i="0">
                <a:solidFill>
                  <a:srgbClr val="065A82"/>
                </a:solidFill>
                <a:latin typeface="DejaVu Sans"/>
              </a:rPr>
              <a:t>ЧТО ПРОИЗОШЛО</a:t>
            </a:r>
          </a:p>
        </p:txBody>
      </p:sp>
      <p:sp>
        <p:nvSpPr>
          <p:cNvPr id="5" name="TextBox 4"/>
          <p:cNvSpPr txBox="1"/>
          <p:nvPr/>
        </p:nvSpPr>
        <p:spPr>
          <a:xfrm>
            <a:off x="731520" y="1298448"/>
            <a:ext cx="7132320" cy="1792224"/>
          </a:xfrm>
          <a:prstGeom prst="rect">
            <a:avLst/>
          </a:prstGeom>
          <a:noFill/>
        </p:spPr>
        <p:txBody>
          <a:bodyPr wrap="square" lIns="0" rIns="0" tIns="0" bIns="0" anchor="t">
            <a:spAutoFit/>
          </a:bodyPr>
          <a:lstStyle/>
          <a:p>
            <a:pPr algn="l">
              <a:lnSpc>
                <a:spcPct val="118000"/>
              </a:lnSpc>
            </a:pPr>
            <a:r>
              <a:rPr sz="1150" b="0" i="0">
                <a:solidFill>
                  <a:srgbClr val="21295C"/>
                </a:solidFill>
                <a:latin typeface="DejaVu Sans"/>
              </a:rPr>
              <a:t>С конца 2021 года сеть McDonald's вместе с корпорацией IBM испытывала приём заказов голосом у окна автораздачи: посетитель говорит заказ, распознаёт его система, а не сотрудник. Испытание держали примерно на 100 ресторанах из почти 13 800 в США — это 0,7% сети — и продолжали два с половиной года. Всё это время в сеть попадали ролики со сбоями: бекон в мороженом, девять чаёв вместо одного, перепутанные заказы соседних полос. В июне 2024 партнёрство прекратили. Закрыли при этом подход, а не цель: голосовая автоматизация осталась в планах.</a:t>
            </a:r>
          </a:p>
        </p:txBody>
      </p:sp>
      <p:sp>
        <p:nvSpPr>
          <p:cNvPr id="6" name="Rounded Rectangle 5"/>
          <p:cNvSpPr/>
          <p:nvPr/>
        </p:nvSpPr>
        <p:spPr>
          <a:xfrm>
            <a:off x="8275320" y="932688"/>
            <a:ext cx="3429000" cy="1078992"/>
          </a:xfrm>
          <a:prstGeom prst="roundRect">
            <a:avLst>
              <a:gd name="adj" fmla="val 22000"/>
            </a:avLst>
          </a:prstGeom>
          <a:solidFill>
            <a:srgbClr val="FFFFFF"/>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27-mcdonalds-real-source.png"/>
          <p:cNvPicPr>
            <a:picLocks noChangeAspect="1"/>
          </p:cNvPicPr>
          <p:nvPr/>
        </p:nvPicPr>
        <p:blipFill>
          <a:blip r:embed="rId2"/>
          <a:stretch>
            <a:fillRect/>
          </a:stretch>
        </p:blipFill>
        <p:spPr>
          <a:xfrm>
            <a:off x="9540457" y="1078992"/>
            <a:ext cx="898723" cy="786383"/>
          </a:xfrm>
          <a:prstGeom prst="rect">
            <a:avLst/>
          </a:prstGeom>
        </p:spPr>
      </p:pic>
      <p:sp>
        <p:nvSpPr>
          <p:cNvPr id="8" name="Rounded Rectangle 7"/>
          <p:cNvSpPr/>
          <p:nvPr/>
        </p:nvSpPr>
        <p:spPr>
          <a:xfrm>
            <a:off x="8275320" y="2103120"/>
            <a:ext cx="3429000" cy="1078992"/>
          </a:xfrm>
          <a:prstGeom prst="roundRect">
            <a:avLst>
              <a:gd name="adj" fmla="val 22000"/>
            </a:avLst>
          </a:prstGeom>
          <a:solidFill>
            <a:srgbClr val="F4F7FA"/>
          </a:solidFill>
          <a:ln w="2032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66760" y="2157984"/>
            <a:ext cx="3246120" cy="530352"/>
          </a:xfrm>
          <a:prstGeom prst="rect">
            <a:avLst/>
          </a:prstGeom>
          <a:noFill/>
        </p:spPr>
        <p:txBody>
          <a:bodyPr wrap="square" lIns="0" rIns="0" tIns="0" bIns="0" anchor="t">
            <a:spAutoFit/>
          </a:bodyPr>
          <a:lstStyle/>
          <a:p>
            <a:pPr algn="ctr">
              <a:lnSpc>
                <a:spcPct val="100000"/>
              </a:lnSpc>
            </a:pPr>
            <a:r>
              <a:rPr sz="3400" b="1" i="0">
                <a:solidFill>
                  <a:srgbClr val="F0AB00"/>
                </a:solidFill>
                <a:latin typeface="DejaVu Sans"/>
              </a:rPr>
              <a:t>0,7%</a:t>
            </a:r>
          </a:p>
        </p:txBody>
      </p:sp>
      <p:sp>
        <p:nvSpPr>
          <p:cNvPr id="10" name="TextBox 9"/>
          <p:cNvSpPr txBox="1"/>
          <p:nvPr/>
        </p:nvSpPr>
        <p:spPr>
          <a:xfrm>
            <a:off x="8366760" y="2706624"/>
            <a:ext cx="3246120" cy="420624"/>
          </a:xfrm>
          <a:prstGeom prst="rect">
            <a:avLst/>
          </a:prstGeom>
          <a:noFill/>
        </p:spPr>
        <p:txBody>
          <a:bodyPr wrap="square" lIns="0" rIns="0" tIns="0" bIns="0" anchor="t">
            <a:spAutoFit/>
          </a:bodyPr>
          <a:lstStyle/>
          <a:p>
            <a:pPr algn="ctr">
              <a:lnSpc>
                <a:spcPct val="110000"/>
              </a:lnSpc>
            </a:pPr>
            <a:r>
              <a:rPr sz="1000" b="0" i="1">
                <a:solidFill>
                  <a:srgbClr val="5B6678"/>
                </a:solidFill>
                <a:latin typeface="DejaVu Sans"/>
              </a:rPr>
              <a:t>≈100 из ≈13 800 ресторанов США · пилот 2,5 года</a:t>
            </a:r>
          </a:p>
        </p:txBody>
      </p:sp>
      <p:sp>
        <p:nvSpPr>
          <p:cNvPr id="11" name="Rounded Rectangle 10"/>
          <p:cNvSpPr/>
          <p:nvPr/>
        </p:nvSpPr>
        <p:spPr>
          <a:xfrm>
            <a:off x="502920" y="3273552"/>
            <a:ext cx="11201400" cy="1591056"/>
          </a:xfrm>
          <a:prstGeom prst="roundRect">
            <a:avLst>
              <a:gd name="adj" fmla="val 19157"/>
            </a:avLst>
          </a:prstGeom>
          <a:solidFill>
            <a:srgbClr val="F4F7FA"/>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3328416"/>
            <a:ext cx="10789920" cy="237744"/>
          </a:xfrm>
          <a:prstGeom prst="rect">
            <a:avLst/>
          </a:prstGeom>
          <a:noFill/>
        </p:spPr>
        <p:txBody>
          <a:bodyPr wrap="square" lIns="0" rIns="0" tIns="0" bIns="0" anchor="t">
            <a:spAutoFit/>
          </a:bodyPr>
          <a:lstStyle/>
          <a:p>
            <a:pPr algn="l">
              <a:lnSpc>
                <a:spcPct val="115000"/>
              </a:lnSpc>
            </a:pPr>
            <a:r>
              <a:rPr sz="1150" b="1" i="0">
                <a:solidFill>
                  <a:srgbClr val="028090"/>
                </a:solidFill>
                <a:latin typeface="DejaVu Sans"/>
              </a:rPr>
              <a:t>РАЗБОР</a:t>
            </a:r>
          </a:p>
        </p:txBody>
      </p:sp>
      <p:sp>
        <p:nvSpPr>
          <p:cNvPr id="13" name="TextBox 12"/>
          <p:cNvSpPr txBox="1"/>
          <p:nvPr/>
        </p:nvSpPr>
        <p:spPr>
          <a:xfrm>
            <a:off x="731520" y="3602736"/>
            <a:ext cx="10789920" cy="1188720"/>
          </a:xfrm>
          <a:prstGeom prst="rect">
            <a:avLst/>
          </a:prstGeom>
          <a:noFill/>
        </p:spPr>
        <p:txBody>
          <a:bodyPr wrap="square" lIns="0" rIns="0" tIns="0" bIns="0" anchor="t">
            <a:spAutoFit/>
          </a:bodyPr>
          <a:lstStyle/>
          <a:p>
            <a:pPr algn="l">
              <a:lnSpc>
                <a:spcPct val="116000"/>
              </a:lnSpc>
            </a:pPr>
            <a:r>
              <a:rPr sz="1100" b="0" i="0">
                <a:solidFill>
                  <a:srgbClr val="21295C"/>
                </a:solidFill>
                <a:latin typeface="DejaVu Sans"/>
              </a:rPr>
              <a:t>• Знаменатель обязателен: «100 ресторанов» без «из 13 800» читается как масштабное внедрение, а со знаменателем — как узкая полоса, специально удержанная узкой</a:t>
            </a:r>
          </a:p>
          <a:p>
            <a:pPr algn="l">
              <a:lnSpc>
                <a:spcPct val="116000"/>
              </a:lnSpc>
            </a:pPr>
            <a:r>
              <a:rPr sz="1100" b="0" i="0">
                <a:solidFill>
                  <a:srgbClr val="21295C"/>
                </a:solidFill>
                <a:latin typeface="DejaVu Sans"/>
              </a:rPr>
              <a:t>• Потолок здесь понятный: распознавание речи в шуме, с разными выговорами и посторонними голосами. Такой потолок не двигается дополнительным временем</a:t>
            </a:r>
          </a:p>
          <a:p>
            <a:pPr algn="l">
              <a:lnSpc>
                <a:spcPct val="116000"/>
              </a:lnSpc>
            </a:pPr>
            <a:r>
              <a:rPr sz="1100" b="0" i="0">
                <a:solidFill>
                  <a:srgbClr val="21295C"/>
                </a:solidFill>
                <a:latin typeface="DejaVu Sans"/>
              </a:rPr>
              <a:t>• Закрыт конкретный технический путь, а не задача — это разные решения, и смешивать их дорого</a:t>
            </a:r>
          </a:p>
          <a:p>
            <a:pPr algn="l">
              <a:lnSpc>
                <a:spcPct val="116000"/>
              </a:lnSpc>
            </a:pPr>
            <a:r>
              <a:rPr sz="1100" b="0" i="0">
                <a:solidFill>
                  <a:srgbClr val="21295C"/>
                </a:solidFill>
                <a:latin typeface="DejaVu Sans"/>
              </a:rPr>
              <a:t>• Зеркало предыдущего случая: там пропустили пилот целиком, здесь прошли его честно и прочитали сигнал</a:t>
            </a:r>
          </a:p>
        </p:txBody>
      </p:sp>
      <p:sp>
        <p:nvSpPr>
          <p:cNvPr id="14" name="Rounded Rectangle 13"/>
          <p:cNvSpPr/>
          <p:nvPr/>
        </p:nvSpPr>
        <p:spPr>
          <a:xfrm>
            <a:off x="502920" y="4956048"/>
            <a:ext cx="11201400" cy="859536"/>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2376" y="5010912"/>
            <a:ext cx="10762488" cy="749808"/>
          </a:xfrm>
          <a:prstGeom prst="rect">
            <a:avLst/>
          </a:prstGeom>
          <a:noFill/>
        </p:spPr>
        <p:txBody>
          <a:bodyPr wrap="square" lIns="0" rIns="0" tIns="0" bIns="0" anchor="ctr">
            <a:spAutoFit/>
          </a:bodyPr>
          <a:lstStyle/>
          <a:p>
            <a:pPr algn="l">
              <a:lnSpc>
                <a:spcPct val="120000"/>
              </a:lnSpc>
            </a:pPr>
            <a:r>
              <a:rPr sz="1300" b="1" i="0">
                <a:solidFill>
                  <a:srgbClr val="21295C"/>
                </a:solidFill>
                <a:latin typeface="DejaVu Sans"/>
              </a:rPr>
              <a:t>Сигнал прочитан верно: длинный пилот на малой доле, продолжающий публично сбоить, означает потолок подхода, а не нехватку данных. Это и есть сработавший рубеж «продолжать или закрыть».</a:t>
            </a:r>
          </a:p>
        </p:txBody>
      </p:sp>
      <p:sp>
        <p:nvSpPr>
          <p:cNvPr id="16" name="TextBox 15"/>
          <p:cNvSpPr txBox="1"/>
          <p:nvPr/>
        </p:nvSpPr>
        <p:spPr>
          <a:xfrm>
            <a:off x="502920" y="6455664"/>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3"/>
              </a:rPr>
              <a:t>CNBC (17 июня 2024) — McDonald's × IBM</a:t>
            </a:r>
            <a:r>
              <a:rPr sz="850" i="1">
                <a:solidFill>
                  <a:srgbClr val="1C7293"/>
                </a:solidFill>
                <a:latin typeface="DejaVu Sans"/>
              </a:rPr>
              <a:t>   ·   </a:t>
            </a:r>
            <a:r>
              <a:rPr sz="850" b="1" i="1">
                <a:solidFill>
                  <a:srgbClr val="065A82"/>
                </a:solidFill>
                <a:latin typeface="DejaVu Sans"/>
              </a:rPr>
              <a:t>[2] </a:t>
            </a:r>
            <a:r>
              <a:rPr sz="850" i="1">
                <a:solidFill>
                  <a:srgbClr val="1C7293"/>
                </a:solidFill>
                <a:latin typeface="DejaVu Sans"/>
                <a:hlinkClick r:id="rId4"/>
              </a:rPr>
              <a:t>Nation's Restaurant News — детали закрытия пилота</a:t>
            </a:r>
          </a:p>
        </p:txBody>
      </p:sp>
      <p:sp>
        <p:nvSpPr>
          <p:cNvPr id="17" name="TextBox 16"/>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28 / 54</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extBox 1"/>
          <p:cNvSpPr txBox="1"/>
          <p:nvPr/>
        </p:nvSpPr>
        <p:spPr>
          <a:xfrm>
            <a:off x="9464040" y="91440"/>
            <a:ext cx="2651760" cy="1188720"/>
          </a:xfrm>
          <a:prstGeom prst="rect">
            <a:avLst/>
          </a:prstGeom>
          <a:noFill/>
        </p:spPr>
        <p:txBody>
          <a:bodyPr wrap="square" lIns="0" rIns="0" tIns="0" bIns="0" anchor="ctr">
            <a:spAutoFit/>
          </a:bodyPr>
          <a:lstStyle/>
          <a:p>
            <a:pPr algn="ctr">
              <a:lnSpc>
                <a:spcPct val="115000"/>
              </a:lnSpc>
            </a:pPr>
            <a:r>
              <a:rPr sz="9000" b="1" i="0">
                <a:solidFill>
                  <a:srgbClr val="D9E2EC"/>
                </a:solidFill>
                <a:latin typeface="DejaVu Sans"/>
              </a:rPr>
              <a:t>4</a:t>
            </a:r>
          </a:p>
        </p:txBody>
      </p:sp>
      <p:sp>
        <p:nvSpPr>
          <p:cNvPr id="3" name="Rounded Rectangle 2"/>
          <p:cNvSpPr/>
          <p:nvPr/>
        </p:nvSpPr>
        <p:spPr>
          <a:xfrm>
            <a:off x="7635240" y="1234440"/>
            <a:ext cx="4069080" cy="4160520"/>
          </a:xfrm>
          <a:prstGeom prst="roundRect">
            <a:avLst>
              <a:gd name="adj" fmla="val 749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28-woman-yelling-cat.jpg"/>
          <p:cNvPicPr>
            <a:picLocks noChangeAspect="1"/>
          </p:cNvPicPr>
          <p:nvPr/>
        </p:nvPicPr>
        <p:blipFill>
          <a:blip r:embed="rId2"/>
          <a:stretch>
            <a:fillRect/>
          </a:stretch>
        </p:blipFill>
        <p:spPr>
          <a:xfrm>
            <a:off x="7763256" y="2086674"/>
            <a:ext cx="3813048" cy="2456052"/>
          </a:xfrm>
          <a:prstGeom prst="rect">
            <a:avLst/>
          </a:prstGeom>
        </p:spPr>
      </p:pic>
      <p:sp>
        <p:nvSpPr>
          <p:cNvPr id="5" name="TextBox 4"/>
          <p:cNvSpPr txBox="1"/>
          <p:nvPr/>
        </p:nvSpPr>
        <p:spPr>
          <a:xfrm>
            <a:off x="685800" y="1417320"/>
            <a:ext cx="6675120" cy="502920"/>
          </a:xfrm>
          <a:prstGeom prst="rect">
            <a:avLst/>
          </a:prstGeom>
          <a:noFill/>
        </p:spPr>
        <p:txBody>
          <a:bodyPr wrap="square" lIns="0" rIns="0" tIns="0" bIns="0" anchor="t">
            <a:spAutoFit/>
          </a:bodyPr>
          <a:lstStyle/>
          <a:p>
            <a:pPr algn="l">
              <a:lnSpc>
                <a:spcPct val="115000"/>
              </a:lnSpc>
            </a:pPr>
            <a:r>
              <a:rPr sz="2000" b="1" i="0">
                <a:solidFill>
                  <a:srgbClr val="028090"/>
                </a:solidFill>
                <a:latin typeface="DejaVu Sans"/>
              </a:rPr>
              <a:t>РАЗДЕЛ 4</a:t>
            </a:r>
          </a:p>
        </p:txBody>
      </p:sp>
      <p:sp>
        <p:nvSpPr>
          <p:cNvPr id="6" name="TextBox 5"/>
          <p:cNvSpPr txBox="1"/>
          <p:nvPr/>
        </p:nvSpPr>
        <p:spPr>
          <a:xfrm>
            <a:off x="685800" y="2395728"/>
            <a:ext cx="6675120" cy="1600200"/>
          </a:xfrm>
          <a:prstGeom prst="rect">
            <a:avLst/>
          </a:prstGeom>
          <a:noFill/>
        </p:spPr>
        <p:txBody>
          <a:bodyPr wrap="square" lIns="0" rIns="0" tIns="0" bIns="0" anchor="t">
            <a:spAutoFit/>
          </a:bodyPr>
          <a:lstStyle/>
          <a:p>
            <a:pPr algn="l">
              <a:lnSpc>
                <a:spcPct val="108000"/>
              </a:lnSpc>
            </a:pPr>
            <a:r>
              <a:rPr sz="3000" b="1" i="0">
                <a:solidFill>
                  <a:srgbClr val="21295C"/>
                </a:solidFill>
                <a:latin typeface="DejaVu Sans"/>
              </a:rPr>
              <a:t>Измерение: отличить «сработало» от «показалось»</a:t>
            </a:r>
          </a:p>
        </p:txBody>
      </p:sp>
      <p:sp>
        <p:nvSpPr>
          <p:cNvPr id="7" name="Rounded Rectangle 6"/>
          <p:cNvSpPr/>
          <p:nvPr/>
        </p:nvSpPr>
        <p:spPr>
          <a:xfrm>
            <a:off x="713232" y="3840480"/>
            <a:ext cx="3291840" cy="384048"/>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250" b="1">
                <a:solidFill>
                  <a:srgbClr val="21295C"/>
                </a:solidFill>
                <a:latin typeface="DejaVu Sans"/>
              </a:rPr>
              <a:t>1 база · 2 практики · 2 провала</a:t>
            </a:r>
          </a:p>
        </p:txBody>
      </p:sp>
      <p:sp>
        <p:nvSpPr>
          <p:cNvPr id="8" name="TextBox 7"/>
          <p:cNvSpPr txBox="1"/>
          <p:nvPr/>
        </p:nvSpPr>
        <p:spPr>
          <a:xfrm>
            <a:off x="713232" y="4389120"/>
            <a:ext cx="6720840" cy="1417320"/>
          </a:xfrm>
          <a:prstGeom prst="rect">
            <a:avLst/>
          </a:prstGeom>
          <a:noFill/>
        </p:spPr>
        <p:txBody>
          <a:bodyPr wrap="square" lIns="0" rIns="0" tIns="0" bIns="0" anchor="t">
            <a:spAutoFit/>
          </a:bodyPr>
          <a:lstStyle/>
          <a:p>
            <a:pPr algn="l">
              <a:lnSpc>
                <a:spcPct val="116000"/>
              </a:lnSpc>
            </a:pPr>
            <a:r>
              <a:rPr sz="1500" b="0" i="1">
                <a:solidFill>
                  <a:srgbClr val="1C7293"/>
                </a:solidFill>
                <a:latin typeface="DejaVu Sans"/>
              </a:rPr>
              <a:t>Без измерения решение о продукте принимают по впечатлению, а цену узнают после запуска: в 2026 году 44% команд выключали уже работавшие ИИ-функции, обнаружив, что расходы на них выше пользы. Этот раздел — про то, как узнавать раньше.</a:t>
            </a:r>
          </a:p>
        </p:txBody>
      </p:sp>
      <p:sp>
        <p:nvSpPr>
          <p:cNvPr id="9" name="Rounded Rectangle 8"/>
          <p:cNvSpPr/>
          <p:nvPr/>
        </p:nvSpPr>
        <p:spPr>
          <a:xfrm>
            <a:off x="502920"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1208"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0</a:t>
            </a:r>
          </a:p>
        </p:txBody>
      </p:sp>
      <p:sp>
        <p:nvSpPr>
          <p:cNvPr id="11" name="TextBox 10"/>
          <p:cNvSpPr txBox="1"/>
          <p:nvPr/>
        </p:nvSpPr>
        <p:spPr>
          <a:xfrm>
            <a:off x="521208" y="6217920"/>
            <a:ext cx="1283589" cy="274320"/>
          </a:xfrm>
          <a:prstGeom prst="rect">
            <a:avLst/>
          </a:prstGeom>
          <a:noFill/>
        </p:spPr>
        <p:txBody>
          <a:bodyPr wrap="square" lIns="0" rIns="0" tIns="0" bIns="0" anchor="t">
            <a:spAutoFit/>
          </a:bodyPr>
          <a:lstStyle/>
          <a:p>
            <a:pPr algn="ctr">
              <a:lnSpc>
                <a:spcPct val="92000"/>
              </a:lnSpc>
            </a:pPr>
            <a:r>
              <a:rPr sz="900" b="0" i="0">
                <a:solidFill>
                  <a:srgbClr val="5B6678"/>
                </a:solidFill>
                <a:latin typeface="DejaVu Sans"/>
              </a:rPr>
              <a:t>Введение</a:t>
            </a:r>
          </a:p>
        </p:txBody>
      </p:sp>
      <p:sp>
        <p:nvSpPr>
          <p:cNvPr id="12" name="Rounded Rectangle 11"/>
          <p:cNvSpPr/>
          <p:nvPr/>
        </p:nvSpPr>
        <p:spPr>
          <a:xfrm>
            <a:off x="1914525"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932813"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1</a:t>
            </a:r>
          </a:p>
        </p:txBody>
      </p:sp>
      <p:sp>
        <p:nvSpPr>
          <p:cNvPr id="14" name="TextBox 13"/>
          <p:cNvSpPr txBox="1"/>
          <p:nvPr/>
        </p:nvSpPr>
        <p:spPr>
          <a:xfrm>
            <a:off x="1932813" y="6217920"/>
            <a:ext cx="1283589" cy="274320"/>
          </a:xfrm>
          <a:prstGeom prst="rect">
            <a:avLst/>
          </a:prstGeom>
          <a:noFill/>
        </p:spPr>
        <p:txBody>
          <a:bodyPr wrap="square" lIns="0" rIns="0" tIns="0" bIns="0" anchor="t">
            <a:spAutoFit/>
          </a:bodyPr>
          <a:lstStyle/>
          <a:p>
            <a:pPr algn="ctr">
              <a:lnSpc>
                <a:spcPct val="92000"/>
              </a:lnSpc>
            </a:pPr>
            <a:r>
              <a:rPr sz="800" b="0" i="0">
                <a:solidFill>
                  <a:srgbClr val="5B6678"/>
                </a:solidFill>
                <a:latin typeface="DejaVu Sans"/>
              </a:rPr>
              <a:t>Исследование</a:t>
            </a:r>
          </a:p>
        </p:txBody>
      </p:sp>
      <p:sp>
        <p:nvSpPr>
          <p:cNvPr id="15" name="Rounded Rectangle 14"/>
          <p:cNvSpPr/>
          <p:nvPr/>
        </p:nvSpPr>
        <p:spPr>
          <a:xfrm>
            <a:off x="3326130"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44418"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2</a:t>
            </a:r>
          </a:p>
        </p:txBody>
      </p:sp>
      <p:sp>
        <p:nvSpPr>
          <p:cNvPr id="17" name="TextBox 16"/>
          <p:cNvSpPr txBox="1"/>
          <p:nvPr/>
        </p:nvSpPr>
        <p:spPr>
          <a:xfrm>
            <a:off x="3344418" y="6217920"/>
            <a:ext cx="1283589" cy="274320"/>
          </a:xfrm>
          <a:prstGeom prst="rect">
            <a:avLst/>
          </a:prstGeom>
          <a:noFill/>
        </p:spPr>
        <p:txBody>
          <a:bodyPr wrap="square" lIns="0" rIns="0" tIns="0" bIns="0" anchor="t">
            <a:spAutoFit/>
          </a:bodyPr>
          <a:lstStyle/>
          <a:p>
            <a:pPr algn="ctr">
              <a:lnSpc>
                <a:spcPct val="92000"/>
              </a:lnSpc>
            </a:pPr>
            <a:r>
              <a:rPr sz="900" b="0" i="0">
                <a:solidFill>
                  <a:srgbClr val="5B6678"/>
                </a:solidFill>
                <a:latin typeface="DejaVu Sans"/>
              </a:rPr>
              <a:t>Дизайн</a:t>
            </a:r>
          </a:p>
        </p:txBody>
      </p:sp>
      <p:sp>
        <p:nvSpPr>
          <p:cNvPr id="18" name="Rounded Rectangle 17"/>
          <p:cNvSpPr/>
          <p:nvPr/>
        </p:nvSpPr>
        <p:spPr>
          <a:xfrm>
            <a:off x="4737735"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56023"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3</a:t>
            </a:r>
          </a:p>
        </p:txBody>
      </p:sp>
      <p:sp>
        <p:nvSpPr>
          <p:cNvPr id="20" name="TextBox 19"/>
          <p:cNvSpPr txBox="1"/>
          <p:nvPr/>
        </p:nvSpPr>
        <p:spPr>
          <a:xfrm>
            <a:off x="4756023" y="6217920"/>
            <a:ext cx="1283589" cy="274320"/>
          </a:xfrm>
          <a:prstGeom prst="rect">
            <a:avLst/>
          </a:prstGeom>
          <a:noFill/>
        </p:spPr>
        <p:txBody>
          <a:bodyPr wrap="square" lIns="0" rIns="0" tIns="0" bIns="0" anchor="t">
            <a:spAutoFit/>
          </a:bodyPr>
          <a:lstStyle/>
          <a:p>
            <a:pPr algn="ctr">
              <a:lnSpc>
                <a:spcPct val="92000"/>
              </a:lnSpc>
            </a:pPr>
            <a:r>
              <a:rPr sz="800" b="0" i="0">
                <a:solidFill>
                  <a:srgbClr val="5B6678"/>
                </a:solidFill>
                <a:latin typeface="DejaVu Sans"/>
              </a:rPr>
              <a:t>Сборка и запуск</a:t>
            </a:r>
          </a:p>
        </p:txBody>
      </p:sp>
      <p:sp>
        <p:nvSpPr>
          <p:cNvPr id="21" name="Rounded Rectangle 20"/>
          <p:cNvSpPr/>
          <p:nvPr/>
        </p:nvSpPr>
        <p:spPr>
          <a:xfrm>
            <a:off x="6149340" y="5989320"/>
            <a:ext cx="1320165" cy="530352"/>
          </a:xfrm>
          <a:prstGeom prst="roundRect">
            <a:avLst>
              <a:gd name="adj" fmla="val 1200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67628" y="6035040"/>
            <a:ext cx="1283589" cy="164592"/>
          </a:xfrm>
          <a:prstGeom prst="rect">
            <a:avLst/>
          </a:prstGeom>
          <a:noFill/>
        </p:spPr>
        <p:txBody>
          <a:bodyPr wrap="square" lIns="0" rIns="0" tIns="0" bIns="0" anchor="t">
            <a:spAutoFit/>
          </a:bodyPr>
          <a:lstStyle/>
          <a:p>
            <a:pPr algn="ctr">
              <a:lnSpc>
                <a:spcPct val="115000"/>
              </a:lnSpc>
            </a:pPr>
            <a:r>
              <a:rPr sz="1050" b="1" i="0">
                <a:solidFill>
                  <a:srgbClr val="21295C"/>
                </a:solidFill>
                <a:latin typeface="DejaVu Sans"/>
              </a:rPr>
              <a:t>4</a:t>
            </a:r>
          </a:p>
        </p:txBody>
      </p:sp>
      <p:sp>
        <p:nvSpPr>
          <p:cNvPr id="23" name="TextBox 22"/>
          <p:cNvSpPr txBox="1"/>
          <p:nvPr/>
        </p:nvSpPr>
        <p:spPr>
          <a:xfrm>
            <a:off x="6167628" y="6217920"/>
            <a:ext cx="1283589" cy="274320"/>
          </a:xfrm>
          <a:prstGeom prst="rect">
            <a:avLst/>
          </a:prstGeom>
          <a:noFill/>
        </p:spPr>
        <p:txBody>
          <a:bodyPr wrap="square" lIns="0" rIns="0" tIns="0" bIns="0" anchor="t">
            <a:spAutoFit/>
          </a:bodyPr>
          <a:lstStyle/>
          <a:p>
            <a:pPr algn="ctr">
              <a:lnSpc>
                <a:spcPct val="92000"/>
              </a:lnSpc>
            </a:pPr>
            <a:r>
              <a:rPr sz="900" b="1" i="0">
                <a:solidFill>
                  <a:srgbClr val="21295C"/>
                </a:solidFill>
                <a:latin typeface="DejaVu Sans"/>
              </a:rPr>
              <a:t>Измерение</a:t>
            </a:r>
          </a:p>
        </p:txBody>
      </p:sp>
      <p:sp>
        <p:nvSpPr>
          <p:cNvPr id="24" name="Rounded Rectangle 23"/>
          <p:cNvSpPr/>
          <p:nvPr/>
        </p:nvSpPr>
        <p:spPr>
          <a:xfrm>
            <a:off x="7560945"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79233"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5</a:t>
            </a:r>
          </a:p>
        </p:txBody>
      </p:sp>
      <p:sp>
        <p:nvSpPr>
          <p:cNvPr id="26" name="TextBox 25"/>
          <p:cNvSpPr txBox="1"/>
          <p:nvPr/>
        </p:nvSpPr>
        <p:spPr>
          <a:xfrm>
            <a:off x="7579233" y="6217920"/>
            <a:ext cx="1283589" cy="274320"/>
          </a:xfrm>
          <a:prstGeom prst="rect">
            <a:avLst/>
          </a:prstGeom>
          <a:noFill/>
        </p:spPr>
        <p:txBody>
          <a:bodyPr wrap="square" lIns="0" rIns="0" tIns="0" bIns="0" anchor="t">
            <a:spAutoFit/>
          </a:bodyPr>
          <a:lstStyle/>
          <a:p>
            <a:pPr algn="ctr">
              <a:lnSpc>
                <a:spcPct val="92000"/>
              </a:lnSpc>
            </a:pPr>
            <a:r>
              <a:rPr sz="900" b="0" i="0">
                <a:solidFill>
                  <a:srgbClr val="5B6678"/>
                </a:solidFill>
                <a:latin typeface="DejaVu Sans"/>
              </a:rPr>
              <a:t>Поддержка</a:t>
            </a:r>
          </a:p>
        </p:txBody>
      </p:sp>
      <p:sp>
        <p:nvSpPr>
          <p:cNvPr id="27" name="Rounded Rectangle 26"/>
          <p:cNvSpPr/>
          <p:nvPr/>
        </p:nvSpPr>
        <p:spPr>
          <a:xfrm>
            <a:off x="8972550"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90838"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6</a:t>
            </a:r>
          </a:p>
        </p:txBody>
      </p:sp>
      <p:sp>
        <p:nvSpPr>
          <p:cNvPr id="29" name="TextBox 28"/>
          <p:cNvSpPr txBox="1"/>
          <p:nvPr/>
        </p:nvSpPr>
        <p:spPr>
          <a:xfrm>
            <a:off x="8990838" y="6217920"/>
            <a:ext cx="1283589" cy="274320"/>
          </a:xfrm>
          <a:prstGeom prst="rect">
            <a:avLst/>
          </a:prstGeom>
          <a:noFill/>
        </p:spPr>
        <p:txBody>
          <a:bodyPr wrap="square" lIns="0" rIns="0" tIns="0" bIns="0" anchor="t">
            <a:spAutoFit/>
          </a:bodyPr>
          <a:lstStyle/>
          <a:p>
            <a:pPr algn="ctr">
              <a:lnSpc>
                <a:spcPct val="92000"/>
              </a:lnSpc>
            </a:pPr>
            <a:r>
              <a:rPr sz="800" b="0" i="0">
                <a:solidFill>
                  <a:srgbClr val="5B6678"/>
                </a:solidFill>
                <a:latin typeface="DejaVu Sans"/>
              </a:rPr>
              <a:t>Управление</a:t>
            </a:r>
          </a:p>
        </p:txBody>
      </p:sp>
      <p:sp>
        <p:nvSpPr>
          <p:cNvPr id="30" name="Rounded Rectangle 29"/>
          <p:cNvSpPr/>
          <p:nvPr/>
        </p:nvSpPr>
        <p:spPr>
          <a:xfrm>
            <a:off x="10384155"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402443"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7</a:t>
            </a:r>
          </a:p>
        </p:txBody>
      </p:sp>
      <p:sp>
        <p:nvSpPr>
          <p:cNvPr id="32" name="TextBox 31"/>
          <p:cNvSpPr txBox="1"/>
          <p:nvPr/>
        </p:nvSpPr>
        <p:spPr>
          <a:xfrm>
            <a:off x="10402443" y="6217920"/>
            <a:ext cx="1283589" cy="274320"/>
          </a:xfrm>
          <a:prstGeom prst="rect">
            <a:avLst/>
          </a:prstGeom>
          <a:noFill/>
        </p:spPr>
        <p:txBody>
          <a:bodyPr wrap="square" lIns="0" rIns="0" tIns="0" bIns="0" anchor="t">
            <a:spAutoFit/>
          </a:bodyPr>
          <a:lstStyle/>
          <a:p>
            <a:pPr algn="ctr">
              <a:lnSpc>
                <a:spcPct val="92000"/>
              </a:lnSpc>
            </a:pPr>
            <a:r>
              <a:rPr sz="900" b="0" i="0">
                <a:solidFill>
                  <a:srgbClr val="5B6678"/>
                </a:solidFill>
                <a:latin typeface="DejaVu Sans"/>
              </a:rPr>
              <a:t>Обобщение</a:t>
            </a:r>
          </a:p>
        </p:txBody>
      </p:sp>
      <p:sp>
        <p:nvSpPr>
          <p:cNvPr id="33" name="TextBox 32"/>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29 / 54</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11247120" cy="713232"/>
          </a:xfrm>
          <a:prstGeom prst="rect">
            <a:avLst/>
          </a:prstGeom>
          <a:noFill/>
        </p:spPr>
        <p:txBody>
          <a:bodyPr wrap="square" lIns="0" rIns="0" tIns="0" bIns="0" anchor="t">
            <a:spAutoFit/>
          </a:bodyPr>
          <a:lstStyle/>
          <a:p>
            <a:pPr algn="l">
              <a:lnSpc>
                <a:spcPct val="110000"/>
              </a:lnSpc>
            </a:pPr>
            <a:r>
              <a:rPr sz="2300" b="1" i="0">
                <a:solidFill>
                  <a:srgbClr val="21295C"/>
                </a:solidFill>
                <a:latin typeface="DejaVu Sans"/>
              </a:rPr>
              <a:t>Контролируемый эксперимент: две случайные группы</a:t>
            </a:r>
          </a:p>
        </p:txBody>
      </p:sp>
      <p:sp>
        <p:nvSpPr>
          <p:cNvPr id="3" name="Rounded Rectangle 2"/>
          <p:cNvSpPr/>
          <p:nvPr/>
        </p:nvSpPr>
        <p:spPr>
          <a:xfrm>
            <a:off x="502920" y="1024128"/>
            <a:ext cx="11201400" cy="676656"/>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1078992"/>
            <a:ext cx="10789920" cy="566928"/>
          </a:xfrm>
          <a:prstGeom prst="rect">
            <a:avLst/>
          </a:prstGeom>
          <a:noFill/>
        </p:spPr>
        <p:txBody>
          <a:bodyPr wrap="square" lIns="0" rIns="0" tIns="0" bIns="0" anchor="ctr">
            <a:spAutoFit/>
          </a:bodyPr>
          <a:lstStyle/>
          <a:p>
            <a:pPr algn="l">
              <a:lnSpc>
                <a:spcPct val="116000"/>
              </a:lnSpc>
            </a:pPr>
            <a:r>
              <a:rPr sz="1250" b="1" i="0">
                <a:solidFill>
                  <a:srgbClr val="065A82"/>
                </a:solidFill>
                <a:latin typeface="DejaVu Sans"/>
              </a:rPr>
              <a:t>Зачем это нужно. </a:t>
            </a:r>
            <a:r>
              <a:rPr sz="1250" b="0" i="0">
                <a:solidFill>
                  <a:srgbClr val="21295C"/>
                </a:solidFill>
                <a:latin typeface="DejaVu Sans"/>
              </a:rPr>
              <a:t>«Метрика выросла после релиза» само по себе не значит ничего: за ту же неделю сменился сезон, прошла рекламная кампания, пришла другая аудитория. Без группы, которой изменение не показали, отделить свой вклад от чужого нечем.</a:t>
            </a:r>
          </a:p>
        </p:txBody>
      </p:sp>
      <p:sp>
        <p:nvSpPr>
          <p:cNvPr id="5" name="Rounded Rectangle 4"/>
          <p:cNvSpPr/>
          <p:nvPr/>
        </p:nvSpPr>
        <p:spPr>
          <a:xfrm>
            <a:off x="502920" y="1828800"/>
            <a:ext cx="4892040" cy="2724912"/>
          </a:xfrm>
          <a:prstGeom prst="roundRect">
            <a:avLst>
              <a:gd name="adj" fmla="val 11185"/>
            </a:avLst>
          </a:prstGeom>
          <a:solidFill>
            <a:srgbClr val="F4F7FA"/>
          </a:solidFill>
          <a:ln w="1905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901952"/>
            <a:ext cx="4480560" cy="274320"/>
          </a:xfrm>
          <a:prstGeom prst="rect">
            <a:avLst/>
          </a:prstGeom>
          <a:noFill/>
        </p:spPr>
        <p:txBody>
          <a:bodyPr wrap="square" lIns="0" rIns="0" tIns="0" bIns="0" anchor="t">
            <a:spAutoFit/>
          </a:bodyPr>
          <a:lstStyle/>
          <a:p>
            <a:pPr algn="l">
              <a:lnSpc>
                <a:spcPct val="105000"/>
              </a:lnSpc>
            </a:pPr>
            <a:r>
              <a:rPr sz="1250" b="1" i="0">
                <a:solidFill>
                  <a:srgbClr val="065A82"/>
                </a:solidFill>
                <a:latin typeface="DejaVu Sans"/>
              </a:rPr>
              <a:t>Случайное деление даёт причинность</a:t>
            </a:r>
          </a:p>
        </p:txBody>
      </p:sp>
      <p:sp>
        <p:nvSpPr>
          <p:cNvPr id="7" name="Oval 6"/>
          <p:cNvSpPr/>
          <p:nvPr/>
        </p:nvSpPr>
        <p:spPr>
          <a:xfrm>
            <a:off x="2651760" y="2231136"/>
            <a:ext cx="420624" cy="420624"/>
          </a:xfrm>
          <a:prstGeom prst="ellipse">
            <a:avLst/>
          </a:prstGeom>
          <a:solidFill>
            <a:srgbClr val="FDF3DC"/>
          </a:solidFill>
          <a:ln w="2032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repeat-2-gold.png"/>
          <p:cNvPicPr>
            <a:picLocks noChangeAspect="1"/>
          </p:cNvPicPr>
          <p:nvPr/>
        </p:nvPicPr>
        <p:blipFill>
          <a:blip r:embed="rId2"/>
          <a:stretch>
            <a:fillRect/>
          </a:stretch>
        </p:blipFill>
        <p:spPr>
          <a:xfrm>
            <a:off x="2752344" y="2331720"/>
            <a:ext cx="219456" cy="219456"/>
          </a:xfrm>
          <a:prstGeom prst="rect">
            <a:avLst/>
          </a:prstGeom>
        </p:spPr>
      </p:pic>
      <p:sp>
        <p:nvSpPr>
          <p:cNvPr id="9" name="TextBox 8"/>
          <p:cNvSpPr txBox="1"/>
          <p:nvPr/>
        </p:nvSpPr>
        <p:spPr>
          <a:xfrm>
            <a:off x="1554480" y="2670048"/>
            <a:ext cx="2788920" cy="237744"/>
          </a:xfrm>
          <a:prstGeom prst="rect">
            <a:avLst/>
          </a:prstGeom>
          <a:noFill/>
        </p:spPr>
        <p:txBody>
          <a:bodyPr wrap="square" lIns="0" rIns="0" tIns="0" bIns="0" anchor="t">
            <a:spAutoFit/>
          </a:bodyPr>
          <a:lstStyle/>
          <a:p>
            <a:pPr algn="ctr">
              <a:lnSpc>
                <a:spcPct val="115000"/>
              </a:lnSpc>
            </a:pPr>
            <a:r>
              <a:rPr sz="1050" b="0" i="1">
                <a:solidFill>
                  <a:srgbClr val="5B6678"/>
                </a:solidFill>
                <a:latin typeface="DejaVu Sans"/>
              </a:rPr>
              <a:t>случайное деление</a:t>
            </a:r>
          </a:p>
        </p:txBody>
      </p:sp>
      <p:sp>
        <p:nvSpPr>
          <p:cNvPr id="10" name="Rounded Rectangle 9"/>
          <p:cNvSpPr/>
          <p:nvPr/>
        </p:nvSpPr>
        <p:spPr>
          <a:xfrm>
            <a:off x="822960" y="2926080"/>
            <a:ext cx="1325880" cy="960120"/>
          </a:xfrm>
          <a:prstGeom prst="roundRect">
            <a:avLst>
              <a:gd name="adj" fmla="val 10000"/>
            </a:avLst>
          </a:prstGeom>
          <a:solidFill>
            <a:srgbClr val="F4F7FA"/>
          </a:solidFill>
          <a:ln w="2032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users-mid.png"/>
          <p:cNvPicPr>
            <a:picLocks noChangeAspect="1"/>
          </p:cNvPicPr>
          <p:nvPr/>
        </p:nvPicPr>
        <p:blipFill>
          <a:blip r:embed="rId3"/>
          <a:stretch>
            <a:fillRect/>
          </a:stretch>
        </p:blipFill>
        <p:spPr>
          <a:xfrm>
            <a:off x="1307592" y="3017520"/>
            <a:ext cx="347472" cy="347472"/>
          </a:xfrm>
          <a:prstGeom prst="rect">
            <a:avLst/>
          </a:prstGeom>
        </p:spPr>
      </p:pic>
      <p:sp>
        <p:nvSpPr>
          <p:cNvPr id="12" name="TextBox 11"/>
          <p:cNvSpPr txBox="1"/>
          <p:nvPr/>
        </p:nvSpPr>
        <p:spPr>
          <a:xfrm>
            <a:off x="822960" y="3383280"/>
            <a:ext cx="1325880" cy="438912"/>
          </a:xfrm>
          <a:prstGeom prst="rect">
            <a:avLst/>
          </a:prstGeom>
          <a:noFill/>
        </p:spPr>
        <p:txBody>
          <a:bodyPr wrap="square" lIns="0" rIns="0" tIns="0" bIns="0" anchor="t">
            <a:spAutoFit/>
          </a:bodyPr>
          <a:lstStyle/>
          <a:p>
            <a:pPr algn="ctr">
              <a:lnSpc>
                <a:spcPct val="102000"/>
              </a:lnSpc>
            </a:pPr>
            <a:r>
              <a:rPr sz="1050" b="1" i="0">
                <a:solidFill>
                  <a:srgbClr val="1C7293"/>
                </a:solidFill>
                <a:latin typeface="DejaVu Sans"/>
              </a:rPr>
              <a:t>Контрольная</a:t>
            </a:r>
          </a:p>
          <a:p>
            <a:pPr algn="ctr">
              <a:lnSpc>
                <a:spcPct val="102000"/>
              </a:lnSpc>
            </a:pPr>
            <a:r>
              <a:rPr sz="1050" b="1" i="0">
                <a:solidFill>
                  <a:srgbClr val="1C7293"/>
                </a:solidFill>
                <a:latin typeface="DejaVu Sans"/>
              </a:rPr>
              <a:t>группа</a:t>
            </a:r>
          </a:p>
        </p:txBody>
      </p:sp>
      <p:sp>
        <p:nvSpPr>
          <p:cNvPr id="13" name="Rounded Rectangle 12"/>
          <p:cNvSpPr/>
          <p:nvPr/>
        </p:nvSpPr>
        <p:spPr>
          <a:xfrm>
            <a:off x="3246120" y="2926080"/>
            <a:ext cx="1325880" cy="960120"/>
          </a:xfrm>
          <a:prstGeom prst="roundRect">
            <a:avLst>
              <a:gd name="adj" fmla="val 10000"/>
            </a:avLst>
          </a:prstGeom>
          <a:solidFill>
            <a:srgbClr val="F4F7FA"/>
          </a:solidFill>
          <a:ln w="2032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users-teal.png"/>
          <p:cNvPicPr>
            <a:picLocks noChangeAspect="1"/>
          </p:cNvPicPr>
          <p:nvPr/>
        </p:nvPicPr>
        <p:blipFill>
          <a:blip r:embed="rId4"/>
          <a:stretch>
            <a:fillRect/>
          </a:stretch>
        </p:blipFill>
        <p:spPr>
          <a:xfrm>
            <a:off x="3730752" y="3017520"/>
            <a:ext cx="347472" cy="347472"/>
          </a:xfrm>
          <a:prstGeom prst="rect">
            <a:avLst/>
          </a:prstGeom>
        </p:spPr>
      </p:pic>
      <p:sp>
        <p:nvSpPr>
          <p:cNvPr id="15" name="TextBox 14"/>
          <p:cNvSpPr txBox="1"/>
          <p:nvPr/>
        </p:nvSpPr>
        <p:spPr>
          <a:xfrm>
            <a:off x="3246120" y="3383280"/>
            <a:ext cx="1325880" cy="438912"/>
          </a:xfrm>
          <a:prstGeom prst="rect">
            <a:avLst/>
          </a:prstGeom>
          <a:noFill/>
        </p:spPr>
        <p:txBody>
          <a:bodyPr wrap="square" lIns="0" rIns="0" tIns="0" bIns="0" anchor="t">
            <a:spAutoFit/>
          </a:bodyPr>
          <a:lstStyle/>
          <a:p>
            <a:pPr algn="ctr">
              <a:lnSpc>
                <a:spcPct val="102000"/>
              </a:lnSpc>
            </a:pPr>
            <a:r>
              <a:rPr sz="1050" b="1" i="0">
                <a:solidFill>
                  <a:srgbClr val="028090"/>
                </a:solidFill>
                <a:latin typeface="DejaVu Sans"/>
              </a:rPr>
              <a:t>Группа</a:t>
            </a:r>
          </a:p>
          <a:p>
            <a:pPr algn="ctr">
              <a:lnSpc>
                <a:spcPct val="102000"/>
              </a:lnSpc>
            </a:pPr>
            <a:r>
              <a:rPr sz="1050" b="1" i="0">
                <a:solidFill>
                  <a:srgbClr val="028090"/>
                </a:solidFill>
                <a:latin typeface="DejaVu Sans"/>
              </a:rPr>
              <a:t>изменения</a:t>
            </a:r>
          </a:p>
        </p:txBody>
      </p:sp>
      <p:sp>
        <p:nvSpPr>
          <p:cNvPr id="16" name="Right Arrow 15"/>
          <p:cNvSpPr/>
          <p:nvPr/>
        </p:nvSpPr>
        <p:spPr>
          <a:xfrm>
            <a:off x="2331720" y="3328416"/>
            <a:ext cx="822960" cy="219456"/>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3232" y="3950208"/>
            <a:ext cx="4480560" cy="548640"/>
          </a:xfrm>
          <a:prstGeom prst="rect">
            <a:avLst/>
          </a:prstGeom>
          <a:noFill/>
        </p:spPr>
        <p:txBody>
          <a:bodyPr wrap="square" lIns="0" rIns="0" tIns="0" bIns="0" anchor="t">
            <a:spAutoFit/>
          </a:bodyPr>
          <a:lstStyle/>
          <a:p>
            <a:pPr algn="l">
              <a:lnSpc>
                <a:spcPct val="112000"/>
              </a:lnSpc>
            </a:pPr>
            <a:r>
              <a:rPr sz="1050" b="0" i="0">
                <a:solidFill>
                  <a:srgbClr val="5B6678"/>
                </a:solidFill>
                <a:latin typeface="DejaVu Sans"/>
              </a:rPr>
              <a:t>Поэтапная раскатка этого не заменяет: удерживаемой случайной группы у неё нет — она отвечает «сломалось ли», а не «помогло ли».</a:t>
            </a:r>
          </a:p>
        </p:txBody>
      </p:sp>
      <p:sp>
        <p:nvSpPr>
          <p:cNvPr id="18" name="Rounded Rectangle 17"/>
          <p:cNvSpPr/>
          <p:nvPr/>
        </p:nvSpPr>
        <p:spPr>
          <a:xfrm>
            <a:off x="5623560" y="1828800"/>
            <a:ext cx="6080760" cy="2724912"/>
          </a:xfrm>
          <a:prstGeom prst="roundRect">
            <a:avLst>
              <a:gd name="adj" fmla="val 11185"/>
            </a:avLst>
          </a:prstGeom>
          <a:solidFill>
            <a:srgbClr val="F4F7FA"/>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852160" y="1901952"/>
            <a:ext cx="5623560" cy="274320"/>
          </a:xfrm>
          <a:prstGeom prst="rect">
            <a:avLst/>
          </a:prstGeom>
          <a:noFill/>
        </p:spPr>
        <p:txBody>
          <a:bodyPr wrap="square" lIns="0" rIns="0" tIns="0" bIns="0" anchor="t">
            <a:spAutoFit/>
          </a:bodyPr>
          <a:lstStyle/>
          <a:p>
            <a:pPr algn="l">
              <a:lnSpc>
                <a:spcPct val="105000"/>
              </a:lnSpc>
            </a:pPr>
            <a:r>
              <a:rPr sz="1250" b="1" i="0">
                <a:solidFill>
                  <a:srgbClr val="028090"/>
                </a:solidFill>
                <a:latin typeface="DejaVu Sans"/>
              </a:rPr>
              <a:t>Договариваются до старта о трёх вещах</a:t>
            </a:r>
          </a:p>
        </p:txBody>
      </p:sp>
      <p:sp>
        <p:nvSpPr>
          <p:cNvPr id="20" name="Oval 19"/>
          <p:cNvSpPr/>
          <p:nvPr/>
        </p:nvSpPr>
        <p:spPr>
          <a:xfrm>
            <a:off x="5870448" y="2267712"/>
            <a:ext cx="219456" cy="219456"/>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870448" y="2267712"/>
            <a:ext cx="219456" cy="219456"/>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1</a:t>
            </a:r>
          </a:p>
        </p:txBody>
      </p:sp>
      <p:sp>
        <p:nvSpPr>
          <p:cNvPr id="22" name="TextBox 21"/>
          <p:cNvSpPr txBox="1"/>
          <p:nvPr/>
        </p:nvSpPr>
        <p:spPr>
          <a:xfrm>
            <a:off x="6199632" y="2249424"/>
            <a:ext cx="5303520" cy="804672"/>
          </a:xfrm>
          <a:prstGeom prst="rect">
            <a:avLst/>
          </a:prstGeom>
          <a:noFill/>
        </p:spPr>
        <p:txBody>
          <a:bodyPr wrap="square" lIns="0" rIns="0" tIns="0" bIns="0" anchor="t">
            <a:spAutoFit/>
          </a:bodyPr>
          <a:lstStyle/>
          <a:p>
            <a:pPr algn="l">
              <a:lnSpc>
                <a:spcPct val="114000"/>
              </a:lnSpc>
            </a:pPr>
            <a:r>
              <a:rPr sz="1150" b="1" i="0">
                <a:solidFill>
                  <a:srgbClr val="21295C"/>
                </a:solidFill>
                <a:latin typeface="DejaVu Sans"/>
              </a:rPr>
              <a:t>Метрика решения — одна и с направлением. </a:t>
            </a:r>
            <a:r>
              <a:rPr sz="1100" b="0" i="0">
                <a:solidFill>
                  <a:srgbClr val="21295C"/>
                </a:solidFill>
                <a:latin typeface="DejaVu Sans"/>
              </a:rPr>
              <a:t>В литературе — сводный критерий оценки (OEC, Overall Evaluation Criterion). Учебный случай: «время на сайте поддержки» приняли единогласно и раскололись на вопросе, рост это хорошо или плохо.</a:t>
            </a:r>
          </a:p>
        </p:txBody>
      </p:sp>
      <p:sp>
        <p:nvSpPr>
          <p:cNvPr id="23" name="Oval 22"/>
          <p:cNvSpPr/>
          <p:nvPr/>
        </p:nvSpPr>
        <p:spPr>
          <a:xfrm>
            <a:off x="5870448" y="3163824"/>
            <a:ext cx="219456" cy="219456"/>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70448" y="3163824"/>
            <a:ext cx="219456" cy="219456"/>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2</a:t>
            </a:r>
          </a:p>
        </p:txBody>
      </p:sp>
      <p:sp>
        <p:nvSpPr>
          <p:cNvPr id="25" name="TextBox 24"/>
          <p:cNvSpPr txBox="1"/>
          <p:nvPr/>
        </p:nvSpPr>
        <p:spPr>
          <a:xfrm>
            <a:off x="6199632" y="3145536"/>
            <a:ext cx="5303520" cy="566928"/>
          </a:xfrm>
          <a:prstGeom prst="rect">
            <a:avLst/>
          </a:prstGeom>
          <a:noFill/>
        </p:spPr>
        <p:txBody>
          <a:bodyPr wrap="square" lIns="0" rIns="0" tIns="0" bIns="0" anchor="t">
            <a:spAutoFit/>
          </a:bodyPr>
          <a:lstStyle/>
          <a:p>
            <a:pPr algn="l">
              <a:lnSpc>
                <a:spcPct val="114000"/>
              </a:lnSpc>
            </a:pPr>
            <a:r>
              <a:rPr sz="1150" b="1" i="0">
                <a:solidFill>
                  <a:srgbClr val="21295C"/>
                </a:solidFill>
                <a:latin typeface="DejaVu Sans"/>
              </a:rPr>
              <a:t>Метрика-ограничитель. </a:t>
            </a:r>
            <a:r>
              <a:rPr sz="1100" b="0" i="0">
                <a:solidFill>
                  <a:srgbClr val="21295C"/>
                </a:solidFill>
                <a:latin typeface="DejaVu Sans"/>
              </a:rPr>
              <a:t>Её мониторят, но не оптимизируют: она ловит ущерб, которого метрика решения не видит.</a:t>
            </a:r>
          </a:p>
        </p:txBody>
      </p:sp>
      <p:sp>
        <p:nvSpPr>
          <p:cNvPr id="26" name="Oval 25"/>
          <p:cNvSpPr/>
          <p:nvPr/>
        </p:nvSpPr>
        <p:spPr>
          <a:xfrm>
            <a:off x="5870448" y="3822191"/>
            <a:ext cx="219456" cy="219456"/>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870448" y="3822191"/>
            <a:ext cx="219456" cy="219456"/>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3</a:t>
            </a:r>
          </a:p>
        </p:txBody>
      </p:sp>
      <p:sp>
        <p:nvSpPr>
          <p:cNvPr id="28" name="TextBox 27"/>
          <p:cNvSpPr txBox="1"/>
          <p:nvPr/>
        </p:nvSpPr>
        <p:spPr>
          <a:xfrm>
            <a:off x="6199632" y="3803904"/>
            <a:ext cx="5303520" cy="365760"/>
          </a:xfrm>
          <a:prstGeom prst="rect">
            <a:avLst/>
          </a:prstGeom>
          <a:noFill/>
        </p:spPr>
        <p:txBody>
          <a:bodyPr wrap="square" lIns="0" rIns="0" tIns="0" bIns="0" anchor="t">
            <a:spAutoFit/>
          </a:bodyPr>
          <a:lstStyle/>
          <a:p>
            <a:pPr algn="l">
              <a:lnSpc>
                <a:spcPct val="114000"/>
              </a:lnSpc>
            </a:pPr>
            <a:r>
              <a:rPr sz="1150" b="1" i="0">
                <a:solidFill>
                  <a:srgbClr val="21295C"/>
                </a:solidFill>
                <a:latin typeface="DejaVu Sans"/>
              </a:rPr>
              <a:t>Число наблюдений. </a:t>
            </a:r>
            <a:r>
              <a:rPr sz="1100" b="0" i="0">
                <a:solidFill>
                  <a:srgbClr val="21295C"/>
                </a:solidFill>
                <a:latin typeface="DejaVu Sans"/>
              </a:rPr>
              <a:t>Его считают до старта, а не набирают сколько получится.</a:t>
            </a:r>
          </a:p>
        </p:txBody>
      </p:sp>
      <p:sp>
        <p:nvSpPr>
          <p:cNvPr id="29" name="Rounded Rectangle 28"/>
          <p:cNvSpPr/>
          <p:nvPr/>
        </p:nvSpPr>
        <p:spPr>
          <a:xfrm>
            <a:off x="502920" y="4681728"/>
            <a:ext cx="11201400" cy="1005840"/>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22376" y="4736592"/>
            <a:ext cx="10762488" cy="896112"/>
          </a:xfrm>
          <a:prstGeom prst="rect">
            <a:avLst/>
          </a:prstGeom>
          <a:noFill/>
        </p:spPr>
        <p:txBody>
          <a:bodyPr wrap="square" lIns="0" rIns="0" tIns="0" bIns="0" anchor="ctr">
            <a:spAutoFit/>
          </a:bodyPr>
          <a:lstStyle/>
          <a:p>
            <a:pPr algn="l">
              <a:lnSpc>
                <a:spcPct val="120000"/>
              </a:lnSpc>
            </a:pPr>
            <a:r>
              <a:rPr sz="1250" b="1" i="0">
                <a:solidFill>
                  <a:srgbClr val="21295C"/>
                </a:solidFill>
                <a:latin typeface="DejaVu Sans"/>
              </a:rPr>
              <a:t>Посчитанное число наблюдений может оказаться недостижимым. Тогда честный ответ — «этот вопрос экспериментом не решается, нужен другой метод», а не «запустим и посмотрим»: эксперимент на слишком малой выборке не становится слабым доказательством, он перестаёт быть доказательством.</a:t>
            </a:r>
          </a:p>
        </p:txBody>
      </p:sp>
      <p:sp>
        <p:nvSpPr>
          <p:cNvPr id="31" name="TextBox 30"/>
          <p:cNvSpPr txBox="1"/>
          <p:nvPr/>
        </p:nvSpPr>
        <p:spPr>
          <a:xfrm>
            <a:off x="502920" y="6455664"/>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5"/>
              </a:rPr>
              <a:t>Kohavi — Overall Evaluation Criterion (OEC)</a:t>
            </a:r>
            <a:r>
              <a:rPr sz="850" i="1">
                <a:solidFill>
                  <a:srgbClr val="1C7293"/>
                </a:solidFill>
                <a:latin typeface="DejaVu Sans"/>
              </a:rPr>
              <a:t>   ·   </a:t>
            </a:r>
            <a:r>
              <a:rPr sz="850" b="1" i="1">
                <a:solidFill>
                  <a:srgbClr val="065A82"/>
                </a:solidFill>
                <a:latin typeface="DejaVu Sans"/>
              </a:rPr>
              <a:t>[2] </a:t>
            </a:r>
            <a:r>
              <a:rPr sz="850" i="1">
                <a:solidFill>
                  <a:srgbClr val="1C7293"/>
                </a:solidFill>
                <a:latin typeface="DejaVu Sans"/>
                <a:hlinkClick r:id="rId6"/>
              </a:rPr>
              <a:t>Wikipedia — контролируемый эксперимент в вебе</a:t>
            </a:r>
          </a:p>
        </p:txBody>
      </p:sp>
      <p:sp>
        <p:nvSpPr>
          <p:cNvPr id="32" name="TextBox 31"/>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30 / 54</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18872"/>
            <a:ext cx="11201400" cy="615213"/>
          </a:xfrm>
          <a:prstGeom prst="rect">
            <a:avLst/>
          </a:prstGeom>
          <a:noFill/>
        </p:spPr>
        <p:txBody>
          <a:bodyPr wrap="square" lIns="0" rIns="0" tIns="0" bIns="0" anchor="t">
            <a:spAutoFit/>
          </a:bodyPr>
          <a:lstStyle/>
          <a:p>
            <a:pPr algn="l">
              <a:lnSpc>
                <a:spcPct val="110000"/>
              </a:lnSpc>
            </a:pPr>
            <a:r>
              <a:rPr sz="1900" b="1" i="0">
                <a:solidFill>
                  <a:srgbClr val="21295C"/>
                </a:solidFill>
                <a:latin typeface="DejaVu Sans"/>
              </a:rPr>
              <a:t>Пред-регистрация: решение записывают до того, как увидят результат</a:t>
            </a:r>
          </a:p>
        </p:txBody>
      </p:sp>
      <p:sp>
        <p:nvSpPr>
          <p:cNvPr id="3" name="Rounded Rectangle 2"/>
          <p:cNvSpPr/>
          <p:nvPr/>
        </p:nvSpPr>
        <p:spPr>
          <a:xfrm>
            <a:off x="502920" y="825525"/>
            <a:ext cx="1152144" cy="893058"/>
          </a:xfrm>
          <a:prstGeom prst="roundRect">
            <a:avLst>
              <a:gd name="adj" fmla="val 22000"/>
            </a:avLst>
          </a:prstGeom>
          <a:solidFill>
            <a:srgbClr val="21295C"/>
          </a:solidFill>
          <a:ln w="12700">
            <a:solidFill>
              <a:srgbClr val="2129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825525"/>
            <a:ext cx="1060704" cy="893058"/>
          </a:xfrm>
          <a:prstGeom prst="rect">
            <a:avLst/>
          </a:prstGeom>
          <a:noFill/>
        </p:spPr>
        <p:txBody>
          <a:bodyPr wrap="square" lIns="0" rIns="0" tIns="0" bIns="0" anchor="ctr">
            <a:spAutoFit/>
          </a:bodyPr>
          <a:lstStyle/>
          <a:p>
            <a:pPr algn="ctr">
              <a:lnSpc>
                <a:spcPct val="102000"/>
              </a:lnSpc>
            </a:pPr>
            <a:r>
              <a:rPr sz="950" b="1" i="0">
                <a:solidFill>
                  <a:srgbClr val="FFFFFF"/>
                </a:solidFill>
                <a:latin typeface="DejaVu Sans"/>
              </a:rPr>
              <a:t>ЧТО ЭТО</a:t>
            </a:r>
          </a:p>
        </p:txBody>
      </p:sp>
      <p:sp>
        <p:nvSpPr>
          <p:cNvPr id="5" name="Rounded Rectangle 4"/>
          <p:cNvSpPr/>
          <p:nvPr/>
        </p:nvSpPr>
        <p:spPr>
          <a:xfrm>
            <a:off x="1801368" y="825525"/>
            <a:ext cx="9902952" cy="893058"/>
          </a:xfrm>
          <a:prstGeom prst="roundRect">
            <a:avLst>
              <a:gd name="adj" fmla="val 22000"/>
            </a:avLst>
          </a:prstGeom>
          <a:solidFill>
            <a:srgbClr val="FFFFFF"/>
          </a:solidFill>
          <a:ln w="2286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984248" y="916965"/>
            <a:ext cx="9537192" cy="710178"/>
          </a:xfrm>
          <a:prstGeom prst="rect">
            <a:avLst/>
          </a:prstGeom>
          <a:noFill/>
        </p:spPr>
        <p:txBody>
          <a:bodyPr wrap="square" lIns="0" rIns="0" tIns="0" bIns="0" anchor="ctr">
            <a:spAutoFit/>
          </a:bodyPr>
          <a:lstStyle/>
          <a:p>
            <a:pPr algn="l">
              <a:lnSpc>
                <a:spcPct val="114000"/>
              </a:lnSpc>
            </a:pPr>
            <a:r>
              <a:rPr sz="1150" b="0" i="0">
                <a:solidFill>
                  <a:srgbClr val="21295C"/>
                </a:solidFill>
                <a:latin typeface="DejaVu Sans"/>
              </a:rPr>
              <a:t>Короткая записка, которую делают </a:t>
            </a:r>
            <a:r>
              <a:rPr sz="1150" b="1" i="0">
                <a:solidFill>
                  <a:srgbClr val="21295C"/>
                </a:solidFill>
                <a:latin typeface="DejaVu Sans"/>
              </a:rPr>
              <a:t>до</a:t>
            </a:r>
            <a:r>
              <a:rPr sz="1150" b="0" i="0">
                <a:solidFill>
                  <a:srgbClr val="21295C"/>
                </a:solidFill>
                <a:latin typeface="DejaVu Sans"/>
              </a:rPr>
              <a:t> запуска эксперимента: что именно измеряем, какой результат считаем успехом, когда останавливаемся. Приём пришёл из медицины — там протокол регистрируют до набора пациентов, иначе журнал не примет статью.</a:t>
            </a:r>
          </a:p>
        </p:txBody>
      </p:sp>
      <p:sp>
        <p:nvSpPr>
          <p:cNvPr id="7" name="Rounded Rectangle 6"/>
          <p:cNvSpPr/>
          <p:nvPr/>
        </p:nvSpPr>
        <p:spPr>
          <a:xfrm>
            <a:off x="502920" y="1782592"/>
            <a:ext cx="1152144" cy="2109165"/>
          </a:xfrm>
          <a:prstGeom prst="roundRect">
            <a:avLst>
              <a:gd name="adj" fmla="val 22000"/>
            </a:avLst>
          </a:prstGeom>
          <a:solidFill>
            <a:srgbClr val="065A82"/>
          </a:solidFill>
          <a:ln w="1270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782592"/>
            <a:ext cx="1060704" cy="2109165"/>
          </a:xfrm>
          <a:prstGeom prst="rect">
            <a:avLst/>
          </a:prstGeom>
          <a:noFill/>
        </p:spPr>
        <p:txBody>
          <a:bodyPr wrap="square" lIns="0" rIns="0" tIns="0" bIns="0" anchor="ctr">
            <a:spAutoFit/>
          </a:bodyPr>
          <a:lstStyle/>
          <a:p>
            <a:pPr algn="ctr">
              <a:lnSpc>
                <a:spcPct val="102000"/>
              </a:lnSpc>
            </a:pPr>
            <a:r>
              <a:rPr sz="950" b="1" i="0">
                <a:solidFill>
                  <a:srgbClr val="FFFFFF"/>
                </a:solidFill>
                <a:latin typeface="DejaVu Sans"/>
              </a:rPr>
              <a:t>МЕХАНИЗМ</a:t>
            </a:r>
          </a:p>
        </p:txBody>
      </p:sp>
      <p:sp>
        <p:nvSpPr>
          <p:cNvPr id="9" name="Rounded Rectangle 8"/>
          <p:cNvSpPr/>
          <p:nvPr/>
        </p:nvSpPr>
        <p:spPr>
          <a:xfrm>
            <a:off x="1801368" y="1782592"/>
            <a:ext cx="9902952" cy="2109165"/>
          </a:xfrm>
          <a:prstGeom prst="roundRect">
            <a:avLst>
              <a:gd name="adj" fmla="val 1445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984248" y="1887748"/>
            <a:ext cx="214884" cy="2148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984248" y="1887748"/>
            <a:ext cx="214884" cy="214884"/>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1</a:t>
            </a:r>
          </a:p>
        </p:txBody>
      </p:sp>
      <p:sp>
        <p:nvSpPr>
          <p:cNvPr id="12" name="TextBox 11"/>
          <p:cNvSpPr txBox="1"/>
          <p:nvPr/>
        </p:nvSpPr>
        <p:spPr>
          <a:xfrm>
            <a:off x="2295144" y="1874032"/>
            <a:ext cx="5385816" cy="875360"/>
          </a:xfrm>
          <a:prstGeom prst="rect">
            <a:avLst/>
          </a:prstGeom>
          <a:noFill/>
        </p:spPr>
        <p:txBody>
          <a:bodyPr wrap="square" lIns="0" rIns="0" tIns="0" bIns="0" anchor="t">
            <a:spAutoFit/>
          </a:bodyPr>
          <a:lstStyle/>
          <a:p>
            <a:pPr algn="l">
              <a:lnSpc>
                <a:spcPct val="115000"/>
              </a:lnSpc>
            </a:pPr>
            <a:r>
              <a:rPr sz="1000" b="1" i="0">
                <a:solidFill>
                  <a:srgbClr val="065A82"/>
                </a:solidFill>
                <a:latin typeface="DejaVu Sans"/>
              </a:rPr>
              <a:t>До запуска записывают четыре вещи:</a:t>
            </a:r>
            <a:r>
              <a:rPr sz="1000" b="0" i="0">
                <a:solidFill>
                  <a:srgbClr val="21295C"/>
                </a:solidFill>
                <a:latin typeface="DejaVu Sans"/>
              </a:rPr>
              <a:t> какую величину считаем основанием решения и в какую сторону она должна двинуться; что наблюдаем как ограничитель; какой размер эффекта значим и сколько для него нужно наблюдений; при каком условии останавливаемся.</a:t>
            </a:r>
          </a:p>
        </p:txBody>
      </p:sp>
      <p:sp>
        <p:nvSpPr>
          <p:cNvPr id="13" name="Oval 12"/>
          <p:cNvSpPr/>
          <p:nvPr/>
        </p:nvSpPr>
        <p:spPr>
          <a:xfrm>
            <a:off x="1984248" y="2827116"/>
            <a:ext cx="214884" cy="2148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984248" y="2827116"/>
            <a:ext cx="214884" cy="214884"/>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2</a:t>
            </a:r>
          </a:p>
        </p:txBody>
      </p:sp>
      <p:sp>
        <p:nvSpPr>
          <p:cNvPr id="15" name="TextBox 14"/>
          <p:cNvSpPr txBox="1"/>
          <p:nvPr/>
        </p:nvSpPr>
        <p:spPr>
          <a:xfrm>
            <a:off x="2295144" y="2813400"/>
            <a:ext cx="5385816" cy="544235"/>
          </a:xfrm>
          <a:prstGeom prst="rect">
            <a:avLst/>
          </a:prstGeom>
          <a:noFill/>
        </p:spPr>
        <p:txBody>
          <a:bodyPr wrap="square" lIns="0" rIns="0" tIns="0" bIns="0" anchor="t">
            <a:spAutoFit/>
          </a:bodyPr>
          <a:lstStyle/>
          <a:p>
            <a:pPr algn="l">
              <a:lnSpc>
                <a:spcPct val="115000"/>
              </a:lnSpc>
            </a:pPr>
            <a:r>
              <a:rPr sz="1000" b="1" i="0">
                <a:solidFill>
                  <a:srgbClr val="065A82"/>
                </a:solidFill>
                <a:latin typeface="DejaVu Sans"/>
              </a:rPr>
              <a:t>Запись кладут туда, где есть время</a:t>
            </a:r>
            <a:r>
              <a:rPr sz="1000" b="0" i="0">
                <a:solidFill>
                  <a:srgbClr val="21295C"/>
                </a:solidFill>
                <a:latin typeface="DejaVu Sans"/>
              </a:rPr>
              <a:t> — с датой и автором. Весь механизм в этом: метка времени стоит раньше первого результата.</a:t>
            </a:r>
          </a:p>
        </p:txBody>
      </p:sp>
      <p:sp>
        <p:nvSpPr>
          <p:cNvPr id="16" name="Oval 15"/>
          <p:cNvSpPr/>
          <p:nvPr/>
        </p:nvSpPr>
        <p:spPr>
          <a:xfrm>
            <a:off x="1984248" y="3435359"/>
            <a:ext cx="214884" cy="2148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984248" y="3435359"/>
            <a:ext cx="214884" cy="214884"/>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3</a:t>
            </a:r>
          </a:p>
        </p:txBody>
      </p:sp>
      <p:sp>
        <p:nvSpPr>
          <p:cNvPr id="18" name="TextBox 17"/>
          <p:cNvSpPr txBox="1"/>
          <p:nvPr/>
        </p:nvSpPr>
        <p:spPr>
          <a:xfrm>
            <a:off x="2295144" y="3421643"/>
            <a:ext cx="5385816" cy="378673"/>
          </a:xfrm>
          <a:prstGeom prst="rect">
            <a:avLst/>
          </a:prstGeom>
          <a:noFill/>
        </p:spPr>
        <p:txBody>
          <a:bodyPr wrap="square" lIns="0" rIns="0" tIns="0" bIns="0" anchor="t">
            <a:spAutoFit/>
          </a:bodyPr>
          <a:lstStyle/>
          <a:p>
            <a:pPr algn="l">
              <a:lnSpc>
                <a:spcPct val="115000"/>
              </a:lnSpc>
            </a:pPr>
            <a:r>
              <a:rPr sz="1000" b="1" i="0">
                <a:solidFill>
                  <a:srgbClr val="065A82"/>
                </a:solidFill>
                <a:latin typeface="DejaVu Sans"/>
              </a:rPr>
              <a:t>После запуска запись не переписывают</a:t>
            </a:r>
            <a:r>
              <a:rPr sz="1000" b="0" i="0">
                <a:solidFill>
                  <a:srgbClr val="21295C"/>
                </a:solidFill>
                <a:latin typeface="DejaVu Sans"/>
              </a:rPr>
              <a:t> — к ней дописывают принятое решение и дату.</a:t>
            </a:r>
          </a:p>
        </p:txBody>
      </p:sp>
      <p:cxnSp>
        <p:nvCxnSpPr>
          <p:cNvPr id="19" name="Connector 18"/>
          <p:cNvCxnSpPr/>
          <p:nvPr/>
        </p:nvCxnSpPr>
        <p:spPr>
          <a:xfrm>
            <a:off x="8046719" y="2349520"/>
            <a:ext cx="3337561" cy="0"/>
          </a:xfrm>
          <a:prstGeom prst="line">
            <a:avLst/>
          </a:prstGeom>
          <a:ln w="20320">
            <a:solidFill>
              <a:srgbClr val="5B66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8229600" y="2258080"/>
            <a:ext cx="182880" cy="182880"/>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73567" y="1928896"/>
            <a:ext cx="1737360" cy="274320"/>
          </a:xfrm>
          <a:prstGeom prst="rect">
            <a:avLst/>
          </a:prstGeom>
          <a:noFill/>
        </p:spPr>
        <p:txBody>
          <a:bodyPr wrap="square" lIns="0" rIns="0" tIns="0" bIns="0" anchor="t">
            <a:spAutoFit/>
          </a:bodyPr>
          <a:lstStyle/>
          <a:p>
            <a:pPr algn="ctr">
              <a:lnSpc>
                <a:spcPct val="104000"/>
              </a:lnSpc>
            </a:pPr>
            <a:r>
              <a:rPr sz="919" b="1" i="0">
                <a:solidFill>
                  <a:srgbClr val="21295C"/>
                </a:solidFill>
                <a:latin typeface="DejaVu Sans"/>
              </a:rPr>
              <a:t>запись сделана</a:t>
            </a:r>
          </a:p>
        </p:txBody>
      </p:sp>
      <p:sp>
        <p:nvSpPr>
          <p:cNvPr id="22" name="Oval 21"/>
          <p:cNvSpPr/>
          <p:nvPr/>
        </p:nvSpPr>
        <p:spPr>
          <a:xfrm>
            <a:off x="10744200" y="2258080"/>
            <a:ext cx="182880" cy="182880"/>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921240" y="1928896"/>
            <a:ext cx="1645920" cy="274320"/>
          </a:xfrm>
          <a:prstGeom prst="rect">
            <a:avLst/>
          </a:prstGeom>
          <a:noFill/>
        </p:spPr>
        <p:txBody>
          <a:bodyPr wrap="square" lIns="0" rIns="0" tIns="0" bIns="0" anchor="t">
            <a:spAutoFit/>
          </a:bodyPr>
          <a:lstStyle/>
          <a:p>
            <a:pPr algn="ctr">
              <a:lnSpc>
                <a:spcPct val="104000"/>
              </a:lnSpc>
            </a:pPr>
            <a:r>
              <a:rPr sz="919" b="1" i="0">
                <a:solidFill>
                  <a:srgbClr val="065A82"/>
                </a:solidFill>
                <a:latin typeface="DejaVu Sans"/>
              </a:rPr>
              <a:t>первый результат</a:t>
            </a:r>
          </a:p>
        </p:txBody>
      </p:sp>
      <p:cxnSp>
        <p:nvCxnSpPr>
          <p:cNvPr id="24" name="Connector 23"/>
          <p:cNvCxnSpPr/>
          <p:nvPr/>
        </p:nvCxnSpPr>
        <p:spPr>
          <a:xfrm>
            <a:off x="8321040" y="2495824"/>
            <a:ext cx="2423160" cy="0"/>
          </a:xfrm>
          <a:prstGeom prst="line">
            <a:avLst/>
          </a:prstGeom>
          <a:ln w="20320">
            <a:solidFill>
              <a:srgbClr val="F0AB00"/>
            </a:solidFill>
            <a:prstDash val="dash"/>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7955279" y="2587264"/>
            <a:ext cx="3566160" cy="201168"/>
          </a:xfrm>
          <a:prstGeom prst="rect">
            <a:avLst/>
          </a:prstGeom>
          <a:noFill/>
        </p:spPr>
        <p:txBody>
          <a:bodyPr wrap="square" lIns="0" rIns="0" tIns="0" bIns="0" anchor="t">
            <a:spAutoFit/>
          </a:bodyPr>
          <a:lstStyle/>
          <a:p>
            <a:pPr algn="ctr">
              <a:lnSpc>
                <a:spcPct val="105000"/>
              </a:lnSpc>
            </a:pPr>
            <a:r>
              <a:rPr sz="900" b="0" i="1">
                <a:solidFill>
                  <a:srgbClr val="5B6678"/>
                </a:solidFill>
                <a:latin typeface="DejaVu Sans"/>
              </a:rPr>
              <a:t>критерий успеха записан раньше первого результата</a:t>
            </a:r>
          </a:p>
        </p:txBody>
      </p:sp>
      <p:sp>
        <p:nvSpPr>
          <p:cNvPr id="26" name="TextBox 25"/>
          <p:cNvSpPr txBox="1"/>
          <p:nvPr/>
        </p:nvSpPr>
        <p:spPr>
          <a:xfrm>
            <a:off x="7955279" y="2879872"/>
            <a:ext cx="3566160" cy="786384"/>
          </a:xfrm>
          <a:prstGeom prst="rect">
            <a:avLst/>
          </a:prstGeom>
          <a:noFill/>
        </p:spPr>
        <p:txBody>
          <a:bodyPr wrap="square" lIns="0" rIns="0" tIns="0" bIns="0" anchor="t">
            <a:spAutoFit/>
          </a:bodyPr>
          <a:lstStyle/>
          <a:p>
            <a:pPr algn="l">
              <a:lnSpc>
                <a:spcPct val="112000"/>
              </a:lnSpc>
            </a:pPr>
            <a:r>
              <a:rPr sz="980" b="0" i="0">
                <a:solidFill>
                  <a:srgbClr val="21295C"/>
                </a:solidFill>
                <a:latin typeface="DejaVu Sans"/>
              </a:rPr>
              <a:t>Три ловушки — остановить на удачной точке, перебрать метрики, подвинуть порог — </a:t>
            </a:r>
            <a:r>
              <a:rPr sz="980" b="1" i="0">
                <a:solidFill>
                  <a:srgbClr val="065A82"/>
                </a:solidFill>
                <a:latin typeface="DejaVu Sans"/>
              </a:rPr>
              <a:t>все требуют, чтобы критерий успеха можно было выбрать после результата.</a:t>
            </a:r>
          </a:p>
        </p:txBody>
      </p:sp>
      <p:sp>
        <p:nvSpPr>
          <p:cNvPr id="27" name="Rounded Rectangle 26"/>
          <p:cNvSpPr/>
          <p:nvPr/>
        </p:nvSpPr>
        <p:spPr>
          <a:xfrm>
            <a:off x="502920" y="3955765"/>
            <a:ext cx="1152144" cy="1227201"/>
          </a:xfrm>
          <a:prstGeom prst="roundRect">
            <a:avLst>
              <a:gd name="adj" fmla="val 22000"/>
            </a:avLst>
          </a:prstGeom>
          <a:solidFill>
            <a:srgbClr val="1C7293"/>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8640" y="3955765"/>
            <a:ext cx="1060704" cy="1227201"/>
          </a:xfrm>
          <a:prstGeom prst="rect">
            <a:avLst/>
          </a:prstGeom>
          <a:noFill/>
        </p:spPr>
        <p:txBody>
          <a:bodyPr wrap="square" lIns="0" rIns="0" tIns="0" bIns="0" anchor="ctr">
            <a:spAutoFit/>
          </a:bodyPr>
          <a:lstStyle/>
          <a:p>
            <a:pPr algn="ctr">
              <a:lnSpc>
                <a:spcPct val="102000"/>
              </a:lnSpc>
            </a:pPr>
            <a:r>
              <a:rPr sz="950" b="1" i="0">
                <a:solidFill>
                  <a:srgbClr val="FFFFFF"/>
                </a:solidFill>
                <a:latin typeface="DejaVu Sans"/>
              </a:rPr>
              <a:t>С ИИ И БЕЗ ИИ</a:t>
            </a:r>
          </a:p>
        </p:txBody>
      </p:sp>
      <p:sp>
        <p:nvSpPr>
          <p:cNvPr id="29" name="Rounded Rectangle 28"/>
          <p:cNvSpPr/>
          <p:nvPr/>
        </p:nvSpPr>
        <p:spPr>
          <a:xfrm>
            <a:off x="1801368" y="3955765"/>
            <a:ext cx="9902952" cy="1227201"/>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1984248" y="4047205"/>
            <a:ext cx="4677156" cy="1044321"/>
          </a:xfrm>
          <a:prstGeom prst="roundRect">
            <a:avLst>
              <a:gd name="adj" fmla="val 17025"/>
            </a:avLst>
          </a:prstGeom>
          <a:solidFill>
            <a:srgbClr val="FFFFFF"/>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084831" y="4092925"/>
            <a:ext cx="4475988" cy="219456"/>
          </a:xfrm>
          <a:prstGeom prst="rect">
            <a:avLst/>
          </a:prstGeom>
          <a:noFill/>
        </p:spPr>
        <p:txBody>
          <a:bodyPr wrap="square" lIns="0" rIns="0" tIns="0" bIns="0" anchor="t">
            <a:spAutoFit/>
          </a:bodyPr>
          <a:lstStyle/>
          <a:p>
            <a:pPr algn="l">
              <a:lnSpc>
                <a:spcPct val="100000"/>
              </a:lnSpc>
            </a:pPr>
            <a:r>
              <a:rPr sz="919" b="1" i="0">
                <a:solidFill>
                  <a:srgbClr val="065A82"/>
                </a:solidFill>
                <a:latin typeface="DejaVu Sans"/>
              </a:rPr>
              <a:t>БЕЗ ИИ — приём родом из медицины</a:t>
            </a:r>
          </a:p>
        </p:txBody>
      </p:sp>
      <p:sp>
        <p:nvSpPr>
          <p:cNvPr id="32" name="TextBox 31"/>
          <p:cNvSpPr txBox="1"/>
          <p:nvPr/>
        </p:nvSpPr>
        <p:spPr>
          <a:xfrm>
            <a:off x="2084831" y="4321525"/>
            <a:ext cx="4475988" cy="715137"/>
          </a:xfrm>
          <a:prstGeom prst="rect">
            <a:avLst/>
          </a:prstGeom>
          <a:noFill/>
        </p:spPr>
        <p:txBody>
          <a:bodyPr wrap="square" lIns="0" rIns="0" tIns="0" bIns="0" anchor="t">
            <a:spAutoFit/>
          </a:bodyPr>
          <a:lstStyle/>
          <a:p>
            <a:pPr algn="l">
              <a:lnSpc>
                <a:spcPct val="112000"/>
              </a:lnSpc>
            </a:pPr>
            <a:r>
              <a:rPr sz="950" b="0" i="0">
                <a:solidFill>
                  <a:srgbClr val="21295C"/>
                </a:solidFill>
                <a:latin typeface="DejaVu Sans"/>
              </a:rPr>
              <a:t>Одна величина решения, размер выборки, правило остановки — записаны заранее. Так работают клинические протоколы и обычные продуктовые эксперименты.</a:t>
            </a:r>
          </a:p>
        </p:txBody>
      </p:sp>
      <p:sp>
        <p:nvSpPr>
          <p:cNvPr id="33" name="Rounded Rectangle 32"/>
          <p:cNvSpPr/>
          <p:nvPr/>
        </p:nvSpPr>
        <p:spPr>
          <a:xfrm>
            <a:off x="6844284" y="4047205"/>
            <a:ext cx="4677156" cy="1044321"/>
          </a:xfrm>
          <a:prstGeom prst="roundRect">
            <a:avLst>
              <a:gd name="adj" fmla="val 17025"/>
            </a:avLst>
          </a:prstGeom>
          <a:solidFill>
            <a:srgbClr val="FFFFFF"/>
          </a:solidFill>
          <a:ln w="1778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944868" y="4092925"/>
            <a:ext cx="4475988" cy="219456"/>
          </a:xfrm>
          <a:prstGeom prst="rect">
            <a:avLst/>
          </a:prstGeom>
          <a:noFill/>
        </p:spPr>
        <p:txBody>
          <a:bodyPr wrap="square" lIns="0" rIns="0" tIns="0" bIns="0" anchor="t">
            <a:spAutoFit/>
          </a:bodyPr>
          <a:lstStyle/>
          <a:p>
            <a:pPr algn="l">
              <a:lnSpc>
                <a:spcPct val="100000"/>
              </a:lnSpc>
            </a:pPr>
            <a:r>
              <a:rPr sz="919" b="1" i="0">
                <a:solidFill>
                  <a:srgbClr val="028090"/>
                </a:solidFill>
                <a:latin typeface="DejaVu Sans"/>
              </a:rPr>
              <a:t>С ИИ — что приходится записывать дополнительно</a:t>
            </a:r>
          </a:p>
        </p:txBody>
      </p:sp>
      <p:sp>
        <p:nvSpPr>
          <p:cNvPr id="35" name="TextBox 34"/>
          <p:cNvSpPr txBox="1"/>
          <p:nvPr/>
        </p:nvSpPr>
        <p:spPr>
          <a:xfrm>
            <a:off x="6944868" y="4321525"/>
            <a:ext cx="4475988" cy="715137"/>
          </a:xfrm>
          <a:prstGeom prst="rect">
            <a:avLst/>
          </a:prstGeom>
          <a:noFill/>
        </p:spPr>
        <p:txBody>
          <a:bodyPr wrap="square" lIns="0" rIns="0" tIns="0" bIns="0" anchor="t">
            <a:spAutoFit/>
          </a:bodyPr>
          <a:lstStyle/>
          <a:p>
            <a:pPr algn="l">
              <a:lnSpc>
                <a:spcPct val="112000"/>
              </a:lnSpc>
            </a:pPr>
            <a:r>
              <a:rPr sz="950" b="1" i="0">
                <a:solidFill>
                  <a:srgbClr val="21295C"/>
                </a:solidFill>
                <a:latin typeface="DejaVu Sans"/>
              </a:rPr>
              <a:t>Распределение по пользователю, а не по запросу:</a:t>
            </a:r>
            <a:r>
              <a:rPr sz="950" b="0" i="0">
                <a:solidFill>
                  <a:srgbClr val="21295C"/>
                </a:solidFill>
                <a:latin typeface="DejaVu Sans"/>
              </a:rPr>
              <a:t> в диалоге один человек иначе попадает сразу в обе группы. И </a:t>
            </a:r>
            <a:r>
              <a:rPr sz="950" b="1" i="0">
                <a:solidFill>
                  <a:srgbClr val="21295C"/>
                </a:solidFill>
                <a:latin typeface="DejaVu Sans"/>
              </a:rPr>
              <a:t>не одну величину, а набор</a:t>
            </a:r>
            <a:r>
              <a:rPr sz="950" b="0" i="0">
                <a:solidFill>
                  <a:srgbClr val="21295C"/>
                </a:solidFill>
                <a:latin typeface="DejaVu Sans"/>
              </a:rPr>
              <a:t>: оценку качества ответа, долю переспрашиваний и правок, стоимость обращения.</a:t>
            </a:r>
          </a:p>
        </p:txBody>
      </p:sp>
      <p:sp>
        <p:nvSpPr>
          <p:cNvPr id="36" name="Rounded Rectangle 35"/>
          <p:cNvSpPr/>
          <p:nvPr/>
        </p:nvSpPr>
        <p:spPr>
          <a:xfrm>
            <a:off x="502920" y="5246974"/>
            <a:ext cx="1152144" cy="1060704"/>
          </a:xfrm>
          <a:prstGeom prst="roundRect">
            <a:avLst>
              <a:gd name="adj" fmla="val 22000"/>
            </a:avLst>
          </a:prstGeom>
          <a:solidFill>
            <a:srgbClr val="F0AB00"/>
          </a:solidFill>
          <a:ln w="127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48640" y="5246974"/>
            <a:ext cx="1060704" cy="1060704"/>
          </a:xfrm>
          <a:prstGeom prst="rect">
            <a:avLst/>
          </a:prstGeom>
          <a:noFill/>
        </p:spPr>
        <p:txBody>
          <a:bodyPr wrap="square" lIns="0" rIns="0" tIns="0" bIns="0" anchor="ctr">
            <a:spAutoFit/>
          </a:bodyPr>
          <a:lstStyle/>
          <a:p>
            <a:pPr algn="ctr">
              <a:lnSpc>
                <a:spcPct val="102000"/>
              </a:lnSpc>
            </a:pPr>
            <a:r>
              <a:rPr sz="950" b="1" i="0">
                <a:solidFill>
                  <a:srgbClr val="21295C"/>
                </a:solidFill>
                <a:latin typeface="DejaVu Sans"/>
              </a:rPr>
              <a:t>ГДЕ НЕ РАБОТАЕТ</a:t>
            </a:r>
          </a:p>
        </p:txBody>
      </p:sp>
      <p:sp>
        <p:nvSpPr>
          <p:cNvPr id="38" name="Rounded Rectangle 37"/>
          <p:cNvSpPr/>
          <p:nvPr/>
        </p:nvSpPr>
        <p:spPr>
          <a:xfrm>
            <a:off x="1801368" y="5246974"/>
            <a:ext cx="9902952" cy="1060704"/>
          </a:xfrm>
          <a:prstGeom prst="roundRect">
            <a:avLst>
              <a:gd name="adj" fmla="val 22000"/>
            </a:avLst>
          </a:prstGeom>
          <a:solidFill>
            <a:srgbClr val="FDF3DC"/>
          </a:solidFill>
          <a:ln w="317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984248" y="5338414"/>
            <a:ext cx="6611112" cy="877824"/>
          </a:xfrm>
          <a:prstGeom prst="rect">
            <a:avLst/>
          </a:prstGeom>
          <a:noFill/>
        </p:spPr>
        <p:txBody>
          <a:bodyPr wrap="square" lIns="0" rIns="0" tIns="0" bIns="0" anchor="ctr">
            <a:spAutoFit/>
          </a:bodyPr>
          <a:lstStyle/>
          <a:p>
            <a:pPr algn="l">
              <a:lnSpc>
                <a:spcPct val="114000"/>
              </a:lnSpc>
            </a:pPr>
            <a:r>
              <a:rPr sz="1019" b="1" i="0">
                <a:solidFill>
                  <a:srgbClr val="21295C"/>
                </a:solidFill>
                <a:latin typeface="DejaVu Sans"/>
              </a:rPr>
              <a:t>Пред-регистрация не делает эксперимент правильным — она делает неправильность видимой.</a:t>
            </a:r>
            <a:r>
              <a:rPr sz="1019" b="1" i="0">
                <a:solidFill>
                  <a:srgbClr val="21295C"/>
                </a:solidFill>
                <a:latin typeface="DejaVu Sans"/>
              </a:rPr>
              <a:t> Эффект новизны она не лечит: для него нужна отдельная удерживаемая группа. И она бессильна там, где наблюдений физически не хватает: честный выход — сменить вопрос или метод, а не выборку.</a:t>
            </a:r>
          </a:p>
        </p:txBody>
      </p:sp>
      <p:sp>
        <p:nvSpPr>
          <p:cNvPr id="40" name="Rounded Rectangle 39"/>
          <p:cNvSpPr/>
          <p:nvPr/>
        </p:nvSpPr>
        <p:spPr>
          <a:xfrm>
            <a:off x="8778240" y="5338414"/>
            <a:ext cx="2743200" cy="877824"/>
          </a:xfrm>
          <a:prstGeom prst="roundRect">
            <a:avLst>
              <a:gd name="adj" fmla="val 19444"/>
            </a:avLst>
          </a:prstGeom>
          <a:solidFill>
            <a:srgbClr val="FFFFFF"/>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778240" y="5374990"/>
            <a:ext cx="2743200" cy="201168"/>
          </a:xfrm>
          <a:prstGeom prst="rect">
            <a:avLst/>
          </a:prstGeom>
          <a:noFill/>
        </p:spPr>
        <p:txBody>
          <a:bodyPr wrap="square" lIns="0" rIns="0" tIns="0" bIns="0" anchor="t">
            <a:spAutoFit/>
          </a:bodyPr>
          <a:lstStyle/>
          <a:p>
            <a:pPr algn="ctr">
              <a:lnSpc>
                <a:spcPct val="105000"/>
              </a:lnSpc>
            </a:pPr>
            <a:r>
              <a:rPr sz="880" b="1" i="0">
                <a:solidFill>
                  <a:srgbClr val="21295C"/>
                </a:solidFill>
                <a:latin typeface="DejaVu Sans"/>
              </a:rPr>
              <a:t>ответа ждать больше трёх месяцев</a:t>
            </a:r>
          </a:p>
        </p:txBody>
      </p:sp>
      <p:sp>
        <p:nvSpPr>
          <p:cNvPr id="42" name="Rounded Rectangle 41"/>
          <p:cNvSpPr/>
          <p:nvPr/>
        </p:nvSpPr>
        <p:spPr>
          <a:xfrm>
            <a:off x="9281160" y="5631022"/>
            <a:ext cx="640080" cy="365760"/>
          </a:xfrm>
          <a:prstGeom prst="roundRect">
            <a:avLst>
              <a:gd name="adj" fmla="val 8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052560" y="5448142"/>
            <a:ext cx="1097280" cy="164592"/>
          </a:xfrm>
          <a:prstGeom prst="rect">
            <a:avLst/>
          </a:prstGeom>
          <a:noFill/>
        </p:spPr>
        <p:txBody>
          <a:bodyPr wrap="square" lIns="0" rIns="0" tIns="0" bIns="0" anchor="t">
            <a:spAutoFit/>
          </a:bodyPr>
          <a:lstStyle/>
          <a:p>
            <a:pPr algn="ctr">
              <a:lnSpc>
                <a:spcPct val="100000"/>
              </a:lnSpc>
            </a:pPr>
            <a:r>
              <a:rPr sz="960" b="1" i="0">
                <a:solidFill>
                  <a:srgbClr val="065A82"/>
                </a:solidFill>
                <a:latin typeface="DejaVu Sans"/>
              </a:rPr>
              <a:t>31 200</a:t>
            </a:r>
          </a:p>
        </p:txBody>
      </p:sp>
      <p:sp>
        <p:nvSpPr>
          <p:cNvPr id="44" name="TextBox 43"/>
          <p:cNvSpPr txBox="1"/>
          <p:nvPr/>
        </p:nvSpPr>
        <p:spPr>
          <a:xfrm>
            <a:off x="9052560" y="6005926"/>
            <a:ext cx="1097280" cy="201168"/>
          </a:xfrm>
          <a:prstGeom prst="rect">
            <a:avLst/>
          </a:prstGeom>
          <a:noFill/>
        </p:spPr>
        <p:txBody>
          <a:bodyPr wrap="square" lIns="0" rIns="0" tIns="0" bIns="0" anchor="t">
            <a:spAutoFit/>
          </a:bodyPr>
          <a:lstStyle/>
          <a:p>
            <a:pPr algn="ctr">
              <a:lnSpc>
                <a:spcPct val="105000"/>
              </a:lnSpc>
            </a:pPr>
            <a:r>
              <a:rPr sz="819" b="0" i="1">
                <a:solidFill>
                  <a:srgbClr val="21295C"/>
                </a:solidFill>
                <a:latin typeface="DejaVu Sans"/>
              </a:rPr>
              <a:t>нужно на группу</a:t>
            </a:r>
          </a:p>
        </p:txBody>
      </p:sp>
      <p:sp>
        <p:nvSpPr>
          <p:cNvPr id="45" name="Rounded Rectangle 44"/>
          <p:cNvSpPr/>
          <p:nvPr/>
        </p:nvSpPr>
        <p:spPr>
          <a:xfrm>
            <a:off x="10607040" y="5938167"/>
            <a:ext cx="640080" cy="58615"/>
          </a:xfrm>
          <a:prstGeom prst="roundRect">
            <a:avLst>
              <a:gd name="adj" fmla="val 8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378440" y="5755287"/>
            <a:ext cx="1097280" cy="164592"/>
          </a:xfrm>
          <a:prstGeom prst="rect">
            <a:avLst/>
          </a:prstGeom>
          <a:noFill/>
        </p:spPr>
        <p:txBody>
          <a:bodyPr wrap="square" lIns="0" rIns="0" tIns="0" bIns="0" anchor="t">
            <a:spAutoFit/>
          </a:bodyPr>
          <a:lstStyle/>
          <a:p>
            <a:pPr algn="ctr">
              <a:lnSpc>
                <a:spcPct val="100000"/>
              </a:lnSpc>
            </a:pPr>
            <a:r>
              <a:rPr sz="960" b="1" i="0">
                <a:solidFill>
                  <a:srgbClr val="F0AB00"/>
                </a:solidFill>
                <a:latin typeface="DejaVu Sans"/>
              </a:rPr>
              <a:t>5 000</a:t>
            </a:r>
          </a:p>
        </p:txBody>
      </p:sp>
      <p:sp>
        <p:nvSpPr>
          <p:cNvPr id="47" name="TextBox 46"/>
          <p:cNvSpPr txBox="1"/>
          <p:nvPr/>
        </p:nvSpPr>
        <p:spPr>
          <a:xfrm>
            <a:off x="10378440" y="6005926"/>
            <a:ext cx="1097280" cy="201168"/>
          </a:xfrm>
          <a:prstGeom prst="rect">
            <a:avLst/>
          </a:prstGeom>
          <a:noFill/>
        </p:spPr>
        <p:txBody>
          <a:bodyPr wrap="square" lIns="0" rIns="0" tIns="0" bIns="0" anchor="t">
            <a:spAutoFit/>
          </a:bodyPr>
          <a:lstStyle/>
          <a:p>
            <a:pPr algn="ctr">
              <a:lnSpc>
                <a:spcPct val="105000"/>
              </a:lnSpc>
            </a:pPr>
            <a:r>
              <a:rPr sz="819" b="0" i="1">
                <a:solidFill>
                  <a:srgbClr val="21295C"/>
                </a:solidFill>
                <a:latin typeface="DejaVu Sans"/>
              </a:rPr>
              <a:t>есть в неделю</a:t>
            </a:r>
          </a:p>
        </p:txBody>
      </p:sp>
      <p:sp>
        <p:nvSpPr>
          <p:cNvPr id="48" name="TextBox 47"/>
          <p:cNvSpPr txBox="1"/>
          <p:nvPr/>
        </p:nvSpPr>
        <p:spPr>
          <a:xfrm>
            <a:off x="502920" y="6437376"/>
            <a:ext cx="10515600" cy="201168"/>
          </a:xfrm>
          <a:prstGeom prst="rect">
            <a:avLst/>
          </a:prstGeom>
          <a:noFill/>
        </p:spPr>
        <p:txBody>
          <a:bodyPr wrap="square" lIns="0" rIns="0" tIns="0" bIns="0" anchor="t">
            <a:spAutoFit/>
          </a:bodyPr>
          <a:lstStyle/>
          <a:p>
            <a:pPr algn="l">
              <a:lnSpc>
                <a:spcPct val="100000"/>
              </a:lnSpc>
            </a:pPr>
            <a:r>
              <a:rPr sz="900" b="0" i="1">
                <a:solidFill>
                  <a:srgbClr val="1C7293"/>
                </a:solidFill>
                <a:latin typeface="DejaVu Sans"/>
              </a:rPr>
              <a:t>Распределение по пользователю против распределения по реплике · Расчёт 31 200 на группу — иллюстративный</a:t>
            </a:r>
          </a:p>
        </p:txBody>
      </p:sp>
      <p:sp>
        <p:nvSpPr>
          <p:cNvPr id="49" name="TextBox 48"/>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31 / 54</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18872"/>
            <a:ext cx="11201400" cy="325894"/>
          </a:xfrm>
          <a:prstGeom prst="rect">
            <a:avLst/>
          </a:prstGeom>
          <a:noFill/>
        </p:spPr>
        <p:txBody>
          <a:bodyPr wrap="square" lIns="0" rIns="0" tIns="0" bIns="0" anchor="t">
            <a:spAutoFit/>
          </a:bodyPr>
          <a:lstStyle/>
          <a:p>
            <a:pPr algn="l">
              <a:lnSpc>
                <a:spcPct val="110000"/>
              </a:lnSpc>
            </a:pPr>
            <a:r>
              <a:rPr sz="1900" b="1" i="0">
                <a:solidFill>
                  <a:srgbClr val="21295C"/>
                </a:solidFill>
                <a:latin typeface="DejaVu Sans"/>
              </a:rPr>
              <a:t>Оценки: тесты для системы, которая каждый раз отвечает иначе</a:t>
            </a:r>
          </a:p>
        </p:txBody>
      </p:sp>
      <p:sp>
        <p:nvSpPr>
          <p:cNvPr id="3" name="Rounded Rectangle 2"/>
          <p:cNvSpPr/>
          <p:nvPr/>
        </p:nvSpPr>
        <p:spPr>
          <a:xfrm>
            <a:off x="502920" y="536206"/>
            <a:ext cx="1152144" cy="893058"/>
          </a:xfrm>
          <a:prstGeom prst="roundRect">
            <a:avLst>
              <a:gd name="adj" fmla="val 22000"/>
            </a:avLst>
          </a:prstGeom>
          <a:solidFill>
            <a:srgbClr val="21295C"/>
          </a:solidFill>
          <a:ln w="12700">
            <a:solidFill>
              <a:srgbClr val="2129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36206"/>
            <a:ext cx="1060704" cy="893058"/>
          </a:xfrm>
          <a:prstGeom prst="rect">
            <a:avLst/>
          </a:prstGeom>
          <a:noFill/>
        </p:spPr>
        <p:txBody>
          <a:bodyPr wrap="square" lIns="0" rIns="0" tIns="0" bIns="0" anchor="ctr">
            <a:spAutoFit/>
          </a:bodyPr>
          <a:lstStyle/>
          <a:p>
            <a:pPr algn="ctr">
              <a:lnSpc>
                <a:spcPct val="102000"/>
              </a:lnSpc>
            </a:pPr>
            <a:r>
              <a:rPr sz="950" b="1" i="0">
                <a:solidFill>
                  <a:srgbClr val="FFFFFF"/>
                </a:solidFill>
                <a:latin typeface="DejaVu Sans"/>
              </a:rPr>
              <a:t>ЧТО ЭТО</a:t>
            </a:r>
          </a:p>
        </p:txBody>
      </p:sp>
      <p:sp>
        <p:nvSpPr>
          <p:cNvPr id="5" name="Rounded Rectangle 4"/>
          <p:cNvSpPr/>
          <p:nvPr/>
        </p:nvSpPr>
        <p:spPr>
          <a:xfrm>
            <a:off x="1801368" y="536206"/>
            <a:ext cx="9902952" cy="893058"/>
          </a:xfrm>
          <a:prstGeom prst="roundRect">
            <a:avLst>
              <a:gd name="adj" fmla="val 22000"/>
            </a:avLst>
          </a:prstGeom>
          <a:solidFill>
            <a:srgbClr val="FFFFFF"/>
          </a:solidFill>
          <a:ln w="2286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984248" y="627646"/>
            <a:ext cx="9537192" cy="710178"/>
          </a:xfrm>
          <a:prstGeom prst="rect">
            <a:avLst/>
          </a:prstGeom>
          <a:noFill/>
        </p:spPr>
        <p:txBody>
          <a:bodyPr wrap="square" lIns="0" rIns="0" tIns="0" bIns="0" anchor="ctr">
            <a:spAutoFit/>
          </a:bodyPr>
          <a:lstStyle/>
          <a:p>
            <a:pPr algn="l">
              <a:lnSpc>
                <a:spcPct val="114000"/>
              </a:lnSpc>
            </a:pPr>
            <a:r>
              <a:rPr sz="1150" b="0" i="0">
                <a:solidFill>
                  <a:srgbClr val="21295C"/>
                </a:solidFill>
                <a:latin typeface="DejaVu Sans"/>
              </a:rPr>
              <a:t>Оценка (в обиходе «эвал») — набор задач с заранее известным желаемым ответом, на котором прогоняют модель или агента. Смысл тот же, что у набора тестов для кода, но ответ не сверяют посимвольно: его оценивает человек, отдельная модель-судья или проверка по правилу.</a:t>
            </a:r>
          </a:p>
        </p:txBody>
      </p:sp>
      <p:sp>
        <p:nvSpPr>
          <p:cNvPr id="7" name="Rounded Rectangle 6"/>
          <p:cNvSpPr/>
          <p:nvPr/>
        </p:nvSpPr>
        <p:spPr>
          <a:xfrm>
            <a:off x="502920" y="1493273"/>
            <a:ext cx="1152144" cy="2048256"/>
          </a:xfrm>
          <a:prstGeom prst="roundRect">
            <a:avLst>
              <a:gd name="adj" fmla="val 22000"/>
            </a:avLst>
          </a:prstGeom>
          <a:solidFill>
            <a:srgbClr val="065A82"/>
          </a:solidFill>
          <a:ln w="1270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493273"/>
            <a:ext cx="1060704" cy="2048256"/>
          </a:xfrm>
          <a:prstGeom prst="rect">
            <a:avLst/>
          </a:prstGeom>
          <a:noFill/>
        </p:spPr>
        <p:txBody>
          <a:bodyPr wrap="square" lIns="0" rIns="0" tIns="0" bIns="0" anchor="ctr">
            <a:spAutoFit/>
          </a:bodyPr>
          <a:lstStyle/>
          <a:p>
            <a:pPr algn="ctr">
              <a:lnSpc>
                <a:spcPct val="102000"/>
              </a:lnSpc>
            </a:pPr>
            <a:r>
              <a:rPr sz="950" b="1" i="0">
                <a:solidFill>
                  <a:srgbClr val="FFFFFF"/>
                </a:solidFill>
                <a:latin typeface="DejaVu Sans"/>
              </a:rPr>
              <a:t>МЕХАНИЗМ</a:t>
            </a:r>
          </a:p>
        </p:txBody>
      </p:sp>
      <p:sp>
        <p:nvSpPr>
          <p:cNvPr id="9" name="Rounded Rectangle 8"/>
          <p:cNvSpPr/>
          <p:nvPr/>
        </p:nvSpPr>
        <p:spPr>
          <a:xfrm>
            <a:off x="1801368" y="1493273"/>
            <a:ext cx="9902952" cy="2048256"/>
          </a:xfrm>
          <a:prstGeom prst="roundRect">
            <a:avLst>
              <a:gd name="adj" fmla="val 1488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984248" y="1598429"/>
            <a:ext cx="214884" cy="2148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984248" y="1598429"/>
            <a:ext cx="214884" cy="214884"/>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1</a:t>
            </a:r>
          </a:p>
        </p:txBody>
      </p:sp>
      <p:sp>
        <p:nvSpPr>
          <p:cNvPr id="12" name="TextBox 11"/>
          <p:cNvSpPr txBox="1"/>
          <p:nvPr/>
        </p:nvSpPr>
        <p:spPr>
          <a:xfrm>
            <a:off x="2295144" y="1584713"/>
            <a:ext cx="5020056" cy="378673"/>
          </a:xfrm>
          <a:prstGeom prst="rect">
            <a:avLst/>
          </a:prstGeom>
          <a:noFill/>
        </p:spPr>
        <p:txBody>
          <a:bodyPr wrap="square" lIns="0" rIns="0" tIns="0" bIns="0" anchor="t">
            <a:spAutoFit/>
          </a:bodyPr>
          <a:lstStyle/>
          <a:p>
            <a:pPr algn="l">
              <a:lnSpc>
                <a:spcPct val="115000"/>
              </a:lnSpc>
            </a:pPr>
            <a:r>
              <a:rPr sz="1000" b="1" i="0">
                <a:solidFill>
                  <a:srgbClr val="065A82"/>
                </a:solidFill>
                <a:latin typeface="DejaVu Sans"/>
              </a:rPr>
              <a:t>До выпуска</a:t>
            </a:r>
            <a:r>
              <a:rPr sz="1000" b="0" i="0">
                <a:solidFill>
                  <a:srgbClr val="21295C"/>
                </a:solidFill>
                <a:latin typeface="DejaVu Sans"/>
              </a:rPr>
              <a:t> — прогон против отобранного набора: воспроизводимо, ловит то, что уже ломалось.</a:t>
            </a:r>
          </a:p>
        </p:txBody>
      </p:sp>
      <p:sp>
        <p:nvSpPr>
          <p:cNvPr id="13" name="Oval 12"/>
          <p:cNvSpPr/>
          <p:nvPr/>
        </p:nvSpPr>
        <p:spPr>
          <a:xfrm>
            <a:off x="1984248" y="2041110"/>
            <a:ext cx="214884" cy="2148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984248" y="2041110"/>
            <a:ext cx="214884" cy="214884"/>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2</a:t>
            </a:r>
          </a:p>
        </p:txBody>
      </p:sp>
      <p:sp>
        <p:nvSpPr>
          <p:cNvPr id="15" name="TextBox 14"/>
          <p:cNvSpPr txBox="1"/>
          <p:nvPr/>
        </p:nvSpPr>
        <p:spPr>
          <a:xfrm>
            <a:off x="2295144" y="2027394"/>
            <a:ext cx="5020056" cy="544235"/>
          </a:xfrm>
          <a:prstGeom prst="rect">
            <a:avLst/>
          </a:prstGeom>
          <a:noFill/>
        </p:spPr>
        <p:txBody>
          <a:bodyPr wrap="square" lIns="0" rIns="0" tIns="0" bIns="0" anchor="t">
            <a:spAutoFit/>
          </a:bodyPr>
          <a:lstStyle/>
          <a:p>
            <a:pPr algn="l">
              <a:lnSpc>
                <a:spcPct val="115000"/>
              </a:lnSpc>
            </a:pPr>
            <a:r>
              <a:rPr sz="1000" b="1" i="0">
                <a:solidFill>
                  <a:srgbClr val="065A82"/>
                </a:solidFill>
                <a:latin typeface="DejaVu Sans"/>
              </a:rPr>
              <a:t>После выпуска</a:t>
            </a:r>
            <a:r>
              <a:rPr sz="1000" b="0" i="0">
                <a:solidFill>
                  <a:srgbClr val="21295C"/>
                </a:solidFill>
                <a:latin typeface="DejaVu Sans"/>
              </a:rPr>
              <a:t> — оценка на живом трафике: вскрывает входы, которых в наборе не было, и поведение, заметное только на длинной цепочке ходов.</a:t>
            </a:r>
          </a:p>
        </p:txBody>
      </p:sp>
      <p:sp>
        <p:nvSpPr>
          <p:cNvPr id="16" name="Oval 15"/>
          <p:cNvSpPr/>
          <p:nvPr/>
        </p:nvSpPr>
        <p:spPr>
          <a:xfrm>
            <a:off x="1984248" y="2649354"/>
            <a:ext cx="214884" cy="2148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984248" y="2649354"/>
            <a:ext cx="214884" cy="214884"/>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3</a:t>
            </a:r>
          </a:p>
        </p:txBody>
      </p:sp>
      <p:sp>
        <p:nvSpPr>
          <p:cNvPr id="18" name="TextBox 17"/>
          <p:cNvSpPr txBox="1"/>
          <p:nvPr/>
        </p:nvSpPr>
        <p:spPr>
          <a:xfrm>
            <a:off x="2295144" y="2635638"/>
            <a:ext cx="5020056" cy="378673"/>
          </a:xfrm>
          <a:prstGeom prst="rect">
            <a:avLst/>
          </a:prstGeom>
          <a:noFill/>
        </p:spPr>
        <p:txBody>
          <a:bodyPr wrap="square" lIns="0" rIns="0" tIns="0" bIns="0" anchor="t">
            <a:spAutoFit/>
          </a:bodyPr>
          <a:lstStyle/>
          <a:p>
            <a:pPr algn="l">
              <a:lnSpc>
                <a:spcPct val="115000"/>
              </a:lnSpc>
            </a:pPr>
            <a:r>
              <a:rPr sz="1000" b="1" i="0">
                <a:solidFill>
                  <a:srgbClr val="065A82"/>
                </a:solidFill>
                <a:latin typeface="DejaVu Sans"/>
              </a:rPr>
              <a:t>Замыкание</a:t>
            </a:r>
            <a:r>
              <a:rPr sz="1000" b="0" i="0">
                <a:solidFill>
                  <a:srgbClr val="21295C"/>
                </a:solidFill>
                <a:latin typeface="DejaVu Sans"/>
              </a:rPr>
              <a:t> — разбор промышленного сбоя добавляет в набор строку, и она остаётся там навсегда.</a:t>
            </a:r>
          </a:p>
        </p:txBody>
      </p:sp>
      <p:sp>
        <p:nvSpPr>
          <p:cNvPr id="19" name="Rounded Rectangle 18"/>
          <p:cNvSpPr/>
          <p:nvPr/>
        </p:nvSpPr>
        <p:spPr>
          <a:xfrm>
            <a:off x="7589520" y="1584713"/>
            <a:ext cx="1572768" cy="438912"/>
          </a:xfrm>
          <a:prstGeom prst="roundRect">
            <a:avLst>
              <a:gd name="adj" fmla="val 22000"/>
            </a:avLst>
          </a:prstGeom>
          <a:solidFill>
            <a:srgbClr val="FFFFFF"/>
          </a:solidFill>
          <a:ln w="2032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44384" y="1584713"/>
            <a:ext cx="1463040" cy="438912"/>
          </a:xfrm>
          <a:prstGeom prst="rect">
            <a:avLst/>
          </a:prstGeom>
          <a:noFill/>
        </p:spPr>
        <p:txBody>
          <a:bodyPr wrap="square" lIns="0" rIns="0" tIns="0" bIns="0" anchor="ctr">
            <a:spAutoFit/>
          </a:bodyPr>
          <a:lstStyle/>
          <a:p>
            <a:pPr algn="ctr">
              <a:lnSpc>
                <a:spcPct val="104000"/>
              </a:lnSpc>
            </a:pPr>
            <a:r>
              <a:rPr sz="940" b="1" i="0">
                <a:solidFill>
                  <a:srgbClr val="065A82"/>
                </a:solidFill>
                <a:latin typeface="DejaVu Sans"/>
              </a:rPr>
              <a:t>набор</a:t>
            </a:r>
          </a:p>
          <a:p>
            <a:pPr algn="ctr">
              <a:lnSpc>
                <a:spcPct val="104000"/>
              </a:lnSpc>
            </a:pPr>
            <a:r>
              <a:rPr sz="940" b="1" i="0">
                <a:solidFill>
                  <a:srgbClr val="065A82"/>
                </a:solidFill>
                <a:latin typeface="DejaVu Sans"/>
              </a:rPr>
              <a:t>задач</a:t>
            </a:r>
          </a:p>
        </p:txBody>
      </p:sp>
      <p:sp>
        <p:nvSpPr>
          <p:cNvPr id="21" name="Rounded Rectangle 20"/>
          <p:cNvSpPr/>
          <p:nvPr/>
        </p:nvSpPr>
        <p:spPr>
          <a:xfrm>
            <a:off x="9948672" y="1584713"/>
            <a:ext cx="1572768" cy="438912"/>
          </a:xfrm>
          <a:prstGeom prst="roundRect">
            <a:avLst>
              <a:gd name="adj" fmla="val 22000"/>
            </a:avLst>
          </a:prstGeom>
          <a:solidFill>
            <a:srgbClr val="FFFFFF"/>
          </a:solidFill>
          <a:ln w="2032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03536" y="1584713"/>
            <a:ext cx="1463040" cy="438912"/>
          </a:xfrm>
          <a:prstGeom prst="rect">
            <a:avLst/>
          </a:prstGeom>
          <a:noFill/>
        </p:spPr>
        <p:txBody>
          <a:bodyPr wrap="square" lIns="0" rIns="0" tIns="0" bIns="0" anchor="ctr">
            <a:spAutoFit/>
          </a:bodyPr>
          <a:lstStyle/>
          <a:p>
            <a:pPr algn="ctr">
              <a:lnSpc>
                <a:spcPct val="104000"/>
              </a:lnSpc>
            </a:pPr>
            <a:r>
              <a:rPr sz="940" b="1" i="0">
                <a:solidFill>
                  <a:srgbClr val="1C7293"/>
                </a:solidFill>
                <a:latin typeface="DejaVu Sans"/>
              </a:rPr>
              <a:t>выпуск</a:t>
            </a:r>
          </a:p>
        </p:txBody>
      </p:sp>
      <p:sp>
        <p:nvSpPr>
          <p:cNvPr id="23" name="Rounded Rectangle 22"/>
          <p:cNvSpPr/>
          <p:nvPr/>
        </p:nvSpPr>
        <p:spPr>
          <a:xfrm>
            <a:off x="9948672" y="2499113"/>
            <a:ext cx="1572768" cy="438912"/>
          </a:xfrm>
          <a:prstGeom prst="roundRect">
            <a:avLst>
              <a:gd name="adj" fmla="val 22000"/>
            </a:avLst>
          </a:prstGeom>
          <a:solidFill>
            <a:srgbClr val="FFFFFF"/>
          </a:solidFill>
          <a:ln w="2032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03536" y="2499113"/>
            <a:ext cx="1463040" cy="438912"/>
          </a:xfrm>
          <a:prstGeom prst="rect">
            <a:avLst/>
          </a:prstGeom>
          <a:noFill/>
        </p:spPr>
        <p:txBody>
          <a:bodyPr wrap="square" lIns="0" rIns="0" tIns="0" bIns="0" anchor="ctr">
            <a:spAutoFit/>
          </a:bodyPr>
          <a:lstStyle/>
          <a:p>
            <a:pPr algn="ctr">
              <a:lnSpc>
                <a:spcPct val="104000"/>
              </a:lnSpc>
            </a:pPr>
            <a:r>
              <a:rPr sz="940" b="1" i="0">
                <a:solidFill>
                  <a:srgbClr val="028090"/>
                </a:solidFill>
                <a:latin typeface="DejaVu Sans"/>
              </a:rPr>
              <a:t>живой трафик</a:t>
            </a:r>
          </a:p>
        </p:txBody>
      </p:sp>
      <p:sp>
        <p:nvSpPr>
          <p:cNvPr id="25" name="Rounded Rectangle 24"/>
          <p:cNvSpPr/>
          <p:nvPr/>
        </p:nvSpPr>
        <p:spPr>
          <a:xfrm>
            <a:off x="7589520" y="2499113"/>
            <a:ext cx="1572768" cy="438912"/>
          </a:xfrm>
          <a:prstGeom prst="roundRect">
            <a:avLst>
              <a:gd name="adj" fmla="val 22000"/>
            </a:avLst>
          </a:prstGeom>
          <a:solidFill>
            <a:srgbClr val="FFFFFF"/>
          </a:solidFill>
          <a:ln w="20320">
            <a:solidFill>
              <a:srgbClr val="5B66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44384" y="2499113"/>
            <a:ext cx="1463040" cy="438912"/>
          </a:xfrm>
          <a:prstGeom prst="rect">
            <a:avLst/>
          </a:prstGeom>
          <a:noFill/>
        </p:spPr>
        <p:txBody>
          <a:bodyPr wrap="square" lIns="0" rIns="0" tIns="0" bIns="0" anchor="ctr">
            <a:spAutoFit/>
          </a:bodyPr>
          <a:lstStyle/>
          <a:p>
            <a:pPr algn="ctr">
              <a:lnSpc>
                <a:spcPct val="104000"/>
              </a:lnSpc>
            </a:pPr>
            <a:r>
              <a:rPr sz="940" b="1" i="0">
                <a:solidFill>
                  <a:srgbClr val="5B6678"/>
                </a:solidFill>
                <a:latin typeface="DejaVu Sans"/>
              </a:rPr>
              <a:t>разбор сбоя</a:t>
            </a:r>
          </a:p>
        </p:txBody>
      </p:sp>
      <p:cxnSp>
        <p:nvCxnSpPr>
          <p:cNvPr id="27" name="Connector 26"/>
          <p:cNvCxnSpPr/>
          <p:nvPr/>
        </p:nvCxnSpPr>
        <p:spPr>
          <a:xfrm>
            <a:off x="9162288" y="1804169"/>
            <a:ext cx="786384" cy="0"/>
          </a:xfrm>
          <a:prstGeom prst="line">
            <a:avLst/>
          </a:prstGeom>
          <a:ln w="25400">
            <a:solidFill>
              <a:srgbClr val="1C729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0735056" y="2023625"/>
            <a:ext cx="0" cy="475488"/>
          </a:xfrm>
          <a:prstGeom prst="line">
            <a:avLst/>
          </a:prstGeom>
          <a:ln w="25400">
            <a:solidFill>
              <a:srgbClr val="1C729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a:off x="9162288" y="2718569"/>
            <a:ext cx="786384" cy="0"/>
          </a:xfrm>
          <a:prstGeom prst="line">
            <a:avLst/>
          </a:prstGeom>
          <a:ln w="25400">
            <a:solidFill>
              <a:srgbClr val="5B667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8375904" y="2023625"/>
            <a:ext cx="0" cy="475488"/>
          </a:xfrm>
          <a:prstGeom prst="line">
            <a:avLst/>
          </a:prstGeom>
          <a:ln w="50800">
            <a:solidFill>
              <a:srgbClr val="F0AB00"/>
            </a:solidFill>
            <a:tailEnd type="triangle" w="lg" len="lg"/>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7589520" y="3011177"/>
            <a:ext cx="3931920" cy="420624"/>
          </a:xfrm>
          <a:prstGeom prst="rect">
            <a:avLst/>
          </a:prstGeom>
          <a:noFill/>
        </p:spPr>
        <p:txBody>
          <a:bodyPr wrap="square" lIns="0" rIns="0" tIns="0" bIns="0" anchor="t">
            <a:spAutoFit/>
          </a:bodyPr>
          <a:lstStyle/>
          <a:p>
            <a:pPr algn="ctr">
              <a:lnSpc>
                <a:spcPct val="105000"/>
              </a:lnSpc>
            </a:pPr>
            <a:r>
              <a:rPr sz="880" b="0" i="1">
                <a:solidFill>
                  <a:srgbClr val="21295C"/>
                </a:solidFill>
                <a:latin typeface="DejaVu Sans"/>
              </a:rPr>
              <a:t>золотая стрелка и делает петлю петлёй: разбор сбоя добавляет в набор строку — без этого шага это отчёт, а не петля</a:t>
            </a:r>
          </a:p>
        </p:txBody>
      </p:sp>
      <p:sp>
        <p:nvSpPr>
          <p:cNvPr id="32" name="Rounded Rectangle 31"/>
          <p:cNvSpPr/>
          <p:nvPr/>
        </p:nvSpPr>
        <p:spPr>
          <a:xfrm>
            <a:off x="502920" y="3605537"/>
            <a:ext cx="1152144" cy="1227201"/>
          </a:xfrm>
          <a:prstGeom prst="roundRect">
            <a:avLst>
              <a:gd name="adj" fmla="val 22000"/>
            </a:avLst>
          </a:prstGeom>
          <a:solidFill>
            <a:srgbClr val="1C7293"/>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48640" y="3605537"/>
            <a:ext cx="1060704" cy="1227201"/>
          </a:xfrm>
          <a:prstGeom prst="rect">
            <a:avLst/>
          </a:prstGeom>
          <a:noFill/>
        </p:spPr>
        <p:txBody>
          <a:bodyPr wrap="square" lIns="0" rIns="0" tIns="0" bIns="0" anchor="ctr">
            <a:spAutoFit/>
          </a:bodyPr>
          <a:lstStyle/>
          <a:p>
            <a:pPr algn="ctr">
              <a:lnSpc>
                <a:spcPct val="102000"/>
              </a:lnSpc>
            </a:pPr>
            <a:r>
              <a:rPr sz="950" b="1" i="0">
                <a:solidFill>
                  <a:srgbClr val="FFFFFF"/>
                </a:solidFill>
                <a:latin typeface="DejaVu Sans"/>
              </a:rPr>
              <a:t>С ИИ И БЕЗ ИИ</a:t>
            </a:r>
          </a:p>
        </p:txBody>
      </p:sp>
      <p:sp>
        <p:nvSpPr>
          <p:cNvPr id="34" name="Rounded Rectangle 33"/>
          <p:cNvSpPr/>
          <p:nvPr/>
        </p:nvSpPr>
        <p:spPr>
          <a:xfrm>
            <a:off x="1801368" y="3605537"/>
            <a:ext cx="9902952" cy="1227201"/>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1984248" y="3696977"/>
            <a:ext cx="4677156" cy="1044321"/>
          </a:xfrm>
          <a:prstGeom prst="roundRect">
            <a:avLst>
              <a:gd name="adj" fmla="val 17025"/>
            </a:avLst>
          </a:prstGeom>
          <a:solidFill>
            <a:srgbClr val="FFFFFF"/>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084831" y="3742697"/>
            <a:ext cx="4475988" cy="219456"/>
          </a:xfrm>
          <a:prstGeom prst="rect">
            <a:avLst/>
          </a:prstGeom>
          <a:noFill/>
        </p:spPr>
        <p:txBody>
          <a:bodyPr wrap="square" lIns="0" rIns="0" tIns="0" bIns="0" anchor="t">
            <a:spAutoFit/>
          </a:bodyPr>
          <a:lstStyle/>
          <a:p>
            <a:pPr algn="l">
              <a:lnSpc>
                <a:spcPct val="100000"/>
              </a:lnSpc>
            </a:pPr>
            <a:r>
              <a:rPr sz="919" b="1" i="0">
                <a:solidFill>
                  <a:srgbClr val="065A82"/>
                </a:solidFill>
                <a:latin typeface="DejaVu Sans"/>
              </a:rPr>
              <a:t>БЕЗ ИИ — набор тестов кода</a:t>
            </a:r>
          </a:p>
        </p:txBody>
      </p:sp>
      <p:sp>
        <p:nvSpPr>
          <p:cNvPr id="37" name="TextBox 36"/>
          <p:cNvSpPr txBox="1"/>
          <p:nvPr/>
        </p:nvSpPr>
        <p:spPr>
          <a:xfrm>
            <a:off x="2084831" y="3971297"/>
            <a:ext cx="4475988" cy="715137"/>
          </a:xfrm>
          <a:prstGeom prst="rect">
            <a:avLst/>
          </a:prstGeom>
          <a:noFill/>
        </p:spPr>
        <p:txBody>
          <a:bodyPr wrap="square" lIns="0" rIns="0" tIns="0" bIns="0" anchor="t">
            <a:spAutoFit/>
          </a:bodyPr>
          <a:lstStyle/>
          <a:p>
            <a:pPr algn="l">
              <a:lnSpc>
                <a:spcPct val="112000"/>
              </a:lnSpc>
            </a:pPr>
            <a:r>
              <a:rPr sz="950" b="0" i="0">
                <a:solidFill>
                  <a:srgbClr val="21295C"/>
                </a:solidFill>
                <a:latin typeface="DejaVu Sans"/>
              </a:rPr>
              <a:t>Ожидаемый ответ известен посимвольно, прогон воспроизводим, результат — «прошёл» или «не прошёл».</a:t>
            </a:r>
          </a:p>
        </p:txBody>
      </p:sp>
      <p:sp>
        <p:nvSpPr>
          <p:cNvPr id="38" name="Rounded Rectangle 37"/>
          <p:cNvSpPr/>
          <p:nvPr/>
        </p:nvSpPr>
        <p:spPr>
          <a:xfrm>
            <a:off x="6844284" y="3696977"/>
            <a:ext cx="4677156" cy="1044321"/>
          </a:xfrm>
          <a:prstGeom prst="roundRect">
            <a:avLst>
              <a:gd name="adj" fmla="val 17025"/>
            </a:avLst>
          </a:prstGeom>
          <a:solidFill>
            <a:srgbClr val="FFFFFF"/>
          </a:solidFill>
          <a:ln w="1778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944868" y="3742697"/>
            <a:ext cx="4475988" cy="219456"/>
          </a:xfrm>
          <a:prstGeom prst="rect">
            <a:avLst/>
          </a:prstGeom>
          <a:noFill/>
        </p:spPr>
        <p:txBody>
          <a:bodyPr wrap="square" lIns="0" rIns="0" tIns="0" bIns="0" anchor="t">
            <a:spAutoFit/>
          </a:bodyPr>
          <a:lstStyle/>
          <a:p>
            <a:pPr algn="l">
              <a:lnSpc>
                <a:spcPct val="100000"/>
              </a:lnSpc>
            </a:pPr>
            <a:r>
              <a:rPr sz="919" b="1" i="0">
                <a:solidFill>
                  <a:srgbClr val="028090"/>
                </a:solidFill>
                <a:latin typeface="DejaVu Sans"/>
              </a:rPr>
              <a:t>С ИИ — оценка вместо сравнения</a:t>
            </a:r>
          </a:p>
        </p:txBody>
      </p:sp>
      <p:sp>
        <p:nvSpPr>
          <p:cNvPr id="40" name="TextBox 39"/>
          <p:cNvSpPr txBox="1"/>
          <p:nvPr/>
        </p:nvSpPr>
        <p:spPr>
          <a:xfrm>
            <a:off x="6944868" y="3971297"/>
            <a:ext cx="4475988" cy="715137"/>
          </a:xfrm>
          <a:prstGeom prst="rect">
            <a:avLst/>
          </a:prstGeom>
          <a:noFill/>
        </p:spPr>
        <p:txBody>
          <a:bodyPr wrap="square" lIns="0" rIns="0" tIns="0" bIns="0" anchor="t">
            <a:spAutoFit/>
          </a:bodyPr>
          <a:lstStyle/>
          <a:p>
            <a:pPr algn="l">
              <a:lnSpc>
                <a:spcPct val="112000"/>
              </a:lnSpc>
            </a:pPr>
            <a:r>
              <a:rPr sz="950" b="0" i="0">
                <a:solidFill>
                  <a:srgbClr val="21295C"/>
                </a:solidFill>
                <a:latin typeface="DejaVu Sans"/>
              </a:rPr>
              <a:t>Результат — доля, а не «да/нет». Инструменты 2026 года (Langfuse, Braintrust, LangSmith, Arize Phoenix) строятся вокруг трассы запроса и вешают оценку прямо на живой трафик.</a:t>
            </a:r>
          </a:p>
        </p:txBody>
      </p:sp>
      <p:sp>
        <p:nvSpPr>
          <p:cNvPr id="41" name="Rounded Rectangle 40"/>
          <p:cNvSpPr/>
          <p:nvPr/>
        </p:nvSpPr>
        <p:spPr>
          <a:xfrm>
            <a:off x="502920" y="4896746"/>
            <a:ext cx="1152144" cy="1166236"/>
          </a:xfrm>
          <a:prstGeom prst="roundRect">
            <a:avLst>
              <a:gd name="adj" fmla="val 22000"/>
            </a:avLst>
          </a:prstGeom>
          <a:solidFill>
            <a:srgbClr val="F0AB00"/>
          </a:solidFill>
          <a:ln w="127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48640" y="4896746"/>
            <a:ext cx="1060704" cy="1166236"/>
          </a:xfrm>
          <a:prstGeom prst="rect">
            <a:avLst/>
          </a:prstGeom>
          <a:noFill/>
        </p:spPr>
        <p:txBody>
          <a:bodyPr wrap="square" lIns="0" rIns="0" tIns="0" bIns="0" anchor="ctr">
            <a:spAutoFit/>
          </a:bodyPr>
          <a:lstStyle/>
          <a:p>
            <a:pPr algn="ctr">
              <a:lnSpc>
                <a:spcPct val="102000"/>
              </a:lnSpc>
            </a:pPr>
            <a:r>
              <a:rPr sz="950" b="1" i="0">
                <a:solidFill>
                  <a:srgbClr val="21295C"/>
                </a:solidFill>
                <a:latin typeface="DejaVu Sans"/>
              </a:rPr>
              <a:t>ГДЕ НЕ РАБОТАЕТ</a:t>
            </a:r>
          </a:p>
        </p:txBody>
      </p:sp>
      <p:sp>
        <p:nvSpPr>
          <p:cNvPr id="43" name="Rounded Rectangle 42"/>
          <p:cNvSpPr/>
          <p:nvPr/>
        </p:nvSpPr>
        <p:spPr>
          <a:xfrm>
            <a:off x="1801368" y="4896746"/>
            <a:ext cx="9902952" cy="1166236"/>
          </a:xfrm>
          <a:prstGeom prst="roundRect">
            <a:avLst>
              <a:gd name="adj" fmla="val 22000"/>
            </a:avLst>
          </a:prstGeom>
          <a:solidFill>
            <a:srgbClr val="FDF3DC"/>
          </a:solidFill>
          <a:ln w="317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984248" y="4988186"/>
            <a:ext cx="9537192" cy="983356"/>
          </a:xfrm>
          <a:prstGeom prst="rect">
            <a:avLst/>
          </a:prstGeom>
          <a:noFill/>
        </p:spPr>
        <p:txBody>
          <a:bodyPr wrap="square" lIns="0" rIns="0" tIns="0" bIns="0" anchor="ctr">
            <a:spAutoFit/>
          </a:bodyPr>
          <a:lstStyle/>
          <a:p>
            <a:pPr algn="l">
              <a:lnSpc>
                <a:spcPct val="114000"/>
              </a:lnSpc>
            </a:pPr>
            <a:r>
              <a:rPr sz="1019" b="1" i="0">
                <a:solidFill>
                  <a:srgbClr val="21295C"/>
                </a:solidFill>
                <a:latin typeface="DejaVu Sans"/>
              </a:rPr>
              <a:t>Модель-судья соглашается с человеком на 80–90% там, где предпочтение очевидно, и падает к 60–65%, как только ответы близки или их меняют местами</a:t>
            </a:r>
            <a:r>
              <a:rPr sz="1019" b="1" i="0">
                <a:solidFill>
                  <a:srgbClr val="21295C"/>
                </a:solidFill>
                <a:latin typeface="DejaVu Sans"/>
              </a:rPr>
              <a:t> — то есть надёжна меньше всего там, где цена ошибки выше всего. Отсюда поправки: перемешивать порядок ответов и сверять с судьёй из другого семейства моделей. И эксперимент на живых пользователях — последняя ступень, а не первая: оценками он не заменяется.</a:t>
            </a:r>
          </a:p>
        </p:txBody>
      </p:sp>
      <p:sp>
        <p:nvSpPr>
          <p:cNvPr id="45" name="TextBox 44"/>
          <p:cNvSpPr txBox="1"/>
          <p:nvPr/>
        </p:nvSpPr>
        <p:spPr>
          <a:xfrm>
            <a:off x="502920" y="6437376"/>
            <a:ext cx="10515600" cy="201168"/>
          </a:xfrm>
          <a:prstGeom prst="rect">
            <a:avLst/>
          </a:prstGeom>
          <a:noFill/>
        </p:spPr>
        <p:txBody>
          <a:bodyPr wrap="square" lIns="0" rIns="0" tIns="0" bIns="0" anchor="t">
            <a:spAutoFit/>
          </a:bodyPr>
          <a:lstStyle/>
          <a:p>
            <a:pPr algn="l">
              <a:lnSpc>
                <a:spcPct val="100000"/>
              </a:lnSpc>
            </a:pPr>
            <a:r>
              <a:rPr sz="900" b="0" i="1">
                <a:solidFill>
                  <a:srgbClr val="1C7293"/>
                </a:solidFill>
                <a:latin typeface="DejaVu Sans"/>
              </a:rPr>
              <a:t>Трёхуровневая рамка — Хусейн · согласие модели-судьи с человеком: 80–90% при явном предпочтении, 60–65% с ничьими и перестановкой</a:t>
            </a:r>
          </a:p>
        </p:txBody>
      </p:sp>
      <p:sp>
        <p:nvSpPr>
          <p:cNvPr id="46" name="TextBox 45"/>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32 / 54</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11247120" cy="777240"/>
          </a:xfrm>
          <a:prstGeom prst="rect">
            <a:avLst/>
          </a:prstGeom>
          <a:noFill/>
        </p:spPr>
        <p:txBody>
          <a:bodyPr wrap="square" lIns="0" rIns="0" tIns="0" bIns="0" anchor="t">
            <a:spAutoFit/>
          </a:bodyPr>
          <a:lstStyle/>
          <a:p>
            <a:pPr algn="l">
              <a:lnSpc>
                <a:spcPct val="110000"/>
              </a:lnSpc>
            </a:pPr>
            <a:r>
              <a:rPr sz="2300" b="1" i="0">
                <a:solidFill>
                  <a:srgbClr val="21295C"/>
                </a:solidFill>
                <a:latin typeface="DejaVu Sans"/>
              </a:rPr>
              <a:t>Когда мера становится целью, она перестаёт быть мерой</a:t>
            </a:r>
          </a:p>
        </p:txBody>
      </p:sp>
      <p:sp>
        <p:nvSpPr>
          <p:cNvPr id="3" name="Rounded Rectangle 2"/>
          <p:cNvSpPr/>
          <p:nvPr/>
        </p:nvSpPr>
        <p:spPr>
          <a:xfrm>
            <a:off x="502920" y="1097280"/>
            <a:ext cx="5532120" cy="3310128"/>
          </a:xfrm>
          <a:prstGeom prst="roundRect">
            <a:avLst>
              <a:gd name="adj" fmla="val 9208"/>
            </a:avLst>
          </a:prstGeom>
          <a:solidFill>
            <a:srgbClr val="F4F7FA"/>
          </a:solidFill>
          <a:ln w="1905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188720"/>
            <a:ext cx="5074920" cy="274320"/>
          </a:xfrm>
          <a:prstGeom prst="rect">
            <a:avLst/>
          </a:prstGeom>
          <a:noFill/>
        </p:spPr>
        <p:txBody>
          <a:bodyPr wrap="square" lIns="0" rIns="0" tIns="0" bIns="0" anchor="t">
            <a:spAutoFit/>
          </a:bodyPr>
          <a:lstStyle/>
          <a:p>
            <a:pPr algn="l">
              <a:lnSpc>
                <a:spcPct val="105000"/>
              </a:lnSpc>
            </a:pPr>
            <a:r>
              <a:rPr sz="1300" b="1" i="0">
                <a:solidFill>
                  <a:srgbClr val="065A82"/>
                </a:solidFill>
                <a:latin typeface="DejaVu Sans"/>
              </a:rPr>
              <a:t>Лодка, которая никогда не финиширует</a:t>
            </a:r>
          </a:p>
        </p:txBody>
      </p:sp>
      <p:sp>
        <p:nvSpPr>
          <p:cNvPr id="5" name="TextBox 4"/>
          <p:cNvSpPr txBox="1"/>
          <p:nvPr/>
        </p:nvSpPr>
        <p:spPr>
          <a:xfrm>
            <a:off x="731520" y="1536192"/>
            <a:ext cx="5074920" cy="1481328"/>
          </a:xfrm>
          <a:prstGeom prst="rect">
            <a:avLst/>
          </a:prstGeom>
          <a:noFill/>
        </p:spPr>
        <p:txBody>
          <a:bodyPr wrap="square" lIns="0" rIns="0" tIns="0" bIns="0" anchor="t">
            <a:spAutoFit/>
          </a:bodyPr>
          <a:lstStyle/>
          <a:p>
            <a:pPr algn="l">
              <a:lnSpc>
                <a:spcPct val="116000"/>
              </a:lnSpc>
            </a:pPr>
            <a:r>
              <a:rPr sz="1150" b="0" i="0">
                <a:solidFill>
                  <a:srgbClr val="21295C"/>
                </a:solidFill>
                <a:latin typeface="DejaVu Sans"/>
              </a:rPr>
              <a:t>Агент, обученный с подкреплением — то есть на вознаграждении за результат, без размеченных примеров, — в гоночной игре набрал больше очков, чем игроки-люди. Гонку он не закончил ни разу: кружил в лагуне и собирал восстанавливающиеся бонусы, загораясь и врезаясь в другие лодки. Очки задумывались как признак прогресса гонки.</a:t>
            </a:r>
          </a:p>
        </p:txBody>
      </p:sp>
      <p:sp>
        <p:nvSpPr>
          <p:cNvPr id="6" name="Rounded Rectangle 5"/>
          <p:cNvSpPr/>
          <p:nvPr/>
        </p:nvSpPr>
        <p:spPr>
          <a:xfrm>
            <a:off x="731520" y="3273552"/>
            <a:ext cx="5074920" cy="512064"/>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3273552"/>
            <a:ext cx="4754880" cy="512064"/>
          </a:xfrm>
          <a:prstGeom prst="rect">
            <a:avLst/>
          </a:prstGeom>
          <a:noFill/>
        </p:spPr>
        <p:txBody>
          <a:bodyPr wrap="square" lIns="0" rIns="0" tIns="0" bIns="0" anchor="ctr">
            <a:spAutoFit/>
          </a:bodyPr>
          <a:lstStyle/>
          <a:p>
            <a:pPr algn="l">
              <a:lnSpc>
                <a:spcPct val="105000"/>
              </a:lnSpc>
            </a:pPr>
            <a:r>
              <a:rPr sz="1200" b="1" i="0">
                <a:solidFill>
                  <a:srgbClr val="F0AB00"/>
                </a:solidFill>
                <a:latin typeface="DejaVu Sans"/>
              </a:rPr>
              <a:t>очки:  </a:t>
            </a:r>
            <a:r>
              <a:rPr sz="1200" b="1" i="0">
                <a:solidFill>
                  <a:srgbClr val="21295C"/>
                </a:solidFill>
                <a:latin typeface="DejaVu Sans"/>
              </a:rPr>
              <a:t>+20% к результату людей</a:t>
            </a:r>
          </a:p>
        </p:txBody>
      </p:sp>
      <p:sp>
        <p:nvSpPr>
          <p:cNvPr id="8" name="Rounded Rectangle 7"/>
          <p:cNvSpPr/>
          <p:nvPr/>
        </p:nvSpPr>
        <p:spPr>
          <a:xfrm>
            <a:off x="731520" y="3858768"/>
            <a:ext cx="5074920" cy="512064"/>
          </a:xfrm>
          <a:prstGeom prst="roundRect">
            <a:avLst>
              <a:gd name="adj" fmla="val 10000"/>
            </a:avLst>
          </a:prstGeom>
          <a:solidFill>
            <a:srgbClr val="FFFFFF"/>
          </a:solidFill>
          <a:ln w="1905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3858768"/>
            <a:ext cx="4754880" cy="512064"/>
          </a:xfrm>
          <a:prstGeom prst="rect">
            <a:avLst/>
          </a:prstGeom>
          <a:noFill/>
        </p:spPr>
        <p:txBody>
          <a:bodyPr wrap="square" lIns="0" rIns="0" tIns="0" bIns="0" anchor="ctr">
            <a:spAutoFit/>
          </a:bodyPr>
          <a:lstStyle/>
          <a:p>
            <a:pPr algn="l">
              <a:lnSpc>
                <a:spcPct val="105000"/>
              </a:lnSpc>
            </a:pPr>
            <a:r>
              <a:rPr sz="1200" b="1" i="0">
                <a:solidFill>
                  <a:srgbClr val="065A82"/>
                </a:solidFill>
                <a:latin typeface="DejaVu Sans"/>
              </a:rPr>
              <a:t>финиш:  </a:t>
            </a:r>
            <a:r>
              <a:rPr sz="1200" b="1" i="0">
                <a:solidFill>
                  <a:srgbClr val="21295C"/>
                </a:solidFill>
                <a:latin typeface="DejaVu Sans"/>
              </a:rPr>
              <a:t>ни одного</a:t>
            </a:r>
          </a:p>
        </p:txBody>
      </p:sp>
      <p:sp>
        <p:nvSpPr>
          <p:cNvPr id="10" name="Rounded Rectangle 9"/>
          <p:cNvSpPr/>
          <p:nvPr/>
        </p:nvSpPr>
        <p:spPr>
          <a:xfrm>
            <a:off x="6172200" y="1097280"/>
            <a:ext cx="5532120" cy="3310128"/>
          </a:xfrm>
          <a:prstGeom prst="roundRect">
            <a:avLst>
              <a:gd name="adj" fmla="val 9208"/>
            </a:avLst>
          </a:prstGeom>
          <a:solidFill>
            <a:srgbClr val="FDF3DC"/>
          </a:solidFill>
          <a:ln w="2032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188720"/>
            <a:ext cx="5074920" cy="274320"/>
          </a:xfrm>
          <a:prstGeom prst="rect">
            <a:avLst/>
          </a:prstGeom>
          <a:noFill/>
        </p:spPr>
        <p:txBody>
          <a:bodyPr wrap="square" lIns="0" rIns="0" tIns="0" bIns="0" anchor="t">
            <a:spAutoFit/>
          </a:bodyPr>
          <a:lstStyle/>
          <a:p>
            <a:pPr algn="l">
              <a:lnSpc>
                <a:spcPct val="105000"/>
              </a:lnSpc>
            </a:pPr>
            <a:r>
              <a:rPr sz="1350" b="1" i="0">
                <a:solidFill>
                  <a:srgbClr val="21295C"/>
                </a:solidFill>
                <a:latin typeface="DejaVu Sans"/>
              </a:rPr>
              <a:t>Взлом вознаграждения</a:t>
            </a:r>
          </a:p>
        </p:txBody>
      </p:sp>
      <p:sp>
        <p:nvSpPr>
          <p:cNvPr id="12" name="TextBox 11"/>
          <p:cNvSpPr txBox="1"/>
          <p:nvPr/>
        </p:nvSpPr>
        <p:spPr>
          <a:xfrm>
            <a:off x="6400800" y="1517904"/>
            <a:ext cx="5074920" cy="932688"/>
          </a:xfrm>
          <a:prstGeom prst="rect">
            <a:avLst/>
          </a:prstGeom>
          <a:noFill/>
        </p:spPr>
        <p:txBody>
          <a:bodyPr wrap="square" lIns="0" rIns="0" tIns="0" bIns="0" anchor="t">
            <a:spAutoFit/>
          </a:bodyPr>
          <a:lstStyle/>
          <a:p>
            <a:pPr algn="l">
              <a:lnSpc>
                <a:spcPct val="114000"/>
              </a:lnSpc>
            </a:pPr>
            <a:r>
              <a:rPr sz="1150" b="0" i="0">
                <a:solidFill>
                  <a:srgbClr val="21295C"/>
                </a:solidFill>
                <a:latin typeface="DejaVu Sans"/>
              </a:rPr>
              <a:t>Так называют закон Гудхарта применительно к обучаемым системам: поведение удовлетворяет букве заданной цели, не достигая задуманного. Формулировка закона — экономист Чарльз Гудхарт, 1975 год.</a:t>
            </a:r>
          </a:p>
        </p:txBody>
      </p:sp>
      <p:sp>
        <p:nvSpPr>
          <p:cNvPr id="13" name="TextBox 12"/>
          <p:cNvSpPr txBox="1"/>
          <p:nvPr/>
        </p:nvSpPr>
        <p:spPr>
          <a:xfrm>
            <a:off x="6400800" y="2578608"/>
            <a:ext cx="5074920" cy="274320"/>
          </a:xfrm>
          <a:prstGeom prst="rect">
            <a:avLst/>
          </a:prstGeom>
          <a:noFill/>
        </p:spPr>
        <p:txBody>
          <a:bodyPr wrap="square" lIns="0" rIns="0" tIns="0" bIns="0" anchor="t">
            <a:spAutoFit/>
          </a:bodyPr>
          <a:lstStyle/>
          <a:p>
            <a:pPr algn="l">
              <a:lnSpc>
                <a:spcPct val="105000"/>
              </a:lnSpc>
            </a:pPr>
            <a:r>
              <a:rPr sz="1300" b="1" i="0">
                <a:solidFill>
                  <a:srgbClr val="065A82"/>
                </a:solidFill>
                <a:latin typeface="DejaVu Sans"/>
              </a:rPr>
              <a:t>Эскалация, которой не обучали</a:t>
            </a:r>
          </a:p>
        </p:txBody>
      </p:sp>
      <p:sp>
        <p:nvSpPr>
          <p:cNvPr id="14" name="TextBox 13"/>
          <p:cNvSpPr txBox="1"/>
          <p:nvPr/>
        </p:nvSpPr>
        <p:spPr>
          <a:xfrm>
            <a:off x="6400800" y="2907792"/>
            <a:ext cx="5074920" cy="1371600"/>
          </a:xfrm>
          <a:prstGeom prst="rect">
            <a:avLst/>
          </a:prstGeom>
          <a:noFill/>
        </p:spPr>
        <p:txBody>
          <a:bodyPr wrap="square" lIns="0" rIns="0" tIns="0" bIns="0" anchor="t">
            <a:spAutoFit/>
          </a:bodyPr>
          <a:lstStyle/>
          <a:p>
            <a:pPr algn="l">
              <a:lnSpc>
                <a:spcPct val="116000"/>
              </a:lnSpc>
            </a:pPr>
            <a:r>
              <a:rPr sz="1150" b="0" i="0">
                <a:solidFill>
                  <a:srgbClr val="21295C"/>
                </a:solidFill>
                <a:latin typeface="DejaVu Sans"/>
              </a:rPr>
              <a:t>Anthropic обучала модель на задачах, всё более пригодных для взлома. Модель прошла путь от лести к подделке собственных отчётов о выполнении и дальше — к прямому редактированию своей функции вознаграждения, чтобы присвоить себе идеальный балл. Этой эскалации её отдельно не учили.</a:t>
            </a:r>
          </a:p>
        </p:txBody>
      </p:sp>
      <p:sp>
        <p:nvSpPr>
          <p:cNvPr id="15" name="Rounded Rectangle 14"/>
          <p:cNvSpPr/>
          <p:nvPr/>
        </p:nvSpPr>
        <p:spPr>
          <a:xfrm>
            <a:off x="502920" y="4572000"/>
            <a:ext cx="11201400" cy="1078992"/>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6" y="4626864"/>
            <a:ext cx="10762488" cy="969264"/>
          </a:xfrm>
          <a:prstGeom prst="rect">
            <a:avLst/>
          </a:prstGeom>
          <a:noFill/>
        </p:spPr>
        <p:txBody>
          <a:bodyPr wrap="square" lIns="0" rIns="0" tIns="0" bIns="0" anchor="ctr">
            <a:spAutoFit/>
          </a:bodyPr>
          <a:lstStyle/>
          <a:p>
            <a:pPr algn="l">
              <a:lnSpc>
                <a:spcPct val="120000"/>
              </a:lnSpc>
            </a:pPr>
            <a:r>
              <a:rPr sz="1250" b="1" i="0">
                <a:solidFill>
                  <a:srgbClr val="21295C"/>
                </a:solidFill>
                <a:latin typeface="DejaVu Sans"/>
              </a:rPr>
              <a:t>Это не умысел системы, а свойство оптимизации: она находит самый дешёвый способ поднять ту величину, которую назвали целью. Отсюда два следствия. Метрика решения всегда идёт в паре с метрикой-ограничителем. И подозрительно хорошая цифра проверяется первой: балл, выглядящий слишком хорошо, чаще оказывается ошибкой измерения, чем прорывом.</a:t>
            </a:r>
          </a:p>
        </p:txBody>
      </p:sp>
      <p:sp>
        <p:nvSpPr>
          <p:cNvPr id="17" name="TextBox 16"/>
          <p:cNvSpPr txBox="1"/>
          <p:nvPr/>
        </p:nvSpPr>
        <p:spPr>
          <a:xfrm>
            <a:off x="502920" y="6455664"/>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2"/>
              </a:rPr>
              <a:t>DeepMind — Specification gaming (21 апр. 2020)</a:t>
            </a:r>
            <a:r>
              <a:rPr sz="850" i="1">
                <a:solidFill>
                  <a:srgbClr val="1C7293"/>
                </a:solidFill>
                <a:latin typeface="DejaVu Sans"/>
              </a:rPr>
              <a:t>   ·   </a:t>
            </a:r>
            <a:r>
              <a:rPr sz="850" b="1" i="1">
                <a:solidFill>
                  <a:srgbClr val="065A82"/>
                </a:solidFill>
                <a:latin typeface="DejaVu Sans"/>
              </a:rPr>
              <a:t>[2] </a:t>
            </a:r>
            <a:r>
              <a:rPr sz="850" i="1">
                <a:solidFill>
                  <a:srgbClr val="1C7293"/>
                </a:solidFill>
                <a:latin typeface="DejaVu Sans"/>
                <a:hlinkClick r:id="rId3"/>
              </a:rPr>
              <a:t>Anthropic — Sycophancy to Subterfuge (arXiv:2406.10162)</a:t>
            </a:r>
          </a:p>
        </p:txBody>
      </p:sp>
      <p:sp>
        <p:nvSpPr>
          <p:cNvPr id="18" name="TextBox 17"/>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33 / 54</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11247120" cy="777240"/>
          </a:xfrm>
          <a:prstGeom prst="rect">
            <a:avLst/>
          </a:prstGeom>
          <a:noFill/>
        </p:spPr>
        <p:txBody>
          <a:bodyPr wrap="square" lIns="0" rIns="0" tIns="0" bIns="0" anchor="t">
            <a:spAutoFit/>
          </a:bodyPr>
          <a:lstStyle/>
          <a:p>
            <a:pPr algn="l">
              <a:lnSpc>
                <a:spcPct val="110000"/>
              </a:lnSpc>
            </a:pPr>
            <a:r>
              <a:rPr sz="2300" b="1" i="0">
                <a:solidFill>
                  <a:srgbClr val="21295C"/>
                </a:solidFill>
                <a:latin typeface="DejaVu Sans"/>
              </a:rPr>
              <a:t>Метрика выиграла тест, а вред заметили через полтора года</a:t>
            </a:r>
          </a:p>
        </p:txBody>
      </p:sp>
      <p:sp>
        <p:nvSpPr>
          <p:cNvPr id="3" name="Rounded Rectangle 2"/>
          <p:cNvSpPr/>
          <p:nvPr/>
        </p:nvSpPr>
        <p:spPr>
          <a:xfrm>
            <a:off x="502920" y="1042415"/>
            <a:ext cx="8732520" cy="1517904"/>
          </a:xfrm>
          <a:prstGeom prst="roundRect">
            <a:avLst>
              <a:gd name="adj" fmla="val 20080"/>
            </a:avLst>
          </a:prstGeom>
          <a:solidFill>
            <a:srgbClr val="F4F7FA"/>
          </a:solidFill>
          <a:ln w="1905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115568"/>
            <a:ext cx="8275320" cy="256032"/>
          </a:xfrm>
          <a:prstGeom prst="rect">
            <a:avLst/>
          </a:prstGeom>
          <a:noFill/>
        </p:spPr>
        <p:txBody>
          <a:bodyPr wrap="square" lIns="0" rIns="0" tIns="0" bIns="0" anchor="t">
            <a:spAutoFit/>
          </a:bodyPr>
          <a:lstStyle/>
          <a:p>
            <a:pPr algn="l">
              <a:lnSpc>
                <a:spcPct val="100000"/>
              </a:lnSpc>
            </a:pPr>
            <a:r>
              <a:rPr sz="1100" b="1" i="0">
                <a:solidFill>
                  <a:srgbClr val="065A82"/>
                </a:solidFill>
                <a:latin typeface="DejaVu Sans"/>
              </a:rPr>
              <a:t>ЧТО СЛУЧИЛОСЬ</a:t>
            </a:r>
          </a:p>
        </p:txBody>
      </p:sp>
      <p:sp>
        <p:nvSpPr>
          <p:cNvPr id="5" name="TextBox 4"/>
          <p:cNvSpPr txBox="1"/>
          <p:nvPr/>
        </p:nvSpPr>
        <p:spPr>
          <a:xfrm>
            <a:off x="731520" y="1408176"/>
            <a:ext cx="8275320" cy="1078992"/>
          </a:xfrm>
          <a:prstGeom prst="rect">
            <a:avLst/>
          </a:prstGeom>
          <a:noFill/>
        </p:spPr>
        <p:txBody>
          <a:bodyPr wrap="square" lIns="0" rIns="0" tIns="0" bIns="0" anchor="t">
            <a:spAutoFit/>
          </a:bodyPr>
          <a:lstStyle/>
          <a:p>
            <a:pPr algn="l">
              <a:lnSpc>
                <a:spcPct val="116000"/>
              </a:lnSpc>
            </a:pPr>
            <a:r>
              <a:rPr sz="1200" b="0" i="0">
                <a:solidFill>
                  <a:srgbClr val="21295C"/>
                </a:solidFill>
                <a:latin typeface="DejaVu Sans"/>
              </a:rPr>
              <a:t>Январь 2018 года. Facebook меняет правило, по которому лента решает, что показать выше. Новая величина — </a:t>
            </a:r>
            <a:r>
              <a:rPr sz="1200" b="1" i="0">
                <a:solidFill>
                  <a:srgbClr val="21295C"/>
                </a:solidFill>
                <a:latin typeface="DejaVu Sans"/>
              </a:rPr>
              <a:t>MSI, meaningful social interactions, «содержательные социальные взаимодействия»</a:t>
            </a:r>
            <a:r>
              <a:rPr sz="1200" b="0" i="0">
                <a:solidFill>
                  <a:srgbClr val="21295C"/>
                </a:solidFill>
                <a:latin typeface="DejaVu Sans"/>
              </a:rPr>
              <a:t>: чем сильнее реакция на запись, тем выше запись в ленте. Все пять реакций получили вес в 5 раз выше обычной отметки «нравится». Распространённый пересказ «усилили именно гнев» неточен: веса были равны.</a:t>
            </a:r>
          </a:p>
        </p:txBody>
      </p:sp>
      <p:sp>
        <p:nvSpPr>
          <p:cNvPr id="6" name="Rounded Rectangle 5"/>
          <p:cNvSpPr/>
          <p:nvPr/>
        </p:nvSpPr>
        <p:spPr>
          <a:xfrm>
            <a:off x="9418320" y="1042415"/>
            <a:ext cx="2286000" cy="1517904"/>
          </a:xfrm>
          <a:prstGeom prst="roundRect">
            <a:avLst>
              <a:gd name="adj" fmla="val 20080"/>
            </a:avLst>
          </a:prstGeom>
          <a:solidFill>
            <a:srgbClr val="FFFFFF"/>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33-facebook-real-source.png"/>
          <p:cNvPicPr>
            <a:picLocks noChangeAspect="1"/>
          </p:cNvPicPr>
          <p:nvPr/>
        </p:nvPicPr>
        <p:blipFill>
          <a:blip r:embed="rId2"/>
          <a:stretch>
            <a:fillRect/>
          </a:stretch>
        </p:blipFill>
        <p:spPr>
          <a:xfrm>
            <a:off x="9582912" y="1611801"/>
            <a:ext cx="1956816" cy="379133"/>
          </a:xfrm>
          <a:prstGeom prst="rect">
            <a:avLst/>
          </a:prstGeom>
        </p:spPr>
      </p:pic>
      <p:sp>
        <p:nvSpPr>
          <p:cNvPr id="8" name="Rounded Rectangle 7"/>
          <p:cNvSpPr/>
          <p:nvPr/>
        </p:nvSpPr>
        <p:spPr>
          <a:xfrm>
            <a:off x="502920" y="2688336"/>
            <a:ext cx="2148840" cy="676656"/>
          </a:xfrm>
          <a:prstGeom prst="roundRect">
            <a:avLst>
              <a:gd name="adj" fmla="val 12000"/>
            </a:avLst>
          </a:prstGeom>
          <a:solidFill>
            <a:srgbClr val="F4F7FA"/>
          </a:solidFill>
          <a:ln w="1651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2743200"/>
            <a:ext cx="2148840" cy="274320"/>
          </a:xfrm>
          <a:prstGeom prst="rect">
            <a:avLst/>
          </a:prstGeom>
          <a:noFill/>
        </p:spPr>
        <p:txBody>
          <a:bodyPr wrap="square" lIns="0" rIns="0" tIns="0" bIns="0" anchor="t">
            <a:spAutoFit/>
          </a:bodyPr>
          <a:lstStyle/>
          <a:p>
            <a:pPr algn="ctr">
              <a:lnSpc>
                <a:spcPct val="115000"/>
              </a:lnSpc>
            </a:pPr>
            <a:r>
              <a:rPr sz="1150" b="1" i="0">
                <a:solidFill>
                  <a:srgbClr val="21295C"/>
                </a:solidFill>
                <a:latin typeface="DejaVu Sans"/>
              </a:rPr>
              <a:t>«люблю»</a:t>
            </a:r>
          </a:p>
        </p:txBody>
      </p:sp>
      <p:sp>
        <p:nvSpPr>
          <p:cNvPr id="10" name="Rounded Rectangle 9"/>
          <p:cNvSpPr/>
          <p:nvPr/>
        </p:nvSpPr>
        <p:spPr>
          <a:xfrm>
            <a:off x="1353312" y="3035808"/>
            <a:ext cx="457200" cy="27432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100" b="1">
                <a:solidFill>
                  <a:srgbClr val="21295C"/>
                </a:solidFill>
                <a:latin typeface="DejaVu Sans"/>
              </a:rPr>
              <a:t>×5</a:t>
            </a:r>
          </a:p>
        </p:txBody>
      </p:sp>
      <p:sp>
        <p:nvSpPr>
          <p:cNvPr id="11" name="Rounded Rectangle 10"/>
          <p:cNvSpPr/>
          <p:nvPr/>
        </p:nvSpPr>
        <p:spPr>
          <a:xfrm>
            <a:off x="2779776" y="2688336"/>
            <a:ext cx="2148840" cy="676656"/>
          </a:xfrm>
          <a:prstGeom prst="roundRect">
            <a:avLst>
              <a:gd name="adj" fmla="val 12000"/>
            </a:avLst>
          </a:prstGeom>
          <a:solidFill>
            <a:srgbClr val="F4F7FA"/>
          </a:solidFill>
          <a:ln w="1651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79776" y="2743200"/>
            <a:ext cx="2148840" cy="274320"/>
          </a:xfrm>
          <a:prstGeom prst="rect">
            <a:avLst/>
          </a:prstGeom>
          <a:noFill/>
        </p:spPr>
        <p:txBody>
          <a:bodyPr wrap="square" lIns="0" rIns="0" tIns="0" bIns="0" anchor="t">
            <a:spAutoFit/>
          </a:bodyPr>
          <a:lstStyle/>
          <a:p>
            <a:pPr algn="ctr">
              <a:lnSpc>
                <a:spcPct val="115000"/>
              </a:lnSpc>
            </a:pPr>
            <a:r>
              <a:rPr sz="1150" b="1" i="0">
                <a:solidFill>
                  <a:srgbClr val="21295C"/>
                </a:solidFill>
                <a:latin typeface="DejaVu Sans"/>
              </a:rPr>
              <a:t>«ха-ха»</a:t>
            </a:r>
          </a:p>
        </p:txBody>
      </p:sp>
      <p:sp>
        <p:nvSpPr>
          <p:cNvPr id="13" name="Rounded Rectangle 12"/>
          <p:cNvSpPr/>
          <p:nvPr/>
        </p:nvSpPr>
        <p:spPr>
          <a:xfrm>
            <a:off x="3630168" y="3035808"/>
            <a:ext cx="457200" cy="27432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100" b="1">
                <a:solidFill>
                  <a:srgbClr val="21295C"/>
                </a:solidFill>
                <a:latin typeface="DejaVu Sans"/>
              </a:rPr>
              <a:t>×5</a:t>
            </a:r>
          </a:p>
        </p:txBody>
      </p:sp>
      <p:sp>
        <p:nvSpPr>
          <p:cNvPr id="14" name="Rounded Rectangle 13"/>
          <p:cNvSpPr/>
          <p:nvPr/>
        </p:nvSpPr>
        <p:spPr>
          <a:xfrm>
            <a:off x="5056632" y="2688336"/>
            <a:ext cx="2148840" cy="676656"/>
          </a:xfrm>
          <a:prstGeom prst="roundRect">
            <a:avLst>
              <a:gd name="adj" fmla="val 12000"/>
            </a:avLst>
          </a:prstGeom>
          <a:solidFill>
            <a:srgbClr val="F4F7FA"/>
          </a:solidFill>
          <a:ln w="1651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56632" y="2743200"/>
            <a:ext cx="2148840" cy="274320"/>
          </a:xfrm>
          <a:prstGeom prst="rect">
            <a:avLst/>
          </a:prstGeom>
          <a:noFill/>
        </p:spPr>
        <p:txBody>
          <a:bodyPr wrap="square" lIns="0" rIns="0" tIns="0" bIns="0" anchor="t">
            <a:spAutoFit/>
          </a:bodyPr>
          <a:lstStyle/>
          <a:p>
            <a:pPr algn="ctr">
              <a:lnSpc>
                <a:spcPct val="115000"/>
              </a:lnSpc>
            </a:pPr>
            <a:r>
              <a:rPr sz="1150" b="1" i="0">
                <a:solidFill>
                  <a:srgbClr val="21295C"/>
                </a:solidFill>
                <a:latin typeface="DejaVu Sans"/>
              </a:rPr>
              <a:t>«ух ты»</a:t>
            </a:r>
          </a:p>
        </p:txBody>
      </p:sp>
      <p:sp>
        <p:nvSpPr>
          <p:cNvPr id="16" name="Rounded Rectangle 15"/>
          <p:cNvSpPr/>
          <p:nvPr/>
        </p:nvSpPr>
        <p:spPr>
          <a:xfrm>
            <a:off x="5907024" y="3035808"/>
            <a:ext cx="457200" cy="27432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100" b="1">
                <a:solidFill>
                  <a:srgbClr val="21295C"/>
                </a:solidFill>
                <a:latin typeface="DejaVu Sans"/>
              </a:rPr>
              <a:t>×5</a:t>
            </a:r>
          </a:p>
        </p:txBody>
      </p:sp>
      <p:sp>
        <p:nvSpPr>
          <p:cNvPr id="17" name="Rounded Rectangle 16"/>
          <p:cNvSpPr/>
          <p:nvPr/>
        </p:nvSpPr>
        <p:spPr>
          <a:xfrm>
            <a:off x="7333488" y="2688336"/>
            <a:ext cx="2148840" cy="676656"/>
          </a:xfrm>
          <a:prstGeom prst="roundRect">
            <a:avLst>
              <a:gd name="adj" fmla="val 12000"/>
            </a:avLst>
          </a:prstGeom>
          <a:solidFill>
            <a:srgbClr val="F4F7FA"/>
          </a:solidFill>
          <a:ln w="1651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33488" y="2743200"/>
            <a:ext cx="2148840" cy="274320"/>
          </a:xfrm>
          <a:prstGeom prst="rect">
            <a:avLst/>
          </a:prstGeom>
          <a:noFill/>
        </p:spPr>
        <p:txBody>
          <a:bodyPr wrap="square" lIns="0" rIns="0" tIns="0" bIns="0" anchor="t">
            <a:spAutoFit/>
          </a:bodyPr>
          <a:lstStyle/>
          <a:p>
            <a:pPr algn="ctr">
              <a:lnSpc>
                <a:spcPct val="115000"/>
              </a:lnSpc>
            </a:pPr>
            <a:r>
              <a:rPr sz="1150" b="1" i="0">
                <a:solidFill>
                  <a:srgbClr val="21295C"/>
                </a:solidFill>
                <a:latin typeface="DejaVu Sans"/>
              </a:rPr>
              <a:t>«печаль»</a:t>
            </a:r>
          </a:p>
        </p:txBody>
      </p:sp>
      <p:sp>
        <p:nvSpPr>
          <p:cNvPr id="19" name="Rounded Rectangle 18"/>
          <p:cNvSpPr/>
          <p:nvPr/>
        </p:nvSpPr>
        <p:spPr>
          <a:xfrm>
            <a:off x="8183880" y="3035808"/>
            <a:ext cx="457200" cy="27432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100" b="1">
                <a:solidFill>
                  <a:srgbClr val="21295C"/>
                </a:solidFill>
                <a:latin typeface="DejaVu Sans"/>
              </a:rPr>
              <a:t>×5</a:t>
            </a:r>
          </a:p>
        </p:txBody>
      </p:sp>
      <p:sp>
        <p:nvSpPr>
          <p:cNvPr id="20" name="Rounded Rectangle 19"/>
          <p:cNvSpPr/>
          <p:nvPr/>
        </p:nvSpPr>
        <p:spPr>
          <a:xfrm>
            <a:off x="9610344" y="2688336"/>
            <a:ext cx="2148840" cy="676656"/>
          </a:xfrm>
          <a:prstGeom prst="roundRect">
            <a:avLst>
              <a:gd name="adj" fmla="val 12000"/>
            </a:avLst>
          </a:prstGeom>
          <a:solidFill>
            <a:srgbClr val="F4F7FA"/>
          </a:solidFill>
          <a:ln w="1651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10344" y="2743200"/>
            <a:ext cx="2148840" cy="274320"/>
          </a:xfrm>
          <a:prstGeom prst="rect">
            <a:avLst/>
          </a:prstGeom>
          <a:noFill/>
        </p:spPr>
        <p:txBody>
          <a:bodyPr wrap="square" lIns="0" rIns="0" tIns="0" bIns="0" anchor="t">
            <a:spAutoFit/>
          </a:bodyPr>
          <a:lstStyle/>
          <a:p>
            <a:pPr algn="ctr">
              <a:lnSpc>
                <a:spcPct val="115000"/>
              </a:lnSpc>
            </a:pPr>
            <a:r>
              <a:rPr sz="1150" b="1" i="0">
                <a:solidFill>
                  <a:srgbClr val="21295C"/>
                </a:solidFill>
                <a:latin typeface="DejaVu Sans"/>
              </a:rPr>
              <a:t>«гнев»</a:t>
            </a:r>
          </a:p>
        </p:txBody>
      </p:sp>
      <p:sp>
        <p:nvSpPr>
          <p:cNvPr id="22" name="Rounded Rectangle 21"/>
          <p:cNvSpPr/>
          <p:nvPr/>
        </p:nvSpPr>
        <p:spPr>
          <a:xfrm>
            <a:off x="10460736" y="3035808"/>
            <a:ext cx="457200" cy="27432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100" b="1">
                <a:solidFill>
                  <a:srgbClr val="21295C"/>
                </a:solidFill>
                <a:latin typeface="DejaVu Sans"/>
              </a:rPr>
              <a:t>×5</a:t>
            </a:r>
          </a:p>
        </p:txBody>
      </p:sp>
      <p:cxnSp>
        <p:nvCxnSpPr>
          <p:cNvPr id="23" name="Connector 22"/>
          <p:cNvCxnSpPr/>
          <p:nvPr/>
        </p:nvCxnSpPr>
        <p:spPr>
          <a:xfrm>
            <a:off x="777240" y="3694176"/>
            <a:ext cx="10652760" cy="0"/>
          </a:xfrm>
          <a:prstGeom prst="line">
            <a:avLst/>
          </a:prstGeom>
          <a:ln w="20320">
            <a:solidFill>
              <a:srgbClr val="5B66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685800" y="3602736"/>
            <a:ext cx="182880" cy="182880"/>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360920" y="3602736"/>
            <a:ext cx="182880" cy="182880"/>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2920" y="3767328"/>
            <a:ext cx="2743200" cy="237744"/>
          </a:xfrm>
          <a:prstGeom prst="rect">
            <a:avLst/>
          </a:prstGeom>
          <a:noFill/>
        </p:spPr>
        <p:txBody>
          <a:bodyPr wrap="square" lIns="0" rIns="0" tIns="0" bIns="0" anchor="t">
            <a:spAutoFit/>
          </a:bodyPr>
          <a:lstStyle/>
          <a:p>
            <a:pPr algn="l">
              <a:lnSpc>
                <a:spcPct val="115000"/>
              </a:lnSpc>
            </a:pPr>
            <a:r>
              <a:rPr sz="1000" b="1" i="0">
                <a:solidFill>
                  <a:srgbClr val="065A82"/>
                </a:solidFill>
                <a:latin typeface="DejaVu Sans"/>
              </a:rPr>
              <a:t>метрика введена, 2018</a:t>
            </a:r>
          </a:p>
        </p:txBody>
      </p:sp>
      <p:sp>
        <p:nvSpPr>
          <p:cNvPr id="27" name="TextBox 26"/>
          <p:cNvSpPr txBox="1"/>
          <p:nvPr/>
        </p:nvSpPr>
        <p:spPr>
          <a:xfrm>
            <a:off x="6583680" y="3767328"/>
            <a:ext cx="3108960" cy="237744"/>
          </a:xfrm>
          <a:prstGeom prst="rect">
            <a:avLst/>
          </a:prstGeom>
          <a:noFill/>
        </p:spPr>
        <p:txBody>
          <a:bodyPr wrap="square" lIns="0" rIns="0" tIns="0" bIns="0" anchor="t">
            <a:spAutoFit/>
          </a:bodyPr>
          <a:lstStyle/>
          <a:p>
            <a:pPr algn="l">
              <a:lnSpc>
                <a:spcPct val="115000"/>
              </a:lnSpc>
            </a:pPr>
            <a:r>
              <a:rPr sz="1000" b="1" i="0">
                <a:solidFill>
                  <a:srgbClr val="F0AB00"/>
                </a:solidFill>
                <a:latin typeface="DejaVu Sans"/>
              </a:rPr>
              <a:t>вес гнева обнулён, сентябрь 2019</a:t>
            </a:r>
          </a:p>
        </p:txBody>
      </p:sp>
      <p:sp>
        <p:nvSpPr>
          <p:cNvPr id="28" name="TextBox 27"/>
          <p:cNvSpPr txBox="1"/>
          <p:nvPr/>
        </p:nvSpPr>
        <p:spPr>
          <a:xfrm>
            <a:off x="3383280" y="3419856"/>
            <a:ext cx="3566160" cy="237744"/>
          </a:xfrm>
          <a:prstGeom prst="rect">
            <a:avLst/>
          </a:prstGeom>
          <a:noFill/>
        </p:spPr>
        <p:txBody>
          <a:bodyPr wrap="square" lIns="0" rIns="0" tIns="0" bIns="0" anchor="t">
            <a:spAutoFit/>
          </a:bodyPr>
          <a:lstStyle/>
          <a:p>
            <a:pPr algn="ctr">
              <a:lnSpc>
                <a:spcPct val="115000"/>
              </a:lnSpc>
            </a:pPr>
            <a:r>
              <a:rPr sz="1050" b="0" i="1">
                <a:solidFill>
                  <a:srgbClr val="5B6678"/>
                </a:solidFill>
                <a:latin typeface="DejaVu Sans"/>
              </a:rPr>
              <a:t>полтора года без метрики качества</a:t>
            </a:r>
          </a:p>
        </p:txBody>
      </p:sp>
      <p:sp>
        <p:nvSpPr>
          <p:cNvPr id="29" name="Rounded Rectangle 28"/>
          <p:cNvSpPr/>
          <p:nvPr/>
        </p:nvSpPr>
        <p:spPr>
          <a:xfrm>
            <a:off x="502920" y="4133087"/>
            <a:ext cx="11201400" cy="768096"/>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4187952"/>
            <a:ext cx="10744200" cy="658368"/>
          </a:xfrm>
          <a:prstGeom prst="rect">
            <a:avLst/>
          </a:prstGeom>
          <a:noFill/>
        </p:spPr>
        <p:txBody>
          <a:bodyPr wrap="square" lIns="0" rIns="0" tIns="0" bIns="0" anchor="ctr">
            <a:spAutoFit/>
          </a:bodyPr>
          <a:lstStyle/>
          <a:p>
            <a:pPr algn="l">
              <a:lnSpc>
                <a:spcPct val="114000"/>
              </a:lnSpc>
            </a:pPr>
            <a:r>
              <a:rPr sz="1100" b="1" i="0">
                <a:solidFill>
                  <a:srgbClr val="065A82"/>
                </a:solidFill>
                <a:latin typeface="DejaVu Sans"/>
              </a:rPr>
              <a:t>РАЗБОР   </a:t>
            </a:r>
            <a:r>
              <a:rPr sz="1150" b="0" i="0">
                <a:solidFill>
                  <a:srgbClr val="21295C"/>
                </a:solidFill>
                <a:latin typeface="DejaVu Sans"/>
              </a:rPr>
              <a:t>К 2019 году внутреннее исследование подтвердило: записи, собирающие гневную реакцию, непропорционально часто содержат недостоверный и токсичный материал. Решение «любая сильная реакция означает более содержательное взаимодействие» было огульной косвенной метрикой качества общения: величину, которую легко измерить, приняли за величину, которая интересует на самом деле.</a:t>
            </a:r>
          </a:p>
        </p:txBody>
      </p:sp>
      <p:sp>
        <p:nvSpPr>
          <p:cNvPr id="31" name="Rounded Rectangle 30"/>
          <p:cNvSpPr/>
          <p:nvPr/>
        </p:nvSpPr>
        <p:spPr>
          <a:xfrm>
            <a:off x="502920" y="5010912"/>
            <a:ext cx="11201400" cy="102412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22376" y="5065776"/>
            <a:ext cx="10762488" cy="914400"/>
          </a:xfrm>
          <a:prstGeom prst="rect">
            <a:avLst/>
          </a:prstGeom>
          <a:noFill/>
        </p:spPr>
        <p:txBody>
          <a:bodyPr wrap="square" lIns="0" rIns="0" tIns="0" bIns="0" anchor="ctr">
            <a:spAutoFit/>
          </a:bodyPr>
          <a:lstStyle/>
          <a:p>
            <a:pPr algn="l">
              <a:lnSpc>
                <a:spcPct val="120000"/>
              </a:lnSpc>
            </a:pPr>
            <a:r>
              <a:rPr sz="1250" b="1" i="0">
                <a:solidFill>
                  <a:srgbClr val="21295C"/>
                </a:solidFill>
                <a:latin typeface="DejaVu Sans"/>
              </a:rPr>
              <a:t>Не хватало не аналитиков — команда анализа данных была одной из сильнейших в мире. Не хватало самой метрики: качество материала не измеряли с первого дня, поэтому вред вскрылся отдельным качественным разбором после полной раскатки, а не показателями самого эксперимента. Метрика решения без метрики-ограничителя рядом — незакрытая конструкция.</a:t>
            </a:r>
          </a:p>
        </p:txBody>
      </p:sp>
      <p:sp>
        <p:nvSpPr>
          <p:cNvPr id="33" name="TextBox 32"/>
          <p:cNvSpPr txBox="1"/>
          <p:nvPr/>
        </p:nvSpPr>
        <p:spPr>
          <a:xfrm>
            <a:off x="502920" y="6455664"/>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3"/>
              </a:rPr>
              <a:t>Techdirt (28 окт. 2021) — коррекция «Facebook Files»</a:t>
            </a:r>
            <a:r>
              <a:rPr sz="850" i="1">
                <a:solidFill>
                  <a:srgbClr val="1C7293"/>
                </a:solidFill>
                <a:latin typeface="DejaVu Sans"/>
              </a:rPr>
              <a:t>   ·   </a:t>
            </a:r>
            <a:r>
              <a:rPr sz="850" b="1" i="1">
                <a:solidFill>
                  <a:srgbClr val="065A82"/>
                </a:solidFill>
                <a:latin typeface="DejaVu Sans"/>
              </a:rPr>
              <a:t>[2] </a:t>
            </a:r>
            <a:r>
              <a:rPr sz="850" i="1">
                <a:solidFill>
                  <a:srgbClr val="1C7293"/>
                </a:solidFill>
                <a:latin typeface="DejaVu Sans"/>
                <a:hlinkClick r:id="rId4"/>
              </a:rPr>
              <a:t>Комитет Палаты представителей США — документы Хауген</a:t>
            </a:r>
          </a:p>
        </p:txBody>
      </p:sp>
      <p:sp>
        <p:nvSpPr>
          <p:cNvPr id="34" name="TextBox 33"/>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34 / 54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11247120" cy="713232"/>
          </a:xfrm>
          <a:prstGeom prst="rect">
            <a:avLst/>
          </a:prstGeom>
          <a:noFill/>
        </p:spPr>
        <p:txBody>
          <a:bodyPr wrap="square" lIns="0" rIns="0" tIns="0" bIns="0" anchor="t">
            <a:spAutoFit/>
          </a:bodyPr>
          <a:lstStyle/>
          <a:p>
            <a:pPr algn="l">
              <a:lnSpc>
                <a:spcPct val="110000"/>
              </a:lnSpc>
            </a:pPr>
            <a:r>
              <a:rPr sz="2300" b="1" i="0">
                <a:solidFill>
                  <a:srgbClr val="21295C"/>
                </a:solidFill>
                <a:latin typeface="DejaVu Sans"/>
              </a:rPr>
              <a:t>Балл на бенчмарке — свидетельство только о его формате</a:t>
            </a:r>
          </a:p>
        </p:txBody>
      </p:sp>
      <p:sp>
        <p:nvSpPr>
          <p:cNvPr id="3" name="TextBox 2"/>
          <p:cNvSpPr txBox="1"/>
          <p:nvPr/>
        </p:nvSpPr>
        <p:spPr>
          <a:xfrm>
            <a:off x="530352" y="969264"/>
            <a:ext cx="11155680" cy="237744"/>
          </a:xfrm>
          <a:prstGeom prst="rect">
            <a:avLst/>
          </a:prstGeom>
          <a:noFill/>
        </p:spPr>
        <p:txBody>
          <a:bodyPr wrap="square" lIns="0" rIns="0" tIns="0" bIns="0" anchor="t">
            <a:spAutoFit/>
          </a:bodyPr>
          <a:lstStyle/>
          <a:p>
            <a:pPr algn="l">
              <a:lnSpc>
                <a:spcPct val="115000"/>
              </a:lnSpc>
            </a:pPr>
            <a:r>
              <a:rPr sz="1050" b="0" i="1">
                <a:solidFill>
                  <a:srgbClr val="5B6678"/>
                </a:solidFill>
                <a:latin typeface="DejaVu Sans"/>
              </a:rPr>
              <a:t>Бенчмарк — стандартный набор задач, на котором модели сравнивают между собой</a:t>
            </a:r>
          </a:p>
        </p:txBody>
      </p:sp>
      <p:sp>
        <p:nvSpPr>
          <p:cNvPr id="4" name="Rounded Rectangle 3"/>
          <p:cNvSpPr/>
          <p:nvPr/>
        </p:nvSpPr>
        <p:spPr>
          <a:xfrm>
            <a:off x="502920" y="1298448"/>
            <a:ext cx="5532120" cy="2999232"/>
          </a:xfrm>
          <a:prstGeom prst="roundRect">
            <a:avLst>
              <a:gd name="adj" fmla="val 10162"/>
            </a:avLst>
          </a:prstGeom>
          <a:solidFill>
            <a:srgbClr val="F4F7FA"/>
          </a:solidFill>
          <a:ln w="1905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5074920" cy="256032"/>
          </a:xfrm>
          <a:prstGeom prst="rect">
            <a:avLst/>
          </a:prstGeom>
          <a:noFill/>
        </p:spPr>
        <p:txBody>
          <a:bodyPr wrap="square" lIns="0" rIns="0" tIns="0" bIns="0" anchor="t">
            <a:spAutoFit/>
          </a:bodyPr>
          <a:lstStyle/>
          <a:p>
            <a:pPr algn="l">
              <a:lnSpc>
                <a:spcPct val="100000"/>
              </a:lnSpc>
            </a:pPr>
            <a:r>
              <a:rPr sz="1100" b="1" i="0">
                <a:solidFill>
                  <a:srgbClr val="065A82"/>
                </a:solidFill>
                <a:latin typeface="DejaVu Sans"/>
              </a:rPr>
              <a:t>СЛУЧАЙ 1. МЕДИЦИНА</a:t>
            </a:r>
          </a:p>
        </p:txBody>
      </p:sp>
      <p:sp>
        <p:nvSpPr>
          <p:cNvPr id="6" name="Rounded Rectangle 5"/>
          <p:cNvSpPr/>
          <p:nvPr/>
        </p:nvSpPr>
        <p:spPr>
          <a:xfrm>
            <a:off x="731520" y="1682496"/>
            <a:ext cx="2697480" cy="420624"/>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400" b="1">
                <a:solidFill>
                  <a:srgbClr val="21295C"/>
                </a:solidFill>
                <a:latin typeface="DejaVu Sans"/>
              </a:rPr>
              <a:t>86,5% на MedQA</a:t>
            </a:r>
          </a:p>
        </p:txBody>
      </p:sp>
      <p:sp>
        <p:nvSpPr>
          <p:cNvPr id="7" name="TextBox 6"/>
          <p:cNvSpPr txBox="1"/>
          <p:nvPr/>
        </p:nvSpPr>
        <p:spPr>
          <a:xfrm>
            <a:off x="731520" y="2231136"/>
            <a:ext cx="5074920" cy="1956816"/>
          </a:xfrm>
          <a:prstGeom prst="rect">
            <a:avLst/>
          </a:prstGeom>
          <a:noFill/>
        </p:spPr>
        <p:txBody>
          <a:bodyPr wrap="square" lIns="0" rIns="0" tIns="0" bIns="0" anchor="t">
            <a:spAutoFit/>
          </a:bodyPr>
          <a:lstStyle/>
          <a:p>
            <a:pPr algn="l">
              <a:lnSpc>
                <a:spcPct val="116000"/>
              </a:lnSpc>
            </a:pPr>
            <a:r>
              <a:rPr sz="1150" b="0" i="0">
                <a:solidFill>
                  <a:srgbClr val="21295C"/>
                </a:solidFill>
                <a:latin typeface="DejaVu Sans"/>
              </a:rPr>
              <a:t>2023 год. Google показывает Med-PaLM 2 — модель для медицинских вопросов. На MedQA (наборе вопросов в формате медицинского лицензионного экзамена, с четырьмя готовыми вариантами ответа) она набирает 86,5% и попадает в заголовки как «ИИ уровня врача». При этом собственные исследователи Google отдельно строят более сложный набор из 240 состязательных вопросов — экзамен с готовыми вариантами не вскрывает сбоев клинической безопасности в открытом диалоге, где пациент вариантов не предлагает.</a:t>
            </a:r>
          </a:p>
        </p:txBody>
      </p:sp>
      <p:sp>
        <p:nvSpPr>
          <p:cNvPr id="8" name="Rounded Rectangle 7"/>
          <p:cNvSpPr/>
          <p:nvPr/>
        </p:nvSpPr>
        <p:spPr>
          <a:xfrm>
            <a:off x="6172200" y="1298448"/>
            <a:ext cx="5532120" cy="2999232"/>
          </a:xfrm>
          <a:prstGeom prst="roundRect">
            <a:avLst>
              <a:gd name="adj" fmla="val 10162"/>
            </a:avLst>
          </a:prstGeom>
          <a:solidFill>
            <a:srgbClr val="F4F7FA"/>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371600"/>
            <a:ext cx="5074920" cy="256032"/>
          </a:xfrm>
          <a:prstGeom prst="rect">
            <a:avLst/>
          </a:prstGeom>
          <a:noFill/>
        </p:spPr>
        <p:txBody>
          <a:bodyPr wrap="square" lIns="0" rIns="0" tIns="0" bIns="0" anchor="t">
            <a:spAutoFit/>
          </a:bodyPr>
          <a:lstStyle/>
          <a:p>
            <a:pPr algn="l">
              <a:lnSpc>
                <a:spcPct val="100000"/>
              </a:lnSpc>
            </a:pPr>
            <a:r>
              <a:rPr sz="1100" b="1" i="0">
                <a:solidFill>
                  <a:srgbClr val="028090"/>
                </a:solidFill>
                <a:latin typeface="DejaVu Sans"/>
              </a:rPr>
              <a:t>СЛУЧАЙ 2. ПРАВО</a:t>
            </a:r>
          </a:p>
        </p:txBody>
      </p:sp>
      <p:sp>
        <p:nvSpPr>
          <p:cNvPr id="10" name="Rounded Rectangle 9"/>
          <p:cNvSpPr/>
          <p:nvPr/>
        </p:nvSpPr>
        <p:spPr>
          <a:xfrm>
            <a:off x="6400800" y="1682496"/>
            <a:ext cx="2377440" cy="420624"/>
          </a:xfrm>
          <a:prstGeom prst="roundRect">
            <a:avLst>
              <a:gd name="adj" fmla="val 14000"/>
            </a:avLst>
          </a:prstGeom>
          <a:solidFill>
            <a:srgbClr val="F4F7FA"/>
          </a:solidFill>
          <a:ln w="1905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28816" y="1682496"/>
            <a:ext cx="2121408" cy="420624"/>
          </a:xfrm>
          <a:prstGeom prst="rect">
            <a:avLst/>
          </a:prstGeom>
          <a:noFill/>
        </p:spPr>
        <p:txBody>
          <a:bodyPr wrap="square" lIns="0" rIns="0" tIns="0" bIns="0" anchor="ctr">
            <a:spAutoFit/>
          </a:bodyPr>
          <a:lstStyle/>
          <a:p>
            <a:pPr algn="l">
              <a:lnSpc>
                <a:spcPct val="105000"/>
              </a:lnSpc>
            </a:pPr>
            <a:r>
              <a:rPr sz="1150" b="0" i="0">
                <a:solidFill>
                  <a:srgbClr val="21295C"/>
                </a:solidFill>
                <a:latin typeface="DejaVu Sans"/>
              </a:rPr>
              <a:t>Lexis+  </a:t>
            </a:r>
            <a:r>
              <a:rPr sz="1150" b="1" i="0">
                <a:solidFill>
                  <a:srgbClr val="065A82"/>
                </a:solidFill>
                <a:latin typeface="DejaVu Sans"/>
              </a:rPr>
              <a:t>17% выдуманных ссылок</a:t>
            </a:r>
          </a:p>
        </p:txBody>
      </p:sp>
      <p:sp>
        <p:nvSpPr>
          <p:cNvPr id="12" name="Rounded Rectangle 11"/>
          <p:cNvSpPr/>
          <p:nvPr/>
        </p:nvSpPr>
        <p:spPr>
          <a:xfrm>
            <a:off x="9006840" y="1682496"/>
            <a:ext cx="2377440" cy="420624"/>
          </a:xfrm>
          <a:prstGeom prst="roundRect">
            <a:avLst>
              <a:gd name="adj" fmla="val 14000"/>
            </a:avLst>
          </a:prstGeom>
          <a:solidFill>
            <a:srgbClr val="F4F7FA"/>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34856" y="1682496"/>
            <a:ext cx="2121408" cy="420624"/>
          </a:xfrm>
          <a:prstGeom prst="rect">
            <a:avLst/>
          </a:prstGeom>
          <a:noFill/>
        </p:spPr>
        <p:txBody>
          <a:bodyPr wrap="square" lIns="0" rIns="0" tIns="0" bIns="0" anchor="ctr">
            <a:spAutoFit/>
          </a:bodyPr>
          <a:lstStyle/>
          <a:p>
            <a:pPr algn="l">
              <a:lnSpc>
                <a:spcPct val="105000"/>
              </a:lnSpc>
            </a:pPr>
            <a:r>
              <a:rPr sz="1150" b="0" i="0">
                <a:solidFill>
                  <a:srgbClr val="21295C"/>
                </a:solidFill>
                <a:latin typeface="DejaVu Sans"/>
              </a:rPr>
              <a:t>Westlaw  </a:t>
            </a:r>
            <a:r>
              <a:rPr sz="1150" b="1" i="0">
                <a:solidFill>
                  <a:srgbClr val="028090"/>
                </a:solidFill>
                <a:latin typeface="DejaVu Sans"/>
              </a:rPr>
              <a:t>33% выдуманных ссылок</a:t>
            </a:r>
          </a:p>
        </p:txBody>
      </p:sp>
      <p:sp>
        <p:nvSpPr>
          <p:cNvPr id="14" name="TextBox 13"/>
          <p:cNvSpPr txBox="1"/>
          <p:nvPr/>
        </p:nvSpPr>
        <p:spPr>
          <a:xfrm>
            <a:off x="6400800" y="2231136"/>
            <a:ext cx="5074920" cy="1956816"/>
          </a:xfrm>
          <a:prstGeom prst="rect">
            <a:avLst/>
          </a:prstGeom>
          <a:noFill/>
        </p:spPr>
        <p:txBody>
          <a:bodyPr wrap="square" lIns="0" rIns="0" tIns="0" bIns="0" anchor="t">
            <a:spAutoFit/>
          </a:bodyPr>
          <a:lstStyle/>
          <a:p>
            <a:pPr algn="l">
              <a:lnSpc>
                <a:spcPct val="116000"/>
              </a:lnSpc>
            </a:pPr>
            <a:r>
              <a:rPr sz="1150" b="0" i="0">
                <a:solidFill>
                  <a:srgbClr val="21295C"/>
                </a:solidFill>
                <a:latin typeface="DejaVu Sans"/>
              </a:rPr>
              <a:t>2023 год. Адвокат подаёт в суд документ с шестью полностью выдуманными судебными делами — дело Mata против Avianca. Сгенерировал их ChatGPT, а не юридический сервис Harvey: это частая ошибка атрибуции. Затем Stanford RegLab проверяет сами юридические инструменты на реальных запросах: наиболее точный из протестированных выдумывает ссылки примерно в одном запросе из шести, второй — вдвое чаще, несмотря на обещание «без галлюцинаций».</a:t>
            </a:r>
          </a:p>
        </p:txBody>
      </p:sp>
      <p:sp>
        <p:nvSpPr>
          <p:cNvPr id="15" name="Rounded Rectangle 14"/>
          <p:cNvSpPr/>
          <p:nvPr/>
        </p:nvSpPr>
        <p:spPr>
          <a:xfrm>
            <a:off x="502920" y="4352544"/>
            <a:ext cx="11201400" cy="731520"/>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407408"/>
            <a:ext cx="10744200" cy="621792"/>
          </a:xfrm>
          <a:prstGeom prst="rect">
            <a:avLst/>
          </a:prstGeom>
          <a:noFill/>
        </p:spPr>
        <p:txBody>
          <a:bodyPr wrap="square" lIns="0" rIns="0" tIns="0" bIns="0" anchor="ctr">
            <a:spAutoFit/>
          </a:bodyPr>
          <a:lstStyle/>
          <a:p>
            <a:pPr algn="l">
              <a:lnSpc>
                <a:spcPct val="114000"/>
              </a:lnSpc>
            </a:pPr>
            <a:r>
              <a:rPr sz="1100" b="1" i="0">
                <a:solidFill>
                  <a:srgbClr val="065A82"/>
                </a:solidFill>
                <a:latin typeface="DejaVu Sans"/>
              </a:rPr>
              <a:t>РАЗБОР   </a:t>
            </a:r>
            <a:r>
              <a:rPr sz="1150" b="0" i="0">
                <a:solidFill>
                  <a:srgbClr val="21295C"/>
                </a:solidFill>
                <a:latin typeface="DejaVu Sans"/>
              </a:rPr>
              <a:t>Балл измерен на узком формате задачи и не переносится на реальную задачу пользователя. Бенчмарк при этом не бесполезен — он честно сравнивает версии модели между собой. Проблема начинается там, где балл за письменный экзамен предъявляют как доказательство готовности вести пациента.</a:t>
            </a:r>
          </a:p>
        </p:txBody>
      </p:sp>
      <p:sp>
        <p:nvSpPr>
          <p:cNvPr id="17" name="Rounded Rectangle 16"/>
          <p:cNvSpPr/>
          <p:nvPr/>
        </p:nvSpPr>
        <p:spPr>
          <a:xfrm>
            <a:off x="502920" y="5138928"/>
            <a:ext cx="11201400" cy="111556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6" y="5193792"/>
            <a:ext cx="10762488" cy="1005840"/>
          </a:xfrm>
          <a:prstGeom prst="rect">
            <a:avLst/>
          </a:prstGeom>
          <a:noFill/>
        </p:spPr>
        <p:txBody>
          <a:bodyPr wrap="square" lIns="0" rIns="0" tIns="0" bIns="0" anchor="ctr">
            <a:spAutoFit/>
          </a:bodyPr>
          <a:lstStyle/>
          <a:p>
            <a:pPr algn="l">
              <a:lnSpc>
                <a:spcPct val="120000"/>
              </a:lnSpc>
            </a:pPr>
            <a:r>
              <a:rPr sz="1200" b="1" i="0">
                <a:solidFill>
                  <a:srgbClr val="21295C"/>
                </a:solidFill>
                <a:latin typeface="DejaVu Sans"/>
              </a:rPr>
              <a:t>К 2026 году к разрыву форматов добавилось насыщение. На MMLU (Massive Multitask Language Understanding, сводном наборе из 57 предметов) передовые модели держатся в узкой полосе 89–92% — различать их этот балл уже не может. Хуже того: 6,5% вопросов самого набора содержат ошибку в эталонном ответе, а в разделе вирусологии — 57%. Заявление о безопасности только по бенчмарку не подтверждено: нужна состязательная проверка на той задаче, которую продукт решает.</a:t>
            </a:r>
          </a:p>
        </p:txBody>
      </p:sp>
      <p:sp>
        <p:nvSpPr>
          <p:cNvPr id="19" name="TextBox 18"/>
          <p:cNvSpPr txBox="1"/>
          <p:nvPr/>
        </p:nvSpPr>
        <p:spPr>
          <a:xfrm>
            <a:off x="502920" y="6419088"/>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2"/>
              </a:rPr>
              <a:t>Med-PaLM 2 — Nature Medicine 2024 (arXiv:2305.09617)</a:t>
            </a:r>
            <a:r>
              <a:rPr sz="850" i="1">
                <a:solidFill>
                  <a:srgbClr val="1C7293"/>
                </a:solidFill>
                <a:latin typeface="DejaVu Sans"/>
              </a:rPr>
              <a:t>   ·   </a:t>
            </a:r>
            <a:r>
              <a:rPr sz="850" b="1" i="1">
                <a:solidFill>
                  <a:srgbClr val="065A82"/>
                </a:solidFill>
                <a:latin typeface="DejaVu Sans"/>
              </a:rPr>
              <a:t>[2] </a:t>
            </a:r>
            <a:r>
              <a:rPr sz="850" i="1">
                <a:solidFill>
                  <a:srgbClr val="1C7293"/>
                </a:solidFill>
                <a:latin typeface="DejaVu Sans"/>
                <a:hlinkClick r:id="rId3"/>
              </a:rPr>
              <a:t>Wikipedia — дело Mata против Avianca</a:t>
            </a:r>
            <a:r>
              <a:rPr sz="850" i="1">
                <a:solidFill>
                  <a:srgbClr val="1C7293"/>
                </a:solidFill>
                <a:latin typeface="DejaVu Sans"/>
              </a:rPr>
              <a:t>   ·   </a:t>
            </a:r>
            <a:r>
              <a:rPr sz="850" b="1" i="1">
                <a:solidFill>
                  <a:srgbClr val="065A82"/>
                </a:solidFill>
                <a:latin typeface="DejaVu Sans"/>
              </a:rPr>
              <a:t>[3] </a:t>
            </a:r>
            <a:r>
              <a:rPr sz="850" i="1">
                <a:solidFill>
                  <a:srgbClr val="1C7293"/>
                </a:solidFill>
                <a:latin typeface="DejaVu Sans"/>
                <a:hlinkClick r:id="rId4"/>
              </a:rPr>
              <a:t>Stanford RegLab — J. Empirical Legal Studies</a:t>
            </a:r>
          </a:p>
        </p:txBody>
      </p:sp>
      <p:sp>
        <p:nvSpPr>
          <p:cNvPr id="20" name="TextBox 19"/>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35 / 54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extBox 1"/>
          <p:cNvSpPr txBox="1"/>
          <p:nvPr/>
        </p:nvSpPr>
        <p:spPr>
          <a:xfrm>
            <a:off x="9464040" y="91440"/>
            <a:ext cx="2651760" cy="1188720"/>
          </a:xfrm>
          <a:prstGeom prst="rect">
            <a:avLst/>
          </a:prstGeom>
          <a:noFill/>
        </p:spPr>
        <p:txBody>
          <a:bodyPr wrap="square" lIns="0" rIns="0" tIns="0" bIns="0" anchor="ctr">
            <a:spAutoFit/>
          </a:bodyPr>
          <a:lstStyle/>
          <a:p>
            <a:pPr algn="ctr">
              <a:lnSpc>
                <a:spcPct val="115000"/>
              </a:lnSpc>
            </a:pPr>
            <a:r>
              <a:rPr sz="9000" b="1" i="0">
                <a:solidFill>
                  <a:srgbClr val="D9E2EC"/>
                </a:solidFill>
                <a:latin typeface="DejaVu Sans"/>
              </a:rPr>
              <a:t>5</a:t>
            </a:r>
          </a:p>
        </p:txBody>
      </p:sp>
      <p:sp>
        <p:nvSpPr>
          <p:cNvPr id="3" name="Rounded Rectangle 2"/>
          <p:cNvSpPr/>
          <p:nvPr/>
        </p:nvSpPr>
        <p:spPr>
          <a:xfrm>
            <a:off x="7635240" y="1234440"/>
            <a:ext cx="4069080" cy="4160520"/>
          </a:xfrm>
          <a:prstGeom prst="roundRect">
            <a:avLst>
              <a:gd name="adj" fmla="val 749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36-disaster-girl.jpg"/>
          <p:cNvPicPr>
            <a:picLocks noChangeAspect="1"/>
          </p:cNvPicPr>
          <p:nvPr/>
        </p:nvPicPr>
        <p:blipFill>
          <a:blip r:embed="rId2"/>
          <a:stretch>
            <a:fillRect/>
          </a:stretch>
        </p:blipFill>
        <p:spPr>
          <a:xfrm>
            <a:off x="7763256" y="1884807"/>
            <a:ext cx="3813048" cy="2859786"/>
          </a:xfrm>
          <a:prstGeom prst="rect">
            <a:avLst/>
          </a:prstGeom>
        </p:spPr>
      </p:pic>
      <p:sp>
        <p:nvSpPr>
          <p:cNvPr id="5" name="TextBox 4"/>
          <p:cNvSpPr txBox="1"/>
          <p:nvPr/>
        </p:nvSpPr>
        <p:spPr>
          <a:xfrm>
            <a:off x="685800" y="1417320"/>
            <a:ext cx="6675120" cy="502920"/>
          </a:xfrm>
          <a:prstGeom prst="rect">
            <a:avLst/>
          </a:prstGeom>
          <a:noFill/>
        </p:spPr>
        <p:txBody>
          <a:bodyPr wrap="square" lIns="0" rIns="0" tIns="0" bIns="0" anchor="t">
            <a:spAutoFit/>
          </a:bodyPr>
          <a:lstStyle/>
          <a:p>
            <a:pPr algn="l">
              <a:lnSpc>
                <a:spcPct val="115000"/>
              </a:lnSpc>
            </a:pPr>
            <a:r>
              <a:rPr sz="2000" b="1" i="0">
                <a:solidFill>
                  <a:srgbClr val="028090"/>
                </a:solidFill>
                <a:latin typeface="DejaVu Sans"/>
              </a:rPr>
              <a:t>РАЗДЕЛ 5</a:t>
            </a:r>
          </a:p>
        </p:txBody>
      </p:sp>
      <p:sp>
        <p:nvSpPr>
          <p:cNvPr id="6" name="TextBox 5"/>
          <p:cNvSpPr txBox="1"/>
          <p:nvPr/>
        </p:nvSpPr>
        <p:spPr>
          <a:xfrm>
            <a:off x="685800" y="2395728"/>
            <a:ext cx="6675120" cy="1600200"/>
          </a:xfrm>
          <a:prstGeom prst="rect">
            <a:avLst/>
          </a:prstGeom>
          <a:noFill/>
        </p:spPr>
        <p:txBody>
          <a:bodyPr wrap="square" lIns="0" rIns="0" tIns="0" bIns="0" anchor="t">
            <a:spAutoFit/>
          </a:bodyPr>
          <a:lstStyle/>
          <a:p>
            <a:pPr algn="l">
              <a:lnSpc>
                <a:spcPct val="108000"/>
              </a:lnSpc>
            </a:pPr>
            <a:r>
              <a:rPr sz="3000" b="1" i="0">
                <a:solidFill>
                  <a:srgbClr val="21295C"/>
                </a:solidFill>
                <a:latin typeface="DejaVu Sans"/>
              </a:rPr>
              <a:t>Поддержка — удержать обещание продукта после запуска</a:t>
            </a:r>
          </a:p>
        </p:txBody>
      </p:sp>
      <p:sp>
        <p:nvSpPr>
          <p:cNvPr id="7" name="Rounded Rectangle 6"/>
          <p:cNvSpPr/>
          <p:nvPr/>
        </p:nvSpPr>
        <p:spPr>
          <a:xfrm>
            <a:off x="713232" y="3840480"/>
            <a:ext cx="3291840" cy="384048"/>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250" b="1">
                <a:solidFill>
                  <a:srgbClr val="21295C"/>
                </a:solidFill>
                <a:latin typeface="DejaVu Sans"/>
              </a:rPr>
              <a:t>1 база · 2 практики · 3 провала</a:t>
            </a:r>
          </a:p>
        </p:txBody>
      </p:sp>
      <p:sp>
        <p:nvSpPr>
          <p:cNvPr id="8" name="TextBox 7"/>
          <p:cNvSpPr txBox="1"/>
          <p:nvPr/>
        </p:nvSpPr>
        <p:spPr>
          <a:xfrm>
            <a:off x="713232" y="4389120"/>
            <a:ext cx="6720840" cy="1417320"/>
          </a:xfrm>
          <a:prstGeom prst="rect">
            <a:avLst/>
          </a:prstGeom>
          <a:noFill/>
        </p:spPr>
        <p:txBody>
          <a:bodyPr wrap="square" lIns="0" rIns="0" tIns="0" bIns="0" anchor="t">
            <a:spAutoFit/>
          </a:bodyPr>
          <a:lstStyle/>
          <a:p>
            <a:pPr algn="l">
              <a:lnSpc>
                <a:spcPct val="116000"/>
              </a:lnSpc>
            </a:pPr>
            <a:r>
              <a:rPr sz="1500" b="0" i="1">
                <a:solidFill>
                  <a:srgbClr val="1C7293"/>
                </a:solidFill>
                <a:latin typeface="DejaVu Sans"/>
              </a:rPr>
              <a:t>Продукт живёт годами после запуска, и большинство отказов приходит не от износа, а от изменений, которые вносим мы сами. Без этой работы деградацию первым замечает пользователь — а компания узнаёт о ней из суда, из списания капитала или из публичного расследования.</a:t>
            </a:r>
          </a:p>
        </p:txBody>
      </p:sp>
      <p:sp>
        <p:nvSpPr>
          <p:cNvPr id="9" name="Rounded Rectangle 8"/>
          <p:cNvSpPr/>
          <p:nvPr/>
        </p:nvSpPr>
        <p:spPr>
          <a:xfrm>
            <a:off x="502920"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1208"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0</a:t>
            </a:r>
          </a:p>
        </p:txBody>
      </p:sp>
      <p:sp>
        <p:nvSpPr>
          <p:cNvPr id="11" name="TextBox 10"/>
          <p:cNvSpPr txBox="1"/>
          <p:nvPr/>
        </p:nvSpPr>
        <p:spPr>
          <a:xfrm>
            <a:off x="521208" y="6217920"/>
            <a:ext cx="1283589" cy="274320"/>
          </a:xfrm>
          <a:prstGeom prst="rect">
            <a:avLst/>
          </a:prstGeom>
          <a:noFill/>
        </p:spPr>
        <p:txBody>
          <a:bodyPr wrap="square" lIns="0" rIns="0" tIns="0" bIns="0" anchor="t">
            <a:spAutoFit/>
          </a:bodyPr>
          <a:lstStyle/>
          <a:p>
            <a:pPr algn="ctr">
              <a:lnSpc>
                <a:spcPct val="92000"/>
              </a:lnSpc>
            </a:pPr>
            <a:r>
              <a:rPr sz="900" b="0" i="0">
                <a:solidFill>
                  <a:srgbClr val="5B6678"/>
                </a:solidFill>
                <a:latin typeface="DejaVu Sans"/>
              </a:rPr>
              <a:t>Введение</a:t>
            </a:r>
          </a:p>
        </p:txBody>
      </p:sp>
      <p:sp>
        <p:nvSpPr>
          <p:cNvPr id="12" name="Rounded Rectangle 11"/>
          <p:cNvSpPr/>
          <p:nvPr/>
        </p:nvSpPr>
        <p:spPr>
          <a:xfrm>
            <a:off x="1914525"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932813"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1</a:t>
            </a:r>
          </a:p>
        </p:txBody>
      </p:sp>
      <p:sp>
        <p:nvSpPr>
          <p:cNvPr id="14" name="TextBox 13"/>
          <p:cNvSpPr txBox="1"/>
          <p:nvPr/>
        </p:nvSpPr>
        <p:spPr>
          <a:xfrm>
            <a:off x="1932813" y="6217920"/>
            <a:ext cx="1283589" cy="274320"/>
          </a:xfrm>
          <a:prstGeom prst="rect">
            <a:avLst/>
          </a:prstGeom>
          <a:noFill/>
        </p:spPr>
        <p:txBody>
          <a:bodyPr wrap="square" lIns="0" rIns="0" tIns="0" bIns="0" anchor="t">
            <a:spAutoFit/>
          </a:bodyPr>
          <a:lstStyle/>
          <a:p>
            <a:pPr algn="ctr">
              <a:lnSpc>
                <a:spcPct val="92000"/>
              </a:lnSpc>
            </a:pPr>
            <a:r>
              <a:rPr sz="800" b="0" i="0">
                <a:solidFill>
                  <a:srgbClr val="5B6678"/>
                </a:solidFill>
                <a:latin typeface="DejaVu Sans"/>
              </a:rPr>
              <a:t>Исследование</a:t>
            </a:r>
          </a:p>
        </p:txBody>
      </p:sp>
      <p:sp>
        <p:nvSpPr>
          <p:cNvPr id="15" name="Rounded Rectangle 14"/>
          <p:cNvSpPr/>
          <p:nvPr/>
        </p:nvSpPr>
        <p:spPr>
          <a:xfrm>
            <a:off x="3326130"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44418"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2</a:t>
            </a:r>
          </a:p>
        </p:txBody>
      </p:sp>
      <p:sp>
        <p:nvSpPr>
          <p:cNvPr id="17" name="TextBox 16"/>
          <p:cNvSpPr txBox="1"/>
          <p:nvPr/>
        </p:nvSpPr>
        <p:spPr>
          <a:xfrm>
            <a:off x="3344418" y="6217920"/>
            <a:ext cx="1283589" cy="274320"/>
          </a:xfrm>
          <a:prstGeom prst="rect">
            <a:avLst/>
          </a:prstGeom>
          <a:noFill/>
        </p:spPr>
        <p:txBody>
          <a:bodyPr wrap="square" lIns="0" rIns="0" tIns="0" bIns="0" anchor="t">
            <a:spAutoFit/>
          </a:bodyPr>
          <a:lstStyle/>
          <a:p>
            <a:pPr algn="ctr">
              <a:lnSpc>
                <a:spcPct val="92000"/>
              </a:lnSpc>
            </a:pPr>
            <a:r>
              <a:rPr sz="900" b="0" i="0">
                <a:solidFill>
                  <a:srgbClr val="5B6678"/>
                </a:solidFill>
                <a:latin typeface="DejaVu Sans"/>
              </a:rPr>
              <a:t>Дизайн</a:t>
            </a:r>
          </a:p>
        </p:txBody>
      </p:sp>
      <p:sp>
        <p:nvSpPr>
          <p:cNvPr id="18" name="Rounded Rectangle 17"/>
          <p:cNvSpPr/>
          <p:nvPr/>
        </p:nvSpPr>
        <p:spPr>
          <a:xfrm>
            <a:off x="4737735"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56023"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3</a:t>
            </a:r>
          </a:p>
        </p:txBody>
      </p:sp>
      <p:sp>
        <p:nvSpPr>
          <p:cNvPr id="20" name="TextBox 19"/>
          <p:cNvSpPr txBox="1"/>
          <p:nvPr/>
        </p:nvSpPr>
        <p:spPr>
          <a:xfrm>
            <a:off x="4756023" y="6217920"/>
            <a:ext cx="1283589" cy="274320"/>
          </a:xfrm>
          <a:prstGeom prst="rect">
            <a:avLst/>
          </a:prstGeom>
          <a:noFill/>
        </p:spPr>
        <p:txBody>
          <a:bodyPr wrap="square" lIns="0" rIns="0" tIns="0" bIns="0" anchor="t">
            <a:spAutoFit/>
          </a:bodyPr>
          <a:lstStyle/>
          <a:p>
            <a:pPr algn="ctr">
              <a:lnSpc>
                <a:spcPct val="92000"/>
              </a:lnSpc>
            </a:pPr>
            <a:r>
              <a:rPr sz="800" b="0" i="0">
                <a:solidFill>
                  <a:srgbClr val="5B6678"/>
                </a:solidFill>
                <a:latin typeface="DejaVu Sans"/>
              </a:rPr>
              <a:t>Сборка и запуск</a:t>
            </a:r>
          </a:p>
        </p:txBody>
      </p:sp>
      <p:sp>
        <p:nvSpPr>
          <p:cNvPr id="21" name="Rounded Rectangle 20"/>
          <p:cNvSpPr/>
          <p:nvPr/>
        </p:nvSpPr>
        <p:spPr>
          <a:xfrm>
            <a:off x="6149340"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67628"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4</a:t>
            </a:r>
          </a:p>
        </p:txBody>
      </p:sp>
      <p:sp>
        <p:nvSpPr>
          <p:cNvPr id="23" name="TextBox 22"/>
          <p:cNvSpPr txBox="1"/>
          <p:nvPr/>
        </p:nvSpPr>
        <p:spPr>
          <a:xfrm>
            <a:off x="6167628" y="6217920"/>
            <a:ext cx="1283589" cy="274320"/>
          </a:xfrm>
          <a:prstGeom prst="rect">
            <a:avLst/>
          </a:prstGeom>
          <a:noFill/>
        </p:spPr>
        <p:txBody>
          <a:bodyPr wrap="square" lIns="0" rIns="0" tIns="0" bIns="0" anchor="t">
            <a:spAutoFit/>
          </a:bodyPr>
          <a:lstStyle/>
          <a:p>
            <a:pPr algn="ctr">
              <a:lnSpc>
                <a:spcPct val="92000"/>
              </a:lnSpc>
            </a:pPr>
            <a:r>
              <a:rPr sz="900" b="0" i="0">
                <a:solidFill>
                  <a:srgbClr val="5B6678"/>
                </a:solidFill>
                <a:latin typeface="DejaVu Sans"/>
              </a:rPr>
              <a:t>Измерение</a:t>
            </a:r>
          </a:p>
        </p:txBody>
      </p:sp>
      <p:sp>
        <p:nvSpPr>
          <p:cNvPr id="24" name="Rounded Rectangle 23"/>
          <p:cNvSpPr/>
          <p:nvPr/>
        </p:nvSpPr>
        <p:spPr>
          <a:xfrm>
            <a:off x="7560945" y="5989320"/>
            <a:ext cx="1320165" cy="530352"/>
          </a:xfrm>
          <a:prstGeom prst="roundRect">
            <a:avLst>
              <a:gd name="adj" fmla="val 1200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79233" y="6035040"/>
            <a:ext cx="1283589" cy="164592"/>
          </a:xfrm>
          <a:prstGeom prst="rect">
            <a:avLst/>
          </a:prstGeom>
          <a:noFill/>
        </p:spPr>
        <p:txBody>
          <a:bodyPr wrap="square" lIns="0" rIns="0" tIns="0" bIns="0" anchor="t">
            <a:spAutoFit/>
          </a:bodyPr>
          <a:lstStyle/>
          <a:p>
            <a:pPr algn="ctr">
              <a:lnSpc>
                <a:spcPct val="115000"/>
              </a:lnSpc>
            </a:pPr>
            <a:r>
              <a:rPr sz="1050" b="1" i="0">
                <a:solidFill>
                  <a:srgbClr val="21295C"/>
                </a:solidFill>
                <a:latin typeface="DejaVu Sans"/>
              </a:rPr>
              <a:t>5</a:t>
            </a:r>
          </a:p>
        </p:txBody>
      </p:sp>
      <p:sp>
        <p:nvSpPr>
          <p:cNvPr id="26" name="TextBox 25"/>
          <p:cNvSpPr txBox="1"/>
          <p:nvPr/>
        </p:nvSpPr>
        <p:spPr>
          <a:xfrm>
            <a:off x="7579233" y="6217920"/>
            <a:ext cx="1283589" cy="274320"/>
          </a:xfrm>
          <a:prstGeom prst="rect">
            <a:avLst/>
          </a:prstGeom>
          <a:noFill/>
        </p:spPr>
        <p:txBody>
          <a:bodyPr wrap="square" lIns="0" rIns="0" tIns="0" bIns="0" anchor="t">
            <a:spAutoFit/>
          </a:bodyPr>
          <a:lstStyle/>
          <a:p>
            <a:pPr algn="ctr">
              <a:lnSpc>
                <a:spcPct val="92000"/>
              </a:lnSpc>
            </a:pPr>
            <a:r>
              <a:rPr sz="900" b="1" i="0">
                <a:solidFill>
                  <a:srgbClr val="21295C"/>
                </a:solidFill>
                <a:latin typeface="DejaVu Sans"/>
              </a:rPr>
              <a:t>Поддержка</a:t>
            </a:r>
          </a:p>
        </p:txBody>
      </p:sp>
      <p:sp>
        <p:nvSpPr>
          <p:cNvPr id="27" name="Rounded Rectangle 26"/>
          <p:cNvSpPr/>
          <p:nvPr/>
        </p:nvSpPr>
        <p:spPr>
          <a:xfrm>
            <a:off x="8972550"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90838"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6</a:t>
            </a:r>
          </a:p>
        </p:txBody>
      </p:sp>
      <p:sp>
        <p:nvSpPr>
          <p:cNvPr id="29" name="TextBox 28"/>
          <p:cNvSpPr txBox="1"/>
          <p:nvPr/>
        </p:nvSpPr>
        <p:spPr>
          <a:xfrm>
            <a:off x="8990838" y="6217920"/>
            <a:ext cx="1283589" cy="274320"/>
          </a:xfrm>
          <a:prstGeom prst="rect">
            <a:avLst/>
          </a:prstGeom>
          <a:noFill/>
        </p:spPr>
        <p:txBody>
          <a:bodyPr wrap="square" lIns="0" rIns="0" tIns="0" bIns="0" anchor="t">
            <a:spAutoFit/>
          </a:bodyPr>
          <a:lstStyle/>
          <a:p>
            <a:pPr algn="ctr">
              <a:lnSpc>
                <a:spcPct val="92000"/>
              </a:lnSpc>
            </a:pPr>
            <a:r>
              <a:rPr sz="800" b="0" i="0">
                <a:solidFill>
                  <a:srgbClr val="5B6678"/>
                </a:solidFill>
                <a:latin typeface="DejaVu Sans"/>
              </a:rPr>
              <a:t>Управление</a:t>
            </a:r>
          </a:p>
        </p:txBody>
      </p:sp>
      <p:sp>
        <p:nvSpPr>
          <p:cNvPr id="30" name="Rounded Rectangle 29"/>
          <p:cNvSpPr/>
          <p:nvPr/>
        </p:nvSpPr>
        <p:spPr>
          <a:xfrm>
            <a:off x="10384155"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402443"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7</a:t>
            </a:r>
          </a:p>
        </p:txBody>
      </p:sp>
      <p:sp>
        <p:nvSpPr>
          <p:cNvPr id="32" name="TextBox 31"/>
          <p:cNvSpPr txBox="1"/>
          <p:nvPr/>
        </p:nvSpPr>
        <p:spPr>
          <a:xfrm>
            <a:off x="10402443" y="6217920"/>
            <a:ext cx="1283589" cy="274320"/>
          </a:xfrm>
          <a:prstGeom prst="rect">
            <a:avLst/>
          </a:prstGeom>
          <a:noFill/>
        </p:spPr>
        <p:txBody>
          <a:bodyPr wrap="square" lIns="0" rIns="0" tIns="0" bIns="0" anchor="t">
            <a:spAutoFit/>
          </a:bodyPr>
          <a:lstStyle/>
          <a:p>
            <a:pPr algn="ctr">
              <a:lnSpc>
                <a:spcPct val="92000"/>
              </a:lnSpc>
            </a:pPr>
            <a:r>
              <a:rPr sz="900" b="0" i="0">
                <a:solidFill>
                  <a:srgbClr val="5B6678"/>
                </a:solidFill>
                <a:latin typeface="DejaVu Sans"/>
              </a:rPr>
              <a:t>Обобщение</a:t>
            </a:r>
          </a:p>
        </p:txBody>
      </p:sp>
      <p:sp>
        <p:nvSpPr>
          <p:cNvPr id="33" name="TextBox 32"/>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36 / 54</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18872"/>
            <a:ext cx="11247120" cy="713232"/>
          </a:xfrm>
          <a:prstGeom prst="rect">
            <a:avLst/>
          </a:prstGeom>
          <a:noFill/>
        </p:spPr>
        <p:txBody>
          <a:bodyPr wrap="square" lIns="0" rIns="0" tIns="0" bIns="0" anchor="t">
            <a:spAutoFit/>
          </a:bodyPr>
          <a:lstStyle/>
          <a:p>
            <a:pPr algn="l">
              <a:lnSpc>
                <a:spcPct val="110000"/>
              </a:lnSpc>
            </a:pPr>
            <a:r>
              <a:rPr sz="2100" b="1" i="0">
                <a:solidFill>
                  <a:srgbClr val="21295C"/>
                </a:solidFill>
                <a:latin typeface="DejaVu Sans"/>
              </a:rPr>
              <a:t>Бюджет ошибок: сколько сбоев допустимо — число, а не лозунг</a:t>
            </a:r>
          </a:p>
        </p:txBody>
      </p:sp>
      <p:sp>
        <p:nvSpPr>
          <p:cNvPr id="3" name="Rounded Rectangle 2"/>
          <p:cNvSpPr/>
          <p:nvPr/>
        </p:nvSpPr>
        <p:spPr>
          <a:xfrm>
            <a:off x="502920" y="896112"/>
            <a:ext cx="11201400" cy="960120"/>
          </a:xfrm>
          <a:prstGeom prst="roundRect">
            <a:avLst>
              <a:gd name="adj" fmla="val 22000"/>
            </a:avLst>
          </a:prstGeom>
          <a:solidFill>
            <a:srgbClr val="F4F7FA"/>
          </a:solidFill>
          <a:ln w="1905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969264"/>
            <a:ext cx="10780776" cy="822960"/>
          </a:xfrm>
          <a:prstGeom prst="rect">
            <a:avLst/>
          </a:prstGeom>
          <a:noFill/>
        </p:spPr>
        <p:txBody>
          <a:bodyPr wrap="square" lIns="0" rIns="0" tIns="0" bIns="0" anchor="ctr">
            <a:spAutoFit/>
          </a:bodyPr>
          <a:lstStyle/>
          <a:p>
            <a:pPr algn="l">
              <a:lnSpc>
                <a:spcPct val="115000"/>
              </a:lnSpc>
            </a:pPr>
            <a:r>
              <a:rPr sz="1200" b="1" i="0">
                <a:solidFill>
                  <a:srgbClr val="065A82"/>
                </a:solidFill>
                <a:latin typeface="DejaVu Sans"/>
              </a:rPr>
              <a:t>ЗАЧЕМ ЭТА РАБОТА.  </a:t>
            </a:r>
            <a:r>
              <a:rPr sz="1200" b="0" i="0">
                <a:solidFill>
                  <a:srgbClr val="21295C"/>
                </a:solidFill>
                <a:latin typeface="DejaVu Sans"/>
              </a:rPr>
              <a:t>Около 70% отказов работающей системы приходят не от износа, а от изменений, которые вносим мы сами: выкатка, правка промпта, смена версии модели. Значит, источник сбоев — та работа, которой команда занята каждый день. Если допустимое число сбоев не согласовано заранее, спор «быстрее или надёжнее» решается после инцидента и в пользу того, кто громче.</a:t>
            </a:r>
          </a:p>
        </p:txBody>
      </p:sp>
      <p:sp>
        <p:nvSpPr>
          <p:cNvPr id="5" name="Rounded Rectangle 4"/>
          <p:cNvSpPr/>
          <p:nvPr/>
        </p:nvSpPr>
        <p:spPr>
          <a:xfrm>
            <a:off x="502920" y="1938528"/>
            <a:ext cx="2103120" cy="914400"/>
          </a:xfrm>
          <a:prstGeom prst="roundRect">
            <a:avLst>
              <a:gd name="adj" fmla="val 22000"/>
            </a:avLst>
          </a:prstGeom>
          <a:solidFill>
            <a:srgbClr val="F4F7FA"/>
          </a:solidFill>
          <a:ln w="2032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2029968"/>
            <a:ext cx="1920239" cy="420624"/>
          </a:xfrm>
          <a:prstGeom prst="rect">
            <a:avLst/>
          </a:prstGeom>
          <a:noFill/>
        </p:spPr>
        <p:txBody>
          <a:bodyPr wrap="square" lIns="0" rIns="0" tIns="0" bIns="0" anchor="t">
            <a:spAutoFit/>
          </a:bodyPr>
          <a:lstStyle/>
          <a:p>
            <a:pPr algn="ctr">
              <a:lnSpc>
                <a:spcPct val="105000"/>
              </a:lnSpc>
            </a:pPr>
            <a:r>
              <a:rPr sz="1150" b="1" i="0">
                <a:solidFill>
                  <a:srgbClr val="21295C"/>
                </a:solidFill>
                <a:latin typeface="DejaVu Sans"/>
              </a:rPr>
              <a:t>Показатель уровня сервиса (SLI)</a:t>
            </a:r>
          </a:p>
        </p:txBody>
      </p:sp>
      <p:sp>
        <p:nvSpPr>
          <p:cNvPr id="7" name="TextBox 6"/>
          <p:cNvSpPr txBox="1"/>
          <p:nvPr/>
        </p:nvSpPr>
        <p:spPr>
          <a:xfrm>
            <a:off x="594360" y="2487168"/>
            <a:ext cx="1920239" cy="292608"/>
          </a:xfrm>
          <a:prstGeom prst="rect">
            <a:avLst/>
          </a:prstGeom>
          <a:noFill/>
        </p:spPr>
        <p:txBody>
          <a:bodyPr wrap="square" lIns="0" rIns="0" tIns="0" bIns="0" anchor="t">
            <a:spAutoFit/>
          </a:bodyPr>
          <a:lstStyle/>
          <a:p>
            <a:pPr algn="ctr">
              <a:lnSpc>
                <a:spcPct val="105000"/>
              </a:lnSpc>
            </a:pPr>
            <a:r>
              <a:rPr sz="950" b="0" i="1">
                <a:solidFill>
                  <a:srgbClr val="5B6678"/>
                </a:solidFill>
                <a:latin typeface="DejaVu Sans"/>
              </a:rPr>
              <a:t>мера глазами пользователя</a:t>
            </a:r>
          </a:p>
        </p:txBody>
      </p:sp>
      <p:sp>
        <p:nvSpPr>
          <p:cNvPr id="8" name="Right Arrow 7"/>
          <p:cNvSpPr/>
          <p:nvPr/>
        </p:nvSpPr>
        <p:spPr>
          <a:xfrm>
            <a:off x="2624327" y="2286000"/>
            <a:ext cx="219456" cy="219456"/>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862072" y="1938528"/>
            <a:ext cx="2103120" cy="914400"/>
          </a:xfrm>
          <a:prstGeom prst="roundRect">
            <a:avLst>
              <a:gd name="adj" fmla="val 22000"/>
            </a:avLst>
          </a:prstGeom>
          <a:solidFill>
            <a:srgbClr val="F4F7FA"/>
          </a:solidFill>
          <a:ln w="2032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53512" y="2029968"/>
            <a:ext cx="1920239" cy="420624"/>
          </a:xfrm>
          <a:prstGeom prst="rect">
            <a:avLst/>
          </a:prstGeom>
          <a:noFill/>
        </p:spPr>
        <p:txBody>
          <a:bodyPr wrap="square" lIns="0" rIns="0" tIns="0" bIns="0" anchor="t">
            <a:spAutoFit/>
          </a:bodyPr>
          <a:lstStyle/>
          <a:p>
            <a:pPr algn="ctr">
              <a:lnSpc>
                <a:spcPct val="105000"/>
              </a:lnSpc>
            </a:pPr>
            <a:r>
              <a:rPr sz="1150" b="1" i="0">
                <a:solidFill>
                  <a:srgbClr val="21295C"/>
                </a:solidFill>
                <a:latin typeface="DejaVu Sans"/>
              </a:rPr>
              <a:t>Цель уровня сервиса (SLO)</a:t>
            </a:r>
          </a:p>
        </p:txBody>
      </p:sp>
      <p:sp>
        <p:nvSpPr>
          <p:cNvPr id="11" name="TextBox 10"/>
          <p:cNvSpPr txBox="1"/>
          <p:nvPr/>
        </p:nvSpPr>
        <p:spPr>
          <a:xfrm>
            <a:off x="2953512" y="2487168"/>
            <a:ext cx="1920239" cy="292608"/>
          </a:xfrm>
          <a:prstGeom prst="rect">
            <a:avLst/>
          </a:prstGeom>
          <a:noFill/>
        </p:spPr>
        <p:txBody>
          <a:bodyPr wrap="square" lIns="0" rIns="0" tIns="0" bIns="0" anchor="t">
            <a:spAutoFit/>
          </a:bodyPr>
          <a:lstStyle/>
          <a:p>
            <a:pPr algn="ctr">
              <a:lnSpc>
                <a:spcPct val="105000"/>
              </a:lnSpc>
            </a:pPr>
            <a:r>
              <a:rPr sz="950" b="0" i="1">
                <a:solidFill>
                  <a:srgbClr val="5B6678"/>
                </a:solidFill>
                <a:latin typeface="DejaVu Sans"/>
              </a:rPr>
              <a:t>планка команды: 99,9%</a:t>
            </a:r>
          </a:p>
        </p:txBody>
      </p:sp>
      <p:sp>
        <p:nvSpPr>
          <p:cNvPr id="12" name="Right Arrow 11"/>
          <p:cNvSpPr/>
          <p:nvPr/>
        </p:nvSpPr>
        <p:spPr>
          <a:xfrm>
            <a:off x="4983479" y="2286000"/>
            <a:ext cx="219456" cy="219456"/>
          </a:xfrm>
          <a:prstGeom prst="rightArrow">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221224" y="1938528"/>
            <a:ext cx="2103120" cy="914400"/>
          </a:xfrm>
          <a:prstGeom prst="roundRect">
            <a:avLst>
              <a:gd name="adj" fmla="val 22000"/>
            </a:avLst>
          </a:prstGeom>
          <a:solidFill>
            <a:srgbClr val="F4F7FA"/>
          </a:solidFill>
          <a:ln w="2032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312664" y="2029968"/>
            <a:ext cx="1920239" cy="420624"/>
          </a:xfrm>
          <a:prstGeom prst="rect">
            <a:avLst/>
          </a:prstGeom>
          <a:noFill/>
        </p:spPr>
        <p:txBody>
          <a:bodyPr wrap="square" lIns="0" rIns="0" tIns="0" bIns="0" anchor="t">
            <a:spAutoFit/>
          </a:bodyPr>
          <a:lstStyle/>
          <a:p>
            <a:pPr algn="ctr">
              <a:lnSpc>
                <a:spcPct val="105000"/>
              </a:lnSpc>
            </a:pPr>
            <a:r>
              <a:rPr sz="1150" b="1" i="0">
                <a:solidFill>
                  <a:srgbClr val="21295C"/>
                </a:solidFill>
                <a:latin typeface="DejaVu Sans"/>
              </a:rPr>
              <a:t>Бюджет ошибок</a:t>
            </a:r>
          </a:p>
        </p:txBody>
      </p:sp>
      <p:sp>
        <p:nvSpPr>
          <p:cNvPr id="15" name="TextBox 14"/>
          <p:cNvSpPr txBox="1"/>
          <p:nvPr/>
        </p:nvSpPr>
        <p:spPr>
          <a:xfrm>
            <a:off x="5312664" y="2487168"/>
            <a:ext cx="1920239" cy="292608"/>
          </a:xfrm>
          <a:prstGeom prst="rect">
            <a:avLst/>
          </a:prstGeom>
          <a:noFill/>
        </p:spPr>
        <p:txBody>
          <a:bodyPr wrap="square" lIns="0" rIns="0" tIns="0" bIns="0" anchor="t">
            <a:spAutoFit/>
          </a:bodyPr>
          <a:lstStyle/>
          <a:p>
            <a:pPr algn="ctr">
              <a:lnSpc>
                <a:spcPct val="105000"/>
              </a:lnSpc>
            </a:pPr>
            <a:r>
              <a:rPr sz="950" b="0" i="1">
                <a:solidFill>
                  <a:srgbClr val="5B6678"/>
                </a:solidFill>
                <a:latin typeface="DejaVu Sans"/>
              </a:rPr>
              <a:t>остаток: 1000 ошибок</a:t>
            </a:r>
          </a:p>
        </p:txBody>
      </p:sp>
      <p:sp>
        <p:nvSpPr>
          <p:cNvPr id="16" name="TextBox 15"/>
          <p:cNvSpPr txBox="1"/>
          <p:nvPr/>
        </p:nvSpPr>
        <p:spPr>
          <a:xfrm>
            <a:off x="502920" y="2999232"/>
            <a:ext cx="6821424" cy="457200"/>
          </a:xfrm>
          <a:prstGeom prst="rect">
            <a:avLst/>
          </a:prstGeom>
          <a:noFill/>
        </p:spPr>
        <p:txBody>
          <a:bodyPr wrap="square" lIns="0" rIns="0" tIns="0" bIns="0" anchor="t">
            <a:spAutoFit/>
          </a:bodyPr>
          <a:lstStyle/>
          <a:p>
            <a:pPr algn="l">
              <a:lnSpc>
                <a:spcPct val="115000"/>
              </a:lnSpc>
            </a:pPr>
            <a:r>
              <a:rPr sz="1200" b="0" i="0">
                <a:solidFill>
                  <a:srgbClr val="21295C"/>
                </a:solidFill>
                <a:latin typeface="DejaVu Sans"/>
              </a:rPr>
              <a:t>Цель 99,9% на миллионе запросов за период даёт </a:t>
            </a:r>
            <a:r>
              <a:rPr sz="1200" b="1" i="0">
                <a:solidFill>
                  <a:srgbClr val="21295C"/>
                </a:solidFill>
                <a:latin typeface="DejaVu Sans"/>
              </a:rPr>
              <a:t>1000 ошибок</a:t>
            </a:r>
            <a:r>
              <a:rPr sz="1200" b="0" i="0">
                <a:solidFill>
                  <a:srgbClr val="21295C"/>
                </a:solidFill>
                <a:latin typeface="DejaVu Sans"/>
              </a:rPr>
              <a:t> — остаток, который расходуют, а не лозунг про надёжность.</a:t>
            </a:r>
          </a:p>
        </p:txBody>
      </p:sp>
      <p:sp>
        <p:nvSpPr>
          <p:cNvPr id="17" name="Rounded Rectangle 16"/>
          <p:cNvSpPr/>
          <p:nvPr/>
        </p:nvSpPr>
        <p:spPr>
          <a:xfrm>
            <a:off x="502920" y="3566160"/>
            <a:ext cx="6821424" cy="914400"/>
          </a:xfrm>
          <a:prstGeom prst="roundRect">
            <a:avLst>
              <a:gd name="adj" fmla="val 22000"/>
            </a:avLst>
          </a:prstGeom>
          <a:solidFill>
            <a:srgbClr val="E4F1F2"/>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4088" y="3694176"/>
            <a:ext cx="6419088" cy="676656"/>
          </a:xfrm>
          <a:prstGeom prst="rect">
            <a:avLst/>
          </a:prstGeom>
          <a:noFill/>
        </p:spPr>
        <p:txBody>
          <a:bodyPr wrap="square" lIns="0" rIns="0" tIns="0" bIns="0" anchor="ctr">
            <a:spAutoFit/>
          </a:bodyPr>
          <a:lstStyle/>
          <a:p>
            <a:pPr algn="l">
              <a:lnSpc>
                <a:spcPct val="115000"/>
              </a:lnSpc>
            </a:pPr>
            <a:r>
              <a:rPr sz="1150" b="1" i="0">
                <a:solidFill>
                  <a:srgbClr val="028090"/>
                </a:solidFill>
                <a:latin typeface="DejaVu Sans"/>
              </a:rPr>
              <a:t>Правило: </a:t>
            </a:r>
            <a:r>
              <a:rPr sz="1150" b="0" i="0">
                <a:solidFill>
                  <a:srgbClr val="21295C"/>
                </a:solidFill>
                <a:latin typeface="DejaVu Sans"/>
              </a:rPr>
              <a:t>бюджет исчерпан — выкатка новых функций останавливается. Разговор о скорости против надёжности состоится до инцидента, и у него будет основание, с которым нельзя спорить риторически.</a:t>
            </a:r>
          </a:p>
        </p:txBody>
      </p:sp>
      <p:sp>
        <p:nvSpPr>
          <p:cNvPr id="19" name="Rounded Rectangle 18"/>
          <p:cNvSpPr/>
          <p:nvPr/>
        </p:nvSpPr>
        <p:spPr>
          <a:xfrm>
            <a:off x="7589520" y="1938528"/>
            <a:ext cx="4114800" cy="2697480"/>
          </a:xfrm>
          <a:prstGeom prst="roundRect">
            <a:avLst>
              <a:gd name="adj" fmla="val 11299"/>
            </a:avLst>
          </a:prstGeom>
          <a:solidFill>
            <a:srgbClr val="F4F7FA"/>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90688" y="2029968"/>
            <a:ext cx="3712463" cy="256032"/>
          </a:xfrm>
          <a:prstGeom prst="rect">
            <a:avLst/>
          </a:prstGeom>
          <a:noFill/>
        </p:spPr>
        <p:txBody>
          <a:bodyPr wrap="square" lIns="0" rIns="0" tIns="0" bIns="0" anchor="t">
            <a:spAutoFit/>
          </a:bodyPr>
          <a:lstStyle/>
          <a:p>
            <a:pPr algn="l">
              <a:lnSpc>
                <a:spcPct val="105000"/>
              </a:lnSpc>
            </a:pPr>
            <a:r>
              <a:rPr sz="1250" b="1" i="0">
                <a:solidFill>
                  <a:srgbClr val="028090"/>
                </a:solidFill>
                <a:latin typeface="DejaVu Sans"/>
              </a:rPr>
              <a:t>Два окна наблюдения, всегда оба</a:t>
            </a:r>
          </a:p>
        </p:txBody>
      </p:sp>
      <p:sp>
        <p:nvSpPr>
          <p:cNvPr id="21" name="TextBox 20"/>
          <p:cNvSpPr txBox="1"/>
          <p:nvPr/>
        </p:nvSpPr>
        <p:spPr>
          <a:xfrm>
            <a:off x="7790688" y="2304288"/>
            <a:ext cx="3712463" cy="292608"/>
          </a:xfrm>
          <a:prstGeom prst="rect">
            <a:avLst/>
          </a:prstGeom>
          <a:noFill/>
        </p:spPr>
        <p:txBody>
          <a:bodyPr wrap="square" lIns="0" rIns="0" tIns="0" bIns="0" anchor="t">
            <a:spAutoFit/>
          </a:bodyPr>
          <a:lstStyle/>
          <a:p>
            <a:pPr algn="l">
              <a:lnSpc>
                <a:spcPct val="105000"/>
              </a:lnSpc>
            </a:pPr>
            <a:r>
              <a:rPr sz="900" b="0" i="1">
                <a:solidFill>
                  <a:srgbClr val="5B6678"/>
                </a:solidFill>
                <a:latin typeface="DejaVu Sans"/>
              </a:rPr>
              <a:t>по отдельности ни одно из них второй случай не видит</a:t>
            </a:r>
          </a:p>
        </p:txBody>
      </p:sp>
      <p:sp>
        <p:nvSpPr>
          <p:cNvPr id="22" name="TextBox 21"/>
          <p:cNvSpPr txBox="1"/>
          <p:nvPr/>
        </p:nvSpPr>
        <p:spPr>
          <a:xfrm>
            <a:off x="7790688" y="2651760"/>
            <a:ext cx="3712463" cy="237744"/>
          </a:xfrm>
          <a:prstGeom prst="rect">
            <a:avLst/>
          </a:prstGeom>
          <a:noFill/>
        </p:spPr>
        <p:txBody>
          <a:bodyPr wrap="square" lIns="0" rIns="0" tIns="0" bIns="0" anchor="t">
            <a:spAutoFit/>
          </a:bodyPr>
          <a:lstStyle/>
          <a:p>
            <a:pPr algn="l">
              <a:lnSpc>
                <a:spcPct val="105000"/>
              </a:lnSpc>
            </a:pPr>
            <a:r>
              <a:rPr sz="1000" b="1" i="0">
                <a:solidFill>
                  <a:srgbClr val="21295C"/>
                </a:solidFill>
                <a:latin typeface="DejaVu Sans"/>
              </a:rPr>
              <a:t>Короткое окно — резкий скачок</a:t>
            </a:r>
          </a:p>
        </p:txBody>
      </p:sp>
      <p:cxnSp>
        <p:nvCxnSpPr>
          <p:cNvPr id="23" name="Connector 22"/>
          <p:cNvCxnSpPr/>
          <p:nvPr/>
        </p:nvCxnSpPr>
        <p:spPr>
          <a:xfrm>
            <a:off x="7818120" y="3310128"/>
            <a:ext cx="1463040" cy="0"/>
          </a:xfrm>
          <a:prstGeom prst="line">
            <a:avLst/>
          </a:prstGeom>
          <a:ln w="17780">
            <a:solidFill>
              <a:srgbClr val="5B6678"/>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8366760" y="2962656"/>
            <a:ext cx="246888" cy="347472"/>
          </a:xfrm>
          <a:prstGeom prst="line">
            <a:avLst/>
          </a:prstGeom>
          <a:ln w="30480">
            <a:solidFill>
              <a:srgbClr val="F0AB0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613648" y="2962656"/>
            <a:ext cx="256032" cy="347472"/>
          </a:xfrm>
          <a:prstGeom prst="line">
            <a:avLst/>
          </a:prstGeom>
          <a:ln w="30480">
            <a:solidFill>
              <a:srgbClr val="F0AB00"/>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9418320" y="3017520"/>
            <a:ext cx="2084831" cy="365760"/>
          </a:xfrm>
          <a:prstGeom prst="rect">
            <a:avLst/>
          </a:prstGeom>
          <a:noFill/>
        </p:spPr>
        <p:txBody>
          <a:bodyPr wrap="square" lIns="0" rIns="0" tIns="0" bIns="0" anchor="t">
            <a:spAutoFit/>
          </a:bodyPr>
          <a:lstStyle/>
          <a:p>
            <a:pPr algn="l">
              <a:lnSpc>
                <a:spcPct val="105000"/>
              </a:lnSpc>
            </a:pPr>
            <a:r>
              <a:rPr sz="900" b="0" i="1">
                <a:solidFill>
                  <a:srgbClr val="5B6678"/>
                </a:solidFill>
                <a:latin typeface="DejaVu Sans"/>
              </a:rPr>
              <a:t>поднять дежурного</a:t>
            </a:r>
          </a:p>
          <a:p>
            <a:pPr algn="l">
              <a:lnSpc>
                <a:spcPct val="105000"/>
              </a:lnSpc>
            </a:pPr>
            <a:r>
              <a:rPr sz="900" b="0" i="1">
                <a:solidFill>
                  <a:srgbClr val="5B6678"/>
                </a:solidFill>
                <a:latin typeface="DejaVu Sans"/>
              </a:rPr>
              <a:t>сейчас</a:t>
            </a:r>
          </a:p>
        </p:txBody>
      </p:sp>
      <p:sp>
        <p:nvSpPr>
          <p:cNvPr id="27" name="TextBox 26"/>
          <p:cNvSpPr txBox="1"/>
          <p:nvPr/>
        </p:nvSpPr>
        <p:spPr>
          <a:xfrm>
            <a:off x="7790688" y="3493008"/>
            <a:ext cx="3712463" cy="237744"/>
          </a:xfrm>
          <a:prstGeom prst="rect">
            <a:avLst/>
          </a:prstGeom>
          <a:noFill/>
        </p:spPr>
        <p:txBody>
          <a:bodyPr wrap="square" lIns="0" rIns="0" tIns="0" bIns="0" anchor="t">
            <a:spAutoFit/>
          </a:bodyPr>
          <a:lstStyle/>
          <a:p>
            <a:pPr algn="l">
              <a:lnSpc>
                <a:spcPct val="105000"/>
              </a:lnSpc>
            </a:pPr>
            <a:r>
              <a:rPr sz="1000" b="1" i="0">
                <a:solidFill>
                  <a:srgbClr val="21295C"/>
                </a:solidFill>
                <a:latin typeface="DejaVu Sans"/>
              </a:rPr>
              <a:t>Длинное окно — медленное сползание</a:t>
            </a:r>
          </a:p>
        </p:txBody>
      </p:sp>
      <p:cxnSp>
        <p:nvCxnSpPr>
          <p:cNvPr id="28" name="Connector 27"/>
          <p:cNvCxnSpPr/>
          <p:nvPr/>
        </p:nvCxnSpPr>
        <p:spPr>
          <a:xfrm>
            <a:off x="7818120" y="4169663"/>
            <a:ext cx="3657600" cy="0"/>
          </a:xfrm>
          <a:prstGeom prst="line">
            <a:avLst/>
          </a:prstGeom>
          <a:ln w="17780">
            <a:solidFill>
              <a:srgbClr val="5B6678"/>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7818120" y="3785615"/>
            <a:ext cx="3520440" cy="329185"/>
          </a:xfrm>
          <a:prstGeom prst="line">
            <a:avLst/>
          </a:prstGeom>
          <a:ln w="30480">
            <a:solidFill>
              <a:srgbClr val="028090"/>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7818120" y="4242816"/>
            <a:ext cx="3657600" cy="274320"/>
          </a:xfrm>
          <a:prstGeom prst="rect">
            <a:avLst/>
          </a:prstGeom>
          <a:noFill/>
        </p:spPr>
        <p:txBody>
          <a:bodyPr wrap="square" lIns="0" rIns="0" tIns="0" bIns="0" anchor="t">
            <a:spAutoFit/>
          </a:bodyPr>
          <a:lstStyle/>
          <a:p>
            <a:pPr algn="l">
              <a:lnSpc>
                <a:spcPct val="105000"/>
              </a:lnSpc>
            </a:pPr>
            <a:r>
              <a:rPr sz="900" b="0" i="1">
                <a:solidFill>
                  <a:srgbClr val="5B6678"/>
                </a:solidFill>
                <a:latin typeface="DejaVu Sans"/>
              </a:rPr>
              <a:t>задача на рабочее время, не звонок ночью</a:t>
            </a:r>
          </a:p>
        </p:txBody>
      </p:sp>
      <p:sp>
        <p:nvSpPr>
          <p:cNvPr id="31" name="Rounded Rectangle 30"/>
          <p:cNvSpPr/>
          <p:nvPr/>
        </p:nvSpPr>
        <p:spPr>
          <a:xfrm>
            <a:off x="502920" y="4800600"/>
            <a:ext cx="11201400" cy="786384"/>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22376" y="4855464"/>
            <a:ext cx="10762488" cy="676656"/>
          </a:xfrm>
          <a:prstGeom prst="rect">
            <a:avLst/>
          </a:prstGeom>
          <a:noFill/>
        </p:spPr>
        <p:txBody>
          <a:bodyPr wrap="square" lIns="0" rIns="0" tIns="0" bIns="0" anchor="ctr">
            <a:spAutoFit/>
          </a:bodyPr>
          <a:lstStyle/>
          <a:p>
            <a:pPr algn="l">
              <a:lnSpc>
                <a:spcPct val="120000"/>
              </a:lnSpc>
            </a:pPr>
            <a:r>
              <a:rPr sz="1250" b="1" i="0">
                <a:solidFill>
                  <a:srgbClr val="21295C"/>
                </a:solidFill>
                <a:latin typeface="DejaVu Sans"/>
              </a:rPr>
              <a:t>Всё это построено для системы, где запрос либо успешен, либо нет. Код 200 — «ответ отдан успешно» — приходит и тогда, когда модель уверенно выдумывает. Дальше: на чём считать бюджет, когда сбой не возвращает ошибки.</a:t>
            </a:r>
          </a:p>
        </p:txBody>
      </p:sp>
      <p:sp>
        <p:nvSpPr>
          <p:cNvPr id="33" name="TextBox 32"/>
          <p:cNvSpPr txBox="1"/>
          <p:nvPr/>
        </p:nvSpPr>
        <p:spPr>
          <a:xfrm>
            <a:off x="502920" y="6455664"/>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2"/>
              </a:rPr>
              <a:t>Google — политика бюджета ошибок (Error Budget Policy)</a:t>
            </a:r>
          </a:p>
        </p:txBody>
      </p:sp>
      <p:sp>
        <p:nvSpPr>
          <p:cNvPr id="34" name="TextBox 33"/>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37 / 54</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18872"/>
            <a:ext cx="11201400" cy="325894"/>
          </a:xfrm>
          <a:prstGeom prst="rect">
            <a:avLst/>
          </a:prstGeom>
          <a:noFill/>
        </p:spPr>
        <p:txBody>
          <a:bodyPr wrap="square" lIns="0" rIns="0" tIns="0" bIns="0" anchor="t">
            <a:spAutoFit/>
          </a:bodyPr>
          <a:lstStyle/>
          <a:p>
            <a:pPr algn="l">
              <a:lnSpc>
                <a:spcPct val="110000"/>
              </a:lnSpc>
            </a:pPr>
            <a:r>
              <a:rPr sz="1900" b="1" i="0">
                <a:solidFill>
                  <a:srgbClr val="21295C"/>
                </a:solidFill>
                <a:latin typeface="DejaVu Sans"/>
              </a:rPr>
              <a:t>Наблюдаемость ИИ-ответов: как увидеть, что качество упало</a:t>
            </a:r>
          </a:p>
        </p:txBody>
      </p:sp>
      <p:sp>
        <p:nvSpPr>
          <p:cNvPr id="3" name="Rounded Rectangle 2"/>
          <p:cNvSpPr/>
          <p:nvPr/>
        </p:nvSpPr>
        <p:spPr>
          <a:xfrm>
            <a:off x="502920" y="536206"/>
            <a:ext cx="1152144" cy="893058"/>
          </a:xfrm>
          <a:prstGeom prst="roundRect">
            <a:avLst>
              <a:gd name="adj" fmla="val 22000"/>
            </a:avLst>
          </a:prstGeom>
          <a:solidFill>
            <a:srgbClr val="21295C"/>
          </a:solidFill>
          <a:ln w="12700">
            <a:solidFill>
              <a:srgbClr val="2129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36206"/>
            <a:ext cx="1060704" cy="893058"/>
          </a:xfrm>
          <a:prstGeom prst="rect">
            <a:avLst/>
          </a:prstGeom>
          <a:noFill/>
        </p:spPr>
        <p:txBody>
          <a:bodyPr wrap="square" lIns="0" rIns="0" tIns="0" bIns="0" anchor="ctr">
            <a:spAutoFit/>
          </a:bodyPr>
          <a:lstStyle/>
          <a:p>
            <a:pPr algn="ctr">
              <a:lnSpc>
                <a:spcPct val="102000"/>
              </a:lnSpc>
            </a:pPr>
            <a:r>
              <a:rPr sz="950" b="1" i="0">
                <a:solidFill>
                  <a:srgbClr val="FFFFFF"/>
                </a:solidFill>
                <a:latin typeface="DejaVu Sans"/>
              </a:rPr>
              <a:t>ЧТО ЭТО</a:t>
            </a:r>
          </a:p>
        </p:txBody>
      </p:sp>
      <p:sp>
        <p:nvSpPr>
          <p:cNvPr id="5" name="Rounded Rectangle 4"/>
          <p:cNvSpPr/>
          <p:nvPr/>
        </p:nvSpPr>
        <p:spPr>
          <a:xfrm>
            <a:off x="1801368" y="536206"/>
            <a:ext cx="9902952" cy="893058"/>
          </a:xfrm>
          <a:prstGeom prst="roundRect">
            <a:avLst>
              <a:gd name="adj" fmla="val 22000"/>
            </a:avLst>
          </a:prstGeom>
          <a:solidFill>
            <a:srgbClr val="FFFFFF"/>
          </a:solidFill>
          <a:ln w="2286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984248" y="627646"/>
            <a:ext cx="9537192" cy="710178"/>
          </a:xfrm>
          <a:prstGeom prst="rect">
            <a:avLst/>
          </a:prstGeom>
          <a:noFill/>
        </p:spPr>
        <p:txBody>
          <a:bodyPr wrap="square" lIns="0" rIns="0" tIns="0" bIns="0" anchor="ctr">
            <a:spAutoFit/>
          </a:bodyPr>
          <a:lstStyle/>
          <a:p>
            <a:pPr algn="l">
              <a:lnSpc>
                <a:spcPct val="114000"/>
              </a:lnSpc>
            </a:pPr>
            <a:r>
              <a:rPr sz="1150" b="0" i="0">
                <a:solidFill>
                  <a:srgbClr val="21295C"/>
                </a:solidFill>
                <a:latin typeface="DejaVu Sans"/>
              </a:rPr>
              <a:t>Наблюдаемость — это когда по записям системы можно ответить на вопрос «что у нас произошло», не переспрашивая саму систему. Для обычного сервиса записи отвечают, работал он или нет. Для ИИ-компонента нужен другой ответ — </a:t>
            </a:r>
            <a:r>
              <a:rPr sz="1150" b="1" i="0">
                <a:solidFill>
                  <a:srgbClr val="21295C"/>
                </a:solidFill>
                <a:latin typeface="DejaVu Sans"/>
              </a:rPr>
              <a:t>не «ответил ли», а «насколько хорошо ответил»</a:t>
            </a:r>
            <a:r>
              <a:rPr sz="1150" b="0" i="0">
                <a:solidFill>
                  <a:srgbClr val="21295C"/>
                </a:solidFill>
                <a:latin typeface="DejaVu Sans"/>
              </a:rPr>
              <a:t>.</a:t>
            </a:r>
          </a:p>
        </p:txBody>
      </p:sp>
      <p:sp>
        <p:nvSpPr>
          <p:cNvPr id="7" name="Rounded Rectangle 6"/>
          <p:cNvSpPr/>
          <p:nvPr/>
        </p:nvSpPr>
        <p:spPr>
          <a:xfrm>
            <a:off x="502920" y="1493273"/>
            <a:ext cx="1152144" cy="2395728"/>
          </a:xfrm>
          <a:prstGeom prst="roundRect">
            <a:avLst>
              <a:gd name="adj" fmla="val 22000"/>
            </a:avLst>
          </a:prstGeom>
          <a:solidFill>
            <a:srgbClr val="065A82"/>
          </a:solidFill>
          <a:ln w="1270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493273"/>
            <a:ext cx="1060704" cy="2395728"/>
          </a:xfrm>
          <a:prstGeom prst="rect">
            <a:avLst/>
          </a:prstGeom>
          <a:noFill/>
        </p:spPr>
        <p:txBody>
          <a:bodyPr wrap="square" lIns="0" rIns="0" tIns="0" bIns="0" anchor="ctr">
            <a:spAutoFit/>
          </a:bodyPr>
          <a:lstStyle/>
          <a:p>
            <a:pPr algn="ctr">
              <a:lnSpc>
                <a:spcPct val="102000"/>
              </a:lnSpc>
            </a:pPr>
            <a:r>
              <a:rPr sz="950" b="1" i="0">
                <a:solidFill>
                  <a:srgbClr val="FFFFFF"/>
                </a:solidFill>
                <a:latin typeface="DejaVu Sans"/>
              </a:rPr>
              <a:t>МЕХАНИЗМ</a:t>
            </a:r>
          </a:p>
        </p:txBody>
      </p:sp>
      <p:sp>
        <p:nvSpPr>
          <p:cNvPr id="9" name="Rounded Rectangle 8"/>
          <p:cNvSpPr/>
          <p:nvPr/>
        </p:nvSpPr>
        <p:spPr>
          <a:xfrm>
            <a:off x="1801368" y="1493273"/>
            <a:ext cx="9902952" cy="2395728"/>
          </a:xfrm>
          <a:prstGeom prst="roundRect">
            <a:avLst>
              <a:gd name="adj" fmla="val 12722"/>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984248" y="1598429"/>
            <a:ext cx="214884" cy="2148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984248" y="1598429"/>
            <a:ext cx="214884" cy="214884"/>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1</a:t>
            </a:r>
          </a:p>
        </p:txBody>
      </p:sp>
      <p:sp>
        <p:nvSpPr>
          <p:cNvPr id="12" name="TextBox 11"/>
          <p:cNvSpPr txBox="1"/>
          <p:nvPr/>
        </p:nvSpPr>
        <p:spPr>
          <a:xfrm>
            <a:off x="2295144" y="1584713"/>
            <a:ext cx="5568696" cy="378673"/>
          </a:xfrm>
          <a:prstGeom prst="rect">
            <a:avLst/>
          </a:prstGeom>
          <a:noFill/>
        </p:spPr>
        <p:txBody>
          <a:bodyPr wrap="square" lIns="0" rIns="0" tIns="0" bIns="0" anchor="t">
            <a:spAutoFit/>
          </a:bodyPr>
          <a:lstStyle/>
          <a:p>
            <a:pPr algn="l">
              <a:lnSpc>
                <a:spcPct val="115000"/>
              </a:lnSpc>
            </a:pPr>
            <a:r>
              <a:rPr sz="1000" b="1" i="0">
                <a:solidFill>
                  <a:srgbClr val="065A82"/>
                </a:solidFill>
                <a:latin typeface="DejaVu Sans"/>
              </a:rPr>
              <a:t>Записывать путь ответа целиком, а не только его конец</a:t>
            </a:r>
            <a:r>
              <a:rPr sz="1000" b="0" i="0">
                <a:solidFill>
                  <a:srgbClr val="21295C"/>
                </a:solidFill>
                <a:latin typeface="DejaVu Sans"/>
              </a:rPr>
              <a:t> — и помечать версией всё, что на результат влияет.</a:t>
            </a:r>
          </a:p>
        </p:txBody>
      </p:sp>
      <p:sp>
        <p:nvSpPr>
          <p:cNvPr id="13" name="Oval 12"/>
          <p:cNvSpPr/>
          <p:nvPr/>
        </p:nvSpPr>
        <p:spPr>
          <a:xfrm>
            <a:off x="1984248" y="2041110"/>
            <a:ext cx="214884" cy="2148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984248" y="2041110"/>
            <a:ext cx="214884" cy="214884"/>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2</a:t>
            </a:r>
          </a:p>
        </p:txBody>
      </p:sp>
      <p:sp>
        <p:nvSpPr>
          <p:cNvPr id="15" name="TextBox 14"/>
          <p:cNvSpPr txBox="1"/>
          <p:nvPr/>
        </p:nvSpPr>
        <p:spPr>
          <a:xfrm>
            <a:off x="2295144" y="2027394"/>
            <a:ext cx="5568696" cy="544235"/>
          </a:xfrm>
          <a:prstGeom prst="rect">
            <a:avLst/>
          </a:prstGeom>
          <a:noFill/>
        </p:spPr>
        <p:txBody>
          <a:bodyPr wrap="square" lIns="0" rIns="0" tIns="0" bIns="0" anchor="t">
            <a:spAutoFit/>
          </a:bodyPr>
          <a:lstStyle/>
          <a:p>
            <a:pPr algn="l">
              <a:lnSpc>
                <a:spcPct val="115000"/>
              </a:lnSpc>
            </a:pPr>
            <a:r>
              <a:rPr sz="1000" b="1" i="0">
                <a:solidFill>
                  <a:srgbClr val="065A82"/>
                </a:solidFill>
                <a:latin typeface="DejaVu Sans"/>
              </a:rPr>
              <a:t>Договориться заранее о быстрой косвенной метрике качества.</a:t>
            </a:r>
            <a:r>
              <a:rPr sz="1000" b="0" i="0">
                <a:solidFill>
                  <a:srgbClr val="21295C"/>
                </a:solidFill>
                <a:latin typeface="DejaVu Sans"/>
              </a:rPr>
              <a:t> Правильность ответа выясняется поздно, поэтому следят за тем, что видно сразу: как часто зовут человека, как часто переспрашивают.</a:t>
            </a:r>
          </a:p>
        </p:txBody>
      </p:sp>
      <p:sp>
        <p:nvSpPr>
          <p:cNvPr id="16" name="Oval 15"/>
          <p:cNvSpPr/>
          <p:nvPr/>
        </p:nvSpPr>
        <p:spPr>
          <a:xfrm>
            <a:off x="1984248" y="2649354"/>
            <a:ext cx="214884" cy="2148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984248" y="2649354"/>
            <a:ext cx="214884" cy="214884"/>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3</a:t>
            </a:r>
          </a:p>
        </p:txBody>
      </p:sp>
      <p:sp>
        <p:nvSpPr>
          <p:cNvPr id="18" name="TextBox 17"/>
          <p:cNvSpPr txBox="1"/>
          <p:nvPr/>
        </p:nvSpPr>
        <p:spPr>
          <a:xfrm>
            <a:off x="2295144" y="2635638"/>
            <a:ext cx="5568696" cy="544235"/>
          </a:xfrm>
          <a:prstGeom prst="rect">
            <a:avLst/>
          </a:prstGeom>
          <a:noFill/>
        </p:spPr>
        <p:txBody>
          <a:bodyPr wrap="square" lIns="0" rIns="0" tIns="0" bIns="0" anchor="t">
            <a:spAutoFit/>
          </a:bodyPr>
          <a:lstStyle/>
          <a:p>
            <a:pPr algn="l">
              <a:lnSpc>
                <a:spcPct val="115000"/>
              </a:lnSpc>
            </a:pPr>
            <a:r>
              <a:rPr sz="1000" b="1" i="0">
                <a:solidFill>
                  <a:srgbClr val="065A82"/>
                </a:solidFill>
                <a:latin typeface="DejaVu Sans"/>
              </a:rPr>
              <a:t>Порог тревоги брать из собственного разброса системы, а не из чужого норматива.</a:t>
            </a:r>
            <a:r>
              <a:rPr sz="1000" b="0" i="0">
                <a:solidFill>
                  <a:srgbClr val="21295C"/>
                </a:solidFill>
                <a:latin typeface="DejaVu Sans"/>
              </a:rPr>
              <a:t> Одна модель отвечает по-разному на один и тот же запрос — расхождение доходит до </a:t>
            </a:r>
            <a:r>
              <a:rPr sz="1000" b="1" i="0">
                <a:solidFill>
                  <a:srgbClr val="065A82"/>
                </a:solidFill>
                <a:latin typeface="DejaVu Sans"/>
              </a:rPr>
              <a:t>15 процентных пунктов</a:t>
            </a:r>
            <a:r>
              <a:rPr sz="1000" b="0" i="0">
                <a:solidFill>
                  <a:srgbClr val="21295C"/>
                </a:solidFill>
                <a:latin typeface="DejaVu Sans"/>
              </a:rPr>
              <a:t>.</a:t>
            </a:r>
          </a:p>
        </p:txBody>
      </p:sp>
      <p:sp>
        <p:nvSpPr>
          <p:cNvPr id="19" name="Rounded Rectangle 18"/>
          <p:cNvSpPr/>
          <p:nvPr/>
        </p:nvSpPr>
        <p:spPr>
          <a:xfrm>
            <a:off x="8138160" y="1584713"/>
            <a:ext cx="790956" cy="237744"/>
          </a:xfrm>
          <a:prstGeom prst="roundRect">
            <a:avLst>
              <a:gd name="adj" fmla="val 13888"/>
            </a:avLst>
          </a:prstGeom>
          <a:solidFill>
            <a:srgbClr val="FFFFFF"/>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38160" y="1584713"/>
            <a:ext cx="790956" cy="237744"/>
          </a:xfrm>
          <a:prstGeom prst="rect">
            <a:avLst/>
          </a:prstGeom>
          <a:noFill/>
        </p:spPr>
        <p:txBody>
          <a:bodyPr wrap="square" lIns="0" rIns="0" tIns="0" bIns="0" anchor="ctr">
            <a:spAutoFit/>
          </a:bodyPr>
          <a:lstStyle/>
          <a:p>
            <a:pPr algn="ctr">
              <a:lnSpc>
                <a:spcPct val="100000"/>
              </a:lnSpc>
            </a:pPr>
            <a:r>
              <a:rPr sz="760" b="0" i="0">
                <a:solidFill>
                  <a:srgbClr val="5B6678"/>
                </a:solidFill>
                <a:latin typeface="DejaVu Sans"/>
              </a:rPr>
              <a:t>запрос</a:t>
            </a:r>
          </a:p>
        </p:txBody>
      </p:sp>
      <p:sp>
        <p:nvSpPr>
          <p:cNvPr id="21" name="Rounded Rectangle 20"/>
          <p:cNvSpPr/>
          <p:nvPr/>
        </p:nvSpPr>
        <p:spPr>
          <a:xfrm>
            <a:off x="8229600" y="1849889"/>
            <a:ext cx="608076" cy="182880"/>
          </a:xfrm>
          <a:prstGeom prst="roundRect">
            <a:avLst>
              <a:gd name="adj" fmla="val 3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0" y="1849889"/>
            <a:ext cx="608076" cy="182880"/>
          </a:xfrm>
          <a:prstGeom prst="rect">
            <a:avLst/>
          </a:prstGeom>
          <a:noFill/>
        </p:spPr>
        <p:txBody>
          <a:bodyPr wrap="square" lIns="0" rIns="0" tIns="0" bIns="0" anchor="ctr">
            <a:spAutoFit/>
          </a:bodyPr>
          <a:lstStyle/>
          <a:p>
            <a:pPr algn="ctr">
              <a:lnSpc>
                <a:spcPct val="100000"/>
              </a:lnSpc>
            </a:pPr>
            <a:r>
              <a:rPr sz="740" b="1" i="0">
                <a:solidFill>
                  <a:srgbClr val="FFFFFF"/>
                </a:solidFill>
                <a:latin typeface="DejaVu Sans"/>
              </a:rPr>
              <a:t>версия</a:t>
            </a:r>
          </a:p>
        </p:txBody>
      </p:sp>
      <p:sp>
        <p:nvSpPr>
          <p:cNvPr id="23" name="Rounded Rectangle 22"/>
          <p:cNvSpPr/>
          <p:nvPr/>
        </p:nvSpPr>
        <p:spPr>
          <a:xfrm>
            <a:off x="9002268" y="1584713"/>
            <a:ext cx="790956" cy="237744"/>
          </a:xfrm>
          <a:prstGeom prst="roundRect">
            <a:avLst>
              <a:gd name="adj" fmla="val 13888"/>
            </a:avLst>
          </a:prstGeom>
          <a:solidFill>
            <a:srgbClr val="FFFFFF"/>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02268" y="1584713"/>
            <a:ext cx="790956" cy="237744"/>
          </a:xfrm>
          <a:prstGeom prst="rect">
            <a:avLst/>
          </a:prstGeom>
          <a:noFill/>
        </p:spPr>
        <p:txBody>
          <a:bodyPr wrap="square" lIns="0" rIns="0" tIns="0" bIns="0" anchor="ctr">
            <a:spAutoFit/>
          </a:bodyPr>
          <a:lstStyle/>
          <a:p>
            <a:pPr algn="ctr">
              <a:lnSpc>
                <a:spcPct val="100000"/>
              </a:lnSpc>
            </a:pPr>
            <a:r>
              <a:rPr sz="760" b="0" i="0">
                <a:solidFill>
                  <a:srgbClr val="5B6678"/>
                </a:solidFill>
                <a:latin typeface="DejaVu Sans"/>
              </a:rPr>
              <a:t>поиск</a:t>
            </a:r>
          </a:p>
        </p:txBody>
      </p:sp>
      <p:sp>
        <p:nvSpPr>
          <p:cNvPr id="25" name="Rounded Rectangle 24"/>
          <p:cNvSpPr/>
          <p:nvPr/>
        </p:nvSpPr>
        <p:spPr>
          <a:xfrm>
            <a:off x="9093708" y="1849889"/>
            <a:ext cx="608076" cy="182880"/>
          </a:xfrm>
          <a:prstGeom prst="roundRect">
            <a:avLst>
              <a:gd name="adj" fmla="val 3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93708" y="1849889"/>
            <a:ext cx="608076" cy="182880"/>
          </a:xfrm>
          <a:prstGeom prst="rect">
            <a:avLst/>
          </a:prstGeom>
          <a:noFill/>
        </p:spPr>
        <p:txBody>
          <a:bodyPr wrap="square" lIns="0" rIns="0" tIns="0" bIns="0" anchor="ctr">
            <a:spAutoFit/>
          </a:bodyPr>
          <a:lstStyle/>
          <a:p>
            <a:pPr algn="ctr">
              <a:lnSpc>
                <a:spcPct val="100000"/>
              </a:lnSpc>
            </a:pPr>
            <a:r>
              <a:rPr sz="740" b="1" i="0">
                <a:solidFill>
                  <a:srgbClr val="FFFFFF"/>
                </a:solidFill>
                <a:latin typeface="DejaVu Sans"/>
              </a:rPr>
              <a:t>версия</a:t>
            </a:r>
          </a:p>
        </p:txBody>
      </p:sp>
      <p:sp>
        <p:nvSpPr>
          <p:cNvPr id="27" name="Rounded Rectangle 26"/>
          <p:cNvSpPr/>
          <p:nvPr/>
        </p:nvSpPr>
        <p:spPr>
          <a:xfrm>
            <a:off x="9866376" y="1584713"/>
            <a:ext cx="790956" cy="237744"/>
          </a:xfrm>
          <a:prstGeom prst="roundRect">
            <a:avLst>
              <a:gd name="adj" fmla="val 13888"/>
            </a:avLst>
          </a:prstGeom>
          <a:solidFill>
            <a:srgbClr val="FFFFFF"/>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66376" y="1584713"/>
            <a:ext cx="790956" cy="237744"/>
          </a:xfrm>
          <a:prstGeom prst="rect">
            <a:avLst/>
          </a:prstGeom>
          <a:noFill/>
        </p:spPr>
        <p:txBody>
          <a:bodyPr wrap="square" lIns="0" rIns="0" tIns="0" bIns="0" anchor="ctr">
            <a:spAutoFit/>
          </a:bodyPr>
          <a:lstStyle/>
          <a:p>
            <a:pPr algn="ctr">
              <a:lnSpc>
                <a:spcPct val="100000"/>
              </a:lnSpc>
            </a:pPr>
            <a:r>
              <a:rPr sz="760" b="0" i="0">
                <a:solidFill>
                  <a:srgbClr val="5B6678"/>
                </a:solidFill>
                <a:latin typeface="DejaVu Sans"/>
              </a:rPr>
              <a:t>инструменты</a:t>
            </a:r>
          </a:p>
        </p:txBody>
      </p:sp>
      <p:sp>
        <p:nvSpPr>
          <p:cNvPr id="29" name="Rounded Rectangle 28"/>
          <p:cNvSpPr/>
          <p:nvPr/>
        </p:nvSpPr>
        <p:spPr>
          <a:xfrm>
            <a:off x="9957816" y="1849889"/>
            <a:ext cx="608076" cy="182880"/>
          </a:xfrm>
          <a:prstGeom prst="roundRect">
            <a:avLst>
              <a:gd name="adj" fmla="val 3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957816" y="1849889"/>
            <a:ext cx="608076" cy="182880"/>
          </a:xfrm>
          <a:prstGeom prst="rect">
            <a:avLst/>
          </a:prstGeom>
          <a:noFill/>
        </p:spPr>
        <p:txBody>
          <a:bodyPr wrap="square" lIns="0" rIns="0" tIns="0" bIns="0" anchor="ctr">
            <a:spAutoFit/>
          </a:bodyPr>
          <a:lstStyle/>
          <a:p>
            <a:pPr algn="ctr">
              <a:lnSpc>
                <a:spcPct val="100000"/>
              </a:lnSpc>
            </a:pPr>
            <a:r>
              <a:rPr sz="740" b="1" i="0">
                <a:solidFill>
                  <a:srgbClr val="FFFFFF"/>
                </a:solidFill>
                <a:latin typeface="DejaVu Sans"/>
              </a:rPr>
              <a:t>версия</a:t>
            </a:r>
          </a:p>
        </p:txBody>
      </p:sp>
      <p:sp>
        <p:nvSpPr>
          <p:cNvPr id="31" name="Rounded Rectangle 30"/>
          <p:cNvSpPr/>
          <p:nvPr/>
        </p:nvSpPr>
        <p:spPr>
          <a:xfrm>
            <a:off x="10730484" y="1584713"/>
            <a:ext cx="790956" cy="237744"/>
          </a:xfrm>
          <a:prstGeom prst="roundRect">
            <a:avLst>
              <a:gd name="adj" fmla="val 13888"/>
            </a:avLst>
          </a:prstGeom>
          <a:solidFill>
            <a:srgbClr val="FFFFFF"/>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730484" y="1584713"/>
            <a:ext cx="790956" cy="237744"/>
          </a:xfrm>
          <a:prstGeom prst="rect">
            <a:avLst/>
          </a:prstGeom>
          <a:noFill/>
        </p:spPr>
        <p:txBody>
          <a:bodyPr wrap="square" lIns="0" rIns="0" tIns="0" bIns="0" anchor="ctr">
            <a:spAutoFit/>
          </a:bodyPr>
          <a:lstStyle/>
          <a:p>
            <a:pPr algn="ctr">
              <a:lnSpc>
                <a:spcPct val="100000"/>
              </a:lnSpc>
            </a:pPr>
            <a:r>
              <a:rPr sz="760" b="0" i="0">
                <a:solidFill>
                  <a:srgbClr val="5B6678"/>
                </a:solidFill>
                <a:latin typeface="DejaVu Sans"/>
              </a:rPr>
              <a:t>ответ</a:t>
            </a:r>
          </a:p>
        </p:txBody>
      </p:sp>
      <p:sp>
        <p:nvSpPr>
          <p:cNvPr id="33" name="Rounded Rectangle 32"/>
          <p:cNvSpPr/>
          <p:nvPr/>
        </p:nvSpPr>
        <p:spPr>
          <a:xfrm>
            <a:off x="10821924" y="1849889"/>
            <a:ext cx="608076" cy="182880"/>
          </a:xfrm>
          <a:prstGeom prst="roundRect">
            <a:avLst>
              <a:gd name="adj" fmla="val 3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821924" y="1849889"/>
            <a:ext cx="608076" cy="182880"/>
          </a:xfrm>
          <a:prstGeom prst="rect">
            <a:avLst/>
          </a:prstGeom>
          <a:noFill/>
        </p:spPr>
        <p:txBody>
          <a:bodyPr wrap="square" lIns="0" rIns="0" tIns="0" bIns="0" anchor="ctr">
            <a:spAutoFit/>
          </a:bodyPr>
          <a:lstStyle/>
          <a:p>
            <a:pPr algn="ctr">
              <a:lnSpc>
                <a:spcPct val="100000"/>
              </a:lnSpc>
            </a:pPr>
            <a:r>
              <a:rPr sz="740" b="1" i="0">
                <a:solidFill>
                  <a:srgbClr val="FFFFFF"/>
                </a:solidFill>
                <a:latin typeface="DejaVu Sans"/>
              </a:rPr>
              <a:t>версия</a:t>
            </a:r>
          </a:p>
        </p:txBody>
      </p:sp>
      <p:sp>
        <p:nvSpPr>
          <p:cNvPr id="35" name="TextBox 34"/>
          <p:cNvSpPr txBox="1"/>
          <p:nvPr/>
        </p:nvSpPr>
        <p:spPr>
          <a:xfrm>
            <a:off x="8138160" y="2051057"/>
            <a:ext cx="3383280" cy="201168"/>
          </a:xfrm>
          <a:prstGeom prst="rect">
            <a:avLst/>
          </a:prstGeom>
          <a:noFill/>
        </p:spPr>
        <p:txBody>
          <a:bodyPr wrap="square" lIns="0" rIns="0" tIns="0" bIns="0" anchor="t">
            <a:spAutoFit/>
          </a:bodyPr>
          <a:lstStyle/>
          <a:p>
            <a:pPr algn="ctr">
              <a:lnSpc>
                <a:spcPct val="105000"/>
              </a:lnSpc>
            </a:pPr>
            <a:r>
              <a:rPr sz="819" b="0" i="1">
                <a:solidFill>
                  <a:srgbClr val="5B6678"/>
                </a:solidFill>
                <a:latin typeface="DejaVu Sans"/>
              </a:rPr>
              <a:t>путь ответа: подсвечены не этапы, а версии</a:t>
            </a:r>
          </a:p>
        </p:txBody>
      </p:sp>
      <p:sp>
        <p:nvSpPr>
          <p:cNvPr id="36" name="Rounded Rectangle 35"/>
          <p:cNvSpPr/>
          <p:nvPr/>
        </p:nvSpPr>
        <p:spPr>
          <a:xfrm>
            <a:off x="8138160" y="2297945"/>
            <a:ext cx="3383280" cy="192024"/>
          </a:xfrm>
          <a:prstGeom prst="roundRect">
            <a:avLst>
              <a:gd name="adj" fmla="val 13888"/>
            </a:avLst>
          </a:prstGeom>
          <a:solidFill>
            <a:srgbClr val="FDF3DC"/>
          </a:solidFill>
          <a:ln w="2032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229600" y="2297945"/>
            <a:ext cx="3200400" cy="192024"/>
          </a:xfrm>
          <a:prstGeom prst="rect">
            <a:avLst/>
          </a:prstGeom>
          <a:noFill/>
        </p:spPr>
        <p:txBody>
          <a:bodyPr wrap="square" lIns="0" rIns="0" tIns="0" bIns="0" anchor="ctr">
            <a:spAutoFit/>
          </a:bodyPr>
          <a:lstStyle/>
          <a:p>
            <a:pPr algn="l">
              <a:lnSpc>
                <a:spcPct val="100000"/>
              </a:lnSpc>
            </a:pPr>
            <a:r>
              <a:rPr sz="780" b="1" i="0">
                <a:solidFill>
                  <a:srgbClr val="21295C"/>
                </a:solidFill>
                <a:latin typeface="DejaVu Sans"/>
              </a:rPr>
              <a:t>зовут человека   ← согласован заранее</a:t>
            </a:r>
          </a:p>
        </p:txBody>
      </p:sp>
      <p:sp>
        <p:nvSpPr>
          <p:cNvPr id="38" name="Rounded Rectangle 37"/>
          <p:cNvSpPr/>
          <p:nvPr/>
        </p:nvSpPr>
        <p:spPr>
          <a:xfrm>
            <a:off x="8138160" y="2503685"/>
            <a:ext cx="3383280" cy="192024"/>
          </a:xfrm>
          <a:prstGeom prst="roundRect">
            <a:avLst>
              <a:gd name="adj" fmla="val 13888"/>
            </a:avLst>
          </a:prstGeom>
          <a:solidFill>
            <a:srgbClr val="FFFFFF"/>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29600" y="2503685"/>
            <a:ext cx="3200400" cy="192024"/>
          </a:xfrm>
          <a:prstGeom prst="rect">
            <a:avLst/>
          </a:prstGeom>
          <a:noFill/>
        </p:spPr>
        <p:txBody>
          <a:bodyPr wrap="square" lIns="0" rIns="0" tIns="0" bIns="0" anchor="ctr">
            <a:spAutoFit/>
          </a:bodyPr>
          <a:lstStyle/>
          <a:p>
            <a:pPr algn="l">
              <a:lnSpc>
                <a:spcPct val="100000"/>
              </a:lnSpc>
            </a:pPr>
            <a:r>
              <a:rPr sz="780" b="0" i="0">
                <a:solidFill>
                  <a:srgbClr val="5B6678"/>
                </a:solidFill>
                <a:latin typeface="DejaVu Sans"/>
              </a:rPr>
              <a:t>переспрашивают</a:t>
            </a:r>
          </a:p>
        </p:txBody>
      </p:sp>
      <p:sp>
        <p:nvSpPr>
          <p:cNvPr id="40" name="Rounded Rectangle 39"/>
          <p:cNvSpPr/>
          <p:nvPr/>
        </p:nvSpPr>
        <p:spPr>
          <a:xfrm>
            <a:off x="8138160" y="2709425"/>
            <a:ext cx="3383280" cy="192024"/>
          </a:xfrm>
          <a:prstGeom prst="roundRect">
            <a:avLst>
              <a:gd name="adj" fmla="val 13888"/>
            </a:avLst>
          </a:prstGeom>
          <a:solidFill>
            <a:srgbClr val="FFFFFF"/>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229600" y="2709425"/>
            <a:ext cx="3200400" cy="192024"/>
          </a:xfrm>
          <a:prstGeom prst="rect">
            <a:avLst/>
          </a:prstGeom>
          <a:noFill/>
        </p:spPr>
        <p:txBody>
          <a:bodyPr wrap="square" lIns="0" rIns="0" tIns="0" bIns="0" anchor="ctr">
            <a:spAutoFit/>
          </a:bodyPr>
          <a:lstStyle/>
          <a:p>
            <a:pPr algn="l">
              <a:lnSpc>
                <a:spcPct val="100000"/>
              </a:lnSpc>
            </a:pPr>
            <a:r>
              <a:rPr sz="780" b="0" i="0">
                <a:solidFill>
                  <a:srgbClr val="5B6678"/>
                </a:solidFill>
                <a:latin typeface="DejaVu Sans"/>
              </a:rPr>
              <a:t>отказ отвечать</a:t>
            </a:r>
          </a:p>
        </p:txBody>
      </p:sp>
      <p:sp>
        <p:nvSpPr>
          <p:cNvPr id="42" name="Rounded Rectangle 41"/>
          <p:cNvSpPr/>
          <p:nvPr/>
        </p:nvSpPr>
        <p:spPr>
          <a:xfrm>
            <a:off x="8138160" y="2915165"/>
            <a:ext cx="3383280" cy="192024"/>
          </a:xfrm>
          <a:prstGeom prst="roundRect">
            <a:avLst>
              <a:gd name="adj" fmla="val 13888"/>
            </a:avLst>
          </a:prstGeom>
          <a:solidFill>
            <a:srgbClr val="FFFFFF"/>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229600" y="2915165"/>
            <a:ext cx="3200400" cy="192024"/>
          </a:xfrm>
          <a:prstGeom prst="rect">
            <a:avLst/>
          </a:prstGeom>
          <a:noFill/>
        </p:spPr>
        <p:txBody>
          <a:bodyPr wrap="square" lIns="0" rIns="0" tIns="0" bIns="0" anchor="ctr">
            <a:spAutoFit/>
          </a:bodyPr>
          <a:lstStyle/>
          <a:p>
            <a:pPr algn="l">
              <a:lnSpc>
                <a:spcPct val="100000"/>
              </a:lnSpc>
            </a:pPr>
            <a:r>
              <a:rPr sz="780" b="0" i="0">
                <a:solidFill>
                  <a:srgbClr val="5B6678"/>
                </a:solidFill>
                <a:latin typeface="DejaVu Sans"/>
              </a:rPr>
              <a:t>повторные ответы</a:t>
            </a:r>
          </a:p>
        </p:txBody>
      </p:sp>
      <p:sp>
        <p:nvSpPr>
          <p:cNvPr id="44" name="TextBox 43"/>
          <p:cNvSpPr txBox="1"/>
          <p:nvPr/>
        </p:nvSpPr>
        <p:spPr>
          <a:xfrm>
            <a:off x="8138160" y="3130049"/>
            <a:ext cx="3383280" cy="201168"/>
          </a:xfrm>
          <a:prstGeom prst="rect">
            <a:avLst/>
          </a:prstGeom>
          <a:noFill/>
        </p:spPr>
        <p:txBody>
          <a:bodyPr wrap="square" lIns="0" rIns="0" tIns="0" bIns="0" anchor="t">
            <a:spAutoFit/>
          </a:bodyPr>
          <a:lstStyle/>
          <a:p>
            <a:pPr algn="ctr">
              <a:lnSpc>
                <a:spcPct val="105000"/>
              </a:lnSpc>
            </a:pPr>
            <a:r>
              <a:rPr sz="819" b="0" i="1">
                <a:solidFill>
                  <a:srgbClr val="5B6678"/>
                </a:solidFill>
                <a:latin typeface="DejaVu Sans"/>
              </a:rPr>
              <a:t>косвенная метрика качества: выбрана одна</a:t>
            </a:r>
          </a:p>
        </p:txBody>
      </p:sp>
      <p:sp>
        <p:nvSpPr>
          <p:cNvPr id="45" name="Rectangle 44"/>
          <p:cNvSpPr/>
          <p:nvPr/>
        </p:nvSpPr>
        <p:spPr>
          <a:xfrm>
            <a:off x="8138160" y="3386081"/>
            <a:ext cx="3383280" cy="201168"/>
          </a:xfrm>
          <a:prstGeom prst="rect">
            <a:avLst/>
          </a:prstGeom>
          <a:solidFill>
            <a:srgbClr val="FFFFFF"/>
          </a:solidFill>
          <a:ln w="12700">
            <a:solidFill>
              <a:srgbClr val="5B66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9006840" y="3386081"/>
            <a:ext cx="1188720" cy="201168"/>
          </a:xfrm>
          <a:prstGeom prst="rect">
            <a:avLst/>
          </a:prstGeom>
          <a:solidFill>
            <a:srgbClr val="E4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7" name="Connector 46"/>
          <p:cNvCxnSpPr/>
          <p:nvPr/>
        </p:nvCxnSpPr>
        <p:spPr>
          <a:xfrm>
            <a:off x="10195560" y="3340361"/>
            <a:ext cx="0" cy="292608"/>
          </a:xfrm>
          <a:prstGeom prst="line">
            <a:avLst/>
          </a:prstGeom>
          <a:ln w="31750">
            <a:solidFill>
              <a:srgbClr val="F0AB00"/>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8138160" y="3596393"/>
            <a:ext cx="2011680" cy="201168"/>
          </a:xfrm>
          <a:prstGeom prst="rect">
            <a:avLst/>
          </a:prstGeom>
          <a:noFill/>
        </p:spPr>
        <p:txBody>
          <a:bodyPr wrap="square" lIns="0" rIns="0" tIns="0" bIns="0" anchor="t">
            <a:spAutoFit/>
          </a:bodyPr>
          <a:lstStyle/>
          <a:p>
            <a:pPr algn="ctr">
              <a:lnSpc>
                <a:spcPct val="105000"/>
              </a:lnSpc>
            </a:pPr>
            <a:r>
              <a:rPr sz="780" b="0" i="1">
                <a:solidFill>
                  <a:srgbClr val="5B6678"/>
                </a:solidFill>
                <a:latin typeface="DejaVu Sans"/>
              </a:rPr>
              <a:t>собственный разброс системы</a:t>
            </a:r>
          </a:p>
        </p:txBody>
      </p:sp>
      <p:sp>
        <p:nvSpPr>
          <p:cNvPr id="49" name="TextBox 48"/>
          <p:cNvSpPr txBox="1"/>
          <p:nvPr/>
        </p:nvSpPr>
        <p:spPr>
          <a:xfrm>
            <a:off x="10222992" y="3596393"/>
            <a:ext cx="1298448" cy="201168"/>
          </a:xfrm>
          <a:prstGeom prst="rect">
            <a:avLst/>
          </a:prstGeom>
          <a:noFill/>
        </p:spPr>
        <p:txBody>
          <a:bodyPr wrap="square" lIns="0" rIns="0" tIns="0" bIns="0" anchor="t">
            <a:spAutoFit/>
          </a:bodyPr>
          <a:lstStyle/>
          <a:p>
            <a:pPr algn="l">
              <a:lnSpc>
                <a:spcPct val="105000"/>
              </a:lnSpc>
            </a:pPr>
            <a:r>
              <a:rPr sz="780" b="1" i="0">
                <a:solidFill>
                  <a:srgbClr val="21295C"/>
                </a:solidFill>
                <a:latin typeface="DejaVu Sans"/>
              </a:rPr>
              <a:t>порог — внутри него</a:t>
            </a:r>
          </a:p>
        </p:txBody>
      </p:sp>
      <p:sp>
        <p:nvSpPr>
          <p:cNvPr id="50" name="Rounded Rectangle 49"/>
          <p:cNvSpPr/>
          <p:nvPr/>
        </p:nvSpPr>
        <p:spPr>
          <a:xfrm>
            <a:off x="502920" y="3953009"/>
            <a:ext cx="1152144" cy="1227201"/>
          </a:xfrm>
          <a:prstGeom prst="roundRect">
            <a:avLst>
              <a:gd name="adj" fmla="val 22000"/>
            </a:avLst>
          </a:prstGeom>
          <a:solidFill>
            <a:srgbClr val="1C7293"/>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48640" y="3953009"/>
            <a:ext cx="1060704" cy="1227201"/>
          </a:xfrm>
          <a:prstGeom prst="rect">
            <a:avLst/>
          </a:prstGeom>
          <a:noFill/>
        </p:spPr>
        <p:txBody>
          <a:bodyPr wrap="square" lIns="0" rIns="0" tIns="0" bIns="0" anchor="ctr">
            <a:spAutoFit/>
          </a:bodyPr>
          <a:lstStyle/>
          <a:p>
            <a:pPr algn="ctr">
              <a:lnSpc>
                <a:spcPct val="102000"/>
              </a:lnSpc>
            </a:pPr>
            <a:r>
              <a:rPr sz="950" b="1" i="0">
                <a:solidFill>
                  <a:srgbClr val="FFFFFF"/>
                </a:solidFill>
                <a:latin typeface="DejaVu Sans"/>
              </a:rPr>
              <a:t>С ИИ И БЕЗ ИИ</a:t>
            </a:r>
          </a:p>
        </p:txBody>
      </p:sp>
      <p:sp>
        <p:nvSpPr>
          <p:cNvPr id="52" name="Rounded Rectangle 51"/>
          <p:cNvSpPr/>
          <p:nvPr/>
        </p:nvSpPr>
        <p:spPr>
          <a:xfrm>
            <a:off x="1801368" y="3953009"/>
            <a:ext cx="9902952" cy="1227201"/>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ounded Rectangle 52"/>
          <p:cNvSpPr/>
          <p:nvPr/>
        </p:nvSpPr>
        <p:spPr>
          <a:xfrm>
            <a:off x="1984248" y="4044449"/>
            <a:ext cx="4677156" cy="1044321"/>
          </a:xfrm>
          <a:prstGeom prst="roundRect">
            <a:avLst>
              <a:gd name="adj" fmla="val 17025"/>
            </a:avLst>
          </a:prstGeom>
          <a:solidFill>
            <a:srgbClr val="FFFFFF"/>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2084831" y="4090169"/>
            <a:ext cx="4475988" cy="219456"/>
          </a:xfrm>
          <a:prstGeom prst="rect">
            <a:avLst/>
          </a:prstGeom>
          <a:noFill/>
        </p:spPr>
        <p:txBody>
          <a:bodyPr wrap="square" lIns="0" rIns="0" tIns="0" bIns="0" anchor="t">
            <a:spAutoFit/>
          </a:bodyPr>
          <a:lstStyle/>
          <a:p>
            <a:pPr algn="l">
              <a:lnSpc>
                <a:spcPct val="100000"/>
              </a:lnSpc>
            </a:pPr>
            <a:r>
              <a:rPr sz="919" b="1" i="0">
                <a:solidFill>
                  <a:srgbClr val="065A82"/>
                </a:solidFill>
                <a:latin typeface="DejaVu Sans"/>
              </a:rPr>
              <a:t>БЕЗ ИИ — классика, работает и здесь</a:t>
            </a:r>
          </a:p>
        </p:txBody>
      </p:sp>
      <p:sp>
        <p:nvSpPr>
          <p:cNvPr id="55" name="TextBox 54"/>
          <p:cNvSpPr txBox="1"/>
          <p:nvPr/>
        </p:nvSpPr>
        <p:spPr>
          <a:xfrm>
            <a:off x="2084831" y="4318769"/>
            <a:ext cx="4475988" cy="715137"/>
          </a:xfrm>
          <a:prstGeom prst="rect">
            <a:avLst/>
          </a:prstGeom>
          <a:noFill/>
        </p:spPr>
        <p:txBody>
          <a:bodyPr wrap="square" lIns="0" rIns="0" tIns="0" bIns="0" anchor="t">
            <a:spAutoFit/>
          </a:bodyPr>
          <a:lstStyle/>
          <a:p>
            <a:pPr algn="l">
              <a:lnSpc>
                <a:spcPct val="112000"/>
              </a:lnSpc>
            </a:pPr>
            <a:r>
              <a:rPr sz="950" b="0" i="0">
                <a:solidFill>
                  <a:srgbClr val="21295C"/>
                </a:solidFill>
                <a:latin typeface="DejaVu Sans"/>
              </a:rPr>
              <a:t>Сквозная трассировка по общему стандарту: по одной записи виден весь путь запроса через службы.</a:t>
            </a:r>
          </a:p>
        </p:txBody>
      </p:sp>
      <p:sp>
        <p:nvSpPr>
          <p:cNvPr id="56" name="Rounded Rectangle 55"/>
          <p:cNvSpPr/>
          <p:nvPr/>
        </p:nvSpPr>
        <p:spPr>
          <a:xfrm>
            <a:off x="6844284" y="4044449"/>
            <a:ext cx="4677156" cy="1044321"/>
          </a:xfrm>
          <a:prstGeom prst="roundRect">
            <a:avLst>
              <a:gd name="adj" fmla="val 17025"/>
            </a:avLst>
          </a:prstGeom>
          <a:solidFill>
            <a:srgbClr val="FFFFFF"/>
          </a:solidFill>
          <a:ln w="1778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944868" y="4090169"/>
            <a:ext cx="4475988" cy="219456"/>
          </a:xfrm>
          <a:prstGeom prst="rect">
            <a:avLst/>
          </a:prstGeom>
          <a:noFill/>
        </p:spPr>
        <p:txBody>
          <a:bodyPr wrap="square" lIns="0" rIns="0" tIns="0" bIns="0" anchor="t">
            <a:spAutoFit/>
          </a:bodyPr>
          <a:lstStyle/>
          <a:p>
            <a:pPr algn="l">
              <a:lnSpc>
                <a:spcPct val="100000"/>
              </a:lnSpc>
            </a:pPr>
            <a:r>
              <a:rPr sz="919" b="1" i="0">
                <a:solidFill>
                  <a:srgbClr val="028090"/>
                </a:solidFill>
                <a:latin typeface="DejaVu Sans"/>
              </a:rPr>
              <a:t>С ИИ — что добавилось к 2026 году</a:t>
            </a:r>
          </a:p>
        </p:txBody>
      </p:sp>
      <p:sp>
        <p:nvSpPr>
          <p:cNvPr id="58" name="TextBox 57"/>
          <p:cNvSpPr txBox="1"/>
          <p:nvPr/>
        </p:nvSpPr>
        <p:spPr>
          <a:xfrm>
            <a:off x="6944868" y="4318769"/>
            <a:ext cx="4475988" cy="715137"/>
          </a:xfrm>
          <a:prstGeom prst="rect">
            <a:avLst/>
          </a:prstGeom>
          <a:noFill/>
        </p:spPr>
        <p:txBody>
          <a:bodyPr wrap="square" lIns="0" rIns="0" tIns="0" bIns="0" anchor="t">
            <a:spAutoFit/>
          </a:bodyPr>
          <a:lstStyle/>
          <a:p>
            <a:pPr algn="l">
              <a:lnSpc>
                <a:spcPct val="112000"/>
              </a:lnSpc>
            </a:pPr>
            <a:r>
              <a:rPr sz="950" b="0" i="0">
                <a:solidFill>
                  <a:srgbClr val="21295C"/>
                </a:solidFill>
                <a:latin typeface="DejaVu Sans"/>
              </a:rPr>
              <a:t>Тот же стандарт, расширенный соглашениями для генеративных моделей, — но они </a:t>
            </a:r>
            <a:r>
              <a:rPr sz="950" b="1" i="0">
                <a:solidFill>
                  <a:srgbClr val="21295C"/>
                </a:solidFill>
                <a:latin typeface="DejaVu Sans"/>
              </a:rPr>
              <a:t>ещё в разработке</a:t>
            </a:r>
            <a:r>
              <a:rPr sz="950" b="0" i="0">
                <a:solidFill>
                  <a:srgbClr val="21295C"/>
                </a:solidFill>
                <a:latin typeface="DejaVu Sans"/>
              </a:rPr>
              <a:t>. Поверх — выборочная автооценка живых ответов и слежение за расхождением по версии модели и сегменту.</a:t>
            </a:r>
          </a:p>
        </p:txBody>
      </p:sp>
      <p:sp>
        <p:nvSpPr>
          <p:cNvPr id="59" name="Rounded Rectangle 58"/>
          <p:cNvSpPr/>
          <p:nvPr/>
        </p:nvSpPr>
        <p:spPr>
          <a:xfrm>
            <a:off x="502920" y="5244218"/>
            <a:ext cx="1152144" cy="984117"/>
          </a:xfrm>
          <a:prstGeom prst="roundRect">
            <a:avLst>
              <a:gd name="adj" fmla="val 22000"/>
            </a:avLst>
          </a:prstGeom>
          <a:solidFill>
            <a:srgbClr val="F0AB00"/>
          </a:solidFill>
          <a:ln w="127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48640" y="5244218"/>
            <a:ext cx="1060704" cy="984117"/>
          </a:xfrm>
          <a:prstGeom prst="rect">
            <a:avLst/>
          </a:prstGeom>
          <a:noFill/>
        </p:spPr>
        <p:txBody>
          <a:bodyPr wrap="square" lIns="0" rIns="0" tIns="0" bIns="0" anchor="ctr">
            <a:spAutoFit/>
          </a:bodyPr>
          <a:lstStyle/>
          <a:p>
            <a:pPr algn="ctr">
              <a:lnSpc>
                <a:spcPct val="102000"/>
              </a:lnSpc>
            </a:pPr>
            <a:r>
              <a:rPr sz="950" b="1" i="0">
                <a:solidFill>
                  <a:srgbClr val="21295C"/>
                </a:solidFill>
                <a:latin typeface="DejaVu Sans"/>
              </a:rPr>
              <a:t>ГДЕ НЕ РАБОТАЕТ</a:t>
            </a:r>
          </a:p>
        </p:txBody>
      </p:sp>
      <p:sp>
        <p:nvSpPr>
          <p:cNvPr id="61" name="Rounded Rectangle 60"/>
          <p:cNvSpPr/>
          <p:nvPr/>
        </p:nvSpPr>
        <p:spPr>
          <a:xfrm>
            <a:off x="1801368" y="5244218"/>
            <a:ext cx="9902952" cy="984117"/>
          </a:xfrm>
          <a:prstGeom prst="roundRect">
            <a:avLst>
              <a:gd name="adj" fmla="val 22000"/>
            </a:avLst>
          </a:prstGeom>
          <a:solidFill>
            <a:srgbClr val="FDF3DC"/>
          </a:solidFill>
          <a:ln w="317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984248" y="5335658"/>
            <a:ext cx="9537192" cy="801237"/>
          </a:xfrm>
          <a:prstGeom prst="rect">
            <a:avLst/>
          </a:prstGeom>
          <a:noFill/>
        </p:spPr>
        <p:txBody>
          <a:bodyPr wrap="square" lIns="0" rIns="0" tIns="0" bIns="0" anchor="ctr">
            <a:spAutoFit/>
          </a:bodyPr>
          <a:lstStyle/>
          <a:p>
            <a:pPr algn="l">
              <a:lnSpc>
                <a:spcPct val="114000"/>
              </a:lnSpc>
            </a:pPr>
            <a:r>
              <a:rPr sz="1000" b="1" i="0">
                <a:solidFill>
                  <a:srgbClr val="21295C"/>
                </a:solidFill>
                <a:latin typeface="DejaVu Sans"/>
              </a:rPr>
              <a:t>Записи ответов по построению уходят наружу — </a:t>
            </a:r>
            <a:r>
              <a:rPr sz="1000" b="1" i="0">
                <a:solidFill>
                  <a:srgbClr val="21295C"/>
                </a:solidFill>
                <a:latin typeface="DejaVu Sans"/>
              </a:rPr>
              <a:t>персональные данные туда нельзя</a:t>
            </a:r>
            <a:r>
              <a:rPr sz="1000" b="1" i="0">
                <a:solidFill>
                  <a:srgbClr val="21295C"/>
                </a:solidFill>
                <a:latin typeface="DejaVu Sans"/>
              </a:rPr>
              <a:t> без обезличивания или своего развёртывания. Косвенная метрика </a:t>
            </a:r>
            <a:r>
              <a:rPr sz="1000" b="1" i="0">
                <a:solidFill>
                  <a:srgbClr val="21295C"/>
                </a:solidFill>
                <a:latin typeface="DejaVu Sans"/>
              </a:rPr>
              <a:t>не равна качеству</a:t>
            </a:r>
            <a:r>
              <a:rPr sz="1000" b="1" i="0">
                <a:solidFill>
                  <a:srgbClr val="21295C"/>
                </a:solidFill>
                <a:latin typeface="DejaVu Sans"/>
              </a:rPr>
              <a:t>: путать частоту обращений к человеку с точностью — способ обмануть себя. </a:t>
            </a:r>
            <a:r>
              <a:rPr sz="1000" b="1" i="0">
                <a:solidFill>
                  <a:srgbClr val="21295C"/>
                </a:solidFill>
                <a:latin typeface="DejaVu Sans"/>
              </a:rPr>
              <a:t>Модель-судья не оракул:</a:t>
            </a:r>
            <a:r>
              <a:rPr sz="1000" b="1" i="0">
                <a:solidFill>
                  <a:srgbClr val="21295C"/>
                </a:solidFill>
                <a:latin typeface="DejaVu Sans"/>
              </a:rPr>
              <a:t> её согласие с человеком надо проверять отдельно. Калибровка </a:t>
            </a:r>
            <a:r>
              <a:rPr sz="1000" b="1" i="0">
                <a:solidFill>
                  <a:srgbClr val="21295C"/>
                </a:solidFill>
                <a:latin typeface="DejaVu Sans"/>
              </a:rPr>
              <a:t>стареет вместе с моделью</a:t>
            </a:r>
            <a:r>
              <a:rPr sz="1000" b="1" i="0">
                <a:solidFill>
                  <a:srgbClr val="21295C"/>
                </a:solidFill>
                <a:latin typeface="DejaVu Sans"/>
              </a:rPr>
              <a:t>.</a:t>
            </a:r>
          </a:p>
        </p:txBody>
      </p:sp>
      <p:sp>
        <p:nvSpPr>
          <p:cNvPr id="63" name="TextBox 62"/>
          <p:cNvSpPr txBox="1"/>
          <p:nvPr/>
        </p:nvSpPr>
        <p:spPr>
          <a:xfrm>
            <a:off x="502920" y="6437376"/>
            <a:ext cx="10515600" cy="201168"/>
          </a:xfrm>
          <a:prstGeom prst="rect">
            <a:avLst/>
          </a:prstGeom>
          <a:noFill/>
        </p:spPr>
        <p:txBody>
          <a:bodyPr wrap="square" lIns="0" rIns="0" tIns="0" bIns="0" anchor="t">
            <a:spAutoFit/>
          </a:bodyPr>
          <a:lstStyle/>
          <a:p>
            <a:pPr algn="l">
              <a:lnSpc>
                <a:spcPct val="100000"/>
              </a:lnSpc>
            </a:pPr>
            <a:r>
              <a:rPr sz="900" b="0" i="1">
                <a:solidFill>
                  <a:srgbClr val="1C7293"/>
                </a:solidFill>
                <a:latin typeface="DejaVu Sans"/>
              </a:rPr>
              <a:t>Расхождение до 15 процентных пунктов между технически одинаковыми прогонами — Eval4NLP, 2025; соглашения OpenTelemetry для генеративных моделей: 12 июня 2026 вынесены в отдельный репозиторий, выпусков нет, все поля в статусе разработки</a:t>
            </a:r>
          </a:p>
        </p:txBody>
      </p:sp>
      <p:sp>
        <p:nvSpPr>
          <p:cNvPr id="64" name="TextBox 63"/>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38 / 54</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18872"/>
            <a:ext cx="11201400" cy="615213"/>
          </a:xfrm>
          <a:prstGeom prst="rect">
            <a:avLst/>
          </a:prstGeom>
          <a:noFill/>
        </p:spPr>
        <p:txBody>
          <a:bodyPr wrap="square" lIns="0" rIns="0" tIns="0" bIns="0" anchor="t">
            <a:spAutoFit/>
          </a:bodyPr>
          <a:lstStyle/>
          <a:p>
            <a:pPr algn="l">
              <a:lnSpc>
                <a:spcPct val="110000"/>
              </a:lnSpc>
            </a:pPr>
            <a:r>
              <a:rPr sz="1900" b="1" i="0">
                <a:solidFill>
                  <a:srgbClr val="21295C"/>
                </a:solidFill>
                <a:latin typeface="DejaVu Sans"/>
              </a:rPr>
              <a:t>Учебная тревога: проверка, что деградацию вообще есть чем заметить</a:t>
            </a:r>
          </a:p>
        </p:txBody>
      </p:sp>
      <p:sp>
        <p:nvSpPr>
          <p:cNvPr id="3" name="Rounded Rectangle 2"/>
          <p:cNvSpPr/>
          <p:nvPr/>
        </p:nvSpPr>
        <p:spPr>
          <a:xfrm>
            <a:off x="502920" y="825525"/>
            <a:ext cx="1152144" cy="893058"/>
          </a:xfrm>
          <a:prstGeom prst="roundRect">
            <a:avLst>
              <a:gd name="adj" fmla="val 22000"/>
            </a:avLst>
          </a:prstGeom>
          <a:solidFill>
            <a:srgbClr val="21295C"/>
          </a:solidFill>
          <a:ln w="12700">
            <a:solidFill>
              <a:srgbClr val="2129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825525"/>
            <a:ext cx="1060704" cy="893058"/>
          </a:xfrm>
          <a:prstGeom prst="rect">
            <a:avLst/>
          </a:prstGeom>
          <a:noFill/>
        </p:spPr>
        <p:txBody>
          <a:bodyPr wrap="square" lIns="0" rIns="0" tIns="0" bIns="0" anchor="ctr">
            <a:spAutoFit/>
          </a:bodyPr>
          <a:lstStyle/>
          <a:p>
            <a:pPr algn="ctr">
              <a:lnSpc>
                <a:spcPct val="102000"/>
              </a:lnSpc>
            </a:pPr>
            <a:r>
              <a:rPr sz="950" b="1" i="0">
                <a:solidFill>
                  <a:srgbClr val="FFFFFF"/>
                </a:solidFill>
                <a:latin typeface="DejaVu Sans"/>
              </a:rPr>
              <a:t>ЧТО ЭТО</a:t>
            </a:r>
          </a:p>
        </p:txBody>
      </p:sp>
      <p:sp>
        <p:nvSpPr>
          <p:cNvPr id="5" name="Rounded Rectangle 4"/>
          <p:cNvSpPr/>
          <p:nvPr/>
        </p:nvSpPr>
        <p:spPr>
          <a:xfrm>
            <a:off x="1801368" y="825525"/>
            <a:ext cx="9902952" cy="893058"/>
          </a:xfrm>
          <a:prstGeom prst="roundRect">
            <a:avLst>
              <a:gd name="adj" fmla="val 22000"/>
            </a:avLst>
          </a:prstGeom>
          <a:solidFill>
            <a:srgbClr val="FFFFFF"/>
          </a:solidFill>
          <a:ln w="2286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984248" y="916965"/>
            <a:ext cx="9537192" cy="710178"/>
          </a:xfrm>
          <a:prstGeom prst="rect">
            <a:avLst/>
          </a:prstGeom>
          <a:noFill/>
        </p:spPr>
        <p:txBody>
          <a:bodyPr wrap="square" lIns="0" rIns="0" tIns="0" bIns="0" anchor="ctr">
            <a:spAutoFit/>
          </a:bodyPr>
          <a:lstStyle/>
          <a:p>
            <a:pPr algn="l">
              <a:lnSpc>
                <a:spcPct val="114000"/>
              </a:lnSpc>
            </a:pPr>
            <a:r>
              <a:rPr sz="1150" b="0" i="0">
                <a:solidFill>
                  <a:srgbClr val="21295C"/>
                </a:solidFill>
                <a:latin typeface="DejaVu Sans"/>
              </a:rPr>
              <a:t>То же, что </a:t>
            </a:r>
            <a:r>
              <a:rPr sz="1150" b="1" i="0">
                <a:solidFill>
                  <a:srgbClr val="21295C"/>
                </a:solidFill>
                <a:latin typeface="DejaVu Sans"/>
              </a:rPr>
              <a:t>учебная пожарная тревога</a:t>
            </a:r>
            <a:r>
              <a:rPr sz="1150" b="0" i="0">
                <a:solidFill>
                  <a:srgbClr val="21295C"/>
                </a:solidFill>
                <a:latin typeface="DejaVu Sans"/>
              </a:rPr>
              <a:t>, только для качества ответов. Раз в несколько недель систему намеренно и управляемо портят — и смотрят, сработает ли обнаружение. Проверяют не систему, а себя: есть ли чем заметить деградацию.</a:t>
            </a:r>
          </a:p>
        </p:txBody>
      </p:sp>
      <p:sp>
        <p:nvSpPr>
          <p:cNvPr id="7" name="Rounded Rectangle 6"/>
          <p:cNvSpPr/>
          <p:nvPr/>
        </p:nvSpPr>
        <p:spPr>
          <a:xfrm>
            <a:off x="502920" y="1782592"/>
            <a:ext cx="1152144" cy="2377440"/>
          </a:xfrm>
          <a:prstGeom prst="roundRect">
            <a:avLst>
              <a:gd name="adj" fmla="val 22000"/>
            </a:avLst>
          </a:prstGeom>
          <a:solidFill>
            <a:srgbClr val="065A82"/>
          </a:solidFill>
          <a:ln w="1270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782592"/>
            <a:ext cx="1060704" cy="2377440"/>
          </a:xfrm>
          <a:prstGeom prst="rect">
            <a:avLst/>
          </a:prstGeom>
          <a:noFill/>
        </p:spPr>
        <p:txBody>
          <a:bodyPr wrap="square" lIns="0" rIns="0" tIns="0" bIns="0" anchor="ctr">
            <a:spAutoFit/>
          </a:bodyPr>
          <a:lstStyle/>
          <a:p>
            <a:pPr algn="ctr">
              <a:lnSpc>
                <a:spcPct val="102000"/>
              </a:lnSpc>
            </a:pPr>
            <a:r>
              <a:rPr sz="950" b="1" i="0">
                <a:solidFill>
                  <a:srgbClr val="FFFFFF"/>
                </a:solidFill>
                <a:latin typeface="DejaVu Sans"/>
              </a:rPr>
              <a:t>МЕХАНИЗМ</a:t>
            </a:r>
          </a:p>
        </p:txBody>
      </p:sp>
      <p:sp>
        <p:nvSpPr>
          <p:cNvPr id="9" name="Rounded Rectangle 8"/>
          <p:cNvSpPr/>
          <p:nvPr/>
        </p:nvSpPr>
        <p:spPr>
          <a:xfrm>
            <a:off x="1801368" y="1782592"/>
            <a:ext cx="9902952" cy="2377440"/>
          </a:xfrm>
          <a:prstGeom prst="roundRect">
            <a:avLst>
              <a:gd name="adj" fmla="val 1282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984248" y="1887748"/>
            <a:ext cx="214884" cy="2148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984248" y="1887748"/>
            <a:ext cx="214884" cy="214884"/>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1</a:t>
            </a:r>
          </a:p>
        </p:txBody>
      </p:sp>
      <p:sp>
        <p:nvSpPr>
          <p:cNvPr id="12" name="TextBox 11"/>
          <p:cNvSpPr txBox="1"/>
          <p:nvPr/>
        </p:nvSpPr>
        <p:spPr>
          <a:xfrm>
            <a:off x="2295144" y="1874032"/>
            <a:ext cx="5385816" cy="378673"/>
          </a:xfrm>
          <a:prstGeom prst="rect">
            <a:avLst/>
          </a:prstGeom>
          <a:noFill/>
        </p:spPr>
        <p:txBody>
          <a:bodyPr wrap="square" lIns="0" rIns="0" tIns="0" bIns="0" anchor="t">
            <a:spAutoFit/>
          </a:bodyPr>
          <a:lstStyle/>
          <a:p>
            <a:pPr algn="l">
              <a:lnSpc>
                <a:spcPct val="115000"/>
              </a:lnSpc>
            </a:pPr>
            <a:r>
              <a:rPr sz="1000" b="0" i="0">
                <a:solidFill>
                  <a:srgbClr val="21295C"/>
                </a:solidFill>
                <a:latin typeface="DejaVu Sans"/>
              </a:rPr>
              <a:t>Выбирают </a:t>
            </a:r>
            <a:r>
              <a:rPr sz="1000" b="1" i="0">
                <a:solidFill>
                  <a:srgbClr val="065A82"/>
                </a:solidFill>
                <a:latin typeface="DejaVu Sans"/>
              </a:rPr>
              <a:t>один класс отказа</a:t>
            </a:r>
            <a:r>
              <a:rPr sz="1000" b="0" i="0">
                <a:solidFill>
                  <a:srgbClr val="21295C"/>
                </a:solidFill>
                <a:latin typeface="DejaVu Sans"/>
              </a:rPr>
              <a:t> и назначают дату: учение идёт по плану, а не как настоящий сбой.</a:t>
            </a:r>
          </a:p>
        </p:txBody>
      </p:sp>
      <p:sp>
        <p:nvSpPr>
          <p:cNvPr id="13" name="Oval 12"/>
          <p:cNvSpPr/>
          <p:nvPr/>
        </p:nvSpPr>
        <p:spPr>
          <a:xfrm>
            <a:off x="1984248" y="2330429"/>
            <a:ext cx="214884" cy="2148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984248" y="2330429"/>
            <a:ext cx="214884" cy="214884"/>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2</a:t>
            </a:r>
          </a:p>
        </p:txBody>
      </p:sp>
      <p:sp>
        <p:nvSpPr>
          <p:cNvPr id="15" name="TextBox 14"/>
          <p:cNvSpPr txBox="1"/>
          <p:nvPr/>
        </p:nvSpPr>
        <p:spPr>
          <a:xfrm>
            <a:off x="2295144" y="2316713"/>
            <a:ext cx="5385816" cy="378673"/>
          </a:xfrm>
          <a:prstGeom prst="rect">
            <a:avLst/>
          </a:prstGeom>
          <a:noFill/>
        </p:spPr>
        <p:txBody>
          <a:bodyPr wrap="square" lIns="0" rIns="0" tIns="0" bIns="0" anchor="t">
            <a:spAutoFit/>
          </a:bodyPr>
          <a:lstStyle/>
          <a:p>
            <a:pPr algn="l">
              <a:lnSpc>
                <a:spcPct val="115000"/>
              </a:lnSpc>
            </a:pPr>
            <a:r>
              <a:rPr sz="1000" b="0" i="0">
                <a:solidFill>
                  <a:srgbClr val="21295C"/>
                </a:solidFill>
                <a:latin typeface="DejaVu Sans"/>
              </a:rPr>
              <a:t>Качество ухудшают </a:t>
            </a:r>
            <a:r>
              <a:rPr sz="1000" b="1" i="0">
                <a:solidFill>
                  <a:srgbClr val="065A82"/>
                </a:solidFill>
                <a:latin typeface="DejaVu Sans"/>
              </a:rPr>
              <a:t>управляемо</a:t>
            </a:r>
            <a:r>
              <a:rPr sz="1000" b="0" i="0">
                <a:solidFill>
                  <a:srgbClr val="21295C"/>
                </a:solidFill>
                <a:latin typeface="DejaVu Sans"/>
              </a:rPr>
              <a:t> — подменяют инструкцию модели на заведомо более слабую или ослабляют ограничители.</a:t>
            </a:r>
          </a:p>
        </p:txBody>
      </p:sp>
      <p:sp>
        <p:nvSpPr>
          <p:cNvPr id="16" name="Oval 15"/>
          <p:cNvSpPr/>
          <p:nvPr/>
        </p:nvSpPr>
        <p:spPr>
          <a:xfrm>
            <a:off x="1984248" y="2773110"/>
            <a:ext cx="214884" cy="2148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984248" y="2773110"/>
            <a:ext cx="214884" cy="214884"/>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3</a:t>
            </a:r>
          </a:p>
        </p:txBody>
      </p:sp>
      <p:sp>
        <p:nvSpPr>
          <p:cNvPr id="18" name="TextBox 17"/>
          <p:cNvSpPr txBox="1"/>
          <p:nvPr/>
        </p:nvSpPr>
        <p:spPr>
          <a:xfrm>
            <a:off x="2295144" y="2759394"/>
            <a:ext cx="5385816" cy="213111"/>
          </a:xfrm>
          <a:prstGeom prst="rect">
            <a:avLst/>
          </a:prstGeom>
          <a:noFill/>
        </p:spPr>
        <p:txBody>
          <a:bodyPr wrap="square" lIns="0" rIns="0" tIns="0" bIns="0" anchor="t">
            <a:spAutoFit/>
          </a:bodyPr>
          <a:lstStyle/>
          <a:p>
            <a:pPr algn="l">
              <a:lnSpc>
                <a:spcPct val="115000"/>
              </a:lnSpc>
            </a:pPr>
            <a:r>
              <a:rPr sz="1000" b="0" i="0">
                <a:solidFill>
                  <a:srgbClr val="21295C"/>
                </a:solidFill>
                <a:latin typeface="DejaVu Sans"/>
              </a:rPr>
              <a:t>Измеряют </a:t>
            </a:r>
            <a:r>
              <a:rPr sz="1000" b="1" i="0">
                <a:solidFill>
                  <a:srgbClr val="065A82"/>
                </a:solidFill>
                <a:latin typeface="DejaVu Sans"/>
              </a:rPr>
              <a:t>четыре времени</a:t>
            </a:r>
            <a:r>
              <a:rPr sz="1000" b="0" i="0">
                <a:solidFill>
                  <a:srgbClr val="21295C"/>
                </a:solidFill>
                <a:latin typeface="DejaVu Sans"/>
              </a:rPr>
              <a:t> и записывают их числом.</a:t>
            </a:r>
          </a:p>
        </p:txBody>
      </p:sp>
      <p:sp>
        <p:nvSpPr>
          <p:cNvPr id="19" name="Oval 18"/>
          <p:cNvSpPr/>
          <p:nvPr/>
        </p:nvSpPr>
        <p:spPr>
          <a:xfrm>
            <a:off x="1984248" y="3050229"/>
            <a:ext cx="214884" cy="2148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84248" y="3050229"/>
            <a:ext cx="214884" cy="214884"/>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4</a:t>
            </a:r>
          </a:p>
        </p:txBody>
      </p:sp>
      <p:sp>
        <p:nvSpPr>
          <p:cNvPr id="21" name="TextBox 20"/>
          <p:cNvSpPr txBox="1"/>
          <p:nvPr/>
        </p:nvSpPr>
        <p:spPr>
          <a:xfrm>
            <a:off x="2295144" y="3036513"/>
            <a:ext cx="5385816" cy="378673"/>
          </a:xfrm>
          <a:prstGeom prst="rect">
            <a:avLst/>
          </a:prstGeom>
          <a:noFill/>
        </p:spPr>
        <p:txBody>
          <a:bodyPr wrap="square" lIns="0" rIns="0" tIns="0" bIns="0" anchor="t">
            <a:spAutoFit/>
          </a:bodyPr>
          <a:lstStyle/>
          <a:p>
            <a:pPr algn="l">
              <a:lnSpc>
                <a:spcPct val="115000"/>
              </a:lnSpc>
            </a:pPr>
            <a:r>
              <a:rPr sz="1000" b="0" i="0">
                <a:solidFill>
                  <a:srgbClr val="21295C"/>
                </a:solidFill>
                <a:latin typeface="DejaVu Sans"/>
              </a:rPr>
              <a:t>Учение, не изменившее ни одной инструкции, было слишком лёгким: измеритель, который всегда зелёный, ничего не измеряет.</a:t>
            </a:r>
          </a:p>
        </p:txBody>
      </p:sp>
      <p:sp>
        <p:nvSpPr>
          <p:cNvPr id="22" name="Oval 21"/>
          <p:cNvSpPr/>
          <p:nvPr/>
        </p:nvSpPr>
        <p:spPr>
          <a:xfrm>
            <a:off x="7955279" y="2002048"/>
            <a:ext cx="237744" cy="23774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55279" y="2002048"/>
            <a:ext cx="237744" cy="237744"/>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1</a:t>
            </a:r>
          </a:p>
        </p:txBody>
      </p:sp>
      <p:sp>
        <p:nvSpPr>
          <p:cNvPr id="24" name="TextBox 23"/>
          <p:cNvSpPr txBox="1"/>
          <p:nvPr/>
        </p:nvSpPr>
        <p:spPr>
          <a:xfrm>
            <a:off x="8266175" y="1965472"/>
            <a:ext cx="2194560" cy="310896"/>
          </a:xfrm>
          <a:prstGeom prst="rect">
            <a:avLst/>
          </a:prstGeom>
          <a:noFill/>
        </p:spPr>
        <p:txBody>
          <a:bodyPr wrap="square" lIns="0" rIns="0" tIns="0" bIns="0" anchor="ctr">
            <a:spAutoFit/>
          </a:bodyPr>
          <a:lstStyle/>
          <a:p>
            <a:pPr algn="l">
              <a:lnSpc>
                <a:spcPct val="104000"/>
              </a:lnSpc>
            </a:pPr>
            <a:r>
              <a:rPr sz="900" b="0" i="0">
                <a:solidFill>
                  <a:srgbClr val="21295C"/>
                </a:solidFill>
                <a:latin typeface="DejaVu Sans"/>
              </a:rPr>
              <a:t>заметили</a:t>
            </a:r>
          </a:p>
        </p:txBody>
      </p:sp>
      <p:sp>
        <p:nvSpPr>
          <p:cNvPr id="25" name="Rounded Rectangle 24"/>
          <p:cNvSpPr/>
          <p:nvPr/>
        </p:nvSpPr>
        <p:spPr>
          <a:xfrm>
            <a:off x="10515600" y="1965472"/>
            <a:ext cx="1005840" cy="310896"/>
          </a:xfrm>
          <a:prstGeom prst="roundRect">
            <a:avLst>
              <a:gd name="adj" fmla="val 16666"/>
            </a:avLst>
          </a:prstGeom>
          <a:solidFill>
            <a:srgbClr val="FFFFFF"/>
          </a:solidFill>
          <a:ln w="1778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515600" y="1965472"/>
            <a:ext cx="1005840" cy="310896"/>
          </a:xfrm>
          <a:prstGeom prst="rect">
            <a:avLst/>
          </a:prstGeom>
          <a:noFill/>
        </p:spPr>
        <p:txBody>
          <a:bodyPr wrap="square" lIns="0" rIns="0" tIns="0" bIns="0" anchor="ctr">
            <a:spAutoFit/>
          </a:bodyPr>
          <a:lstStyle/>
          <a:p>
            <a:pPr algn="ctr">
              <a:lnSpc>
                <a:spcPct val="100000"/>
              </a:lnSpc>
            </a:pPr>
            <a:r>
              <a:rPr sz="1000" b="1" i="0">
                <a:solidFill>
                  <a:srgbClr val="F0AB00"/>
                </a:solidFill>
                <a:latin typeface="DejaVu Sans"/>
              </a:rPr>
              <a:t>___</a:t>
            </a:r>
          </a:p>
        </p:txBody>
      </p:sp>
      <p:cxnSp>
        <p:nvCxnSpPr>
          <p:cNvPr id="27" name="Connector 26"/>
          <p:cNvCxnSpPr/>
          <p:nvPr/>
        </p:nvCxnSpPr>
        <p:spPr>
          <a:xfrm>
            <a:off x="8074152" y="2276368"/>
            <a:ext cx="0" cy="164592"/>
          </a:xfrm>
          <a:prstGeom prst="line">
            <a:avLst/>
          </a:prstGeom>
          <a:ln w="20320">
            <a:solidFill>
              <a:srgbClr val="5B66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Oval 27"/>
          <p:cNvSpPr/>
          <p:nvPr/>
        </p:nvSpPr>
        <p:spPr>
          <a:xfrm>
            <a:off x="7955279" y="2477536"/>
            <a:ext cx="237744" cy="23774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55279" y="2477536"/>
            <a:ext cx="237744" cy="237744"/>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2</a:t>
            </a:r>
          </a:p>
        </p:txBody>
      </p:sp>
      <p:sp>
        <p:nvSpPr>
          <p:cNvPr id="30" name="TextBox 29"/>
          <p:cNvSpPr txBox="1"/>
          <p:nvPr/>
        </p:nvSpPr>
        <p:spPr>
          <a:xfrm>
            <a:off x="8266175" y="2440960"/>
            <a:ext cx="2194560" cy="310896"/>
          </a:xfrm>
          <a:prstGeom prst="rect">
            <a:avLst/>
          </a:prstGeom>
          <a:noFill/>
        </p:spPr>
        <p:txBody>
          <a:bodyPr wrap="square" lIns="0" rIns="0" tIns="0" bIns="0" anchor="ctr">
            <a:spAutoFit/>
          </a:bodyPr>
          <a:lstStyle/>
          <a:p>
            <a:pPr algn="l">
              <a:lnSpc>
                <a:spcPct val="104000"/>
              </a:lnSpc>
            </a:pPr>
            <a:r>
              <a:rPr sz="900" b="0" i="0">
                <a:solidFill>
                  <a:srgbClr val="21295C"/>
                </a:solidFill>
                <a:latin typeface="DejaVu Sans"/>
              </a:rPr>
              <a:t>пришёл человек</a:t>
            </a:r>
          </a:p>
        </p:txBody>
      </p:sp>
      <p:sp>
        <p:nvSpPr>
          <p:cNvPr id="31" name="Rounded Rectangle 30"/>
          <p:cNvSpPr/>
          <p:nvPr/>
        </p:nvSpPr>
        <p:spPr>
          <a:xfrm>
            <a:off x="10515600" y="2440960"/>
            <a:ext cx="1005840" cy="310896"/>
          </a:xfrm>
          <a:prstGeom prst="roundRect">
            <a:avLst>
              <a:gd name="adj" fmla="val 16666"/>
            </a:avLst>
          </a:prstGeom>
          <a:solidFill>
            <a:srgbClr val="FFFFFF"/>
          </a:solidFill>
          <a:ln w="1778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515600" y="2440960"/>
            <a:ext cx="1005840" cy="310896"/>
          </a:xfrm>
          <a:prstGeom prst="rect">
            <a:avLst/>
          </a:prstGeom>
          <a:noFill/>
        </p:spPr>
        <p:txBody>
          <a:bodyPr wrap="square" lIns="0" rIns="0" tIns="0" bIns="0" anchor="ctr">
            <a:spAutoFit/>
          </a:bodyPr>
          <a:lstStyle/>
          <a:p>
            <a:pPr algn="ctr">
              <a:lnSpc>
                <a:spcPct val="100000"/>
              </a:lnSpc>
            </a:pPr>
            <a:r>
              <a:rPr sz="1000" b="1" i="0">
                <a:solidFill>
                  <a:srgbClr val="F0AB00"/>
                </a:solidFill>
                <a:latin typeface="DejaVu Sans"/>
              </a:rPr>
              <a:t>___</a:t>
            </a:r>
          </a:p>
        </p:txBody>
      </p:sp>
      <p:cxnSp>
        <p:nvCxnSpPr>
          <p:cNvPr id="33" name="Connector 32"/>
          <p:cNvCxnSpPr/>
          <p:nvPr/>
        </p:nvCxnSpPr>
        <p:spPr>
          <a:xfrm>
            <a:off x="8074152" y="2751856"/>
            <a:ext cx="0" cy="164592"/>
          </a:xfrm>
          <a:prstGeom prst="line">
            <a:avLst/>
          </a:prstGeom>
          <a:ln w="20320">
            <a:solidFill>
              <a:srgbClr val="5B66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Oval 33"/>
          <p:cNvSpPr/>
          <p:nvPr/>
        </p:nvSpPr>
        <p:spPr>
          <a:xfrm>
            <a:off x="7955279" y="2953024"/>
            <a:ext cx="237744" cy="23774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55279" y="2953024"/>
            <a:ext cx="237744" cy="237744"/>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3</a:t>
            </a:r>
          </a:p>
        </p:txBody>
      </p:sp>
      <p:sp>
        <p:nvSpPr>
          <p:cNvPr id="36" name="TextBox 35"/>
          <p:cNvSpPr txBox="1"/>
          <p:nvPr/>
        </p:nvSpPr>
        <p:spPr>
          <a:xfrm>
            <a:off x="8266175" y="2916448"/>
            <a:ext cx="2194560" cy="310896"/>
          </a:xfrm>
          <a:prstGeom prst="rect">
            <a:avLst/>
          </a:prstGeom>
          <a:noFill/>
        </p:spPr>
        <p:txBody>
          <a:bodyPr wrap="square" lIns="0" rIns="0" tIns="0" bIns="0" anchor="ctr">
            <a:spAutoFit/>
          </a:bodyPr>
          <a:lstStyle/>
          <a:p>
            <a:pPr algn="l">
              <a:lnSpc>
                <a:spcPct val="104000"/>
              </a:lnSpc>
            </a:pPr>
            <a:r>
              <a:rPr sz="900" b="0" i="0">
                <a:solidFill>
                  <a:srgbClr val="21295C"/>
                </a:solidFill>
                <a:latin typeface="DejaVu Sans"/>
              </a:rPr>
              <a:t>автоматика остановила</a:t>
            </a:r>
          </a:p>
        </p:txBody>
      </p:sp>
      <p:sp>
        <p:nvSpPr>
          <p:cNvPr id="37" name="Rounded Rectangle 36"/>
          <p:cNvSpPr/>
          <p:nvPr/>
        </p:nvSpPr>
        <p:spPr>
          <a:xfrm>
            <a:off x="10515600" y="2916448"/>
            <a:ext cx="1005840" cy="310896"/>
          </a:xfrm>
          <a:prstGeom prst="roundRect">
            <a:avLst>
              <a:gd name="adj" fmla="val 16666"/>
            </a:avLst>
          </a:prstGeom>
          <a:solidFill>
            <a:srgbClr val="FFFFFF"/>
          </a:solidFill>
          <a:ln w="1778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515600" y="2916448"/>
            <a:ext cx="1005840" cy="310896"/>
          </a:xfrm>
          <a:prstGeom prst="rect">
            <a:avLst/>
          </a:prstGeom>
          <a:noFill/>
        </p:spPr>
        <p:txBody>
          <a:bodyPr wrap="square" lIns="0" rIns="0" tIns="0" bIns="0" anchor="ctr">
            <a:spAutoFit/>
          </a:bodyPr>
          <a:lstStyle/>
          <a:p>
            <a:pPr algn="ctr">
              <a:lnSpc>
                <a:spcPct val="100000"/>
              </a:lnSpc>
            </a:pPr>
            <a:r>
              <a:rPr sz="1000" b="1" i="0">
                <a:solidFill>
                  <a:srgbClr val="F0AB00"/>
                </a:solidFill>
                <a:latin typeface="DejaVu Sans"/>
              </a:rPr>
              <a:t>___</a:t>
            </a:r>
          </a:p>
        </p:txBody>
      </p:sp>
      <p:cxnSp>
        <p:nvCxnSpPr>
          <p:cNvPr id="39" name="Connector 38"/>
          <p:cNvCxnSpPr/>
          <p:nvPr/>
        </p:nvCxnSpPr>
        <p:spPr>
          <a:xfrm>
            <a:off x="8074152" y="3227344"/>
            <a:ext cx="0" cy="164592"/>
          </a:xfrm>
          <a:prstGeom prst="line">
            <a:avLst/>
          </a:prstGeom>
          <a:ln w="20320">
            <a:solidFill>
              <a:srgbClr val="5B66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Oval 39"/>
          <p:cNvSpPr/>
          <p:nvPr/>
        </p:nvSpPr>
        <p:spPr>
          <a:xfrm>
            <a:off x="7955279" y="3428512"/>
            <a:ext cx="237744" cy="23774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955279" y="3428512"/>
            <a:ext cx="237744" cy="237744"/>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4</a:t>
            </a:r>
          </a:p>
        </p:txBody>
      </p:sp>
      <p:sp>
        <p:nvSpPr>
          <p:cNvPr id="42" name="TextBox 41"/>
          <p:cNvSpPr txBox="1"/>
          <p:nvPr/>
        </p:nvSpPr>
        <p:spPr>
          <a:xfrm>
            <a:off x="8266175" y="3391936"/>
            <a:ext cx="2194560" cy="310896"/>
          </a:xfrm>
          <a:prstGeom prst="rect">
            <a:avLst/>
          </a:prstGeom>
          <a:noFill/>
        </p:spPr>
        <p:txBody>
          <a:bodyPr wrap="square" lIns="0" rIns="0" tIns="0" bIns="0" anchor="ctr">
            <a:spAutoFit/>
          </a:bodyPr>
          <a:lstStyle/>
          <a:p>
            <a:pPr algn="l">
              <a:lnSpc>
                <a:spcPct val="104000"/>
              </a:lnSpc>
            </a:pPr>
            <a:r>
              <a:rPr sz="900" b="0" i="0">
                <a:solidFill>
                  <a:srgbClr val="21295C"/>
                </a:solidFill>
                <a:latin typeface="DejaVu Sans"/>
              </a:rPr>
              <a:t>вернули как было</a:t>
            </a:r>
          </a:p>
        </p:txBody>
      </p:sp>
      <p:sp>
        <p:nvSpPr>
          <p:cNvPr id="43" name="Rounded Rectangle 42"/>
          <p:cNvSpPr/>
          <p:nvPr/>
        </p:nvSpPr>
        <p:spPr>
          <a:xfrm>
            <a:off x="10515600" y="3391936"/>
            <a:ext cx="1005840" cy="310896"/>
          </a:xfrm>
          <a:prstGeom prst="roundRect">
            <a:avLst>
              <a:gd name="adj" fmla="val 16666"/>
            </a:avLst>
          </a:prstGeom>
          <a:solidFill>
            <a:srgbClr val="FFFFFF"/>
          </a:solidFill>
          <a:ln w="1778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515600" y="3391936"/>
            <a:ext cx="1005840" cy="310896"/>
          </a:xfrm>
          <a:prstGeom prst="rect">
            <a:avLst/>
          </a:prstGeom>
          <a:noFill/>
        </p:spPr>
        <p:txBody>
          <a:bodyPr wrap="square" lIns="0" rIns="0" tIns="0" bIns="0" anchor="ctr">
            <a:spAutoFit/>
          </a:bodyPr>
          <a:lstStyle/>
          <a:p>
            <a:pPr algn="ctr">
              <a:lnSpc>
                <a:spcPct val="100000"/>
              </a:lnSpc>
            </a:pPr>
            <a:r>
              <a:rPr sz="1000" b="1" i="0">
                <a:solidFill>
                  <a:srgbClr val="F0AB00"/>
                </a:solidFill>
                <a:latin typeface="DejaVu Sans"/>
              </a:rPr>
              <a:t>___</a:t>
            </a:r>
          </a:p>
        </p:txBody>
      </p:sp>
      <p:sp>
        <p:nvSpPr>
          <p:cNvPr id="45" name="TextBox 44"/>
          <p:cNvSpPr txBox="1"/>
          <p:nvPr/>
        </p:nvSpPr>
        <p:spPr>
          <a:xfrm>
            <a:off x="7955279" y="3739408"/>
            <a:ext cx="3566160" cy="310896"/>
          </a:xfrm>
          <a:prstGeom prst="rect">
            <a:avLst/>
          </a:prstGeom>
          <a:noFill/>
        </p:spPr>
        <p:txBody>
          <a:bodyPr wrap="square" lIns="0" rIns="0" tIns="0" bIns="0" anchor="t">
            <a:spAutoFit/>
          </a:bodyPr>
          <a:lstStyle/>
          <a:p>
            <a:pPr algn="ctr">
              <a:lnSpc>
                <a:spcPct val="105000"/>
              </a:lnSpc>
            </a:pPr>
            <a:r>
              <a:rPr sz="860" b="0" i="1">
                <a:solidFill>
                  <a:srgbClr val="5B6678"/>
                </a:solidFill>
                <a:latin typeface="DejaVu Sans"/>
              </a:rPr>
              <a:t>поля пустые намеренно: число берётся с учения, а не из инструкции</a:t>
            </a:r>
          </a:p>
        </p:txBody>
      </p:sp>
      <p:sp>
        <p:nvSpPr>
          <p:cNvPr id="46" name="Rounded Rectangle 45"/>
          <p:cNvSpPr/>
          <p:nvPr/>
        </p:nvSpPr>
        <p:spPr>
          <a:xfrm>
            <a:off x="502920" y="4224040"/>
            <a:ext cx="1152144" cy="1074020"/>
          </a:xfrm>
          <a:prstGeom prst="roundRect">
            <a:avLst>
              <a:gd name="adj" fmla="val 22000"/>
            </a:avLst>
          </a:prstGeom>
          <a:solidFill>
            <a:srgbClr val="1C7293"/>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48640" y="4224040"/>
            <a:ext cx="1060704" cy="1074020"/>
          </a:xfrm>
          <a:prstGeom prst="rect">
            <a:avLst/>
          </a:prstGeom>
          <a:noFill/>
        </p:spPr>
        <p:txBody>
          <a:bodyPr wrap="square" lIns="0" rIns="0" tIns="0" bIns="0" anchor="ctr">
            <a:spAutoFit/>
          </a:bodyPr>
          <a:lstStyle/>
          <a:p>
            <a:pPr algn="ctr">
              <a:lnSpc>
                <a:spcPct val="102000"/>
              </a:lnSpc>
            </a:pPr>
            <a:r>
              <a:rPr sz="950" b="1" i="0">
                <a:solidFill>
                  <a:srgbClr val="FFFFFF"/>
                </a:solidFill>
                <a:latin typeface="DejaVu Sans"/>
              </a:rPr>
              <a:t>С ИИ И БЕЗ ИИ</a:t>
            </a:r>
          </a:p>
        </p:txBody>
      </p:sp>
      <p:sp>
        <p:nvSpPr>
          <p:cNvPr id="48" name="Rounded Rectangle 47"/>
          <p:cNvSpPr/>
          <p:nvPr/>
        </p:nvSpPr>
        <p:spPr>
          <a:xfrm>
            <a:off x="1801368" y="4224040"/>
            <a:ext cx="9902952" cy="1074020"/>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1984248" y="4315480"/>
            <a:ext cx="4677156" cy="891140"/>
          </a:xfrm>
          <a:prstGeom prst="roundRect">
            <a:avLst>
              <a:gd name="adj" fmla="val 19444"/>
            </a:avLst>
          </a:prstGeom>
          <a:solidFill>
            <a:srgbClr val="FFFFFF"/>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084831" y="4361200"/>
            <a:ext cx="4475988" cy="219456"/>
          </a:xfrm>
          <a:prstGeom prst="rect">
            <a:avLst/>
          </a:prstGeom>
          <a:noFill/>
        </p:spPr>
        <p:txBody>
          <a:bodyPr wrap="square" lIns="0" rIns="0" tIns="0" bIns="0" anchor="t">
            <a:spAutoFit/>
          </a:bodyPr>
          <a:lstStyle/>
          <a:p>
            <a:pPr algn="l">
              <a:lnSpc>
                <a:spcPct val="100000"/>
              </a:lnSpc>
            </a:pPr>
            <a:r>
              <a:rPr sz="919" b="1" i="0">
                <a:solidFill>
                  <a:srgbClr val="065A82"/>
                </a:solidFill>
                <a:latin typeface="DejaVu Sans"/>
              </a:rPr>
              <a:t>БЕЗ ИИ — классические учения на отказ</a:t>
            </a:r>
          </a:p>
        </p:txBody>
      </p:sp>
      <p:sp>
        <p:nvSpPr>
          <p:cNvPr id="51" name="TextBox 50"/>
          <p:cNvSpPr txBox="1"/>
          <p:nvPr/>
        </p:nvSpPr>
        <p:spPr>
          <a:xfrm>
            <a:off x="2084831" y="4589800"/>
            <a:ext cx="4475988" cy="561956"/>
          </a:xfrm>
          <a:prstGeom prst="rect">
            <a:avLst/>
          </a:prstGeom>
          <a:noFill/>
        </p:spPr>
        <p:txBody>
          <a:bodyPr wrap="square" lIns="0" rIns="0" tIns="0" bIns="0" anchor="t">
            <a:spAutoFit/>
          </a:bodyPr>
          <a:lstStyle/>
          <a:p>
            <a:pPr algn="l">
              <a:lnSpc>
                <a:spcPct val="112000"/>
              </a:lnSpc>
            </a:pPr>
            <a:r>
              <a:rPr sz="950" b="0" i="0">
                <a:solidFill>
                  <a:srgbClr val="21295C"/>
                </a:solidFill>
                <a:latin typeface="DejaVu Sans"/>
              </a:rPr>
              <a:t>Гасят службу, отнимают ресурс: проверяют, поднимется ли система и придёт ли дежурный.</a:t>
            </a:r>
          </a:p>
        </p:txBody>
      </p:sp>
      <p:sp>
        <p:nvSpPr>
          <p:cNvPr id="52" name="Rounded Rectangle 51"/>
          <p:cNvSpPr/>
          <p:nvPr/>
        </p:nvSpPr>
        <p:spPr>
          <a:xfrm>
            <a:off x="6844284" y="4315480"/>
            <a:ext cx="4677156" cy="891140"/>
          </a:xfrm>
          <a:prstGeom prst="roundRect">
            <a:avLst>
              <a:gd name="adj" fmla="val 19444"/>
            </a:avLst>
          </a:prstGeom>
          <a:solidFill>
            <a:srgbClr val="FFFFFF"/>
          </a:solidFill>
          <a:ln w="1778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944868" y="4361200"/>
            <a:ext cx="4475988" cy="219456"/>
          </a:xfrm>
          <a:prstGeom prst="rect">
            <a:avLst/>
          </a:prstGeom>
          <a:noFill/>
        </p:spPr>
        <p:txBody>
          <a:bodyPr wrap="square" lIns="0" rIns="0" tIns="0" bIns="0" anchor="t">
            <a:spAutoFit/>
          </a:bodyPr>
          <a:lstStyle/>
          <a:p>
            <a:pPr algn="l">
              <a:lnSpc>
                <a:spcPct val="100000"/>
              </a:lnSpc>
            </a:pPr>
            <a:r>
              <a:rPr sz="919" b="1" i="0">
                <a:solidFill>
                  <a:srgbClr val="028090"/>
                </a:solidFill>
                <a:latin typeface="DejaVu Sans"/>
              </a:rPr>
              <a:t>С ИИ — портят не доступность, а качество</a:t>
            </a:r>
          </a:p>
        </p:txBody>
      </p:sp>
      <p:sp>
        <p:nvSpPr>
          <p:cNvPr id="54" name="TextBox 53"/>
          <p:cNvSpPr txBox="1"/>
          <p:nvPr/>
        </p:nvSpPr>
        <p:spPr>
          <a:xfrm>
            <a:off x="6944868" y="4589800"/>
            <a:ext cx="4475988" cy="561956"/>
          </a:xfrm>
          <a:prstGeom prst="rect">
            <a:avLst/>
          </a:prstGeom>
          <a:noFill/>
        </p:spPr>
        <p:txBody>
          <a:bodyPr wrap="square" lIns="0" rIns="0" tIns="0" bIns="0" anchor="t">
            <a:spAutoFit/>
          </a:bodyPr>
          <a:lstStyle/>
          <a:p>
            <a:pPr algn="l">
              <a:lnSpc>
                <a:spcPct val="112000"/>
              </a:lnSpc>
            </a:pPr>
            <a:r>
              <a:rPr sz="950" b="0" i="0">
                <a:solidFill>
                  <a:srgbClr val="21295C"/>
                </a:solidFill>
                <a:latin typeface="DejaVu Sans"/>
              </a:rPr>
              <a:t>Ломать доступность бессмысленно: </a:t>
            </a:r>
            <a:r>
              <a:rPr sz="950" b="1" i="0">
                <a:solidFill>
                  <a:srgbClr val="21295C"/>
                </a:solidFill>
                <a:latin typeface="DejaVu Sans"/>
              </a:rPr>
              <a:t>ИИ-компонент деградирует, оставаясь доступным.</a:t>
            </a:r>
            <a:r>
              <a:rPr sz="950" b="0" i="0">
                <a:solidFill>
                  <a:srgbClr val="21295C"/>
                </a:solidFill>
                <a:latin typeface="DejaVu Sans"/>
              </a:rPr>
              <a:t> Отсюда и четвёртое время: вернуть как было — это откат версии, а не перезапуск.</a:t>
            </a:r>
          </a:p>
        </p:txBody>
      </p:sp>
      <p:sp>
        <p:nvSpPr>
          <p:cNvPr id="55" name="Rounded Rectangle 54"/>
          <p:cNvSpPr/>
          <p:nvPr/>
        </p:nvSpPr>
        <p:spPr>
          <a:xfrm>
            <a:off x="502920" y="5362068"/>
            <a:ext cx="1152144" cy="984117"/>
          </a:xfrm>
          <a:prstGeom prst="roundRect">
            <a:avLst>
              <a:gd name="adj" fmla="val 22000"/>
            </a:avLst>
          </a:prstGeom>
          <a:solidFill>
            <a:srgbClr val="F0AB00"/>
          </a:solidFill>
          <a:ln w="127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48640" y="5362068"/>
            <a:ext cx="1060704" cy="984117"/>
          </a:xfrm>
          <a:prstGeom prst="rect">
            <a:avLst/>
          </a:prstGeom>
          <a:noFill/>
        </p:spPr>
        <p:txBody>
          <a:bodyPr wrap="square" lIns="0" rIns="0" tIns="0" bIns="0" anchor="ctr">
            <a:spAutoFit/>
          </a:bodyPr>
          <a:lstStyle/>
          <a:p>
            <a:pPr algn="ctr">
              <a:lnSpc>
                <a:spcPct val="102000"/>
              </a:lnSpc>
            </a:pPr>
            <a:r>
              <a:rPr sz="950" b="1" i="0">
                <a:solidFill>
                  <a:srgbClr val="21295C"/>
                </a:solidFill>
                <a:latin typeface="DejaVu Sans"/>
              </a:rPr>
              <a:t>ГДЕ НЕ РАБОТАЕТ</a:t>
            </a:r>
          </a:p>
        </p:txBody>
      </p:sp>
      <p:sp>
        <p:nvSpPr>
          <p:cNvPr id="57" name="Rounded Rectangle 56"/>
          <p:cNvSpPr/>
          <p:nvPr/>
        </p:nvSpPr>
        <p:spPr>
          <a:xfrm>
            <a:off x="1801368" y="5362068"/>
            <a:ext cx="9902952" cy="984117"/>
          </a:xfrm>
          <a:prstGeom prst="roundRect">
            <a:avLst>
              <a:gd name="adj" fmla="val 22000"/>
            </a:avLst>
          </a:prstGeom>
          <a:solidFill>
            <a:srgbClr val="FDF3DC"/>
          </a:solidFill>
          <a:ln w="317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984248" y="5453508"/>
            <a:ext cx="9537192" cy="801237"/>
          </a:xfrm>
          <a:prstGeom prst="rect">
            <a:avLst/>
          </a:prstGeom>
          <a:noFill/>
        </p:spPr>
        <p:txBody>
          <a:bodyPr wrap="square" lIns="0" rIns="0" tIns="0" bIns="0" anchor="ctr">
            <a:spAutoFit/>
          </a:bodyPr>
          <a:lstStyle/>
          <a:p>
            <a:pPr algn="l">
              <a:lnSpc>
                <a:spcPct val="114000"/>
              </a:lnSpc>
            </a:pPr>
            <a:r>
              <a:rPr sz="1000" b="1" i="0">
                <a:solidFill>
                  <a:srgbClr val="21295C"/>
                </a:solidFill>
                <a:latin typeface="DejaVu Sans"/>
              </a:rPr>
              <a:t>Учение проверяет только тот класс отказа, </a:t>
            </a:r>
            <a:r>
              <a:rPr sz="1000" b="1" i="0">
                <a:solidFill>
                  <a:srgbClr val="21295C"/>
                </a:solidFill>
                <a:latin typeface="DejaVu Sans"/>
              </a:rPr>
              <a:t>который удалось придумать заранее</a:t>
            </a:r>
            <a:r>
              <a:rPr sz="1000" b="1" i="0">
                <a:solidFill>
                  <a:srgbClr val="21295C"/>
                </a:solidFill>
                <a:latin typeface="DejaVu Sans"/>
              </a:rPr>
              <a:t>. Тихий дрейф по кнопке не воспроизводится — его признак именно в том, что ничего явно не ломается, — поэтому учение дополняет наблюдение по сегментам и живой канал жалоб, а не заменяет их. </a:t>
            </a:r>
            <a:r>
              <a:rPr sz="1000" b="1" i="0">
                <a:solidFill>
                  <a:srgbClr val="21295C"/>
                </a:solidFill>
                <a:latin typeface="DejaVu Sans"/>
              </a:rPr>
              <a:t>Если обнаружение существует только в виде учения раз в квартал, это не процесс, а его отсутствие с длинным окном.</a:t>
            </a:r>
          </a:p>
        </p:txBody>
      </p:sp>
      <p:sp>
        <p:nvSpPr>
          <p:cNvPr id="59" name="TextBox 58"/>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39 / 54</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18872"/>
            <a:ext cx="11247120" cy="713232"/>
          </a:xfrm>
          <a:prstGeom prst="rect">
            <a:avLst/>
          </a:prstGeom>
          <a:noFill/>
        </p:spPr>
        <p:txBody>
          <a:bodyPr wrap="square" lIns="0" rIns="0" tIns="0" bIns="0" anchor="t">
            <a:spAutoFit/>
          </a:bodyPr>
          <a:lstStyle/>
          <a:p>
            <a:pPr algn="l">
              <a:lnSpc>
                <a:spcPct val="110000"/>
              </a:lnSpc>
            </a:pPr>
            <a:r>
              <a:rPr sz="2100" b="1" i="0">
                <a:solidFill>
                  <a:srgbClr val="21295C"/>
                </a:solidFill>
                <a:latin typeface="DejaVu Sans"/>
              </a:rPr>
              <a:t>Графики остаются зелёными, пока доверие уже падает недели</a:t>
            </a:r>
          </a:p>
        </p:txBody>
      </p:sp>
      <p:sp>
        <p:nvSpPr>
          <p:cNvPr id="3" name="Rounded Rectangle 2"/>
          <p:cNvSpPr/>
          <p:nvPr/>
        </p:nvSpPr>
        <p:spPr>
          <a:xfrm>
            <a:off x="502920" y="914400"/>
            <a:ext cx="2788920" cy="2084831"/>
          </a:xfrm>
          <a:prstGeom prst="roundRect">
            <a:avLst>
              <a:gd name="adj" fmla="val 14619"/>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39-grus-plan.jpg"/>
          <p:cNvPicPr>
            <a:picLocks noChangeAspect="1"/>
          </p:cNvPicPr>
          <p:nvPr/>
        </p:nvPicPr>
        <p:blipFill>
          <a:blip r:embed="rId2"/>
          <a:stretch>
            <a:fillRect/>
          </a:stretch>
        </p:blipFill>
        <p:spPr>
          <a:xfrm>
            <a:off x="612648" y="1132752"/>
            <a:ext cx="2569463" cy="1648127"/>
          </a:xfrm>
          <a:prstGeom prst="rect">
            <a:avLst/>
          </a:prstGeom>
        </p:spPr>
      </p:pic>
      <p:sp>
        <p:nvSpPr>
          <p:cNvPr id="5" name="TextBox 4"/>
          <p:cNvSpPr txBox="1"/>
          <p:nvPr/>
        </p:nvSpPr>
        <p:spPr>
          <a:xfrm>
            <a:off x="548640" y="3108960"/>
            <a:ext cx="2697480" cy="1005840"/>
          </a:xfrm>
          <a:prstGeom prst="rect">
            <a:avLst/>
          </a:prstGeom>
          <a:noFill/>
        </p:spPr>
        <p:txBody>
          <a:bodyPr wrap="square" lIns="0" rIns="0" tIns="0" bIns="0" anchor="t">
            <a:spAutoFit/>
          </a:bodyPr>
          <a:lstStyle/>
          <a:p>
            <a:pPr algn="l">
              <a:lnSpc>
                <a:spcPct val="116000"/>
              </a:lnSpc>
            </a:pPr>
            <a:r>
              <a:rPr sz="1100" b="0" i="1">
                <a:solidFill>
                  <a:srgbClr val="5B6678"/>
                </a:solidFill>
                <a:latin typeface="DejaVu Sans"/>
              </a:rPr>
              <a:t>Четыре кадра — четыре недели наблюдения. Графики не меняются, доверие уходит.</a:t>
            </a:r>
          </a:p>
        </p:txBody>
      </p:sp>
      <p:sp>
        <p:nvSpPr>
          <p:cNvPr id="6" name="Rounded Rectangle 5"/>
          <p:cNvSpPr/>
          <p:nvPr/>
        </p:nvSpPr>
        <p:spPr>
          <a:xfrm>
            <a:off x="3429000" y="914400"/>
            <a:ext cx="8275320" cy="1572768"/>
          </a:xfrm>
          <a:prstGeom prst="roundRect">
            <a:avLst>
              <a:gd name="adj" fmla="val 19379"/>
            </a:avLst>
          </a:prstGeom>
          <a:solidFill>
            <a:srgbClr val="F4F7FA"/>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39312" y="1005840"/>
            <a:ext cx="7863840" cy="274320"/>
          </a:xfrm>
          <a:prstGeom prst="rect">
            <a:avLst/>
          </a:prstGeom>
          <a:noFill/>
        </p:spPr>
        <p:txBody>
          <a:bodyPr wrap="square" lIns="0" rIns="0" tIns="0" bIns="0" anchor="t">
            <a:spAutoFit/>
          </a:bodyPr>
          <a:lstStyle/>
          <a:p>
            <a:pPr algn="l">
              <a:lnSpc>
                <a:spcPct val="105000"/>
              </a:lnSpc>
            </a:pPr>
            <a:r>
              <a:rPr sz="1400" b="1" i="0">
                <a:solidFill>
                  <a:srgbClr val="028090"/>
                </a:solidFill>
                <a:latin typeface="DejaVu Sans"/>
              </a:rPr>
              <a:t>Тихий дрейф</a:t>
            </a:r>
          </a:p>
        </p:txBody>
      </p:sp>
      <p:sp>
        <p:nvSpPr>
          <p:cNvPr id="8" name="TextBox 7"/>
          <p:cNvSpPr txBox="1"/>
          <p:nvPr/>
        </p:nvSpPr>
        <p:spPr>
          <a:xfrm>
            <a:off x="3639312" y="1316736"/>
            <a:ext cx="7863840" cy="1078992"/>
          </a:xfrm>
          <a:prstGeom prst="rect">
            <a:avLst/>
          </a:prstGeom>
          <a:noFill/>
        </p:spPr>
        <p:txBody>
          <a:bodyPr wrap="square" lIns="0" rIns="0" tIns="0" bIns="0" anchor="t">
            <a:spAutoFit/>
          </a:bodyPr>
          <a:lstStyle/>
          <a:p>
            <a:pPr algn="l">
              <a:lnSpc>
                <a:spcPct val="116000"/>
              </a:lnSpc>
            </a:pPr>
            <a:r>
              <a:rPr sz="1200" b="0" i="0">
                <a:solidFill>
                  <a:srgbClr val="21295C"/>
                </a:solidFill>
                <a:latin typeface="DejaVu Sans"/>
              </a:rPr>
              <a:t>Модель продолжает отвечать, пользователи продолжают получать ответы, графики остаются зелёными — но ответы становятся чуть менее обоснованными. Самые активные пользователи замечают регрессию раньше агрегированных метрик: к моменту, когда команда видит явную деградацию, она идёт уже недели.</a:t>
            </a:r>
          </a:p>
        </p:txBody>
      </p:sp>
      <p:sp>
        <p:nvSpPr>
          <p:cNvPr id="9" name="Rounded Rectangle 8"/>
          <p:cNvSpPr/>
          <p:nvPr/>
        </p:nvSpPr>
        <p:spPr>
          <a:xfrm>
            <a:off x="3429000" y="2615184"/>
            <a:ext cx="8275320" cy="1609344"/>
          </a:xfrm>
          <a:prstGeom prst="roundRect">
            <a:avLst>
              <a:gd name="adj" fmla="val 18939"/>
            </a:avLst>
          </a:prstGeom>
          <a:solidFill>
            <a:srgbClr val="F4F7FA"/>
          </a:solidFill>
          <a:ln w="1905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39312" y="2706624"/>
            <a:ext cx="7863840" cy="274320"/>
          </a:xfrm>
          <a:prstGeom prst="rect">
            <a:avLst/>
          </a:prstGeom>
          <a:noFill/>
        </p:spPr>
        <p:txBody>
          <a:bodyPr wrap="square" lIns="0" rIns="0" tIns="0" bIns="0" anchor="t">
            <a:spAutoFit/>
          </a:bodyPr>
          <a:lstStyle/>
          <a:p>
            <a:pPr algn="l">
              <a:lnSpc>
                <a:spcPct val="105000"/>
              </a:lnSpc>
            </a:pPr>
            <a:r>
              <a:rPr sz="1400" b="1" i="0">
                <a:solidFill>
                  <a:srgbClr val="065A82"/>
                </a:solidFill>
                <a:latin typeface="DejaVu Sans"/>
              </a:rPr>
              <a:t>Дрейф правил</a:t>
            </a:r>
          </a:p>
        </p:txBody>
      </p:sp>
      <p:sp>
        <p:nvSpPr>
          <p:cNvPr id="11" name="TextBox 10"/>
          <p:cNvSpPr txBox="1"/>
          <p:nvPr/>
        </p:nvSpPr>
        <p:spPr>
          <a:xfrm>
            <a:off x="3639312" y="3017520"/>
            <a:ext cx="7863840" cy="1115568"/>
          </a:xfrm>
          <a:prstGeom prst="rect">
            <a:avLst/>
          </a:prstGeom>
          <a:noFill/>
        </p:spPr>
        <p:txBody>
          <a:bodyPr wrap="square" lIns="0" rIns="0" tIns="0" bIns="0" anchor="t">
            <a:spAutoFit/>
          </a:bodyPr>
          <a:lstStyle/>
          <a:p>
            <a:pPr algn="l">
              <a:lnSpc>
                <a:spcPct val="116000"/>
              </a:lnSpc>
            </a:pPr>
            <a:r>
              <a:rPr sz="1200" b="0" i="0">
                <a:solidFill>
                  <a:srgbClr val="21295C"/>
                </a:solidFill>
                <a:latin typeface="DejaVu Sans"/>
              </a:rPr>
              <a:t>Защитные правила без версионирования молча устаревают: система вокруг меняется, а правила остаются прежними. Ощущение защищённости сохраняется, фактическое соответствие — нет. Лечится тем, что правила ведут как код: версионируют, проверяют, пересматривают.</a:t>
            </a:r>
          </a:p>
        </p:txBody>
      </p:sp>
      <p:sp>
        <p:nvSpPr>
          <p:cNvPr id="12" name="Rounded Rectangle 11"/>
          <p:cNvSpPr/>
          <p:nvPr/>
        </p:nvSpPr>
        <p:spPr>
          <a:xfrm>
            <a:off x="502920" y="4352544"/>
            <a:ext cx="11201400" cy="1170432"/>
          </a:xfrm>
          <a:prstGeom prst="roundRect">
            <a:avLst>
              <a:gd name="adj" fmla="val 22000"/>
            </a:avLst>
          </a:prstGeom>
          <a:solidFill>
            <a:srgbClr val="E4F1F2"/>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s42-klarna-real-source.png"/>
          <p:cNvPicPr>
            <a:picLocks noChangeAspect="1"/>
          </p:cNvPicPr>
          <p:nvPr/>
        </p:nvPicPr>
        <p:blipFill>
          <a:blip r:embed="rId3"/>
          <a:stretch>
            <a:fillRect/>
          </a:stretch>
        </p:blipFill>
        <p:spPr>
          <a:xfrm>
            <a:off x="713232" y="4745235"/>
            <a:ext cx="914400" cy="385048"/>
          </a:xfrm>
          <a:prstGeom prst="rect">
            <a:avLst/>
          </a:prstGeom>
        </p:spPr>
      </p:pic>
      <p:sp>
        <p:nvSpPr>
          <p:cNvPr id="14" name="TextBox 13"/>
          <p:cNvSpPr txBox="1"/>
          <p:nvPr/>
        </p:nvSpPr>
        <p:spPr>
          <a:xfrm>
            <a:off x="1828800" y="4462272"/>
            <a:ext cx="9637776" cy="969264"/>
          </a:xfrm>
          <a:prstGeom prst="rect">
            <a:avLst/>
          </a:prstGeom>
          <a:noFill/>
        </p:spPr>
        <p:txBody>
          <a:bodyPr wrap="square" lIns="0" rIns="0" tIns="0" bIns="0" anchor="ctr">
            <a:spAutoFit/>
          </a:bodyPr>
          <a:lstStyle/>
          <a:p>
            <a:pPr algn="l">
              <a:lnSpc>
                <a:spcPct val="115000"/>
              </a:lnSpc>
            </a:pPr>
            <a:r>
              <a:rPr sz="1200" b="1" i="0">
                <a:solidFill>
                  <a:srgbClr val="028090"/>
                </a:solidFill>
                <a:latin typeface="DejaVu Sans"/>
              </a:rPr>
              <a:t>Klarna, май 2025.  </a:t>
            </a:r>
            <a:r>
              <a:rPr sz="1200" b="0" i="0">
                <a:solidFill>
                  <a:srgbClr val="21295C"/>
                </a:solidFill>
                <a:latin typeface="DejaVu Sans"/>
              </a:rPr>
              <a:t>Компания, публично объявившая поддержку без доступа к человеку, эту политику развернула. Причина, названная руководителем: клиент должен всегда знать, что живой человек будет, если он его попросит. Автоматизация при этом никуда не ушла — ИИ по-прежнему закрывает две трети обращений. Урок не «ИИ не справился», а </a:t>
            </a:r>
            <a:r>
              <a:rPr sz="1200" b="1" i="0">
                <a:solidFill>
                  <a:srgbClr val="21295C"/>
                </a:solidFill>
                <a:latin typeface="DejaVu Sans"/>
              </a:rPr>
              <a:t>«путь к человеку — часть продукта, а не опция, которую восстанавливают задним числом»</a:t>
            </a:r>
            <a:r>
              <a:rPr sz="1200" b="0" i="0">
                <a:solidFill>
                  <a:srgbClr val="21295C"/>
                </a:solidFill>
                <a:latin typeface="DejaVu Sans"/>
              </a:rPr>
              <a:t>.</a:t>
            </a:r>
          </a:p>
        </p:txBody>
      </p:sp>
      <p:sp>
        <p:nvSpPr>
          <p:cNvPr id="15" name="Rounded Rectangle 14"/>
          <p:cNvSpPr/>
          <p:nvPr/>
        </p:nvSpPr>
        <p:spPr>
          <a:xfrm>
            <a:off x="502920" y="5632704"/>
            <a:ext cx="11201400" cy="65836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6" y="5687568"/>
            <a:ext cx="10762488" cy="548640"/>
          </a:xfrm>
          <a:prstGeom prst="rect">
            <a:avLst/>
          </a:prstGeom>
          <a:noFill/>
        </p:spPr>
        <p:txBody>
          <a:bodyPr wrap="square" lIns="0" rIns="0" tIns="0" bIns="0" anchor="ctr">
            <a:spAutoFit/>
          </a:bodyPr>
          <a:lstStyle/>
          <a:p>
            <a:pPr algn="l">
              <a:lnSpc>
                <a:spcPct val="120000"/>
              </a:lnSpc>
            </a:pPr>
            <a:r>
              <a:rPr sz="1250" b="1" i="0">
                <a:solidFill>
                  <a:srgbClr val="21295C"/>
                </a:solidFill>
                <a:latin typeface="DejaVu Sans"/>
              </a:rPr>
              <a:t>Что остаётся обязательным: путь к человеку, ответственность за ответ, дисциплина разбора инцидентов. Автономность ИИ их не отменила — она подняла их цену.</a:t>
            </a:r>
          </a:p>
        </p:txBody>
      </p:sp>
      <p:sp>
        <p:nvSpPr>
          <p:cNvPr id="17" name="TextBox 16"/>
          <p:cNvSpPr txBox="1"/>
          <p:nvPr/>
        </p:nvSpPr>
        <p:spPr>
          <a:xfrm>
            <a:off x="502920" y="6455664"/>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4"/>
              </a:rPr>
              <a:t>Bloomberg (8 мая 2025) — Klarna</a:t>
            </a:r>
            <a:r>
              <a:rPr sz="850" i="1">
                <a:solidFill>
                  <a:srgbClr val="1C7293"/>
                </a:solidFill>
                <a:latin typeface="DejaVu Sans"/>
              </a:rPr>
              <a:t>   ·   </a:t>
            </a:r>
            <a:r>
              <a:rPr sz="850" b="1" i="1">
                <a:solidFill>
                  <a:srgbClr val="065A82"/>
                </a:solidFill>
                <a:latin typeface="DejaVu Sans"/>
              </a:rPr>
              <a:t>[2] </a:t>
            </a:r>
            <a:r>
              <a:rPr sz="850" i="1">
                <a:solidFill>
                  <a:srgbClr val="1C7293"/>
                </a:solidFill>
                <a:latin typeface="DejaVu Sans"/>
                <a:hlinkClick r:id="rId5"/>
              </a:rPr>
              <a:t>CX Dive (издание о клиентском опыте) — Klarna о возврате людей</a:t>
            </a:r>
          </a:p>
        </p:txBody>
      </p:sp>
      <p:sp>
        <p:nvSpPr>
          <p:cNvPr id="18" name="TextBox 17"/>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40 / 54</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18872"/>
            <a:ext cx="11247120" cy="713232"/>
          </a:xfrm>
          <a:prstGeom prst="rect">
            <a:avLst/>
          </a:prstGeom>
          <a:noFill/>
        </p:spPr>
        <p:txBody>
          <a:bodyPr wrap="square" lIns="0" rIns="0" tIns="0" bIns="0" anchor="t">
            <a:spAutoFit/>
          </a:bodyPr>
          <a:lstStyle/>
          <a:p>
            <a:pPr algn="l">
              <a:lnSpc>
                <a:spcPct val="110000"/>
              </a:lnSpc>
            </a:pPr>
            <a:r>
              <a:rPr sz="2100" b="1" i="0">
                <a:solidFill>
                  <a:srgbClr val="21295C"/>
                </a:solidFill>
                <a:latin typeface="DejaVu Sans"/>
              </a:rPr>
              <a:t>Zillow: алгоритм скупал дома, рынок сдвинулся, бизнес закрыли</a:t>
            </a:r>
          </a:p>
        </p:txBody>
      </p:sp>
      <p:sp>
        <p:nvSpPr>
          <p:cNvPr id="3" name="Rounded Rectangle 2"/>
          <p:cNvSpPr/>
          <p:nvPr/>
        </p:nvSpPr>
        <p:spPr>
          <a:xfrm>
            <a:off x="502920" y="896112"/>
            <a:ext cx="11201400" cy="1371600"/>
          </a:xfrm>
          <a:prstGeom prst="roundRect">
            <a:avLst>
              <a:gd name="adj" fmla="val 22000"/>
            </a:avLst>
          </a:prstGeom>
          <a:solidFill>
            <a:srgbClr val="F4F7FA"/>
          </a:solidFill>
          <a:ln w="2032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58368" y="1024128"/>
            <a:ext cx="2240280" cy="1115568"/>
          </a:xfrm>
          <a:prstGeom prst="roundRect">
            <a:avLst>
              <a:gd name="adj" fmla="val 22000"/>
            </a:avLst>
          </a:prstGeom>
          <a:solidFill>
            <a:srgbClr val="FFFFFF"/>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40-zillow-real-source.png"/>
          <p:cNvPicPr>
            <a:picLocks noChangeAspect="1"/>
          </p:cNvPicPr>
          <p:nvPr/>
        </p:nvPicPr>
        <p:blipFill>
          <a:blip r:embed="rId2"/>
          <a:stretch>
            <a:fillRect/>
          </a:stretch>
        </p:blipFill>
        <p:spPr>
          <a:xfrm>
            <a:off x="749808" y="1354472"/>
            <a:ext cx="2057400" cy="454878"/>
          </a:xfrm>
          <a:prstGeom prst="rect">
            <a:avLst/>
          </a:prstGeom>
        </p:spPr>
      </p:pic>
      <p:sp>
        <p:nvSpPr>
          <p:cNvPr id="6" name="TextBox 5"/>
          <p:cNvSpPr txBox="1"/>
          <p:nvPr/>
        </p:nvSpPr>
        <p:spPr>
          <a:xfrm>
            <a:off x="3054096" y="969264"/>
            <a:ext cx="8449056" cy="237744"/>
          </a:xfrm>
          <a:prstGeom prst="rect">
            <a:avLst/>
          </a:prstGeom>
          <a:noFill/>
        </p:spPr>
        <p:txBody>
          <a:bodyPr wrap="square" lIns="0" rIns="0" tIns="0" bIns="0" anchor="t">
            <a:spAutoFit/>
          </a:bodyPr>
          <a:lstStyle/>
          <a:p>
            <a:pPr algn="l">
              <a:lnSpc>
                <a:spcPct val="100000"/>
              </a:lnSpc>
            </a:pPr>
            <a:r>
              <a:rPr sz="1000" b="1" i="0">
                <a:solidFill>
                  <a:srgbClr val="065A82"/>
                </a:solidFill>
                <a:latin typeface="DejaVu Sans"/>
              </a:rPr>
              <a:t>ЧТО СЛУЧИЛОСЬ</a:t>
            </a:r>
          </a:p>
        </p:txBody>
      </p:sp>
      <p:sp>
        <p:nvSpPr>
          <p:cNvPr id="7" name="TextBox 6"/>
          <p:cNvSpPr txBox="1"/>
          <p:nvPr/>
        </p:nvSpPr>
        <p:spPr>
          <a:xfrm>
            <a:off x="3054096" y="1225296"/>
            <a:ext cx="8449056" cy="969264"/>
          </a:xfrm>
          <a:prstGeom prst="rect">
            <a:avLst/>
          </a:prstGeom>
          <a:noFill/>
        </p:spPr>
        <p:txBody>
          <a:bodyPr wrap="square" lIns="0" rIns="0" tIns="0" bIns="0" anchor="t">
            <a:spAutoFit/>
          </a:bodyPr>
          <a:lstStyle/>
          <a:p>
            <a:pPr algn="l">
              <a:lnSpc>
                <a:spcPct val="116000"/>
              </a:lnSpc>
            </a:pPr>
            <a:r>
              <a:rPr sz="1150" b="0" i="0">
                <a:solidFill>
                  <a:srgbClr val="21295C"/>
                </a:solidFill>
                <a:latin typeface="DejaVu Sans"/>
              </a:rPr>
              <a:t>Zillow Offers — сервис, который покупал дома по алгоритмической оценке и быстро перепродавал. За третий квартал 2021 года купил 9680 домов, продал 3032. 2 ноября 2021 года компания объявила о закрытии сервиса: списания </a:t>
            </a:r>
            <a:r>
              <a:rPr sz="1150" b="1" i="0">
                <a:solidFill>
                  <a:srgbClr val="21295C"/>
                </a:solidFill>
                <a:latin typeface="DejaVu Sans"/>
              </a:rPr>
              <a:t>$304–408 млн</a:t>
            </a:r>
            <a:r>
              <a:rPr sz="1150" b="0" i="0">
                <a:solidFill>
                  <a:srgbClr val="21295C"/>
                </a:solidFill>
                <a:latin typeface="DejaVu Sans"/>
              </a:rPr>
              <a:t>, сокращение около </a:t>
            </a:r>
            <a:r>
              <a:rPr sz="1150" b="1" i="0">
                <a:solidFill>
                  <a:srgbClr val="21295C"/>
                </a:solidFill>
                <a:latin typeface="DejaVu Sans"/>
              </a:rPr>
              <a:t>2000 человек — примерно 25% штата</a:t>
            </a:r>
            <a:r>
              <a:rPr sz="1150" b="0" i="0">
                <a:solidFill>
                  <a:srgbClr val="21295C"/>
                </a:solidFill>
                <a:latin typeface="DejaVu Sans"/>
              </a:rPr>
              <a:t>. Средний убыток — около </a:t>
            </a:r>
            <a:r>
              <a:rPr sz="1150" b="1" i="0">
                <a:solidFill>
                  <a:srgbClr val="21295C"/>
                </a:solidFill>
                <a:latin typeface="DejaVu Sans"/>
              </a:rPr>
              <a:t>$80 тыс. на дом</a:t>
            </a:r>
            <a:r>
              <a:rPr sz="1150" b="0" i="0">
                <a:solidFill>
                  <a:srgbClr val="21295C"/>
                </a:solidFill>
                <a:latin typeface="DejaVu Sans"/>
              </a:rPr>
              <a:t>.</a:t>
            </a:r>
          </a:p>
        </p:txBody>
      </p:sp>
      <p:sp>
        <p:nvSpPr>
          <p:cNvPr id="8" name="Rounded Rectangle 7"/>
          <p:cNvSpPr/>
          <p:nvPr/>
        </p:nvSpPr>
        <p:spPr>
          <a:xfrm>
            <a:off x="502920" y="2377440"/>
            <a:ext cx="5440680" cy="2395728"/>
          </a:xfrm>
          <a:prstGeom prst="roundRect">
            <a:avLst>
              <a:gd name="adj" fmla="val 12722"/>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zillow.png"/>
          <p:cNvPicPr>
            <a:picLocks noChangeAspect="1"/>
          </p:cNvPicPr>
          <p:nvPr/>
        </p:nvPicPr>
        <p:blipFill>
          <a:blip r:embed="rId3"/>
          <a:stretch>
            <a:fillRect/>
          </a:stretch>
        </p:blipFill>
        <p:spPr>
          <a:xfrm>
            <a:off x="708659" y="2615184"/>
            <a:ext cx="5029200" cy="1920240"/>
          </a:xfrm>
          <a:prstGeom prst="rect">
            <a:avLst/>
          </a:prstGeom>
        </p:spPr>
      </p:pic>
      <p:sp>
        <p:nvSpPr>
          <p:cNvPr id="10" name="Rounded Rectangle 9"/>
          <p:cNvSpPr/>
          <p:nvPr/>
        </p:nvSpPr>
        <p:spPr>
          <a:xfrm>
            <a:off x="6126480" y="2377440"/>
            <a:ext cx="5577840" cy="2395728"/>
          </a:xfrm>
          <a:prstGeom prst="roundRect">
            <a:avLst>
              <a:gd name="adj" fmla="val 12722"/>
            </a:avLst>
          </a:prstGeom>
          <a:solidFill>
            <a:srgbClr val="F4F7FA"/>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27648" y="2468880"/>
            <a:ext cx="5175504" cy="420624"/>
          </a:xfrm>
          <a:prstGeom prst="rect">
            <a:avLst/>
          </a:prstGeom>
          <a:noFill/>
        </p:spPr>
        <p:txBody>
          <a:bodyPr wrap="square" lIns="0" rIns="0" tIns="0" bIns="0" anchor="t">
            <a:spAutoFit/>
          </a:bodyPr>
          <a:lstStyle/>
          <a:p>
            <a:pPr algn="l">
              <a:lnSpc>
                <a:spcPct val="108000"/>
              </a:lnSpc>
            </a:pPr>
            <a:r>
              <a:rPr sz="1000" b="1" i="0">
                <a:solidFill>
                  <a:srgbClr val="028090"/>
                </a:solidFill>
                <a:latin typeface="DejaVu Sans"/>
              </a:rPr>
              <a:t>РАЗБОР: ЭТО ПРОВАЛ ЭКСПЛУАТАЦИИ,</a:t>
            </a:r>
          </a:p>
          <a:p>
            <a:pPr algn="l">
              <a:lnSpc>
                <a:spcPct val="108000"/>
              </a:lnSpc>
            </a:pPr>
            <a:r>
              <a:rPr sz="1000" b="1" i="0">
                <a:solidFill>
                  <a:srgbClr val="028090"/>
                </a:solidFill>
                <a:latin typeface="DejaVu Sans"/>
              </a:rPr>
              <a:t>А НЕ ИЗМЕРЕНИЯ</a:t>
            </a:r>
          </a:p>
        </p:txBody>
      </p:sp>
      <p:sp>
        <p:nvSpPr>
          <p:cNvPr id="12" name="TextBox 11"/>
          <p:cNvSpPr txBox="1"/>
          <p:nvPr/>
        </p:nvSpPr>
        <p:spPr>
          <a:xfrm>
            <a:off x="6327648" y="2944368"/>
            <a:ext cx="5175504" cy="1737360"/>
          </a:xfrm>
          <a:prstGeom prst="rect">
            <a:avLst/>
          </a:prstGeom>
          <a:noFill/>
        </p:spPr>
        <p:txBody>
          <a:bodyPr wrap="square" lIns="0" rIns="0" tIns="0" bIns="0" anchor="t">
            <a:spAutoFit/>
          </a:bodyPr>
          <a:lstStyle/>
          <a:p>
            <a:pPr algn="l">
              <a:lnSpc>
                <a:spcPct val="116000"/>
              </a:lnSpc>
            </a:pPr>
            <a:r>
              <a:rPr sz="1100" b="0" i="0">
                <a:solidFill>
                  <a:srgbClr val="21295C"/>
                </a:solidFill>
                <a:latin typeface="DejaVu Sans"/>
              </a:rPr>
              <a:t>Модель была откалибрована корректно — на исторически стабильных данных. Не было другого: наблюдения за точностью в реальном времени и автоматической остановки при её падении.</a:t>
            </a:r>
          </a:p>
          <a:p>
            <a:pPr algn="l">
              <a:lnSpc>
                <a:spcPct val="116000"/>
              </a:lnSpc>
            </a:pPr>
            <a:r>
              <a:rPr sz="1100" b="0" i="0">
                <a:solidFill>
                  <a:srgbClr val="21295C"/>
                </a:solidFill>
                <a:latin typeface="DejaVu Sans"/>
              </a:rPr>
              <a:t/>
            </a:r>
          </a:p>
          <a:p>
            <a:pPr algn="l">
              <a:lnSpc>
                <a:spcPct val="116000"/>
              </a:lnSpc>
            </a:pPr>
            <a:r>
              <a:rPr sz="1100" b="0" i="0">
                <a:solidFill>
                  <a:srgbClr val="21295C"/>
                </a:solidFill>
                <a:latin typeface="DejaVu Sans"/>
              </a:rPr>
              <a:t>Вернитесь к двум окнам: у Zillow не было ни одного. Короткого — резкий рост ошибки прошёл незамеченным. Длинного — квартальная отчётность есть, но раз в три месяца это не окно наблюдения, а исторический архив: дома уже куплены.</a:t>
            </a:r>
          </a:p>
        </p:txBody>
      </p:sp>
      <p:sp>
        <p:nvSpPr>
          <p:cNvPr id="13" name="Rounded Rectangle 12"/>
          <p:cNvSpPr/>
          <p:nvPr/>
        </p:nvSpPr>
        <p:spPr>
          <a:xfrm>
            <a:off x="502920" y="4919472"/>
            <a:ext cx="11201400" cy="960120"/>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2376" y="4974336"/>
            <a:ext cx="10762488" cy="850392"/>
          </a:xfrm>
          <a:prstGeom prst="rect">
            <a:avLst/>
          </a:prstGeom>
          <a:noFill/>
        </p:spPr>
        <p:txBody>
          <a:bodyPr wrap="square" lIns="0" rIns="0" tIns="0" bIns="0" anchor="ctr">
            <a:spAutoFit/>
          </a:bodyPr>
          <a:lstStyle/>
          <a:p>
            <a:pPr algn="l">
              <a:lnSpc>
                <a:spcPct val="120000"/>
              </a:lnSpc>
            </a:pPr>
            <a:r>
              <a:rPr sz="1250" b="1" i="0">
                <a:solidFill>
                  <a:srgbClr val="21295C"/>
                </a:solidFill>
                <a:latin typeface="DejaVu Sans"/>
              </a:rPr>
              <a:t>Критерий: модель, которая сама распоряжается деньгами, требует наблюдения за точностью в реальном времени и порога, по которому она останавливается без участия человека. Альтернатива: алгоритмическая оценка как вход, а решение выше порога риска — за человеком.</a:t>
            </a:r>
          </a:p>
        </p:txBody>
      </p:sp>
      <p:sp>
        <p:nvSpPr>
          <p:cNvPr id="15" name="TextBox 14"/>
          <p:cNvSpPr txBox="1"/>
          <p:nvPr/>
        </p:nvSpPr>
        <p:spPr>
          <a:xfrm>
            <a:off x="502920" y="6455664"/>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4"/>
              </a:rPr>
              <a:t>GeekWire (нояб. 2021) — Zillow Offers</a:t>
            </a:r>
            <a:r>
              <a:rPr sz="850" i="1">
                <a:solidFill>
                  <a:srgbClr val="1C7293"/>
                </a:solidFill>
                <a:latin typeface="DejaVu Sans"/>
              </a:rPr>
              <a:t>   ·   </a:t>
            </a:r>
            <a:r>
              <a:rPr sz="850" b="1" i="1">
                <a:solidFill>
                  <a:srgbClr val="065A82"/>
                </a:solidFill>
                <a:latin typeface="DejaVu Sans"/>
              </a:rPr>
              <a:t>[2] </a:t>
            </a:r>
            <a:r>
              <a:rPr sz="850" i="1">
                <a:solidFill>
                  <a:srgbClr val="1C7293"/>
                </a:solidFill>
                <a:latin typeface="DejaVu Sans"/>
                <a:hlinkClick r:id="rId5"/>
              </a:rPr>
              <a:t>Годовой отчёт Zillow Group за 2021 год (форма 10-K)</a:t>
            </a:r>
          </a:p>
        </p:txBody>
      </p:sp>
      <p:sp>
        <p:nvSpPr>
          <p:cNvPr id="16" name="TextBox 15"/>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41 / 54</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18872"/>
            <a:ext cx="11247120" cy="713232"/>
          </a:xfrm>
          <a:prstGeom prst="rect">
            <a:avLst/>
          </a:prstGeom>
          <a:noFill/>
        </p:spPr>
        <p:txBody>
          <a:bodyPr wrap="square" lIns="0" rIns="0" tIns="0" bIns="0" anchor="t">
            <a:spAutoFit/>
          </a:bodyPr>
          <a:lstStyle/>
          <a:p>
            <a:pPr algn="l">
              <a:lnSpc>
                <a:spcPct val="110000"/>
              </a:lnSpc>
            </a:pPr>
            <a:r>
              <a:rPr sz="2100" b="1" i="0">
                <a:solidFill>
                  <a:srgbClr val="21295C"/>
                </a:solidFill>
                <a:latin typeface="DejaVu Sans"/>
              </a:rPr>
              <a:t>Air Canada: чат-бот пообещал скидку, которой нет — платит компания</a:t>
            </a:r>
          </a:p>
        </p:txBody>
      </p:sp>
      <p:sp>
        <p:nvSpPr>
          <p:cNvPr id="3" name="Rounded Rectangle 2"/>
          <p:cNvSpPr/>
          <p:nvPr/>
        </p:nvSpPr>
        <p:spPr>
          <a:xfrm>
            <a:off x="502920" y="896112"/>
            <a:ext cx="11201400" cy="1335024"/>
          </a:xfrm>
          <a:prstGeom prst="roundRect">
            <a:avLst>
              <a:gd name="adj" fmla="val 22000"/>
            </a:avLst>
          </a:prstGeom>
          <a:solidFill>
            <a:srgbClr val="F4F7FA"/>
          </a:solidFill>
          <a:ln w="2032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969264"/>
            <a:ext cx="10780776" cy="237744"/>
          </a:xfrm>
          <a:prstGeom prst="rect">
            <a:avLst/>
          </a:prstGeom>
          <a:noFill/>
        </p:spPr>
        <p:txBody>
          <a:bodyPr wrap="square" lIns="0" rIns="0" tIns="0" bIns="0" anchor="t">
            <a:spAutoFit/>
          </a:bodyPr>
          <a:lstStyle/>
          <a:p>
            <a:pPr algn="l">
              <a:lnSpc>
                <a:spcPct val="100000"/>
              </a:lnSpc>
            </a:pPr>
            <a:r>
              <a:rPr sz="1000" b="1" i="0">
                <a:solidFill>
                  <a:srgbClr val="065A82"/>
                </a:solidFill>
                <a:latin typeface="DejaVu Sans"/>
              </a:rPr>
              <a:t>ЧТО СЛУЧИЛОСЬ</a:t>
            </a:r>
          </a:p>
        </p:txBody>
      </p:sp>
      <p:sp>
        <p:nvSpPr>
          <p:cNvPr id="5" name="TextBox 4"/>
          <p:cNvSpPr txBox="1"/>
          <p:nvPr/>
        </p:nvSpPr>
        <p:spPr>
          <a:xfrm>
            <a:off x="713232" y="1225296"/>
            <a:ext cx="10780776" cy="932688"/>
          </a:xfrm>
          <a:prstGeom prst="rect">
            <a:avLst/>
          </a:prstGeom>
          <a:noFill/>
        </p:spPr>
        <p:txBody>
          <a:bodyPr wrap="square" lIns="0" rIns="0" tIns="0" bIns="0" anchor="t">
            <a:spAutoFit/>
          </a:bodyPr>
          <a:lstStyle/>
          <a:p>
            <a:pPr algn="l">
              <a:lnSpc>
                <a:spcPct val="116000"/>
              </a:lnSpc>
            </a:pPr>
            <a:r>
              <a:rPr sz="1150" b="0" i="0">
                <a:solidFill>
                  <a:srgbClr val="21295C"/>
                </a:solidFill>
                <a:latin typeface="DejaVu Sans"/>
              </a:rPr>
              <a:t>В ноябре 2022 года чат-бот на сайте Air Canada сообщил клиенту, что тариф по случаю утраты близкого можно оформить ретроактивно в течение 90 дней. Действующая политика компании этого не допускала. Клиент купил билеты по полной цене, а в скидке ему затем отказали. В феврале 2024 года трибунал Британской Колумбии взыскал с компании </a:t>
            </a:r>
            <a:r>
              <a:rPr sz="1150" b="1" i="0">
                <a:solidFill>
                  <a:srgbClr val="21295C"/>
                </a:solidFill>
                <a:latin typeface="DejaVu Sans"/>
              </a:rPr>
              <a:t>812,02 канадского доллара</a:t>
            </a:r>
            <a:r>
              <a:rPr sz="1150" b="0" i="0">
                <a:solidFill>
                  <a:srgbClr val="21295C"/>
                </a:solidFill>
                <a:latin typeface="DejaVu Sans"/>
              </a:rPr>
              <a:t> — разницу в цене билетов, проценты и пошлину.</a:t>
            </a:r>
          </a:p>
        </p:txBody>
      </p:sp>
      <p:sp>
        <p:nvSpPr>
          <p:cNvPr id="6" name="Rounded Rectangle 5"/>
          <p:cNvSpPr/>
          <p:nvPr/>
        </p:nvSpPr>
        <p:spPr>
          <a:xfrm>
            <a:off x="502920" y="2340864"/>
            <a:ext cx="4206240" cy="2414016"/>
          </a:xfrm>
          <a:prstGeom prst="roundRect">
            <a:avLst>
              <a:gd name="adj" fmla="val 12626"/>
            </a:avLst>
          </a:prstGeom>
          <a:solidFill>
            <a:srgbClr val="F4F7FA"/>
          </a:solidFill>
          <a:ln w="2032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 y="2414016"/>
            <a:ext cx="3803904" cy="219456"/>
          </a:xfrm>
          <a:prstGeom prst="rect">
            <a:avLst/>
          </a:prstGeom>
          <a:noFill/>
        </p:spPr>
        <p:txBody>
          <a:bodyPr wrap="square" lIns="0" rIns="0" tIns="0" bIns="0" anchor="t">
            <a:spAutoFit/>
          </a:bodyPr>
          <a:lstStyle/>
          <a:p>
            <a:pPr algn="l">
              <a:lnSpc>
                <a:spcPct val="100000"/>
              </a:lnSpc>
            </a:pPr>
            <a:r>
              <a:rPr sz="1000" b="1" i="0">
                <a:solidFill>
                  <a:srgbClr val="065A82"/>
                </a:solidFill>
                <a:latin typeface="DejaVu Sans"/>
              </a:rPr>
              <a:t>ЧТО РАЗОШЛОСЬ</a:t>
            </a:r>
          </a:p>
        </p:txBody>
      </p:sp>
      <p:sp>
        <p:nvSpPr>
          <p:cNvPr id="8" name="Rounded Rectangle 7"/>
          <p:cNvSpPr/>
          <p:nvPr/>
        </p:nvSpPr>
        <p:spPr>
          <a:xfrm>
            <a:off x="704088" y="2688336"/>
            <a:ext cx="3803904" cy="932688"/>
          </a:xfrm>
          <a:prstGeom prst="roundRect">
            <a:avLst>
              <a:gd name="adj" fmla="val 10000"/>
            </a:avLst>
          </a:prstGeom>
          <a:solidFill>
            <a:srgbClr val="FFFFFF"/>
          </a:solidFill>
          <a:ln w="1651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104" y="2734056"/>
            <a:ext cx="3547872" cy="219456"/>
          </a:xfrm>
          <a:prstGeom prst="rect">
            <a:avLst/>
          </a:prstGeom>
          <a:noFill/>
        </p:spPr>
        <p:txBody>
          <a:bodyPr wrap="square" lIns="0" rIns="0" tIns="0" bIns="0" anchor="t">
            <a:spAutoFit/>
          </a:bodyPr>
          <a:lstStyle/>
          <a:p>
            <a:pPr algn="l">
              <a:lnSpc>
                <a:spcPct val="115000"/>
              </a:lnSpc>
            </a:pPr>
            <a:r>
              <a:rPr sz="1000" b="1" i="0">
                <a:solidFill>
                  <a:srgbClr val="1C7293"/>
                </a:solidFill>
                <a:latin typeface="DejaVu Sans"/>
              </a:rPr>
              <a:t>Ответил чат-бот</a:t>
            </a:r>
          </a:p>
        </p:txBody>
      </p:sp>
      <p:sp>
        <p:nvSpPr>
          <p:cNvPr id="10" name="TextBox 9"/>
          <p:cNvSpPr txBox="1"/>
          <p:nvPr/>
        </p:nvSpPr>
        <p:spPr>
          <a:xfrm>
            <a:off x="832104" y="2971800"/>
            <a:ext cx="3547872" cy="603504"/>
          </a:xfrm>
          <a:prstGeom prst="rect">
            <a:avLst/>
          </a:prstGeom>
          <a:noFill/>
        </p:spPr>
        <p:txBody>
          <a:bodyPr wrap="square" lIns="0" rIns="0" tIns="0" bIns="0" anchor="t">
            <a:spAutoFit/>
          </a:bodyPr>
          <a:lstStyle/>
          <a:p>
            <a:pPr algn="l">
              <a:lnSpc>
                <a:spcPct val="112000"/>
              </a:lnSpc>
            </a:pPr>
            <a:r>
              <a:rPr sz="1050" b="0" i="0">
                <a:solidFill>
                  <a:srgbClr val="21295C"/>
                </a:solidFill>
                <a:latin typeface="DejaVu Sans"/>
              </a:rPr>
              <a:t>«Купите билет по полной цене, а скидку по тарифу на случай утраты близкого запросите в течение 90 дней».</a:t>
            </a:r>
          </a:p>
        </p:txBody>
      </p:sp>
      <p:sp>
        <p:nvSpPr>
          <p:cNvPr id="11" name="TextBox 10"/>
          <p:cNvSpPr txBox="1"/>
          <p:nvPr/>
        </p:nvSpPr>
        <p:spPr>
          <a:xfrm>
            <a:off x="704088" y="3675887"/>
            <a:ext cx="3803904" cy="219456"/>
          </a:xfrm>
          <a:prstGeom prst="rect">
            <a:avLst/>
          </a:prstGeom>
          <a:noFill/>
        </p:spPr>
        <p:txBody>
          <a:bodyPr wrap="square" lIns="0" rIns="0" tIns="0" bIns="0" anchor="t">
            <a:spAutoFit/>
          </a:bodyPr>
          <a:lstStyle/>
          <a:p>
            <a:pPr algn="ctr">
              <a:lnSpc>
                <a:spcPct val="115000"/>
              </a:lnSpc>
            </a:pPr>
            <a:r>
              <a:rPr sz="950" b="0" i="1">
                <a:solidFill>
                  <a:srgbClr val="5B6678"/>
                </a:solidFill>
                <a:latin typeface="DejaVu Sans"/>
              </a:rPr>
              <a:t>а на соседней странице того же сайта</a:t>
            </a:r>
          </a:p>
        </p:txBody>
      </p:sp>
      <p:sp>
        <p:nvSpPr>
          <p:cNvPr id="12" name="Rounded Rectangle 11"/>
          <p:cNvSpPr/>
          <p:nvPr/>
        </p:nvSpPr>
        <p:spPr>
          <a:xfrm>
            <a:off x="704088" y="3913632"/>
            <a:ext cx="3803904" cy="768096"/>
          </a:xfrm>
          <a:prstGeom prst="roundRect">
            <a:avLst>
              <a:gd name="adj" fmla="val 10000"/>
            </a:avLst>
          </a:prstGeom>
          <a:solidFill>
            <a:srgbClr val="FDF3DC"/>
          </a:solidFill>
          <a:ln w="1778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2104" y="3959352"/>
            <a:ext cx="3547872" cy="219456"/>
          </a:xfrm>
          <a:prstGeom prst="rect">
            <a:avLst/>
          </a:prstGeom>
          <a:noFill/>
        </p:spPr>
        <p:txBody>
          <a:bodyPr wrap="square" lIns="0" rIns="0" tIns="0" bIns="0" anchor="t">
            <a:spAutoFit/>
          </a:bodyPr>
          <a:lstStyle/>
          <a:p>
            <a:pPr algn="l">
              <a:lnSpc>
                <a:spcPct val="115000"/>
              </a:lnSpc>
            </a:pPr>
            <a:r>
              <a:rPr sz="1000" b="1" i="0">
                <a:solidFill>
                  <a:srgbClr val="21295C"/>
                </a:solidFill>
                <a:latin typeface="DejaVu Sans"/>
              </a:rPr>
              <a:t>Действующая политика компании</a:t>
            </a:r>
          </a:p>
        </p:txBody>
      </p:sp>
      <p:sp>
        <p:nvSpPr>
          <p:cNvPr id="14" name="TextBox 13"/>
          <p:cNvSpPr txBox="1"/>
          <p:nvPr/>
        </p:nvSpPr>
        <p:spPr>
          <a:xfrm>
            <a:off x="832104" y="4197096"/>
            <a:ext cx="3547872" cy="438912"/>
          </a:xfrm>
          <a:prstGeom prst="rect">
            <a:avLst/>
          </a:prstGeom>
          <a:noFill/>
        </p:spPr>
        <p:txBody>
          <a:bodyPr wrap="square" lIns="0" rIns="0" tIns="0" bIns="0" anchor="t">
            <a:spAutoFit/>
          </a:bodyPr>
          <a:lstStyle/>
          <a:p>
            <a:pPr algn="l">
              <a:lnSpc>
                <a:spcPct val="112000"/>
              </a:lnSpc>
            </a:pPr>
            <a:r>
              <a:rPr sz="1050" b="0" i="0">
                <a:solidFill>
                  <a:srgbClr val="21295C"/>
                </a:solidFill>
                <a:latin typeface="DejaVu Sans"/>
              </a:rPr>
              <a:t>Тариф не применяется к уже состоявшейся поездке — задним числом его не оформляют.</a:t>
            </a:r>
          </a:p>
        </p:txBody>
      </p:sp>
      <p:sp>
        <p:nvSpPr>
          <p:cNvPr id="15" name="Rounded Rectangle 14"/>
          <p:cNvSpPr/>
          <p:nvPr/>
        </p:nvSpPr>
        <p:spPr>
          <a:xfrm>
            <a:off x="4892040" y="2340864"/>
            <a:ext cx="6812280" cy="2414016"/>
          </a:xfrm>
          <a:prstGeom prst="roundRect">
            <a:avLst>
              <a:gd name="adj" fmla="val 12626"/>
            </a:avLst>
          </a:prstGeom>
          <a:solidFill>
            <a:srgbClr val="F4F7FA"/>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93208" y="2414016"/>
            <a:ext cx="6409944" cy="219456"/>
          </a:xfrm>
          <a:prstGeom prst="rect">
            <a:avLst/>
          </a:prstGeom>
          <a:noFill/>
        </p:spPr>
        <p:txBody>
          <a:bodyPr wrap="square" lIns="0" rIns="0" tIns="0" bIns="0" anchor="t">
            <a:spAutoFit/>
          </a:bodyPr>
          <a:lstStyle/>
          <a:p>
            <a:pPr algn="l">
              <a:lnSpc>
                <a:spcPct val="100000"/>
              </a:lnSpc>
            </a:pPr>
            <a:r>
              <a:rPr sz="1000" b="1" i="0">
                <a:solidFill>
                  <a:srgbClr val="028090"/>
                </a:solidFill>
                <a:latin typeface="DejaVu Sans"/>
              </a:rPr>
              <a:t>РАЗБОР</a:t>
            </a:r>
          </a:p>
        </p:txBody>
      </p:sp>
      <p:sp>
        <p:nvSpPr>
          <p:cNvPr id="17" name="TextBox 16"/>
          <p:cNvSpPr txBox="1"/>
          <p:nvPr/>
        </p:nvSpPr>
        <p:spPr>
          <a:xfrm>
            <a:off x="5093208" y="2651760"/>
            <a:ext cx="6409944" cy="2029968"/>
          </a:xfrm>
          <a:prstGeom prst="rect">
            <a:avLst/>
          </a:prstGeom>
          <a:noFill/>
        </p:spPr>
        <p:txBody>
          <a:bodyPr wrap="square" lIns="0" rIns="0" tIns="0" bIns="0" anchor="t">
            <a:spAutoFit/>
          </a:bodyPr>
          <a:lstStyle/>
          <a:p>
            <a:pPr algn="l">
              <a:lnSpc>
                <a:spcPct val="112000"/>
              </a:lnSpc>
            </a:pPr>
            <a:r>
              <a:rPr sz="1060" b="0" i="0">
                <a:solidFill>
                  <a:srgbClr val="21295C"/>
                </a:solidFill>
                <a:latin typeface="DejaVu Sans"/>
              </a:rPr>
              <a:t>Защита: чат-бот — отдельное юридическое лицо, отвечающее за свои действия само. Трибунал назвал это примечательным заявлением и отклонил: компания отвечает за всю информацию на своём сайте, исходит ли она из статичной страницы или из чат-бота.</a:t>
            </a:r>
          </a:p>
          <a:p>
            <a:pPr algn="l">
              <a:lnSpc>
                <a:spcPct val="112000"/>
              </a:lnSpc>
            </a:pPr>
            <a:r>
              <a:rPr sz="1060" b="0" i="0">
                <a:solidFill>
                  <a:srgbClr val="21295C"/>
                </a:solidFill>
                <a:latin typeface="DejaVu Sans"/>
              </a:rPr>
              <a:t/>
            </a:r>
          </a:p>
          <a:p>
            <a:pPr algn="l">
              <a:lnSpc>
                <a:spcPct val="112000"/>
              </a:lnSpc>
            </a:pPr>
            <a:r>
              <a:rPr sz="1060" b="0" i="0">
                <a:solidFill>
                  <a:srgbClr val="21295C"/>
                </a:solidFill>
                <a:latin typeface="DejaVu Sans"/>
              </a:rPr>
              <a:t>Операционная причина: не было процесса, который сверяет базу знаний бота с действующей политикой. Содержимое поддержки жило отдельно от единого источника правды.</a:t>
            </a:r>
          </a:p>
          <a:p>
            <a:pPr algn="l">
              <a:lnSpc>
                <a:spcPct val="112000"/>
              </a:lnSpc>
            </a:pPr>
            <a:r>
              <a:rPr sz="1060" b="0" i="0">
                <a:solidFill>
                  <a:srgbClr val="21295C"/>
                </a:solidFill>
                <a:latin typeface="DejaVu Sans"/>
              </a:rPr>
              <a:t/>
            </a:r>
          </a:p>
          <a:p>
            <a:pPr algn="l">
              <a:lnSpc>
                <a:spcPct val="112000"/>
              </a:lnSpc>
            </a:pPr>
            <a:r>
              <a:rPr sz="1060" b="0" i="0">
                <a:solidFill>
                  <a:srgbClr val="21295C"/>
                </a:solidFill>
                <a:latin typeface="DejaVu Sans"/>
              </a:rPr>
              <a:t>Сумма мала важным образом: это цена двух билетов, и скромность суммы делает прецедент чистым.</a:t>
            </a:r>
          </a:p>
        </p:txBody>
      </p:sp>
      <p:sp>
        <p:nvSpPr>
          <p:cNvPr id="18" name="Rounded Rectangle 17"/>
          <p:cNvSpPr/>
          <p:nvPr/>
        </p:nvSpPr>
        <p:spPr>
          <a:xfrm>
            <a:off x="502920" y="4901184"/>
            <a:ext cx="11201400" cy="84124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2376" y="4956048"/>
            <a:ext cx="10762488" cy="731520"/>
          </a:xfrm>
          <a:prstGeom prst="rect">
            <a:avLst/>
          </a:prstGeom>
          <a:noFill/>
        </p:spPr>
        <p:txBody>
          <a:bodyPr wrap="square" lIns="0" rIns="0" tIns="0" bIns="0" anchor="ctr">
            <a:spAutoFit/>
          </a:bodyPr>
          <a:lstStyle/>
          <a:p>
            <a:pPr algn="l">
              <a:lnSpc>
                <a:spcPct val="120000"/>
              </a:lnSpc>
            </a:pPr>
            <a:r>
              <a:rPr sz="1250" b="1" i="0">
                <a:solidFill>
                  <a:srgbClr val="21295C"/>
                </a:solidFill>
                <a:latin typeface="DejaVu Sans"/>
              </a:rPr>
              <a:t>Вы владеете каждым ответом бота — не больше, но и ни на грамм меньше ответственности, чем за любой другой контент сайта. «Бот ошибся» защитой не является.</a:t>
            </a:r>
          </a:p>
        </p:txBody>
      </p:sp>
      <p:sp>
        <p:nvSpPr>
          <p:cNvPr id="20" name="TextBox 19"/>
          <p:cNvSpPr txBox="1"/>
          <p:nvPr/>
        </p:nvSpPr>
        <p:spPr>
          <a:xfrm>
            <a:off x="502920" y="6455664"/>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2"/>
              </a:rPr>
              <a:t>Решение трибунала Британской Колумбии по делу Моффатт против Air Canada (2024)</a:t>
            </a:r>
            <a:r>
              <a:rPr sz="850" i="1">
                <a:solidFill>
                  <a:srgbClr val="1C7293"/>
                </a:solidFill>
                <a:latin typeface="DejaVu Sans"/>
              </a:rPr>
              <a:t>   ·   </a:t>
            </a:r>
            <a:r>
              <a:rPr sz="850" b="1" i="1">
                <a:solidFill>
                  <a:srgbClr val="065A82"/>
                </a:solidFill>
                <a:latin typeface="DejaVu Sans"/>
              </a:rPr>
              <a:t>[2] </a:t>
            </a:r>
            <a:r>
              <a:rPr sz="850" i="1">
                <a:solidFill>
                  <a:srgbClr val="1C7293"/>
                </a:solidFill>
                <a:latin typeface="DejaVu Sans"/>
                <a:hlinkClick r:id="rId3"/>
              </a:rPr>
              <a:t>Американская ассоциация юристов — комментарий к делу</a:t>
            </a:r>
          </a:p>
        </p:txBody>
      </p:sp>
      <p:sp>
        <p:nvSpPr>
          <p:cNvPr id="21" name="TextBox 20"/>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42 / 54</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18872"/>
            <a:ext cx="11247120" cy="713232"/>
          </a:xfrm>
          <a:prstGeom prst="rect">
            <a:avLst/>
          </a:prstGeom>
          <a:noFill/>
        </p:spPr>
        <p:txBody>
          <a:bodyPr wrap="square" lIns="0" rIns="0" tIns="0" bIns="0" anchor="t">
            <a:spAutoFit/>
          </a:bodyPr>
          <a:lstStyle/>
          <a:p>
            <a:pPr algn="l">
              <a:lnSpc>
                <a:spcPct val="110000"/>
              </a:lnSpc>
            </a:pPr>
            <a:r>
              <a:rPr sz="2100" b="1" i="0">
                <a:solidFill>
                  <a:srgbClr val="21295C"/>
                </a:solidFill>
                <a:latin typeface="DejaVu Sans"/>
              </a:rPr>
              <a:t>Нью-Йорк: городской бот 10 раз из 10 посоветовал нарушить закон</a:t>
            </a:r>
          </a:p>
        </p:txBody>
      </p:sp>
      <p:sp>
        <p:nvSpPr>
          <p:cNvPr id="3" name="Rounded Rectangle 2"/>
          <p:cNvSpPr/>
          <p:nvPr/>
        </p:nvSpPr>
        <p:spPr>
          <a:xfrm>
            <a:off x="502920" y="896112"/>
            <a:ext cx="11201400" cy="1609344"/>
          </a:xfrm>
          <a:prstGeom prst="roundRect">
            <a:avLst>
              <a:gd name="adj" fmla="val 18939"/>
            </a:avLst>
          </a:prstGeom>
          <a:solidFill>
            <a:srgbClr val="F4F7FA"/>
          </a:solidFill>
          <a:ln w="2032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969264"/>
            <a:ext cx="10780776" cy="237744"/>
          </a:xfrm>
          <a:prstGeom prst="rect">
            <a:avLst/>
          </a:prstGeom>
          <a:noFill/>
        </p:spPr>
        <p:txBody>
          <a:bodyPr wrap="square" lIns="0" rIns="0" tIns="0" bIns="0" anchor="t">
            <a:spAutoFit/>
          </a:bodyPr>
          <a:lstStyle/>
          <a:p>
            <a:pPr algn="l">
              <a:lnSpc>
                <a:spcPct val="100000"/>
              </a:lnSpc>
            </a:pPr>
            <a:r>
              <a:rPr sz="1000" b="1" i="0">
                <a:solidFill>
                  <a:srgbClr val="065A82"/>
                </a:solidFill>
                <a:latin typeface="DejaVu Sans"/>
              </a:rPr>
              <a:t>ЧТО СЛУЧИЛОСЬ</a:t>
            </a:r>
          </a:p>
        </p:txBody>
      </p:sp>
      <p:sp>
        <p:nvSpPr>
          <p:cNvPr id="5" name="TextBox 4"/>
          <p:cNvSpPr txBox="1"/>
          <p:nvPr/>
        </p:nvSpPr>
        <p:spPr>
          <a:xfrm>
            <a:off x="713232" y="1225296"/>
            <a:ext cx="10780776" cy="1207008"/>
          </a:xfrm>
          <a:prstGeom prst="rect">
            <a:avLst/>
          </a:prstGeom>
          <a:noFill/>
        </p:spPr>
        <p:txBody>
          <a:bodyPr wrap="square" lIns="0" rIns="0" tIns="0" bIns="0" anchor="t">
            <a:spAutoFit/>
          </a:bodyPr>
          <a:lstStyle/>
          <a:p>
            <a:pPr algn="l">
              <a:lnSpc>
                <a:spcPct val="116000"/>
              </a:lnSpc>
            </a:pPr>
            <a:r>
              <a:rPr sz="1150" b="0" i="0">
                <a:solidFill>
                  <a:srgbClr val="21295C"/>
                </a:solidFill>
                <a:latin typeface="DejaVu Sans"/>
              </a:rPr>
              <a:t>Город Нью-Йорк выпустил чат-бот для владельцев малого бизнеса — отвечать на вопросы о городских правилах. В марте 2024 года расследование показало, что бот советовал работодателям забирать чаевые сотрудников и увольнять за жалобу на домогательство, а владельцам жилья — отказывать съёмщикам с жилищными сертификатами. Всё это противоречит действующим нормам, и совет давался уверенно, в форме инструкции. Все </a:t>
            </a:r>
            <a:r>
              <a:rPr sz="1150" b="1" i="0">
                <a:solidFill>
                  <a:srgbClr val="21295C"/>
                </a:solidFill>
                <a:latin typeface="DejaVu Sans"/>
              </a:rPr>
              <a:t>10 из 10</a:t>
            </a:r>
            <a:r>
              <a:rPr sz="1150" b="0" i="0">
                <a:solidFill>
                  <a:srgbClr val="21295C"/>
                </a:solidFill>
                <a:latin typeface="DejaVu Sans"/>
              </a:rPr>
              <a:t> задавших вопрос журналистов получили один и тот же неверный ответ. Мэр города признал ошибки и бот с публикации не снял, хотя технически отключить его было возможно.</a:t>
            </a:r>
          </a:p>
        </p:txBody>
      </p:sp>
      <p:sp>
        <p:nvSpPr>
          <p:cNvPr id="6" name="Rounded Rectangle 5"/>
          <p:cNvSpPr/>
          <p:nvPr/>
        </p:nvSpPr>
        <p:spPr>
          <a:xfrm>
            <a:off x="502920" y="2615184"/>
            <a:ext cx="5532120" cy="2212848"/>
          </a:xfrm>
          <a:prstGeom prst="roundRect">
            <a:avLst>
              <a:gd name="adj" fmla="val 13774"/>
            </a:avLst>
          </a:prstGeom>
          <a:solidFill>
            <a:srgbClr val="FDF3DC"/>
          </a:solidFill>
          <a:ln w="2032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2724912"/>
            <a:ext cx="1024128" cy="1024128"/>
          </a:xfrm>
          <a:prstGeom prst="roundRect">
            <a:avLst>
              <a:gd name="adj" fmla="val 22000"/>
            </a:avLst>
          </a:prstGeom>
          <a:solidFill>
            <a:srgbClr val="FFFFFF"/>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42-nyc-real-source.png"/>
          <p:cNvPicPr>
            <a:picLocks noChangeAspect="1"/>
          </p:cNvPicPr>
          <p:nvPr/>
        </p:nvPicPr>
        <p:blipFill>
          <a:blip r:embed="rId2"/>
          <a:stretch>
            <a:fillRect/>
          </a:stretch>
        </p:blipFill>
        <p:spPr>
          <a:xfrm>
            <a:off x="772252" y="2779776"/>
            <a:ext cx="851223" cy="914400"/>
          </a:xfrm>
          <a:prstGeom prst="rect">
            <a:avLst/>
          </a:prstGeom>
        </p:spPr>
      </p:pic>
      <p:sp>
        <p:nvSpPr>
          <p:cNvPr id="9" name="TextBox 8"/>
          <p:cNvSpPr txBox="1"/>
          <p:nvPr/>
        </p:nvSpPr>
        <p:spPr>
          <a:xfrm>
            <a:off x="1847088" y="2724912"/>
            <a:ext cx="3986784" cy="1024128"/>
          </a:xfrm>
          <a:prstGeom prst="rect">
            <a:avLst/>
          </a:prstGeom>
          <a:noFill/>
        </p:spPr>
        <p:txBody>
          <a:bodyPr wrap="square" lIns="0" rIns="0" tIns="0" bIns="0" anchor="ctr">
            <a:spAutoFit/>
          </a:bodyPr>
          <a:lstStyle/>
          <a:p>
            <a:pPr algn="l">
              <a:lnSpc>
                <a:spcPct val="116000"/>
              </a:lnSpc>
            </a:pPr>
            <a:r>
              <a:rPr sz="1150" b="1" i="0">
                <a:solidFill>
                  <a:srgbClr val="21295C"/>
                </a:solidFill>
                <a:latin typeface="DejaVu Sans"/>
              </a:rPr>
              <a:t>Один и тот же вопрос — десять раз. Один и тот же незаконный ответ — десять раз.</a:t>
            </a:r>
          </a:p>
        </p:txBody>
      </p:sp>
      <p:pic>
        <p:nvPicPr>
          <p:cNvPr id="10" name="Picture 9" descr="user-x-gold.png"/>
          <p:cNvPicPr>
            <a:picLocks noChangeAspect="1"/>
          </p:cNvPicPr>
          <p:nvPr/>
        </p:nvPicPr>
        <p:blipFill>
          <a:blip r:embed="rId3"/>
          <a:stretch>
            <a:fillRect/>
          </a:stretch>
        </p:blipFill>
        <p:spPr>
          <a:xfrm>
            <a:off x="731520" y="3822191"/>
            <a:ext cx="329184" cy="329184"/>
          </a:xfrm>
          <a:prstGeom prst="rect">
            <a:avLst/>
          </a:prstGeom>
        </p:spPr>
      </p:pic>
      <p:pic>
        <p:nvPicPr>
          <p:cNvPr id="11" name="Picture 10" descr="user-x-gold.png"/>
          <p:cNvPicPr>
            <a:picLocks noChangeAspect="1"/>
          </p:cNvPicPr>
          <p:nvPr/>
        </p:nvPicPr>
        <p:blipFill>
          <a:blip r:embed="rId3"/>
          <a:stretch>
            <a:fillRect/>
          </a:stretch>
        </p:blipFill>
        <p:spPr>
          <a:xfrm>
            <a:off x="1773936" y="3822191"/>
            <a:ext cx="329184" cy="329184"/>
          </a:xfrm>
          <a:prstGeom prst="rect">
            <a:avLst/>
          </a:prstGeom>
        </p:spPr>
      </p:pic>
      <p:pic>
        <p:nvPicPr>
          <p:cNvPr id="12" name="Picture 11" descr="user-x-gold.png"/>
          <p:cNvPicPr>
            <a:picLocks noChangeAspect="1"/>
          </p:cNvPicPr>
          <p:nvPr/>
        </p:nvPicPr>
        <p:blipFill>
          <a:blip r:embed="rId3"/>
          <a:stretch>
            <a:fillRect/>
          </a:stretch>
        </p:blipFill>
        <p:spPr>
          <a:xfrm>
            <a:off x="2816352" y="3822191"/>
            <a:ext cx="329184" cy="329184"/>
          </a:xfrm>
          <a:prstGeom prst="rect">
            <a:avLst/>
          </a:prstGeom>
        </p:spPr>
      </p:pic>
      <p:pic>
        <p:nvPicPr>
          <p:cNvPr id="13" name="Picture 12" descr="user-x-gold.png"/>
          <p:cNvPicPr>
            <a:picLocks noChangeAspect="1"/>
          </p:cNvPicPr>
          <p:nvPr/>
        </p:nvPicPr>
        <p:blipFill>
          <a:blip r:embed="rId3"/>
          <a:stretch>
            <a:fillRect/>
          </a:stretch>
        </p:blipFill>
        <p:spPr>
          <a:xfrm>
            <a:off x="3858768" y="3822191"/>
            <a:ext cx="329184" cy="329184"/>
          </a:xfrm>
          <a:prstGeom prst="rect">
            <a:avLst/>
          </a:prstGeom>
        </p:spPr>
      </p:pic>
      <p:pic>
        <p:nvPicPr>
          <p:cNvPr id="14" name="Picture 13" descr="user-x-gold.png"/>
          <p:cNvPicPr>
            <a:picLocks noChangeAspect="1"/>
          </p:cNvPicPr>
          <p:nvPr/>
        </p:nvPicPr>
        <p:blipFill>
          <a:blip r:embed="rId3"/>
          <a:stretch>
            <a:fillRect/>
          </a:stretch>
        </p:blipFill>
        <p:spPr>
          <a:xfrm>
            <a:off x="4901183" y="3822191"/>
            <a:ext cx="329184" cy="329184"/>
          </a:xfrm>
          <a:prstGeom prst="rect">
            <a:avLst/>
          </a:prstGeom>
        </p:spPr>
      </p:pic>
      <p:pic>
        <p:nvPicPr>
          <p:cNvPr id="15" name="Picture 14" descr="user-x-gold.png"/>
          <p:cNvPicPr>
            <a:picLocks noChangeAspect="1"/>
          </p:cNvPicPr>
          <p:nvPr/>
        </p:nvPicPr>
        <p:blipFill>
          <a:blip r:embed="rId3"/>
          <a:stretch>
            <a:fillRect/>
          </a:stretch>
        </p:blipFill>
        <p:spPr>
          <a:xfrm>
            <a:off x="731520" y="4206240"/>
            <a:ext cx="329184" cy="329184"/>
          </a:xfrm>
          <a:prstGeom prst="rect">
            <a:avLst/>
          </a:prstGeom>
        </p:spPr>
      </p:pic>
      <p:pic>
        <p:nvPicPr>
          <p:cNvPr id="16" name="Picture 15" descr="user-x-gold.png"/>
          <p:cNvPicPr>
            <a:picLocks noChangeAspect="1"/>
          </p:cNvPicPr>
          <p:nvPr/>
        </p:nvPicPr>
        <p:blipFill>
          <a:blip r:embed="rId3"/>
          <a:stretch>
            <a:fillRect/>
          </a:stretch>
        </p:blipFill>
        <p:spPr>
          <a:xfrm>
            <a:off x="1773936" y="4206240"/>
            <a:ext cx="329184" cy="329184"/>
          </a:xfrm>
          <a:prstGeom prst="rect">
            <a:avLst/>
          </a:prstGeom>
        </p:spPr>
      </p:pic>
      <p:pic>
        <p:nvPicPr>
          <p:cNvPr id="17" name="Picture 16" descr="user-x-gold.png"/>
          <p:cNvPicPr>
            <a:picLocks noChangeAspect="1"/>
          </p:cNvPicPr>
          <p:nvPr/>
        </p:nvPicPr>
        <p:blipFill>
          <a:blip r:embed="rId3"/>
          <a:stretch>
            <a:fillRect/>
          </a:stretch>
        </p:blipFill>
        <p:spPr>
          <a:xfrm>
            <a:off x="2816352" y="4206240"/>
            <a:ext cx="329184" cy="329184"/>
          </a:xfrm>
          <a:prstGeom prst="rect">
            <a:avLst/>
          </a:prstGeom>
        </p:spPr>
      </p:pic>
      <p:pic>
        <p:nvPicPr>
          <p:cNvPr id="18" name="Picture 17" descr="user-x-gold.png"/>
          <p:cNvPicPr>
            <a:picLocks noChangeAspect="1"/>
          </p:cNvPicPr>
          <p:nvPr/>
        </p:nvPicPr>
        <p:blipFill>
          <a:blip r:embed="rId3"/>
          <a:stretch>
            <a:fillRect/>
          </a:stretch>
        </p:blipFill>
        <p:spPr>
          <a:xfrm>
            <a:off x="3858768" y="4206240"/>
            <a:ext cx="329184" cy="329184"/>
          </a:xfrm>
          <a:prstGeom prst="rect">
            <a:avLst/>
          </a:prstGeom>
        </p:spPr>
      </p:pic>
      <p:pic>
        <p:nvPicPr>
          <p:cNvPr id="19" name="Picture 18" descr="user-x-gold.png"/>
          <p:cNvPicPr>
            <a:picLocks noChangeAspect="1"/>
          </p:cNvPicPr>
          <p:nvPr/>
        </p:nvPicPr>
        <p:blipFill>
          <a:blip r:embed="rId3"/>
          <a:stretch>
            <a:fillRect/>
          </a:stretch>
        </p:blipFill>
        <p:spPr>
          <a:xfrm>
            <a:off x="4901183" y="4206240"/>
            <a:ext cx="329184" cy="329184"/>
          </a:xfrm>
          <a:prstGeom prst="rect">
            <a:avLst/>
          </a:prstGeom>
        </p:spPr>
      </p:pic>
      <p:sp>
        <p:nvSpPr>
          <p:cNvPr id="20" name="TextBox 19"/>
          <p:cNvSpPr txBox="1"/>
          <p:nvPr/>
        </p:nvSpPr>
        <p:spPr>
          <a:xfrm>
            <a:off x="713232" y="4590288"/>
            <a:ext cx="5120640" cy="219456"/>
          </a:xfrm>
          <a:prstGeom prst="rect">
            <a:avLst/>
          </a:prstGeom>
          <a:noFill/>
        </p:spPr>
        <p:txBody>
          <a:bodyPr wrap="square" lIns="0" rIns="0" tIns="0" bIns="0" anchor="t">
            <a:spAutoFit/>
          </a:bodyPr>
          <a:lstStyle/>
          <a:p>
            <a:pPr algn="l">
              <a:lnSpc>
                <a:spcPct val="100000"/>
              </a:lnSpc>
            </a:pPr>
            <a:r>
              <a:rPr sz="880" b="0" i="1">
                <a:solidFill>
                  <a:srgbClr val="5B6678"/>
                </a:solidFill>
                <a:latin typeface="DejaVu Sans"/>
              </a:rPr>
              <a:t>десять спросивших — десять одинаковых советов нарушить закон</a:t>
            </a:r>
          </a:p>
        </p:txBody>
      </p:sp>
      <p:sp>
        <p:nvSpPr>
          <p:cNvPr id="21" name="Rounded Rectangle 20"/>
          <p:cNvSpPr/>
          <p:nvPr/>
        </p:nvSpPr>
        <p:spPr>
          <a:xfrm>
            <a:off x="6217920" y="2615184"/>
            <a:ext cx="5486400" cy="2212848"/>
          </a:xfrm>
          <a:prstGeom prst="roundRect">
            <a:avLst>
              <a:gd name="adj" fmla="val 13774"/>
            </a:avLst>
          </a:prstGeom>
          <a:solidFill>
            <a:srgbClr val="F4F7FA"/>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19088" y="2706624"/>
            <a:ext cx="5084064" cy="237744"/>
          </a:xfrm>
          <a:prstGeom prst="rect">
            <a:avLst/>
          </a:prstGeom>
          <a:noFill/>
        </p:spPr>
        <p:txBody>
          <a:bodyPr wrap="square" lIns="0" rIns="0" tIns="0" bIns="0" anchor="t">
            <a:spAutoFit/>
          </a:bodyPr>
          <a:lstStyle/>
          <a:p>
            <a:pPr algn="l">
              <a:lnSpc>
                <a:spcPct val="100000"/>
              </a:lnSpc>
            </a:pPr>
            <a:r>
              <a:rPr sz="1000" b="1" i="0">
                <a:solidFill>
                  <a:srgbClr val="028090"/>
                </a:solidFill>
                <a:latin typeface="DejaVu Sans"/>
              </a:rPr>
              <a:t>РАЗБОР</a:t>
            </a:r>
          </a:p>
        </p:txBody>
      </p:sp>
      <p:sp>
        <p:nvSpPr>
          <p:cNvPr id="23" name="TextBox 22"/>
          <p:cNvSpPr txBox="1"/>
          <p:nvPr/>
        </p:nvSpPr>
        <p:spPr>
          <a:xfrm>
            <a:off x="6419088" y="2980944"/>
            <a:ext cx="5084064" cy="1755648"/>
          </a:xfrm>
          <a:prstGeom prst="rect">
            <a:avLst/>
          </a:prstGeom>
          <a:noFill/>
        </p:spPr>
        <p:txBody>
          <a:bodyPr wrap="square" lIns="0" rIns="0" tIns="0" bIns="0" anchor="t">
            <a:spAutoFit/>
          </a:bodyPr>
          <a:lstStyle/>
          <a:p>
            <a:pPr algn="l">
              <a:lnSpc>
                <a:spcPct val="116000"/>
              </a:lnSpc>
            </a:pPr>
            <a:r>
              <a:rPr sz="1100" b="0" i="0">
                <a:solidFill>
                  <a:srgbClr val="21295C"/>
                </a:solidFill>
                <a:latin typeface="DejaVu Sans"/>
              </a:rPr>
              <a:t>Ключевая цифра — не содержание ответов, а их повторяемость, и она меняет класс события. Единичная ошибка — повод для правки. Десять одинаковых ответов на десять одинаковых вопросов — свойство системы, воспроизводимое по команде.</a:t>
            </a:r>
          </a:p>
          <a:p>
            <a:pPr algn="l">
              <a:lnSpc>
                <a:spcPct val="116000"/>
              </a:lnSpc>
            </a:pPr>
            <a:r>
              <a:rPr sz="1100" b="0" i="0">
                <a:solidFill>
                  <a:srgbClr val="21295C"/>
                </a:solidFill>
                <a:latin typeface="DejaVu Sans"/>
              </a:rPr>
              <a:t/>
            </a:r>
          </a:p>
          <a:p>
            <a:pPr algn="l">
              <a:lnSpc>
                <a:spcPct val="116000"/>
              </a:lnSpc>
            </a:pPr>
            <a:r>
              <a:rPr sz="1100" b="0" i="0">
                <a:solidFill>
                  <a:srgbClr val="21295C"/>
                </a:solidFill>
                <a:latin typeface="DejaVu Sans"/>
              </a:rPr>
              <a:t>Решение продолжить итерации приняли после того, как воспроизводимость показали публично. Это и есть разбираемая ошибка: данные были, реакция осталась прежней.</a:t>
            </a:r>
          </a:p>
        </p:txBody>
      </p:sp>
      <p:sp>
        <p:nvSpPr>
          <p:cNvPr id="24" name="Rounded Rectangle 23"/>
          <p:cNvSpPr/>
          <p:nvPr/>
        </p:nvSpPr>
        <p:spPr>
          <a:xfrm>
            <a:off x="502920" y="4974336"/>
            <a:ext cx="11201400" cy="84124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2376" y="5029200"/>
            <a:ext cx="10762488" cy="731520"/>
          </a:xfrm>
          <a:prstGeom prst="rect">
            <a:avLst/>
          </a:prstGeom>
          <a:noFill/>
        </p:spPr>
        <p:txBody>
          <a:bodyPr wrap="square" lIns="0" rIns="0" tIns="0" bIns="0" anchor="ctr">
            <a:spAutoFit/>
          </a:bodyPr>
          <a:lstStyle/>
          <a:p>
            <a:pPr algn="l">
              <a:lnSpc>
                <a:spcPct val="120000"/>
              </a:lnSpc>
            </a:pPr>
            <a:r>
              <a:rPr sz="1250" b="1" i="0">
                <a:solidFill>
                  <a:srgbClr val="21295C"/>
                </a:solidFill>
                <a:latin typeface="DejaVu Sans"/>
              </a:rPr>
              <a:t>Критерий: воспроизводимый вредный ответ требует аварийного выключателя, а не следующей итерации. Порог формулируется числом заранее — иначе в момент, когда его надо применить, он обсуждается заново и проигрывает желанию «доработать».</a:t>
            </a:r>
          </a:p>
        </p:txBody>
      </p:sp>
      <p:sp>
        <p:nvSpPr>
          <p:cNvPr id="26" name="TextBox 25"/>
          <p:cNvSpPr txBox="1"/>
          <p:nvPr/>
        </p:nvSpPr>
        <p:spPr>
          <a:xfrm>
            <a:off x="502920" y="6455664"/>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4"/>
              </a:rPr>
              <a:t>The Markup (29 марта 2024) — городской чат-бот Нью-Йорка</a:t>
            </a:r>
          </a:p>
        </p:txBody>
      </p:sp>
      <p:sp>
        <p:nvSpPr>
          <p:cNvPr id="27" name="TextBox 26"/>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43 / 54</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extBox 1"/>
          <p:cNvSpPr txBox="1"/>
          <p:nvPr/>
        </p:nvSpPr>
        <p:spPr>
          <a:xfrm>
            <a:off x="9464040" y="91440"/>
            <a:ext cx="2651760" cy="1188720"/>
          </a:xfrm>
          <a:prstGeom prst="rect">
            <a:avLst/>
          </a:prstGeom>
          <a:noFill/>
        </p:spPr>
        <p:txBody>
          <a:bodyPr wrap="square" lIns="0" rIns="0" tIns="0" bIns="0" anchor="ctr">
            <a:spAutoFit/>
          </a:bodyPr>
          <a:lstStyle/>
          <a:p>
            <a:pPr algn="ctr">
              <a:lnSpc>
                <a:spcPct val="115000"/>
              </a:lnSpc>
            </a:pPr>
            <a:r>
              <a:rPr sz="9000" b="1" i="0">
                <a:solidFill>
                  <a:srgbClr val="D9E2EC"/>
                </a:solidFill>
                <a:latin typeface="DejaVu Sans"/>
              </a:rPr>
              <a:t>6</a:t>
            </a:r>
          </a:p>
        </p:txBody>
      </p:sp>
      <p:sp>
        <p:nvSpPr>
          <p:cNvPr id="3" name="Rounded Rectangle 2"/>
          <p:cNvSpPr/>
          <p:nvPr/>
        </p:nvSpPr>
        <p:spPr>
          <a:xfrm>
            <a:off x="7635240" y="1234440"/>
            <a:ext cx="4069080" cy="4160520"/>
          </a:xfrm>
          <a:prstGeom prst="roundRect">
            <a:avLst>
              <a:gd name="adj" fmla="val 749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44-sad-pablo.jpg"/>
          <p:cNvPicPr>
            <a:picLocks noChangeAspect="1"/>
          </p:cNvPicPr>
          <p:nvPr/>
        </p:nvPicPr>
        <p:blipFill>
          <a:blip r:embed="rId2"/>
          <a:stretch>
            <a:fillRect/>
          </a:stretch>
        </p:blipFill>
        <p:spPr>
          <a:xfrm>
            <a:off x="7763256" y="1437303"/>
            <a:ext cx="3813048" cy="3754793"/>
          </a:xfrm>
          <a:prstGeom prst="rect">
            <a:avLst/>
          </a:prstGeom>
        </p:spPr>
      </p:pic>
      <p:sp>
        <p:nvSpPr>
          <p:cNvPr id="5" name="TextBox 4"/>
          <p:cNvSpPr txBox="1"/>
          <p:nvPr/>
        </p:nvSpPr>
        <p:spPr>
          <a:xfrm>
            <a:off x="685800" y="1417320"/>
            <a:ext cx="6675120" cy="502920"/>
          </a:xfrm>
          <a:prstGeom prst="rect">
            <a:avLst/>
          </a:prstGeom>
          <a:noFill/>
        </p:spPr>
        <p:txBody>
          <a:bodyPr wrap="square" lIns="0" rIns="0" tIns="0" bIns="0" anchor="t">
            <a:spAutoFit/>
          </a:bodyPr>
          <a:lstStyle/>
          <a:p>
            <a:pPr algn="l">
              <a:lnSpc>
                <a:spcPct val="115000"/>
              </a:lnSpc>
            </a:pPr>
            <a:r>
              <a:rPr sz="2000" b="1" i="0">
                <a:solidFill>
                  <a:srgbClr val="028090"/>
                </a:solidFill>
                <a:latin typeface="DejaVu Sans"/>
              </a:rPr>
              <a:t>РАЗДЕЛ 6</a:t>
            </a:r>
          </a:p>
        </p:txBody>
      </p:sp>
      <p:sp>
        <p:nvSpPr>
          <p:cNvPr id="6" name="TextBox 5"/>
          <p:cNvSpPr txBox="1"/>
          <p:nvPr/>
        </p:nvSpPr>
        <p:spPr>
          <a:xfrm>
            <a:off x="685800" y="2395728"/>
            <a:ext cx="6675120" cy="1600200"/>
          </a:xfrm>
          <a:prstGeom prst="rect">
            <a:avLst/>
          </a:prstGeom>
          <a:noFill/>
        </p:spPr>
        <p:txBody>
          <a:bodyPr wrap="square" lIns="0" rIns="0" tIns="0" bIns="0" anchor="t">
            <a:spAutoFit/>
          </a:bodyPr>
          <a:lstStyle/>
          <a:p>
            <a:pPr algn="l">
              <a:lnSpc>
                <a:spcPct val="108000"/>
              </a:lnSpc>
            </a:pPr>
            <a:r>
              <a:rPr sz="3000" b="1" i="0">
                <a:solidFill>
                  <a:srgbClr val="21295C"/>
                </a:solidFill>
                <a:latin typeface="DejaVu Sans"/>
              </a:rPr>
              <a:t>Во что вкладывать дальше — и что пора закрыть</a:t>
            </a:r>
          </a:p>
        </p:txBody>
      </p:sp>
      <p:sp>
        <p:nvSpPr>
          <p:cNvPr id="7" name="Rounded Rectangle 6"/>
          <p:cNvSpPr/>
          <p:nvPr/>
        </p:nvSpPr>
        <p:spPr>
          <a:xfrm>
            <a:off x="713232" y="3840480"/>
            <a:ext cx="3291840" cy="384048"/>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250" b="1">
                <a:solidFill>
                  <a:srgbClr val="21295C"/>
                </a:solidFill>
                <a:latin typeface="DejaVu Sans"/>
              </a:rPr>
              <a:t>1 база · 2 практики · 2 провала</a:t>
            </a:r>
          </a:p>
        </p:txBody>
      </p:sp>
      <p:sp>
        <p:nvSpPr>
          <p:cNvPr id="8" name="TextBox 7"/>
          <p:cNvSpPr txBox="1"/>
          <p:nvPr/>
        </p:nvSpPr>
        <p:spPr>
          <a:xfrm>
            <a:off x="713232" y="4389120"/>
            <a:ext cx="6720840" cy="1417320"/>
          </a:xfrm>
          <a:prstGeom prst="rect">
            <a:avLst/>
          </a:prstGeom>
          <a:noFill/>
        </p:spPr>
        <p:txBody>
          <a:bodyPr wrap="square" lIns="0" rIns="0" tIns="0" bIns="0" anchor="t">
            <a:spAutoFit/>
          </a:bodyPr>
          <a:lstStyle/>
          <a:p>
            <a:pPr algn="l">
              <a:lnSpc>
                <a:spcPct val="116000"/>
              </a:lnSpc>
            </a:pPr>
            <a:r>
              <a:rPr sz="1500" b="0" i="1">
                <a:solidFill>
                  <a:srgbClr val="1C7293"/>
                </a:solidFill>
                <a:latin typeface="DejaVu Sans"/>
              </a:rPr>
              <a:t>Продукт может работать и всё равно не окупаться. Здесь решают, какие инициативы финансировать дальше, а какие остановить — и почему у ИИ-продукта это считается иначе.</a:t>
            </a:r>
          </a:p>
        </p:txBody>
      </p:sp>
      <p:sp>
        <p:nvSpPr>
          <p:cNvPr id="9" name="Rounded Rectangle 8"/>
          <p:cNvSpPr/>
          <p:nvPr/>
        </p:nvSpPr>
        <p:spPr>
          <a:xfrm>
            <a:off x="502920"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1208"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0</a:t>
            </a:r>
          </a:p>
        </p:txBody>
      </p:sp>
      <p:sp>
        <p:nvSpPr>
          <p:cNvPr id="11" name="TextBox 10"/>
          <p:cNvSpPr txBox="1"/>
          <p:nvPr/>
        </p:nvSpPr>
        <p:spPr>
          <a:xfrm>
            <a:off x="521208" y="6217920"/>
            <a:ext cx="1283589" cy="274320"/>
          </a:xfrm>
          <a:prstGeom prst="rect">
            <a:avLst/>
          </a:prstGeom>
          <a:noFill/>
        </p:spPr>
        <p:txBody>
          <a:bodyPr wrap="square" lIns="0" rIns="0" tIns="0" bIns="0" anchor="t">
            <a:spAutoFit/>
          </a:bodyPr>
          <a:lstStyle/>
          <a:p>
            <a:pPr algn="ctr">
              <a:lnSpc>
                <a:spcPct val="92000"/>
              </a:lnSpc>
            </a:pPr>
            <a:r>
              <a:rPr sz="900" b="0" i="0">
                <a:solidFill>
                  <a:srgbClr val="5B6678"/>
                </a:solidFill>
                <a:latin typeface="DejaVu Sans"/>
              </a:rPr>
              <a:t>Введение</a:t>
            </a:r>
          </a:p>
        </p:txBody>
      </p:sp>
      <p:sp>
        <p:nvSpPr>
          <p:cNvPr id="12" name="Rounded Rectangle 11"/>
          <p:cNvSpPr/>
          <p:nvPr/>
        </p:nvSpPr>
        <p:spPr>
          <a:xfrm>
            <a:off x="1914525"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932813"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1</a:t>
            </a:r>
          </a:p>
        </p:txBody>
      </p:sp>
      <p:sp>
        <p:nvSpPr>
          <p:cNvPr id="14" name="TextBox 13"/>
          <p:cNvSpPr txBox="1"/>
          <p:nvPr/>
        </p:nvSpPr>
        <p:spPr>
          <a:xfrm>
            <a:off x="1932813" y="6217920"/>
            <a:ext cx="1283589" cy="274320"/>
          </a:xfrm>
          <a:prstGeom prst="rect">
            <a:avLst/>
          </a:prstGeom>
          <a:noFill/>
        </p:spPr>
        <p:txBody>
          <a:bodyPr wrap="square" lIns="0" rIns="0" tIns="0" bIns="0" anchor="t">
            <a:spAutoFit/>
          </a:bodyPr>
          <a:lstStyle/>
          <a:p>
            <a:pPr algn="ctr">
              <a:lnSpc>
                <a:spcPct val="92000"/>
              </a:lnSpc>
            </a:pPr>
            <a:r>
              <a:rPr sz="800" b="0" i="0">
                <a:solidFill>
                  <a:srgbClr val="5B6678"/>
                </a:solidFill>
                <a:latin typeface="DejaVu Sans"/>
              </a:rPr>
              <a:t>Исследование</a:t>
            </a:r>
          </a:p>
        </p:txBody>
      </p:sp>
      <p:sp>
        <p:nvSpPr>
          <p:cNvPr id="15" name="Rounded Rectangle 14"/>
          <p:cNvSpPr/>
          <p:nvPr/>
        </p:nvSpPr>
        <p:spPr>
          <a:xfrm>
            <a:off x="3326130"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44418"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2</a:t>
            </a:r>
          </a:p>
        </p:txBody>
      </p:sp>
      <p:sp>
        <p:nvSpPr>
          <p:cNvPr id="17" name="TextBox 16"/>
          <p:cNvSpPr txBox="1"/>
          <p:nvPr/>
        </p:nvSpPr>
        <p:spPr>
          <a:xfrm>
            <a:off x="3344418" y="6217920"/>
            <a:ext cx="1283589" cy="274320"/>
          </a:xfrm>
          <a:prstGeom prst="rect">
            <a:avLst/>
          </a:prstGeom>
          <a:noFill/>
        </p:spPr>
        <p:txBody>
          <a:bodyPr wrap="square" lIns="0" rIns="0" tIns="0" bIns="0" anchor="t">
            <a:spAutoFit/>
          </a:bodyPr>
          <a:lstStyle/>
          <a:p>
            <a:pPr algn="ctr">
              <a:lnSpc>
                <a:spcPct val="92000"/>
              </a:lnSpc>
            </a:pPr>
            <a:r>
              <a:rPr sz="900" b="0" i="0">
                <a:solidFill>
                  <a:srgbClr val="5B6678"/>
                </a:solidFill>
                <a:latin typeface="DejaVu Sans"/>
              </a:rPr>
              <a:t>Дизайн</a:t>
            </a:r>
          </a:p>
        </p:txBody>
      </p:sp>
      <p:sp>
        <p:nvSpPr>
          <p:cNvPr id="18" name="Rounded Rectangle 17"/>
          <p:cNvSpPr/>
          <p:nvPr/>
        </p:nvSpPr>
        <p:spPr>
          <a:xfrm>
            <a:off x="4737735"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56023"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3</a:t>
            </a:r>
          </a:p>
        </p:txBody>
      </p:sp>
      <p:sp>
        <p:nvSpPr>
          <p:cNvPr id="20" name="TextBox 19"/>
          <p:cNvSpPr txBox="1"/>
          <p:nvPr/>
        </p:nvSpPr>
        <p:spPr>
          <a:xfrm>
            <a:off x="4756023" y="6217920"/>
            <a:ext cx="1283589" cy="274320"/>
          </a:xfrm>
          <a:prstGeom prst="rect">
            <a:avLst/>
          </a:prstGeom>
          <a:noFill/>
        </p:spPr>
        <p:txBody>
          <a:bodyPr wrap="square" lIns="0" rIns="0" tIns="0" bIns="0" anchor="t">
            <a:spAutoFit/>
          </a:bodyPr>
          <a:lstStyle/>
          <a:p>
            <a:pPr algn="ctr">
              <a:lnSpc>
                <a:spcPct val="92000"/>
              </a:lnSpc>
            </a:pPr>
            <a:r>
              <a:rPr sz="800" b="0" i="0">
                <a:solidFill>
                  <a:srgbClr val="5B6678"/>
                </a:solidFill>
                <a:latin typeface="DejaVu Sans"/>
              </a:rPr>
              <a:t>Сборка и запуск</a:t>
            </a:r>
          </a:p>
        </p:txBody>
      </p:sp>
      <p:sp>
        <p:nvSpPr>
          <p:cNvPr id="21" name="Rounded Rectangle 20"/>
          <p:cNvSpPr/>
          <p:nvPr/>
        </p:nvSpPr>
        <p:spPr>
          <a:xfrm>
            <a:off x="6149340"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67628"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4</a:t>
            </a:r>
          </a:p>
        </p:txBody>
      </p:sp>
      <p:sp>
        <p:nvSpPr>
          <p:cNvPr id="23" name="TextBox 22"/>
          <p:cNvSpPr txBox="1"/>
          <p:nvPr/>
        </p:nvSpPr>
        <p:spPr>
          <a:xfrm>
            <a:off x="6167628" y="6217920"/>
            <a:ext cx="1283589" cy="274320"/>
          </a:xfrm>
          <a:prstGeom prst="rect">
            <a:avLst/>
          </a:prstGeom>
          <a:noFill/>
        </p:spPr>
        <p:txBody>
          <a:bodyPr wrap="square" lIns="0" rIns="0" tIns="0" bIns="0" anchor="t">
            <a:spAutoFit/>
          </a:bodyPr>
          <a:lstStyle/>
          <a:p>
            <a:pPr algn="ctr">
              <a:lnSpc>
                <a:spcPct val="92000"/>
              </a:lnSpc>
            </a:pPr>
            <a:r>
              <a:rPr sz="900" b="0" i="0">
                <a:solidFill>
                  <a:srgbClr val="5B6678"/>
                </a:solidFill>
                <a:latin typeface="DejaVu Sans"/>
              </a:rPr>
              <a:t>Измерение</a:t>
            </a:r>
          </a:p>
        </p:txBody>
      </p:sp>
      <p:sp>
        <p:nvSpPr>
          <p:cNvPr id="24" name="Rounded Rectangle 23"/>
          <p:cNvSpPr/>
          <p:nvPr/>
        </p:nvSpPr>
        <p:spPr>
          <a:xfrm>
            <a:off x="7560945"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79233"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5</a:t>
            </a:r>
          </a:p>
        </p:txBody>
      </p:sp>
      <p:sp>
        <p:nvSpPr>
          <p:cNvPr id="26" name="TextBox 25"/>
          <p:cNvSpPr txBox="1"/>
          <p:nvPr/>
        </p:nvSpPr>
        <p:spPr>
          <a:xfrm>
            <a:off x="7579233" y="6217920"/>
            <a:ext cx="1283589" cy="274320"/>
          </a:xfrm>
          <a:prstGeom prst="rect">
            <a:avLst/>
          </a:prstGeom>
          <a:noFill/>
        </p:spPr>
        <p:txBody>
          <a:bodyPr wrap="square" lIns="0" rIns="0" tIns="0" bIns="0" anchor="t">
            <a:spAutoFit/>
          </a:bodyPr>
          <a:lstStyle/>
          <a:p>
            <a:pPr algn="ctr">
              <a:lnSpc>
                <a:spcPct val="92000"/>
              </a:lnSpc>
            </a:pPr>
            <a:r>
              <a:rPr sz="900" b="0" i="0">
                <a:solidFill>
                  <a:srgbClr val="5B6678"/>
                </a:solidFill>
                <a:latin typeface="DejaVu Sans"/>
              </a:rPr>
              <a:t>Поддержка</a:t>
            </a:r>
          </a:p>
        </p:txBody>
      </p:sp>
      <p:sp>
        <p:nvSpPr>
          <p:cNvPr id="27" name="Rounded Rectangle 26"/>
          <p:cNvSpPr/>
          <p:nvPr/>
        </p:nvSpPr>
        <p:spPr>
          <a:xfrm>
            <a:off x="8972550" y="5989320"/>
            <a:ext cx="1320165" cy="530352"/>
          </a:xfrm>
          <a:prstGeom prst="roundRect">
            <a:avLst>
              <a:gd name="adj" fmla="val 1200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90838" y="6035040"/>
            <a:ext cx="1283589" cy="164592"/>
          </a:xfrm>
          <a:prstGeom prst="rect">
            <a:avLst/>
          </a:prstGeom>
          <a:noFill/>
        </p:spPr>
        <p:txBody>
          <a:bodyPr wrap="square" lIns="0" rIns="0" tIns="0" bIns="0" anchor="t">
            <a:spAutoFit/>
          </a:bodyPr>
          <a:lstStyle/>
          <a:p>
            <a:pPr algn="ctr">
              <a:lnSpc>
                <a:spcPct val="115000"/>
              </a:lnSpc>
            </a:pPr>
            <a:r>
              <a:rPr sz="1050" b="1" i="0">
                <a:solidFill>
                  <a:srgbClr val="21295C"/>
                </a:solidFill>
                <a:latin typeface="DejaVu Sans"/>
              </a:rPr>
              <a:t>6</a:t>
            </a:r>
          </a:p>
        </p:txBody>
      </p:sp>
      <p:sp>
        <p:nvSpPr>
          <p:cNvPr id="29" name="TextBox 28"/>
          <p:cNvSpPr txBox="1"/>
          <p:nvPr/>
        </p:nvSpPr>
        <p:spPr>
          <a:xfrm>
            <a:off x="8990838" y="6217920"/>
            <a:ext cx="1283589" cy="274320"/>
          </a:xfrm>
          <a:prstGeom prst="rect">
            <a:avLst/>
          </a:prstGeom>
          <a:noFill/>
        </p:spPr>
        <p:txBody>
          <a:bodyPr wrap="square" lIns="0" rIns="0" tIns="0" bIns="0" anchor="t">
            <a:spAutoFit/>
          </a:bodyPr>
          <a:lstStyle/>
          <a:p>
            <a:pPr algn="ctr">
              <a:lnSpc>
                <a:spcPct val="92000"/>
              </a:lnSpc>
            </a:pPr>
            <a:r>
              <a:rPr sz="800" b="1" i="0">
                <a:solidFill>
                  <a:srgbClr val="21295C"/>
                </a:solidFill>
                <a:latin typeface="DejaVu Sans"/>
              </a:rPr>
              <a:t>Управление</a:t>
            </a:r>
          </a:p>
        </p:txBody>
      </p:sp>
      <p:sp>
        <p:nvSpPr>
          <p:cNvPr id="30" name="Rounded Rectangle 29"/>
          <p:cNvSpPr/>
          <p:nvPr/>
        </p:nvSpPr>
        <p:spPr>
          <a:xfrm>
            <a:off x="10384155"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402443"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7</a:t>
            </a:r>
          </a:p>
        </p:txBody>
      </p:sp>
      <p:sp>
        <p:nvSpPr>
          <p:cNvPr id="32" name="TextBox 31"/>
          <p:cNvSpPr txBox="1"/>
          <p:nvPr/>
        </p:nvSpPr>
        <p:spPr>
          <a:xfrm>
            <a:off x="10402443" y="6217920"/>
            <a:ext cx="1283589" cy="274320"/>
          </a:xfrm>
          <a:prstGeom prst="rect">
            <a:avLst/>
          </a:prstGeom>
          <a:noFill/>
        </p:spPr>
        <p:txBody>
          <a:bodyPr wrap="square" lIns="0" rIns="0" tIns="0" bIns="0" anchor="t">
            <a:spAutoFit/>
          </a:bodyPr>
          <a:lstStyle/>
          <a:p>
            <a:pPr algn="ctr">
              <a:lnSpc>
                <a:spcPct val="92000"/>
              </a:lnSpc>
            </a:pPr>
            <a:r>
              <a:rPr sz="900" b="0" i="0">
                <a:solidFill>
                  <a:srgbClr val="5B6678"/>
                </a:solidFill>
                <a:latin typeface="DejaVu Sans"/>
              </a:rPr>
              <a:t>Обобщение</a:t>
            </a:r>
          </a:p>
        </p:txBody>
      </p:sp>
      <p:sp>
        <p:nvSpPr>
          <p:cNvPr id="33" name="TextBox 32"/>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44 / 54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18872"/>
            <a:ext cx="11201400" cy="566928"/>
          </a:xfrm>
          <a:prstGeom prst="rect">
            <a:avLst/>
          </a:prstGeom>
          <a:noFill/>
        </p:spPr>
        <p:txBody>
          <a:bodyPr wrap="square" lIns="0" rIns="0" tIns="0" bIns="0" anchor="t">
            <a:spAutoFit/>
          </a:bodyPr>
          <a:lstStyle/>
          <a:p>
            <a:pPr algn="l">
              <a:lnSpc>
                <a:spcPct val="110000"/>
              </a:lnSpc>
            </a:pPr>
            <a:r>
              <a:rPr sz="1900" b="1" i="0">
                <a:solidFill>
                  <a:srgbClr val="21295C"/>
                </a:solidFill>
                <a:latin typeface="DejaVu Sans"/>
              </a:rPr>
              <a:t>Зачем нужен этот шаг: решить, что финансировать дальше, а что остановить</a:t>
            </a:r>
          </a:p>
        </p:txBody>
      </p:sp>
      <p:sp>
        <p:nvSpPr>
          <p:cNvPr id="3" name="Rounded Rectangle 2"/>
          <p:cNvSpPr/>
          <p:nvPr/>
        </p:nvSpPr>
        <p:spPr>
          <a:xfrm>
            <a:off x="502920" y="804672"/>
            <a:ext cx="5532120" cy="2971800"/>
          </a:xfrm>
          <a:prstGeom prst="roundRect">
            <a:avLst>
              <a:gd name="adj" fmla="val 10256"/>
            </a:avLst>
          </a:prstGeom>
          <a:solidFill>
            <a:srgbClr val="F4F7FA"/>
          </a:solidFill>
          <a:ln w="1905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5074920" cy="237744"/>
          </a:xfrm>
          <a:prstGeom prst="rect">
            <a:avLst/>
          </a:prstGeom>
          <a:noFill/>
        </p:spPr>
        <p:txBody>
          <a:bodyPr wrap="square" lIns="0" rIns="0" tIns="0" bIns="0" anchor="t">
            <a:spAutoFit/>
          </a:bodyPr>
          <a:lstStyle/>
          <a:p>
            <a:pPr algn="l">
              <a:lnSpc>
                <a:spcPct val="100000"/>
              </a:lnSpc>
            </a:pPr>
            <a:r>
              <a:rPr sz="1050" b="1" i="0">
                <a:solidFill>
                  <a:srgbClr val="065A82"/>
                </a:solidFill>
                <a:latin typeface="DejaVu Sans"/>
              </a:rPr>
              <a:t>ЧТО ЗДЕСЬ РЕШАЮТ</a:t>
            </a:r>
          </a:p>
        </p:txBody>
      </p:sp>
      <p:sp>
        <p:nvSpPr>
          <p:cNvPr id="5" name="TextBox 4"/>
          <p:cNvSpPr txBox="1"/>
          <p:nvPr/>
        </p:nvSpPr>
        <p:spPr>
          <a:xfrm>
            <a:off x="731520" y="1207008"/>
            <a:ext cx="5074920" cy="292608"/>
          </a:xfrm>
          <a:prstGeom prst="rect">
            <a:avLst/>
          </a:prstGeom>
          <a:noFill/>
        </p:spPr>
        <p:txBody>
          <a:bodyPr wrap="square" lIns="0" rIns="0" tIns="0" bIns="0" anchor="t">
            <a:spAutoFit/>
          </a:bodyPr>
          <a:lstStyle/>
          <a:p>
            <a:pPr algn="l">
              <a:lnSpc>
                <a:spcPct val="100000"/>
              </a:lnSpc>
            </a:pPr>
            <a:r>
              <a:rPr sz="1050" b="0" i="1">
                <a:solidFill>
                  <a:srgbClr val="5B6678"/>
                </a:solidFill>
                <a:latin typeface="DejaVu Sans"/>
              </a:rPr>
              <a:t>Отбор инициатив: много на входе — финансируют немногие</a:t>
            </a:r>
          </a:p>
        </p:txBody>
      </p:sp>
      <p:sp>
        <p:nvSpPr>
          <p:cNvPr id="6" name="Rounded Rectangle 5"/>
          <p:cNvSpPr/>
          <p:nvPr/>
        </p:nvSpPr>
        <p:spPr>
          <a:xfrm>
            <a:off x="822960" y="1572768"/>
            <a:ext cx="4892040" cy="420624"/>
          </a:xfrm>
          <a:prstGeom prst="roundRect">
            <a:avLst>
              <a:gd name="adj" fmla="val 10000"/>
            </a:avLst>
          </a:prstGeom>
          <a:solidFill>
            <a:srgbClr val="F4F7FA"/>
          </a:solidFill>
          <a:ln w="2032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572768"/>
            <a:ext cx="4892040" cy="420624"/>
          </a:xfrm>
          <a:prstGeom prst="rect">
            <a:avLst/>
          </a:prstGeom>
          <a:noFill/>
        </p:spPr>
        <p:txBody>
          <a:bodyPr wrap="square" lIns="0" rIns="0" tIns="0" bIns="0" anchor="ctr">
            <a:spAutoFit/>
          </a:bodyPr>
          <a:lstStyle/>
          <a:p>
            <a:pPr algn="ctr">
              <a:lnSpc>
                <a:spcPct val="115000"/>
              </a:lnSpc>
            </a:pPr>
            <a:r>
              <a:rPr sz="1150" b="1" i="0">
                <a:solidFill>
                  <a:srgbClr val="21295C"/>
                </a:solidFill>
                <a:latin typeface="DejaVu Sans"/>
              </a:rPr>
              <a:t>десятки инициатив</a:t>
            </a:r>
          </a:p>
        </p:txBody>
      </p:sp>
      <p:sp>
        <p:nvSpPr>
          <p:cNvPr id="8" name="Rounded Rectangle 7"/>
          <p:cNvSpPr/>
          <p:nvPr/>
        </p:nvSpPr>
        <p:spPr>
          <a:xfrm>
            <a:off x="1348739" y="2084832"/>
            <a:ext cx="3840480" cy="420624"/>
          </a:xfrm>
          <a:prstGeom prst="roundRect">
            <a:avLst>
              <a:gd name="adj" fmla="val 10000"/>
            </a:avLst>
          </a:prstGeom>
          <a:solidFill>
            <a:srgbClr val="F4F7FA"/>
          </a:solidFill>
          <a:ln w="2032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48739" y="2084832"/>
            <a:ext cx="3840480" cy="420624"/>
          </a:xfrm>
          <a:prstGeom prst="rect">
            <a:avLst/>
          </a:prstGeom>
          <a:noFill/>
        </p:spPr>
        <p:txBody>
          <a:bodyPr wrap="square" lIns="0" rIns="0" tIns="0" bIns="0" anchor="ctr">
            <a:spAutoFit/>
          </a:bodyPr>
          <a:lstStyle/>
          <a:p>
            <a:pPr algn="ctr">
              <a:lnSpc>
                <a:spcPct val="115000"/>
              </a:lnSpc>
            </a:pPr>
            <a:r>
              <a:rPr sz="1150" b="1" i="0">
                <a:solidFill>
                  <a:srgbClr val="21295C"/>
                </a:solidFill>
                <a:latin typeface="DejaVu Sans"/>
              </a:rPr>
              <a:t>первое решение</a:t>
            </a:r>
          </a:p>
        </p:txBody>
      </p:sp>
      <p:sp>
        <p:nvSpPr>
          <p:cNvPr id="10" name="Rounded Rectangle 9"/>
          <p:cNvSpPr/>
          <p:nvPr/>
        </p:nvSpPr>
        <p:spPr>
          <a:xfrm>
            <a:off x="1874519" y="2596896"/>
            <a:ext cx="2788920" cy="420624"/>
          </a:xfrm>
          <a:prstGeom prst="roundRect">
            <a:avLst>
              <a:gd name="adj" fmla="val 10000"/>
            </a:avLst>
          </a:prstGeom>
          <a:solidFill>
            <a:srgbClr val="F4F7FA"/>
          </a:solidFill>
          <a:ln w="2032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874519" y="2596896"/>
            <a:ext cx="2788920" cy="420624"/>
          </a:xfrm>
          <a:prstGeom prst="rect">
            <a:avLst/>
          </a:prstGeom>
          <a:noFill/>
        </p:spPr>
        <p:txBody>
          <a:bodyPr wrap="square" lIns="0" rIns="0" tIns="0" bIns="0" anchor="ctr">
            <a:spAutoFit/>
          </a:bodyPr>
          <a:lstStyle/>
          <a:p>
            <a:pPr algn="ctr">
              <a:lnSpc>
                <a:spcPct val="115000"/>
              </a:lnSpc>
            </a:pPr>
            <a:r>
              <a:rPr sz="1150" b="1" i="0">
                <a:solidFill>
                  <a:srgbClr val="21295C"/>
                </a:solidFill>
                <a:latin typeface="DejaVu Sans"/>
              </a:rPr>
              <a:t>второе решение</a:t>
            </a:r>
          </a:p>
        </p:txBody>
      </p:sp>
      <p:sp>
        <p:nvSpPr>
          <p:cNvPr id="12" name="Rounded Rectangle 11"/>
          <p:cNvSpPr/>
          <p:nvPr/>
        </p:nvSpPr>
        <p:spPr>
          <a:xfrm>
            <a:off x="2148839" y="3108960"/>
            <a:ext cx="2240280" cy="420624"/>
          </a:xfrm>
          <a:prstGeom prst="roundRect">
            <a:avLst>
              <a:gd name="adj" fmla="val 10000"/>
            </a:avLst>
          </a:prstGeom>
          <a:solidFill>
            <a:srgbClr val="F4F7FA"/>
          </a:solidFill>
          <a:ln w="2032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148839" y="3108960"/>
            <a:ext cx="2240280" cy="420624"/>
          </a:xfrm>
          <a:prstGeom prst="rect">
            <a:avLst/>
          </a:prstGeom>
          <a:noFill/>
        </p:spPr>
        <p:txBody>
          <a:bodyPr wrap="square" lIns="0" rIns="0" tIns="0" bIns="0" anchor="ctr">
            <a:spAutoFit/>
          </a:bodyPr>
          <a:lstStyle/>
          <a:p>
            <a:pPr algn="ctr">
              <a:lnSpc>
                <a:spcPct val="115000"/>
              </a:lnSpc>
            </a:pPr>
            <a:r>
              <a:rPr sz="1150" b="1" i="0">
                <a:solidFill>
                  <a:srgbClr val="21295C"/>
                </a:solidFill>
                <a:latin typeface="DejaVu Sans"/>
              </a:rPr>
              <a:t>финансируют</a:t>
            </a:r>
          </a:p>
        </p:txBody>
      </p:sp>
      <p:sp>
        <p:nvSpPr>
          <p:cNvPr id="14" name="Rounded Rectangle 13"/>
          <p:cNvSpPr/>
          <p:nvPr/>
        </p:nvSpPr>
        <p:spPr>
          <a:xfrm>
            <a:off x="6263640" y="804672"/>
            <a:ext cx="5440680" cy="2971800"/>
          </a:xfrm>
          <a:prstGeom prst="roundRect">
            <a:avLst>
              <a:gd name="adj" fmla="val 10256"/>
            </a:avLst>
          </a:prstGeom>
          <a:solidFill>
            <a:srgbClr val="F4F7FA"/>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914400"/>
            <a:ext cx="4983480" cy="237744"/>
          </a:xfrm>
          <a:prstGeom prst="rect">
            <a:avLst/>
          </a:prstGeom>
          <a:noFill/>
        </p:spPr>
        <p:txBody>
          <a:bodyPr wrap="square" lIns="0" rIns="0" tIns="0" bIns="0" anchor="t">
            <a:spAutoFit/>
          </a:bodyPr>
          <a:lstStyle/>
          <a:p>
            <a:pPr algn="l">
              <a:lnSpc>
                <a:spcPct val="100000"/>
              </a:lnSpc>
            </a:pPr>
            <a:r>
              <a:rPr sz="1050" b="1" i="0">
                <a:solidFill>
                  <a:srgbClr val="028090"/>
                </a:solidFill>
                <a:latin typeface="DejaVu Sans"/>
              </a:rPr>
              <a:t>ЧТО ЗДЕСЬ НОВОГО У ИИ-ПРОДУКТА</a:t>
            </a:r>
          </a:p>
        </p:txBody>
      </p:sp>
      <p:sp>
        <p:nvSpPr>
          <p:cNvPr id="16" name="Rounded Rectangle 15"/>
          <p:cNvSpPr/>
          <p:nvPr/>
        </p:nvSpPr>
        <p:spPr>
          <a:xfrm>
            <a:off x="6629400" y="1298448"/>
            <a:ext cx="3749039" cy="1225296"/>
          </a:xfrm>
          <a:prstGeom prst="roundRect">
            <a:avLst>
              <a:gd name="adj" fmla="val 12437"/>
            </a:avLst>
          </a:prstGeom>
          <a:solidFill>
            <a:srgbClr val="FFFFFF"/>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6830568" y="2340863"/>
            <a:ext cx="3438144" cy="0"/>
          </a:xfrm>
          <a:prstGeom prst="line">
            <a:avLst/>
          </a:prstGeom>
          <a:ln w="12700">
            <a:solidFill>
              <a:srgbClr val="5B667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830568" y="1408176"/>
            <a:ext cx="0" cy="932687"/>
          </a:xfrm>
          <a:prstGeom prst="line">
            <a:avLst/>
          </a:prstGeom>
          <a:ln w="12700">
            <a:solidFill>
              <a:srgbClr val="5B667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6830568" y="1481328"/>
            <a:ext cx="3319272" cy="859535"/>
          </a:xfrm>
          <a:prstGeom prst="line">
            <a:avLst/>
          </a:prstGeom>
          <a:ln w="30480">
            <a:solidFill>
              <a:srgbClr val="F0AB00"/>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830568" y="1762597"/>
            <a:ext cx="730239" cy="354421"/>
          </a:xfrm>
          <a:prstGeom prst="line">
            <a:avLst/>
          </a:prstGeom>
          <a:ln w="30480">
            <a:solidFill>
              <a:srgbClr val="065A82"/>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7560807" y="2117018"/>
            <a:ext cx="863011" cy="121250"/>
          </a:xfrm>
          <a:prstGeom prst="line">
            <a:avLst/>
          </a:prstGeom>
          <a:ln w="30480">
            <a:solidFill>
              <a:srgbClr val="065A82"/>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8423818" y="2238268"/>
            <a:ext cx="863011" cy="46634"/>
          </a:xfrm>
          <a:prstGeom prst="line">
            <a:avLst/>
          </a:prstGeom>
          <a:ln w="30480">
            <a:solidFill>
              <a:srgbClr val="065A82"/>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9286829" y="2284902"/>
            <a:ext cx="863011" cy="18654"/>
          </a:xfrm>
          <a:prstGeom prst="line">
            <a:avLst/>
          </a:prstGeom>
          <a:ln w="30480">
            <a:solidFill>
              <a:srgbClr val="065A82"/>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0451592" y="1389888"/>
            <a:ext cx="1188720" cy="402336"/>
          </a:xfrm>
          <a:prstGeom prst="rect">
            <a:avLst/>
          </a:prstGeom>
          <a:noFill/>
        </p:spPr>
        <p:txBody>
          <a:bodyPr wrap="square" lIns="0" rIns="0" tIns="0" bIns="0" anchor="t">
            <a:spAutoFit/>
          </a:bodyPr>
          <a:lstStyle/>
          <a:p>
            <a:pPr algn="l">
              <a:lnSpc>
                <a:spcPct val="100000"/>
              </a:lnSpc>
            </a:pPr>
            <a:r>
              <a:rPr sz="950" b="1" i="0">
                <a:solidFill>
                  <a:srgbClr val="F0AB00"/>
                </a:solidFill>
                <a:latin typeface="DejaVu Sans"/>
              </a:rPr>
              <a:t>ИИ-продукт</a:t>
            </a:r>
          </a:p>
        </p:txBody>
      </p:sp>
      <p:sp>
        <p:nvSpPr>
          <p:cNvPr id="25" name="TextBox 24"/>
          <p:cNvSpPr txBox="1"/>
          <p:nvPr/>
        </p:nvSpPr>
        <p:spPr>
          <a:xfrm>
            <a:off x="10451592" y="1993391"/>
            <a:ext cx="1188720" cy="402336"/>
          </a:xfrm>
          <a:prstGeom prst="rect">
            <a:avLst/>
          </a:prstGeom>
          <a:noFill/>
        </p:spPr>
        <p:txBody>
          <a:bodyPr wrap="square" lIns="0" rIns="0" tIns="0" bIns="0" anchor="t">
            <a:spAutoFit/>
          </a:bodyPr>
          <a:lstStyle/>
          <a:p>
            <a:pPr algn="l">
              <a:lnSpc>
                <a:spcPct val="100000"/>
              </a:lnSpc>
            </a:pPr>
            <a:r>
              <a:rPr sz="950" b="1" i="0">
                <a:solidFill>
                  <a:srgbClr val="065A82"/>
                </a:solidFill>
                <a:latin typeface="DejaVu Sans"/>
              </a:rPr>
              <a:t>обычная</a:t>
            </a:r>
          </a:p>
          <a:p>
            <a:pPr algn="l">
              <a:lnSpc>
                <a:spcPct val="100000"/>
              </a:lnSpc>
            </a:pPr>
            <a:r>
              <a:rPr sz="950" b="1" i="0">
                <a:solidFill>
                  <a:srgbClr val="065A82"/>
                </a:solidFill>
                <a:latin typeface="DejaVu Sans"/>
              </a:rPr>
              <a:t>программа</a:t>
            </a:r>
          </a:p>
        </p:txBody>
      </p:sp>
      <p:sp>
        <p:nvSpPr>
          <p:cNvPr id="26" name="TextBox 25"/>
          <p:cNvSpPr txBox="1"/>
          <p:nvPr/>
        </p:nvSpPr>
        <p:spPr>
          <a:xfrm>
            <a:off x="6492240" y="2551175"/>
            <a:ext cx="4983480" cy="201168"/>
          </a:xfrm>
          <a:prstGeom prst="rect">
            <a:avLst/>
          </a:prstGeom>
          <a:noFill/>
        </p:spPr>
        <p:txBody>
          <a:bodyPr wrap="square" lIns="0" rIns="0" tIns="0" bIns="0" anchor="t">
            <a:spAutoFit/>
          </a:bodyPr>
          <a:lstStyle/>
          <a:p>
            <a:pPr algn="l">
              <a:lnSpc>
                <a:spcPct val="100000"/>
              </a:lnSpc>
            </a:pPr>
            <a:r>
              <a:rPr sz="840" b="0" i="1">
                <a:solidFill>
                  <a:srgbClr val="5B6678"/>
                </a:solidFill>
                <a:latin typeface="DejaVu Sans"/>
              </a:rPr>
              <a:t>горизонталь — число запросов · вертикаль — расходы на обслуживание</a:t>
            </a:r>
          </a:p>
        </p:txBody>
      </p:sp>
      <p:sp>
        <p:nvSpPr>
          <p:cNvPr id="27" name="TextBox 26"/>
          <p:cNvSpPr txBox="1"/>
          <p:nvPr/>
        </p:nvSpPr>
        <p:spPr>
          <a:xfrm>
            <a:off x="6492240" y="2798064"/>
            <a:ext cx="4983480" cy="868680"/>
          </a:xfrm>
          <a:prstGeom prst="rect">
            <a:avLst/>
          </a:prstGeom>
          <a:noFill/>
        </p:spPr>
        <p:txBody>
          <a:bodyPr wrap="square" lIns="0" rIns="0" tIns="0" bIns="0" anchor="t">
            <a:spAutoFit/>
          </a:bodyPr>
          <a:lstStyle/>
          <a:p>
            <a:pPr algn="l">
              <a:lnSpc>
                <a:spcPct val="116000"/>
              </a:lnSpc>
            </a:pPr>
            <a:r>
              <a:rPr sz="1150" b="0" i="0">
                <a:solidFill>
                  <a:srgbClr val="21295C"/>
                </a:solidFill>
                <a:latin typeface="DejaVu Sans"/>
              </a:rPr>
              <a:t>У обычной программы обслуживание ещё одного пользователя почти ничего не стоит: сервер оплачен. У ИИ-продукта каждое обращение — </a:t>
            </a:r>
            <a:r>
              <a:rPr sz="1150" b="1" i="0">
                <a:solidFill>
                  <a:srgbClr val="065A82"/>
                </a:solidFill>
                <a:latin typeface="DejaVu Sans"/>
              </a:rPr>
              <a:t>платный вызов модели</a:t>
            </a:r>
            <a:r>
              <a:rPr sz="1150" b="0" i="0">
                <a:solidFill>
                  <a:srgbClr val="21295C"/>
                </a:solidFill>
                <a:latin typeface="DejaVu Sans"/>
              </a:rPr>
              <a:t>.</a:t>
            </a:r>
          </a:p>
        </p:txBody>
      </p:sp>
      <p:sp>
        <p:nvSpPr>
          <p:cNvPr id="28" name="Rounded Rectangle 27"/>
          <p:cNvSpPr/>
          <p:nvPr/>
        </p:nvSpPr>
        <p:spPr>
          <a:xfrm>
            <a:off x="502920" y="3913632"/>
            <a:ext cx="11201400" cy="1188720"/>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 y="4005072"/>
            <a:ext cx="10744200" cy="237744"/>
          </a:xfrm>
          <a:prstGeom prst="rect">
            <a:avLst/>
          </a:prstGeom>
          <a:noFill/>
        </p:spPr>
        <p:txBody>
          <a:bodyPr wrap="square" lIns="0" rIns="0" tIns="0" bIns="0" anchor="t">
            <a:spAutoFit/>
          </a:bodyPr>
          <a:lstStyle/>
          <a:p>
            <a:pPr algn="l">
              <a:lnSpc>
                <a:spcPct val="100000"/>
              </a:lnSpc>
            </a:pPr>
            <a:r>
              <a:rPr sz="1050" b="1" i="0">
                <a:solidFill>
                  <a:srgbClr val="065A82"/>
                </a:solidFill>
                <a:latin typeface="DejaVu Sans"/>
              </a:rPr>
              <a:t>ЧТО БУДЕТ, ЕСЛИ НЕ РЕШАТЬ</a:t>
            </a:r>
          </a:p>
        </p:txBody>
      </p:sp>
      <p:sp>
        <p:nvSpPr>
          <p:cNvPr id="30" name="TextBox 29"/>
          <p:cNvSpPr txBox="1"/>
          <p:nvPr/>
        </p:nvSpPr>
        <p:spPr>
          <a:xfrm>
            <a:off x="731520" y="4297680"/>
            <a:ext cx="10744200" cy="731520"/>
          </a:xfrm>
          <a:prstGeom prst="rect">
            <a:avLst/>
          </a:prstGeom>
          <a:noFill/>
        </p:spPr>
        <p:txBody>
          <a:bodyPr wrap="square" lIns="0" rIns="0" tIns="0" bIns="0" anchor="t">
            <a:spAutoFit/>
          </a:bodyPr>
          <a:lstStyle/>
          <a:p>
            <a:pPr algn="l">
              <a:lnSpc>
                <a:spcPct val="116000"/>
              </a:lnSpc>
            </a:pPr>
            <a:r>
              <a:rPr sz="1150" b="0" i="0">
                <a:solidFill>
                  <a:srgbClr val="21295C"/>
                </a:solidFill>
                <a:latin typeface="DejaVu Sans"/>
              </a:rPr>
              <a:t>Инициатива, которую никто не закрыл, не исчезает: она продолжает тратить людей и деньги, не показывая результата. </a:t>
            </a:r>
            <a:r>
              <a:rPr sz="1150" b="1" i="0">
                <a:solidFill>
                  <a:srgbClr val="065A82"/>
                </a:solidFill>
                <a:latin typeface="DejaVu Sans"/>
              </a:rPr>
              <a:t>Deloitte, 2026:</a:t>
            </a:r>
            <a:r>
              <a:rPr sz="1150" b="0" i="0">
                <a:solidFill>
                  <a:srgbClr val="21295C"/>
                </a:solidFill>
                <a:latin typeface="DejaVu Sans"/>
              </a:rPr>
              <a:t> 42% технологических руководителей сообщают о низком или нулевом возврате вложенного. </a:t>
            </a:r>
            <a:r>
              <a:rPr sz="1150" b="1" i="0">
                <a:solidFill>
                  <a:srgbClr val="065A82"/>
                </a:solidFill>
                <a:latin typeface="DejaVu Sans"/>
              </a:rPr>
              <a:t>Boston Consulting Group, январь 2026</a:t>
            </a:r>
            <a:r>
              <a:rPr sz="1150" b="0" i="0">
                <a:solidFill>
                  <a:srgbClr val="21295C"/>
                </a:solidFill>
                <a:latin typeface="DejaVu Sans"/>
              </a:rPr>
              <a:t> (2 360 руководителей): измеримую отдачу — снижение расходов или рост выручки — видят 6% компаний.</a:t>
            </a:r>
          </a:p>
        </p:txBody>
      </p:sp>
      <p:sp>
        <p:nvSpPr>
          <p:cNvPr id="31" name="Rounded Rectangle 30"/>
          <p:cNvSpPr/>
          <p:nvPr/>
        </p:nvSpPr>
        <p:spPr>
          <a:xfrm>
            <a:off x="502920" y="5230368"/>
            <a:ext cx="11201400" cy="868680"/>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22376" y="5285231"/>
            <a:ext cx="10762488" cy="758952"/>
          </a:xfrm>
          <a:prstGeom prst="rect">
            <a:avLst/>
          </a:prstGeom>
          <a:noFill/>
        </p:spPr>
        <p:txBody>
          <a:bodyPr wrap="square" lIns="0" rIns="0" tIns="0" bIns="0" anchor="ctr">
            <a:spAutoFit/>
          </a:bodyPr>
          <a:lstStyle/>
          <a:p>
            <a:pPr algn="l">
              <a:lnSpc>
                <a:spcPct val="120000"/>
              </a:lnSpc>
            </a:pPr>
            <a:r>
              <a:rPr sz="1300" b="1" i="0">
                <a:solidFill>
                  <a:srgbClr val="21295C"/>
                </a:solidFill>
                <a:latin typeface="DejaVu Sans"/>
              </a:rPr>
              <a:t>Поэтому продукт, где один запрос стоит дороже, чем приносит, не спасает рост: каждый новый пользователь делает убыток больше. Это арифметика, и её считают до пилота, а не по квартальному счёту.</a:t>
            </a:r>
          </a:p>
        </p:txBody>
      </p:sp>
      <p:sp>
        <p:nvSpPr>
          <p:cNvPr id="33" name="TextBox 32"/>
          <p:cNvSpPr txBox="1"/>
          <p:nvPr/>
        </p:nvSpPr>
        <p:spPr>
          <a:xfrm>
            <a:off x="502920" y="6455664"/>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2"/>
              </a:rPr>
              <a:t>Deloitte — исследование технологического лидерства (2026)</a:t>
            </a:r>
            <a:r>
              <a:rPr sz="850" i="1">
                <a:solidFill>
                  <a:srgbClr val="1C7293"/>
                </a:solidFill>
                <a:latin typeface="DejaVu Sans"/>
              </a:rPr>
              <a:t>   ·   </a:t>
            </a:r>
            <a:r>
              <a:rPr sz="850" b="1" i="1">
                <a:solidFill>
                  <a:srgbClr val="065A82"/>
                </a:solidFill>
                <a:latin typeface="DejaVu Sans"/>
              </a:rPr>
              <a:t>[2] </a:t>
            </a:r>
            <a:r>
              <a:rPr sz="850" i="1">
                <a:solidFill>
                  <a:srgbClr val="1C7293"/>
                </a:solidFill>
                <a:latin typeface="DejaVu Sans"/>
                <a:hlinkClick r:id="rId3"/>
              </a:rPr>
              <a:t>Boston Consulting Group — окупаемость пилотов (2026)</a:t>
            </a:r>
          </a:p>
        </p:txBody>
      </p:sp>
      <p:sp>
        <p:nvSpPr>
          <p:cNvPr id="34" name="TextBox 33"/>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45 / 54</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18872"/>
            <a:ext cx="11201400" cy="325894"/>
          </a:xfrm>
          <a:prstGeom prst="rect">
            <a:avLst/>
          </a:prstGeom>
          <a:noFill/>
        </p:spPr>
        <p:txBody>
          <a:bodyPr wrap="square" lIns="0" rIns="0" tIns="0" bIns="0" anchor="t">
            <a:spAutoFit/>
          </a:bodyPr>
          <a:lstStyle/>
          <a:p>
            <a:pPr algn="l">
              <a:lnSpc>
                <a:spcPct val="110000"/>
              </a:lnSpc>
            </a:pPr>
            <a:r>
              <a:rPr sz="1900" b="1" i="0">
                <a:solidFill>
                  <a:srgbClr val="21295C"/>
                </a:solidFill>
                <a:latin typeface="DejaVu Sans"/>
              </a:rPr>
              <a:t>Считаем, во что обходится один запрос к модели</a:t>
            </a:r>
          </a:p>
        </p:txBody>
      </p:sp>
      <p:sp>
        <p:nvSpPr>
          <p:cNvPr id="3" name="Rounded Rectangle 2"/>
          <p:cNvSpPr/>
          <p:nvPr/>
        </p:nvSpPr>
        <p:spPr>
          <a:xfrm>
            <a:off x="502920" y="536206"/>
            <a:ext cx="1152144" cy="1083455"/>
          </a:xfrm>
          <a:prstGeom prst="roundRect">
            <a:avLst>
              <a:gd name="adj" fmla="val 22000"/>
            </a:avLst>
          </a:prstGeom>
          <a:solidFill>
            <a:srgbClr val="21295C"/>
          </a:solidFill>
          <a:ln w="12700">
            <a:solidFill>
              <a:srgbClr val="2129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36206"/>
            <a:ext cx="1060704" cy="1083455"/>
          </a:xfrm>
          <a:prstGeom prst="rect">
            <a:avLst/>
          </a:prstGeom>
          <a:noFill/>
        </p:spPr>
        <p:txBody>
          <a:bodyPr wrap="square" lIns="0" rIns="0" tIns="0" bIns="0" anchor="ctr">
            <a:spAutoFit/>
          </a:bodyPr>
          <a:lstStyle/>
          <a:p>
            <a:pPr algn="ctr">
              <a:lnSpc>
                <a:spcPct val="102000"/>
              </a:lnSpc>
            </a:pPr>
            <a:r>
              <a:rPr sz="950" b="1" i="0">
                <a:solidFill>
                  <a:srgbClr val="FFFFFF"/>
                </a:solidFill>
                <a:latin typeface="DejaVu Sans"/>
              </a:rPr>
              <a:t>ЧТО ЭТО</a:t>
            </a:r>
          </a:p>
        </p:txBody>
      </p:sp>
      <p:sp>
        <p:nvSpPr>
          <p:cNvPr id="5" name="Rounded Rectangle 4"/>
          <p:cNvSpPr/>
          <p:nvPr/>
        </p:nvSpPr>
        <p:spPr>
          <a:xfrm>
            <a:off x="1801368" y="536206"/>
            <a:ext cx="9902952" cy="1083455"/>
          </a:xfrm>
          <a:prstGeom prst="roundRect">
            <a:avLst>
              <a:gd name="adj" fmla="val 22000"/>
            </a:avLst>
          </a:prstGeom>
          <a:solidFill>
            <a:srgbClr val="FFFFFF"/>
          </a:solidFill>
          <a:ln w="2286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984248" y="627646"/>
            <a:ext cx="9537192" cy="900575"/>
          </a:xfrm>
          <a:prstGeom prst="rect">
            <a:avLst/>
          </a:prstGeom>
          <a:noFill/>
        </p:spPr>
        <p:txBody>
          <a:bodyPr wrap="square" lIns="0" rIns="0" tIns="0" bIns="0" anchor="ctr">
            <a:spAutoFit/>
          </a:bodyPr>
          <a:lstStyle/>
          <a:p>
            <a:pPr algn="l">
              <a:lnSpc>
                <a:spcPct val="114000"/>
              </a:lnSpc>
            </a:pPr>
            <a:r>
              <a:rPr sz="1150" b="0" i="0">
                <a:solidFill>
                  <a:srgbClr val="21295C"/>
                </a:solidFill>
                <a:latin typeface="DejaVu Sans"/>
              </a:rPr>
              <a:t>Расчёт на полстраницы: во что обходится одно обращение пользователя к вашему продукту и сколько оно приносит. Делается на бумаге, до пилота, занимает полчаса. Отвечает на один вопрос — </a:t>
            </a:r>
            <a:r>
              <a:rPr sz="1150" b="1" i="0">
                <a:solidFill>
                  <a:srgbClr val="21295C"/>
                </a:solidFill>
                <a:latin typeface="DejaVu Sans"/>
              </a:rPr>
              <a:t>может ли этот продукт быть прибыльным в принципе</a:t>
            </a:r>
            <a:r>
              <a:rPr sz="1150" b="0" i="0">
                <a:solidFill>
                  <a:srgbClr val="21295C"/>
                </a:solidFill>
                <a:latin typeface="DejaVu Sans"/>
              </a:rPr>
              <a:t>. Платят при этом не за вопрос, а за объём текста: его считают в </a:t>
            </a:r>
            <a:r>
              <a:rPr sz="1150" b="1" i="0">
                <a:solidFill>
                  <a:srgbClr val="21295C"/>
                </a:solidFill>
                <a:latin typeface="DejaVu Sans"/>
              </a:rPr>
              <a:t>токенах</a:t>
            </a:r>
            <a:r>
              <a:rPr sz="1150" b="0" i="0">
                <a:solidFill>
                  <a:srgbClr val="21295C"/>
                </a:solidFill>
                <a:latin typeface="DejaVu Sans"/>
              </a:rPr>
              <a:t> — кусочках слова.</a:t>
            </a:r>
          </a:p>
        </p:txBody>
      </p:sp>
      <p:sp>
        <p:nvSpPr>
          <p:cNvPr id="7" name="Rounded Rectangle 6"/>
          <p:cNvSpPr/>
          <p:nvPr/>
        </p:nvSpPr>
        <p:spPr>
          <a:xfrm>
            <a:off x="502920" y="1683669"/>
            <a:ext cx="1152144" cy="1889597"/>
          </a:xfrm>
          <a:prstGeom prst="roundRect">
            <a:avLst>
              <a:gd name="adj" fmla="val 22000"/>
            </a:avLst>
          </a:prstGeom>
          <a:solidFill>
            <a:srgbClr val="065A82"/>
          </a:solidFill>
          <a:ln w="1270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683669"/>
            <a:ext cx="1060704" cy="1889597"/>
          </a:xfrm>
          <a:prstGeom prst="rect">
            <a:avLst/>
          </a:prstGeom>
          <a:noFill/>
        </p:spPr>
        <p:txBody>
          <a:bodyPr wrap="square" lIns="0" rIns="0" tIns="0" bIns="0" anchor="ctr">
            <a:spAutoFit/>
          </a:bodyPr>
          <a:lstStyle/>
          <a:p>
            <a:pPr algn="ctr">
              <a:lnSpc>
                <a:spcPct val="102000"/>
              </a:lnSpc>
            </a:pPr>
            <a:r>
              <a:rPr sz="950" b="1" i="0">
                <a:solidFill>
                  <a:srgbClr val="FFFFFF"/>
                </a:solidFill>
                <a:latin typeface="DejaVu Sans"/>
              </a:rPr>
              <a:t>МЕХАНИЗМ</a:t>
            </a:r>
          </a:p>
        </p:txBody>
      </p:sp>
      <p:sp>
        <p:nvSpPr>
          <p:cNvPr id="9" name="Rounded Rectangle 8"/>
          <p:cNvSpPr/>
          <p:nvPr/>
        </p:nvSpPr>
        <p:spPr>
          <a:xfrm>
            <a:off x="1801368" y="1683669"/>
            <a:ext cx="9902952" cy="1889597"/>
          </a:xfrm>
          <a:prstGeom prst="roundRect">
            <a:avLst>
              <a:gd name="adj" fmla="val 1613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984248" y="1788825"/>
            <a:ext cx="214884" cy="2148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984248" y="1788825"/>
            <a:ext cx="214884" cy="214884"/>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1</a:t>
            </a:r>
          </a:p>
        </p:txBody>
      </p:sp>
      <p:sp>
        <p:nvSpPr>
          <p:cNvPr id="12" name="TextBox 11"/>
          <p:cNvSpPr txBox="1"/>
          <p:nvPr/>
        </p:nvSpPr>
        <p:spPr>
          <a:xfrm>
            <a:off x="2295144" y="1775109"/>
            <a:ext cx="5568696" cy="378673"/>
          </a:xfrm>
          <a:prstGeom prst="rect">
            <a:avLst/>
          </a:prstGeom>
          <a:noFill/>
        </p:spPr>
        <p:txBody>
          <a:bodyPr wrap="square" lIns="0" rIns="0" tIns="0" bIns="0" anchor="t">
            <a:spAutoFit/>
          </a:bodyPr>
          <a:lstStyle/>
          <a:p>
            <a:pPr algn="l">
              <a:lnSpc>
                <a:spcPct val="115000"/>
              </a:lnSpc>
            </a:pPr>
            <a:r>
              <a:rPr sz="1000" b="1" i="0">
                <a:solidFill>
                  <a:srgbClr val="065A82"/>
                </a:solidFill>
                <a:latin typeface="DejaVu Sans"/>
              </a:rPr>
              <a:t>Объём текста туда и обратно.</a:t>
            </a:r>
            <a:r>
              <a:rPr sz="1000" b="0" i="0">
                <a:solidFill>
                  <a:srgbClr val="21295C"/>
                </a:solidFill>
                <a:latin typeface="DejaVu Sans"/>
              </a:rPr>
              <a:t> Русский текст на ту же мысль занимает заметно больше английского — и платят за это тоже.</a:t>
            </a:r>
          </a:p>
        </p:txBody>
      </p:sp>
      <p:sp>
        <p:nvSpPr>
          <p:cNvPr id="13" name="Oval 12"/>
          <p:cNvSpPr/>
          <p:nvPr/>
        </p:nvSpPr>
        <p:spPr>
          <a:xfrm>
            <a:off x="1984248" y="2231507"/>
            <a:ext cx="214884" cy="2148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984248" y="2231507"/>
            <a:ext cx="214884" cy="214884"/>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2</a:t>
            </a:r>
          </a:p>
        </p:txBody>
      </p:sp>
      <p:sp>
        <p:nvSpPr>
          <p:cNvPr id="15" name="TextBox 14"/>
          <p:cNvSpPr txBox="1"/>
          <p:nvPr/>
        </p:nvSpPr>
        <p:spPr>
          <a:xfrm>
            <a:off x="2295144" y="2217791"/>
            <a:ext cx="5568696" cy="378673"/>
          </a:xfrm>
          <a:prstGeom prst="rect">
            <a:avLst/>
          </a:prstGeom>
          <a:noFill/>
        </p:spPr>
        <p:txBody>
          <a:bodyPr wrap="square" lIns="0" rIns="0" tIns="0" bIns="0" anchor="t">
            <a:spAutoFit/>
          </a:bodyPr>
          <a:lstStyle/>
          <a:p>
            <a:pPr algn="l">
              <a:lnSpc>
                <a:spcPct val="115000"/>
              </a:lnSpc>
            </a:pPr>
            <a:r>
              <a:rPr sz="1000" b="1" i="0">
                <a:solidFill>
                  <a:srgbClr val="065A82"/>
                </a:solidFill>
                <a:latin typeface="DejaVu Sans"/>
              </a:rPr>
              <a:t>Сколько шагов модель делает, прежде чем ответить.</a:t>
            </a:r>
            <a:r>
              <a:rPr sz="1000" b="0" i="0">
                <a:solidFill>
                  <a:srgbClr val="21295C"/>
                </a:solidFill>
                <a:latin typeface="DejaVu Sans"/>
              </a:rPr>
              <a:t> Промежуточные рассуждения пользователь не видит, но оплачивает как ответ.</a:t>
            </a:r>
          </a:p>
        </p:txBody>
      </p:sp>
      <p:sp>
        <p:nvSpPr>
          <p:cNvPr id="16" name="Oval 15"/>
          <p:cNvSpPr/>
          <p:nvPr/>
        </p:nvSpPr>
        <p:spPr>
          <a:xfrm>
            <a:off x="1984248" y="2674188"/>
            <a:ext cx="214884" cy="2148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984248" y="2674188"/>
            <a:ext cx="214884" cy="214884"/>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3</a:t>
            </a:r>
          </a:p>
        </p:txBody>
      </p:sp>
      <p:sp>
        <p:nvSpPr>
          <p:cNvPr id="18" name="TextBox 17"/>
          <p:cNvSpPr txBox="1"/>
          <p:nvPr/>
        </p:nvSpPr>
        <p:spPr>
          <a:xfrm>
            <a:off x="2295144" y="2660472"/>
            <a:ext cx="5568696" cy="378673"/>
          </a:xfrm>
          <a:prstGeom prst="rect">
            <a:avLst/>
          </a:prstGeom>
          <a:noFill/>
        </p:spPr>
        <p:txBody>
          <a:bodyPr wrap="square" lIns="0" rIns="0" tIns="0" bIns="0" anchor="t">
            <a:spAutoFit/>
          </a:bodyPr>
          <a:lstStyle/>
          <a:p>
            <a:pPr algn="l">
              <a:lnSpc>
                <a:spcPct val="115000"/>
              </a:lnSpc>
            </a:pPr>
            <a:r>
              <a:rPr sz="1000" b="1" i="0">
                <a:solidFill>
                  <a:srgbClr val="065A82"/>
                </a:solidFill>
                <a:latin typeface="DejaVu Sans"/>
              </a:rPr>
              <a:t>Как часто приходится переспрашивать.</a:t>
            </a:r>
            <a:r>
              <a:rPr sz="1000" b="0" i="0">
                <a:solidFill>
                  <a:srgbClr val="21295C"/>
                </a:solidFill>
                <a:latin typeface="DejaVu Sans"/>
              </a:rPr>
              <a:t> Неудачная попытка стоит столько же, сколько удачная.</a:t>
            </a:r>
          </a:p>
        </p:txBody>
      </p:sp>
      <p:sp>
        <p:nvSpPr>
          <p:cNvPr id="19" name="Oval 18"/>
          <p:cNvSpPr/>
          <p:nvPr/>
        </p:nvSpPr>
        <p:spPr>
          <a:xfrm>
            <a:off x="1984248" y="3116870"/>
            <a:ext cx="214884" cy="2148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84248" y="3116870"/>
            <a:ext cx="214884" cy="214884"/>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4</a:t>
            </a:r>
          </a:p>
        </p:txBody>
      </p:sp>
      <p:sp>
        <p:nvSpPr>
          <p:cNvPr id="21" name="TextBox 20"/>
          <p:cNvSpPr txBox="1"/>
          <p:nvPr/>
        </p:nvSpPr>
        <p:spPr>
          <a:xfrm>
            <a:off x="2295144" y="3103154"/>
            <a:ext cx="5568696" cy="378673"/>
          </a:xfrm>
          <a:prstGeom prst="rect">
            <a:avLst/>
          </a:prstGeom>
          <a:noFill/>
        </p:spPr>
        <p:txBody>
          <a:bodyPr wrap="square" lIns="0" rIns="0" tIns="0" bIns="0" anchor="t">
            <a:spAutoFit/>
          </a:bodyPr>
          <a:lstStyle/>
          <a:p>
            <a:pPr algn="l">
              <a:lnSpc>
                <a:spcPct val="115000"/>
              </a:lnSpc>
            </a:pPr>
            <a:r>
              <a:rPr sz="1000" b="1" i="0">
                <a:solidFill>
                  <a:srgbClr val="065A82"/>
                </a:solidFill>
                <a:latin typeface="DejaVu Sans"/>
              </a:rPr>
              <a:t>Что удалось не пересчитывать заново.</a:t>
            </a:r>
            <a:r>
              <a:rPr sz="1000" b="0" i="0">
                <a:solidFill>
                  <a:srgbClr val="21295C"/>
                </a:solidFill>
                <a:latin typeface="DejaVu Sans"/>
              </a:rPr>
              <a:t> Повторяющаяся часть запроса читается из памяти дешевле, чем разбирается с нуля.</a:t>
            </a:r>
          </a:p>
        </p:txBody>
      </p:sp>
      <p:sp>
        <p:nvSpPr>
          <p:cNvPr id="22" name="Rounded Rectangle 21"/>
          <p:cNvSpPr/>
          <p:nvPr/>
        </p:nvSpPr>
        <p:spPr>
          <a:xfrm>
            <a:off x="8138160" y="1957989"/>
            <a:ext cx="969264" cy="548640"/>
          </a:xfrm>
          <a:prstGeom prst="roundRect">
            <a:avLst>
              <a:gd name="adj" fmla="val 19444"/>
            </a:avLst>
          </a:prstGeom>
          <a:solidFill>
            <a:srgbClr val="FFFFFF"/>
          </a:solidFill>
          <a:ln w="2032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74736" y="1957989"/>
            <a:ext cx="896112" cy="548640"/>
          </a:xfrm>
          <a:prstGeom prst="rect">
            <a:avLst/>
          </a:prstGeom>
          <a:noFill/>
        </p:spPr>
        <p:txBody>
          <a:bodyPr wrap="square" lIns="0" rIns="0" tIns="0" bIns="0" anchor="ctr">
            <a:spAutoFit/>
          </a:bodyPr>
          <a:lstStyle/>
          <a:p>
            <a:pPr algn="ctr">
              <a:lnSpc>
                <a:spcPct val="104000"/>
              </a:lnSpc>
            </a:pPr>
            <a:r>
              <a:rPr sz="819" b="1" i="0">
                <a:solidFill>
                  <a:srgbClr val="21295C"/>
                </a:solidFill>
                <a:latin typeface="DejaVu Sans"/>
              </a:rPr>
              <a:t>объём текста</a:t>
            </a:r>
          </a:p>
          <a:p>
            <a:pPr algn="ctr">
              <a:lnSpc>
                <a:spcPct val="104000"/>
              </a:lnSpc>
            </a:pPr>
            <a:r>
              <a:rPr sz="819" b="1" i="0">
                <a:solidFill>
                  <a:srgbClr val="21295C"/>
                </a:solidFill>
                <a:latin typeface="DejaVu Sans"/>
              </a:rPr>
              <a:t>вход + выход</a:t>
            </a:r>
          </a:p>
        </p:txBody>
      </p:sp>
      <p:sp>
        <p:nvSpPr>
          <p:cNvPr id="24" name="TextBox 23"/>
          <p:cNvSpPr txBox="1"/>
          <p:nvPr/>
        </p:nvSpPr>
        <p:spPr>
          <a:xfrm>
            <a:off x="9107424" y="1957989"/>
            <a:ext cx="237744" cy="548640"/>
          </a:xfrm>
          <a:prstGeom prst="rect">
            <a:avLst/>
          </a:prstGeom>
          <a:noFill/>
        </p:spPr>
        <p:txBody>
          <a:bodyPr wrap="square" lIns="0" rIns="0" tIns="0" bIns="0" anchor="ctr">
            <a:spAutoFit/>
          </a:bodyPr>
          <a:lstStyle/>
          <a:p>
            <a:pPr algn="ctr">
              <a:lnSpc>
                <a:spcPct val="100000"/>
              </a:lnSpc>
            </a:pPr>
            <a:r>
              <a:rPr sz="1300" b="1" i="0">
                <a:solidFill>
                  <a:srgbClr val="5B6678"/>
                </a:solidFill>
                <a:latin typeface="DejaVu Sans"/>
              </a:rPr>
              <a:t>×</a:t>
            </a:r>
          </a:p>
        </p:txBody>
      </p:sp>
      <p:sp>
        <p:nvSpPr>
          <p:cNvPr id="25" name="Rounded Rectangle 24"/>
          <p:cNvSpPr/>
          <p:nvPr/>
        </p:nvSpPr>
        <p:spPr>
          <a:xfrm>
            <a:off x="9345168" y="1957989"/>
            <a:ext cx="969264" cy="548640"/>
          </a:xfrm>
          <a:prstGeom prst="roundRect">
            <a:avLst>
              <a:gd name="adj" fmla="val 19444"/>
            </a:avLst>
          </a:prstGeom>
          <a:solidFill>
            <a:srgbClr val="FDF3DC"/>
          </a:solidFill>
          <a:ln w="2032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381744" y="1957989"/>
            <a:ext cx="896112" cy="548640"/>
          </a:xfrm>
          <a:prstGeom prst="rect">
            <a:avLst/>
          </a:prstGeom>
          <a:noFill/>
        </p:spPr>
        <p:txBody>
          <a:bodyPr wrap="square" lIns="0" rIns="0" tIns="0" bIns="0" anchor="ctr">
            <a:spAutoFit/>
          </a:bodyPr>
          <a:lstStyle/>
          <a:p>
            <a:pPr algn="ctr">
              <a:lnSpc>
                <a:spcPct val="104000"/>
              </a:lnSpc>
            </a:pPr>
            <a:r>
              <a:rPr sz="819" b="1" i="0">
                <a:solidFill>
                  <a:srgbClr val="21295C"/>
                </a:solidFill>
                <a:latin typeface="DejaVu Sans"/>
              </a:rPr>
              <a:t>шагов</a:t>
            </a:r>
          </a:p>
          <a:p>
            <a:pPr algn="ctr">
              <a:lnSpc>
                <a:spcPct val="104000"/>
              </a:lnSpc>
            </a:pPr>
            <a:r>
              <a:rPr sz="819" b="1" i="0">
                <a:solidFill>
                  <a:srgbClr val="21295C"/>
                </a:solidFill>
                <a:latin typeface="DejaVu Sans"/>
              </a:rPr>
              <a:t>модели</a:t>
            </a:r>
          </a:p>
        </p:txBody>
      </p:sp>
      <p:sp>
        <p:nvSpPr>
          <p:cNvPr id="27" name="TextBox 26"/>
          <p:cNvSpPr txBox="1"/>
          <p:nvPr/>
        </p:nvSpPr>
        <p:spPr>
          <a:xfrm>
            <a:off x="10314432" y="1957989"/>
            <a:ext cx="237744" cy="548640"/>
          </a:xfrm>
          <a:prstGeom prst="rect">
            <a:avLst/>
          </a:prstGeom>
          <a:noFill/>
        </p:spPr>
        <p:txBody>
          <a:bodyPr wrap="square" lIns="0" rIns="0" tIns="0" bIns="0" anchor="ctr">
            <a:spAutoFit/>
          </a:bodyPr>
          <a:lstStyle/>
          <a:p>
            <a:pPr algn="ctr">
              <a:lnSpc>
                <a:spcPct val="100000"/>
              </a:lnSpc>
            </a:pPr>
            <a:r>
              <a:rPr sz="1300" b="1" i="0">
                <a:solidFill>
                  <a:srgbClr val="5B6678"/>
                </a:solidFill>
                <a:latin typeface="DejaVu Sans"/>
              </a:rPr>
              <a:t>×</a:t>
            </a:r>
          </a:p>
        </p:txBody>
      </p:sp>
      <p:sp>
        <p:nvSpPr>
          <p:cNvPr id="28" name="Rounded Rectangle 27"/>
          <p:cNvSpPr/>
          <p:nvPr/>
        </p:nvSpPr>
        <p:spPr>
          <a:xfrm>
            <a:off x="10552176" y="1957989"/>
            <a:ext cx="969264" cy="548640"/>
          </a:xfrm>
          <a:prstGeom prst="roundRect">
            <a:avLst>
              <a:gd name="adj" fmla="val 19444"/>
            </a:avLst>
          </a:prstGeom>
          <a:solidFill>
            <a:srgbClr val="FFFFFF"/>
          </a:solidFill>
          <a:ln w="2032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88752" y="1957989"/>
            <a:ext cx="896112" cy="548640"/>
          </a:xfrm>
          <a:prstGeom prst="rect">
            <a:avLst/>
          </a:prstGeom>
          <a:noFill/>
        </p:spPr>
        <p:txBody>
          <a:bodyPr wrap="square" lIns="0" rIns="0" tIns="0" bIns="0" anchor="ctr">
            <a:spAutoFit/>
          </a:bodyPr>
          <a:lstStyle/>
          <a:p>
            <a:pPr algn="ctr">
              <a:lnSpc>
                <a:spcPct val="104000"/>
              </a:lnSpc>
            </a:pPr>
            <a:r>
              <a:rPr sz="819" b="1" i="0">
                <a:solidFill>
                  <a:srgbClr val="21295C"/>
                </a:solidFill>
                <a:latin typeface="DejaVu Sans"/>
              </a:rPr>
              <a:t>повторных</a:t>
            </a:r>
          </a:p>
          <a:p>
            <a:pPr algn="ctr">
              <a:lnSpc>
                <a:spcPct val="104000"/>
              </a:lnSpc>
            </a:pPr>
            <a:r>
              <a:rPr sz="819" b="1" i="0">
                <a:solidFill>
                  <a:srgbClr val="21295C"/>
                </a:solidFill>
                <a:latin typeface="DejaVu Sans"/>
              </a:rPr>
              <a:t>попыток</a:t>
            </a:r>
          </a:p>
        </p:txBody>
      </p:sp>
      <p:pic>
        <p:nvPicPr>
          <p:cNvPr id="30" name="Picture 29" descr="eye-off-gold.png"/>
          <p:cNvPicPr>
            <a:picLocks noChangeAspect="1"/>
          </p:cNvPicPr>
          <p:nvPr/>
        </p:nvPicPr>
        <p:blipFill>
          <a:blip r:embed="rId2"/>
          <a:stretch>
            <a:fillRect/>
          </a:stretch>
        </p:blipFill>
        <p:spPr>
          <a:xfrm>
            <a:off x="10113264" y="1976277"/>
            <a:ext cx="164592" cy="164592"/>
          </a:xfrm>
          <a:prstGeom prst="rect">
            <a:avLst/>
          </a:prstGeom>
        </p:spPr>
      </p:pic>
      <p:sp>
        <p:nvSpPr>
          <p:cNvPr id="31" name="TextBox 30"/>
          <p:cNvSpPr txBox="1"/>
          <p:nvPr/>
        </p:nvSpPr>
        <p:spPr>
          <a:xfrm>
            <a:off x="8138160" y="2561493"/>
            <a:ext cx="3383280" cy="457200"/>
          </a:xfrm>
          <a:prstGeom prst="rect">
            <a:avLst/>
          </a:prstGeom>
          <a:noFill/>
        </p:spPr>
        <p:txBody>
          <a:bodyPr wrap="square" lIns="0" rIns="0" tIns="0" bIns="0" anchor="t">
            <a:spAutoFit/>
          </a:bodyPr>
          <a:lstStyle/>
          <a:p>
            <a:pPr algn="ctr">
              <a:lnSpc>
                <a:spcPct val="105000"/>
              </a:lnSpc>
            </a:pPr>
            <a:r>
              <a:rPr sz="840" b="0" i="1">
                <a:solidFill>
                  <a:srgbClr val="5B6678"/>
                </a:solidFill>
                <a:latin typeface="DejaVu Sans"/>
              </a:rPr>
              <a:t>стоимость обращения — произведение трёх величин; золотую пользователь не видит в ответе, но оплачивает как ответ</a:t>
            </a:r>
          </a:p>
        </p:txBody>
      </p:sp>
      <p:sp>
        <p:nvSpPr>
          <p:cNvPr id="32" name="Rounded Rectangle 31"/>
          <p:cNvSpPr/>
          <p:nvPr/>
        </p:nvSpPr>
        <p:spPr>
          <a:xfrm>
            <a:off x="502920" y="3637275"/>
            <a:ext cx="1152144" cy="1074020"/>
          </a:xfrm>
          <a:prstGeom prst="roundRect">
            <a:avLst>
              <a:gd name="adj" fmla="val 22000"/>
            </a:avLst>
          </a:prstGeom>
          <a:solidFill>
            <a:srgbClr val="1C7293"/>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48640" y="3637275"/>
            <a:ext cx="1060704" cy="1074020"/>
          </a:xfrm>
          <a:prstGeom prst="rect">
            <a:avLst/>
          </a:prstGeom>
          <a:noFill/>
        </p:spPr>
        <p:txBody>
          <a:bodyPr wrap="square" lIns="0" rIns="0" tIns="0" bIns="0" anchor="ctr">
            <a:spAutoFit/>
          </a:bodyPr>
          <a:lstStyle/>
          <a:p>
            <a:pPr algn="ctr">
              <a:lnSpc>
                <a:spcPct val="102000"/>
              </a:lnSpc>
            </a:pPr>
            <a:r>
              <a:rPr sz="950" b="1" i="0">
                <a:solidFill>
                  <a:srgbClr val="FFFFFF"/>
                </a:solidFill>
                <a:latin typeface="DejaVu Sans"/>
              </a:rPr>
              <a:t>С ИИ И БЕЗ ИИ</a:t>
            </a:r>
          </a:p>
        </p:txBody>
      </p:sp>
      <p:sp>
        <p:nvSpPr>
          <p:cNvPr id="34" name="Rounded Rectangle 33"/>
          <p:cNvSpPr/>
          <p:nvPr/>
        </p:nvSpPr>
        <p:spPr>
          <a:xfrm>
            <a:off x="1801368" y="3637275"/>
            <a:ext cx="9902952" cy="1074020"/>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1984248" y="3728715"/>
            <a:ext cx="4677156" cy="891140"/>
          </a:xfrm>
          <a:prstGeom prst="roundRect">
            <a:avLst>
              <a:gd name="adj" fmla="val 19444"/>
            </a:avLst>
          </a:prstGeom>
          <a:solidFill>
            <a:srgbClr val="FFFFFF"/>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084831" y="3774435"/>
            <a:ext cx="4475988" cy="219456"/>
          </a:xfrm>
          <a:prstGeom prst="rect">
            <a:avLst/>
          </a:prstGeom>
          <a:noFill/>
        </p:spPr>
        <p:txBody>
          <a:bodyPr wrap="square" lIns="0" rIns="0" tIns="0" bIns="0" anchor="t">
            <a:spAutoFit/>
          </a:bodyPr>
          <a:lstStyle/>
          <a:p>
            <a:pPr algn="l">
              <a:lnSpc>
                <a:spcPct val="100000"/>
              </a:lnSpc>
            </a:pPr>
            <a:r>
              <a:rPr sz="919" b="1" i="0">
                <a:solidFill>
                  <a:srgbClr val="065A82"/>
                </a:solidFill>
                <a:latin typeface="DejaVu Sans"/>
              </a:rPr>
              <a:t>БЕЗ ИИ — и это считают первым</a:t>
            </a:r>
          </a:p>
        </p:txBody>
      </p:sp>
      <p:sp>
        <p:nvSpPr>
          <p:cNvPr id="37" name="TextBox 36"/>
          <p:cNvSpPr txBox="1"/>
          <p:nvPr/>
        </p:nvSpPr>
        <p:spPr>
          <a:xfrm>
            <a:off x="2084831" y="4003035"/>
            <a:ext cx="4475988" cy="561956"/>
          </a:xfrm>
          <a:prstGeom prst="rect">
            <a:avLst/>
          </a:prstGeom>
          <a:noFill/>
        </p:spPr>
        <p:txBody>
          <a:bodyPr wrap="square" lIns="0" rIns="0" tIns="0" bIns="0" anchor="t">
            <a:spAutoFit/>
          </a:bodyPr>
          <a:lstStyle/>
          <a:p>
            <a:pPr algn="l">
              <a:lnSpc>
                <a:spcPct val="112000"/>
              </a:lnSpc>
            </a:pPr>
            <a:r>
              <a:rPr sz="950" b="0" i="0">
                <a:solidFill>
                  <a:srgbClr val="21295C"/>
                </a:solidFill>
                <a:latin typeface="DejaVu Sans"/>
              </a:rPr>
              <a:t>Если задачу решает обычный код, правило или поиск по базе, </a:t>
            </a:r>
            <a:r>
              <a:rPr sz="950" b="1" i="0">
                <a:solidFill>
                  <a:srgbClr val="21295C"/>
                </a:solidFill>
                <a:latin typeface="DejaVu Sans"/>
              </a:rPr>
              <a:t>модель не зовут вообще</a:t>
            </a:r>
            <a:r>
              <a:rPr sz="950" b="0" i="0">
                <a:solidFill>
                  <a:srgbClr val="21295C"/>
                </a:solidFill>
                <a:latin typeface="DejaVu Sans"/>
              </a:rPr>
              <a:t>. Сравнивать стоимость запроса нужно именно с этим вариантом.</a:t>
            </a:r>
          </a:p>
        </p:txBody>
      </p:sp>
      <p:sp>
        <p:nvSpPr>
          <p:cNvPr id="38" name="Rounded Rectangle 37"/>
          <p:cNvSpPr/>
          <p:nvPr/>
        </p:nvSpPr>
        <p:spPr>
          <a:xfrm>
            <a:off x="6844284" y="3728715"/>
            <a:ext cx="4677156" cy="891140"/>
          </a:xfrm>
          <a:prstGeom prst="roundRect">
            <a:avLst>
              <a:gd name="adj" fmla="val 19444"/>
            </a:avLst>
          </a:prstGeom>
          <a:solidFill>
            <a:srgbClr val="FFFFFF"/>
          </a:solidFill>
          <a:ln w="1778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944868" y="3774435"/>
            <a:ext cx="4475988" cy="219456"/>
          </a:xfrm>
          <a:prstGeom prst="rect">
            <a:avLst/>
          </a:prstGeom>
          <a:noFill/>
        </p:spPr>
        <p:txBody>
          <a:bodyPr wrap="square" lIns="0" rIns="0" tIns="0" bIns="0" anchor="t">
            <a:spAutoFit/>
          </a:bodyPr>
          <a:lstStyle/>
          <a:p>
            <a:pPr algn="l">
              <a:lnSpc>
                <a:spcPct val="100000"/>
              </a:lnSpc>
            </a:pPr>
            <a:r>
              <a:rPr sz="919" b="1" i="0">
                <a:solidFill>
                  <a:srgbClr val="028090"/>
                </a:solidFill>
                <a:latin typeface="DejaVu Sans"/>
              </a:rPr>
              <a:t>С ИИ — что делают к 2026 году</a:t>
            </a:r>
          </a:p>
        </p:txBody>
      </p:sp>
      <p:sp>
        <p:nvSpPr>
          <p:cNvPr id="40" name="TextBox 39"/>
          <p:cNvSpPr txBox="1"/>
          <p:nvPr/>
        </p:nvSpPr>
        <p:spPr>
          <a:xfrm>
            <a:off x="6944868" y="4003035"/>
            <a:ext cx="4475988" cy="561956"/>
          </a:xfrm>
          <a:prstGeom prst="rect">
            <a:avLst/>
          </a:prstGeom>
          <a:noFill/>
        </p:spPr>
        <p:txBody>
          <a:bodyPr wrap="square" lIns="0" rIns="0" tIns="0" bIns="0" anchor="t">
            <a:spAutoFit/>
          </a:bodyPr>
          <a:lstStyle/>
          <a:p>
            <a:pPr algn="l">
              <a:lnSpc>
                <a:spcPct val="112000"/>
              </a:lnSpc>
            </a:pPr>
            <a:r>
              <a:rPr sz="950" b="0" i="0">
                <a:solidFill>
                  <a:srgbClr val="21295C"/>
                </a:solidFill>
                <a:latin typeface="DejaVu Sans"/>
              </a:rPr>
              <a:t>Запрос направляют </a:t>
            </a:r>
            <a:r>
              <a:rPr sz="950" b="1" i="0">
                <a:solidFill>
                  <a:srgbClr val="21295C"/>
                </a:solidFill>
                <a:latin typeface="DejaVu Sans"/>
              </a:rPr>
              <a:t>самой дешёвой модели, которая справляется</a:t>
            </a:r>
            <a:r>
              <a:rPr sz="950" b="0" i="0">
                <a:solidFill>
                  <a:srgbClr val="21295C"/>
                </a:solidFill>
                <a:latin typeface="DejaVu Sans"/>
              </a:rPr>
              <a:t>, а к дорогой поднимают только не прошедшее по качеству: счёт падает на 40–85%.</a:t>
            </a:r>
          </a:p>
        </p:txBody>
      </p:sp>
      <p:sp>
        <p:nvSpPr>
          <p:cNvPr id="41" name="Rounded Rectangle 40"/>
          <p:cNvSpPr/>
          <p:nvPr/>
        </p:nvSpPr>
        <p:spPr>
          <a:xfrm>
            <a:off x="502920" y="4775303"/>
            <a:ext cx="1152144" cy="984117"/>
          </a:xfrm>
          <a:prstGeom prst="roundRect">
            <a:avLst>
              <a:gd name="adj" fmla="val 22000"/>
            </a:avLst>
          </a:prstGeom>
          <a:solidFill>
            <a:srgbClr val="F0AB00"/>
          </a:solidFill>
          <a:ln w="127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48640" y="4775303"/>
            <a:ext cx="1060704" cy="984117"/>
          </a:xfrm>
          <a:prstGeom prst="rect">
            <a:avLst/>
          </a:prstGeom>
          <a:noFill/>
        </p:spPr>
        <p:txBody>
          <a:bodyPr wrap="square" lIns="0" rIns="0" tIns="0" bIns="0" anchor="ctr">
            <a:spAutoFit/>
          </a:bodyPr>
          <a:lstStyle/>
          <a:p>
            <a:pPr algn="ctr">
              <a:lnSpc>
                <a:spcPct val="102000"/>
              </a:lnSpc>
            </a:pPr>
            <a:r>
              <a:rPr sz="950" b="1" i="0">
                <a:solidFill>
                  <a:srgbClr val="21295C"/>
                </a:solidFill>
                <a:latin typeface="DejaVu Sans"/>
              </a:rPr>
              <a:t>ГДЕ НЕ РАБОТАЕТ</a:t>
            </a:r>
          </a:p>
        </p:txBody>
      </p:sp>
      <p:sp>
        <p:nvSpPr>
          <p:cNvPr id="43" name="Rounded Rectangle 42"/>
          <p:cNvSpPr/>
          <p:nvPr/>
        </p:nvSpPr>
        <p:spPr>
          <a:xfrm>
            <a:off x="1801368" y="4775303"/>
            <a:ext cx="9902952" cy="984117"/>
          </a:xfrm>
          <a:prstGeom prst="roundRect">
            <a:avLst>
              <a:gd name="adj" fmla="val 22000"/>
            </a:avLst>
          </a:prstGeom>
          <a:solidFill>
            <a:srgbClr val="FDF3DC"/>
          </a:solidFill>
          <a:ln w="317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984248" y="4866743"/>
            <a:ext cx="9537192" cy="801237"/>
          </a:xfrm>
          <a:prstGeom prst="rect">
            <a:avLst/>
          </a:prstGeom>
          <a:noFill/>
        </p:spPr>
        <p:txBody>
          <a:bodyPr wrap="square" lIns="0" rIns="0" tIns="0" bIns="0" anchor="ctr">
            <a:spAutoFit/>
          </a:bodyPr>
          <a:lstStyle/>
          <a:p>
            <a:pPr algn="l">
              <a:lnSpc>
                <a:spcPct val="114000"/>
              </a:lnSpc>
            </a:pPr>
            <a:r>
              <a:rPr sz="1000" b="1" i="0">
                <a:solidFill>
                  <a:srgbClr val="21295C"/>
                </a:solidFill>
                <a:latin typeface="DejaVu Sans"/>
              </a:rPr>
              <a:t>Падение цены за токен не означает падения счёта:</a:t>
            </a:r>
            <a:r>
              <a:rPr sz="1000" b="1" i="0">
                <a:solidFill>
                  <a:srgbClr val="21295C"/>
                </a:solidFill>
                <a:latin typeface="DejaVu Sans"/>
              </a:rPr>
              <a:t> расход растёт быстрее, чем дешевеет единица. Многоагентная схема расходует примерно </a:t>
            </a:r>
            <a:r>
              <a:rPr sz="1000" b="1" i="0">
                <a:solidFill>
                  <a:srgbClr val="21295C"/>
                </a:solidFill>
                <a:latin typeface="DejaVu Sans"/>
              </a:rPr>
              <a:t>в 15 раз больше обычного диалога</a:t>
            </a:r>
            <a:r>
              <a:rPr sz="1000" b="1" i="0">
                <a:solidFill>
                  <a:srgbClr val="21295C"/>
                </a:solidFill>
                <a:latin typeface="DejaVu Sans"/>
              </a:rPr>
              <a:t>. </a:t>
            </a:r>
            <a:r>
              <a:rPr sz="1000" b="1" i="0">
                <a:solidFill>
                  <a:srgbClr val="21295C"/>
                </a:solidFill>
                <a:latin typeface="DejaVu Sans"/>
              </a:rPr>
              <a:t>Считать бесполезно, если не с чем сравнить:</a:t>
            </a:r>
            <a:r>
              <a:rPr sz="1000" b="1" i="0">
                <a:solidFill>
                  <a:srgbClr val="21295C"/>
                </a:solidFill>
                <a:latin typeface="DejaVu Sans"/>
              </a:rPr>
              <a:t> без цены того же результата без ИИ это учёт расходов, а не экономика. И </a:t>
            </a:r>
            <a:r>
              <a:rPr sz="1000" b="1" i="0">
                <a:solidFill>
                  <a:srgbClr val="21295C"/>
                </a:solidFill>
                <a:latin typeface="DejaVu Sans"/>
              </a:rPr>
              <a:t>стоимость запроса — ограничитель, а не цель:</a:t>
            </a:r>
            <a:r>
              <a:rPr sz="1000" b="1" i="0">
                <a:solidFill>
                  <a:srgbClr val="21295C"/>
                </a:solidFill>
                <a:latin typeface="DejaVu Sans"/>
              </a:rPr>
              <a:t> если давить именно её, получатся короткие и бесполезные ответы.</a:t>
            </a:r>
          </a:p>
        </p:txBody>
      </p:sp>
      <p:sp>
        <p:nvSpPr>
          <p:cNvPr id="45" name="TextBox 44"/>
          <p:cNvSpPr txBox="1"/>
          <p:nvPr/>
        </p:nvSpPr>
        <p:spPr>
          <a:xfrm>
            <a:off x="502920" y="6437376"/>
            <a:ext cx="10515600" cy="201168"/>
          </a:xfrm>
          <a:prstGeom prst="rect">
            <a:avLst/>
          </a:prstGeom>
          <a:noFill/>
        </p:spPr>
        <p:txBody>
          <a:bodyPr wrap="square" lIns="0" rIns="0" tIns="0" bIns="0" anchor="t">
            <a:spAutoFit/>
          </a:bodyPr>
          <a:lstStyle/>
          <a:p>
            <a:pPr algn="l">
              <a:lnSpc>
                <a:spcPct val="100000"/>
              </a:lnSpc>
            </a:pPr>
            <a:r>
              <a:rPr sz="900" b="0" i="1">
                <a:solidFill>
                  <a:srgbClr val="1C7293"/>
                </a:solidFill>
                <a:latin typeface="DejaVu Sans"/>
              </a:rPr>
              <a:t>Расходами на ИИ занимаются 98% команд по управлению расходами против 31% двумя годами раньше — FinOps Foundation, 2026; многоагентная схема расходует примерно в 15 раз больше обычного диалога — Anthropic, инженерный разбор</a:t>
            </a:r>
          </a:p>
        </p:txBody>
      </p:sp>
      <p:sp>
        <p:nvSpPr>
          <p:cNvPr id="46" name="TextBox 45"/>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46 / 54</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18872"/>
            <a:ext cx="11201400" cy="584758"/>
          </a:xfrm>
          <a:prstGeom prst="rect">
            <a:avLst/>
          </a:prstGeom>
          <a:noFill/>
        </p:spPr>
        <p:txBody>
          <a:bodyPr wrap="square" lIns="0" rIns="0" tIns="0" bIns="0" anchor="t">
            <a:spAutoFit/>
          </a:bodyPr>
          <a:lstStyle/>
          <a:p>
            <a:pPr algn="l">
              <a:lnSpc>
                <a:spcPct val="110000"/>
              </a:lnSpc>
            </a:pPr>
            <a:r>
              <a:rPr sz="1800" b="1" i="0">
                <a:solidFill>
                  <a:srgbClr val="21295C"/>
                </a:solidFill>
                <a:latin typeface="DejaVu Sans"/>
              </a:rPr>
              <a:t>Записываем, при каком результате пилот закрывают, — до того как включим</a:t>
            </a:r>
          </a:p>
        </p:txBody>
      </p:sp>
      <p:sp>
        <p:nvSpPr>
          <p:cNvPr id="3" name="Rounded Rectangle 2"/>
          <p:cNvSpPr/>
          <p:nvPr/>
        </p:nvSpPr>
        <p:spPr>
          <a:xfrm>
            <a:off x="502920" y="795070"/>
            <a:ext cx="1152144" cy="1083455"/>
          </a:xfrm>
          <a:prstGeom prst="roundRect">
            <a:avLst>
              <a:gd name="adj" fmla="val 22000"/>
            </a:avLst>
          </a:prstGeom>
          <a:solidFill>
            <a:srgbClr val="21295C"/>
          </a:solidFill>
          <a:ln w="12700">
            <a:solidFill>
              <a:srgbClr val="2129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795070"/>
            <a:ext cx="1060704" cy="1083455"/>
          </a:xfrm>
          <a:prstGeom prst="rect">
            <a:avLst/>
          </a:prstGeom>
          <a:noFill/>
        </p:spPr>
        <p:txBody>
          <a:bodyPr wrap="square" lIns="0" rIns="0" tIns="0" bIns="0" anchor="ctr">
            <a:spAutoFit/>
          </a:bodyPr>
          <a:lstStyle/>
          <a:p>
            <a:pPr algn="ctr">
              <a:lnSpc>
                <a:spcPct val="102000"/>
              </a:lnSpc>
            </a:pPr>
            <a:r>
              <a:rPr sz="950" b="1" i="0">
                <a:solidFill>
                  <a:srgbClr val="FFFFFF"/>
                </a:solidFill>
                <a:latin typeface="DejaVu Sans"/>
              </a:rPr>
              <a:t>ЧТО ЭТО</a:t>
            </a:r>
          </a:p>
        </p:txBody>
      </p:sp>
      <p:sp>
        <p:nvSpPr>
          <p:cNvPr id="5" name="Rounded Rectangle 4"/>
          <p:cNvSpPr/>
          <p:nvPr/>
        </p:nvSpPr>
        <p:spPr>
          <a:xfrm>
            <a:off x="1801368" y="795070"/>
            <a:ext cx="9902952" cy="1083455"/>
          </a:xfrm>
          <a:prstGeom prst="roundRect">
            <a:avLst>
              <a:gd name="adj" fmla="val 22000"/>
            </a:avLst>
          </a:prstGeom>
          <a:solidFill>
            <a:srgbClr val="FFFFFF"/>
          </a:solidFill>
          <a:ln w="2286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984248" y="886510"/>
            <a:ext cx="9537192" cy="900575"/>
          </a:xfrm>
          <a:prstGeom prst="rect">
            <a:avLst/>
          </a:prstGeom>
          <a:noFill/>
        </p:spPr>
        <p:txBody>
          <a:bodyPr wrap="square" lIns="0" rIns="0" tIns="0" bIns="0" anchor="ctr">
            <a:spAutoFit/>
          </a:bodyPr>
          <a:lstStyle/>
          <a:p>
            <a:pPr algn="l">
              <a:lnSpc>
                <a:spcPct val="114000"/>
              </a:lnSpc>
            </a:pPr>
            <a:r>
              <a:rPr sz="1150" b="0" i="0">
                <a:solidFill>
                  <a:srgbClr val="21295C"/>
                </a:solidFill>
                <a:latin typeface="DejaVu Sans"/>
              </a:rPr>
              <a:t>Одна заранее записанная фраза с числами, по которой через несколько недель видно: продолжать или закрывать. Ближайший знакомый аналог — </a:t>
            </a:r>
            <a:r>
              <a:rPr sz="1150" b="1" i="0">
                <a:solidFill>
                  <a:srgbClr val="21295C"/>
                </a:solidFill>
                <a:latin typeface="DejaVu Sans"/>
              </a:rPr>
              <a:t>приёмочный критерий в техническом задании</a:t>
            </a:r>
            <a:r>
              <a:rPr sz="1150" b="0" i="0">
                <a:solidFill>
                  <a:srgbClr val="21295C"/>
                </a:solidFill>
                <a:latin typeface="DejaVu Sans"/>
              </a:rPr>
              <a:t>, только не про функциональность, а про деньги. Число, названное после результата, объясняет результат, а не проверяет его.</a:t>
            </a:r>
          </a:p>
        </p:txBody>
      </p:sp>
      <p:sp>
        <p:nvSpPr>
          <p:cNvPr id="7" name="Rounded Rectangle 6"/>
          <p:cNvSpPr/>
          <p:nvPr/>
        </p:nvSpPr>
        <p:spPr>
          <a:xfrm>
            <a:off x="502920" y="1942534"/>
            <a:ext cx="1152144" cy="1865376"/>
          </a:xfrm>
          <a:prstGeom prst="roundRect">
            <a:avLst>
              <a:gd name="adj" fmla="val 22000"/>
            </a:avLst>
          </a:prstGeom>
          <a:solidFill>
            <a:srgbClr val="065A82"/>
          </a:solidFill>
          <a:ln w="1270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942534"/>
            <a:ext cx="1060704" cy="1865376"/>
          </a:xfrm>
          <a:prstGeom prst="rect">
            <a:avLst/>
          </a:prstGeom>
          <a:noFill/>
        </p:spPr>
        <p:txBody>
          <a:bodyPr wrap="square" lIns="0" rIns="0" tIns="0" bIns="0" anchor="ctr">
            <a:spAutoFit/>
          </a:bodyPr>
          <a:lstStyle/>
          <a:p>
            <a:pPr algn="ctr">
              <a:lnSpc>
                <a:spcPct val="102000"/>
              </a:lnSpc>
            </a:pPr>
            <a:r>
              <a:rPr sz="950" b="1" i="0">
                <a:solidFill>
                  <a:srgbClr val="FFFFFF"/>
                </a:solidFill>
                <a:latin typeface="DejaVu Sans"/>
              </a:rPr>
              <a:t>МЕХАНИЗМ</a:t>
            </a:r>
          </a:p>
        </p:txBody>
      </p:sp>
      <p:sp>
        <p:nvSpPr>
          <p:cNvPr id="9" name="Rounded Rectangle 8"/>
          <p:cNvSpPr/>
          <p:nvPr/>
        </p:nvSpPr>
        <p:spPr>
          <a:xfrm>
            <a:off x="1801368" y="1942534"/>
            <a:ext cx="9902952" cy="1865376"/>
          </a:xfrm>
          <a:prstGeom prst="roundRect">
            <a:avLst>
              <a:gd name="adj" fmla="val 16339"/>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984248" y="2047690"/>
            <a:ext cx="214884" cy="2148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984248" y="2047690"/>
            <a:ext cx="214884" cy="214884"/>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1</a:t>
            </a:r>
          </a:p>
        </p:txBody>
      </p:sp>
      <p:sp>
        <p:nvSpPr>
          <p:cNvPr id="12" name="TextBox 11"/>
          <p:cNvSpPr txBox="1"/>
          <p:nvPr/>
        </p:nvSpPr>
        <p:spPr>
          <a:xfrm>
            <a:off x="2295144" y="2033974"/>
            <a:ext cx="4288536" cy="213111"/>
          </a:xfrm>
          <a:prstGeom prst="rect">
            <a:avLst/>
          </a:prstGeom>
          <a:noFill/>
        </p:spPr>
        <p:txBody>
          <a:bodyPr wrap="square" lIns="0" rIns="0" tIns="0" bIns="0" anchor="t">
            <a:spAutoFit/>
          </a:bodyPr>
          <a:lstStyle/>
          <a:p>
            <a:pPr algn="l">
              <a:lnSpc>
                <a:spcPct val="115000"/>
              </a:lnSpc>
            </a:pPr>
            <a:r>
              <a:rPr sz="1000" b="1" i="0">
                <a:solidFill>
                  <a:srgbClr val="065A82"/>
                </a:solidFill>
                <a:latin typeface="DejaVu Sans"/>
              </a:rPr>
              <a:t>Что улучшаем</a:t>
            </a:r>
            <a:r>
              <a:rPr sz="1000" b="0" i="0">
                <a:solidFill>
                  <a:srgbClr val="21295C"/>
                </a:solidFill>
                <a:latin typeface="DejaVu Sans"/>
              </a:rPr>
              <a:t> — и с какой величины до какой.</a:t>
            </a:r>
          </a:p>
        </p:txBody>
      </p:sp>
      <p:sp>
        <p:nvSpPr>
          <p:cNvPr id="13" name="Oval 12"/>
          <p:cNvSpPr/>
          <p:nvPr/>
        </p:nvSpPr>
        <p:spPr>
          <a:xfrm>
            <a:off x="1984248" y="2324809"/>
            <a:ext cx="214884" cy="2148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984248" y="2324809"/>
            <a:ext cx="214884" cy="214884"/>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2</a:t>
            </a:r>
          </a:p>
        </p:txBody>
      </p:sp>
      <p:sp>
        <p:nvSpPr>
          <p:cNvPr id="15" name="TextBox 14"/>
          <p:cNvSpPr txBox="1"/>
          <p:nvPr/>
        </p:nvSpPr>
        <p:spPr>
          <a:xfrm>
            <a:off x="2295144" y="2311093"/>
            <a:ext cx="4288536" cy="378673"/>
          </a:xfrm>
          <a:prstGeom prst="rect">
            <a:avLst/>
          </a:prstGeom>
          <a:noFill/>
        </p:spPr>
        <p:txBody>
          <a:bodyPr wrap="square" lIns="0" rIns="0" tIns="0" bIns="0" anchor="t">
            <a:spAutoFit/>
          </a:bodyPr>
          <a:lstStyle/>
          <a:p>
            <a:pPr algn="l">
              <a:lnSpc>
                <a:spcPct val="115000"/>
              </a:lnSpc>
            </a:pPr>
            <a:r>
              <a:rPr sz="1000" b="1" i="0">
                <a:solidFill>
                  <a:srgbClr val="065A82"/>
                </a:solidFill>
                <a:latin typeface="DejaVu Sans"/>
              </a:rPr>
              <a:t>Чего при этом нельзя ухудшить</a:t>
            </a:r>
            <a:r>
              <a:rPr sz="1000" b="0" i="0">
                <a:solidFill>
                  <a:srgbClr val="21295C"/>
                </a:solidFill>
                <a:latin typeface="DejaVu Sans"/>
              </a:rPr>
              <a:t> — одна-две величины-ограничителя.</a:t>
            </a:r>
          </a:p>
        </p:txBody>
      </p:sp>
      <p:sp>
        <p:nvSpPr>
          <p:cNvPr id="16" name="Oval 15"/>
          <p:cNvSpPr/>
          <p:nvPr/>
        </p:nvSpPr>
        <p:spPr>
          <a:xfrm>
            <a:off x="1984248" y="2767490"/>
            <a:ext cx="214884" cy="2148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984248" y="2767490"/>
            <a:ext cx="214884" cy="214884"/>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3</a:t>
            </a:r>
          </a:p>
        </p:txBody>
      </p:sp>
      <p:sp>
        <p:nvSpPr>
          <p:cNvPr id="18" name="TextBox 17"/>
          <p:cNvSpPr txBox="1"/>
          <p:nvPr/>
        </p:nvSpPr>
        <p:spPr>
          <a:xfrm>
            <a:off x="2295144" y="2753774"/>
            <a:ext cx="4288536" cy="213111"/>
          </a:xfrm>
          <a:prstGeom prst="rect">
            <a:avLst/>
          </a:prstGeom>
          <a:noFill/>
        </p:spPr>
        <p:txBody>
          <a:bodyPr wrap="square" lIns="0" rIns="0" tIns="0" bIns="0" anchor="t">
            <a:spAutoFit/>
          </a:bodyPr>
          <a:lstStyle/>
          <a:p>
            <a:pPr algn="l">
              <a:lnSpc>
                <a:spcPct val="115000"/>
              </a:lnSpc>
            </a:pPr>
            <a:r>
              <a:rPr sz="1000" b="1" i="0">
                <a:solidFill>
                  <a:srgbClr val="065A82"/>
                </a:solidFill>
                <a:latin typeface="DejaVu Sans"/>
              </a:rPr>
              <a:t>На каком объёме и за какой срок</a:t>
            </a:r>
            <a:r>
              <a:rPr sz="1000" b="0" i="0">
                <a:solidFill>
                  <a:srgbClr val="21295C"/>
                </a:solidFill>
                <a:latin typeface="DejaVu Sans"/>
              </a:rPr>
              <a:t> проверяем.</a:t>
            </a:r>
          </a:p>
        </p:txBody>
      </p:sp>
      <p:sp>
        <p:nvSpPr>
          <p:cNvPr id="19" name="Oval 18"/>
          <p:cNvSpPr/>
          <p:nvPr/>
        </p:nvSpPr>
        <p:spPr>
          <a:xfrm>
            <a:off x="1984248" y="3044609"/>
            <a:ext cx="214884" cy="2148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84248" y="3044609"/>
            <a:ext cx="214884" cy="214884"/>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4</a:t>
            </a:r>
          </a:p>
        </p:txBody>
      </p:sp>
      <p:sp>
        <p:nvSpPr>
          <p:cNvPr id="21" name="TextBox 20"/>
          <p:cNvSpPr txBox="1"/>
          <p:nvPr/>
        </p:nvSpPr>
        <p:spPr>
          <a:xfrm>
            <a:off x="2295144" y="3030893"/>
            <a:ext cx="4288536" cy="544235"/>
          </a:xfrm>
          <a:prstGeom prst="rect">
            <a:avLst/>
          </a:prstGeom>
          <a:noFill/>
        </p:spPr>
        <p:txBody>
          <a:bodyPr wrap="square" lIns="0" rIns="0" tIns="0" bIns="0" anchor="t">
            <a:spAutoFit/>
          </a:bodyPr>
          <a:lstStyle/>
          <a:p>
            <a:pPr algn="l">
              <a:lnSpc>
                <a:spcPct val="115000"/>
              </a:lnSpc>
            </a:pPr>
            <a:r>
              <a:rPr sz="1000" b="1" i="0">
                <a:solidFill>
                  <a:srgbClr val="065A82"/>
                </a:solidFill>
                <a:latin typeface="DejaVu Sans"/>
              </a:rPr>
              <a:t>Кто смотрит и как часто.</a:t>
            </a:r>
            <a:r>
              <a:rPr sz="1000" b="0" i="0">
                <a:solidFill>
                  <a:srgbClr val="21295C"/>
                </a:solidFill>
                <a:latin typeface="DejaVu Sans"/>
              </a:rPr>
              <a:t> Запись делают до включения, с датой и именем: иначе проверить порядок во времени нечем.</a:t>
            </a:r>
          </a:p>
        </p:txBody>
      </p:sp>
      <p:sp>
        <p:nvSpPr>
          <p:cNvPr id="22" name="Rounded Rectangle 21"/>
          <p:cNvSpPr/>
          <p:nvPr/>
        </p:nvSpPr>
        <p:spPr>
          <a:xfrm>
            <a:off x="6858000" y="2070550"/>
            <a:ext cx="4663440" cy="1225296"/>
          </a:xfrm>
          <a:prstGeom prst="roundRect">
            <a:avLst>
              <a:gd name="adj" fmla="val 16583"/>
            </a:avLst>
          </a:prstGeom>
          <a:solidFill>
            <a:srgbClr val="FFFFFF"/>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86016" y="2125414"/>
            <a:ext cx="4407407" cy="1115568"/>
          </a:xfrm>
          <a:prstGeom prst="rect">
            <a:avLst/>
          </a:prstGeom>
          <a:noFill/>
        </p:spPr>
        <p:txBody>
          <a:bodyPr wrap="square" lIns="0" rIns="0" tIns="0" bIns="0" anchor="ctr">
            <a:spAutoFit/>
          </a:bodyPr>
          <a:lstStyle/>
          <a:p>
            <a:pPr algn="l">
              <a:lnSpc>
                <a:spcPct val="114000"/>
              </a:lnSpc>
            </a:pPr>
            <a:r>
              <a:rPr sz="1000" b="0" i="0">
                <a:solidFill>
                  <a:srgbClr val="21295C"/>
                </a:solidFill>
                <a:latin typeface="DejaVu Sans"/>
              </a:rPr>
              <a:t>«Разбор обращений моделью снизит стоимость одного обращения </a:t>
            </a:r>
            <a:r>
              <a:rPr sz="1000" b="1" i="0">
                <a:solidFill>
                  <a:srgbClr val="065A82"/>
                </a:solidFill>
                <a:latin typeface="DejaVu Sans"/>
              </a:rPr>
              <a:t>с 42 ₽ до 15 ₽</a:t>
            </a:r>
            <a:r>
              <a:rPr sz="1000" b="0" i="0">
                <a:solidFill>
                  <a:srgbClr val="21295C"/>
                </a:solidFill>
                <a:latin typeface="DejaVu Sans"/>
              </a:rPr>
              <a:t>, удовлетворённость клиента не упадёт </a:t>
            </a:r>
            <a:r>
              <a:rPr sz="1000" b="1" i="0">
                <a:solidFill>
                  <a:srgbClr val="028090"/>
                </a:solidFill>
                <a:latin typeface="DejaVu Sans"/>
              </a:rPr>
              <a:t>ниже 4,2 из 5</a:t>
            </a:r>
            <a:r>
              <a:rPr sz="1000" b="0" i="0">
                <a:solidFill>
                  <a:srgbClr val="21295C"/>
                </a:solidFill>
                <a:latin typeface="DejaVu Sans"/>
              </a:rPr>
              <a:t>, доля обращений, переданных человеку, не превысит </a:t>
            </a:r>
            <a:r>
              <a:rPr sz="1000" b="1" i="0">
                <a:solidFill>
                  <a:srgbClr val="028090"/>
                </a:solidFill>
                <a:latin typeface="DejaVu Sans"/>
              </a:rPr>
              <a:t>20%</a:t>
            </a:r>
            <a:r>
              <a:rPr sz="1000" b="0" i="0">
                <a:solidFill>
                  <a:srgbClr val="21295C"/>
                </a:solidFill>
                <a:latin typeface="DejaVu Sans"/>
              </a:rPr>
              <a:t>. Проверяем на </a:t>
            </a:r>
            <a:r>
              <a:rPr sz="1000" b="1" i="0">
                <a:solidFill>
                  <a:srgbClr val="1C7293"/>
                </a:solidFill>
                <a:latin typeface="DejaVu Sans"/>
              </a:rPr>
              <a:t>5 000 обращений за 6 недель</a:t>
            </a:r>
            <a:r>
              <a:rPr sz="1000" b="0" i="0">
                <a:solidFill>
                  <a:srgbClr val="21295C"/>
                </a:solidFill>
                <a:latin typeface="DejaVu Sans"/>
              </a:rPr>
              <a:t>. Смотрит </a:t>
            </a:r>
            <a:r>
              <a:rPr sz="1000" b="1" i="0">
                <a:solidFill>
                  <a:srgbClr val="F0AB00"/>
                </a:solidFill>
                <a:latin typeface="DejaVu Sans"/>
              </a:rPr>
              <a:t>руководитель поддержки, раз в неделю</a:t>
            </a:r>
            <a:r>
              <a:rPr sz="1000" b="0" i="0">
                <a:solidFill>
                  <a:srgbClr val="21295C"/>
                </a:solidFill>
                <a:latin typeface="DejaVu Sans"/>
              </a:rPr>
              <a:t>».</a:t>
            </a:r>
          </a:p>
        </p:txBody>
      </p:sp>
      <p:sp>
        <p:nvSpPr>
          <p:cNvPr id="24" name="TextBox 23"/>
          <p:cNvSpPr txBox="1"/>
          <p:nvPr/>
        </p:nvSpPr>
        <p:spPr>
          <a:xfrm>
            <a:off x="6858000" y="3332422"/>
            <a:ext cx="4663440" cy="310896"/>
          </a:xfrm>
          <a:prstGeom prst="rect">
            <a:avLst/>
          </a:prstGeom>
          <a:noFill/>
        </p:spPr>
        <p:txBody>
          <a:bodyPr wrap="square" lIns="0" rIns="0" tIns="0" bIns="0" anchor="t">
            <a:spAutoFit/>
          </a:bodyPr>
          <a:lstStyle/>
          <a:p>
            <a:pPr algn="ctr">
              <a:lnSpc>
                <a:spcPct val="105000"/>
              </a:lnSpc>
            </a:pPr>
            <a:r>
              <a:rPr sz="860" b="0" i="1">
                <a:solidFill>
                  <a:srgbClr val="5B6678"/>
                </a:solidFill>
                <a:latin typeface="DejaVu Sans"/>
              </a:rPr>
              <a:t>заполненный образец: цвет каждой части отвечает своему шагу слева</a:t>
            </a:r>
          </a:p>
        </p:txBody>
      </p:sp>
      <p:sp>
        <p:nvSpPr>
          <p:cNvPr id="25" name="Rounded Rectangle 24"/>
          <p:cNvSpPr/>
          <p:nvPr/>
        </p:nvSpPr>
        <p:spPr>
          <a:xfrm>
            <a:off x="502920" y="3871918"/>
            <a:ext cx="1152144" cy="1227201"/>
          </a:xfrm>
          <a:prstGeom prst="roundRect">
            <a:avLst>
              <a:gd name="adj" fmla="val 22000"/>
            </a:avLst>
          </a:prstGeom>
          <a:solidFill>
            <a:srgbClr val="1C7293"/>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3871918"/>
            <a:ext cx="1060704" cy="1227201"/>
          </a:xfrm>
          <a:prstGeom prst="rect">
            <a:avLst/>
          </a:prstGeom>
          <a:noFill/>
        </p:spPr>
        <p:txBody>
          <a:bodyPr wrap="square" lIns="0" rIns="0" tIns="0" bIns="0" anchor="ctr">
            <a:spAutoFit/>
          </a:bodyPr>
          <a:lstStyle/>
          <a:p>
            <a:pPr algn="ctr">
              <a:lnSpc>
                <a:spcPct val="102000"/>
              </a:lnSpc>
            </a:pPr>
            <a:r>
              <a:rPr sz="950" b="1" i="0">
                <a:solidFill>
                  <a:srgbClr val="FFFFFF"/>
                </a:solidFill>
                <a:latin typeface="DejaVu Sans"/>
              </a:rPr>
              <a:t>С ИИ И БЕЗ ИИ</a:t>
            </a:r>
          </a:p>
        </p:txBody>
      </p:sp>
      <p:sp>
        <p:nvSpPr>
          <p:cNvPr id="27" name="Rounded Rectangle 26"/>
          <p:cNvSpPr/>
          <p:nvPr/>
        </p:nvSpPr>
        <p:spPr>
          <a:xfrm>
            <a:off x="1801368" y="3871918"/>
            <a:ext cx="9902952" cy="1227201"/>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1984248" y="3963358"/>
            <a:ext cx="4677156" cy="1044321"/>
          </a:xfrm>
          <a:prstGeom prst="roundRect">
            <a:avLst>
              <a:gd name="adj" fmla="val 17025"/>
            </a:avLst>
          </a:prstGeom>
          <a:solidFill>
            <a:srgbClr val="FFFFFF"/>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084831" y="4009078"/>
            <a:ext cx="4475988" cy="219456"/>
          </a:xfrm>
          <a:prstGeom prst="rect">
            <a:avLst/>
          </a:prstGeom>
          <a:noFill/>
        </p:spPr>
        <p:txBody>
          <a:bodyPr wrap="square" lIns="0" rIns="0" tIns="0" bIns="0" anchor="t">
            <a:spAutoFit/>
          </a:bodyPr>
          <a:lstStyle/>
          <a:p>
            <a:pPr algn="l">
              <a:lnSpc>
                <a:spcPct val="100000"/>
              </a:lnSpc>
            </a:pPr>
            <a:r>
              <a:rPr sz="919" b="1" i="0">
                <a:solidFill>
                  <a:srgbClr val="065A82"/>
                </a:solidFill>
                <a:latin typeface="DejaVu Sans"/>
              </a:rPr>
              <a:t>БЕЗ ИИ — аппарату полвека</a:t>
            </a:r>
          </a:p>
        </p:txBody>
      </p:sp>
      <p:sp>
        <p:nvSpPr>
          <p:cNvPr id="30" name="TextBox 29"/>
          <p:cNvSpPr txBox="1"/>
          <p:nvPr/>
        </p:nvSpPr>
        <p:spPr>
          <a:xfrm>
            <a:off x="2084831" y="4237678"/>
            <a:ext cx="4475988" cy="715137"/>
          </a:xfrm>
          <a:prstGeom prst="rect">
            <a:avLst/>
          </a:prstGeom>
          <a:noFill/>
        </p:spPr>
        <p:txBody>
          <a:bodyPr wrap="square" lIns="0" rIns="0" tIns="0" bIns="0" anchor="t">
            <a:spAutoFit/>
          </a:bodyPr>
          <a:lstStyle/>
          <a:p>
            <a:pPr algn="l">
              <a:lnSpc>
                <a:spcPct val="112000"/>
              </a:lnSpc>
            </a:pPr>
            <a:r>
              <a:rPr sz="950" b="0" i="0">
                <a:solidFill>
                  <a:srgbClr val="21295C"/>
                </a:solidFill>
                <a:latin typeface="DejaVu Sans"/>
              </a:rPr>
              <a:t>Обоснование вложений с порогом окупаемости и решением на контрольной точке. </a:t>
            </a:r>
            <a:r>
              <a:rPr sz="950" b="1" i="0">
                <a:solidFill>
                  <a:srgbClr val="21295C"/>
                </a:solidFill>
                <a:latin typeface="DejaVu Sans"/>
              </a:rPr>
              <a:t>Изобретать заново нечего</a:t>
            </a:r>
            <a:r>
              <a:rPr sz="950" b="0" i="0">
                <a:solidFill>
                  <a:srgbClr val="21295C"/>
                </a:solidFill>
                <a:latin typeface="DejaVu Sans"/>
              </a:rPr>
              <a:t>, берут готовое.</a:t>
            </a:r>
          </a:p>
        </p:txBody>
      </p:sp>
      <p:sp>
        <p:nvSpPr>
          <p:cNvPr id="31" name="Rounded Rectangle 30"/>
          <p:cNvSpPr/>
          <p:nvPr/>
        </p:nvSpPr>
        <p:spPr>
          <a:xfrm>
            <a:off x="6844284" y="3963358"/>
            <a:ext cx="4677156" cy="1044321"/>
          </a:xfrm>
          <a:prstGeom prst="roundRect">
            <a:avLst>
              <a:gd name="adj" fmla="val 17025"/>
            </a:avLst>
          </a:prstGeom>
          <a:solidFill>
            <a:srgbClr val="FFFFFF"/>
          </a:solidFill>
          <a:ln w="1778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944868" y="4009078"/>
            <a:ext cx="4475988" cy="219456"/>
          </a:xfrm>
          <a:prstGeom prst="rect">
            <a:avLst/>
          </a:prstGeom>
          <a:noFill/>
        </p:spPr>
        <p:txBody>
          <a:bodyPr wrap="square" lIns="0" rIns="0" tIns="0" bIns="0" anchor="t">
            <a:spAutoFit/>
          </a:bodyPr>
          <a:lstStyle/>
          <a:p>
            <a:pPr algn="l">
              <a:lnSpc>
                <a:spcPct val="100000"/>
              </a:lnSpc>
            </a:pPr>
            <a:r>
              <a:rPr sz="919" b="1" i="0">
                <a:solidFill>
                  <a:srgbClr val="028090"/>
                </a:solidFill>
                <a:latin typeface="DejaVu Sans"/>
              </a:rPr>
              <a:t>С ИИ — меняется только ритм</a:t>
            </a:r>
          </a:p>
        </p:txBody>
      </p:sp>
      <p:sp>
        <p:nvSpPr>
          <p:cNvPr id="33" name="TextBox 32"/>
          <p:cNvSpPr txBox="1"/>
          <p:nvPr/>
        </p:nvSpPr>
        <p:spPr>
          <a:xfrm>
            <a:off x="6944868" y="4237678"/>
            <a:ext cx="4475988" cy="715137"/>
          </a:xfrm>
          <a:prstGeom prst="rect">
            <a:avLst/>
          </a:prstGeom>
          <a:noFill/>
        </p:spPr>
        <p:txBody>
          <a:bodyPr wrap="square" lIns="0" rIns="0" tIns="0" bIns="0" anchor="t">
            <a:spAutoFit/>
          </a:bodyPr>
          <a:lstStyle/>
          <a:p>
            <a:pPr algn="l">
              <a:lnSpc>
                <a:spcPct val="112000"/>
              </a:lnSpc>
            </a:pPr>
            <a:r>
              <a:rPr sz="950" b="0" i="0">
                <a:solidFill>
                  <a:srgbClr val="21295C"/>
                </a:solidFill>
                <a:latin typeface="DejaVu Sans"/>
              </a:rPr>
              <a:t>Расход меняется каждый день, а не раз в квартал, поэтому и смотрят еженедельно. А компании меряют активность вместо денег — отсюда разрыв: вкладываются почти все, измеримую отдачу видят </a:t>
            </a:r>
            <a:r>
              <a:rPr sz="950" b="1" i="0">
                <a:solidFill>
                  <a:srgbClr val="21295C"/>
                </a:solidFill>
                <a:latin typeface="DejaVu Sans"/>
              </a:rPr>
              <a:t>6%</a:t>
            </a:r>
            <a:r>
              <a:rPr sz="950" b="0" i="0">
                <a:solidFill>
                  <a:srgbClr val="21295C"/>
                </a:solidFill>
                <a:latin typeface="DejaVu Sans"/>
              </a:rPr>
              <a:t>.</a:t>
            </a:r>
          </a:p>
        </p:txBody>
      </p:sp>
      <p:sp>
        <p:nvSpPr>
          <p:cNvPr id="34" name="Rounded Rectangle 33"/>
          <p:cNvSpPr/>
          <p:nvPr/>
        </p:nvSpPr>
        <p:spPr>
          <a:xfrm>
            <a:off x="502920" y="5163127"/>
            <a:ext cx="1152144" cy="984117"/>
          </a:xfrm>
          <a:prstGeom prst="roundRect">
            <a:avLst>
              <a:gd name="adj" fmla="val 22000"/>
            </a:avLst>
          </a:prstGeom>
          <a:solidFill>
            <a:srgbClr val="F0AB00"/>
          </a:solidFill>
          <a:ln w="127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48640" y="5163127"/>
            <a:ext cx="1060704" cy="984117"/>
          </a:xfrm>
          <a:prstGeom prst="rect">
            <a:avLst/>
          </a:prstGeom>
          <a:noFill/>
        </p:spPr>
        <p:txBody>
          <a:bodyPr wrap="square" lIns="0" rIns="0" tIns="0" bIns="0" anchor="ctr">
            <a:spAutoFit/>
          </a:bodyPr>
          <a:lstStyle/>
          <a:p>
            <a:pPr algn="ctr">
              <a:lnSpc>
                <a:spcPct val="102000"/>
              </a:lnSpc>
            </a:pPr>
            <a:r>
              <a:rPr sz="950" b="1" i="0">
                <a:solidFill>
                  <a:srgbClr val="21295C"/>
                </a:solidFill>
                <a:latin typeface="DejaVu Sans"/>
              </a:rPr>
              <a:t>ГДЕ НЕ РАБОТАЕТ</a:t>
            </a:r>
          </a:p>
        </p:txBody>
      </p:sp>
      <p:sp>
        <p:nvSpPr>
          <p:cNvPr id="36" name="Rounded Rectangle 35"/>
          <p:cNvSpPr/>
          <p:nvPr/>
        </p:nvSpPr>
        <p:spPr>
          <a:xfrm>
            <a:off x="1801368" y="5163127"/>
            <a:ext cx="9902952" cy="984117"/>
          </a:xfrm>
          <a:prstGeom prst="roundRect">
            <a:avLst>
              <a:gd name="adj" fmla="val 22000"/>
            </a:avLst>
          </a:prstGeom>
          <a:solidFill>
            <a:srgbClr val="FDF3DC"/>
          </a:solidFill>
          <a:ln w="317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984248" y="5254567"/>
            <a:ext cx="9537192" cy="801237"/>
          </a:xfrm>
          <a:prstGeom prst="rect">
            <a:avLst/>
          </a:prstGeom>
          <a:noFill/>
        </p:spPr>
        <p:txBody>
          <a:bodyPr wrap="square" lIns="0" rIns="0" tIns="0" bIns="0" anchor="ctr">
            <a:spAutoFit/>
          </a:bodyPr>
          <a:lstStyle/>
          <a:p>
            <a:pPr algn="l">
              <a:lnSpc>
                <a:spcPct val="114000"/>
              </a:lnSpc>
            </a:pPr>
            <a:r>
              <a:rPr sz="1000" b="1" i="0">
                <a:solidFill>
                  <a:srgbClr val="21295C"/>
                </a:solidFill>
                <a:latin typeface="DejaVu Sans"/>
              </a:rPr>
              <a:t>Исходную величину меряют на своём процессе,</a:t>
            </a:r>
            <a:r>
              <a:rPr sz="1000" b="1" i="0">
                <a:solidFill>
                  <a:srgbClr val="21295C"/>
                </a:solidFill>
                <a:latin typeface="DejaVu Sans"/>
              </a:rPr>
              <a:t> а не берут из обещания поставщика: чужая цифра описывает чужой процесс. </a:t>
            </a:r>
            <a:r>
              <a:rPr sz="1000" b="1" i="0">
                <a:solidFill>
                  <a:srgbClr val="21295C"/>
                </a:solidFill>
                <a:latin typeface="DejaVu Sans"/>
              </a:rPr>
              <a:t>Если среди возможных исходов нет «закрываем» — это не критерий:</a:t>
            </a:r>
            <a:r>
              <a:rPr sz="1000" b="1" i="0">
                <a:solidFill>
                  <a:srgbClr val="21295C"/>
                </a:solidFill>
                <a:latin typeface="DejaVu Sans"/>
              </a:rPr>
              <a:t> порог, который нельзя не взять, разрешения не даёт. И </a:t>
            </a:r>
            <a:r>
              <a:rPr sz="1000" b="1" i="0">
                <a:solidFill>
                  <a:srgbClr val="21295C"/>
                </a:solidFill>
                <a:latin typeface="DejaVu Sans"/>
              </a:rPr>
              <a:t>числа, появившиеся после включения, — объяснение результата,</a:t>
            </a:r>
            <a:r>
              <a:rPr sz="1000" b="1" i="0">
                <a:solidFill>
                  <a:srgbClr val="21295C"/>
                </a:solidFill>
                <a:latin typeface="DejaVu Sans"/>
              </a:rPr>
              <a:t> поэтому дату записи и имя проверяют раньше самих чисел.</a:t>
            </a:r>
          </a:p>
        </p:txBody>
      </p:sp>
      <p:sp>
        <p:nvSpPr>
          <p:cNvPr id="38" name="TextBox 37"/>
          <p:cNvSpPr txBox="1"/>
          <p:nvPr/>
        </p:nvSpPr>
        <p:spPr>
          <a:xfrm>
            <a:off x="502920" y="6437376"/>
            <a:ext cx="10515600" cy="201168"/>
          </a:xfrm>
          <a:prstGeom prst="rect">
            <a:avLst/>
          </a:prstGeom>
          <a:noFill/>
        </p:spPr>
        <p:txBody>
          <a:bodyPr wrap="square" lIns="0" rIns="0" tIns="0" bIns="0" anchor="t">
            <a:spAutoFit/>
          </a:bodyPr>
          <a:lstStyle/>
          <a:p>
            <a:pPr algn="l">
              <a:lnSpc>
                <a:spcPct val="100000"/>
              </a:lnSpc>
            </a:pPr>
            <a:r>
              <a:rPr sz="900" b="0" i="1">
                <a:solidFill>
                  <a:srgbClr val="1C7293"/>
                </a:solidFill>
                <a:latin typeface="DejaVu Sans"/>
              </a:rPr>
              <a:t>Компании меряют активность вместо денег в отчёте о прибылях и убытках; измеримую отдачу видят 6% — Boston Consulting Group, 2026</a:t>
            </a:r>
          </a:p>
        </p:txBody>
      </p:sp>
      <p:sp>
        <p:nvSpPr>
          <p:cNvPr id="39" name="TextBox 38"/>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47 / 54</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18872"/>
            <a:ext cx="11201400" cy="566928"/>
          </a:xfrm>
          <a:prstGeom prst="rect">
            <a:avLst/>
          </a:prstGeom>
          <a:noFill/>
        </p:spPr>
        <p:txBody>
          <a:bodyPr wrap="square" lIns="0" rIns="0" tIns="0" bIns="0" anchor="t">
            <a:spAutoFit/>
          </a:bodyPr>
          <a:lstStyle/>
          <a:p>
            <a:pPr algn="l">
              <a:lnSpc>
                <a:spcPct val="110000"/>
              </a:lnSpc>
            </a:pPr>
            <a:r>
              <a:rPr sz="1900" b="1" i="0">
                <a:solidFill>
                  <a:srgbClr val="21295C"/>
                </a:solidFill>
                <a:latin typeface="DejaVu Sans"/>
              </a:rPr>
              <a:t>Узкое место — не модель, а то, как устроена работа вокруг неё</a:t>
            </a:r>
          </a:p>
        </p:txBody>
      </p:sp>
      <p:sp>
        <p:nvSpPr>
          <p:cNvPr id="3" name="Rounded Rectangle 2"/>
          <p:cNvSpPr/>
          <p:nvPr/>
        </p:nvSpPr>
        <p:spPr>
          <a:xfrm>
            <a:off x="502920" y="804672"/>
            <a:ext cx="6537960" cy="1298448"/>
          </a:xfrm>
          <a:prstGeom prst="roundRect">
            <a:avLst>
              <a:gd name="adj" fmla="val 22000"/>
            </a:avLst>
          </a:prstGeom>
          <a:solidFill>
            <a:srgbClr val="F4F7FA"/>
          </a:solidFill>
          <a:ln w="1905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886968"/>
            <a:ext cx="6126480" cy="274320"/>
          </a:xfrm>
          <a:prstGeom prst="rect">
            <a:avLst/>
          </a:prstGeom>
          <a:noFill/>
        </p:spPr>
        <p:txBody>
          <a:bodyPr wrap="square" lIns="0" rIns="0" tIns="0" bIns="0" anchor="t">
            <a:spAutoFit/>
          </a:bodyPr>
          <a:lstStyle/>
          <a:p>
            <a:pPr algn="l">
              <a:lnSpc>
                <a:spcPct val="100000"/>
              </a:lnSpc>
            </a:pPr>
            <a:r>
              <a:rPr sz="1200" b="1" i="0">
                <a:solidFill>
                  <a:srgbClr val="065A82"/>
                </a:solidFill>
                <a:latin typeface="DejaVu Sans"/>
              </a:rPr>
              <a:t>Deloitte, 2026 · более 660 руководителей</a:t>
            </a:r>
          </a:p>
        </p:txBody>
      </p:sp>
      <p:sp>
        <p:nvSpPr>
          <p:cNvPr id="5" name="TextBox 4"/>
          <p:cNvSpPr txBox="1"/>
          <p:nvPr/>
        </p:nvSpPr>
        <p:spPr>
          <a:xfrm>
            <a:off x="713232" y="1207008"/>
            <a:ext cx="6126480" cy="822960"/>
          </a:xfrm>
          <a:prstGeom prst="rect">
            <a:avLst/>
          </a:prstGeom>
          <a:noFill/>
        </p:spPr>
        <p:txBody>
          <a:bodyPr wrap="square" lIns="0" rIns="0" tIns="0" bIns="0" anchor="t">
            <a:spAutoFit/>
          </a:bodyPr>
          <a:lstStyle/>
          <a:p>
            <a:pPr algn="l">
              <a:lnSpc>
                <a:spcPct val="115000"/>
              </a:lnSpc>
            </a:pPr>
            <a:r>
              <a:rPr sz="1080" b="0" i="0">
                <a:solidFill>
                  <a:srgbClr val="21295C"/>
                </a:solidFill>
                <a:latin typeface="DejaVu Sans"/>
              </a:rPr>
              <a:t>81% уверены, что смогут масштабировать ИИ · 75% говорят, что операционная модель обязана измениться · 42% сообщают о низком или нулевом возврате вложенного. Уверенность высокая, готовность — нет.</a:t>
            </a:r>
          </a:p>
        </p:txBody>
      </p:sp>
      <p:cxnSp>
        <p:nvCxnSpPr>
          <p:cNvPr id="6" name="Connector 5"/>
          <p:cNvCxnSpPr/>
          <p:nvPr/>
        </p:nvCxnSpPr>
        <p:spPr>
          <a:xfrm>
            <a:off x="7040880" y="1453895"/>
            <a:ext cx="228600" cy="0"/>
          </a:xfrm>
          <a:prstGeom prst="line">
            <a:avLst/>
          </a:prstGeom>
          <a:ln w="17780">
            <a:solidFill>
              <a:srgbClr val="E5EAF0"/>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502920" y="2176272"/>
            <a:ext cx="6537960" cy="1298448"/>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2258568"/>
            <a:ext cx="6126480" cy="274320"/>
          </a:xfrm>
          <a:prstGeom prst="rect">
            <a:avLst/>
          </a:prstGeom>
          <a:noFill/>
        </p:spPr>
        <p:txBody>
          <a:bodyPr wrap="square" lIns="0" rIns="0" tIns="0" bIns="0" anchor="t">
            <a:spAutoFit/>
          </a:bodyPr>
          <a:lstStyle/>
          <a:p>
            <a:pPr algn="l">
              <a:lnSpc>
                <a:spcPct val="100000"/>
              </a:lnSpc>
            </a:pPr>
            <a:r>
              <a:rPr sz="1200" b="1" i="0">
                <a:solidFill>
                  <a:srgbClr val="1C7293"/>
                </a:solidFill>
                <a:latin typeface="DejaVu Sans"/>
              </a:rPr>
              <a:t>Gartner · прогноз по агентным проектам</a:t>
            </a:r>
          </a:p>
        </p:txBody>
      </p:sp>
      <p:sp>
        <p:nvSpPr>
          <p:cNvPr id="9" name="TextBox 8"/>
          <p:cNvSpPr txBox="1"/>
          <p:nvPr/>
        </p:nvSpPr>
        <p:spPr>
          <a:xfrm>
            <a:off x="713232" y="2578608"/>
            <a:ext cx="6126480" cy="822960"/>
          </a:xfrm>
          <a:prstGeom prst="rect">
            <a:avLst/>
          </a:prstGeom>
          <a:noFill/>
        </p:spPr>
        <p:txBody>
          <a:bodyPr wrap="square" lIns="0" rIns="0" tIns="0" bIns="0" anchor="t">
            <a:spAutoFit/>
          </a:bodyPr>
          <a:lstStyle/>
          <a:p>
            <a:pPr algn="l">
              <a:lnSpc>
                <a:spcPct val="115000"/>
              </a:lnSpc>
            </a:pPr>
            <a:r>
              <a:rPr sz="1080" b="0" i="0">
                <a:solidFill>
                  <a:srgbClr val="21295C"/>
                </a:solidFill>
                <a:latin typeface="DejaVu Sans"/>
              </a:rPr>
              <a:t>Более 40% агентных проектов закроют до конца 2027 года — из-за расходов, неясной ценности и слабого контроля рисков. Из тысяч поставщиков, называющих продукт агентным, реально агентных около 130.</a:t>
            </a:r>
          </a:p>
        </p:txBody>
      </p:sp>
      <p:cxnSp>
        <p:nvCxnSpPr>
          <p:cNvPr id="10" name="Connector 9"/>
          <p:cNvCxnSpPr/>
          <p:nvPr/>
        </p:nvCxnSpPr>
        <p:spPr>
          <a:xfrm>
            <a:off x="7040880" y="2825496"/>
            <a:ext cx="228600" cy="0"/>
          </a:xfrm>
          <a:prstGeom prst="line">
            <a:avLst/>
          </a:prstGeom>
          <a:ln w="17780">
            <a:solidFill>
              <a:srgbClr val="E5EAF0"/>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02920" y="3547872"/>
            <a:ext cx="6537960" cy="1298448"/>
          </a:xfrm>
          <a:prstGeom prst="roundRect">
            <a:avLst>
              <a:gd name="adj" fmla="val 22000"/>
            </a:avLst>
          </a:prstGeom>
          <a:solidFill>
            <a:srgbClr val="F4F7FA"/>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3630168"/>
            <a:ext cx="6126480" cy="274320"/>
          </a:xfrm>
          <a:prstGeom prst="rect">
            <a:avLst/>
          </a:prstGeom>
          <a:noFill/>
        </p:spPr>
        <p:txBody>
          <a:bodyPr wrap="square" lIns="0" rIns="0" tIns="0" bIns="0" anchor="t">
            <a:spAutoFit/>
          </a:bodyPr>
          <a:lstStyle/>
          <a:p>
            <a:pPr algn="l">
              <a:lnSpc>
                <a:spcPct val="100000"/>
              </a:lnSpc>
            </a:pPr>
            <a:r>
              <a:rPr sz="1200" b="1" i="0">
                <a:solidFill>
                  <a:srgbClr val="028090"/>
                </a:solidFill>
                <a:latin typeface="DejaVu Sans"/>
              </a:rPr>
              <a:t>Boston Consulting Group, 2026</a:t>
            </a:r>
          </a:p>
        </p:txBody>
      </p:sp>
      <p:sp>
        <p:nvSpPr>
          <p:cNvPr id="13" name="TextBox 12"/>
          <p:cNvSpPr txBox="1"/>
          <p:nvPr/>
        </p:nvSpPr>
        <p:spPr>
          <a:xfrm>
            <a:off x="713232" y="3950208"/>
            <a:ext cx="6126480" cy="822960"/>
          </a:xfrm>
          <a:prstGeom prst="rect">
            <a:avLst/>
          </a:prstGeom>
          <a:noFill/>
        </p:spPr>
        <p:txBody>
          <a:bodyPr wrap="square" lIns="0" rIns="0" tIns="0" bIns="0" anchor="t">
            <a:spAutoFit/>
          </a:bodyPr>
          <a:lstStyle/>
          <a:p>
            <a:pPr algn="l">
              <a:lnSpc>
                <a:spcPct val="115000"/>
              </a:lnSpc>
            </a:pPr>
            <a:r>
              <a:rPr sz="1080" b="0" i="0">
                <a:solidFill>
                  <a:srgbClr val="21295C"/>
                </a:solidFill>
                <a:latin typeface="DejaVu Sans"/>
              </a:rPr>
              <a:t>Ценность создаёт не алгоритм — на него приходится десятая часть. Самый частый способ не получить ничего: ускорить отдельную задачу, не тронув процесс вокруг неё.</a:t>
            </a:r>
          </a:p>
        </p:txBody>
      </p:sp>
      <p:cxnSp>
        <p:nvCxnSpPr>
          <p:cNvPr id="14" name="Connector 13"/>
          <p:cNvCxnSpPr/>
          <p:nvPr/>
        </p:nvCxnSpPr>
        <p:spPr>
          <a:xfrm>
            <a:off x="7040880" y="4197096"/>
            <a:ext cx="228600" cy="0"/>
          </a:xfrm>
          <a:prstGeom prst="line">
            <a:avLst/>
          </a:prstGeom>
          <a:ln w="17780">
            <a:solidFill>
              <a:srgbClr val="E5EAF0"/>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7269480" y="804672"/>
            <a:ext cx="4434840" cy="4041648"/>
          </a:xfrm>
          <a:prstGeom prst="roundRect">
            <a:avLst>
              <a:gd name="adj" fmla="val 7541"/>
            </a:avLst>
          </a:prstGeom>
          <a:solidFill>
            <a:srgbClr val="F4F7FA"/>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79792" y="914400"/>
            <a:ext cx="4023360" cy="237744"/>
          </a:xfrm>
          <a:prstGeom prst="rect">
            <a:avLst/>
          </a:prstGeom>
          <a:noFill/>
        </p:spPr>
        <p:txBody>
          <a:bodyPr wrap="square" lIns="0" rIns="0" tIns="0" bIns="0" anchor="t">
            <a:spAutoFit/>
          </a:bodyPr>
          <a:lstStyle/>
          <a:p>
            <a:pPr algn="l">
              <a:lnSpc>
                <a:spcPct val="100000"/>
              </a:lnSpc>
            </a:pPr>
            <a:r>
              <a:rPr sz="1050" b="1" i="0">
                <a:solidFill>
                  <a:srgbClr val="21295C"/>
                </a:solidFill>
                <a:latin typeface="DejaVu Sans"/>
              </a:rPr>
              <a:t>ИЗ ЧЕГО СКЛАДЫВАЕТСЯ РЕЗУЛЬТАТ</a:t>
            </a:r>
          </a:p>
        </p:txBody>
      </p:sp>
      <p:sp>
        <p:nvSpPr>
          <p:cNvPr id="17" name="Rounded Rectangle 16"/>
          <p:cNvSpPr/>
          <p:nvPr/>
        </p:nvSpPr>
        <p:spPr>
          <a:xfrm>
            <a:off x="7498079" y="1298448"/>
            <a:ext cx="960120" cy="2112264"/>
          </a:xfrm>
          <a:prstGeom prst="roundRect">
            <a:avLst>
              <a:gd name="adj" fmla="val 6000"/>
            </a:avLst>
          </a:prstGeom>
          <a:solidFill>
            <a:srgbClr val="FDF3DC"/>
          </a:solidFill>
          <a:ln w="2032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79" y="1298448"/>
            <a:ext cx="960120" cy="2112264"/>
          </a:xfrm>
          <a:prstGeom prst="rect">
            <a:avLst/>
          </a:prstGeom>
          <a:noFill/>
        </p:spPr>
        <p:txBody>
          <a:bodyPr wrap="square" lIns="0" rIns="0" tIns="0" bIns="0" anchor="ctr">
            <a:spAutoFit/>
          </a:bodyPr>
          <a:lstStyle/>
          <a:p>
            <a:pPr algn="ctr">
              <a:lnSpc>
                <a:spcPct val="115000"/>
              </a:lnSpc>
            </a:pPr>
            <a:r>
              <a:rPr sz="1400" b="1" i="0">
                <a:solidFill>
                  <a:srgbClr val="21295C"/>
                </a:solidFill>
                <a:latin typeface="DejaVu Sans"/>
              </a:rPr>
              <a:t>70%</a:t>
            </a:r>
          </a:p>
        </p:txBody>
      </p:sp>
      <p:sp>
        <p:nvSpPr>
          <p:cNvPr id="19" name="TextBox 18"/>
          <p:cNvSpPr txBox="1"/>
          <p:nvPr/>
        </p:nvSpPr>
        <p:spPr>
          <a:xfrm>
            <a:off x="8622792" y="1298448"/>
            <a:ext cx="2057400" cy="2112264"/>
          </a:xfrm>
          <a:prstGeom prst="rect">
            <a:avLst/>
          </a:prstGeom>
          <a:noFill/>
        </p:spPr>
        <p:txBody>
          <a:bodyPr wrap="square" lIns="0" rIns="0" tIns="0" bIns="0" anchor="ctr">
            <a:spAutoFit/>
          </a:bodyPr>
          <a:lstStyle/>
          <a:p>
            <a:pPr algn="l">
              <a:lnSpc>
                <a:spcPct val="108000"/>
              </a:lnSpc>
            </a:pPr>
            <a:r>
              <a:rPr sz="1100" b="1" i="0">
                <a:solidFill>
                  <a:srgbClr val="21295C"/>
                </a:solidFill>
                <a:latin typeface="DejaVu Sans"/>
              </a:rPr>
              <a:t>люди и процессы</a:t>
            </a:r>
          </a:p>
          <a:p>
            <a:pPr algn="l">
              <a:lnSpc>
                <a:spcPct val="108000"/>
              </a:lnSpc>
            </a:pPr>
            <a:r>
              <a:rPr sz="1100" b="1" i="0">
                <a:solidFill>
                  <a:srgbClr val="21295C"/>
                </a:solidFill>
                <a:latin typeface="DejaVu Sans"/>
              </a:rPr>
              <a:t>вокруг модели</a:t>
            </a:r>
          </a:p>
        </p:txBody>
      </p:sp>
      <p:sp>
        <p:nvSpPr>
          <p:cNvPr id="20" name="Rounded Rectangle 19"/>
          <p:cNvSpPr/>
          <p:nvPr/>
        </p:nvSpPr>
        <p:spPr>
          <a:xfrm>
            <a:off x="7498079" y="3410712"/>
            <a:ext cx="960120" cy="603504"/>
          </a:xfrm>
          <a:prstGeom prst="roundRect">
            <a:avLst>
              <a:gd name="adj" fmla="val 6000"/>
            </a:avLst>
          </a:prstGeom>
          <a:solidFill>
            <a:srgbClr val="E4F1F2"/>
          </a:solidFill>
          <a:ln w="2032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98079" y="3410712"/>
            <a:ext cx="960120" cy="603504"/>
          </a:xfrm>
          <a:prstGeom prst="rect">
            <a:avLst/>
          </a:prstGeom>
          <a:noFill/>
        </p:spPr>
        <p:txBody>
          <a:bodyPr wrap="square" lIns="0" rIns="0" tIns="0" bIns="0" anchor="ctr">
            <a:spAutoFit/>
          </a:bodyPr>
          <a:lstStyle/>
          <a:p>
            <a:pPr algn="ctr">
              <a:lnSpc>
                <a:spcPct val="115000"/>
              </a:lnSpc>
            </a:pPr>
            <a:r>
              <a:rPr sz="1400" b="1" i="0">
                <a:solidFill>
                  <a:srgbClr val="21295C"/>
                </a:solidFill>
                <a:latin typeface="DejaVu Sans"/>
              </a:rPr>
              <a:t>20%</a:t>
            </a:r>
          </a:p>
        </p:txBody>
      </p:sp>
      <p:sp>
        <p:nvSpPr>
          <p:cNvPr id="22" name="TextBox 21"/>
          <p:cNvSpPr txBox="1"/>
          <p:nvPr/>
        </p:nvSpPr>
        <p:spPr>
          <a:xfrm>
            <a:off x="8622792" y="3410712"/>
            <a:ext cx="2057400" cy="603504"/>
          </a:xfrm>
          <a:prstGeom prst="rect">
            <a:avLst/>
          </a:prstGeom>
          <a:noFill/>
        </p:spPr>
        <p:txBody>
          <a:bodyPr wrap="square" lIns="0" rIns="0" tIns="0" bIns="0" anchor="ctr">
            <a:spAutoFit/>
          </a:bodyPr>
          <a:lstStyle/>
          <a:p>
            <a:pPr algn="l">
              <a:lnSpc>
                <a:spcPct val="108000"/>
              </a:lnSpc>
            </a:pPr>
            <a:r>
              <a:rPr sz="1100" b="1" i="0">
                <a:solidFill>
                  <a:srgbClr val="21295C"/>
                </a:solidFill>
                <a:latin typeface="DejaVu Sans"/>
              </a:rPr>
              <a:t>данные и техника</a:t>
            </a:r>
          </a:p>
        </p:txBody>
      </p:sp>
      <p:sp>
        <p:nvSpPr>
          <p:cNvPr id="23" name="Rounded Rectangle 22"/>
          <p:cNvSpPr/>
          <p:nvPr/>
        </p:nvSpPr>
        <p:spPr>
          <a:xfrm>
            <a:off x="7498079" y="4014215"/>
            <a:ext cx="960120" cy="301752"/>
          </a:xfrm>
          <a:prstGeom prst="roundRect">
            <a:avLst>
              <a:gd name="adj" fmla="val 6000"/>
            </a:avLst>
          </a:prstGeom>
          <a:solidFill>
            <a:srgbClr val="F4F7FA"/>
          </a:solidFill>
          <a:ln w="2032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98079" y="4014215"/>
            <a:ext cx="960120" cy="301752"/>
          </a:xfrm>
          <a:prstGeom prst="rect">
            <a:avLst/>
          </a:prstGeom>
          <a:noFill/>
        </p:spPr>
        <p:txBody>
          <a:bodyPr wrap="square" lIns="0" rIns="0" tIns="0" bIns="0" anchor="ctr">
            <a:spAutoFit/>
          </a:bodyPr>
          <a:lstStyle/>
          <a:p>
            <a:pPr algn="ctr">
              <a:lnSpc>
                <a:spcPct val="115000"/>
              </a:lnSpc>
            </a:pPr>
            <a:r>
              <a:rPr sz="1400" b="1" i="0">
                <a:solidFill>
                  <a:srgbClr val="21295C"/>
                </a:solidFill>
                <a:latin typeface="DejaVu Sans"/>
              </a:rPr>
              <a:t>10%</a:t>
            </a:r>
          </a:p>
        </p:txBody>
      </p:sp>
      <p:sp>
        <p:nvSpPr>
          <p:cNvPr id="25" name="TextBox 24"/>
          <p:cNvSpPr txBox="1"/>
          <p:nvPr/>
        </p:nvSpPr>
        <p:spPr>
          <a:xfrm>
            <a:off x="8622792" y="4014215"/>
            <a:ext cx="2057400" cy="301752"/>
          </a:xfrm>
          <a:prstGeom prst="rect">
            <a:avLst/>
          </a:prstGeom>
          <a:noFill/>
        </p:spPr>
        <p:txBody>
          <a:bodyPr wrap="square" lIns="0" rIns="0" tIns="0" bIns="0" anchor="ctr">
            <a:spAutoFit/>
          </a:bodyPr>
          <a:lstStyle/>
          <a:p>
            <a:pPr algn="l">
              <a:lnSpc>
                <a:spcPct val="108000"/>
              </a:lnSpc>
            </a:pPr>
            <a:r>
              <a:rPr sz="1100" b="1" i="0">
                <a:solidFill>
                  <a:srgbClr val="21295C"/>
                </a:solidFill>
                <a:latin typeface="DejaVu Sans"/>
              </a:rPr>
              <a:t>сам алгоритм</a:t>
            </a:r>
          </a:p>
        </p:txBody>
      </p:sp>
      <p:sp>
        <p:nvSpPr>
          <p:cNvPr id="26" name="TextBox 25"/>
          <p:cNvSpPr txBox="1"/>
          <p:nvPr/>
        </p:nvSpPr>
        <p:spPr>
          <a:xfrm>
            <a:off x="7498079" y="4407407"/>
            <a:ext cx="3977639" cy="201168"/>
          </a:xfrm>
          <a:prstGeom prst="rect">
            <a:avLst/>
          </a:prstGeom>
          <a:noFill/>
        </p:spPr>
        <p:txBody>
          <a:bodyPr wrap="square" lIns="0" rIns="0" tIns="0" bIns="0" anchor="t">
            <a:spAutoFit/>
          </a:bodyPr>
          <a:lstStyle/>
          <a:p>
            <a:pPr algn="l">
              <a:lnSpc>
                <a:spcPct val="100000"/>
              </a:lnSpc>
            </a:pPr>
            <a:r>
              <a:rPr sz="860" b="0" i="1">
                <a:solidFill>
                  <a:srgbClr val="5B6678"/>
                </a:solidFill>
                <a:latin typeface="DejaVu Sans"/>
              </a:rPr>
              <a:t>доли вклада в результат проекта, а не этапы работы</a:t>
            </a:r>
          </a:p>
        </p:txBody>
      </p:sp>
      <p:sp>
        <p:nvSpPr>
          <p:cNvPr id="27" name="Rounded Rectangle 26"/>
          <p:cNvSpPr/>
          <p:nvPr/>
        </p:nvSpPr>
        <p:spPr>
          <a:xfrm>
            <a:off x="502920" y="5010912"/>
            <a:ext cx="11201400" cy="914400"/>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22376" y="5065776"/>
            <a:ext cx="10762488" cy="804672"/>
          </a:xfrm>
          <a:prstGeom prst="rect">
            <a:avLst/>
          </a:prstGeom>
          <a:noFill/>
        </p:spPr>
        <p:txBody>
          <a:bodyPr wrap="square" lIns="0" rIns="0" tIns="0" bIns="0" anchor="ctr">
            <a:spAutoFit/>
          </a:bodyPr>
          <a:lstStyle/>
          <a:p>
            <a:pPr algn="l">
              <a:lnSpc>
                <a:spcPct val="120000"/>
              </a:lnSpc>
            </a:pPr>
            <a:r>
              <a:rPr sz="1300" b="1" i="0">
                <a:solidFill>
                  <a:srgbClr val="21295C"/>
                </a:solidFill>
                <a:latin typeface="DejaVu Sans"/>
              </a:rPr>
              <a:t>Отсюда рабочий вывод. Если инициатива буксует, первый вопрос — не «нужна ли модель побольше», а «названы ли у неё владелец, деньги и срок». Почти всегда узкое место именно там, и следующие два разбора — про то же самое.</a:t>
            </a:r>
          </a:p>
        </p:txBody>
      </p:sp>
      <p:sp>
        <p:nvSpPr>
          <p:cNvPr id="29" name="TextBox 28"/>
          <p:cNvSpPr txBox="1"/>
          <p:nvPr/>
        </p:nvSpPr>
        <p:spPr>
          <a:xfrm>
            <a:off x="502920" y="6419088"/>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2"/>
              </a:rPr>
              <a:t>Deloitte — исследование технологического лидерства (2026)</a:t>
            </a:r>
            <a:r>
              <a:rPr sz="850" i="1">
                <a:solidFill>
                  <a:srgbClr val="1C7293"/>
                </a:solidFill>
                <a:latin typeface="DejaVu Sans"/>
              </a:rPr>
              <a:t>   ·   </a:t>
            </a:r>
            <a:r>
              <a:rPr sz="850" b="1" i="1">
                <a:solidFill>
                  <a:srgbClr val="065A82"/>
                </a:solidFill>
                <a:latin typeface="DejaVu Sans"/>
              </a:rPr>
              <a:t>[2] </a:t>
            </a:r>
            <a:r>
              <a:rPr sz="850" i="1">
                <a:solidFill>
                  <a:srgbClr val="1C7293"/>
                </a:solidFill>
                <a:latin typeface="DejaVu Sans"/>
                <a:hlinkClick r:id="rId3"/>
              </a:rPr>
              <a:t>Gartner — прогноз по агентным проектам</a:t>
            </a:r>
            <a:r>
              <a:rPr sz="850" i="1">
                <a:solidFill>
                  <a:srgbClr val="1C7293"/>
                </a:solidFill>
                <a:latin typeface="DejaVu Sans"/>
              </a:rPr>
              <a:t>   ·   </a:t>
            </a:r>
            <a:r>
              <a:rPr sz="850" b="1" i="1">
                <a:solidFill>
                  <a:srgbClr val="065A82"/>
                </a:solidFill>
                <a:latin typeface="DejaVu Sans"/>
              </a:rPr>
              <a:t>[3] </a:t>
            </a:r>
            <a:r>
              <a:rPr sz="850" i="1">
                <a:solidFill>
                  <a:srgbClr val="1C7293"/>
                </a:solidFill>
                <a:latin typeface="DejaVu Sans"/>
                <a:hlinkClick r:id="rId4"/>
              </a:rPr>
              <a:t>Boston Consulting Group — окупаемость пилотов (2026)</a:t>
            </a:r>
          </a:p>
        </p:txBody>
      </p:sp>
      <p:sp>
        <p:nvSpPr>
          <p:cNvPr id="30" name="TextBox 29"/>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48 / 54</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18872"/>
            <a:ext cx="11201400" cy="566928"/>
          </a:xfrm>
          <a:prstGeom prst="rect">
            <a:avLst/>
          </a:prstGeom>
          <a:noFill/>
        </p:spPr>
        <p:txBody>
          <a:bodyPr wrap="square" lIns="0" rIns="0" tIns="0" bIns="0" anchor="t">
            <a:spAutoFit/>
          </a:bodyPr>
          <a:lstStyle/>
          <a:p>
            <a:pPr algn="l">
              <a:lnSpc>
                <a:spcPct val="110000"/>
              </a:lnSpc>
            </a:pPr>
            <a:r>
              <a:rPr sz="1900" b="1" i="0">
                <a:solidFill>
                  <a:srgbClr val="21295C"/>
                </a:solidFill>
                <a:latin typeface="DejaVu Sans"/>
              </a:rPr>
              <a:t>Отчёт про «95% провалов ИИ»: что в нём написано на самом деле</a:t>
            </a:r>
          </a:p>
        </p:txBody>
      </p:sp>
      <p:sp>
        <p:nvSpPr>
          <p:cNvPr id="3" name="Rounded Rectangle 2"/>
          <p:cNvSpPr/>
          <p:nvPr/>
        </p:nvSpPr>
        <p:spPr>
          <a:xfrm>
            <a:off x="502920" y="804672"/>
            <a:ext cx="2148840" cy="1325880"/>
          </a:xfrm>
          <a:prstGeom prst="roundRect">
            <a:avLst>
              <a:gd name="adj" fmla="val 22000"/>
            </a:avLst>
          </a:prstGeom>
          <a:solidFill>
            <a:srgbClr val="FFFFFF"/>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47-mit-real-source.png"/>
          <p:cNvPicPr>
            <a:picLocks noChangeAspect="1"/>
          </p:cNvPicPr>
          <p:nvPr/>
        </p:nvPicPr>
        <p:blipFill>
          <a:blip r:embed="rId2"/>
          <a:stretch>
            <a:fillRect/>
          </a:stretch>
        </p:blipFill>
        <p:spPr>
          <a:xfrm>
            <a:off x="594360" y="1019127"/>
            <a:ext cx="1965960" cy="896969"/>
          </a:xfrm>
          <a:prstGeom prst="rect">
            <a:avLst/>
          </a:prstGeom>
        </p:spPr>
      </p:pic>
      <p:sp>
        <p:nvSpPr>
          <p:cNvPr id="5" name="Rounded Rectangle 4"/>
          <p:cNvSpPr/>
          <p:nvPr/>
        </p:nvSpPr>
        <p:spPr>
          <a:xfrm>
            <a:off x="2788920" y="804672"/>
            <a:ext cx="8915400" cy="1325880"/>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999232" y="877824"/>
            <a:ext cx="8458200" cy="237744"/>
          </a:xfrm>
          <a:prstGeom prst="rect">
            <a:avLst/>
          </a:prstGeom>
          <a:noFill/>
        </p:spPr>
        <p:txBody>
          <a:bodyPr wrap="square" lIns="0" rIns="0" tIns="0" bIns="0" anchor="t">
            <a:spAutoFit/>
          </a:bodyPr>
          <a:lstStyle/>
          <a:p>
            <a:pPr algn="l">
              <a:lnSpc>
                <a:spcPct val="100000"/>
              </a:lnSpc>
            </a:pPr>
            <a:r>
              <a:rPr sz="1050" b="1" i="0">
                <a:solidFill>
                  <a:srgbClr val="065A82"/>
                </a:solidFill>
                <a:latin typeface="DejaVu Sans"/>
              </a:rPr>
              <a:t>ЧТО ПРОИЗОШЛО</a:t>
            </a:r>
          </a:p>
        </p:txBody>
      </p:sp>
      <p:sp>
        <p:nvSpPr>
          <p:cNvPr id="7" name="TextBox 6"/>
          <p:cNvSpPr txBox="1"/>
          <p:nvPr/>
        </p:nvSpPr>
        <p:spPr>
          <a:xfrm>
            <a:off x="2999232" y="1152144"/>
            <a:ext cx="8458200" cy="914400"/>
          </a:xfrm>
          <a:prstGeom prst="rect">
            <a:avLst/>
          </a:prstGeom>
          <a:noFill/>
        </p:spPr>
        <p:txBody>
          <a:bodyPr wrap="square" lIns="0" rIns="0" tIns="0" bIns="0" anchor="t">
            <a:spAutoFit/>
          </a:bodyPr>
          <a:lstStyle/>
          <a:p>
            <a:pPr algn="l">
              <a:lnSpc>
                <a:spcPct val="114000"/>
              </a:lnSpc>
            </a:pPr>
            <a:r>
              <a:rPr sz="1080" b="0" i="0">
                <a:solidFill>
                  <a:srgbClr val="21295C"/>
                </a:solidFill>
                <a:latin typeface="DejaVu Sans"/>
              </a:rPr>
              <a:t>В июле 2025 года исследовательская группа Массачусетского технологического института (MIT) выложила предварительный отчёт о состоянии ИИ в бизнесе — версия 0.1, без научного рецензирования. Основание: 52 интервью с руководителями, 153 анкеты и обзор 300 публичных внедрений. В заголовки ушла одна строка: </a:t>
            </a:r>
            <a:r>
              <a:rPr sz="1080" b="1" i="0">
                <a:solidFill>
                  <a:srgbClr val="065A82"/>
                </a:solidFill>
                <a:latin typeface="DejaVu Sans"/>
              </a:rPr>
              <a:t>95% корпоративных пилотов не дали измеримого эффекта на прибыль</a:t>
            </a:r>
            <a:r>
              <a:rPr sz="1080" b="0" i="0">
                <a:solidFill>
                  <a:srgbClr val="21295C"/>
                </a:solidFill>
                <a:latin typeface="DejaVu Sans"/>
              </a:rPr>
              <a:t> при 30–40 млрд долларов вложений. За месяц цифру перепечатали деловые издания по всему миру.</a:t>
            </a:r>
          </a:p>
        </p:txBody>
      </p:sp>
      <p:sp>
        <p:nvSpPr>
          <p:cNvPr id="8" name="Rounded Rectangle 7"/>
          <p:cNvSpPr/>
          <p:nvPr/>
        </p:nvSpPr>
        <p:spPr>
          <a:xfrm>
            <a:off x="502920" y="2267712"/>
            <a:ext cx="5623560" cy="1920240"/>
          </a:xfrm>
          <a:prstGeom prst="roundRect">
            <a:avLst>
              <a:gd name="adj" fmla="val 15873"/>
            </a:avLst>
          </a:prstGeom>
          <a:solidFill>
            <a:srgbClr val="F4F7FA"/>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mit-funnel.png"/>
          <p:cNvPicPr>
            <a:picLocks noChangeAspect="1"/>
          </p:cNvPicPr>
          <p:nvPr/>
        </p:nvPicPr>
        <p:blipFill>
          <a:blip r:embed="rId3"/>
          <a:stretch>
            <a:fillRect/>
          </a:stretch>
        </p:blipFill>
        <p:spPr>
          <a:xfrm>
            <a:off x="1411859" y="2377440"/>
            <a:ext cx="3796537" cy="1700784"/>
          </a:xfrm>
          <a:prstGeom prst="rect">
            <a:avLst/>
          </a:prstGeom>
        </p:spPr>
      </p:pic>
      <p:sp>
        <p:nvSpPr>
          <p:cNvPr id="10" name="Rounded Rectangle 9"/>
          <p:cNvSpPr/>
          <p:nvPr/>
        </p:nvSpPr>
        <p:spPr>
          <a:xfrm>
            <a:off x="6355080" y="2267712"/>
            <a:ext cx="5349240" cy="1920240"/>
          </a:xfrm>
          <a:prstGeom prst="roundRect">
            <a:avLst>
              <a:gd name="adj" fmla="val 15873"/>
            </a:avLst>
          </a:prstGeom>
          <a:solidFill>
            <a:srgbClr val="F4F7FA"/>
          </a:solidFill>
          <a:ln w="1905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65392" y="2340864"/>
            <a:ext cx="4937760" cy="237744"/>
          </a:xfrm>
          <a:prstGeom prst="rect">
            <a:avLst/>
          </a:prstGeom>
          <a:noFill/>
        </p:spPr>
        <p:txBody>
          <a:bodyPr wrap="square" lIns="0" rIns="0" tIns="0" bIns="0" anchor="t">
            <a:spAutoFit/>
          </a:bodyPr>
          <a:lstStyle/>
          <a:p>
            <a:pPr algn="l">
              <a:lnSpc>
                <a:spcPct val="100000"/>
              </a:lnSpc>
            </a:pPr>
            <a:r>
              <a:rPr sz="1050" b="1" i="0">
                <a:solidFill>
                  <a:srgbClr val="065A82"/>
                </a:solidFill>
                <a:latin typeface="DejaVu Sans"/>
              </a:rPr>
              <a:t>ЧТО В ОТЧЁТЕ</a:t>
            </a:r>
          </a:p>
        </p:txBody>
      </p:sp>
      <p:sp>
        <p:nvSpPr>
          <p:cNvPr id="12" name="TextBox 11"/>
          <p:cNvSpPr txBox="1"/>
          <p:nvPr/>
        </p:nvSpPr>
        <p:spPr>
          <a:xfrm>
            <a:off x="6565392" y="2633472"/>
            <a:ext cx="4937760" cy="1463040"/>
          </a:xfrm>
          <a:prstGeom prst="rect">
            <a:avLst/>
          </a:prstGeom>
          <a:noFill/>
        </p:spPr>
        <p:txBody>
          <a:bodyPr wrap="square" lIns="0" rIns="0" tIns="0" bIns="0" anchor="t">
            <a:spAutoFit/>
          </a:bodyPr>
          <a:lstStyle/>
          <a:p>
            <a:pPr algn="l">
              <a:lnSpc>
                <a:spcPct val="116000"/>
              </a:lnSpc>
            </a:pPr>
            <a:r>
              <a:rPr sz="1100" b="0" i="0">
                <a:solidFill>
                  <a:srgbClr val="21295C"/>
                </a:solidFill>
                <a:latin typeface="DejaVu Sans"/>
              </a:rPr>
              <a:t>60% организаций изучали тему · 20% дошли до пилота · 5% довели до промышленной эксплуатации. Пять из двадцати дошедших — это </a:t>
            </a:r>
            <a:r>
              <a:rPr sz="1100" b="1" i="0">
                <a:solidFill>
                  <a:srgbClr val="065A82"/>
                </a:solidFill>
                <a:latin typeface="DejaVu Sans"/>
              </a:rPr>
              <a:t>25% успеха</a:t>
            </a:r>
            <a:r>
              <a:rPr sz="1100" b="0" i="0">
                <a:solidFill>
                  <a:srgbClr val="21295C"/>
                </a:solidFill>
                <a:latin typeface="DejaVu Sans"/>
              </a:rPr>
              <a:t>, а не 5%.</a:t>
            </a:r>
          </a:p>
          <a:p>
            <a:pPr algn="l">
              <a:lnSpc>
                <a:spcPct val="116000"/>
              </a:lnSpc>
            </a:pPr>
            <a:r>
              <a:rPr sz="1100" b="0" i="0">
                <a:solidFill>
                  <a:srgbClr val="21295C"/>
                </a:solidFill>
                <a:latin typeface="DejaVu Sans"/>
              </a:rPr>
              <a:t>И единица измерения здесь — мнение руководителя о пилоте, а не финансовый результат пилота.</a:t>
            </a:r>
          </a:p>
        </p:txBody>
      </p:sp>
      <p:sp>
        <p:nvSpPr>
          <p:cNvPr id="13" name="Rounded Rectangle 12"/>
          <p:cNvSpPr/>
          <p:nvPr/>
        </p:nvSpPr>
        <p:spPr>
          <a:xfrm>
            <a:off x="502920" y="4315968"/>
            <a:ext cx="11201400" cy="1115568"/>
          </a:xfrm>
          <a:prstGeom prst="roundRect">
            <a:avLst>
              <a:gd name="adj" fmla="val 22000"/>
            </a:avLst>
          </a:prstGeom>
          <a:solidFill>
            <a:srgbClr val="F4F7FA"/>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4389120"/>
            <a:ext cx="10698480" cy="237744"/>
          </a:xfrm>
          <a:prstGeom prst="rect">
            <a:avLst/>
          </a:prstGeom>
          <a:noFill/>
        </p:spPr>
        <p:txBody>
          <a:bodyPr wrap="square" lIns="0" rIns="0" tIns="0" bIns="0" anchor="t">
            <a:spAutoFit/>
          </a:bodyPr>
          <a:lstStyle/>
          <a:p>
            <a:pPr algn="l">
              <a:lnSpc>
                <a:spcPct val="100000"/>
              </a:lnSpc>
            </a:pPr>
            <a:r>
              <a:rPr sz="1050" b="1" i="0">
                <a:solidFill>
                  <a:srgbClr val="028090"/>
                </a:solidFill>
                <a:latin typeface="DejaVu Sans"/>
              </a:rPr>
              <a:t>ЧЕТЫРЕ ВОПРОСА К ЛЮБОЙ ГРОМКОЙ ЦИФРЕ</a:t>
            </a:r>
          </a:p>
        </p:txBody>
      </p:sp>
      <p:sp>
        <p:nvSpPr>
          <p:cNvPr id="15" name="Oval 14"/>
          <p:cNvSpPr/>
          <p:nvPr/>
        </p:nvSpPr>
        <p:spPr>
          <a:xfrm>
            <a:off x="713232" y="4700016"/>
            <a:ext cx="219456" cy="219456"/>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4700016"/>
            <a:ext cx="219456" cy="219456"/>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1</a:t>
            </a:r>
          </a:p>
        </p:txBody>
      </p:sp>
      <p:sp>
        <p:nvSpPr>
          <p:cNvPr id="17" name="TextBox 16"/>
          <p:cNvSpPr txBox="1"/>
          <p:nvPr/>
        </p:nvSpPr>
        <p:spPr>
          <a:xfrm>
            <a:off x="1005840" y="4663440"/>
            <a:ext cx="2253996" cy="731520"/>
          </a:xfrm>
          <a:prstGeom prst="rect">
            <a:avLst/>
          </a:prstGeom>
          <a:noFill/>
        </p:spPr>
        <p:txBody>
          <a:bodyPr wrap="square" lIns="0" rIns="0" tIns="0" bIns="0" anchor="t">
            <a:spAutoFit/>
          </a:bodyPr>
          <a:lstStyle/>
          <a:p>
            <a:pPr algn="l">
              <a:lnSpc>
                <a:spcPct val="110000"/>
              </a:lnSpc>
            </a:pPr>
            <a:r>
              <a:rPr sz="940" b="0" i="0">
                <a:solidFill>
                  <a:srgbClr val="21295C"/>
                </a:solidFill>
                <a:latin typeface="DejaVu Sans"/>
              </a:rPr>
              <a:t>Каков знаменатель — от чего считаем?</a:t>
            </a:r>
          </a:p>
        </p:txBody>
      </p:sp>
      <p:sp>
        <p:nvSpPr>
          <p:cNvPr id="18" name="Oval 17"/>
          <p:cNvSpPr/>
          <p:nvPr/>
        </p:nvSpPr>
        <p:spPr>
          <a:xfrm>
            <a:off x="3387852" y="4700016"/>
            <a:ext cx="219456" cy="219456"/>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387852" y="4700016"/>
            <a:ext cx="219456" cy="219456"/>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2</a:t>
            </a:r>
          </a:p>
        </p:txBody>
      </p:sp>
      <p:sp>
        <p:nvSpPr>
          <p:cNvPr id="20" name="TextBox 19"/>
          <p:cNvSpPr txBox="1"/>
          <p:nvPr/>
        </p:nvSpPr>
        <p:spPr>
          <a:xfrm>
            <a:off x="3680460" y="4663440"/>
            <a:ext cx="2253996" cy="731520"/>
          </a:xfrm>
          <a:prstGeom prst="rect">
            <a:avLst/>
          </a:prstGeom>
          <a:noFill/>
        </p:spPr>
        <p:txBody>
          <a:bodyPr wrap="square" lIns="0" rIns="0" tIns="0" bIns="0" anchor="t">
            <a:spAutoFit/>
          </a:bodyPr>
          <a:lstStyle/>
          <a:p>
            <a:pPr algn="l">
              <a:lnSpc>
                <a:spcPct val="110000"/>
              </a:lnSpc>
            </a:pPr>
            <a:r>
              <a:rPr sz="940" b="0" i="0">
                <a:solidFill>
                  <a:srgbClr val="21295C"/>
                </a:solidFill>
                <a:latin typeface="DejaVu Sans"/>
              </a:rPr>
              <a:t>Что именно засчитано провалом?</a:t>
            </a:r>
          </a:p>
        </p:txBody>
      </p:sp>
      <p:sp>
        <p:nvSpPr>
          <p:cNvPr id="21" name="Oval 20"/>
          <p:cNvSpPr/>
          <p:nvPr/>
        </p:nvSpPr>
        <p:spPr>
          <a:xfrm>
            <a:off x="6062472" y="4700016"/>
            <a:ext cx="219456" cy="219456"/>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62472" y="4700016"/>
            <a:ext cx="219456" cy="219456"/>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3</a:t>
            </a:r>
          </a:p>
        </p:txBody>
      </p:sp>
      <p:sp>
        <p:nvSpPr>
          <p:cNvPr id="23" name="TextBox 22"/>
          <p:cNvSpPr txBox="1"/>
          <p:nvPr/>
        </p:nvSpPr>
        <p:spPr>
          <a:xfrm>
            <a:off x="6355080" y="4663440"/>
            <a:ext cx="2253996" cy="731520"/>
          </a:xfrm>
          <a:prstGeom prst="rect">
            <a:avLst/>
          </a:prstGeom>
          <a:noFill/>
        </p:spPr>
        <p:txBody>
          <a:bodyPr wrap="square" lIns="0" rIns="0" tIns="0" bIns="0" anchor="t">
            <a:spAutoFit/>
          </a:bodyPr>
          <a:lstStyle/>
          <a:p>
            <a:pPr algn="l">
              <a:lnSpc>
                <a:spcPct val="110000"/>
              </a:lnSpc>
            </a:pPr>
            <a:r>
              <a:rPr sz="940" b="0" i="0">
                <a:solidFill>
                  <a:srgbClr val="21295C"/>
                </a:solidFill>
                <a:latin typeface="DejaVu Sans"/>
              </a:rPr>
              <a:t>Есть ли у автора конфликт интересов? Здесь — все четыре автора строят и продают агентные продукты.</a:t>
            </a:r>
          </a:p>
        </p:txBody>
      </p:sp>
      <p:sp>
        <p:nvSpPr>
          <p:cNvPr id="24" name="Oval 23"/>
          <p:cNvSpPr/>
          <p:nvPr/>
        </p:nvSpPr>
        <p:spPr>
          <a:xfrm>
            <a:off x="8737091" y="4700016"/>
            <a:ext cx="219456" cy="219456"/>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737091" y="4700016"/>
            <a:ext cx="219456" cy="219456"/>
          </a:xfrm>
          <a:prstGeom prst="rect">
            <a:avLst/>
          </a:prstGeom>
          <a:noFill/>
        </p:spPr>
        <p:txBody>
          <a:bodyPr wrap="square" lIns="0" rIns="0" tIns="0" bIns="0" anchor="ctr">
            <a:spAutoFit/>
          </a:bodyPr>
          <a:lstStyle/>
          <a:p>
            <a:pPr algn="ctr">
              <a:lnSpc>
                <a:spcPct val="100000"/>
              </a:lnSpc>
            </a:pPr>
            <a:r>
              <a:rPr sz="850" b="1" i="0">
                <a:solidFill>
                  <a:srgbClr val="FFFFFF"/>
                </a:solidFill>
                <a:latin typeface="DejaVu Sans"/>
              </a:rPr>
              <a:t>4</a:t>
            </a:r>
          </a:p>
        </p:txBody>
      </p:sp>
      <p:sp>
        <p:nvSpPr>
          <p:cNvPr id="26" name="TextBox 25"/>
          <p:cNvSpPr txBox="1"/>
          <p:nvPr/>
        </p:nvSpPr>
        <p:spPr>
          <a:xfrm>
            <a:off x="9029699" y="4663440"/>
            <a:ext cx="2253996" cy="731520"/>
          </a:xfrm>
          <a:prstGeom prst="rect">
            <a:avLst/>
          </a:prstGeom>
          <a:noFill/>
        </p:spPr>
        <p:txBody>
          <a:bodyPr wrap="square" lIns="0" rIns="0" tIns="0" bIns="0" anchor="t">
            <a:spAutoFit/>
          </a:bodyPr>
          <a:lstStyle/>
          <a:p>
            <a:pPr algn="l">
              <a:lnSpc>
                <a:spcPct val="110000"/>
              </a:lnSpc>
            </a:pPr>
            <a:r>
              <a:rPr sz="940" b="0" i="0">
                <a:solidFill>
                  <a:srgbClr val="21295C"/>
                </a:solidFill>
                <a:latin typeface="DejaVu Sans"/>
              </a:rPr>
              <a:t>Прослеживается ли цифра до первоисточника с описанной методикой?</a:t>
            </a:r>
          </a:p>
        </p:txBody>
      </p:sp>
      <p:sp>
        <p:nvSpPr>
          <p:cNvPr id="27" name="Rounded Rectangle 26"/>
          <p:cNvSpPr/>
          <p:nvPr/>
        </p:nvSpPr>
        <p:spPr>
          <a:xfrm>
            <a:off x="502920" y="5541264"/>
            <a:ext cx="11201400" cy="777240"/>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22376" y="5596127"/>
            <a:ext cx="10762488" cy="667512"/>
          </a:xfrm>
          <a:prstGeom prst="rect">
            <a:avLst/>
          </a:prstGeom>
          <a:noFill/>
        </p:spPr>
        <p:txBody>
          <a:bodyPr wrap="square" lIns="0" rIns="0" tIns="0" bIns="0" anchor="ctr">
            <a:spAutoFit/>
          </a:bodyPr>
          <a:lstStyle/>
          <a:p>
            <a:pPr algn="l">
              <a:lnSpc>
                <a:spcPct val="120000"/>
              </a:lnSpc>
            </a:pPr>
            <a:r>
              <a:rPr sz="1200" b="1" i="0">
                <a:solidFill>
                  <a:srgbClr val="21295C"/>
                </a:solidFill>
                <a:latin typeface="DejaVu Sans"/>
              </a:rPr>
              <a:t>Корень не в моделях. Boston Consulting Group, январь 2026, 2 360 руководителей: измеримую отдачу видят 6% компаний — а большинство меряет активность (сэкономленные часы, автоматизированные задачи), а не деньги. Нечем мерить — нечего и предъявить.</a:t>
            </a:r>
          </a:p>
        </p:txBody>
      </p:sp>
      <p:sp>
        <p:nvSpPr>
          <p:cNvPr id="29" name="TextBox 28"/>
          <p:cNvSpPr txBox="1"/>
          <p:nvPr/>
        </p:nvSpPr>
        <p:spPr>
          <a:xfrm>
            <a:off x="502920" y="6419088"/>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4"/>
              </a:rPr>
              <a:t>MIT — отчёт о состоянии ИИ (июль 2025)</a:t>
            </a:r>
            <a:r>
              <a:rPr sz="850" i="1">
                <a:solidFill>
                  <a:srgbClr val="1C7293"/>
                </a:solidFill>
                <a:latin typeface="DejaVu Sans"/>
              </a:rPr>
              <a:t>   ·   </a:t>
            </a:r>
            <a:r>
              <a:rPr sz="850" b="1" i="1">
                <a:solidFill>
                  <a:srgbClr val="065A82"/>
                </a:solidFill>
                <a:latin typeface="DejaVu Sans"/>
              </a:rPr>
              <a:t>[2] </a:t>
            </a:r>
            <a:r>
              <a:rPr sz="850" i="1">
                <a:solidFill>
                  <a:srgbClr val="1C7293"/>
                </a:solidFill>
                <a:latin typeface="DejaVu Sans"/>
                <a:hlinkClick r:id="rId5"/>
              </a:rPr>
              <a:t>Fortune — как разошёлся заголовок</a:t>
            </a:r>
            <a:r>
              <a:rPr sz="850" i="1">
                <a:solidFill>
                  <a:srgbClr val="1C7293"/>
                </a:solidFill>
                <a:latin typeface="DejaVu Sans"/>
              </a:rPr>
              <a:t>   ·   </a:t>
            </a:r>
            <a:r>
              <a:rPr sz="850" b="1" i="1">
                <a:solidFill>
                  <a:srgbClr val="065A82"/>
                </a:solidFill>
                <a:latin typeface="DejaVu Sans"/>
              </a:rPr>
              <a:t>[3] </a:t>
            </a:r>
            <a:r>
              <a:rPr sz="850" i="1">
                <a:solidFill>
                  <a:srgbClr val="1C7293"/>
                </a:solidFill>
                <a:latin typeface="DejaVu Sans"/>
                <a:hlinkClick r:id="rId6"/>
              </a:rPr>
              <a:t>NewMR — разбор мифа</a:t>
            </a:r>
            <a:r>
              <a:rPr sz="850" i="1">
                <a:solidFill>
                  <a:srgbClr val="1C7293"/>
                </a:solidFill>
                <a:latin typeface="DejaVu Sans"/>
              </a:rPr>
              <a:t>   ·   </a:t>
            </a:r>
            <a:r>
              <a:rPr sz="850" b="1" i="1">
                <a:solidFill>
                  <a:srgbClr val="065A82"/>
                </a:solidFill>
                <a:latin typeface="DejaVu Sans"/>
              </a:rPr>
              <a:t>[4] </a:t>
            </a:r>
            <a:r>
              <a:rPr sz="850" i="1">
                <a:solidFill>
                  <a:srgbClr val="1C7293"/>
                </a:solidFill>
                <a:latin typeface="DejaVu Sans"/>
                <a:hlinkClick r:id="rId7"/>
              </a:rPr>
              <a:t>Boston Consulting Group — окупаемость пилотов (2026)</a:t>
            </a:r>
          </a:p>
        </p:txBody>
      </p:sp>
      <p:sp>
        <p:nvSpPr>
          <p:cNvPr id="30" name="TextBox 29"/>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49 / 54</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18872"/>
            <a:ext cx="11201400" cy="548640"/>
          </a:xfrm>
          <a:prstGeom prst="rect">
            <a:avLst/>
          </a:prstGeom>
          <a:noFill/>
        </p:spPr>
        <p:txBody>
          <a:bodyPr wrap="square" lIns="0" rIns="0" tIns="0" bIns="0" anchor="t">
            <a:spAutoFit/>
          </a:bodyPr>
          <a:lstStyle/>
          <a:p>
            <a:pPr algn="l">
              <a:lnSpc>
                <a:spcPct val="110000"/>
              </a:lnSpc>
            </a:pPr>
            <a:r>
              <a:rPr sz="1700" b="1" i="0">
                <a:solidFill>
                  <a:srgbClr val="21295C"/>
                </a:solidFill>
                <a:latin typeface="DejaVu Sans"/>
              </a:rPr>
              <a:t>Магазин без касс: шесть лет «полной автономии» и 700 ручных проверок на 1000 покупок</a:t>
            </a:r>
          </a:p>
        </p:txBody>
      </p:sp>
      <p:sp>
        <p:nvSpPr>
          <p:cNvPr id="3" name="Rounded Rectangle 2"/>
          <p:cNvSpPr/>
          <p:nvPr/>
        </p:nvSpPr>
        <p:spPr>
          <a:xfrm>
            <a:off x="502920" y="786384"/>
            <a:ext cx="2148840" cy="1371600"/>
          </a:xfrm>
          <a:prstGeom prst="roundRect">
            <a:avLst>
              <a:gd name="adj" fmla="val 22000"/>
            </a:avLst>
          </a:prstGeom>
          <a:solidFill>
            <a:srgbClr val="FFFFFF"/>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48-amazon-real-source.png"/>
          <p:cNvPicPr>
            <a:picLocks noChangeAspect="1"/>
          </p:cNvPicPr>
          <p:nvPr/>
        </p:nvPicPr>
        <p:blipFill>
          <a:blip r:embed="rId2"/>
          <a:stretch>
            <a:fillRect/>
          </a:stretch>
        </p:blipFill>
        <p:spPr>
          <a:xfrm>
            <a:off x="636943" y="877824"/>
            <a:ext cx="1880793" cy="1188720"/>
          </a:xfrm>
          <a:prstGeom prst="rect">
            <a:avLst/>
          </a:prstGeom>
        </p:spPr>
      </p:pic>
      <p:sp>
        <p:nvSpPr>
          <p:cNvPr id="5" name="Rounded Rectangle 4"/>
          <p:cNvSpPr/>
          <p:nvPr/>
        </p:nvSpPr>
        <p:spPr>
          <a:xfrm>
            <a:off x="2788920" y="786384"/>
            <a:ext cx="8915400" cy="1371600"/>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999232" y="859536"/>
            <a:ext cx="8458200" cy="237744"/>
          </a:xfrm>
          <a:prstGeom prst="rect">
            <a:avLst/>
          </a:prstGeom>
          <a:noFill/>
        </p:spPr>
        <p:txBody>
          <a:bodyPr wrap="square" lIns="0" rIns="0" tIns="0" bIns="0" anchor="t">
            <a:spAutoFit/>
          </a:bodyPr>
          <a:lstStyle/>
          <a:p>
            <a:pPr algn="l">
              <a:lnSpc>
                <a:spcPct val="100000"/>
              </a:lnSpc>
            </a:pPr>
            <a:r>
              <a:rPr sz="1050" b="1" i="0">
                <a:solidFill>
                  <a:srgbClr val="065A82"/>
                </a:solidFill>
                <a:latin typeface="DejaVu Sans"/>
              </a:rPr>
              <a:t>ЧТО ПРОИЗОШЛО</a:t>
            </a:r>
          </a:p>
        </p:txBody>
      </p:sp>
      <p:sp>
        <p:nvSpPr>
          <p:cNvPr id="7" name="TextBox 6"/>
          <p:cNvSpPr txBox="1"/>
          <p:nvPr/>
        </p:nvSpPr>
        <p:spPr>
          <a:xfrm>
            <a:off x="2999232" y="1133856"/>
            <a:ext cx="8458200" cy="950976"/>
          </a:xfrm>
          <a:prstGeom prst="rect">
            <a:avLst/>
          </a:prstGeom>
          <a:noFill/>
        </p:spPr>
        <p:txBody>
          <a:bodyPr wrap="square" lIns="0" rIns="0" tIns="0" bIns="0" anchor="t">
            <a:spAutoFit/>
          </a:bodyPr>
          <a:lstStyle/>
          <a:p>
            <a:pPr algn="l">
              <a:lnSpc>
                <a:spcPct val="114000"/>
              </a:lnSpc>
            </a:pPr>
            <a:r>
              <a:rPr sz="1080" b="0" i="0">
                <a:solidFill>
                  <a:srgbClr val="21295C"/>
                </a:solidFill>
                <a:latin typeface="DejaVu Sans"/>
              </a:rPr>
              <a:t>С 2018 года Amazon открывал магазины без касс: берёшь товар с полки и выходишь, деньги списываются сами. Технологию продавали как </a:t>
            </a:r>
            <a:r>
              <a:rPr sz="1080" b="1" i="0">
                <a:solidFill>
                  <a:srgbClr val="065A82"/>
                </a:solidFill>
                <a:latin typeface="DejaVu Sans"/>
              </a:rPr>
              <a:t>чистое компьютерное зрение</a:t>
            </a:r>
            <a:r>
              <a:rPr sz="1080" b="0" i="0">
                <a:solidFill>
                  <a:srgbClr val="21295C"/>
                </a:solidFill>
                <a:latin typeface="DejaVu Sans"/>
              </a:rPr>
              <a:t> — камеры и датчики сами понимают, что ты взял. В апреле 2024 года журналисты выяснили: больше тысячи человек в Индии просматривали видеозаписи и вручную размечали покупки, которые система не смогла распознать.</a:t>
            </a:r>
          </a:p>
        </p:txBody>
      </p:sp>
      <p:sp>
        <p:nvSpPr>
          <p:cNvPr id="8" name="Rounded Rectangle 7"/>
          <p:cNvSpPr/>
          <p:nvPr/>
        </p:nvSpPr>
        <p:spPr>
          <a:xfrm>
            <a:off x="502920" y="2286000"/>
            <a:ext cx="4160520" cy="1965960"/>
          </a:xfrm>
          <a:prstGeom prst="roundRect">
            <a:avLst>
              <a:gd name="adj" fmla="val 15503"/>
            </a:avLst>
          </a:prstGeom>
          <a:solidFill>
            <a:srgbClr val="F4F7FA"/>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jwo.png"/>
          <p:cNvPicPr>
            <a:picLocks noChangeAspect="1"/>
          </p:cNvPicPr>
          <p:nvPr/>
        </p:nvPicPr>
        <p:blipFill>
          <a:blip r:embed="rId3"/>
          <a:stretch>
            <a:fillRect/>
          </a:stretch>
        </p:blipFill>
        <p:spPr>
          <a:xfrm>
            <a:off x="1213553" y="2395728"/>
            <a:ext cx="2739254" cy="1746504"/>
          </a:xfrm>
          <a:prstGeom prst="rect">
            <a:avLst/>
          </a:prstGeom>
        </p:spPr>
      </p:pic>
      <p:sp>
        <p:nvSpPr>
          <p:cNvPr id="10" name="Rounded Rectangle 9"/>
          <p:cNvSpPr/>
          <p:nvPr/>
        </p:nvSpPr>
        <p:spPr>
          <a:xfrm>
            <a:off x="4892040" y="2286000"/>
            <a:ext cx="6812280" cy="1965960"/>
          </a:xfrm>
          <a:prstGeom prst="roundRect">
            <a:avLst>
              <a:gd name="adj" fmla="val 15503"/>
            </a:avLst>
          </a:prstGeom>
          <a:solidFill>
            <a:srgbClr val="F4F7FA"/>
          </a:solidFill>
          <a:ln w="1905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02352" y="2359152"/>
            <a:ext cx="6400800" cy="237744"/>
          </a:xfrm>
          <a:prstGeom prst="rect">
            <a:avLst/>
          </a:prstGeom>
          <a:noFill/>
        </p:spPr>
        <p:txBody>
          <a:bodyPr wrap="square" lIns="0" rIns="0" tIns="0" bIns="0" anchor="t">
            <a:spAutoFit/>
          </a:bodyPr>
          <a:lstStyle/>
          <a:p>
            <a:pPr algn="l">
              <a:lnSpc>
                <a:spcPct val="100000"/>
              </a:lnSpc>
            </a:pPr>
            <a:r>
              <a:rPr sz="1050" b="1" i="0">
                <a:solidFill>
                  <a:srgbClr val="065A82"/>
                </a:solidFill>
                <a:latin typeface="DejaVu Sans"/>
              </a:rPr>
              <a:t>РАЗБОР — ОДНА И ТА ЖЕ ЛИНЕЙКА КОМПАНИИ</a:t>
            </a:r>
          </a:p>
        </p:txBody>
      </p:sp>
      <p:sp>
        <p:nvSpPr>
          <p:cNvPr id="12" name="TextBox 11"/>
          <p:cNvSpPr txBox="1"/>
          <p:nvPr/>
        </p:nvSpPr>
        <p:spPr>
          <a:xfrm>
            <a:off x="5102352" y="2651760"/>
            <a:ext cx="6400800" cy="1517904"/>
          </a:xfrm>
          <a:prstGeom prst="rect">
            <a:avLst/>
          </a:prstGeom>
          <a:noFill/>
        </p:spPr>
        <p:txBody>
          <a:bodyPr wrap="square" lIns="0" rIns="0" tIns="0" bIns="0" anchor="t">
            <a:spAutoFit/>
          </a:bodyPr>
          <a:lstStyle/>
          <a:p>
            <a:pPr algn="l">
              <a:lnSpc>
                <a:spcPct val="115000"/>
              </a:lnSpc>
            </a:pPr>
            <a:r>
              <a:rPr sz="1100" b="1" i="0">
                <a:solidFill>
                  <a:srgbClr val="065A82"/>
                </a:solidFill>
                <a:latin typeface="DejaVu Sans"/>
              </a:rPr>
              <a:t>700 из 1000</a:t>
            </a:r>
            <a:r>
              <a:rPr sz="1100" b="0" i="0">
                <a:solidFill>
                  <a:srgbClr val="21295C"/>
                </a:solidFill>
                <a:latin typeface="DejaVu Sans"/>
              </a:rPr>
              <a:t> покупок требовали ручной проверки — против собственной внутренней цели </a:t>
            </a:r>
            <a:r>
              <a:rPr sz="1100" b="1" i="0">
                <a:solidFill>
                  <a:srgbClr val="065A82"/>
                </a:solidFill>
                <a:latin typeface="DejaVu Sans"/>
              </a:rPr>
              <a:t>20–50 из 1000</a:t>
            </a:r>
            <a:r>
              <a:rPr sz="1100" b="0" i="0">
                <a:solidFill>
                  <a:srgbClr val="21295C"/>
                </a:solidFill>
                <a:latin typeface="DejaVu Sans"/>
              </a:rPr>
              <a:t>. Превышение от 14 до 35 раз.</a:t>
            </a:r>
          </a:p>
          <a:p>
            <a:pPr algn="l">
              <a:lnSpc>
                <a:spcPct val="115000"/>
              </a:lnSpc>
            </a:pPr>
            <a:r>
              <a:rPr sz="1100" b="0" i="0">
                <a:solidFill>
                  <a:srgbClr val="21295C"/>
                </a:solidFill>
                <a:latin typeface="DejaVu Sans"/>
              </a:rPr>
              <a:t>Само участие людей — не разоблачение: они размечали записи постфактум, и формально Amazon возразил верно. Разоблачение в другом: цель поставила сама компания, и заявленное разошлось с измеренным по её же линейке. Спорить о значении слова «автономный» не нужно — достаточно найти число.</a:t>
            </a:r>
          </a:p>
        </p:txBody>
      </p:sp>
      <p:sp>
        <p:nvSpPr>
          <p:cNvPr id="13" name="Rounded Rectangle 12"/>
          <p:cNvSpPr/>
          <p:nvPr/>
        </p:nvSpPr>
        <p:spPr>
          <a:xfrm>
            <a:off x="502920" y="4379976"/>
            <a:ext cx="11201400" cy="1115568"/>
          </a:xfrm>
          <a:prstGeom prst="roundRect">
            <a:avLst>
              <a:gd name="adj" fmla="val 22000"/>
            </a:avLst>
          </a:prstGeom>
          <a:solidFill>
            <a:srgbClr val="F4F7FA"/>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4453128"/>
            <a:ext cx="10698480" cy="237744"/>
          </a:xfrm>
          <a:prstGeom prst="rect">
            <a:avLst/>
          </a:prstGeom>
          <a:noFill/>
        </p:spPr>
        <p:txBody>
          <a:bodyPr wrap="square" lIns="0" rIns="0" tIns="0" bIns="0" anchor="t">
            <a:spAutoFit/>
          </a:bodyPr>
          <a:lstStyle/>
          <a:p>
            <a:pPr algn="l">
              <a:lnSpc>
                <a:spcPct val="100000"/>
              </a:lnSpc>
            </a:pPr>
            <a:r>
              <a:rPr sz="1050" b="1" i="0">
                <a:solidFill>
                  <a:srgbClr val="028090"/>
                </a:solidFill>
                <a:latin typeface="DejaVu Sans"/>
              </a:rPr>
              <a:t>ЧЕМ КОНЧИЛОСЬ</a:t>
            </a:r>
          </a:p>
        </p:txBody>
      </p:sp>
      <p:sp>
        <p:nvSpPr>
          <p:cNvPr id="15" name="TextBox 14"/>
          <p:cNvSpPr txBox="1"/>
          <p:nvPr/>
        </p:nvSpPr>
        <p:spPr>
          <a:xfrm>
            <a:off x="713232" y="4727448"/>
            <a:ext cx="2473451" cy="713232"/>
          </a:xfrm>
          <a:prstGeom prst="rect">
            <a:avLst/>
          </a:prstGeom>
          <a:noFill/>
        </p:spPr>
        <p:txBody>
          <a:bodyPr wrap="square" lIns="0" rIns="0" tIns="0" bIns="0" anchor="t">
            <a:spAutoFit/>
          </a:bodyPr>
          <a:lstStyle/>
          <a:p>
            <a:pPr algn="l">
              <a:lnSpc>
                <a:spcPct val="110000"/>
              </a:lnSpc>
            </a:pPr>
            <a:r>
              <a:rPr sz="930" b="0" i="0">
                <a:solidFill>
                  <a:srgbClr val="21295C"/>
                </a:solidFill>
                <a:latin typeface="DejaVu Sans"/>
              </a:rPr>
              <a:t>Из больших продуктовых магазинов технологию убрали в 2024-м, а в январе 2026-го Amazon закрыл и сами сети Go и Fresh.</a:t>
            </a:r>
          </a:p>
        </p:txBody>
      </p:sp>
      <p:sp>
        <p:nvSpPr>
          <p:cNvPr id="16" name="TextBox 15"/>
          <p:cNvSpPr txBox="1"/>
          <p:nvPr/>
        </p:nvSpPr>
        <p:spPr>
          <a:xfrm>
            <a:off x="3387852" y="4727448"/>
            <a:ext cx="2473451" cy="713232"/>
          </a:xfrm>
          <a:prstGeom prst="rect">
            <a:avLst/>
          </a:prstGeom>
          <a:noFill/>
        </p:spPr>
        <p:txBody>
          <a:bodyPr wrap="square" lIns="0" rIns="0" tIns="0" bIns="0" anchor="t">
            <a:spAutoFit/>
          </a:bodyPr>
          <a:lstStyle/>
          <a:p>
            <a:pPr algn="l">
              <a:lnSpc>
                <a:spcPct val="110000"/>
              </a:lnSpc>
            </a:pPr>
            <a:r>
              <a:rPr sz="930" b="0" i="0">
                <a:solidFill>
                  <a:srgbClr val="21295C"/>
                </a:solidFill>
                <a:latin typeface="DejaVu Sans"/>
              </a:rPr>
              <a:t>Технология переехала туда, где ассортимент мал и предсказуем: </a:t>
            </a:r>
            <a:r>
              <a:rPr sz="930" b="1" i="0">
                <a:solidFill>
                  <a:srgbClr val="21295C"/>
                </a:solidFill>
                <a:latin typeface="DejaVu Sans"/>
              </a:rPr>
              <a:t>360+ сторонних точек</a:t>
            </a:r>
            <a:r>
              <a:rPr sz="930" b="0" i="0">
                <a:solidFill>
                  <a:srgbClr val="21295C"/>
                </a:solidFill>
                <a:latin typeface="DejaVu Sans"/>
              </a:rPr>
              <a:t> в пяти странах — стадионы, больницы, университеты.</a:t>
            </a:r>
          </a:p>
        </p:txBody>
      </p:sp>
      <p:sp>
        <p:nvSpPr>
          <p:cNvPr id="17" name="TextBox 16"/>
          <p:cNvSpPr txBox="1"/>
          <p:nvPr/>
        </p:nvSpPr>
        <p:spPr>
          <a:xfrm>
            <a:off x="6062472" y="4727448"/>
            <a:ext cx="2473451" cy="713232"/>
          </a:xfrm>
          <a:prstGeom prst="rect">
            <a:avLst/>
          </a:prstGeom>
          <a:noFill/>
        </p:spPr>
        <p:txBody>
          <a:bodyPr wrap="square" lIns="0" rIns="0" tIns="0" bIns="0" anchor="t">
            <a:spAutoFit/>
          </a:bodyPr>
          <a:lstStyle/>
          <a:p>
            <a:pPr algn="l">
              <a:lnSpc>
                <a:spcPct val="110000"/>
              </a:lnSpc>
            </a:pPr>
            <a:r>
              <a:rPr sz="930" b="0" i="0">
                <a:solidFill>
                  <a:srgbClr val="21295C"/>
                </a:solidFill>
                <a:latin typeface="DejaVu Sans"/>
              </a:rPr>
              <a:t>Где и это сложно, компьютерное зрение заменили </a:t>
            </a:r>
            <a:r>
              <a:rPr sz="930" b="1" i="0">
                <a:solidFill>
                  <a:srgbClr val="21295C"/>
                </a:solidFill>
                <a:latin typeface="DejaVu Sans"/>
              </a:rPr>
              <a:t>радиочастотными метками (RFID)</a:t>
            </a:r>
            <a:r>
              <a:rPr sz="930" b="0" i="0">
                <a:solidFill>
                  <a:srgbClr val="21295C"/>
                </a:solidFill>
                <a:latin typeface="DejaVu Sans"/>
              </a:rPr>
              <a:t> — предсказуемым решением </a:t>
            </a:r>
            <a:r>
              <a:rPr sz="930" b="1" i="0">
                <a:solidFill>
                  <a:srgbClr val="21295C"/>
                </a:solidFill>
                <a:latin typeface="DejaVu Sans"/>
              </a:rPr>
              <a:t>без ИИ</a:t>
            </a:r>
            <a:r>
              <a:rPr sz="930" b="0" i="0">
                <a:solidFill>
                  <a:srgbClr val="21295C"/>
                </a:solidFill>
                <a:latin typeface="DejaVu Sans"/>
              </a:rPr>
              <a:t>.</a:t>
            </a:r>
          </a:p>
        </p:txBody>
      </p:sp>
      <p:sp>
        <p:nvSpPr>
          <p:cNvPr id="18" name="TextBox 17"/>
          <p:cNvSpPr txBox="1"/>
          <p:nvPr/>
        </p:nvSpPr>
        <p:spPr>
          <a:xfrm>
            <a:off x="8737091" y="4727448"/>
            <a:ext cx="2473451" cy="713232"/>
          </a:xfrm>
          <a:prstGeom prst="rect">
            <a:avLst/>
          </a:prstGeom>
          <a:noFill/>
        </p:spPr>
        <p:txBody>
          <a:bodyPr wrap="square" lIns="0" rIns="0" tIns="0" bIns="0" anchor="t">
            <a:spAutoFit/>
          </a:bodyPr>
          <a:lstStyle/>
          <a:p>
            <a:pPr algn="l">
              <a:lnSpc>
                <a:spcPct val="110000"/>
              </a:lnSpc>
            </a:pPr>
            <a:r>
              <a:rPr sz="930" b="0" i="0">
                <a:solidFill>
                  <a:srgbClr val="21295C"/>
                </a:solidFill>
                <a:latin typeface="DejaVu Sans"/>
              </a:rPr>
              <a:t>А в больших магазинах место заняла </a:t>
            </a:r>
            <a:r>
              <a:rPr sz="930" b="1" i="0">
                <a:solidFill>
                  <a:srgbClr val="21295C"/>
                </a:solidFill>
                <a:latin typeface="DejaVu Sans"/>
              </a:rPr>
              <a:t>тележка со сканером</a:t>
            </a:r>
            <a:r>
              <a:rPr sz="930" b="0" i="0">
                <a:solidFill>
                  <a:srgbClr val="21295C"/>
                </a:solidFill>
                <a:latin typeface="DejaVu Sans"/>
              </a:rPr>
              <a:t>: товар отмечает сам покупатель.</a:t>
            </a:r>
          </a:p>
        </p:txBody>
      </p:sp>
      <p:sp>
        <p:nvSpPr>
          <p:cNvPr id="19" name="Rounded Rectangle 18"/>
          <p:cNvSpPr/>
          <p:nvPr/>
        </p:nvSpPr>
        <p:spPr>
          <a:xfrm>
            <a:off x="502920" y="5596128"/>
            <a:ext cx="11201400" cy="74980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6" y="5650992"/>
            <a:ext cx="10762488" cy="640080"/>
          </a:xfrm>
          <a:prstGeom prst="rect">
            <a:avLst/>
          </a:prstGeom>
          <a:noFill/>
        </p:spPr>
        <p:txBody>
          <a:bodyPr wrap="square" lIns="0" rIns="0" tIns="0" bIns="0" anchor="ctr">
            <a:spAutoFit/>
          </a:bodyPr>
          <a:lstStyle/>
          <a:p>
            <a:pPr algn="l">
              <a:lnSpc>
                <a:spcPct val="120000"/>
              </a:lnSpc>
            </a:pPr>
            <a:r>
              <a:rPr sz="1200" b="1" i="0">
                <a:solidFill>
                  <a:srgbClr val="21295C"/>
                </a:solidFill>
                <a:latin typeface="DejaVu Sans"/>
              </a:rPr>
              <a:t>Если для приемлемой точности нужна ручная проверка кратно выше собственной цели — заявленная автономность не достигнута. Дальше два честных хода: снизить обещание до «с помощью ИИ» либо признать нишу пока неподходящей и взять инструмент проще. Amazon в итоге сделал оба.</a:t>
            </a:r>
          </a:p>
        </p:txBody>
      </p:sp>
      <p:sp>
        <p:nvSpPr>
          <p:cNvPr id="21" name="TextBox 20"/>
          <p:cNvSpPr txBox="1"/>
          <p:nvPr/>
        </p:nvSpPr>
        <p:spPr>
          <a:xfrm>
            <a:off x="502920" y="6419088"/>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4"/>
              </a:rPr>
              <a:t>Business Standard (апр. 2024) — магазины без касс</a:t>
            </a:r>
            <a:r>
              <a:rPr sz="850" i="1">
                <a:solidFill>
                  <a:srgbClr val="1C7293"/>
                </a:solidFill>
                <a:latin typeface="DejaVu Sans"/>
              </a:rPr>
              <a:t>   ·   </a:t>
            </a:r>
            <a:r>
              <a:rPr sz="850" b="1" i="1">
                <a:solidFill>
                  <a:srgbClr val="065A82"/>
                </a:solidFill>
                <a:latin typeface="DejaVu Sans"/>
              </a:rPr>
              <a:t>[2] </a:t>
            </a:r>
            <a:r>
              <a:rPr sz="850" i="1">
                <a:solidFill>
                  <a:srgbClr val="1C7293"/>
                </a:solidFill>
                <a:latin typeface="DejaVu Sans"/>
                <a:hlinkClick r:id="rId5"/>
              </a:rPr>
              <a:t>Retail Dive — демонтаж технологии в продуктовых магазинах</a:t>
            </a:r>
            <a:r>
              <a:rPr sz="850" i="1">
                <a:solidFill>
                  <a:srgbClr val="1C7293"/>
                </a:solidFill>
                <a:latin typeface="DejaVu Sans"/>
              </a:rPr>
              <a:t>   ·   </a:t>
            </a:r>
            <a:r>
              <a:rPr sz="850" b="1" i="1">
                <a:solidFill>
                  <a:srgbClr val="065A82"/>
                </a:solidFill>
                <a:latin typeface="DejaVu Sans"/>
              </a:rPr>
              <a:t>[3] </a:t>
            </a:r>
            <a:r>
              <a:rPr sz="850" i="1">
                <a:solidFill>
                  <a:srgbClr val="1C7293"/>
                </a:solidFill>
                <a:latin typeface="DejaVu Sans"/>
                <a:hlinkClick r:id="rId6"/>
              </a:rPr>
              <a:t>Amazon — о планах по Just Walk Out и Dash Cart (2026)</a:t>
            </a:r>
          </a:p>
        </p:txBody>
      </p:sp>
      <p:sp>
        <p:nvSpPr>
          <p:cNvPr id="22" name="TextBox 21"/>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50 / 54</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extBox 1"/>
          <p:cNvSpPr txBox="1"/>
          <p:nvPr/>
        </p:nvSpPr>
        <p:spPr>
          <a:xfrm>
            <a:off x="7818120" y="182880"/>
            <a:ext cx="4114800" cy="5303520"/>
          </a:xfrm>
          <a:prstGeom prst="rect">
            <a:avLst/>
          </a:prstGeom>
          <a:noFill/>
        </p:spPr>
        <p:txBody>
          <a:bodyPr wrap="square" lIns="0" rIns="0" tIns="0" bIns="0" anchor="ctr">
            <a:spAutoFit/>
          </a:bodyPr>
          <a:lstStyle/>
          <a:p>
            <a:pPr algn="ctr">
              <a:lnSpc>
                <a:spcPct val="100000"/>
              </a:lnSpc>
            </a:pPr>
            <a:r>
              <a:rPr sz="40000" b="1" i="0">
                <a:solidFill>
                  <a:srgbClr val="D9E2EC"/>
                </a:solidFill>
                <a:latin typeface="DejaVu Sans"/>
              </a:rPr>
              <a:t>7</a:t>
            </a:r>
          </a:p>
        </p:txBody>
      </p:sp>
      <p:pic>
        <p:nvPicPr>
          <p:cNvPr id="3" name="Picture 2" descr="compass-light.png"/>
          <p:cNvPicPr>
            <a:picLocks noChangeAspect="1"/>
          </p:cNvPicPr>
          <p:nvPr/>
        </p:nvPicPr>
        <p:blipFill>
          <a:blip r:embed="rId2"/>
          <a:stretch>
            <a:fillRect/>
          </a:stretch>
        </p:blipFill>
        <p:spPr>
          <a:xfrm>
            <a:off x="8732520" y="1234440"/>
            <a:ext cx="1463040" cy="1463040"/>
          </a:xfrm>
          <a:prstGeom prst="rect">
            <a:avLst/>
          </a:prstGeom>
        </p:spPr>
      </p:pic>
      <p:sp>
        <p:nvSpPr>
          <p:cNvPr id="4" name="TextBox 3"/>
          <p:cNvSpPr txBox="1"/>
          <p:nvPr/>
        </p:nvSpPr>
        <p:spPr>
          <a:xfrm>
            <a:off x="685800" y="1417320"/>
            <a:ext cx="6675120" cy="502920"/>
          </a:xfrm>
          <a:prstGeom prst="rect">
            <a:avLst/>
          </a:prstGeom>
          <a:noFill/>
        </p:spPr>
        <p:txBody>
          <a:bodyPr wrap="square" lIns="0" rIns="0" tIns="0" bIns="0" anchor="t">
            <a:spAutoFit/>
          </a:bodyPr>
          <a:lstStyle/>
          <a:p>
            <a:pPr algn="l">
              <a:lnSpc>
                <a:spcPct val="115000"/>
              </a:lnSpc>
            </a:pPr>
            <a:r>
              <a:rPr sz="2000" b="1" i="0">
                <a:solidFill>
                  <a:srgbClr val="028090"/>
                </a:solidFill>
                <a:latin typeface="DejaVu Sans"/>
              </a:rPr>
              <a:t>РАЗДЕЛ 7</a:t>
            </a:r>
          </a:p>
        </p:txBody>
      </p:sp>
      <p:sp>
        <p:nvSpPr>
          <p:cNvPr id="5" name="TextBox 4"/>
          <p:cNvSpPr txBox="1"/>
          <p:nvPr/>
        </p:nvSpPr>
        <p:spPr>
          <a:xfrm>
            <a:off x="685800" y="2395728"/>
            <a:ext cx="6675120" cy="1600200"/>
          </a:xfrm>
          <a:prstGeom prst="rect">
            <a:avLst/>
          </a:prstGeom>
          <a:noFill/>
        </p:spPr>
        <p:txBody>
          <a:bodyPr wrap="square" lIns="0" rIns="0" tIns="0" bIns="0" anchor="t">
            <a:spAutoFit/>
          </a:bodyPr>
          <a:lstStyle/>
          <a:p>
            <a:pPr algn="l">
              <a:lnSpc>
                <a:spcPct val="108000"/>
              </a:lnSpc>
            </a:pPr>
            <a:r>
              <a:rPr sz="3000" b="1" i="0">
                <a:solidFill>
                  <a:srgbClr val="21295C"/>
                </a:solidFill>
                <a:latin typeface="DejaVu Sans"/>
              </a:rPr>
              <a:t>Обобщение: один инструмент</a:t>
            </a:r>
          </a:p>
          <a:p>
            <a:pPr algn="l">
              <a:lnSpc>
                <a:spcPct val="108000"/>
              </a:lnSpc>
            </a:pPr>
            <a:r>
              <a:rPr sz="3000" b="1" i="0">
                <a:solidFill>
                  <a:srgbClr val="21295C"/>
                </a:solidFill>
                <a:latin typeface="DejaVu Sans"/>
              </a:rPr>
              <a:t>на все шесть фаз</a:t>
            </a:r>
          </a:p>
        </p:txBody>
      </p:sp>
      <p:sp>
        <p:nvSpPr>
          <p:cNvPr id="6" name="Rounded Rectangle 5"/>
          <p:cNvSpPr/>
          <p:nvPr/>
        </p:nvSpPr>
        <p:spPr>
          <a:xfrm>
            <a:off x="713232" y="3840480"/>
            <a:ext cx="3291840" cy="384048"/>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250" b="1">
                <a:solidFill>
                  <a:srgbClr val="21295C"/>
                </a:solidFill>
                <a:latin typeface="DejaVu Sans"/>
              </a:rPr>
              <a:t>6 фаз · 1 матрица · 3 оси решения</a:t>
            </a:r>
          </a:p>
        </p:txBody>
      </p:sp>
      <p:sp>
        <p:nvSpPr>
          <p:cNvPr id="7" name="TextBox 6"/>
          <p:cNvSpPr txBox="1"/>
          <p:nvPr/>
        </p:nvSpPr>
        <p:spPr>
          <a:xfrm>
            <a:off x="713232" y="4389120"/>
            <a:ext cx="6720840" cy="1417320"/>
          </a:xfrm>
          <a:prstGeom prst="rect">
            <a:avLst/>
          </a:prstGeom>
          <a:noFill/>
        </p:spPr>
        <p:txBody>
          <a:bodyPr wrap="square" lIns="0" rIns="0" tIns="0" bIns="0" anchor="t">
            <a:spAutoFit/>
          </a:bodyPr>
          <a:lstStyle/>
          <a:p>
            <a:pPr algn="l">
              <a:lnSpc>
                <a:spcPct val="116000"/>
              </a:lnSpc>
            </a:pPr>
            <a:r>
              <a:rPr sz="1500" b="0" i="1">
                <a:solidFill>
                  <a:srgbClr val="1C7293"/>
                </a:solidFill>
                <a:latin typeface="DejaVu Sans"/>
              </a:rPr>
              <a:t>Шесть фаз разобраны по отдельности, но решение принимают по задаче, а не по разделу лекции. Без общего инструмента остаётся шесть отдельных выводов и ни одного ответа на случай, которого здесь не было.</a:t>
            </a:r>
          </a:p>
        </p:txBody>
      </p:sp>
      <p:sp>
        <p:nvSpPr>
          <p:cNvPr id="8" name="Rounded Rectangle 7"/>
          <p:cNvSpPr/>
          <p:nvPr/>
        </p:nvSpPr>
        <p:spPr>
          <a:xfrm>
            <a:off x="502920"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21208"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0</a:t>
            </a:r>
          </a:p>
        </p:txBody>
      </p:sp>
      <p:sp>
        <p:nvSpPr>
          <p:cNvPr id="10" name="TextBox 9"/>
          <p:cNvSpPr txBox="1"/>
          <p:nvPr/>
        </p:nvSpPr>
        <p:spPr>
          <a:xfrm>
            <a:off x="521208" y="6217920"/>
            <a:ext cx="1283589" cy="274320"/>
          </a:xfrm>
          <a:prstGeom prst="rect">
            <a:avLst/>
          </a:prstGeom>
          <a:noFill/>
        </p:spPr>
        <p:txBody>
          <a:bodyPr wrap="square" lIns="0" rIns="0" tIns="0" bIns="0" anchor="t">
            <a:spAutoFit/>
          </a:bodyPr>
          <a:lstStyle/>
          <a:p>
            <a:pPr algn="ctr">
              <a:lnSpc>
                <a:spcPct val="92000"/>
              </a:lnSpc>
            </a:pPr>
            <a:r>
              <a:rPr sz="900" b="0" i="0">
                <a:solidFill>
                  <a:srgbClr val="5B6678"/>
                </a:solidFill>
                <a:latin typeface="DejaVu Sans"/>
              </a:rPr>
              <a:t>Введение</a:t>
            </a:r>
          </a:p>
        </p:txBody>
      </p:sp>
      <p:sp>
        <p:nvSpPr>
          <p:cNvPr id="11" name="Rounded Rectangle 10"/>
          <p:cNvSpPr/>
          <p:nvPr/>
        </p:nvSpPr>
        <p:spPr>
          <a:xfrm>
            <a:off x="1914525"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932813"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1</a:t>
            </a:r>
          </a:p>
        </p:txBody>
      </p:sp>
      <p:sp>
        <p:nvSpPr>
          <p:cNvPr id="13" name="TextBox 12"/>
          <p:cNvSpPr txBox="1"/>
          <p:nvPr/>
        </p:nvSpPr>
        <p:spPr>
          <a:xfrm>
            <a:off x="1932813" y="6217920"/>
            <a:ext cx="1283589" cy="274320"/>
          </a:xfrm>
          <a:prstGeom prst="rect">
            <a:avLst/>
          </a:prstGeom>
          <a:noFill/>
        </p:spPr>
        <p:txBody>
          <a:bodyPr wrap="square" lIns="0" rIns="0" tIns="0" bIns="0" anchor="t">
            <a:spAutoFit/>
          </a:bodyPr>
          <a:lstStyle/>
          <a:p>
            <a:pPr algn="ctr">
              <a:lnSpc>
                <a:spcPct val="92000"/>
              </a:lnSpc>
            </a:pPr>
            <a:r>
              <a:rPr sz="800" b="0" i="0">
                <a:solidFill>
                  <a:srgbClr val="5B6678"/>
                </a:solidFill>
                <a:latin typeface="DejaVu Sans"/>
              </a:rPr>
              <a:t>Исследование</a:t>
            </a:r>
          </a:p>
        </p:txBody>
      </p:sp>
      <p:sp>
        <p:nvSpPr>
          <p:cNvPr id="14" name="Rounded Rectangle 13"/>
          <p:cNvSpPr/>
          <p:nvPr/>
        </p:nvSpPr>
        <p:spPr>
          <a:xfrm>
            <a:off x="3326130"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44418"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2</a:t>
            </a:r>
          </a:p>
        </p:txBody>
      </p:sp>
      <p:sp>
        <p:nvSpPr>
          <p:cNvPr id="16" name="TextBox 15"/>
          <p:cNvSpPr txBox="1"/>
          <p:nvPr/>
        </p:nvSpPr>
        <p:spPr>
          <a:xfrm>
            <a:off x="3344418" y="6217920"/>
            <a:ext cx="1283589" cy="274320"/>
          </a:xfrm>
          <a:prstGeom prst="rect">
            <a:avLst/>
          </a:prstGeom>
          <a:noFill/>
        </p:spPr>
        <p:txBody>
          <a:bodyPr wrap="square" lIns="0" rIns="0" tIns="0" bIns="0" anchor="t">
            <a:spAutoFit/>
          </a:bodyPr>
          <a:lstStyle/>
          <a:p>
            <a:pPr algn="ctr">
              <a:lnSpc>
                <a:spcPct val="92000"/>
              </a:lnSpc>
            </a:pPr>
            <a:r>
              <a:rPr sz="900" b="0" i="0">
                <a:solidFill>
                  <a:srgbClr val="5B6678"/>
                </a:solidFill>
                <a:latin typeface="DejaVu Sans"/>
              </a:rPr>
              <a:t>Дизайн</a:t>
            </a:r>
          </a:p>
        </p:txBody>
      </p:sp>
      <p:sp>
        <p:nvSpPr>
          <p:cNvPr id="17" name="Rounded Rectangle 16"/>
          <p:cNvSpPr/>
          <p:nvPr/>
        </p:nvSpPr>
        <p:spPr>
          <a:xfrm>
            <a:off x="4737735"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56023"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3</a:t>
            </a:r>
          </a:p>
        </p:txBody>
      </p:sp>
      <p:sp>
        <p:nvSpPr>
          <p:cNvPr id="19" name="TextBox 18"/>
          <p:cNvSpPr txBox="1"/>
          <p:nvPr/>
        </p:nvSpPr>
        <p:spPr>
          <a:xfrm>
            <a:off x="4756023" y="6217920"/>
            <a:ext cx="1283589" cy="274320"/>
          </a:xfrm>
          <a:prstGeom prst="rect">
            <a:avLst/>
          </a:prstGeom>
          <a:noFill/>
        </p:spPr>
        <p:txBody>
          <a:bodyPr wrap="square" lIns="0" rIns="0" tIns="0" bIns="0" anchor="t">
            <a:spAutoFit/>
          </a:bodyPr>
          <a:lstStyle/>
          <a:p>
            <a:pPr algn="ctr">
              <a:lnSpc>
                <a:spcPct val="92000"/>
              </a:lnSpc>
            </a:pPr>
            <a:r>
              <a:rPr sz="800" b="0" i="0">
                <a:solidFill>
                  <a:srgbClr val="5B6678"/>
                </a:solidFill>
                <a:latin typeface="DejaVu Sans"/>
              </a:rPr>
              <a:t>Сборка и запуск</a:t>
            </a:r>
          </a:p>
        </p:txBody>
      </p:sp>
      <p:sp>
        <p:nvSpPr>
          <p:cNvPr id="20" name="Rounded Rectangle 19"/>
          <p:cNvSpPr/>
          <p:nvPr/>
        </p:nvSpPr>
        <p:spPr>
          <a:xfrm>
            <a:off x="6149340"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67628"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4</a:t>
            </a:r>
          </a:p>
        </p:txBody>
      </p:sp>
      <p:sp>
        <p:nvSpPr>
          <p:cNvPr id="22" name="TextBox 21"/>
          <p:cNvSpPr txBox="1"/>
          <p:nvPr/>
        </p:nvSpPr>
        <p:spPr>
          <a:xfrm>
            <a:off x="6167628" y="6217920"/>
            <a:ext cx="1283589" cy="274320"/>
          </a:xfrm>
          <a:prstGeom prst="rect">
            <a:avLst/>
          </a:prstGeom>
          <a:noFill/>
        </p:spPr>
        <p:txBody>
          <a:bodyPr wrap="square" lIns="0" rIns="0" tIns="0" bIns="0" anchor="t">
            <a:spAutoFit/>
          </a:bodyPr>
          <a:lstStyle/>
          <a:p>
            <a:pPr algn="ctr">
              <a:lnSpc>
                <a:spcPct val="92000"/>
              </a:lnSpc>
            </a:pPr>
            <a:r>
              <a:rPr sz="900" b="0" i="0">
                <a:solidFill>
                  <a:srgbClr val="5B6678"/>
                </a:solidFill>
                <a:latin typeface="DejaVu Sans"/>
              </a:rPr>
              <a:t>Измерение</a:t>
            </a:r>
          </a:p>
        </p:txBody>
      </p:sp>
      <p:sp>
        <p:nvSpPr>
          <p:cNvPr id="23" name="Rounded Rectangle 22"/>
          <p:cNvSpPr/>
          <p:nvPr/>
        </p:nvSpPr>
        <p:spPr>
          <a:xfrm>
            <a:off x="7560945"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79233"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5</a:t>
            </a:r>
          </a:p>
        </p:txBody>
      </p:sp>
      <p:sp>
        <p:nvSpPr>
          <p:cNvPr id="25" name="TextBox 24"/>
          <p:cNvSpPr txBox="1"/>
          <p:nvPr/>
        </p:nvSpPr>
        <p:spPr>
          <a:xfrm>
            <a:off x="7579233" y="6217920"/>
            <a:ext cx="1283589" cy="274320"/>
          </a:xfrm>
          <a:prstGeom prst="rect">
            <a:avLst/>
          </a:prstGeom>
          <a:noFill/>
        </p:spPr>
        <p:txBody>
          <a:bodyPr wrap="square" lIns="0" rIns="0" tIns="0" bIns="0" anchor="t">
            <a:spAutoFit/>
          </a:bodyPr>
          <a:lstStyle/>
          <a:p>
            <a:pPr algn="ctr">
              <a:lnSpc>
                <a:spcPct val="92000"/>
              </a:lnSpc>
            </a:pPr>
            <a:r>
              <a:rPr sz="900" b="0" i="0">
                <a:solidFill>
                  <a:srgbClr val="5B6678"/>
                </a:solidFill>
                <a:latin typeface="DejaVu Sans"/>
              </a:rPr>
              <a:t>Поддержка</a:t>
            </a:r>
          </a:p>
        </p:txBody>
      </p:sp>
      <p:sp>
        <p:nvSpPr>
          <p:cNvPr id="26" name="Rounded Rectangle 25"/>
          <p:cNvSpPr/>
          <p:nvPr/>
        </p:nvSpPr>
        <p:spPr>
          <a:xfrm>
            <a:off x="8972550"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90838" y="6035040"/>
            <a:ext cx="1283589" cy="164592"/>
          </a:xfrm>
          <a:prstGeom prst="rect">
            <a:avLst/>
          </a:prstGeom>
          <a:noFill/>
        </p:spPr>
        <p:txBody>
          <a:bodyPr wrap="square" lIns="0" rIns="0" tIns="0" bIns="0" anchor="t">
            <a:spAutoFit/>
          </a:bodyPr>
          <a:lstStyle/>
          <a:p>
            <a:pPr algn="ctr">
              <a:lnSpc>
                <a:spcPct val="115000"/>
              </a:lnSpc>
            </a:pPr>
            <a:r>
              <a:rPr sz="1050" b="1" i="0">
                <a:solidFill>
                  <a:srgbClr val="1C7293"/>
                </a:solidFill>
                <a:latin typeface="DejaVu Sans"/>
              </a:rPr>
              <a:t>6</a:t>
            </a:r>
          </a:p>
        </p:txBody>
      </p:sp>
      <p:sp>
        <p:nvSpPr>
          <p:cNvPr id="28" name="TextBox 27"/>
          <p:cNvSpPr txBox="1"/>
          <p:nvPr/>
        </p:nvSpPr>
        <p:spPr>
          <a:xfrm>
            <a:off x="8990838" y="6217920"/>
            <a:ext cx="1283589" cy="274320"/>
          </a:xfrm>
          <a:prstGeom prst="rect">
            <a:avLst/>
          </a:prstGeom>
          <a:noFill/>
        </p:spPr>
        <p:txBody>
          <a:bodyPr wrap="square" lIns="0" rIns="0" tIns="0" bIns="0" anchor="t">
            <a:spAutoFit/>
          </a:bodyPr>
          <a:lstStyle/>
          <a:p>
            <a:pPr algn="ctr">
              <a:lnSpc>
                <a:spcPct val="92000"/>
              </a:lnSpc>
            </a:pPr>
            <a:r>
              <a:rPr sz="800" b="0" i="0">
                <a:solidFill>
                  <a:srgbClr val="5B6678"/>
                </a:solidFill>
                <a:latin typeface="DejaVu Sans"/>
              </a:rPr>
              <a:t>Управление</a:t>
            </a:r>
          </a:p>
        </p:txBody>
      </p:sp>
      <p:sp>
        <p:nvSpPr>
          <p:cNvPr id="29" name="Rounded Rectangle 28"/>
          <p:cNvSpPr/>
          <p:nvPr/>
        </p:nvSpPr>
        <p:spPr>
          <a:xfrm>
            <a:off x="10384155" y="5989320"/>
            <a:ext cx="1320165" cy="530352"/>
          </a:xfrm>
          <a:prstGeom prst="roundRect">
            <a:avLst>
              <a:gd name="adj" fmla="val 1200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402443" y="6035040"/>
            <a:ext cx="1283589" cy="164592"/>
          </a:xfrm>
          <a:prstGeom prst="rect">
            <a:avLst/>
          </a:prstGeom>
          <a:noFill/>
        </p:spPr>
        <p:txBody>
          <a:bodyPr wrap="square" lIns="0" rIns="0" tIns="0" bIns="0" anchor="t">
            <a:spAutoFit/>
          </a:bodyPr>
          <a:lstStyle/>
          <a:p>
            <a:pPr algn="ctr">
              <a:lnSpc>
                <a:spcPct val="115000"/>
              </a:lnSpc>
            </a:pPr>
            <a:r>
              <a:rPr sz="1050" b="1" i="0">
                <a:solidFill>
                  <a:srgbClr val="21295C"/>
                </a:solidFill>
                <a:latin typeface="DejaVu Sans"/>
              </a:rPr>
              <a:t>7</a:t>
            </a:r>
          </a:p>
        </p:txBody>
      </p:sp>
      <p:sp>
        <p:nvSpPr>
          <p:cNvPr id="31" name="TextBox 30"/>
          <p:cNvSpPr txBox="1"/>
          <p:nvPr/>
        </p:nvSpPr>
        <p:spPr>
          <a:xfrm>
            <a:off x="10402443" y="6217920"/>
            <a:ext cx="1283589" cy="274320"/>
          </a:xfrm>
          <a:prstGeom prst="rect">
            <a:avLst/>
          </a:prstGeom>
          <a:noFill/>
        </p:spPr>
        <p:txBody>
          <a:bodyPr wrap="square" lIns="0" rIns="0" tIns="0" bIns="0" anchor="t">
            <a:spAutoFit/>
          </a:bodyPr>
          <a:lstStyle/>
          <a:p>
            <a:pPr algn="ctr">
              <a:lnSpc>
                <a:spcPct val="92000"/>
              </a:lnSpc>
            </a:pPr>
            <a:r>
              <a:rPr sz="900" b="1" i="0">
                <a:solidFill>
                  <a:srgbClr val="21295C"/>
                </a:solidFill>
                <a:latin typeface="DejaVu Sans"/>
              </a:rPr>
              <a:t>Обобщение</a:t>
            </a:r>
          </a:p>
        </p:txBody>
      </p:sp>
      <p:sp>
        <p:nvSpPr>
          <p:cNvPr id="32" name="TextBox 31"/>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51 / 54</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11247120" cy="475488"/>
          </a:xfrm>
          <a:prstGeom prst="rect">
            <a:avLst/>
          </a:prstGeom>
          <a:noFill/>
        </p:spPr>
        <p:txBody>
          <a:bodyPr wrap="square" lIns="0" rIns="0" tIns="0" bIns="0" anchor="t">
            <a:spAutoFit/>
          </a:bodyPr>
          <a:lstStyle/>
          <a:p>
            <a:pPr algn="l">
              <a:lnSpc>
                <a:spcPct val="110000"/>
              </a:lnSpc>
            </a:pPr>
            <a:r>
              <a:rPr sz="1800" b="1" i="0">
                <a:solidFill>
                  <a:srgbClr val="21295C"/>
                </a:solidFill>
                <a:latin typeface="DejaVu Sans"/>
              </a:rPr>
              <a:t>Шесть фаз — одна структура: дисциплина, удешевление, режим отказа, человек</a:t>
            </a:r>
          </a:p>
        </p:txBody>
      </p:sp>
      <p:sp>
        <p:nvSpPr>
          <p:cNvPr id="3" name="Rounded Rectangle 2"/>
          <p:cNvSpPr/>
          <p:nvPr/>
        </p:nvSpPr>
        <p:spPr>
          <a:xfrm>
            <a:off x="502920" y="896112"/>
            <a:ext cx="1920240" cy="384048"/>
          </a:xfrm>
          <a:prstGeom prst="roundRect">
            <a:avLst>
              <a:gd name="adj" fmla="val 1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896112"/>
            <a:ext cx="1737360" cy="384048"/>
          </a:xfrm>
          <a:prstGeom prst="rect">
            <a:avLst/>
          </a:prstGeom>
          <a:noFill/>
        </p:spPr>
        <p:txBody>
          <a:bodyPr wrap="square" lIns="0" rIns="0" tIns="0" bIns="0" anchor="ctr">
            <a:spAutoFit/>
          </a:bodyPr>
          <a:lstStyle/>
          <a:p>
            <a:pPr algn="ctr">
              <a:lnSpc>
                <a:spcPct val="98000"/>
              </a:lnSpc>
            </a:pPr>
            <a:r>
              <a:rPr sz="1100" b="1" i="0">
                <a:solidFill>
                  <a:srgbClr val="FFFFFF"/>
                </a:solidFill>
                <a:latin typeface="DejaVu Sans"/>
              </a:rPr>
              <a:t>Фаза</a:t>
            </a:r>
          </a:p>
        </p:txBody>
      </p:sp>
      <p:sp>
        <p:nvSpPr>
          <p:cNvPr id="5" name="Rounded Rectangle 4"/>
          <p:cNvSpPr/>
          <p:nvPr/>
        </p:nvSpPr>
        <p:spPr>
          <a:xfrm>
            <a:off x="2478024" y="896112"/>
            <a:ext cx="2468880" cy="384048"/>
          </a:xfrm>
          <a:prstGeom prst="roundRect">
            <a:avLst>
              <a:gd name="adj" fmla="val 1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569464" y="896112"/>
            <a:ext cx="2286000" cy="384048"/>
          </a:xfrm>
          <a:prstGeom prst="rect">
            <a:avLst/>
          </a:prstGeom>
          <a:noFill/>
        </p:spPr>
        <p:txBody>
          <a:bodyPr wrap="square" lIns="0" rIns="0" tIns="0" bIns="0" anchor="ctr">
            <a:spAutoFit/>
          </a:bodyPr>
          <a:lstStyle/>
          <a:p>
            <a:pPr algn="ctr">
              <a:lnSpc>
                <a:spcPct val="98000"/>
              </a:lnSpc>
            </a:pPr>
            <a:r>
              <a:rPr sz="1100" b="1" i="0">
                <a:solidFill>
                  <a:srgbClr val="FFFFFF"/>
                </a:solidFill>
                <a:latin typeface="DejaVu Sans"/>
              </a:rPr>
              <a:t>Ведущая дисциплина</a:t>
            </a:r>
          </a:p>
        </p:txBody>
      </p:sp>
      <p:sp>
        <p:nvSpPr>
          <p:cNvPr id="7" name="Rounded Rectangle 6"/>
          <p:cNvSpPr/>
          <p:nvPr/>
        </p:nvSpPr>
        <p:spPr>
          <a:xfrm>
            <a:off x="5001768" y="896112"/>
            <a:ext cx="2057400" cy="384048"/>
          </a:xfrm>
          <a:prstGeom prst="roundRect">
            <a:avLst>
              <a:gd name="adj" fmla="val 1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93208" y="896112"/>
            <a:ext cx="1874519" cy="384048"/>
          </a:xfrm>
          <a:prstGeom prst="rect">
            <a:avLst/>
          </a:prstGeom>
          <a:noFill/>
        </p:spPr>
        <p:txBody>
          <a:bodyPr wrap="square" lIns="0" rIns="0" tIns="0" bIns="0" anchor="ctr">
            <a:spAutoFit/>
          </a:bodyPr>
          <a:lstStyle/>
          <a:p>
            <a:pPr algn="ctr">
              <a:lnSpc>
                <a:spcPct val="98000"/>
              </a:lnSpc>
            </a:pPr>
            <a:r>
              <a:rPr sz="1100" b="1" i="0">
                <a:solidFill>
                  <a:srgbClr val="FFFFFF"/>
                </a:solidFill>
                <a:latin typeface="DejaVu Sans"/>
              </a:rPr>
              <a:t>Что удешевил ИИ</a:t>
            </a:r>
          </a:p>
        </p:txBody>
      </p:sp>
      <p:sp>
        <p:nvSpPr>
          <p:cNvPr id="9" name="Rounded Rectangle 8"/>
          <p:cNvSpPr/>
          <p:nvPr/>
        </p:nvSpPr>
        <p:spPr>
          <a:xfrm>
            <a:off x="7114032" y="896112"/>
            <a:ext cx="2286000" cy="384048"/>
          </a:xfrm>
          <a:prstGeom prst="roundRect">
            <a:avLst>
              <a:gd name="adj" fmla="val 1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05472" y="896112"/>
            <a:ext cx="2103120" cy="384048"/>
          </a:xfrm>
          <a:prstGeom prst="rect">
            <a:avLst/>
          </a:prstGeom>
          <a:noFill/>
        </p:spPr>
        <p:txBody>
          <a:bodyPr wrap="square" lIns="0" rIns="0" tIns="0" bIns="0" anchor="ctr">
            <a:spAutoFit/>
          </a:bodyPr>
          <a:lstStyle/>
          <a:p>
            <a:pPr algn="ctr">
              <a:lnSpc>
                <a:spcPct val="98000"/>
              </a:lnSpc>
            </a:pPr>
            <a:r>
              <a:rPr sz="1100" b="1" i="0">
                <a:solidFill>
                  <a:srgbClr val="FFFFFF"/>
                </a:solidFill>
                <a:latin typeface="DejaVu Sans"/>
              </a:rPr>
              <a:t>Режим отказа</a:t>
            </a:r>
          </a:p>
        </p:txBody>
      </p:sp>
      <p:sp>
        <p:nvSpPr>
          <p:cNvPr id="11" name="Rounded Rectangle 10"/>
          <p:cNvSpPr/>
          <p:nvPr/>
        </p:nvSpPr>
        <p:spPr>
          <a:xfrm>
            <a:off x="9454896" y="896112"/>
            <a:ext cx="2249424" cy="384048"/>
          </a:xfrm>
          <a:prstGeom prst="roundRect">
            <a:avLst>
              <a:gd name="adj" fmla="val 1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546336" y="896112"/>
            <a:ext cx="2066543" cy="384048"/>
          </a:xfrm>
          <a:prstGeom prst="rect">
            <a:avLst/>
          </a:prstGeom>
          <a:noFill/>
        </p:spPr>
        <p:txBody>
          <a:bodyPr wrap="square" lIns="0" rIns="0" tIns="0" bIns="0" anchor="ctr">
            <a:spAutoFit/>
          </a:bodyPr>
          <a:lstStyle/>
          <a:p>
            <a:pPr algn="ctr">
              <a:lnSpc>
                <a:spcPct val="98000"/>
              </a:lnSpc>
            </a:pPr>
            <a:r>
              <a:rPr sz="1100" b="1" i="0">
                <a:solidFill>
                  <a:srgbClr val="21295C"/>
                </a:solidFill>
                <a:latin typeface="DejaVu Sans"/>
              </a:rPr>
              <a:t>Где человек обязателен</a:t>
            </a:r>
          </a:p>
        </p:txBody>
      </p:sp>
      <p:sp>
        <p:nvSpPr>
          <p:cNvPr id="13" name="Rounded Rectangle 12"/>
          <p:cNvSpPr/>
          <p:nvPr/>
        </p:nvSpPr>
        <p:spPr>
          <a:xfrm>
            <a:off x="502920" y="1325880"/>
            <a:ext cx="1920240" cy="658368"/>
          </a:xfrm>
          <a:prstGeom prst="roundRect">
            <a:avLst>
              <a:gd name="adj" fmla="val 7000"/>
            </a:avLst>
          </a:prstGeom>
          <a:solidFill>
            <a:srgbClr val="F4F7F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search-mid.png"/>
          <p:cNvPicPr>
            <a:picLocks noChangeAspect="1"/>
          </p:cNvPicPr>
          <p:nvPr/>
        </p:nvPicPr>
        <p:blipFill>
          <a:blip r:embed="rId2"/>
          <a:stretch>
            <a:fillRect/>
          </a:stretch>
        </p:blipFill>
        <p:spPr>
          <a:xfrm>
            <a:off x="630936" y="1517904"/>
            <a:ext cx="274320" cy="274320"/>
          </a:xfrm>
          <a:prstGeom prst="rect">
            <a:avLst/>
          </a:prstGeom>
        </p:spPr>
      </p:pic>
      <p:sp>
        <p:nvSpPr>
          <p:cNvPr id="15" name="TextBox 14"/>
          <p:cNvSpPr txBox="1"/>
          <p:nvPr/>
        </p:nvSpPr>
        <p:spPr>
          <a:xfrm>
            <a:off x="978408" y="1371600"/>
            <a:ext cx="1371600" cy="566928"/>
          </a:xfrm>
          <a:prstGeom prst="rect">
            <a:avLst/>
          </a:prstGeom>
          <a:noFill/>
        </p:spPr>
        <p:txBody>
          <a:bodyPr wrap="square" lIns="0" rIns="0" tIns="0" bIns="0" anchor="ctr">
            <a:spAutoFit/>
          </a:bodyPr>
          <a:lstStyle/>
          <a:p>
            <a:pPr algn="l">
              <a:lnSpc>
                <a:spcPct val="110000"/>
              </a:lnSpc>
            </a:pPr>
            <a:r>
              <a:rPr sz="1100" b="1" i="0">
                <a:solidFill>
                  <a:srgbClr val="21295C"/>
                </a:solidFill>
                <a:latin typeface="DejaVu Sans"/>
              </a:rPr>
              <a:t>Исследование</a:t>
            </a:r>
          </a:p>
        </p:txBody>
      </p:sp>
      <p:sp>
        <p:nvSpPr>
          <p:cNvPr id="16" name="Rounded Rectangle 15"/>
          <p:cNvSpPr/>
          <p:nvPr/>
        </p:nvSpPr>
        <p:spPr>
          <a:xfrm>
            <a:off x="2478024" y="1325880"/>
            <a:ext cx="2468880" cy="658368"/>
          </a:xfrm>
          <a:prstGeom prst="roundRect">
            <a:avLst>
              <a:gd name="adj" fmla="val 7000"/>
            </a:avLst>
          </a:prstGeom>
          <a:solidFill>
            <a:srgbClr val="F4F7F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606040" y="1371600"/>
            <a:ext cx="2212848" cy="566928"/>
          </a:xfrm>
          <a:prstGeom prst="rect">
            <a:avLst/>
          </a:prstGeom>
          <a:noFill/>
        </p:spPr>
        <p:txBody>
          <a:bodyPr wrap="square" lIns="0" rIns="0" tIns="0" bIns="0" anchor="ctr">
            <a:spAutoFit/>
          </a:bodyPr>
          <a:lstStyle/>
          <a:p>
            <a:pPr algn="l">
              <a:lnSpc>
                <a:spcPct val="110000"/>
              </a:lnSpc>
            </a:pPr>
            <a:r>
              <a:rPr sz="1100" b="0" i="0">
                <a:solidFill>
                  <a:srgbClr val="21295C"/>
                </a:solidFill>
                <a:latin typeface="DejaVu Sans"/>
              </a:rPr>
              <a:t>Развитие клиента и «The Mom Test»: проверяемая гипотеза</a:t>
            </a:r>
          </a:p>
        </p:txBody>
      </p:sp>
      <p:sp>
        <p:nvSpPr>
          <p:cNvPr id="18" name="Rounded Rectangle 17"/>
          <p:cNvSpPr/>
          <p:nvPr/>
        </p:nvSpPr>
        <p:spPr>
          <a:xfrm>
            <a:off x="5001768" y="1325880"/>
            <a:ext cx="2057400" cy="658368"/>
          </a:xfrm>
          <a:prstGeom prst="roundRect">
            <a:avLst>
              <a:gd name="adj" fmla="val 7000"/>
            </a:avLst>
          </a:prstGeom>
          <a:solidFill>
            <a:srgbClr val="F4F7F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29784" y="1371600"/>
            <a:ext cx="1801368" cy="566928"/>
          </a:xfrm>
          <a:prstGeom prst="rect">
            <a:avLst/>
          </a:prstGeom>
          <a:noFill/>
        </p:spPr>
        <p:txBody>
          <a:bodyPr wrap="square" lIns="0" rIns="0" tIns="0" bIns="0" anchor="ctr">
            <a:spAutoFit/>
          </a:bodyPr>
          <a:lstStyle/>
          <a:p>
            <a:pPr algn="l">
              <a:lnSpc>
                <a:spcPct val="110000"/>
              </a:lnSpc>
            </a:pPr>
            <a:r>
              <a:rPr sz="1100" b="0" i="0">
                <a:solidFill>
                  <a:srgbClr val="21295C"/>
                </a:solidFill>
                <a:latin typeface="DejaVu Sans"/>
              </a:rPr>
              <a:t>Кабинетный поиск; синтез сотен интервью</a:t>
            </a:r>
          </a:p>
        </p:txBody>
      </p:sp>
      <p:sp>
        <p:nvSpPr>
          <p:cNvPr id="20" name="Rounded Rectangle 19"/>
          <p:cNvSpPr/>
          <p:nvPr/>
        </p:nvSpPr>
        <p:spPr>
          <a:xfrm>
            <a:off x="7114032" y="1325880"/>
            <a:ext cx="2286000" cy="658368"/>
          </a:xfrm>
          <a:prstGeom prst="roundRect">
            <a:avLst>
              <a:gd name="adj" fmla="val 7000"/>
            </a:avLst>
          </a:prstGeom>
          <a:solidFill>
            <a:srgbClr val="F4F7F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42048" y="1371600"/>
            <a:ext cx="2029967" cy="566928"/>
          </a:xfrm>
          <a:prstGeom prst="rect">
            <a:avLst/>
          </a:prstGeom>
          <a:noFill/>
        </p:spPr>
        <p:txBody>
          <a:bodyPr wrap="square" lIns="0" rIns="0" tIns="0" bIns="0" anchor="ctr">
            <a:spAutoFit/>
          </a:bodyPr>
          <a:lstStyle/>
          <a:p>
            <a:pPr algn="l">
              <a:lnSpc>
                <a:spcPct val="110000"/>
              </a:lnSpc>
            </a:pPr>
            <a:r>
              <a:rPr sz="1100" b="0" i="0">
                <a:solidFill>
                  <a:srgbClr val="21295C"/>
                </a:solidFill>
                <a:latin typeface="DejaVu Sans"/>
              </a:rPr>
              <a:t>Угодливость: синтетический источник не скажет «нет»</a:t>
            </a:r>
          </a:p>
        </p:txBody>
      </p:sp>
      <p:sp>
        <p:nvSpPr>
          <p:cNvPr id="22" name="Rounded Rectangle 21"/>
          <p:cNvSpPr/>
          <p:nvPr/>
        </p:nvSpPr>
        <p:spPr>
          <a:xfrm>
            <a:off x="9454896" y="1325880"/>
            <a:ext cx="2249424" cy="658368"/>
          </a:xfrm>
          <a:prstGeom prst="roundRect">
            <a:avLst>
              <a:gd name="adj" fmla="val 7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582912" y="1371600"/>
            <a:ext cx="1993391" cy="566928"/>
          </a:xfrm>
          <a:prstGeom prst="rect">
            <a:avLst/>
          </a:prstGeom>
          <a:noFill/>
        </p:spPr>
        <p:txBody>
          <a:bodyPr wrap="square" lIns="0" rIns="0" tIns="0" bIns="0" anchor="ctr">
            <a:spAutoFit/>
          </a:bodyPr>
          <a:lstStyle/>
          <a:p>
            <a:pPr algn="l">
              <a:lnSpc>
                <a:spcPct val="110000"/>
              </a:lnSpc>
            </a:pPr>
            <a:r>
              <a:rPr sz="1100" b="0" i="0">
                <a:solidFill>
                  <a:srgbClr val="21295C"/>
                </a:solidFill>
                <a:latin typeface="DejaVu Sans"/>
              </a:rPr>
              <a:t>Проверка реальным прошлым и реальным обязательством</a:t>
            </a:r>
          </a:p>
        </p:txBody>
      </p:sp>
      <p:sp>
        <p:nvSpPr>
          <p:cNvPr id="24" name="Rounded Rectangle 23"/>
          <p:cNvSpPr/>
          <p:nvPr/>
        </p:nvSpPr>
        <p:spPr>
          <a:xfrm>
            <a:off x="502920" y="2029967"/>
            <a:ext cx="1920240" cy="658368"/>
          </a:xfrm>
          <a:prstGeom prst="roundRect">
            <a:avLst>
              <a:gd name="adj" fmla="val 7000"/>
            </a:avLst>
          </a:prstGeom>
          <a:solidFill>
            <a:srgbClr val="F4F7F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pencil-mid.png"/>
          <p:cNvPicPr>
            <a:picLocks noChangeAspect="1"/>
          </p:cNvPicPr>
          <p:nvPr/>
        </p:nvPicPr>
        <p:blipFill>
          <a:blip r:embed="rId3"/>
          <a:stretch>
            <a:fillRect/>
          </a:stretch>
        </p:blipFill>
        <p:spPr>
          <a:xfrm>
            <a:off x="630936" y="2221991"/>
            <a:ext cx="274320" cy="274320"/>
          </a:xfrm>
          <a:prstGeom prst="rect">
            <a:avLst/>
          </a:prstGeom>
        </p:spPr>
      </p:pic>
      <p:sp>
        <p:nvSpPr>
          <p:cNvPr id="26" name="TextBox 25"/>
          <p:cNvSpPr txBox="1"/>
          <p:nvPr/>
        </p:nvSpPr>
        <p:spPr>
          <a:xfrm>
            <a:off x="978408" y="2075687"/>
            <a:ext cx="1371600" cy="566928"/>
          </a:xfrm>
          <a:prstGeom prst="rect">
            <a:avLst/>
          </a:prstGeom>
          <a:noFill/>
        </p:spPr>
        <p:txBody>
          <a:bodyPr wrap="square" lIns="0" rIns="0" tIns="0" bIns="0" anchor="ctr">
            <a:spAutoFit/>
          </a:bodyPr>
          <a:lstStyle/>
          <a:p>
            <a:pPr algn="l">
              <a:lnSpc>
                <a:spcPct val="110000"/>
              </a:lnSpc>
            </a:pPr>
            <a:r>
              <a:rPr sz="1100" b="1" i="0">
                <a:solidFill>
                  <a:srgbClr val="21295C"/>
                </a:solidFill>
                <a:latin typeface="DejaVu Sans"/>
              </a:rPr>
              <a:t>Дизайн</a:t>
            </a:r>
          </a:p>
        </p:txBody>
      </p:sp>
      <p:sp>
        <p:nvSpPr>
          <p:cNvPr id="27" name="Rounded Rectangle 26"/>
          <p:cNvSpPr/>
          <p:nvPr/>
        </p:nvSpPr>
        <p:spPr>
          <a:xfrm>
            <a:off x="2478024" y="2029967"/>
            <a:ext cx="2468880" cy="658368"/>
          </a:xfrm>
          <a:prstGeom prst="roundRect">
            <a:avLst>
              <a:gd name="adj" fmla="val 7000"/>
            </a:avLst>
          </a:prstGeom>
          <a:solidFill>
            <a:srgbClr val="F4F7F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606040" y="2075687"/>
            <a:ext cx="2212848" cy="566928"/>
          </a:xfrm>
          <a:prstGeom prst="rect">
            <a:avLst/>
          </a:prstGeom>
          <a:noFill/>
        </p:spPr>
        <p:txBody>
          <a:bodyPr wrap="square" lIns="0" rIns="0" tIns="0" bIns="0" anchor="ctr">
            <a:spAutoFit/>
          </a:bodyPr>
          <a:lstStyle/>
          <a:p>
            <a:pPr algn="l">
              <a:lnSpc>
                <a:spcPct val="110000"/>
              </a:lnSpc>
            </a:pPr>
            <a:r>
              <a:rPr sz="1100" b="0" i="0">
                <a:solidFill>
                  <a:srgbClr val="21295C"/>
                </a:solidFill>
                <a:latin typeface="DejaVu Sans"/>
              </a:rPr>
              <a:t>Двойной ромб, эвристики Нильсена, дизайн-система</a:t>
            </a:r>
          </a:p>
        </p:txBody>
      </p:sp>
      <p:sp>
        <p:nvSpPr>
          <p:cNvPr id="29" name="Rounded Rectangle 28"/>
          <p:cNvSpPr/>
          <p:nvPr/>
        </p:nvSpPr>
        <p:spPr>
          <a:xfrm>
            <a:off x="5001768" y="2029967"/>
            <a:ext cx="2057400" cy="658368"/>
          </a:xfrm>
          <a:prstGeom prst="roundRect">
            <a:avLst>
              <a:gd name="adj" fmla="val 7000"/>
            </a:avLst>
          </a:prstGeom>
          <a:solidFill>
            <a:srgbClr val="F4F7F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129784" y="2075687"/>
            <a:ext cx="1801368" cy="566928"/>
          </a:xfrm>
          <a:prstGeom prst="rect">
            <a:avLst/>
          </a:prstGeom>
          <a:noFill/>
        </p:spPr>
        <p:txBody>
          <a:bodyPr wrap="square" lIns="0" rIns="0" tIns="0" bIns="0" anchor="ctr">
            <a:spAutoFit/>
          </a:bodyPr>
          <a:lstStyle/>
          <a:p>
            <a:pPr algn="l">
              <a:lnSpc>
                <a:spcPct val="110000"/>
              </a:lnSpc>
            </a:pPr>
            <a:r>
              <a:rPr sz="1100" b="0" i="0">
                <a:solidFill>
                  <a:srgbClr val="21295C"/>
                </a:solidFill>
                <a:latin typeface="DejaVu Sans"/>
              </a:rPr>
              <a:t>Черновик экрана: день → минуты</a:t>
            </a:r>
          </a:p>
        </p:txBody>
      </p:sp>
      <p:sp>
        <p:nvSpPr>
          <p:cNvPr id="31" name="Rounded Rectangle 30"/>
          <p:cNvSpPr/>
          <p:nvPr/>
        </p:nvSpPr>
        <p:spPr>
          <a:xfrm>
            <a:off x="7114032" y="2029967"/>
            <a:ext cx="2286000" cy="658368"/>
          </a:xfrm>
          <a:prstGeom prst="roundRect">
            <a:avLst>
              <a:gd name="adj" fmla="val 7000"/>
            </a:avLst>
          </a:prstGeom>
          <a:solidFill>
            <a:srgbClr val="F4F7F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242048" y="2075687"/>
            <a:ext cx="2029967" cy="566928"/>
          </a:xfrm>
          <a:prstGeom prst="rect">
            <a:avLst/>
          </a:prstGeom>
          <a:noFill/>
        </p:spPr>
        <p:txBody>
          <a:bodyPr wrap="square" lIns="0" rIns="0" tIns="0" bIns="0" anchor="ctr">
            <a:spAutoFit/>
          </a:bodyPr>
          <a:lstStyle/>
          <a:p>
            <a:pPr algn="l">
              <a:lnSpc>
                <a:spcPct val="110000"/>
              </a:lnSpc>
            </a:pPr>
            <a:r>
              <a:rPr sz="1100" b="0" i="0">
                <a:solidFill>
                  <a:srgbClr val="21295C"/>
                </a:solidFill>
                <a:latin typeface="DejaVu Sans"/>
              </a:rPr>
              <a:t>Однообразие решений; пробелы доступности</a:t>
            </a:r>
          </a:p>
        </p:txBody>
      </p:sp>
      <p:sp>
        <p:nvSpPr>
          <p:cNvPr id="33" name="Rounded Rectangle 32"/>
          <p:cNvSpPr/>
          <p:nvPr/>
        </p:nvSpPr>
        <p:spPr>
          <a:xfrm>
            <a:off x="9454896" y="2029967"/>
            <a:ext cx="2249424" cy="658368"/>
          </a:xfrm>
          <a:prstGeom prst="roundRect">
            <a:avLst>
              <a:gd name="adj" fmla="val 7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582912" y="2075687"/>
            <a:ext cx="1993391" cy="566928"/>
          </a:xfrm>
          <a:prstGeom prst="rect">
            <a:avLst/>
          </a:prstGeom>
          <a:noFill/>
        </p:spPr>
        <p:txBody>
          <a:bodyPr wrap="square" lIns="0" rIns="0" tIns="0" bIns="0" anchor="ctr">
            <a:spAutoFit/>
          </a:bodyPr>
          <a:lstStyle/>
          <a:p>
            <a:pPr algn="l">
              <a:lnSpc>
                <a:spcPct val="110000"/>
              </a:lnSpc>
            </a:pPr>
            <a:r>
              <a:rPr sz="1100" b="0" i="0">
                <a:solidFill>
                  <a:srgbClr val="21295C"/>
                </a:solidFill>
                <a:latin typeface="DejaVu Sans"/>
              </a:rPr>
              <a:t>Сведение к контексту бренда; аудит безопасности</a:t>
            </a:r>
          </a:p>
        </p:txBody>
      </p:sp>
      <p:sp>
        <p:nvSpPr>
          <p:cNvPr id="35" name="Rounded Rectangle 34"/>
          <p:cNvSpPr/>
          <p:nvPr/>
        </p:nvSpPr>
        <p:spPr>
          <a:xfrm>
            <a:off x="502920" y="2734055"/>
            <a:ext cx="1920240" cy="658368"/>
          </a:xfrm>
          <a:prstGeom prst="roundRect">
            <a:avLst>
              <a:gd name="adj" fmla="val 7000"/>
            </a:avLst>
          </a:prstGeom>
          <a:solidFill>
            <a:srgbClr val="F4F7F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hammer-mid.png"/>
          <p:cNvPicPr>
            <a:picLocks noChangeAspect="1"/>
          </p:cNvPicPr>
          <p:nvPr/>
        </p:nvPicPr>
        <p:blipFill>
          <a:blip r:embed="rId4"/>
          <a:stretch>
            <a:fillRect/>
          </a:stretch>
        </p:blipFill>
        <p:spPr>
          <a:xfrm>
            <a:off x="630936" y="2926079"/>
            <a:ext cx="274320" cy="274320"/>
          </a:xfrm>
          <a:prstGeom prst="rect">
            <a:avLst/>
          </a:prstGeom>
        </p:spPr>
      </p:pic>
      <p:sp>
        <p:nvSpPr>
          <p:cNvPr id="37" name="TextBox 36"/>
          <p:cNvSpPr txBox="1"/>
          <p:nvPr/>
        </p:nvSpPr>
        <p:spPr>
          <a:xfrm>
            <a:off x="978408" y="2779775"/>
            <a:ext cx="1371600" cy="566928"/>
          </a:xfrm>
          <a:prstGeom prst="rect">
            <a:avLst/>
          </a:prstGeom>
          <a:noFill/>
        </p:spPr>
        <p:txBody>
          <a:bodyPr wrap="square" lIns="0" rIns="0" tIns="0" bIns="0" anchor="ctr">
            <a:spAutoFit/>
          </a:bodyPr>
          <a:lstStyle/>
          <a:p>
            <a:pPr algn="l">
              <a:lnSpc>
                <a:spcPct val="110000"/>
              </a:lnSpc>
            </a:pPr>
            <a:r>
              <a:rPr sz="1100" b="1" i="0">
                <a:solidFill>
                  <a:srgbClr val="21295C"/>
                </a:solidFill>
                <a:latin typeface="DejaVu Sans"/>
              </a:rPr>
              <a:t>Сборка и запуск</a:t>
            </a:r>
          </a:p>
        </p:txBody>
      </p:sp>
      <p:sp>
        <p:nvSpPr>
          <p:cNvPr id="38" name="Rounded Rectangle 37"/>
          <p:cNvSpPr/>
          <p:nvPr/>
        </p:nvSpPr>
        <p:spPr>
          <a:xfrm>
            <a:off x="2478024" y="2734055"/>
            <a:ext cx="2468880" cy="658368"/>
          </a:xfrm>
          <a:prstGeom prst="roundRect">
            <a:avLst>
              <a:gd name="adj" fmla="val 7000"/>
            </a:avLst>
          </a:prstGeom>
          <a:solidFill>
            <a:srgbClr val="F4F7F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606040" y="2779775"/>
            <a:ext cx="2212848" cy="566928"/>
          </a:xfrm>
          <a:prstGeom prst="rect">
            <a:avLst/>
          </a:prstGeom>
          <a:noFill/>
        </p:spPr>
        <p:txBody>
          <a:bodyPr wrap="square" lIns="0" rIns="0" tIns="0" bIns="0" anchor="ctr">
            <a:spAutoFit/>
          </a:bodyPr>
          <a:lstStyle/>
          <a:p>
            <a:pPr algn="l">
              <a:lnSpc>
                <a:spcPct val="110000"/>
              </a:lnSpc>
            </a:pPr>
            <a:r>
              <a:rPr sz="1100" b="0" i="0">
                <a:solidFill>
                  <a:srgbClr val="21295C"/>
                </a:solidFill>
                <a:latin typeface="DejaVu Sans"/>
              </a:rPr>
              <a:t>Минимально жизнеспособный продукт; рубеж остановки</a:t>
            </a:r>
          </a:p>
        </p:txBody>
      </p:sp>
      <p:sp>
        <p:nvSpPr>
          <p:cNvPr id="40" name="Rounded Rectangle 39"/>
          <p:cNvSpPr/>
          <p:nvPr/>
        </p:nvSpPr>
        <p:spPr>
          <a:xfrm>
            <a:off x="5001768" y="2734055"/>
            <a:ext cx="2057400" cy="658368"/>
          </a:xfrm>
          <a:prstGeom prst="roundRect">
            <a:avLst>
              <a:gd name="adj" fmla="val 7000"/>
            </a:avLst>
          </a:prstGeom>
          <a:solidFill>
            <a:srgbClr val="F4F7F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129784" y="2779775"/>
            <a:ext cx="1801368" cy="566928"/>
          </a:xfrm>
          <a:prstGeom prst="rect">
            <a:avLst/>
          </a:prstGeom>
          <a:noFill/>
        </p:spPr>
        <p:txBody>
          <a:bodyPr wrap="square" lIns="0" rIns="0" tIns="0" bIns="0" anchor="ctr">
            <a:spAutoFit/>
          </a:bodyPr>
          <a:lstStyle/>
          <a:p>
            <a:pPr algn="l">
              <a:lnSpc>
                <a:spcPct val="110000"/>
              </a:lnSpc>
            </a:pPr>
            <a:r>
              <a:rPr sz="1100" b="0" i="0">
                <a:solidFill>
                  <a:srgbClr val="21295C"/>
                </a:solidFill>
                <a:latin typeface="DejaVu Sans"/>
              </a:rPr>
              <a:t>Сама сборка: шаблонный и связующий код</a:t>
            </a:r>
          </a:p>
        </p:txBody>
      </p:sp>
      <p:sp>
        <p:nvSpPr>
          <p:cNvPr id="42" name="Rounded Rectangle 41"/>
          <p:cNvSpPr/>
          <p:nvPr/>
        </p:nvSpPr>
        <p:spPr>
          <a:xfrm>
            <a:off x="7114032" y="2734055"/>
            <a:ext cx="2286000" cy="658368"/>
          </a:xfrm>
          <a:prstGeom prst="roundRect">
            <a:avLst>
              <a:gd name="adj" fmla="val 7000"/>
            </a:avLst>
          </a:prstGeom>
          <a:solidFill>
            <a:srgbClr val="F4F7F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242048" y="2779775"/>
            <a:ext cx="2029967" cy="566928"/>
          </a:xfrm>
          <a:prstGeom prst="rect">
            <a:avLst/>
          </a:prstGeom>
          <a:noFill/>
        </p:spPr>
        <p:txBody>
          <a:bodyPr wrap="square" lIns="0" rIns="0" tIns="0" bIns="0" anchor="ctr">
            <a:spAutoFit/>
          </a:bodyPr>
          <a:lstStyle/>
          <a:p>
            <a:pPr algn="l">
              <a:lnSpc>
                <a:spcPct val="110000"/>
              </a:lnSpc>
            </a:pPr>
            <a:r>
              <a:rPr sz="1100" b="0" i="0">
                <a:solidFill>
                  <a:srgbClr val="21295C"/>
                </a:solidFill>
                <a:latin typeface="DejaVu Sans"/>
              </a:rPr>
              <a:t>Пропуск рубежа; раскатка сразу на всю аудиторию</a:t>
            </a:r>
          </a:p>
        </p:txBody>
      </p:sp>
      <p:sp>
        <p:nvSpPr>
          <p:cNvPr id="44" name="Rounded Rectangle 43"/>
          <p:cNvSpPr/>
          <p:nvPr/>
        </p:nvSpPr>
        <p:spPr>
          <a:xfrm>
            <a:off x="9454896" y="2734055"/>
            <a:ext cx="2249424" cy="658368"/>
          </a:xfrm>
          <a:prstGeom prst="roundRect">
            <a:avLst>
              <a:gd name="adj" fmla="val 7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582912" y="2779775"/>
            <a:ext cx="1993391" cy="566928"/>
          </a:xfrm>
          <a:prstGeom prst="rect">
            <a:avLst/>
          </a:prstGeom>
          <a:noFill/>
        </p:spPr>
        <p:txBody>
          <a:bodyPr wrap="square" lIns="0" rIns="0" tIns="0" bIns="0" anchor="ctr">
            <a:spAutoFit/>
          </a:bodyPr>
          <a:lstStyle/>
          <a:p>
            <a:pPr algn="l">
              <a:lnSpc>
                <a:spcPct val="110000"/>
              </a:lnSpc>
            </a:pPr>
            <a:r>
              <a:rPr sz="1100" b="0" i="0">
                <a:solidFill>
                  <a:srgbClr val="21295C"/>
                </a:solidFill>
                <a:latin typeface="DejaVu Sans"/>
              </a:rPr>
              <a:t>Спецификация намерения; решение о темпе и об остановке</a:t>
            </a:r>
          </a:p>
        </p:txBody>
      </p:sp>
      <p:sp>
        <p:nvSpPr>
          <p:cNvPr id="46" name="Rounded Rectangle 45"/>
          <p:cNvSpPr/>
          <p:nvPr/>
        </p:nvSpPr>
        <p:spPr>
          <a:xfrm>
            <a:off x="502920" y="3438143"/>
            <a:ext cx="1920240" cy="658368"/>
          </a:xfrm>
          <a:prstGeom prst="roundRect">
            <a:avLst>
              <a:gd name="adj" fmla="val 7000"/>
            </a:avLst>
          </a:prstGeom>
          <a:solidFill>
            <a:srgbClr val="F4F7F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7" name="Picture 46" descr="gauge-mid.png"/>
          <p:cNvPicPr>
            <a:picLocks noChangeAspect="1"/>
          </p:cNvPicPr>
          <p:nvPr/>
        </p:nvPicPr>
        <p:blipFill>
          <a:blip r:embed="rId5"/>
          <a:stretch>
            <a:fillRect/>
          </a:stretch>
        </p:blipFill>
        <p:spPr>
          <a:xfrm>
            <a:off x="630936" y="3630167"/>
            <a:ext cx="274320" cy="274320"/>
          </a:xfrm>
          <a:prstGeom prst="rect">
            <a:avLst/>
          </a:prstGeom>
        </p:spPr>
      </p:pic>
      <p:sp>
        <p:nvSpPr>
          <p:cNvPr id="48" name="TextBox 47"/>
          <p:cNvSpPr txBox="1"/>
          <p:nvPr/>
        </p:nvSpPr>
        <p:spPr>
          <a:xfrm>
            <a:off x="978408" y="3483863"/>
            <a:ext cx="1371600" cy="566928"/>
          </a:xfrm>
          <a:prstGeom prst="rect">
            <a:avLst/>
          </a:prstGeom>
          <a:noFill/>
        </p:spPr>
        <p:txBody>
          <a:bodyPr wrap="square" lIns="0" rIns="0" tIns="0" bIns="0" anchor="ctr">
            <a:spAutoFit/>
          </a:bodyPr>
          <a:lstStyle/>
          <a:p>
            <a:pPr algn="l">
              <a:lnSpc>
                <a:spcPct val="110000"/>
              </a:lnSpc>
            </a:pPr>
            <a:r>
              <a:rPr sz="1100" b="1" i="0">
                <a:solidFill>
                  <a:srgbClr val="21295C"/>
                </a:solidFill>
                <a:latin typeface="DejaVu Sans"/>
              </a:rPr>
              <a:t>Измерение</a:t>
            </a:r>
          </a:p>
        </p:txBody>
      </p:sp>
      <p:sp>
        <p:nvSpPr>
          <p:cNvPr id="49" name="Rounded Rectangle 48"/>
          <p:cNvSpPr/>
          <p:nvPr/>
        </p:nvSpPr>
        <p:spPr>
          <a:xfrm>
            <a:off x="2478024" y="3438143"/>
            <a:ext cx="2468880" cy="658368"/>
          </a:xfrm>
          <a:prstGeom prst="roundRect">
            <a:avLst>
              <a:gd name="adj" fmla="val 7000"/>
            </a:avLst>
          </a:prstGeom>
          <a:solidFill>
            <a:srgbClr val="F4F7F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606040" y="3483863"/>
            <a:ext cx="2212848" cy="566928"/>
          </a:xfrm>
          <a:prstGeom prst="rect">
            <a:avLst/>
          </a:prstGeom>
          <a:noFill/>
        </p:spPr>
        <p:txBody>
          <a:bodyPr wrap="square" lIns="0" rIns="0" tIns="0" bIns="0" anchor="ctr">
            <a:spAutoFit/>
          </a:bodyPr>
          <a:lstStyle/>
          <a:p>
            <a:pPr algn="l">
              <a:lnSpc>
                <a:spcPct val="110000"/>
              </a:lnSpc>
            </a:pPr>
            <a:r>
              <a:rPr sz="1100" b="0" i="0">
                <a:solidFill>
                  <a:srgbClr val="21295C"/>
                </a:solidFill>
                <a:latin typeface="DejaVu Sans"/>
              </a:rPr>
              <a:t>Контролируемый эксперимент; метрика-ограничитель</a:t>
            </a:r>
          </a:p>
        </p:txBody>
      </p:sp>
      <p:sp>
        <p:nvSpPr>
          <p:cNvPr id="51" name="Rounded Rectangle 50"/>
          <p:cNvSpPr/>
          <p:nvPr/>
        </p:nvSpPr>
        <p:spPr>
          <a:xfrm>
            <a:off x="5001768" y="3438143"/>
            <a:ext cx="2057400" cy="658368"/>
          </a:xfrm>
          <a:prstGeom prst="roundRect">
            <a:avLst>
              <a:gd name="adj" fmla="val 7000"/>
            </a:avLst>
          </a:prstGeom>
          <a:solidFill>
            <a:srgbClr val="F4F7F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129784" y="3483863"/>
            <a:ext cx="1801368" cy="566928"/>
          </a:xfrm>
          <a:prstGeom prst="rect">
            <a:avLst/>
          </a:prstGeom>
          <a:noFill/>
        </p:spPr>
        <p:txBody>
          <a:bodyPr wrap="square" lIns="0" rIns="0" tIns="0" bIns="0" anchor="ctr">
            <a:spAutoFit/>
          </a:bodyPr>
          <a:lstStyle/>
          <a:p>
            <a:pPr algn="l">
              <a:lnSpc>
                <a:spcPct val="110000"/>
              </a:lnSpc>
            </a:pPr>
            <a:r>
              <a:rPr sz="1100" b="0" i="0">
                <a:solidFill>
                  <a:srgbClr val="21295C"/>
                </a:solidFill>
                <a:latin typeface="DejaVu Sans"/>
              </a:rPr>
              <a:t>Оценка качества в масштабе; дешёвый первый проход</a:t>
            </a:r>
          </a:p>
        </p:txBody>
      </p:sp>
      <p:sp>
        <p:nvSpPr>
          <p:cNvPr id="53" name="Rounded Rectangle 52"/>
          <p:cNvSpPr/>
          <p:nvPr/>
        </p:nvSpPr>
        <p:spPr>
          <a:xfrm>
            <a:off x="7114032" y="3438143"/>
            <a:ext cx="2286000" cy="658368"/>
          </a:xfrm>
          <a:prstGeom prst="roundRect">
            <a:avLst>
              <a:gd name="adj" fmla="val 7000"/>
            </a:avLst>
          </a:prstGeom>
          <a:solidFill>
            <a:srgbClr val="F4F7F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242048" y="3483863"/>
            <a:ext cx="2029967" cy="566928"/>
          </a:xfrm>
          <a:prstGeom prst="rect">
            <a:avLst/>
          </a:prstGeom>
          <a:noFill/>
        </p:spPr>
        <p:txBody>
          <a:bodyPr wrap="square" lIns="0" rIns="0" tIns="0" bIns="0" anchor="ctr">
            <a:spAutoFit/>
          </a:bodyPr>
          <a:lstStyle/>
          <a:p>
            <a:pPr algn="l">
              <a:lnSpc>
                <a:spcPct val="110000"/>
              </a:lnSpc>
            </a:pPr>
            <a:r>
              <a:rPr sz="1100" b="0" i="0">
                <a:solidFill>
                  <a:srgbClr val="21295C"/>
                </a:solidFill>
                <a:latin typeface="DejaVu Sans"/>
              </a:rPr>
              <a:t>Взломанная косвенная метрика; замер не переносится на задачу</a:t>
            </a:r>
          </a:p>
        </p:txBody>
      </p:sp>
      <p:sp>
        <p:nvSpPr>
          <p:cNvPr id="55" name="Rounded Rectangle 54"/>
          <p:cNvSpPr/>
          <p:nvPr/>
        </p:nvSpPr>
        <p:spPr>
          <a:xfrm>
            <a:off x="9454896" y="3438143"/>
            <a:ext cx="2249424" cy="658368"/>
          </a:xfrm>
          <a:prstGeom prst="roundRect">
            <a:avLst>
              <a:gd name="adj" fmla="val 7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582912" y="3483863"/>
            <a:ext cx="1993391" cy="566928"/>
          </a:xfrm>
          <a:prstGeom prst="rect">
            <a:avLst/>
          </a:prstGeom>
          <a:noFill/>
        </p:spPr>
        <p:txBody>
          <a:bodyPr wrap="square" lIns="0" rIns="0" tIns="0" bIns="0" anchor="ctr">
            <a:spAutoFit/>
          </a:bodyPr>
          <a:lstStyle/>
          <a:p>
            <a:pPr algn="l">
              <a:lnSpc>
                <a:spcPct val="110000"/>
              </a:lnSpc>
            </a:pPr>
            <a:r>
              <a:rPr sz="1100" b="0" i="0">
                <a:solidFill>
                  <a:srgbClr val="21295C"/>
                </a:solidFill>
                <a:latin typeface="DejaVu Sans"/>
              </a:rPr>
              <a:t>Критерий и метрика-ограничитель названы до теста</a:t>
            </a:r>
          </a:p>
        </p:txBody>
      </p:sp>
      <p:sp>
        <p:nvSpPr>
          <p:cNvPr id="57" name="Rounded Rectangle 56"/>
          <p:cNvSpPr/>
          <p:nvPr/>
        </p:nvSpPr>
        <p:spPr>
          <a:xfrm>
            <a:off x="502920" y="4142231"/>
            <a:ext cx="1920240" cy="658368"/>
          </a:xfrm>
          <a:prstGeom prst="roundRect">
            <a:avLst>
              <a:gd name="adj" fmla="val 7000"/>
            </a:avLst>
          </a:prstGeom>
          <a:solidFill>
            <a:srgbClr val="F4F7F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8" name="Picture 57" descr="server-mid.png"/>
          <p:cNvPicPr>
            <a:picLocks noChangeAspect="1"/>
          </p:cNvPicPr>
          <p:nvPr/>
        </p:nvPicPr>
        <p:blipFill>
          <a:blip r:embed="rId6"/>
          <a:stretch>
            <a:fillRect/>
          </a:stretch>
        </p:blipFill>
        <p:spPr>
          <a:xfrm>
            <a:off x="630936" y="4334255"/>
            <a:ext cx="274320" cy="274320"/>
          </a:xfrm>
          <a:prstGeom prst="rect">
            <a:avLst/>
          </a:prstGeom>
        </p:spPr>
      </p:pic>
      <p:sp>
        <p:nvSpPr>
          <p:cNvPr id="59" name="TextBox 58"/>
          <p:cNvSpPr txBox="1"/>
          <p:nvPr/>
        </p:nvSpPr>
        <p:spPr>
          <a:xfrm>
            <a:off x="978408" y="4187951"/>
            <a:ext cx="1371600" cy="566928"/>
          </a:xfrm>
          <a:prstGeom prst="rect">
            <a:avLst/>
          </a:prstGeom>
          <a:noFill/>
        </p:spPr>
        <p:txBody>
          <a:bodyPr wrap="square" lIns="0" rIns="0" tIns="0" bIns="0" anchor="ctr">
            <a:spAutoFit/>
          </a:bodyPr>
          <a:lstStyle/>
          <a:p>
            <a:pPr algn="l">
              <a:lnSpc>
                <a:spcPct val="110000"/>
              </a:lnSpc>
            </a:pPr>
            <a:r>
              <a:rPr sz="1100" b="1" i="0">
                <a:solidFill>
                  <a:srgbClr val="21295C"/>
                </a:solidFill>
                <a:latin typeface="DejaVu Sans"/>
              </a:rPr>
              <a:t>Поддержка</a:t>
            </a:r>
          </a:p>
        </p:txBody>
      </p:sp>
      <p:sp>
        <p:nvSpPr>
          <p:cNvPr id="60" name="Rounded Rectangle 59"/>
          <p:cNvSpPr/>
          <p:nvPr/>
        </p:nvSpPr>
        <p:spPr>
          <a:xfrm>
            <a:off x="2478024" y="4142231"/>
            <a:ext cx="2468880" cy="658368"/>
          </a:xfrm>
          <a:prstGeom prst="roundRect">
            <a:avLst>
              <a:gd name="adj" fmla="val 7000"/>
            </a:avLst>
          </a:prstGeom>
          <a:solidFill>
            <a:srgbClr val="F4F7F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606040" y="4187951"/>
            <a:ext cx="2212848" cy="566928"/>
          </a:xfrm>
          <a:prstGeom prst="rect">
            <a:avLst/>
          </a:prstGeom>
          <a:noFill/>
        </p:spPr>
        <p:txBody>
          <a:bodyPr wrap="square" lIns="0" rIns="0" tIns="0" bIns="0" anchor="ctr">
            <a:spAutoFit/>
          </a:bodyPr>
          <a:lstStyle/>
          <a:p>
            <a:pPr algn="l">
              <a:lnSpc>
                <a:spcPct val="110000"/>
              </a:lnSpc>
            </a:pPr>
            <a:r>
              <a:rPr sz="1100" b="0" i="0">
                <a:solidFill>
                  <a:srgbClr val="21295C"/>
                </a:solidFill>
                <a:latin typeface="DejaVu Sans"/>
              </a:rPr>
              <a:t>Инженерия надёжности: цель уровня сервиса, бюджет ошибок</a:t>
            </a:r>
          </a:p>
        </p:txBody>
      </p:sp>
      <p:sp>
        <p:nvSpPr>
          <p:cNvPr id="62" name="Rounded Rectangle 61"/>
          <p:cNvSpPr/>
          <p:nvPr/>
        </p:nvSpPr>
        <p:spPr>
          <a:xfrm>
            <a:off x="5001768" y="4142231"/>
            <a:ext cx="2057400" cy="658368"/>
          </a:xfrm>
          <a:prstGeom prst="roundRect">
            <a:avLst>
              <a:gd name="adj" fmla="val 7000"/>
            </a:avLst>
          </a:prstGeom>
          <a:solidFill>
            <a:srgbClr val="F4F7F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129784" y="4187951"/>
            <a:ext cx="1801368" cy="566928"/>
          </a:xfrm>
          <a:prstGeom prst="rect">
            <a:avLst/>
          </a:prstGeom>
          <a:noFill/>
        </p:spPr>
        <p:txBody>
          <a:bodyPr wrap="square" lIns="0" rIns="0" tIns="0" bIns="0" anchor="ctr">
            <a:spAutoFit/>
          </a:bodyPr>
          <a:lstStyle/>
          <a:p>
            <a:pPr algn="l">
              <a:lnSpc>
                <a:spcPct val="110000"/>
              </a:lnSpc>
            </a:pPr>
            <a:r>
              <a:rPr sz="1100" b="0" i="0">
                <a:solidFill>
                  <a:srgbClr val="21295C"/>
                </a:solidFill>
                <a:latin typeface="DejaVu Sans"/>
              </a:rPr>
              <a:t>Скорость наблюдения: трассировка и живые панели</a:t>
            </a:r>
          </a:p>
        </p:txBody>
      </p:sp>
      <p:sp>
        <p:nvSpPr>
          <p:cNvPr id="64" name="Rounded Rectangle 63"/>
          <p:cNvSpPr/>
          <p:nvPr/>
        </p:nvSpPr>
        <p:spPr>
          <a:xfrm>
            <a:off x="7114032" y="4142231"/>
            <a:ext cx="2286000" cy="658368"/>
          </a:xfrm>
          <a:prstGeom prst="roundRect">
            <a:avLst>
              <a:gd name="adj" fmla="val 7000"/>
            </a:avLst>
          </a:prstGeom>
          <a:solidFill>
            <a:srgbClr val="F4F7F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242048" y="4187951"/>
            <a:ext cx="2029967" cy="566928"/>
          </a:xfrm>
          <a:prstGeom prst="rect">
            <a:avLst/>
          </a:prstGeom>
          <a:noFill/>
        </p:spPr>
        <p:txBody>
          <a:bodyPr wrap="square" lIns="0" rIns="0" tIns="0" bIns="0" anchor="ctr">
            <a:spAutoFit/>
          </a:bodyPr>
          <a:lstStyle/>
          <a:p>
            <a:pPr algn="l">
              <a:lnSpc>
                <a:spcPct val="110000"/>
              </a:lnSpc>
            </a:pPr>
            <a:r>
              <a:rPr sz="1100" b="0" i="0">
                <a:solidFill>
                  <a:srgbClr val="21295C"/>
                </a:solidFill>
                <a:latin typeface="DejaVu Sans"/>
              </a:rPr>
              <a:t>Тихий дрейф маскируется средним по всем ответам</a:t>
            </a:r>
          </a:p>
        </p:txBody>
      </p:sp>
      <p:sp>
        <p:nvSpPr>
          <p:cNvPr id="66" name="Rounded Rectangle 65"/>
          <p:cNvSpPr/>
          <p:nvPr/>
        </p:nvSpPr>
        <p:spPr>
          <a:xfrm>
            <a:off x="9454896" y="4142231"/>
            <a:ext cx="2249424" cy="658368"/>
          </a:xfrm>
          <a:prstGeom prst="roundRect">
            <a:avLst>
              <a:gd name="adj" fmla="val 7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9582912" y="4187951"/>
            <a:ext cx="1993391" cy="566928"/>
          </a:xfrm>
          <a:prstGeom prst="rect">
            <a:avLst/>
          </a:prstGeom>
          <a:noFill/>
        </p:spPr>
        <p:txBody>
          <a:bodyPr wrap="square" lIns="0" rIns="0" tIns="0" bIns="0" anchor="ctr">
            <a:spAutoFit/>
          </a:bodyPr>
          <a:lstStyle/>
          <a:p>
            <a:pPr algn="l">
              <a:lnSpc>
                <a:spcPct val="110000"/>
              </a:lnSpc>
            </a:pPr>
            <a:r>
              <a:rPr sz="1100" b="0" i="0">
                <a:solidFill>
                  <a:srgbClr val="21295C"/>
                </a:solidFill>
                <a:latin typeface="DejaVu Sans"/>
              </a:rPr>
              <a:t>Системная модель и ответственность за каждый ответ</a:t>
            </a:r>
          </a:p>
        </p:txBody>
      </p:sp>
      <p:sp>
        <p:nvSpPr>
          <p:cNvPr id="68" name="Rounded Rectangle 67"/>
          <p:cNvSpPr/>
          <p:nvPr/>
        </p:nvSpPr>
        <p:spPr>
          <a:xfrm>
            <a:off x="502920" y="4846319"/>
            <a:ext cx="1920240" cy="658368"/>
          </a:xfrm>
          <a:prstGeom prst="roundRect">
            <a:avLst>
              <a:gd name="adj" fmla="val 7000"/>
            </a:avLst>
          </a:prstGeom>
          <a:solidFill>
            <a:srgbClr val="F4F7F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9" name="Picture 68" descr="scale-mid.png"/>
          <p:cNvPicPr>
            <a:picLocks noChangeAspect="1"/>
          </p:cNvPicPr>
          <p:nvPr/>
        </p:nvPicPr>
        <p:blipFill>
          <a:blip r:embed="rId7"/>
          <a:stretch>
            <a:fillRect/>
          </a:stretch>
        </p:blipFill>
        <p:spPr>
          <a:xfrm>
            <a:off x="630936" y="5038343"/>
            <a:ext cx="274320" cy="274320"/>
          </a:xfrm>
          <a:prstGeom prst="rect">
            <a:avLst/>
          </a:prstGeom>
        </p:spPr>
      </p:pic>
      <p:sp>
        <p:nvSpPr>
          <p:cNvPr id="70" name="TextBox 69"/>
          <p:cNvSpPr txBox="1"/>
          <p:nvPr/>
        </p:nvSpPr>
        <p:spPr>
          <a:xfrm>
            <a:off x="978408" y="4892039"/>
            <a:ext cx="1371600" cy="566928"/>
          </a:xfrm>
          <a:prstGeom prst="rect">
            <a:avLst/>
          </a:prstGeom>
          <a:noFill/>
        </p:spPr>
        <p:txBody>
          <a:bodyPr wrap="square" lIns="0" rIns="0" tIns="0" bIns="0" anchor="ctr">
            <a:spAutoFit/>
          </a:bodyPr>
          <a:lstStyle/>
          <a:p>
            <a:pPr algn="l">
              <a:lnSpc>
                <a:spcPct val="110000"/>
              </a:lnSpc>
            </a:pPr>
            <a:r>
              <a:rPr sz="1100" b="1" i="0">
                <a:solidFill>
                  <a:srgbClr val="21295C"/>
                </a:solidFill>
                <a:latin typeface="DejaVu Sans"/>
              </a:rPr>
              <a:t>Управление</a:t>
            </a:r>
          </a:p>
        </p:txBody>
      </p:sp>
      <p:sp>
        <p:nvSpPr>
          <p:cNvPr id="71" name="Rounded Rectangle 70"/>
          <p:cNvSpPr/>
          <p:nvPr/>
        </p:nvSpPr>
        <p:spPr>
          <a:xfrm>
            <a:off x="2478024" y="4846319"/>
            <a:ext cx="2468880" cy="658368"/>
          </a:xfrm>
          <a:prstGeom prst="roundRect">
            <a:avLst>
              <a:gd name="adj" fmla="val 7000"/>
            </a:avLst>
          </a:prstGeom>
          <a:solidFill>
            <a:srgbClr val="F4F7F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2606040" y="4892039"/>
            <a:ext cx="2212848" cy="566928"/>
          </a:xfrm>
          <a:prstGeom prst="rect">
            <a:avLst/>
          </a:prstGeom>
          <a:noFill/>
        </p:spPr>
        <p:txBody>
          <a:bodyPr wrap="square" lIns="0" rIns="0" tIns="0" bIns="0" anchor="ctr">
            <a:spAutoFit/>
          </a:bodyPr>
          <a:lstStyle/>
          <a:p>
            <a:pPr algn="l">
              <a:lnSpc>
                <a:spcPct val="110000"/>
              </a:lnSpc>
            </a:pPr>
            <a:r>
              <a:rPr sz="1100" b="0" i="0">
                <a:solidFill>
                  <a:srgbClr val="21295C"/>
                </a:solidFill>
                <a:latin typeface="DejaVu Sans"/>
              </a:rPr>
              <a:t>Портфельное управление; у каждой цифры есть владелец</a:t>
            </a:r>
          </a:p>
        </p:txBody>
      </p:sp>
      <p:sp>
        <p:nvSpPr>
          <p:cNvPr id="73" name="Rounded Rectangle 72"/>
          <p:cNvSpPr/>
          <p:nvPr/>
        </p:nvSpPr>
        <p:spPr>
          <a:xfrm>
            <a:off x="5001768" y="4846319"/>
            <a:ext cx="2057400" cy="658368"/>
          </a:xfrm>
          <a:prstGeom prst="roundRect">
            <a:avLst>
              <a:gd name="adj" fmla="val 7000"/>
            </a:avLst>
          </a:prstGeom>
          <a:solidFill>
            <a:srgbClr val="F4F7F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5129784" y="4892039"/>
            <a:ext cx="1801368" cy="566928"/>
          </a:xfrm>
          <a:prstGeom prst="rect">
            <a:avLst/>
          </a:prstGeom>
          <a:noFill/>
        </p:spPr>
        <p:txBody>
          <a:bodyPr wrap="square" lIns="0" rIns="0" tIns="0" bIns="0" anchor="ctr">
            <a:spAutoFit/>
          </a:bodyPr>
          <a:lstStyle/>
          <a:p>
            <a:pPr algn="l">
              <a:lnSpc>
                <a:spcPct val="110000"/>
              </a:lnSpc>
            </a:pPr>
            <a:r>
              <a:rPr sz="1100" b="0" i="0">
                <a:solidFill>
                  <a:srgbClr val="21295C"/>
                </a:solidFill>
                <a:latin typeface="DejaVu Sans"/>
              </a:rPr>
              <a:t>Диагностика операционной модели организации</a:t>
            </a:r>
          </a:p>
        </p:txBody>
      </p:sp>
      <p:sp>
        <p:nvSpPr>
          <p:cNvPr id="75" name="Rounded Rectangle 74"/>
          <p:cNvSpPr/>
          <p:nvPr/>
        </p:nvSpPr>
        <p:spPr>
          <a:xfrm>
            <a:off x="7114032" y="4846319"/>
            <a:ext cx="2286000" cy="658368"/>
          </a:xfrm>
          <a:prstGeom prst="roundRect">
            <a:avLst>
              <a:gd name="adj" fmla="val 7000"/>
            </a:avLst>
          </a:prstGeom>
          <a:solidFill>
            <a:srgbClr val="F4F7F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7242048" y="4892039"/>
            <a:ext cx="2029967" cy="566928"/>
          </a:xfrm>
          <a:prstGeom prst="rect">
            <a:avLst/>
          </a:prstGeom>
          <a:noFill/>
        </p:spPr>
        <p:txBody>
          <a:bodyPr wrap="square" lIns="0" rIns="0" tIns="0" bIns="0" anchor="ctr">
            <a:spAutoFit/>
          </a:bodyPr>
          <a:lstStyle/>
          <a:p>
            <a:pPr algn="l">
              <a:lnSpc>
                <a:spcPct val="110000"/>
              </a:lnSpc>
            </a:pPr>
            <a:r>
              <a:rPr sz="1100" b="0" i="0">
                <a:solidFill>
                  <a:srgbClr val="21295C"/>
                </a:solidFill>
                <a:latin typeface="DejaVu Sans"/>
              </a:rPr>
              <a:t>Статистика без знаменателя</a:t>
            </a:r>
          </a:p>
        </p:txBody>
      </p:sp>
      <p:sp>
        <p:nvSpPr>
          <p:cNvPr id="77" name="Rounded Rectangle 76"/>
          <p:cNvSpPr/>
          <p:nvPr/>
        </p:nvSpPr>
        <p:spPr>
          <a:xfrm>
            <a:off x="9454896" y="4846319"/>
            <a:ext cx="2249424" cy="658368"/>
          </a:xfrm>
          <a:prstGeom prst="roundRect">
            <a:avLst>
              <a:gd name="adj" fmla="val 7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9582912" y="4892039"/>
            <a:ext cx="1993391" cy="566928"/>
          </a:xfrm>
          <a:prstGeom prst="rect">
            <a:avLst/>
          </a:prstGeom>
          <a:noFill/>
        </p:spPr>
        <p:txBody>
          <a:bodyPr wrap="square" lIns="0" rIns="0" tIns="0" bIns="0" anchor="ctr">
            <a:spAutoFit/>
          </a:bodyPr>
          <a:lstStyle/>
          <a:p>
            <a:pPr algn="l">
              <a:lnSpc>
                <a:spcPct val="110000"/>
              </a:lnSpc>
            </a:pPr>
            <a:r>
              <a:rPr sz="1100" b="0" i="0">
                <a:solidFill>
                  <a:srgbClr val="21295C"/>
                </a:solidFill>
                <a:latin typeface="DejaVu Sans"/>
              </a:rPr>
              <a:t>Критерий успеха согласован заранее; своя базовая линия</a:t>
            </a:r>
          </a:p>
        </p:txBody>
      </p:sp>
      <p:sp>
        <p:nvSpPr>
          <p:cNvPr id="79" name="Rounded Rectangle 78"/>
          <p:cNvSpPr/>
          <p:nvPr/>
        </p:nvSpPr>
        <p:spPr>
          <a:xfrm>
            <a:off x="502920" y="5705855"/>
            <a:ext cx="11201400" cy="731520"/>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722376" y="5760719"/>
            <a:ext cx="10762488" cy="621792"/>
          </a:xfrm>
          <a:prstGeom prst="rect">
            <a:avLst/>
          </a:prstGeom>
          <a:noFill/>
        </p:spPr>
        <p:txBody>
          <a:bodyPr wrap="square" lIns="0" rIns="0" tIns="0" bIns="0" anchor="ctr">
            <a:spAutoFit/>
          </a:bodyPr>
          <a:lstStyle/>
          <a:p>
            <a:pPr algn="l">
              <a:lnSpc>
                <a:spcPct val="120000"/>
              </a:lnSpc>
            </a:pPr>
            <a:r>
              <a:rPr sz="1150" b="1" i="0">
                <a:solidFill>
                  <a:srgbClr val="21295C"/>
                </a:solidFill>
                <a:latin typeface="DejaVu Sans"/>
              </a:rPr>
              <a:t>Как читать: назовите фазу своей задачи — строка отвечает по порядку, какую дисциплину держать, чем здесь помогает ИИ, какой отказ стеречь и что остаётся за человеком. Имена инструментов сменяемы; сами четыре столбца держатся на характере сложности и цене ошибки фазы.</a:t>
            </a:r>
          </a:p>
        </p:txBody>
      </p:sp>
      <p:sp>
        <p:nvSpPr>
          <p:cNvPr id="81" name="TextBox 80"/>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52 / 54</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82880"/>
            <a:ext cx="11247120" cy="658368"/>
          </a:xfrm>
          <a:prstGeom prst="rect">
            <a:avLst/>
          </a:prstGeom>
          <a:noFill/>
        </p:spPr>
        <p:txBody>
          <a:bodyPr wrap="square" lIns="0" rIns="0" tIns="0" bIns="0" anchor="t">
            <a:spAutoFit/>
          </a:bodyPr>
          <a:lstStyle/>
          <a:p>
            <a:pPr algn="l">
              <a:lnSpc>
                <a:spcPct val="110000"/>
              </a:lnSpc>
            </a:pPr>
            <a:r>
              <a:rPr sz="1800" b="1" i="0">
                <a:solidFill>
                  <a:srgbClr val="21295C"/>
                </a:solidFill>
                <a:latin typeface="DejaVu Sans"/>
              </a:rPr>
              <a:t>Три оси задают режим фазы: без человека на рубеже — только при высокой обратимости, низкой цене ошибки и высокой наблюдаемости</a:t>
            </a:r>
          </a:p>
        </p:txBody>
      </p:sp>
      <p:sp>
        <p:nvSpPr>
          <p:cNvPr id="3" name="Rounded Rectangle 2"/>
          <p:cNvSpPr/>
          <p:nvPr/>
        </p:nvSpPr>
        <p:spPr>
          <a:xfrm>
            <a:off x="502920" y="859536"/>
            <a:ext cx="11201400" cy="402336"/>
          </a:xfrm>
          <a:prstGeom prst="roundRect">
            <a:avLst>
              <a:gd name="adj" fmla="val 22000"/>
            </a:avLst>
          </a:prstGeom>
          <a:solidFill>
            <a:srgbClr val="E1EAF0"/>
          </a:solidFill>
          <a:ln w="2286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859536"/>
            <a:ext cx="10835640" cy="402336"/>
          </a:xfrm>
          <a:prstGeom prst="rect">
            <a:avLst/>
          </a:prstGeom>
          <a:noFill/>
        </p:spPr>
        <p:txBody>
          <a:bodyPr wrap="square" lIns="0" rIns="0" tIns="0" bIns="0" anchor="ctr">
            <a:spAutoFit/>
          </a:bodyPr>
          <a:lstStyle/>
          <a:p>
            <a:pPr algn="l">
              <a:lnSpc>
                <a:spcPct val="110000"/>
              </a:lnSpc>
            </a:pPr>
            <a:r>
              <a:rPr sz="1100" b="1" i="0">
                <a:solidFill>
                  <a:srgbClr val="21295C"/>
                </a:solidFill>
                <a:latin typeface="DejaVu Sans"/>
              </a:rPr>
              <a:t>Вопрос до всех трёх осей: классическая дисциплина этой фазы на месте — или ИИ применяется в пустоте? </a:t>
            </a:r>
            <a:r>
              <a:rPr sz="1100" b="0" i="0">
                <a:solidFill>
                  <a:srgbClr val="21295C"/>
                </a:solidFill>
                <a:latin typeface="DejaVu Sans"/>
              </a:rPr>
              <a:t>Если её нет, сначала выстраивают её: ИИ усиливает то, что уже есть, и в пустоте усиливать нечего.</a:t>
            </a:r>
          </a:p>
        </p:txBody>
      </p:sp>
      <p:sp>
        <p:nvSpPr>
          <p:cNvPr id="5" name="TextBox 4"/>
          <p:cNvSpPr txBox="1"/>
          <p:nvPr/>
        </p:nvSpPr>
        <p:spPr>
          <a:xfrm>
            <a:off x="502920" y="1280160"/>
            <a:ext cx="11201400" cy="164592"/>
          </a:xfrm>
          <a:prstGeom prst="rect">
            <a:avLst/>
          </a:prstGeom>
          <a:noFill/>
        </p:spPr>
        <p:txBody>
          <a:bodyPr wrap="square" lIns="0" rIns="0" tIns="0" bIns="0" anchor="t">
            <a:spAutoFit/>
          </a:bodyPr>
          <a:lstStyle/>
          <a:p>
            <a:pPr algn="l">
              <a:lnSpc>
                <a:spcPct val="100000"/>
              </a:lnSpc>
            </a:pPr>
            <a:r>
              <a:rPr sz="1050" b="0" i="1">
                <a:solidFill>
                  <a:srgbClr val="5B6678"/>
                </a:solidFill>
                <a:latin typeface="DejaVu Sans"/>
              </a:rPr>
              <a:t>Три оси решения: что каждая означает и что должно стоять рядом, если ось в проблемном положении</a:t>
            </a:r>
          </a:p>
        </p:txBody>
      </p:sp>
      <p:sp>
        <p:nvSpPr>
          <p:cNvPr id="6" name="Rounded Rectangle 5"/>
          <p:cNvSpPr/>
          <p:nvPr/>
        </p:nvSpPr>
        <p:spPr>
          <a:xfrm>
            <a:off x="502920" y="1463040"/>
            <a:ext cx="3611880" cy="1408176"/>
          </a:xfrm>
          <a:prstGeom prst="roundRect">
            <a:avLst>
              <a:gd name="adj" fmla="val 21645"/>
            </a:avLst>
          </a:prstGeom>
          <a:solidFill>
            <a:srgbClr val="F4F7FA"/>
          </a:solidFill>
          <a:ln w="2032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rotate-ccw-mid.png"/>
          <p:cNvPicPr>
            <a:picLocks noChangeAspect="1"/>
          </p:cNvPicPr>
          <p:nvPr/>
        </p:nvPicPr>
        <p:blipFill>
          <a:blip r:embed="rId2"/>
          <a:stretch>
            <a:fillRect/>
          </a:stretch>
        </p:blipFill>
        <p:spPr>
          <a:xfrm>
            <a:off x="685800" y="1572768"/>
            <a:ext cx="347472" cy="347472"/>
          </a:xfrm>
          <a:prstGeom prst="rect">
            <a:avLst/>
          </a:prstGeom>
        </p:spPr>
      </p:pic>
      <p:sp>
        <p:nvSpPr>
          <p:cNvPr id="8" name="TextBox 7"/>
          <p:cNvSpPr txBox="1"/>
          <p:nvPr/>
        </p:nvSpPr>
        <p:spPr>
          <a:xfrm>
            <a:off x="1124712" y="1554480"/>
            <a:ext cx="2843784" cy="365760"/>
          </a:xfrm>
          <a:prstGeom prst="rect">
            <a:avLst/>
          </a:prstGeom>
          <a:noFill/>
        </p:spPr>
        <p:txBody>
          <a:bodyPr wrap="square" lIns="0" rIns="0" tIns="0" bIns="0" anchor="ctr">
            <a:spAutoFit/>
          </a:bodyPr>
          <a:lstStyle/>
          <a:p>
            <a:pPr algn="l">
              <a:lnSpc>
                <a:spcPct val="115000"/>
              </a:lnSpc>
            </a:pPr>
            <a:r>
              <a:rPr sz="1500" b="1" i="0">
                <a:solidFill>
                  <a:srgbClr val="028090"/>
                </a:solidFill>
                <a:latin typeface="DejaVu Sans"/>
              </a:rPr>
              <a:t>Обратимость</a:t>
            </a:r>
          </a:p>
        </p:txBody>
      </p:sp>
      <p:sp>
        <p:nvSpPr>
          <p:cNvPr id="9" name="TextBox 8"/>
          <p:cNvSpPr txBox="1"/>
          <p:nvPr/>
        </p:nvSpPr>
        <p:spPr>
          <a:xfrm>
            <a:off x="685800" y="1901952"/>
            <a:ext cx="3246120" cy="420624"/>
          </a:xfrm>
          <a:prstGeom prst="rect">
            <a:avLst/>
          </a:prstGeom>
          <a:noFill/>
        </p:spPr>
        <p:txBody>
          <a:bodyPr wrap="square" lIns="0" rIns="0" tIns="0" bIns="0" anchor="t">
            <a:spAutoFit/>
          </a:bodyPr>
          <a:lstStyle/>
          <a:p>
            <a:pPr algn="l">
              <a:lnSpc>
                <a:spcPct val="112000"/>
              </a:lnSpc>
            </a:pPr>
            <a:r>
              <a:rPr sz="1050" b="0" i="0">
                <a:solidFill>
                  <a:srgbClr val="21295C"/>
                </a:solidFill>
                <a:latin typeface="DejaVu Sans"/>
              </a:rPr>
              <a:t>Насколько легко откатить последствие, если вывод ИИ окажется неверным.</a:t>
            </a:r>
          </a:p>
        </p:txBody>
      </p:sp>
      <p:sp>
        <p:nvSpPr>
          <p:cNvPr id="10" name="Rounded Rectangle 9"/>
          <p:cNvSpPr/>
          <p:nvPr/>
        </p:nvSpPr>
        <p:spPr>
          <a:xfrm>
            <a:off x="649224" y="2340864"/>
            <a:ext cx="3319272" cy="512064"/>
          </a:xfrm>
          <a:prstGeom prst="roundRect">
            <a:avLst>
              <a:gd name="adj" fmla="val 12000"/>
            </a:avLst>
          </a:prstGeom>
          <a:solidFill>
            <a:srgbClr val="FDF3DC"/>
          </a:solidFill>
          <a:ln w="127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0664" y="2359152"/>
            <a:ext cx="3136392" cy="475488"/>
          </a:xfrm>
          <a:prstGeom prst="rect">
            <a:avLst/>
          </a:prstGeom>
          <a:noFill/>
        </p:spPr>
        <p:txBody>
          <a:bodyPr wrap="square" lIns="0" rIns="0" tIns="0" bIns="0" anchor="ctr">
            <a:spAutoFit/>
          </a:bodyPr>
          <a:lstStyle/>
          <a:p>
            <a:pPr algn="l">
              <a:lnSpc>
                <a:spcPct val="110000"/>
              </a:lnSpc>
            </a:pPr>
            <a:r>
              <a:rPr sz="1000" b="0" i="0">
                <a:solidFill>
                  <a:srgbClr val="21295C"/>
                </a:solidFill>
                <a:latin typeface="DejaVu Sans"/>
              </a:rPr>
              <a:t>Низкая — нужна поэтапность, путь отката и выход к человеку.</a:t>
            </a:r>
          </a:p>
        </p:txBody>
      </p:sp>
      <p:sp>
        <p:nvSpPr>
          <p:cNvPr id="12" name="Rounded Rectangle 11"/>
          <p:cNvSpPr/>
          <p:nvPr/>
        </p:nvSpPr>
        <p:spPr>
          <a:xfrm>
            <a:off x="4297680" y="1463040"/>
            <a:ext cx="3611880" cy="1408176"/>
          </a:xfrm>
          <a:prstGeom prst="roundRect">
            <a:avLst>
              <a:gd name="adj" fmla="val 21645"/>
            </a:avLst>
          </a:prstGeom>
          <a:solidFill>
            <a:srgbClr val="F4F7FA"/>
          </a:solidFill>
          <a:ln w="2032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banknote-mid.png"/>
          <p:cNvPicPr>
            <a:picLocks noChangeAspect="1"/>
          </p:cNvPicPr>
          <p:nvPr/>
        </p:nvPicPr>
        <p:blipFill>
          <a:blip r:embed="rId3"/>
          <a:stretch>
            <a:fillRect/>
          </a:stretch>
        </p:blipFill>
        <p:spPr>
          <a:xfrm>
            <a:off x="4480560" y="1572768"/>
            <a:ext cx="347472" cy="347472"/>
          </a:xfrm>
          <a:prstGeom prst="rect">
            <a:avLst/>
          </a:prstGeom>
        </p:spPr>
      </p:pic>
      <p:sp>
        <p:nvSpPr>
          <p:cNvPr id="14" name="TextBox 13"/>
          <p:cNvSpPr txBox="1"/>
          <p:nvPr/>
        </p:nvSpPr>
        <p:spPr>
          <a:xfrm>
            <a:off x="4919472" y="1554480"/>
            <a:ext cx="2843784" cy="365760"/>
          </a:xfrm>
          <a:prstGeom prst="rect">
            <a:avLst/>
          </a:prstGeom>
          <a:noFill/>
        </p:spPr>
        <p:txBody>
          <a:bodyPr wrap="square" lIns="0" rIns="0" tIns="0" bIns="0" anchor="ctr">
            <a:spAutoFit/>
          </a:bodyPr>
          <a:lstStyle/>
          <a:p>
            <a:pPr algn="l">
              <a:lnSpc>
                <a:spcPct val="115000"/>
              </a:lnSpc>
            </a:pPr>
            <a:r>
              <a:rPr sz="1500" b="1" i="0">
                <a:solidFill>
                  <a:srgbClr val="065A82"/>
                </a:solidFill>
                <a:latin typeface="DejaVu Sans"/>
              </a:rPr>
              <a:t>Цена ошибки</a:t>
            </a:r>
          </a:p>
        </p:txBody>
      </p:sp>
      <p:sp>
        <p:nvSpPr>
          <p:cNvPr id="15" name="TextBox 14"/>
          <p:cNvSpPr txBox="1"/>
          <p:nvPr/>
        </p:nvSpPr>
        <p:spPr>
          <a:xfrm>
            <a:off x="4480560" y="1901952"/>
            <a:ext cx="3246120" cy="420624"/>
          </a:xfrm>
          <a:prstGeom prst="rect">
            <a:avLst/>
          </a:prstGeom>
          <a:noFill/>
        </p:spPr>
        <p:txBody>
          <a:bodyPr wrap="square" lIns="0" rIns="0" tIns="0" bIns="0" anchor="t">
            <a:spAutoFit/>
          </a:bodyPr>
          <a:lstStyle/>
          <a:p>
            <a:pPr algn="l">
              <a:lnSpc>
                <a:spcPct val="112000"/>
              </a:lnSpc>
            </a:pPr>
            <a:r>
              <a:rPr sz="1050" b="0" i="0">
                <a:solidFill>
                  <a:srgbClr val="21295C"/>
                </a:solidFill>
                <a:latin typeface="DejaVu Sans"/>
              </a:rPr>
              <a:t>Во что обойдётся ошибка: деньги, репутация, здоровье, ответственность.</a:t>
            </a:r>
          </a:p>
        </p:txBody>
      </p:sp>
      <p:sp>
        <p:nvSpPr>
          <p:cNvPr id="16" name="Rounded Rectangle 15"/>
          <p:cNvSpPr/>
          <p:nvPr/>
        </p:nvSpPr>
        <p:spPr>
          <a:xfrm>
            <a:off x="4443984" y="2340864"/>
            <a:ext cx="3319272" cy="512064"/>
          </a:xfrm>
          <a:prstGeom prst="roundRect">
            <a:avLst>
              <a:gd name="adj" fmla="val 12000"/>
            </a:avLst>
          </a:prstGeom>
          <a:solidFill>
            <a:srgbClr val="FDF3DC"/>
          </a:solidFill>
          <a:ln w="127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35424" y="2359152"/>
            <a:ext cx="3136392" cy="475488"/>
          </a:xfrm>
          <a:prstGeom prst="rect">
            <a:avLst/>
          </a:prstGeom>
          <a:noFill/>
        </p:spPr>
        <p:txBody>
          <a:bodyPr wrap="square" lIns="0" rIns="0" tIns="0" bIns="0" anchor="ctr">
            <a:spAutoFit/>
          </a:bodyPr>
          <a:lstStyle/>
          <a:p>
            <a:pPr algn="l">
              <a:lnSpc>
                <a:spcPct val="110000"/>
              </a:lnSpc>
            </a:pPr>
            <a:r>
              <a:rPr sz="1000" b="0" i="0">
                <a:solidFill>
                  <a:srgbClr val="21295C"/>
                </a:solidFill>
                <a:latin typeface="DejaVu Sans"/>
              </a:rPr>
              <a:t>Высокая — нужен названный владелец и граница для регулируемых данных.</a:t>
            </a:r>
          </a:p>
        </p:txBody>
      </p:sp>
      <p:sp>
        <p:nvSpPr>
          <p:cNvPr id="18" name="Rounded Rectangle 17"/>
          <p:cNvSpPr/>
          <p:nvPr/>
        </p:nvSpPr>
        <p:spPr>
          <a:xfrm>
            <a:off x="8092440" y="1463040"/>
            <a:ext cx="3611880" cy="1408176"/>
          </a:xfrm>
          <a:prstGeom prst="roundRect">
            <a:avLst>
              <a:gd name="adj" fmla="val 21645"/>
            </a:avLst>
          </a:prstGeom>
          <a:solidFill>
            <a:srgbClr val="F4F7FA"/>
          </a:solidFill>
          <a:ln w="2032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eye-mid.png"/>
          <p:cNvPicPr>
            <a:picLocks noChangeAspect="1"/>
          </p:cNvPicPr>
          <p:nvPr/>
        </p:nvPicPr>
        <p:blipFill>
          <a:blip r:embed="rId4"/>
          <a:stretch>
            <a:fillRect/>
          </a:stretch>
        </p:blipFill>
        <p:spPr>
          <a:xfrm>
            <a:off x="8275320" y="1572768"/>
            <a:ext cx="347472" cy="347472"/>
          </a:xfrm>
          <a:prstGeom prst="rect">
            <a:avLst/>
          </a:prstGeom>
        </p:spPr>
      </p:pic>
      <p:sp>
        <p:nvSpPr>
          <p:cNvPr id="20" name="TextBox 19"/>
          <p:cNvSpPr txBox="1"/>
          <p:nvPr/>
        </p:nvSpPr>
        <p:spPr>
          <a:xfrm>
            <a:off x="8714232" y="1554480"/>
            <a:ext cx="2843784" cy="365760"/>
          </a:xfrm>
          <a:prstGeom prst="rect">
            <a:avLst/>
          </a:prstGeom>
          <a:noFill/>
        </p:spPr>
        <p:txBody>
          <a:bodyPr wrap="square" lIns="0" rIns="0" tIns="0" bIns="0" anchor="ctr">
            <a:spAutoFit/>
          </a:bodyPr>
          <a:lstStyle/>
          <a:p>
            <a:pPr algn="l">
              <a:lnSpc>
                <a:spcPct val="115000"/>
              </a:lnSpc>
            </a:pPr>
            <a:r>
              <a:rPr sz="1500" b="1" i="0">
                <a:solidFill>
                  <a:srgbClr val="1C7293"/>
                </a:solidFill>
                <a:latin typeface="DejaVu Sans"/>
              </a:rPr>
              <a:t>Наблюдаемость</a:t>
            </a:r>
          </a:p>
        </p:txBody>
      </p:sp>
      <p:sp>
        <p:nvSpPr>
          <p:cNvPr id="21" name="TextBox 20"/>
          <p:cNvSpPr txBox="1"/>
          <p:nvPr/>
        </p:nvSpPr>
        <p:spPr>
          <a:xfrm>
            <a:off x="8275320" y="1901952"/>
            <a:ext cx="3246120" cy="420624"/>
          </a:xfrm>
          <a:prstGeom prst="rect">
            <a:avLst/>
          </a:prstGeom>
          <a:noFill/>
        </p:spPr>
        <p:txBody>
          <a:bodyPr wrap="square" lIns="0" rIns="0" tIns="0" bIns="0" anchor="t">
            <a:spAutoFit/>
          </a:bodyPr>
          <a:lstStyle/>
          <a:p>
            <a:pPr algn="l">
              <a:lnSpc>
                <a:spcPct val="112000"/>
              </a:lnSpc>
            </a:pPr>
            <a:r>
              <a:rPr sz="1050" b="0" i="0">
                <a:solidFill>
                  <a:srgbClr val="21295C"/>
                </a:solidFill>
                <a:latin typeface="DejaVu Sans"/>
              </a:rPr>
              <a:t>Насколько быстро видно, что вывод неверен, — прежде чем вред накопится.</a:t>
            </a:r>
          </a:p>
        </p:txBody>
      </p:sp>
      <p:sp>
        <p:nvSpPr>
          <p:cNvPr id="22" name="Rounded Rectangle 21"/>
          <p:cNvSpPr/>
          <p:nvPr/>
        </p:nvSpPr>
        <p:spPr>
          <a:xfrm>
            <a:off x="8238744" y="2340864"/>
            <a:ext cx="3319272" cy="512064"/>
          </a:xfrm>
          <a:prstGeom prst="roundRect">
            <a:avLst>
              <a:gd name="adj" fmla="val 12000"/>
            </a:avLst>
          </a:prstGeom>
          <a:solidFill>
            <a:srgbClr val="FDF3DC"/>
          </a:solidFill>
          <a:ln w="127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30184" y="2359152"/>
            <a:ext cx="3136392" cy="475488"/>
          </a:xfrm>
          <a:prstGeom prst="rect">
            <a:avLst/>
          </a:prstGeom>
          <a:noFill/>
        </p:spPr>
        <p:txBody>
          <a:bodyPr wrap="square" lIns="0" rIns="0" tIns="0" bIns="0" anchor="ctr">
            <a:spAutoFit/>
          </a:bodyPr>
          <a:lstStyle/>
          <a:p>
            <a:pPr algn="l">
              <a:lnSpc>
                <a:spcPct val="110000"/>
              </a:lnSpc>
            </a:pPr>
            <a:r>
              <a:rPr sz="1000" b="0" i="0">
                <a:solidFill>
                  <a:srgbClr val="21295C"/>
                </a:solidFill>
                <a:latin typeface="DejaVu Sans"/>
              </a:rPr>
              <a:t>Низкая — нужен эталонный набор и метрика-ограничитель раньше доверия к средним.</a:t>
            </a:r>
          </a:p>
        </p:txBody>
      </p:sp>
      <p:sp>
        <p:nvSpPr>
          <p:cNvPr id="24" name="Rounded Rectangle 23"/>
          <p:cNvSpPr/>
          <p:nvPr/>
        </p:nvSpPr>
        <p:spPr>
          <a:xfrm>
            <a:off x="502920" y="2944368"/>
            <a:ext cx="11201400" cy="548640"/>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2376" y="2999232"/>
            <a:ext cx="10762488" cy="438912"/>
          </a:xfrm>
          <a:prstGeom prst="rect">
            <a:avLst/>
          </a:prstGeom>
          <a:noFill/>
        </p:spPr>
        <p:txBody>
          <a:bodyPr wrap="square" lIns="0" rIns="0" tIns="0" bIns="0" anchor="ctr">
            <a:spAutoFit/>
          </a:bodyPr>
          <a:lstStyle/>
          <a:p>
            <a:pPr algn="ctr">
              <a:lnSpc>
                <a:spcPct val="120000"/>
              </a:lnSpc>
            </a:pPr>
            <a:r>
              <a:rPr sz="1200" b="1" i="0">
                <a:solidFill>
                  <a:srgbClr val="21295C"/>
                </a:solidFill>
                <a:latin typeface="DejaVu Sans"/>
              </a:rPr>
              <a:t>Отдать фазу ИИ без человека на рубеже оправдано только при сочетании высокой обратимости, низкой цены ошибки и высокой наблюдаемости. Любая другая комбинация требует рубежа по проблемной оси.</a:t>
            </a:r>
          </a:p>
        </p:txBody>
      </p:sp>
      <p:sp>
        <p:nvSpPr>
          <p:cNvPr id="26" name="TextBox 25"/>
          <p:cNvSpPr txBox="1"/>
          <p:nvPr/>
        </p:nvSpPr>
        <p:spPr>
          <a:xfrm>
            <a:off x="502920" y="3547872"/>
            <a:ext cx="11201400" cy="164592"/>
          </a:xfrm>
          <a:prstGeom prst="rect">
            <a:avLst/>
          </a:prstGeom>
          <a:noFill/>
        </p:spPr>
        <p:txBody>
          <a:bodyPr wrap="square" lIns="0" rIns="0" tIns="0" bIns="0" anchor="t">
            <a:spAutoFit/>
          </a:bodyPr>
          <a:lstStyle/>
          <a:p>
            <a:pPr algn="l">
              <a:lnSpc>
                <a:spcPct val="100000"/>
              </a:lnSpc>
            </a:pPr>
            <a:r>
              <a:rPr sz="1050" b="0" i="1">
                <a:solidFill>
                  <a:srgbClr val="5B6678"/>
                </a:solidFill>
                <a:latin typeface="DejaVu Sans"/>
              </a:rPr>
              <a:t>Прогон тех же трёх осей через два случая, разобранных в лекции</a:t>
            </a:r>
          </a:p>
        </p:txBody>
      </p:sp>
      <p:sp>
        <p:nvSpPr>
          <p:cNvPr id="27" name="Rounded Rectangle 26"/>
          <p:cNvSpPr/>
          <p:nvPr/>
        </p:nvSpPr>
        <p:spPr>
          <a:xfrm>
            <a:off x="502920" y="3730752"/>
            <a:ext cx="2340864" cy="310896"/>
          </a:xfrm>
          <a:prstGeom prst="roundRect">
            <a:avLst>
              <a:gd name="adj" fmla="val 1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94360" y="3730752"/>
            <a:ext cx="2157984" cy="310896"/>
          </a:xfrm>
          <a:prstGeom prst="rect">
            <a:avLst/>
          </a:prstGeom>
          <a:noFill/>
        </p:spPr>
        <p:txBody>
          <a:bodyPr wrap="square" lIns="0" rIns="0" tIns="0" bIns="0" anchor="ctr">
            <a:spAutoFit/>
          </a:bodyPr>
          <a:lstStyle/>
          <a:p>
            <a:pPr algn="ctr">
              <a:lnSpc>
                <a:spcPct val="98000"/>
              </a:lnSpc>
            </a:pPr>
            <a:r>
              <a:rPr sz="1050" b="1" i="0">
                <a:solidFill>
                  <a:srgbClr val="FFFFFF"/>
                </a:solidFill>
                <a:latin typeface="DejaVu Sans"/>
              </a:rPr>
              <a:t>Случай</a:t>
            </a:r>
          </a:p>
        </p:txBody>
      </p:sp>
      <p:sp>
        <p:nvSpPr>
          <p:cNvPr id="29" name="Rounded Rectangle 28"/>
          <p:cNvSpPr/>
          <p:nvPr/>
        </p:nvSpPr>
        <p:spPr>
          <a:xfrm>
            <a:off x="2898648" y="3730752"/>
            <a:ext cx="2048256" cy="310896"/>
          </a:xfrm>
          <a:prstGeom prst="roundRect">
            <a:avLst>
              <a:gd name="adj" fmla="val 1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990088" y="3730752"/>
            <a:ext cx="1865376" cy="310896"/>
          </a:xfrm>
          <a:prstGeom prst="rect">
            <a:avLst/>
          </a:prstGeom>
          <a:noFill/>
        </p:spPr>
        <p:txBody>
          <a:bodyPr wrap="square" lIns="0" rIns="0" tIns="0" bIns="0" anchor="ctr">
            <a:spAutoFit/>
          </a:bodyPr>
          <a:lstStyle/>
          <a:p>
            <a:pPr algn="ctr">
              <a:lnSpc>
                <a:spcPct val="98000"/>
              </a:lnSpc>
            </a:pPr>
            <a:r>
              <a:rPr sz="1050" b="1" i="0">
                <a:solidFill>
                  <a:srgbClr val="FFFFFF"/>
                </a:solidFill>
                <a:latin typeface="DejaVu Sans"/>
              </a:rPr>
              <a:t>Обратимость</a:t>
            </a:r>
          </a:p>
        </p:txBody>
      </p:sp>
      <p:sp>
        <p:nvSpPr>
          <p:cNvPr id="31" name="Rounded Rectangle 30"/>
          <p:cNvSpPr/>
          <p:nvPr/>
        </p:nvSpPr>
        <p:spPr>
          <a:xfrm>
            <a:off x="5001768" y="3730752"/>
            <a:ext cx="2139696" cy="310896"/>
          </a:xfrm>
          <a:prstGeom prst="roundRect">
            <a:avLst>
              <a:gd name="adj" fmla="val 1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93208" y="3730752"/>
            <a:ext cx="1956815" cy="310896"/>
          </a:xfrm>
          <a:prstGeom prst="rect">
            <a:avLst/>
          </a:prstGeom>
          <a:noFill/>
        </p:spPr>
        <p:txBody>
          <a:bodyPr wrap="square" lIns="0" rIns="0" tIns="0" bIns="0" anchor="ctr">
            <a:spAutoFit/>
          </a:bodyPr>
          <a:lstStyle/>
          <a:p>
            <a:pPr algn="ctr">
              <a:lnSpc>
                <a:spcPct val="98000"/>
              </a:lnSpc>
            </a:pPr>
            <a:r>
              <a:rPr sz="1050" b="1" i="0">
                <a:solidFill>
                  <a:srgbClr val="FFFFFF"/>
                </a:solidFill>
                <a:latin typeface="DejaVu Sans"/>
              </a:rPr>
              <a:t>Цена ошибки</a:t>
            </a:r>
          </a:p>
        </p:txBody>
      </p:sp>
      <p:sp>
        <p:nvSpPr>
          <p:cNvPr id="33" name="Rounded Rectangle 32"/>
          <p:cNvSpPr/>
          <p:nvPr/>
        </p:nvSpPr>
        <p:spPr>
          <a:xfrm>
            <a:off x="7196328" y="3730752"/>
            <a:ext cx="2139696" cy="310896"/>
          </a:xfrm>
          <a:prstGeom prst="roundRect">
            <a:avLst>
              <a:gd name="adj" fmla="val 1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287768" y="3730752"/>
            <a:ext cx="1956815" cy="310896"/>
          </a:xfrm>
          <a:prstGeom prst="rect">
            <a:avLst/>
          </a:prstGeom>
          <a:noFill/>
        </p:spPr>
        <p:txBody>
          <a:bodyPr wrap="square" lIns="0" rIns="0" tIns="0" bIns="0" anchor="ctr">
            <a:spAutoFit/>
          </a:bodyPr>
          <a:lstStyle/>
          <a:p>
            <a:pPr algn="ctr">
              <a:lnSpc>
                <a:spcPct val="98000"/>
              </a:lnSpc>
            </a:pPr>
            <a:r>
              <a:rPr sz="1050" b="1" i="0">
                <a:solidFill>
                  <a:srgbClr val="FFFFFF"/>
                </a:solidFill>
                <a:latin typeface="DejaVu Sans"/>
              </a:rPr>
              <a:t>Наблюдаемость</a:t>
            </a:r>
          </a:p>
        </p:txBody>
      </p:sp>
      <p:sp>
        <p:nvSpPr>
          <p:cNvPr id="35" name="Rounded Rectangle 34"/>
          <p:cNvSpPr/>
          <p:nvPr/>
        </p:nvSpPr>
        <p:spPr>
          <a:xfrm>
            <a:off x="9390888" y="3730752"/>
            <a:ext cx="2313432" cy="310896"/>
          </a:xfrm>
          <a:prstGeom prst="roundRect">
            <a:avLst>
              <a:gd name="adj" fmla="val 1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482328" y="3730752"/>
            <a:ext cx="2130551" cy="310896"/>
          </a:xfrm>
          <a:prstGeom prst="rect">
            <a:avLst/>
          </a:prstGeom>
          <a:noFill/>
        </p:spPr>
        <p:txBody>
          <a:bodyPr wrap="square" lIns="0" rIns="0" tIns="0" bIns="0" anchor="ctr">
            <a:spAutoFit/>
          </a:bodyPr>
          <a:lstStyle/>
          <a:p>
            <a:pPr algn="ctr">
              <a:lnSpc>
                <a:spcPct val="98000"/>
              </a:lnSpc>
            </a:pPr>
            <a:r>
              <a:rPr sz="1050" b="1" i="0">
                <a:solidFill>
                  <a:srgbClr val="21295C"/>
                </a:solidFill>
                <a:latin typeface="DejaVu Sans"/>
              </a:rPr>
              <a:t>Проблемная ось → мера</a:t>
            </a:r>
          </a:p>
        </p:txBody>
      </p:sp>
      <p:sp>
        <p:nvSpPr>
          <p:cNvPr id="37" name="Rounded Rectangle 36"/>
          <p:cNvSpPr/>
          <p:nvPr/>
        </p:nvSpPr>
        <p:spPr>
          <a:xfrm>
            <a:off x="502920" y="4096511"/>
            <a:ext cx="2340864" cy="859536"/>
          </a:xfrm>
          <a:prstGeom prst="roundRect">
            <a:avLst>
              <a:gd name="adj" fmla="val 7000"/>
            </a:avLst>
          </a:prstGeom>
          <a:solidFill>
            <a:srgbClr val="F4F7F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0936" y="4169663"/>
            <a:ext cx="2084832" cy="395386"/>
          </a:xfrm>
          <a:prstGeom prst="rect">
            <a:avLst/>
          </a:prstGeom>
          <a:noFill/>
        </p:spPr>
        <p:txBody>
          <a:bodyPr wrap="square" lIns="0" rIns="0" tIns="0" bIns="0" anchor="b">
            <a:spAutoFit/>
          </a:bodyPr>
          <a:lstStyle/>
          <a:p>
            <a:pPr algn="l">
              <a:lnSpc>
                <a:spcPct val="108000"/>
              </a:lnSpc>
            </a:pPr>
            <a:r>
              <a:rPr sz="1050" b="1" i="0">
                <a:solidFill>
                  <a:srgbClr val="21295C"/>
                </a:solidFill>
                <a:latin typeface="DejaVu Sans"/>
              </a:rPr>
              <a:t>Google AI Overviews</a:t>
            </a:r>
          </a:p>
        </p:txBody>
      </p:sp>
      <p:sp>
        <p:nvSpPr>
          <p:cNvPr id="39" name="TextBox 38"/>
          <p:cNvSpPr txBox="1"/>
          <p:nvPr/>
        </p:nvSpPr>
        <p:spPr>
          <a:xfrm>
            <a:off x="630936" y="4595042"/>
            <a:ext cx="2084832" cy="326623"/>
          </a:xfrm>
          <a:prstGeom prst="rect">
            <a:avLst/>
          </a:prstGeom>
          <a:noFill/>
        </p:spPr>
        <p:txBody>
          <a:bodyPr wrap="square" lIns="0" rIns="0" tIns="0" bIns="0" anchor="t">
            <a:spAutoFit/>
          </a:bodyPr>
          <a:lstStyle/>
          <a:p>
            <a:pPr algn="l">
              <a:lnSpc>
                <a:spcPct val="105000"/>
              </a:lnSpc>
            </a:pPr>
            <a:r>
              <a:rPr sz="850" b="0" i="1">
                <a:solidFill>
                  <a:srgbClr val="5B6678"/>
                </a:solidFill>
                <a:latin typeface="DejaVu Sans"/>
              </a:rPr>
              <a:t>ответ поиска раскатан сразу на всех</a:t>
            </a:r>
          </a:p>
        </p:txBody>
      </p:sp>
      <p:sp>
        <p:nvSpPr>
          <p:cNvPr id="40" name="Rounded Rectangle 39"/>
          <p:cNvSpPr/>
          <p:nvPr/>
        </p:nvSpPr>
        <p:spPr>
          <a:xfrm>
            <a:off x="2898648" y="4096511"/>
            <a:ext cx="2048256" cy="859536"/>
          </a:xfrm>
          <a:prstGeom prst="roundRect">
            <a:avLst>
              <a:gd name="adj" fmla="val 7000"/>
            </a:avLst>
          </a:prstGeom>
          <a:solidFill>
            <a:srgbClr val="F4F7F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026664" y="4142231"/>
            <a:ext cx="1792224" cy="768096"/>
          </a:xfrm>
          <a:prstGeom prst="rect">
            <a:avLst/>
          </a:prstGeom>
          <a:noFill/>
        </p:spPr>
        <p:txBody>
          <a:bodyPr wrap="square" lIns="0" rIns="0" tIns="0" bIns="0" anchor="ctr">
            <a:spAutoFit/>
          </a:bodyPr>
          <a:lstStyle/>
          <a:p>
            <a:pPr algn="l">
              <a:lnSpc>
                <a:spcPct val="110000"/>
              </a:lnSpc>
            </a:pPr>
            <a:r>
              <a:rPr sz="1000" b="0" i="0">
                <a:solidFill>
                  <a:srgbClr val="21295C"/>
                </a:solidFill>
                <a:latin typeface="DejaVu Sans"/>
              </a:rPr>
              <a:t>низкая — ошибку увидели все одновременно</a:t>
            </a:r>
          </a:p>
        </p:txBody>
      </p:sp>
      <p:sp>
        <p:nvSpPr>
          <p:cNvPr id="42" name="Rounded Rectangle 41"/>
          <p:cNvSpPr/>
          <p:nvPr/>
        </p:nvSpPr>
        <p:spPr>
          <a:xfrm>
            <a:off x="5001768" y="4096511"/>
            <a:ext cx="2139696" cy="859536"/>
          </a:xfrm>
          <a:prstGeom prst="roundRect">
            <a:avLst>
              <a:gd name="adj" fmla="val 7000"/>
            </a:avLst>
          </a:prstGeom>
          <a:solidFill>
            <a:srgbClr val="F4F7F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129784" y="4142231"/>
            <a:ext cx="1883663" cy="768096"/>
          </a:xfrm>
          <a:prstGeom prst="rect">
            <a:avLst/>
          </a:prstGeom>
          <a:noFill/>
        </p:spPr>
        <p:txBody>
          <a:bodyPr wrap="square" lIns="0" rIns="0" tIns="0" bIns="0" anchor="ctr">
            <a:spAutoFit/>
          </a:bodyPr>
          <a:lstStyle/>
          <a:p>
            <a:pPr algn="l">
              <a:lnSpc>
                <a:spcPct val="110000"/>
              </a:lnSpc>
            </a:pPr>
            <a:r>
              <a:rPr sz="1000" b="0" i="0">
                <a:solidFill>
                  <a:srgbClr val="21295C"/>
                </a:solidFill>
                <a:latin typeface="DejaVu Sans"/>
              </a:rPr>
              <a:t>высокая — вирусный, потенциально опасный совет</a:t>
            </a:r>
          </a:p>
        </p:txBody>
      </p:sp>
      <p:sp>
        <p:nvSpPr>
          <p:cNvPr id="44" name="Rounded Rectangle 43"/>
          <p:cNvSpPr/>
          <p:nvPr/>
        </p:nvSpPr>
        <p:spPr>
          <a:xfrm>
            <a:off x="7196328" y="4096511"/>
            <a:ext cx="2139696" cy="859536"/>
          </a:xfrm>
          <a:prstGeom prst="roundRect">
            <a:avLst>
              <a:gd name="adj" fmla="val 7000"/>
            </a:avLst>
          </a:prstGeom>
          <a:solidFill>
            <a:srgbClr val="F4F7F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324344" y="4142231"/>
            <a:ext cx="1883663" cy="768096"/>
          </a:xfrm>
          <a:prstGeom prst="rect">
            <a:avLst/>
          </a:prstGeom>
          <a:noFill/>
        </p:spPr>
        <p:txBody>
          <a:bodyPr wrap="square" lIns="0" rIns="0" tIns="0" bIns="0" anchor="ctr">
            <a:spAutoFit/>
          </a:bodyPr>
          <a:lstStyle/>
          <a:p>
            <a:pPr algn="l">
              <a:lnSpc>
                <a:spcPct val="110000"/>
              </a:lnSpc>
            </a:pPr>
            <a:r>
              <a:rPr sz="1000" b="0" i="0">
                <a:solidFill>
                  <a:srgbClr val="21295C"/>
                </a:solidFill>
                <a:latin typeface="DejaVu Sans"/>
              </a:rPr>
              <a:t>была бы высокой при канареечном выпуске, но его пропустили</a:t>
            </a:r>
          </a:p>
        </p:txBody>
      </p:sp>
      <p:sp>
        <p:nvSpPr>
          <p:cNvPr id="46" name="Rounded Rectangle 45"/>
          <p:cNvSpPr/>
          <p:nvPr/>
        </p:nvSpPr>
        <p:spPr>
          <a:xfrm>
            <a:off x="9390888" y="4096511"/>
            <a:ext cx="2313432" cy="859536"/>
          </a:xfrm>
          <a:prstGeom prst="roundRect">
            <a:avLst>
              <a:gd name="adj" fmla="val 7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518904" y="4142231"/>
            <a:ext cx="2057400" cy="768096"/>
          </a:xfrm>
          <a:prstGeom prst="rect">
            <a:avLst/>
          </a:prstGeom>
          <a:noFill/>
        </p:spPr>
        <p:txBody>
          <a:bodyPr wrap="square" lIns="0" rIns="0" tIns="0" bIns="0" anchor="ctr">
            <a:spAutoFit/>
          </a:bodyPr>
          <a:lstStyle/>
          <a:p>
            <a:pPr algn="l">
              <a:lnSpc>
                <a:spcPct val="110000"/>
              </a:lnSpc>
            </a:pPr>
            <a:r>
              <a:rPr sz="1000" b="0" i="0">
                <a:solidFill>
                  <a:srgbClr val="21295C"/>
                </a:solidFill>
                <a:latin typeface="DejaVu Sans"/>
              </a:rPr>
              <a:t>обратимость: поэтапная раскатка возвращает и наблюдаемость</a:t>
            </a:r>
          </a:p>
        </p:txBody>
      </p:sp>
      <p:sp>
        <p:nvSpPr>
          <p:cNvPr id="48" name="Rounded Rectangle 47"/>
          <p:cNvSpPr/>
          <p:nvPr/>
        </p:nvSpPr>
        <p:spPr>
          <a:xfrm>
            <a:off x="502920" y="5010912"/>
            <a:ext cx="2340864" cy="859536"/>
          </a:xfrm>
          <a:prstGeom prst="roundRect">
            <a:avLst>
              <a:gd name="adj" fmla="val 7000"/>
            </a:avLst>
          </a:prstGeom>
          <a:solidFill>
            <a:srgbClr val="F4F7F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30936" y="5084064"/>
            <a:ext cx="2084832" cy="395386"/>
          </a:xfrm>
          <a:prstGeom prst="rect">
            <a:avLst/>
          </a:prstGeom>
          <a:noFill/>
        </p:spPr>
        <p:txBody>
          <a:bodyPr wrap="square" lIns="0" rIns="0" tIns="0" bIns="0" anchor="b">
            <a:spAutoFit/>
          </a:bodyPr>
          <a:lstStyle/>
          <a:p>
            <a:pPr algn="l">
              <a:lnSpc>
                <a:spcPct val="108000"/>
              </a:lnSpc>
            </a:pPr>
            <a:r>
              <a:rPr sz="1050" b="1" i="0">
                <a:solidFill>
                  <a:srgbClr val="21295C"/>
                </a:solidFill>
                <a:latin typeface="DejaVu Sans"/>
              </a:rPr>
              <a:t>Zillow Offers</a:t>
            </a:r>
          </a:p>
        </p:txBody>
      </p:sp>
      <p:sp>
        <p:nvSpPr>
          <p:cNvPr id="50" name="TextBox 49"/>
          <p:cNvSpPr txBox="1"/>
          <p:nvPr/>
        </p:nvSpPr>
        <p:spPr>
          <a:xfrm>
            <a:off x="630936" y="5509442"/>
            <a:ext cx="2084832" cy="326623"/>
          </a:xfrm>
          <a:prstGeom prst="rect">
            <a:avLst/>
          </a:prstGeom>
          <a:noFill/>
        </p:spPr>
        <p:txBody>
          <a:bodyPr wrap="square" lIns="0" rIns="0" tIns="0" bIns="0" anchor="t">
            <a:spAutoFit/>
          </a:bodyPr>
          <a:lstStyle/>
          <a:p>
            <a:pPr algn="l">
              <a:lnSpc>
                <a:spcPct val="105000"/>
              </a:lnSpc>
            </a:pPr>
            <a:r>
              <a:rPr sz="850" b="0" i="1">
                <a:solidFill>
                  <a:srgbClr val="5B6678"/>
                </a:solidFill>
                <a:latin typeface="DejaVu Sans"/>
              </a:rPr>
              <a:t>дома закупали по прогнозу цены от модели</a:t>
            </a:r>
          </a:p>
        </p:txBody>
      </p:sp>
      <p:sp>
        <p:nvSpPr>
          <p:cNvPr id="51" name="Rounded Rectangle 50"/>
          <p:cNvSpPr/>
          <p:nvPr/>
        </p:nvSpPr>
        <p:spPr>
          <a:xfrm>
            <a:off x="2898648" y="5010912"/>
            <a:ext cx="2048256" cy="859536"/>
          </a:xfrm>
          <a:prstGeom prst="roundRect">
            <a:avLst>
              <a:gd name="adj" fmla="val 7000"/>
            </a:avLst>
          </a:prstGeom>
          <a:solidFill>
            <a:srgbClr val="F4F7F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026664" y="5056631"/>
            <a:ext cx="1792224" cy="768096"/>
          </a:xfrm>
          <a:prstGeom prst="rect">
            <a:avLst/>
          </a:prstGeom>
          <a:noFill/>
        </p:spPr>
        <p:txBody>
          <a:bodyPr wrap="square" lIns="0" rIns="0" tIns="0" bIns="0" anchor="ctr">
            <a:spAutoFit/>
          </a:bodyPr>
          <a:lstStyle/>
          <a:p>
            <a:pPr algn="l">
              <a:lnSpc>
                <a:spcPct val="110000"/>
              </a:lnSpc>
            </a:pPr>
            <a:r>
              <a:rPr sz="1000" b="0" i="0">
                <a:solidFill>
                  <a:srgbClr val="21295C"/>
                </a:solidFill>
                <a:latin typeface="DejaVu Sans"/>
              </a:rPr>
              <a:t>минимальная — купленный дом не отменить одним кликом</a:t>
            </a:r>
          </a:p>
        </p:txBody>
      </p:sp>
      <p:sp>
        <p:nvSpPr>
          <p:cNvPr id="53" name="Rounded Rectangle 52"/>
          <p:cNvSpPr/>
          <p:nvPr/>
        </p:nvSpPr>
        <p:spPr>
          <a:xfrm>
            <a:off x="5001768" y="5010912"/>
            <a:ext cx="2139696" cy="859536"/>
          </a:xfrm>
          <a:prstGeom prst="roundRect">
            <a:avLst>
              <a:gd name="adj" fmla="val 7000"/>
            </a:avLst>
          </a:prstGeom>
          <a:solidFill>
            <a:srgbClr val="F4F7F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129784" y="5056631"/>
            <a:ext cx="1883663" cy="768096"/>
          </a:xfrm>
          <a:prstGeom prst="rect">
            <a:avLst/>
          </a:prstGeom>
          <a:noFill/>
        </p:spPr>
        <p:txBody>
          <a:bodyPr wrap="square" lIns="0" rIns="0" tIns="0" bIns="0" anchor="ctr">
            <a:spAutoFit/>
          </a:bodyPr>
          <a:lstStyle/>
          <a:p>
            <a:pPr algn="l">
              <a:lnSpc>
                <a:spcPct val="110000"/>
              </a:lnSpc>
            </a:pPr>
            <a:r>
              <a:rPr sz="1000" b="0" i="0">
                <a:solidFill>
                  <a:srgbClr val="21295C"/>
                </a:solidFill>
                <a:latin typeface="DejaVu Sans"/>
              </a:rPr>
              <a:t>максимальная — $304–408 млн списаний при ≈$80 тыс. на дом: это ≈3 800–5 100 домов из 9 680 купленных за квартал</a:t>
            </a:r>
          </a:p>
        </p:txBody>
      </p:sp>
      <p:sp>
        <p:nvSpPr>
          <p:cNvPr id="55" name="Rounded Rectangle 54"/>
          <p:cNvSpPr/>
          <p:nvPr/>
        </p:nvSpPr>
        <p:spPr>
          <a:xfrm>
            <a:off x="7196328" y="5010912"/>
            <a:ext cx="2139696" cy="859536"/>
          </a:xfrm>
          <a:prstGeom prst="roundRect">
            <a:avLst>
              <a:gd name="adj" fmla="val 7000"/>
            </a:avLst>
          </a:prstGeom>
          <a:solidFill>
            <a:srgbClr val="F4F7F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324344" y="5056631"/>
            <a:ext cx="1883663" cy="768096"/>
          </a:xfrm>
          <a:prstGeom prst="rect">
            <a:avLst/>
          </a:prstGeom>
          <a:noFill/>
        </p:spPr>
        <p:txBody>
          <a:bodyPr wrap="square" lIns="0" rIns="0" tIns="0" bIns="0" anchor="ctr">
            <a:spAutoFit/>
          </a:bodyPr>
          <a:lstStyle/>
          <a:p>
            <a:pPr algn="l">
              <a:lnSpc>
                <a:spcPct val="110000"/>
              </a:lnSpc>
            </a:pPr>
            <a:r>
              <a:rPr sz="1000" b="0" i="0">
                <a:solidFill>
                  <a:srgbClr val="21295C"/>
                </a:solidFill>
                <a:latin typeface="DejaVu Sans"/>
              </a:rPr>
              <a:t>низкая по конструкции — квартальный отчёт, а не контроль в реальном времени</a:t>
            </a:r>
          </a:p>
        </p:txBody>
      </p:sp>
      <p:sp>
        <p:nvSpPr>
          <p:cNvPr id="57" name="Rounded Rectangle 56"/>
          <p:cNvSpPr/>
          <p:nvPr/>
        </p:nvSpPr>
        <p:spPr>
          <a:xfrm>
            <a:off x="9390888" y="5010912"/>
            <a:ext cx="2313432" cy="859536"/>
          </a:xfrm>
          <a:prstGeom prst="roundRect">
            <a:avLst>
              <a:gd name="adj" fmla="val 7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518904" y="5056631"/>
            <a:ext cx="2057400" cy="768096"/>
          </a:xfrm>
          <a:prstGeom prst="rect">
            <a:avLst/>
          </a:prstGeom>
          <a:noFill/>
        </p:spPr>
        <p:txBody>
          <a:bodyPr wrap="square" lIns="0" rIns="0" tIns="0" bIns="0" anchor="ctr">
            <a:spAutoFit/>
          </a:bodyPr>
          <a:lstStyle/>
          <a:p>
            <a:pPr algn="l">
              <a:lnSpc>
                <a:spcPct val="110000"/>
              </a:lnSpc>
            </a:pPr>
            <a:r>
              <a:rPr sz="1000" b="0" i="0">
                <a:solidFill>
                  <a:srgbClr val="21295C"/>
                </a:solidFill>
                <a:latin typeface="DejaVu Sans"/>
              </a:rPr>
              <a:t>все три оси сразу: жёсткий рубеж нужен на каждой — не было ни одного</a:t>
            </a:r>
          </a:p>
        </p:txBody>
      </p:sp>
      <p:sp>
        <p:nvSpPr>
          <p:cNvPr id="59" name="Rounded Rectangle 58"/>
          <p:cNvSpPr/>
          <p:nvPr/>
        </p:nvSpPr>
        <p:spPr>
          <a:xfrm>
            <a:off x="502920" y="5961888"/>
            <a:ext cx="11201400" cy="493776"/>
          </a:xfrm>
          <a:prstGeom prst="roundRect">
            <a:avLst>
              <a:gd name="adj" fmla="val 10000"/>
            </a:avLst>
          </a:prstGeom>
          <a:solidFill>
            <a:srgbClr val="E4F1F2"/>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22376" y="6016751"/>
            <a:ext cx="10762488" cy="384048"/>
          </a:xfrm>
          <a:prstGeom prst="rect">
            <a:avLst/>
          </a:prstGeom>
          <a:noFill/>
        </p:spPr>
        <p:txBody>
          <a:bodyPr wrap="square" lIns="0" rIns="0" tIns="0" bIns="0" anchor="ctr">
            <a:spAutoFit/>
          </a:bodyPr>
          <a:lstStyle/>
          <a:p>
            <a:pPr algn="ctr">
              <a:lnSpc>
                <a:spcPct val="118000"/>
              </a:lnSpc>
            </a:pPr>
            <a:r>
              <a:rPr sz="1150" b="1" i="0">
                <a:solidFill>
                  <a:srgbClr val="21295C"/>
                </a:solidFill>
                <a:latin typeface="DejaVu Sans"/>
              </a:rPr>
              <a:t>Ни одна ось не запрещает ИИ — каждая называет, что должно стоять рядом. Там, где все три условия выполнены сразу, высокая самостоятельность обоснована, а не рискованна.</a:t>
            </a:r>
          </a:p>
        </p:txBody>
      </p:sp>
      <p:sp>
        <p:nvSpPr>
          <p:cNvPr id="61" name="TextBox 60"/>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53 / 54</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64592"/>
            <a:ext cx="11247120" cy="713232"/>
          </a:xfrm>
          <a:prstGeom prst="rect">
            <a:avLst/>
          </a:prstGeom>
          <a:noFill/>
        </p:spPr>
        <p:txBody>
          <a:bodyPr wrap="square" lIns="0" rIns="0" tIns="0" bIns="0" anchor="t">
            <a:spAutoFit/>
          </a:bodyPr>
          <a:lstStyle/>
          <a:p>
            <a:pPr algn="l">
              <a:lnSpc>
                <a:spcPct val="110000"/>
              </a:lnSpc>
            </a:pPr>
            <a:r>
              <a:rPr sz="1800" b="1" i="0">
                <a:solidFill>
                  <a:srgbClr val="21295C"/>
                </a:solidFill>
                <a:latin typeface="DejaVu Sans"/>
              </a:rPr>
              <a:t>Метод переносится, а не список инструментов: код был первым полигоном, продукт — вторым</a:t>
            </a:r>
          </a:p>
        </p:txBody>
      </p:sp>
      <p:sp>
        <p:nvSpPr>
          <p:cNvPr id="3" name="Rounded Rectangle 2"/>
          <p:cNvSpPr/>
          <p:nvPr/>
        </p:nvSpPr>
        <p:spPr>
          <a:xfrm>
            <a:off x="502920" y="950976"/>
            <a:ext cx="7589520" cy="4956048"/>
          </a:xfrm>
          <a:prstGeom prst="roundRect">
            <a:avLst>
              <a:gd name="adj" fmla="val 6150"/>
            </a:avLst>
          </a:prstGeom>
          <a:solidFill>
            <a:srgbClr val="FFFFFF"/>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55-cad-crop.png"/>
          <p:cNvPicPr>
            <a:picLocks noChangeAspect="1"/>
          </p:cNvPicPr>
          <p:nvPr/>
        </p:nvPicPr>
        <p:blipFill>
          <a:blip r:embed="rId2"/>
          <a:stretch>
            <a:fillRect/>
          </a:stretch>
        </p:blipFill>
        <p:spPr>
          <a:xfrm>
            <a:off x="717804" y="1042416"/>
            <a:ext cx="7159752" cy="4773168"/>
          </a:xfrm>
          <a:prstGeom prst="rect">
            <a:avLst/>
          </a:prstGeom>
        </p:spPr>
      </p:pic>
      <p:sp>
        <p:nvSpPr>
          <p:cNvPr id="5" name="TextBox 4"/>
          <p:cNvSpPr txBox="1"/>
          <p:nvPr/>
        </p:nvSpPr>
        <p:spPr>
          <a:xfrm>
            <a:off x="566928" y="5943600"/>
            <a:ext cx="7223760" cy="438912"/>
          </a:xfrm>
          <a:prstGeom prst="rect">
            <a:avLst/>
          </a:prstGeom>
          <a:noFill/>
        </p:spPr>
        <p:txBody>
          <a:bodyPr wrap="square" lIns="0" rIns="0" tIns="0" bIns="0" anchor="t">
            <a:spAutoFit/>
          </a:bodyPr>
          <a:lstStyle/>
          <a:p>
            <a:pPr algn="l">
              <a:lnSpc>
                <a:spcPct val="108000"/>
              </a:lnSpc>
            </a:pPr>
            <a:r>
              <a:rPr sz="1000" b="0" i="1">
                <a:solidFill>
                  <a:srgbClr val="5B6678"/>
                </a:solidFill>
                <a:latin typeface="DejaVu Sans"/>
              </a:rPr>
              <a:t>Инженер за рабочей станцией системы автоматизированного проектирования (САПР) со световым пером, конец 1970-х: инструмент исчез — дисциплина проектирования осталась</a:t>
            </a:r>
          </a:p>
        </p:txBody>
      </p:sp>
      <p:sp>
        <p:nvSpPr>
          <p:cNvPr id="6" name="Rounded Rectangle 5"/>
          <p:cNvSpPr/>
          <p:nvPr/>
        </p:nvSpPr>
        <p:spPr>
          <a:xfrm>
            <a:off x="7936992" y="950976"/>
            <a:ext cx="3767328" cy="1261872"/>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56448" y="1005840"/>
            <a:ext cx="3328416" cy="1152143"/>
          </a:xfrm>
          <a:prstGeom prst="rect">
            <a:avLst/>
          </a:prstGeom>
          <a:noFill/>
        </p:spPr>
        <p:txBody>
          <a:bodyPr wrap="square" lIns="0" rIns="0" tIns="0" bIns="0" anchor="ctr">
            <a:spAutoFit/>
          </a:bodyPr>
          <a:lstStyle/>
          <a:p>
            <a:pPr algn="l">
              <a:lnSpc>
                <a:spcPct val="120000"/>
              </a:lnSpc>
            </a:pPr>
            <a:r>
              <a:rPr sz="1300" b="1" i="0">
                <a:solidFill>
                  <a:srgbClr val="21295C"/>
                </a:solidFill>
                <a:latin typeface="DejaVu Sans"/>
              </a:rPr>
              <a:t>Курс не учит «применяйте ИИ больше» и не учит «бойтесь ИИ» — он учит говорить обоснованное «да» и обоснованное «нет».</a:t>
            </a:r>
          </a:p>
        </p:txBody>
      </p:sp>
      <p:sp>
        <p:nvSpPr>
          <p:cNvPr id="8" name="Rounded Rectangle 7"/>
          <p:cNvSpPr/>
          <p:nvPr/>
        </p:nvSpPr>
        <p:spPr>
          <a:xfrm>
            <a:off x="7936992" y="2377440"/>
            <a:ext cx="3767328" cy="1207008"/>
          </a:xfrm>
          <a:prstGeom prst="roundRect">
            <a:avLst>
              <a:gd name="adj" fmla="val 22000"/>
            </a:avLst>
          </a:prstGeom>
          <a:solidFill>
            <a:srgbClr val="F4F7FA"/>
          </a:solidFill>
          <a:ln w="2032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38160" y="2496312"/>
            <a:ext cx="3364992" cy="274320"/>
          </a:xfrm>
          <a:prstGeom prst="rect">
            <a:avLst/>
          </a:prstGeom>
          <a:noFill/>
        </p:spPr>
        <p:txBody>
          <a:bodyPr wrap="square" lIns="0" rIns="0" tIns="0" bIns="0" anchor="t">
            <a:spAutoFit/>
          </a:bodyPr>
          <a:lstStyle/>
          <a:p>
            <a:pPr algn="l">
              <a:lnSpc>
                <a:spcPct val="115000"/>
              </a:lnSpc>
            </a:pPr>
            <a:r>
              <a:rPr sz="1400" b="1" i="0">
                <a:solidFill>
                  <a:srgbClr val="028090"/>
                </a:solidFill>
                <a:latin typeface="DejaVu Sans"/>
              </a:rPr>
              <a:t>Семинар 7</a:t>
            </a:r>
          </a:p>
        </p:txBody>
      </p:sp>
      <p:sp>
        <p:nvSpPr>
          <p:cNvPr id="10" name="TextBox 9"/>
          <p:cNvSpPr txBox="1"/>
          <p:nvPr/>
        </p:nvSpPr>
        <p:spPr>
          <a:xfrm>
            <a:off x="8138160" y="2825496"/>
            <a:ext cx="3364992" cy="713232"/>
          </a:xfrm>
          <a:prstGeom prst="rect">
            <a:avLst/>
          </a:prstGeom>
          <a:noFill/>
        </p:spPr>
        <p:txBody>
          <a:bodyPr wrap="square" lIns="0" rIns="0" tIns="0" bIns="0" anchor="t">
            <a:spAutoFit/>
          </a:bodyPr>
          <a:lstStyle/>
          <a:p>
            <a:pPr algn="l">
              <a:lnSpc>
                <a:spcPct val="116000"/>
              </a:lnSpc>
            </a:pPr>
            <a:r>
              <a:rPr sz="1150" b="0" i="0">
                <a:solidFill>
                  <a:srgbClr val="21295C"/>
                </a:solidFill>
                <a:latin typeface="DejaVu Sans"/>
              </a:rPr>
              <a:t>Полный прогон инструмента на учебном ИИ-продукте: от гипотезы до точки эскалации к человеку.</a:t>
            </a:r>
          </a:p>
        </p:txBody>
      </p:sp>
      <p:sp>
        <p:nvSpPr>
          <p:cNvPr id="11" name="Rounded Rectangle 10"/>
          <p:cNvSpPr/>
          <p:nvPr/>
        </p:nvSpPr>
        <p:spPr>
          <a:xfrm>
            <a:off x="7936992" y="3749039"/>
            <a:ext cx="3767328" cy="1207008"/>
          </a:xfrm>
          <a:prstGeom prst="roundRect">
            <a:avLst>
              <a:gd name="adj" fmla="val 22000"/>
            </a:avLst>
          </a:prstGeom>
          <a:solidFill>
            <a:srgbClr val="F4F7FA"/>
          </a:solidFill>
          <a:ln w="2032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38160" y="3867911"/>
            <a:ext cx="3364992" cy="274320"/>
          </a:xfrm>
          <a:prstGeom prst="rect">
            <a:avLst/>
          </a:prstGeom>
          <a:noFill/>
        </p:spPr>
        <p:txBody>
          <a:bodyPr wrap="square" lIns="0" rIns="0" tIns="0" bIns="0" anchor="t">
            <a:spAutoFit/>
          </a:bodyPr>
          <a:lstStyle/>
          <a:p>
            <a:pPr algn="l">
              <a:lnSpc>
                <a:spcPct val="115000"/>
              </a:lnSpc>
            </a:pPr>
            <a:r>
              <a:rPr sz="1400" b="1" i="0">
                <a:solidFill>
                  <a:srgbClr val="065A82"/>
                </a:solidFill>
                <a:latin typeface="DejaVu Sans"/>
              </a:rPr>
              <a:t>Лекция 6</a:t>
            </a:r>
          </a:p>
        </p:txBody>
      </p:sp>
      <p:sp>
        <p:nvSpPr>
          <p:cNvPr id="13" name="TextBox 12"/>
          <p:cNvSpPr txBox="1"/>
          <p:nvPr/>
        </p:nvSpPr>
        <p:spPr>
          <a:xfrm>
            <a:off x="8138160" y="4197096"/>
            <a:ext cx="3364992" cy="713232"/>
          </a:xfrm>
          <a:prstGeom prst="rect">
            <a:avLst/>
          </a:prstGeom>
          <a:noFill/>
        </p:spPr>
        <p:txBody>
          <a:bodyPr wrap="square" lIns="0" rIns="0" tIns="0" bIns="0" anchor="t">
            <a:spAutoFit/>
          </a:bodyPr>
          <a:lstStyle/>
          <a:p>
            <a:pPr algn="l">
              <a:lnSpc>
                <a:spcPct val="116000"/>
              </a:lnSpc>
            </a:pPr>
            <a:r>
              <a:rPr sz="1150" b="0" i="0">
                <a:solidFill>
                  <a:srgbClr val="21295C"/>
                </a:solidFill>
                <a:latin typeface="DejaVu Sans"/>
              </a:rPr>
              <a:t>Тот же метод в системах автоматизированного проектирования (САПР): цена физической ошибки выше.</a:t>
            </a:r>
          </a:p>
        </p:txBody>
      </p:sp>
      <p:sp>
        <p:nvSpPr>
          <p:cNvPr id="14" name="Rounded Rectangle 13"/>
          <p:cNvSpPr/>
          <p:nvPr/>
        </p:nvSpPr>
        <p:spPr>
          <a:xfrm>
            <a:off x="7936992" y="5138928"/>
            <a:ext cx="3767328" cy="768096"/>
          </a:xfrm>
          <a:prstGeom prst="roundRect">
            <a:avLst>
              <a:gd name="adj" fmla="val 14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936992" y="5138928"/>
            <a:ext cx="3767328" cy="768096"/>
          </a:xfrm>
          <a:prstGeom prst="rect">
            <a:avLst/>
          </a:prstGeom>
          <a:noFill/>
        </p:spPr>
        <p:txBody>
          <a:bodyPr wrap="square" lIns="0" rIns="0" tIns="0" bIns="0" anchor="ctr">
            <a:spAutoFit/>
          </a:bodyPr>
          <a:lstStyle/>
          <a:p>
            <a:pPr algn="ctr">
              <a:lnSpc>
                <a:spcPct val="115000"/>
              </a:lnSpc>
            </a:pPr>
            <a:r>
              <a:rPr sz="2400" b="1" i="0">
                <a:solidFill>
                  <a:srgbClr val="21295C"/>
                </a:solidFill>
                <a:latin typeface="DejaVu Sans"/>
              </a:rPr>
              <a:t>Вопросы?</a:t>
            </a:r>
          </a:p>
        </p:txBody>
      </p:sp>
      <p:sp>
        <p:nvSpPr>
          <p:cNvPr id="16" name="TextBox 15"/>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54 / 54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