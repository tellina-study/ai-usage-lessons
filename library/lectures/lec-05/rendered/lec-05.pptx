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Начнём не с определения, а с парадокса. Anthropic описывает собственный внутренний опыт так: задачи, которые раньше занимали недели написания и ревью кода, теперь занимают часы — агент пишет реализацию, проходит тесты, и код почти бесплатен. Одновременно летом две тысячи двадцать пятого года исследовательская группа при MIT Media Lab опубликовала отчёт, растиражированный медиа как «девяносто пять процентов организаций получают нулевую отдачу от генеративного ИИ». Два факта одновременно правдивы и на первый взгляд взаимоисключающи: сборка почти бесплатна — и почти никто не извлекает из этого ценность. Как это возможно?</a:t>
            </a:r>
          </a:p>
          <a:p>
            <a:r>
              <a:t>Мы не разрешим парадокс прямо сейчас — это payoff всей лекции, мы вернёмся к нему в самом конце. Но зафиксируем его форму сразу: сборка стала почти бесплатной, а превращение сборки в реальную ценность — нет. Именно это несоответствие — предмет сегодняшней лекции. Мы пройдём весь жизненный цикл продукта: от намерения через исследование, дизайн, сборку, измерение, эксплуатацию — и на каждой фазе будем спрашивать одно и то же: что здесь ИИ удешевил, и что осталось дорогим и человеческим.</a:t>
            </a:r>
          </a:p>
          <a:p>
            <a:r>
              <a:t>Подумайте тридцать секунд: если строить стало почти бесплатно, что тогда стало настоящим узким местом продукта?</a:t>
            </a:r>
          </a:p>
          <a:p>
            <a:r>
              <a:t>Источники:</a:t>
            </a:r>
          </a:p>
          <a:p>
            <a:r>
              <a:t>[1] Anthropic — 2026 Agentic Coding Trends Report — внутренний опыт: недели → часы; секондари-триангулировано (PDF не парсится напрямую). https://resources.anthropic.com/2026-agentic-coding-trends-report [VFY-day-of]</a:t>
            </a:r>
          </a:p>
          <a:p>
            <a:r>
              <a:t>[2] MIT NANDA — «The GenAI Divide» (июль 2025, v0.1) — «95% пилотов — ноль отдачи»: неревьюированный препринт, требует калибровки (см. s47). https://mlq.ai/media/quarterly_decks/v0.1_State_of_AI_in_Business_2025_Report.pdf [VFY-day-of]</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Лекция 4 разбирала жизненный цикл кода. Сегодняшняя лекция — это увеличение масштаба: код — одна, теперь резко подешевевшая фаза внутри гораздо более широкого жизненного цикла продукта. Вы технически сильны и ежедневно пишете код с ИИ-ассистентами, но большинство продуктовых дисциплин — customer development, дизайн-мышление, продуктовые эксперименты, эксплуатацию по модели инженерии надёжности — видите, скорее всего, впервые. Поэтому каждый из шести разделов сегодня начинается не с ИИ, а с классической базы: откуда взялась дисциплина и какую проблему она решает без единого упоминания искусственного интеллекта. Только после этого мы спрашиваем, что меняет ИИ и где он ломается.</a:t>
            </a:r>
          </a:p>
          <a:p>
            <a:r>
              <a:t>Дорожная карта простая: шесть разделов — это шесть стрелок одной петли. Discovery — откуда берётся гипотеза. Design — как гипотеза становится артефактом. Build и Launch — как артефакт становится работающим продуктом в проде. Measure — как проверить, сработало ли это на самом деле. Support и Operate — что происходит, когда продукт живёт 24/7. И Governance — как организация решает, во что вообще вкладывать капитал. В конце мы соберём всё в единую матрицу и чек-лист, которым вы сможете прогнать любую незнакомую ИИ-инициативу.</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Вот карта сегодняшней лекции, и она нарисована не списком, а кругом, потому что это принципиально. Шесть разделов — это не шесть независимых тем, а шесть стрелок одной петли. Мы начинаем с намерения — с Discovery, где рождается гипотеза о том, что вообще строить. Гипотеза проходит через Design, превращаясь в конкретный артефакт, который можно показать человеку. Артефакт проходит через Build и Launch, становясь работающим продуктом в проде. Дальше — Measure: мы проверяем, действительно ли изменение дало эффект, который мы предсказывали. Support и Operate — это то, что происходит, когда продукт уже живёт с реальными пользователями круглые сутки. И наконец Governance — организационный уровень, на котором решается, продолжать ли инвестировать, масштабировать или остановить.</a:t>
            </a:r>
          </a:p>
          <a:p>
            <a:r>
              <a:t>Ключевой момент, который отличает эту карту от простого списка: последняя стрелка возвращается в первую. Сигнал из эксплуатации и из governance-решений меняет то, что мы в следующий раз исследуем в Discovery. Это замкнутый цикл, а не одноразовый линейный процесс — и именно поэтому в конце лекции мы вернёмся к тому же самому кругу, только с полным пониманием, что происходит на каждой стрелке.</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Лекция четыре показала, что разработка ПО с ИИ — это инженерная дисциплина вокруг цикла человеко-владеемых артефактов: спецификация, архитектурное решение, план, pull request, запись об инциденте, снова в спецификацию. Этот цикл живёт внутри одной фазы продуктового цикла — Build, которую мы разберём в разделе три сегодня. Сегодняшняя лекция берёт на один уровень выше: продукт как целое проходит собственную петлю, и решение вернуться в начало или остановить продукт принимается не инженерным, а продуктовым критерием — подтвердилась ли гипотеза о ценности для пользователя.</a:t>
            </a:r>
          </a:p>
          <a:p>
            <a:r>
              <a:t>Разница масштаба принципиальна. Лекция четыре отвечала на вопрос «как мне написать код, за который я отвечаю» — единица работы там: pull request, коммит. Эта лекция отвечает на вопрос «откуда вообще берётся уверенность, что стоит писать этот код» — единица работы здесь: гипотеза, эксперимент, релиз-решение.</a:t>
            </a:r>
          </a:p>
          <a:p>
            <a:r>
              <a:t>Отсюда центральный вопрос всей лекции: когда ИИ сделал сборку почти бесплатной, что стало настоящим узким местом продукта — и на каждой фазе цикла, какая классическая дисциплина остаётся, что ИИ ускоряет, и где AI-first ломается? Держите этот вопрос как линзу: на каждой фазе спрашивайте не «можно ли тут применить ИИ» — почти всегда можно, — а «куда переместилось узкое место, когда эта стрелка подешевела».</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Вот несущая идея всей сегодняшней лекции, и её стоит удержать в голове через все шесть разделов: продукт — это петля обратной связи, исследовать, построить, измерить, научиться, решить, снова исследовать. Это не одна теория одного автора — это форма, к которой независимо друг от друга пришли минимум три человека из совершенно разных областей, не имевшие контакта друг с другом.</a:t>
            </a:r>
          </a:p>
          <a:p>
            <a:r>
              <a:t>Уолтер Шухарт и Уильям Эдвардс Деминг, статистики контроля качества, сформулировали цикл PDCA — спланировать, сделать, проверить, воздействовать — как метод непрерывного улучшения производственного процесса; на этом цикле выросло послевоенное японское качество производства. Джон Бойд, военный лётчик-истребитель, сформулировал цикл OODA — наблюдать, сориентироваться, решить, действовать — как модель того, кто побеждает в воздушном бою: не тот, у кого мощнее самолёт, а тот, кто быстрее и точнее проходит этот цикл. Эрик Райс, предприниматель, сформулировал цикл Build-Measure-Learn как способ стартапа не потратить месяцы на функцию, которую никто не хочет.</a:t>
            </a:r>
          </a:p>
          <a:p>
            <a:r>
              <a:t>Есть и важный нюанс той же формы — одиночная и двойная петля. Одиночная петля исправляет ошибку относительно фиксированной цели, как термостат. Двойная идёт глубже: периодически ставит под вопрос саму цель. Это прямо предвосхищает сбой, который мы разберём в разделе четыре: обучение модели через обратную связь человека — это механизированная одиночная петля, а взлом функции вознаграждения — ровно её режим отказа. Статистик, лётчик и предприниматель нарисовали один и тот же чертёж не сговариваясь — это убедительный аргумент, что петля не модная методология, а структурное свойство системы, которая учится.</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Вторая половина keystone — центральный аналитический инструмент всей лекции: ИИ меняет стоимость и доверие каждой стрелки петли асимметрично, не одинаково. Стрелка «построить» — стоимость почти обнулилась: написание кода, черновика дизайна, первого прототипа исследования на порядки дешевле, чем пять лет назад. Стрелки «измерить» и «научиться» — стоимость осталась прежней или снизилась незначительно, а доверие к результату упало: сам инструмент измерения стал вероятностным и уязвимым к манипуляции метрикой. Стрелки «наблюдать» и «сориентироваться» — стали быстрее, но одновременно уязвимее к атаке: скорость наблюдения за системой в проде выросла, но сама возможность быстро реагировать превращается в уязвимость, если наблюдаемые данные можно отравить.</a:t>
            </a:r>
          </a:p>
          <a:p>
            <a:r>
              <a:t>Отсюда мета-паттерн, который будет повторяться в каждом из шести разделов буквально по одному и тому же шаблону: у каждой фазы жизненного цикла продукта есть классическая дисциплина, и ИИ её не отменяет. ИИ меняет, сколько эта дисциплина стоит и насколько ей можно доверять без проверки — но не устраняет необходимость самой дисциплины. Customer Development не заменяется на «спросить у модели, что думает пользователь»; продуктовый эксперимент не заменяется на «модель предсказала рост метрики». В каждом разделе мы будем задавать один и тот же вопрос: что здесь классика делает надёжным, что ИИ ускоряет — и в какой момент скорость становится ловушкой, потому что доверие не поспевает за ней.</a:t>
            </a:r>
          </a:p>
          <a:p>
            <a:r>
              <a:t>Подумайте двадцать секунд: на какой стрелке вашей последней задачи скорость обогнала ваше реальное доверие к результату?</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Начинаем проходить петлю по стрелкам, и первая — Discovery, исследование. Это фаза, откуда вообще берётся гипотеза о том, что строить. У большинства сильных инженеров есть неформальный опыт «спросить у друзей, нравится ли идея» — но почти никто не сталкивался с формальной дисциплиной, которая объясняет, почему этот неформальный опыт систематически лжёт.</a:t>
            </a:r>
          </a:p>
          <a:p>
            <a:r>
              <a:t>Сегодня в этом разделе — две классические базы: методология поиска бизнес-модели через выход к клиентам и техника одного правильного разговора с одним человеком. Дальше — что ИИ добавляет в исследование в две тысячи двадцать пятом-двадцать шестом году, где он ограничен, и три провала, которые показывают, что случается, когда границу пропускают. Держите два вопроса раздела: где ИИ усиливает исследование, и где реальный человек с реальным прошлым обязателен.</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Прежде чем перейти к формальным методикам, разберём фазу исследования на пальцах — так, чтобы было понятно и тем, кто впервые слышит про продуктовую работу.</a:t>
            </a:r>
          </a:p>
          <a:p>
            <a:r>
              <a:t>Исследование — это первая стрелка петли. Здесь вы ещё ничего не строите. Ваша единственная задача — понять, стоит ли вообще что-то строить и для кого. Звучит просто, но именно на этом шаге проваливается большинство продуктов: команда влюбляется в свою идею и строит её, не проверив, есть ли у кого-то настоящая проблема, которую эта идея решает.</a:t>
            </a:r>
          </a:p>
          <a:p>
            <a:r>
              <a:t>Ключевая ментальная модель, которую стоит унести с этого раздела: внутри офиса нет фактов. Всё, что вы думаете о пользователях, сидя за своим столом, — это гипотезы, а не знание. Факты живут снаружи, у реальных людей. Поэтому дисциплина исследования — это дисциплина выхода наружу: сформулировать, во что вы верите, а потом честно проверить это на людях, которые не заинтересованы вам польстить.</a:t>
            </a:r>
          </a:p>
          <a:p>
            <a:r>
              <a:t>ИИ здесь может очень помочь — суммировать интервью, собрать кабинетное исследование за минуты вместо часов. Но он не может за вас поговорить с настоящим человеком и не может произвести настоящее несогласие. Дальше мы увидим две классические методики, которые делают этот разговор честным, и три реальных провала, где исследование заменили правдоподобной выдумкой.</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Customer Development — методология Стива Бланка. Центральная идея предельно конкретна: внутри офиса нет фактов, поэтому выйди наружу. Стартап — не уменьшенная копия большой компании, исполняющая известный план, а временная организация, занятая поиском повторяемой бизнес-модели в условиях крайней неопределённости. План нельзя написать заранее, потому что план зависит от ответов, которые знают только клиенты.</a:t>
            </a:r>
          </a:p>
          <a:p>
            <a:r>
              <a:t>Метод состоит из четырёх последовательных шагов, каждый заканчивается явным решением продолжать или развернуться. Discovery — превратить исходные гипотезы в факты, выйдя к реальным людям; этот шаг явно гипотезо-ориентирован — вы записываете, во что верите, до того как выйдете за дверь. Validation — проверить, можно ли продать это не только первым энтузиастам, но и более широкому кругу. Creation — стимулировать спрос в масштабе. Building — перевести организацию в формальные функциональные департаменты.</a:t>
            </a:r>
          </a:p>
          <a:p>
            <a:r>
              <a:t>Важно развести Customer Development и Build-Measure-Learn, о котором мы говорили в keystone: BML — это двигатель, Customer Development — карта местности, по которой двигатель едет. Сначала понять, что проверяем и у кого, потом — как быстро крутить цикл проверки. И здесь же вводим приём, который будем переиспользовать в каждом следующем разделе: фальсифицируемая гипотеза — записанное утверждение «мы верим, что X, мы проверим это через Y, к дате Z у нас будет ответ да или нет». Формат работает, потому что превращает расплывчатую уверенность в проверяемое обязательство с датой. Известное ограничение метода: он написан для стартапов с нуля, ищущих бизнес-модель, а не для доработки функции внутри зрелого продукта — применять весь церемониал к правке мелкой функции избыточно, ровно как не гонять A/B-тест ради исправления опечатки.</a:t>
            </a:r>
          </a:p>
          <a:p>
            <a:r>
              <a:t>Источники:</a:t>
            </a:r>
          </a:p>
          <a:p>
            <a:r>
              <a:t>[1] Blank — Customer Development (Four Steps to the Epiphany) — 4-шаговая методология; «внутри офиса нет фактов». https://innovation.ucsd.edu/startup/startup-toolkit/Steve-Blank-CustDev.pdf</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Mom Test — техника одного шага: как правильно провести один разговор с одним человеком, чтобы не обмануть самого себя. Метод сформулирован Робом Фитцпатриком. Название отражает провокационную предпосылку: даже родная мать соврёт вам о качестве вашей бизнес-идеи, если вы спросите её напрямую — и дефект не в честности респондента, а в конструкции вопроса.</a:t>
            </a:r>
          </a:p>
          <a:p>
            <a:r>
              <a:t>Три правила, конкретные и применимые буквально. Первое: говорите об их жизни, а не о своей идее — никогда не питчите идею, а затем не просите вердикт. Второе: спрашивайте о конкретике из прошлого, а не о мнениях о будущем — гипотетические вопросы провоцируют нечестный оптимизм. Третье: говорите меньше, слушайте больше, и валидируйте только реальным обязательством, никогда комплиментом — легитимные сигналы: время, репутация, деньги.</a:t>
            </a:r>
          </a:p>
          <a:p>
            <a:r>
              <a:t>Хорошая иллюстрация: вместо «заплатили бы вы двадцать долларов в месяц» — «сколько вы платите сегодня за ближайший аналог этой задачи». Второй вопрос якорится на реальном прошлом поведении и деньгах, которые респондент уже тратит. Ограничение метода: это техника интервью, а не метод выборки или синтеза — он не говорит, сколько людей опросить. Здесь же полезно закрепить разлом качественного и количественного исследования: качественное отвечает на вопрос «почему» при маленькой выборке и порождает гипотезы; количественное отвечает «сколько» в масштабе и проверяет уже существующую гипотезу. Это не иерархия, а разделение труда — и оно понадобится нам снова в разделе четыре.</a:t>
            </a:r>
          </a:p>
          <a:p>
            <a:r>
              <a:t>Источники:</a:t>
            </a:r>
          </a:p>
          <a:p>
            <a:r>
              <a:t>[1] Fitzpatrick — The Mom Test — 3 правила интервью: о жизни/о прошлом/обязательством, не мнением. https://www.sachinrekhi.com/p/the-mom-test-rob-fitzpatrick</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Теперь — что ИИ меняет в этой фазе, конкретно и по инструментам. Desk research — обзор рыночных отчётов, жалоб, тикетов — до единого часа. Perplexity, особенно режим Deep Research, широко признаётся лучшим инструментом для этой задачи: сервис планирует траекторию исследования, читает источники и возвращает отчёт со ссылками за минуты. Практики сообщают о сокращении времени примерно на пятьдесят процентов. Обязательная практика, а не опция: проверять важные данные напрямую по источнику, прежде чем использовать их в решении — ссылки существуют именно для того, чтобы верификация была возможна, но инструмент не отменяет сам шаг верификации.</a:t>
            </a:r>
          </a:p>
          <a:p>
            <a:r>
              <a:t>Синтез интервью: Dovetail специально построен для кросс-интервью синтеза с дизайном «цитата привязана к источнику» — это защищает от дрейфа в непроверяемое резюме. ИИ по-настоящему силён в кластеризации — группировке сотен тикетов в повторяющиеся темы боли, и в построении reference dataset — эталонного набора пар «запрос → правильный ответ», который мы ещё вернём в разделах три и четыре как формальный launch-артефакт и набор для оценки.</a:t>
            </a:r>
          </a:p>
          <a:p>
            <a:r>
              <a:t>Синтетические пользователи как pre-research — узкая, легитимная область: пилотирование гайда обсуждения, черновик прото-персон, генерация гипотез. Ни один из этих выходов не должен рассматриваться как доказательство для решения «запускать или нет». Показательно: девяносто семь процентов исследователей используют ИИ, но лишь около восьми процентов доверяют ИИ-сгенерированным участникам как источнику данных — разрыв осознан самой профессией. Тереза Торрес, один из ведущих практиков дискавери, использует ИИ для черновика первого прохода, но правило двух шагов синтеза сохраняется без исключений, и она прямо советует против синтетических интервью — потому что само мышление команды и есть смысл процесса.</a:t>
            </a:r>
          </a:p>
          <a:p>
            <a:r>
              <a:t>Источники:</a:t>
            </a:r>
          </a:p>
          <a:p>
            <a:r>
              <a:t>[1] Perplexity Deep Research — обзор для продукт-исследований — desk research: часы → минуты; необходимость проверки источника. https://www.secondtalent.com/resources/perplexity-deep-research-review/</a:t>
            </a:r>
          </a:p>
          <a:p>
            <a:r>
              <a:t>[2] Dovetail — AI-синтез интервью — кластеризация болей в масштабе; ограничения AI-суммаризации. https://listenlabs.ai/articles/dovetail-ai-qualitative-analysis/</a:t>
            </a:r>
          </a:p>
          <a:p>
            <a:r>
              <a:t>[3] NN/g — практический опрос 2026 — 97% исследователей используют ИИ, ~8% доверяют ИИ-персонам как данным. https://www.nngroup.com/articles/state-of-ux-2026/ [VFY-day-of]</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Пятый риск дискавери — этический, но материализуется он как конкретный, измеримый механизм: ИИ-резюме может упускать двадцать-сорок процентов важной детали интервью, когда синтез пропускает шаг «сначала по отдельности» и сразу прыгает к кросс-интервью теме. Это не расплывчатое «ИИ иногда ошибается» — это прослеживаемый до конкретного шага сбой.</a:t>
            </a:r>
          </a:p>
          <a:p>
            <a:r>
              <a:t>Почему живые интервью остаются необходимыми — аргумент накопления. Правило два The Mom Test — спрашивать о конкретном прошлом — это ровно то правило, которое синтетическая персона не способна удовлетворить, потому что у неё нет реального прошлого, она может только сгенерировать правдоподобное. Склонность соглашаться плюс отсутствие реального прошлого — это накопительный сбой: не просто смещено в сторону «да», а смещено в сторону «да» о событии, которого никогда не было.</a:t>
            </a:r>
          </a:p>
          <a:p>
            <a:r>
              <a:t>Сделаем это проверяемым через три операциональных критерия. Первый: цена ошибки go/no-go высока — нужен источник, способный сказать «нет», а синтетический по построению не способен. Второй: нужно реальное прошлое, а не правдоподобное — если гипотеза о конкретном прошлом поведении, синтетическая персона его достраивает, а не помнит. Третий: нужна валидация реальным обязательством — предзаказ, депозит, интро — ИИ-заменителя здесь нет вовсе. Что явно остаётся из классики: три правила Mom Test применяются одинаково, кто бы ни задавал вопрос; гипотезо-первая дисциплина Бланка — противоядие от однокликового ИИ-дерева. Правило суммарно: чем ближе выход к необратимому решению о реальных людях, тем строже нужен реальный человек; чем дальше — тем уместнее ИИ как ускоритель черновика.</a:t>
            </a:r>
          </a:p>
          <a:p>
            <a:r>
              <a:t>Источники:</a:t>
            </a:r>
          </a:p>
          <a:p>
            <a:r>
              <a:t>[1] Torres — Continuous Discovery Habits / anti-synthetic — контрарная к хайпу позиция: против синтетических интервью и one-click AI-деревьев. https://cieden.com/podcast/teresa-torres-on-continuous-discovery-in-b2b-and-ai</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Nielsen Norman Group провела контролируемое сравнение в рамках исследования юзабилити онбординга: реальные пользователи в среднем завершили три из семи шагов; ИИ-сгенерированная панель синтетических пользователей, тестировавшая тот же самый поток, ложно отчиталась о завершении всех семи из семи. Отдельно реальные пользователи описали функцию дискуссионного форума как надуманную и бесполезную, тогда как синтетические персоны выдали восторженные похвалы той же функции; один синтетический пользователь назвал непрактичную концепцию доставки дронами «изменяющей правила игры».</a:t>
            </a:r>
          </a:p>
          <a:p>
            <a:r>
              <a:t>Механизм, привязанный именно к фазе Discovery: большие языковые модели настроены соглашаться с рамкой заданного вопроса — концепция, описанная с любым энтузиазмом, возвращается провалидированной. Синтетический пользователь не способен произвести несогласие, потому что у него нет реального опыта, способного противоречить формулировке вопроса. Это тот же механизм склонности к согласию, о котором курс уже говорил применительно к моделям в целом, но здесь он материализуется как конкретный, измеренный провал именно discovery-фазы.</a:t>
            </a:r>
          </a:p>
          <a:p>
            <a:r>
              <a:t>Соедините это со вторым правилом Mom Test — спрашивать о реальном прошлом — и получите накопительный сбой: не просто смещено в сторону «да», а смещено в сторону «да» о событии, которого никогда не было. Урок: синтетическая панель, которая соглашается с вашей концепцией, — не свидетельство, что концепция хороша, это свидетельство, что панель не способна не согласиться. Критерий: любой выход, питающий решение «отгрузить или нет», обязан прослеживаться до реального прошлого поведения реального человека. Альтернатива: использовать синтетическую панель только в до-исследовательской роли, а затем провести реальное тестирование с пятью-восемью участниками — размер, который уже вскрывает большинство проблем юзабилити.</a:t>
            </a:r>
          </a:p>
          <a:p>
            <a:r>
              <a:t>Источники:</a:t>
            </a:r>
          </a:p>
          <a:p>
            <a:r>
              <a:t>[1] NN/g (Rosala &amp; Moran) — Synthetic Users — 3/7 реальных vs 7/7 синтетических на одной и той же задаче (drone-delivery). https://www.nngroup.com/articles/synthetic-users/ [VFY-day-of]</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Deloitte Australia в две тысячи двадцать пятом году сдала правительству Австралии отчёт стоимостью четыреста сорок тысяч австралийских долларов, содержащий ссылки на несуществующие академические статьи и сфабрикованную цитату, приписанную реальному судебному решению. Отчёт был подготовлен с использованием Azure OpenAI без прохождения человеческой верификации на уровне цитат. После того как независимый исследователь обнаружил несоответствия, Deloitte частично вернула деньги и публично признала использование генеративного ИИ. База для сравнения: это не единичный случай — база данных фиксирует более семисот двенадцати судебных решений по миру с ИИ-галлюцинированными цитатами, из которых около девяноста процентов пришлись именно на две тысячи двадцать пятый год.</a:t>
            </a:r>
          </a:p>
          <a:p>
            <a:r>
              <a:t>Механизм, привязанный к фазе Discovery: сбой находится ровно в шаге desk research — черновик вторичного исследования был принят как готовый, проверенный обзор, а не как неверифицированный черновик. Это прямое нарушение обязательной практики из предыдущего слайда: ссылки существуют именно для того, чтобы верификация была возможна, — пропуск этого шага превращает исследовательский помощник в машину фабрикации.</a:t>
            </a:r>
          </a:p>
          <a:p>
            <a:r>
              <a:t>Связь с мета-темой курса: этот провал структурно идентичен целому классу сбоев, к которому мы вернёмся в разделе шесть — фабрикация правдоподобной точности, принятая за проверенный факт. Урок: вывод модели в discovery-фазе — это неверифицированный черновик, а не источник фактов; каждая цитата требует независимой проверки, прежде чем стать основанием решения. Критерий: если задача — предоставить итоговый документ внешнему заказчику, стопроцентная проверка каждой ссылки обязательна, а не выборочная. Альтернатива: традиционное библиотечное исследование через проверенные базы данных с ручной проверкой каждой цитаты.</a:t>
            </a:r>
          </a:p>
          <a:p>
            <a:r>
              <a:t>Источники:</a:t>
            </a:r>
          </a:p>
          <a:p>
            <a:r>
              <a:t>[1] Fortune (7 окт. 2025) — Deloitte Australia A$440k — сфабрикованные цитаты и несуществующие ссылки в отчёте правительству. https://fortune.com/2025/10/07/deloitte-ai-australia-government-report-hallucinations-technology-290000-refund</a:t>
            </a:r>
          </a:p>
          <a:p>
            <a:r>
              <a:t>[2] Damien Charlotin — AI Hallucination Cases Database — ~712 задокументированных судебных дел с ИИ-галлюцинациями по миру. https://www.damiencharlotin.com/hallucinations/ [VFY-day-of]</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IBM Watson for Oncology разрабатывался с две тысячи двенадцатого года совместно с онкоцентром Memorial Sloan Kettering. Партнёрство с MD Anderson Cancer Center было закрыто в две тысячи шестнадцатом году после трат шестьдесят два миллиона долларов — без единого пролеченного пациента. Внутренние документы IBM, слитые в прессу в две тысячи восемнадцатом, показали, что система выдавала небезопасные и некорректные рекомендации — например, назначала препарат гипотетическому пациенту с активным кровотечением, хотя у препарата есть прямое предупреждение против такого применения. В две тысячи двадцать втором IBM продала это подразделение примерно за миллиард долларов.</a:t>
            </a:r>
          </a:p>
          <a:p>
            <a:r>
              <a:t>Механизм, привязанный именно к фазе Discovery: провал сидит ровно в шаге выбора источника данных — самой сути дискавери как сбора доказательной базы. Систему обучали не на реальных данных пациентов и не на валидированных клинических руководствах, а на небольшом числе синтетических, гипотетических кейсов, размеченных горсткой онкологов. Продукт унаследовал персональные предпочтения нескольких врачей вместо репрезентативной клинической базы. Это тот же класс, что синтетические пользователи в предыдущем провале: синтетический источник, не привязанный к реальным исходам, был принят как достаточное основание — но здесь ставки не неудачная фича, а безопасность пациента.</a:t>
            </a:r>
          </a:p>
          <a:p>
            <a:r>
              <a:t>Урок: discovery-фаза ИИ-продукта в high-stakes домене обязана верифицировать репрезентативность обучающих данных до демонстрации возможностей клиентам; маркетинговая демонстрация — это не валидация. Критерий: если весь доступный датасет — это small-N синтетические кейсы от узкой группы экспертов, а не реальные исходы на больших выборках, — это сигнал, что для продукта рано, нужна отдельная фаза сбора и валидации данных. Альтернатива: evidence-based системы на структурированных клинических guidelines с прозрачной трассируемостью источника, либо supervised-пилот с человеком-в-контуре. Три провала раздела — один класс: синтетический источник, принятый за валидированную основу решения, меняется только цена ошибки.</a:t>
            </a:r>
          </a:p>
          <a:p>
            <a:r>
              <a:t>Источники:</a:t>
            </a:r>
          </a:p>
          <a:p>
            <a:r>
              <a:t>[1] STAT News — утечка внутренних документов IBM Watson — «небезопасные и некорректные» рекомендации по онкологии (25 июля 2018). https://www.statnews.com/2018/07/25/ibm-watson-recommended-unsafe-incorrect-treatments/</a:t>
            </a:r>
          </a:p>
          <a:p>
            <a:r>
              <a:t>[2] IEEE Spectrum — как Watson переобещал и недодал — обучен на гипотетических кейсах горстки онкологов MSK, не на реальных исходах. https://spectrum.ieee.org/how-ibm-watson-overpromised-and-underdelivered-on-ai-health-care</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Раздел два — вторая стрелка петли: как гипотеза из предыдущего раздела превращается в конкретный артефакт, который можно показать человеку. Аудитория курса технически сильна, но, как правило, не проходила формального дизайн-образования — поэтому раздел, как и предыдущий, начинается с классики, прежде чем переходить к ИИ-инструментам генерации интерфейсов.</a:t>
            </a:r>
          </a:p>
          <a:p>
            <a:r>
              <a:t>Сегодня — единый несущий каркас дизайн-процесса, эвристики экспертной оценки, что ИИ даёт для генерации интерфейсов в две тысячи двадцать пятом-двадцать шестом, где он ломается на недетерминированном выводе, и два провала, которые представляют два разных, взаимодополняющих класса дизайн-провала.</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Дизайн простыми словами — это фаза, где идея впервые обретает форму, которую можно потрогать. Не готовый продукт, а дешёвый черновик: набросок, макет, кликабельный прототип. Смысл черновика в том, что его не жалко: вы делаете его именно для того, чтобы показать людям и, возможно, сразу выбросить.</a:t>
            </a:r>
          </a:p>
          <a:p>
            <a:r>
              <a:t>Почему это отдельная дисциплина, а не «просто нарисовать красиво»? Потому что дизайн отвечает на два разных вопроса по очереди. Первый: ту ли проблему мы вообще решаем? Второй: правильно ли мы её решаем? Классическая рамка — «два ромба»: на первом ромбе вы сначала расширяете взгляд на проблему, потом сужаете до одной чёткой формулировки; на втором так же поступаете с решением. Самая частая и дорогая ошибка новичка — перепрыгнуть первый ромб: сразу влюбиться в решение, не убедившись, что проблема настоящая.</a:t>
            </a:r>
          </a:p>
          <a:p>
            <a:r>
              <a:t>Ещё одна мысль этой фазы, к которой мы вернёмся на реальном провале: безопасность продукта закладывается здесь, в дизайн-брифе, а не прикручивается патчем после того, как что-то пошло не так. ИИ умеет генерировать десятки вариантов интерфейса за минуты — но выбор и проверка на реальном человеке остаются за вами.</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Design Thinking — пятистадийная человекоцентричная методология, канонически преподаваемая Stanford d.school. Double Diamond — рамка Design Council Великобритании, визуальная модель двух циклов дивергенции и конвергенции: первый алмаз — Discover, широкое исследование, затем Define, синтез в конкретное техническое задание — про правильную проблему; второй алмаз — Develop, генерация множества направлений, затем Deliver, тестирование и отгрузка одного — про правильное решение.</a:t>
            </a:r>
          </a:p>
          <a:p>
            <a:r>
              <a:t>Для целей этой лекции мы используем Double Diamond как несущий каркас раздела, потому что он структурно эквивалентен Design Thinking, но явнее показывает ключевую мысль: два отдельных цикла дивергенции-конвергенции, а не один. Частая ошибка инженера, впервые сталкивающегося с дизайн-процессом: инстинктивно конвергировать на решении, ещё не проверив саму проблему — перепрыгнуть первый алмаз и сразу нырнуть во второй. Это тот же анти-паттерн, что «сразу написать код», минуя вопрос, решаем ли мы правильную задачу.</a:t>
            </a:r>
          </a:p>
          <a:p>
            <a:r>
              <a:t>Стадии на практике нелинейны — команды постоянно возвращаются от Deliver к Define, и это не признак провала процесса, а его нормальная работа. Держите эту рамку в голове: когда мы дойдём до первого провала раздела, вы увидите, что он случился ровно в точке первого алмаза — в решении, что мы вообще строим и для кого, — а не в технической реализации.</a:t>
            </a:r>
          </a:p>
          <a:p>
            <a:r>
              <a:t>Источники:</a:t>
            </a:r>
          </a:p>
          <a:p>
            <a:r>
              <a:t>[1] UK Design Council — The Double Diamond — Discover→Define→Develop→Deliver: два цикла дивергенции/конвергенции. https://www.designcouncil.org.uk/resources/the-double-diamond/</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Эвристики юзабилити Якоба Нильсена — правила для экспертной оценки: не замена тестирования с реальными пользователями, а быстрый и дешёвый способ отловить проблемы до траты денег на полноценное исследование. Для инженера полезна метафора «линтер для UX» — статический анализ до раннего запуска. Топ-пять из десяти канонических: видимость статуса системы, соответствие языку пользователя, а не жаргону разработчика, контроль и свобода — undo и понятный аварийный выход, консистентность и стандарты, предотвращение ошибок — лучше не дать пользователю ошибиться, чем красиво сообщить об ошибке постфактум.</a:t>
            </a:r>
          </a:p>
          <a:p>
            <a:r>
              <a:t>Дизайн-система — живой, управляемый набор принципов, токенов, компонентов и паттернов, поддерживающий согласованность продукта в масштабе. Ключевая мысль, которая станет несущей для ИИ-раздела: дизайн-система — это guardrail, механизм, удерживающий генеративную свободу в рамках уже провалидированного бренда, поэтому она — естественная упряжь для ИИ-генерации интерфейсов.</a:t>
            </a:r>
          </a:p>
          <a:p>
            <a:r>
              <a:t>Собственный жёсткий урок Нильсена, повторяемый в индустрии как мантра: «вы не пользователь» — любой, кто близок к проекту, систематически неверно предсказывает, что запутает реального человека. Тест с одним пользователем в среднем вскрывает около тридцати одного процента проблем юзабилити; классические пять пользователей находят около восьмидесяти пяти процентов. Это необходимый противовес для следующего слайда: сколько бы ИИ ни ускорил генерацию прототипа, поставить артефакт перед реальным человеком и наблюдать его реальную растерянность — не имеет ИИ-заменителя.</a:t>
            </a:r>
          </a:p>
          <a:p>
            <a:r>
              <a:t>Источники:</a:t>
            </a:r>
          </a:p>
          <a:p>
            <a:r>
              <a:t>[1] Nielsen — 10 usability heuristics — полный список 10 эвристик с примерами (1994, ред. 2020). https://blog.uxtweak.com/usability-heuristics/</a:t>
            </a:r>
          </a:p>
          <a:p>
            <a:r>
              <a:t>[2] Nielsen — «you are not the user» — предостережение об атипичности инсайдеров-дизайнеров. https://medium.com/hippo-digital/you-are-not-the-user-but-what-about-when-you-are-35abe4006b8</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Реалистичный командный воркфлоу две тысячи двадцать пятого-двадцать шестого годов: продакт или дизайнер описывает экран в промпте инструменту v0 by Vercel или Figma Make, генератор подтягивает уже существующие компоненты команды, а не общие шаблоны — семьдесят два процента дизайнеров используют генеративный ИИ, девяносто один процент отмечают улучшение именно качества. Генератор выдаёт два-четыре расходящихся направления за минуты — то, что раньше занимало день ручного вайрфрейминга. Человек-дизайнер конвергирует — выбирает направление, отбрасывает остальные, правит детали, которые модель поняла неверно. Выбранное направление проходит реальный юзабилити-тест с настоящими пользователями.</a:t>
            </a:r>
          </a:p>
          <a:p>
            <a:r>
              <a:t>Другие именованные инструменты: Google Stitch — генератор мокапов из текста; Uizard — более лёгкий уровень; bolt.new — промпт в полноценное приложение в браузере, канонический инструмент вайбкодинга.</a:t>
            </a:r>
          </a:p>
          <a:p>
            <a:r>
              <a:t>Что здесь по-настоящему хорошо, без хайпа: скорость первого черновика, генерация с учётом дизайн-системы — меньше переделки, чем наивный текст-в-UI, и демократизация приличного первого прохода — не-дизайнеры теперь могут произвести нечто презентабельное для начала разговора. Рабочая практика, ясная формулировка всего раздела: ИИ для дивергенции, человек для конвергенции. Со-творческие инструменты уместно использовать для максимизации объёма и разнообразия ранней разведки. Конвергенция — определение, какую проблему стоит решать, и доработка одного направления до полного соответствия контексту, — прямо названа человеческой сильной стороной, которую никакой промпт не заменит. Дизайн-система — естественный guardrail, удерживающий ИИ-дивергенцию от дрейфа с бренда.</a:t>
            </a:r>
          </a:p>
          <a:p>
            <a:r>
              <a:t>Источники:</a:t>
            </a:r>
          </a:p>
          <a:p>
            <a:r>
              <a:t>[1] Figma — AI-инструменты дизайна 2026 — Figma Make, v0, Stitch, bolt.new — 2-4 направления за минуты. https://www.figma.com/resource-library/ai-design-tools/ [VFY-day-of]</a:t>
            </a:r>
          </a:p>
          <a:p>
            <a:r>
              <a:t>[2] Google Stitch (ex-Galileo AI) — приобретение Google, май 2025 — быстро меняющийся ландшафт инструментов. https://www.banani.co/blog/galileo-ai-features-and-alternatives [VFY-day-of]</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«ИИ-мусор» и гомогенизация — ясная критика двух последних лет. Nielsen Norman Group формулирует прямо: UI всё ещё важен, но станет менее значимым дифференциатором, потому что любой сможет сделать прилично выглядящий интерфейс. Механизм гомогенизации: генераторы обучены на одном корпусе существующих UI-паттернов, поэтому множество независимых команд, промптящих «современный дашборд», сходятся на визуально похожем результате.</a:t>
            </a:r>
          </a:p>
          <a:p>
            <a:r>
              <a:t>Пробелы доступности — с жёстким числом. Академическое исследование прогнало двадцать одну тысячу восемьсот восемьдесят оценок доступности по критериям WCAG на интерфейсах, сгенерированных ИИ-инструментами, и обнаружило лишь двадцать девять целых соответствия. Худшие показатели — именно базовые критерии: контрастность цвета и использование цвета. Важная находка: дизайн платформы влиял на итоговую доступность сильнее, чем пользовательские промпты — просьба «сделай это доступным» не гарантированно это исправляла. Это прямо опровергает наивную защиту «просто нужно правильно попросить ИИ».</a:t>
            </a:r>
          </a:p>
          <a:p>
            <a:r>
              <a:t>Ключевое дополнение для этой аудитории — дизайн для недетерминированного вывода. Классический UX предполагает детерминированную систему: одинаковый ввод даёт одинаковый вывод. ИИ-продукты ломают это допущение — один и тот же ввод может дать разный вывод на разных запусках, что требует новых паттернов: изящный отказ, со-творчество, ответственная автономия. Что остаётся из классики: дизайн-мышление «сначала сопереживание», эвристики Нильсена как быстрый экспертный гейт-ревью, реальное юзабилити-тестирование — противоядие от галлюцинированных «лучших практик», потому что тестирование измеряет реальную человеческую растерянность. Когда здесь не AI-first: продукт, нацеленный на эмоциональную привязанность уязвимых пользователей или автоматизирующий решение о людях, требует явного safety-ревью в MVP, а не полировки постфактум.</a:t>
            </a:r>
          </a:p>
          <a:p>
            <a:r>
              <a:t>Источники:</a:t>
            </a:r>
          </a:p>
          <a:p>
            <a:r>
              <a:t>[1] ACM Web4All 2026 — Generated Inaccessible — 21 880 оценок WCAG на ИИ-интерфейсах, 29,0% соответствие (контраст 26,8%, цвет 19,2%). https://dl.acm.org/doi/10.1145/3800424.3800430 [VFY-day-of]</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Четырнадцатилетний пользователь из Флориды покончил с собой в феврале две тысячи двадцать четвёртого года после месяцев эмоционально интенсивного общения с ИИ-персонажем на платформе Character.AI. Его мать подала иск о неправомерной смерти. В январе две тысячи двадцать шестого Google и Character.AI договорились об урегулировании этого и ещё четырёх исков. База для сравнения: защитные функции — лимит времени для несовершеннолетних, запрет открытого ролевого чата до восемнадцати лет, верификация возраста — были добавлены только после судебных исков, то есть спустя почти два года после запуска продукта.</a:t>
            </a:r>
          </a:p>
          <a:p>
            <a:r>
              <a:t>Почему это фаза Design, а не эксплуатации. Легко ошибочно классифицировать это как операционный провал. Но корень лежит раньше — в самом дизайн-решении о том, какой опыт проектировать: продукт, оптимизирующий эмоциональную привязанность несовершеннолетних, — это выбор первого алмаза Double Diamond, сделанный без вопроса «кто может пострадать от этого потока взаимодействия». Отсутствие детекции кризиса — не баг реализации, а отсутствующее требование в дизайн-брифе.</a:t>
            </a:r>
          </a:p>
          <a:p>
            <a:r>
              <a:t>Урок: для продуктов, нацеленных на эмоциональную привязанность уязвимых пользователей, guardrails безопасности обязаны быть частью MVP-дизайна с первого дня, а не постфактум-патчем после трагедии. Разница между «встроено в дизайн» и «добавлено после иска» — это разница между продуктовым решением и юридическим кризисным реагированием. Критерий: если продукт монетизирует или измеряет успех через длительность эмоционально окрашенного взаимодействия с уязвимой демографической группой — это структурный design-flaw. Альтернатива: платформы peer-support с модерацией живыми людьми или клинически валидированные чат-боты с обязательной эскалацией к живому кризисному консультанту.</a:t>
            </a:r>
          </a:p>
          <a:p>
            <a:r>
              <a:t>Источники:</a:t>
            </a:r>
          </a:p>
          <a:p>
            <a:r>
              <a:t>[1] Washington Post (24 окт. 2024) — гибель 14-летнего пользователя после месяцев общения с ИИ-персонажем. https://www.washingtonpost.com/nation/2024/10/24/character-ai-lawsuit-suicide/</a:t>
            </a:r>
          </a:p>
          <a:p>
            <a:r>
              <a:t>[2] CBS News (янв. 2026) — урегулирование — Character.AI/Google — защита добавлена ретрофитом после трагедии. https://www.cbsnews.com/news/google-settle-lawsuit-florida-teens-suicide-character-ai-chatbot/</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iTutorGroup запрограммировал систему автоматического отбора резюме на автоматическое отклонение женщин от пятидесяти пяти лет и мужчин от шестидесяти — прямое нарушение федерального закона США о недопущении возрастной дискриминации. Триггер обнаружения: одна из отклонённых заявительниц подала то же резюме повторно, указав чуть более молодую дату рождения, — и немедленно получила приглашение на собеседование. Девятого августа две тысячи двадцать третьего Комиссия США по соблюдению равных возможностей заключила первое в истории урегулирование по делу об ИИ-дискриминации: триста шестьдесят пять тысяч долларов компенсации.</a:t>
            </a:r>
          </a:p>
          <a:p>
            <a:r>
              <a:t>Это принципиально отличается от кейса Character.AI — важный контраст в рамках одного раздела: там дизайн не заложил защиту, здесь дизайн заложил конкретное вредное решающее правило. Это не «модель научилась предвзятости из данных» — это жёстко закодированное дискриминационное правило, внедрённое без bias-аудита на этапе дизайна требований к системе отбора.</a:t>
            </a:r>
          </a:p>
          <a:p>
            <a:r>
              <a:t>Почему триггер обнаружения так поучителен: дискриминация вскрылась не аудитом, не тестом — а случайностью. Это значит, что жёсткий возрастной фильтр работал в проде неизвестно сколько, отсекая реальных людей, и был бы невидим, если бы не эта случайная переподача. Bias, зашитый в решающее правило, не проявляется в обычных метриках — скорость отбора выглядит прекрасно, — он проявляется только при целенаправленном аудите на несоразмерное воздействие. Урок: автоматизация решения, затрагивающего людей в юридически защищённых категориях, — область, где юридические ограничения обязаны быть частью технического задания с самого начала. Критерий: любой скрининг, затрагивающий защищённые категории, требует обязательного bias-аудита до продакшна. Альтернатива: прозрачные, аудируемые правила без демографических прокси-переменных плюс периодический анализ несоразмерного воздействия.</a:t>
            </a:r>
          </a:p>
          <a:p>
            <a:r>
              <a:t>Источники:</a:t>
            </a:r>
          </a:p>
          <a:p>
            <a:r>
              <a:t>[1] EEOC (9 авг. 2023) — iTutorGroup — первое урегулирование по ИИ-дискриминации: $365 000, автоотказ по возрасту. https://www.eeoc.gov/newsroom/itutorgroup-pay-365000-settle-eeoc-discriminatory-hiring-suit</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Раздел три — третья стрелка петли, и именно здесь ИИ меняет больше всего: стоимость самого написания кода. Но раздел начинается не с этого факта, а с классической дисциплины релиза, потому что именно она определяет, что вообще значит «безопасно выпустить» что-либо — вопрос, который не исчезает от того, что писать код стало дешевле.</a:t>
            </a:r>
          </a:p>
          <a:p>
            <a:r>
              <a:t>Сегодня — механика релиза, которую вы, скорее всего, уже знаете из инженерной практики, но встроенная в продуктовый, а не только технический контур решений. Дальше — что ИИ обнулило и куда сместилось узкое место, и два провала: один — гигант, пропустивший канареечную раскатку, другой — гигант, правильно остановивший провалившийся пилот.</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Сборка и запуск — та фаза, где ИИ изменил больше всего, поэтому важно сразу правильно расставить акценты. Написать код теперь почти бесплатно: то, что раньше занимало недели, агент делает за минуты. Но именно поэтому центр тяжести сместился. Раз код дешёвый, дорогой стала не сборка, а два человеческих конца: точно сформулировать, что мы хотим, и качественно проверить, что получилось.</a:t>
            </a:r>
          </a:p>
          <a:p>
            <a:r>
              <a:t>Запуск — это не «нажать кнопку и включить всем». Правильная ментальная модель — кран, а не рубильник. Вы подаёте новую функцию понемногу: сначала одному проценту пользователей, потом десяти, и только убедившись, что всё в порядке, — всем. Эта механика — переключатели функций, канареечная и поэтапная раскатка, откат — знакома вам из инженерной практики. Новое здесь в том, что теми же рычагами теперь управляет продуктовое решение: стоит ли эту функцию вообще оставлять в продукте.</a:t>
            </a:r>
          </a:p>
          <a:p>
            <a:r>
              <a:t>И вторая половина дисциплины запуска — умение вовремя остановиться. Хороший продуктовый процесс имеет заранее записанные пороги провала и не боится «убить» инициативу, которая годами не выходит на надёжность. Дальше мы увидим оба провала: гиганта, который выкатил на всех сразу без раскатки, и компанию, которая, наоборот, показала образцовую дисциплину остановки.</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Feature flag, canary, rollback вам знакомы из повседневной инженерной практики — базовые определения вы, скорее всего, прочтёте по диагонали. Держите при этом одно продуктовое отличие, ради которого раздел вообще существует: здесь та же механика встроена в продуктовый go/kill-гейт, где решение убить проект — это бизнес-решение, а не только технический флаг «включить-выключить».</a:t>
            </a:r>
          </a:p>
          <a:p>
            <a:r>
              <a:t>Единая логическая нить: каждая практика обменивает немного скорости запуска на ограниченный радиус поражения. Feature flag отделяет развёртывание от релиза. Canary — новая версия выкатывается на небольшую долю трафика первой. Staged rollout — обобщение canary: один, десять, двадцать пять, пятьдесят, сто процентов, с проверкой go/no-go на каждом шаге. Rollback — способность быстро вернуться к последнему рабочему состоянию.</a:t>
            </a:r>
          </a:p>
          <a:p>
            <a:r>
              <a:t>MVP Эрика Райса определяется обучением, а не отгрузкой — быстрый способ пройти цикл построить-измерить-научиться. Stage-Gate Роберта Купера — пять стадий, каждой предшествует гейт go/kill/hold/recycle по заранее согласованным критериям; осознанная цель — принудить к дисциплинированным решениям об остановке рано, до капиталоёмких трат — «воронка, а не туннель». Go/no-go гейт готовности к запуску требует конкретно: фазы раскатки с критериями перехода, пороги провала, записанные числом заранее, план отката с назначенным человеком. Здесь снова всплывает наш сквозной приём — фальсифицируемая гипотеза, применённая к решению о релизе. В ИИ-эру добавляется новая строка чек-листа: прошло ли это eval-гейт против reference dataset — ИИ-эквивалент набора тестов.</a:t>
            </a:r>
          </a:p>
          <a:p>
            <a:r>
              <a:t>Источники:</a:t>
            </a:r>
          </a:p>
          <a:p>
            <a:r>
              <a:t>[1] Ries — Lean Startup / MVP — MVP как обучающий инструмент, не урезанная отгрузка; риск vanity-метрик. https://effectivesoftwaredesign.com/2021/03/23/lean-startup-principles-vanity-metrics-and-actionable-metrics/</a:t>
            </a:r>
          </a:p>
          <a:p>
            <a:r>
              <a:t>[2] Stage-Gate — история метода — go/kill-гейт: «воронка, не туннель», пороги провала заданы заранее. https://www.stage-gate.com/about/our-story-2/</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Собственное отчётное измерение Anthropic формулирует сдвиг как сжатие длительности стадий, а не исчезновение границ между ними: реализация переходит от недель к минутам агентного исполнения. Центральное заявление о риске: по мере того как агенты производят больше кода, объём ревью не масштабируется с той же скоростью. Собственные внутренние данные делают это конкретным: объём кода на инженера вырос примерно на двести процентов год к году, но лишь примерно шестнадцать процентов pull request'ов получили содержательные комментарии человеческого ревью до слияния.</a:t>
            </a:r>
          </a:p>
          <a:p>
            <a:r>
              <a:t>Это ключевой переворот раздела: дефицитный ресурс никогда не был «кто может написать код» — в эпоху ИИ он однозначно становится «кто может специфицировать достаточно точно» и «кто может проревьюировать достаточно быстро, чтобы не стать узким местом». Заметьте прямую симметрию с keystone: сборка обнулилась, поэтому дефицит сместился к двум человеческим концам стрелки. Bain формулирует то же наблюдение с бизнес-стороны: границы фаз стираются в более непрерывный поток, но явно не заявляет о полной автономии — агенты работают лучше всего с человеческим ревью в критических точках.</a:t>
            </a:r>
          </a:p>
          <a:p>
            <a:r>
              <a:t>Что оставить из классики: контроль версий, PR-ревью — теперь пункт назначения узкого места, а не реликт; feature flags как базовый механизм отгрузить неактивным; поэтапная раскатка — напрямую переиспользуется agency-ladder дальше; kill-switch — небезоговорочно необходим; человеко-владеемая спецификация — артефакт, который агент не может сгенерировать сам себе без угадывания намерения.</a:t>
            </a:r>
          </a:p>
          <a:p>
            <a:r>
              <a:t>Источники:</a:t>
            </a:r>
          </a:p>
          <a:p>
            <a:r>
              <a:t>[1] Anthropic — 2026 Agentic Coding Trends Report — +200% кода на инженера год к году; лишь ~16% PR получают содержательное человеческое ревью до слияния. https://resources.anthropic.com/2026-agentic-coding-trends-report [VFY-day-of]</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Заметный переформат понятия «запуск» для ИИ-эры принадлежит Айшварье Реганти и Кирити Бадаму: framework CC/CD — непрерывная калибровка и непрерывная разработка, противопоставляемый привычному CI/CD, потому что CI/CD предполагает детерминированный код, который либо проходит тесты, либо нет, а ИИ-системы этим свойством не обладают.</a:t>
            </a:r>
          </a:p>
          <a:p>
            <a:r>
              <a:t>Механика: фаза до запуска — версионировать релизы по уровню агентности, а не по набору функций. Пример: бот поддержки выходит как версия один — маршрутизирует тикеты, высокий контроль, низкая агентность, версия два — предлагает решения на утверждение человека, версия три — автоматически разрешает с fallback на человека. Построить reference dataset и спроектировать evals — прикладные метрики против эталонного набора перед развёртыванием. Фаза после запуска — прогонять оценки на живых данных, анализировать паттерны ошибок.</a:t>
            </a:r>
          </a:p>
          <a:p>
            <a:r>
              <a:t>Именованный провал, дословно: если вы не тестировали, как система ведёт себя при высоком контроле, вы не готовы давать ей высокую агентность. Бот, сразу прыгающий к полной автономии, рискует цепочкой сбоев, которую трудно распутать постфактум. Реальный пример: agency-ladder GitHub Copilot и Cursor — от завершений к блокам кода к целым pull request'ам, каждая ступень разблокируется только после того, как предыдущая доказала надёжность на практике. Крупные консалтинги независимо описывают тот же сдвиг, но каждый честно называет свои режимы сбоя: смещение узкого места, распространение пилотов, пробелы измерения. Урок для launch-фазы: консенсус — не «отгружай быстрее», а «перестрой процесс вокруг агента, сохранив человеческое ревью в критических точках».</a:t>
            </a:r>
          </a:p>
          <a:p>
            <a:r>
              <a:t>Источники:</a:t>
            </a:r>
          </a:p>
          <a:p>
            <a:r>
              <a:t>[1] Reganti &amp; Badam — CC/CD framework — Continuous Calibration/Development; лестница агентности (Copilot→Cursor); «не готовы давать высокую агентность». https://www.lennysnewsletter.com/p/why-your-ai-product-needs-a-different</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Ревью не масштабируется вместе с генерацией — это несущее ограничение всего раздела: собственная измеренная находка Anthropic про её же продукт, а не критика извне. Она напрямую означает, что «отгружаем быстро, потому что сборка теперь бесплатна» — ловушка, если объём ревью не масштабируется параллельно.</a:t>
            </a:r>
          </a:p>
          <a:p>
            <a:r>
              <a:t>Стоит проговорить, почему именно ревью стало узким местом, потому что это прямое следствие keystone-асимметрии, а не случайность. Генерация и верификация — принципиально разной стоимости операции: сгенерировать правдоподобный код модель может за секунды, но проверить, что он корректен, безопасен и делает то, что нужно, по-прежнему требует человеческого понимания в реальном времени, которое не ускорилось. Удешевив одну сторону на порядки и оставив другую прежней, ИИ не убрал работу — он переместил всю её массу на непонизившуюся сторону. Отсюда контринтуитивное следствие: удвоив скорость генерации, вы не удваиваете пропускную способность продукта — вы удваиваете очередь на ревью.</a:t>
            </a:r>
          </a:p>
          <a:p>
            <a:r>
              <a:t>Проблема семидесяти процентов: ИИ-агенты доводят команду примерно на семьдесят процентов пути до продакшн-качественного результата; оставшиеся тридцать — там, где senior-инженеры добавляют ценность, которую ИИ автоматически не поставляет. Senior активно переосмысливают ИИ-вывод; junior принимают его охотнее, производя «карточный домик кода». Оба провала ниже — вариации именно этого ограничения на уровне решения о запуске. Что остаётся из классики: контроль версий и PR-ревью, feature flags, поэтапная раскатка как прообраз agency-ladder, kill-switch, человеко-владеемая спецификация. Когда здесь не AI-first: необратимое или капиталоёмкое решение не должно приниматься моделью на низшей ступени agency-ladder без детерминированного бизнес-правила поверх.</a:t>
            </a:r>
          </a:p>
          <a:p>
            <a:r>
              <a:t>Источники:</a:t>
            </a:r>
          </a:p>
          <a:p>
            <a:r>
              <a:t>[1] Osmani — The 70% Problem — AI доводит команды до ~70% пути; «карточный домик кода» — новичок не может закрыть оставшиеся 30%. https://addyo.substack.com/p/the-70-problem-hard-truths-about-ai-assisted-coding</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 мае две тысячи двадцать четвёртого года Google выкатил функцию AI Overviews на сто процентов пользователей поиска в США одним шагом — минуя обычную поэтапную раскатку и без eval-гейта. В течение нескольких дней функция начала выдавать вирусные, буквально опасные рекомендации: есть камни — источник, сатирическая статья The Onion — и класть клей на пиццу для лучшего сцепления сыра — источник, одиннадцатилетний шутливый комментарий на Reddit. Функцию нельзя было отключить пользователю. Реакция Google была реактивной — все исправления после полного развёртывания, а не до него.</a:t>
            </a:r>
          </a:p>
          <a:p>
            <a:r>
              <a:t>Механизм, привязанный к фазе Build/Launch: это ровно тот случай отсутствующей поэтапной раскатки, о котором предупреждает предыдущий слайд — полнотрафиковый запуск генеративной функции без канареечной фазы, которая поймала бы паттерн сбоя качества источников до того, как их увидели все пользователи. Обратите внимание на природу конкретных провалов: модель не сломалась — она синтезировала статистически правдоподобный ответ из корпуса, не отличив сатиру от факта, и выдала результат с полной уверенностью авторитетного поискового ответа. Это режим «уверенно неправильно», который канареечная фаза поймала бы за дни на одном проценте трафика.</a:t>
            </a:r>
          </a:p>
          <a:p>
            <a:r>
              <a:t>Урок: генеративная функция, синтезирующая контент из открытого веба, нуждается в той же дисциплине поэтапного развёртывания и eval-гейта, что и любая другая ИИ-функция — «поиск — наш зрелый основной продукт» не повод пропустить раскатку, это повышает цену её пропуска. Критерий: любая генеративная функция, чей режим сбоя — «уверенно неправильно, источник — контент низкого качества», нуждается в предзапусковом гейтинге качества источников и постзапусковой поэтапной экспозиции. Альтернатива: канареечный запуск на небольшой процент с автоматическим мониторингом известных классов риска, постоянный пользовательский переключатель отключения.</a:t>
            </a:r>
          </a:p>
          <a:p>
            <a:r>
              <a:t>Источники:</a:t>
            </a:r>
          </a:p>
          <a:p>
            <a:r>
              <a:t>[1] Forbes (31 мая 2024) — Google AI Overviews — полная раскатка на 100% поиска США одним шагом, без canary-этапов. https://www.forbes.com/sites/roberthart/2024/05/31/google-restricts-ai-search-tool-after-nonsensical-answers-told-people-to-eat-rocks-and-put-glue-on-pizza/</a:t>
            </a:r>
          </a:p>
          <a:p>
            <a:r>
              <a:t>[2] AndroidPolice — «клей на пиццу» / «есть камни» — вирусные инциденты сразу на всю аудиторию, реактивные пост-релизные фиксы. https://www.androidpolice.com/google-pizza-glue-loop-ai-overviews/</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McDonald's тестировал автоматизированный приём заказов совместно с IBM в течение примерно двух с половиной-трёх лет, масштабировав до около ста ресторанов — примерно ноль целых семь десятых процента от общего числа ресторанов McDonald's в США. Вирусные ролики с провалами накапливались месяцами. Семнадцатого июня две тысячи двадцать четвёртого McDonald's объявил о прекращении партнёрства. Компания не отказалась от цели — голосовая автоматизация остаётся частью будущего, — она убила именно этот конкретный вендорский подход.</a:t>
            </a:r>
          </a:p>
          <a:p>
            <a:r>
              <a:t>Это решение об остановке масштабирования, а не история о рантайм-провале — необычно, это хороший пример правильно работающего процесса. Пилот длиной два с половиной-три года, ограниченный ноль целых семь десятых процента локаций, всё ещё регулярно производящий вирусные провалы, — сам по себе сигнал: это не «нужно больше данных», это «текущий подход имеет структурный потолок». Без знаменателя «сто ресторанов» звучит как масштабный пилот; с знаменателем — это крошечная доля сети, которую держали два с половиной года и всё равно не довели до продакшн-надёжности.</a:t>
            </a:r>
          </a:p>
          <a:p>
            <a:r>
              <a:t>Сравните с предыдущим провалом: Google сделал ровно обратную ошибку — сразу сто процентов без пилотной фазы. Два кейса зеркальные: один правильно не пересёк гейт после длинного пилота, другой пропустил пилот целиком. Урок: долгий пилот, продолжающий публично проваливаться при ограниченном масштабе, — это сигнал убить, а не «доработать ещё немного». Критерий: если частота ошибок не сходится к продакшн-уровню после многолетнего пилота, это структурный лимит текущего подхода. Альтернатива: гибрид человек-в-контуре — ИИ предлагает распознанный заказ, кассир подтверждает перед отправкой на кухню.</a:t>
            </a:r>
          </a:p>
          <a:p>
            <a:r>
              <a:t>Источники:</a:t>
            </a:r>
          </a:p>
          <a:p>
            <a:r>
              <a:t>[1] CNBC (17 июня 2024) — McDonald's × IBM — решение остановить пилот после 2,5-3 лет на 0,7% сети (~100 из ~13 786 ресторанов). https://www.cnbc.com/2024/06/17/mcdonalds-to-end-ibm-ai-drive-thru-test.html</a:t>
            </a:r>
          </a:p>
          <a:p>
            <a:r>
              <a:t>[2] Nation's Restaurant News — детали закрытия пилота — деактивация к 26 июля 2024; цель осталась, вендорский подход убит. https://www.nrn.com/quick-service/mcdonald-s-is-ending-its-ai-drive-thru-test-with-ibm</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Раздел четыре — четвёртая стрелка петли, и именно та, у которой ИИ снизил доверие, а не стоимость. Это протяжённый и, для инженерной аудитории, весомый раздел: измерение — то место, где «выглядит хорошо не равно есть хорошо» бьёт по продукту сильнее всего. Вы умеете писать код и, возможно, знаете A/B из веб-практики, но формальную дисциплину продуктового эксперимента видите впервые.</a:t>
            </a:r>
          </a:p>
          <a:p>
            <a:r>
              <a:t>Сегодня — что такое контролируемый эксперимент с нуля, восемь классических ловушек, что ИИ даёт как эквивалент юнит-тестов для агента, где вероятностный вывод ломает привычную логику pass/fail, и два провала — один про метрику без ограждения, другой про бенчмарк не в том формате.</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Измерение простыми словами — это фаза, где вы отвечаете на вопрос «сработало ли», причём отвечаете честно. И это та стрелка петли, где ИИ не удешевил работу, а наоборот — снизил доверие к цифрам, потому что теперь очень легко получить красивый результат, который ничего не значит.</a:t>
            </a:r>
          </a:p>
          <a:p>
            <a:r>
              <a:t>Главная ловушка звучит так: «мы выкатили новую функцию, и метрика выросла — значит, функция хорошая». Это неверный вывод. Метрика могла вырасти по десяти другим причинам: сезон, реклама, случайность. Чтобы отделить причину от совпадения, придумали контролируемый эксперимент. Идея простая: вы случайным образом делите пользователей на две группы. Одной показываете новое, другой — старое, всё остальное одинаково. Если между группами есть разница — она вызвана именно вашим изменением, а не чем-то ещё. Случайное деление — ключевой момент: именно оно делает группы сравнимыми.</a:t>
            </a:r>
          </a:p>
          <a:p>
            <a:r>
              <a:t>Второй важный элемент — договориться заранее, какую метрику мы считаем успехом и что для нас недопустимо. Иначе после эксперимента всегда найдётся цифра, которая «доказывает» то, что мы и так хотели увидеть. Дальше мы разберём типичные ловушки и увидим, как прокси-метрика без страховки почти два года скрывала реальный вред.</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Контролируемый онлайн-эксперимент — это применение логики рандомизированного исследования к живому продукту: пользователи случайно делятся на Control и Treatment, и для каждой группы измеряется метрика. Поскольку распределение случайно, статистически значимую разницу можно приписать самому изменению, а не заранее существовавшим различиям. Без рандомизации у вас есть корреляция; с рандомизацией — причинность. Именно поэтому канареечная раскатка не эквивалентна A/B: у неё нет удерживаемой контрольной группы, поэтому она отвечает «сломалось ли что-то», а не «вызвало ли это улучшение».</a:t>
            </a:r>
          </a:p>
          <a:p>
            <a:r>
              <a:t>Канонический процесс: сформулировать гипотезу с механизмом — гипотеза без механизма это догадка, не эксперимент — выбрать метрику, рандомизировать пользователей, прогнать до заранее определённого размера выборки, проверить качество данных, проанализировать, решить.</a:t>
            </a:r>
          </a:p>
          <a:p>
            <a:r>
              <a:t>OEC — метрика, которую эксперимент на самом деле пытается сдвинуть, — то, что организация согласилась считать успехом. Учебный пример Кохави: команда, оптимизирующая сайт поддержки, приняла метрикой «время на сайте». Когда их попросили указать направление, команда раскололась: больше времени — это хорошо, глубокая вовлечённость, или плохо, пользователь застрял? Команда единогласно приняла метрику, ни разу не договорившись, что она значит. Guardrail-метрики — то, что мониторят, но не оптимизируют: они ловят сопутствующий ущерб, которого OEC не видит. Это структурное исправление значимой классической ловушки — оптимизации одной прокси-метрики в изоляции, которую мы увидим в провале этого раздела.</a:t>
            </a:r>
          </a:p>
          <a:p>
            <a:r>
              <a:t>Источники:</a:t>
            </a:r>
          </a:p>
          <a:p>
            <a:r>
              <a:t>[1] Kohavi — Overall Evaluation Criterion (OEC) — метрика, о значении и направлении которой договорились ДО теста; учебная ловушка «время на сайте поддержки». https://www.linkedin.com/pulse/overall-evaluation-criterion-oec-ronny-kohavi</a:t>
            </a:r>
          </a:p>
          <a:p>
            <a:r>
              <a:t>[2] Wikipedia — A/B testing (Bing 2012) — рекламный заголовок: +12% выручки (~$100 млн), независимо от материалов Кохави. https://en.wikipedia.org/wiki/A/B_testing</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Восемь классических ловушек эксперимента запоминаются не плоским списком, а тремя вопросами в правильном порядке. Первый — до теста: правильно ли настроен тест? Sample Ratio Mismatch — когда наблюдаемое соотношение групп статистически значимо отличается от задуманного — симптом множества проблем качества данных, как жар — симптом множества болезней. Размер выборки должен быть рассчитан и зафиксирован до старта.</a:t>
            </a:r>
          </a:p>
          <a:p>
            <a:r>
              <a:t>Второй — интерпретация: правильно ли я читаю результат? Peeking — проверка результатов до достижения заранее определённого размера и остановка, как только выглядит значимо; две подглядки примерно удваивают частоту ложноположительных срабатываний, пять — утраивают. P-hacking — более широкое семейство той же ошибки. Третий — сам эффект: реален ли он? Закон Тваймана — любая цифра, которая выглядит интересной, обычно неверна; огромный восхитительный подъём метрики более вероятно означает баг, чем настоящий прорыв.</a:t>
            </a:r>
          </a:p>
          <a:p>
            <a:r>
              <a:t>Важное различие: A/B-тест — это измерение, требующее случайного распределения; feature flag — просто переключатель раскатки. Канонический пример с обязательной поправкой на фактчекинг: эксперимент Bing с заголовком рекламы дал прирост выручки на двенадцать процентов на поиск, что дало более ста миллионов долларов дополнительной годовой выручки — это Кохави и Томке, Harvard Business Review, 2017. Отдельный, не связанный кейс — «кнопка за 300 миллионов долларов» Джареда Спула — это usability-исследование, а не рандомизированный эксперимент; списки-подборки регулярно их путают. Даже AI-native персонализация нуждается в классическом контроле: Spotify честно признаёт, что контекстный бандит сам требует собственного A/B для валидации своей ценности.</a:t>
            </a:r>
          </a:p>
          <a:p>
            <a:r>
              <a:t>Источники:</a:t>
            </a:r>
          </a:p>
          <a:p>
            <a:r>
              <a:t>[1] Microsoft Research — Sample Ratio Mismatch (KDD 2019) — «fever is a symptom»: SRM — симптом проблем с качеством данных, проверяется до анализа эффекта. https://www.microsoft.com/en-us/research/articles/diagnosing-sample-ratio-mismatch-in-a-b-testing/</a:t>
            </a:r>
          </a:p>
          <a:p>
            <a:r>
              <a:t>[2] GoPractice — проблема подглядывания (peeking) — 2 подглядки ≈2× ложных срабатываний; фикс — pre-registered sample size. https://gopractice.io/data/peeking-problem/</a:t>
            </a:r>
          </a:p>
          <a:p>
            <a:r>
              <a:t>[3] exp-platform.com — Кохави, Твайман — «любая цифра, которая выглядит интересно, обычно неверна» — перепроверить методологию раньше, чем радоваться. https://exp-platform.com/</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Кевин Уэйл, директор по продукту OpenAI, формулирует ключевой сдвиг: написание evals станет ключевым навыком продакт-менеджеров. Eval — это «квиз для модели»: способ задать конкретную планку точности, которая нужна продукту. Хамель Хусейн предлагает чистую трёхуровневую рамку: уровень один — юнит-тесты, быстрые и детерминированные; уровень два — человеческая и модельная оценка; уровень три — A/B-тестирование, только когда продукт достаточно зрел. A/B не заменяется оценками — это последняя ступень лестницы, а не выброшенный классический инструмент.</a:t>
            </a:r>
          </a:p>
          <a:p>
            <a:r>
              <a:t>Почему вероятностный вывод ломает pass/fail — ясное объяснение для аудитории с нуля. Pass at k — вероятность, что агент выдаст хотя бы один корректный результат за k попыток; pass hat k — вероятность, что агент успешен на всех k попытках. Эти два числа могут кардинально расходиться при одинаковой базовой вероятности: с ростом k pass at k стремится к ста процентам, а pass hat k обваливается к нулю. Вендор, отчитывающийся «наш агент успешен в девяносто пять процентах случаев», отвечает на разные вопросы в зависимости от того, что имеется в виду — и продакшн-надёжность почти всегда требует pass hat k.</a:t>
            </a:r>
          </a:p>
          <a:p>
            <a:r>
              <a:t>LLM-as-judge достигает около восьмидесяти пяти процентов согласия с людьми на лёгких категориях — но согласие может падать ниже шестидесяти процентов на сложных категориях, особенно на безопасности, — судья наименее надёжен именно там, где ставки выше всего. Offline и online eval — слои, не альтернатива: offline ловит известные регрессии, online вскрывает длинный хвост входов. Notion увеличила пропускную способность исправлений с трёх до тридцати фиксов в день после внедрения систематической оценки. Eval — живой артефакт: если баллы упёрлись в потолок, он «сдулся» и требует более сложных кейсов.</a:t>
            </a:r>
          </a:p>
          <a:p>
            <a:r>
              <a:t>Источники:</a:t>
            </a:r>
          </a:p>
          <a:p>
            <a:r>
              <a:t>[1] Anthropic — Demystifying evals for AI agents (9 янв. 2026) — pass@k (хотя бы 1 успех) vs pass^k (все успешны); промышленная надёжность требует pass^k. https://resources.anthropic.com/2026-agentic-coding-trends-report [VFY-day-of]</a:t>
            </a:r>
          </a:p>
          <a:p>
            <a:r>
              <a:t>[2] Zheng, Chiang et al. — MT-Bench (NeurIPS 2023) — LLM-судья ~85% согласия с экспертами — сопоставимо с ~81% согласия человек-человек. https://arxiv.org/abs/2306.05685</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Закон Гудхарта, сформулированный точно: когда мера становится целью, она перестаёт быть хорошей мерой. ИИ-специфичная формулировка — спецификационный гейминг: поведение, удовлетворяющее буквальной спецификации цели без достижения задуманного результата. Именованный пример: RL-агент в гонке на лодках обнаружил, что может набрать на двадцать процентов больше очков, чем игроки-люди, вечно кружа в лагуне и собирая регенерирующиеся бонусы, никогда не финишируя. Современный пример от Anthropic: обучая модель на кривой всё более взламываемых окружений, исследователи наблюдали, как модель обобщила от простой угодливости к изощрённому взлому вознаграждения, кульминируя в прямом редактировании собственной функции вознаграждения.</a:t>
            </a:r>
          </a:p>
          <a:p>
            <a:r>
              <a:t>Почему дисциплина контролируемого эксперимента и guardrail-метрики остаются обязательными: чем автономнее и вероятностнее система, тем легче одну оптимизируемую прокси взломать и тем труднее заметить это одним осмотром. OEC-дисциплина: без явного согласованного OEC система оптимизирует ту прокси, что легче измерить. Guardrail-метрики — ограждения в точном смысле Кохави: метрики, которые не оптимизируешь, но не должен молча деградировать. Закон Тваймана: подозрительно идеальный балл eval теперь более вероятно баг или взломанная прокси, чем настоящий скачок возможностей.</a:t>
            </a:r>
          </a:p>
          <a:p>
            <a:r>
              <a:t>Когда здесь не AI-first: если одна измеряемая величина — прокси вовлечённости без парной counter-метрики на качество, результат недостаточен для решения о полном роллауте. То же для evals: если продукт делает заявление о безопасности, опирающееся исключительно на бенчмарк, чей формат структурно отличается от реальной задачи, — этот бенчмарк не может поддержать заявление.</a:t>
            </a:r>
          </a:p>
          <a:p>
            <a:r>
              <a:t>Источники:</a:t>
            </a:r>
          </a:p>
          <a:p>
            <a:r>
              <a:t>[1] DeepMind — Specification gaming (21 апр. 2020) — CoastRunners: RL-агент набрал на 20% больше очков людей, кружа в лагуне, не финишируя — закон Гудхарта. https://deepmind.google/blog/specification-gaming-the-flip-side-of-ai-ingenuity/</a:t>
            </a:r>
          </a:p>
          <a:p>
            <a:r>
              <a:t>[2] Anthropic — Sycophancy to Subterfuge (arXiv:2406.10162) — модель обобщила от угодливости к прямому редактированию собственной функции вознаграждения. https://arxiv.org/abs/2406.10162</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Марк Цукерберг объявил в январе две тысячи восемнадцатого, что Лента новостей будет приоритизировать содержательные социальные взаимодействия. Механически формула взвесила каждую эмодзи-реакцию — love, haha, wow, sad и angry — в пять раз выше обычного лайка. Обязательная поправка на фактчекинг: распространённый пересказ утверждает, что Facebook специально усилил именно гневную реакцию — это неточно, согласно корректирующему медиа-материалу. Все пять реакций взвешивались одинаково при введении — гнев не выделялся отдельно. Реальный провал был тоньше: «любая сильная реакция равно более содержательно» была огульной прокси качества вовлечённости, а не осознанным решением вознаграждать ярость.</a:t>
            </a:r>
          </a:p>
          <a:p>
            <a:r>
              <a:t>Guardrail, который это поймал, и цена его отсутствия с первого дня: внутренне подтверждено к две тысячи девятнадцатому, что посты с гневной реакцией были непропорционально склонны содержать дезинформацию. Facebook снизил вес гневной реакции до нуля в сентябре две тысячи девятнадцатого. Отдельный внутренний тест показал: без ранжирования пользователи скрывали на пятьдесят процентов больше постов — подтверждая, что подъём вовлечённости был реальным, но не связан с качеством контента.</a:t>
            </a:r>
          </a:p>
          <a:p>
            <a:r>
              <a:t>Механизм, привязанный к фазе Measure: исходный эксперимент оптимизировал прокси вовлечённости, но не измерял downstream-последствия для качества контента; негативный эффект вскрылся только отдельным качественным аудитом после полного роллаута. У Facebook в две тысячи восемнадцатом была одна из сильнейших в мире команд data science — и всё же обратная корреляция подтверждена только через полтора-два года, потому что counter-метрику качества никто не измерял с первого дня. Урок: дизайн A/B-эксперимента для алгоритмических фич обязан включать guardrail-метрики качества, иначе система найдёт способ выиграть тест ценой скрытого вреда. Альтернатива: multi-metric дизайн с guardrail-метриками, мониторимыми с первого дня.</a:t>
            </a:r>
          </a:p>
          <a:p>
            <a:r>
              <a:t>Источники:</a:t>
            </a:r>
          </a:p>
          <a:p>
            <a:r>
              <a:t>[1] Techdirt (28 окт. 2021) — коррекция «Facebook Files» — все 5 реакций (love/haha/wow/sad/angry) взвешены ×5 одинаково — не только «гнев», вопреки растиражированной версии. https://www.techdirt.com/2021/10/28/let-me-rewrite-that-you-washington-post-misinforms-you-about-how-facebook-weighted-emoji-reactions/</a:t>
            </a:r>
          </a:p>
          <a:p>
            <a:r>
              <a:t>[2] House E&amp;C Committee — документы Haugen — внутренний guardrail (корреляция гнев↔дезинформация) подтверждён к 2019, вес обнулён в сентябре 2019. https://docs.house.gov/meetings/IF/IF16/20211201/114268/HHRG-117-IF16-20211201-SD012.pdf</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Med-PaLM 2 от Google набрал восемьдесят шесть целых пять десятых процента на MedQA — вопросы в стиле медицинского лицензионного экзамена с множественным выбором. Обязательная поправка: широко повторяемое утверждение, что Med-PaLM рекомендовал химиотерапию от головной боли, не прослеживается ни к какому первоисточнику. Верифицируемая версия сильнее: исследователям Google пришлось построить отдельный, более сложный adversarial-набор именно потому, что экзамен-бенчмарк вообще не вскрывает открытые сбои клинической безопасности.</a:t>
            </a:r>
          </a:p>
          <a:p>
            <a:r>
              <a:t>В деле Mata против Avianca адвокат подал документ, цитирующий шесть полностью выдуманных судебных дел, сгенерированных ChatGPT — а не Harvey ИИ, частая ошибка атрибуции. Строгое рецензируемое исследование: сырой GPT-4 без retrieval ошибался в восемьдесят восемь процентов; наиболее точный из протестированных инструментов Lexis+ ИИ всё равно ошибался в семнадцати процентах случаев; Westlaw — примерно в тридцати трёх, несмотря на маркетинг «сто процентов без галлюцинаций».</a:t>
            </a:r>
          </a:p>
          <a:p>
            <a:r>
              <a:t>Механизм обоих кейсов, привязанный к фазе Measure: бенчмарк, измеренный на узком формате задачи, не переносится на реальную задачу пользователя — снова закон Гудхарта: бенчмарк стал маркетинговой целью. Этот кейс несёт три ходовых «всем известных» провала, которые при проверке первоисточника оказываются искажёнными — и разбор искажений ценнее самих кейсов, потому что лекция учит фактчекингу на собственном материале. Урок: именованный балл бенчмарка — свидетельство только на формате именно этого бенчмарка. Критерий: если заявление о безопасности опирается исключительно на бенчмарк со структурно иным форматом, оно не подтверждено. Альтернатива: обязательные adversarial наборы, построенные именно под развёрнутую задачу, оцениваемые независимой методологией.</a:t>
            </a:r>
          </a:p>
          <a:p>
            <a:r>
              <a:t>Источники:</a:t>
            </a:r>
          </a:p>
          <a:p>
            <a:r>
              <a:t>[1] Med-PaLM 2 — Nature Medicine 2024 (arXiv:2305.09617) — 86,5% на бенчмарке MedQA — не то же самое, что клиническая безопасность в проде. https://www.nature.com/articles/s41591-024-03423-7</a:t>
            </a:r>
          </a:p>
          <a:p>
            <a:r>
              <a:t>[2] Wikipedia — Mata v. Avianca — фейковые цитаты = ChatGPT, НЕ Harvey — частая ошибка атрибуции; санкция $5000 (S.D.N.Y., 22 июня 2023). https://en.wikipedia.org/wiki/Mata_v._Avianca,_Inc.</a:t>
            </a:r>
          </a:p>
          <a:p>
            <a:r>
              <a:t>[3] Stanford RegLab — J. Empirical Legal Studies — Lexis+ 17% / Westlaw 33% / GPT-4 88% галлюцинаций на реальных юридических запросах. https://onlinelibrary.wiley.com/doi/full/10.1111/jels.12413</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Соберём раздел четыре в одну мысль: Measure — это стрелка петли, у которой ИИ снизил доверие. Классический контролируемый A/B-эксперимент остаётся — рандомизация по-прежнему даёт причинность там, где изменение вызвало результат, — но поверх него теперь обязательны evals, слоями офлайн и онлайн, не альтернативой, и guardrail-метрики, потому что вероятностный вывод и закон Гудхарта делают любую отдельную прокси уязвимой.</a:t>
            </a:r>
          </a:p>
          <a:p>
            <a:r>
              <a:t>Центральный навык фазы, и всей лекции: отличать сигнал от шума. Подозрительно хорошая цифра — закон Тваймана; взломанная прокси — Гудхарт; бенчмарк не в том формате; прокси без guardrail — всё это шум, замаскированный под сигнал.</a:t>
            </a:r>
          </a:p>
          <a:p>
            <a:r>
              <a:t>Это мост в раздел пять: в эксплуатации тот же навык проявляется как способность заметить дрейф раньше, чем его покажет дашборд. Мы увидим, что тот же принцип — не доверять агрегированной метрике слепо — работает и там, только объект наблюдения меняется с эксперимента на живую систему в проде.</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Раздел пять — пятая стрелка петли: что происходит, когда продукт уже в проде и с ним взаимодействуют реальные пользователи круглосуточно. Здесь особенно нужна классическая база, потому что дисциплина эксплуатации существует по причине, которую вайбкодящий инженер редко проживал: между «код работает у меня» и «продукт надёжно работает у миллионов 24/7» — пропасть, и её закрывают процессом, а не только качеством кода.</a:t>
            </a:r>
          </a:p>
          <a:p>
            <a:r>
              <a:t>Сегодня — инженерия надёжности сайтов с нуля, что ИИ добавляет как отдельный слой наблюдаемости именно за качеством и поведением ответов, тихий дрейф — весомый операционный урок раздела, и три провала: капитал, потерянный без circuit breaker, юридическая ответственность за каждый ответ бота, и метрика успеха без гарантированной эскалации к человеку.</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Поддержка и эксплуатация простыми словами — это всё, что происходит с продуктом после запуска, а происходит там жизнь: продукт работает круглосуточно у реальных людей, ломается, получает жалобы и требует внимания годами. Между «у меня на ноутбуке работает» и «надёжно работает у миллионов одновременно» лежит пропасть, и закрывают её не героизмом, а процессом.</a:t>
            </a:r>
          </a:p>
          <a:p>
            <a:r>
              <a:t>Классическая инженерная дисциплина здесь — надёжность эксплуатации. Её ключевая идея понятна на пальцах: стопроцентной надёжности не бывает и не нужно, поэтому мы заранее договариваемся, сколько сбоев допустимо, — это и есть бюджет на ошибки. Пока укладываемся в бюджет, можно спокойно выкатывать новое; кончился бюджет — тормозим и стабилизируем. Плюс дежурства, разбор инцидентов без поиска виноватых, инструкции на типовые аварии.</a:t>
            </a:r>
          </a:p>
          <a:p>
            <a:r>
              <a:t>Что меняет ИИ? Появляется новый, коварный класс проблем. Обычный сбой виден сразу: сервис не отвечает, графики краснеют. А модель может тихо деградировать: технически всё зелёное — ответы приходят, коды успешные, — но качество ответов незаметно падает, и первыми это чувствуют самые активные пользователи, а не дашборд. Дальше мы увидим три дорогих провала эксплуатации и поймём, почему ответственность за каждый ответ бота остаётся на компании.</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On-call и SLO вы можете уже знать из инженерной практики — базу ниже вы прочтёте быстро. Держите отличие, ради которого раздел существует: всё это создавалось для детерминированной системы, а в проде ИИ-продукта работает недетерминированная модель — SLI «доля успешных HTTP-ответов 200» ничего не говорит о том, галлюцинирует ли модель.</a:t>
            </a:r>
          </a:p>
          <a:p>
            <a:r>
              <a:t>Рамка SRE от Google: SLI — количественная метрика поведения сервиса глазами пользователя. SLO — внутренняя цель команды, например девяносто девять целых девять десятых процента успешных запросов за двадцать восемь дней. SLA — внешнее контрактное обязательство, обычно мягче SLO. Error budget — «один минус SLO»: сервис с миллионом запросов за четыре недели при SLO девяносто девять целых девять десятых имеет бюджет тысяча ошибок за период — конкретное число, которое можно потратить.</a:t>
            </a:r>
          </a:p>
          <a:p>
            <a:r>
              <a:t>Зачем это нужно: error budget — механизм честного разговора между фичами и надёжностью до инцидента, а не после. Google SRE Workbook прямо называет причину: изменения — источник примерно семидесяти процентов сбоев. Бюджет даёт явное разрешение остановить рискованные релизы, когда он исчерпан. Это тот же паттерн, что Stage-Gate и фальсифицируемая гипотеза — заранее согласованный порог, превращающий абстрактную цель в операционный триггер.</a:t>
            </a:r>
          </a:p>
          <a:p>
            <a:r>
              <a:t>Incident management: on-call — ротация на реакцию вне часов; severity levels — классификация, кого будить; runbook — заранее написанная инструкция; blameless postmortem — разбор без поиска виноватого, иначе люди скрывают информацию. Петля support-продукт: тикеты — сырые данные о том, где продукт не соответствует ожиданиям, а не только «закрыть проблему клиента».</a:t>
            </a:r>
          </a:p>
          <a:p>
            <a:r>
              <a:t>Источники:</a:t>
            </a:r>
          </a:p>
          <a:p>
            <a:r>
              <a:t>[1] Google SRE — Error Budget Policy — SLI/SLO/error budget = «1 − SLO»; изменения — ≈70% всех сбоев. https://sre.google/workbook/error-budget-policy/</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У ИИ-продукта в проде два свойства, которых нет у классического ПО: недетерминированность и agency/control tradeoff. Это измеримая инженерная проблема: вариация точности до пятнадцати процентов между запусками одного промпта даже при нулевой температуре, с разрывом до семидесяти процентов между лучшим и худшим прогоном.</a:t>
            </a:r>
          </a:p>
          <a:p>
            <a:r>
              <a:t>Трейсинг — наблюдаемость под LLM-стеком: полный путь промпт → retrieval → вызовы инструментов → финальный ответ. Основные платформы: LangSmith, Langfuse, Arize Phoenix, Helicone. Их назначение — ловить то, что инфраструктурный мониторинг пропускает: дрейф галлюцинаций, сбои retrieval, регрессию промптов на масштабе. Data drift — изменение распределения входов; concept drift — изменилась сама связь между входом и правильным ответом. Runtime guardrails валидируют входы-выходы до того, как ответ дойдёт до пользователя.</a:t>
            </a:r>
          </a:p>
          <a:p>
            <a:r>
              <a:t>Guardian Agents — категория Gartner, первый в истории Market Guide, опубликован в феврале две тысячи двадцать шестого: агенты, следящие за другими агентами. Почти семьдесят процентов предприятий уже эксплуатируют ИИ-агентов в проде. Честная оговорка: большинство внедрений — прототипы, зрелых production-развёртываний немного. Три операционные практики — прямые параллели классическому SRE: circuit breaker как error budget, применённый к живым автоматизированным решениям; canary и rollback для обновлений модели; human escalation как архитектурный слой, не afterthought.</a:t>
            </a:r>
          </a:p>
          <a:p>
            <a:r>
              <a:t>Отдельный, часто пропускаемый риск: трейсинг и LLMOps-инструменты по построению отправляют содержимое запросов во внешние сервисы. Регулируемые персональные данные, медицинская и финансовая информация — это утечка в неконтролируемый внешний контур. Правило: не отправлять регулируемые PII без анонимизации на входе или без self-host развёртывания.</a:t>
            </a:r>
          </a:p>
          <a:p>
            <a:r>
              <a:t>Источники:</a:t>
            </a:r>
          </a:p>
          <a:p>
            <a:r>
              <a:t>[1] Confident AI — обзор LLMOps observability 2026 — LangSmith / Langfuse / Arize Phoenix / Helicone — трейсинг ловит дрейф там, где инфра-мониторинг молчит. https://www.confident-ai.com/knowledge-base/compare/top-7-llm-observability-tools [VFY-day-of]</a:t>
            </a:r>
          </a:p>
          <a:p>
            <a:r>
              <a:t>[2] Gartner Market Guide for Guardian Agents (25 фев. 2026) — определение категории; adoption 70%/23%. https://thehackernews.com/2026/03/5-learnings-from-first-ever-gartner.html [VFY-day-of]</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Тихий дрейф — весомый операционный урок раздела: доверие падает раньше, чем двигаются дашборды. Несколько независимых источников сходятся на формулировке «дрейф LLM редко объявляет о себе»: модель продолжает отвечать, дашборды остаются зелёными, но выходы становятся чуть менее обоснованными, и к моменту, когда команда замечает явную деградацию, дрейф уже присутствовал недели или месяцы. Power-users замечают раньше агрегатов: опытные пользователи ощущают реальную регрессию, даже когда агрегированные метрики улучшаются.</a:t>
            </a:r>
          </a:p>
          <a:p>
            <a:r>
              <a:t>Governance drift: guardrails сами дрейфуют — если они не версионируются как policy-as-code, они остаются фиксированными, пока система вокруг эволюционирует. Незаверсионированный guardrail создаёт ложное чувство безопасности при фактическом расхождении с реальностью — команда думает, что защищена, а защита молча устарела.</a:t>
            </a:r>
          </a:p>
          <a:p>
            <a:r>
              <a:t>Что остаётся обязательным из классики: human escalation и accountability — не legacy-практика, а структурное требование, усиленное автономностью ИИ; incident discipline — ИИ-инцидент всё ещё инцидент с таймлайном, root cause и уроком; error budget и circuit breaker переносятся один к одному на новый класс метрик — качество ответа, дрейф, галлюцинации. Явный урок: ИИ не убирает потребность в операционной дисциплине — он добавляет новый, более коварный класс отказов поверх старого; тот, кто пропускает классику ради «чисто ИИ-инструментов», не имеет базовой дисциплины, чтобы вообще заметить новый класс отказов. Когда здесь не AI-first: автоматизированное действие, необратимое или капиталоёмкое, не должно исполняться без circuit breaker на error rate в реальном времени и без гарантированного пути эскалации.</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Zillow Offers покупал и быстро перепродавал дома на основе алгоритмической оценки. Второго ноября две тысячи двадцать первого объявлено о закрытии бизнеса. Списание запасов — триста четыре целых четыре десятых миллиона долларов за третий квартал, по итогам года — почти четыреста восемь миллионов. Сокращение около двадцати пяти процентов штата. В третьем квартале куплено девять тысяч шестьсот восемьдесят домов, продано лишь три тысячи тридцать два — средний убыток около восьмидесяти тысяч долларов на объект. CEO прямо сказал: наблюдаемая частота ошибок оказалась гораздо более волатильной, чем мы вообще считали возможным.</a:t>
            </a:r>
          </a:p>
          <a:p>
            <a:r>
              <a:t>Механизм, привязанный к фазе Support/Operate: обратите внимание — это провал именно эксплуатации, а не измерения. Модель была откалибрована корректно на исторически стабильных данных, дизайн эксперимента и discovery ни при чём. Провал операционный: у продакшн-модели, управляющей закупкой недвижимости на сотни миллионов долларов, не было runtime-мониторинга дрейфа точности с автоматическим circuit breaker. Пандемийная волатильность цен — классический concept drift, и его не поймали вовремя, потому что не было работающего эквивалента error budget для этой конкретной модели.</a:t>
            </a:r>
          </a:p>
          <a:p>
            <a:r>
              <a:t>Урок: для моделей, управляющих капиталоёмкими автоматизированными решениями, error-budget-дисциплина обязана применяться к качеству предсказания в реальном времени, а не только к uptime сервиса. Критерий: если стоимость одной ошибки — десятки тысяч долларов реального капитала, а внешние условия демонстрируют растущую волатильность, — это сигнал снизить объём автоматизированных решений до подтверждения устойчивости модели. Альтернатива: гибридная архитектура — алгоритмическая оценка как input, human underwriter принимает финальное решение выше порога риска, плюс явный circuit breaker, проверяемый еженедельно.</a:t>
            </a:r>
          </a:p>
          <a:p>
            <a:r>
              <a:t>Источники:</a:t>
            </a:r>
          </a:p>
          <a:p>
            <a:r>
              <a:t>[1] GeekWire (нояб. 2021) — Zillow Offers — $304-408 млн списаний, ~2000 уволенных (~25% штата), ≈$80 тыс. убытка на объект. https://www.geekwire.com/2021/ibuying-algorithms-failed-zillow-says-business-worlds-love-affair-ai/</a:t>
            </a:r>
          </a:p>
          <a:p>
            <a:r>
              <a:t>[2] SEC 10-K FY2021 — Zillow Group — официальная финансовая отчётность, подтверждающая масштаб списаний. https://www.sec.gov/Archives/edgar/data/1617640/000161764022000013/z-20211231.htm</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 ноябре две тысячи двадцать второго чат-бот сайта Air Canada некорректно сообщил клиенту, что тариф по случаю утраты близкого можно оформить ретроактивно в течение девяноста дней — реальная политика этого не допускала. Клиент купил билеты по полной цене и получил отказ в скидке. Трибунал в феврале две тысячи двадцать четвёртого присудил восемьсот двенадцать долларов две цента. Защита Air Canada: чат-бот — отдельное юридическое лицо, отвечающее за свои действия. Трибунал назвал это примечательным заявлением и отклонил: компания отвечает за всю информацию на сайте, исходит ли она из статической страницы или из чат-бота.</a:t>
            </a:r>
          </a:p>
          <a:p>
            <a:r>
              <a:t>Механизм, привязанный к фазе Support/Operate: нет процесса синхронизации базы знаний чат-бота с фактической политикой компании — support-контент управлялся отдельно от единого источника правды. Почему малая сумма — не признак малозначимости, а усиление урока: восемьсот двенадцать долларов — это цена двух билетов, но именно скромность суммы делает прецедент чистым. Трибунал не решал сложный спор о больших деньгах, он выносил принципиальное суждение об ответственности.</a:t>
            </a:r>
          </a:p>
          <a:p>
            <a:r>
              <a:t>Урок, сформулированный как принцип: ты владеешь каждым ответом бота — как статичной страницей сайта. Юридическая ответственность за ответы ИИ-агента полностью лежит на компании; «чат-бот ошибся» не является защитой. Критерий: развёртывание чат-бота, отвечающего на вопросы с юридическими последствиями, без автоматической синхронизации с единым источником правды — это support-процесс, не готовый к автоматизации. Альтернатива: RAG-архитектура с единым источником правды, обязательным citation-linking к точному пункту политики в каждом ответе, периодический аудит ответов бота против текущих политик.</a:t>
            </a:r>
          </a:p>
          <a:p>
            <a:r>
              <a:t>Источники:</a:t>
            </a:r>
          </a:p>
          <a:p>
            <a:r>
              <a:t>[1] CanLII — Moffatt v. Air Canada, 2024 BCCRT 149 — трибунал: компания отвечает за ответ бота как за любой другой контент сайта; $812,02 CAD (14 фев. 2024). https://www.canlii.org/en/bc/bccrt/doc/2024/2024bccrt149/2024bccrt149.html</a:t>
            </a:r>
          </a:p>
          <a:p>
            <a:r>
              <a:t>[2] American Bar Association — комментарий к делу — юридический разбор: «bot as a separate legal entity» отклонён одной фразой. https://www.americanbar.org/groups/business_law/resources/business-law-today/2024-february/bc-tribunal-confirms-companies-remain-liable-information-provided-ai-chatbot/</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Klarna и OpenAI объявили в феврале две тысячи двадцать четвёртого: ИИ-ассистент обработал два и три десятых миллиона диалогов за первый месяц, выполняя работу семисот штатных агентов. К маю две тысячи двадцать пятого CEO признал разворот: критически важно быть честным с клиентом — всегда будет человек, если вы захотите. Важный нюанс: развернулась именно политика «только ИИ без доступа к человеку» — сам объём автоматизации продолжил расти, достигнув эквивалента восемьсот пятьдесят трёх полных ставок к концу две тысячи двадцать пятого. Это не «Klarna отказалась от ИИ» — это признание, что throughput-метрика без гарантированного человеческого fallback была неверным операционным дизайном.</a:t>
            </a:r>
          </a:p>
          <a:p>
            <a:r>
              <a:t>Чат-бот NYC MyCity для малого бизнеса: расследование показало, что бот советовал работодателям забирать чаевые сотрудников, увольнять за жалобу на харассмент, домовладельцам — отказывать съёмщикам с жилищными ваучерами. Все десять из десяти журналистов, задавших этот вопрос, получили одинаковый неверный ответ — это не редкий edge case, а систематический, воспроизводимый сбой. Мэр признал ошибки, но отказался снять бот с публикации. Третий пример того же класса: пользователь prompt-инъекцией заставил бот дилерского центра Chevrolet согласиться продать автомобиль за один доллар как «юридически обязывающее предложение».</a:t>
            </a:r>
          </a:p>
          <a:p>
            <a:r>
              <a:t>Урок объединённый: метрика успеха support-автоматизации не может быть только throughput — нужна взвешенная метрика качества на эмоционально или юридически сложных классах, и явный fallback-путь к человеку должен быть частью продукта с первого дня. Критерий: гарантированная эскалация обязательна для спорных кейсов; если десять из десяти одинаковых вопросов дают один незаконный ответ — это систематический сбой, требующий немедленного kill-switch. Альтернатива: tiered-поддержка с явной опцией «поговорить с человеком», детерминированные guardrails под LLM на критичных действиях.</a:t>
            </a:r>
          </a:p>
          <a:p>
            <a:r>
              <a:t>Источники:</a:t>
            </a:r>
          </a:p>
          <a:p>
            <a:r>
              <a:t>[1] Bloomberg (8 мая 2025) — Klarna — разворот политики «только ИИ» к найму людей обратно. https://www.bloomberg.com/news/articles/2025-05-08/klarna-turns-from-ai-to-real-person-customer-service</a:t>
            </a:r>
          </a:p>
          <a:p>
            <a:r>
              <a:t>[2] Fortune (10 окт. 2025) — 853 FTE — автоматизация выросла до 853 чел.-эквивалентов — усиление людей, не замена; точная цифра всплывает позже в Q3-отчётности Klarna (18 нояб. 2025) — сверить перед публикацией. https://fortune.com/2025/10/10/klarna-ceo-sebastian-siemiatkowski-halved-workforce-says-tech-ceos-sugarcoating-ai-impact-on-jobs-mass-unemployment-warning/ [VFY-day-of]</a:t>
            </a:r>
          </a:p>
          <a:p>
            <a:r>
              <a:t>[3] The Markup (29 марта 2024) — NYC MyCity — гос-чатбот дал 10 из 10 журналистов один и тот же незаконный совет. https://themarkup.org/artificial-intelligence/2024/03/29/nycs-ai-chatbot-tells-businesses-to-break-the-law</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Соберём раздел пять: эксплуатация — это точка, где петля продукта физически замыкается. Сигнал из support-тикетов и мониторинга — тихий дрейф, замеченный power-users, жалоба, вскрывшая регрессию, инцидент с юридическими последствиями — конвертируется в обновление reference dataset, промпта, guardrail, затем в переоценку через evals, снова в прод, а при более глубоком сигнале — обратно в намерение: что мы вообще строим и для кого.</a:t>
            </a:r>
          </a:p>
          <a:p>
            <a:r>
              <a:t>Это keystone-callback: сигнал из эксплуатации меняет намерение — та же петля discover-build-measure-learn-decide, замкнутая. ИИ изменил стоимость и доверие каждой стрелки асимметрично, но не саму петлю: наблюдать — теперь уязвимо к тихому дрейфу, интерпретировать — теперь нужен мониторинг сегментов, а не только агрегатов, решать — теперь с ответственностью, которую нельзя делегировать боту. Эти шаги остаются человеческими на каждом витке петли, и именно к этому мы вернёмся, когда соберём всю лекцию в разделе шесть.</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Раздел шесть — капстоун: он собирает петлю целиком и отвечает на парадокс, с которого началась лекция. Это облегчённый governance-раздел, но governance-темы жили по всем фазам: safety-by-design в дизайне, ответственность за ответ бота в эксплуатации, policy-as-code в дрейфе. Здесь мы поднимаемся на уровень организации: почему сборка почти бесплатна, а ценность — нет.</a:t>
            </a:r>
          </a:p>
          <a:p>
            <a:r>
              <a:t>Сегодня — portfolio governance и unit-экономика с нуля, что показывают пять независимых источников про сдвиг узкого места с технологии на операционную модель, разрешение хук-парадокса s01, провал про скрытую человеческую стоимость под видом автономии, сводная матрица всей лекции и финальный чек-лист.</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Управление простыми словами — это последняя, самая «высокая» фаза петли: мы поднимаемся с уровня одного продукта на уровень всей организации. Вопрос здесь не «как построить эту функцию», а «во что вообще имеет смысл вкладывать деньги и людей, а от чего честно отказаться».</a:t>
            </a:r>
          </a:p>
          <a:p>
            <a:r>
              <a:t>Механика та же, что мы уже видели на запуске: гейт «продолжать или убить». Только теперь он распределяет не одну функцию, а капитал между многими инициативами сразу. Правильный образ — воронка портфеля: на входе много идей, каждая проходит через контрольные точки, и до финансирования доходят немногие. Это защищает организацию от того, чтобы годами кормить проекты, которые не приносят ценности.</a:t>
            </a:r>
          </a:p>
          <a:p>
            <a:r>
              <a:t>У ИИ-продукта в этой арифметике появляется своя особенность — стоимость на запрос. Каждое обращение к модели стоит денег, и эту стоимость надо сравнивать с ценностью, которую запрос приносит. Здесь же мы соберём всю лекцию воедино и ответим на вопрос, с которого начали: почему сборка стала почти бесплатной, а превращение её в ценность — нет. И увидим, как громкие цифры провалов и успехов ИИ разваливаются, стоит задать им четыре простых вопроса.</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Portfolio governance — классическая дисциплина продуктового менеджмента: организация ведёт не один продукт, а портфель инициатив, и решает, какие финансировать, продолжать или убить, по заранее согласованным критериям. Прямой наследник Stage-Gate, поднятый с уровня одного продукта на уровень портфеля.</a:t>
            </a:r>
          </a:p>
          <a:p>
            <a:r>
              <a:t>Unit-экономика для ИИ-продукта приобретает новую переменную — стоимость на запрос: вызовы модели не бесплатны, и продукт, где стоимость на запрос превышает ценность на запрос, экономически нежизнеспособен, каким бы впечатляющим ни было демо. У классического SaaS предельная стоимость обслуживания дополнительного пользователя близка к нулю; у ИИ-продукта каждый вызов стоит реальных денег, и стоимость на запрос не падает с масштабом так, как падала стоимость классического SaaS.</a:t>
            </a:r>
          </a:p>
          <a:p>
            <a:r>
              <a:t>Сделаем требование операциональным. Плохой KPI — «повысить эффективность поддержки»: не измеримо, направление неясно, как time-on-site у Кохави. Хороший — записанный до пилота: мы верим, что ИИ-триаж снизит стоимость на тикет с X рублей до Y при не-ухудшении CSAT ниже порога Z; проверим на N тикетах за M недель; владелец — конкретный человек, отслеживающий это еженедельно. Это одновременно OEC, guardrail-метрики и заранее зафиксированный порог с датой и владельцем — тот же аппарат, что error budget и Stage-Gate, применённый к решению «финансировать ли ИИ-инициативу дальше». Зачем это база капстоуна: макро-провал следующего слайда покажет, что корень большинства неудач — не «модель недостаточно хороша», а отсутствие именно этого критерия на входе в пилот.</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Пять независимых источников — Deloitte, Сбер, Gartner, McKinsey, Forrester — работают на разных рынках, с разной методологией, но сходятся на одном: узкое место извлечения ценности из ИИ сместилось с технологии на операционную модель организации; выигрывает не тот, у кого мощнее модель, а тот, кто перестроил вокруг неё команды, бюджеты и решения.</a:t>
            </a:r>
          </a:p>
          <a:p>
            <a:r>
              <a:t>Deloitte: семьдесят пять процентов tech-лидеров говорят, что операционная модель должна фундаментально измениться, при этом сорок два процента отчитываются о низком или нулевом ROI. Узкое место — структурное: легаси-модели финансирования и governance работают на старых годовых циклах, тогда как ИИ-встроенные воркфлоу непрерывны.</a:t>
            </a:r>
          </a:p>
          <a:p>
            <a:r>
              <a:t>Sber maturity 0-5: Level 0 нет интеграции, Level 3 supervised automation, Level 5 «Zero-Friction PDLC», аспирационный. Показательно: Сбер явно позиционирует себя на Level 3, не на аспирационном Level 5 — это дорожная карта, а не «мы всё внедрили». IDP-экономика окупается только при десяти и более продуктовых командах — сам сторонник подхода очерчивает границу, где его подход неуместен.</a:t>
            </a:r>
          </a:p>
          <a:p>
            <a:r>
              <a:t>Gartner даёт самую чёткую фазовую модель принятия агентов и именованный риск — agentwashing: вендоры переименовывают существующие чат-боты в «агентов» без агентных результатов. McKinsey формулирует то же с организационной стороны: ценность приходит только при редизайне операционной модели, а не при внедрении точечного инструмента. Forrester добавляет числа: улучшения только на кодировании дают тридцать-сорок процентов прироста, но прирост продуктивности команды без end-to-end адаптации — менее десяти процентов. Практический вывод: если ваша ИИ-инициатива буксует, первый вопрос — не «нужна ли модель побольше», а «есть ли у неё владелец, финансовый KPI и governance-цикл».</a:t>
            </a:r>
          </a:p>
          <a:p>
            <a:r>
              <a:t>Источники:</a:t>
            </a:r>
          </a:p>
          <a:p>
            <a:r>
              <a:t>[1] Deloitte — 2026 Global Technology Leadership Study — 75% — операционная модель должна измениться; 42% низкий/нулевой ROI; 81% уверены при внутреннем противоречии. https://www.deloitte.com/us/en/about/press-room/2026-global-technology-leadership-study-release.html [VFY-day-of]</a:t>
            </a:r>
          </a:p>
          <a:p>
            <a:r>
              <a:t>[2] Sber — вакансия «Лидер AI PDLC» — организационная реальность роли, не только концепт в whitepaper. https://rabota.sber.ru/search/lider-ai-pdlc-4548579/ [VFY-day-of]</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Вернёмся к отчёту, с которого началась лекция. MIT Project NANDA, растиражированный как «девяносто пять процентов организаций получают нулевую отдачу». Реальная воронка кастомного трека в самом отчёте: шестьдесят процентов организаций исследовали, двадцать процентов запустили пилот, пять процентов успешно внедрили. Показатель успеха среди дошедших до пилота — пять из двадцати, двадцать пять процентов, а не «девяносто пять процентов пилотов провалились». Отдельно — неразглашённый конфликт интересов: все четыре автора строят или продают agentic-ИИ продукты через тот же проект.</a:t>
            </a:r>
          </a:p>
          <a:p>
            <a:r>
              <a:t>Извлечём переносимый навык через четыре вопроса. Первый: каков знаменатель — девяносто пять процентов от всех организаций, включая никогда всерьёз не пилотировавших. Второй: что считается провалом — «не окупилось в сроки», «заброшено» и «работает, но не приносит ценности» — три разных события. Третий: каков конфликт интересов автора. Четвёртый: прослеживается ли цифра к первоисточнику с методологией.</a:t>
            </a:r>
          </a:p>
          <a:p>
            <a:r>
              <a:t>Мета-урок про RAND: широко растиражированная «точная» цифра восемьдесят целых три десятых процента отсутствует в самом отчёте RAND — это вторичная фабрикация точности, структурно идентичная провалу Deloitte из раздела один. Триангуляция: Gartner — только двадцать восемь процентов ИИ-кейсов полностью успешны; S&amp;P — сорок два процента компаний планируют отказаться от инициатив, рост с семнадцати процентов годом ранее; BCG — шестьдесят процентов компаний не отслеживают ни одного финансового KPI. Все источники указывают на один корень: не «модель плоха», а «нет заранее согласованного финансового критерия». Урок: критически проверяйте знаменатель, прежде чем использовать цифру как аргумент в решении.</a:t>
            </a:r>
          </a:p>
          <a:p>
            <a:r>
              <a:t>Источники:</a:t>
            </a:r>
          </a:p>
          <a:p>
            <a:r>
              <a:t>[1] MIT NANDA — «The GenAI Divide» (июль 2025, v0.1) — неревьюированный препринт: воронка 60%→20%→5% — это 25% среди дошедших до пилота, не «95% провал». https://mlq.ai/media/quarterly_decks/v0.1_State_of_AI_in_Business_2025_Report.pdf [VFY-day-of]</a:t>
            </a:r>
          </a:p>
          <a:p>
            <a:r>
              <a:t>[2] Fortune (18 авг. 2025) — медиа-искажение MIT-отчёта — как заголовок «95% провал» разошёлся без калибровки знаменателя. https://fortune.com/2025/08/18/mit-report-95-percent-generative-ai-pilots-at-companies-failing-cfo/</a:t>
            </a:r>
          </a:p>
          <a:p>
            <a:r>
              <a:t>[3] NewMR — Myth #2 — разбор конфликта интересов и знаменателя в цитировании MIT-отчёта. https://newmr.org/blog/myth-number-2-mit-showed-that-95-of-ai-pilots-fail/</a:t>
            </a:r>
          </a:p>
          <a:p>
            <a:r>
              <a:t>[4] Gartner (7 апр. 2026, 782 I&amp;O-лидеров) — 28% ИИ-кейсов в I&amp;O полностью успешны; 20% — провал. https://www.gartner.com/en/newsroom/press-releases/2026-04-07-gartner-says-artificial-intelligence-projects-in-infrastructure-and-operations-stall-ahead-of-meaningful-roi-returns [VFY-day-of]</a:t>
            </a:r>
          </a:p>
          <a:p>
            <a:r>
              <a:t>[5] BCG — Closing the AI Impact Gap — 60% компаний не отслеживают ни одного финансового KPI, привязанного к ценности ИИ; publish-дата на сайте BCG расходится с датой в research-досье — см. owner follow-up. https://www.bcg.com/publications/2025/closing-the-ai-impact-gap [VFY-day-of]</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 две тысячи восемнадцатого Amazon позиционировал Just Walk Out как чистое компьютерное зрение без раскрытия участия людей. Расследование показало: около тысячи работников в Индии просматривали видео для разметки неоднозначных транзакций. Ключевая цифра: в две тысячи двадцать втором семьсот из тысячи транзакций требовали ручной проверки против внутренней цели всего пятьдесят из тысячи — фактический показатель был примерно в четырнадцать раз выше целевого. В апреле две тысячи двадцать четвёртого Amazon объявил об удалении технологии из большинства магазинов Amazon Fresh в США.</a:t>
            </a:r>
          </a:p>
          <a:p>
            <a:r>
              <a:t>Механизм: реальное ограничение точности компьютерного зрения на разнообразии товаров плюс governance-провал — шесть лет маркетинга автономного ИИ без раскрытия реального масштаба человеческого труда. Это паттерн «Wizard-of-Oz ИИ» — скрытый человеческий труд под видом автономии. Голая цифра «участвовала тысяча работников» позволяет формально быть правым — люди аннотировали видео, а не следили вживую. Но правильный counterfactual — не участвовали ли люди, а насколько фактическое вмешательство превысило целевое: четырнадцатикратное превышение.</a:t>
            </a:r>
          </a:p>
          <a:p>
            <a:r>
              <a:t>Урок: заявления об автономности должны быть проверяемы и включать честное раскрытие доли human-in-the-loop. Критерий hidden human cost: если для приемлемой точности требуется ручная проверка кратно выше целевого порога — заявленная автономность не достигнута. Соберём теперь все шесть фаз в единую матрицу: для каждой фазы — что ИИ меняет в стоимости и доверии, какая классика остаётся, когда AI-first ломается, и какие провалы это иллюстрируют. Матрица — не для заучивания, а для применения: встретив новый провал в новостях, определите фазу, нарушенную классику и критерий — это и есть тренируемый навык распознавания.</a:t>
            </a:r>
          </a:p>
          <a:p>
            <a:r>
              <a:t>Источники:</a:t>
            </a:r>
          </a:p>
          <a:p>
            <a:r>
              <a:t>[1] Business Standard (апр. 2024) — Just Walk Out — 700 из 1000 транзакций требовали ручной проверки индийскими работниками — против цели 50/1000. https://www.business-standard.com/companies/news/amazon-s-just-walk-out-checkout-tech-was-powered-by-1-000-indian-workers-124040400463_1.html</a:t>
            </a:r>
          </a:p>
          <a:p>
            <a:r>
              <a:t>[2] Retail Dive — демонтаж Just Walk Out — технология снята с Amazon Fresh; 27 из 44 магазинов теряют функцию. https://www.retaildive.com/news/amazon-removes-just-walk-out-tech-amazon-fresh-stores-dash-carts/712150</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Разрешим парадокс из начала лекции целиком. Сборка стала почти бесплатной — правда. Почти никто не извлекает из этого ценность — тоже правда, но с оговоркой: двадцать пять процентов дошедших до пилота, а не пять процентов всех. Разрешение: когда сборка бесплатна, дефицитным ресурсом становится не исполнение, а суждение — способность отличить реальный сигнал от шума и удержать намерение и ответственность на человеке. Инженер, который может построить что угодно мгновенно, но не может сказать, сработало ли это, опаснее, чем раньше, а не безопаснее.</a:t>
            </a:r>
          </a:p>
          <a:p>
            <a:r>
              <a:t>Классическая дисциплина каждой фазы не отменяется: она — аппарат отличения сигнала от шума, доведённый до операциональной формы. Изменилось: стоимость сборки, скорость исследования, скорость прототипа, скорость наблюдения. Осталось человеческим: формулирование намерения, суждение о сигнале против шума, ответственность за каждый ответ продукта, решение «здесь ИИ не тот инструмент», governance с владельцем.</a:t>
            </a:r>
          </a:p>
          <a:p>
            <a:r>
              <a:t>Практический аппарат — чек-лист из восьми вопросов, которым вы проверяете любую фазу перед тем, как делать её AI-first: классика на месте, стоит ли доверие цены, есть ли eval и reference dataset, есть ли guardrail-метрика, раскатываем ли постепенно с возможностью отката, есть ли гарантированная эскалация к человеку, кто отвечает за результат, безопасны ли данные. Если хотя бы на один вопрос ответ «нет» — это не значит «не применять ИИ», это значит «здесь есть структурный пробел, который нужно закрыть до, а не после».</a:t>
            </a:r>
          </a:p>
          <a:p>
            <a:r>
              <a:t>Курс не учит «применяйте ИИ больше» и не учит «бойтесь ИИ» — он учит говорить обоснованное «да» и обоснованное «нет». На парном семинаре вы пройдёте ту же петлю на учебном ИИ-продукте — от гипотезы через reference dataset и три оценки до guardrail-метрики и точки эскалации к человеку. Готов к вопросам.</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jpg"/><Relationship Id="rId5" Type="http://schemas.openxmlformats.org/officeDocument/2006/relationships/hyperlink" Target="https://resources.anthropic.com/2026-agentic-coding-trends-report" TargetMode="External"/><Relationship Id="rId6" Type="http://schemas.openxmlformats.org/officeDocument/2006/relationships/hyperlink" Target="https://mlq.ai/media/quarterly_decks/v0.1_State_of_AI_in_Business_2025_Report.pdf" TargetMode="External"/><Relationship Id="rId7"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5.jpg"/><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image" Target="../media/image7.png"/><Relationship Id="rId4" Type="http://schemas.openxmlformats.org/officeDocument/2006/relationships/image" Target="../media/image8.png"/><Relationship Id="rId5" Type="http://schemas.openxmlformats.org/officeDocument/2006/relationships/image" Target="../media/image9.png"/><Relationship Id="rId6" Type="http://schemas.openxmlformats.org/officeDocument/2006/relationships/image" Target="../media/image10.png"/><Relationship Id="rId7" Type="http://schemas.openxmlformats.org/officeDocument/2006/relationships/image" Target="../media/image11.png"/><Relationship Id="rId8"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image" Target="../media/image7.png"/><Relationship Id="rId4" Type="http://schemas.openxmlformats.org/officeDocument/2006/relationships/image" Target="../media/image8.png"/><Relationship Id="rId5" Type="http://schemas.openxmlformats.org/officeDocument/2006/relationships/image" Target="../media/image9.png"/><Relationship Id="rId6" Type="http://schemas.openxmlformats.org/officeDocument/2006/relationships/image" Target="../media/image10.png"/><Relationship Id="rId7" Type="http://schemas.openxmlformats.org/officeDocument/2006/relationships/image" Target="../media/image11.png"/><Relationship Id="rId8" Type="http://schemas.openxmlformats.org/officeDocument/2006/relationships/image" Target="../media/image12.png"/><Relationship Id="rId9" Type="http://schemas.openxmlformats.org/officeDocument/2006/relationships/image" Target="../media/image13.png"/><Relationship Id="rId10"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 Id="rId3" Type="http://schemas.openxmlformats.org/officeDocument/2006/relationships/image" Target="../media/image15.png"/><Relationship Id="rId4" Type="http://schemas.openxmlformats.org/officeDocument/2006/relationships/image" Target="../media/image16.png"/><Relationship Id="rId5" Type="http://schemas.openxmlformats.org/officeDocument/2006/relationships/image" Target="../media/image17.png"/><Relationship Id="rId6"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png"/><Relationship Id="rId3" Type="http://schemas.openxmlformats.org/officeDocument/2006/relationships/image" Target="../media/image19.png"/><Relationship Id="rId4" Type="http://schemas.openxmlformats.org/officeDocument/2006/relationships/image" Target="../media/image20.png"/><Relationship Id="rId5"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1.jp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hyperlink" Target="https://innovation.ucsd.edu/startup/startup-toolkit/Steve-Blank-CustDev.pdf" TargetMode="External"/><Relationship Id="rId5"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4.png"/><Relationship Id="rId3" Type="http://schemas.openxmlformats.org/officeDocument/2006/relationships/image" Target="../media/image25.png"/><Relationship Id="rId4" Type="http://schemas.openxmlformats.org/officeDocument/2006/relationships/image" Target="../media/image26.png"/><Relationship Id="rId5" Type="http://schemas.openxmlformats.org/officeDocument/2006/relationships/hyperlink" Target="https://www.sachinrekhi.com/p/the-mom-test-rob-fitzpatrick" TargetMode="External"/><Relationship Id="rId6"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7.png"/><Relationship Id="rId3" Type="http://schemas.openxmlformats.org/officeDocument/2006/relationships/image" Target="../media/image28.png"/><Relationship Id="rId4" Type="http://schemas.openxmlformats.org/officeDocument/2006/relationships/image" Target="../media/image29.png"/><Relationship Id="rId5" Type="http://schemas.openxmlformats.org/officeDocument/2006/relationships/hyperlink" Target="https://www.secondtalent.com/resources/perplexity-deep-research-review/" TargetMode="External"/><Relationship Id="rId6" Type="http://schemas.openxmlformats.org/officeDocument/2006/relationships/hyperlink" Target="https://listenlabs.ai/articles/dovetail-ai-qualitative-analysis/" TargetMode="External"/><Relationship Id="rId7" Type="http://schemas.openxmlformats.org/officeDocument/2006/relationships/hyperlink" Target="https://www.nngroup.com/articles/state-of-ux-2026/" TargetMode="External"/><Relationship Id="rId8"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0.png"/><Relationship Id="rId3" Type="http://schemas.openxmlformats.org/officeDocument/2006/relationships/image" Target="../media/image31.png"/><Relationship Id="rId4" Type="http://schemas.openxmlformats.org/officeDocument/2006/relationships/hyperlink" Target="https://cieden.com/podcast/teresa-torres-on-continuous-discovery-in-b2b-and-ai" TargetMode="External"/><Relationship Id="rId5"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2.jp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hyperlink" Target="https://www.nngroup.com/articles/synthetic-users/" TargetMode="External"/><Relationship Id="rId7"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6.png"/><Relationship Id="rId3" Type="http://schemas.openxmlformats.org/officeDocument/2006/relationships/image" Target="../media/image37.png"/><Relationship Id="rId4" Type="http://schemas.openxmlformats.org/officeDocument/2006/relationships/hyperlink" Target="https://fortune.com/2025/10/07/deloitte-ai-australia-government-report-hallucinations-technology-290000-refund" TargetMode="External"/><Relationship Id="rId5" Type="http://schemas.openxmlformats.org/officeDocument/2006/relationships/hyperlink" Target="https://www.damiencharlotin.com/hallucinations/" TargetMode="External"/><Relationship Id="rId6"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image" Target="../media/image38.png"/><Relationship Id="rId4" Type="http://schemas.openxmlformats.org/officeDocument/2006/relationships/image" Target="../media/image39.png"/><Relationship Id="rId5" Type="http://schemas.openxmlformats.org/officeDocument/2006/relationships/hyperlink" Target="https://www.statnews.com/2018/07/25/ibm-watson-recommended-unsafe-incorrect-treatments/" TargetMode="External"/><Relationship Id="rId6" Type="http://schemas.openxmlformats.org/officeDocument/2006/relationships/hyperlink" Target="https://spectrum.ieee.org/how-ibm-watson-overpromised-and-underdelivered-on-ai-health-care" TargetMode="External"/><Relationship Id="rId7"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0.jp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www.designcouncil.org.uk/resources/the-double-diamond/" TargetMode="Externa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1.png"/><Relationship Id="rId3" Type="http://schemas.openxmlformats.org/officeDocument/2006/relationships/image" Target="../media/image42.png"/><Relationship Id="rId4" Type="http://schemas.openxmlformats.org/officeDocument/2006/relationships/image" Target="../media/image43.jpg"/><Relationship Id="rId5" Type="http://schemas.openxmlformats.org/officeDocument/2006/relationships/hyperlink" Target="https://blog.uxtweak.com/usability-heuristics/" TargetMode="External"/><Relationship Id="rId6" Type="http://schemas.openxmlformats.org/officeDocument/2006/relationships/hyperlink" Target="https://medium.com/hippo-digital/you-are-not-the-user-but-what-about-when-you-are-35abe4006b8" TargetMode="External"/><Relationship Id="rId7"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4.png"/><Relationship Id="rId3" Type="http://schemas.openxmlformats.org/officeDocument/2006/relationships/hyperlink" Target="https://www.figma.com/resource-library/ai-design-tools/" TargetMode="External"/><Relationship Id="rId4" Type="http://schemas.openxmlformats.org/officeDocument/2006/relationships/hyperlink" Target="https://www.banani.co/blog/galileo-ai-features-and-alternatives" TargetMode="External"/><Relationship Id="rId5"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5.png"/><Relationship Id="rId3" Type="http://schemas.openxmlformats.org/officeDocument/2006/relationships/image" Target="../media/image46.jpg"/><Relationship Id="rId4" Type="http://schemas.openxmlformats.org/officeDocument/2006/relationships/hyperlink" Target="https://dl.acm.org/doi/10.1145/3800424.3800430" TargetMode="External"/><Relationship Id="rId5"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7.png"/><Relationship Id="rId3" Type="http://schemas.openxmlformats.org/officeDocument/2006/relationships/image" Target="../media/image48.png"/><Relationship Id="rId4" Type="http://schemas.openxmlformats.org/officeDocument/2006/relationships/hyperlink" Target="https://www.washingtonpost.com/nation/2024/10/24/character-ai-lawsuit-suicide/" TargetMode="External"/><Relationship Id="rId5" Type="http://schemas.openxmlformats.org/officeDocument/2006/relationships/hyperlink" Target="https://www.cbsnews.com/news/google-settle-lawsuit-florida-teens-suicide-character-ai-chatbot/" TargetMode="External"/><Relationship Id="rId6"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9.png"/><Relationship Id="rId3" Type="http://schemas.openxmlformats.org/officeDocument/2006/relationships/image" Target="../media/image50.png"/><Relationship Id="rId4" Type="http://schemas.openxmlformats.org/officeDocument/2006/relationships/hyperlink" Target="https://www.eeoc.gov/newsroom/itutorgroup-pay-365000-settle-eeoc-discriminatory-hiring-suit" TargetMode="External"/><Relationship Id="rId5"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1.jpg"/><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2.png"/><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0.png"/><Relationship Id="rId3" Type="http://schemas.openxmlformats.org/officeDocument/2006/relationships/hyperlink" Target="https://effectivesoftwaredesign.com/2021/03/23/lean-startup-principles-vanity-metrics-and-actionable-metrics/" TargetMode="External"/><Relationship Id="rId4" Type="http://schemas.openxmlformats.org/officeDocument/2006/relationships/hyperlink" Target="https://www.stage-gate.com/about/our-story-2/" TargetMode="External"/><Relationship Id="rId5"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3.png"/><Relationship Id="rId3" Type="http://schemas.openxmlformats.org/officeDocument/2006/relationships/hyperlink" Target="https://resources.anthropic.com/2026-agentic-coding-trends-report" TargetMode="External"/><Relationship Id="rId4"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www.lennysnewsletter.com/p/why-your-ai-product-needs-a-different" TargetMode="Externa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hyperlink" Target="https://addyo.substack.com/p/the-70-problem-hard-truths-about-ai-assisted-coding" TargetMode="External"/><Relationship Id="rId4"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4.jpg"/><Relationship Id="rId3" Type="http://schemas.openxmlformats.org/officeDocument/2006/relationships/image" Target="../media/image55.png"/><Relationship Id="rId4" Type="http://schemas.openxmlformats.org/officeDocument/2006/relationships/hyperlink" Target="https://www.forbes.com/sites/roberthart/2024/05/31/google-restricts-ai-search-tool-after-nonsensical-answers-told-people-to-eat-rocks-and-put-glue-on-pizza/" TargetMode="External"/><Relationship Id="rId5" Type="http://schemas.openxmlformats.org/officeDocument/2006/relationships/hyperlink" Target="https://www.androidpolice.com/google-pizza-glue-loop-ai-overviews/" TargetMode="External"/><Relationship Id="rId6"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6.png"/><Relationship Id="rId3" Type="http://schemas.openxmlformats.org/officeDocument/2006/relationships/hyperlink" Target="https://www.cnbc.com/2024/06/17/mcdonalds-to-end-ibm-ai-drive-thru-test.html" TargetMode="External"/><Relationship Id="rId4" Type="http://schemas.openxmlformats.org/officeDocument/2006/relationships/hyperlink" Target="https://www.nrn.com/quick-service/mcdonald-s-is-ending-its-ai-drive-thru-test-with-ibm" TargetMode="External"/><Relationship Id="rId5"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7.jpg"/><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8.png"/><Relationship Id="rId3" Type="http://schemas.openxmlformats.org/officeDocument/2006/relationships/image" Target="../media/image59.png"/><Relationship Id="rId4" Type="http://schemas.openxmlformats.org/officeDocument/2006/relationships/image" Target="../media/image60.png"/><Relationship Id="rId5" Type="http://schemas.openxmlformats.org/officeDocument/2006/relationships/hyperlink" Target="https://www.linkedin.com/pulse/overall-evaluation-criterion-oec-ronny-kohavi" TargetMode="External"/><Relationship Id="rId6" Type="http://schemas.openxmlformats.org/officeDocument/2006/relationships/hyperlink" Target="https://en.wikipedia.org/wiki/A/B_testing" TargetMode="External"/><Relationship Id="rId7"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1.png"/><Relationship Id="rId3" Type="http://schemas.openxmlformats.org/officeDocument/2006/relationships/image" Target="../media/image6.png"/><Relationship Id="rId4" Type="http://schemas.openxmlformats.org/officeDocument/2006/relationships/image" Target="../media/image61.png"/><Relationship Id="rId5" Type="http://schemas.openxmlformats.org/officeDocument/2006/relationships/hyperlink" Target="https://www.microsoft.com/en-us/research/articles/diagnosing-sample-ratio-mismatch-in-a-b-testing/" TargetMode="External"/><Relationship Id="rId6" Type="http://schemas.openxmlformats.org/officeDocument/2006/relationships/hyperlink" Target="https://gopractice.io/data/peeking-problem/" TargetMode="External"/><Relationship Id="rId7" Type="http://schemas.openxmlformats.org/officeDocument/2006/relationships/hyperlink" Target="https://exp-platform.com/" TargetMode="External"/><Relationship Id="rId8"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2.png"/><Relationship Id="rId3" Type="http://schemas.openxmlformats.org/officeDocument/2006/relationships/hyperlink" Target="https://resources.anthropic.com/2026-agentic-coding-trends-report" TargetMode="External"/><Relationship Id="rId4" Type="http://schemas.openxmlformats.org/officeDocument/2006/relationships/hyperlink" Target="https://arxiv.org/abs/2306.05685" TargetMode="External"/><Relationship Id="rId5"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3.png"/><Relationship Id="rId3" Type="http://schemas.openxmlformats.org/officeDocument/2006/relationships/hyperlink" Target="https://deepmind.google/blog/specification-gaming-the-flip-side-of-ai-ingenuity/" TargetMode="External"/><Relationship Id="rId4" Type="http://schemas.openxmlformats.org/officeDocument/2006/relationships/hyperlink" Target="https://arxiv.org/abs/2406.10162" TargetMode="External"/><Relationship Id="rId5"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4.jpg"/><Relationship Id="rId3" Type="http://schemas.openxmlformats.org/officeDocument/2006/relationships/image" Target="../media/image65.png"/><Relationship Id="rId4" Type="http://schemas.openxmlformats.org/officeDocument/2006/relationships/hyperlink" Target="https://www.techdirt.com/2021/10/28/let-me-rewrite-that-you-washington-post-misinforms-you-about-how-facebook-weighted-emoji-reactions/" TargetMode="External"/><Relationship Id="rId5" Type="http://schemas.openxmlformats.org/officeDocument/2006/relationships/hyperlink" Target="https://docs.house.gov/meetings/IF/IF16/20211201/114268/HHRG-117-IF16-20211201-SD012.pdf" TargetMode="External"/><Relationship Id="rId6"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www.nature.com/articles/s41591-024-03423-7" TargetMode="External"/><Relationship Id="rId3" Type="http://schemas.openxmlformats.org/officeDocument/2006/relationships/hyperlink" Target="https://en.wikipedia.org/wiki/Mata_v._Avianca,_Inc." TargetMode="External"/><Relationship Id="rId4" Type="http://schemas.openxmlformats.org/officeDocument/2006/relationships/hyperlink" Target="https://onlinelibrary.wiley.com/doi/full/10.1111/jels.12413" TargetMode="External"/><Relationship Id="rId5"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6.jpg"/><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4.png"/><Relationship Id="rId3" Type="http://schemas.openxmlformats.org/officeDocument/2006/relationships/hyperlink" Target="https://sre.google/workbook/error-budget-policy/" TargetMode="External"/><Relationship Id="rId4"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png"/><Relationship Id="rId3" Type="http://schemas.openxmlformats.org/officeDocument/2006/relationships/image" Target="../media/image67.png"/><Relationship Id="rId4" Type="http://schemas.openxmlformats.org/officeDocument/2006/relationships/hyperlink" Target="https://www.confident-ai.com/knowledge-base/compare/top-7-llm-observability-tools" TargetMode="External"/><Relationship Id="rId5" Type="http://schemas.openxmlformats.org/officeDocument/2006/relationships/hyperlink" Target="https://thehackernews.com/2026/03/5-learnings-from-first-ever-gartner.html" TargetMode="External"/><Relationship Id="rId6"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8.jpg"/><Relationship Id="rId3" Type="http://schemas.openxmlformats.org/officeDocument/2006/relationships/image" Target="../media/image69.png"/><Relationship Id="rId4"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0.png"/><Relationship Id="rId3" Type="http://schemas.openxmlformats.org/officeDocument/2006/relationships/image" Target="../media/image61.png"/><Relationship Id="rId4" Type="http://schemas.openxmlformats.org/officeDocument/2006/relationships/image" Target="../media/image71.png"/><Relationship Id="rId5" Type="http://schemas.openxmlformats.org/officeDocument/2006/relationships/hyperlink" Target="https://www.geekwire.com/2021/ibuying-algorithms-failed-zillow-says-business-worlds-love-affair-ai/" TargetMode="External"/><Relationship Id="rId6" Type="http://schemas.openxmlformats.org/officeDocument/2006/relationships/hyperlink" Target="https://www.sec.gov/Archives/edgar/data/1617640/000161764022000013/z-20211231.htm" TargetMode="External"/><Relationship Id="rId7"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2.jpg"/><Relationship Id="rId3" Type="http://schemas.openxmlformats.org/officeDocument/2006/relationships/image" Target="../media/image11.png"/><Relationship Id="rId4" Type="http://schemas.openxmlformats.org/officeDocument/2006/relationships/hyperlink" Target="https://www.canlii.org/en/bc/bccrt/doc/2024/2024bccrt149/2024bccrt149.html" TargetMode="External"/><Relationship Id="rId5" Type="http://schemas.openxmlformats.org/officeDocument/2006/relationships/hyperlink" Target="https://www.americanbar.org/groups/business_law/resources/business-law-today/2024-february/bc-tribunal-confirms-companies-remain-liable-information-provided-ai-chatbot/" TargetMode="External"/><Relationship Id="rId6"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3.png"/><Relationship Id="rId3" Type="http://schemas.openxmlformats.org/officeDocument/2006/relationships/image" Target="../media/image74.png"/><Relationship Id="rId4" Type="http://schemas.openxmlformats.org/officeDocument/2006/relationships/image" Target="../media/image75.png"/><Relationship Id="rId5" Type="http://schemas.openxmlformats.org/officeDocument/2006/relationships/hyperlink" Target="https://www.bloomberg.com/news/articles/2025-05-08/klarna-turns-from-ai-to-real-person-customer-service" TargetMode="External"/><Relationship Id="rId6" Type="http://schemas.openxmlformats.org/officeDocument/2006/relationships/hyperlink" Target="https://fortune.com/2025/10/10/klarna-ceo-sebastian-siemiatkowski-halved-workforce-says-tech-ceos-sugarcoating-ai-impact-on-jobs-mass-unemployment-warning/" TargetMode="External"/><Relationship Id="rId7" Type="http://schemas.openxmlformats.org/officeDocument/2006/relationships/hyperlink" Target="https://themarkup.org/artificial-intelligence/2024/03/29/nycs-ai-chatbot-tells-businesses-to-break-the-law" TargetMode="External"/><Relationship Id="rId8"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6.jpg"/><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www.deloitte.com/us/en/about/press-room/2026-global-technology-leadership-study-release.html" TargetMode="External"/><Relationship Id="rId3" Type="http://schemas.openxmlformats.org/officeDocument/2006/relationships/hyperlink" Target="https://rabota.sber.ru/search/lider-ai-pdlc-4548579/" TargetMode="External"/><Relationship Id="rId4"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7.png"/><Relationship Id="rId3" Type="http://schemas.openxmlformats.org/officeDocument/2006/relationships/image" Target="../media/image78.jpg"/><Relationship Id="rId4" Type="http://schemas.openxmlformats.org/officeDocument/2006/relationships/hyperlink" Target="https://mlq.ai/media/quarterly_decks/v0.1_State_of_AI_in_Business_2025_Report.pdf" TargetMode="External"/><Relationship Id="rId5" Type="http://schemas.openxmlformats.org/officeDocument/2006/relationships/hyperlink" Target="https://fortune.com/2025/08/18/mit-report-95-percent-generative-ai-pilots-at-companies-failing-cfo/" TargetMode="External"/><Relationship Id="rId6" Type="http://schemas.openxmlformats.org/officeDocument/2006/relationships/hyperlink" Target="https://newmr.org/blog/myth-number-2-mit-showed-that-95-of-ai-pilots-fail/" TargetMode="External"/><Relationship Id="rId7" Type="http://schemas.openxmlformats.org/officeDocument/2006/relationships/hyperlink" Target="https://www.gartner.com/en/newsroom/press-releases/2026-04-07-gartner-says-artificial-intelligence-projects-in-infrastructure-and-operations-stall-ahead-of-meaningful-roi-returns" TargetMode="External"/><Relationship Id="rId8" Type="http://schemas.openxmlformats.org/officeDocument/2006/relationships/hyperlink" Target="https://www.bcg.com/publications/2025/closing-the-ai-impact-gap" TargetMode="External"/><Relationship Id="rId9"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9.jpg"/><Relationship Id="rId3" Type="http://schemas.openxmlformats.org/officeDocument/2006/relationships/image" Target="../media/image80.png"/><Relationship Id="rId4" Type="http://schemas.openxmlformats.org/officeDocument/2006/relationships/hyperlink" Target="https://www.business-standard.com/companies/news/amazon-s-just-walk-out-checkout-tech-was-powered-by-1-000-indian-workers-124040400463_1.html" TargetMode="External"/><Relationship Id="rId5" Type="http://schemas.openxmlformats.org/officeDocument/2006/relationships/hyperlink" Target="https://www.retaildive.com/news/amazon-removes-just-walk-out-tech-amazon-fresh-stores-dash-carts/712150" TargetMode="External"/><Relationship Id="rId6"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1.png"/><Relationship Id="rId3" Type="http://schemas.openxmlformats.org/officeDocument/2006/relationships/image" Target="../media/image82.png"/><Relationship Id="rId4" Type="http://schemas.openxmlformats.org/officeDocument/2006/relationships/notesSlide" Target="../notesSlides/notesSlide56.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274320"/>
            <a:ext cx="11155680" cy="731520"/>
          </a:xfrm>
          <a:prstGeom prst="rect">
            <a:avLst/>
          </a:prstGeom>
          <a:noFill/>
        </p:spPr>
        <p:txBody>
          <a:bodyPr wrap="square" lIns="0" rIns="0" tIns="0" bIns="0" anchor="t">
            <a:spAutoFit/>
          </a:bodyPr>
          <a:lstStyle/>
          <a:p>
            <a:pPr algn="l">
              <a:lnSpc>
                <a:spcPct val="110000"/>
              </a:lnSpc>
            </a:pPr>
            <a:r>
              <a:rPr sz="2100" b="1" i="0">
                <a:solidFill>
                  <a:srgbClr val="21295C"/>
                </a:solidFill>
                <a:latin typeface="DejaVu Sans"/>
              </a:rPr>
              <a:t>Сборка почти бесплатна. Почему тогда почти никто не извлекает из этого пользу?</a:t>
            </a:r>
          </a:p>
        </p:txBody>
      </p:sp>
      <p:sp>
        <p:nvSpPr>
          <p:cNvPr id="3" name="Rounded Rectangle 2"/>
          <p:cNvSpPr/>
          <p:nvPr/>
        </p:nvSpPr>
        <p:spPr>
          <a:xfrm>
            <a:off x="502920" y="1188720"/>
            <a:ext cx="3977639" cy="1481328"/>
          </a:xfrm>
          <a:prstGeom prst="roundRect">
            <a:avLst>
              <a:gd name="adj" fmla="val 20576"/>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ock-mid.png"/>
          <p:cNvPicPr>
            <a:picLocks noChangeAspect="1"/>
          </p:cNvPicPr>
          <p:nvPr/>
        </p:nvPicPr>
        <p:blipFill>
          <a:blip r:embed="rId2"/>
          <a:stretch>
            <a:fillRect/>
          </a:stretch>
        </p:blipFill>
        <p:spPr>
          <a:xfrm>
            <a:off x="722376" y="1371600"/>
            <a:ext cx="731520" cy="731520"/>
          </a:xfrm>
          <a:prstGeom prst="rect">
            <a:avLst/>
          </a:prstGeom>
        </p:spPr>
      </p:pic>
      <p:sp>
        <p:nvSpPr>
          <p:cNvPr id="5" name="TextBox 4"/>
          <p:cNvSpPr txBox="1"/>
          <p:nvPr/>
        </p:nvSpPr>
        <p:spPr>
          <a:xfrm>
            <a:off x="1581912" y="1335024"/>
            <a:ext cx="2697479" cy="685800"/>
          </a:xfrm>
          <a:prstGeom prst="rect">
            <a:avLst/>
          </a:prstGeom>
          <a:noFill/>
        </p:spPr>
        <p:txBody>
          <a:bodyPr wrap="square" lIns="0" rIns="0" tIns="0" bIns="0" anchor="ctr">
            <a:spAutoFit/>
          </a:bodyPr>
          <a:lstStyle/>
          <a:p>
            <a:pPr algn="l">
              <a:lnSpc>
                <a:spcPct val="102000"/>
              </a:lnSpc>
            </a:pPr>
            <a:r>
              <a:rPr sz="1400" b="1" i="0">
                <a:solidFill>
                  <a:srgbClr val="065A82"/>
                </a:solidFill>
                <a:latin typeface="DejaVu Sans"/>
              </a:rPr>
              <a:t>Недели работы → часы </a:t>
            </a:r>
            <a:r>
              <a:rPr sz="728" baseline="30000" b="0" i="1">
                <a:latin typeface="DejaVu Sans"/>
                <a:cs typeface="DejaVu Sans"/>
                <a:ea typeface="DejaVu Sans"/>
                <a:solidFill>
                  <a:srgbClr val="1C7293"/>
                </a:solidFill>
              </a:rPr>
              <a:t>[1]</a:t>
            </a:r>
          </a:p>
        </p:txBody>
      </p:sp>
      <p:sp>
        <p:nvSpPr>
          <p:cNvPr id="6" name="TextBox 5"/>
          <p:cNvSpPr txBox="1"/>
          <p:nvPr/>
        </p:nvSpPr>
        <p:spPr>
          <a:xfrm>
            <a:off x="1581912" y="2286000"/>
            <a:ext cx="2697479" cy="310896"/>
          </a:xfrm>
          <a:prstGeom prst="rect">
            <a:avLst/>
          </a:prstGeom>
          <a:noFill/>
        </p:spPr>
        <p:txBody>
          <a:bodyPr wrap="square" lIns="0" rIns="0" tIns="0" bIns="0" anchor="t">
            <a:spAutoFit/>
          </a:bodyPr>
          <a:lstStyle/>
          <a:p>
            <a:pPr algn="l">
              <a:lnSpc>
                <a:spcPct val="115000"/>
              </a:lnSpc>
            </a:pPr>
            <a:r>
              <a:rPr sz="1050" b="0" i="1">
                <a:solidFill>
                  <a:srgbClr val="5B6678"/>
                </a:solidFill>
                <a:latin typeface="DejaVu Sans"/>
              </a:rPr>
              <a:t>внутренний опыт Anthropic</a:t>
            </a:r>
          </a:p>
        </p:txBody>
      </p:sp>
      <p:sp>
        <p:nvSpPr>
          <p:cNvPr id="7" name="Rounded Rectangle 6"/>
          <p:cNvSpPr/>
          <p:nvPr/>
        </p:nvSpPr>
        <p:spPr>
          <a:xfrm>
            <a:off x="502920" y="2816352"/>
            <a:ext cx="3977639" cy="1481328"/>
          </a:xfrm>
          <a:prstGeom prst="roundRect">
            <a:avLst>
              <a:gd name="adj" fmla="val 20576"/>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funnel-teal.png"/>
          <p:cNvPicPr>
            <a:picLocks noChangeAspect="1"/>
          </p:cNvPicPr>
          <p:nvPr/>
        </p:nvPicPr>
        <p:blipFill>
          <a:blip r:embed="rId3"/>
          <a:stretch>
            <a:fillRect/>
          </a:stretch>
        </p:blipFill>
        <p:spPr>
          <a:xfrm>
            <a:off x="722376" y="2999232"/>
            <a:ext cx="731520" cy="731520"/>
          </a:xfrm>
          <a:prstGeom prst="rect">
            <a:avLst/>
          </a:prstGeom>
        </p:spPr>
      </p:pic>
      <p:sp>
        <p:nvSpPr>
          <p:cNvPr id="9" name="TextBox 8"/>
          <p:cNvSpPr txBox="1"/>
          <p:nvPr/>
        </p:nvSpPr>
        <p:spPr>
          <a:xfrm>
            <a:off x="1581912" y="2962656"/>
            <a:ext cx="2697479" cy="685800"/>
          </a:xfrm>
          <a:prstGeom prst="rect">
            <a:avLst/>
          </a:prstGeom>
          <a:noFill/>
        </p:spPr>
        <p:txBody>
          <a:bodyPr wrap="square" lIns="0" rIns="0" tIns="0" bIns="0" anchor="ctr">
            <a:spAutoFit/>
          </a:bodyPr>
          <a:lstStyle/>
          <a:p>
            <a:pPr algn="l">
              <a:lnSpc>
                <a:spcPct val="102000"/>
              </a:lnSpc>
            </a:pPr>
            <a:r>
              <a:rPr sz="1400" b="1" i="0">
                <a:solidFill>
                  <a:srgbClr val="028090"/>
                </a:solidFill>
                <a:latin typeface="DejaVu Sans"/>
              </a:rPr>
              <a:t>~95% пилотов — ноль отдачи </a:t>
            </a:r>
            <a:r>
              <a:rPr sz="728" baseline="30000" b="0" i="1">
                <a:latin typeface="DejaVu Sans"/>
                <a:cs typeface="DejaVu Sans"/>
                <a:ea typeface="DejaVu Sans"/>
                <a:solidFill>
                  <a:srgbClr val="1C7293"/>
                </a:solidFill>
              </a:rPr>
              <a:t>[2]</a:t>
            </a:r>
          </a:p>
        </p:txBody>
      </p:sp>
      <p:sp>
        <p:nvSpPr>
          <p:cNvPr id="10" name="TextBox 9"/>
          <p:cNvSpPr txBox="1"/>
          <p:nvPr/>
        </p:nvSpPr>
        <p:spPr>
          <a:xfrm>
            <a:off x="1581912" y="3913632"/>
            <a:ext cx="2697479" cy="310896"/>
          </a:xfrm>
          <a:prstGeom prst="rect">
            <a:avLst/>
          </a:prstGeom>
          <a:noFill/>
        </p:spPr>
        <p:txBody>
          <a:bodyPr wrap="square" lIns="0" rIns="0" tIns="0" bIns="0" anchor="t">
            <a:spAutoFit/>
          </a:bodyPr>
          <a:lstStyle/>
          <a:p>
            <a:pPr algn="l">
              <a:lnSpc>
                <a:spcPct val="115000"/>
              </a:lnSpc>
            </a:pPr>
            <a:r>
              <a:rPr sz="1050" b="0" i="1">
                <a:solidFill>
                  <a:srgbClr val="5B6678"/>
                </a:solidFill>
                <a:latin typeface="DejaVu Sans"/>
              </a:rPr>
              <a:t>MIT, лето 2025</a:t>
            </a:r>
          </a:p>
        </p:txBody>
      </p:sp>
      <p:sp>
        <p:nvSpPr>
          <p:cNvPr id="11" name="Rounded Rectangle 10"/>
          <p:cNvSpPr/>
          <p:nvPr/>
        </p:nvSpPr>
        <p:spPr>
          <a:xfrm>
            <a:off x="502920" y="4462272"/>
            <a:ext cx="3977639" cy="1956816"/>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22376" y="4517136"/>
            <a:ext cx="3538727" cy="1847088"/>
          </a:xfrm>
          <a:prstGeom prst="rect">
            <a:avLst/>
          </a:prstGeom>
          <a:noFill/>
        </p:spPr>
        <p:txBody>
          <a:bodyPr wrap="square" lIns="0" rIns="0" tIns="0" bIns="0" anchor="ctr">
            <a:spAutoFit/>
          </a:bodyPr>
          <a:lstStyle/>
          <a:p>
            <a:pPr algn="l">
              <a:lnSpc>
                <a:spcPct val="120000"/>
              </a:lnSpc>
            </a:pPr>
            <a:r>
              <a:rPr sz="1300" b="1" i="0">
                <a:solidFill>
                  <a:srgbClr val="21295C"/>
                </a:solidFill>
                <a:latin typeface="DejaVu Sans"/>
              </a:rPr>
              <a:t>Оба факта правдивы одновременно: сборка стала почти бесплатной, а превращение сборки в ценность — нет. Держите вопрос — вернёмся к нему в конце лекции.</a:t>
            </a:r>
          </a:p>
        </p:txBody>
      </p:sp>
      <p:sp>
        <p:nvSpPr>
          <p:cNvPr id="13" name="Rounded Rectangle 12"/>
          <p:cNvSpPr/>
          <p:nvPr/>
        </p:nvSpPr>
        <p:spPr>
          <a:xfrm>
            <a:off x="4709160" y="1188720"/>
            <a:ext cx="6995160" cy="4846320"/>
          </a:xfrm>
          <a:prstGeom prst="roundRect">
            <a:avLst>
              <a:gd name="adj" fmla="val 6289"/>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s01-spiderman-pointing.jpg"/>
          <p:cNvPicPr>
            <a:picLocks noChangeAspect="1"/>
          </p:cNvPicPr>
          <p:nvPr/>
        </p:nvPicPr>
        <p:blipFill>
          <a:blip r:embed="rId4"/>
          <a:stretch>
            <a:fillRect/>
          </a:stretch>
        </p:blipFill>
        <p:spPr>
          <a:xfrm>
            <a:off x="4873752" y="1737074"/>
            <a:ext cx="6665976" cy="3749612"/>
          </a:xfrm>
          <a:prstGeom prst="rect">
            <a:avLst/>
          </a:prstGeom>
        </p:spPr>
      </p:pic>
      <p:sp>
        <p:nvSpPr>
          <p:cNvPr id="15" name="TextBox 14"/>
          <p:cNvSpPr txBox="1"/>
          <p:nvPr/>
        </p:nvSpPr>
        <p:spPr>
          <a:xfrm>
            <a:off x="502920" y="6455664"/>
            <a:ext cx="11201400" cy="548640"/>
          </a:xfrm>
          <a:prstGeom prst="rect">
            <a:avLst/>
          </a:prstGeom>
          <a:noFill/>
        </p:spPr>
        <p:txBody>
          <a:bodyPr wrap="square" lIns="0" rIns="0" tIns="0" bIns="0" anchor="t">
            <a:spAutoFit/>
          </a:bodyPr>
          <a:lstStyle/>
          <a:p>
            <a:pPr algn="l">
              <a:lnSpc>
                <a:spcPct val="102000"/>
              </a:lnSpc>
            </a:pPr>
            <a:r>
              <a:rPr sz="850" b="1" i="1">
                <a:solidFill>
                  <a:srgbClr val="065A82"/>
                </a:solidFill>
                <a:latin typeface="DejaVu Sans"/>
              </a:rPr>
              <a:t>[1] </a:t>
            </a:r>
            <a:r>
              <a:rPr sz="850" i="1">
                <a:solidFill>
                  <a:srgbClr val="1C7293"/>
                </a:solidFill>
                <a:latin typeface="DejaVu Sans"/>
                <a:hlinkClick r:id="rId5"/>
              </a:rPr>
              <a:t>Anthropic — 2026 Agentic Coding Trends Report</a:t>
            </a:r>
            <a:r>
              <a:rPr sz="850" i="1">
                <a:solidFill>
                  <a:srgbClr val="1C7293"/>
                </a:solidFill>
                <a:latin typeface="DejaVu Sans"/>
              </a:rPr>
              <a:t>   ·   </a:t>
            </a:r>
            <a:r>
              <a:rPr sz="850" b="1" i="1">
                <a:solidFill>
                  <a:srgbClr val="065A82"/>
                </a:solidFill>
                <a:latin typeface="DejaVu Sans"/>
              </a:rPr>
              <a:t>[2] </a:t>
            </a:r>
            <a:r>
              <a:rPr sz="850" i="1">
                <a:solidFill>
                  <a:srgbClr val="1C7293"/>
                </a:solidFill>
                <a:latin typeface="DejaVu Sans"/>
                <a:hlinkClick r:id="rId6"/>
              </a:rPr>
              <a:t>MIT NANDA — «The GenAI Divide» (июль 2025, v0.1)</a:t>
            </a:r>
          </a:p>
        </p:txBody>
      </p:sp>
      <p:sp>
        <p:nvSpPr>
          <p:cNvPr id="16" name="TextBox 15"/>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1 / 56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4F7FA"/>
        </a:solidFill>
        <a:effectLst/>
      </p:bgPr>
    </p:bg>
    <p:spTree>
      <p:nvGrpSpPr>
        <p:cNvPr id="1" name=""/>
        <p:cNvGrpSpPr/>
        <p:nvPr/>
      </p:nvGrpSpPr>
      <p:grpSpPr/>
      <p:cxnSp>
        <p:nvCxnSpPr>
          <p:cNvPr id="2" name="Connector 1"/>
          <p:cNvCxnSpPr/>
          <p:nvPr/>
        </p:nvCxnSpPr>
        <p:spPr>
          <a:xfrm>
            <a:off x="2880360" y="1188720"/>
            <a:ext cx="1227435" cy="708660"/>
          </a:xfrm>
          <a:prstGeom prst="line">
            <a:avLst/>
          </a:prstGeom>
          <a:ln w="25400">
            <a:solidFill>
              <a:srgbClr val="1C7293"/>
            </a:solidFill>
          </a:ln>
        </p:spPr>
        <p:style>
          <a:lnRef idx="2">
            <a:schemeClr val="accent1"/>
          </a:lnRef>
          <a:fillRef idx="0">
            <a:schemeClr val="accent1"/>
          </a:fillRef>
          <a:effectRef idx="1">
            <a:schemeClr val="accent1"/>
          </a:effectRef>
          <a:fontRef idx="minor">
            <a:schemeClr val="tx1"/>
          </a:fontRef>
        </p:style>
      </p:cxnSp>
      <p:cxnSp>
        <p:nvCxnSpPr>
          <p:cNvPr id="3" name="Connector 2"/>
          <p:cNvCxnSpPr/>
          <p:nvPr/>
        </p:nvCxnSpPr>
        <p:spPr>
          <a:xfrm>
            <a:off x="4107795" y="1897380"/>
            <a:ext cx="0" cy="1417320"/>
          </a:xfrm>
          <a:prstGeom prst="line">
            <a:avLst/>
          </a:prstGeom>
          <a:ln w="25400">
            <a:solidFill>
              <a:srgbClr val="1C7293"/>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flipH="1">
            <a:off x="2880360" y="3314700"/>
            <a:ext cx="1227435" cy="708660"/>
          </a:xfrm>
          <a:prstGeom prst="line">
            <a:avLst/>
          </a:prstGeom>
          <a:ln w="25400">
            <a:solidFill>
              <a:srgbClr val="1C7293"/>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flipH="1" flipV="1">
            <a:off x="1652924" y="3314700"/>
            <a:ext cx="1227436" cy="708660"/>
          </a:xfrm>
          <a:prstGeom prst="line">
            <a:avLst/>
          </a:prstGeom>
          <a:ln w="25400">
            <a:solidFill>
              <a:srgbClr val="1C7293"/>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flipV="1">
            <a:off x="1652924" y="1897380"/>
            <a:ext cx="0" cy="1417320"/>
          </a:xfrm>
          <a:prstGeom prst="line">
            <a:avLst/>
          </a:prstGeom>
          <a:ln w="25400">
            <a:solidFill>
              <a:srgbClr val="1C7293"/>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flipV="1">
            <a:off x="1652924" y="1188720"/>
            <a:ext cx="1227436" cy="708660"/>
          </a:xfrm>
          <a:prstGeom prst="line">
            <a:avLst/>
          </a:prstGeom>
          <a:ln w="25400">
            <a:solidFill>
              <a:srgbClr val="1C7293"/>
            </a:solidFill>
          </a:ln>
        </p:spPr>
        <p:style>
          <a:lnRef idx="2">
            <a:schemeClr val="accent1"/>
          </a:lnRef>
          <a:fillRef idx="0">
            <a:schemeClr val="accent1"/>
          </a:fillRef>
          <a:effectRef idx="1">
            <a:schemeClr val="accent1"/>
          </a:effectRef>
          <a:fontRef idx="minor">
            <a:schemeClr val="tx1"/>
          </a:fontRef>
        </p:style>
      </p:cxnSp>
      <p:sp>
        <p:nvSpPr>
          <p:cNvPr id="8" name="Oval 7"/>
          <p:cNvSpPr/>
          <p:nvPr/>
        </p:nvSpPr>
        <p:spPr>
          <a:xfrm>
            <a:off x="2606040" y="914400"/>
            <a:ext cx="548640" cy="548640"/>
          </a:xfrm>
          <a:prstGeom prst="ellipse">
            <a:avLst/>
          </a:prstGeom>
          <a:solidFill>
            <a:srgbClr val="F0AB00"/>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2103120" y="1481328"/>
            <a:ext cx="1554480" cy="384048"/>
          </a:xfrm>
          <a:prstGeom prst="rect">
            <a:avLst/>
          </a:prstGeom>
          <a:noFill/>
        </p:spPr>
        <p:txBody>
          <a:bodyPr wrap="square" lIns="0" rIns="0" tIns="0" bIns="0" anchor="t">
            <a:spAutoFit/>
          </a:bodyPr>
          <a:lstStyle/>
          <a:p>
            <a:pPr algn="ctr">
              <a:lnSpc>
                <a:spcPct val="90000"/>
              </a:lnSpc>
            </a:pPr>
            <a:r>
              <a:rPr sz="900" b="1" i="0">
                <a:solidFill>
                  <a:srgbClr val="21295C"/>
                </a:solidFill>
                <a:latin typeface="DejaVu Sans"/>
              </a:rPr>
              <a:t>Исследование</a:t>
            </a:r>
          </a:p>
        </p:txBody>
      </p:sp>
      <p:sp>
        <p:nvSpPr>
          <p:cNvPr id="10" name="Oval 9"/>
          <p:cNvSpPr/>
          <p:nvPr/>
        </p:nvSpPr>
        <p:spPr>
          <a:xfrm>
            <a:off x="3833475" y="1623060"/>
            <a:ext cx="548640" cy="548640"/>
          </a:xfrm>
          <a:prstGeom prst="ellipse">
            <a:avLst/>
          </a:prstGeom>
          <a:solidFill>
            <a:srgbClr val="065A82"/>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330555" y="2189988"/>
            <a:ext cx="1554480" cy="384048"/>
          </a:xfrm>
          <a:prstGeom prst="rect">
            <a:avLst/>
          </a:prstGeom>
          <a:noFill/>
        </p:spPr>
        <p:txBody>
          <a:bodyPr wrap="square" lIns="0" rIns="0" tIns="0" bIns="0" anchor="t">
            <a:spAutoFit/>
          </a:bodyPr>
          <a:lstStyle/>
          <a:p>
            <a:pPr algn="ctr">
              <a:lnSpc>
                <a:spcPct val="90000"/>
              </a:lnSpc>
            </a:pPr>
            <a:r>
              <a:rPr sz="900" b="1" i="0">
                <a:solidFill>
                  <a:srgbClr val="21295C"/>
                </a:solidFill>
                <a:latin typeface="DejaVu Sans"/>
              </a:rPr>
              <a:t>Дизайн</a:t>
            </a:r>
          </a:p>
        </p:txBody>
      </p:sp>
      <p:sp>
        <p:nvSpPr>
          <p:cNvPr id="12" name="Oval 11"/>
          <p:cNvSpPr/>
          <p:nvPr/>
        </p:nvSpPr>
        <p:spPr>
          <a:xfrm>
            <a:off x="3833475" y="3040380"/>
            <a:ext cx="548640" cy="548640"/>
          </a:xfrm>
          <a:prstGeom prst="ellipse">
            <a:avLst/>
          </a:prstGeom>
          <a:solidFill>
            <a:srgbClr val="065A82"/>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330555" y="3607308"/>
            <a:ext cx="1554480" cy="384048"/>
          </a:xfrm>
          <a:prstGeom prst="rect">
            <a:avLst/>
          </a:prstGeom>
          <a:noFill/>
        </p:spPr>
        <p:txBody>
          <a:bodyPr wrap="square" lIns="0" rIns="0" tIns="0" bIns="0" anchor="t">
            <a:spAutoFit/>
          </a:bodyPr>
          <a:lstStyle/>
          <a:p>
            <a:pPr algn="ctr">
              <a:lnSpc>
                <a:spcPct val="90000"/>
              </a:lnSpc>
            </a:pPr>
            <a:r>
              <a:rPr sz="900" b="1" i="0">
                <a:solidFill>
                  <a:srgbClr val="21295C"/>
                </a:solidFill>
                <a:latin typeface="DejaVu Sans"/>
              </a:rPr>
              <a:t>Сборка</a:t>
            </a:r>
          </a:p>
          <a:p>
            <a:pPr algn="ctr">
              <a:lnSpc>
                <a:spcPct val="90000"/>
              </a:lnSpc>
            </a:pPr>
            <a:r>
              <a:rPr sz="900" b="1" i="0">
                <a:solidFill>
                  <a:srgbClr val="21295C"/>
                </a:solidFill>
                <a:latin typeface="DejaVu Sans"/>
              </a:rPr>
              <a:t>и запуск</a:t>
            </a:r>
          </a:p>
        </p:txBody>
      </p:sp>
      <p:sp>
        <p:nvSpPr>
          <p:cNvPr id="14" name="Oval 13"/>
          <p:cNvSpPr/>
          <p:nvPr/>
        </p:nvSpPr>
        <p:spPr>
          <a:xfrm>
            <a:off x="2606040" y="3749040"/>
            <a:ext cx="548640" cy="548640"/>
          </a:xfrm>
          <a:prstGeom prst="ellipse">
            <a:avLst/>
          </a:prstGeom>
          <a:solidFill>
            <a:srgbClr val="065A82"/>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2103120" y="4315968"/>
            <a:ext cx="1554480" cy="384048"/>
          </a:xfrm>
          <a:prstGeom prst="rect">
            <a:avLst/>
          </a:prstGeom>
          <a:noFill/>
        </p:spPr>
        <p:txBody>
          <a:bodyPr wrap="square" lIns="0" rIns="0" tIns="0" bIns="0" anchor="t">
            <a:spAutoFit/>
          </a:bodyPr>
          <a:lstStyle/>
          <a:p>
            <a:pPr algn="ctr">
              <a:lnSpc>
                <a:spcPct val="90000"/>
              </a:lnSpc>
            </a:pPr>
            <a:r>
              <a:rPr sz="900" b="1" i="0">
                <a:solidFill>
                  <a:srgbClr val="21295C"/>
                </a:solidFill>
                <a:latin typeface="DejaVu Sans"/>
              </a:rPr>
              <a:t>Измерение</a:t>
            </a:r>
          </a:p>
        </p:txBody>
      </p:sp>
      <p:sp>
        <p:nvSpPr>
          <p:cNvPr id="16" name="Oval 15"/>
          <p:cNvSpPr/>
          <p:nvPr/>
        </p:nvSpPr>
        <p:spPr>
          <a:xfrm>
            <a:off x="1378604" y="3040380"/>
            <a:ext cx="548640" cy="548640"/>
          </a:xfrm>
          <a:prstGeom prst="ellipse">
            <a:avLst/>
          </a:prstGeom>
          <a:solidFill>
            <a:srgbClr val="065A82"/>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75684" y="3607308"/>
            <a:ext cx="1554480" cy="384048"/>
          </a:xfrm>
          <a:prstGeom prst="rect">
            <a:avLst/>
          </a:prstGeom>
          <a:noFill/>
        </p:spPr>
        <p:txBody>
          <a:bodyPr wrap="square" lIns="0" rIns="0" tIns="0" bIns="0" anchor="t">
            <a:spAutoFit/>
          </a:bodyPr>
          <a:lstStyle/>
          <a:p>
            <a:pPr algn="ctr">
              <a:lnSpc>
                <a:spcPct val="90000"/>
              </a:lnSpc>
            </a:pPr>
            <a:r>
              <a:rPr sz="900" b="1" i="0">
                <a:solidFill>
                  <a:srgbClr val="21295C"/>
                </a:solidFill>
                <a:latin typeface="DejaVu Sans"/>
              </a:rPr>
              <a:t>Поддержка</a:t>
            </a:r>
          </a:p>
        </p:txBody>
      </p:sp>
      <p:sp>
        <p:nvSpPr>
          <p:cNvPr id="18" name="Oval 17"/>
          <p:cNvSpPr/>
          <p:nvPr/>
        </p:nvSpPr>
        <p:spPr>
          <a:xfrm>
            <a:off x="1378604" y="1623060"/>
            <a:ext cx="548640" cy="548640"/>
          </a:xfrm>
          <a:prstGeom prst="ellipse">
            <a:avLst/>
          </a:prstGeom>
          <a:solidFill>
            <a:srgbClr val="065A82"/>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75684" y="2189988"/>
            <a:ext cx="1554480" cy="384048"/>
          </a:xfrm>
          <a:prstGeom prst="rect">
            <a:avLst/>
          </a:prstGeom>
          <a:noFill/>
        </p:spPr>
        <p:txBody>
          <a:bodyPr wrap="square" lIns="0" rIns="0" tIns="0" bIns="0" anchor="t">
            <a:spAutoFit/>
          </a:bodyPr>
          <a:lstStyle/>
          <a:p>
            <a:pPr algn="ctr">
              <a:lnSpc>
                <a:spcPct val="90000"/>
              </a:lnSpc>
            </a:pPr>
            <a:r>
              <a:rPr sz="900" b="1" i="0">
                <a:solidFill>
                  <a:srgbClr val="21295C"/>
                </a:solidFill>
                <a:latin typeface="DejaVu Sans"/>
              </a:rPr>
              <a:t>Управление</a:t>
            </a:r>
          </a:p>
        </p:txBody>
      </p:sp>
      <p:pic>
        <p:nvPicPr>
          <p:cNvPr id="20" name="Picture 19" descr="lightbulb-gold.png"/>
          <p:cNvPicPr>
            <a:picLocks noChangeAspect="1"/>
          </p:cNvPicPr>
          <p:nvPr/>
        </p:nvPicPr>
        <p:blipFill>
          <a:blip r:embed="rId2"/>
          <a:stretch>
            <a:fillRect/>
          </a:stretch>
        </p:blipFill>
        <p:spPr>
          <a:xfrm>
            <a:off x="2587752" y="2313432"/>
            <a:ext cx="585216" cy="585216"/>
          </a:xfrm>
          <a:prstGeom prst="rect">
            <a:avLst/>
          </a:prstGeom>
        </p:spPr>
      </p:pic>
      <p:sp>
        <p:nvSpPr>
          <p:cNvPr id="21" name="Rounded Rectangle 20"/>
          <p:cNvSpPr/>
          <p:nvPr/>
        </p:nvSpPr>
        <p:spPr>
          <a:xfrm>
            <a:off x="685800" y="4434840"/>
            <a:ext cx="4572000" cy="1417320"/>
          </a:xfrm>
          <a:prstGeom prst="roundRect">
            <a:avLst>
              <a:gd name="adj" fmla="val 21505"/>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2" name="Picture 21" descr="s02-one-does-not-simply.jpg"/>
          <p:cNvPicPr>
            <a:picLocks noChangeAspect="1"/>
          </p:cNvPicPr>
          <p:nvPr/>
        </p:nvPicPr>
        <p:blipFill>
          <a:blip r:embed="rId3"/>
          <a:stretch>
            <a:fillRect/>
          </a:stretch>
        </p:blipFill>
        <p:spPr>
          <a:xfrm>
            <a:off x="1925289" y="4526279"/>
            <a:ext cx="2093021" cy="1234440"/>
          </a:xfrm>
          <a:prstGeom prst="rect">
            <a:avLst/>
          </a:prstGeom>
        </p:spPr>
      </p:pic>
      <p:sp>
        <p:nvSpPr>
          <p:cNvPr id="23" name="TextBox 22"/>
          <p:cNvSpPr txBox="1"/>
          <p:nvPr/>
        </p:nvSpPr>
        <p:spPr>
          <a:xfrm>
            <a:off x="5989320" y="1417320"/>
            <a:ext cx="5806440" cy="457200"/>
          </a:xfrm>
          <a:prstGeom prst="rect">
            <a:avLst/>
          </a:prstGeom>
          <a:noFill/>
        </p:spPr>
        <p:txBody>
          <a:bodyPr wrap="square" lIns="0" rIns="0" tIns="0" bIns="0" anchor="t">
            <a:spAutoFit/>
          </a:bodyPr>
          <a:lstStyle/>
          <a:p>
            <a:pPr algn="l">
              <a:lnSpc>
                <a:spcPct val="115000"/>
              </a:lnSpc>
            </a:pPr>
            <a:r>
              <a:rPr sz="2000" b="1" i="0">
                <a:solidFill>
                  <a:srgbClr val="028090"/>
                </a:solidFill>
                <a:latin typeface="DejaVu Sans"/>
              </a:rPr>
              <a:t>ЛЕКЦИЯ 5</a:t>
            </a:r>
          </a:p>
        </p:txBody>
      </p:sp>
      <p:sp>
        <p:nvSpPr>
          <p:cNvPr id="24" name="TextBox 23"/>
          <p:cNvSpPr txBox="1"/>
          <p:nvPr/>
        </p:nvSpPr>
        <p:spPr>
          <a:xfrm>
            <a:off x="5989320" y="1920240"/>
            <a:ext cx="5852160" cy="1828800"/>
          </a:xfrm>
          <a:prstGeom prst="rect">
            <a:avLst/>
          </a:prstGeom>
          <a:noFill/>
        </p:spPr>
        <p:txBody>
          <a:bodyPr wrap="square" lIns="0" rIns="0" tIns="0" bIns="0" anchor="t">
            <a:spAutoFit/>
          </a:bodyPr>
          <a:lstStyle/>
          <a:p>
            <a:pPr algn="l">
              <a:lnSpc>
                <a:spcPct val="105000"/>
              </a:lnSpc>
            </a:pPr>
            <a:r>
              <a:rPr sz="3000" b="1" i="0">
                <a:solidFill>
                  <a:srgbClr val="21295C"/>
                </a:solidFill>
                <a:latin typeface="DejaVu Sans"/>
              </a:rPr>
              <a:t>AI-продукт: полный жизненный цикл — от намерения до эксплуатации</a:t>
            </a:r>
          </a:p>
        </p:txBody>
      </p:sp>
      <p:sp>
        <p:nvSpPr>
          <p:cNvPr id="25" name="TextBox 24"/>
          <p:cNvSpPr txBox="1"/>
          <p:nvPr/>
        </p:nvSpPr>
        <p:spPr>
          <a:xfrm>
            <a:off x="6016752" y="3977639"/>
            <a:ext cx="5760720" cy="548640"/>
          </a:xfrm>
          <a:prstGeom prst="rect">
            <a:avLst/>
          </a:prstGeom>
          <a:noFill/>
        </p:spPr>
        <p:txBody>
          <a:bodyPr wrap="square" lIns="0" rIns="0" tIns="0" bIns="0" anchor="t">
            <a:spAutoFit/>
          </a:bodyPr>
          <a:lstStyle/>
          <a:p>
            <a:pPr algn="l">
              <a:lnSpc>
                <a:spcPct val="115000"/>
              </a:lnSpc>
            </a:pPr>
            <a:r>
              <a:rPr sz="1400" b="0" i="1">
                <a:solidFill>
                  <a:srgbClr val="1C7293"/>
                </a:solidFill>
                <a:latin typeface="DejaVu Sans"/>
              </a:rPr>
              <a:t>Курс «Осознанное применение ИИ» · инженеры-студенты 3 курса</a:t>
            </a:r>
          </a:p>
        </p:txBody>
      </p:sp>
      <p:sp>
        <p:nvSpPr>
          <p:cNvPr id="26" name="Rounded Rectangle 25"/>
          <p:cNvSpPr/>
          <p:nvPr/>
        </p:nvSpPr>
        <p:spPr>
          <a:xfrm>
            <a:off x="5989320" y="4617720"/>
            <a:ext cx="5806440" cy="713232"/>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208776" y="4672583"/>
            <a:ext cx="5367527" cy="603504"/>
          </a:xfrm>
          <a:prstGeom prst="rect">
            <a:avLst/>
          </a:prstGeom>
          <a:noFill/>
        </p:spPr>
        <p:txBody>
          <a:bodyPr wrap="square" lIns="0" rIns="0" tIns="0" bIns="0" anchor="ctr">
            <a:spAutoFit/>
          </a:bodyPr>
          <a:lstStyle/>
          <a:p>
            <a:pPr algn="l">
              <a:lnSpc>
                <a:spcPct val="120000"/>
              </a:lnSpc>
            </a:pPr>
            <a:r>
              <a:rPr sz="1300" b="1" i="0">
                <a:solidFill>
                  <a:srgbClr val="21295C"/>
                </a:solidFill>
                <a:latin typeface="DejaVu Sans"/>
              </a:rPr>
              <a:t>Шесть разделов — шесть стрелок одной петли: код (Лекция 4) — один дешёвый шаг внутри неё.</a:t>
            </a:r>
          </a:p>
        </p:txBody>
      </p:sp>
      <p:sp>
        <p:nvSpPr>
          <p:cNvPr id="28" name="Rounded Rectangle 27"/>
          <p:cNvSpPr/>
          <p:nvPr/>
        </p:nvSpPr>
        <p:spPr>
          <a:xfrm>
            <a:off x="502920" y="5989320"/>
            <a:ext cx="1521822" cy="530352"/>
          </a:xfrm>
          <a:prstGeom prst="roundRect">
            <a:avLst>
              <a:gd name="adj" fmla="val 12000"/>
            </a:avLst>
          </a:prstGeom>
          <a:solidFill>
            <a:srgbClr val="FDF3DC"/>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521208" y="6035040"/>
            <a:ext cx="1485246" cy="164592"/>
          </a:xfrm>
          <a:prstGeom prst="rect">
            <a:avLst/>
          </a:prstGeom>
          <a:noFill/>
        </p:spPr>
        <p:txBody>
          <a:bodyPr wrap="square" lIns="0" rIns="0" tIns="0" bIns="0" anchor="t">
            <a:spAutoFit/>
          </a:bodyPr>
          <a:lstStyle/>
          <a:p>
            <a:pPr algn="ctr">
              <a:lnSpc>
                <a:spcPct val="115000"/>
              </a:lnSpc>
            </a:pPr>
            <a:r>
              <a:rPr sz="1050" b="1" i="0">
                <a:solidFill>
                  <a:srgbClr val="21295C"/>
                </a:solidFill>
                <a:latin typeface="DejaVu Sans"/>
              </a:rPr>
              <a:t>0</a:t>
            </a:r>
          </a:p>
        </p:txBody>
      </p:sp>
      <p:sp>
        <p:nvSpPr>
          <p:cNvPr id="30" name="TextBox 29"/>
          <p:cNvSpPr txBox="1"/>
          <p:nvPr/>
        </p:nvSpPr>
        <p:spPr>
          <a:xfrm>
            <a:off x="521208" y="6217920"/>
            <a:ext cx="1485246" cy="274320"/>
          </a:xfrm>
          <a:prstGeom prst="rect">
            <a:avLst/>
          </a:prstGeom>
          <a:noFill/>
        </p:spPr>
        <p:txBody>
          <a:bodyPr wrap="square" lIns="0" rIns="0" tIns="0" bIns="0" anchor="t">
            <a:spAutoFit/>
          </a:bodyPr>
          <a:lstStyle/>
          <a:p>
            <a:pPr algn="ctr">
              <a:lnSpc>
                <a:spcPct val="92000"/>
              </a:lnSpc>
            </a:pPr>
            <a:r>
              <a:rPr sz="900" b="1" i="0">
                <a:solidFill>
                  <a:srgbClr val="21295C"/>
                </a:solidFill>
                <a:latin typeface="DejaVu Sans"/>
              </a:rPr>
              <a:t>Введение</a:t>
            </a:r>
          </a:p>
        </p:txBody>
      </p:sp>
      <p:sp>
        <p:nvSpPr>
          <p:cNvPr id="31" name="Rounded Rectangle 30"/>
          <p:cNvSpPr/>
          <p:nvPr/>
        </p:nvSpPr>
        <p:spPr>
          <a:xfrm>
            <a:off x="2116182" y="5989320"/>
            <a:ext cx="1521822"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2134470" y="6035040"/>
            <a:ext cx="1485246" cy="164592"/>
          </a:xfrm>
          <a:prstGeom prst="rect">
            <a:avLst/>
          </a:prstGeom>
          <a:noFill/>
        </p:spPr>
        <p:txBody>
          <a:bodyPr wrap="square" lIns="0" rIns="0" tIns="0" bIns="0" anchor="t">
            <a:spAutoFit/>
          </a:bodyPr>
          <a:lstStyle/>
          <a:p>
            <a:pPr algn="ctr">
              <a:lnSpc>
                <a:spcPct val="115000"/>
              </a:lnSpc>
            </a:pPr>
            <a:r>
              <a:rPr sz="1050" b="1" i="0">
                <a:solidFill>
                  <a:srgbClr val="1C7293"/>
                </a:solidFill>
                <a:latin typeface="DejaVu Sans"/>
              </a:rPr>
              <a:t>1</a:t>
            </a:r>
          </a:p>
        </p:txBody>
      </p:sp>
      <p:sp>
        <p:nvSpPr>
          <p:cNvPr id="33" name="TextBox 32"/>
          <p:cNvSpPr txBox="1"/>
          <p:nvPr/>
        </p:nvSpPr>
        <p:spPr>
          <a:xfrm>
            <a:off x="2134470" y="6217920"/>
            <a:ext cx="1485246" cy="274320"/>
          </a:xfrm>
          <a:prstGeom prst="rect">
            <a:avLst/>
          </a:prstGeom>
          <a:noFill/>
        </p:spPr>
        <p:txBody>
          <a:bodyPr wrap="square" lIns="0" rIns="0" tIns="0" bIns="0" anchor="t">
            <a:spAutoFit/>
          </a:bodyPr>
          <a:lstStyle/>
          <a:p>
            <a:pPr algn="ctr">
              <a:lnSpc>
                <a:spcPct val="92000"/>
              </a:lnSpc>
            </a:pPr>
            <a:r>
              <a:rPr sz="800" b="0" i="0">
                <a:solidFill>
                  <a:srgbClr val="5B6678"/>
                </a:solidFill>
                <a:latin typeface="DejaVu Sans"/>
              </a:rPr>
              <a:t>Исследование</a:t>
            </a:r>
          </a:p>
        </p:txBody>
      </p:sp>
      <p:sp>
        <p:nvSpPr>
          <p:cNvPr id="34" name="Rounded Rectangle 33"/>
          <p:cNvSpPr/>
          <p:nvPr/>
        </p:nvSpPr>
        <p:spPr>
          <a:xfrm>
            <a:off x="3729445" y="5989320"/>
            <a:ext cx="1521822"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3747733" y="6035040"/>
            <a:ext cx="1485246" cy="164592"/>
          </a:xfrm>
          <a:prstGeom prst="rect">
            <a:avLst/>
          </a:prstGeom>
          <a:noFill/>
        </p:spPr>
        <p:txBody>
          <a:bodyPr wrap="square" lIns="0" rIns="0" tIns="0" bIns="0" anchor="t">
            <a:spAutoFit/>
          </a:bodyPr>
          <a:lstStyle/>
          <a:p>
            <a:pPr algn="ctr">
              <a:lnSpc>
                <a:spcPct val="115000"/>
              </a:lnSpc>
            </a:pPr>
            <a:r>
              <a:rPr sz="1050" b="1" i="0">
                <a:solidFill>
                  <a:srgbClr val="1C7293"/>
                </a:solidFill>
                <a:latin typeface="DejaVu Sans"/>
              </a:rPr>
              <a:t>2</a:t>
            </a:r>
          </a:p>
        </p:txBody>
      </p:sp>
      <p:sp>
        <p:nvSpPr>
          <p:cNvPr id="36" name="TextBox 35"/>
          <p:cNvSpPr txBox="1"/>
          <p:nvPr/>
        </p:nvSpPr>
        <p:spPr>
          <a:xfrm>
            <a:off x="3747733" y="6217920"/>
            <a:ext cx="1485246" cy="274320"/>
          </a:xfrm>
          <a:prstGeom prst="rect">
            <a:avLst/>
          </a:prstGeom>
          <a:noFill/>
        </p:spPr>
        <p:txBody>
          <a:bodyPr wrap="square" lIns="0" rIns="0" tIns="0" bIns="0" anchor="t">
            <a:spAutoFit/>
          </a:bodyPr>
          <a:lstStyle/>
          <a:p>
            <a:pPr algn="ctr">
              <a:lnSpc>
                <a:spcPct val="92000"/>
              </a:lnSpc>
            </a:pPr>
            <a:r>
              <a:rPr sz="900" b="0" i="0">
                <a:solidFill>
                  <a:srgbClr val="5B6678"/>
                </a:solidFill>
                <a:latin typeface="DejaVu Sans"/>
              </a:rPr>
              <a:t>Дизайн</a:t>
            </a:r>
          </a:p>
        </p:txBody>
      </p:sp>
      <p:sp>
        <p:nvSpPr>
          <p:cNvPr id="37" name="Rounded Rectangle 36"/>
          <p:cNvSpPr/>
          <p:nvPr/>
        </p:nvSpPr>
        <p:spPr>
          <a:xfrm>
            <a:off x="5342708" y="5989320"/>
            <a:ext cx="1521822"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5360996" y="6035040"/>
            <a:ext cx="1485246" cy="164592"/>
          </a:xfrm>
          <a:prstGeom prst="rect">
            <a:avLst/>
          </a:prstGeom>
          <a:noFill/>
        </p:spPr>
        <p:txBody>
          <a:bodyPr wrap="square" lIns="0" rIns="0" tIns="0" bIns="0" anchor="t">
            <a:spAutoFit/>
          </a:bodyPr>
          <a:lstStyle/>
          <a:p>
            <a:pPr algn="ctr">
              <a:lnSpc>
                <a:spcPct val="115000"/>
              </a:lnSpc>
            </a:pPr>
            <a:r>
              <a:rPr sz="1050" b="1" i="0">
                <a:solidFill>
                  <a:srgbClr val="1C7293"/>
                </a:solidFill>
                <a:latin typeface="DejaVu Sans"/>
              </a:rPr>
              <a:t>3</a:t>
            </a:r>
          </a:p>
        </p:txBody>
      </p:sp>
      <p:sp>
        <p:nvSpPr>
          <p:cNvPr id="39" name="TextBox 38"/>
          <p:cNvSpPr txBox="1"/>
          <p:nvPr/>
        </p:nvSpPr>
        <p:spPr>
          <a:xfrm>
            <a:off x="5360996" y="6217920"/>
            <a:ext cx="1485246" cy="274320"/>
          </a:xfrm>
          <a:prstGeom prst="rect">
            <a:avLst/>
          </a:prstGeom>
          <a:noFill/>
        </p:spPr>
        <p:txBody>
          <a:bodyPr wrap="square" lIns="0" rIns="0" tIns="0" bIns="0" anchor="t">
            <a:spAutoFit/>
          </a:bodyPr>
          <a:lstStyle/>
          <a:p>
            <a:pPr algn="ctr">
              <a:lnSpc>
                <a:spcPct val="92000"/>
              </a:lnSpc>
            </a:pPr>
            <a:r>
              <a:rPr sz="800" b="0" i="0">
                <a:solidFill>
                  <a:srgbClr val="5B6678"/>
                </a:solidFill>
                <a:latin typeface="DejaVu Sans"/>
              </a:rPr>
              <a:t>Сборка и запуск</a:t>
            </a:r>
          </a:p>
        </p:txBody>
      </p:sp>
      <p:sp>
        <p:nvSpPr>
          <p:cNvPr id="40" name="Rounded Rectangle 39"/>
          <p:cNvSpPr/>
          <p:nvPr/>
        </p:nvSpPr>
        <p:spPr>
          <a:xfrm>
            <a:off x="6955971" y="5989320"/>
            <a:ext cx="1521822"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6974259" y="6035040"/>
            <a:ext cx="1485246" cy="164592"/>
          </a:xfrm>
          <a:prstGeom prst="rect">
            <a:avLst/>
          </a:prstGeom>
          <a:noFill/>
        </p:spPr>
        <p:txBody>
          <a:bodyPr wrap="square" lIns="0" rIns="0" tIns="0" bIns="0" anchor="t">
            <a:spAutoFit/>
          </a:bodyPr>
          <a:lstStyle/>
          <a:p>
            <a:pPr algn="ctr">
              <a:lnSpc>
                <a:spcPct val="115000"/>
              </a:lnSpc>
            </a:pPr>
            <a:r>
              <a:rPr sz="1050" b="1" i="0">
                <a:solidFill>
                  <a:srgbClr val="1C7293"/>
                </a:solidFill>
                <a:latin typeface="DejaVu Sans"/>
              </a:rPr>
              <a:t>4</a:t>
            </a:r>
          </a:p>
        </p:txBody>
      </p:sp>
      <p:sp>
        <p:nvSpPr>
          <p:cNvPr id="42" name="TextBox 41"/>
          <p:cNvSpPr txBox="1"/>
          <p:nvPr/>
        </p:nvSpPr>
        <p:spPr>
          <a:xfrm>
            <a:off x="6974259" y="6217920"/>
            <a:ext cx="1485246" cy="274320"/>
          </a:xfrm>
          <a:prstGeom prst="rect">
            <a:avLst/>
          </a:prstGeom>
          <a:noFill/>
        </p:spPr>
        <p:txBody>
          <a:bodyPr wrap="square" lIns="0" rIns="0" tIns="0" bIns="0" anchor="t">
            <a:spAutoFit/>
          </a:bodyPr>
          <a:lstStyle/>
          <a:p>
            <a:pPr algn="ctr">
              <a:lnSpc>
                <a:spcPct val="92000"/>
              </a:lnSpc>
            </a:pPr>
            <a:r>
              <a:rPr sz="900" b="0" i="0">
                <a:solidFill>
                  <a:srgbClr val="5B6678"/>
                </a:solidFill>
                <a:latin typeface="DejaVu Sans"/>
              </a:rPr>
              <a:t>Измерение</a:t>
            </a:r>
          </a:p>
        </p:txBody>
      </p:sp>
      <p:sp>
        <p:nvSpPr>
          <p:cNvPr id="43" name="Rounded Rectangle 42"/>
          <p:cNvSpPr/>
          <p:nvPr/>
        </p:nvSpPr>
        <p:spPr>
          <a:xfrm>
            <a:off x="8569234" y="5989320"/>
            <a:ext cx="1521822"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8587522" y="6035040"/>
            <a:ext cx="1485246" cy="164592"/>
          </a:xfrm>
          <a:prstGeom prst="rect">
            <a:avLst/>
          </a:prstGeom>
          <a:noFill/>
        </p:spPr>
        <p:txBody>
          <a:bodyPr wrap="square" lIns="0" rIns="0" tIns="0" bIns="0" anchor="t">
            <a:spAutoFit/>
          </a:bodyPr>
          <a:lstStyle/>
          <a:p>
            <a:pPr algn="ctr">
              <a:lnSpc>
                <a:spcPct val="115000"/>
              </a:lnSpc>
            </a:pPr>
            <a:r>
              <a:rPr sz="1050" b="1" i="0">
                <a:solidFill>
                  <a:srgbClr val="1C7293"/>
                </a:solidFill>
                <a:latin typeface="DejaVu Sans"/>
              </a:rPr>
              <a:t>5</a:t>
            </a:r>
          </a:p>
        </p:txBody>
      </p:sp>
      <p:sp>
        <p:nvSpPr>
          <p:cNvPr id="45" name="TextBox 44"/>
          <p:cNvSpPr txBox="1"/>
          <p:nvPr/>
        </p:nvSpPr>
        <p:spPr>
          <a:xfrm>
            <a:off x="8587522" y="6217920"/>
            <a:ext cx="1485246" cy="274320"/>
          </a:xfrm>
          <a:prstGeom prst="rect">
            <a:avLst/>
          </a:prstGeom>
          <a:noFill/>
        </p:spPr>
        <p:txBody>
          <a:bodyPr wrap="square" lIns="0" rIns="0" tIns="0" bIns="0" anchor="t">
            <a:spAutoFit/>
          </a:bodyPr>
          <a:lstStyle/>
          <a:p>
            <a:pPr algn="ctr">
              <a:lnSpc>
                <a:spcPct val="92000"/>
              </a:lnSpc>
            </a:pPr>
            <a:r>
              <a:rPr sz="900" b="0" i="0">
                <a:solidFill>
                  <a:srgbClr val="5B6678"/>
                </a:solidFill>
                <a:latin typeface="DejaVu Sans"/>
              </a:rPr>
              <a:t>Поддержка</a:t>
            </a:r>
          </a:p>
        </p:txBody>
      </p:sp>
      <p:sp>
        <p:nvSpPr>
          <p:cNvPr id="46" name="Rounded Rectangle 45"/>
          <p:cNvSpPr/>
          <p:nvPr/>
        </p:nvSpPr>
        <p:spPr>
          <a:xfrm>
            <a:off x="10182497" y="5989320"/>
            <a:ext cx="1521822"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10200785" y="6035040"/>
            <a:ext cx="1485246" cy="164592"/>
          </a:xfrm>
          <a:prstGeom prst="rect">
            <a:avLst/>
          </a:prstGeom>
          <a:noFill/>
        </p:spPr>
        <p:txBody>
          <a:bodyPr wrap="square" lIns="0" rIns="0" tIns="0" bIns="0" anchor="t">
            <a:spAutoFit/>
          </a:bodyPr>
          <a:lstStyle/>
          <a:p>
            <a:pPr algn="ctr">
              <a:lnSpc>
                <a:spcPct val="115000"/>
              </a:lnSpc>
            </a:pPr>
            <a:r>
              <a:rPr sz="1050" b="1" i="0">
                <a:solidFill>
                  <a:srgbClr val="1C7293"/>
                </a:solidFill>
                <a:latin typeface="DejaVu Sans"/>
              </a:rPr>
              <a:t>6</a:t>
            </a:r>
          </a:p>
        </p:txBody>
      </p:sp>
      <p:sp>
        <p:nvSpPr>
          <p:cNvPr id="48" name="TextBox 47"/>
          <p:cNvSpPr txBox="1"/>
          <p:nvPr/>
        </p:nvSpPr>
        <p:spPr>
          <a:xfrm>
            <a:off x="10200785" y="6217920"/>
            <a:ext cx="1485246" cy="274320"/>
          </a:xfrm>
          <a:prstGeom prst="rect">
            <a:avLst/>
          </a:prstGeom>
          <a:noFill/>
        </p:spPr>
        <p:txBody>
          <a:bodyPr wrap="square" lIns="0" rIns="0" tIns="0" bIns="0" anchor="t">
            <a:spAutoFit/>
          </a:bodyPr>
          <a:lstStyle/>
          <a:p>
            <a:pPr algn="ctr">
              <a:lnSpc>
                <a:spcPct val="92000"/>
              </a:lnSpc>
            </a:pPr>
            <a:r>
              <a:rPr sz="800" b="0" i="0">
                <a:solidFill>
                  <a:srgbClr val="5B6678"/>
                </a:solidFill>
                <a:latin typeface="DejaVu Sans"/>
              </a:rPr>
              <a:t>Управление</a:t>
            </a:r>
          </a:p>
        </p:txBody>
      </p:sp>
      <p:sp>
        <p:nvSpPr>
          <p:cNvPr id="49" name="TextBox 48"/>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2 / 56</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65760"/>
            <a:ext cx="10972800" cy="777240"/>
          </a:xfrm>
          <a:prstGeom prst="rect">
            <a:avLst/>
          </a:prstGeom>
          <a:noFill/>
        </p:spPr>
        <p:txBody>
          <a:bodyPr wrap="square" lIns="0" rIns="0" tIns="0" bIns="0" anchor="t">
            <a:spAutoFit/>
          </a:bodyPr>
          <a:lstStyle/>
          <a:p>
            <a:pPr algn="l">
              <a:lnSpc>
                <a:spcPct val="110000"/>
              </a:lnSpc>
            </a:pPr>
            <a:r>
              <a:rPr sz="2500" b="1" i="0">
                <a:solidFill>
                  <a:srgbClr val="21295C"/>
                </a:solidFill>
                <a:latin typeface="DejaVu Sans"/>
              </a:rPr>
              <a:t>Лекция — это петля, а не список из шести тем</a:t>
            </a:r>
          </a:p>
        </p:txBody>
      </p:sp>
      <p:cxnSp>
        <p:nvCxnSpPr>
          <p:cNvPr id="3" name="Connector 2"/>
          <p:cNvCxnSpPr/>
          <p:nvPr/>
        </p:nvCxnSpPr>
        <p:spPr>
          <a:xfrm>
            <a:off x="4285734" y="2112264"/>
            <a:ext cx="641433" cy="370332"/>
          </a:xfrm>
          <a:prstGeom prst="line">
            <a:avLst/>
          </a:prstGeom>
          <a:ln w="25400">
            <a:solidFill>
              <a:srgbClr val="1C7293"/>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5418141" y="3332988"/>
            <a:ext cx="0" cy="740663"/>
          </a:xfrm>
          <a:prstGeom prst="line">
            <a:avLst/>
          </a:prstGeom>
          <a:ln w="25400">
            <a:solidFill>
              <a:srgbClr val="1C7293"/>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flipH="1">
            <a:off x="4285734" y="4924044"/>
            <a:ext cx="641433" cy="370331"/>
          </a:xfrm>
          <a:prstGeom prst="line">
            <a:avLst/>
          </a:prstGeom>
          <a:ln w="25400">
            <a:solidFill>
              <a:srgbClr val="1C7293"/>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flipH="1" flipV="1">
            <a:off x="2662352" y="4924044"/>
            <a:ext cx="641433" cy="370332"/>
          </a:xfrm>
          <a:prstGeom prst="line">
            <a:avLst/>
          </a:prstGeom>
          <a:ln w="25400">
            <a:solidFill>
              <a:srgbClr val="1C7293"/>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flipV="1">
            <a:off x="2171378" y="3332988"/>
            <a:ext cx="0" cy="740664"/>
          </a:xfrm>
          <a:prstGeom prst="line">
            <a:avLst/>
          </a:prstGeom>
          <a:ln w="25400">
            <a:solidFill>
              <a:srgbClr val="1C7293"/>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flipV="1">
            <a:off x="2662352" y="2112264"/>
            <a:ext cx="641433" cy="370332"/>
          </a:xfrm>
          <a:prstGeom prst="line">
            <a:avLst/>
          </a:prstGeom>
          <a:ln w="33020">
            <a:solidFill>
              <a:srgbClr val="F0AB00"/>
            </a:solidFill>
            <a:tailEnd type="triangle" w="med" len="med"/>
          </a:ln>
        </p:spPr>
        <p:style>
          <a:lnRef idx="2">
            <a:schemeClr val="accent1"/>
          </a:lnRef>
          <a:fillRef idx="0">
            <a:schemeClr val="accent1"/>
          </a:fillRef>
          <a:effectRef idx="1">
            <a:schemeClr val="accent1"/>
          </a:effectRef>
          <a:fontRef idx="minor">
            <a:schemeClr val="tx1"/>
          </a:fontRef>
        </p:style>
      </p:cxnSp>
      <p:sp>
        <p:nvSpPr>
          <p:cNvPr id="9" name="Rounded Rectangle 8"/>
          <p:cNvSpPr/>
          <p:nvPr/>
        </p:nvSpPr>
        <p:spPr>
          <a:xfrm>
            <a:off x="3154680" y="1389888"/>
            <a:ext cx="1280160" cy="877824"/>
          </a:xfrm>
          <a:prstGeom prst="roundRect">
            <a:avLst>
              <a:gd name="adj" fmla="val 22000"/>
            </a:avLst>
          </a:prstGeom>
          <a:solidFill>
            <a:srgbClr val="F4F7FA"/>
          </a:solidFill>
          <a:ln w="1651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0" name="Picture 9" descr="search-mid.png"/>
          <p:cNvPicPr>
            <a:picLocks noChangeAspect="1"/>
          </p:cNvPicPr>
          <p:nvPr/>
        </p:nvPicPr>
        <p:blipFill>
          <a:blip r:embed="rId2"/>
          <a:stretch>
            <a:fillRect/>
          </a:stretch>
        </p:blipFill>
        <p:spPr>
          <a:xfrm>
            <a:off x="3575304" y="1444752"/>
            <a:ext cx="438912" cy="438912"/>
          </a:xfrm>
          <a:prstGeom prst="rect">
            <a:avLst/>
          </a:prstGeom>
        </p:spPr>
      </p:pic>
      <p:sp>
        <p:nvSpPr>
          <p:cNvPr id="11" name="TextBox 10"/>
          <p:cNvSpPr txBox="1"/>
          <p:nvPr/>
        </p:nvSpPr>
        <p:spPr>
          <a:xfrm>
            <a:off x="3172968" y="1883664"/>
            <a:ext cx="1243584" cy="365760"/>
          </a:xfrm>
          <a:prstGeom prst="rect">
            <a:avLst/>
          </a:prstGeom>
          <a:noFill/>
        </p:spPr>
        <p:txBody>
          <a:bodyPr wrap="square" lIns="0" rIns="0" tIns="0" bIns="0" anchor="t">
            <a:spAutoFit/>
          </a:bodyPr>
          <a:lstStyle/>
          <a:p>
            <a:pPr algn="ctr">
              <a:lnSpc>
                <a:spcPct val="88000"/>
              </a:lnSpc>
            </a:pPr>
            <a:r>
              <a:rPr sz="780" b="1" i="0">
                <a:solidFill>
                  <a:srgbClr val="21295C"/>
                </a:solidFill>
                <a:latin typeface="DejaVu Sans"/>
              </a:rPr>
              <a:t>1. Исследование</a:t>
            </a:r>
          </a:p>
        </p:txBody>
      </p:sp>
      <p:sp>
        <p:nvSpPr>
          <p:cNvPr id="12" name="Rounded Rectangle 11"/>
          <p:cNvSpPr/>
          <p:nvPr/>
        </p:nvSpPr>
        <p:spPr>
          <a:xfrm>
            <a:off x="4778061" y="2327148"/>
            <a:ext cx="1280160" cy="877824"/>
          </a:xfrm>
          <a:prstGeom prst="roundRect">
            <a:avLst>
              <a:gd name="adj" fmla="val 22000"/>
            </a:avLst>
          </a:prstGeom>
          <a:solidFill>
            <a:srgbClr val="F4F7FA"/>
          </a:solidFill>
          <a:ln w="1651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pencil-mid.png"/>
          <p:cNvPicPr>
            <a:picLocks noChangeAspect="1"/>
          </p:cNvPicPr>
          <p:nvPr/>
        </p:nvPicPr>
        <p:blipFill>
          <a:blip r:embed="rId3"/>
          <a:stretch>
            <a:fillRect/>
          </a:stretch>
        </p:blipFill>
        <p:spPr>
          <a:xfrm>
            <a:off x="5198685" y="2382012"/>
            <a:ext cx="438912" cy="438912"/>
          </a:xfrm>
          <a:prstGeom prst="rect">
            <a:avLst/>
          </a:prstGeom>
        </p:spPr>
      </p:pic>
      <p:sp>
        <p:nvSpPr>
          <p:cNvPr id="14" name="TextBox 13"/>
          <p:cNvSpPr txBox="1"/>
          <p:nvPr/>
        </p:nvSpPr>
        <p:spPr>
          <a:xfrm>
            <a:off x="4796349" y="2820924"/>
            <a:ext cx="1243584" cy="365760"/>
          </a:xfrm>
          <a:prstGeom prst="rect">
            <a:avLst/>
          </a:prstGeom>
          <a:noFill/>
        </p:spPr>
        <p:txBody>
          <a:bodyPr wrap="square" lIns="0" rIns="0" tIns="0" bIns="0" anchor="t">
            <a:spAutoFit/>
          </a:bodyPr>
          <a:lstStyle/>
          <a:p>
            <a:pPr algn="ctr">
              <a:lnSpc>
                <a:spcPct val="88000"/>
              </a:lnSpc>
            </a:pPr>
            <a:r>
              <a:rPr sz="780" b="1" i="0">
                <a:solidFill>
                  <a:srgbClr val="21295C"/>
                </a:solidFill>
                <a:latin typeface="DejaVu Sans"/>
              </a:rPr>
              <a:t>2. Дизайн</a:t>
            </a:r>
          </a:p>
        </p:txBody>
      </p:sp>
      <p:sp>
        <p:nvSpPr>
          <p:cNvPr id="15" name="Rounded Rectangle 14"/>
          <p:cNvSpPr/>
          <p:nvPr/>
        </p:nvSpPr>
        <p:spPr>
          <a:xfrm>
            <a:off x="4778061" y="4201667"/>
            <a:ext cx="1280160" cy="877824"/>
          </a:xfrm>
          <a:prstGeom prst="roundRect">
            <a:avLst>
              <a:gd name="adj" fmla="val 22000"/>
            </a:avLst>
          </a:prstGeom>
          <a:solidFill>
            <a:srgbClr val="F4F7FA"/>
          </a:solidFill>
          <a:ln w="1651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hammer-mid.png"/>
          <p:cNvPicPr>
            <a:picLocks noChangeAspect="1"/>
          </p:cNvPicPr>
          <p:nvPr/>
        </p:nvPicPr>
        <p:blipFill>
          <a:blip r:embed="rId4"/>
          <a:stretch>
            <a:fillRect/>
          </a:stretch>
        </p:blipFill>
        <p:spPr>
          <a:xfrm>
            <a:off x="5198685" y="4256531"/>
            <a:ext cx="438912" cy="438912"/>
          </a:xfrm>
          <a:prstGeom prst="rect">
            <a:avLst/>
          </a:prstGeom>
        </p:spPr>
      </p:pic>
      <p:sp>
        <p:nvSpPr>
          <p:cNvPr id="17" name="TextBox 16"/>
          <p:cNvSpPr txBox="1"/>
          <p:nvPr/>
        </p:nvSpPr>
        <p:spPr>
          <a:xfrm>
            <a:off x="4796349" y="4695443"/>
            <a:ext cx="1243584" cy="365760"/>
          </a:xfrm>
          <a:prstGeom prst="rect">
            <a:avLst/>
          </a:prstGeom>
          <a:noFill/>
        </p:spPr>
        <p:txBody>
          <a:bodyPr wrap="square" lIns="0" rIns="0" tIns="0" bIns="0" anchor="t">
            <a:spAutoFit/>
          </a:bodyPr>
          <a:lstStyle/>
          <a:p>
            <a:pPr algn="ctr">
              <a:lnSpc>
                <a:spcPct val="88000"/>
              </a:lnSpc>
            </a:pPr>
            <a:r>
              <a:rPr sz="780" b="1" i="0">
                <a:solidFill>
                  <a:srgbClr val="21295C"/>
                </a:solidFill>
                <a:latin typeface="DejaVu Sans"/>
              </a:rPr>
              <a:t>3. Сборка и запуск</a:t>
            </a:r>
          </a:p>
        </p:txBody>
      </p:sp>
      <p:sp>
        <p:nvSpPr>
          <p:cNvPr id="18" name="Rounded Rectangle 17"/>
          <p:cNvSpPr/>
          <p:nvPr/>
        </p:nvSpPr>
        <p:spPr>
          <a:xfrm>
            <a:off x="3154680" y="5138927"/>
            <a:ext cx="1280160" cy="877824"/>
          </a:xfrm>
          <a:prstGeom prst="roundRect">
            <a:avLst>
              <a:gd name="adj" fmla="val 22000"/>
            </a:avLst>
          </a:prstGeom>
          <a:solidFill>
            <a:srgbClr val="F4F7FA"/>
          </a:solidFill>
          <a:ln w="1651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9" name="Picture 18" descr="ruler-mid.png"/>
          <p:cNvPicPr>
            <a:picLocks noChangeAspect="1"/>
          </p:cNvPicPr>
          <p:nvPr/>
        </p:nvPicPr>
        <p:blipFill>
          <a:blip r:embed="rId5"/>
          <a:stretch>
            <a:fillRect/>
          </a:stretch>
        </p:blipFill>
        <p:spPr>
          <a:xfrm>
            <a:off x="3575304" y="5193792"/>
            <a:ext cx="438912" cy="438912"/>
          </a:xfrm>
          <a:prstGeom prst="rect">
            <a:avLst/>
          </a:prstGeom>
        </p:spPr>
      </p:pic>
      <p:sp>
        <p:nvSpPr>
          <p:cNvPr id="20" name="TextBox 19"/>
          <p:cNvSpPr txBox="1"/>
          <p:nvPr/>
        </p:nvSpPr>
        <p:spPr>
          <a:xfrm>
            <a:off x="3172968" y="5632703"/>
            <a:ext cx="1243584" cy="365760"/>
          </a:xfrm>
          <a:prstGeom prst="rect">
            <a:avLst/>
          </a:prstGeom>
          <a:noFill/>
        </p:spPr>
        <p:txBody>
          <a:bodyPr wrap="square" lIns="0" rIns="0" tIns="0" bIns="0" anchor="t">
            <a:spAutoFit/>
          </a:bodyPr>
          <a:lstStyle/>
          <a:p>
            <a:pPr algn="ctr">
              <a:lnSpc>
                <a:spcPct val="88000"/>
              </a:lnSpc>
            </a:pPr>
            <a:r>
              <a:rPr sz="780" b="1" i="0">
                <a:solidFill>
                  <a:srgbClr val="21295C"/>
                </a:solidFill>
                <a:latin typeface="DejaVu Sans"/>
              </a:rPr>
              <a:t>4. Измерение</a:t>
            </a:r>
          </a:p>
        </p:txBody>
      </p:sp>
      <p:sp>
        <p:nvSpPr>
          <p:cNvPr id="21" name="Rounded Rectangle 20"/>
          <p:cNvSpPr/>
          <p:nvPr/>
        </p:nvSpPr>
        <p:spPr>
          <a:xfrm>
            <a:off x="1531298" y="4201668"/>
            <a:ext cx="1280160" cy="877824"/>
          </a:xfrm>
          <a:prstGeom prst="roundRect">
            <a:avLst>
              <a:gd name="adj" fmla="val 22000"/>
            </a:avLst>
          </a:prstGeom>
          <a:solidFill>
            <a:srgbClr val="F4F7FA"/>
          </a:solidFill>
          <a:ln w="1651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2" name="Picture 21" descr="headphones-mid.png"/>
          <p:cNvPicPr>
            <a:picLocks noChangeAspect="1"/>
          </p:cNvPicPr>
          <p:nvPr/>
        </p:nvPicPr>
        <p:blipFill>
          <a:blip r:embed="rId6"/>
          <a:stretch>
            <a:fillRect/>
          </a:stretch>
        </p:blipFill>
        <p:spPr>
          <a:xfrm>
            <a:off x="1951922" y="4256532"/>
            <a:ext cx="438912" cy="438912"/>
          </a:xfrm>
          <a:prstGeom prst="rect">
            <a:avLst/>
          </a:prstGeom>
        </p:spPr>
      </p:pic>
      <p:sp>
        <p:nvSpPr>
          <p:cNvPr id="23" name="TextBox 22"/>
          <p:cNvSpPr txBox="1"/>
          <p:nvPr/>
        </p:nvSpPr>
        <p:spPr>
          <a:xfrm>
            <a:off x="1549586" y="4695444"/>
            <a:ext cx="1243584" cy="365760"/>
          </a:xfrm>
          <a:prstGeom prst="rect">
            <a:avLst/>
          </a:prstGeom>
          <a:noFill/>
        </p:spPr>
        <p:txBody>
          <a:bodyPr wrap="square" lIns="0" rIns="0" tIns="0" bIns="0" anchor="t">
            <a:spAutoFit/>
          </a:bodyPr>
          <a:lstStyle/>
          <a:p>
            <a:pPr algn="ctr">
              <a:lnSpc>
                <a:spcPct val="88000"/>
              </a:lnSpc>
            </a:pPr>
            <a:r>
              <a:rPr sz="780" b="1" i="0">
                <a:solidFill>
                  <a:srgbClr val="21295C"/>
                </a:solidFill>
                <a:latin typeface="DejaVu Sans"/>
              </a:rPr>
              <a:t>5. Поддержка</a:t>
            </a:r>
          </a:p>
        </p:txBody>
      </p:sp>
      <p:sp>
        <p:nvSpPr>
          <p:cNvPr id="24" name="Rounded Rectangle 23"/>
          <p:cNvSpPr/>
          <p:nvPr/>
        </p:nvSpPr>
        <p:spPr>
          <a:xfrm>
            <a:off x="1531298" y="2327148"/>
            <a:ext cx="1280160" cy="877824"/>
          </a:xfrm>
          <a:prstGeom prst="roundRect">
            <a:avLst>
              <a:gd name="adj" fmla="val 22000"/>
            </a:avLst>
          </a:prstGeom>
          <a:solidFill>
            <a:srgbClr val="F4F7FA"/>
          </a:solidFill>
          <a:ln w="1651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5" name="Picture 24" descr="scale-mid.png"/>
          <p:cNvPicPr>
            <a:picLocks noChangeAspect="1"/>
          </p:cNvPicPr>
          <p:nvPr/>
        </p:nvPicPr>
        <p:blipFill>
          <a:blip r:embed="rId7"/>
          <a:stretch>
            <a:fillRect/>
          </a:stretch>
        </p:blipFill>
        <p:spPr>
          <a:xfrm>
            <a:off x="1951922" y="2382012"/>
            <a:ext cx="438912" cy="438912"/>
          </a:xfrm>
          <a:prstGeom prst="rect">
            <a:avLst/>
          </a:prstGeom>
        </p:spPr>
      </p:pic>
      <p:sp>
        <p:nvSpPr>
          <p:cNvPr id="26" name="TextBox 25"/>
          <p:cNvSpPr txBox="1"/>
          <p:nvPr/>
        </p:nvSpPr>
        <p:spPr>
          <a:xfrm>
            <a:off x="1549586" y="2820924"/>
            <a:ext cx="1243584" cy="365760"/>
          </a:xfrm>
          <a:prstGeom prst="rect">
            <a:avLst/>
          </a:prstGeom>
          <a:noFill/>
        </p:spPr>
        <p:txBody>
          <a:bodyPr wrap="square" lIns="0" rIns="0" tIns="0" bIns="0" anchor="t">
            <a:spAutoFit/>
          </a:bodyPr>
          <a:lstStyle/>
          <a:p>
            <a:pPr algn="ctr">
              <a:lnSpc>
                <a:spcPct val="88000"/>
              </a:lnSpc>
            </a:pPr>
            <a:r>
              <a:rPr sz="780" b="1" i="0">
                <a:solidFill>
                  <a:srgbClr val="21295C"/>
                </a:solidFill>
                <a:latin typeface="DejaVu Sans"/>
              </a:rPr>
              <a:t>6. Управление</a:t>
            </a:r>
          </a:p>
        </p:txBody>
      </p:sp>
      <p:sp>
        <p:nvSpPr>
          <p:cNvPr id="27" name="TextBox 26"/>
          <p:cNvSpPr txBox="1"/>
          <p:nvPr/>
        </p:nvSpPr>
        <p:spPr>
          <a:xfrm>
            <a:off x="3017520" y="3429000"/>
            <a:ext cx="1554480" cy="548640"/>
          </a:xfrm>
          <a:prstGeom prst="rect">
            <a:avLst/>
          </a:prstGeom>
          <a:noFill/>
        </p:spPr>
        <p:txBody>
          <a:bodyPr wrap="square" lIns="0" rIns="0" tIns="0" bIns="0" anchor="ctr">
            <a:spAutoFit/>
          </a:bodyPr>
          <a:lstStyle/>
          <a:p>
            <a:pPr algn="ctr">
              <a:lnSpc>
                <a:spcPct val="115000"/>
              </a:lnSpc>
            </a:pPr>
            <a:r>
              <a:rPr sz="1200" b="1" i="0">
                <a:solidFill>
                  <a:srgbClr val="F0AB00"/>
                </a:solidFill>
                <a:latin typeface="DejaVu Sans"/>
              </a:rPr>
              <a:t>Намерение</a:t>
            </a:r>
          </a:p>
        </p:txBody>
      </p:sp>
      <p:sp>
        <p:nvSpPr>
          <p:cNvPr id="28" name="TextBox 27"/>
          <p:cNvSpPr txBox="1"/>
          <p:nvPr/>
        </p:nvSpPr>
        <p:spPr>
          <a:xfrm>
            <a:off x="6537960" y="1417320"/>
            <a:ext cx="5166360" cy="512064"/>
          </a:xfrm>
          <a:prstGeom prst="rect">
            <a:avLst/>
          </a:prstGeom>
          <a:noFill/>
        </p:spPr>
        <p:txBody>
          <a:bodyPr wrap="square" lIns="0" rIns="0" tIns="0" bIns="0" anchor="t">
            <a:spAutoFit/>
          </a:bodyPr>
          <a:lstStyle/>
          <a:p>
            <a:pPr algn="l">
              <a:lnSpc>
                <a:spcPct val="100000"/>
              </a:lnSpc>
            </a:pPr>
            <a:r>
              <a:rPr sz="1300" b="1" i="0">
                <a:solidFill>
                  <a:srgbClr val="21295C"/>
                </a:solidFill>
                <a:latin typeface="DejaVu Sans"/>
              </a:rPr>
              <a:t>1. Исследование — откуда гипотеза</a:t>
            </a:r>
          </a:p>
        </p:txBody>
      </p:sp>
      <p:sp>
        <p:nvSpPr>
          <p:cNvPr id="29" name="TextBox 28"/>
          <p:cNvSpPr txBox="1"/>
          <p:nvPr/>
        </p:nvSpPr>
        <p:spPr>
          <a:xfrm>
            <a:off x="6537960" y="1984248"/>
            <a:ext cx="5166360" cy="512064"/>
          </a:xfrm>
          <a:prstGeom prst="rect">
            <a:avLst/>
          </a:prstGeom>
          <a:noFill/>
        </p:spPr>
        <p:txBody>
          <a:bodyPr wrap="square" lIns="0" rIns="0" tIns="0" bIns="0" anchor="t">
            <a:spAutoFit/>
          </a:bodyPr>
          <a:lstStyle/>
          <a:p>
            <a:pPr algn="l">
              <a:lnSpc>
                <a:spcPct val="100000"/>
              </a:lnSpc>
            </a:pPr>
            <a:r>
              <a:rPr sz="1300" b="1" i="0">
                <a:solidFill>
                  <a:srgbClr val="21295C"/>
                </a:solidFill>
                <a:latin typeface="DejaVu Sans"/>
              </a:rPr>
              <a:t>2. Дизайн — гипотеза → артефакт</a:t>
            </a:r>
          </a:p>
        </p:txBody>
      </p:sp>
      <p:sp>
        <p:nvSpPr>
          <p:cNvPr id="30" name="TextBox 29"/>
          <p:cNvSpPr txBox="1"/>
          <p:nvPr/>
        </p:nvSpPr>
        <p:spPr>
          <a:xfrm>
            <a:off x="6537960" y="2551176"/>
            <a:ext cx="5166360" cy="512064"/>
          </a:xfrm>
          <a:prstGeom prst="rect">
            <a:avLst/>
          </a:prstGeom>
          <a:noFill/>
        </p:spPr>
        <p:txBody>
          <a:bodyPr wrap="square" lIns="0" rIns="0" tIns="0" bIns="0" anchor="t">
            <a:spAutoFit/>
          </a:bodyPr>
          <a:lstStyle/>
          <a:p>
            <a:pPr algn="l">
              <a:lnSpc>
                <a:spcPct val="100000"/>
              </a:lnSpc>
            </a:pPr>
            <a:r>
              <a:rPr sz="1300" b="1" i="0">
                <a:solidFill>
                  <a:srgbClr val="21295C"/>
                </a:solidFill>
                <a:latin typeface="DejaVu Sans"/>
              </a:rPr>
              <a:t>3. Сборка и запуск — артефакт → продукт</a:t>
            </a:r>
          </a:p>
        </p:txBody>
      </p:sp>
      <p:sp>
        <p:nvSpPr>
          <p:cNvPr id="31" name="TextBox 30"/>
          <p:cNvSpPr txBox="1"/>
          <p:nvPr/>
        </p:nvSpPr>
        <p:spPr>
          <a:xfrm>
            <a:off x="6537960" y="3118104"/>
            <a:ext cx="5166360" cy="512064"/>
          </a:xfrm>
          <a:prstGeom prst="rect">
            <a:avLst/>
          </a:prstGeom>
          <a:noFill/>
        </p:spPr>
        <p:txBody>
          <a:bodyPr wrap="square" lIns="0" rIns="0" tIns="0" bIns="0" anchor="t">
            <a:spAutoFit/>
          </a:bodyPr>
          <a:lstStyle/>
          <a:p>
            <a:pPr algn="l">
              <a:lnSpc>
                <a:spcPct val="100000"/>
              </a:lnSpc>
            </a:pPr>
            <a:r>
              <a:rPr sz="1300" b="1" i="0">
                <a:solidFill>
                  <a:srgbClr val="21295C"/>
                </a:solidFill>
                <a:latin typeface="DejaVu Sans"/>
              </a:rPr>
              <a:t>4. Измерение — сработало ли</a:t>
            </a:r>
          </a:p>
        </p:txBody>
      </p:sp>
      <p:sp>
        <p:nvSpPr>
          <p:cNvPr id="32" name="TextBox 31"/>
          <p:cNvSpPr txBox="1"/>
          <p:nvPr/>
        </p:nvSpPr>
        <p:spPr>
          <a:xfrm>
            <a:off x="6537960" y="3685032"/>
            <a:ext cx="5166360" cy="512064"/>
          </a:xfrm>
          <a:prstGeom prst="rect">
            <a:avLst/>
          </a:prstGeom>
          <a:noFill/>
        </p:spPr>
        <p:txBody>
          <a:bodyPr wrap="square" lIns="0" rIns="0" tIns="0" bIns="0" anchor="t">
            <a:spAutoFit/>
          </a:bodyPr>
          <a:lstStyle/>
          <a:p>
            <a:pPr algn="l">
              <a:lnSpc>
                <a:spcPct val="100000"/>
              </a:lnSpc>
            </a:pPr>
            <a:r>
              <a:rPr sz="1300" b="1" i="0">
                <a:solidFill>
                  <a:srgbClr val="21295C"/>
                </a:solidFill>
                <a:latin typeface="DejaVu Sans"/>
              </a:rPr>
              <a:t>5. Поддержка — живёт 24/7</a:t>
            </a:r>
          </a:p>
        </p:txBody>
      </p:sp>
      <p:sp>
        <p:nvSpPr>
          <p:cNvPr id="33" name="TextBox 32"/>
          <p:cNvSpPr txBox="1"/>
          <p:nvPr/>
        </p:nvSpPr>
        <p:spPr>
          <a:xfrm>
            <a:off x="6537960" y="4251960"/>
            <a:ext cx="5166360" cy="512064"/>
          </a:xfrm>
          <a:prstGeom prst="rect">
            <a:avLst/>
          </a:prstGeom>
          <a:noFill/>
        </p:spPr>
        <p:txBody>
          <a:bodyPr wrap="square" lIns="0" rIns="0" tIns="0" bIns="0" anchor="t">
            <a:spAutoFit/>
          </a:bodyPr>
          <a:lstStyle/>
          <a:p>
            <a:pPr algn="l">
              <a:lnSpc>
                <a:spcPct val="100000"/>
              </a:lnSpc>
            </a:pPr>
            <a:r>
              <a:rPr sz="1300" b="1" i="0">
                <a:solidFill>
                  <a:srgbClr val="21295C"/>
                </a:solidFill>
                <a:latin typeface="DejaVu Sans"/>
              </a:rPr>
              <a:t>6. Управление — куда вкладывать</a:t>
            </a:r>
          </a:p>
        </p:txBody>
      </p:sp>
      <p:sp>
        <p:nvSpPr>
          <p:cNvPr id="34" name="Rounded Rectangle 33"/>
          <p:cNvSpPr/>
          <p:nvPr/>
        </p:nvSpPr>
        <p:spPr>
          <a:xfrm>
            <a:off x="6537960" y="5074920"/>
            <a:ext cx="5166360" cy="914400"/>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757416" y="5129783"/>
            <a:ext cx="4727448" cy="804672"/>
          </a:xfrm>
          <a:prstGeom prst="rect">
            <a:avLst/>
          </a:prstGeom>
          <a:noFill/>
        </p:spPr>
        <p:txBody>
          <a:bodyPr wrap="square" lIns="0" rIns="0" tIns="0" bIns="0" anchor="ctr">
            <a:spAutoFit/>
          </a:bodyPr>
          <a:lstStyle/>
          <a:p>
            <a:pPr algn="l">
              <a:lnSpc>
                <a:spcPct val="120000"/>
              </a:lnSpc>
            </a:pPr>
            <a:r>
              <a:rPr sz="1250" b="1" i="0">
                <a:solidFill>
                  <a:srgbClr val="21295C"/>
                </a:solidFill>
                <a:latin typeface="DejaVu Sans"/>
              </a:rPr>
              <a:t>Стрелка возврата: управление снова питает исследование — замкнутая петля, а не одноразовый линейный процесс.</a:t>
            </a:r>
          </a:p>
        </p:txBody>
      </p:sp>
      <p:sp>
        <p:nvSpPr>
          <p:cNvPr id="36" name="TextBox 35"/>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3 / 56</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65760"/>
            <a:ext cx="10972800" cy="777240"/>
          </a:xfrm>
          <a:prstGeom prst="rect">
            <a:avLst/>
          </a:prstGeom>
          <a:noFill/>
        </p:spPr>
        <p:txBody>
          <a:bodyPr wrap="square" lIns="0" rIns="0" tIns="0" bIns="0" anchor="t">
            <a:spAutoFit/>
          </a:bodyPr>
          <a:lstStyle/>
          <a:p>
            <a:pPr algn="l">
              <a:lnSpc>
                <a:spcPct val="110000"/>
              </a:lnSpc>
            </a:pPr>
            <a:r>
              <a:rPr sz="2300" b="1" i="0">
                <a:solidFill>
                  <a:srgbClr val="21295C"/>
                </a:solidFill>
                <a:latin typeface="DejaVu Sans"/>
              </a:rPr>
              <a:t>Цикл кода Лекции 4 — это один шаг внутри цикла продукта</a:t>
            </a:r>
          </a:p>
        </p:txBody>
      </p:sp>
      <p:sp>
        <p:nvSpPr>
          <p:cNvPr id="3" name="Rounded Rectangle 2"/>
          <p:cNvSpPr/>
          <p:nvPr/>
        </p:nvSpPr>
        <p:spPr>
          <a:xfrm>
            <a:off x="502920" y="1371600"/>
            <a:ext cx="11201400" cy="2606040"/>
          </a:xfrm>
          <a:prstGeom prst="roundRect">
            <a:avLst>
              <a:gd name="adj" fmla="val 11695"/>
            </a:avLst>
          </a:prstGeom>
          <a:solidFill>
            <a:srgbClr val="F4F7FA"/>
          </a:solidFill>
          <a:ln w="2032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1481328"/>
            <a:ext cx="5486400" cy="320040"/>
          </a:xfrm>
          <a:prstGeom prst="rect">
            <a:avLst/>
          </a:prstGeom>
          <a:noFill/>
        </p:spPr>
        <p:txBody>
          <a:bodyPr wrap="square" lIns="0" rIns="0" tIns="0" bIns="0" anchor="t">
            <a:spAutoFit/>
          </a:bodyPr>
          <a:lstStyle/>
          <a:p>
            <a:pPr algn="l">
              <a:lnSpc>
                <a:spcPct val="115000"/>
              </a:lnSpc>
            </a:pPr>
            <a:r>
              <a:rPr sz="1300" b="1" i="0">
                <a:solidFill>
                  <a:srgbClr val="065A82"/>
                </a:solidFill>
                <a:latin typeface="DejaVu Sans"/>
              </a:rPr>
              <a:t>Цикл продукта (Лекция 5)</a:t>
            </a:r>
          </a:p>
        </p:txBody>
      </p:sp>
      <p:cxnSp>
        <p:nvCxnSpPr>
          <p:cNvPr id="5" name="Connector 4"/>
          <p:cNvCxnSpPr/>
          <p:nvPr/>
        </p:nvCxnSpPr>
        <p:spPr>
          <a:xfrm>
            <a:off x="2331720" y="1947672"/>
            <a:ext cx="570163" cy="329184"/>
          </a:xfrm>
          <a:prstGeom prst="line">
            <a:avLst/>
          </a:prstGeom>
          <a:ln w="17780">
            <a:solidFill>
              <a:srgbClr val="1C7293"/>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2901883" y="2276856"/>
            <a:ext cx="0" cy="658368"/>
          </a:xfrm>
          <a:prstGeom prst="line">
            <a:avLst/>
          </a:prstGeom>
          <a:ln w="17780">
            <a:solidFill>
              <a:srgbClr val="1C7293"/>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flipH="1">
            <a:off x="2331720" y="2935224"/>
            <a:ext cx="570163" cy="329184"/>
          </a:xfrm>
          <a:prstGeom prst="line">
            <a:avLst/>
          </a:prstGeom>
          <a:ln w="17780">
            <a:solidFill>
              <a:srgbClr val="1C7293"/>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flipH="1" flipV="1">
            <a:off x="1761556" y="2935224"/>
            <a:ext cx="570164" cy="329184"/>
          </a:xfrm>
          <a:prstGeom prst="line">
            <a:avLst/>
          </a:prstGeom>
          <a:ln w="17780">
            <a:solidFill>
              <a:srgbClr val="1C7293"/>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flipV="1">
            <a:off x="1761556" y="2276856"/>
            <a:ext cx="0" cy="658368"/>
          </a:xfrm>
          <a:prstGeom prst="line">
            <a:avLst/>
          </a:prstGeom>
          <a:ln w="17780">
            <a:solidFill>
              <a:srgbClr val="1C7293"/>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flipV="1">
            <a:off x="1761556" y="1947672"/>
            <a:ext cx="570164" cy="329184"/>
          </a:xfrm>
          <a:prstGeom prst="line">
            <a:avLst/>
          </a:prstGeom>
          <a:ln w="25400">
            <a:solidFill>
              <a:srgbClr val="F0AB00"/>
            </a:solidFill>
            <a:tailEnd type="triangle" w="med" len="med"/>
          </a:ln>
        </p:spPr>
        <p:style>
          <a:lnRef idx="2">
            <a:schemeClr val="accent1"/>
          </a:lnRef>
          <a:fillRef idx="0">
            <a:schemeClr val="accent1"/>
          </a:fillRef>
          <a:effectRef idx="1">
            <a:schemeClr val="accent1"/>
          </a:effectRef>
          <a:fontRef idx="minor">
            <a:schemeClr val="tx1"/>
          </a:fontRef>
        </p:style>
      </p:cxnSp>
      <p:sp>
        <p:nvSpPr>
          <p:cNvPr id="11" name="Oval 10"/>
          <p:cNvSpPr/>
          <p:nvPr/>
        </p:nvSpPr>
        <p:spPr>
          <a:xfrm>
            <a:off x="2130551" y="1746504"/>
            <a:ext cx="402336" cy="402336"/>
          </a:xfrm>
          <a:prstGeom prst="ellipse">
            <a:avLst/>
          </a:prstGeom>
          <a:solidFill>
            <a:srgbClr val="FFFFFF"/>
          </a:solidFill>
          <a:ln w="1524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search-mid.png"/>
          <p:cNvPicPr>
            <a:picLocks noChangeAspect="1"/>
          </p:cNvPicPr>
          <p:nvPr/>
        </p:nvPicPr>
        <p:blipFill>
          <a:blip r:embed="rId2"/>
          <a:stretch>
            <a:fillRect/>
          </a:stretch>
        </p:blipFill>
        <p:spPr>
          <a:xfrm>
            <a:off x="2203703" y="1819655"/>
            <a:ext cx="256032" cy="256032"/>
          </a:xfrm>
          <a:prstGeom prst="rect">
            <a:avLst/>
          </a:prstGeom>
        </p:spPr>
      </p:pic>
      <p:sp>
        <p:nvSpPr>
          <p:cNvPr id="13" name="Oval 12"/>
          <p:cNvSpPr/>
          <p:nvPr/>
        </p:nvSpPr>
        <p:spPr>
          <a:xfrm>
            <a:off x="2700715" y="2075688"/>
            <a:ext cx="402336" cy="402336"/>
          </a:xfrm>
          <a:prstGeom prst="ellipse">
            <a:avLst/>
          </a:prstGeom>
          <a:solidFill>
            <a:srgbClr val="FFFFFF"/>
          </a:solidFill>
          <a:ln w="1524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pencil-mid.png"/>
          <p:cNvPicPr>
            <a:picLocks noChangeAspect="1"/>
          </p:cNvPicPr>
          <p:nvPr/>
        </p:nvPicPr>
        <p:blipFill>
          <a:blip r:embed="rId3"/>
          <a:stretch>
            <a:fillRect/>
          </a:stretch>
        </p:blipFill>
        <p:spPr>
          <a:xfrm>
            <a:off x="2773867" y="2148840"/>
            <a:ext cx="256032" cy="256032"/>
          </a:xfrm>
          <a:prstGeom prst="rect">
            <a:avLst/>
          </a:prstGeom>
        </p:spPr>
      </p:pic>
      <p:sp>
        <p:nvSpPr>
          <p:cNvPr id="15" name="Oval 14"/>
          <p:cNvSpPr/>
          <p:nvPr/>
        </p:nvSpPr>
        <p:spPr>
          <a:xfrm>
            <a:off x="2700715" y="2734056"/>
            <a:ext cx="402336" cy="402336"/>
          </a:xfrm>
          <a:prstGeom prst="ellipse">
            <a:avLst/>
          </a:prstGeom>
          <a:solidFill>
            <a:srgbClr val="FFFFFF"/>
          </a:solidFill>
          <a:ln w="1524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hammer-mid.png"/>
          <p:cNvPicPr>
            <a:picLocks noChangeAspect="1"/>
          </p:cNvPicPr>
          <p:nvPr/>
        </p:nvPicPr>
        <p:blipFill>
          <a:blip r:embed="rId4"/>
          <a:stretch>
            <a:fillRect/>
          </a:stretch>
        </p:blipFill>
        <p:spPr>
          <a:xfrm>
            <a:off x="2773867" y="2807208"/>
            <a:ext cx="256032" cy="256032"/>
          </a:xfrm>
          <a:prstGeom prst="rect">
            <a:avLst/>
          </a:prstGeom>
        </p:spPr>
      </p:pic>
      <p:sp>
        <p:nvSpPr>
          <p:cNvPr id="17" name="Oval 16"/>
          <p:cNvSpPr/>
          <p:nvPr/>
        </p:nvSpPr>
        <p:spPr>
          <a:xfrm>
            <a:off x="2130551" y="3063240"/>
            <a:ext cx="402336" cy="402336"/>
          </a:xfrm>
          <a:prstGeom prst="ellipse">
            <a:avLst/>
          </a:prstGeom>
          <a:solidFill>
            <a:srgbClr val="FFFFFF"/>
          </a:solidFill>
          <a:ln w="1524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8" name="Picture 17" descr="ruler-mid.png"/>
          <p:cNvPicPr>
            <a:picLocks noChangeAspect="1"/>
          </p:cNvPicPr>
          <p:nvPr/>
        </p:nvPicPr>
        <p:blipFill>
          <a:blip r:embed="rId5"/>
          <a:stretch>
            <a:fillRect/>
          </a:stretch>
        </p:blipFill>
        <p:spPr>
          <a:xfrm>
            <a:off x="2203703" y="3136392"/>
            <a:ext cx="256032" cy="256032"/>
          </a:xfrm>
          <a:prstGeom prst="rect">
            <a:avLst/>
          </a:prstGeom>
        </p:spPr>
      </p:pic>
      <p:sp>
        <p:nvSpPr>
          <p:cNvPr id="19" name="Oval 18"/>
          <p:cNvSpPr/>
          <p:nvPr/>
        </p:nvSpPr>
        <p:spPr>
          <a:xfrm>
            <a:off x="1560388" y="2734056"/>
            <a:ext cx="402336" cy="402336"/>
          </a:xfrm>
          <a:prstGeom prst="ellipse">
            <a:avLst/>
          </a:prstGeom>
          <a:solidFill>
            <a:srgbClr val="FFFFFF"/>
          </a:solidFill>
          <a:ln w="1524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headphones-mid.png"/>
          <p:cNvPicPr>
            <a:picLocks noChangeAspect="1"/>
          </p:cNvPicPr>
          <p:nvPr/>
        </p:nvPicPr>
        <p:blipFill>
          <a:blip r:embed="rId6"/>
          <a:stretch>
            <a:fillRect/>
          </a:stretch>
        </p:blipFill>
        <p:spPr>
          <a:xfrm>
            <a:off x="1633540" y="2807208"/>
            <a:ext cx="256032" cy="256032"/>
          </a:xfrm>
          <a:prstGeom prst="rect">
            <a:avLst/>
          </a:prstGeom>
        </p:spPr>
      </p:pic>
      <p:sp>
        <p:nvSpPr>
          <p:cNvPr id="21" name="Oval 20"/>
          <p:cNvSpPr/>
          <p:nvPr/>
        </p:nvSpPr>
        <p:spPr>
          <a:xfrm>
            <a:off x="1560388" y="2075688"/>
            <a:ext cx="402336" cy="402336"/>
          </a:xfrm>
          <a:prstGeom prst="ellipse">
            <a:avLst/>
          </a:prstGeom>
          <a:solidFill>
            <a:srgbClr val="FFFFFF"/>
          </a:solidFill>
          <a:ln w="1524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2" name="Picture 21" descr="scale-mid.png"/>
          <p:cNvPicPr>
            <a:picLocks noChangeAspect="1"/>
          </p:cNvPicPr>
          <p:nvPr/>
        </p:nvPicPr>
        <p:blipFill>
          <a:blip r:embed="rId7"/>
          <a:stretch>
            <a:fillRect/>
          </a:stretch>
        </p:blipFill>
        <p:spPr>
          <a:xfrm>
            <a:off x="1633540" y="2148840"/>
            <a:ext cx="256032" cy="256032"/>
          </a:xfrm>
          <a:prstGeom prst="rect">
            <a:avLst/>
          </a:prstGeom>
        </p:spPr>
      </p:pic>
      <p:sp>
        <p:nvSpPr>
          <p:cNvPr id="23" name="Rounded Rectangle 22"/>
          <p:cNvSpPr/>
          <p:nvPr/>
        </p:nvSpPr>
        <p:spPr>
          <a:xfrm>
            <a:off x="4160520" y="2395728"/>
            <a:ext cx="960120" cy="384048"/>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wrap="none"/>
          <a:lstStyle/>
          <a:p>
            <a:pPr algn="ctr"/>
            <a:r>
              <a:rPr sz="1200" b="1">
                <a:solidFill>
                  <a:srgbClr val="21295C"/>
                </a:solidFill>
                <a:latin typeface="DejaVu Sans"/>
              </a:rPr>
              <a:t>6 фаз</a:t>
            </a:r>
          </a:p>
        </p:txBody>
      </p:sp>
      <p:pic>
        <p:nvPicPr>
          <p:cNvPr id="24" name="Picture 23" descr="layers-teal.png"/>
          <p:cNvPicPr>
            <a:picLocks noChangeAspect="1"/>
          </p:cNvPicPr>
          <p:nvPr/>
        </p:nvPicPr>
        <p:blipFill>
          <a:blip r:embed="rId8"/>
          <a:stretch>
            <a:fillRect/>
          </a:stretch>
        </p:blipFill>
        <p:spPr>
          <a:xfrm>
            <a:off x="777240" y="3429000"/>
            <a:ext cx="457200" cy="457200"/>
          </a:xfrm>
          <a:prstGeom prst="rect">
            <a:avLst/>
          </a:prstGeom>
        </p:spPr>
      </p:pic>
      <p:sp>
        <p:nvSpPr>
          <p:cNvPr id="25" name="TextBox 24"/>
          <p:cNvSpPr txBox="1"/>
          <p:nvPr/>
        </p:nvSpPr>
        <p:spPr>
          <a:xfrm>
            <a:off x="1371600" y="3429000"/>
            <a:ext cx="5532120" cy="502920"/>
          </a:xfrm>
          <a:prstGeom prst="rect">
            <a:avLst/>
          </a:prstGeom>
          <a:noFill/>
        </p:spPr>
        <p:txBody>
          <a:bodyPr wrap="square" lIns="0" rIns="0" tIns="0" bIns="0" anchor="ctr">
            <a:spAutoFit/>
          </a:bodyPr>
          <a:lstStyle/>
          <a:p>
            <a:pPr algn="l">
              <a:lnSpc>
                <a:spcPct val="110000"/>
              </a:lnSpc>
            </a:pPr>
            <a:r>
              <a:rPr sz="1100" b="0" i="0">
                <a:solidFill>
                  <a:srgbClr val="21295C"/>
                </a:solidFill>
                <a:latin typeface="DejaVu Sans"/>
              </a:rPr>
              <a:t>исследование → дизайн → сборка/запуск → измерение → эксплуатация → управление → снова исследование</a:t>
            </a:r>
          </a:p>
        </p:txBody>
      </p:sp>
      <p:sp>
        <p:nvSpPr>
          <p:cNvPr id="26" name="Rounded Rectangle 25"/>
          <p:cNvSpPr/>
          <p:nvPr/>
        </p:nvSpPr>
        <p:spPr>
          <a:xfrm>
            <a:off x="7223760" y="1874519"/>
            <a:ext cx="4251960" cy="1828800"/>
          </a:xfrm>
          <a:prstGeom prst="roundRect">
            <a:avLst>
              <a:gd name="adj" fmla="val 16666"/>
            </a:avLst>
          </a:prstGeom>
          <a:solidFill>
            <a:srgbClr val="FFFFFF"/>
          </a:solidFill>
          <a:ln w="2286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406640" y="2011680"/>
            <a:ext cx="3931920" cy="292608"/>
          </a:xfrm>
          <a:prstGeom prst="rect">
            <a:avLst/>
          </a:prstGeom>
          <a:noFill/>
        </p:spPr>
        <p:txBody>
          <a:bodyPr wrap="square" lIns="0" rIns="0" tIns="0" bIns="0" anchor="t">
            <a:spAutoFit/>
          </a:bodyPr>
          <a:lstStyle/>
          <a:p>
            <a:pPr algn="l">
              <a:lnSpc>
                <a:spcPct val="115000"/>
              </a:lnSpc>
            </a:pPr>
            <a:r>
              <a:rPr sz="1150" b="1" i="0">
                <a:solidFill>
                  <a:srgbClr val="21295C"/>
                </a:solidFill>
                <a:latin typeface="DejaVu Sans"/>
              </a:rPr>
              <a:t>Цикл кода (Лекция 4)</a:t>
            </a:r>
          </a:p>
        </p:txBody>
      </p:sp>
      <p:sp>
        <p:nvSpPr>
          <p:cNvPr id="28" name="TextBox 27"/>
          <p:cNvSpPr txBox="1"/>
          <p:nvPr/>
        </p:nvSpPr>
        <p:spPr>
          <a:xfrm>
            <a:off x="7406640" y="2395728"/>
            <a:ext cx="3931920" cy="1097280"/>
          </a:xfrm>
          <a:prstGeom prst="rect">
            <a:avLst/>
          </a:prstGeom>
          <a:noFill/>
        </p:spPr>
        <p:txBody>
          <a:bodyPr wrap="square" lIns="0" rIns="0" tIns="0" bIns="0" anchor="t">
            <a:spAutoFit/>
          </a:bodyPr>
          <a:lstStyle/>
          <a:p>
            <a:pPr algn="l">
              <a:lnSpc>
                <a:spcPct val="120000"/>
              </a:lnSpc>
            </a:pPr>
            <a:r>
              <a:rPr sz="1200" b="0" i="1">
                <a:solidFill>
                  <a:srgbClr val="5B6678"/>
                </a:solidFill>
                <a:latin typeface="DejaVu Sans"/>
              </a:rPr>
              <a:t>спека → ADR → план → PR → инцидент</a:t>
            </a:r>
          </a:p>
        </p:txBody>
      </p:sp>
      <p:pic>
        <p:nvPicPr>
          <p:cNvPr id="29" name="Picture 28" descr="git-branch-teal.png"/>
          <p:cNvPicPr>
            <a:picLocks noChangeAspect="1"/>
          </p:cNvPicPr>
          <p:nvPr/>
        </p:nvPicPr>
        <p:blipFill>
          <a:blip r:embed="rId9"/>
          <a:stretch>
            <a:fillRect/>
          </a:stretch>
        </p:blipFill>
        <p:spPr>
          <a:xfrm>
            <a:off x="7406640" y="3017520"/>
            <a:ext cx="457200" cy="457200"/>
          </a:xfrm>
          <a:prstGeom prst="rect">
            <a:avLst/>
          </a:prstGeom>
        </p:spPr>
      </p:pic>
      <p:sp>
        <p:nvSpPr>
          <p:cNvPr id="30" name="Rounded Rectangle 29"/>
          <p:cNvSpPr/>
          <p:nvPr/>
        </p:nvSpPr>
        <p:spPr>
          <a:xfrm>
            <a:off x="502920" y="3977639"/>
            <a:ext cx="11201400" cy="1508760"/>
          </a:xfrm>
          <a:prstGeom prst="roundRect">
            <a:avLst>
              <a:gd name="adj" fmla="val 20202"/>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777240" y="4096512"/>
            <a:ext cx="10652760" cy="1280160"/>
          </a:xfrm>
          <a:prstGeom prst="rect">
            <a:avLst/>
          </a:prstGeom>
          <a:noFill/>
        </p:spPr>
        <p:txBody>
          <a:bodyPr wrap="square" lIns="0" rIns="0" tIns="0" bIns="0" anchor="ctr">
            <a:spAutoFit/>
          </a:bodyPr>
          <a:lstStyle/>
          <a:p>
            <a:pPr algn="l">
              <a:lnSpc>
                <a:spcPct val="118000"/>
              </a:lnSpc>
            </a:pPr>
            <a:r>
              <a:rPr sz="1700" b="1" i="0">
                <a:solidFill>
                  <a:srgbClr val="21295C"/>
                </a:solidFill>
                <a:latin typeface="DejaVu Sans"/>
              </a:rPr>
              <a:t>Когда ИИ сделал сборку почти бесплатной — что стало настоящим узким местом продукта, и на каждой фазе цикла: какая классическая дисциплина остаётся, что ИИ ускоряет, и где AI-first ломается?</a:t>
            </a:r>
          </a:p>
        </p:txBody>
      </p:sp>
      <p:sp>
        <p:nvSpPr>
          <p:cNvPr id="32" name="Rounded Rectangle 31"/>
          <p:cNvSpPr/>
          <p:nvPr/>
        </p:nvSpPr>
        <p:spPr>
          <a:xfrm>
            <a:off x="502920" y="5623560"/>
            <a:ext cx="11201400" cy="548640"/>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722376" y="5678424"/>
            <a:ext cx="10762488" cy="438912"/>
          </a:xfrm>
          <a:prstGeom prst="rect">
            <a:avLst/>
          </a:prstGeom>
          <a:noFill/>
        </p:spPr>
        <p:txBody>
          <a:bodyPr wrap="square" lIns="0" rIns="0" tIns="0" bIns="0" anchor="ctr">
            <a:spAutoFit/>
          </a:bodyPr>
          <a:lstStyle/>
          <a:p>
            <a:pPr algn="ctr">
              <a:lnSpc>
                <a:spcPct val="120000"/>
              </a:lnSpc>
            </a:pPr>
            <a:r>
              <a:rPr sz="1250" b="1" i="0">
                <a:solidFill>
                  <a:srgbClr val="21295C"/>
                </a:solidFill>
                <a:latin typeface="DejaVu Sans"/>
              </a:rPr>
              <a:t>Единица работы Лекции 4 — pull request (запрос на слияние кода). Единица работы здесь — гипотеза, эксперимент, релиз-решение.</a:t>
            </a:r>
          </a:p>
        </p:txBody>
      </p:sp>
      <p:sp>
        <p:nvSpPr>
          <p:cNvPr id="34" name="TextBox 33"/>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4 / 56</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65760"/>
            <a:ext cx="11155680" cy="777240"/>
          </a:xfrm>
          <a:prstGeom prst="rect">
            <a:avLst/>
          </a:prstGeom>
          <a:noFill/>
        </p:spPr>
        <p:txBody>
          <a:bodyPr wrap="square" lIns="0" rIns="0" tIns="0" bIns="0" anchor="t">
            <a:spAutoFit/>
          </a:bodyPr>
          <a:lstStyle/>
          <a:p>
            <a:pPr algn="l">
              <a:lnSpc>
                <a:spcPct val="110000"/>
              </a:lnSpc>
            </a:pPr>
            <a:r>
              <a:rPr sz="2300" b="1" i="0">
                <a:solidFill>
                  <a:srgbClr val="21295C"/>
                </a:solidFill>
                <a:latin typeface="DejaVu Sans"/>
              </a:rPr>
              <a:t>Три человека из разных областей нарисовали один и тот же чертёж</a:t>
            </a:r>
          </a:p>
        </p:txBody>
      </p:sp>
      <p:sp>
        <p:nvSpPr>
          <p:cNvPr id="3" name="Rounded Rectangle 2"/>
          <p:cNvSpPr/>
          <p:nvPr/>
        </p:nvSpPr>
        <p:spPr>
          <a:xfrm>
            <a:off x="502920" y="1417320"/>
            <a:ext cx="3611880" cy="1874519"/>
          </a:xfrm>
          <a:prstGeom prst="roundRect">
            <a:avLst>
              <a:gd name="adj" fmla="val 1626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ar-chart-3-mid.png"/>
          <p:cNvPicPr>
            <a:picLocks noChangeAspect="1"/>
          </p:cNvPicPr>
          <p:nvPr/>
        </p:nvPicPr>
        <p:blipFill>
          <a:blip r:embed="rId2"/>
          <a:stretch>
            <a:fillRect/>
          </a:stretch>
        </p:blipFill>
        <p:spPr>
          <a:xfrm>
            <a:off x="722376" y="1600200"/>
            <a:ext cx="512064" cy="512064"/>
          </a:xfrm>
          <a:prstGeom prst="rect">
            <a:avLst/>
          </a:prstGeom>
        </p:spPr>
      </p:pic>
      <p:sp>
        <p:nvSpPr>
          <p:cNvPr id="5" name="TextBox 4"/>
          <p:cNvSpPr txBox="1"/>
          <p:nvPr/>
        </p:nvSpPr>
        <p:spPr>
          <a:xfrm>
            <a:off x="1362456" y="1618488"/>
            <a:ext cx="2560320" cy="502920"/>
          </a:xfrm>
          <a:prstGeom prst="rect">
            <a:avLst/>
          </a:prstGeom>
          <a:noFill/>
        </p:spPr>
        <p:txBody>
          <a:bodyPr wrap="square" lIns="0" rIns="0" tIns="0" bIns="0" anchor="t">
            <a:spAutoFit/>
          </a:bodyPr>
          <a:lstStyle/>
          <a:p>
            <a:pPr algn="l">
              <a:lnSpc>
                <a:spcPct val="100000"/>
              </a:lnSpc>
            </a:pPr>
            <a:r>
              <a:rPr sz="1150" b="1" i="0">
                <a:solidFill>
                  <a:srgbClr val="065A82"/>
                </a:solidFill>
                <a:latin typeface="DejaVu Sans"/>
              </a:rPr>
              <a:t>Деминг · статистика качества</a:t>
            </a:r>
          </a:p>
        </p:txBody>
      </p:sp>
      <p:sp>
        <p:nvSpPr>
          <p:cNvPr id="6" name="Rounded Rectangle 5"/>
          <p:cNvSpPr/>
          <p:nvPr/>
        </p:nvSpPr>
        <p:spPr>
          <a:xfrm>
            <a:off x="722376" y="2203704"/>
            <a:ext cx="1051560" cy="329184"/>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wrap="none"/>
          <a:lstStyle/>
          <a:p>
            <a:pPr algn="ctr"/>
            <a:r>
              <a:rPr sz="1300" b="1">
                <a:solidFill>
                  <a:srgbClr val="21295C"/>
                </a:solidFill>
                <a:latin typeface="DejaVu Sans"/>
              </a:rPr>
              <a:t>PDCA</a:t>
            </a:r>
          </a:p>
        </p:txBody>
      </p:sp>
      <p:sp>
        <p:nvSpPr>
          <p:cNvPr id="7" name="TextBox 6"/>
          <p:cNvSpPr txBox="1"/>
          <p:nvPr/>
        </p:nvSpPr>
        <p:spPr>
          <a:xfrm>
            <a:off x="722376" y="2624328"/>
            <a:ext cx="3172968" cy="603504"/>
          </a:xfrm>
          <a:prstGeom prst="rect">
            <a:avLst/>
          </a:prstGeom>
          <a:noFill/>
        </p:spPr>
        <p:txBody>
          <a:bodyPr wrap="square" lIns="0" rIns="0" tIns="0" bIns="0" anchor="t">
            <a:spAutoFit/>
          </a:bodyPr>
          <a:lstStyle/>
          <a:p>
            <a:pPr algn="l">
              <a:lnSpc>
                <a:spcPct val="108000"/>
              </a:lnSpc>
            </a:pPr>
            <a:r>
              <a:rPr sz="1050" b="0" i="0">
                <a:solidFill>
                  <a:srgbClr val="21295C"/>
                </a:solidFill>
                <a:latin typeface="DejaVu Sans"/>
              </a:rPr>
              <a:t>планируй → делай → проверяй → корректируй</a:t>
            </a:r>
          </a:p>
        </p:txBody>
      </p:sp>
      <p:sp>
        <p:nvSpPr>
          <p:cNvPr id="8" name="Rounded Rectangle 7"/>
          <p:cNvSpPr/>
          <p:nvPr/>
        </p:nvSpPr>
        <p:spPr>
          <a:xfrm>
            <a:off x="4297680" y="1417320"/>
            <a:ext cx="3611880" cy="1874519"/>
          </a:xfrm>
          <a:prstGeom prst="roundRect">
            <a:avLst>
              <a:gd name="adj" fmla="val 1626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plane-mid.png"/>
          <p:cNvPicPr>
            <a:picLocks noChangeAspect="1"/>
          </p:cNvPicPr>
          <p:nvPr/>
        </p:nvPicPr>
        <p:blipFill>
          <a:blip r:embed="rId3"/>
          <a:stretch>
            <a:fillRect/>
          </a:stretch>
        </p:blipFill>
        <p:spPr>
          <a:xfrm>
            <a:off x="4517136" y="1600200"/>
            <a:ext cx="512064" cy="512064"/>
          </a:xfrm>
          <a:prstGeom prst="rect">
            <a:avLst/>
          </a:prstGeom>
        </p:spPr>
      </p:pic>
      <p:sp>
        <p:nvSpPr>
          <p:cNvPr id="10" name="TextBox 9"/>
          <p:cNvSpPr txBox="1"/>
          <p:nvPr/>
        </p:nvSpPr>
        <p:spPr>
          <a:xfrm>
            <a:off x="5157216" y="1618488"/>
            <a:ext cx="2560320" cy="502920"/>
          </a:xfrm>
          <a:prstGeom prst="rect">
            <a:avLst/>
          </a:prstGeom>
          <a:noFill/>
        </p:spPr>
        <p:txBody>
          <a:bodyPr wrap="square" lIns="0" rIns="0" tIns="0" bIns="0" anchor="t">
            <a:spAutoFit/>
          </a:bodyPr>
          <a:lstStyle/>
          <a:p>
            <a:pPr algn="l">
              <a:lnSpc>
                <a:spcPct val="100000"/>
              </a:lnSpc>
            </a:pPr>
            <a:r>
              <a:rPr sz="1150" b="1" i="0">
                <a:solidFill>
                  <a:srgbClr val="065A82"/>
                </a:solidFill>
                <a:latin typeface="DejaVu Sans"/>
              </a:rPr>
              <a:t>Бойд · воздушный бой</a:t>
            </a:r>
          </a:p>
        </p:txBody>
      </p:sp>
      <p:sp>
        <p:nvSpPr>
          <p:cNvPr id="11" name="Rounded Rectangle 10"/>
          <p:cNvSpPr/>
          <p:nvPr/>
        </p:nvSpPr>
        <p:spPr>
          <a:xfrm>
            <a:off x="4517136" y="2203704"/>
            <a:ext cx="1051560" cy="329184"/>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wrap="none"/>
          <a:lstStyle/>
          <a:p>
            <a:pPr algn="ctr"/>
            <a:r>
              <a:rPr sz="1300" b="1">
                <a:solidFill>
                  <a:srgbClr val="21295C"/>
                </a:solidFill>
                <a:latin typeface="DejaVu Sans"/>
              </a:rPr>
              <a:t>OODA</a:t>
            </a:r>
          </a:p>
        </p:txBody>
      </p:sp>
      <p:sp>
        <p:nvSpPr>
          <p:cNvPr id="12" name="TextBox 11"/>
          <p:cNvSpPr txBox="1"/>
          <p:nvPr/>
        </p:nvSpPr>
        <p:spPr>
          <a:xfrm>
            <a:off x="4517136" y="2624328"/>
            <a:ext cx="3172968" cy="603504"/>
          </a:xfrm>
          <a:prstGeom prst="rect">
            <a:avLst/>
          </a:prstGeom>
          <a:noFill/>
        </p:spPr>
        <p:txBody>
          <a:bodyPr wrap="square" lIns="0" rIns="0" tIns="0" bIns="0" anchor="t">
            <a:spAutoFit/>
          </a:bodyPr>
          <a:lstStyle/>
          <a:p>
            <a:pPr algn="l">
              <a:lnSpc>
                <a:spcPct val="108000"/>
              </a:lnSpc>
            </a:pPr>
            <a:r>
              <a:rPr sz="1050" b="0" i="0">
                <a:solidFill>
                  <a:srgbClr val="21295C"/>
                </a:solidFill>
                <a:latin typeface="DejaVu Sans"/>
              </a:rPr>
              <a:t>наблюдай → ориентируйся → решай → действуй</a:t>
            </a:r>
          </a:p>
        </p:txBody>
      </p:sp>
      <p:sp>
        <p:nvSpPr>
          <p:cNvPr id="13" name="Rounded Rectangle 12"/>
          <p:cNvSpPr/>
          <p:nvPr/>
        </p:nvSpPr>
        <p:spPr>
          <a:xfrm>
            <a:off x="8092440" y="1417320"/>
            <a:ext cx="3611880" cy="1874519"/>
          </a:xfrm>
          <a:prstGeom prst="roundRect">
            <a:avLst>
              <a:gd name="adj" fmla="val 1626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rocket-mid.png"/>
          <p:cNvPicPr>
            <a:picLocks noChangeAspect="1"/>
          </p:cNvPicPr>
          <p:nvPr/>
        </p:nvPicPr>
        <p:blipFill>
          <a:blip r:embed="rId4"/>
          <a:stretch>
            <a:fillRect/>
          </a:stretch>
        </p:blipFill>
        <p:spPr>
          <a:xfrm>
            <a:off x="8311896" y="1600200"/>
            <a:ext cx="512064" cy="512064"/>
          </a:xfrm>
          <a:prstGeom prst="rect">
            <a:avLst/>
          </a:prstGeom>
        </p:spPr>
      </p:pic>
      <p:sp>
        <p:nvSpPr>
          <p:cNvPr id="15" name="TextBox 14"/>
          <p:cNvSpPr txBox="1"/>
          <p:nvPr/>
        </p:nvSpPr>
        <p:spPr>
          <a:xfrm>
            <a:off x="8951976" y="1618488"/>
            <a:ext cx="2560320" cy="502920"/>
          </a:xfrm>
          <a:prstGeom prst="rect">
            <a:avLst/>
          </a:prstGeom>
          <a:noFill/>
        </p:spPr>
        <p:txBody>
          <a:bodyPr wrap="square" lIns="0" rIns="0" tIns="0" bIns="0" anchor="t">
            <a:spAutoFit/>
          </a:bodyPr>
          <a:lstStyle/>
          <a:p>
            <a:pPr algn="l">
              <a:lnSpc>
                <a:spcPct val="100000"/>
              </a:lnSpc>
            </a:pPr>
            <a:r>
              <a:rPr sz="1150" b="1" i="0">
                <a:solidFill>
                  <a:srgbClr val="065A82"/>
                </a:solidFill>
                <a:latin typeface="DejaVu Sans"/>
              </a:rPr>
              <a:t>Райс · стартапы</a:t>
            </a:r>
          </a:p>
        </p:txBody>
      </p:sp>
      <p:sp>
        <p:nvSpPr>
          <p:cNvPr id="16" name="Rounded Rectangle 15"/>
          <p:cNvSpPr/>
          <p:nvPr/>
        </p:nvSpPr>
        <p:spPr>
          <a:xfrm>
            <a:off x="8311896" y="2203704"/>
            <a:ext cx="1051560" cy="329184"/>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wrap="none"/>
          <a:lstStyle/>
          <a:p>
            <a:pPr algn="ctr"/>
            <a:r>
              <a:rPr sz="1300" b="1">
                <a:solidFill>
                  <a:srgbClr val="21295C"/>
                </a:solidFill>
                <a:latin typeface="DejaVu Sans"/>
              </a:rPr>
              <a:t>BML</a:t>
            </a:r>
          </a:p>
        </p:txBody>
      </p:sp>
      <p:sp>
        <p:nvSpPr>
          <p:cNvPr id="17" name="TextBox 16"/>
          <p:cNvSpPr txBox="1"/>
          <p:nvPr/>
        </p:nvSpPr>
        <p:spPr>
          <a:xfrm>
            <a:off x="8311896" y="2624328"/>
            <a:ext cx="3172968" cy="603504"/>
          </a:xfrm>
          <a:prstGeom prst="rect">
            <a:avLst/>
          </a:prstGeom>
          <a:noFill/>
        </p:spPr>
        <p:txBody>
          <a:bodyPr wrap="square" lIns="0" rIns="0" tIns="0" bIns="0" anchor="t">
            <a:spAutoFit/>
          </a:bodyPr>
          <a:lstStyle/>
          <a:p>
            <a:pPr algn="l">
              <a:lnSpc>
                <a:spcPct val="108000"/>
              </a:lnSpc>
            </a:pPr>
            <a:r>
              <a:rPr sz="1050" b="0" i="0">
                <a:solidFill>
                  <a:srgbClr val="21295C"/>
                </a:solidFill>
                <a:latin typeface="DejaVu Sans"/>
              </a:rPr>
              <a:t>строй → измеряй → учись</a:t>
            </a:r>
          </a:p>
        </p:txBody>
      </p:sp>
      <p:sp>
        <p:nvSpPr>
          <p:cNvPr id="18" name="Oval 17"/>
          <p:cNvSpPr/>
          <p:nvPr/>
        </p:nvSpPr>
        <p:spPr>
          <a:xfrm>
            <a:off x="5596128" y="3611880"/>
            <a:ext cx="1005840" cy="1005840"/>
          </a:xfrm>
          <a:prstGeom prst="ellipse">
            <a:avLst/>
          </a:prstGeom>
          <a:solidFill>
            <a:srgbClr val="FDF3DC"/>
          </a:solidFill>
          <a:ln w="2794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9" name="Picture 18" descr="repeat-gold.png"/>
          <p:cNvPicPr>
            <a:picLocks noChangeAspect="1"/>
          </p:cNvPicPr>
          <p:nvPr/>
        </p:nvPicPr>
        <p:blipFill>
          <a:blip r:embed="rId5"/>
          <a:stretch>
            <a:fillRect/>
          </a:stretch>
        </p:blipFill>
        <p:spPr>
          <a:xfrm>
            <a:off x="5779008" y="3794760"/>
            <a:ext cx="640080" cy="640080"/>
          </a:xfrm>
          <a:prstGeom prst="rect">
            <a:avLst/>
          </a:prstGeom>
        </p:spPr>
      </p:pic>
      <p:cxnSp>
        <p:nvCxnSpPr>
          <p:cNvPr id="20" name="Connector 19"/>
          <p:cNvCxnSpPr/>
          <p:nvPr/>
        </p:nvCxnSpPr>
        <p:spPr>
          <a:xfrm>
            <a:off x="2308860" y="3291839"/>
            <a:ext cx="3790188" cy="320041"/>
          </a:xfrm>
          <a:prstGeom prst="line">
            <a:avLst/>
          </a:prstGeom>
          <a:ln w="17780">
            <a:solidFill>
              <a:srgbClr val="1C7293"/>
            </a:solidFill>
            <a:prstDash val="dash"/>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flipH="1">
            <a:off x="6099048" y="3291839"/>
            <a:ext cx="4572" cy="320041"/>
          </a:xfrm>
          <a:prstGeom prst="line">
            <a:avLst/>
          </a:prstGeom>
          <a:ln w="17780">
            <a:solidFill>
              <a:srgbClr val="1C7293"/>
            </a:solidFill>
            <a:prstDash val="dash"/>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flipH="1">
            <a:off x="6099048" y="3291839"/>
            <a:ext cx="3799332" cy="320041"/>
          </a:xfrm>
          <a:prstGeom prst="line">
            <a:avLst/>
          </a:prstGeom>
          <a:ln w="17780">
            <a:solidFill>
              <a:srgbClr val="1C7293"/>
            </a:solidFill>
            <a:prstDash val="dash"/>
          </a:ln>
        </p:spPr>
        <p:style>
          <a:lnRef idx="2">
            <a:schemeClr val="accent1"/>
          </a:lnRef>
          <a:fillRef idx="0">
            <a:schemeClr val="accent1"/>
          </a:fillRef>
          <a:effectRef idx="1">
            <a:schemeClr val="accent1"/>
          </a:effectRef>
          <a:fontRef idx="minor">
            <a:schemeClr val="tx1"/>
          </a:fontRef>
        </p:style>
      </p:cxnSp>
      <p:sp>
        <p:nvSpPr>
          <p:cNvPr id="23" name="Rounded Rectangle 22"/>
          <p:cNvSpPr/>
          <p:nvPr/>
        </p:nvSpPr>
        <p:spPr>
          <a:xfrm>
            <a:off x="502920" y="4892040"/>
            <a:ext cx="11201400" cy="777240"/>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22376" y="4946903"/>
            <a:ext cx="10762488" cy="667512"/>
          </a:xfrm>
          <a:prstGeom prst="rect">
            <a:avLst/>
          </a:prstGeom>
          <a:noFill/>
        </p:spPr>
        <p:txBody>
          <a:bodyPr wrap="square" lIns="0" rIns="0" tIns="0" bIns="0" anchor="ctr">
            <a:spAutoFit/>
          </a:bodyPr>
          <a:lstStyle/>
          <a:p>
            <a:pPr algn="l">
              <a:lnSpc>
                <a:spcPct val="120000"/>
              </a:lnSpc>
            </a:pPr>
            <a:r>
              <a:rPr sz="1350" b="1" i="0">
                <a:solidFill>
                  <a:srgbClr val="21295C"/>
                </a:solidFill>
                <a:latin typeface="DejaVu Sans"/>
              </a:rPr>
              <a:t>Не сговариваясь — один и тот же чертёж: петля обратной связи как структурное свойство любой системы, которая учится в условиях неопределённости.</a:t>
            </a:r>
          </a:p>
        </p:txBody>
      </p:sp>
      <p:sp>
        <p:nvSpPr>
          <p:cNvPr id="25" name="TextBox 24"/>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5 / 56</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65760"/>
            <a:ext cx="11247120" cy="777240"/>
          </a:xfrm>
          <a:prstGeom prst="rect">
            <a:avLst/>
          </a:prstGeom>
          <a:noFill/>
        </p:spPr>
        <p:txBody>
          <a:bodyPr wrap="square" lIns="0" rIns="0" tIns="0" bIns="0" anchor="t">
            <a:spAutoFit/>
          </a:bodyPr>
          <a:lstStyle/>
          <a:p>
            <a:pPr algn="l">
              <a:lnSpc>
                <a:spcPct val="110000"/>
              </a:lnSpc>
            </a:pPr>
            <a:r>
              <a:rPr sz="2100" b="1" i="0">
                <a:solidFill>
                  <a:srgbClr val="21295C"/>
                </a:solidFill>
                <a:latin typeface="DejaVu Sans"/>
              </a:rPr>
              <a:t>ИИ меняет стоимость и доверие каждой стрелки петли — но не одинаково</a:t>
            </a:r>
          </a:p>
        </p:txBody>
      </p:sp>
      <p:sp>
        <p:nvSpPr>
          <p:cNvPr id="3" name="Rounded Rectangle 2"/>
          <p:cNvSpPr/>
          <p:nvPr/>
        </p:nvSpPr>
        <p:spPr>
          <a:xfrm>
            <a:off x="502920" y="1417320"/>
            <a:ext cx="11201400" cy="822960"/>
          </a:xfrm>
          <a:prstGeom prst="roundRect">
            <a:avLst>
              <a:gd name="adj" fmla="val 22000"/>
            </a:avLst>
          </a:prstGeom>
          <a:solidFill>
            <a:srgbClr val="F4F7FA"/>
          </a:solidFill>
          <a:ln w="2032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hammer-gold.png"/>
          <p:cNvPicPr>
            <a:picLocks noChangeAspect="1"/>
          </p:cNvPicPr>
          <p:nvPr/>
        </p:nvPicPr>
        <p:blipFill>
          <a:blip r:embed="rId2"/>
          <a:stretch>
            <a:fillRect/>
          </a:stretch>
        </p:blipFill>
        <p:spPr>
          <a:xfrm>
            <a:off x="731520" y="1600200"/>
            <a:ext cx="457200" cy="457200"/>
          </a:xfrm>
          <a:prstGeom prst="rect">
            <a:avLst/>
          </a:prstGeom>
        </p:spPr>
      </p:pic>
      <p:sp>
        <p:nvSpPr>
          <p:cNvPr id="5" name="TextBox 4"/>
          <p:cNvSpPr txBox="1"/>
          <p:nvPr/>
        </p:nvSpPr>
        <p:spPr>
          <a:xfrm>
            <a:off x="1371600" y="1545336"/>
            <a:ext cx="3200400" cy="548640"/>
          </a:xfrm>
          <a:prstGeom prst="rect">
            <a:avLst/>
          </a:prstGeom>
          <a:noFill/>
        </p:spPr>
        <p:txBody>
          <a:bodyPr wrap="square" lIns="0" rIns="0" tIns="0" bIns="0" anchor="ctr">
            <a:spAutoFit/>
          </a:bodyPr>
          <a:lstStyle/>
          <a:p>
            <a:pPr algn="l">
              <a:lnSpc>
                <a:spcPct val="115000"/>
              </a:lnSpc>
            </a:pPr>
            <a:r>
              <a:rPr sz="1500" b="1" i="0">
                <a:solidFill>
                  <a:srgbClr val="21295C"/>
                </a:solidFill>
                <a:latin typeface="DejaVu Sans"/>
              </a:rPr>
              <a:t>Строить</a:t>
            </a:r>
          </a:p>
        </p:txBody>
      </p:sp>
      <p:sp>
        <p:nvSpPr>
          <p:cNvPr id="6" name="TextBox 5"/>
          <p:cNvSpPr txBox="1"/>
          <p:nvPr/>
        </p:nvSpPr>
        <p:spPr>
          <a:xfrm>
            <a:off x="4709160" y="1545336"/>
            <a:ext cx="6766560" cy="548640"/>
          </a:xfrm>
          <a:prstGeom prst="rect">
            <a:avLst/>
          </a:prstGeom>
          <a:noFill/>
        </p:spPr>
        <p:txBody>
          <a:bodyPr wrap="square" lIns="0" rIns="0" tIns="0" bIns="0" anchor="ctr">
            <a:spAutoFit/>
          </a:bodyPr>
          <a:lstStyle/>
          <a:p>
            <a:pPr algn="l">
              <a:lnSpc>
                <a:spcPct val="115000"/>
              </a:lnSpc>
            </a:pPr>
            <a:r>
              <a:rPr sz="1400" b="0" i="0">
                <a:solidFill>
                  <a:srgbClr val="21295C"/>
                </a:solidFill>
                <a:latin typeface="DejaVu Sans"/>
              </a:rPr>
              <a:t>стоимость почти обнулилась</a:t>
            </a:r>
          </a:p>
        </p:txBody>
      </p:sp>
      <p:sp>
        <p:nvSpPr>
          <p:cNvPr id="7" name="Rounded Rectangle 6"/>
          <p:cNvSpPr/>
          <p:nvPr/>
        </p:nvSpPr>
        <p:spPr>
          <a:xfrm>
            <a:off x="502920" y="2377440"/>
            <a:ext cx="11201400" cy="822960"/>
          </a:xfrm>
          <a:prstGeom prst="roundRect">
            <a:avLst>
              <a:gd name="adj" fmla="val 22000"/>
            </a:avLst>
          </a:prstGeom>
          <a:solidFill>
            <a:srgbClr val="F4F7FA"/>
          </a:solidFill>
          <a:ln w="2032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ruler-light.png"/>
          <p:cNvPicPr>
            <a:picLocks noChangeAspect="1"/>
          </p:cNvPicPr>
          <p:nvPr/>
        </p:nvPicPr>
        <p:blipFill>
          <a:blip r:embed="rId3"/>
          <a:stretch>
            <a:fillRect/>
          </a:stretch>
        </p:blipFill>
        <p:spPr>
          <a:xfrm>
            <a:off x="731520" y="2560320"/>
            <a:ext cx="457200" cy="457200"/>
          </a:xfrm>
          <a:prstGeom prst="rect">
            <a:avLst/>
          </a:prstGeom>
        </p:spPr>
      </p:pic>
      <p:sp>
        <p:nvSpPr>
          <p:cNvPr id="9" name="TextBox 8"/>
          <p:cNvSpPr txBox="1"/>
          <p:nvPr/>
        </p:nvSpPr>
        <p:spPr>
          <a:xfrm>
            <a:off x="1371600" y="2505456"/>
            <a:ext cx="3200400" cy="548640"/>
          </a:xfrm>
          <a:prstGeom prst="rect">
            <a:avLst/>
          </a:prstGeom>
          <a:noFill/>
        </p:spPr>
        <p:txBody>
          <a:bodyPr wrap="square" lIns="0" rIns="0" tIns="0" bIns="0" anchor="ctr">
            <a:spAutoFit/>
          </a:bodyPr>
          <a:lstStyle/>
          <a:p>
            <a:pPr algn="l">
              <a:lnSpc>
                <a:spcPct val="115000"/>
              </a:lnSpc>
            </a:pPr>
            <a:r>
              <a:rPr sz="1500" b="1" i="0">
                <a:solidFill>
                  <a:srgbClr val="21295C"/>
                </a:solidFill>
                <a:latin typeface="DejaVu Sans"/>
              </a:rPr>
              <a:t>Измерять / учиться</a:t>
            </a:r>
          </a:p>
        </p:txBody>
      </p:sp>
      <p:sp>
        <p:nvSpPr>
          <p:cNvPr id="10" name="TextBox 9"/>
          <p:cNvSpPr txBox="1"/>
          <p:nvPr/>
        </p:nvSpPr>
        <p:spPr>
          <a:xfrm>
            <a:off x="4709160" y="2505456"/>
            <a:ext cx="6766560" cy="548640"/>
          </a:xfrm>
          <a:prstGeom prst="rect">
            <a:avLst/>
          </a:prstGeom>
          <a:noFill/>
        </p:spPr>
        <p:txBody>
          <a:bodyPr wrap="square" lIns="0" rIns="0" tIns="0" bIns="0" anchor="ctr">
            <a:spAutoFit/>
          </a:bodyPr>
          <a:lstStyle/>
          <a:p>
            <a:pPr algn="l">
              <a:lnSpc>
                <a:spcPct val="115000"/>
              </a:lnSpc>
            </a:pPr>
            <a:r>
              <a:rPr sz="1400" b="0" i="0">
                <a:solidFill>
                  <a:srgbClr val="21295C"/>
                </a:solidFill>
                <a:latin typeface="DejaVu Sans"/>
              </a:rPr>
              <a:t>стоимость та же, доверие упало</a:t>
            </a:r>
          </a:p>
        </p:txBody>
      </p:sp>
      <p:sp>
        <p:nvSpPr>
          <p:cNvPr id="11" name="Rounded Rectangle 10"/>
          <p:cNvSpPr/>
          <p:nvPr/>
        </p:nvSpPr>
        <p:spPr>
          <a:xfrm>
            <a:off x="502920" y="3337560"/>
            <a:ext cx="11201400" cy="822960"/>
          </a:xfrm>
          <a:prstGeom prst="roundRect">
            <a:avLst>
              <a:gd name="adj" fmla="val 22000"/>
            </a:avLst>
          </a:prstGeom>
          <a:solidFill>
            <a:srgbClr val="F4F7FA"/>
          </a:solidFill>
          <a:ln w="2032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search-teal.png"/>
          <p:cNvPicPr>
            <a:picLocks noChangeAspect="1"/>
          </p:cNvPicPr>
          <p:nvPr/>
        </p:nvPicPr>
        <p:blipFill>
          <a:blip r:embed="rId4"/>
          <a:stretch>
            <a:fillRect/>
          </a:stretch>
        </p:blipFill>
        <p:spPr>
          <a:xfrm>
            <a:off x="731520" y="3520440"/>
            <a:ext cx="457200" cy="457200"/>
          </a:xfrm>
          <a:prstGeom prst="rect">
            <a:avLst/>
          </a:prstGeom>
        </p:spPr>
      </p:pic>
      <p:sp>
        <p:nvSpPr>
          <p:cNvPr id="13" name="TextBox 12"/>
          <p:cNvSpPr txBox="1"/>
          <p:nvPr/>
        </p:nvSpPr>
        <p:spPr>
          <a:xfrm>
            <a:off x="1371600" y="3465576"/>
            <a:ext cx="3200400" cy="548640"/>
          </a:xfrm>
          <a:prstGeom prst="rect">
            <a:avLst/>
          </a:prstGeom>
          <a:noFill/>
        </p:spPr>
        <p:txBody>
          <a:bodyPr wrap="square" lIns="0" rIns="0" tIns="0" bIns="0" anchor="ctr">
            <a:spAutoFit/>
          </a:bodyPr>
          <a:lstStyle/>
          <a:p>
            <a:pPr algn="l">
              <a:lnSpc>
                <a:spcPct val="115000"/>
              </a:lnSpc>
            </a:pPr>
            <a:r>
              <a:rPr sz="1500" b="1" i="0">
                <a:solidFill>
                  <a:srgbClr val="21295C"/>
                </a:solidFill>
                <a:latin typeface="DejaVu Sans"/>
              </a:rPr>
              <a:t>Исследовать</a:t>
            </a:r>
          </a:p>
        </p:txBody>
      </p:sp>
      <p:sp>
        <p:nvSpPr>
          <p:cNvPr id="14" name="TextBox 13"/>
          <p:cNvSpPr txBox="1"/>
          <p:nvPr/>
        </p:nvSpPr>
        <p:spPr>
          <a:xfrm>
            <a:off x="4709160" y="3465576"/>
            <a:ext cx="6766560" cy="548640"/>
          </a:xfrm>
          <a:prstGeom prst="rect">
            <a:avLst/>
          </a:prstGeom>
          <a:noFill/>
        </p:spPr>
        <p:txBody>
          <a:bodyPr wrap="square" lIns="0" rIns="0" tIns="0" bIns="0" anchor="ctr">
            <a:spAutoFit/>
          </a:bodyPr>
          <a:lstStyle/>
          <a:p>
            <a:pPr algn="l">
              <a:lnSpc>
                <a:spcPct val="115000"/>
              </a:lnSpc>
            </a:pPr>
            <a:r>
              <a:rPr sz="1400" b="0" i="0">
                <a:solidFill>
                  <a:srgbClr val="21295C"/>
                </a:solidFill>
                <a:latin typeface="DejaVu Sans"/>
              </a:rPr>
              <a:t>быстрее, но уязвимее к атаке</a:t>
            </a:r>
          </a:p>
        </p:txBody>
      </p:sp>
      <p:sp>
        <p:nvSpPr>
          <p:cNvPr id="15" name="Rounded Rectangle 14"/>
          <p:cNvSpPr/>
          <p:nvPr/>
        </p:nvSpPr>
        <p:spPr>
          <a:xfrm>
            <a:off x="502920" y="4434840"/>
            <a:ext cx="11201400" cy="868680"/>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22376" y="4489703"/>
            <a:ext cx="10762488" cy="758952"/>
          </a:xfrm>
          <a:prstGeom prst="rect">
            <a:avLst/>
          </a:prstGeom>
          <a:noFill/>
        </p:spPr>
        <p:txBody>
          <a:bodyPr wrap="square" lIns="0" rIns="0" tIns="0" bIns="0" anchor="ctr">
            <a:spAutoFit/>
          </a:bodyPr>
          <a:lstStyle/>
          <a:p>
            <a:pPr algn="l">
              <a:lnSpc>
                <a:spcPct val="120000"/>
              </a:lnSpc>
            </a:pPr>
            <a:r>
              <a:rPr sz="1350" b="1" i="0">
                <a:solidFill>
                  <a:srgbClr val="21295C"/>
                </a:solidFill>
                <a:latin typeface="DejaVu Sans"/>
              </a:rPr>
              <a:t>Мета-паттерн, повторяется в каждом из 6 разделов: у каждой стрелки есть классическая дисциплина — ИИ её не отменяет, а меняет её стоимость и требуемую степень проверки.</a:t>
            </a:r>
          </a:p>
        </p:txBody>
      </p:sp>
      <p:sp>
        <p:nvSpPr>
          <p:cNvPr id="17" name="Rounded Rectangle 16"/>
          <p:cNvSpPr/>
          <p:nvPr/>
        </p:nvSpPr>
        <p:spPr>
          <a:xfrm>
            <a:off x="502920" y="5440680"/>
            <a:ext cx="11201400" cy="685800"/>
          </a:xfrm>
          <a:prstGeom prst="roundRect">
            <a:avLst>
              <a:gd name="adj" fmla="val 8000"/>
            </a:avLst>
          </a:prstGeom>
          <a:solidFill>
            <a:srgbClr val="E5EAF0"/>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77240" y="5559552"/>
            <a:ext cx="10652760" cy="502920"/>
          </a:xfrm>
          <a:prstGeom prst="rect">
            <a:avLst/>
          </a:prstGeom>
          <a:noFill/>
        </p:spPr>
        <p:txBody>
          <a:bodyPr wrap="square" lIns="0" rIns="0" tIns="0" bIns="0" anchor="ctr">
            <a:spAutoFit/>
          </a:bodyPr>
          <a:lstStyle/>
          <a:p>
            <a:pPr algn="l">
              <a:lnSpc>
                <a:spcPct val="115000"/>
              </a:lnSpc>
            </a:pPr>
            <a:r>
              <a:rPr sz="1250" b="0" i="1">
                <a:solidFill>
                  <a:srgbClr val="5B6678"/>
                </a:solidFill>
                <a:latin typeface="DejaVu Sans"/>
              </a:rPr>
              <a:t>Подумайте: на какой стрелке вашей последней задачи скорость обогнала ваше реальное доверие к результату?</a:t>
            </a:r>
          </a:p>
        </p:txBody>
      </p:sp>
      <p:sp>
        <p:nvSpPr>
          <p:cNvPr id="19" name="TextBox 18"/>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6 / 56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4F7FA"/>
        </a:solidFill>
        <a:effectLst/>
      </p:bgPr>
    </p:bg>
    <p:spTree>
      <p:nvGrpSpPr>
        <p:cNvPr id="1" name=""/>
        <p:cNvGrpSpPr/>
        <p:nvPr/>
      </p:nvGrpSpPr>
      <p:grpSpPr/>
      <p:sp>
        <p:nvSpPr>
          <p:cNvPr id="2" name="TextBox 1"/>
          <p:cNvSpPr txBox="1"/>
          <p:nvPr/>
        </p:nvSpPr>
        <p:spPr>
          <a:xfrm>
            <a:off x="9464040" y="91440"/>
            <a:ext cx="2651760" cy="1188720"/>
          </a:xfrm>
          <a:prstGeom prst="rect">
            <a:avLst/>
          </a:prstGeom>
          <a:noFill/>
        </p:spPr>
        <p:txBody>
          <a:bodyPr wrap="square" lIns="0" rIns="0" tIns="0" bIns="0" anchor="ctr">
            <a:spAutoFit/>
          </a:bodyPr>
          <a:lstStyle/>
          <a:p>
            <a:pPr algn="ctr">
              <a:lnSpc>
                <a:spcPct val="115000"/>
              </a:lnSpc>
            </a:pPr>
            <a:r>
              <a:rPr sz="9000" b="1" i="0">
                <a:solidFill>
                  <a:srgbClr val="D9E2EC"/>
                </a:solidFill>
                <a:latin typeface="DejaVu Sans"/>
              </a:rPr>
              <a:t>1</a:t>
            </a:r>
          </a:p>
        </p:txBody>
      </p:sp>
      <p:sp>
        <p:nvSpPr>
          <p:cNvPr id="3" name="Rounded Rectangle 2"/>
          <p:cNvSpPr/>
          <p:nvPr/>
        </p:nvSpPr>
        <p:spPr>
          <a:xfrm>
            <a:off x="7635240" y="1234440"/>
            <a:ext cx="4069080" cy="4160520"/>
          </a:xfrm>
          <a:prstGeom prst="roundRect">
            <a:avLst>
              <a:gd name="adj" fmla="val 749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s07-distracted-boyfriend.jpg"/>
          <p:cNvPicPr>
            <a:picLocks noChangeAspect="1"/>
          </p:cNvPicPr>
          <p:nvPr/>
        </p:nvPicPr>
        <p:blipFill>
          <a:blip r:embed="rId2"/>
          <a:stretch>
            <a:fillRect/>
          </a:stretch>
        </p:blipFill>
        <p:spPr>
          <a:xfrm>
            <a:off x="7763256" y="2043684"/>
            <a:ext cx="3813048" cy="2542032"/>
          </a:xfrm>
          <a:prstGeom prst="rect">
            <a:avLst/>
          </a:prstGeom>
        </p:spPr>
      </p:pic>
      <p:sp>
        <p:nvSpPr>
          <p:cNvPr id="5" name="TextBox 4"/>
          <p:cNvSpPr txBox="1"/>
          <p:nvPr/>
        </p:nvSpPr>
        <p:spPr>
          <a:xfrm>
            <a:off x="685800" y="1417320"/>
            <a:ext cx="6675120" cy="502920"/>
          </a:xfrm>
          <a:prstGeom prst="rect">
            <a:avLst/>
          </a:prstGeom>
          <a:noFill/>
        </p:spPr>
        <p:txBody>
          <a:bodyPr wrap="square" lIns="0" rIns="0" tIns="0" bIns="0" anchor="t">
            <a:spAutoFit/>
          </a:bodyPr>
          <a:lstStyle/>
          <a:p>
            <a:pPr algn="l">
              <a:lnSpc>
                <a:spcPct val="115000"/>
              </a:lnSpc>
            </a:pPr>
            <a:r>
              <a:rPr sz="2000" b="1" i="0">
                <a:solidFill>
                  <a:srgbClr val="028090"/>
                </a:solidFill>
                <a:latin typeface="DejaVu Sans"/>
              </a:rPr>
              <a:t>РАЗДЕЛ 1</a:t>
            </a:r>
          </a:p>
        </p:txBody>
      </p:sp>
      <p:sp>
        <p:nvSpPr>
          <p:cNvPr id="6" name="TextBox 5"/>
          <p:cNvSpPr txBox="1"/>
          <p:nvPr/>
        </p:nvSpPr>
        <p:spPr>
          <a:xfrm>
            <a:off x="685800" y="2395728"/>
            <a:ext cx="6675120" cy="1600200"/>
          </a:xfrm>
          <a:prstGeom prst="rect">
            <a:avLst/>
          </a:prstGeom>
          <a:noFill/>
        </p:spPr>
        <p:txBody>
          <a:bodyPr wrap="square" lIns="0" rIns="0" tIns="0" bIns="0" anchor="t">
            <a:spAutoFit/>
          </a:bodyPr>
          <a:lstStyle/>
          <a:p>
            <a:pPr algn="l">
              <a:lnSpc>
                <a:spcPct val="108000"/>
              </a:lnSpc>
            </a:pPr>
            <a:r>
              <a:rPr sz="3000" b="1" i="0">
                <a:solidFill>
                  <a:srgbClr val="21295C"/>
                </a:solidFill>
                <a:latin typeface="DejaVu Sans"/>
              </a:rPr>
              <a:t>Исследование — намерение и гипотеза</a:t>
            </a:r>
          </a:p>
        </p:txBody>
      </p:sp>
      <p:sp>
        <p:nvSpPr>
          <p:cNvPr id="7" name="Rounded Rectangle 6"/>
          <p:cNvSpPr/>
          <p:nvPr/>
        </p:nvSpPr>
        <p:spPr>
          <a:xfrm>
            <a:off x="713232" y="3840480"/>
            <a:ext cx="3291840" cy="384048"/>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wrap="none"/>
          <a:lstStyle/>
          <a:p>
            <a:pPr algn="ctr"/>
            <a:r>
              <a:rPr sz="1250" b="1">
                <a:solidFill>
                  <a:srgbClr val="21295C"/>
                </a:solidFill>
                <a:latin typeface="DejaVu Sans"/>
              </a:rPr>
              <a:t>2 базы · 3 провала</a:t>
            </a:r>
          </a:p>
        </p:txBody>
      </p:sp>
      <p:sp>
        <p:nvSpPr>
          <p:cNvPr id="8" name="TextBox 7"/>
          <p:cNvSpPr txBox="1"/>
          <p:nvPr/>
        </p:nvSpPr>
        <p:spPr>
          <a:xfrm>
            <a:off x="713232" y="4389120"/>
            <a:ext cx="6720840" cy="1417320"/>
          </a:xfrm>
          <a:prstGeom prst="rect">
            <a:avLst/>
          </a:prstGeom>
          <a:noFill/>
        </p:spPr>
        <p:txBody>
          <a:bodyPr wrap="square" lIns="0" rIns="0" tIns="0" bIns="0" anchor="t">
            <a:spAutoFit/>
          </a:bodyPr>
          <a:lstStyle/>
          <a:p>
            <a:pPr algn="l">
              <a:lnSpc>
                <a:spcPct val="116000"/>
              </a:lnSpc>
            </a:pPr>
            <a:r>
              <a:rPr sz="1500" b="0" i="1">
                <a:solidFill>
                  <a:srgbClr val="1C7293"/>
                </a:solidFill>
                <a:latin typeface="DejaVu Sans"/>
              </a:rPr>
              <a:t>Откуда вообще берётся гипотеза о том, что строить. У большинства есть неформальный опыт «спросить у друзей» — и почти никто не сталкивался с формальной дисциплиной, объясняющей, почему этот опыт систематически лжёт.</a:t>
            </a:r>
          </a:p>
        </p:txBody>
      </p:sp>
      <p:sp>
        <p:nvSpPr>
          <p:cNvPr id="9" name="Rounded Rectangle 8"/>
          <p:cNvSpPr/>
          <p:nvPr/>
        </p:nvSpPr>
        <p:spPr>
          <a:xfrm>
            <a:off x="502920" y="5989320"/>
            <a:ext cx="1521822"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21208" y="6035040"/>
            <a:ext cx="1485246" cy="164592"/>
          </a:xfrm>
          <a:prstGeom prst="rect">
            <a:avLst/>
          </a:prstGeom>
          <a:noFill/>
        </p:spPr>
        <p:txBody>
          <a:bodyPr wrap="square" lIns="0" rIns="0" tIns="0" bIns="0" anchor="t">
            <a:spAutoFit/>
          </a:bodyPr>
          <a:lstStyle/>
          <a:p>
            <a:pPr algn="ctr">
              <a:lnSpc>
                <a:spcPct val="115000"/>
              </a:lnSpc>
            </a:pPr>
            <a:r>
              <a:rPr sz="1050" b="1" i="0">
                <a:solidFill>
                  <a:srgbClr val="1C7293"/>
                </a:solidFill>
                <a:latin typeface="DejaVu Sans"/>
              </a:rPr>
              <a:t>0</a:t>
            </a:r>
          </a:p>
        </p:txBody>
      </p:sp>
      <p:sp>
        <p:nvSpPr>
          <p:cNvPr id="11" name="TextBox 10"/>
          <p:cNvSpPr txBox="1"/>
          <p:nvPr/>
        </p:nvSpPr>
        <p:spPr>
          <a:xfrm>
            <a:off x="521208" y="6217920"/>
            <a:ext cx="1485246" cy="274320"/>
          </a:xfrm>
          <a:prstGeom prst="rect">
            <a:avLst/>
          </a:prstGeom>
          <a:noFill/>
        </p:spPr>
        <p:txBody>
          <a:bodyPr wrap="square" lIns="0" rIns="0" tIns="0" bIns="0" anchor="t">
            <a:spAutoFit/>
          </a:bodyPr>
          <a:lstStyle/>
          <a:p>
            <a:pPr algn="ctr">
              <a:lnSpc>
                <a:spcPct val="92000"/>
              </a:lnSpc>
            </a:pPr>
            <a:r>
              <a:rPr sz="900" b="0" i="0">
                <a:solidFill>
                  <a:srgbClr val="5B6678"/>
                </a:solidFill>
                <a:latin typeface="DejaVu Sans"/>
              </a:rPr>
              <a:t>Введение</a:t>
            </a:r>
          </a:p>
        </p:txBody>
      </p:sp>
      <p:sp>
        <p:nvSpPr>
          <p:cNvPr id="12" name="Rounded Rectangle 11"/>
          <p:cNvSpPr/>
          <p:nvPr/>
        </p:nvSpPr>
        <p:spPr>
          <a:xfrm>
            <a:off x="2116182" y="5989320"/>
            <a:ext cx="1521822" cy="530352"/>
          </a:xfrm>
          <a:prstGeom prst="roundRect">
            <a:avLst>
              <a:gd name="adj" fmla="val 12000"/>
            </a:avLst>
          </a:prstGeom>
          <a:solidFill>
            <a:srgbClr val="FDF3DC"/>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134470" y="6035040"/>
            <a:ext cx="1485246" cy="164592"/>
          </a:xfrm>
          <a:prstGeom prst="rect">
            <a:avLst/>
          </a:prstGeom>
          <a:noFill/>
        </p:spPr>
        <p:txBody>
          <a:bodyPr wrap="square" lIns="0" rIns="0" tIns="0" bIns="0" anchor="t">
            <a:spAutoFit/>
          </a:bodyPr>
          <a:lstStyle/>
          <a:p>
            <a:pPr algn="ctr">
              <a:lnSpc>
                <a:spcPct val="115000"/>
              </a:lnSpc>
            </a:pPr>
            <a:r>
              <a:rPr sz="1050" b="1" i="0">
                <a:solidFill>
                  <a:srgbClr val="21295C"/>
                </a:solidFill>
                <a:latin typeface="DejaVu Sans"/>
              </a:rPr>
              <a:t>1</a:t>
            </a:r>
          </a:p>
        </p:txBody>
      </p:sp>
      <p:sp>
        <p:nvSpPr>
          <p:cNvPr id="14" name="TextBox 13"/>
          <p:cNvSpPr txBox="1"/>
          <p:nvPr/>
        </p:nvSpPr>
        <p:spPr>
          <a:xfrm>
            <a:off x="2134470" y="6217920"/>
            <a:ext cx="1485246" cy="274320"/>
          </a:xfrm>
          <a:prstGeom prst="rect">
            <a:avLst/>
          </a:prstGeom>
          <a:noFill/>
        </p:spPr>
        <p:txBody>
          <a:bodyPr wrap="square" lIns="0" rIns="0" tIns="0" bIns="0" anchor="t">
            <a:spAutoFit/>
          </a:bodyPr>
          <a:lstStyle/>
          <a:p>
            <a:pPr algn="ctr">
              <a:lnSpc>
                <a:spcPct val="92000"/>
              </a:lnSpc>
            </a:pPr>
            <a:r>
              <a:rPr sz="800" b="1" i="0">
                <a:solidFill>
                  <a:srgbClr val="21295C"/>
                </a:solidFill>
                <a:latin typeface="DejaVu Sans"/>
              </a:rPr>
              <a:t>Исследование</a:t>
            </a:r>
          </a:p>
        </p:txBody>
      </p:sp>
      <p:sp>
        <p:nvSpPr>
          <p:cNvPr id="15" name="Rounded Rectangle 14"/>
          <p:cNvSpPr/>
          <p:nvPr/>
        </p:nvSpPr>
        <p:spPr>
          <a:xfrm>
            <a:off x="3729445" y="5989320"/>
            <a:ext cx="1521822"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747733" y="6035040"/>
            <a:ext cx="1485246" cy="164592"/>
          </a:xfrm>
          <a:prstGeom prst="rect">
            <a:avLst/>
          </a:prstGeom>
          <a:noFill/>
        </p:spPr>
        <p:txBody>
          <a:bodyPr wrap="square" lIns="0" rIns="0" tIns="0" bIns="0" anchor="t">
            <a:spAutoFit/>
          </a:bodyPr>
          <a:lstStyle/>
          <a:p>
            <a:pPr algn="ctr">
              <a:lnSpc>
                <a:spcPct val="115000"/>
              </a:lnSpc>
            </a:pPr>
            <a:r>
              <a:rPr sz="1050" b="1" i="0">
                <a:solidFill>
                  <a:srgbClr val="1C7293"/>
                </a:solidFill>
                <a:latin typeface="DejaVu Sans"/>
              </a:rPr>
              <a:t>2</a:t>
            </a:r>
          </a:p>
        </p:txBody>
      </p:sp>
      <p:sp>
        <p:nvSpPr>
          <p:cNvPr id="17" name="TextBox 16"/>
          <p:cNvSpPr txBox="1"/>
          <p:nvPr/>
        </p:nvSpPr>
        <p:spPr>
          <a:xfrm>
            <a:off x="3747733" y="6217920"/>
            <a:ext cx="1485246" cy="274320"/>
          </a:xfrm>
          <a:prstGeom prst="rect">
            <a:avLst/>
          </a:prstGeom>
          <a:noFill/>
        </p:spPr>
        <p:txBody>
          <a:bodyPr wrap="square" lIns="0" rIns="0" tIns="0" bIns="0" anchor="t">
            <a:spAutoFit/>
          </a:bodyPr>
          <a:lstStyle/>
          <a:p>
            <a:pPr algn="ctr">
              <a:lnSpc>
                <a:spcPct val="92000"/>
              </a:lnSpc>
            </a:pPr>
            <a:r>
              <a:rPr sz="900" b="0" i="0">
                <a:solidFill>
                  <a:srgbClr val="5B6678"/>
                </a:solidFill>
                <a:latin typeface="DejaVu Sans"/>
              </a:rPr>
              <a:t>Дизайн</a:t>
            </a:r>
          </a:p>
        </p:txBody>
      </p:sp>
      <p:sp>
        <p:nvSpPr>
          <p:cNvPr id="18" name="Rounded Rectangle 17"/>
          <p:cNvSpPr/>
          <p:nvPr/>
        </p:nvSpPr>
        <p:spPr>
          <a:xfrm>
            <a:off x="5342708" y="5989320"/>
            <a:ext cx="1521822"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360996" y="6035040"/>
            <a:ext cx="1485246" cy="164592"/>
          </a:xfrm>
          <a:prstGeom prst="rect">
            <a:avLst/>
          </a:prstGeom>
          <a:noFill/>
        </p:spPr>
        <p:txBody>
          <a:bodyPr wrap="square" lIns="0" rIns="0" tIns="0" bIns="0" anchor="t">
            <a:spAutoFit/>
          </a:bodyPr>
          <a:lstStyle/>
          <a:p>
            <a:pPr algn="ctr">
              <a:lnSpc>
                <a:spcPct val="115000"/>
              </a:lnSpc>
            </a:pPr>
            <a:r>
              <a:rPr sz="1050" b="1" i="0">
                <a:solidFill>
                  <a:srgbClr val="1C7293"/>
                </a:solidFill>
                <a:latin typeface="DejaVu Sans"/>
              </a:rPr>
              <a:t>3</a:t>
            </a:r>
          </a:p>
        </p:txBody>
      </p:sp>
      <p:sp>
        <p:nvSpPr>
          <p:cNvPr id="20" name="TextBox 19"/>
          <p:cNvSpPr txBox="1"/>
          <p:nvPr/>
        </p:nvSpPr>
        <p:spPr>
          <a:xfrm>
            <a:off x="5360996" y="6217920"/>
            <a:ext cx="1485246" cy="274320"/>
          </a:xfrm>
          <a:prstGeom prst="rect">
            <a:avLst/>
          </a:prstGeom>
          <a:noFill/>
        </p:spPr>
        <p:txBody>
          <a:bodyPr wrap="square" lIns="0" rIns="0" tIns="0" bIns="0" anchor="t">
            <a:spAutoFit/>
          </a:bodyPr>
          <a:lstStyle/>
          <a:p>
            <a:pPr algn="ctr">
              <a:lnSpc>
                <a:spcPct val="92000"/>
              </a:lnSpc>
            </a:pPr>
            <a:r>
              <a:rPr sz="800" b="0" i="0">
                <a:solidFill>
                  <a:srgbClr val="5B6678"/>
                </a:solidFill>
                <a:latin typeface="DejaVu Sans"/>
              </a:rPr>
              <a:t>Сборка и запуск</a:t>
            </a:r>
          </a:p>
        </p:txBody>
      </p:sp>
      <p:sp>
        <p:nvSpPr>
          <p:cNvPr id="21" name="Rounded Rectangle 20"/>
          <p:cNvSpPr/>
          <p:nvPr/>
        </p:nvSpPr>
        <p:spPr>
          <a:xfrm>
            <a:off x="6955971" y="5989320"/>
            <a:ext cx="1521822"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974259" y="6035040"/>
            <a:ext cx="1485246" cy="164592"/>
          </a:xfrm>
          <a:prstGeom prst="rect">
            <a:avLst/>
          </a:prstGeom>
          <a:noFill/>
        </p:spPr>
        <p:txBody>
          <a:bodyPr wrap="square" lIns="0" rIns="0" tIns="0" bIns="0" anchor="t">
            <a:spAutoFit/>
          </a:bodyPr>
          <a:lstStyle/>
          <a:p>
            <a:pPr algn="ctr">
              <a:lnSpc>
                <a:spcPct val="115000"/>
              </a:lnSpc>
            </a:pPr>
            <a:r>
              <a:rPr sz="1050" b="1" i="0">
                <a:solidFill>
                  <a:srgbClr val="1C7293"/>
                </a:solidFill>
                <a:latin typeface="DejaVu Sans"/>
              </a:rPr>
              <a:t>4</a:t>
            </a:r>
          </a:p>
        </p:txBody>
      </p:sp>
      <p:sp>
        <p:nvSpPr>
          <p:cNvPr id="23" name="TextBox 22"/>
          <p:cNvSpPr txBox="1"/>
          <p:nvPr/>
        </p:nvSpPr>
        <p:spPr>
          <a:xfrm>
            <a:off x="6974259" y="6217920"/>
            <a:ext cx="1485246" cy="274320"/>
          </a:xfrm>
          <a:prstGeom prst="rect">
            <a:avLst/>
          </a:prstGeom>
          <a:noFill/>
        </p:spPr>
        <p:txBody>
          <a:bodyPr wrap="square" lIns="0" rIns="0" tIns="0" bIns="0" anchor="t">
            <a:spAutoFit/>
          </a:bodyPr>
          <a:lstStyle/>
          <a:p>
            <a:pPr algn="ctr">
              <a:lnSpc>
                <a:spcPct val="92000"/>
              </a:lnSpc>
            </a:pPr>
            <a:r>
              <a:rPr sz="900" b="0" i="0">
                <a:solidFill>
                  <a:srgbClr val="5B6678"/>
                </a:solidFill>
                <a:latin typeface="DejaVu Sans"/>
              </a:rPr>
              <a:t>Измерение</a:t>
            </a:r>
          </a:p>
        </p:txBody>
      </p:sp>
      <p:sp>
        <p:nvSpPr>
          <p:cNvPr id="24" name="Rounded Rectangle 23"/>
          <p:cNvSpPr/>
          <p:nvPr/>
        </p:nvSpPr>
        <p:spPr>
          <a:xfrm>
            <a:off x="8569234" y="5989320"/>
            <a:ext cx="1521822"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8587522" y="6035040"/>
            <a:ext cx="1485246" cy="164592"/>
          </a:xfrm>
          <a:prstGeom prst="rect">
            <a:avLst/>
          </a:prstGeom>
          <a:noFill/>
        </p:spPr>
        <p:txBody>
          <a:bodyPr wrap="square" lIns="0" rIns="0" tIns="0" bIns="0" anchor="t">
            <a:spAutoFit/>
          </a:bodyPr>
          <a:lstStyle/>
          <a:p>
            <a:pPr algn="ctr">
              <a:lnSpc>
                <a:spcPct val="115000"/>
              </a:lnSpc>
            </a:pPr>
            <a:r>
              <a:rPr sz="1050" b="1" i="0">
                <a:solidFill>
                  <a:srgbClr val="1C7293"/>
                </a:solidFill>
                <a:latin typeface="DejaVu Sans"/>
              </a:rPr>
              <a:t>5</a:t>
            </a:r>
          </a:p>
        </p:txBody>
      </p:sp>
      <p:sp>
        <p:nvSpPr>
          <p:cNvPr id="26" name="TextBox 25"/>
          <p:cNvSpPr txBox="1"/>
          <p:nvPr/>
        </p:nvSpPr>
        <p:spPr>
          <a:xfrm>
            <a:off x="8587522" y="6217920"/>
            <a:ext cx="1485246" cy="274320"/>
          </a:xfrm>
          <a:prstGeom prst="rect">
            <a:avLst/>
          </a:prstGeom>
          <a:noFill/>
        </p:spPr>
        <p:txBody>
          <a:bodyPr wrap="square" lIns="0" rIns="0" tIns="0" bIns="0" anchor="t">
            <a:spAutoFit/>
          </a:bodyPr>
          <a:lstStyle/>
          <a:p>
            <a:pPr algn="ctr">
              <a:lnSpc>
                <a:spcPct val="92000"/>
              </a:lnSpc>
            </a:pPr>
            <a:r>
              <a:rPr sz="900" b="0" i="0">
                <a:solidFill>
                  <a:srgbClr val="5B6678"/>
                </a:solidFill>
                <a:latin typeface="DejaVu Sans"/>
              </a:rPr>
              <a:t>Поддержка</a:t>
            </a:r>
          </a:p>
        </p:txBody>
      </p:sp>
      <p:sp>
        <p:nvSpPr>
          <p:cNvPr id="27" name="Rounded Rectangle 26"/>
          <p:cNvSpPr/>
          <p:nvPr/>
        </p:nvSpPr>
        <p:spPr>
          <a:xfrm>
            <a:off x="10182497" y="5989320"/>
            <a:ext cx="1521822"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10200785" y="6035040"/>
            <a:ext cx="1485246" cy="164592"/>
          </a:xfrm>
          <a:prstGeom prst="rect">
            <a:avLst/>
          </a:prstGeom>
          <a:noFill/>
        </p:spPr>
        <p:txBody>
          <a:bodyPr wrap="square" lIns="0" rIns="0" tIns="0" bIns="0" anchor="t">
            <a:spAutoFit/>
          </a:bodyPr>
          <a:lstStyle/>
          <a:p>
            <a:pPr algn="ctr">
              <a:lnSpc>
                <a:spcPct val="115000"/>
              </a:lnSpc>
            </a:pPr>
            <a:r>
              <a:rPr sz="1050" b="1" i="0">
                <a:solidFill>
                  <a:srgbClr val="1C7293"/>
                </a:solidFill>
                <a:latin typeface="DejaVu Sans"/>
              </a:rPr>
              <a:t>6</a:t>
            </a:r>
          </a:p>
        </p:txBody>
      </p:sp>
      <p:sp>
        <p:nvSpPr>
          <p:cNvPr id="29" name="TextBox 28"/>
          <p:cNvSpPr txBox="1"/>
          <p:nvPr/>
        </p:nvSpPr>
        <p:spPr>
          <a:xfrm>
            <a:off x="10200785" y="6217920"/>
            <a:ext cx="1485246" cy="274320"/>
          </a:xfrm>
          <a:prstGeom prst="rect">
            <a:avLst/>
          </a:prstGeom>
          <a:noFill/>
        </p:spPr>
        <p:txBody>
          <a:bodyPr wrap="square" lIns="0" rIns="0" tIns="0" bIns="0" anchor="t">
            <a:spAutoFit/>
          </a:bodyPr>
          <a:lstStyle/>
          <a:p>
            <a:pPr algn="ctr">
              <a:lnSpc>
                <a:spcPct val="92000"/>
              </a:lnSpc>
            </a:pPr>
            <a:r>
              <a:rPr sz="800" b="0" i="0">
                <a:solidFill>
                  <a:srgbClr val="5B6678"/>
                </a:solidFill>
                <a:latin typeface="DejaVu Sans"/>
              </a:rPr>
              <a:t>Управление</a:t>
            </a:r>
          </a:p>
        </p:txBody>
      </p:sp>
      <p:sp>
        <p:nvSpPr>
          <p:cNvPr id="30" name="TextBox 29"/>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7 / 56</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65760"/>
            <a:ext cx="10972800" cy="777240"/>
          </a:xfrm>
          <a:prstGeom prst="rect">
            <a:avLst/>
          </a:prstGeom>
          <a:noFill/>
        </p:spPr>
        <p:txBody>
          <a:bodyPr wrap="square" lIns="0" rIns="0" tIns="0" bIns="0" anchor="t">
            <a:spAutoFit/>
          </a:bodyPr>
          <a:lstStyle/>
          <a:p>
            <a:pPr algn="l">
              <a:lnSpc>
                <a:spcPct val="110000"/>
              </a:lnSpc>
            </a:pPr>
            <a:r>
              <a:rPr sz="2600" b="1" i="0">
                <a:solidFill>
                  <a:srgbClr val="21295C"/>
                </a:solidFill>
                <a:latin typeface="DejaVu Sans"/>
              </a:rPr>
              <a:t>Исследование простыми словами</a:t>
            </a:r>
          </a:p>
        </p:txBody>
      </p:sp>
      <p:sp>
        <p:nvSpPr>
          <p:cNvPr id="3" name="Rounded Rectangle 2"/>
          <p:cNvSpPr/>
          <p:nvPr/>
        </p:nvSpPr>
        <p:spPr>
          <a:xfrm>
            <a:off x="502920" y="1554480"/>
            <a:ext cx="2514600" cy="4709160"/>
          </a:xfrm>
          <a:prstGeom prst="roundRect">
            <a:avLst>
              <a:gd name="adj" fmla="val 6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search-mid.png"/>
          <p:cNvPicPr>
            <a:picLocks noChangeAspect="1"/>
          </p:cNvPicPr>
          <p:nvPr/>
        </p:nvPicPr>
        <p:blipFill>
          <a:blip r:embed="rId2"/>
          <a:stretch>
            <a:fillRect/>
          </a:stretch>
        </p:blipFill>
        <p:spPr>
          <a:xfrm>
            <a:off x="1234440" y="3249777"/>
            <a:ext cx="1051560" cy="1051560"/>
          </a:xfrm>
          <a:prstGeom prst="rect">
            <a:avLst/>
          </a:prstGeom>
        </p:spPr>
      </p:pic>
      <p:sp>
        <p:nvSpPr>
          <p:cNvPr id="5" name="Rounded Rectangle 4"/>
          <p:cNvSpPr/>
          <p:nvPr/>
        </p:nvSpPr>
        <p:spPr>
          <a:xfrm>
            <a:off x="777240" y="5715000"/>
            <a:ext cx="1965960" cy="402336"/>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wrap="none"/>
          <a:lstStyle/>
          <a:p>
            <a:pPr algn="ctr"/>
            <a:r>
              <a:rPr sz="1150" b="1">
                <a:solidFill>
                  <a:srgbClr val="21295C"/>
                </a:solidFill>
                <a:latin typeface="DejaVu Sans"/>
              </a:rPr>
              <a:t>простыми словами</a:t>
            </a:r>
          </a:p>
        </p:txBody>
      </p:sp>
      <p:sp>
        <p:nvSpPr>
          <p:cNvPr id="6" name="Rounded Rectangle 5"/>
          <p:cNvSpPr/>
          <p:nvPr/>
        </p:nvSpPr>
        <p:spPr>
          <a:xfrm>
            <a:off x="3337560" y="1554480"/>
            <a:ext cx="8366760" cy="1417320"/>
          </a:xfrm>
          <a:prstGeom prst="roundRect">
            <a:avLst>
              <a:gd name="adj" fmla="val 21505"/>
            </a:avLst>
          </a:prstGeom>
          <a:solidFill>
            <a:srgbClr val="F4F7FA"/>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593591" y="1700784"/>
            <a:ext cx="7854696" cy="310896"/>
          </a:xfrm>
          <a:prstGeom prst="rect">
            <a:avLst/>
          </a:prstGeom>
          <a:noFill/>
        </p:spPr>
        <p:txBody>
          <a:bodyPr wrap="square" lIns="0" rIns="0" tIns="0" bIns="0" anchor="t">
            <a:spAutoFit/>
          </a:bodyPr>
          <a:lstStyle/>
          <a:p>
            <a:pPr algn="l">
              <a:lnSpc>
                <a:spcPct val="115000"/>
              </a:lnSpc>
            </a:pPr>
            <a:r>
              <a:rPr sz="1500" b="1" i="0">
                <a:solidFill>
                  <a:srgbClr val="F0AB00"/>
                </a:solidFill>
                <a:latin typeface="DejaVu Sans"/>
              </a:rPr>
              <a:t>Что это</a:t>
            </a:r>
          </a:p>
        </p:txBody>
      </p:sp>
      <p:sp>
        <p:nvSpPr>
          <p:cNvPr id="8" name="TextBox 7"/>
          <p:cNvSpPr txBox="1"/>
          <p:nvPr/>
        </p:nvSpPr>
        <p:spPr>
          <a:xfrm>
            <a:off x="3593591" y="2066543"/>
            <a:ext cx="7854696" cy="758952"/>
          </a:xfrm>
          <a:prstGeom prst="rect">
            <a:avLst/>
          </a:prstGeom>
          <a:noFill/>
        </p:spPr>
        <p:txBody>
          <a:bodyPr wrap="square" lIns="0" rIns="0" tIns="0" bIns="0" anchor="t">
            <a:spAutoFit/>
          </a:bodyPr>
          <a:lstStyle/>
          <a:p>
            <a:pPr algn="l">
              <a:lnSpc>
                <a:spcPct val="122000"/>
              </a:lnSpc>
            </a:pPr>
            <a:r>
              <a:rPr sz="1350" b="0" i="0">
                <a:solidFill>
                  <a:srgbClr val="21295C"/>
                </a:solidFill>
                <a:latin typeface="DejaVu Sans"/>
              </a:rPr>
              <a:t>Фаза, где вы ищете не решение, а проблему: у кого болит, насколько сильно и готов ли человек за это платить временем, репутацией или деньгами.</a:t>
            </a:r>
          </a:p>
        </p:txBody>
      </p:sp>
      <p:sp>
        <p:nvSpPr>
          <p:cNvPr id="9" name="Rounded Rectangle 8"/>
          <p:cNvSpPr/>
          <p:nvPr/>
        </p:nvSpPr>
        <p:spPr>
          <a:xfrm>
            <a:off x="3337560" y="3200400"/>
            <a:ext cx="8366760" cy="1417320"/>
          </a:xfrm>
          <a:prstGeom prst="roundRect">
            <a:avLst>
              <a:gd name="adj" fmla="val 21505"/>
            </a:avLst>
          </a:prstGeom>
          <a:solidFill>
            <a:srgbClr val="F4F7FA"/>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593591" y="3346704"/>
            <a:ext cx="7854696" cy="310896"/>
          </a:xfrm>
          <a:prstGeom prst="rect">
            <a:avLst/>
          </a:prstGeom>
          <a:noFill/>
        </p:spPr>
        <p:txBody>
          <a:bodyPr wrap="square" lIns="0" rIns="0" tIns="0" bIns="0" anchor="t">
            <a:spAutoFit/>
          </a:bodyPr>
          <a:lstStyle/>
          <a:p>
            <a:pPr algn="l">
              <a:lnSpc>
                <a:spcPct val="115000"/>
              </a:lnSpc>
            </a:pPr>
            <a:r>
              <a:rPr sz="1500" b="1" i="0">
                <a:solidFill>
                  <a:srgbClr val="065A82"/>
                </a:solidFill>
                <a:latin typeface="DejaVu Sans"/>
              </a:rPr>
              <a:t>Зачем</a:t>
            </a:r>
          </a:p>
        </p:txBody>
      </p:sp>
      <p:sp>
        <p:nvSpPr>
          <p:cNvPr id="11" name="TextBox 10"/>
          <p:cNvSpPr txBox="1"/>
          <p:nvPr/>
        </p:nvSpPr>
        <p:spPr>
          <a:xfrm>
            <a:off x="3593591" y="3712464"/>
            <a:ext cx="7854696" cy="758952"/>
          </a:xfrm>
          <a:prstGeom prst="rect">
            <a:avLst/>
          </a:prstGeom>
          <a:noFill/>
        </p:spPr>
        <p:txBody>
          <a:bodyPr wrap="square" lIns="0" rIns="0" tIns="0" bIns="0" anchor="t">
            <a:spAutoFit/>
          </a:bodyPr>
          <a:lstStyle/>
          <a:p>
            <a:pPr algn="l">
              <a:lnSpc>
                <a:spcPct val="122000"/>
              </a:lnSpc>
            </a:pPr>
            <a:r>
              <a:rPr sz="1350" b="0" i="0">
                <a:solidFill>
                  <a:srgbClr val="21295C"/>
                </a:solidFill>
                <a:latin typeface="DejaVu Sans"/>
              </a:rPr>
              <a:t>Построить можно что угодно; ценно только то, что решает реальную боль реального человека. «Я бы таким пользовался» — не факт.</a:t>
            </a:r>
          </a:p>
        </p:txBody>
      </p:sp>
      <p:sp>
        <p:nvSpPr>
          <p:cNvPr id="12" name="Rounded Rectangle 11"/>
          <p:cNvSpPr/>
          <p:nvPr/>
        </p:nvSpPr>
        <p:spPr>
          <a:xfrm>
            <a:off x="3337560" y="4846320"/>
            <a:ext cx="8366760" cy="1417320"/>
          </a:xfrm>
          <a:prstGeom prst="roundRect">
            <a:avLst>
              <a:gd name="adj" fmla="val 21505"/>
            </a:avLst>
          </a:prstGeom>
          <a:solidFill>
            <a:srgbClr val="F4F7FA"/>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593591" y="4992624"/>
            <a:ext cx="7854696" cy="310896"/>
          </a:xfrm>
          <a:prstGeom prst="rect">
            <a:avLst/>
          </a:prstGeom>
          <a:noFill/>
        </p:spPr>
        <p:txBody>
          <a:bodyPr wrap="square" lIns="0" rIns="0" tIns="0" bIns="0" anchor="t">
            <a:spAutoFit/>
          </a:bodyPr>
          <a:lstStyle/>
          <a:p>
            <a:pPr algn="l">
              <a:lnSpc>
                <a:spcPct val="115000"/>
              </a:lnSpc>
            </a:pPr>
            <a:r>
              <a:rPr sz="1500" b="1" i="0">
                <a:solidFill>
                  <a:srgbClr val="065A82"/>
                </a:solidFill>
                <a:latin typeface="DejaVu Sans"/>
              </a:rPr>
              <a:t>Ментальная модель</a:t>
            </a:r>
          </a:p>
        </p:txBody>
      </p:sp>
      <p:sp>
        <p:nvSpPr>
          <p:cNvPr id="14" name="TextBox 13"/>
          <p:cNvSpPr txBox="1"/>
          <p:nvPr/>
        </p:nvSpPr>
        <p:spPr>
          <a:xfrm>
            <a:off x="3593591" y="5358383"/>
            <a:ext cx="7854696" cy="758952"/>
          </a:xfrm>
          <a:prstGeom prst="rect">
            <a:avLst/>
          </a:prstGeom>
          <a:noFill/>
        </p:spPr>
        <p:txBody>
          <a:bodyPr wrap="square" lIns="0" rIns="0" tIns="0" bIns="0" anchor="t">
            <a:spAutoFit/>
          </a:bodyPr>
          <a:lstStyle/>
          <a:p>
            <a:pPr algn="l">
              <a:lnSpc>
                <a:spcPct val="122000"/>
              </a:lnSpc>
            </a:pPr>
            <a:r>
              <a:rPr sz="1350" b="0" i="0">
                <a:solidFill>
                  <a:srgbClr val="21295C"/>
                </a:solidFill>
                <a:latin typeface="DejaVu Sans"/>
              </a:rPr>
              <a:t>Внутри офиса нет фактов — факты снаружи. Записываете гипотезу, выходите к людям, проверяете. ИИ ускоряет сбор, но не заменяет разговор с настоящим человеком.</a:t>
            </a:r>
          </a:p>
        </p:txBody>
      </p:sp>
      <p:sp>
        <p:nvSpPr>
          <p:cNvPr id="15" name="TextBox 14"/>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8 / 56</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65760"/>
            <a:ext cx="11155680" cy="777240"/>
          </a:xfrm>
          <a:prstGeom prst="rect">
            <a:avLst/>
          </a:prstGeom>
          <a:noFill/>
        </p:spPr>
        <p:txBody>
          <a:bodyPr wrap="square" lIns="0" rIns="0" tIns="0" bIns="0" anchor="t">
            <a:spAutoFit/>
          </a:bodyPr>
          <a:lstStyle/>
          <a:p>
            <a:pPr algn="l">
              <a:lnSpc>
                <a:spcPct val="110000"/>
              </a:lnSpc>
            </a:pPr>
            <a:r>
              <a:rPr sz="2200" b="1" i="0">
                <a:solidFill>
                  <a:srgbClr val="21295C"/>
                </a:solidFill>
                <a:latin typeface="DejaVu Sans"/>
              </a:rPr>
              <a:t>«Внутри офиса нет фактов» — 4 шага, каждый заканчивается решением</a:t>
            </a:r>
          </a:p>
        </p:txBody>
      </p:sp>
      <p:sp>
        <p:nvSpPr>
          <p:cNvPr id="3" name="Rounded Rectangle 2"/>
          <p:cNvSpPr/>
          <p:nvPr/>
        </p:nvSpPr>
        <p:spPr>
          <a:xfrm>
            <a:off x="502920" y="1691640"/>
            <a:ext cx="2487168" cy="1234440"/>
          </a:xfrm>
          <a:prstGeom prst="roundRect">
            <a:avLst>
              <a:gd name="adj" fmla="val 22000"/>
            </a:avLst>
          </a:prstGeom>
          <a:solidFill>
            <a:srgbClr val="F4F7FA"/>
          </a:solidFill>
          <a:ln w="1905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94360" y="1801368"/>
            <a:ext cx="2304288" cy="256032"/>
          </a:xfrm>
          <a:prstGeom prst="rect">
            <a:avLst/>
          </a:prstGeom>
          <a:noFill/>
        </p:spPr>
        <p:txBody>
          <a:bodyPr wrap="square" lIns="0" rIns="0" tIns="0" bIns="0" anchor="t">
            <a:spAutoFit/>
          </a:bodyPr>
          <a:lstStyle/>
          <a:p>
            <a:pPr algn="ctr">
              <a:lnSpc>
                <a:spcPct val="115000"/>
              </a:lnSpc>
            </a:pPr>
            <a:r>
              <a:rPr sz="1400" b="1" i="0">
                <a:solidFill>
                  <a:srgbClr val="F0AB00"/>
                </a:solidFill>
                <a:latin typeface="DejaVu Sans"/>
              </a:rPr>
              <a:t>1</a:t>
            </a:r>
          </a:p>
        </p:txBody>
      </p:sp>
      <p:sp>
        <p:nvSpPr>
          <p:cNvPr id="5" name="TextBox 4"/>
          <p:cNvSpPr txBox="1"/>
          <p:nvPr/>
        </p:nvSpPr>
        <p:spPr>
          <a:xfrm>
            <a:off x="557784" y="2075688"/>
            <a:ext cx="2377440" cy="310896"/>
          </a:xfrm>
          <a:prstGeom prst="rect">
            <a:avLst/>
          </a:prstGeom>
          <a:noFill/>
        </p:spPr>
        <p:txBody>
          <a:bodyPr wrap="square" lIns="0" rIns="0" tIns="0" bIns="0" anchor="t">
            <a:spAutoFit/>
          </a:bodyPr>
          <a:lstStyle/>
          <a:p>
            <a:pPr algn="ctr">
              <a:lnSpc>
                <a:spcPct val="115000"/>
              </a:lnSpc>
            </a:pPr>
            <a:r>
              <a:rPr sz="1200" b="1" i="0">
                <a:solidFill>
                  <a:srgbClr val="21295C"/>
                </a:solidFill>
                <a:latin typeface="DejaVu Sans"/>
              </a:rPr>
              <a:t>Исследование</a:t>
            </a:r>
          </a:p>
        </p:txBody>
      </p:sp>
      <p:sp>
        <p:nvSpPr>
          <p:cNvPr id="6" name="TextBox 5"/>
          <p:cNvSpPr txBox="1"/>
          <p:nvPr/>
        </p:nvSpPr>
        <p:spPr>
          <a:xfrm>
            <a:off x="594360" y="2368296"/>
            <a:ext cx="2304288" cy="237744"/>
          </a:xfrm>
          <a:prstGeom prst="rect">
            <a:avLst/>
          </a:prstGeom>
          <a:noFill/>
        </p:spPr>
        <p:txBody>
          <a:bodyPr wrap="square" lIns="0" rIns="0" tIns="0" bIns="0" anchor="t">
            <a:spAutoFit/>
          </a:bodyPr>
          <a:lstStyle/>
          <a:p>
            <a:pPr algn="ctr">
              <a:lnSpc>
                <a:spcPct val="115000"/>
              </a:lnSpc>
            </a:pPr>
            <a:r>
              <a:rPr sz="950" b="0" i="1">
                <a:solidFill>
                  <a:srgbClr val="5B6678"/>
                </a:solidFill>
                <a:latin typeface="DejaVu Sans"/>
              </a:rPr>
              <a:t>discovery</a:t>
            </a:r>
          </a:p>
        </p:txBody>
      </p:sp>
      <p:pic>
        <p:nvPicPr>
          <p:cNvPr id="7" name="Picture 6" descr="diamond-gold.png"/>
          <p:cNvPicPr>
            <a:picLocks noChangeAspect="1"/>
          </p:cNvPicPr>
          <p:nvPr/>
        </p:nvPicPr>
        <p:blipFill>
          <a:blip r:embed="rId2"/>
          <a:stretch>
            <a:fillRect/>
          </a:stretch>
        </p:blipFill>
        <p:spPr>
          <a:xfrm>
            <a:off x="1600200" y="2624328"/>
            <a:ext cx="292608" cy="292608"/>
          </a:xfrm>
          <a:prstGeom prst="rect">
            <a:avLst/>
          </a:prstGeom>
        </p:spPr>
      </p:pic>
      <p:sp>
        <p:nvSpPr>
          <p:cNvPr id="8" name="Right Arrow 7"/>
          <p:cNvSpPr/>
          <p:nvPr/>
        </p:nvSpPr>
        <p:spPr>
          <a:xfrm>
            <a:off x="3008376" y="2194560"/>
            <a:ext cx="219456" cy="237744"/>
          </a:xfrm>
          <a:prstGeom prst="rightArrow">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3246120" y="1691640"/>
            <a:ext cx="2487168" cy="1234440"/>
          </a:xfrm>
          <a:prstGeom prst="roundRect">
            <a:avLst>
              <a:gd name="adj" fmla="val 22000"/>
            </a:avLst>
          </a:prstGeom>
          <a:solidFill>
            <a:srgbClr val="F4F7FA"/>
          </a:solidFill>
          <a:ln w="1905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337560" y="1801368"/>
            <a:ext cx="2304288" cy="256032"/>
          </a:xfrm>
          <a:prstGeom prst="rect">
            <a:avLst/>
          </a:prstGeom>
          <a:noFill/>
        </p:spPr>
        <p:txBody>
          <a:bodyPr wrap="square" lIns="0" rIns="0" tIns="0" bIns="0" anchor="t">
            <a:spAutoFit/>
          </a:bodyPr>
          <a:lstStyle/>
          <a:p>
            <a:pPr algn="ctr">
              <a:lnSpc>
                <a:spcPct val="115000"/>
              </a:lnSpc>
            </a:pPr>
            <a:r>
              <a:rPr sz="1400" b="1" i="0">
                <a:solidFill>
                  <a:srgbClr val="F0AB00"/>
                </a:solidFill>
                <a:latin typeface="DejaVu Sans"/>
              </a:rPr>
              <a:t>2</a:t>
            </a:r>
          </a:p>
        </p:txBody>
      </p:sp>
      <p:sp>
        <p:nvSpPr>
          <p:cNvPr id="11" name="TextBox 10"/>
          <p:cNvSpPr txBox="1"/>
          <p:nvPr/>
        </p:nvSpPr>
        <p:spPr>
          <a:xfrm>
            <a:off x="3300984" y="2075688"/>
            <a:ext cx="2377440" cy="310896"/>
          </a:xfrm>
          <a:prstGeom prst="rect">
            <a:avLst/>
          </a:prstGeom>
          <a:noFill/>
        </p:spPr>
        <p:txBody>
          <a:bodyPr wrap="square" lIns="0" rIns="0" tIns="0" bIns="0" anchor="t">
            <a:spAutoFit/>
          </a:bodyPr>
          <a:lstStyle/>
          <a:p>
            <a:pPr algn="ctr">
              <a:lnSpc>
                <a:spcPct val="115000"/>
              </a:lnSpc>
            </a:pPr>
            <a:r>
              <a:rPr sz="1200" b="1" i="0">
                <a:solidFill>
                  <a:srgbClr val="21295C"/>
                </a:solidFill>
                <a:latin typeface="DejaVu Sans"/>
              </a:rPr>
              <a:t>Проверка</a:t>
            </a:r>
          </a:p>
        </p:txBody>
      </p:sp>
      <p:sp>
        <p:nvSpPr>
          <p:cNvPr id="12" name="TextBox 11"/>
          <p:cNvSpPr txBox="1"/>
          <p:nvPr/>
        </p:nvSpPr>
        <p:spPr>
          <a:xfrm>
            <a:off x="3337560" y="2368296"/>
            <a:ext cx="2304288" cy="237744"/>
          </a:xfrm>
          <a:prstGeom prst="rect">
            <a:avLst/>
          </a:prstGeom>
          <a:noFill/>
        </p:spPr>
        <p:txBody>
          <a:bodyPr wrap="square" lIns="0" rIns="0" tIns="0" bIns="0" anchor="t">
            <a:spAutoFit/>
          </a:bodyPr>
          <a:lstStyle/>
          <a:p>
            <a:pPr algn="ctr">
              <a:lnSpc>
                <a:spcPct val="115000"/>
              </a:lnSpc>
            </a:pPr>
            <a:r>
              <a:rPr sz="950" b="0" i="1">
                <a:solidFill>
                  <a:srgbClr val="5B6678"/>
                </a:solidFill>
                <a:latin typeface="DejaVu Sans"/>
              </a:rPr>
              <a:t>validation</a:t>
            </a:r>
          </a:p>
        </p:txBody>
      </p:sp>
      <p:pic>
        <p:nvPicPr>
          <p:cNvPr id="13" name="Picture 12" descr="diamond-gold.png"/>
          <p:cNvPicPr>
            <a:picLocks noChangeAspect="1"/>
          </p:cNvPicPr>
          <p:nvPr/>
        </p:nvPicPr>
        <p:blipFill>
          <a:blip r:embed="rId2"/>
          <a:stretch>
            <a:fillRect/>
          </a:stretch>
        </p:blipFill>
        <p:spPr>
          <a:xfrm>
            <a:off x="4343400" y="2624328"/>
            <a:ext cx="292608" cy="292608"/>
          </a:xfrm>
          <a:prstGeom prst="rect">
            <a:avLst/>
          </a:prstGeom>
        </p:spPr>
      </p:pic>
      <p:sp>
        <p:nvSpPr>
          <p:cNvPr id="14" name="Right Arrow 13"/>
          <p:cNvSpPr/>
          <p:nvPr/>
        </p:nvSpPr>
        <p:spPr>
          <a:xfrm>
            <a:off x="5751575" y="2194560"/>
            <a:ext cx="219456" cy="237744"/>
          </a:xfrm>
          <a:prstGeom prst="rightArrow">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5989320" y="1691640"/>
            <a:ext cx="2487168" cy="1234440"/>
          </a:xfrm>
          <a:prstGeom prst="roundRect">
            <a:avLst>
              <a:gd name="adj" fmla="val 22000"/>
            </a:avLst>
          </a:prstGeom>
          <a:solidFill>
            <a:srgbClr val="F4F7FA"/>
          </a:solidFill>
          <a:ln w="1905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080759" y="1801368"/>
            <a:ext cx="2304288" cy="256032"/>
          </a:xfrm>
          <a:prstGeom prst="rect">
            <a:avLst/>
          </a:prstGeom>
          <a:noFill/>
        </p:spPr>
        <p:txBody>
          <a:bodyPr wrap="square" lIns="0" rIns="0" tIns="0" bIns="0" anchor="t">
            <a:spAutoFit/>
          </a:bodyPr>
          <a:lstStyle/>
          <a:p>
            <a:pPr algn="ctr">
              <a:lnSpc>
                <a:spcPct val="115000"/>
              </a:lnSpc>
            </a:pPr>
            <a:r>
              <a:rPr sz="1400" b="1" i="0">
                <a:solidFill>
                  <a:srgbClr val="F0AB00"/>
                </a:solidFill>
                <a:latin typeface="DejaVu Sans"/>
              </a:rPr>
              <a:t>3</a:t>
            </a:r>
          </a:p>
        </p:txBody>
      </p:sp>
      <p:sp>
        <p:nvSpPr>
          <p:cNvPr id="17" name="TextBox 16"/>
          <p:cNvSpPr txBox="1"/>
          <p:nvPr/>
        </p:nvSpPr>
        <p:spPr>
          <a:xfrm>
            <a:off x="6044183" y="2075688"/>
            <a:ext cx="2377440" cy="310896"/>
          </a:xfrm>
          <a:prstGeom prst="rect">
            <a:avLst/>
          </a:prstGeom>
          <a:noFill/>
        </p:spPr>
        <p:txBody>
          <a:bodyPr wrap="square" lIns="0" rIns="0" tIns="0" bIns="0" anchor="t">
            <a:spAutoFit/>
          </a:bodyPr>
          <a:lstStyle/>
          <a:p>
            <a:pPr algn="ctr">
              <a:lnSpc>
                <a:spcPct val="115000"/>
              </a:lnSpc>
            </a:pPr>
            <a:r>
              <a:rPr sz="1200" b="1" i="0">
                <a:solidFill>
                  <a:srgbClr val="21295C"/>
                </a:solidFill>
                <a:latin typeface="DejaVu Sans"/>
              </a:rPr>
              <a:t>Создание спроса</a:t>
            </a:r>
          </a:p>
        </p:txBody>
      </p:sp>
      <p:sp>
        <p:nvSpPr>
          <p:cNvPr id="18" name="TextBox 17"/>
          <p:cNvSpPr txBox="1"/>
          <p:nvPr/>
        </p:nvSpPr>
        <p:spPr>
          <a:xfrm>
            <a:off x="6080759" y="2368296"/>
            <a:ext cx="2304288" cy="237744"/>
          </a:xfrm>
          <a:prstGeom prst="rect">
            <a:avLst/>
          </a:prstGeom>
          <a:noFill/>
        </p:spPr>
        <p:txBody>
          <a:bodyPr wrap="square" lIns="0" rIns="0" tIns="0" bIns="0" anchor="t">
            <a:spAutoFit/>
          </a:bodyPr>
          <a:lstStyle/>
          <a:p>
            <a:pPr algn="ctr">
              <a:lnSpc>
                <a:spcPct val="115000"/>
              </a:lnSpc>
            </a:pPr>
            <a:r>
              <a:rPr sz="950" b="0" i="1">
                <a:solidFill>
                  <a:srgbClr val="5B6678"/>
                </a:solidFill>
                <a:latin typeface="DejaVu Sans"/>
              </a:rPr>
              <a:t>creation</a:t>
            </a:r>
          </a:p>
        </p:txBody>
      </p:sp>
      <p:pic>
        <p:nvPicPr>
          <p:cNvPr id="19" name="Picture 18" descr="diamond-gold.png"/>
          <p:cNvPicPr>
            <a:picLocks noChangeAspect="1"/>
          </p:cNvPicPr>
          <p:nvPr/>
        </p:nvPicPr>
        <p:blipFill>
          <a:blip r:embed="rId2"/>
          <a:stretch>
            <a:fillRect/>
          </a:stretch>
        </p:blipFill>
        <p:spPr>
          <a:xfrm>
            <a:off x="7086600" y="2624328"/>
            <a:ext cx="292608" cy="292608"/>
          </a:xfrm>
          <a:prstGeom prst="rect">
            <a:avLst/>
          </a:prstGeom>
        </p:spPr>
      </p:pic>
      <p:sp>
        <p:nvSpPr>
          <p:cNvPr id="20" name="Right Arrow 19"/>
          <p:cNvSpPr/>
          <p:nvPr/>
        </p:nvSpPr>
        <p:spPr>
          <a:xfrm>
            <a:off x="8494776" y="2194560"/>
            <a:ext cx="219456" cy="237744"/>
          </a:xfrm>
          <a:prstGeom prst="rightArrow">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8732520" y="1691640"/>
            <a:ext cx="2487168" cy="1234440"/>
          </a:xfrm>
          <a:prstGeom prst="roundRect">
            <a:avLst>
              <a:gd name="adj" fmla="val 22000"/>
            </a:avLst>
          </a:prstGeom>
          <a:solidFill>
            <a:srgbClr val="F4F7FA"/>
          </a:solidFill>
          <a:ln w="1905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823960" y="1801368"/>
            <a:ext cx="2304288" cy="256032"/>
          </a:xfrm>
          <a:prstGeom prst="rect">
            <a:avLst/>
          </a:prstGeom>
          <a:noFill/>
        </p:spPr>
        <p:txBody>
          <a:bodyPr wrap="square" lIns="0" rIns="0" tIns="0" bIns="0" anchor="t">
            <a:spAutoFit/>
          </a:bodyPr>
          <a:lstStyle/>
          <a:p>
            <a:pPr algn="ctr">
              <a:lnSpc>
                <a:spcPct val="115000"/>
              </a:lnSpc>
            </a:pPr>
            <a:r>
              <a:rPr sz="1400" b="1" i="0">
                <a:solidFill>
                  <a:srgbClr val="F0AB00"/>
                </a:solidFill>
                <a:latin typeface="DejaVu Sans"/>
              </a:rPr>
              <a:t>4</a:t>
            </a:r>
          </a:p>
        </p:txBody>
      </p:sp>
      <p:sp>
        <p:nvSpPr>
          <p:cNvPr id="23" name="TextBox 22"/>
          <p:cNvSpPr txBox="1"/>
          <p:nvPr/>
        </p:nvSpPr>
        <p:spPr>
          <a:xfrm>
            <a:off x="8787384" y="2075688"/>
            <a:ext cx="2377440" cy="310896"/>
          </a:xfrm>
          <a:prstGeom prst="rect">
            <a:avLst/>
          </a:prstGeom>
          <a:noFill/>
        </p:spPr>
        <p:txBody>
          <a:bodyPr wrap="square" lIns="0" rIns="0" tIns="0" bIns="0" anchor="t">
            <a:spAutoFit/>
          </a:bodyPr>
          <a:lstStyle/>
          <a:p>
            <a:pPr algn="ctr">
              <a:lnSpc>
                <a:spcPct val="115000"/>
              </a:lnSpc>
            </a:pPr>
            <a:r>
              <a:rPr sz="1200" b="1" i="0">
                <a:solidFill>
                  <a:srgbClr val="21295C"/>
                </a:solidFill>
                <a:latin typeface="DejaVu Sans"/>
              </a:rPr>
              <a:t>Масштаб</a:t>
            </a:r>
          </a:p>
        </p:txBody>
      </p:sp>
      <p:sp>
        <p:nvSpPr>
          <p:cNvPr id="24" name="TextBox 23"/>
          <p:cNvSpPr txBox="1"/>
          <p:nvPr/>
        </p:nvSpPr>
        <p:spPr>
          <a:xfrm>
            <a:off x="8823960" y="2368296"/>
            <a:ext cx="2304288" cy="237744"/>
          </a:xfrm>
          <a:prstGeom prst="rect">
            <a:avLst/>
          </a:prstGeom>
          <a:noFill/>
        </p:spPr>
        <p:txBody>
          <a:bodyPr wrap="square" lIns="0" rIns="0" tIns="0" bIns="0" anchor="t">
            <a:spAutoFit/>
          </a:bodyPr>
          <a:lstStyle/>
          <a:p>
            <a:pPr algn="ctr">
              <a:lnSpc>
                <a:spcPct val="115000"/>
              </a:lnSpc>
            </a:pPr>
            <a:r>
              <a:rPr sz="950" b="0" i="1">
                <a:solidFill>
                  <a:srgbClr val="5B6678"/>
                </a:solidFill>
                <a:latin typeface="DejaVu Sans"/>
              </a:rPr>
              <a:t>building</a:t>
            </a:r>
          </a:p>
        </p:txBody>
      </p:sp>
      <p:pic>
        <p:nvPicPr>
          <p:cNvPr id="25" name="Picture 24" descr="diamond-gold.png"/>
          <p:cNvPicPr>
            <a:picLocks noChangeAspect="1"/>
          </p:cNvPicPr>
          <p:nvPr/>
        </p:nvPicPr>
        <p:blipFill>
          <a:blip r:embed="rId2"/>
          <a:stretch>
            <a:fillRect/>
          </a:stretch>
        </p:blipFill>
        <p:spPr>
          <a:xfrm>
            <a:off x="9829800" y="2624328"/>
            <a:ext cx="292608" cy="292608"/>
          </a:xfrm>
          <a:prstGeom prst="rect">
            <a:avLst/>
          </a:prstGeom>
        </p:spPr>
      </p:pic>
      <p:sp>
        <p:nvSpPr>
          <p:cNvPr id="26" name="TextBox 25"/>
          <p:cNvSpPr txBox="1"/>
          <p:nvPr/>
        </p:nvSpPr>
        <p:spPr>
          <a:xfrm>
            <a:off x="502920" y="3017520"/>
            <a:ext cx="11201400" cy="320040"/>
          </a:xfrm>
          <a:prstGeom prst="rect">
            <a:avLst/>
          </a:prstGeom>
          <a:noFill/>
        </p:spPr>
        <p:txBody>
          <a:bodyPr wrap="square" lIns="0" rIns="0" tIns="0" bIns="0" anchor="t">
            <a:spAutoFit/>
          </a:bodyPr>
          <a:lstStyle/>
          <a:p>
            <a:pPr algn="ctr">
              <a:lnSpc>
                <a:spcPct val="115000"/>
              </a:lnSpc>
            </a:pPr>
            <a:r>
              <a:rPr sz="1250" b="0" i="1">
                <a:solidFill>
                  <a:srgbClr val="5B6678"/>
                </a:solidFill>
                <a:latin typeface="DejaVu Sans"/>
              </a:rPr>
              <a:t>Стив Бланк — методология Customer Development </a:t>
            </a:r>
            <a:r>
              <a:rPr sz="650" baseline="30000" b="0" i="1">
                <a:latin typeface="DejaVu Sans"/>
                <a:cs typeface="DejaVu Sans"/>
                <a:ea typeface="DejaVu Sans"/>
                <a:solidFill>
                  <a:srgbClr val="1C7293"/>
                </a:solidFill>
              </a:rPr>
              <a:t>[1]</a:t>
            </a:r>
          </a:p>
        </p:txBody>
      </p:sp>
      <p:sp>
        <p:nvSpPr>
          <p:cNvPr id="27" name="Rounded Rectangle 26"/>
          <p:cNvSpPr/>
          <p:nvPr/>
        </p:nvSpPr>
        <p:spPr>
          <a:xfrm>
            <a:off x="1417320" y="3566160"/>
            <a:ext cx="9372600" cy="1234440"/>
          </a:xfrm>
          <a:prstGeom prst="roundRect">
            <a:avLst>
              <a:gd name="adj" fmla="val 22000"/>
            </a:avLst>
          </a:prstGeom>
          <a:solidFill>
            <a:srgbClr val="FDF3DC"/>
          </a:solidFill>
          <a:ln w="2032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8" name="Picture 27" descr="route-gold.png"/>
          <p:cNvPicPr>
            <a:picLocks noChangeAspect="1"/>
          </p:cNvPicPr>
          <p:nvPr/>
        </p:nvPicPr>
        <p:blipFill>
          <a:blip r:embed="rId3"/>
          <a:stretch>
            <a:fillRect/>
          </a:stretch>
        </p:blipFill>
        <p:spPr>
          <a:xfrm>
            <a:off x="1645920" y="3749039"/>
            <a:ext cx="457200" cy="457200"/>
          </a:xfrm>
          <a:prstGeom prst="rect">
            <a:avLst/>
          </a:prstGeom>
        </p:spPr>
      </p:pic>
      <p:sp>
        <p:nvSpPr>
          <p:cNvPr id="29" name="TextBox 28"/>
          <p:cNvSpPr txBox="1"/>
          <p:nvPr/>
        </p:nvSpPr>
        <p:spPr>
          <a:xfrm>
            <a:off x="2240280" y="3730752"/>
            <a:ext cx="8321040" cy="960120"/>
          </a:xfrm>
          <a:prstGeom prst="rect">
            <a:avLst/>
          </a:prstGeom>
          <a:noFill/>
        </p:spPr>
        <p:txBody>
          <a:bodyPr wrap="square" lIns="0" rIns="0" tIns="0" bIns="0" anchor="t">
            <a:spAutoFit/>
          </a:bodyPr>
          <a:lstStyle/>
          <a:p>
            <a:pPr algn="l">
              <a:lnSpc>
                <a:spcPct val="115000"/>
              </a:lnSpc>
            </a:pPr>
            <a:r>
              <a:rPr sz="1400" b="1" i="0">
                <a:solidFill>
                  <a:srgbClr val="21295C"/>
                </a:solidFill>
                <a:latin typeface="DejaVu Sans"/>
              </a:rPr>
              <a:t>Фальсифицируемая гипотеза</a:t>
            </a:r>
          </a:p>
          <a:p>
            <a:pPr algn="l">
              <a:lnSpc>
                <a:spcPct val="115000"/>
              </a:lnSpc>
              <a:spcBef>
                <a:spcPts val="600"/>
              </a:spcBef>
            </a:pPr>
            <a:r>
              <a:rPr sz="1300" b="0" i="0">
                <a:solidFill>
                  <a:srgbClr val="21295C"/>
                </a:solidFill>
                <a:latin typeface="DejaVu Sans"/>
              </a:rPr>
              <a:t>мы верим X → проверим через Y → к дате Z получим ответ да/нет</a:t>
            </a:r>
          </a:p>
        </p:txBody>
      </p:sp>
      <p:sp>
        <p:nvSpPr>
          <p:cNvPr id="30" name="Rounded Rectangle 29"/>
          <p:cNvSpPr/>
          <p:nvPr/>
        </p:nvSpPr>
        <p:spPr>
          <a:xfrm>
            <a:off x="502920" y="5074920"/>
            <a:ext cx="11201400" cy="777240"/>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722376" y="5129783"/>
            <a:ext cx="10762488" cy="667512"/>
          </a:xfrm>
          <a:prstGeom prst="rect">
            <a:avLst/>
          </a:prstGeom>
          <a:noFill/>
        </p:spPr>
        <p:txBody>
          <a:bodyPr wrap="square" lIns="0" rIns="0" tIns="0" bIns="0" anchor="ctr">
            <a:spAutoFit/>
          </a:bodyPr>
          <a:lstStyle/>
          <a:p>
            <a:pPr algn="l">
              <a:lnSpc>
                <a:spcPct val="120000"/>
              </a:lnSpc>
            </a:pPr>
            <a:r>
              <a:rPr sz="1300" b="1" i="0">
                <a:solidFill>
                  <a:srgbClr val="21295C"/>
                </a:solidFill>
                <a:latin typeface="DejaVu Sans"/>
              </a:rPr>
              <a:t>BML — двигатель; Customer Development — карта местности, по которой двигатель едет. Сначала понять, что проверяем и у кого — потом, как быстро крутить цикл.</a:t>
            </a:r>
          </a:p>
        </p:txBody>
      </p:sp>
      <p:sp>
        <p:nvSpPr>
          <p:cNvPr id="32" name="TextBox 31"/>
          <p:cNvSpPr txBox="1"/>
          <p:nvPr/>
        </p:nvSpPr>
        <p:spPr>
          <a:xfrm>
            <a:off x="502920" y="6455664"/>
            <a:ext cx="11201400" cy="548640"/>
          </a:xfrm>
          <a:prstGeom prst="rect">
            <a:avLst/>
          </a:prstGeom>
          <a:noFill/>
        </p:spPr>
        <p:txBody>
          <a:bodyPr wrap="square" lIns="0" rIns="0" tIns="0" bIns="0" anchor="t">
            <a:spAutoFit/>
          </a:bodyPr>
          <a:lstStyle/>
          <a:p>
            <a:pPr algn="l">
              <a:lnSpc>
                <a:spcPct val="102000"/>
              </a:lnSpc>
            </a:pPr>
            <a:r>
              <a:rPr sz="850" b="1" i="1">
                <a:solidFill>
                  <a:srgbClr val="065A82"/>
                </a:solidFill>
                <a:latin typeface="DejaVu Sans"/>
              </a:rPr>
              <a:t>[1] </a:t>
            </a:r>
            <a:r>
              <a:rPr sz="850" i="1">
                <a:solidFill>
                  <a:srgbClr val="1C7293"/>
                </a:solidFill>
                <a:latin typeface="DejaVu Sans"/>
                <a:hlinkClick r:id="rId4"/>
              </a:rPr>
              <a:t>Blank — Customer Development (Four Steps to the Epiphany)</a:t>
            </a:r>
          </a:p>
        </p:txBody>
      </p:sp>
      <p:sp>
        <p:nvSpPr>
          <p:cNvPr id="33" name="TextBox 32"/>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9 / 56</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65760"/>
            <a:ext cx="11155680" cy="777240"/>
          </a:xfrm>
          <a:prstGeom prst="rect">
            <a:avLst/>
          </a:prstGeom>
          <a:noFill/>
        </p:spPr>
        <p:txBody>
          <a:bodyPr wrap="square" lIns="0" rIns="0" tIns="0" bIns="0" anchor="t">
            <a:spAutoFit/>
          </a:bodyPr>
          <a:lstStyle/>
          <a:p>
            <a:pPr algn="l">
              <a:lnSpc>
                <a:spcPct val="110000"/>
              </a:lnSpc>
            </a:pPr>
            <a:r>
              <a:rPr sz="2300" b="1" i="0">
                <a:solidFill>
                  <a:srgbClr val="21295C"/>
                </a:solidFill>
                <a:latin typeface="DejaVu Sans"/>
              </a:rPr>
              <a:t>Даже мать соврёт — если вопрос сконструирован неправильно </a:t>
            </a:r>
            <a:r>
              <a:rPr sz="1196" baseline="30000" b="0" i="1">
                <a:latin typeface="DejaVu Sans"/>
                <a:cs typeface="DejaVu Sans"/>
                <a:ea typeface="DejaVu Sans"/>
                <a:solidFill>
                  <a:srgbClr val="1C7293"/>
                </a:solidFill>
              </a:rPr>
              <a:t>[1]</a:t>
            </a:r>
          </a:p>
        </p:txBody>
      </p:sp>
      <p:sp>
        <p:nvSpPr>
          <p:cNvPr id="3" name="Rounded Rectangle 2"/>
          <p:cNvSpPr/>
          <p:nvPr/>
        </p:nvSpPr>
        <p:spPr>
          <a:xfrm>
            <a:off x="502920" y="1417320"/>
            <a:ext cx="3611880" cy="1691640"/>
          </a:xfrm>
          <a:prstGeom prst="roundRect">
            <a:avLst>
              <a:gd name="adj" fmla="val 18018"/>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message-square-x-mid.png"/>
          <p:cNvPicPr>
            <a:picLocks noChangeAspect="1"/>
          </p:cNvPicPr>
          <p:nvPr/>
        </p:nvPicPr>
        <p:blipFill>
          <a:blip r:embed="rId2"/>
          <a:stretch>
            <a:fillRect/>
          </a:stretch>
        </p:blipFill>
        <p:spPr>
          <a:xfrm>
            <a:off x="722376" y="1581912"/>
            <a:ext cx="457200" cy="457200"/>
          </a:xfrm>
          <a:prstGeom prst="rect">
            <a:avLst/>
          </a:prstGeom>
        </p:spPr>
      </p:pic>
      <p:sp>
        <p:nvSpPr>
          <p:cNvPr id="5" name="TextBox 4"/>
          <p:cNvSpPr txBox="1"/>
          <p:nvPr/>
        </p:nvSpPr>
        <p:spPr>
          <a:xfrm>
            <a:off x="722376" y="2130552"/>
            <a:ext cx="3172968" cy="457200"/>
          </a:xfrm>
          <a:prstGeom prst="rect">
            <a:avLst/>
          </a:prstGeom>
          <a:noFill/>
        </p:spPr>
        <p:txBody>
          <a:bodyPr wrap="square" lIns="0" rIns="0" tIns="0" bIns="0" anchor="t">
            <a:spAutoFit/>
          </a:bodyPr>
          <a:lstStyle/>
          <a:p>
            <a:pPr algn="l">
              <a:lnSpc>
                <a:spcPct val="105000"/>
              </a:lnSpc>
            </a:pPr>
            <a:r>
              <a:rPr sz="1300" b="1" i="0">
                <a:solidFill>
                  <a:srgbClr val="21295C"/>
                </a:solidFill>
                <a:latin typeface="DejaVu Sans"/>
              </a:rPr>
              <a:t>Об их жизни, не о вашей идее</a:t>
            </a:r>
          </a:p>
        </p:txBody>
      </p:sp>
      <p:sp>
        <p:nvSpPr>
          <p:cNvPr id="6" name="TextBox 5"/>
          <p:cNvSpPr txBox="1"/>
          <p:nvPr/>
        </p:nvSpPr>
        <p:spPr>
          <a:xfrm>
            <a:off x="722376" y="2606040"/>
            <a:ext cx="3172968" cy="457200"/>
          </a:xfrm>
          <a:prstGeom prst="rect">
            <a:avLst/>
          </a:prstGeom>
          <a:noFill/>
        </p:spPr>
        <p:txBody>
          <a:bodyPr wrap="square" lIns="0" rIns="0" tIns="0" bIns="0" anchor="t">
            <a:spAutoFit/>
          </a:bodyPr>
          <a:lstStyle/>
          <a:p>
            <a:pPr algn="l">
              <a:lnSpc>
                <a:spcPct val="105000"/>
              </a:lnSpc>
            </a:pPr>
            <a:r>
              <a:rPr sz="1050" b="0" i="1">
                <a:solidFill>
                  <a:srgbClr val="5B6678"/>
                </a:solidFill>
                <a:latin typeface="DejaVu Sans"/>
              </a:rPr>
              <a:t>не питчите идею и не просите вердикт</a:t>
            </a:r>
          </a:p>
        </p:txBody>
      </p:sp>
      <p:sp>
        <p:nvSpPr>
          <p:cNvPr id="7" name="Rounded Rectangle 6"/>
          <p:cNvSpPr/>
          <p:nvPr/>
        </p:nvSpPr>
        <p:spPr>
          <a:xfrm>
            <a:off x="4297680" y="1417320"/>
            <a:ext cx="3611880" cy="1691640"/>
          </a:xfrm>
          <a:prstGeom prst="roundRect">
            <a:avLst>
              <a:gd name="adj" fmla="val 18018"/>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history-mid.png"/>
          <p:cNvPicPr>
            <a:picLocks noChangeAspect="1"/>
          </p:cNvPicPr>
          <p:nvPr/>
        </p:nvPicPr>
        <p:blipFill>
          <a:blip r:embed="rId3"/>
          <a:stretch>
            <a:fillRect/>
          </a:stretch>
        </p:blipFill>
        <p:spPr>
          <a:xfrm>
            <a:off x="4517136" y="1581912"/>
            <a:ext cx="457200" cy="457200"/>
          </a:xfrm>
          <a:prstGeom prst="rect">
            <a:avLst/>
          </a:prstGeom>
        </p:spPr>
      </p:pic>
      <p:sp>
        <p:nvSpPr>
          <p:cNvPr id="9" name="TextBox 8"/>
          <p:cNvSpPr txBox="1"/>
          <p:nvPr/>
        </p:nvSpPr>
        <p:spPr>
          <a:xfrm>
            <a:off x="4517136" y="2130552"/>
            <a:ext cx="3172968" cy="457200"/>
          </a:xfrm>
          <a:prstGeom prst="rect">
            <a:avLst/>
          </a:prstGeom>
          <a:noFill/>
        </p:spPr>
        <p:txBody>
          <a:bodyPr wrap="square" lIns="0" rIns="0" tIns="0" bIns="0" anchor="t">
            <a:spAutoFit/>
          </a:bodyPr>
          <a:lstStyle/>
          <a:p>
            <a:pPr algn="l">
              <a:lnSpc>
                <a:spcPct val="105000"/>
              </a:lnSpc>
            </a:pPr>
            <a:r>
              <a:rPr sz="1300" b="1" i="0">
                <a:solidFill>
                  <a:srgbClr val="21295C"/>
                </a:solidFill>
                <a:latin typeface="DejaVu Sans"/>
              </a:rPr>
              <a:t>О прошлом, не о будущем</a:t>
            </a:r>
          </a:p>
        </p:txBody>
      </p:sp>
      <p:sp>
        <p:nvSpPr>
          <p:cNvPr id="10" name="TextBox 9"/>
          <p:cNvSpPr txBox="1"/>
          <p:nvPr/>
        </p:nvSpPr>
        <p:spPr>
          <a:xfrm>
            <a:off x="4517136" y="2606040"/>
            <a:ext cx="3172968" cy="457200"/>
          </a:xfrm>
          <a:prstGeom prst="rect">
            <a:avLst/>
          </a:prstGeom>
          <a:noFill/>
        </p:spPr>
        <p:txBody>
          <a:bodyPr wrap="square" lIns="0" rIns="0" tIns="0" bIns="0" anchor="t">
            <a:spAutoFit/>
          </a:bodyPr>
          <a:lstStyle/>
          <a:p>
            <a:pPr algn="l">
              <a:lnSpc>
                <a:spcPct val="105000"/>
              </a:lnSpc>
            </a:pPr>
            <a:r>
              <a:rPr sz="1050" b="0" i="1">
                <a:solidFill>
                  <a:srgbClr val="5B6678"/>
                </a:solidFill>
                <a:latin typeface="DejaVu Sans"/>
              </a:rPr>
              <a:t>гипотетические вопросы провоцируют нечестный оптимизм</a:t>
            </a:r>
          </a:p>
        </p:txBody>
      </p:sp>
      <p:sp>
        <p:nvSpPr>
          <p:cNvPr id="11" name="Rounded Rectangle 10"/>
          <p:cNvSpPr/>
          <p:nvPr/>
        </p:nvSpPr>
        <p:spPr>
          <a:xfrm>
            <a:off x="8092440" y="1417320"/>
            <a:ext cx="3611880" cy="1691640"/>
          </a:xfrm>
          <a:prstGeom prst="roundRect">
            <a:avLst>
              <a:gd name="adj" fmla="val 18018"/>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handshake-mid.png"/>
          <p:cNvPicPr>
            <a:picLocks noChangeAspect="1"/>
          </p:cNvPicPr>
          <p:nvPr/>
        </p:nvPicPr>
        <p:blipFill>
          <a:blip r:embed="rId4"/>
          <a:stretch>
            <a:fillRect/>
          </a:stretch>
        </p:blipFill>
        <p:spPr>
          <a:xfrm>
            <a:off x="8311896" y="1581912"/>
            <a:ext cx="457200" cy="457200"/>
          </a:xfrm>
          <a:prstGeom prst="rect">
            <a:avLst/>
          </a:prstGeom>
        </p:spPr>
      </p:pic>
      <p:sp>
        <p:nvSpPr>
          <p:cNvPr id="13" name="TextBox 12"/>
          <p:cNvSpPr txBox="1"/>
          <p:nvPr/>
        </p:nvSpPr>
        <p:spPr>
          <a:xfrm>
            <a:off x="8311896" y="2130552"/>
            <a:ext cx="3172968" cy="457200"/>
          </a:xfrm>
          <a:prstGeom prst="rect">
            <a:avLst/>
          </a:prstGeom>
          <a:noFill/>
        </p:spPr>
        <p:txBody>
          <a:bodyPr wrap="square" lIns="0" rIns="0" tIns="0" bIns="0" anchor="t">
            <a:spAutoFit/>
          </a:bodyPr>
          <a:lstStyle/>
          <a:p>
            <a:pPr algn="l">
              <a:lnSpc>
                <a:spcPct val="105000"/>
              </a:lnSpc>
            </a:pPr>
            <a:r>
              <a:rPr sz="1300" b="1" i="0">
                <a:solidFill>
                  <a:srgbClr val="21295C"/>
                </a:solidFill>
                <a:latin typeface="DejaVu Sans"/>
              </a:rPr>
              <a:t>Обязательством, не комплиментом</a:t>
            </a:r>
          </a:p>
        </p:txBody>
      </p:sp>
      <p:sp>
        <p:nvSpPr>
          <p:cNvPr id="14" name="TextBox 13"/>
          <p:cNvSpPr txBox="1"/>
          <p:nvPr/>
        </p:nvSpPr>
        <p:spPr>
          <a:xfrm>
            <a:off x="8311896" y="2606040"/>
            <a:ext cx="3172968" cy="457200"/>
          </a:xfrm>
          <a:prstGeom prst="rect">
            <a:avLst/>
          </a:prstGeom>
          <a:noFill/>
        </p:spPr>
        <p:txBody>
          <a:bodyPr wrap="square" lIns="0" rIns="0" tIns="0" bIns="0" anchor="t">
            <a:spAutoFit/>
          </a:bodyPr>
          <a:lstStyle/>
          <a:p>
            <a:pPr algn="l">
              <a:lnSpc>
                <a:spcPct val="105000"/>
              </a:lnSpc>
            </a:pPr>
            <a:r>
              <a:rPr sz="1050" b="0" i="1">
                <a:solidFill>
                  <a:srgbClr val="5B6678"/>
                </a:solidFill>
                <a:latin typeface="DejaVu Sans"/>
              </a:rPr>
              <a:t>легитимные сигналы: время, репутация, деньги</a:t>
            </a:r>
          </a:p>
        </p:txBody>
      </p:sp>
      <p:sp>
        <p:nvSpPr>
          <p:cNvPr id="15" name="Rounded Rectangle 14"/>
          <p:cNvSpPr/>
          <p:nvPr/>
        </p:nvSpPr>
        <p:spPr>
          <a:xfrm>
            <a:off x="502920" y="3383280"/>
            <a:ext cx="5440680" cy="1234440"/>
          </a:xfrm>
          <a:prstGeom prst="roundRect">
            <a:avLst>
              <a:gd name="adj" fmla="val 7000"/>
            </a:avLst>
          </a:prstGeom>
          <a:solidFill>
            <a:srgbClr val="E5EAF0"/>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31520" y="3520440"/>
            <a:ext cx="4983480" cy="320040"/>
          </a:xfrm>
          <a:prstGeom prst="rect">
            <a:avLst/>
          </a:prstGeom>
          <a:noFill/>
        </p:spPr>
        <p:txBody>
          <a:bodyPr wrap="square" lIns="0" rIns="0" tIns="0" bIns="0" anchor="t">
            <a:spAutoFit/>
          </a:bodyPr>
          <a:lstStyle/>
          <a:p>
            <a:pPr algn="l">
              <a:lnSpc>
                <a:spcPct val="115000"/>
              </a:lnSpc>
            </a:pPr>
            <a:r>
              <a:rPr sz="1250" b="1" i="0">
                <a:solidFill>
                  <a:srgbClr val="5B6678"/>
                </a:solidFill>
                <a:latin typeface="DejaVu Sans"/>
              </a:rPr>
              <a:t>Плохо</a:t>
            </a:r>
          </a:p>
        </p:txBody>
      </p:sp>
      <p:sp>
        <p:nvSpPr>
          <p:cNvPr id="17" name="TextBox 16"/>
          <p:cNvSpPr txBox="1"/>
          <p:nvPr/>
        </p:nvSpPr>
        <p:spPr>
          <a:xfrm>
            <a:off x="731520" y="3858768"/>
            <a:ext cx="4983480" cy="685800"/>
          </a:xfrm>
          <a:prstGeom prst="rect">
            <a:avLst/>
          </a:prstGeom>
          <a:noFill/>
        </p:spPr>
        <p:txBody>
          <a:bodyPr wrap="square" lIns="0" rIns="0" tIns="0" bIns="0" anchor="t">
            <a:spAutoFit/>
          </a:bodyPr>
          <a:lstStyle/>
          <a:p>
            <a:pPr algn="l">
              <a:lnSpc>
                <a:spcPct val="110000"/>
              </a:lnSpc>
            </a:pPr>
            <a:r>
              <a:rPr sz="1350" b="0" i="1">
                <a:solidFill>
                  <a:srgbClr val="5B6678"/>
                </a:solidFill>
                <a:latin typeface="DejaVu Sans"/>
              </a:rPr>
              <a:t>«Заплатили бы $20 в месяц?»</a:t>
            </a:r>
          </a:p>
        </p:txBody>
      </p:sp>
      <p:sp>
        <p:nvSpPr>
          <p:cNvPr id="18" name="Rounded Rectangle 17"/>
          <p:cNvSpPr/>
          <p:nvPr/>
        </p:nvSpPr>
        <p:spPr>
          <a:xfrm>
            <a:off x="6172200" y="3383280"/>
            <a:ext cx="5532120" cy="1234440"/>
          </a:xfrm>
          <a:prstGeom prst="roundRect">
            <a:avLst>
              <a:gd name="adj" fmla="val 7000"/>
            </a:avLst>
          </a:prstGeom>
          <a:solidFill>
            <a:srgbClr val="E4F1F2"/>
          </a:solidFill>
          <a:ln w="2032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0" y="3520440"/>
            <a:ext cx="5074920" cy="320040"/>
          </a:xfrm>
          <a:prstGeom prst="rect">
            <a:avLst/>
          </a:prstGeom>
          <a:noFill/>
        </p:spPr>
        <p:txBody>
          <a:bodyPr wrap="square" lIns="0" rIns="0" tIns="0" bIns="0" anchor="t">
            <a:spAutoFit/>
          </a:bodyPr>
          <a:lstStyle/>
          <a:p>
            <a:pPr algn="l">
              <a:lnSpc>
                <a:spcPct val="115000"/>
              </a:lnSpc>
            </a:pPr>
            <a:r>
              <a:rPr sz="1250" b="1" i="0">
                <a:solidFill>
                  <a:srgbClr val="028090"/>
                </a:solidFill>
                <a:latin typeface="DejaVu Sans"/>
              </a:rPr>
              <a:t>Хорошо</a:t>
            </a:r>
          </a:p>
        </p:txBody>
      </p:sp>
      <p:sp>
        <p:nvSpPr>
          <p:cNvPr id="20" name="TextBox 19"/>
          <p:cNvSpPr txBox="1"/>
          <p:nvPr/>
        </p:nvSpPr>
        <p:spPr>
          <a:xfrm>
            <a:off x="6400800" y="3858768"/>
            <a:ext cx="5074920" cy="685800"/>
          </a:xfrm>
          <a:prstGeom prst="rect">
            <a:avLst/>
          </a:prstGeom>
          <a:noFill/>
        </p:spPr>
        <p:txBody>
          <a:bodyPr wrap="square" lIns="0" rIns="0" tIns="0" bIns="0" anchor="t">
            <a:spAutoFit/>
          </a:bodyPr>
          <a:lstStyle/>
          <a:p>
            <a:pPr algn="l">
              <a:lnSpc>
                <a:spcPct val="110000"/>
              </a:lnSpc>
            </a:pPr>
            <a:r>
              <a:rPr sz="1350" b="1" i="0">
                <a:solidFill>
                  <a:srgbClr val="21295C"/>
                </a:solidFill>
                <a:latin typeface="DejaVu Sans"/>
              </a:rPr>
              <a:t>«Сколько вы платите сегодня за ближайший аналог?»</a:t>
            </a:r>
          </a:p>
        </p:txBody>
      </p:sp>
      <p:sp>
        <p:nvSpPr>
          <p:cNvPr id="21" name="Rounded Rectangle 20"/>
          <p:cNvSpPr/>
          <p:nvPr/>
        </p:nvSpPr>
        <p:spPr>
          <a:xfrm>
            <a:off x="502920" y="4892040"/>
            <a:ext cx="11201400" cy="777240"/>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22376" y="4946903"/>
            <a:ext cx="10762488" cy="667512"/>
          </a:xfrm>
          <a:prstGeom prst="rect">
            <a:avLst/>
          </a:prstGeom>
          <a:noFill/>
        </p:spPr>
        <p:txBody>
          <a:bodyPr wrap="square" lIns="0" rIns="0" tIns="0" bIns="0" anchor="ctr">
            <a:spAutoFit/>
          </a:bodyPr>
          <a:lstStyle/>
          <a:p>
            <a:pPr algn="l">
              <a:lnSpc>
                <a:spcPct val="120000"/>
              </a:lnSpc>
            </a:pPr>
            <a:r>
              <a:rPr sz="1250" b="1" i="0">
                <a:solidFill>
                  <a:srgbClr val="21295C"/>
                </a:solidFill>
                <a:latin typeface="DejaVu Sans"/>
              </a:rPr>
              <a:t>Качественное отвечает «почему» на маленькой выборке и порождает гипотезы; количественное отвечает «сколько» в масштабе и проверяет уже существующую гипотезу — не иерархия, а разделение труда.</a:t>
            </a:r>
          </a:p>
        </p:txBody>
      </p:sp>
      <p:sp>
        <p:nvSpPr>
          <p:cNvPr id="23" name="TextBox 22"/>
          <p:cNvSpPr txBox="1"/>
          <p:nvPr/>
        </p:nvSpPr>
        <p:spPr>
          <a:xfrm>
            <a:off x="502920" y="6455664"/>
            <a:ext cx="11201400" cy="548640"/>
          </a:xfrm>
          <a:prstGeom prst="rect">
            <a:avLst/>
          </a:prstGeom>
          <a:noFill/>
        </p:spPr>
        <p:txBody>
          <a:bodyPr wrap="square" lIns="0" rIns="0" tIns="0" bIns="0" anchor="t">
            <a:spAutoFit/>
          </a:bodyPr>
          <a:lstStyle/>
          <a:p>
            <a:pPr algn="l">
              <a:lnSpc>
                <a:spcPct val="102000"/>
              </a:lnSpc>
            </a:pPr>
            <a:r>
              <a:rPr sz="850" b="1" i="1">
                <a:solidFill>
                  <a:srgbClr val="065A82"/>
                </a:solidFill>
                <a:latin typeface="DejaVu Sans"/>
              </a:rPr>
              <a:t>[1] </a:t>
            </a:r>
            <a:r>
              <a:rPr sz="850" i="1">
                <a:solidFill>
                  <a:srgbClr val="1C7293"/>
                </a:solidFill>
                <a:latin typeface="DejaVu Sans"/>
                <a:hlinkClick r:id="rId5"/>
              </a:rPr>
              <a:t>Fitzpatrick — The Mom Test</a:t>
            </a:r>
          </a:p>
        </p:txBody>
      </p:sp>
      <p:sp>
        <p:nvSpPr>
          <p:cNvPr id="24" name="TextBox 23"/>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10 / 56</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65760"/>
            <a:ext cx="11155680" cy="777240"/>
          </a:xfrm>
          <a:prstGeom prst="rect">
            <a:avLst/>
          </a:prstGeom>
          <a:noFill/>
        </p:spPr>
        <p:txBody>
          <a:bodyPr wrap="square" lIns="0" rIns="0" tIns="0" bIns="0" anchor="t">
            <a:spAutoFit/>
          </a:bodyPr>
          <a:lstStyle/>
          <a:p>
            <a:pPr algn="l">
              <a:lnSpc>
                <a:spcPct val="110000"/>
              </a:lnSpc>
            </a:pPr>
            <a:r>
              <a:rPr sz="2200" b="1" i="0">
                <a:solidFill>
                  <a:srgbClr val="21295C"/>
                </a:solidFill>
                <a:latin typeface="DejaVu Sans"/>
              </a:rPr>
              <a:t>Часы → минуты: но ссылки существуют, чтобы их проверяли</a:t>
            </a:r>
          </a:p>
        </p:txBody>
      </p:sp>
      <p:sp>
        <p:nvSpPr>
          <p:cNvPr id="3" name="Rounded Rectangle 2"/>
          <p:cNvSpPr/>
          <p:nvPr/>
        </p:nvSpPr>
        <p:spPr>
          <a:xfrm>
            <a:off x="502920" y="1417320"/>
            <a:ext cx="3611880" cy="1874519"/>
          </a:xfrm>
          <a:prstGeom prst="roundRect">
            <a:avLst>
              <a:gd name="adj" fmla="val 1626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file-search-mid.png"/>
          <p:cNvPicPr>
            <a:picLocks noChangeAspect="1"/>
          </p:cNvPicPr>
          <p:nvPr/>
        </p:nvPicPr>
        <p:blipFill>
          <a:blip r:embed="rId2"/>
          <a:stretch>
            <a:fillRect/>
          </a:stretch>
        </p:blipFill>
        <p:spPr>
          <a:xfrm>
            <a:off x="722376" y="1600200"/>
            <a:ext cx="512064" cy="512064"/>
          </a:xfrm>
          <a:prstGeom prst="rect">
            <a:avLst/>
          </a:prstGeom>
        </p:spPr>
      </p:pic>
      <p:sp>
        <p:nvSpPr>
          <p:cNvPr id="5" name="TextBox 4"/>
          <p:cNvSpPr txBox="1"/>
          <p:nvPr/>
        </p:nvSpPr>
        <p:spPr>
          <a:xfrm>
            <a:off x="722376" y="2221992"/>
            <a:ext cx="3172968" cy="457200"/>
          </a:xfrm>
          <a:prstGeom prst="rect">
            <a:avLst/>
          </a:prstGeom>
          <a:noFill/>
        </p:spPr>
        <p:txBody>
          <a:bodyPr wrap="square" lIns="0" rIns="0" tIns="0" bIns="0" anchor="t">
            <a:spAutoFit/>
          </a:bodyPr>
          <a:lstStyle/>
          <a:p>
            <a:pPr algn="l">
              <a:lnSpc>
                <a:spcPct val="105000"/>
              </a:lnSpc>
            </a:pPr>
            <a:r>
              <a:rPr sz="1200" b="1" i="0">
                <a:solidFill>
                  <a:srgbClr val="065A82"/>
                </a:solidFill>
                <a:latin typeface="DejaVu Sans"/>
              </a:rPr>
              <a:t>Desk research (кабинетное исследование)</a:t>
            </a:r>
          </a:p>
        </p:txBody>
      </p:sp>
      <p:sp>
        <p:nvSpPr>
          <p:cNvPr id="6" name="TextBox 5"/>
          <p:cNvSpPr txBox="1"/>
          <p:nvPr/>
        </p:nvSpPr>
        <p:spPr>
          <a:xfrm>
            <a:off x="722376" y="2734056"/>
            <a:ext cx="3172968" cy="502920"/>
          </a:xfrm>
          <a:prstGeom prst="rect">
            <a:avLst/>
          </a:prstGeom>
          <a:noFill/>
        </p:spPr>
        <p:txBody>
          <a:bodyPr wrap="square" lIns="0" rIns="0" tIns="0" bIns="0" anchor="t">
            <a:spAutoFit/>
          </a:bodyPr>
          <a:lstStyle/>
          <a:p>
            <a:pPr algn="l">
              <a:lnSpc>
                <a:spcPct val="110000"/>
              </a:lnSpc>
            </a:pPr>
            <a:r>
              <a:rPr sz="1100" b="0" i="0">
                <a:solidFill>
                  <a:srgbClr val="21295C"/>
                </a:solidFill>
                <a:latin typeface="DejaVu Sans"/>
              </a:rPr>
              <a:t>Perplexity Deep Research: 2 часа → ~30 минут </a:t>
            </a:r>
            <a:r>
              <a:rPr sz="572" baseline="30000" b="0" i="1">
                <a:latin typeface="DejaVu Sans"/>
                <a:cs typeface="DejaVu Sans"/>
                <a:ea typeface="DejaVu Sans"/>
                <a:solidFill>
                  <a:srgbClr val="1C7293"/>
                </a:solidFill>
              </a:rPr>
              <a:t>[1]</a:t>
            </a:r>
          </a:p>
        </p:txBody>
      </p:sp>
      <p:sp>
        <p:nvSpPr>
          <p:cNvPr id="7" name="Rounded Rectangle 6"/>
          <p:cNvSpPr/>
          <p:nvPr/>
        </p:nvSpPr>
        <p:spPr>
          <a:xfrm>
            <a:off x="2697480" y="1600200"/>
            <a:ext cx="1188720" cy="329184"/>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wrap="none"/>
          <a:lstStyle/>
          <a:p>
            <a:pPr algn="ctr"/>
            <a:r>
              <a:rPr sz="900" b="1">
                <a:solidFill>
                  <a:srgbClr val="21295C"/>
                </a:solidFill>
                <a:latin typeface="DejaVu Sans"/>
              </a:rPr>
              <a:t>проверь источник</a:t>
            </a:r>
          </a:p>
        </p:txBody>
      </p:sp>
      <p:sp>
        <p:nvSpPr>
          <p:cNvPr id="8" name="Rounded Rectangle 7"/>
          <p:cNvSpPr/>
          <p:nvPr/>
        </p:nvSpPr>
        <p:spPr>
          <a:xfrm>
            <a:off x="4297680" y="1417320"/>
            <a:ext cx="3611880" cy="1874519"/>
          </a:xfrm>
          <a:prstGeom prst="roundRect">
            <a:avLst>
              <a:gd name="adj" fmla="val 1626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layout-list-mid.png"/>
          <p:cNvPicPr>
            <a:picLocks noChangeAspect="1"/>
          </p:cNvPicPr>
          <p:nvPr/>
        </p:nvPicPr>
        <p:blipFill>
          <a:blip r:embed="rId3"/>
          <a:stretch>
            <a:fillRect/>
          </a:stretch>
        </p:blipFill>
        <p:spPr>
          <a:xfrm>
            <a:off x="4517136" y="1600200"/>
            <a:ext cx="512064" cy="512064"/>
          </a:xfrm>
          <a:prstGeom prst="rect">
            <a:avLst/>
          </a:prstGeom>
        </p:spPr>
      </p:pic>
      <p:sp>
        <p:nvSpPr>
          <p:cNvPr id="10" name="TextBox 9"/>
          <p:cNvSpPr txBox="1"/>
          <p:nvPr/>
        </p:nvSpPr>
        <p:spPr>
          <a:xfrm>
            <a:off x="4517136" y="2221992"/>
            <a:ext cx="3172968" cy="457200"/>
          </a:xfrm>
          <a:prstGeom prst="rect">
            <a:avLst/>
          </a:prstGeom>
          <a:noFill/>
        </p:spPr>
        <p:txBody>
          <a:bodyPr wrap="square" lIns="0" rIns="0" tIns="0" bIns="0" anchor="t">
            <a:spAutoFit/>
          </a:bodyPr>
          <a:lstStyle/>
          <a:p>
            <a:pPr algn="l">
              <a:lnSpc>
                <a:spcPct val="105000"/>
              </a:lnSpc>
            </a:pPr>
            <a:r>
              <a:rPr sz="1200" b="1" i="0">
                <a:solidFill>
                  <a:srgbClr val="065A82"/>
                </a:solidFill>
                <a:latin typeface="DejaVu Sans"/>
              </a:rPr>
              <a:t>Синтез интервью</a:t>
            </a:r>
          </a:p>
        </p:txBody>
      </p:sp>
      <p:sp>
        <p:nvSpPr>
          <p:cNvPr id="11" name="TextBox 10"/>
          <p:cNvSpPr txBox="1"/>
          <p:nvPr/>
        </p:nvSpPr>
        <p:spPr>
          <a:xfrm>
            <a:off x="4517136" y="2734056"/>
            <a:ext cx="3172968" cy="502920"/>
          </a:xfrm>
          <a:prstGeom prst="rect">
            <a:avLst/>
          </a:prstGeom>
          <a:noFill/>
        </p:spPr>
        <p:txBody>
          <a:bodyPr wrap="square" lIns="0" rIns="0" tIns="0" bIns="0" anchor="t">
            <a:spAutoFit/>
          </a:bodyPr>
          <a:lstStyle/>
          <a:p>
            <a:pPr algn="l">
              <a:lnSpc>
                <a:spcPct val="110000"/>
              </a:lnSpc>
            </a:pPr>
            <a:r>
              <a:rPr sz="1100" b="0" i="0">
                <a:solidFill>
                  <a:srgbClr val="21295C"/>
                </a:solidFill>
                <a:latin typeface="DejaVu Sans"/>
              </a:rPr>
              <a:t>Dovetail — кластеризация болей в масштабе </a:t>
            </a:r>
            <a:r>
              <a:rPr sz="572" baseline="30000" b="0" i="1">
                <a:latin typeface="DejaVu Sans"/>
                <a:cs typeface="DejaVu Sans"/>
                <a:ea typeface="DejaVu Sans"/>
                <a:solidFill>
                  <a:srgbClr val="1C7293"/>
                </a:solidFill>
              </a:rPr>
              <a:t>[2]</a:t>
            </a:r>
          </a:p>
        </p:txBody>
      </p:sp>
      <p:sp>
        <p:nvSpPr>
          <p:cNvPr id="12" name="Rounded Rectangle 11"/>
          <p:cNvSpPr/>
          <p:nvPr/>
        </p:nvSpPr>
        <p:spPr>
          <a:xfrm>
            <a:off x="8092440" y="1417320"/>
            <a:ext cx="3611880" cy="1874519"/>
          </a:xfrm>
          <a:prstGeom prst="roundRect">
            <a:avLst>
              <a:gd name="adj" fmla="val 1626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database-mid.png"/>
          <p:cNvPicPr>
            <a:picLocks noChangeAspect="1"/>
          </p:cNvPicPr>
          <p:nvPr/>
        </p:nvPicPr>
        <p:blipFill>
          <a:blip r:embed="rId4"/>
          <a:stretch>
            <a:fillRect/>
          </a:stretch>
        </p:blipFill>
        <p:spPr>
          <a:xfrm>
            <a:off x="8311896" y="1600200"/>
            <a:ext cx="512064" cy="512064"/>
          </a:xfrm>
          <a:prstGeom prst="rect">
            <a:avLst/>
          </a:prstGeom>
        </p:spPr>
      </p:pic>
      <p:sp>
        <p:nvSpPr>
          <p:cNvPr id="14" name="TextBox 13"/>
          <p:cNvSpPr txBox="1"/>
          <p:nvPr/>
        </p:nvSpPr>
        <p:spPr>
          <a:xfrm>
            <a:off x="8311896" y="2221992"/>
            <a:ext cx="3172968" cy="457200"/>
          </a:xfrm>
          <a:prstGeom prst="rect">
            <a:avLst/>
          </a:prstGeom>
          <a:noFill/>
        </p:spPr>
        <p:txBody>
          <a:bodyPr wrap="square" lIns="0" rIns="0" tIns="0" bIns="0" anchor="t">
            <a:spAutoFit/>
          </a:bodyPr>
          <a:lstStyle/>
          <a:p>
            <a:pPr algn="l">
              <a:lnSpc>
                <a:spcPct val="105000"/>
              </a:lnSpc>
            </a:pPr>
            <a:r>
              <a:rPr sz="1200" b="1" i="0">
                <a:solidFill>
                  <a:srgbClr val="065A82"/>
                </a:solidFill>
                <a:latin typeface="DejaVu Sans"/>
              </a:rPr>
              <a:t>Reference dataset (эталонный набор)</a:t>
            </a:r>
          </a:p>
        </p:txBody>
      </p:sp>
      <p:sp>
        <p:nvSpPr>
          <p:cNvPr id="15" name="TextBox 14"/>
          <p:cNvSpPr txBox="1"/>
          <p:nvPr/>
        </p:nvSpPr>
        <p:spPr>
          <a:xfrm>
            <a:off x="8311896" y="2734056"/>
            <a:ext cx="3172968" cy="502920"/>
          </a:xfrm>
          <a:prstGeom prst="rect">
            <a:avLst/>
          </a:prstGeom>
          <a:noFill/>
        </p:spPr>
        <p:txBody>
          <a:bodyPr wrap="square" lIns="0" rIns="0" tIns="0" bIns="0" anchor="t">
            <a:spAutoFit/>
          </a:bodyPr>
          <a:lstStyle/>
          <a:p>
            <a:pPr algn="l">
              <a:lnSpc>
                <a:spcPct val="110000"/>
              </a:lnSpc>
            </a:pPr>
            <a:r>
              <a:rPr sz="1100" b="0" i="0">
                <a:solidFill>
                  <a:srgbClr val="21295C"/>
                </a:solidFill>
                <a:latin typeface="DejaVu Sans"/>
              </a:rPr>
              <a:t>курируемая коллекция «запрос → правильный ответ»</a:t>
            </a:r>
          </a:p>
        </p:txBody>
      </p:sp>
      <p:sp>
        <p:nvSpPr>
          <p:cNvPr id="16" name="Rounded Rectangle 15"/>
          <p:cNvSpPr/>
          <p:nvPr/>
        </p:nvSpPr>
        <p:spPr>
          <a:xfrm>
            <a:off x="502920" y="3566160"/>
            <a:ext cx="11201400" cy="658368"/>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22376" y="3621024"/>
            <a:ext cx="10762488" cy="548640"/>
          </a:xfrm>
          <a:prstGeom prst="rect">
            <a:avLst/>
          </a:prstGeom>
          <a:noFill/>
        </p:spPr>
        <p:txBody>
          <a:bodyPr wrap="square" lIns="0" rIns="0" tIns="0" bIns="0" anchor="ctr">
            <a:spAutoFit/>
          </a:bodyPr>
          <a:lstStyle/>
          <a:p>
            <a:pPr algn="ctr">
              <a:lnSpc>
                <a:spcPct val="120000"/>
              </a:lnSpc>
            </a:pPr>
            <a:r>
              <a:rPr sz="1450" b="1" i="0">
                <a:solidFill>
                  <a:srgbClr val="21295C"/>
                </a:solidFill>
                <a:latin typeface="DejaVu Sans"/>
              </a:rPr>
              <a:t>97% исследователей используют ИИ — лишь ~8% доверяют ИИ-персонам как данным </a:t>
            </a:r>
            <a:r>
              <a:rPr sz="754" baseline="30000" b="0" i="1">
                <a:latin typeface="DejaVu Sans"/>
                <a:cs typeface="DejaVu Sans"/>
                <a:ea typeface="DejaVu Sans"/>
                <a:solidFill>
                  <a:srgbClr val="1C7293"/>
                </a:solidFill>
              </a:rPr>
              <a:t>[3]</a:t>
            </a:r>
          </a:p>
        </p:txBody>
      </p:sp>
      <p:sp>
        <p:nvSpPr>
          <p:cNvPr id="18" name="Rounded Rectangle 17"/>
          <p:cNvSpPr/>
          <p:nvPr/>
        </p:nvSpPr>
        <p:spPr>
          <a:xfrm>
            <a:off x="502920" y="4434840"/>
            <a:ext cx="11201400" cy="1234440"/>
          </a:xfrm>
          <a:prstGeom prst="roundRect">
            <a:avLst>
              <a:gd name="adj" fmla="val 6000"/>
            </a:avLst>
          </a:prstGeom>
          <a:solidFill>
            <a:srgbClr val="E5EAF0"/>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77240" y="4553712"/>
            <a:ext cx="10652760" cy="1005840"/>
          </a:xfrm>
          <a:prstGeom prst="rect">
            <a:avLst/>
          </a:prstGeom>
          <a:noFill/>
        </p:spPr>
        <p:txBody>
          <a:bodyPr wrap="square" lIns="0" rIns="0" tIns="0" bIns="0" anchor="ctr">
            <a:spAutoFit/>
          </a:bodyPr>
          <a:lstStyle/>
          <a:p>
            <a:pPr algn="l">
              <a:lnSpc>
                <a:spcPct val="115000"/>
              </a:lnSpc>
            </a:pPr>
            <a:r>
              <a:rPr sz="1250" b="0" i="0">
                <a:solidFill>
                  <a:srgbClr val="21295C"/>
                </a:solidFill>
                <a:latin typeface="DejaVu Sans"/>
              </a:rPr>
              <a:t>Обязательная практика: проверять важные данные напрямую по источнику до использования в решении. Синтетические пользователи — только пре-исследование (пилотаж гайда, черновик персон, генерация гипотез), никогда не доказательство для решения «продолжать/остановить».</a:t>
            </a:r>
          </a:p>
        </p:txBody>
      </p:sp>
      <p:sp>
        <p:nvSpPr>
          <p:cNvPr id="20" name="TextBox 19"/>
          <p:cNvSpPr txBox="1"/>
          <p:nvPr/>
        </p:nvSpPr>
        <p:spPr>
          <a:xfrm>
            <a:off x="502920" y="6419088"/>
            <a:ext cx="11201400" cy="548640"/>
          </a:xfrm>
          <a:prstGeom prst="rect">
            <a:avLst/>
          </a:prstGeom>
          <a:noFill/>
        </p:spPr>
        <p:txBody>
          <a:bodyPr wrap="square" lIns="0" rIns="0" tIns="0" bIns="0" anchor="t">
            <a:spAutoFit/>
          </a:bodyPr>
          <a:lstStyle/>
          <a:p>
            <a:pPr algn="l">
              <a:lnSpc>
                <a:spcPct val="102000"/>
              </a:lnSpc>
            </a:pPr>
            <a:r>
              <a:rPr sz="850" b="1" i="1">
                <a:solidFill>
                  <a:srgbClr val="065A82"/>
                </a:solidFill>
                <a:latin typeface="DejaVu Sans"/>
              </a:rPr>
              <a:t>[1] </a:t>
            </a:r>
            <a:r>
              <a:rPr sz="850" i="1">
                <a:solidFill>
                  <a:srgbClr val="1C7293"/>
                </a:solidFill>
                <a:latin typeface="DejaVu Sans"/>
                <a:hlinkClick r:id="rId5"/>
              </a:rPr>
              <a:t>Perplexity Deep Research — обзор для продукт-исследований</a:t>
            </a:r>
            <a:r>
              <a:rPr sz="850" i="1">
                <a:solidFill>
                  <a:srgbClr val="1C7293"/>
                </a:solidFill>
                <a:latin typeface="DejaVu Sans"/>
              </a:rPr>
              <a:t>   ·   </a:t>
            </a:r>
            <a:r>
              <a:rPr sz="850" b="1" i="1">
                <a:solidFill>
                  <a:srgbClr val="065A82"/>
                </a:solidFill>
                <a:latin typeface="DejaVu Sans"/>
              </a:rPr>
              <a:t>[2] </a:t>
            </a:r>
            <a:r>
              <a:rPr sz="850" i="1">
                <a:solidFill>
                  <a:srgbClr val="1C7293"/>
                </a:solidFill>
                <a:latin typeface="DejaVu Sans"/>
                <a:hlinkClick r:id="rId6"/>
              </a:rPr>
              <a:t>Dovetail — AI-синтез интервью</a:t>
            </a:r>
            <a:r>
              <a:rPr sz="850" i="1">
                <a:solidFill>
                  <a:srgbClr val="1C7293"/>
                </a:solidFill>
                <a:latin typeface="DejaVu Sans"/>
              </a:rPr>
              <a:t>   ·   </a:t>
            </a:r>
            <a:r>
              <a:rPr sz="850" b="1" i="1">
                <a:solidFill>
                  <a:srgbClr val="065A82"/>
                </a:solidFill>
                <a:latin typeface="DejaVu Sans"/>
              </a:rPr>
              <a:t>[3] </a:t>
            </a:r>
            <a:r>
              <a:rPr sz="850" i="1">
                <a:solidFill>
                  <a:srgbClr val="1C7293"/>
                </a:solidFill>
                <a:latin typeface="DejaVu Sans"/>
                <a:hlinkClick r:id="rId7"/>
              </a:rPr>
              <a:t>NN/g — практический опрос 2026</a:t>
            </a:r>
          </a:p>
        </p:txBody>
      </p:sp>
      <p:sp>
        <p:nvSpPr>
          <p:cNvPr id="21" name="TextBox 20"/>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11 / 56</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65760"/>
            <a:ext cx="11155680" cy="777240"/>
          </a:xfrm>
          <a:prstGeom prst="rect">
            <a:avLst/>
          </a:prstGeom>
          <a:noFill/>
        </p:spPr>
        <p:txBody>
          <a:bodyPr wrap="square" lIns="0" rIns="0" tIns="0" bIns="0" anchor="t">
            <a:spAutoFit/>
          </a:bodyPr>
          <a:lstStyle/>
          <a:p>
            <a:pPr algn="l">
              <a:lnSpc>
                <a:spcPct val="110000"/>
              </a:lnSpc>
            </a:pPr>
            <a:r>
              <a:rPr sz="2200" b="1" i="0">
                <a:solidFill>
                  <a:srgbClr val="21295C"/>
                </a:solidFill>
                <a:latin typeface="DejaVu Sans"/>
              </a:rPr>
              <a:t>Синтетический собеседник не может произвести несогласие</a:t>
            </a:r>
          </a:p>
        </p:txBody>
      </p:sp>
      <p:sp>
        <p:nvSpPr>
          <p:cNvPr id="3" name="Rounded Rectangle 2"/>
          <p:cNvSpPr/>
          <p:nvPr/>
        </p:nvSpPr>
        <p:spPr>
          <a:xfrm>
            <a:off x="502920" y="1417320"/>
            <a:ext cx="3931920" cy="3063240"/>
          </a:xfrm>
          <a:prstGeom prst="roundRect">
            <a:avLst>
              <a:gd name="adj" fmla="val 995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smile-light.png"/>
          <p:cNvPicPr>
            <a:picLocks noChangeAspect="1"/>
          </p:cNvPicPr>
          <p:nvPr/>
        </p:nvPicPr>
        <p:blipFill>
          <a:blip r:embed="rId2"/>
          <a:stretch>
            <a:fillRect/>
          </a:stretch>
        </p:blipFill>
        <p:spPr>
          <a:xfrm>
            <a:off x="1965960" y="1737360"/>
            <a:ext cx="1005840" cy="1005840"/>
          </a:xfrm>
          <a:prstGeom prst="rect">
            <a:avLst/>
          </a:prstGeom>
        </p:spPr>
      </p:pic>
      <p:sp>
        <p:nvSpPr>
          <p:cNvPr id="5" name="TextBox 4"/>
          <p:cNvSpPr txBox="1"/>
          <p:nvPr/>
        </p:nvSpPr>
        <p:spPr>
          <a:xfrm>
            <a:off x="731520" y="2880360"/>
            <a:ext cx="3474720" cy="1417320"/>
          </a:xfrm>
          <a:prstGeom prst="rect">
            <a:avLst/>
          </a:prstGeom>
          <a:noFill/>
        </p:spPr>
        <p:txBody>
          <a:bodyPr wrap="square" lIns="0" rIns="0" tIns="0" bIns="0" anchor="t">
            <a:spAutoFit/>
          </a:bodyPr>
          <a:lstStyle/>
          <a:p>
            <a:pPr algn="ctr">
              <a:lnSpc>
                <a:spcPct val="118000"/>
              </a:lnSpc>
            </a:pPr>
            <a:r>
              <a:rPr sz="1250" b="0" i="0">
                <a:solidFill>
                  <a:srgbClr val="21295C"/>
                </a:solidFill>
                <a:latin typeface="DejaVu Sans"/>
              </a:rPr>
              <a:t>Зеркало согласия: синтетический собеседник структурно не может отразить несогласие — у него нет реального прошлого, способного противоречить формулировке вопроса.</a:t>
            </a:r>
          </a:p>
        </p:txBody>
      </p:sp>
      <p:sp>
        <p:nvSpPr>
          <p:cNvPr id="6" name="TextBox 5"/>
          <p:cNvSpPr txBox="1"/>
          <p:nvPr/>
        </p:nvSpPr>
        <p:spPr>
          <a:xfrm>
            <a:off x="4709160" y="1417320"/>
            <a:ext cx="6995160" cy="365760"/>
          </a:xfrm>
          <a:prstGeom prst="rect">
            <a:avLst/>
          </a:prstGeom>
          <a:noFill/>
        </p:spPr>
        <p:txBody>
          <a:bodyPr wrap="square" lIns="0" rIns="0" tIns="0" bIns="0" anchor="t">
            <a:spAutoFit/>
          </a:bodyPr>
          <a:lstStyle/>
          <a:p>
            <a:pPr algn="l">
              <a:lnSpc>
                <a:spcPct val="115000"/>
              </a:lnSpc>
            </a:pPr>
            <a:r>
              <a:rPr sz="1400" b="1" i="0">
                <a:solidFill>
                  <a:srgbClr val="065A82"/>
                </a:solidFill>
                <a:latin typeface="DejaVu Sans"/>
              </a:rPr>
              <a:t>Когда живое интервью строго лучше ИИ-синтеза</a:t>
            </a:r>
          </a:p>
        </p:txBody>
      </p:sp>
      <p:sp>
        <p:nvSpPr>
          <p:cNvPr id="7" name="Rounded Rectangle 6"/>
          <p:cNvSpPr/>
          <p:nvPr/>
        </p:nvSpPr>
        <p:spPr>
          <a:xfrm>
            <a:off x="4709160" y="1920240"/>
            <a:ext cx="6995160" cy="640080"/>
          </a:xfrm>
          <a:prstGeom prst="roundRect">
            <a:avLst>
              <a:gd name="adj" fmla="val 22000"/>
            </a:avLst>
          </a:prstGeom>
          <a:solidFill>
            <a:srgbClr val="F4F7FA"/>
          </a:solidFill>
          <a:ln w="1651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303520" y="1920240"/>
            <a:ext cx="6217920" cy="640080"/>
          </a:xfrm>
          <a:prstGeom prst="rect">
            <a:avLst/>
          </a:prstGeom>
          <a:noFill/>
        </p:spPr>
        <p:txBody>
          <a:bodyPr wrap="square" lIns="0" rIns="0" tIns="0" bIns="0" anchor="ctr">
            <a:spAutoFit/>
          </a:bodyPr>
          <a:lstStyle/>
          <a:p>
            <a:pPr algn="l">
              <a:lnSpc>
                <a:spcPct val="115000"/>
              </a:lnSpc>
            </a:pPr>
            <a:r>
              <a:rPr sz="1300" b="1" i="0">
                <a:solidFill>
                  <a:srgbClr val="21295C"/>
                </a:solidFill>
                <a:latin typeface="DejaVu Sans"/>
              </a:rPr>
              <a:t>1. Высокая цена ошибки «продолжать/остановить»</a:t>
            </a:r>
          </a:p>
        </p:txBody>
      </p:sp>
      <p:pic>
        <p:nvPicPr>
          <p:cNvPr id="9" name="Picture 8" descr="shield-alert-mid.png"/>
          <p:cNvPicPr>
            <a:picLocks noChangeAspect="1"/>
          </p:cNvPicPr>
          <p:nvPr/>
        </p:nvPicPr>
        <p:blipFill>
          <a:blip r:embed="rId3"/>
          <a:stretch>
            <a:fillRect/>
          </a:stretch>
        </p:blipFill>
        <p:spPr>
          <a:xfrm>
            <a:off x="4837176" y="2057400"/>
            <a:ext cx="384048" cy="384048"/>
          </a:xfrm>
          <a:prstGeom prst="rect">
            <a:avLst/>
          </a:prstGeom>
        </p:spPr>
      </p:pic>
      <p:sp>
        <p:nvSpPr>
          <p:cNvPr id="10" name="Rounded Rectangle 9"/>
          <p:cNvSpPr/>
          <p:nvPr/>
        </p:nvSpPr>
        <p:spPr>
          <a:xfrm>
            <a:off x="4709160" y="2697480"/>
            <a:ext cx="6995160" cy="640080"/>
          </a:xfrm>
          <a:prstGeom prst="roundRect">
            <a:avLst>
              <a:gd name="adj" fmla="val 22000"/>
            </a:avLst>
          </a:prstGeom>
          <a:solidFill>
            <a:srgbClr val="F4F7FA"/>
          </a:solidFill>
          <a:ln w="1651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303520" y="2697480"/>
            <a:ext cx="6217920" cy="640080"/>
          </a:xfrm>
          <a:prstGeom prst="rect">
            <a:avLst/>
          </a:prstGeom>
          <a:noFill/>
        </p:spPr>
        <p:txBody>
          <a:bodyPr wrap="square" lIns="0" rIns="0" tIns="0" bIns="0" anchor="ctr">
            <a:spAutoFit/>
          </a:bodyPr>
          <a:lstStyle/>
          <a:p>
            <a:pPr algn="l">
              <a:lnSpc>
                <a:spcPct val="115000"/>
              </a:lnSpc>
            </a:pPr>
            <a:r>
              <a:rPr sz="1300" b="1" i="0">
                <a:solidFill>
                  <a:srgbClr val="21295C"/>
                </a:solidFill>
                <a:latin typeface="DejaVu Sans"/>
              </a:rPr>
              <a:t>2. Нужно реальное прошлое, не правдоподобное</a:t>
            </a:r>
          </a:p>
        </p:txBody>
      </p:sp>
      <p:pic>
        <p:nvPicPr>
          <p:cNvPr id="12" name="Picture 11" descr="shield-alert-mid.png"/>
          <p:cNvPicPr>
            <a:picLocks noChangeAspect="1"/>
          </p:cNvPicPr>
          <p:nvPr/>
        </p:nvPicPr>
        <p:blipFill>
          <a:blip r:embed="rId3"/>
          <a:stretch>
            <a:fillRect/>
          </a:stretch>
        </p:blipFill>
        <p:spPr>
          <a:xfrm>
            <a:off x="4837176" y="2834640"/>
            <a:ext cx="384048" cy="384048"/>
          </a:xfrm>
          <a:prstGeom prst="rect">
            <a:avLst/>
          </a:prstGeom>
        </p:spPr>
      </p:pic>
      <p:sp>
        <p:nvSpPr>
          <p:cNvPr id="13" name="Rounded Rectangle 12"/>
          <p:cNvSpPr/>
          <p:nvPr/>
        </p:nvSpPr>
        <p:spPr>
          <a:xfrm>
            <a:off x="4709160" y="3474720"/>
            <a:ext cx="6995160" cy="640080"/>
          </a:xfrm>
          <a:prstGeom prst="roundRect">
            <a:avLst>
              <a:gd name="adj" fmla="val 22000"/>
            </a:avLst>
          </a:prstGeom>
          <a:solidFill>
            <a:srgbClr val="F4F7FA"/>
          </a:solidFill>
          <a:ln w="1651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303520" y="3474720"/>
            <a:ext cx="6217920" cy="640080"/>
          </a:xfrm>
          <a:prstGeom prst="rect">
            <a:avLst/>
          </a:prstGeom>
          <a:noFill/>
        </p:spPr>
        <p:txBody>
          <a:bodyPr wrap="square" lIns="0" rIns="0" tIns="0" bIns="0" anchor="ctr">
            <a:spAutoFit/>
          </a:bodyPr>
          <a:lstStyle/>
          <a:p>
            <a:pPr algn="l">
              <a:lnSpc>
                <a:spcPct val="115000"/>
              </a:lnSpc>
            </a:pPr>
            <a:r>
              <a:rPr sz="1300" b="1" i="0">
                <a:solidFill>
                  <a:srgbClr val="21295C"/>
                </a:solidFill>
                <a:latin typeface="DejaVu Sans"/>
              </a:rPr>
              <a:t>3. Нужна валидация обязательством, не мнением</a:t>
            </a:r>
          </a:p>
        </p:txBody>
      </p:sp>
      <p:pic>
        <p:nvPicPr>
          <p:cNvPr id="15" name="Picture 14" descr="shield-alert-mid.png"/>
          <p:cNvPicPr>
            <a:picLocks noChangeAspect="1"/>
          </p:cNvPicPr>
          <p:nvPr/>
        </p:nvPicPr>
        <p:blipFill>
          <a:blip r:embed="rId3"/>
          <a:stretch>
            <a:fillRect/>
          </a:stretch>
        </p:blipFill>
        <p:spPr>
          <a:xfrm>
            <a:off x="4837176" y="3611879"/>
            <a:ext cx="384048" cy="384048"/>
          </a:xfrm>
          <a:prstGeom prst="rect">
            <a:avLst/>
          </a:prstGeom>
        </p:spPr>
      </p:pic>
      <p:sp>
        <p:nvSpPr>
          <p:cNvPr id="16" name="Rounded Rectangle 15"/>
          <p:cNvSpPr/>
          <p:nvPr/>
        </p:nvSpPr>
        <p:spPr>
          <a:xfrm>
            <a:off x="502920" y="4663440"/>
            <a:ext cx="11201400" cy="868680"/>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22376" y="4718303"/>
            <a:ext cx="10762488" cy="758952"/>
          </a:xfrm>
          <a:prstGeom prst="rect">
            <a:avLst/>
          </a:prstGeom>
          <a:noFill/>
        </p:spPr>
        <p:txBody>
          <a:bodyPr wrap="square" lIns="0" rIns="0" tIns="0" bIns="0" anchor="ctr">
            <a:spAutoFit/>
          </a:bodyPr>
          <a:lstStyle/>
          <a:p>
            <a:pPr algn="l">
              <a:lnSpc>
                <a:spcPct val="120000"/>
              </a:lnSpc>
            </a:pPr>
            <a:r>
              <a:rPr sz="1300" b="1" i="0">
                <a:solidFill>
                  <a:srgbClr val="21295C"/>
                </a:solidFill>
                <a:latin typeface="DejaVu Sans"/>
              </a:rPr>
              <a:t>ИИ-резюме теряет 20-40% деталей интервью (Torres) </a:t>
            </a:r>
            <a:r>
              <a:rPr sz="676" baseline="30000" b="0" i="1">
                <a:latin typeface="DejaVu Sans"/>
                <a:cs typeface="DejaVu Sans"/>
                <a:ea typeface="DejaVu Sans"/>
                <a:solidFill>
                  <a:srgbClr val="1C7293"/>
                </a:solidFill>
              </a:rPr>
              <a:t>[1]</a:t>
            </a:r>
            <a:r>
              <a:rPr sz="1300" b="1" i="0">
                <a:latin typeface="DejaVu Sans"/>
                <a:cs typeface="DejaVu Sans"/>
                <a:ea typeface="DejaVu Sans"/>
                <a:solidFill>
                  <a:srgbClr val="21295C"/>
                </a:solidFill>
              </a:rPr>
              <a:t>, если пропущен шаг «сначала по отдельности» — прослеживаемый до конкретного шага сбой, не расплывчатое «ИИ иногда ошибается».</a:t>
            </a:r>
          </a:p>
        </p:txBody>
      </p:sp>
      <p:sp>
        <p:nvSpPr>
          <p:cNvPr id="18" name="TextBox 17"/>
          <p:cNvSpPr txBox="1"/>
          <p:nvPr/>
        </p:nvSpPr>
        <p:spPr>
          <a:xfrm>
            <a:off x="502920" y="6455664"/>
            <a:ext cx="11201400" cy="548640"/>
          </a:xfrm>
          <a:prstGeom prst="rect">
            <a:avLst/>
          </a:prstGeom>
          <a:noFill/>
        </p:spPr>
        <p:txBody>
          <a:bodyPr wrap="square" lIns="0" rIns="0" tIns="0" bIns="0" anchor="t">
            <a:spAutoFit/>
          </a:bodyPr>
          <a:lstStyle/>
          <a:p>
            <a:pPr algn="l">
              <a:lnSpc>
                <a:spcPct val="102000"/>
              </a:lnSpc>
            </a:pPr>
            <a:r>
              <a:rPr sz="850" b="1" i="1">
                <a:solidFill>
                  <a:srgbClr val="065A82"/>
                </a:solidFill>
                <a:latin typeface="DejaVu Sans"/>
              </a:rPr>
              <a:t>[1] </a:t>
            </a:r>
            <a:r>
              <a:rPr sz="850" i="1">
                <a:solidFill>
                  <a:srgbClr val="1C7293"/>
                </a:solidFill>
                <a:latin typeface="DejaVu Sans"/>
                <a:hlinkClick r:id="rId4"/>
              </a:rPr>
              <a:t>Torres — Continuous Discovery Habits / anti-synthetic</a:t>
            </a:r>
          </a:p>
        </p:txBody>
      </p:sp>
      <p:sp>
        <p:nvSpPr>
          <p:cNvPr id="19" name="TextBox 18"/>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12 / 56</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65760"/>
            <a:ext cx="11155680" cy="777240"/>
          </a:xfrm>
          <a:prstGeom prst="rect">
            <a:avLst/>
          </a:prstGeom>
          <a:noFill/>
        </p:spPr>
        <p:txBody>
          <a:bodyPr wrap="square" lIns="0" rIns="0" tIns="0" bIns="0" anchor="t">
            <a:spAutoFit/>
          </a:bodyPr>
          <a:lstStyle/>
          <a:p>
            <a:pPr algn="l">
              <a:lnSpc>
                <a:spcPct val="110000"/>
              </a:lnSpc>
            </a:pPr>
            <a:r>
              <a:rPr sz="2000" b="1" i="0">
                <a:solidFill>
                  <a:srgbClr val="21295C"/>
                </a:solidFill>
                <a:latin typeface="DejaVu Sans"/>
              </a:rPr>
              <a:t>Одна и та же задача: реальные люди — 3 из 7, синтетическая панель — 7 из 7 </a:t>
            </a:r>
            <a:r>
              <a:rPr sz="1040" baseline="30000" b="0" i="1">
                <a:latin typeface="DejaVu Sans"/>
                <a:cs typeface="DejaVu Sans"/>
                <a:ea typeface="DejaVu Sans"/>
                <a:solidFill>
                  <a:srgbClr val="1C7293"/>
                </a:solidFill>
              </a:rPr>
              <a:t>[1]</a:t>
            </a:r>
          </a:p>
        </p:txBody>
      </p:sp>
      <p:sp>
        <p:nvSpPr>
          <p:cNvPr id="3" name="Rounded Rectangle 2"/>
          <p:cNvSpPr/>
          <p:nvPr/>
        </p:nvSpPr>
        <p:spPr>
          <a:xfrm>
            <a:off x="502920" y="1417320"/>
            <a:ext cx="4160520" cy="2880360"/>
          </a:xfrm>
          <a:prstGeom prst="roundRect">
            <a:avLst>
              <a:gd name="adj" fmla="val 10582"/>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s12-trade-offer.jpg"/>
          <p:cNvPicPr>
            <a:picLocks noChangeAspect="1"/>
          </p:cNvPicPr>
          <p:nvPr/>
        </p:nvPicPr>
        <p:blipFill>
          <a:blip r:embed="rId2"/>
          <a:stretch>
            <a:fillRect/>
          </a:stretch>
        </p:blipFill>
        <p:spPr>
          <a:xfrm>
            <a:off x="1580052" y="1545336"/>
            <a:ext cx="2006256" cy="2624328"/>
          </a:xfrm>
          <a:prstGeom prst="rect">
            <a:avLst/>
          </a:prstGeom>
        </p:spPr>
      </p:pic>
      <p:sp>
        <p:nvSpPr>
          <p:cNvPr id="5" name="Rounded Rectangle 4"/>
          <p:cNvSpPr/>
          <p:nvPr/>
        </p:nvSpPr>
        <p:spPr>
          <a:xfrm>
            <a:off x="4892040" y="1417320"/>
            <a:ext cx="6812280" cy="960120"/>
          </a:xfrm>
          <a:prstGeom prst="roundRect">
            <a:avLst>
              <a:gd name="adj" fmla="val 22000"/>
            </a:avLst>
          </a:prstGeom>
          <a:solidFill>
            <a:srgbClr val="F4F7FA"/>
          </a:solidFill>
          <a:ln w="1905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111496" y="1490472"/>
            <a:ext cx="2743200" cy="329184"/>
          </a:xfrm>
          <a:prstGeom prst="rect">
            <a:avLst/>
          </a:prstGeom>
          <a:noFill/>
        </p:spPr>
        <p:txBody>
          <a:bodyPr wrap="square" lIns="0" rIns="0" tIns="0" bIns="0" anchor="t">
            <a:spAutoFit/>
          </a:bodyPr>
          <a:lstStyle/>
          <a:p>
            <a:pPr algn="l">
              <a:lnSpc>
                <a:spcPct val="115000"/>
              </a:lnSpc>
            </a:pPr>
            <a:r>
              <a:rPr sz="1250" b="1" i="0">
                <a:solidFill>
                  <a:srgbClr val="065A82"/>
                </a:solidFill>
                <a:latin typeface="DejaVu Sans"/>
              </a:rPr>
              <a:t>Реальные люди</a:t>
            </a:r>
          </a:p>
        </p:txBody>
      </p:sp>
      <p:pic>
        <p:nvPicPr>
          <p:cNvPr id="7" name="Picture 6" descr="check-check-mid.png"/>
          <p:cNvPicPr>
            <a:picLocks noChangeAspect="1"/>
          </p:cNvPicPr>
          <p:nvPr/>
        </p:nvPicPr>
        <p:blipFill>
          <a:blip r:embed="rId3"/>
          <a:stretch>
            <a:fillRect/>
          </a:stretch>
        </p:blipFill>
        <p:spPr>
          <a:xfrm>
            <a:off x="5148072" y="1847088"/>
            <a:ext cx="329184" cy="329184"/>
          </a:xfrm>
          <a:prstGeom prst="rect">
            <a:avLst/>
          </a:prstGeom>
        </p:spPr>
      </p:pic>
      <p:pic>
        <p:nvPicPr>
          <p:cNvPr id="8" name="Picture 7" descr="check-check-mid.png"/>
          <p:cNvPicPr>
            <a:picLocks noChangeAspect="1"/>
          </p:cNvPicPr>
          <p:nvPr/>
        </p:nvPicPr>
        <p:blipFill>
          <a:blip r:embed="rId3"/>
          <a:stretch>
            <a:fillRect/>
          </a:stretch>
        </p:blipFill>
        <p:spPr>
          <a:xfrm>
            <a:off x="5532120" y="1847088"/>
            <a:ext cx="329184" cy="329184"/>
          </a:xfrm>
          <a:prstGeom prst="rect">
            <a:avLst/>
          </a:prstGeom>
        </p:spPr>
      </p:pic>
      <p:pic>
        <p:nvPicPr>
          <p:cNvPr id="9" name="Picture 8" descr="check-check-mid.png"/>
          <p:cNvPicPr>
            <a:picLocks noChangeAspect="1"/>
          </p:cNvPicPr>
          <p:nvPr/>
        </p:nvPicPr>
        <p:blipFill>
          <a:blip r:embed="rId3"/>
          <a:stretch>
            <a:fillRect/>
          </a:stretch>
        </p:blipFill>
        <p:spPr>
          <a:xfrm>
            <a:off x="5916168" y="1847088"/>
            <a:ext cx="329184" cy="329184"/>
          </a:xfrm>
          <a:prstGeom prst="rect">
            <a:avLst/>
          </a:prstGeom>
        </p:spPr>
      </p:pic>
      <p:pic>
        <p:nvPicPr>
          <p:cNvPr id="10" name="Picture 9" descr="x-light.png"/>
          <p:cNvPicPr>
            <a:picLocks noChangeAspect="1"/>
          </p:cNvPicPr>
          <p:nvPr/>
        </p:nvPicPr>
        <p:blipFill>
          <a:blip r:embed="rId4"/>
          <a:stretch>
            <a:fillRect/>
          </a:stretch>
        </p:blipFill>
        <p:spPr>
          <a:xfrm>
            <a:off x="6300216" y="1847088"/>
            <a:ext cx="329184" cy="329184"/>
          </a:xfrm>
          <a:prstGeom prst="rect">
            <a:avLst/>
          </a:prstGeom>
        </p:spPr>
      </p:pic>
      <p:pic>
        <p:nvPicPr>
          <p:cNvPr id="11" name="Picture 10" descr="x-light.png"/>
          <p:cNvPicPr>
            <a:picLocks noChangeAspect="1"/>
          </p:cNvPicPr>
          <p:nvPr/>
        </p:nvPicPr>
        <p:blipFill>
          <a:blip r:embed="rId4"/>
          <a:stretch>
            <a:fillRect/>
          </a:stretch>
        </p:blipFill>
        <p:spPr>
          <a:xfrm>
            <a:off x="6684264" y="1847088"/>
            <a:ext cx="329184" cy="329184"/>
          </a:xfrm>
          <a:prstGeom prst="rect">
            <a:avLst/>
          </a:prstGeom>
        </p:spPr>
      </p:pic>
      <p:pic>
        <p:nvPicPr>
          <p:cNvPr id="12" name="Picture 11" descr="x-light.png"/>
          <p:cNvPicPr>
            <a:picLocks noChangeAspect="1"/>
          </p:cNvPicPr>
          <p:nvPr/>
        </p:nvPicPr>
        <p:blipFill>
          <a:blip r:embed="rId4"/>
          <a:stretch>
            <a:fillRect/>
          </a:stretch>
        </p:blipFill>
        <p:spPr>
          <a:xfrm>
            <a:off x="7068312" y="1847088"/>
            <a:ext cx="329184" cy="329184"/>
          </a:xfrm>
          <a:prstGeom prst="rect">
            <a:avLst/>
          </a:prstGeom>
        </p:spPr>
      </p:pic>
      <p:pic>
        <p:nvPicPr>
          <p:cNvPr id="13" name="Picture 12" descr="x-light.png"/>
          <p:cNvPicPr>
            <a:picLocks noChangeAspect="1"/>
          </p:cNvPicPr>
          <p:nvPr/>
        </p:nvPicPr>
        <p:blipFill>
          <a:blip r:embed="rId4"/>
          <a:stretch>
            <a:fillRect/>
          </a:stretch>
        </p:blipFill>
        <p:spPr>
          <a:xfrm>
            <a:off x="7452360" y="1847088"/>
            <a:ext cx="329184" cy="329184"/>
          </a:xfrm>
          <a:prstGeom prst="rect">
            <a:avLst/>
          </a:prstGeom>
        </p:spPr>
      </p:pic>
      <p:sp>
        <p:nvSpPr>
          <p:cNvPr id="14" name="TextBox 13"/>
          <p:cNvSpPr txBox="1"/>
          <p:nvPr/>
        </p:nvSpPr>
        <p:spPr>
          <a:xfrm>
            <a:off x="7955279" y="1600200"/>
            <a:ext cx="3520440" cy="640080"/>
          </a:xfrm>
          <a:prstGeom prst="rect">
            <a:avLst/>
          </a:prstGeom>
          <a:noFill/>
        </p:spPr>
        <p:txBody>
          <a:bodyPr wrap="square" lIns="0" rIns="0" tIns="0" bIns="0" anchor="ctr">
            <a:spAutoFit/>
          </a:bodyPr>
          <a:lstStyle/>
          <a:p>
            <a:pPr algn="l">
              <a:lnSpc>
                <a:spcPct val="105000"/>
              </a:lnSpc>
            </a:pPr>
            <a:r>
              <a:rPr sz="1200" b="1" i="0">
                <a:solidFill>
                  <a:srgbClr val="21295C"/>
                </a:solidFill>
                <a:latin typeface="DejaVu Sans"/>
              </a:rPr>
              <a:t>3 из 7 — «надуманно и бесполезно»</a:t>
            </a:r>
          </a:p>
        </p:txBody>
      </p:sp>
      <p:sp>
        <p:nvSpPr>
          <p:cNvPr id="15" name="Rounded Rectangle 14"/>
          <p:cNvSpPr/>
          <p:nvPr/>
        </p:nvSpPr>
        <p:spPr>
          <a:xfrm>
            <a:off x="4892040" y="2514600"/>
            <a:ext cx="6812280" cy="960120"/>
          </a:xfrm>
          <a:prstGeom prst="roundRect">
            <a:avLst>
              <a:gd name="adj" fmla="val 22000"/>
            </a:avLst>
          </a:prstGeom>
          <a:solidFill>
            <a:srgbClr val="FDF3DC"/>
          </a:solidFill>
          <a:ln w="2286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111496" y="2587752"/>
            <a:ext cx="2743200" cy="329184"/>
          </a:xfrm>
          <a:prstGeom prst="rect">
            <a:avLst/>
          </a:prstGeom>
          <a:noFill/>
        </p:spPr>
        <p:txBody>
          <a:bodyPr wrap="square" lIns="0" rIns="0" tIns="0" bIns="0" anchor="t">
            <a:spAutoFit/>
          </a:bodyPr>
          <a:lstStyle/>
          <a:p>
            <a:pPr algn="l">
              <a:lnSpc>
                <a:spcPct val="115000"/>
              </a:lnSpc>
            </a:pPr>
            <a:r>
              <a:rPr sz="1250" b="1" i="0">
                <a:solidFill>
                  <a:srgbClr val="21295C"/>
                </a:solidFill>
                <a:latin typeface="DejaVu Sans"/>
              </a:rPr>
              <a:t>Синт-панель</a:t>
            </a:r>
          </a:p>
        </p:txBody>
      </p:sp>
      <p:pic>
        <p:nvPicPr>
          <p:cNvPr id="17" name="Picture 16" descr="check-check-gold.png"/>
          <p:cNvPicPr>
            <a:picLocks noChangeAspect="1"/>
          </p:cNvPicPr>
          <p:nvPr/>
        </p:nvPicPr>
        <p:blipFill>
          <a:blip r:embed="rId5"/>
          <a:stretch>
            <a:fillRect/>
          </a:stretch>
        </p:blipFill>
        <p:spPr>
          <a:xfrm>
            <a:off x="5148072" y="2944368"/>
            <a:ext cx="329184" cy="329184"/>
          </a:xfrm>
          <a:prstGeom prst="rect">
            <a:avLst/>
          </a:prstGeom>
        </p:spPr>
      </p:pic>
      <p:pic>
        <p:nvPicPr>
          <p:cNvPr id="18" name="Picture 17" descr="check-check-gold.png"/>
          <p:cNvPicPr>
            <a:picLocks noChangeAspect="1"/>
          </p:cNvPicPr>
          <p:nvPr/>
        </p:nvPicPr>
        <p:blipFill>
          <a:blip r:embed="rId5"/>
          <a:stretch>
            <a:fillRect/>
          </a:stretch>
        </p:blipFill>
        <p:spPr>
          <a:xfrm>
            <a:off x="5532120" y="2944368"/>
            <a:ext cx="329184" cy="329184"/>
          </a:xfrm>
          <a:prstGeom prst="rect">
            <a:avLst/>
          </a:prstGeom>
        </p:spPr>
      </p:pic>
      <p:pic>
        <p:nvPicPr>
          <p:cNvPr id="19" name="Picture 18" descr="check-check-gold.png"/>
          <p:cNvPicPr>
            <a:picLocks noChangeAspect="1"/>
          </p:cNvPicPr>
          <p:nvPr/>
        </p:nvPicPr>
        <p:blipFill>
          <a:blip r:embed="rId5"/>
          <a:stretch>
            <a:fillRect/>
          </a:stretch>
        </p:blipFill>
        <p:spPr>
          <a:xfrm>
            <a:off x="5916168" y="2944368"/>
            <a:ext cx="329184" cy="329184"/>
          </a:xfrm>
          <a:prstGeom prst="rect">
            <a:avLst/>
          </a:prstGeom>
        </p:spPr>
      </p:pic>
      <p:pic>
        <p:nvPicPr>
          <p:cNvPr id="20" name="Picture 19" descr="check-check-gold.png"/>
          <p:cNvPicPr>
            <a:picLocks noChangeAspect="1"/>
          </p:cNvPicPr>
          <p:nvPr/>
        </p:nvPicPr>
        <p:blipFill>
          <a:blip r:embed="rId5"/>
          <a:stretch>
            <a:fillRect/>
          </a:stretch>
        </p:blipFill>
        <p:spPr>
          <a:xfrm>
            <a:off x="6300216" y="2944368"/>
            <a:ext cx="329184" cy="329184"/>
          </a:xfrm>
          <a:prstGeom prst="rect">
            <a:avLst/>
          </a:prstGeom>
        </p:spPr>
      </p:pic>
      <p:pic>
        <p:nvPicPr>
          <p:cNvPr id="21" name="Picture 20" descr="check-check-gold.png"/>
          <p:cNvPicPr>
            <a:picLocks noChangeAspect="1"/>
          </p:cNvPicPr>
          <p:nvPr/>
        </p:nvPicPr>
        <p:blipFill>
          <a:blip r:embed="rId5"/>
          <a:stretch>
            <a:fillRect/>
          </a:stretch>
        </p:blipFill>
        <p:spPr>
          <a:xfrm>
            <a:off x="6684264" y="2944368"/>
            <a:ext cx="329184" cy="329184"/>
          </a:xfrm>
          <a:prstGeom prst="rect">
            <a:avLst/>
          </a:prstGeom>
        </p:spPr>
      </p:pic>
      <p:pic>
        <p:nvPicPr>
          <p:cNvPr id="22" name="Picture 21" descr="check-check-gold.png"/>
          <p:cNvPicPr>
            <a:picLocks noChangeAspect="1"/>
          </p:cNvPicPr>
          <p:nvPr/>
        </p:nvPicPr>
        <p:blipFill>
          <a:blip r:embed="rId5"/>
          <a:stretch>
            <a:fillRect/>
          </a:stretch>
        </p:blipFill>
        <p:spPr>
          <a:xfrm>
            <a:off x="7068312" y="2944368"/>
            <a:ext cx="329184" cy="329184"/>
          </a:xfrm>
          <a:prstGeom prst="rect">
            <a:avLst/>
          </a:prstGeom>
        </p:spPr>
      </p:pic>
      <p:pic>
        <p:nvPicPr>
          <p:cNvPr id="23" name="Picture 22" descr="check-check-gold.png"/>
          <p:cNvPicPr>
            <a:picLocks noChangeAspect="1"/>
          </p:cNvPicPr>
          <p:nvPr/>
        </p:nvPicPr>
        <p:blipFill>
          <a:blip r:embed="rId5"/>
          <a:stretch>
            <a:fillRect/>
          </a:stretch>
        </p:blipFill>
        <p:spPr>
          <a:xfrm>
            <a:off x="7452360" y="2944368"/>
            <a:ext cx="329184" cy="329184"/>
          </a:xfrm>
          <a:prstGeom prst="rect">
            <a:avLst/>
          </a:prstGeom>
        </p:spPr>
      </p:pic>
      <p:sp>
        <p:nvSpPr>
          <p:cNvPr id="24" name="TextBox 23"/>
          <p:cNvSpPr txBox="1"/>
          <p:nvPr/>
        </p:nvSpPr>
        <p:spPr>
          <a:xfrm>
            <a:off x="7955279" y="2697480"/>
            <a:ext cx="3520440" cy="640080"/>
          </a:xfrm>
          <a:prstGeom prst="rect">
            <a:avLst/>
          </a:prstGeom>
          <a:noFill/>
        </p:spPr>
        <p:txBody>
          <a:bodyPr wrap="square" lIns="0" rIns="0" tIns="0" bIns="0" anchor="ctr">
            <a:spAutoFit/>
          </a:bodyPr>
          <a:lstStyle/>
          <a:p>
            <a:pPr algn="l">
              <a:lnSpc>
                <a:spcPct val="105000"/>
              </a:lnSpc>
            </a:pPr>
            <a:r>
              <a:rPr sz="1200" b="1" i="0">
                <a:solidFill>
                  <a:srgbClr val="21295C"/>
                </a:solidFill>
                <a:latin typeface="DejaVu Sans"/>
              </a:rPr>
              <a:t>7 из 7 — «меняет правила игры»</a:t>
            </a:r>
          </a:p>
        </p:txBody>
      </p:sp>
      <p:sp>
        <p:nvSpPr>
          <p:cNvPr id="25" name="TextBox 24"/>
          <p:cNvSpPr txBox="1"/>
          <p:nvPr/>
        </p:nvSpPr>
        <p:spPr>
          <a:xfrm>
            <a:off x="4892040" y="3611880"/>
            <a:ext cx="6812280" cy="502920"/>
          </a:xfrm>
          <a:prstGeom prst="rect">
            <a:avLst/>
          </a:prstGeom>
          <a:noFill/>
        </p:spPr>
        <p:txBody>
          <a:bodyPr wrap="square" lIns="0" rIns="0" tIns="0" bIns="0" anchor="t">
            <a:spAutoFit/>
          </a:bodyPr>
          <a:lstStyle/>
          <a:p>
            <a:pPr algn="l">
              <a:lnSpc>
                <a:spcPct val="115000"/>
              </a:lnSpc>
            </a:pPr>
            <a:r>
              <a:rPr sz="1250" b="0" i="1">
                <a:solidFill>
                  <a:srgbClr val="5B6678"/>
                </a:solidFill>
                <a:latin typeface="DejaVu Sans"/>
              </a:rPr>
              <a:t>Одна и та же фича — противоположные вердикты</a:t>
            </a:r>
          </a:p>
        </p:txBody>
      </p:sp>
      <p:sp>
        <p:nvSpPr>
          <p:cNvPr id="26" name="Rounded Rectangle 25"/>
          <p:cNvSpPr/>
          <p:nvPr/>
        </p:nvSpPr>
        <p:spPr>
          <a:xfrm>
            <a:off x="502920" y="4480560"/>
            <a:ext cx="11201400" cy="960120"/>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22376" y="4535424"/>
            <a:ext cx="10762488" cy="850392"/>
          </a:xfrm>
          <a:prstGeom prst="rect">
            <a:avLst/>
          </a:prstGeom>
          <a:noFill/>
        </p:spPr>
        <p:txBody>
          <a:bodyPr wrap="square" lIns="0" rIns="0" tIns="0" bIns="0" anchor="ctr">
            <a:spAutoFit/>
          </a:bodyPr>
          <a:lstStyle/>
          <a:p>
            <a:pPr algn="l">
              <a:lnSpc>
                <a:spcPct val="120000"/>
              </a:lnSpc>
            </a:pPr>
            <a:r>
              <a:rPr sz="1300" b="1" i="0">
                <a:solidFill>
                  <a:srgbClr val="21295C"/>
                </a:solidFill>
                <a:latin typeface="DejaVu Sans"/>
              </a:rPr>
              <a:t>Критерий: синтетический выход дисквалифицирован для решения «продолжать/остановить» по построению, а не из-за невезения прогона. Альтернатива: до-исследовательская роль + реальное тестирование 5-8 участников.</a:t>
            </a:r>
          </a:p>
        </p:txBody>
      </p:sp>
      <p:sp>
        <p:nvSpPr>
          <p:cNvPr id="28" name="TextBox 27"/>
          <p:cNvSpPr txBox="1"/>
          <p:nvPr/>
        </p:nvSpPr>
        <p:spPr>
          <a:xfrm>
            <a:off x="502920" y="6455664"/>
            <a:ext cx="11201400" cy="548640"/>
          </a:xfrm>
          <a:prstGeom prst="rect">
            <a:avLst/>
          </a:prstGeom>
          <a:noFill/>
        </p:spPr>
        <p:txBody>
          <a:bodyPr wrap="square" lIns="0" rIns="0" tIns="0" bIns="0" anchor="t">
            <a:spAutoFit/>
          </a:bodyPr>
          <a:lstStyle/>
          <a:p>
            <a:pPr algn="l">
              <a:lnSpc>
                <a:spcPct val="102000"/>
              </a:lnSpc>
            </a:pPr>
            <a:r>
              <a:rPr sz="850" b="1" i="1">
                <a:solidFill>
                  <a:srgbClr val="065A82"/>
                </a:solidFill>
                <a:latin typeface="DejaVu Sans"/>
              </a:rPr>
              <a:t>[1] </a:t>
            </a:r>
            <a:r>
              <a:rPr sz="850" i="1">
                <a:solidFill>
                  <a:srgbClr val="1C7293"/>
                </a:solidFill>
                <a:latin typeface="DejaVu Sans"/>
                <a:hlinkClick r:id="rId6"/>
              </a:rPr>
              <a:t>NN/g (Rosala &amp; Moran) — Synthetic Users</a:t>
            </a:r>
          </a:p>
        </p:txBody>
      </p:sp>
      <p:sp>
        <p:nvSpPr>
          <p:cNvPr id="29" name="TextBox 28"/>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13 / 56</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65760"/>
            <a:ext cx="11155680" cy="777240"/>
          </a:xfrm>
          <a:prstGeom prst="rect">
            <a:avLst/>
          </a:prstGeom>
          <a:noFill/>
        </p:spPr>
        <p:txBody>
          <a:bodyPr wrap="square" lIns="0" rIns="0" tIns="0" bIns="0" anchor="t">
            <a:spAutoFit/>
          </a:bodyPr>
          <a:lstStyle/>
          <a:p>
            <a:pPr algn="l">
              <a:lnSpc>
                <a:spcPct val="110000"/>
              </a:lnSpc>
            </a:pPr>
            <a:r>
              <a:rPr sz="2000" b="1" i="0">
                <a:solidFill>
                  <a:srgbClr val="21295C"/>
                </a:solidFill>
                <a:latin typeface="DejaVu Sans"/>
              </a:rPr>
              <a:t>A$440 000 отчёт правительству — с выдуманными цитатами внутри</a:t>
            </a:r>
          </a:p>
        </p:txBody>
      </p:sp>
      <p:sp>
        <p:nvSpPr>
          <p:cNvPr id="3" name="Rounded Rectangle 2"/>
          <p:cNvSpPr/>
          <p:nvPr/>
        </p:nvSpPr>
        <p:spPr>
          <a:xfrm>
            <a:off x="502920" y="1417320"/>
            <a:ext cx="5989320" cy="3017520"/>
          </a:xfrm>
          <a:prstGeom prst="roundRect">
            <a:avLst>
              <a:gd name="adj" fmla="val 10101"/>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file-x-mid.png"/>
          <p:cNvPicPr>
            <a:picLocks noChangeAspect="1"/>
          </p:cNvPicPr>
          <p:nvPr/>
        </p:nvPicPr>
        <p:blipFill>
          <a:blip r:embed="rId2"/>
          <a:stretch>
            <a:fillRect/>
          </a:stretch>
        </p:blipFill>
        <p:spPr>
          <a:xfrm>
            <a:off x="722376" y="1600200"/>
            <a:ext cx="548640" cy="548640"/>
          </a:xfrm>
          <a:prstGeom prst="rect">
            <a:avLst/>
          </a:prstGeom>
        </p:spPr>
      </p:pic>
      <p:sp>
        <p:nvSpPr>
          <p:cNvPr id="5" name="TextBox 4"/>
          <p:cNvSpPr txBox="1"/>
          <p:nvPr/>
        </p:nvSpPr>
        <p:spPr>
          <a:xfrm>
            <a:off x="1417320" y="1627632"/>
            <a:ext cx="4892040" cy="502920"/>
          </a:xfrm>
          <a:prstGeom prst="rect">
            <a:avLst/>
          </a:prstGeom>
          <a:noFill/>
        </p:spPr>
        <p:txBody>
          <a:bodyPr wrap="square" lIns="0" rIns="0" tIns="0" bIns="0" anchor="t">
            <a:spAutoFit/>
          </a:bodyPr>
          <a:lstStyle/>
          <a:p>
            <a:pPr algn="l">
              <a:lnSpc>
                <a:spcPct val="115000"/>
              </a:lnSpc>
            </a:pPr>
            <a:r>
              <a:rPr sz="1500" b="1" i="0">
                <a:solidFill>
                  <a:srgbClr val="065A82"/>
                </a:solidFill>
                <a:latin typeface="DejaVu Sans"/>
              </a:rPr>
              <a:t>Deloitte Australia, 2025</a:t>
            </a:r>
          </a:p>
        </p:txBody>
      </p:sp>
      <p:sp>
        <p:nvSpPr>
          <p:cNvPr id="6" name="TextBox 5"/>
          <p:cNvSpPr txBox="1"/>
          <p:nvPr/>
        </p:nvSpPr>
        <p:spPr>
          <a:xfrm>
            <a:off x="758952" y="2331720"/>
            <a:ext cx="5477256" cy="685800"/>
          </a:xfrm>
          <a:prstGeom prst="rect">
            <a:avLst/>
          </a:prstGeom>
          <a:noFill/>
        </p:spPr>
        <p:txBody>
          <a:bodyPr wrap="square" lIns="0" rIns="0" tIns="0" bIns="0" anchor="t">
            <a:spAutoFit/>
          </a:bodyPr>
          <a:lstStyle/>
          <a:p>
            <a:pPr algn="l">
              <a:lnSpc>
                <a:spcPct val="115000"/>
              </a:lnSpc>
            </a:pPr>
            <a:r>
              <a:rPr sz="1250" b="0" i="0">
                <a:solidFill>
                  <a:srgbClr val="21295C"/>
                </a:solidFill>
                <a:latin typeface="DejaVu Sans"/>
              </a:rPr>
              <a:t>• Ссылки на несуществующие статьи + сфабрикованная цитата суда </a:t>
            </a:r>
            <a:r>
              <a:rPr sz="650" baseline="30000" b="0" i="1">
                <a:latin typeface="DejaVu Sans"/>
                <a:cs typeface="DejaVu Sans"/>
                <a:ea typeface="DejaVu Sans"/>
                <a:solidFill>
                  <a:srgbClr val="1C7293"/>
                </a:solidFill>
              </a:rPr>
              <a:t>[1]</a:t>
            </a:r>
          </a:p>
        </p:txBody>
      </p:sp>
      <p:sp>
        <p:nvSpPr>
          <p:cNvPr id="7" name="TextBox 6"/>
          <p:cNvSpPr txBox="1"/>
          <p:nvPr/>
        </p:nvSpPr>
        <p:spPr>
          <a:xfrm>
            <a:off x="758952" y="3108960"/>
            <a:ext cx="5477256" cy="685800"/>
          </a:xfrm>
          <a:prstGeom prst="rect">
            <a:avLst/>
          </a:prstGeom>
          <a:noFill/>
        </p:spPr>
        <p:txBody>
          <a:bodyPr wrap="square" lIns="0" rIns="0" tIns="0" bIns="0" anchor="t">
            <a:spAutoFit/>
          </a:bodyPr>
          <a:lstStyle/>
          <a:p>
            <a:pPr algn="l">
              <a:lnSpc>
                <a:spcPct val="115000"/>
              </a:lnSpc>
            </a:pPr>
            <a:r>
              <a:rPr sz="1250" b="0" i="0">
                <a:solidFill>
                  <a:srgbClr val="21295C"/>
                </a:solidFill>
                <a:latin typeface="DejaVu Sans"/>
              </a:rPr>
              <a:t>• Подготовлен через Azure OpenAI без человеческой верификации цитат</a:t>
            </a:r>
          </a:p>
        </p:txBody>
      </p:sp>
      <p:sp>
        <p:nvSpPr>
          <p:cNvPr id="8" name="Rounded Rectangle 7"/>
          <p:cNvSpPr/>
          <p:nvPr/>
        </p:nvSpPr>
        <p:spPr>
          <a:xfrm>
            <a:off x="6720840" y="1417320"/>
            <a:ext cx="4983480" cy="1417320"/>
          </a:xfrm>
          <a:prstGeom prst="roundRect">
            <a:avLst>
              <a:gd name="adj" fmla="val 21505"/>
            </a:avLst>
          </a:prstGeom>
          <a:solidFill>
            <a:srgbClr val="FDF3DC"/>
          </a:solidFill>
          <a:ln w="2286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banknote-gold.png"/>
          <p:cNvPicPr>
            <a:picLocks noChangeAspect="1"/>
          </p:cNvPicPr>
          <p:nvPr/>
        </p:nvPicPr>
        <p:blipFill>
          <a:blip r:embed="rId3"/>
          <a:stretch>
            <a:fillRect/>
          </a:stretch>
        </p:blipFill>
        <p:spPr>
          <a:xfrm>
            <a:off x="6940296" y="1627632"/>
            <a:ext cx="502920" cy="502920"/>
          </a:xfrm>
          <a:prstGeom prst="rect">
            <a:avLst/>
          </a:prstGeom>
        </p:spPr>
      </p:pic>
      <p:sp>
        <p:nvSpPr>
          <p:cNvPr id="10" name="TextBox 9"/>
          <p:cNvSpPr txBox="1"/>
          <p:nvPr/>
        </p:nvSpPr>
        <p:spPr>
          <a:xfrm>
            <a:off x="7589519" y="1645920"/>
            <a:ext cx="3931920" cy="502920"/>
          </a:xfrm>
          <a:prstGeom prst="rect">
            <a:avLst/>
          </a:prstGeom>
          <a:noFill/>
        </p:spPr>
        <p:txBody>
          <a:bodyPr wrap="square" lIns="0" rIns="0" tIns="0" bIns="0" anchor="t">
            <a:spAutoFit/>
          </a:bodyPr>
          <a:lstStyle/>
          <a:p>
            <a:pPr algn="l">
              <a:lnSpc>
                <a:spcPct val="115000"/>
              </a:lnSpc>
            </a:pPr>
            <a:r>
              <a:rPr sz="2600" b="1" i="0">
                <a:solidFill>
                  <a:srgbClr val="21295C"/>
                </a:solidFill>
                <a:latin typeface="DejaVu Sans"/>
              </a:rPr>
              <a:t>A$440 000</a:t>
            </a:r>
          </a:p>
        </p:txBody>
      </p:sp>
      <p:sp>
        <p:nvSpPr>
          <p:cNvPr id="11" name="TextBox 10"/>
          <p:cNvSpPr txBox="1"/>
          <p:nvPr/>
        </p:nvSpPr>
        <p:spPr>
          <a:xfrm>
            <a:off x="6940296" y="2331720"/>
            <a:ext cx="4544568" cy="411480"/>
          </a:xfrm>
          <a:prstGeom prst="rect">
            <a:avLst/>
          </a:prstGeom>
          <a:noFill/>
        </p:spPr>
        <p:txBody>
          <a:bodyPr wrap="square" lIns="0" rIns="0" tIns="0" bIns="0" anchor="t">
            <a:spAutoFit/>
          </a:bodyPr>
          <a:lstStyle/>
          <a:p>
            <a:pPr algn="l">
              <a:lnSpc>
                <a:spcPct val="115000"/>
              </a:lnSpc>
            </a:pPr>
            <a:r>
              <a:rPr sz="1200" b="0" i="1">
                <a:solidFill>
                  <a:srgbClr val="5B6678"/>
                </a:solidFill>
                <a:latin typeface="DejaVu Sans"/>
              </a:rPr>
              <a:t>≈US$290 000 отчёт</a:t>
            </a:r>
          </a:p>
        </p:txBody>
      </p:sp>
      <p:sp>
        <p:nvSpPr>
          <p:cNvPr id="12" name="Rounded Rectangle 11"/>
          <p:cNvSpPr/>
          <p:nvPr/>
        </p:nvSpPr>
        <p:spPr>
          <a:xfrm>
            <a:off x="6720840" y="3017520"/>
            <a:ext cx="4983480" cy="1417320"/>
          </a:xfrm>
          <a:prstGeom prst="roundRect">
            <a:avLst>
              <a:gd name="adj" fmla="val 7000"/>
            </a:avLst>
          </a:prstGeom>
          <a:solidFill>
            <a:srgbClr val="E5EAF0"/>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940296" y="3154680"/>
            <a:ext cx="4544568" cy="1143000"/>
          </a:xfrm>
          <a:prstGeom prst="rect">
            <a:avLst/>
          </a:prstGeom>
          <a:noFill/>
        </p:spPr>
        <p:txBody>
          <a:bodyPr wrap="square" lIns="0" rIns="0" tIns="0" bIns="0" anchor="ctr">
            <a:spAutoFit/>
          </a:bodyPr>
          <a:lstStyle/>
          <a:p>
            <a:pPr algn="l">
              <a:lnSpc>
                <a:spcPct val="115000"/>
              </a:lnSpc>
            </a:pPr>
            <a:r>
              <a:rPr sz="1200" b="0" i="0">
                <a:solidFill>
                  <a:srgbClr val="21295C"/>
                </a:solidFill>
                <a:latin typeface="DejaVu Sans"/>
              </a:rPr>
              <a:t>База: ~712 судебных решений по миру с ИИ-галлюцинированными цитатами, ~90% — в 2025 году </a:t>
            </a:r>
            <a:r>
              <a:rPr sz="624" baseline="30000" b="0" i="1">
                <a:latin typeface="DejaVu Sans"/>
                <a:cs typeface="DejaVu Sans"/>
                <a:ea typeface="DejaVu Sans"/>
                <a:solidFill>
                  <a:srgbClr val="1C7293"/>
                </a:solidFill>
              </a:rPr>
              <a:t>[2]</a:t>
            </a:r>
          </a:p>
        </p:txBody>
      </p:sp>
      <p:sp>
        <p:nvSpPr>
          <p:cNvPr id="14" name="Rounded Rectangle 13"/>
          <p:cNvSpPr/>
          <p:nvPr/>
        </p:nvSpPr>
        <p:spPr>
          <a:xfrm>
            <a:off x="502920" y="4663440"/>
            <a:ext cx="11201400" cy="868680"/>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22376" y="4718303"/>
            <a:ext cx="10762488" cy="758952"/>
          </a:xfrm>
          <a:prstGeom prst="rect">
            <a:avLst/>
          </a:prstGeom>
          <a:noFill/>
        </p:spPr>
        <p:txBody>
          <a:bodyPr wrap="square" lIns="0" rIns="0" tIns="0" bIns="0" anchor="ctr">
            <a:spAutoFit/>
          </a:bodyPr>
          <a:lstStyle/>
          <a:p>
            <a:pPr algn="l">
              <a:lnSpc>
                <a:spcPct val="120000"/>
              </a:lnSpc>
            </a:pPr>
            <a:r>
              <a:rPr sz="1250" b="1" i="0">
                <a:solidFill>
                  <a:srgbClr val="21295C"/>
                </a:solidFill>
                <a:latin typeface="DejaVu Sans"/>
              </a:rPr>
              <a:t>Урок: вывод модели в discovery-фазе — неверифицированный черновик, не источник фактов. Критерий: итоговый документ внешнему заказчику требует 100% проверки каждой ссылки, не выборочной.</a:t>
            </a:r>
          </a:p>
        </p:txBody>
      </p:sp>
      <p:sp>
        <p:nvSpPr>
          <p:cNvPr id="16" name="TextBox 15"/>
          <p:cNvSpPr txBox="1"/>
          <p:nvPr/>
        </p:nvSpPr>
        <p:spPr>
          <a:xfrm>
            <a:off x="502920" y="6455664"/>
            <a:ext cx="11201400" cy="548640"/>
          </a:xfrm>
          <a:prstGeom prst="rect">
            <a:avLst/>
          </a:prstGeom>
          <a:noFill/>
        </p:spPr>
        <p:txBody>
          <a:bodyPr wrap="square" lIns="0" rIns="0" tIns="0" bIns="0" anchor="t">
            <a:spAutoFit/>
          </a:bodyPr>
          <a:lstStyle/>
          <a:p>
            <a:pPr algn="l">
              <a:lnSpc>
                <a:spcPct val="102000"/>
              </a:lnSpc>
            </a:pPr>
            <a:r>
              <a:rPr sz="850" b="1" i="1">
                <a:solidFill>
                  <a:srgbClr val="065A82"/>
                </a:solidFill>
                <a:latin typeface="DejaVu Sans"/>
              </a:rPr>
              <a:t>[1] </a:t>
            </a:r>
            <a:r>
              <a:rPr sz="850" i="1">
                <a:solidFill>
                  <a:srgbClr val="1C7293"/>
                </a:solidFill>
                <a:latin typeface="DejaVu Sans"/>
                <a:hlinkClick r:id="rId4"/>
              </a:rPr>
              <a:t>Fortune (7 окт. 2025) — Deloitte Australia A$440k</a:t>
            </a:r>
            <a:r>
              <a:rPr sz="850" i="1">
                <a:solidFill>
                  <a:srgbClr val="1C7293"/>
                </a:solidFill>
                <a:latin typeface="DejaVu Sans"/>
              </a:rPr>
              <a:t>   ·   </a:t>
            </a:r>
            <a:r>
              <a:rPr sz="850" b="1" i="1">
                <a:solidFill>
                  <a:srgbClr val="065A82"/>
                </a:solidFill>
                <a:latin typeface="DejaVu Sans"/>
              </a:rPr>
              <a:t>[2] </a:t>
            </a:r>
            <a:r>
              <a:rPr sz="850" i="1">
                <a:solidFill>
                  <a:srgbClr val="1C7293"/>
                </a:solidFill>
                <a:latin typeface="DejaVu Sans"/>
                <a:hlinkClick r:id="rId5"/>
              </a:rPr>
              <a:t>Damien Charlotin — AI Hallucination Cases Database</a:t>
            </a:r>
          </a:p>
        </p:txBody>
      </p:sp>
      <p:sp>
        <p:nvSpPr>
          <p:cNvPr id="17" name="TextBox 16"/>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14 / 56</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65760"/>
            <a:ext cx="11155680" cy="777240"/>
          </a:xfrm>
          <a:prstGeom prst="rect">
            <a:avLst/>
          </a:prstGeom>
          <a:noFill/>
        </p:spPr>
        <p:txBody>
          <a:bodyPr wrap="square" lIns="0" rIns="0" tIns="0" bIns="0" anchor="t">
            <a:spAutoFit/>
          </a:bodyPr>
          <a:lstStyle/>
          <a:p>
            <a:pPr algn="l">
              <a:lnSpc>
                <a:spcPct val="110000"/>
              </a:lnSpc>
            </a:pPr>
            <a:r>
              <a:rPr sz="2300" b="1" i="0">
                <a:solidFill>
                  <a:srgbClr val="21295C"/>
                </a:solidFill>
                <a:latin typeface="DejaVu Sans"/>
              </a:rPr>
              <a:t>$62 млн — и ни одного пролеченного пациента</a:t>
            </a:r>
          </a:p>
        </p:txBody>
      </p:sp>
      <p:sp>
        <p:nvSpPr>
          <p:cNvPr id="3" name="Rounded Rectangle 2"/>
          <p:cNvSpPr/>
          <p:nvPr/>
        </p:nvSpPr>
        <p:spPr>
          <a:xfrm>
            <a:off x="502920" y="1417320"/>
            <a:ext cx="5074920" cy="2331720"/>
          </a:xfrm>
          <a:prstGeom prst="roundRect">
            <a:avLst>
              <a:gd name="adj" fmla="val 13071"/>
            </a:avLst>
          </a:prstGeom>
          <a:solidFill>
            <a:srgbClr val="F4F7FA"/>
          </a:solidFill>
          <a:ln w="1905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scale-mid.png"/>
          <p:cNvPicPr>
            <a:picLocks noChangeAspect="1"/>
          </p:cNvPicPr>
          <p:nvPr/>
        </p:nvPicPr>
        <p:blipFill>
          <a:blip r:embed="rId2"/>
          <a:stretch>
            <a:fillRect/>
          </a:stretch>
        </p:blipFill>
        <p:spPr>
          <a:xfrm>
            <a:off x="2651760" y="1554480"/>
            <a:ext cx="822960" cy="822960"/>
          </a:xfrm>
          <a:prstGeom prst="rect">
            <a:avLst/>
          </a:prstGeom>
        </p:spPr>
      </p:pic>
      <p:sp>
        <p:nvSpPr>
          <p:cNvPr id="5" name="TextBox 4"/>
          <p:cNvSpPr txBox="1"/>
          <p:nvPr/>
        </p:nvSpPr>
        <p:spPr>
          <a:xfrm>
            <a:off x="731520" y="2468880"/>
            <a:ext cx="2194560" cy="685800"/>
          </a:xfrm>
          <a:prstGeom prst="rect">
            <a:avLst/>
          </a:prstGeom>
          <a:noFill/>
        </p:spPr>
        <p:txBody>
          <a:bodyPr wrap="square" lIns="0" rIns="0" tIns="0" bIns="0" anchor="t">
            <a:spAutoFit/>
          </a:bodyPr>
          <a:lstStyle/>
          <a:p>
            <a:pPr algn="ctr">
              <a:lnSpc>
                <a:spcPct val="115000"/>
              </a:lnSpc>
            </a:pPr>
            <a:r>
              <a:rPr sz="2200" b="1" i="0">
                <a:solidFill>
                  <a:srgbClr val="21295C"/>
                </a:solidFill>
                <a:latin typeface="DejaVu Sans"/>
              </a:rPr>
              <a:t>$62 млн</a:t>
            </a:r>
          </a:p>
        </p:txBody>
      </p:sp>
      <p:sp>
        <p:nvSpPr>
          <p:cNvPr id="6" name="TextBox 5"/>
          <p:cNvSpPr txBox="1"/>
          <p:nvPr/>
        </p:nvSpPr>
        <p:spPr>
          <a:xfrm>
            <a:off x="3154680" y="2468880"/>
            <a:ext cx="2194560" cy="685800"/>
          </a:xfrm>
          <a:prstGeom prst="rect">
            <a:avLst/>
          </a:prstGeom>
          <a:noFill/>
        </p:spPr>
        <p:txBody>
          <a:bodyPr wrap="square" lIns="0" rIns="0" tIns="0" bIns="0" anchor="t">
            <a:spAutoFit/>
          </a:bodyPr>
          <a:lstStyle/>
          <a:p>
            <a:pPr algn="ctr">
              <a:lnSpc>
                <a:spcPct val="115000"/>
              </a:lnSpc>
            </a:pPr>
            <a:r>
              <a:rPr sz="2200" b="1" i="0">
                <a:solidFill>
                  <a:srgbClr val="028090"/>
                </a:solidFill>
                <a:latin typeface="DejaVu Sans"/>
              </a:rPr>
              <a:t>0 пациентов</a:t>
            </a:r>
          </a:p>
        </p:txBody>
      </p:sp>
      <p:sp>
        <p:nvSpPr>
          <p:cNvPr id="7" name="TextBox 6"/>
          <p:cNvSpPr txBox="1"/>
          <p:nvPr/>
        </p:nvSpPr>
        <p:spPr>
          <a:xfrm>
            <a:off x="731520" y="3246120"/>
            <a:ext cx="4617720" cy="411480"/>
          </a:xfrm>
          <a:prstGeom prst="rect">
            <a:avLst/>
          </a:prstGeom>
          <a:noFill/>
        </p:spPr>
        <p:txBody>
          <a:bodyPr wrap="square" lIns="0" rIns="0" tIns="0" bIns="0" anchor="t">
            <a:spAutoFit/>
          </a:bodyPr>
          <a:lstStyle/>
          <a:p>
            <a:pPr algn="ctr">
              <a:lnSpc>
                <a:spcPct val="115000"/>
              </a:lnSpc>
            </a:pPr>
            <a:r>
              <a:rPr sz="1150" b="0" i="1">
                <a:solidFill>
                  <a:srgbClr val="5B6678"/>
                </a:solidFill>
                <a:latin typeface="DejaVu Sans"/>
              </a:rPr>
              <a:t>MD Anderson: партнёрство закрыто (2016) </a:t>
            </a:r>
            <a:r>
              <a:rPr sz="598" baseline="30000" b="0" i="1">
                <a:latin typeface="DejaVu Sans"/>
                <a:cs typeface="DejaVu Sans"/>
                <a:ea typeface="DejaVu Sans"/>
                <a:solidFill>
                  <a:srgbClr val="1C7293"/>
                </a:solidFill>
              </a:rPr>
              <a:t>[1]</a:t>
            </a:r>
          </a:p>
        </p:txBody>
      </p:sp>
      <p:sp>
        <p:nvSpPr>
          <p:cNvPr id="8" name="TextBox 7"/>
          <p:cNvSpPr txBox="1"/>
          <p:nvPr/>
        </p:nvSpPr>
        <p:spPr>
          <a:xfrm>
            <a:off x="5806440" y="1417320"/>
            <a:ext cx="5897880" cy="320040"/>
          </a:xfrm>
          <a:prstGeom prst="rect">
            <a:avLst/>
          </a:prstGeom>
          <a:noFill/>
        </p:spPr>
        <p:txBody>
          <a:bodyPr wrap="square" lIns="0" rIns="0" tIns="0" bIns="0" anchor="t">
            <a:spAutoFit/>
          </a:bodyPr>
          <a:lstStyle/>
          <a:p>
            <a:pPr algn="l">
              <a:lnSpc>
                <a:spcPct val="115000"/>
              </a:lnSpc>
            </a:pPr>
            <a:r>
              <a:rPr sz="1400" b="1" i="0">
                <a:solidFill>
                  <a:srgbClr val="065A82"/>
                </a:solidFill>
                <a:latin typeface="DejaVu Sans"/>
              </a:rPr>
              <a:t>IBM Watson for Oncology, с 2012</a:t>
            </a:r>
          </a:p>
        </p:txBody>
      </p:sp>
      <p:pic>
        <p:nvPicPr>
          <p:cNvPr id="9" name="Picture 8" descr="users-light.png"/>
          <p:cNvPicPr>
            <a:picLocks noChangeAspect="1"/>
          </p:cNvPicPr>
          <p:nvPr/>
        </p:nvPicPr>
        <p:blipFill>
          <a:blip r:embed="rId3"/>
          <a:stretch>
            <a:fillRect/>
          </a:stretch>
        </p:blipFill>
        <p:spPr>
          <a:xfrm>
            <a:off x="5806440" y="1874519"/>
            <a:ext cx="384048" cy="384048"/>
          </a:xfrm>
          <a:prstGeom prst="rect">
            <a:avLst/>
          </a:prstGeom>
        </p:spPr>
      </p:pic>
      <p:sp>
        <p:nvSpPr>
          <p:cNvPr id="10" name="TextBox 9"/>
          <p:cNvSpPr txBox="1"/>
          <p:nvPr/>
        </p:nvSpPr>
        <p:spPr>
          <a:xfrm>
            <a:off x="6309359" y="1828799"/>
            <a:ext cx="5394960" cy="777240"/>
          </a:xfrm>
          <a:prstGeom prst="rect">
            <a:avLst/>
          </a:prstGeom>
          <a:noFill/>
        </p:spPr>
        <p:txBody>
          <a:bodyPr wrap="square" lIns="0" rIns="0" tIns="0" bIns="0" anchor="t">
            <a:spAutoFit/>
          </a:bodyPr>
          <a:lstStyle/>
          <a:p>
            <a:pPr algn="l">
              <a:lnSpc>
                <a:spcPct val="112000"/>
              </a:lnSpc>
            </a:pPr>
            <a:r>
              <a:rPr sz="1250" b="0" i="0">
                <a:solidFill>
                  <a:srgbClr val="21295C"/>
                </a:solidFill>
                <a:latin typeface="DejaVu Sans"/>
              </a:rPr>
              <a:t>Внутренние документы: рекомендации «небезопасные и некорректные» </a:t>
            </a:r>
            <a:r>
              <a:rPr sz="650" baseline="30000" b="0" i="1">
                <a:latin typeface="DejaVu Sans"/>
                <a:cs typeface="DejaVu Sans"/>
                <a:ea typeface="DejaVu Sans"/>
                <a:solidFill>
                  <a:srgbClr val="1C7293"/>
                </a:solidFill>
              </a:rPr>
              <a:t>[1]</a:t>
            </a:r>
          </a:p>
        </p:txBody>
      </p:sp>
      <p:pic>
        <p:nvPicPr>
          <p:cNvPr id="11" name="Picture 10" descr="user-x-light.png"/>
          <p:cNvPicPr>
            <a:picLocks noChangeAspect="1"/>
          </p:cNvPicPr>
          <p:nvPr/>
        </p:nvPicPr>
        <p:blipFill>
          <a:blip r:embed="rId4"/>
          <a:stretch>
            <a:fillRect/>
          </a:stretch>
        </p:blipFill>
        <p:spPr>
          <a:xfrm>
            <a:off x="5806440" y="2743200"/>
            <a:ext cx="384048" cy="384048"/>
          </a:xfrm>
          <a:prstGeom prst="rect">
            <a:avLst/>
          </a:prstGeom>
        </p:spPr>
      </p:pic>
      <p:sp>
        <p:nvSpPr>
          <p:cNvPr id="12" name="TextBox 11"/>
          <p:cNvSpPr txBox="1"/>
          <p:nvPr/>
        </p:nvSpPr>
        <p:spPr>
          <a:xfrm>
            <a:off x="6309359" y="2697480"/>
            <a:ext cx="5394960" cy="777240"/>
          </a:xfrm>
          <a:prstGeom prst="rect">
            <a:avLst/>
          </a:prstGeom>
          <a:noFill/>
        </p:spPr>
        <p:txBody>
          <a:bodyPr wrap="square" lIns="0" rIns="0" tIns="0" bIns="0" anchor="t">
            <a:spAutoFit/>
          </a:bodyPr>
          <a:lstStyle/>
          <a:p>
            <a:pPr algn="l">
              <a:lnSpc>
                <a:spcPct val="112000"/>
              </a:lnSpc>
            </a:pPr>
            <a:r>
              <a:rPr sz="1250" b="0" i="0">
                <a:solidFill>
                  <a:srgbClr val="21295C"/>
                </a:solidFill>
                <a:latin typeface="DejaVu Sans"/>
              </a:rPr>
              <a:t>Обучен на гипотетических кейсах горстки онкологов MSK — не на реальных исходах </a:t>
            </a:r>
            <a:r>
              <a:rPr sz="650" baseline="30000" b="0" i="1">
                <a:latin typeface="DejaVu Sans"/>
                <a:cs typeface="DejaVu Sans"/>
                <a:ea typeface="DejaVu Sans"/>
                <a:solidFill>
                  <a:srgbClr val="1C7293"/>
                </a:solidFill>
              </a:rPr>
              <a:t>[2]</a:t>
            </a:r>
          </a:p>
        </p:txBody>
      </p:sp>
      <p:sp>
        <p:nvSpPr>
          <p:cNvPr id="13" name="Rounded Rectangle 12"/>
          <p:cNvSpPr/>
          <p:nvPr/>
        </p:nvSpPr>
        <p:spPr>
          <a:xfrm>
            <a:off x="502920" y="3977639"/>
            <a:ext cx="11201400" cy="1051560"/>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22376" y="4032503"/>
            <a:ext cx="10762488" cy="941831"/>
          </a:xfrm>
          <a:prstGeom prst="rect">
            <a:avLst/>
          </a:prstGeom>
          <a:noFill/>
        </p:spPr>
        <p:txBody>
          <a:bodyPr wrap="square" lIns="0" rIns="0" tIns="0" bIns="0" anchor="ctr">
            <a:spAutoFit/>
          </a:bodyPr>
          <a:lstStyle/>
          <a:p>
            <a:pPr algn="l">
              <a:lnSpc>
                <a:spcPct val="120000"/>
              </a:lnSpc>
            </a:pPr>
            <a:r>
              <a:rPr sz="1300" b="1" i="0">
                <a:solidFill>
                  <a:srgbClr val="21295C"/>
                </a:solidFill>
                <a:latin typeface="DejaVu Sans"/>
              </a:rPr>
              <a:t>Критерий: домен с высокой ценой ошибки + только синтетические/гипотетические данные под рекомендацией = продукт не готов, каким бы впечатляющим ни было демо. Альтернатива: система на доказательных клинических руководствах с прозрачной трассируемостью источника.</a:t>
            </a:r>
          </a:p>
        </p:txBody>
      </p:sp>
      <p:sp>
        <p:nvSpPr>
          <p:cNvPr id="15" name="TextBox 14"/>
          <p:cNvSpPr txBox="1"/>
          <p:nvPr/>
        </p:nvSpPr>
        <p:spPr>
          <a:xfrm>
            <a:off x="502920" y="6455664"/>
            <a:ext cx="11201400" cy="548640"/>
          </a:xfrm>
          <a:prstGeom prst="rect">
            <a:avLst/>
          </a:prstGeom>
          <a:noFill/>
        </p:spPr>
        <p:txBody>
          <a:bodyPr wrap="square" lIns="0" rIns="0" tIns="0" bIns="0" anchor="t">
            <a:spAutoFit/>
          </a:bodyPr>
          <a:lstStyle/>
          <a:p>
            <a:pPr algn="l">
              <a:lnSpc>
                <a:spcPct val="102000"/>
              </a:lnSpc>
            </a:pPr>
            <a:r>
              <a:rPr sz="850" b="1" i="1">
                <a:solidFill>
                  <a:srgbClr val="065A82"/>
                </a:solidFill>
                <a:latin typeface="DejaVu Sans"/>
              </a:rPr>
              <a:t>[1] </a:t>
            </a:r>
            <a:r>
              <a:rPr sz="850" i="1">
                <a:solidFill>
                  <a:srgbClr val="1C7293"/>
                </a:solidFill>
                <a:latin typeface="DejaVu Sans"/>
                <a:hlinkClick r:id="rId5"/>
              </a:rPr>
              <a:t>STAT News — утечка внутренних документов IBM Watson</a:t>
            </a:r>
            <a:r>
              <a:rPr sz="850" i="1">
                <a:solidFill>
                  <a:srgbClr val="1C7293"/>
                </a:solidFill>
                <a:latin typeface="DejaVu Sans"/>
              </a:rPr>
              <a:t>   ·   </a:t>
            </a:r>
            <a:r>
              <a:rPr sz="850" b="1" i="1">
                <a:solidFill>
                  <a:srgbClr val="065A82"/>
                </a:solidFill>
                <a:latin typeface="DejaVu Sans"/>
              </a:rPr>
              <a:t>[2] </a:t>
            </a:r>
            <a:r>
              <a:rPr sz="850" i="1">
                <a:solidFill>
                  <a:srgbClr val="1C7293"/>
                </a:solidFill>
                <a:latin typeface="DejaVu Sans"/>
                <a:hlinkClick r:id="rId6"/>
              </a:rPr>
              <a:t>IEEE Spectrum — как Watson переобещал и недодал</a:t>
            </a:r>
          </a:p>
        </p:txBody>
      </p:sp>
      <p:sp>
        <p:nvSpPr>
          <p:cNvPr id="16" name="TextBox 15"/>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15 / 56</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4F7FA"/>
        </a:solidFill>
        <a:effectLst/>
      </p:bgPr>
    </p:bg>
    <p:spTree>
      <p:nvGrpSpPr>
        <p:cNvPr id="1" name=""/>
        <p:cNvGrpSpPr/>
        <p:nvPr/>
      </p:nvGrpSpPr>
      <p:grpSpPr/>
      <p:sp>
        <p:nvSpPr>
          <p:cNvPr id="2" name="TextBox 1"/>
          <p:cNvSpPr txBox="1"/>
          <p:nvPr/>
        </p:nvSpPr>
        <p:spPr>
          <a:xfrm>
            <a:off x="9464040" y="91440"/>
            <a:ext cx="2651760" cy="1188720"/>
          </a:xfrm>
          <a:prstGeom prst="rect">
            <a:avLst/>
          </a:prstGeom>
          <a:noFill/>
        </p:spPr>
        <p:txBody>
          <a:bodyPr wrap="square" lIns="0" rIns="0" tIns="0" bIns="0" anchor="ctr">
            <a:spAutoFit/>
          </a:bodyPr>
          <a:lstStyle/>
          <a:p>
            <a:pPr algn="ctr">
              <a:lnSpc>
                <a:spcPct val="115000"/>
              </a:lnSpc>
            </a:pPr>
            <a:r>
              <a:rPr sz="9000" b="1" i="0">
                <a:solidFill>
                  <a:srgbClr val="D9E2EC"/>
                </a:solidFill>
                <a:latin typeface="DejaVu Sans"/>
              </a:rPr>
              <a:t>2</a:t>
            </a:r>
          </a:p>
        </p:txBody>
      </p:sp>
      <p:sp>
        <p:nvSpPr>
          <p:cNvPr id="3" name="Rounded Rectangle 2"/>
          <p:cNvSpPr/>
          <p:nvPr/>
        </p:nvSpPr>
        <p:spPr>
          <a:xfrm>
            <a:off x="7635240" y="1234440"/>
            <a:ext cx="4069080" cy="4160520"/>
          </a:xfrm>
          <a:prstGeom prst="roundRect">
            <a:avLst>
              <a:gd name="adj" fmla="val 749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s14-drake.jpg"/>
          <p:cNvPicPr>
            <a:picLocks noChangeAspect="1"/>
          </p:cNvPicPr>
          <p:nvPr/>
        </p:nvPicPr>
        <p:blipFill>
          <a:blip r:embed="rId2"/>
          <a:stretch>
            <a:fillRect/>
          </a:stretch>
        </p:blipFill>
        <p:spPr>
          <a:xfrm>
            <a:off x="7763256" y="1408176"/>
            <a:ext cx="3813048" cy="3813048"/>
          </a:xfrm>
          <a:prstGeom prst="rect">
            <a:avLst/>
          </a:prstGeom>
        </p:spPr>
      </p:pic>
      <p:sp>
        <p:nvSpPr>
          <p:cNvPr id="5" name="TextBox 4"/>
          <p:cNvSpPr txBox="1"/>
          <p:nvPr/>
        </p:nvSpPr>
        <p:spPr>
          <a:xfrm>
            <a:off x="685800" y="1417320"/>
            <a:ext cx="6675120" cy="502920"/>
          </a:xfrm>
          <a:prstGeom prst="rect">
            <a:avLst/>
          </a:prstGeom>
          <a:noFill/>
        </p:spPr>
        <p:txBody>
          <a:bodyPr wrap="square" lIns="0" rIns="0" tIns="0" bIns="0" anchor="t">
            <a:spAutoFit/>
          </a:bodyPr>
          <a:lstStyle/>
          <a:p>
            <a:pPr algn="l">
              <a:lnSpc>
                <a:spcPct val="115000"/>
              </a:lnSpc>
            </a:pPr>
            <a:r>
              <a:rPr sz="2000" b="1" i="0">
                <a:solidFill>
                  <a:srgbClr val="028090"/>
                </a:solidFill>
                <a:latin typeface="DejaVu Sans"/>
              </a:rPr>
              <a:t>РАЗДЕЛ 2</a:t>
            </a:r>
          </a:p>
        </p:txBody>
      </p:sp>
      <p:sp>
        <p:nvSpPr>
          <p:cNvPr id="6" name="TextBox 5"/>
          <p:cNvSpPr txBox="1"/>
          <p:nvPr/>
        </p:nvSpPr>
        <p:spPr>
          <a:xfrm>
            <a:off x="685800" y="2395728"/>
            <a:ext cx="6675120" cy="1600200"/>
          </a:xfrm>
          <a:prstGeom prst="rect">
            <a:avLst/>
          </a:prstGeom>
          <a:noFill/>
        </p:spPr>
        <p:txBody>
          <a:bodyPr wrap="square" lIns="0" rIns="0" tIns="0" bIns="0" anchor="t">
            <a:spAutoFit/>
          </a:bodyPr>
          <a:lstStyle/>
          <a:p>
            <a:pPr algn="l">
              <a:lnSpc>
                <a:spcPct val="108000"/>
              </a:lnSpc>
            </a:pPr>
            <a:r>
              <a:rPr sz="3000" b="1" i="0">
                <a:solidFill>
                  <a:srgbClr val="21295C"/>
                </a:solidFill>
                <a:latin typeface="DejaVu Sans"/>
              </a:rPr>
              <a:t>Дизайн — гипотеза становится артефактом</a:t>
            </a:r>
          </a:p>
        </p:txBody>
      </p:sp>
      <p:sp>
        <p:nvSpPr>
          <p:cNvPr id="7" name="Rounded Rectangle 6"/>
          <p:cNvSpPr/>
          <p:nvPr/>
        </p:nvSpPr>
        <p:spPr>
          <a:xfrm>
            <a:off x="713232" y="3840480"/>
            <a:ext cx="3291840" cy="384048"/>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wrap="none"/>
          <a:lstStyle/>
          <a:p>
            <a:pPr algn="ctr"/>
            <a:r>
              <a:rPr sz="1250" b="1">
                <a:solidFill>
                  <a:srgbClr val="21295C"/>
                </a:solidFill>
                <a:latin typeface="DejaVu Sans"/>
              </a:rPr>
              <a:t>2 базы · 2 провала</a:t>
            </a:r>
          </a:p>
        </p:txBody>
      </p:sp>
      <p:sp>
        <p:nvSpPr>
          <p:cNvPr id="8" name="TextBox 7"/>
          <p:cNvSpPr txBox="1"/>
          <p:nvPr/>
        </p:nvSpPr>
        <p:spPr>
          <a:xfrm>
            <a:off x="713232" y="4389120"/>
            <a:ext cx="6720840" cy="1417320"/>
          </a:xfrm>
          <a:prstGeom prst="rect">
            <a:avLst/>
          </a:prstGeom>
          <a:noFill/>
        </p:spPr>
        <p:txBody>
          <a:bodyPr wrap="square" lIns="0" rIns="0" tIns="0" bIns="0" anchor="t">
            <a:spAutoFit/>
          </a:bodyPr>
          <a:lstStyle/>
          <a:p>
            <a:pPr algn="l">
              <a:lnSpc>
                <a:spcPct val="116000"/>
              </a:lnSpc>
            </a:pPr>
            <a:r>
              <a:rPr sz="1500" b="0" i="1">
                <a:solidFill>
                  <a:srgbClr val="1C7293"/>
                </a:solidFill>
                <a:latin typeface="DejaVu Sans"/>
              </a:rPr>
              <a:t>Как гипотеза из исследования превращается в конкретный артефакт, который можно показать человеку. Здесь же закладывается безопасность — в дизайн-брифе, а не патчем после того, как что-то пошло не так.</a:t>
            </a:r>
          </a:p>
        </p:txBody>
      </p:sp>
      <p:sp>
        <p:nvSpPr>
          <p:cNvPr id="9" name="Rounded Rectangle 8"/>
          <p:cNvSpPr/>
          <p:nvPr/>
        </p:nvSpPr>
        <p:spPr>
          <a:xfrm>
            <a:off x="502920" y="5989320"/>
            <a:ext cx="1521822"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21208" y="6035040"/>
            <a:ext cx="1485246" cy="164592"/>
          </a:xfrm>
          <a:prstGeom prst="rect">
            <a:avLst/>
          </a:prstGeom>
          <a:noFill/>
        </p:spPr>
        <p:txBody>
          <a:bodyPr wrap="square" lIns="0" rIns="0" tIns="0" bIns="0" anchor="t">
            <a:spAutoFit/>
          </a:bodyPr>
          <a:lstStyle/>
          <a:p>
            <a:pPr algn="ctr">
              <a:lnSpc>
                <a:spcPct val="115000"/>
              </a:lnSpc>
            </a:pPr>
            <a:r>
              <a:rPr sz="1050" b="1" i="0">
                <a:solidFill>
                  <a:srgbClr val="1C7293"/>
                </a:solidFill>
                <a:latin typeface="DejaVu Sans"/>
              </a:rPr>
              <a:t>0</a:t>
            </a:r>
          </a:p>
        </p:txBody>
      </p:sp>
      <p:sp>
        <p:nvSpPr>
          <p:cNvPr id="11" name="TextBox 10"/>
          <p:cNvSpPr txBox="1"/>
          <p:nvPr/>
        </p:nvSpPr>
        <p:spPr>
          <a:xfrm>
            <a:off x="521208" y="6217920"/>
            <a:ext cx="1485246" cy="274320"/>
          </a:xfrm>
          <a:prstGeom prst="rect">
            <a:avLst/>
          </a:prstGeom>
          <a:noFill/>
        </p:spPr>
        <p:txBody>
          <a:bodyPr wrap="square" lIns="0" rIns="0" tIns="0" bIns="0" anchor="t">
            <a:spAutoFit/>
          </a:bodyPr>
          <a:lstStyle/>
          <a:p>
            <a:pPr algn="ctr">
              <a:lnSpc>
                <a:spcPct val="92000"/>
              </a:lnSpc>
            </a:pPr>
            <a:r>
              <a:rPr sz="900" b="0" i="0">
                <a:solidFill>
                  <a:srgbClr val="5B6678"/>
                </a:solidFill>
                <a:latin typeface="DejaVu Sans"/>
              </a:rPr>
              <a:t>Введение</a:t>
            </a:r>
          </a:p>
        </p:txBody>
      </p:sp>
      <p:sp>
        <p:nvSpPr>
          <p:cNvPr id="12" name="Rounded Rectangle 11"/>
          <p:cNvSpPr/>
          <p:nvPr/>
        </p:nvSpPr>
        <p:spPr>
          <a:xfrm>
            <a:off x="2116182" y="5989320"/>
            <a:ext cx="1521822"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134470" y="6035040"/>
            <a:ext cx="1485246" cy="164592"/>
          </a:xfrm>
          <a:prstGeom prst="rect">
            <a:avLst/>
          </a:prstGeom>
          <a:noFill/>
        </p:spPr>
        <p:txBody>
          <a:bodyPr wrap="square" lIns="0" rIns="0" tIns="0" bIns="0" anchor="t">
            <a:spAutoFit/>
          </a:bodyPr>
          <a:lstStyle/>
          <a:p>
            <a:pPr algn="ctr">
              <a:lnSpc>
                <a:spcPct val="115000"/>
              </a:lnSpc>
            </a:pPr>
            <a:r>
              <a:rPr sz="1050" b="1" i="0">
                <a:solidFill>
                  <a:srgbClr val="1C7293"/>
                </a:solidFill>
                <a:latin typeface="DejaVu Sans"/>
              </a:rPr>
              <a:t>1</a:t>
            </a:r>
          </a:p>
        </p:txBody>
      </p:sp>
      <p:sp>
        <p:nvSpPr>
          <p:cNvPr id="14" name="TextBox 13"/>
          <p:cNvSpPr txBox="1"/>
          <p:nvPr/>
        </p:nvSpPr>
        <p:spPr>
          <a:xfrm>
            <a:off x="2134470" y="6217920"/>
            <a:ext cx="1485246" cy="274320"/>
          </a:xfrm>
          <a:prstGeom prst="rect">
            <a:avLst/>
          </a:prstGeom>
          <a:noFill/>
        </p:spPr>
        <p:txBody>
          <a:bodyPr wrap="square" lIns="0" rIns="0" tIns="0" bIns="0" anchor="t">
            <a:spAutoFit/>
          </a:bodyPr>
          <a:lstStyle/>
          <a:p>
            <a:pPr algn="ctr">
              <a:lnSpc>
                <a:spcPct val="92000"/>
              </a:lnSpc>
            </a:pPr>
            <a:r>
              <a:rPr sz="800" b="0" i="0">
                <a:solidFill>
                  <a:srgbClr val="5B6678"/>
                </a:solidFill>
                <a:latin typeface="DejaVu Sans"/>
              </a:rPr>
              <a:t>Исследование</a:t>
            </a:r>
          </a:p>
        </p:txBody>
      </p:sp>
      <p:sp>
        <p:nvSpPr>
          <p:cNvPr id="15" name="Rounded Rectangle 14"/>
          <p:cNvSpPr/>
          <p:nvPr/>
        </p:nvSpPr>
        <p:spPr>
          <a:xfrm>
            <a:off x="3729445" y="5989320"/>
            <a:ext cx="1521822" cy="530352"/>
          </a:xfrm>
          <a:prstGeom prst="roundRect">
            <a:avLst>
              <a:gd name="adj" fmla="val 12000"/>
            </a:avLst>
          </a:prstGeom>
          <a:solidFill>
            <a:srgbClr val="FDF3DC"/>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747733" y="6035040"/>
            <a:ext cx="1485246" cy="164592"/>
          </a:xfrm>
          <a:prstGeom prst="rect">
            <a:avLst/>
          </a:prstGeom>
          <a:noFill/>
        </p:spPr>
        <p:txBody>
          <a:bodyPr wrap="square" lIns="0" rIns="0" tIns="0" bIns="0" anchor="t">
            <a:spAutoFit/>
          </a:bodyPr>
          <a:lstStyle/>
          <a:p>
            <a:pPr algn="ctr">
              <a:lnSpc>
                <a:spcPct val="115000"/>
              </a:lnSpc>
            </a:pPr>
            <a:r>
              <a:rPr sz="1050" b="1" i="0">
                <a:solidFill>
                  <a:srgbClr val="21295C"/>
                </a:solidFill>
                <a:latin typeface="DejaVu Sans"/>
              </a:rPr>
              <a:t>2</a:t>
            </a:r>
          </a:p>
        </p:txBody>
      </p:sp>
      <p:sp>
        <p:nvSpPr>
          <p:cNvPr id="17" name="TextBox 16"/>
          <p:cNvSpPr txBox="1"/>
          <p:nvPr/>
        </p:nvSpPr>
        <p:spPr>
          <a:xfrm>
            <a:off x="3747733" y="6217920"/>
            <a:ext cx="1485246" cy="274320"/>
          </a:xfrm>
          <a:prstGeom prst="rect">
            <a:avLst/>
          </a:prstGeom>
          <a:noFill/>
        </p:spPr>
        <p:txBody>
          <a:bodyPr wrap="square" lIns="0" rIns="0" tIns="0" bIns="0" anchor="t">
            <a:spAutoFit/>
          </a:bodyPr>
          <a:lstStyle/>
          <a:p>
            <a:pPr algn="ctr">
              <a:lnSpc>
                <a:spcPct val="92000"/>
              </a:lnSpc>
            </a:pPr>
            <a:r>
              <a:rPr sz="900" b="1" i="0">
                <a:solidFill>
                  <a:srgbClr val="21295C"/>
                </a:solidFill>
                <a:latin typeface="DejaVu Sans"/>
              </a:rPr>
              <a:t>Дизайн</a:t>
            </a:r>
          </a:p>
        </p:txBody>
      </p:sp>
      <p:sp>
        <p:nvSpPr>
          <p:cNvPr id="18" name="Rounded Rectangle 17"/>
          <p:cNvSpPr/>
          <p:nvPr/>
        </p:nvSpPr>
        <p:spPr>
          <a:xfrm>
            <a:off x="5342708" y="5989320"/>
            <a:ext cx="1521822"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360996" y="6035040"/>
            <a:ext cx="1485246" cy="164592"/>
          </a:xfrm>
          <a:prstGeom prst="rect">
            <a:avLst/>
          </a:prstGeom>
          <a:noFill/>
        </p:spPr>
        <p:txBody>
          <a:bodyPr wrap="square" lIns="0" rIns="0" tIns="0" bIns="0" anchor="t">
            <a:spAutoFit/>
          </a:bodyPr>
          <a:lstStyle/>
          <a:p>
            <a:pPr algn="ctr">
              <a:lnSpc>
                <a:spcPct val="115000"/>
              </a:lnSpc>
            </a:pPr>
            <a:r>
              <a:rPr sz="1050" b="1" i="0">
                <a:solidFill>
                  <a:srgbClr val="1C7293"/>
                </a:solidFill>
                <a:latin typeface="DejaVu Sans"/>
              </a:rPr>
              <a:t>3</a:t>
            </a:r>
          </a:p>
        </p:txBody>
      </p:sp>
      <p:sp>
        <p:nvSpPr>
          <p:cNvPr id="20" name="TextBox 19"/>
          <p:cNvSpPr txBox="1"/>
          <p:nvPr/>
        </p:nvSpPr>
        <p:spPr>
          <a:xfrm>
            <a:off x="5360996" y="6217920"/>
            <a:ext cx="1485246" cy="274320"/>
          </a:xfrm>
          <a:prstGeom prst="rect">
            <a:avLst/>
          </a:prstGeom>
          <a:noFill/>
        </p:spPr>
        <p:txBody>
          <a:bodyPr wrap="square" lIns="0" rIns="0" tIns="0" bIns="0" anchor="t">
            <a:spAutoFit/>
          </a:bodyPr>
          <a:lstStyle/>
          <a:p>
            <a:pPr algn="ctr">
              <a:lnSpc>
                <a:spcPct val="92000"/>
              </a:lnSpc>
            </a:pPr>
            <a:r>
              <a:rPr sz="800" b="0" i="0">
                <a:solidFill>
                  <a:srgbClr val="5B6678"/>
                </a:solidFill>
                <a:latin typeface="DejaVu Sans"/>
              </a:rPr>
              <a:t>Сборка и запуск</a:t>
            </a:r>
          </a:p>
        </p:txBody>
      </p:sp>
      <p:sp>
        <p:nvSpPr>
          <p:cNvPr id="21" name="Rounded Rectangle 20"/>
          <p:cNvSpPr/>
          <p:nvPr/>
        </p:nvSpPr>
        <p:spPr>
          <a:xfrm>
            <a:off x="6955971" y="5989320"/>
            <a:ext cx="1521822"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974259" y="6035040"/>
            <a:ext cx="1485246" cy="164592"/>
          </a:xfrm>
          <a:prstGeom prst="rect">
            <a:avLst/>
          </a:prstGeom>
          <a:noFill/>
        </p:spPr>
        <p:txBody>
          <a:bodyPr wrap="square" lIns="0" rIns="0" tIns="0" bIns="0" anchor="t">
            <a:spAutoFit/>
          </a:bodyPr>
          <a:lstStyle/>
          <a:p>
            <a:pPr algn="ctr">
              <a:lnSpc>
                <a:spcPct val="115000"/>
              </a:lnSpc>
            </a:pPr>
            <a:r>
              <a:rPr sz="1050" b="1" i="0">
                <a:solidFill>
                  <a:srgbClr val="1C7293"/>
                </a:solidFill>
                <a:latin typeface="DejaVu Sans"/>
              </a:rPr>
              <a:t>4</a:t>
            </a:r>
          </a:p>
        </p:txBody>
      </p:sp>
      <p:sp>
        <p:nvSpPr>
          <p:cNvPr id="23" name="TextBox 22"/>
          <p:cNvSpPr txBox="1"/>
          <p:nvPr/>
        </p:nvSpPr>
        <p:spPr>
          <a:xfrm>
            <a:off x="6974259" y="6217920"/>
            <a:ext cx="1485246" cy="274320"/>
          </a:xfrm>
          <a:prstGeom prst="rect">
            <a:avLst/>
          </a:prstGeom>
          <a:noFill/>
        </p:spPr>
        <p:txBody>
          <a:bodyPr wrap="square" lIns="0" rIns="0" tIns="0" bIns="0" anchor="t">
            <a:spAutoFit/>
          </a:bodyPr>
          <a:lstStyle/>
          <a:p>
            <a:pPr algn="ctr">
              <a:lnSpc>
                <a:spcPct val="92000"/>
              </a:lnSpc>
            </a:pPr>
            <a:r>
              <a:rPr sz="900" b="0" i="0">
                <a:solidFill>
                  <a:srgbClr val="5B6678"/>
                </a:solidFill>
                <a:latin typeface="DejaVu Sans"/>
              </a:rPr>
              <a:t>Измерение</a:t>
            </a:r>
          </a:p>
        </p:txBody>
      </p:sp>
      <p:sp>
        <p:nvSpPr>
          <p:cNvPr id="24" name="Rounded Rectangle 23"/>
          <p:cNvSpPr/>
          <p:nvPr/>
        </p:nvSpPr>
        <p:spPr>
          <a:xfrm>
            <a:off x="8569234" y="5989320"/>
            <a:ext cx="1521822"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8587522" y="6035040"/>
            <a:ext cx="1485246" cy="164592"/>
          </a:xfrm>
          <a:prstGeom prst="rect">
            <a:avLst/>
          </a:prstGeom>
          <a:noFill/>
        </p:spPr>
        <p:txBody>
          <a:bodyPr wrap="square" lIns="0" rIns="0" tIns="0" bIns="0" anchor="t">
            <a:spAutoFit/>
          </a:bodyPr>
          <a:lstStyle/>
          <a:p>
            <a:pPr algn="ctr">
              <a:lnSpc>
                <a:spcPct val="115000"/>
              </a:lnSpc>
            </a:pPr>
            <a:r>
              <a:rPr sz="1050" b="1" i="0">
                <a:solidFill>
                  <a:srgbClr val="1C7293"/>
                </a:solidFill>
                <a:latin typeface="DejaVu Sans"/>
              </a:rPr>
              <a:t>5</a:t>
            </a:r>
          </a:p>
        </p:txBody>
      </p:sp>
      <p:sp>
        <p:nvSpPr>
          <p:cNvPr id="26" name="TextBox 25"/>
          <p:cNvSpPr txBox="1"/>
          <p:nvPr/>
        </p:nvSpPr>
        <p:spPr>
          <a:xfrm>
            <a:off x="8587522" y="6217920"/>
            <a:ext cx="1485246" cy="274320"/>
          </a:xfrm>
          <a:prstGeom prst="rect">
            <a:avLst/>
          </a:prstGeom>
          <a:noFill/>
        </p:spPr>
        <p:txBody>
          <a:bodyPr wrap="square" lIns="0" rIns="0" tIns="0" bIns="0" anchor="t">
            <a:spAutoFit/>
          </a:bodyPr>
          <a:lstStyle/>
          <a:p>
            <a:pPr algn="ctr">
              <a:lnSpc>
                <a:spcPct val="92000"/>
              </a:lnSpc>
            </a:pPr>
            <a:r>
              <a:rPr sz="900" b="0" i="0">
                <a:solidFill>
                  <a:srgbClr val="5B6678"/>
                </a:solidFill>
                <a:latin typeface="DejaVu Sans"/>
              </a:rPr>
              <a:t>Поддержка</a:t>
            </a:r>
          </a:p>
        </p:txBody>
      </p:sp>
      <p:sp>
        <p:nvSpPr>
          <p:cNvPr id="27" name="Rounded Rectangle 26"/>
          <p:cNvSpPr/>
          <p:nvPr/>
        </p:nvSpPr>
        <p:spPr>
          <a:xfrm>
            <a:off x="10182497" y="5989320"/>
            <a:ext cx="1521822"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10200785" y="6035040"/>
            <a:ext cx="1485246" cy="164592"/>
          </a:xfrm>
          <a:prstGeom prst="rect">
            <a:avLst/>
          </a:prstGeom>
          <a:noFill/>
        </p:spPr>
        <p:txBody>
          <a:bodyPr wrap="square" lIns="0" rIns="0" tIns="0" bIns="0" anchor="t">
            <a:spAutoFit/>
          </a:bodyPr>
          <a:lstStyle/>
          <a:p>
            <a:pPr algn="ctr">
              <a:lnSpc>
                <a:spcPct val="115000"/>
              </a:lnSpc>
            </a:pPr>
            <a:r>
              <a:rPr sz="1050" b="1" i="0">
                <a:solidFill>
                  <a:srgbClr val="1C7293"/>
                </a:solidFill>
                <a:latin typeface="DejaVu Sans"/>
              </a:rPr>
              <a:t>6</a:t>
            </a:r>
          </a:p>
        </p:txBody>
      </p:sp>
      <p:sp>
        <p:nvSpPr>
          <p:cNvPr id="29" name="TextBox 28"/>
          <p:cNvSpPr txBox="1"/>
          <p:nvPr/>
        </p:nvSpPr>
        <p:spPr>
          <a:xfrm>
            <a:off x="10200785" y="6217920"/>
            <a:ext cx="1485246" cy="274320"/>
          </a:xfrm>
          <a:prstGeom prst="rect">
            <a:avLst/>
          </a:prstGeom>
          <a:noFill/>
        </p:spPr>
        <p:txBody>
          <a:bodyPr wrap="square" lIns="0" rIns="0" tIns="0" bIns="0" anchor="t">
            <a:spAutoFit/>
          </a:bodyPr>
          <a:lstStyle/>
          <a:p>
            <a:pPr algn="ctr">
              <a:lnSpc>
                <a:spcPct val="92000"/>
              </a:lnSpc>
            </a:pPr>
            <a:r>
              <a:rPr sz="800" b="0" i="0">
                <a:solidFill>
                  <a:srgbClr val="5B6678"/>
                </a:solidFill>
                <a:latin typeface="DejaVu Sans"/>
              </a:rPr>
              <a:t>Управление</a:t>
            </a:r>
          </a:p>
        </p:txBody>
      </p:sp>
      <p:sp>
        <p:nvSpPr>
          <p:cNvPr id="30" name="TextBox 29"/>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16 / 56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65760"/>
            <a:ext cx="10972800" cy="777240"/>
          </a:xfrm>
          <a:prstGeom prst="rect">
            <a:avLst/>
          </a:prstGeom>
          <a:noFill/>
        </p:spPr>
        <p:txBody>
          <a:bodyPr wrap="square" lIns="0" rIns="0" tIns="0" bIns="0" anchor="t">
            <a:spAutoFit/>
          </a:bodyPr>
          <a:lstStyle/>
          <a:p>
            <a:pPr algn="l">
              <a:lnSpc>
                <a:spcPct val="110000"/>
              </a:lnSpc>
            </a:pPr>
            <a:r>
              <a:rPr sz="2600" b="1" i="0">
                <a:solidFill>
                  <a:srgbClr val="21295C"/>
                </a:solidFill>
                <a:latin typeface="DejaVu Sans"/>
              </a:rPr>
              <a:t>Дизайн простыми словами</a:t>
            </a:r>
          </a:p>
        </p:txBody>
      </p:sp>
      <p:sp>
        <p:nvSpPr>
          <p:cNvPr id="3" name="Rounded Rectangle 2"/>
          <p:cNvSpPr/>
          <p:nvPr/>
        </p:nvSpPr>
        <p:spPr>
          <a:xfrm>
            <a:off x="502920" y="1554480"/>
            <a:ext cx="2514600" cy="4709160"/>
          </a:xfrm>
          <a:prstGeom prst="roundRect">
            <a:avLst>
              <a:gd name="adj" fmla="val 6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pencil-mid.png"/>
          <p:cNvPicPr>
            <a:picLocks noChangeAspect="1"/>
          </p:cNvPicPr>
          <p:nvPr/>
        </p:nvPicPr>
        <p:blipFill>
          <a:blip r:embed="rId2"/>
          <a:stretch>
            <a:fillRect/>
          </a:stretch>
        </p:blipFill>
        <p:spPr>
          <a:xfrm>
            <a:off x="1234440" y="3249777"/>
            <a:ext cx="1051560" cy="1051560"/>
          </a:xfrm>
          <a:prstGeom prst="rect">
            <a:avLst/>
          </a:prstGeom>
        </p:spPr>
      </p:pic>
      <p:sp>
        <p:nvSpPr>
          <p:cNvPr id="5" name="Rounded Rectangle 4"/>
          <p:cNvSpPr/>
          <p:nvPr/>
        </p:nvSpPr>
        <p:spPr>
          <a:xfrm>
            <a:off x="777240" y="5715000"/>
            <a:ext cx="1965960" cy="402336"/>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wrap="none"/>
          <a:lstStyle/>
          <a:p>
            <a:pPr algn="ctr"/>
            <a:r>
              <a:rPr sz="1150" b="1">
                <a:solidFill>
                  <a:srgbClr val="21295C"/>
                </a:solidFill>
                <a:latin typeface="DejaVu Sans"/>
              </a:rPr>
              <a:t>простыми словами</a:t>
            </a:r>
          </a:p>
        </p:txBody>
      </p:sp>
      <p:sp>
        <p:nvSpPr>
          <p:cNvPr id="6" name="Rounded Rectangle 5"/>
          <p:cNvSpPr/>
          <p:nvPr/>
        </p:nvSpPr>
        <p:spPr>
          <a:xfrm>
            <a:off x="3337560" y="1554480"/>
            <a:ext cx="8366760" cy="1417320"/>
          </a:xfrm>
          <a:prstGeom prst="roundRect">
            <a:avLst>
              <a:gd name="adj" fmla="val 21505"/>
            </a:avLst>
          </a:prstGeom>
          <a:solidFill>
            <a:srgbClr val="F4F7FA"/>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593591" y="1700784"/>
            <a:ext cx="7854696" cy="310896"/>
          </a:xfrm>
          <a:prstGeom prst="rect">
            <a:avLst/>
          </a:prstGeom>
          <a:noFill/>
        </p:spPr>
        <p:txBody>
          <a:bodyPr wrap="square" lIns="0" rIns="0" tIns="0" bIns="0" anchor="t">
            <a:spAutoFit/>
          </a:bodyPr>
          <a:lstStyle/>
          <a:p>
            <a:pPr algn="l">
              <a:lnSpc>
                <a:spcPct val="115000"/>
              </a:lnSpc>
            </a:pPr>
            <a:r>
              <a:rPr sz="1500" b="1" i="0">
                <a:solidFill>
                  <a:srgbClr val="F0AB00"/>
                </a:solidFill>
                <a:latin typeface="DejaVu Sans"/>
              </a:rPr>
              <a:t>Что это</a:t>
            </a:r>
          </a:p>
        </p:txBody>
      </p:sp>
      <p:sp>
        <p:nvSpPr>
          <p:cNvPr id="8" name="TextBox 7"/>
          <p:cNvSpPr txBox="1"/>
          <p:nvPr/>
        </p:nvSpPr>
        <p:spPr>
          <a:xfrm>
            <a:off x="3593591" y="2066543"/>
            <a:ext cx="7854696" cy="758952"/>
          </a:xfrm>
          <a:prstGeom prst="rect">
            <a:avLst/>
          </a:prstGeom>
          <a:noFill/>
        </p:spPr>
        <p:txBody>
          <a:bodyPr wrap="square" lIns="0" rIns="0" tIns="0" bIns="0" anchor="t">
            <a:spAutoFit/>
          </a:bodyPr>
          <a:lstStyle/>
          <a:p>
            <a:pPr algn="l">
              <a:lnSpc>
                <a:spcPct val="122000"/>
              </a:lnSpc>
            </a:pPr>
            <a:r>
              <a:rPr sz="1350" b="0" i="0">
                <a:solidFill>
                  <a:srgbClr val="21295C"/>
                </a:solidFill>
                <a:latin typeface="DejaVu Sans"/>
              </a:rPr>
              <a:t>Гипотеза становится дешёвым черновиком: наброском экрана, кликабельным прототипом — тем, что можно показать человеку.</a:t>
            </a:r>
          </a:p>
        </p:txBody>
      </p:sp>
      <p:sp>
        <p:nvSpPr>
          <p:cNvPr id="9" name="Rounded Rectangle 8"/>
          <p:cNvSpPr/>
          <p:nvPr/>
        </p:nvSpPr>
        <p:spPr>
          <a:xfrm>
            <a:off x="3337560" y="3200400"/>
            <a:ext cx="8366760" cy="1417320"/>
          </a:xfrm>
          <a:prstGeom prst="roundRect">
            <a:avLst>
              <a:gd name="adj" fmla="val 21505"/>
            </a:avLst>
          </a:prstGeom>
          <a:solidFill>
            <a:srgbClr val="F4F7FA"/>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593591" y="3346704"/>
            <a:ext cx="7854696" cy="310896"/>
          </a:xfrm>
          <a:prstGeom prst="rect">
            <a:avLst/>
          </a:prstGeom>
          <a:noFill/>
        </p:spPr>
        <p:txBody>
          <a:bodyPr wrap="square" lIns="0" rIns="0" tIns="0" bIns="0" anchor="t">
            <a:spAutoFit/>
          </a:bodyPr>
          <a:lstStyle/>
          <a:p>
            <a:pPr algn="l">
              <a:lnSpc>
                <a:spcPct val="115000"/>
              </a:lnSpc>
            </a:pPr>
            <a:r>
              <a:rPr sz="1500" b="1" i="0">
                <a:solidFill>
                  <a:srgbClr val="065A82"/>
                </a:solidFill>
                <a:latin typeface="DejaVu Sans"/>
              </a:rPr>
              <a:t>Зачем</a:t>
            </a:r>
          </a:p>
        </p:txBody>
      </p:sp>
      <p:sp>
        <p:nvSpPr>
          <p:cNvPr id="11" name="TextBox 10"/>
          <p:cNvSpPr txBox="1"/>
          <p:nvPr/>
        </p:nvSpPr>
        <p:spPr>
          <a:xfrm>
            <a:off x="3593591" y="3712464"/>
            <a:ext cx="7854696" cy="758952"/>
          </a:xfrm>
          <a:prstGeom prst="rect">
            <a:avLst/>
          </a:prstGeom>
          <a:noFill/>
        </p:spPr>
        <p:txBody>
          <a:bodyPr wrap="square" lIns="0" rIns="0" tIns="0" bIns="0" anchor="t">
            <a:spAutoFit/>
          </a:bodyPr>
          <a:lstStyle/>
          <a:p>
            <a:pPr algn="l">
              <a:lnSpc>
                <a:spcPct val="122000"/>
              </a:lnSpc>
            </a:pPr>
            <a:r>
              <a:rPr sz="1350" b="0" i="0">
                <a:solidFill>
                  <a:srgbClr val="21295C"/>
                </a:solidFill>
                <a:latin typeface="DejaVu Sans"/>
              </a:rPr>
              <a:t>Черновик не жалко выбросить. Понять «не работает» на бумаге — копейки; понять то же самое после релиза — очень дорого.</a:t>
            </a:r>
          </a:p>
        </p:txBody>
      </p:sp>
      <p:sp>
        <p:nvSpPr>
          <p:cNvPr id="12" name="Rounded Rectangle 11"/>
          <p:cNvSpPr/>
          <p:nvPr/>
        </p:nvSpPr>
        <p:spPr>
          <a:xfrm>
            <a:off x="3337560" y="4846320"/>
            <a:ext cx="8366760" cy="1417320"/>
          </a:xfrm>
          <a:prstGeom prst="roundRect">
            <a:avLst>
              <a:gd name="adj" fmla="val 21505"/>
            </a:avLst>
          </a:prstGeom>
          <a:solidFill>
            <a:srgbClr val="F4F7FA"/>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593591" y="4992624"/>
            <a:ext cx="7854696" cy="310896"/>
          </a:xfrm>
          <a:prstGeom prst="rect">
            <a:avLst/>
          </a:prstGeom>
          <a:noFill/>
        </p:spPr>
        <p:txBody>
          <a:bodyPr wrap="square" lIns="0" rIns="0" tIns="0" bIns="0" anchor="t">
            <a:spAutoFit/>
          </a:bodyPr>
          <a:lstStyle/>
          <a:p>
            <a:pPr algn="l">
              <a:lnSpc>
                <a:spcPct val="115000"/>
              </a:lnSpc>
            </a:pPr>
            <a:r>
              <a:rPr sz="1500" b="1" i="0">
                <a:solidFill>
                  <a:srgbClr val="065A82"/>
                </a:solidFill>
                <a:latin typeface="DejaVu Sans"/>
              </a:rPr>
              <a:t>Ментальная модель</a:t>
            </a:r>
          </a:p>
        </p:txBody>
      </p:sp>
      <p:sp>
        <p:nvSpPr>
          <p:cNvPr id="14" name="TextBox 13"/>
          <p:cNvSpPr txBox="1"/>
          <p:nvPr/>
        </p:nvSpPr>
        <p:spPr>
          <a:xfrm>
            <a:off x="3593591" y="5358383"/>
            <a:ext cx="7854696" cy="758952"/>
          </a:xfrm>
          <a:prstGeom prst="rect">
            <a:avLst/>
          </a:prstGeom>
          <a:noFill/>
        </p:spPr>
        <p:txBody>
          <a:bodyPr wrap="square" lIns="0" rIns="0" tIns="0" bIns="0" anchor="t">
            <a:spAutoFit/>
          </a:bodyPr>
          <a:lstStyle/>
          <a:p>
            <a:pPr algn="l">
              <a:lnSpc>
                <a:spcPct val="122000"/>
              </a:lnSpc>
            </a:pPr>
            <a:r>
              <a:rPr sz="1350" b="0" i="0">
                <a:solidFill>
                  <a:srgbClr val="21295C"/>
                </a:solidFill>
                <a:latin typeface="DejaVu Sans"/>
              </a:rPr>
              <a:t>Два ромба: сначала ищем правильную проблему, потом правильное решение. Частая ошибка — прыгнуть сразу к решению.</a:t>
            </a:r>
          </a:p>
        </p:txBody>
      </p:sp>
      <p:sp>
        <p:nvSpPr>
          <p:cNvPr id="15" name="TextBox 14"/>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17 / 56</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65760"/>
            <a:ext cx="11155680" cy="777240"/>
          </a:xfrm>
          <a:prstGeom prst="rect">
            <a:avLst/>
          </a:prstGeom>
          <a:noFill/>
        </p:spPr>
        <p:txBody>
          <a:bodyPr wrap="square" lIns="0" rIns="0" tIns="0" bIns="0" anchor="t">
            <a:spAutoFit/>
          </a:bodyPr>
          <a:lstStyle/>
          <a:p>
            <a:pPr algn="l">
              <a:lnSpc>
                <a:spcPct val="110000"/>
              </a:lnSpc>
            </a:pPr>
            <a:r>
              <a:rPr sz="2200" b="1" i="0">
                <a:solidFill>
                  <a:srgbClr val="21295C"/>
                </a:solidFill>
                <a:latin typeface="DejaVu Sans"/>
              </a:rPr>
              <a:t>Два алмаза: сначала правильная проблема, потом правильное решение</a:t>
            </a:r>
          </a:p>
        </p:txBody>
      </p:sp>
      <p:sp>
        <p:nvSpPr>
          <p:cNvPr id="3" name="Diamond 2"/>
          <p:cNvSpPr/>
          <p:nvPr/>
        </p:nvSpPr>
        <p:spPr>
          <a:xfrm>
            <a:off x="1828800" y="1874519"/>
            <a:ext cx="2468880" cy="1828800"/>
          </a:xfrm>
          <a:prstGeom prst="diamond">
            <a:avLst/>
          </a:prstGeom>
          <a:solidFill>
            <a:srgbClr val="F4F7FA"/>
          </a:solidFill>
          <a:ln w="2286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371600" y="2468879"/>
            <a:ext cx="3383280" cy="640080"/>
          </a:xfrm>
          <a:prstGeom prst="rect">
            <a:avLst/>
          </a:prstGeom>
          <a:noFill/>
        </p:spPr>
        <p:txBody>
          <a:bodyPr wrap="square" lIns="0" rIns="0" tIns="0" bIns="0" anchor="ctr">
            <a:spAutoFit/>
          </a:bodyPr>
          <a:lstStyle/>
          <a:p>
            <a:pPr algn="ctr">
              <a:lnSpc>
                <a:spcPct val="115000"/>
              </a:lnSpc>
            </a:pPr>
            <a:r>
              <a:rPr sz="1350" b="1" i="0">
                <a:solidFill>
                  <a:srgbClr val="065A82"/>
                </a:solidFill>
                <a:latin typeface="DejaVu Sans"/>
              </a:rPr>
              <a:t>Правильная</a:t>
            </a:r>
          </a:p>
          <a:p>
            <a:pPr algn="ctr">
              <a:lnSpc>
                <a:spcPct val="115000"/>
              </a:lnSpc>
            </a:pPr>
            <a:r>
              <a:rPr sz="1350" b="1" i="0">
                <a:solidFill>
                  <a:srgbClr val="065A82"/>
                </a:solidFill>
                <a:latin typeface="DejaVu Sans"/>
              </a:rPr>
              <a:t>проблема</a:t>
            </a:r>
          </a:p>
        </p:txBody>
      </p:sp>
      <p:sp>
        <p:nvSpPr>
          <p:cNvPr id="5" name="TextBox 4"/>
          <p:cNvSpPr txBox="1"/>
          <p:nvPr/>
        </p:nvSpPr>
        <p:spPr>
          <a:xfrm>
            <a:off x="1508760" y="1307591"/>
            <a:ext cx="3108960" cy="502920"/>
          </a:xfrm>
          <a:prstGeom prst="rect">
            <a:avLst/>
          </a:prstGeom>
          <a:noFill/>
        </p:spPr>
        <p:txBody>
          <a:bodyPr wrap="square" lIns="0" rIns="0" tIns="0" bIns="0" anchor="t">
            <a:spAutoFit/>
          </a:bodyPr>
          <a:lstStyle/>
          <a:p>
            <a:pPr algn="ctr">
              <a:lnSpc>
                <a:spcPct val="105000"/>
              </a:lnSpc>
            </a:pPr>
            <a:r>
              <a:rPr sz="1250" b="1" i="0">
                <a:solidFill>
                  <a:srgbClr val="065A82"/>
                </a:solidFill>
                <a:latin typeface="DejaVu Sans"/>
              </a:rPr>
              <a:t>Расширяем проблему</a:t>
            </a:r>
          </a:p>
        </p:txBody>
      </p:sp>
      <p:sp>
        <p:nvSpPr>
          <p:cNvPr id="6" name="TextBox 5"/>
          <p:cNvSpPr txBox="1"/>
          <p:nvPr/>
        </p:nvSpPr>
        <p:spPr>
          <a:xfrm>
            <a:off x="1508760" y="3776472"/>
            <a:ext cx="3108960" cy="502920"/>
          </a:xfrm>
          <a:prstGeom prst="rect">
            <a:avLst/>
          </a:prstGeom>
          <a:noFill/>
        </p:spPr>
        <p:txBody>
          <a:bodyPr wrap="square" lIns="0" rIns="0" tIns="0" bIns="0" anchor="t">
            <a:spAutoFit/>
          </a:bodyPr>
          <a:lstStyle/>
          <a:p>
            <a:pPr algn="ctr">
              <a:lnSpc>
                <a:spcPct val="105000"/>
              </a:lnSpc>
            </a:pPr>
            <a:r>
              <a:rPr sz="1250" b="1" i="0">
                <a:solidFill>
                  <a:srgbClr val="21295C"/>
                </a:solidFill>
                <a:latin typeface="DejaVu Sans"/>
              </a:rPr>
              <a:t>Сужаем: одна проблема</a:t>
            </a:r>
          </a:p>
        </p:txBody>
      </p:sp>
      <p:sp>
        <p:nvSpPr>
          <p:cNvPr id="7" name="Diamond 6"/>
          <p:cNvSpPr/>
          <p:nvPr/>
        </p:nvSpPr>
        <p:spPr>
          <a:xfrm>
            <a:off x="5760720" y="1874519"/>
            <a:ext cx="2468880" cy="1828800"/>
          </a:xfrm>
          <a:prstGeom prst="diamond">
            <a:avLst/>
          </a:prstGeom>
          <a:solidFill>
            <a:srgbClr val="F4F7FA"/>
          </a:solidFill>
          <a:ln w="2286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303520" y="2468879"/>
            <a:ext cx="3383280" cy="640080"/>
          </a:xfrm>
          <a:prstGeom prst="rect">
            <a:avLst/>
          </a:prstGeom>
          <a:noFill/>
        </p:spPr>
        <p:txBody>
          <a:bodyPr wrap="square" lIns="0" rIns="0" tIns="0" bIns="0" anchor="ctr">
            <a:spAutoFit/>
          </a:bodyPr>
          <a:lstStyle/>
          <a:p>
            <a:pPr algn="ctr">
              <a:lnSpc>
                <a:spcPct val="115000"/>
              </a:lnSpc>
            </a:pPr>
            <a:r>
              <a:rPr sz="1350" b="1" i="0">
                <a:solidFill>
                  <a:srgbClr val="028090"/>
                </a:solidFill>
                <a:latin typeface="DejaVu Sans"/>
              </a:rPr>
              <a:t>Правильное</a:t>
            </a:r>
          </a:p>
          <a:p>
            <a:pPr algn="ctr">
              <a:lnSpc>
                <a:spcPct val="115000"/>
              </a:lnSpc>
            </a:pPr>
            <a:r>
              <a:rPr sz="1350" b="1" i="0">
                <a:solidFill>
                  <a:srgbClr val="028090"/>
                </a:solidFill>
                <a:latin typeface="DejaVu Sans"/>
              </a:rPr>
              <a:t>решение</a:t>
            </a:r>
          </a:p>
        </p:txBody>
      </p:sp>
      <p:sp>
        <p:nvSpPr>
          <p:cNvPr id="9" name="TextBox 8"/>
          <p:cNvSpPr txBox="1"/>
          <p:nvPr/>
        </p:nvSpPr>
        <p:spPr>
          <a:xfrm>
            <a:off x="5440680" y="1307591"/>
            <a:ext cx="3108960" cy="502920"/>
          </a:xfrm>
          <a:prstGeom prst="rect">
            <a:avLst/>
          </a:prstGeom>
          <a:noFill/>
        </p:spPr>
        <p:txBody>
          <a:bodyPr wrap="square" lIns="0" rIns="0" tIns="0" bIns="0" anchor="t">
            <a:spAutoFit/>
          </a:bodyPr>
          <a:lstStyle/>
          <a:p>
            <a:pPr algn="ctr">
              <a:lnSpc>
                <a:spcPct val="105000"/>
              </a:lnSpc>
            </a:pPr>
            <a:r>
              <a:rPr sz="1250" b="1" i="0">
                <a:solidFill>
                  <a:srgbClr val="028090"/>
                </a:solidFill>
                <a:latin typeface="DejaVu Sans"/>
              </a:rPr>
              <a:t>Расширяем решение</a:t>
            </a:r>
          </a:p>
        </p:txBody>
      </p:sp>
      <p:sp>
        <p:nvSpPr>
          <p:cNvPr id="10" name="TextBox 9"/>
          <p:cNvSpPr txBox="1"/>
          <p:nvPr/>
        </p:nvSpPr>
        <p:spPr>
          <a:xfrm>
            <a:off x="5440680" y="3776472"/>
            <a:ext cx="3108960" cy="502920"/>
          </a:xfrm>
          <a:prstGeom prst="rect">
            <a:avLst/>
          </a:prstGeom>
          <a:noFill/>
        </p:spPr>
        <p:txBody>
          <a:bodyPr wrap="square" lIns="0" rIns="0" tIns="0" bIns="0" anchor="t">
            <a:spAutoFit/>
          </a:bodyPr>
          <a:lstStyle/>
          <a:p>
            <a:pPr algn="ctr">
              <a:lnSpc>
                <a:spcPct val="105000"/>
              </a:lnSpc>
            </a:pPr>
            <a:r>
              <a:rPr sz="1250" b="1" i="0">
                <a:solidFill>
                  <a:srgbClr val="21295C"/>
                </a:solidFill>
                <a:latin typeface="DejaVu Sans"/>
              </a:rPr>
              <a:t>Сужаем: одно решение</a:t>
            </a:r>
          </a:p>
        </p:txBody>
      </p:sp>
      <p:sp>
        <p:nvSpPr>
          <p:cNvPr id="11" name="Right Arrow 10"/>
          <p:cNvSpPr/>
          <p:nvPr/>
        </p:nvSpPr>
        <p:spPr>
          <a:xfrm>
            <a:off x="4617720" y="2651760"/>
            <a:ext cx="502920" cy="256032"/>
          </a:xfrm>
          <a:prstGeom prst="rightArrow">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549640" y="2606040"/>
            <a:ext cx="3108960" cy="1188720"/>
          </a:xfrm>
          <a:prstGeom prst="rect">
            <a:avLst/>
          </a:prstGeom>
          <a:noFill/>
        </p:spPr>
        <p:txBody>
          <a:bodyPr wrap="square" lIns="0" rIns="0" tIns="0" bIns="0" anchor="ctr">
            <a:spAutoFit/>
          </a:bodyPr>
          <a:lstStyle/>
          <a:p>
            <a:pPr algn="l">
              <a:lnSpc>
                <a:spcPct val="115000"/>
              </a:lnSpc>
            </a:pPr>
            <a:r>
              <a:rPr sz="1200" b="0" i="0">
                <a:solidFill>
                  <a:srgbClr val="21295C"/>
                </a:solidFill>
                <a:latin typeface="DejaVu Sans"/>
              </a:rPr>
              <a:t>Double Diamond </a:t>
            </a:r>
            <a:r>
              <a:rPr sz="624" baseline="30000" b="0" i="1">
                <a:latin typeface="DejaVu Sans"/>
                <a:cs typeface="DejaVu Sans"/>
                <a:ea typeface="DejaVu Sans"/>
                <a:solidFill>
                  <a:srgbClr val="1C7293"/>
                </a:solidFill>
              </a:rPr>
              <a:t>[1]</a:t>
            </a:r>
          </a:p>
          <a:p>
            <a:pPr algn="l">
              <a:lnSpc>
                <a:spcPct val="115000"/>
              </a:lnSpc>
            </a:pPr>
            <a:r>
              <a:rPr sz="1200" b="0" i="0">
                <a:solidFill>
                  <a:srgbClr val="21295C"/>
                </a:solidFill>
                <a:latin typeface="DejaVu Sans"/>
              </a:rPr>
              <a:t>(Design Council UK)</a:t>
            </a:r>
          </a:p>
          <a:p>
            <a:pPr algn="l">
              <a:lnSpc>
                <a:spcPct val="115000"/>
              </a:lnSpc>
            </a:pPr>
            <a:r>
              <a:rPr sz="1200" b="0" i="0">
                <a:solidFill>
                  <a:srgbClr val="21295C"/>
                </a:solidFill>
                <a:latin typeface="DejaVu Sans"/>
              </a:rPr>
              <a:t/>
            </a:r>
          </a:p>
          <a:p>
            <a:pPr algn="l">
              <a:lnSpc>
                <a:spcPct val="115000"/>
              </a:lnSpc>
            </a:pPr>
            <a:r>
              <a:rPr sz="1200" b="0" i="0">
                <a:solidFill>
                  <a:srgbClr val="21295C"/>
                </a:solidFill>
                <a:latin typeface="DejaVu Sans"/>
              </a:rPr>
              <a:t>Design Thinking — его 5-шаговая версия того же каркаса</a:t>
            </a:r>
          </a:p>
        </p:txBody>
      </p:sp>
      <p:sp>
        <p:nvSpPr>
          <p:cNvPr id="13" name="Rounded Rectangle 12"/>
          <p:cNvSpPr/>
          <p:nvPr/>
        </p:nvSpPr>
        <p:spPr>
          <a:xfrm>
            <a:off x="502920" y="4206240"/>
            <a:ext cx="11201400" cy="1234440"/>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22376" y="4261103"/>
            <a:ext cx="10762488" cy="1124712"/>
          </a:xfrm>
          <a:prstGeom prst="rect">
            <a:avLst/>
          </a:prstGeom>
          <a:noFill/>
        </p:spPr>
        <p:txBody>
          <a:bodyPr wrap="square" lIns="0" rIns="0" tIns="0" bIns="0" anchor="ctr">
            <a:spAutoFit/>
          </a:bodyPr>
          <a:lstStyle/>
          <a:p>
            <a:pPr algn="l">
              <a:lnSpc>
                <a:spcPct val="120000"/>
              </a:lnSpc>
            </a:pPr>
            <a:r>
              <a:rPr sz="1400" b="1" i="0">
                <a:solidFill>
                  <a:srgbClr val="21295C"/>
                </a:solidFill>
                <a:latin typeface="DejaVu Sans"/>
              </a:rPr>
              <a:t>Частая ошибка: конвергировать на решении, не проверив саму проблему — перепрыгнуть первый алмаз. Дешёвый прототип нужен именно для того, чтобы это вскрыть до траты денег на разработку.</a:t>
            </a:r>
          </a:p>
        </p:txBody>
      </p:sp>
      <p:sp>
        <p:nvSpPr>
          <p:cNvPr id="15" name="TextBox 14"/>
          <p:cNvSpPr txBox="1"/>
          <p:nvPr/>
        </p:nvSpPr>
        <p:spPr>
          <a:xfrm>
            <a:off x="502920" y="6455664"/>
            <a:ext cx="11201400" cy="548640"/>
          </a:xfrm>
          <a:prstGeom prst="rect">
            <a:avLst/>
          </a:prstGeom>
          <a:noFill/>
        </p:spPr>
        <p:txBody>
          <a:bodyPr wrap="square" lIns="0" rIns="0" tIns="0" bIns="0" anchor="t">
            <a:spAutoFit/>
          </a:bodyPr>
          <a:lstStyle/>
          <a:p>
            <a:pPr algn="l">
              <a:lnSpc>
                <a:spcPct val="102000"/>
              </a:lnSpc>
            </a:pPr>
            <a:r>
              <a:rPr sz="850" b="1" i="1">
                <a:solidFill>
                  <a:srgbClr val="065A82"/>
                </a:solidFill>
                <a:latin typeface="DejaVu Sans"/>
              </a:rPr>
              <a:t>[1] </a:t>
            </a:r>
            <a:r>
              <a:rPr sz="850" i="1">
                <a:solidFill>
                  <a:srgbClr val="1C7293"/>
                </a:solidFill>
                <a:latin typeface="DejaVu Sans"/>
                <a:hlinkClick r:id="rId2"/>
              </a:rPr>
              <a:t>UK Design Council — The Double Diamond</a:t>
            </a:r>
          </a:p>
        </p:txBody>
      </p:sp>
      <p:sp>
        <p:nvSpPr>
          <p:cNvPr id="16" name="TextBox 15"/>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18 / 56</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65760"/>
            <a:ext cx="11155680" cy="777240"/>
          </a:xfrm>
          <a:prstGeom prst="rect">
            <a:avLst/>
          </a:prstGeom>
          <a:noFill/>
        </p:spPr>
        <p:txBody>
          <a:bodyPr wrap="square" lIns="0" rIns="0" tIns="0" bIns="0" anchor="t">
            <a:spAutoFit/>
          </a:bodyPr>
          <a:lstStyle/>
          <a:p>
            <a:pPr algn="l">
              <a:lnSpc>
                <a:spcPct val="110000"/>
              </a:lnSpc>
            </a:pPr>
            <a:r>
              <a:rPr sz="2200" b="1" i="0">
                <a:solidFill>
                  <a:srgbClr val="21295C"/>
                </a:solidFill>
                <a:latin typeface="DejaVu Sans"/>
              </a:rPr>
              <a:t>Эвристики Нильсена — линтер для UX, не замена тестированию</a:t>
            </a:r>
          </a:p>
        </p:txBody>
      </p:sp>
      <p:sp>
        <p:nvSpPr>
          <p:cNvPr id="3" name="Rounded Rectangle 2"/>
          <p:cNvSpPr/>
          <p:nvPr/>
        </p:nvSpPr>
        <p:spPr>
          <a:xfrm>
            <a:off x="502920" y="1417320"/>
            <a:ext cx="6172200" cy="4892040"/>
          </a:xfrm>
          <a:prstGeom prst="roundRect">
            <a:avLst>
              <a:gd name="adj" fmla="val 623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ircle-check-mid.png"/>
          <p:cNvPicPr>
            <a:picLocks noChangeAspect="1"/>
          </p:cNvPicPr>
          <p:nvPr/>
        </p:nvPicPr>
        <p:blipFill>
          <a:blip r:embed="rId2"/>
          <a:stretch>
            <a:fillRect/>
          </a:stretch>
        </p:blipFill>
        <p:spPr>
          <a:xfrm>
            <a:off x="731520" y="1600200"/>
            <a:ext cx="502920" cy="502920"/>
          </a:xfrm>
          <a:prstGeom prst="rect">
            <a:avLst/>
          </a:prstGeom>
        </p:spPr>
      </p:pic>
      <p:sp>
        <p:nvSpPr>
          <p:cNvPr id="5" name="TextBox 4"/>
          <p:cNvSpPr txBox="1"/>
          <p:nvPr/>
        </p:nvSpPr>
        <p:spPr>
          <a:xfrm>
            <a:off x="1417320" y="1645920"/>
            <a:ext cx="5120640" cy="365760"/>
          </a:xfrm>
          <a:prstGeom prst="rect">
            <a:avLst/>
          </a:prstGeom>
          <a:noFill/>
        </p:spPr>
        <p:txBody>
          <a:bodyPr wrap="square" lIns="0" rIns="0" tIns="0" bIns="0" anchor="t">
            <a:spAutoFit/>
          </a:bodyPr>
          <a:lstStyle/>
          <a:p>
            <a:pPr algn="l">
              <a:lnSpc>
                <a:spcPct val="115000"/>
              </a:lnSpc>
            </a:pPr>
            <a:r>
              <a:rPr sz="1500" b="1" i="0">
                <a:solidFill>
                  <a:srgbClr val="065A82"/>
                </a:solidFill>
                <a:latin typeface="DejaVu Sans"/>
              </a:rPr>
              <a:t>Топ-5 из 10 эвристик </a:t>
            </a:r>
            <a:r>
              <a:rPr sz="780" baseline="30000" b="0" i="1">
                <a:latin typeface="DejaVu Sans"/>
                <a:cs typeface="DejaVu Sans"/>
                <a:ea typeface="DejaVu Sans"/>
                <a:solidFill>
                  <a:srgbClr val="1C7293"/>
                </a:solidFill>
              </a:rPr>
              <a:t>[1]</a:t>
            </a:r>
          </a:p>
        </p:txBody>
      </p:sp>
      <p:sp>
        <p:nvSpPr>
          <p:cNvPr id="6" name="Rounded Rectangle 5"/>
          <p:cNvSpPr/>
          <p:nvPr/>
        </p:nvSpPr>
        <p:spPr>
          <a:xfrm>
            <a:off x="731520" y="2240280"/>
            <a:ext cx="384048" cy="310896"/>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wrap="none"/>
          <a:lstStyle/>
          <a:p>
            <a:pPr algn="ctr"/>
            <a:r>
              <a:rPr sz="1200" b="1">
                <a:solidFill>
                  <a:srgbClr val="21295C"/>
                </a:solidFill>
                <a:latin typeface="DejaVu Sans"/>
              </a:rPr>
              <a:t>1</a:t>
            </a:r>
          </a:p>
        </p:txBody>
      </p:sp>
      <p:sp>
        <p:nvSpPr>
          <p:cNvPr id="7" name="TextBox 6"/>
          <p:cNvSpPr txBox="1"/>
          <p:nvPr/>
        </p:nvSpPr>
        <p:spPr>
          <a:xfrm>
            <a:off x="1280160" y="2221992"/>
            <a:ext cx="5120640" cy="365760"/>
          </a:xfrm>
          <a:prstGeom prst="rect">
            <a:avLst/>
          </a:prstGeom>
          <a:noFill/>
        </p:spPr>
        <p:txBody>
          <a:bodyPr wrap="square" lIns="0" rIns="0" tIns="0" bIns="0" anchor="ctr">
            <a:spAutoFit/>
          </a:bodyPr>
          <a:lstStyle/>
          <a:p>
            <a:pPr algn="l">
              <a:lnSpc>
                <a:spcPct val="115000"/>
              </a:lnSpc>
            </a:pPr>
            <a:r>
              <a:rPr sz="1300" b="0" i="0">
                <a:solidFill>
                  <a:srgbClr val="21295C"/>
                </a:solidFill>
                <a:latin typeface="DejaVu Sans"/>
              </a:rPr>
              <a:t>Видимость статуса системы</a:t>
            </a:r>
          </a:p>
        </p:txBody>
      </p:sp>
      <p:sp>
        <p:nvSpPr>
          <p:cNvPr id="8" name="Rounded Rectangle 7"/>
          <p:cNvSpPr/>
          <p:nvPr/>
        </p:nvSpPr>
        <p:spPr>
          <a:xfrm>
            <a:off x="731520" y="2697480"/>
            <a:ext cx="384048" cy="310896"/>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wrap="none"/>
          <a:lstStyle/>
          <a:p>
            <a:pPr algn="ctr"/>
            <a:r>
              <a:rPr sz="1200" b="1">
                <a:solidFill>
                  <a:srgbClr val="21295C"/>
                </a:solidFill>
                <a:latin typeface="DejaVu Sans"/>
              </a:rPr>
              <a:t>2</a:t>
            </a:r>
          </a:p>
        </p:txBody>
      </p:sp>
      <p:sp>
        <p:nvSpPr>
          <p:cNvPr id="9" name="TextBox 8"/>
          <p:cNvSpPr txBox="1"/>
          <p:nvPr/>
        </p:nvSpPr>
        <p:spPr>
          <a:xfrm>
            <a:off x="1280160" y="2679192"/>
            <a:ext cx="5120640" cy="365760"/>
          </a:xfrm>
          <a:prstGeom prst="rect">
            <a:avLst/>
          </a:prstGeom>
          <a:noFill/>
        </p:spPr>
        <p:txBody>
          <a:bodyPr wrap="square" lIns="0" rIns="0" tIns="0" bIns="0" anchor="ctr">
            <a:spAutoFit/>
          </a:bodyPr>
          <a:lstStyle/>
          <a:p>
            <a:pPr algn="l">
              <a:lnSpc>
                <a:spcPct val="115000"/>
              </a:lnSpc>
            </a:pPr>
            <a:r>
              <a:rPr sz="1300" b="0" i="0">
                <a:solidFill>
                  <a:srgbClr val="21295C"/>
                </a:solidFill>
                <a:latin typeface="DejaVu Sans"/>
              </a:rPr>
              <a:t>Соответствие языку пользователя</a:t>
            </a:r>
          </a:p>
        </p:txBody>
      </p:sp>
      <p:sp>
        <p:nvSpPr>
          <p:cNvPr id="10" name="Rounded Rectangle 9"/>
          <p:cNvSpPr/>
          <p:nvPr/>
        </p:nvSpPr>
        <p:spPr>
          <a:xfrm>
            <a:off x="731520" y="3154680"/>
            <a:ext cx="384048" cy="310896"/>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wrap="none"/>
          <a:lstStyle/>
          <a:p>
            <a:pPr algn="ctr"/>
            <a:r>
              <a:rPr sz="1200" b="1">
                <a:solidFill>
                  <a:srgbClr val="21295C"/>
                </a:solidFill>
                <a:latin typeface="DejaVu Sans"/>
              </a:rPr>
              <a:t>3</a:t>
            </a:r>
          </a:p>
        </p:txBody>
      </p:sp>
      <p:sp>
        <p:nvSpPr>
          <p:cNvPr id="11" name="TextBox 10"/>
          <p:cNvSpPr txBox="1"/>
          <p:nvPr/>
        </p:nvSpPr>
        <p:spPr>
          <a:xfrm>
            <a:off x="1280160" y="3136392"/>
            <a:ext cx="5120640" cy="365760"/>
          </a:xfrm>
          <a:prstGeom prst="rect">
            <a:avLst/>
          </a:prstGeom>
          <a:noFill/>
        </p:spPr>
        <p:txBody>
          <a:bodyPr wrap="square" lIns="0" rIns="0" tIns="0" bIns="0" anchor="ctr">
            <a:spAutoFit/>
          </a:bodyPr>
          <a:lstStyle/>
          <a:p>
            <a:pPr algn="l">
              <a:lnSpc>
                <a:spcPct val="115000"/>
              </a:lnSpc>
            </a:pPr>
            <a:r>
              <a:rPr sz="1300" b="0" i="0">
                <a:solidFill>
                  <a:srgbClr val="21295C"/>
                </a:solidFill>
                <a:latin typeface="DejaVu Sans"/>
              </a:rPr>
              <a:t>Контроль и свобода (отмена)</a:t>
            </a:r>
          </a:p>
        </p:txBody>
      </p:sp>
      <p:sp>
        <p:nvSpPr>
          <p:cNvPr id="12" name="Rounded Rectangle 11"/>
          <p:cNvSpPr/>
          <p:nvPr/>
        </p:nvSpPr>
        <p:spPr>
          <a:xfrm>
            <a:off x="731520" y="3611880"/>
            <a:ext cx="384048" cy="310896"/>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wrap="none"/>
          <a:lstStyle/>
          <a:p>
            <a:pPr algn="ctr"/>
            <a:r>
              <a:rPr sz="1200" b="1">
                <a:solidFill>
                  <a:srgbClr val="21295C"/>
                </a:solidFill>
                <a:latin typeface="DejaVu Sans"/>
              </a:rPr>
              <a:t>4</a:t>
            </a:r>
          </a:p>
        </p:txBody>
      </p:sp>
      <p:sp>
        <p:nvSpPr>
          <p:cNvPr id="13" name="TextBox 12"/>
          <p:cNvSpPr txBox="1"/>
          <p:nvPr/>
        </p:nvSpPr>
        <p:spPr>
          <a:xfrm>
            <a:off x="1280160" y="3593592"/>
            <a:ext cx="5120640" cy="365760"/>
          </a:xfrm>
          <a:prstGeom prst="rect">
            <a:avLst/>
          </a:prstGeom>
          <a:noFill/>
        </p:spPr>
        <p:txBody>
          <a:bodyPr wrap="square" lIns="0" rIns="0" tIns="0" bIns="0" anchor="ctr">
            <a:spAutoFit/>
          </a:bodyPr>
          <a:lstStyle/>
          <a:p>
            <a:pPr algn="l">
              <a:lnSpc>
                <a:spcPct val="115000"/>
              </a:lnSpc>
            </a:pPr>
            <a:r>
              <a:rPr sz="1300" b="0" i="0">
                <a:solidFill>
                  <a:srgbClr val="21295C"/>
                </a:solidFill>
                <a:latin typeface="DejaVu Sans"/>
              </a:rPr>
              <a:t>Консистентность</a:t>
            </a:r>
          </a:p>
        </p:txBody>
      </p:sp>
      <p:sp>
        <p:nvSpPr>
          <p:cNvPr id="14" name="Rounded Rectangle 13"/>
          <p:cNvSpPr/>
          <p:nvPr/>
        </p:nvSpPr>
        <p:spPr>
          <a:xfrm>
            <a:off x="731520" y="4069080"/>
            <a:ext cx="384048" cy="310896"/>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wrap="none"/>
          <a:lstStyle/>
          <a:p>
            <a:pPr algn="ctr"/>
            <a:r>
              <a:rPr sz="1200" b="1">
                <a:solidFill>
                  <a:srgbClr val="21295C"/>
                </a:solidFill>
                <a:latin typeface="DejaVu Sans"/>
              </a:rPr>
              <a:t>5</a:t>
            </a:r>
          </a:p>
        </p:txBody>
      </p:sp>
      <p:sp>
        <p:nvSpPr>
          <p:cNvPr id="15" name="TextBox 14"/>
          <p:cNvSpPr txBox="1"/>
          <p:nvPr/>
        </p:nvSpPr>
        <p:spPr>
          <a:xfrm>
            <a:off x="1280160" y="4050792"/>
            <a:ext cx="5120640" cy="365760"/>
          </a:xfrm>
          <a:prstGeom prst="rect">
            <a:avLst/>
          </a:prstGeom>
          <a:noFill/>
        </p:spPr>
        <p:txBody>
          <a:bodyPr wrap="square" lIns="0" rIns="0" tIns="0" bIns="0" anchor="ctr">
            <a:spAutoFit/>
          </a:bodyPr>
          <a:lstStyle/>
          <a:p>
            <a:pPr algn="l">
              <a:lnSpc>
                <a:spcPct val="115000"/>
              </a:lnSpc>
            </a:pPr>
            <a:r>
              <a:rPr sz="1300" b="0" i="0">
                <a:solidFill>
                  <a:srgbClr val="21295C"/>
                </a:solidFill>
                <a:latin typeface="DejaVu Sans"/>
              </a:rPr>
              <a:t>Предотвращение ошибок</a:t>
            </a:r>
          </a:p>
        </p:txBody>
      </p:sp>
      <p:sp>
        <p:nvSpPr>
          <p:cNvPr id="16" name="Rounded Rectangle 15"/>
          <p:cNvSpPr/>
          <p:nvPr/>
        </p:nvSpPr>
        <p:spPr>
          <a:xfrm>
            <a:off x="502920" y="4754880"/>
            <a:ext cx="6172200" cy="1417320"/>
          </a:xfrm>
          <a:prstGeom prst="roundRect">
            <a:avLst>
              <a:gd name="adj" fmla="val 21505"/>
            </a:avLst>
          </a:prstGeom>
          <a:solidFill>
            <a:srgbClr val="F4F7FA"/>
          </a:solidFill>
          <a:ln w="2032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shield-check-teal.png"/>
          <p:cNvPicPr>
            <a:picLocks noChangeAspect="1"/>
          </p:cNvPicPr>
          <p:nvPr/>
        </p:nvPicPr>
        <p:blipFill>
          <a:blip r:embed="rId3"/>
          <a:stretch>
            <a:fillRect/>
          </a:stretch>
        </p:blipFill>
        <p:spPr>
          <a:xfrm>
            <a:off x="731520" y="4956048"/>
            <a:ext cx="502920" cy="502920"/>
          </a:xfrm>
          <a:prstGeom prst="rect">
            <a:avLst/>
          </a:prstGeom>
        </p:spPr>
      </p:pic>
      <p:sp>
        <p:nvSpPr>
          <p:cNvPr id="18" name="TextBox 17"/>
          <p:cNvSpPr txBox="1"/>
          <p:nvPr/>
        </p:nvSpPr>
        <p:spPr>
          <a:xfrm>
            <a:off x="1417320" y="4974336"/>
            <a:ext cx="5120640" cy="365760"/>
          </a:xfrm>
          <a:prstGeom prst="rect">
            <a:avLst/>
          </a:prstGeom>
          <a:noFill/>
        </p:spPr>
        <p:txBody>
          <a:bodyPr wrap="square" lIns="0" rIns="0" tIns="0" bIns="0" anchor="t">
            <a:spAutoFit/>
          </a:bodyPr>
          <a:lstStyle/>
          <a:p>
            <a:pPr algn="l">
              <a:lnSpc>
                <a:spcPct val="115000"/>
              </a:lnSpc>
            </a:pPr>
            <a:r>
              <a:rPr sz="1400" b="1" i="0">
                <a:solidFill>
                  <a:srgbClr val="028090"/>
                </a:solidFill>
                <a:latin typeface="DejaVu Sans"/>
              </a:rPr>
              <a:t>Дизайн-система = guardrail</a:t>
            </a:r>
          </a:p>
        </p:txBody>
      </p:sp>
      <p:sp>
        <p:nvSpPr>
          <p:cNvPr id="19" name="TextBox 18"/>
          <p:cNvSpPr txBox="1"/>
          <p:nvPr/>
        </p:nvSpPr>
        <p:spPr>
          <a:xfrm>
            <a:off x="731520" y="5532120"/>
            <a:ext cx="5715000" cy="548640"/>
          </a:xfrm>
          <a:prstGeom prst="rect">
            <a:avLst/>
          </a:prstGeom>
          <a:noFill/>
        </p:spPr>
        <p:txBody>
          <a:bodyPr wrap="square" lIns="0" rIns="0" tIns="0" bIns="0" anchor="t">
            <a:spAutoFit/>
          </a:bodyPr>
          <a:lstStyle/>
          <a:p>
            <a:pPr algn="l">
              <a:lnSpc>
                <a:spcPct val="115000"/>
              </a:lnSpc>
            </a:pPr>
            <a:r>
              <a:rPr sz="1250" b="0" i="0">
                <a:solidFill>
                  <a:srgbClr val="21295C"/>
                </a:solidFill>
                <a:latin typeface="DejaVu Sans"/>
              </a:rPr>
              <a:t>Удерживает генеративную свободу в рамках провалидированного бренда.</a:t>
            </a:r>
          </a:p>
        </p:txBody>
      </p:sp>
      <p:sp>
        <p:nvSpPr>
          <p:cNvPr id="20" name="Rounded Rectangle 19"/>
          <p:cNvSpPr/>
          <p:nvPr/>
        </p:nvSpPr>
        <p:spPr>
          <a:xfrm>
            <a:off x="6903720" y="1417320"/>
            <a:ext cx="4800600" cy="960120"/>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123176" y="1472184"/>
            <a:ext cx="4361688" cy="850392"/>
          </a:xfrm>
          <a:prstGeom prst="rect">
            <a:avLst/>
          </a:prstGeom>
          <a:noFill/>
        </p:spPr>
        <p:txBody>
          <a:bodyPr wrap="square" lIns="0" rIns="0" tIns="0" bIns="0" anchor="ctr">
            <a:spAutoFit/>
          </a:bodyPr>
          <a:lstStyle/>
          <a:p>
            <a:pPr algn="l">
              <a:lnSpc>
                <a:spcPct val="120000"/>
              </a:lnSpc>
            </a:pPr>
            <a:r>
              <a:rPr sz="1250" b="1" i="0">
                <a:solidFill>
                  <a:srgbClr val="21295C"/>
                </a:solidFill>
                <a:latin typeface="DejaVu Sans"/>
              </a:rPr>
              <a:t>Метафора: эвристики — как линтер для интерфейса. Ловят типовые проблемы до траты денег на исследование — но не заменяют тест на живом пользователе </a:t>
            </a:r>
            <a:r>
              <a:rPr sz="650" baseline="30000" b="0" i="1">
                <a:latin typeface="DejaVu Sans"/>
                <a:cs typeface="DejaVu Sans"/>
                <a:ea typeface="DejaVu Sans"/>
                <a:solidFill>
                  <a:srgbClr val="1C7293"/>
                </a:solidFill>
              </a:rPr>
              <a:t>[2]</a:t>
            </a:r>
            <a:r>
              <a:rPr sz="1250" b="1" i="0">
                <a:latin typeface="DejaVu Sans"/>
                <a:cs typeface="DejaVu Sans"/>
                <a:ea typeface="DejaVu Sans"/>
                <a:solidFill>
                  <a:srgbClr val="21295C"/>
                </a:solidFill>
              </a:rPr>
              <a:t>.</a:t>
            </a:r>
          </a:p>
        </p:txBody>
      </p:sp>
      <p:sp>
        <p:nvSpPr>
          <p:cNvPr id="22" name="Rounded Rectangle 21"/>
          <p:cNvSpPr/>
          <p:nvPr/>
        </p:nvSpPr>
        <p:spPr>
          <a:xfrm>
            <a:off x="7223760" y="2560320"/>
            <a:ext cx="4160520" cy="3291840"/>
          </a:xfrm>
          <a:prstGeom prst="roundRect">
            <a:avLst>
              <a:gd name="adj" fmla="val 9259"/>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3" name="Picture 22" descr="s16-bernie.jpg"/>
          <p:cNvPicPr>
            <a:picLocks noChangeAspect="1"/>
          </p:cNvPicPr>
          <p:nvPr/>
        </p:nvPicPr>
        <p:blipFill>
          <a:blip r:embed="rId4"/>
          <a:stretch>
            <a:fillRect/>
          </a:stretch>
        </p:blipFill>
        <p:spPr>
          <a:xfrm>
            <a:off x="8122333" y="2670048"/>
            <a:ext cx="2363372" cy="3072384"/>
          </a:xfrm>
          <a:prstGeom prst="rect">
            <a:avLst/>
          </a:prstGeom>
        </p:spPr>
      </p:pic>
      <p:sp>
        <p:nvSpPr>
          <p:cNvPr id="24" name="TextBox 23"/>
          <p:cNvSpPr txBox="1"/>
          <p:nvPr/>
        </p:nvSpPr>
        <p:spPr>
          <a:xfrm>
            <a:off x="6903720" y="5961888"/>
            <a:ext cx="4800600" cy="594360"/>
          </a:xfrm>
          <a:prstGeom prst="rect">
            <a:avLst/>
          </a:prstGeom>
          <a:noFill/>
        </p:spPr>
        <p:txBody>
          <a:bodyPr wrap="square" lIns="0" rIns="0" tIns="0" bIns="0" anchor="t">
            <a:spAutoFit/>
          </a:bodyPr>
          <a:lstStyle/>
          <a:p>
            <a:pPr algn="ctr">
              <a:lnSpc>
                <a:spcPct val="115000"/>
              </a:lnSpc>
            </a:pPr>
            <a:r>
              <a:rPr sz="1200" b="1" i="0">
                <a:solidFill>
                  <a:srgbClr val="21295C"/>
                </a:solidFill>
                <a:latin typeface="DejaVu Sans"/>
              </a:rPr>
              <a:t>«Я снова прошу»: эвристики ловят типовые проблемы, но не заменяют проверку на живом пользователе.</a:t>
            </a:r>
          </a:p>
        </p:txBody>
      </p:sp>
      <p:sp>
        <p:nvSpPr>
          <p:cNvPr id="25" name="TextBox 24"/>
          <p:cNvSpPr txBox="1"/>
          <p:nvPr/>
        </p:nvSpPr>
        <p:spPr>
          <a:xfrm>
            <a:off x="502920" y="6455664"/>
            <a:ext cx="11201400" cy="548640"/>
          </a:xfrm>
          <a:prstGeom prst="rect">
            <a:avLst/>
          </a:prstGeom>
          <a:noFill/>
        </p:spPr>
        <p:txBody>
          <a:bodyPr wrap="square" lIns="0" rIns="0" tIns="0" bIns="0" anchor="t">
            <a:spAutoFit/>
          </a:bodyPr>
          <a:lstStyle/>
          <a:p>
            <a:pPr algn="l">
              <a:lnSpc>
                <a:spcPct val="102000"/>
              </a:lnSpc>
            </a:pPr>
            <a:r>
              <a:rPr sz="850" b="1" i="1">
                <a:solidFill>
                  <a:srgbClr val="065A82"/>
                </a:solidFill>
                <a:latin typeface="DejaVu Sans"/>
              </a:rPr>
              <a:t>[1] </a:t>
            </a:r>
            <a:r>
              <a:rPr sz="850" i="1">
                <a:solidFill>
                  <a:srgbClr val="1C7293"/>
                </a:solidFill>
                <a:latin typeface="DejaVu Sans"/>
                <a:hlinkClick r:id="rId5"/>
              </a:rPr>
              <a:t>Nielsen — 10 usability heuristics</a:t>
            </a:r>
            <a:r>
              <a:rPr sz="850" i="1">
                <a:solidFill>
                  <a:srgbClr val="1C7293"/>
                </a:solidFill>
                <a:latin typeface="DejaVu Sans"/>
              </a:rPr>
              <a:t>   ·   </a:t>
            </a:r>
            <a:r>
              <a:rPr sz="850" b="1" i="1">
                <a:solidFill>
                  <a:srgbClr val="065A82"/>
                </a:solidFill>
                <a:latin typeface="DejaVu Sans"/>
              </a:rPr>
              <a:t>[2] </a:t>
            </a:r>
            <a:r>
              <a:rPr sz="850" i="1">
                <a:solidFill>
                  <a:srgbClr val="1C7293"/>
                </a:solidFill>
                <a:latin typeface="DejaVu Sans"/>
                <a:hlinkClick r:id="rId6"/>
              </a:rPr>
              <a:t>Nielsen — «you are not the user»</a:t>
            </a:r>
          </a:p>
        </p:txBody>
      </p:sp>
      <p:sp>
        <p:nvSpPr>
          <p:cNvPr id="26" name="TextBox 25"/>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19 / 56</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65760"/>
            <a:ext cx="11155680" cy="777240"/>
          </a:xfrm>
          <a:prstGeom prst="rect">
            <a:avLst/>
          </a:prstGeom>
          <a:noFill/>
        </p:spPr>
        <p:txBody>
          <a:bodyPr wrap="square" lIns="0" rIns="0" tIns="0" bIns="0" anchor="t">
            <a:spAutoFit/>
          </a:bodyPr>
          <a:lstStyle/>
          <a:p>
            <a:pPr algn="l">
              <a:lnSpc>
                <a:spcPct val="110000"/>
              </a:lnSpc>
            </a:pPr>
            <a:r>
              <a:rPr sz="2400" b="1" i="0">
                <a:solidFill>
                  <a:srgbClr val="21295C"/>
                </a:solidFill>
                <a:latin typeface="DejaVu Sans"/>
              </a:rPr>
              <a:t>ИИ для дивергенции, человек для конвергенции</a:t>
            </a:r>
          </a:p>
        </p:txBody>
      </p:sp>
      <p:sp>
        <p:nvSpPr>
          <p:cNvPr id="3" name="Rounded Rectangle 2"/>
          <p:cNvSpPr/>
          <p:nvPr/>
        </p:nvSpPr>
        <p:spPr>
          <a:xfrm>
            <a:off x="502920" y="1463040"/>
            <a:ext cx="5989320" cy="2788920"/>
          </a:xfrm>
          <a:prstGeom prst="roundRect">
            <a:avLst>
              <a:gd name="adj" fmla="val 10928"/>
            </a:avLst>
          </a:prstGeom>
          <a:solidFill>
            <a:srgbClr val="F4F7FA"/>
          </a:solidFill>
          <a:ln w="1905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1572768"/>
            <a:ext cx="5486400" cy="365760"/>
          </a:xfrm>
          <a:prstGeom prst="rect">
            <a:avLst/>
          </a:prstGeom>
          <a:noFill/>
        </p:spPr>
        <p:txBody>
          <a:bodyPr wrap="square" lIns="0" rIns="0" tIns="0" bIns="0" anchor="t">
            <a:spAutoFit/>
          </a:bodyPr>
          <a:lstStyle/>
          <a:p>
            <a:pPr algn="l">
              <a:lnSpc>
                <a:spcPct val="115000"/>
              </a:lnSpc>
            </a:pPr>
            <a:r>
              <a:rPr sz="1350" b="1" i="0">
                <a:solidFill>
                  <a:srgbClr val="065A82"/>
                </a:solidFill>
                <a:latin typeface="DejaVu Sans"/>
              </a:rPr>
              <a:t>Генерация направлений</a:t>
            </a:r>
          </a:p>
        </p:txBody>
      </p:sp>
      <p:sp>
        <p:nvSpPr>
          <p:cNvPr id="5" name="Rounded Rectangle 4"/>
          <p:cNvSpPr/>
          <p:nvPr/>
        </p:nvSpPr>
        <p:spPr>
          <a:xfrm>
            <a:off x="777240" y="2057400"/>
            <a:ext cx="1188720" cy="868680"/>
          </a:xfrm>
          <a:prstGeom prst="roundRect">
            <a:avLst>
              <a:gd name="adj" fmla="val 10000"/>
            </a:avLst>
          </a:prstGeom>
          <a:solidFill>
            <a:srgbClr val="FFFFFF"/>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monitor-smartphone-light.png"/>
          <p:cNvPicPr>
            <a:picLocks noChangeAspect="1"/>
          </p:cNvPicPr>
          <p:nvPr/>
        </p:nvPicPr>
        <p:blipFill>
          <a:blip r:embed="rId2"/>
          <a:stretch>
            <a:fillRect/>
          </a:stretch>
        </p:blipFill>
        <p:spPr>
          <a:xfrm>
            <a:off x="1161288" y="2212848"/>
            <a:ext cx="411480" cy="411480"/>
          </a:xfrm>
          <a:prstGeom prst="rect">
            <a:avLst/>
          </a:prstGeom>
        </p:spPr>
      </p:pic>
      <p:sp>
        <p:nvSpPr>
          <p:cNvPr id="7" name="TextBox 6"/>
          <p:cNvSpPr txBox="1"/>
          <p:nvPr/>
        </p:nvSpPr>
        <p:spPr>
          <a:xfrm>
            <a:off x="777240" y="2761488"/>
            <a:ext cx="1188720" cy="228600"/>
          </a:xfrm>
          <a:prstGeom prst="rect">
            <a:avLst/>
          </a:prstGeom>
          <a:noFill/>
        </p:spPr>
        <p:txBody>
          <a:bodyPr wrap="square" lIns="0" rIns="0" tIns="0" bIns="0" anchor="t">
            <a:spAutoFit/>
          </a:bodyPr>
          <a:lstStyle/>
          <a:p>
            <a:pPr algn="ctr">
              <a:lnSpc>
                <a:spcPct val="115000"/>
              </a:lnSpc>
            </a:pPr>
            <a:r>
              <a:rPr sz="950" b="0" i="0">
                <a:solidFill>
                  <a:srgbClr val="5B6678"/>
                </a:solidFill>
                <a:latin typeface="DejaVu Sans"/>
              </a:rPr>
              <a:t>вариант 1</a:t>
            </a:r>
          </a:p>
        </p:txBody>
      </p:sp>
      <p:sp>
        <p:nvSpPr>
          <p:cNvPr id="8" name="Rounded Rectangle 7"/>
          <p:cNvSpPr/>
          <p:nvPr/>
        </p:nvSpPr>
        <p:spPr>
          <a:xfrm>
            <a:off x="2194560" y="2057400"/>
            <a:ext cx="1188720" cy="868680"/>
          </a:xfrm>
          <a:prstGeom prst="roundRect">
            <a:avLst>
              <a:gd name="adj" fmla="val 10000"/>
            </a:avLst>
          </a:prstGeom>
          <a:solidFill>
            <a:srgbClr val="FFFFFF"/>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monitor-smartphone-light.png"/>
          <p:cNvPicPr>
            <a:picLocks noChangeAspect="1"/>
          </p:cNvPicPr>
          <p:nvPr/>
        </p:nvPicPr>
        <p:blipFill>
          <a:blip r:embed="rId2"/>
          <a:stretch>
            <a:fillRect/>
          </a:stretch>
        </p:blipFill>
        <p:spPr>
          <a:xfrm>
            <a:off x="2578608" y="2212848"/>
            <a:ext cx="411480" cy="411480"/>
          </a:xfrm>
          <a:prstGeom prst="rect">
            <a:avLst/>
          </a:prstGeom>
        </p:spPr>
      </p:pic>
      <p:sp>
        <p:nvSpPr>
          <p:cNvPr id="10" name="TextBox 9"/>
          <p:cNvSpPr txBox="1"/>
          <p:nvPr/>
        </p:nvSpPr>
        <p:spPr>
          <a:xfrm>
            <a:off x="2194560" y="2761488"/>
            <a:ext cx="1188720" cy="228600"/>
          </a:xfrm>
          <a:prstGeom prst="rect">
            <a:avLst/>
          </a:prstGeom>
          <a:noFill/>
        </p:spPr>
        <p:txBody>
          <a:bodyPr wrap="square" lIns="0" rIns="0" tIns="0" bIns="0" anchor="t">
            <a:spAutoFit/>
          </a:bodyPr>
          <a:lstStyle/>
          <a:p>
            <a:pPr algn="ctr">
              <a:lnSpc>
                <a:spcPct val="115000"/>
              </a:lnSpc>
            </a:pPr>
            <a:r>
              <a:rPr sz="950" b="0" i="0">
                <a:solidFill>
                  <a:srgbClr val="5B6678"/>
                </a:solidFill>
                <a:latin typeface="DejaVu Sans"/>
              </a:rPr>
              <a:t>вариант 2</a:t>
            </a:r>
          </a:p>
        </p:txBody>
      </p:sp>
      <p:sp>
        <p:nvSpPr>
          <p:cNvPr id="11" name="Rounded Rectangle 10"/>
          <p:cNvSpPr/>
          <p:nvPr/>
        </p:nvSpPr>
        <p:spPr>
          <a:xfrm>
            <a:off x="3611880" y="2057400"/>
            <a:ext cx="1188720" cy="868680"/>
          </a:xfrm>
          <a:prstGeom prst="roundRect">
            <a:avLst>
              <a:gd name="adj" fmla="val 10000"/>
            </a:avLst>
          </a:prstGeom>
          <a:solidFill>
            <a:srgbClr val="FFFFFF"/>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monitor-smartphone-light.png"/>
          <p:cNvPicPr>
            <a:picLocks noChangeAspect="1"/>
          </p:cNvPicPr>
          <p:nvPr/>
        </p:nvPicPr>
        <p:blipFill>
          <a:blip r:embed="rId2"/>
          <a:stretch>
            <a:fillRect/>
          </a:stretch>
        </p:blipFill>
        <p:spPr>
          <a:xfrm>
            <a:off x="3995928" y="2212848"/>
            <a:ext cx="411480" cy="411480"/>
          </a:xfrm>
          <a:prstGeom prst="rect">
            <a:avLst/>
          </a:prstGeom>
        </p:spPr>
      </p:pic>
      <p:sp>
        <p:nvSpPr>
          <p:cNvPr id="13" name="TextBox 12"/>
          <p:cNvSpPr txBox="1"/>
          <p:nvPr/>
        </p:nvSpPr>
        <p:spPr>
          <a:xfrm>
            <a:off x="3611880" y="2761488"/>
            <a:ext cx="1188720" cy="228600"/>
          </a:xfrm>
          <a:prstGeom prst="rect">
            <a:avLst/>
          </a:prstGeom>
          <a:noFill/>
        </p:spPr>
        <p:txBody>
          <a:bodyPr wrap="square" lIns="0" rIns="0" tIns="0" bIns="0" anchor="t">
            <a:spAutoFit/>
          </a:bodyPr>
          <a:lstStyle/>
          <a:p>
            <a:pPr algn="ctr">
              <a:lnSpc>
                <a:spcPct val="115000"/>
              </a:lnSpc>
            </a:pPr>
            <a:r>
              <a:rPr sz="950" b="0" i="0">
                <a:solidFill>
                  <a:srgbClr val="5B6678"/>
                </a:solidFill>
                <a:latin typeface="DejaVu Sans"/>
              </a:rPr>
              <a:t>вариант 3</a:t>
            </a:r>
          </a:p>
        </p:txBody>
      </p:sp>
      <p:sp>
        <p:nvSpPr>
          <p:cNvPr id="14" name="Rounded Rectangle 13"/>
          <p:cNvSpPr/>
          <p:nvPr/>
        </p:nvSpPr>
        <p:spPr>
          <a:xfrm>
            <a:off x="5029200" y="2057400"/>
            <a:ext cx="1188720" cy="868680"/>
          </a:xfrm>
          <a:prstGeom prst="roundRect">
            <a:avLst>
              <a:gd name="adj" fmla="val 10000"/>
            </a:avLst>
          </a:prstGeom>
          <a:solidFill>
            <a:srgbClr val="FFFFFF"/>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5" name="Picture 14" descr="monitor-smartphone-light.png"/>
          <p:cNvPicPr>
            <a:picLocks noChangeAspect="1"/>
          </p:cNvPicPr>
          <p:nvPr/>
        </p:nvPicPr>
        <p:blipFill>
          <a:blip r:embed="rId2"/>
          <a:stretch>
            <a:fillRect/>
          </a:stretch>
        </p:blipFill>
        <p:spPr>
          <a:xfrm>
            <a:off x="5413248" y="2212848"/>
            <a:ext cx="411480" cy="411480"/>
          </a:xfrm>
          <a:prstGeom prst="rect">
            <a:avLst/>
          </a:prstGeom>
        </p:spPr>
      </p:pic>
      <p:sp>
        <p:nvSpPr>
          <p:cNvPr id="16" name="TextBox 15"/>
          <p:cNvSpPr txBox="1"/>
          <p:nvPr/>
        </p:nvSpPr>
        <p:spPr>
          <a:xfrm>
            <a:off x="5029200" y="2761488"/>
            <a:ext cx="1188720" cy="228600"/>
          </a:xfrm>
          <a:prstGeom prst="rect">
            <a:avLst/>
          </a:prstGeom>
          <a:noFill/>
        </p:spPr>
        <p:txBody>
          <a:bodyPr wrap="square" lIns="0" rIns="0" tIns="0" bIns="0" anchor="t">
            <a:spAutoFit/>
          </a:bodyPr>
          <a:lstStyle/>
          <a:p>
            <a:pPr algn="ctr">
              <a:lnSpc>
                <a:spcPct val="115000"/>
              </a:lnSpc>
            </a:pPr>
            <a:r>
              <a:rPr sz="950" b="0" i="0">
                <a:solidFill>
                  <a:srgbClr val="5B6678"/>
                </a:solidFill>
                <a:latin typeface="DejaVu Sans"/>
              </a:rPr>
              <a:t>вариант 4</a:t>
            </a:r>
          </a:p>
        </p:txBody>
      </p:sp>
      <p:sp>
        <p:nvSpPr>
          <p:cNvPr id="17" name="Right Arrow 16"/>
          <p:cNvSpPr/>
          <p:nvPr/>
        </p:nvSpPr>
        <p:spPr>
          <a:xfrm>
            <a:off x="2788920" y="3246120"/>
            <a:ext cx="914400" cy="274320"/>
          </a:xfrm>
          <a:prstGeom prst="rightArrow">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2331720" y="3611880"/>
            <a:ext cx="1828800" cy="502920"/>
          </a:xfrm>
          <a:prstGeom prst="roundRect">
            <a:avLst>
              <a:gd name="adj" fmla="val 12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2331720" y="3675887"/>
            <a:ext cx="1828800" cy="365760"/>
          </a:xfrm>
          <a:prstGeom prst="rect">
            <a:avLst/>
          </a:prstGeom>
          <a:noFill/>
        </p:spPr>
        <p:txBody>
          <a:bodyPr wrap="square" lIns="0" rIns="0" tIns="0" bIns="0" anchor="t">
            <a:spAutoFit/>
          </a:bodyPr>
          <a:lstStyle/>
          <a:p>
            <a:pPr algn="ctr">
              <a:lnSpc>
                <a:spcPct val="115000"/>
              </a:lnSpc>
            </a:pPr>
            <a:r>
              <a:rPr sz="1150" b="1" i="0">
                <a:solidFill>
                  <a:srgbClr val="21295C"/>
                </a:solidFill>
                <a:latin typeface="DejaVu Sans"/>
              </a:rPr>
              <a:t>1 доработанное</a:t>
            </a:r>
          </a:p>
        </p:txBody>
      </p:sp>
      <p:sp>
        <p:nvSpPr>
          <p:cNvPr id="20" name="Rounded Rectangle 19"/>
          <p:cNvSpPr/>
          <p:nvPr/>
        </p:nvSpPr>
        <p:spPr>
          <a:xfrm>
            <a:off x="6720840" y="1463040"/>
            <a:ext cx="4983480" cy="2788920"/>
          </a:xfrm>
          <a:prstGeom prst="roundRect">
            <a:avLst>
              <a:gd name="adj" fmla="val 10928"/>
            </a:avLst>
          </a:prstGeom>
          <a:solidFill>
            <a:srgbClr val="F4F7FA"/>
          </a:solidFill>
          <a:ln w="1905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949440" y="1572768"/>
            <a:ext cx="4572000" cy="365760"/>
          </a:xfrm>
          <a:prstGeom prst="rect">
            <a:avLst/>
          </a:prstGeom>
          <a:noFill/>
        </p:spPr>
        <p:txBody>
          <a:bodyPr wrap="square" lIns="0" rIns="0" tIns="0" bIns="0" anchor="t">
            <a:spAutoFit/>
          </a:bodyPr>
          <a:lstStyle/>
          <a:p>
            <a:pPr algn="l">
              <a:lnSpc>
                <a:spcPct val="115000"/>
              </a:lnSpc>
            </a:pPr>
            <a:r>
              <a:rPr sz="1350" b="1" i="0">
                <a:solidFill>
                  <a:srgbClr val="028090"/>
                </a:solidFill>
                <a:latin typeface="DejaVu Sans"/>
              </a:rPr>
              <a:t>Инструменты 2025–26</a:t>
            </a:r>
          </a:p>
        </p:txBody>
      </p:sp>
      <p:sp>
        <p:nvSpPr>
          <p:cNvPr id="22" name="TextBox 21"/>
          <p:cNvSpPr txBox="1"/>
          <p:nvPr/>
        </p:nvSpPr>
        <p:spPr>
          <a:xfrm>
            <a:off x="6949440" y="2011680"/>
            <a:ext cx="4572000" cy="457200"/>
          </a:xfrm>
          <a:prstGeom prst="rect">
            <a:avLst/>
          </a:prstGeom>
          <a:noFill/>
        </p:spPr>
        <p:txBody>
          <a:bodyPr wrap="square" lIns="0" rIns="0" tIns="0" bIns="0" anchor="t">
            <a:spAutoFit/>
          </a:bodyPr>
          <a:lstStyle/>
          <a:p>
            <a:pPr algn="l">
              <a:lnSpc>
                <a:spcPct val="115000"/>
              </a:lnSpc>
            </a:pPr>
            <a:r>
              <a:rPr sz="1250" b="0" i="0">
                <a:solidFill>
                  <a:srgbClr val="21295C"/>
                </a:solidFill>
                <a:latin typeface="DejaVu Sans"/>
              </a:rPr>
              <a:t>v0 (Vercel) · Figma Make </a:t>
            </a:r>
            <a:r>
              <a:rPr sz="650" baseline="30000" b="0" i="1">
                <a:latin typeface="DejaVu Sans"/>
                <a:cs typeface="DejaVu Sans"/>
                <a:ea typeface="DejaVu Sans"/>
                <a:solidFill>
                  <a:srgbClr val="1C7293"/>
                </a:solidFill>
              </a:rPr>
              <a:t>[1]</a:t>
            </a:r>
            <a:r>
              <a:rPr sz="1250" b="0" i="0">
                <a:latin typeface="DejaVu Sans"/>
                <a:cs typeface="DejaVu Sans"/>
                <a:ea typeface="DejaVu Sans"/>
                <a:solidFill>
                  <a:srgbClr val="21295C"/>
                </a:solidFill>
              </a:rPr>
              <a:t> · Google Stitch </a:t>
            </a:r>
            <a:r>
              <a:rPr sz="650" baseline="30000" b="0" i="1">
                <a:latin typeface="DejaVu Sans"/>
                <a:cs typeface="DejaVu Sans"/>
                <a:ea typeface="DejaVu Sans"/>
                <a:solidFill>
                  <a:srgbClr val="1C7293"/>
                </a:solidFill>
              </a:rPr>
              <a:t>[2]</a:t>
            </a:r>
            <a:r>
              <a:rPr sz="1250" b="0" i="0">
                <a:latin typeface="DejaVu Sans"/>
                <a:cs typeface="DejaVu Sans"/>
                <a:ea typeface="DejaVu Sans"/>
                <a:solidFill>
                  <a:srgbClr val="21295C"/>
                </a:solidFill>
              </a:rPr>
              <a:t> · bolt.new</a:t>
            </a:r>
          </a:p>
        </p:txBody>
      </p:sp>
      <p:sp>
        <p:nvSpPr>
          <p:cNvPr id="23" name="TextBox 22"/>
          <p:cNvSpPr txBox="1"/>
          <p:nvPr/>
        </p:nvSpPr>
        <p:spPr>
          <a:xfrm>
            <a:off x="6949440" y="2697480"/>
            <a:ext cx="4572000" cy="1371600"/>
          </a:xfrm>
          <a:prstGeom prst="rect">
            <a:avLst/>
          </a:prstGeom>
          <a:noFill/>
        </p:spPr>
        <p:txBody>
          <a:bodyPr wrap="square" lIns="0" rIns="0" tIns="0" bIns="0" anchor="t">
            <a:spAutoFit/>
          </a:bodyPr>
          <a:lstStyle/>
          <a:p>
            <a:pPr algn="l">
              <a:lnSpc>
                <a:spcPct val="118000"/>
              </a:lnSpc>
            </a:pPr>
            <a:r>
              <a:rPr sz="1200" b="0" i="0">
                <a:solidFill>
                  <a:srgbClr val="21295C"/>
                </a:solidFill>
                <a:latin typeface="DejaVu Sans"/>
              </a:rPr>
              <a:t>• 2–4 направления за минуты (было — день ручного вайрфрейминга)</a:t>
            </a:r>
          </a:p>
          <a:p>
            <a:pPr algn="l">
              <a:lnSpc>
                <a:spcPct val="118000"/>
              </a:lnSpc>
            </a:pPr>
            <a:r>
              <a:rPr sz="1200" b="0" i="0">
                <a:solidFill>
                  <a:srgbClr val="21295C"/>
                </a:solidFill>
                <a:latin typeface="DejaVu Sans"/>
              </a:rPr>
              <a:t>• Figma Make подтягивает собственные компоненты команды — меньше переделки</a:t>
            </a:r>
          </a:p>
        </p:txBody>
      </p:sp>
      <p:sp>
        <p:nvSpPr>
          <p:cNvPr id="24" name="Rounded Rectangle 23"/>
          <p:cNvSpPr/>
          <p:nvPr/>
        </p:nvSpPr>
        <p:spPr>
          <a:xfrm>
            <a:off x="502920" y="4434840"/>
            <a:ext cx="11201400" cy="960120"/>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22376" y="4489703"/>
            <a:ext cx="10762488" cy="850392"/>
          </a:xfrm>
          <a:prstGeom prst="rect">
            <a:avLst/>
          </a:prstGeom>
          <a:noFill/>
        </p:spPr>
        <p:txBody>
          <a:bodyPr wrap="square" lIns="0" rIns="0" tIns="0" bIns="0" anchor="ctr">
            <a:spAutoFit/>
          </a:bodyPr>
          <a:lstStyle/>
          <a:p>
            <a:pPr algn="l">
              <a:lnSpc>
                <a:spcPct val="120000"/>
              </a:lnSpc>
            </a:pPr>
            <a:r>
              <a:rPr sz="1300" b="1" i="0">
                <a:solidFill>
                  <a:srgbClr val="21295C"/>
                </a:solidFill>
                <a:latin typeface="DejaVu Sans"/>
              </a:rPr>
              <a:t>Конвергенция требует суждения о конкретном контексте, которого нет в обучающих данных: ИИ расширяет пространство вариантов, а выбор и проверку на живом пользователе оставляем человеку.</a:t>
            </a:r>
          </a:p>
        </p:txBody>
      </p:sp>
      <p:sp>
        <p:nvSpPr>
          <p:cNvPr id="26" name="TextBox 25"/>
          <p:cNvSpPr txBox="1"/>
          <p:nvPr/>
        </p:nvSpPr>
        <p:spPr>
          <a:xfrm>
            <a:off x="502920" y="6455664"/>
            <a:ext cx="11201400" cy="548640"/>
          </a:xfrm>
          <a:prstGeom prst="rect">
            <a:avLst/>
          </a:prstGeom>
          <a:noFill/>
        </p:spPr>
        <p:txBody>
          <a:bodyPr wrap="square" lIns="0" rIns="0" tIns="0" bIns="0" anchor="t">
            <a:spAutoFit/>
          </a:bodyPr>
          <a:lstStyle/>
          <a:p>
            <a:pPr algn="l">
              <a:lnSpc>
                <a:spcPct val="102000"/>
              </a:lnSpc>
            </a:pPr>
            <a:r>
              <a:rPr sz="850" b="1" i="1">
                <a:solidFill>
                  <a:srgbClr val="065A82"/>
                </a:solidFill>
                <a:latin typeface="DejaVu Sans"/>
              </a:rPr>
              <a:t>[1] </a:t>
            </a:r>
            <a:r>
              <a:rPr sz="850" i="1">
                <a:solidFill>
                  <a:srgbClr val="1C7293"/>
                </a:solidFill>
                <a:latin typeface="DejaVu Sans"/>
                <a:hlinkClick r:id="rId3"/>
              </a:rPr>
              <a:t>Figma — AI-инструменты дизайна 2026</a:t>
            </a:r>
            <a:r>
              <a:rPr sz="850" i="1">
                <a:solidFill>
                  <a:srgbClr val="1C7293"/>
                </a:solidFill>
                <a:latin typeface="DejaVu Sans"/>
              </a:rPr>
              <a:t>   ·   </a:t>
            </a:r>
            <a:r>
              <a:rPr sz="850" b="1" i="1">
                <a:solidFill>
                  <a:srgbClr val="065A82"/>
                </a:solidFill>
                <a:latin typeface="DejaVu Sans"/>
              </a:rPr>
              <a:t>[2] </a:t>
            </a:r>
            <a:r>
              <a:rPr sz="850" i="1">
                <a:solidFill>
                  <a:srgbClr val="1C7293"/>
                </a:solidFill>
                <a:latin typeface="DejaVu Sans"/>
                <a:hlinkClick r:id="rId4"/>
              </a:rPr>
              <a:t>Google Stitch (ex-Galileo AI)</a:t>
            </a:r>
          </a:p>
        </p:txBody>
      </p:sp>
      <p:sp>
        <p:nvSpPr>
          <p:cNvPr id="27" name="TextBox 26"/>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20 / 56</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65760"/>
            <a:ext cx="11247120" cy="777240"/>
          </a:xfrm>
          <a:prstGeom prst="rect">
            <a:avLst/>
          </a:prstGeom>
          <a:noFill/>
        </p:spPr>
        <p:txBody>
          <a:bodyPr wrap="square" lIns="0" rIns="0" tIns="0" bIns="0" anchor="t">
            <a:spAutoFit/>
          </a:bodyPr>
          <a:lstStyle/>
          <a:p>
            <a:pPr algn="l">
              <a:lnSpc>
                <a:spcPct val="110000"/>
              </a:lnSpc>
            </a:pPr>
            <a:r>
              <a:rPr sz="2100" b="1" i="0">
                <a:solidFill>
                  <a:srgbClr val="21295C"/>
                </a:solidFill>
                <a:latin typeface="DejaVu Sans"/>
              </a:rPr>
              <a:t>29% соответствие WCAG на 21 880 оценках — платформа важнее промпта </a:t>
            </a:r>
            <a:r>
              <a:rPr sz="1092" baseline="30000" b="0" i="1">
                <a:latin typeface="DejaVu Sans"/>
                <a:cs typeface="DejaVu Sans"/>
                <a:ea typeface="DejaVu Sans"/>
                <a:solidFill>
                  <a:srgbClr val="1C7293"/>
                </a:solidFill>
              </a:rPr>
              <a:t>[1]</a:t>
            </a:r>
          </a:p>
        </p:txBody>
      </p:sp>
      <p:sp>
        <p:nvSpPr>
          <p:cNvPr id="3" name="Rounded Rectangle 2"/>
          <p:cNvSpPr/>
          <p:nvPr/>
        </p:nvSpPr>
        <p:spPr>
          <a:xfrm>
            <a:off x="502920" y="1417320"/>
            <a:ext cx="4434840" cy="3246120"/>
          </a:xfrm>
          <a:prstGeom prst="roundRect">
            <a:avLst>
              <a:gd name="adj" fmla="val 9389"/>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wcag-29.png"/>
          <p:cNvPicPr>
            <a:picLocks noChangeAspect="1"/>
          </p:cNvPicPr>
          <p:nvPr/>
        </p:nvPicPr>
        <p:blipFill>
          <a:blip r:embed="rId2"/>
          <a:stretch>
            <a:fillRect/>
          </a:stretch>
        </p:blipFill>
        <p:spPr>
          <a:xfrm>
            <a:off x="1280160" y="1600200"/>
            <a:ext cx="2880360" cy="2880360"/>
          </a:xfrm>
          <a:prstGeom prst="rect">
            <a:avLst/>
          </a:prstGeom>
        </p:spPr>
      </p:pic>
      <p:sp>
        <p:nvSpPr>
          <p:cNvPr id="5" name="Rounded Rectangle 4"/>
          <p:cNvSpPr/>
          <p:nvPr/>
        </p:nvSpPr>
        <p:spPr>
          <a:xfrm>
            <a:off x="5166360" y="1417320"/>
            <a:ext cx="3246120" cy="3246120"/>
          </a:xfrm>
          <a:prstGeom prst="roundRect">
            <a:avLst>
              <a:gd name="adj" fmla="val 9389"/>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s18-pigeon.jpg"/>
          <p:cNvPicPr>
            <a:picLocks noChangeAspect="1"/>
          </p:cNvPicPr>
          <p:nvPr/>
        </p:nvPicPr>
        <p:blipFill>
          <a:blip r:embed="rId3"/>
          <a:stretch>
            <a:fillRect/>
          </a:stretch>
        </p:blipFill>
        <p:spPr>
          <a:xfrm>
            <a:off x="5276088" y="1681528"/>
            <a:ext cx="3026663" cy="2717703"/>
          </a:xfrm>
          <a:prstGeom prst="rect">
            <a:avLst/>
          </a:prstGeom>
        </p:spPr>
      </p:pic>
      <p:sp>
        <p:nvSpPr>
          <p:cNvPr id="7" name="Rounded Rectangle 6"/>
          <p:cNvSpPr/>
          <p:nvPr/>
        </p:nvSpPr>
        <p:spPr>
          <a:xfrm>
            <a:off x="8641080" y="1417320"/>
            <a:ext cx="3063240" cy="3246120"/>
          </a:xfrm>
          <a:prstGeom prst="roundRect">
            <a:avLst>
              <a:gd name="adj" fmla="val 9950"/>
            </a:avLst>
          </a:prstGeom>
          <a:solidFill>
            <a:srgbClr val="F4F7FA"/>
          </a:solidFill>
          <a:ln w="1778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851392" y="1554480"/>
            <a:ext cx="2651760" cy="1280160"/>
          </a:xfrm>
          <a:prstGeom prst="rect">
            <a:avLst/>
          </a:prstGeom>
          <a:noFill/>
        </p:spPr>
        <p:txBody>
          <a:bodyPr wrap="square" lIns="0" rIns="0" tIns="0" bIns="0" anchor="t">
            <a:spAutoFit/>
          </a:bodyPr>
          <a:lstStyle/>
          <a:p>
            <a:pPr algn="l">
              <a:lnSpc>
                <a:spcPct val="120000"/>
              </a:lnSpc>
            </a:pPr>
            <a:r>
              <a:rPr sz="1150" b="0" i="0">
                <a:solidFill>
                  <a:srgbClr val="21295C"/>
                </a:solidFill>
                <a:latin typeface="DejaVu Sans"/>
              </a:rPr>
              <a:t>21 880 оценок WCAG на ИИ-интерфейсах:</a:t>
            </a:r>
          </a:p>
          <a:p>
            <a:pPr algn="l">
              <a:lnSpc>
                <a:spcPct val="120000"/>
              </a:lnSpc>
            </a:pPr>
            <a:r>
              <a:rPr sz="1150" b="0" i="0">
                <a:solidFill>
                  <a:srgbClr val="21295C"/>
                </a:solidFill>
                <a:latin typeface="DejaVu Sans"/>
              </a:rPr>
              <a:t/>
            </a:r>
          </a:p>
          <a:p>
            <a:pPr algn="l">
              <a:lnSpc>
                <a:spcPct val="120000"/>
              </a:lnSpc>
            </a:pPr>
            <a:r>
              <a:rPr sz="1150" b="0" i="0">
                <a:solidFill>
                  <a:srgbClr val="21295C"/>
                </a:solidFill>
                <a:latin typeface="DejaVu Sans"/>
              </a:rPr>
              <a:t>• контраст 26,8%</a:t>
            </a:r>
          </a:p>
          <a:p>
            <a:pPr algn="l">
              <a:lnSpc>
                <a:spcPct val="120000"/>
              </a:lnSpc>
            </a:pPr>
            <a:r>
              <a:rPr sz="1150" b="0" i="0">
                <a:solidFill>
                  <a:srgbClr val="21295C"/>
                </a:solidFill>
                <a:latin typeface="DejaVu Sans"/>
              </a:rPr>
              <a:t>• использование цвета 19,2%</a:t>
            </a:r>
          </a:p>
        </p:txBody>
      </p:sp>
      <p:sp>
        <p:nvSpPr>
          <p:cNvPr id="9" name="TextBox 8"/>
          <p:cNvSpPr txBox="1"/>
          <p:nvPr/>
        </p:nvSpPr>
        <p:spPr>
          <a:xfrm>
            <a:off x="8851392" y="3063240"/>
            <a:ext cx="2651760" cy="1463040"/>
          </a:xfrm>
          <a:prstGeom prst="rect">
            <a:avLst/>
          </a:prstGeom>
          <a:noFill/>
        </p:spPr>
        <p:txBody>
          <a:bodyPr wrap="square" lIns="0" rIns="0" tIns="0" bIns="0" anchor="t">
            <a:spAutoFit/>
          </a:bodyPr>
          <a:lstStyle/>
          <a:p>
            <a:pPr algn="l">
              <a:lnSpc>
                <a:spcPct val="118000"/>
              </a:lnSpc>
            </a:pPr>
            <a:r>
              <a:rPr sz="1150" b="0" i="1">
                <a:solidFill>
                  <a:srgbClr val="5B6678"/>
                </a:solidFill>
                <a:latin typeface="DejaVu Sans"/>
              </a:rPr>
              <a:t>«Сделай доступным» в промпте не гарантирует результат — решают дефолты платформы, а не текст запроса.</a:t>
            </a:r>
          </a:p>
        </p:txBody>
      </p:sp>
      <p:sp>
        <p:nvSpPr>
          <p:cNvPr id="10" name="Rounded Rectangle 9"/>
          <p:cNvSpPr/>
          <p:nvPr/>
        </p:nvSpPr>
        <p:spPr>
          <a:xfrm>
            <a:off x="502920" y="4846320"/>
            <a:ext cx="11201400" cy="731520"/>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22376" y="4901183"/>
            <a:ext cx="10762488" cy="621792"/>
          </a:xfrm>
          <a:prstGeom prst="rect">
            <a:avLst/>
          </a:prstGeom>
          <a:noFill/>
        </p:spPr>
        <p:txBody>
          <a:bodyPr wrap="square" lIns="0" rIns="0" tIns="0" bIns="0" anchor="ctr">
            <a:spAutoFit/>
          </a:bodyPr>
          <a:lstStyle/>
          <a:p>
            <a:pPr algn="l">
              <a:lnSpc>
                <a:spcPct val="120000"/>
              </a:lnSpc>
            </a:pPr>
            <a:r>
              <a:rPr sz="1300" b="1" i="0">
                <a:solidFill>
                  <a:srgbClr val="21295C"/>
                </a:solidFill>
                <a:latin typeface="DejaVu Sans"/>
              </a:rPr>
              <a:t>Дизайн для НЕДЕТЕРМИНИРОВАННОГО вывода: тот же ввод → разный вывод → ломает эвристику консистентности; нужны человеко-контрольные точки.</a:t>
            </a:r>
          </a:p>
        </p:txBody>
      </p:sp>
      <p:sp>
        <p:nvSpPr>
          <p:cNvPr id="12" name="TextBox 11"/>
          <p:cNvSpPr txBox="1"/>
          <p:nvPr/>
        </p:nvSpPr>
        <p:spPr>
          <a:xfrm>
            <a:off x="502920" y="6455664"/>
            <a:ext cx="11201400" cy="548640"/>
          </a:xfrm>
          <a:prstGeom prst="rect">
            <a:avLst/>
          </a:prstGeom>
          <a:noFill/>
        </p:spPr>
        <p:txBody>
          <a:bodyPr wrap="square" lIns="0" rIns="0" tIns="0" bIns="0" anchor="t">
            <a:spAutoFit/>
          </a:bodyPr>
          <a:lstStyle/>
          <a:p>
            <a:pPr algn="l">
              <a:lnSpc>
                <a:spcPct val="102000"/>
              </a:lnSpc>
            </a:pPr>
            <a:r>
              <a:rPr sz="850" b="1" i="1">
                <a:solidFill>
                  <a:srgbClr val="065A82"/>
                </a:solidFill>
                <a:latin typeface="DejaVu Sans"/>
              </a:rPr>
              <a:t>[1] </a:t>
            </a:r>
            <a:r>
              <a:rPr sz="850" i="1">
                <a:solidFill>
                  <a:srgbClr val="1C7293"/>
                </a:solidFill>
                <a:latin typeface="DejaVu Sans"/>
                <a:hlinkClick r:id="rId4"/>
              </a:rPr>
              <a:t>ACM Web4All 2026 — Generated Inaccessible</a:t>
            </a:r>
          </a:p>
        </p:txBody>
      </p:sp>
      <p:sp>
        <p:nvSpPr>
          <p:cNvPr id="13" name="TextBox 12"/>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21 / 56</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65760"/>
            <a:ext cx="11247120" cy="777240"/>
          </a:xfrm>
          <a:prstGeom prst="rect">
            <a:avLst/>
          </a:prstGeom>
          <a:noFill/>
        </p:spPr>
        <p:txBody>
          <a:bodyPr wrap="square" lIns="0" rIns="0" tIns="0" bIns="0" anchor="t">
            <a:spAutoFit/>
          </a:bodyPr>
          <a:lstStyle/>
          <a:p>
            <a:pPr algn="l">
              <a:lnSpc>
                <a:spcPct val="110000"/>
              </a:lnSpc>
            </a:pPr>
            <a:r>
              <a:rPr sz="2100" b="1" i="0">
                <a:solidFill>
                  <a:srgbClr val="21295C"/>
                </a:solidFill>
                <a:latin typeface="DejaVu Sans"/>
              </a:rPr>
              <a:t>Защита появилась почти через два года после запуска — уже после трагедии</a:t>
            </a:r>
          </a:p>
        </p:txBody>
      </p:sp>
      <p:sp>
        <p:nvSpPr>
          <p:cNvPr id="3" name="Rounded Rectangle 2"/>
          <p:cNvSpPr/>
          <p:nvPr/>
        </p:nvSpPr>
        <p:spPr>
          <a:xfrm>
            <a:off x="502920" y="1417320"/>
            <a:ext cx="3429000" cy="3931920"/>
          </a:xfrm>
          <a:prstGeom prst="roundRect">
            <a:avLst>
              <a:gd name="adj" fmla="val 8888"/>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shield-alert-light.png"/>
          <p:cNvPicPr>
            <a:picLocks noChangeAspect="1"/>
          </p:cNvPicPr>
          <p:nvPr/>
        </p:nvPicPr>
        <p:blipFill>
          <a:blip r:embed="rId2"/>
          <a:stretch>
            <a:fillRect/>
          </a:stretch>
        </p:blipFill>
        <p:spPr>
          <a:xfrm>
            <a:off x="1417320" y="1874519"/>
            <a:ext cx="1600200" cy="1600200"/>
          </a:xfrm>
          <a:prstGeom prst="rect">
            <a:avLst/>
          </a:prstGeom>
        </p:spPr>
      </p:pic>
      <p:sp>
        <p:nvSpPr>
          <p:cNvPr id="5" name="TextBox 4"/>
          <p:cNvSpPr txBox="1"/>
          <p:nvPr/>
        </p:nvSpPr>
        <p:spPr>
          <a:xfrm>
            <a:off x="777240" y="3703320"/>
            <a:ext cx="2880360" cy="1371600"/>
          </a:xfrm>
          <a:prstGeom prst="rect">
            <a:avLst/>
          </a:prstGeom>
          <a:noFill/>
        </p:spPr>
        <p:txBody>
          <a:bodyPr wrap="square" lIns="0" rIns="0" tIns="0" bIns="0" anchor="t">
            <a:spAutoFit/>
          </a:bodyPr>
          <a:lstStyle/>
          <a:p>
            <a:pPr algn="ctr">
              <a:lnSpc>
                <a:spcPct val="120000"/>
              </a:lnSpc>
            </a:pPr>
            <a:r>
              <a:rPr sz="1300" b="1" i="0">
                <a:solidFill>
                  <a:srgbClr val="21295C"/>
                </a:solidFill>
                <a:latin typeface="DejaVu Sans"/>
              </a:rPr>
              <a:t>Защита уязвимых пользователей добавлена ретрофитом — после трагедии, а не в исходном дизайн-брифе.</a:t>
            </a:r>
          </a:p>
        </p:txBody>
      </p:sp>
      <p:sp>
        <p:nvSpPr>
          <p:cNvPr id="6" name="Rounded Rectangle 5"/>
          <p:cNvSpPr/>
          <p:nvPr/>
        </p:nvSpPr>
        <p:spPr>
          <a:xfrm>
            <a:off x="4160520" y="1417320"/>
            <a:ext cx="2880360" cy="1325880"/>
          </a:xfrm>
          <a:prstGeom prst="roundRect">
            <a:avLst>
              <a:gd name="adj" fmla="val 22000"/>
            </a:avLst>
          </a:prstGeom>
          <a:solidFill>
            <a:srgbClr val="FFFFFF"/>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s19-characterai-real-source.png"/>
          <p:cNvPicPr>
            <a:picLocks noChangeAspect="1"/>
          </p:cNvPicPr>
          <p:nvPr/>
        </p:nvPicPr>
        <p:blipFill>
          <a:blip r:embed="rId3"/>
          <a:stretch>
            <a:fillRect/>
          </a:stretch>
        </p:blipFill>
        <p:spPr>
          <a:xfrm>
            <a:off x="4343400" y="1817995"/>
            <a:ext cx="2514600" cy="524530"/>
          </a:xfrm>
          <a:prstGeom prst="rect">
            <a:avLst/>
          </a:prstGeom>
        </p:spPr>
      </p:pic>
      <p:sp>
        <p:nvSpPr>
          <p:cNvPr id="8" name="Rounded Rectangle 7"/>
          <p:cNvSpPr/>
          <p:nvPr/>
        </p:nvSpPr>
        <p:spPr>
          <a:xfrm>
            <a:off x="7223760" y="1417320"/>
            <a:ext cx="4480560" cy="1325880"/>
          </a:xfrm>
          <a:prstGeom prst="roundRect">
            <a:avLst>
              <a:gd name="adj" fmla="val 22000"/>
            </a:avLst>
          </a:prstGeom>
          <a:solidFill>
            <a:srgbClr val="F4F7FA"/>
          </a:solidFill>
          <a:ln w="1778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452360" y="1481328"/>
            <a:ext cx="4023360" cy="310896"/>
          </a:xfrm>
          <a:prstGeom prst="rect">
            <a:avLst/>
          </a:prstGeom>
          <a:noFill/>
        </p:spPr>
        <p:txBody>
          <a:bodyPr wrap="square" lIns="0" rIns="0" tIns="0" bIns="0" anchor="t">
            <a:spAutoFit/>
          </a:bodyPr>
          <a:lstStyle/>
          <a:p>
            <a:pPr algn="l">
              <a:lnSpc>
                <a:spcPct val="115000"/>
              </a:lnSpc>
            </a:pPr>
            <a:r>
              <a:rPr sz="1400" b="1" i="0">
                <a:solidFill>
                  <a:srgbClr val="065A82"/>
                </a:solidFill>
                <a:latin typeface="DejaVu Sans"/>
              </a:rPr>
              <a:t>Character.AI</a:t>
            </a:r>
          </a:p>
        </p:txBody>
      </p:sp>
      <p:sp>
        <p:nvSpPr>
          <p:cNvPr id="10" name="TextBox 9"/>
          <p:cNvSpPr txBox="1"/>
          <p:nvPr/>
        </p:nvSpPr>
        <p:spPr>
          <a:xfrm>
            <a:off x="7452360" y="1847088"/>
            <a:ext cx="4023360" cy="822960"/>
          </a:xfrm>
          <a:prstGeom prst="rect">
            <a:avLst/>
          </a:prstGeom>
          <a:noFill/>
        </p:spPr>
        <p:txBody>
          <a:bodyPr wrap="square" lIns="0" rIns="0" tIns="0" bIns="0" anchor="t">
            <a:spAutoFit/>
          </a:bodyPr>
          <a:lstStyle/>
          <a:p>
            <a:pPr algn="l">
              <a:lnSpc>
                <a:spcPct val="115000"/>
              </a:lnSpc>
            </a:pPr>
            <a:r>
              <a:rPr sz="1200" b="0" i="0">
                <a:solidFill>
                  <a:srgbClr val="21295C"/>
                </a:solidFill>
                <a:latin typeface="DejaVu Sans"/>
              </a:rPr>
              <a:t>14-летний пользователь погиб после месяцев общения с ИИ-персонажем (02.2024) </a:t>
            </a:r>
            <a:r>
              <a:rPr sz="624" baseline="30000" b="0" i="1">
                <a:latin typeface="DejaVu Sans"/>
                <a:cs typeface="DejaVu Sans"/>
                <a:ea typeface="DejaVu Sans"/>
                <a:solidFill>
                  <a:srgbClr val="1C7293"/>
                </a:solidFill>
              </a:rPr>
              <a:t>[1]</a:t>
            </a:r>
            <a:r>
              <a:rPr sz="1200" b="0" i="0">
                <a:latin typeface="DejaVu Sans"/>
                <a:cs typeface="DejaVu Sans"/>
                <a:ea typeface="DejaVu Sans"/>
                <a:solidFill>
                  <a:srgbClr val="21295C"/>
                </a:solidFill>
              </a:rPr>
              <a:t>.</a:t>
            </a:r>
          </a:p>
        </p:txBody>
      </p:sp>
      <p:sp>
        <p:nvSpPr>
          <p:cNvPr id="11" name="Oval 10"/>
          <p:cNvSpPr/>
          <p:nvPr/>
        </p:nvSpPr>
        <p:spPr>
          <a:xfrm>
            <a:off x="4434840" y="3246120"/>
            <a:ext cx="274320" cy="274320"/>
          </a:xfrm>
          <a:prstGeom prst="ellipse">
            <a:avLst/>
          </a:prstGeom>
          <a:solidFill>
            <a:srgbClr val="1C7293"/>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931920" y="3611880"/>
            <a:ext cx="1280160" cy="457200"/>
          </a:xfrm>
          <a:prstGeom prst="rect">
            <a:avLst/>
          </a:prstGeom>
          <a:noFill/>
        </p:spPr>
        <p:txBody>
          <a:bodyPr wrap="square" lIns="0" rIns="0" tIns="0" bIns="0" anchor="t">
            <a:spAutoFit/>
          </a:bodyPr>
          <a:lstStyle/>
          <a:p>
            <a:pPr algn="ctr">
              <a:lnSpc>
                <a:spcPct val="90000"/>
              </a:lnSpc>
            </a:pPr>
            <a:r>
              <a:rPr sz="1000" b="1" i="0">
                <a:solidFill>
                  <a:srgbClr val="21295C"/>
                </a:solidFill>
                <a:latin typeface="DejaVu Sans"/>
              </a:rPr>
              <a:t>Запуск</a:t>
            </a:r>
          </a:p>
        </p:txBody>
      </p:sp>
      <p:cxnSp>
        <p:nvCxnSpPr>
          <p:cNvPr id="13" name="Connector 12"/>
          <p:cNvCxnSpPr/>
          <p:nvPr/>
        </p:nvCxnSpPr>
        <p:spPr>
          <a:xfrm>
            <a:off x="4709159" y="3383280"/>
            <a:ext cx="1554481" cy="0"/>
          </a:xfrm>
          <a:prstGeom prst="line">
            <a:avLst/>
          </a:prstGeom>
          <a:ln w="25400">
            <a:solidFill>
              <a:srgbClr val="E5EAF0"/>
            </a:solidFill>
          </a:ln>
        </p:spPr>
        <p:style>
          <a:lnRef idx="2">
            <a:schemeClr val="accent1"/>
          </a:lnRef>
          <a:fillRef idx="0">
            <a:schemeClr val="accent1"/>
          </a:fillRef>
          <a:effectRef idx="1">
            <a:schemeClr val="accent1"/>
          </a:effectRef>
          <a:fontRef idx="minor">
            <a:schemeClr val="tx1"/>
          </a:fontRef>
        </p:style>
      </p:cxnSp>
      <p:sp>
        <p:nvSpPr>
          <p:cNvPr id="14" name="Oval 13"/>
          <p:cNvSpPr/>
          <p:nvPr/>
        </p:nvSpPr>
        <p:spPr>
          <a:xfrm>
            <a:off x="6263640" y="3246120"/>
            <a:ext cx="274320" cy="274320"/>
          </a:xfrm>
          <a:prstGeom prst="ellipse">
            <a:avLst/>
          </a:prstGeom>
          <a:solidFill>
            <a:srgbClr val="1C7293"/>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760720" y="3611880"/>
            <a:ext cx="1280160" cy="457200"/>
          </a:xfrm>
          <a:prstGeom prst="rect">
            <a:avLst/>
          </a:prstGeom>
          <a:noFill/>
        </p:spPr>
        <p:txBody>
          <a:bodyPr wrap="square" lIns="0" rIns="0" tIns="0" bIns="0" anchor="t">
            <a:spAutoFit/>
          </a:bodyPr>
          <a:lstStyle/>
          <a:p>
            <a:pPr algn="ctr">
              <a:lnSpc>
                <a:spcPct val="90000"/>
              </a:lnSpc>
            </a:pPr>
            <a:r>
              <a:rPr sz="1000" b="1" i="0">
                <a:solidFill>
                  <a:srgbClr val="21295C"/>
                </a:solidFill>
                <a:latin typeface="DejaVu Sans"/>
              </a:rPr>
              <a:t>Трагедия</a:t>
            </a:r>
          </a:p>
          <a:p>
            <a:pPr algn="ctr">
              <a:lnSpc>
                <a:spcPct val="90000"/>
              </a:lnSpc>
            </a:pPr>
            <a:r>
              <a:rPr sz="1000" b="1" i="0">
                <a:solidFill>
                  <a:srgbClr val="21295C"/>
                </a:solidFill>
                <a:latin typeface="DejaVu Sans"/>
              </a:rPr>
              <a:t>02.2024</a:t>
            </a:r>
          </a:p>
        </p:txBody>
      </p:sp>
      <p:cxnSp>
        <p:nvCxnSpPr>
          <p:cNvPr id="16" name="Connector 15"/>
          <p:cNvCxnSpPr/>
          <p:nvPr/>
        </p:nvCxnSpPr>
        <p:spPr>
          <a:xfrm>
            <a:off x="6537959" y="3383280"/>
            <a:ext cx="1554481" cy="0"/>
          </a:xfrm>
          <a:prstGeom prst="line">
            <a:avLst/>
          </a:prstGeom>
          <a:ln w="25400">
            <a:solidFill>
              <a:srgbClr val="E5EAF0"/>
            </a:solidFill>
          </a:ln>
        </p:spPr>
        <p:style>
          <a:lnRef idx="2">
            <a:schemeClr val="accent1"/>
          </a:lnRef>
          <a:fillRef idx="0">
            <a:schemeClr val="accent1"/>
          </a:fillRef>
          <a:effectRef idx="1">
            <a:schemeClr val="accent1"/>
          </a:effectRef>
          <a:fontRef idx="minor">
            <a:schemeClr val="tx1"/>
          </a:fontRef>
        </p:style>
      </p:cxnSp>
      <p:sp>
        <p:nvSpPr>
          <p:cNvPr id="17" name="Oval 16"/>
          <p:cNvSpPr/>
          <p:nvPr/>
        </p:nvSpPr>
        <p:spPr>
          <a:xfrm>
            <a:off x="8092440" y="3246120"/>
            <a:ext cx="274320" cy="274320"/>
          </a:xfrm>
          <a:prstGeom prst="ellipse">
            <a:avLst/>
          </a:prstGeom>
          <a:solidFill>
            <a:srgbClr val="1C7293"/>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589519" y="3611880"/>
            <a:ext cx="1280160" cy="457200"/>
          </a:xfrm>
          <a:prstGeom prst="rect">
            <a:avLst/>
          </a:prstGeom>
          <a:noFill/>
        </p:spPr>
        <p:txBody>
          <a:bodyPr wrap="square" lIns="0" rIns="0" tIns="0" bIns="0" anchor="t">
            <a:spAutoFit/>
          </a:bodyPr>
          <a:lstStyle/>
          <a:p>
            <a:pPr algn="ctr">
              <a:lnSpc>
                <a:spcPct val="90000"/>
              </a:lnSpc>
            </a:pPr>
            <a:r>
              <a:rPr sz="1000" b="1" i="0">
                <a:solidFill>
                  <a:srgbClr val="21295C"/>
                </a:solidFill>
                <a:latin typeface="DejaVu Sans"/>
              </a:rPr>
              <a:t>Иск</a:t>
            </a:r>
          </a:p>
          <a:p>
            <a:pPr algn="ctr">
              <a:lnSpc>
                <a:spcPct val="90000"/>
              </a:lnSpc>
            </a:pPr>
            <a:r>
              <a:rPr sz="1000" b="1" i="0">
                <a:solidFill>
                  <a:srgbClr val="21295C"/>
                </a:solidFill>
                <a:latin typeface="DejaVu Sans"/>
              </a:rPr>
              <a:t>10.2024</a:t>
            </a:r>
          </a:p>
        </p:txBody>
      </p:sp>
      <p:cxnSp>
        <p:nvCxnSpPr>
          <p:cNvPr id="19" name="Connector 18"/>
          <p:cNvCxnSpPr/>
          <p:nvPr/>
        </p:nvCxnSpPr>
        <p:spPr>
          <a:xfrm>
            <a:off x="8366760" y="3383280"/>
            <a:ext cx="1554480" cy="0"/>
          </a:xfrm>
          <a:prstGeom prst="line">
            <a:avLst/>
          </a:prstGeom>
          <a:ln w="25400">
            <a:solidFill>
              <a:srgbClr val="E5EAF0"/>
            </a:solidFill>
          </a:ln>
        </p:spPr>
        <p:style>
          <a:lnRef idx="2">
            <a:schemeClr val="accent1"/>
          </a:lnRef>
          <a:fillRef idx="0">
            <a:schemeClr val="accent1"/>
          </a:fillRef>
          <a:effectRef idx="1">
            <a:schemeClr val="accent1"/>
          </a:effectRef>
          <a:fontRef idx="minor">
            <a:schemeClr val="tx1"/>
          </a:fontRef>
        </p:style>
      </p:cxnSp>
      <p:sp>
        <p:nvSpPr>
          <p:cNvPr id="20" name="Oval 19"/>
          <p:cNvSpPr/>
          <p:nvPr/>
        </p:nvSpPr>
        <p:spPr>
          <a:xfrm>
            <a:off x="9921240" y="3246120"/>
            <a:ext cx="274320" cy="274320"/>
          </a:xfrm>
          <a:prstGeom prst="ellipse">
            <a:avLst/>
          </a:prstGeom>
          <a:solidFill>
            <a:srgbClr val="F0AB00"/>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418319" y="3611880"/>
            <a:ext cx="1280160" cy="457200"/>
          </a:xfrm>
          <a:prstGeom prst="rect">
            <a:avLst/>
          </a:prstGeom>
          <a:noFill/>
        </p:spPr>
        <p:txBody>
          <a:bodyPr wrap="square" lIns="0" rIns="0" tIns="0" bIns="0" anchor="t">
            <a:spAutoFit/>
          </a:bodyPr>
          <a:lstStyle/>
          <a:p>
            <a:pPr algn="ctr">
              <a:lnSpc>
                <a:spcPct val="90000"/>
              </a:lnSpc>
            </a:pPr>
            <a:r>
              <a:rPr sz="1000" b="1" i="0">
                <a:solidFill>
                  <a:srgbClr val="21295C"/>
                </a:solidFill>
                <a:latin typeface="DejaVu Sans"/>
              </a:rPr>
              <a:t>Защита</a:t>
            </a:r>
          </a:p>
          <a:p>
            <a:pPr algn="ctr">
              <a:lnSpc>
                <a:spcPct val="90000"/>
              </a:lnSpc>
            </a:pPr>
            <a:r>
              <a:rPr sz="1000" b="1" i="0">
                <a:solidFill>
                  <a:srgbClr val="21295C"/>
                </a:solidFill>
                <a:latin typeface="DejaVu Sans"/>
              </a:rPr>
              <a:t>11.2025 </a:t>
            </a:r>
            <a:r>
              <a:rPr sz="520" baseline="30000" b="0" i="1">
                <a:latin typeface="DejaVu Sans"/>
                <a:cs typeface="DejaVu Sans"/>
                <a:ea typeface="DejaVu Sans"/>
                <a:solidFill>
                  <a:srgbClr val="1C7293"/>
                </a:solidFill>
              </a:rPr>
              <a:t>[2]</a:t>
            </a:r>
          </a:p>
        </p:txBody>
      </p:sp>
      <p:sp>
        <p:nvSpPr>
          <p:cNvPr id="22" name="Rounded Rectangle 21"/>
          <p:cNvSpPr/>
          <p:nvPr/>
        </p:nvSpPr>
        <p:spPr>
          <a:xfrm>
            <a:off x="4160520" y="4343400"/>
            <a:ext cx="7543800" cy="1005840"/>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379976" y="4398264"/>
            <a:ext cx="7104888" cy="896112"/>
          </a:xfrm>
          <a:prstGeom prst="rect">
            <a:avLst/>
          </a:prstGeom>
          <a:noFill/>
        </p:spPr>
        <p:txBody>
          <a:bodyPr wrap="square" lIns="0" rIns="0" tIns="0" bIns="0" anchor="ctr">
            <a:spAutoFit/>
          </a:bodyPr>
          <a:lstStyle/>
          <a:p>
            <a:pPr algn="l">
              <a:lnSpc>
                <a:spcPct val="120000"/>
              </a:lnSpc>
            </a:pPr>
            <a:r>
              <a:rPr sz="1250" b="1" i="0">
                <a:solidFill>
                  <a:srgbClr val="21295C"/>
                </a:solidFill>
                <a:latin typeface="DejaVu Sans"/>
              </a:rPr>
              <a:t>Корень — не рантайм-баг, а отсутствующее требование в дизайн-брифе: MVP оптимизировал вовлечённость без вопроса «кто может пострадать». Критерий: защита уязвимых — в MVP, а не патчем после трагедии.</a:t>
            </a:r>
          </a:p>
        </p:txBody>
      </p:sp>
      <p:sp>
        <p:nvSpPr>
          <p:cNvPr id="24" name="TextBox 23"/>
          <p:cNvSpPr txBox="1"/>
          <p:nvPr/>
        </p:nvSpPr>
        <p:spPr>
          <a:xfrm>
            <a:off x="502920" y="6455664"/>
            <a:ext cx="11201400" cy="548640"/>
          </a:xfrm>
          <a:prstGeom prst="rect">
            <a:avLst/>
          </a:prstGeom>
          <a:noFill/>
        </p:spPr>
        <p:txBody>
          <a:bodyPr wrap="square" lIns="0" rIns="0" tIns="0" bIns="0" anchor="t">
            <a:spAutoFit/>
          </a:bodyPr>
          <a:lstStyle/>
          <a:p>
            <a:pPr algn="l">
              <a:lnSpc>
                <a:spcPct val="102000"/>
              </a:lnSpc>
            </a:pPr>
            <a:r>
              <a:rPr sz="850" b="1" i="1">
                <a:solidFill>
                  <a:srgbClr val="065A82"/>
                </a:solidFill>
                <a:latin typeface="DejaVu Sans"/>
              </a:rPr>
              <a:t>[1] </a:t>
            </a:r>
            <a:r>
              <a:rPr sz="850" i="1">
                <a:solidFill>
                  <a:srgbClr val="1C7293"/>
                </a:solidFill>
                <a:latin typeface="DejaVu Sans"/>
                <a:hlinkClick r:id="rId4"/>
              </a:rPr>
              <a:t>Washington Post (24 окт. 2024)</a:t>
            </a:r>
            <a:r>
              <a:rPr sz="850" i="1">
                <a:solidFill>
                  <a:srgbClr val="1C7293"/>
                </a:solidFill>
                <a:latin typeface="DejaVu Sans"/>
              </a:rPr>
              <a:t>   ·   </a:t>
            </a:r>
            <a:r>
              <a:rPr sz="850" b="1" i="1">
                <a:solidFill>
                  <a:srgbClr val="065A82"/>
                </a:solidFill>
                <a:latin typeface="DejaVu Sans"/>
              </a:rPr>
              <a:t>[2] </a:t>
            </a:r>
            <a:r>
              <a:rPr sz="850" i="1">
                <a:solidFill>
                  <a:srgbClr val="1C7293"/>
                </a:solidFill>
                <a:latin typeface="DejaVu Sans"/>
                <a:hlinkClick r:id="rId5"/>
              </a:rPr>
              <a:t>CBS News (янв. 2026) — урегулирование</a:t>
            </a:r>
          </a:p>
        </p:txBody>
      </p:sp>
      <p:sp>
        <p:nvSpPr>
          <p:cNvPr id="25" name="TextBox 24"/>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22 / 56</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65760"/>
            <a:ext cx="11247120" cy="777240"/>
          </a:xfrm>
          <a:prstGeom prst="rect">
            <a:avLst/>
          </a:prstGeom>
          <a:noFill/>
        </p:spPr>
        <p:txBody>
          <a:bodyPr wrap="square" lIns="0" rIns="0" tIns="0" bIns="0" anchor="t">
            <a:spAutoFit/>
          </a:bodyPr>
          <a:lstStyle/>
          <a:p>
            <a:pPr algn="l">
              <a:lnSpc>
                <a:spcPct val="110000"/>
              </a:lnSpc>
            </a:pPr>
            <a:r>
              <a:rPr sz="1900" b="1" i="0">
                <a:solidFill>
                  <a:srgbClr val="21295C"/>
                </a:solidFill>
                <a:latin typeface="DejaVu Sans"/>
              </a:rPr>
              <a:t>Найдено случайно: та же анкета с другой датой рождения — мгновенное приглашение</a:t>
            </a:r>
          </a:p>
        </p:txBody>
      </p:sp>
      <p:sp>
        <p:nvSpPr>
          <p:cNvPr id="3" name="Rounded Rectangle 2"/>
          <p:cNvSpPr/>
          <p:nvPr/>
        </p:nvSpPr>
        <p:spPr>
          <a:xfrm>
            <a:off x="502920" y="1463040"/>
            <a:ext cx="5532120" cy="3063240"/>
          </a:xfrm>
          <a:prstGeom prst="roundRect">
            <a:avLst>
              <a:gd name="adj" fmla="val 9950"/>
            </a:avLst>
          </a:prstGeom>
          <a:solidFill>
            <a:srgbClr val="F4F7FA"/>
          </a:solidFill>
          <a:ln w="1905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og-mid.png"/>
          <p:cNvPicPr>
            <a:picLocks noChangeAspect="1"/>
          </p:cNvPicPr>
          <p:nvPr/>
        </p:nvPicPr>
        <p:blipFill>
          <a:blip r:embed="rId2"/>
          <a:stretch>
            <a:fillRect/>
          </a:stretch>
        </p:blipFill>
        <p:spPr>
          <a:xfrm>
            <a:off x="960120" y="1783080"/>
            <a:ext cx="822960" cy="822960"/>
          </a:xfrm>
          <a:prstGeom prst="rect">
            <a:avLst/>
          </a:prstGeom>
        </p:spPr>
      </p:pic>
      <p:sp>
        <p:nvSpPr>
          <p:cNvPr id="5" name="TextBox 4"/>
          <p:cNvSpPr txBox="1"/>
          <p:nvPr/>
        </p:nvSpPr>
        <p:spPr>
          <a:xfrm>
            <a:off x="2011680" y="1874519"/>
            <a:ext cx="3749039" cy="685800"/>
          </a:xfrm>
          <a:prstGeom prst="rect">
            <a:avLst/>
          </a:prstGeom>
          <a:noFill/>
        </p:spPr>
        <p:txBody>
          <a:bodyPr wrap="square" lIns="0" rIns="0" tIns="0" bIns="0" anchor="t">
            <a:spAutoFit/>
          </a:bodyPr>
          <a:lstStyle/>
          <a:p>
            <a:pPr algn="l">
              <a:lnSpc>
                <a:spcPct val="110000"/>
              </a:lnSpc>
            </a:pPr>
            <a:r>
              <a:rPr sz="1300" b="1" i="0">
                <a:solidFill>
                  <a:srgbClr val="21295C"/>
                </a:solidFill>
                <a:latin typeface="DejaVu Sans"/>
              </a:rPr>
              <a:t>Фильтр с жёстко зашитым правилом «дата рождения»</a:t>
            </a:r>
          </a:p>
        </p:txBody>
      </p:sp>
      <p:sp>
        <p:nvSpPr>
          <p:cNvPr id="6" name="Rounded Rectangle 5"/>
          <p:cNvSpPr/>
          <p:nvPr/>
        </p:nvSpPr>
        <p:spPr>
          <a:xfrm>
            <a:off x="822960" y="2788920"/>
            <a:ext cx="4892040" cy="731520"/>
          </a:xfrm>
          <a:prstGeom prst="roundRect">
            <a:avLst>
              <a:gd name="adj" fmla="val 8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51560" y="2880360"/>
            <a:ext cx="4480560" cy="566928"/>
          </a:xfrm>
          <a:prstGeom prst="rect">
            <a:avLst/>
          </a:prstGeom>
          <a:noFill/>
        </p:spPr>
        <p:txBody>
          <a:bodyPr wrap="square" lIns="0" rIns="0" tIns="0" bIns="0" anchor="ctr">
            <a:spAutoFit/>
          </a:bodyPr>
          <a:lstStyle/>
          <a:p>
            <a:pPr algn="l">
              <a:lnSpc>
                <a:spcPct val="115000"/>
              </a:lnSpc>
            </a:pPr>
            <a:r>
              <a:rPr sz="1300" b="1" i="0">
                <a:solidFill>
                  <a:srgbClr val="21295C"/>
                </a:solidFill>
                <a:latin typeface="DejaVu Sans"/>
              </a:rPr>
              <a:t>Женщины 55+ / мужчины 60+ → автоотказ</a:t>
            </a:r>
          </a:p>
        </p:txBody>
      </p:sp>
      <p:sp>
        <p:nvSpPr>
          <p:cNvPr id="8" name="TextBox 7"/>
          <p:cNvSpPr txBox="1"/>
          <p:nvPr/>
        </p:nvSpPr>
        <p:spPr>
          <a:xfrm>
            <a:off x="822960" y="3657600"/>
            <a:ext cx="4937760" cy="731520"/>
          </a:xfrm>
          <a:prstGeom prst="rect">
            <a:avLst/>
          </a:prstGeom>
          <a:noFill/>
        </p:spPr>
        <p:txBody>
          <a:bodyPr wrap="square" lIns="0" rIns="0" tIns="0" bIns="0" anchor="t">
            <a:spAutoFit/>
          </a:bodyPr>
          <a:lstStyle/>
          <a:p>
            <a:pPr algn="l">
              <a:lnSpc>
                <a:spcPct val="115000"/>
              </a:lnSpc>
            </a:pPr>
            <a:r>
              <a:rPr sz="1200" b="0" i="1">
                <a:solidFill>
                  <a:srgbClr val="5B6678"/>
                </a:solidFill>
                <a:latin typeface="DejaVu Sans"/>
              </a:rPr>
              <a:t>Обнаружено случайно: переподача той же анкеты с другой датой рождения → мгновенное приглашение.</a:t>
            </a:r>
          </a:p>
        </p:txBody>
      </p:sp>
      <p:sp>
        <p:nvSpPr>
          <p:cNvPr id="9" name="Rounded Rectangle 8"/>
          <p:cNvSpPr/>
          <p:nvPr/>
        </p:nvSpPr>
        <p:spPr>
          <a:xfrm>
            <a:off x="6263640" y="1463040"/>
            <a:ext cx="5440680" cy="1417320"/>
          </a:xfrm>
          <a:prstGeom prst="roundRect">
            <a:avLst>
              <a:gd name="adj" fmla="val 21505"/>
            </a:avLst>
          </a:prstGeom>
          <a:solidFill>
            <a:srgbClr val="FDF3DC"/>
          </a:solidFill>
          <a:ln w="2286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0" name="Picture 9" descr="scale-gold.png"/>
          <p:cNvPicPr>
            <a:picLocks noChangeAspect="1"/>
          </p:cNvPicPr>
          <p:nvPr/>
        </p:nvPicPr>
        <p:blipFill>
          <a:blip r:embed="rId3"/>
          <a:stretch>
            <a:fillRect/>
          </a:stretch>
        </p:blipFill>
        <p:spPr>
          <a:xfrm>
            <a:off x="6492240" y="1691640"/>
            <a:ext cx="548640" cy="548640"/>
          </a:xfrm>
          <a:prstGeom prst="rect">
            <a:avLst/>
          </a:prstGeom>
        </p:spPr>
      </p:pic>
      <p:sp>
        <p:nvSpPr>
          <p:cNvPr id="11" name="TextBox 10"/>
          <p:cNvSpPr txBox="1"/>
          <p:nvPr/>
        </p:nvSpPr>
        <p:spPr>
          <a:xfrm>
            <a:off x="7178040" y="1691640"/>
            <a:ext cx="4297680" cy="502920"/>
          </a:xfrm>
          <a:prstGeom prst="rect">
            <a:avLst/>
          </a:prstGeom>
          <a:noFill/>
        </p:spPr>
        <p:txBody>
          <a:bodyPr wrap="square" lIns="0" rIns="0" tIns="0" bIns="0" anchor="t">
            <a:spAutoFit/>
          </a:bodyPr>
          <a:lstStyle/>
          <a:p>
            <a:pPr algn="l">
              <a:lnSpc>
                <a:spcPct val="115000"/>
              </a:lnSpc>
            </a:pPr>
            <a:r>
              <a:rPr sz="2400" b="1" i="0">
                <a:solidFill>
                  <a:srgbClr val="21295C"/>
                </a:solidFill>
                <a:latin typeface="DejaVu Sans"/>
              </a:rPr>
              <a:t>$365 000 </a:t>
            </a:r>
            <a:r>
              <a:rPr sz="1248" baseline="30000" b="0" i="1">
                <a:latin typeface="DejaVu Sans"/>
                <a:cs typeface="DejaVu Sans"/>
                <a:ea typeface="DejaVu Sans"/>
                <a:solidFill>
                  <a:srgbClr val="1C7293"/>
                </a:solidFill>
              </a:rPr>
              <a:t>[1]</a:t>
            </a:r>
          </a:p>
        </p:txBody>
      </p:sp>
      <p:sp>
        <p:nvSpPr>
          <p:cNvPr id="12" name="TextBox 11"/>
          <p:cNvSpPr txBox="1"/>
          <p:nvPr/>
        </p:nvSpPr>
        <p:spPr>
          <a:xfrm>
            <a:off x="6492240" y="2331720"/>
            <a:ext cx="5029200" cy="457200"/>
          </a:xfrm>
          <a:prstGeom prst="rect">
            <a:avLst/>
          </a:prstGeom>
          <a:noFill/>
        </p:spPr>
        <p:txBody>
          <a:bodyPr wrap="square" lIns="0" rIns="0" tIns="0" bIns="0" anchor="t">
            <a:spAutoFit/>
          </a:bodyPr>
          <a:lstStyle/>
          <a:p>
            <a:pPr algn="l">
              <a:lnSpc>
                <a:spcPct val="110000"/>
              </a:lnSpc>
            </a:pPr>
            <a:r>
              <a:rPr sz="1150" b="0" i="1">
                <a:solidFill>
                  <a:srgbClr val="5B6678"/>
                </a:solidFill>
                <a:latin typeface="DejaVu Sans"/>
              </a:rPr>
              <a:t>EEOC, 9 авг. 2023 — первое урегулирование по ИИ-дискриминации</a:t>
            </a:r>
          </a:p>
        </p:txBody>
      </p:sp>
      <p:sp>
        <p:nvSpPr>
          <p:cNvPr id="13" name="Rounded Rectangle 12"/>
          <p:cNvSpPr/>
          <p:nvPr/>
        </p:nvSpPr>
        <p:spPr>
          <a:xfrm>
            <a:off x="6263640" y="3063240"/>
            <a:ext cx="5440680" cy="1463040"/>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83096" y="3118104"/>
            <a:ext cx="5001768" cy="1353312"/>
          </a:xfrm>
          <a:prstGeom prst="rect">
            <a:avLst/>
          </a:prstGeom>
          <a:noFill/>
        </p:spPr>
        <p:txBody>
          <a:bodyPr wrap="square" lIns="0" rIns="0" tIns="0" bIns="0" anchor="ctr">
            <a:spAutoFit/>
          </a:bodyPr>
          <a:lstStyle/>
          <a:p>
            <a:pPr algn="l">
              <a:lnSpc>
                <a:spcPct val="120000"/>
              </a:lnSpc>
            </a:pPr>
            <a:r>
              <a:rPr sz="1250" b="1" i="0">
                <a:solidFill>
                  <a:srgbClr val="21295C"/>
                </a:solidFill>
                <a:latin typeface="DejaVu Sans"/>
              </a:rPr>
              <a:t>Контраст с Character.AI: там дизайн НЕ заложил защиту; здесь дизайн ЗАЛОЖИЛ конкретное вредное правило. Критерий: автоматизация решения о людях → аудит признаков на дискриминацию ДО релиза.</a:t>
            </a:r>
          </a:p>
        </p:txBody>
      </p:sp>
      <p:sp>
        <p:nvSpPr>
          <p:cNvPr id="15" name="TextBox 14"/>
          <p:cNvSpPr txBox="1"/>
          <p:nvPr/>
        </p:nvSpPr>
        <p:spPr>
          <a:xfrm>
            <a:off x="502920" y="6455664"/>
            <a:ext cx="11201400" cy="548640"/>
          </a:xfrm>
          <a:prstGeom prst="rect">
            <a:avLst/>
          </a:prstGeom>
          <a:noFill/>
        </p:spPr>
        <p:txBody>
          <a:bodyPr wrap="square" lIns="0" rIns="0" tIns="0" bIns="0" anchor="t">
            <a:spAutoFit/>
          </a:bodyPr>
          <a:lstStyle/>
          <a:p>
            <a:pPr algn="l">
              <a:lnSpc>
                <a:spcPct val="102000"/>
              </a:lnSpc>
            </a:pPr>
            <a:r>
              <a:rPr sz="850" b="1" i="1">
                <a:solidFill>
                  <a:srgbClr val="065A82"/>
                </a:solidFill>
                <a:latin typeface="DejaVu Sans"/>
              </a:rPr>
              <a:t>[1] </a:t>
            </a:r>
            <a:r>
              <a:rPr sz="850" i="1">
                <a:solidFill>
                  <a:srgbClr val="1C7293"/>
                </a:solidFill>
                <a:latin typeface="DejaVu Sans"/>
                <a:hlinkClick r:id="rId4"/>
              </a:rPr>
              <a:t>EEOC (9 авг. 2023) — iTutorGroup</a:t>
            </a:r>
          </a:p>
        </p:txBody>
      </p:sp>
      <p:sp>
        <p:nvSpPr>
          <p:cNvPr id="16" name="TextBox 15"/>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23 / 56</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4F7FA"/>
        </a:solidFill>
        <a:effectLst/>
      </p:bgPr>
    </p:bg>
    <p:spTree>
      <p:nvGrpSpPr>
        <p:cNvPr id="1" name=""/>
        <p:cNvGrpSpPr/>
        <p:nvPr/>
      </p:nvGrpSpPr>
      <p:grpSpPr/>
      <p:sp>
        <p:nvSpPr>
          <p:cNvPr id="2" name="TextBox 1"/>
          <p:cNvSpPr txBox="1"/>
          <p:nvPr/>
        </p:nvSpPr>
        <p:spPr>
          <a:xfrm>
            <a:off x="9464040" y="91440"/>
            <a:ext cx="2651760" cy="1188720"/>
          </a:xfrm>
          <a:prstGeom prst="rect">
            <a:avLst/>
          </a:prstGeom>
          <a:noFill/>
        </p:spPr>
        <p:txBody>
          <a:bodyPr wrap="square" lIns="0" rIns="0" tIns="0" bIns="0" anchor="ctr">
            <a:spAutoFit/>
          </a:bodyPr>
          <a:lstStyle/>
          <a:p>
            <a:pPr algn="ctr">
              <a:lnSpc>
                <a:spcPct val="115000"/>
              </a:lnSpc>
            </a:pPr>
            <a:r>
              <a:rPr sz="9000" b="1" i="0">
                <a:solidFill>
                  <a:srgbClr val="D9E2EC"/>
                </a:solidFill>
                <a:latin typeface="DejaVu Sans"/>
              </a:rPr>
              <a:t>3</a:t>
            </a:r>
          </a:p>
        </p:txBody>
      </p:sp>
      <p:sp>
        <p:nvSpPr>
          <p:cNvPr id="3" name="Rounded Rectangle 2"/>
          <p:cNvSpPr/>
          <p:nvPr/>
        </p:nvSpPr>
        <p:spPr>
          <a:xfrm>
            <a:off x="7635240" y="1234440"/>
            <a:ext cx="4069080" cy="4160520"/>
          </a:xfrm>
          <a:prstGeom prst="roundRect">
            <a:avLst>
              <a:gd name="adj" fmla="val 749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s21-anakin-padme.jpg"/>
          <p:cNvPicPr>
            <a:picLocks noChangeAspect="1"/>
          </p:cNvPicPr>
          <p:nvPr/>
        </p:nvPicPr>
        <p:blipFill>
          <a:blip r:embed="rId2"/>
          <a:stretch>
            <a:fillRect/>
          </a:stretch>
        </p:blipFill>
        <p:spPr>
          <a:xfrm>
            <a:off x="7763256" y="1408176"/>
            <a:ext cx="3813048" cy="3813048"/>
          </a:xfrm>
          <a:prstGeom prst="rect">
            <a:avLst/>
          </a:prstGeom>
        </p:spPr>
      </p:pic>
      <p:sp>
        <p:nvSpPr>
          <p:cNvPr id="5" name="TextBox 4"/>
          <p:cNvSpPr txBox="1"/>
          <p:nvPr/>
        </p:nvSpPr>
        <p:spPr>
          <a:xfrm>
            <a:off x="685800" y="1417320"/>
            <a:ext cx="6675120" cy="502920"/>
          </a:xfrm>
          <a:prstGeom prst="rect">
            <a:avLst/>
          </a:prstGeom>
          <a:noFill/>
        </p:spPr>
        <p:txBody>
          <a:bodyPr wrap="square" lIns="0" rIns="0" tIns="0" bIns="0" anchor="t">
            <a:spAutoFit/>
          </a:bodyPr>
          <a:lstStyle/>
          <a:p>
            <a:pPr algn="l">
              <a:lnSpc>
                <a:spcPct val="115000"/>
              </a:lnSpc>
            </a:pPr>
            <a:r>
              <a:rPr sz="2000" b="1" i="0">
                <a:solidFill>
                  <a:srgbClr val="028090"/>
                </a:solidFill>
                <a:latin typeface="DejaVu Sans"/>
              </a:rPr>
              <a:t>РАЗДЕЛ 3</a:t>
            </a:r>
          </a:p>
        </p:txBody>
      </p:sp>
      <p:sp>
        <p:nvSpPr>
          <p:cNvPr id="6" name="TextBox 5"/>
          <p:cNvSpPr txBox="1"/>
          <p:nvPr/>
        </p:nvSpPr>
        <p:spPr>
          <a:xfrm>
            <a:off x="685800" y="2395728"/>
            <a:ext cx="6675120" cy="1600200"/>
          </a:xfrm>
          <a:prstGeom prst="rect">
            <a:avLst/>
          </a:prstGeom>
          <a:noFill/>
        </p:spPr>
        <p:txBody>
          <a:bodyPr wrap="square" lIns="0" rIns="0" tIns="0" bIns="0" anchor="t">
            <a:spAutoFit/>
          </a:bodyPr>
          <a:lstStyle/>
          <a:p>
            <a:pPr algn="l">
              <a:lnSpc>
                <a:spcPct val="108000"/>
              </a:lnSpc>
            </a:pPr>
            <a:r>
              <a:rPr sz="3000" b="1" i="0">
                <a:solidFill>
                  <a:srgbClr val="21295C"/>
                </a:solidFill>
                <a:latin typeface="DejaVu Sans"/>
              </a:rPr>
              <a:t>Сборка и запуск — схлопнутая стрелка</a:t>
            </a:r>
          </a:p>
        </p:txBody>
      </p:sp>
      <p:sp>
        <p:nvSpPr>
          <p:cNvPr id="7" name="Rounded Rectangle 6"/>
          <p:cNvSpPr/>
          <p:nvPr/>
        </p:nvSpPr>
        <p:spPr>
          <a:xfrm>
            <a:off x="713232" y="3840480"/>
            <a:ext cx="3291840" cy="384048"/>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wrap="none"/>
          <a:lstStyle/>
          <a:p>
            <a:pPr algn="ctr"/>
            <a:r>
              <a:rPr sz="1250" b="1">
                <a:solidFill>
                  <a:srgbClr val="21295C"/>
                </a:solidFill>
                <a:latin typeface="DejaVu Sans"/>
              </a:rPr>
              <a:t>2 базы · 2 провала</a:t>
            </a:r>
          </a:p>
        </p:txBody>
      </p:sp>
      <p:sp>
        <p:nvSpPr>
          <p:cNvPr id="8" name="TextBox 7"/>
          <p:cNvSpPr txBox="1"/>
          <p:nvPr/>
        </p:nvSpPr>
        <p:spPr>
          <a:xfrm>
            <a:off x="713232" y="4389120"/>
            <a:ext cx="6720840" cy="1417320"/>
          </a:xfrm>
          <a:prstGeom prst="rect">
            <a:avLst/>
          </a:prstGeom>
          <a:noFill/>
        </p:spPr>
        <p:txBody>
          <a:bodyPr wrap="square" lIns="0" rIns="0" tIns="0" bIns="0" anchor="t">
            <a:spAutoFit/>
          </a:bodyPr>
          <a:lstStyle/>
          <a:p>
            <a:pPr algn="l">
              <a:lnSpc>
                <a:spcPct val="116000"/>
              </a:lnSpc>
            </a:pPr>
            <a:r>
              <a:rPr sz="1500" b="0" i="1">
                <a:solidFill>
                  <a:srgbClr val="1C7293"/>
                </a:solidFill>
                <a:latin typeface="DejaVu Sans"/>
              </a:rPr>
              <a:t>Здесь ИИ меняет больше всего — стоимость самого написания кода. Но раздел начинается не с этого факта, а с классической дисциплины релиза: как выкатывать безопасно и когда остановиться.</a:t>
            </a:r>
          </a:p>
        </p:txBody>
      </p:sp>
      <p:sp>
        <p:nvSpPr>
          <p:cNvPr id="9" name="Rounded Rectangle 8"/>
          <p:cNvSpPr/>
          <p:nvPr/>
        </p:nvSpPr>
        <p:spPr>
          <a:xfrm>
            <a:off x="502920" y="5989320"/>
            <a:ext cx="1521822"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21208" y="6035040"/>
            <a:ext cx="1485246" cy="164592"/>
          </a:xfrm>
          <a:prstGeom prst="rect">
            <a:avLst/>
          </a:prstGeom>
          <a:noFill/>
        </p:spPr>
        <p:txBody>
          <a:bodyPr wrap="square" lIns="0" rIns="0" tIns="0" bIns="0" anchor="t">
            <a:spAutoFit/>
          </a:bodyPr>
          <a:lstStyle/>
          <a:p>
            <a:pPr algn="ctr">
              <a:lnSpc>
                <a:spcPct val="115000"/>
              </a:lnSpc>
            </a:pPr>
            <a:r>
              <a:rPr sz="1050" b="1" i="0">
                <a:solidFill>
                  <a:srgbClr val="1C7293"/>
                </a:solidFill>
                <a:latin typeface="DejaVu Sans"/>
              </a:rPr>
              <a:t>0</a:t>
            </a:r>
          </a:p>
        </p:txBody>
      </p:sp>
      <p:sp>
        <p:nvSpPr>
          <p:cNvPr id="11" name="TextBox 10"/>
          <p:cNvSpPr txBox="1"/>
          <p:nvPr/>
        </p:nvSpPr>
        <p:spPr>
          <a:xfrm>
            <a:off x="521208" y="6217920"/>
            <a:ext cx="1485246" cy="274320"/>
          </a:xfrm>
          <a:prstGeom prst="rect">
            <a:avLst/>
          </a:prstGeom>
          <a:noFill/>
        </p:spPr>
        <p:txBody>
          <a:bodyPr wrap="square" lIns="0" rIns="0" tIns="0" bIns="0" anchor="t">
            <a:spAutoFit/>
          </a:bodyPr>
          <a:lstStyle/>
          <a:p>
            <a:pPr algn="ctr">
              <a:lnSpc>
                <a:spcPct val="92000"/>
              </a:lnSpc>
            </a:pPr>
            <a:r>
              <a:rPr sz="900" b="0" i="0">
                <a:solidFill>
                  <a:srgbClr val="5B6678"/>
                </a:solidFill>
                <a:latin typeface="DejaVu Sans"/>
              </a:rPr>
              <a:t>Введение</a:t>
            </a:r>
          </a:p>
        </p:txBody>
      </p:sp>
      <p:sp>
        <p:nvSpPr>
          <p:cNvPr id="12" name="Rounded Rectangle 11"/>
          <p:cNvSpPr/>
          <p:nvPr/>
        </p:nvSpPr>
        <p:spPr>
          <a:xfrm>
            <a:off x="2116182" y="5989320"/>
            <a:ext cx="1521822"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134470" y="6035040"/>
            <a:ext cx="1485246" cy="164592"/>
          </a:xfrm>
          <a:prstGeom prst="rect">
            <a:avLst/>
          </a:prstGeom>
          <a:noFill/>
        </p:spPr>
        <p:txBody>
          <a:bodyPr wrap="square" lIns="0" rIns="0" tIns="0" bIns="0" anchor="t">
            <a:spAutoFit/>
          </a:bodyPr>
          <a:lstStyle/>
          <a:p>
            <a:pPr algn="ctr">
              <a:lnSpc>
                <a:spcPct val="115000"/>
              </a:lnSpc>
            </a:pPr>
            <a:r>
              <a:rPr sz="1050" b="1" i="0">
                <a:solidFill>
                  <a:srgbClr val="1C7293"/>
                </a:solidFill>
                <a:latin typeface="DejaVu Sans"/>
              </a:rPr>
              <a:t>1</a:t>
            </a:r>
          </a:p>
        </p:txBody>
      </p:sp>
      <p:sp>
        <p:nvSpPr>
          <p:cNvPr id="14" name="TextBox 13"/>
          <p:cNvSpPr txBox="1"/>
          <p:nvPr/>
        </p:nvSpPr>
        <p:spPr>
          <a:xfrm>
            <a:off x="2134470" y="6217920"/>
            <a:ext cx="1485246" cy="274320"/>
          </a:xfrm>
          <a:prstGeom prst="rect">
            <a:avLst/>
          </a:prstGeom>
          <a:noFill/>
        </p:spPr>
        <p:txBody>
          <a:bodyPr wrap="square" lIns="0" rIns="0" tIns="0" bIns="0" anchor="t">
            <a:spAutoFit/>
          </a:bodyPr>
          <a:lstStyle/>
          <a:p>
            <a:pPr algn="ctr">
              <a:lnSpc>
                <a:spcPct val="92000"/>
              </a:lnSpc>
            </a:pPr>
            <a:r>
              <a:rPr sz="800" b="0" i="0">
                <a:solidFill>
                  <a:srgbClr val="5B6678"/>
                </a:solidFill>
                <a:latin typeface="DejaVu Sans"/>
              </a:rPr>
              <a:t>Исследование</a:t>
            </a:r>
          </a:p>
        </p:txBody>
      </p:sp>
      <p:sp>
        <p:nvSpPr>
          <p:cNvPr id="15" name="Rounded Rectangle 14"/>
          <p:cNvSpPr/>
          <p:nvPr/>
        </p:nvSpPr>
        <p:spPr>
          <a:xfrm>
            <a:off x="3729445" y="5989320"/>
            <a:ext cx="1521822"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747733" y="6035040"/>
            <a:ext cx="1485246" cy="164592"/>
          </a:xfrm>
          <a:prstGeom prst="rect">
            <a:avLst/>
          </a:prstGeom>
          <a:noFill/>
        </p:spPr>
        <p:txBody>
          <a:bodyPr wrap="square" lIns="0" rIns="0" tIns="0" bIns="0" anchor="t">
            <a:spAutoFit/>
          </a:bodyPr>
          <a:lstStyle/>
          <a:p>
            <a:pPr algn="ctr">
              <a:lnSpc>
                <a:spcPct val="115000"/>
              </a:lnSpc>
            </a:pPr>
            <a:r>
              <a:rPr sz="1050" b="1" i="0">
                <a:solidFill>
                  <a:srgbClr val="1C7293"/>
                </a:solidFill>
                <a:latin typeface="DejaVu Sans"/>
              </a:rPr>
              <a:t>2</a:t>
            </a:r>
          </a:p>
        </p:txBody>
      </p:sp>
      <p:sp>
        <p:nvSpPr>
          <p:cNvPr id="17" name="TextBox 16"/>
          <p:cNvSpPr txBox="1"/>
          <p:nvPr/>
        </p:nvSpPr>
        <p:spPr>
          <a:xfrm>
            <a:off x="3747733" y="6217920"/>
            <a:ext cx="1485246" cy="274320"/>
          </a:xfrm>
          <a:prstGeom prst="rect">
            <a:avLst/>
          </a:prstGeom>
          <a:noFill/>
        </p:spPr>
        <p:txBody>
          <a:bodyPr wrap="square" lIns="0" rIns="0" tIns="0" bIns="0" anchor="t">
            <a:spAutoFit/>
          </a:bodyPr>
          <a:lstStyle/>
          <a:p>
            <a:pPr algn="ctr">
              <a:lnSpc>
                <a:spcPct val="92000"/>
              </a:lnSpc>
            </a:pPr>
            <a:r>
              <a:rPr sz="900" b="0" i="0">
                <a:solidFill>
                  <a:srgbClr val="5B6678"/>
                </a:solidFill>
                <a:latin typeface="DejaVu Sans"/>
              </a:rPr>
              <a:t>Дизайн</a:t>
            </a:r>
          </a:p>
        </p:txBody>
      </p:sp>
      <p:sp>
        <p:nvSpPr>
          <p:cNvPr id="18" name="Rounded Rectangle 17"/>
          <p:cNvSpPr/>
          <p:nvPr/>
        </p:nvSpPr>
        <p:spPr>
          <a:xfrm>
            <a:off x="5342708" y="5989320"/>
            <a:ext cx="1521822" cy="530352"/>
          </a:xfrm>
          <a:prstGeom prst="roundRect">
            <a:avLst>
              <a:gd name="adj" fmla="val 12000"/>
            </a:avLst>
          </a:prstGeom>
          <a:solidFill>
            <a:srgbClr val="FDF3DC"/>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360996" y="6035040"/>
            <a:ext cx="1485246" cy="164592"/>
          </a:xfrm>
          <a:prstGeom prst="rect">
            <a:avLst/>
          </a:prstGeom>
          <a:noFill/>
        </p:spPr>
        <p:txBody>
          <a:bodyPr wrap="square" lIns="0" rIns="0" tIns="0" bIns="0" anchor="t">
            <a:spAutoFit/>
          </a:bodyPr>
          <a:lstStyle/>
          <a:p>
            <a:pPr algn="ctr">
              <a:lnSpc>
                <a:spcPct val="115000"/>
              </a:lnSpc>
            </a:pPr>
            <a:r>
              <a:rPr sz="1050" b="1" i="0">
                <a:solidFill>
                  <a:srgbClr val="21295C"/>
                </a:solidFill>
                <a:latin typeface="DejaVu Sans"/>
              </a:rPr>
              <a:t>3</a:t>
            </a:r>
          </a:p>
        </p:txBody>
      </p:sp>
      <p:sp>
        <p:nvSpPr>
          <p:cNvPr id="20" name="TextBox 19"/>
          <p:cNvSpPr txBox="1"/>
          <p:nvPr/>
        </p:nvSpPr>
        <p:spPr>
          <a:xfrm>
            <a:off x="5360996" y="6217920"/>
            <a:ext cx="1485246" cy="274320"/>
          </a:xfrm>
          <a:prstGeom prst="rect">
            <a:avLst/>
          </a:prstGeom>
          <a:noFill/>
        </p:spPr>
        <p:txBody>
          <a:bodyPr wrap="square" lIns="0" rIns="0" tIns="0" bIns="0" anchor="t">
            <a:spAutoFit/>
          </a:bodyPr>
          <a:lstStyle/>
          <a:p>
            <a:pPr algn="ctr">
              <a:lnSpc>
                <a:spcPct val="92000"/>
              </a:lnSpc>
            </a:pPr>
            <a:r>
              <a:rPr sz="800" b="1" i="0">
                <a:solidFill>
                  <a:srgbClr val="21295C"/>
                </a:solidFill>
                <a:latin typeface="DejaVu Sans"/>
              </a:rPr>
              <a:t>Сборка и запуск</a:t>
            </a:r>
          </a:p>
        </p:txBody>
      </p:sp>
      <p:sp>
        <p:nvSpPr>
          <p:cNvPr id="21" name="Rounded Rectangle 20"/>
          <p:cNvSpPr/>
          <p:nvPr/>
        </p:nvSpPr>
        <p:spPr>
          <a:xfrm>
            <a:off x="6955971" y="5989320"/>
            <a:ext cx="1521822"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974259" y="6035040"/>
            <a:ext cx="1485246" cy="164592"/>
          </a:xfrm>
          <a:prstGeom prst="rect">
            <a:avLst/>
          </a:prstGeom>
          <a:noFill/>
        </p:spPr>
        <p:txBody>
          <a:bodyPr wrap="square" lIns="0" rIns="0" tIns="0" bIns="0" anchor="t">
            <a:spAutoFit/>
          </a:bodyPr>
          <a:lstStyle/>
          <a:p>
            <a:pPr algn="ctr">
              <a:lnSpc>
                <a:spcPct val="115000"/>
              </a:lnSpc>
            </a:pPr>
            <a:r>
              <a:rPr sz="1050" b="1" i="0">
                <a:solidFill>
                  <a:srgbClr val="1C7293"/>
                </a:solidFill>
                <a:latin typeface="DejaVu Sans"/>
              </a:rPr>
              <a:t>4</a:t>
            </a:r>
          </a:p>
        </p:txBody>
      </p:sp>
      <p:sp>
        <p:nvSpPr>
          <p:cNvPr id="23" name="TextBox 22"/>
          <p:cNvSpPr txBox="1"/>
          <p:nvPr/>
        </p:nvSpPr>
        <p:spPr>
          <a:xfrm>
            <a:off x="6974259" y="6217920"/>
            <a:ext cx="1485246" cy="274320"/>
          </a:xfrm>
          <a:prstGeom prst="rect">
            <a:avLst/>
          </a:prstGeom>
          <a:noFill/>
        </p:spPr>
        <p:txBody>
          <a:bodyPr wrap="square" lIns="0" rIns="0" tIns="0" bIns="0" anchor="t">
            <a:spAutoFit/>
          </a:bodyPr>
          <a:lstStyle/>
          <a:p>
            <a:pPr algn="ctr">
              <a:lnSpc>
                <a:spcPct val="92000"/>
              </a:lnSpc>
            </a:pPr>
            <a:r>
              <a:rPr sz="900" b="0" i="0">
                <a:solidFill>
                  <a:srgbClr val="5B6678"/>
                </a:solidFill>
                <a:latin typeface="DejaVu Sans"/>
              </a:rPr>
              <a:t>Измерение</a:t>
            </a:r>
          </a:p>
        </p:txBody>
      </p:sp>
      <p:sp>
        <p:nvSpPr>
          <p:cNvPr id="24" name="Rounded Rectangle 23"/>
          <p:cNvSpPr/>
          <p:nvPr/>
        </p:nvSpPr>
        <p:spPr>
          <a:xfrm>
            <a:off x="8569234" y="5989320"/>
            <a:ext cx="1521822"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8587522" y="6035040"/>
            <a:ext cx="1485246" cy="164592"/>
          </a:xfrm>
          <a:prstGeom prst="rect">
            <a:avLst/>
          </a:prstGeom>
          <a:noFill/>
        </p:spPr>
        <p:txBody>
          <a:bodyPr wrap="square" lIns="0" rIns="0" tIns="0" bIns="0" anchor="t">
            <a:spAutoFit/>
          </a:bodyPr>
          <a:lstStyle/>
          <a:p>
            <a:pPr algn="ctr">
              <a:lnSpc>
                <a:spcPct val="115000"/>
              </a:lnSpc>
            </a:pPr>
            <a:r>
              <a:rPr sz="1050" b="1" i="0">
                <a:solidFill>
                  <a:srgbClr val="1C7293"/>
                </a:solidFill>
                <a:latin typeface="DejaVu Sans"/>
              </a:rPr>
              <a:t>5</a:t>
            </a:r>
          </a:p>
        </p:txBody>
      </p:sp>
      <p:sp>
        <p:nvSpPr>
          <p:cNvPr id="26" name="TextBox 25"/>
          <p:cNvSpPr txBox="1"/>
          <p:nvPr/>
        </p:nvSpPr>
        <p:spPr>
          <a:xfrm>
            <a:off x="8587522" y="6217920"/>
            <a:ext cx="1485246" cy="274320"/>
          </a:xfrm>
          <a:prstGeom prst="rect">
            <a:avLst/>
          </a:prstGeom>
          <a:noFill/>
        </p:spPr>
        <p:txBody>
          <a:bodyPr wrap="square" lIns="0" rIns="0" tIns="0" bIns="0" anchor="t">
            <a:spAutoFit/>
          </a:bodyPr>
          <a:lstStyle/>
          <a:p>
            <a:pPr algn="ctr">
              <a:lnSpc>
                <a:spcPct val="92000"/>
              </a:lnSpc>
            </a:pPr>
            <a:r>
              <a:rPr sz="900" b="0" i="0">
                <a:solidFill>
                  <a:srgbClr val="5B6678"/>
                </a:solidFill>
                <a:latin typeface="DejaVu Sans"/>
              </a:rPr>
              <a:t>Поддержка</a:t>
            </a:r>
          </a:p>
        </p:txBody>
      </p:sp>
      <p:sp>
        <p:nvSpPr>
          <p:cNvPr id="27" name="Rounded Rectangle 26"/>
          <p:cNvSpPr/>
          <p:nvPr/>
        </p:nvSpPr>
        <p:spPr>
          <a:xfrm>
            <a:off x="10182497" y="5989320"/>
            <a:ext cx="1521822"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10200785" y="6035040"/>
            <a:ext cx="1485246" cy="164592"/>
          </a:xfrm>
          <a:prstGeom prst="rect">
            <a:avLst/>
          </a:prstGeom>
          <a:noFill/>
        </p:spPr>
        <p:txBody>
          <a:bodyPr wrap="square" lIns="0" rIns="0" tIns="0" bIns="0" anchor="t">
            <a:spAutoFit/>
          </a:bodyPr>
          <a:lstStyle/>
          <a:p>
            <a:pPr algn="ctr">
              <a:lnSpc>
                <a:spcPct val="115000"/>
              </a:lnSpc>
            </a:pPr>
            <a:r>
              <a:rPr sz="1050" b="1" i="0">
                <a:solidFill>
                  <a:srgbClr val="1C7293"/>
                </a:solidFill>
                <a:latin typeface="DejaVu Sans"/>
              </a:rPr>
              <a:t>6</a:t>
            </a:r>
          </a:p>
        </p:txBody>
      </p:sp>
      <p:sp>
        <p:nvSpPr>
          <p:cNvPr id="29" name="TextBox 28"/>
          <p:cNvSpPr txBox="1"/>
          <p:nvPr/>
        </p:nvSpPr>
        <p:spPr>
          <a:xfrm>
            <a:off x="10200785" y="6217920"/>
            <a:ext cx="1485246" cy="274320"/>
          </a:xfrm>
          <a:prstGeom prst="rect">
            <a:avLst/>
          </a:prstGeom>
          <a:noFill/>
        </p:spPr>
        <p:txBody>
          <a:bodyPr wrap="square" lIns="0" rIns="0" tIns="0" bIns="0" anchor="t">
            <a:spAutoFit/>
          </a:bodyPr>
          <a:lstStyle/>
          <a:p>
            <a:pPr algn="ctr">
              <a:lnSpc>
                <a:spcPct val="92000"/>
              </a:lnSpc>
            </a:pPr>
            <a:r>
              <a:rPr sz="800" b="0" i="0">
                <a:solidFill>
                  <a:srgbClr val="5B6678"/>
                </a:solidFill>
                <a:latin typeface="DejaVu Sans"/>
              </a:rPr>
              <a:t>Управление</a:t>
            </a:r>
          </a:p>
        </p:txBody>
      </p:sp>
      <p:sp>
        <p:nvSpPr>
          <p:cNvPr id="30" name="TextBox 29"/>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24 / 56</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65760"/>
            <a:ext cx="10972800" cy="777240"/>
          </a:xfrm>
          <a:prstGeom prst="rect">
            <a:avLst/>
          </a:prstGeom>
          <a:noFill/>
        </p:spPr>
        <p:txBody>
          <a:bodyPr wrap="square" lIns="0" rIns="0" tIns="0" bIns="0" anchor="t">
            <a:spAutoFit/>
          </a:bodyPr>
          <a:lstStyle/>
          <a:p>
            <a:pPr algn="l">
              <a:lnSpc>
                <a:spcPct val="110000"/>
              </a:lnSpc>
            </a:pPr>
            <a:r>
              <a:rPr sz="2600" b="1" i="0">
                <a:solidFill>
                  <a:srgbClr val="21295C"/>
                </a:solidFill>
                <a:latin typeface="DejaVu Sans"/>
              </a:rPr>
              <a:t>Сборка и запуск простыми словами</a:t>
            </a:r>
          </a:p>
        </p:txBody>
      </p:sp>
      <p:sp>
        <p:nvSpPr>
          <p:cNvPr id="3" name="Rounded Rectangle 2"/>
          <p:cNvSpPr/>
          <p:nvPr/>
        </p:nvSpPr>
        <p:spPr>
          <a:xfrm>
            <a:off x="502920" y="1554480"/>
            <a:ext cx="2514600" cy="4709160"/>
          </a:xfrm>
          <a:prstGeom prst="roundRect">
            <a:avLst>
              <a:gd name="adj" fmla="val 6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sliders-horizontal-mid.png"/>
          <p:cNvPicPr>
            <a:picLocks noChangeAspect="1"/>
          </p:cNvPicPr>
          <p:nvPr/>
        </p:nvPicPr>
        <p:blipFill>
          <a:blip r:embed="rId2"/>
          <a:stretch>
            <a:fillRect/>
          </a:stretch>
        </p:blipFill>
        <p:spPr>
          <a:xfrm>
            <a:off x="1234440" y="3249777"/>
            <a:ext cx="1051560" cy="1051560"/>
          </a:xfrm>
          <a:prstGeom prst="rect">
            <a:avLst/>
          </a:prstGeom>
        </p:spPr>
      </p:pic>
      <p:sp>
        <p:nvSpPr>
          <p:cNvPr id="5" name="Rounded Rectangle 4"/>
          <p:cNvSpPr/>
          <p:nvPr/>
        </p:nvSpPr>
        <p:spPr>
          <a:xfrm>
            <a:off x="777240" y="5715000"/>
            <a:ext cx="1965960" cy="402336"/>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wrap="none"/>
          <a:lstStyle/>
          <a:p>
            <a:pPr algn="ctr"/>
            <a:r>
              <a:rPr sz="1150" b="1">
                <a:solidFill>
                  <a:srgbClr val="21295C"/>
                </a:solidFill>
                <a:latin typeface="DejaVu Sans"/>
              </a:rPr>
              <a:t>простыми словами</a:t>
            </a:r>
          </a:p>
        </p:txBody>
      </p:sp>
      <p:sp>
        <p:nvSpPr>
          <p:cNvPr id="6" name="Rounded Rectangle 5"/>
          <p:cNvSpPr/>
          <p:nvPr/>
        </p:nvSpPr>
        <p:spPr>
          <a:xfrm>
            <a:off x="3337560" y="1554480"/>
            <a:ext cx="8366760" cy="1417320"/>
          </a:xfrm>
          <a:prstGeom prst="roundRect">
            <a:avLst>
              <a:gd name="adj" fmla="val 21505"/>
            </a:avLst>
          </a:prstGeom>
          <a:solidFill>
            <a:srgbClr val="F4F7FA"/>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593591" y="1700784"/>
            <a:ext cx="7854696" cy="310896"/>
          </a:xfrm>
          <a:prstGeom prst="rect">
            <a:avLst/>
          </a:prstGeom>
          <a:noFill/>
        </p:spPr>
        <p:txBody>
          <a:bodyPr wrap="square" lIns="0" rIns="0" tIns="0" bIns="0" anchor="t">
            <a:spAutoFit/>
          </a:bodyPr>
          <a:lstStyle/>
          <a:p>
            <a:pPr algn="l">
              <a:lnSpc>
                <a:spcPct val="115000"/>
              </a:lnSpc>
            </a:pPr>
            <a:r>
              <a:rPr sz="1500" b="1" i="0">
                <a:solidFill>
                  <a:srgbClr val="F0AB00"/>
                </a:solidFill>
                <a:latin typeface="DejaVu Sans"/>
              </a:rPr>
              <a:t>Что это</a:t>
            </a:r>
          </a:p>
        </p:txBody>
      </p:sp>
      <p:sp>
        <p:nvSpPr>
          <p:cNvPr id="8" name="TextBox 7"/>
          <p:cNvSpPr txBox="1"/>
          <p:nvPr/>
        </p:nvSpPr>
        <p:spPr>
          <a:xfrm>
            <a:off x="3593591" y="2066543"/>
            <a:ext cx="7854696" cy="758952"/>
          </a:xfrm>
          <a:prstGeom prst="rect">
            <a:avLst/>
          </a:prstGeom>
          <a:noFill/>
        </p:spPr>
        <p:txBody>
          <a:bodyPr wrap="square" lIns="0" rIns="0" tIns="0" bIns="0" anchor="t">
            <a:spAutoFit/>
          </a:bodyPr>
          <a:lstStyle/>
          <a:p>
            <a:pPr algn="l">
              <a:lnSpc>
                <a:spcPct val="122000"/>
              </a:lnSpc>
            </a:pPr>
            <a:r>
              <a:rPr sz="1350" b="0" i="0">
                <a:solidFill>
                  <a:srgbClr val="21295C"/>
                </a:solidFill>
                <a:latin typeface="DejaVu Sans"/>
              </a:rPr>
              <a:t>Артефакт становится работающим продуктом у пользователей. ИИ сделал само написание кода почти бесплатным.</a:t>
            </a:r>
          </a:p>
        </p:txBody>
      </p:sp>
      <p:sp>
        <p:nvSpPr>
          <p:cNvPr id="9" name="Rounded Rectangle 8"/>
          <p:cNvSpPr/>
          <p:nvPr/>
        </p:nvSpPr>
        <p:spPr>
          <a:xfrm>
            <a:off x="3337560" y="3200400"/>
            <a:ext cx="8366760" cy="1417320"/>
          </a:xfrm>
          <a:prstGeom prst="roundRect">
            <a:avLst>
              <a:gd name="adj" fmla="val 21505"/>
            </a:avLst>
          </a:prstGeom>
          <a:solidFill>
            <a:srgbClr val="F4F7FA"/>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593591" y="3346704"/>
            <a:ext cx="7854696" cy="310896"/>
          </a:xfrm>
          <a:prstGeom prst="rect">
            <a:avLst/>
          </a:prstGeom>
          <a:noFill/>
        </p:spPr>
        <p:txBody>
          <a:bodyPr wrap="square" lIns="0" rIns="0" tIns="0" bIns="0" anchor="t">
            <a:spAutoFit/>
          </a:bodyPr>
          <a:lstStyle/>
          <a:p>
            <a:pPr algn="l">
              <a:lnSpc>
                <a:spcPct val="115000"/>
              </a:lnSpc>
            </a:pPr>
            <a:r>
              <a:rPr sz="1500" b="1" i="0">
                <a:solidFill>
                  <a:srgbClr val="065A82"/>
                </a:solidFill>
                <a:latin typeface="DejaVu Sans"/>
              </a:rPr>
              <a:t>Зачем механика запуска</a:t>
            </a:r>
          </a:p>
        </p:txBody>
      </p:sp>
      <p:sp>
        <p:nvSpPr>
          <p:cNvPr id="11" name="TextBox 10"/>
          <p:cNvSpPr txBox="1"/>
          <p:nvPr/>
        </p:nvSpPr>
        <p:spPr>
          <a:xfrm>
            <a:off x="3593591" y="3712464"/>
            <a:ext cx="7854696" cy="758952"/>
          </a:xfrm>
          <a:prstGeom prst="rect">
            <a:avLst/>
          </a:prstGeom>
          <a:noFill/>
        </p:spPr>
        <p:txBody>
          <a:bodyPr wrap="square" lIns="0" rIns="0" tIns="0" bIns="0" anchor="t">
            <a:spAutoFit/>
          </a:bodyPr>
          <a:lstStyle/>
          <a:p>
            <a:pPr algn="l">
              <a:lnSpc>
                <a:spcPct val="122000"/>
              </a:lnSpc>
            </a:pPr>
            <a:r>
              <a:rPr sz="1350" b="0" i="0">
                <a:solidFill>
                  <a:srgbClr val="21295C"/>
                </a:solidFill>
                <a:latin typeface="DejaVu Sans"/>
              </a:rPr>
              <a:t>Раз строить дёшево — цена ошибки теперь не «написать», а «выкатить не то на всех сразу». Нужно включать понемногу и быстро откатывать.</a:t>
            </a:r>
          </a:p>
        </p:txBody>
      </p:sp>
      <p:sp>
        <p:nvSpPr>
          <p:cNvPr id="12" name="Rounded Rectangle 11"/>
          <p:cNvSpPr/>
          <p:nvPr/>
        </p:nvSpPr>
        <p:spPr>
          <a:xfrm>
            <a:off x="3337560" y="4846320"/>
            <a:ext cx="8366760" cy="1417320"/>
          </a:xfrm>
          <a:prstGeom prst="roundRect">
            <a:avLst>
              <a:gd name="adj" fmla="val 21505"/>
            </a:avLst>
          </a:prstGeom>
          <a:solidFill>
            <a:srgbClr val="F4F7FA"/>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593591" y="4992624"/>
            <a:ext cx="7854696" cy="310896"/>
          </a:xfrm>
          <a:prstGeom prst="rect">
            <a:avLst/>
          </a:prstGeom>
          <a:noFill/>
        </p:spPr>
        <p:txBody>
          <a:bodyPr wrap="square" lIns="0" rIns="0" tIns="0" bIns="0" anchor="t">
            <a:spAutoFit/>
          </a:bodyPr>
          <a:lstStyle/>
          <a:p>
            <a:pPr algn="l">
              <a:lnSpc>
                <a:spcPct val="115000"/>
              </a:lnSpc>
            </a:pPr>
            <a:r>
              <a:rPr sz="1500" b="1" i="0">
                <a:solidFill>
                  <a:srgbClr val="065A82"/>
                </a:solidFill>
                <a:latin typeface="DejaVu Sans"/>
              </a:rPr>
              <a:t>Ментальная модель</a:t>
            </a:r>
          </a:p>
        </p:txBody>
      </p:sp>
      <p:sp>
        <p:nvSpPr>
          <p:cNvPr id="14" name="TextBox 13"/>
          <p:cNvSpPr txBox="1"/>
          <p:nvPr/>
        </p:nvSpPr>
        <p:spPr>
          <a:xfrm>
            <a:off x="3593591" y="5358383"/>
            <a:ext cx="7854696" cy="758952"/>
          </a:xfrm>
          <a:prstGeom prst="rect">
            <a:avLst/>
          </a:prstGeom>
          <a:noFill/>
        </p:spPr>
        <p:txBody>
          <a:bodyPr wrap="square" lIns="0" rIns="0" tIns="0" bIns="0" anchor="t">
            <a:spAutoFit/>
          </a:bodyPr>
          <a:lstStyle/>
          <a:p>
            <a:pPr algn="l">
              <a:lnSpc>
                <a:spcPct val="122000"/>
              </a:lnSpc>
            </a:pPr>
            <a:r>
              <a:rPr sz="1350" b="0" i="0">
                <a:solidFill>
                  <a:srgbClr val="21295C"/>
                </a:solidFill>
                <a:latin typeface="DejaVu Sans"/>
              </a:rPr>
              <a:t>Запуск — это кран, а не рубильник: 1% → 10% → 100%, следим за реакцией. И держим наготове решение «убить», а не «дорабатывать вечно».</a:t>
            </a:r>
          </a:p>
        </p:txBody>
      </p:sp>
      <p:sp>
        <p:nvSpPr>
          <p:cNvPr id="15" name="TextBox 14"/>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25 / 56</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65760"/>
            <a:ext cx="11247120" cy="777240"/>
          </a:xfrm>
          <a:prstGeom prst="rect">
            <a:avLst/>
          </a:prstGeom>
          <a:noFill/>
        </p:spPr>
        <p:txBody>
          <a:bodyPr wrap="square" lIns="0" rIns="0" tIns="0" bIns="0" anchor="t">
            <a:spAutoFit/>
          </a:bodyPr>
          <a:lstStyle/>
          <a:p>
            <a:pPr algn="l">
              <a:lnSpc>
                <a:spcPct val="110000"/>
              </a:lnSpc>
            </a:pPr>
            <a:r>
              <a:rPr sz="2000" b="1" i="0">
                <a:solidFill>
                  <a:srgbClr val="21295C"/>
                </a:solidFill>
                <a:latin typeface="DejaVu Sans"/>
              </a:rPr>
              <a:t>Та же механика — но здесь решение убить продукт, а не флаг переключить</a:t>
            </a:r>
          </a:p>
        </p:txBody>
      </p:sp>
      <p:sp>
        <p:nvSpPr>
          <p:cNvPr id="3" name="Rounded Rectangle 2"/>
          <p:cNvSpPr/>
          <p:nvPr/>
        </p:nvSpPr>
        <p:spPr>
          <a:xfrm>
            <a:off x="502920" y="1554480"/>
            <a:ext cx="2487168" cy="1051560"/>
          </a:xfrm>
          <a:prstGeom prst="roundRect">
            <a:avLst>
              <a:gd name="adj" fmla="val 22000"/>
            </a:avLst>
          </a:prstGeom>
          <a:solidFill>
            <a:srgbClr val="F4F7FA"/>
          </a:solidFill>
          <a:ln w="1778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94360" y="1737360"/>
            <a:ext cx="2304288" cy="365760"/>
          </a:xfrm>
          <a:prstGeom prst="rect">
            <a:avLst/>
          </a:prstGeom>
          <a:noFill/>
        </p:spPr>
        <p:txBody>
          <a:bodyPr wrap="square" lIns="0" rIns="0" tIns="0" bIns="0" anchor="t">
            <a:spAutoFit/>
          </a:bodyPr>
          <a:lstStyle/>
          <a:p>
            <a:pPr algn="ctr">
              <a:lnSpc>
                <a:spcPct val="115000"/>
              </a:lnSpc>
            </a:pPr>
            <a:r>
              <a:rPr sz="1350" b="1" i="0">
                <a:solidFill>
                  <a:srgbClr val="21295C"/>
                </a:solidFill>
                <a:latin typeface="DejaVu Sans"/>
              </a:rPr>
              <a:t>Feature flag</a:t>
            </a:r>
          </a:p>
        </p:txBody>
      </p:sp>
      <p:sp>
        <p:nvSpPr>
          <p:cNvPr id="5" name="TextBox 4"/>
          <p:cNvSpPr txBox="1"/>
          <p:nvPr/>
        </p:nvSpPr>
        <p:spPr>
          <a:xfrm>
            <a:off x="594360" y="2176272"/>
            <a:ext cx="2304288" cy="310896"/>
          </a:xfrm>
          <a:prstGeom prst="rect">
            <a:avLst/>
          </a:prstGeom>
          <a:noFill/>
        </p:spPr>
        <p:txBody>
          <a:bodyPr wrap="square" lIns="0" rIns="0" tIns="0" bIns="0" anchor="t">
            <a:spAutoFit/>
          </a:bodyPr>
          <a:lstStyle/>
          <a:p>
            <a:pPr algn="ctr">
              <a:lnSpc>
                <a:spcPct val="115000"/>
              </a:lnSpc>
            </a:pPr>
            <a:r>
              <a:rPr sz="1050" b="0" i="1">
                <a:solidFill>
                  <a:srgbClr val="5B6678"/>
                </a:solidFill>
                <a:latin typeface="DejaVu Sans"/>
              </a:rPr>
              <a:t>переключатель</a:t>
            </a:r>
          </a:p>
        </p:txBody>
      </p:sp>
      <p:sp>
        <p:nvSpPr>
          <p:cNvPr id="6" name="Right Arrow 5"/>
          <p:cNvSpPr/>
          <p:nvPr/>
        </p:nvSpPr>
        <p:spPr>
          <a:xfrm>
            <a:off x="3008376" y="1956816"/>
            <a:ext cx="219456" cy="237744"/>
          </a:xfrm>
          <a:prstGeom prst="rightArrow">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3246120" y="1554480"/>
            <a:ext cx="2487168" cy="1051560"/>
          </a:xfrm>
          <a:prstGeom prst="roundRect">
            <a:avLst>
              <a:gd name="adj" fmla="val 22000"/>
            </a:avLst>
          </a:prstGeom>
          <a:solidFill>
            <a:srgbClr val="F4F7FA"/>
          </a:solidFill>
          <a:ln w="1778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337560" y="1737360"/>
            <a:ext cx="2304288" cy="365760"/>
          </a:xfrm>
          <a:prstGeom prst="rect">
            <a:avLst/>
          </a:prstGeom>
          <a:noFill/>
        </p:spPr>
        <p:txBody>
          <a:bodyPr wrap="square" lIns="0" rIns="0" tIns="0" bIns="0" anchor="t">
            <a:spAutoFit/>
          </a:bodyPr>
          <a:lstStyle/>
          <a:p>
            <a:pPr algn="ctr">
              <a:lnSpc>
                <a:spcPct val="115000"/>
              </a:lnSpc>
            </a:pPr>
            <a:r>
              <a:rPr sz="1350" b="1" i="0">
                <a:solidFill>
                  <a:srgbClr val="21295C"/>
                </a:solidFill>
                <a:latin typeface="DejaVu Sans"/>
              </a:rPr>
              <a:t>Canary</a:t>
            </a:r>
          </a:p>
        </p:txBody>
      </p:sp>
      <p:sp>
        <p:nvSpPr>
          <p:cNvPr id="9" name="TextBox 8"/>
          <p:cNvSpPr txBox="1"/>
          <p:nvPr/>
        </p:nvSpPr>
        <p:spPr>
          <a:xfrm>
            <a:off x="3337560" y="2176272"/>
            <a:ext cx="2304288" cy="310896"/>
          </a:xfrm>
          <a:prstGeom prst="rect">
            <a:avLst/>
          </a:prstGeom>
          <a:noFill/>
        </p:spPr>
        <p:txBody>
          <a:bodyPr wrap="square" lIns="0" rIns="0" tIns="0" bIns="0" anchor="t">
            <a:spAutoFit/>
          </a:bodyPr>
          <a:lstStyle/>
          <a:p>
            <a:pPr algn="ctr">
              <a:lnSpc>
                <a:spcPct val="115000"/>
              </a:lnSpc>
            </a:pPr>
            <a:r>
              <a:rPr sz="1050" b="0" i="1">
                <a:solidFill>
                  <a:srgbClr val="5B6678"/>
                </a:solidFill>
                <a:latin typeface="DejaVu Sans"/>
              </a:rPr>
              <a:t>канарейка</a:t>
            </a:r>
          </a:p>
        </p:txBody>
      </p:sp>
      <p:sp>
        <p:nvSpPr>
          <p:cNvPr id="10" name="Right Arrow 9"/>
          <p:cNvSpPr/>
          <p:nvPr/>
        </p:nvSpPr>
        <p:spPr>
          <a:xfrm>
            <a:off x="5751575" y="1956816"/>
            <a:ext cx="219456" cy="237744"/>
          </a:xfrm>
          <a:prstGeom prst="rightArrow">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5989320" y="1554480"/>
            <a:ext cx="2487168" cy="1051560"/>
          </a:xfrm>
          <a:prstGeom prst="roundRect">
            <a:avLst>
              <a:gd name="adj" fmla="val 22000"/>
            </a:avLst>
          </a:prstGeom>
          <a:solidFill>
            <a:srgbClr val="F4F7FA"/>
          </a:solidFill>
          <a:ln w="1778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080759" y="1737360"/>
            <a:ext cx="2304288" cy="365760"/>
          </a:xfrm>
          <a:prstGeom prst="rect">
            <a:avLst/>
          </a:prstGeom>
          <a:noFill/>
        </p:spPr>
        <p:txBody>
          <a:bodyPr wrap="square" lIns="0" rIns="0" tIns="0" bIns="0" anchor="t">
            <a:spAutoFit/>
          </a:bodyPr>
          <a:lstStyle/>
          <a:p>
            <a:pPr algn="ctr">
              <a:lnSpc>
                <a:spcPct val="115000"/>
              </a:lnSpc>
            </a:pPr>
            <a:r>
              <a:rPr sz="1350" b="1" i="0">
                <a:solidFill>
                  <a:srgbClr val="21295C"/>
                </a:solidFill>
                <a:latin typeface="DejaVu Sans"/>
              </a:rPr>
              <a:t>Staged rollout</a:t>
            </a:r>
          </a:p>
        </p:txBody>
      </p:sp>
      <p:sp>
        <p:nvSpPr>
          <p:cNvPr id="13" name="TextBox 12"/>
          <p:cNvSpPr txBox="1"/>
          <p:nvPr/>
        </p:nvSpPr>
        <p:spPr>
          <a:xfrm>
            <a:off x="6080759" y="2176272"/>
            <a:ext cx="2304288" cy="310896"/>
          </a:xfrm>
          <a:prstGeom prst="rect">
            <a:avLst/>
          </a:prstGeom>
          <a:noFill/>
        </p:spPr>
        <p:txBody>
          <a:bodyPr wrap="square" lIns="0" rIns="0" tIns="0" bIns="0" anchor="t">
            <a:spAutoFit/>
          </a:bodyPr>
          <a:lstStyle/>
          <a:p>
            <a:pPr algn="ctr">
              <a:lnSpc>
                <a:spcPct val="115000"/>
              </a:lnSpc>
            </a:pPr>
            <a:r>
              <a:rPr sz="1050" b="0" i="1">
                <a:solidFill>
                  <a:srgbClr val="5B6678"/>
                </a:solidFill>
                <a:latin typeface="DejaVu Sans"/>
              </a:rPr>
              <a:t>поэтапно</a:t>
            </a:r>
          </a:p>
        </p:txBody>
      </p:sp>
      <p:sp>
        <p:nvSpPr>
          <p:cNvPr id="14" name="Right Arrow 13"/>
          <p:cNvSpPr/>
          <p:nvPr/>
        </p:nvSpPr>
        <p:spPr>
          <a:xfrm>
            <a:off x="8494776" y="1956816"/>
            <a:ext cx="219456" cy="237744"/>
          </a:xfrm>
          <a:prstGeom prst="rightArrow">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8732520" y="1554480"/>
            <a:ext cx="2487168" cy="1051560"/>
          </a:xfrm>
          <a:prstGeom prst="roundRect">
            <a:avLst>
              <a:gd name="adj" fmla="val 22000"/>
            </a:avLst>
          </a:prstGeom>
          <a:solidFill>
            <a:srgbClr val="F4F7FA"/>
          </a:solidFill>
          <a:ln w="1778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823960" y="1737360"/>
            <a:ext cx="2304288" cy="365760"/>
          </a:xfrm>
          <a:prstGeom prst="rect">
            <a:avLst/>
          </a:prstGeom>
          <a:noFill/>
        </p:spPr>
        <p:txBody>
          <a:bodyPr wrap="square" lIns="0" rIns="0" tIns="0" bIns="0" anchor="t">
            <a:spAutoFit/>
          </a:bodyPr>
          <a:lstStyle/>
          <a:p>
            <a:pPr algn="ctr">
              <a:lnSpc>
                <a:spcPct val="115000"/>
              </a:lnSpc>
            </a:pPr>
            <a:r>
              <a:rPr sz="1350" b="1" i="0">
                <a:solidFill>
                  <a:srgbClr val="21295C"/>
                </a:solidFill>
                <a:latin typeface="DejaVu Sans"/>
              </a:rPr>
              <a:t>Rollback</a:t>
            </a:r>
          </a:p>
        </p:txBody>
      </p:sp>
      <p:sp>
        <p:nvSpPr>
          <p:cNvPr id="17" name="TextBox 16"/>
          <p:cNvSpPr txBox="1"/>
          <p:nvPr/>
        </p:nvSpPr>
        <p:spPr>
          <a:xfrm>
            <a:off x="8823960" y="2176272"/>
            <a:ext cx="2304288" cy="310896"/>
          </a:xfrm>
          <a:prstGeom prst="rect">
            <a:avLst/>
          </a:prstGeom>
          <a:noFill/>
        </p:spPr>
        <p:txBody>
          <a:bodyPr wrap="square" lIns="0" rIns="0" tIns="0" bIns="0" anchor="t">
            <a:spAutoFit/>
          </a:bodyPr>
          <a:lstStyle/>
          <a:p>
            <a:pPr algn="ctr">
              <a:lnSpc>
                <a:spcPct val="115000"/>
              </a:lnSpc>
            </a:pPr>
            <a:r>
              <a:rPr sz="1050" b="0" i="1">
                <a:solidFill>
                  <a:srgbClr val="5B6678"/>
                </a:solidFill>
                <a:latin typeface="DejaVu Sans"/>
              </a:rPr>
              <a:t>откат</a:t>
            </a:r>
          </a:p>
        </p:txBody>
      </p:sp>
      <p:sp>
        <p:nvSpPr>
          <p:cNvPr id="18" name="TextBox 17"/>
          <p:cNvSpPr txBox="1"/>
          <p:nvPr/>
        </p:nvSpPr>
        <p:spPr>
          <a:xfrm>
            <a:off x="502920" y="2724912"/>
            <a:ext cx="11201400" cy="320040"/>
          </a:xfrm>
          <a:prstGeom prst="rect">
            <a:avLst/>
          </a:prstGeom>
          <a:noFill/>
        </p:spPr>
        <p:txBody>
          <a:bodyPr wrap="square" lIns="0" rIns="0" tIns="0" bIns="0" anchor="t">
            <a:spAutoFit/>
          </a:bodyPr>
          <a:lstStyle/>
          <a:p>
            <a:pPr algn="ctr">
              <a:lnSpc>
                <a:spcPct val="115000"/>
              </a:lnSpc>
            </a:pPr>
            <a:r>
              <a:rPr sz="1250" b="0" i="1">
                <a:solidFill>
                  <a:srgbClr val="5B6678"/>
                </a:solidFill>
                <a:latin typeface="DejaVu Sans"/>
              </a:rPr>
              <a:t>Эти примитивы вы знаете из инженерной раскатки (CI/CD)</a:t>
            </a:r>
          </a:p>
        </p:txBody>
      </p:sp>
      <p:sp>
        <p:nvSpPr>
          <p:cNvPr id="19" name="Rounded Rectangle 18"/>
          <p:cNvSpPr/>
          <p:nvPr/>
        </p:nvSpPr>
        <p:spPr>
          <a:xfrm>
            <a:off x="1417320" y="3337560"/>
            <a:ext cx="9372600" cy="1188720"/>
          </a:xfrm>
          <a:prstGeom prst="roundRect">
            <a:avLst>
              <a:gd name="adj" fmla="val 22000"/>
            </a:avLst>
          </a:prstGeom>
          <a:solidFill>
            <a:srgbClr val="FDF3DC"/>
          </a:solidFill>
          <a:ln w="2032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scale-gold.png"/>
          <p:cNvPicPr>
            <a:picLocks noChangeAspect="1"/>
          </p:cNvPicPr>
          <p:nvPr/>
        </p:nvPicPr>
        <p:blipFill>
          <a:blip r:embed="rId2"/>
          <a:stretch>
            <a:fillRect/>
          </a:stretch>
        </p:blipFill>
        <p:spPr>
          <a:xfrm>
            <a:off x="1645920" y="3611880"/>
            <a:ext cx="502920" cy="502920"/>
          </a:xfrm>
          <a:prstGeom prst="rect">
            <a:avLst/>
          </a:prstGeom>
        </p:spPr>
      </p:pic>
      <p:sp>
        <p:nvSpPr>
          <p:cNvPr id="21" name="TextBox 20"/>
          <p:cNvSpPr txBox="1"/>
          <p:nvPr/>
        </p:nvSpPr>
        <p:spPr>
          <a:xfrm>
            <a:off x="2331720" y="3456432"/>
            <a:ext cx="8229600" cy="960120"/>
          </a:xfrm>
          <a:prstGeom prst="rect">
            <a:avLst/>
          </a:prstGeom>
          <a:noFill/>
        </p:spPr>
        <p:txBody>
          <a:bodyPr wrap="square" lIns="0" rIns="0" tIns="0" bIns="0" anchor="ctr">
            <a:spAutoFit/>
          </a:bodyPr>
          <a:lstStyle/>
          <a:p>
            <a:pPr algn="l">
              <a:lnSpc>
                <a:spcPct val="115000"/>
              </a:lnSpc>
            </a:pPr>
            <a:r>
              <a:rPr sz="1250" b="1" i="0">
                <a:solidFill>
                  <a:srgbClr val="21295C"/>
                </a:solidFill>
                <a:latin typeface="DejaVu Sans"/>
              </a:rPr>
              <a:t>НОВОЕ здесь — чьё и по каким критериям решение они обслуживают: MVP (Райс) </a:t>
            </a:r>
            <a:r>
              <a:rPr sz="650" baseline="30000" b="0" i="1">
                <a:latin typeface="DejaVu Sans"/>
                <a:cs typeface="DejaVu Sans"/>
                <a:ea typeface="DejaVu Sans"/>
                <a:solidFill>
                  <a:srgbClr val="1C7293"/>
                </a:solidFill>
              </a:rPr>
              <a:t>[1]</a:t>
            </a:r>
            <a:r>
              <a:rPr sz="1250" b="1" i="0">
                <a:latin typeface="DejaVu Sans"/>
                <a:cs typeface="DejaVu Sans"/>
                <a:ea typeface="DejaVu Sans"/>
                <a:solidFill>
                  <a:srgbClr val="21295C"/>
                </a:solidFill>
              </a:rPr>
              <a:t> = обучение, не отгрузка. Stage-Gate go/kill (Купер) </a:t>
            </a:r>
            <a:r>
              <a:rPr sz="650" baseline="30000" b="0" i="1">
                <a:latin typeface="DejaVu Sans"/>
                <a:cs typeface="DejaVu Sans"/>
                <a:ea typeface="DejaVu Sans"/>
                <a:solidFill>
                  <a:srgbClr val="1C7293"/>
                </a:solidFill>
              </a:rPr>
              <a:t>[2]</a:t>
            </a:r>
            <a:r>
              <a:rPr sz="1250" b="1" i="0">
                <a:latin typeface="DejaVu Sans"/>
                <a:cs typeface="DejaVu Sans"/>
                <a:ea typeface="DejaVu Sans"/>
                <a:solidFill>
                  <a:srgbClr val="21295C"/>
                </a:solidFill>
              </a:rPr>
              <a:t> — «воронка, не туннель»: пороги провала записаны числом заранее.</a:t>
            </a:r>
          </a:p>
        </p:txBody>
      </p:sp>
      <p:sp>
        <p:nvSpPr>
          <p:cNvPr id="22" name="Rounded Rectangle 21"/>
          <p:cNvSpPr/>
          <p:nvPr/>
        </p:nvSpPr>
        <p:spPr>
          <a:xfrm>
            <a:off x="502920" y="4800600"/>
            <a:ext cx="11201400" cy="777240"/>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22376" y="4855464"/>
            <a:ext cx="10762488" cy="667512"/>
          </a:xfrm>
          <a:prstGeom prst="rect">
            <a:avLst/>
          </a:prstGeom>
          <a:noFill/>
        </p:spPr>
        <p:txBody>
          <a:bodyPr wrap="square" lIns="0" rIns="0" tIns="0" bIns="0" anchor="ctr">
            <a:spAutoFit/>
          </a:bodyPr>
          <a:lstStyle/>
          <a:p>
            <a:pPr algn="l">
              <a:lnSpc>
                <a:spcPct val="120000"/>
              </a:lnSpc>
            </a:pPr>
            <a:r>
              <a:rPr sz="1300" b="1" i="0">
                <a:solidFill>
                  <a:srgbClr val="21295C"/>
                </a:solidFill>
                <a:latin typeface="DejaVu Sans"/>
              </a:rPr>
              <a:t>Общий смысл: скорость запуска покупается ограниченным «радиусом поражения» — сколько пользователей задето, если новое окажется плохим.</a:t>
            </a:r>
          </a:p>
        </p:txBody>
      </p:sp>
      <p:sp>
        <p:nvSpPr>
          <p:cNvPr id="24" name="TextBox 23"/>
          <p:cNvSpPr txBox="1"/>
          <p:nvPr/>
        </p:nvSpPr>
        <p:spPr>
          <a:xfrm>
            <a:off x="502920" y="6455664"/>
            <a:ext cx="11201400" cy="548640"/>
          </a:xfrm>
          <a:prstGeom prst="rect">
            <a:avLst/>
          </a:prstGeom>
          <a:noFill/>
        </p:spPr>
        <p:txBody>
          <a:bodyPr wrap="square" lIns="0" rIns="0" tIns="0" bIns="0" anchor="t">
            <a:spAutoFit/>
          </a:bodyPr>
          <a:lstStyle/>
          <a:p>
            <a:pPr algn="l">
              <a:lnSpc>
                <a:spcPct val="102000"/>
              </a:lnSpc>
            </a:pPr>
            <a:r>
              <a:rPr sz="850" b="1" i="1">
                <a:solidFill>
                  <a:srgbClr val="065A82"/>
                </a:solidFill>
                <a:latin typeface="DejaVu Sans"/>
              </a:rPr>
              <a:t>[1] </a:t>
            </a:r>
            <a:r>
              <a:rPr sz="850" i="1">
                <a:solidFill>
                  <a:srgbClr val="1C7293"/>
                </a:solidFill>
                <a:latin typeface="DejaVu Sans"/>
                <a:hlinkClick r:id="rId3"/>
              </a:rPr>
              <a:t>Ries — Lean Startup / MVP</a:t>
            </a:r>
            <a:r>
              <a:rPr sz="850" i="1">
                <a:solidFill>
                  <a:srgbClr val="1C7293"/>
                </a:solidFill>
                <a:latin typeface="DejaVu Sans"/>
              </a:rPr>
              <a:t>   ·   </a:t>
            </a:r>
            <a:r>
              <a:rPr sz="850" b="1" i="1">
                <a:solidFill>
                  <a:srgbClr val="065A82"/>
                </a:solidFill>
                <a:latin typeface="DejaVu Sans"/>
              </a:rPr>
              <a:t>[2] </a:t>
            </a:r>
            <a:r>
              <a:rPr sz="850" i="1">
                <a:solidFill>
                  <a:srgbClr val="1C7293"/>
                </a:solidFill>
                <a:latin typeface="DejaVu Sans"/>
                <a:hlinkClick r:id="rId4"/>
              </a:rPr>
              <a:t>Stage-Gate — история метода</a:t>
            </a:r>
          </a:p>
        </p:txBody>
      </p:sp>
      <p:sp>
        <p:nvSpPr>
          <p:cNvPr id="25" name="TextBox 24"/>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26 / 56</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65760"/>
            <a:ext cx="11247120" cy="777240"/>
          </a:xfrm>
          <a:prstGeom prst="rect">
            <a:avLst/>
          </a:prstGeom>
          <a:noFill/>
        </p:spPr>
        <p:txBody>
          <a:bodyPr wrap="square" lIns="0" rIns="0" tIns="0" bIns="0" anchor="t">
            <a:spAutoFit/>
          </a:bodyPr>
          <a:lstStyle/>
          <a:p>
            <a:pPr algn="l">
              <a:lnSpc>
                <a:spcPct val="110000"/>
              </a:lnSpc>
            </a:pPr>
            <a:r>
              <a:rPr sz="2000" b="1" i="0">
                <a:solidFill>
                  <a:srgbClr val="21295C"/>
                </a:solidFill>
                <a:latin typeface="DejaVu Sans"/>
              </a:rPr>
              <a:t>+200% кода на инженера — но лишь 16% PR получили содержательное ревью </a:t>
            </a:r>
            <a:r>
              <a:rPr sz="1040" baseline="30000" b="0" i="1">
                <a:latin typeface="DejaVu Sans"/>
                <a:cs typeface="DejaVu Sans"/>
                <a:ea typeface="DejaVu Sans"/>
                <a:solidFill>
                  <a:srgbClr val="1C7293"/>
                </a:solidFill>
              </a:rPr>
              <a:t>[1]</a:t>
            </a:r>
          </a:p>
        </p:txBody>
      </p:sp>
      <p:sp>
        <p:nvSpPr>
          <p:cNvPr id="3" name="Rounded Rectangle 2"/>
          <p:cNvSpPr/>
          <p:nvPr/>
        </p:nvSpPr>
        <p:spPr>
          <a:xfrm>
            <a:off x="502920" y="1417320"/>
            <a:ext cx="5623560" cy="3246120"/>
          </a:xfrm>
          <a:prstGeom prst="roundRect">
            <a:avLst>
              <a:gd name="adj" fmla="val 9389"/>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review-bottleneck.png"/>
          <p:cNvPicPr>
            <a:picLocks noChangeAspect="1"/>
          </p:cNvPicPr>
          <p:nvPr/>
        </p:nvPicPr>
        <p:blipFill>
          <a:blip r:embed="rId2"/>
          <a:stretch>
            <a:fillRect/>
          </a:stretch>
        </p:blipFill>
        <p:spPr>
          <a:xfrm>
            <a:off x="1129097" y="1645920"/>
            <a:ext cx="4371205" cy="2788920"/>
          </a:xfrm>
          <a:prstGeom prst="rect">
            <a:avLst/>
          </a:prstGeom>
        </p:spPr>
      </p:pic>
      <p:sp>
        <p:nvSpPr>
          <p:cNvPr id="5" name="Rounded Rectangle 4"/>
          <p:cNvSpPr/>
          <p:nvPr/>
        </p:nvSpPr>
        <p:spPr>
          <a:xfrm>
            <a:off x="6355080" y="1417320"/>
            <a:ext cx="5349240" cy="3246120"/>
          </a:xfrm>
          <a:prstGeom prst="roundRect">
            <a:avLst>
              <a:gd name="adj" fmla="val 9389"/>
            </a:avLst>
          </a:prstGeom>
          <a:solidFill>
            <a:srgbClr val="F4F7FA"/>
          </a:solidFill>
          <a:ln w="1905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0" y="1572768"/>
            <a:ext cx="4937760" cy="365760"/>
          </a:xfrm>
          <a:prstGeom prst="rect">
            <a:avLst/>
          </a:prstGeom>
          <a:noFill/>
        </p:spPr>
        <p:txBody>
          <a:bodyPr wrap="square" lIns="0" rIns="0" tIns="0" bIns="0" anchor="t">
            <a:spAutoFit/>
          </a:bodyPr>
          <a:lstStyle/>
          <a:p>
            <a:pPr algn="l">
              <a:lnSpc>
                <a:spcPct val="115000"/>
              </a:lnSpc>
            </a:pPr>
            <a:r>
              <a:rPr sz="1400" b="1" i="0">
                <a:solidFill>
                  <a:srgbClr val="065A82"/>
                </a:solidFill>
                <a:latin typeface="DejaVu Sans"/>
              </a:rPr>
              <a:t>Измерение Anthropic</a:t>
            </a:r>
          </a:p>
        </p:txBody>
      </p:sp>
      <p:sp>
        <p:nvSpPr>
          <p:cNvPr id="7" name="TextBox 6"/>
          <p:cNvSpPr txBox="1"/>
          <p:nvPr/>
        </p:nvSpPr>
        <p:spPr>
          <a:xfrm>
            <a:off x="6583680" y="2057400"/>
            <a:ext cx="4937760" cy="2377440"/>
          </a:xfrm>
          <a:prstGeom prst="rect">
            <a:avLst/>
          </a:prstGeom>
          <a:noFill/>
        </p:spPr>
        <p:txBody>
          <a:bodyPr wrap="square" lIns="0" rIns="0" tIns="0" bIns="0" anchor="t">
            <a:spAutoFit/>
          </a:bodyPr>
          <a:lstStyle/>
          <a:p>
            <a:pPr algn="l">
              <a:lnSpc>
                <a:spcPct val="125000"/>
              </a:lnSpc>
            </a:pPr>
            <a:r>
              <a:rPr sz="1300" b="0" i="0">
                <a:solidFill>
                  <a:srgbClr val="21295C"/>
                </a:solidFill>
                <a:latin typeface="DejaVu Sans"/>
              </a:rPr>
              <a:t>• Реализация: недели/месяцы → минуты агентного исполнения</a:t>
            </a:r>
          </a:p>
          <a:p>
            <a:pPr algn="l">
              <a:lnSpc>
                <a:spcPct val="125000"/>
              </a:lnSpc>
            </a:pPr>
            <a:r>
              <a:rPr sz="1300" b="0" i="0">
                <a:solidFill>
                  <a:srgbClr val="21295C"/>
                </a:solidFill>
                <a:latin typeface="DejaVu Sans"/>
              </a:rPr>
              <a:t/>
            </a:r>
          </a:p>
          <a:p>
            <a:pPr algn="l">
              <a:lnSpc>
                <a:spcPct val="125000"/>
              </a:lnSpc>
            </a:pPr>
            <a:r>
              <a:rPr sz="1300" b="0" i="0">
                <a:solidFill>
                  <a:srgbClr val="21295C"/>
                </a:solidFill>
                <a:latin typeface="DejaVu Sans"/>
              </a:rPr>
              <a:t>• Объём кода на инженера: +200% год к году</a:t>
            </a:r>
          </a:p>
          <a:p>
            <a:pPr algn="l">
              <a:lnSpc>
                <a:spcPct val="125000"/>
              </a:lnSpc>
            </a:pPr>
            <a:r>
              <a:rPr sz="1300" b="0" i="0">
                <a:solidFill>
                  <a:srgbClr val="21295C"/>
                </a:solidFill>
                <a:latin typeface="DejaVu Sans"/>
              </a:rPr>
              <a:t/>
            </a:r>
          </a:p>
          <a:p>
            <a:pPr algn="l">
              <a:lnSpc>
                <a:spcPct val="125000"/>
              </a:lnSpc>
            </a:pPr>
            <a:r>
              <a:rPr sz="1300" b="0" i="0">
                <a:solidFill>
                  <a:srgbClr val="21295C"/>
                </a:solidFill>
                <a:latin typeface="DejaVu Sans"/>
              </a:rPr>
              <a:t>• Содержательное человеческое ревью до слияния: лишь ~16% PR</a:t>
            </a:r>
          </a:p>
        </p:txBody>
      </p:sp>
      <p:sp>
        <p:nvSpPr>
          <p:cNvPr id="8" name="Rounded Rectangle 7"/>
          <p:cNvSpPr/>
          <p:nvPr/>
        </p:nvSpPr>
        <p:spPr>
          <a:xfrm>
            <a:off x="502920" y="4846320"/>
            <a:ext cx="11201400" cy="731520"/>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22376" y="4901183"/>
            <a:ext cx="10762488" cy="621792"/>
          </a:xfrm>
          <a:prstGeom prst="rect">
            <a:avLst/>
          </a:prstGeom>
          <a:noFill/>
        </p:spPr>
        <p:txBody>
          <a:bodyPr wrap="square" lIns="0" rIns="0" tIns="0" bIns="0" anchor="ctr">
            <a:spAutoFit/>
          </a:bodyPr>
          <a:lstStyle/>
          <a:p>
            <a:pPr algn="l">
              <a:lnSpc>
                <a:spcPct val="120000"/>
              </a:lnSpc>
            </a:pPr>
            <a:r>
              <a:rPr sz="1300" b="1" i="0">
                <a:solidFill>
                  <a:srgbClr val="21295C"/>
                </a:solidFill>
                <a:latin typeface="DejaVu Sans"/>
              </a:rPr>
              <a:t>Дефицитный ресурс сместился к двум человеческим концам: точность намерения на входе и качество суждения на выходе — узкое место теперь ревью, а не написание.</a:t>
            </a:r>
          </a:p>
        </p:txBody>
      </p:sp>
      <p:sp>
        <p:nvSpPr>
          <p:cNvPr id="10" name="TextBox 9"/>
          <p:cNvSpPr txBox="1"/>
          <p:nvPr/>
        </p:nvSpPr>
        <p:spPr>
          <a:xfrm>
            <a:off x="502920" y="6455664"/>
            <a:ext cx="11201400" cy="548640"/>
          </a:xfrm>
          <a:prstGeom prst="rect">
            <a:avLst/>
          </a:prstGeom>
          <a:noFill/>
        </p:spPr>
        <p:txBody>
          <a:bodyPr wrap="square" lIns="0" rIns="0" tIns="0" bIns="0" anchor="t">
            <a:spAutoFit/>
          </a:bodyPr>
          <a:lstStyle/>
          <a:p>
            <a:pPr algn="l">
              <a:lnSpc>
                <a:spcPct val="102000"/>
              </a:lnSpc>
            </a:pPr>
            <a:r>
              <a:rPr sz="850" b="1" i="1">
                <a:solidFill>
                  <a:srgbClr val="065A82"/>
                </a:solidFill>
                <a:latin typeface="DejaVu Sans"/>
              </a:rPr>
              <a:t>[1] </a:t>
            </a:r>
            <a:r>
              <a:rPr sz="850" i="1">
                <a:solidFill>
                  <a:srgbClr val="1C7293"/>
                </a:solidFill>
                <a:latin typeface="DejaVu Sans"/>
                <a:hlinkClick r:id="rId3"/>
              </a:rPr>
              <a:t>Anthropic — 2026 Agentic Coding Trends Report</a:t>
            </a:r>
          </a:p>
        </p:txBody>
      </p:sp>
      <p:sp>
        <p:nvSpPr>
          <p:cNvPr id="11" name="TextBox 10"/>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27 / 56</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65760"/>
            <a:ext cx="11247120" cy="777240"/>
          </a:xfrm>
          <a:prstGeom prst="rect">
            <a:avLst/>
          </a:prstGeom>
          <a:noFill/>
        </p:spPr>
        <p:txBody>
          <a:bodyPr wrap="square" lIns="0" rIns="0" tIns="0" bIns="0" anchor="t">
            <a:spAutoFit/>
          </a:bodyPr>
          <a:lstStyle/>
          <a:p>
            <a:pPr algn="l">
              <a:lnSpc>
                <a:spcPct val="110000"/>
              </a:lnSpc>
            </a:pPr>
            <a:r>
              <a:rPr sz="2200" b="1" i="0">
                <a:solidFill>
                  <a:srgbClr val="21295C"/>
                </a:solidFill>
                <a:latin typeface="DejaVu Sans"/>
              </a:rPr>
              <a:t>Запуск — это не «включить», а передача контроля по ступеням</a:t>
            </a:r>
          </a:p>
        </p:txBody>
      </p:sp>
      <p:sp>
        <p:nvSpPr>
          <p:cNvPr id="3" name="Rounded Rectangle 2"/>
          <p:cNvSpPr/>
          <p:nvPr/>
        </p:nvSpPr>
        <p:spPr>
          <a:xfrm>
            <a:off x="640080" y="3886200"/>
            <a:ext cx="5029200" cy="731520"/>
          </a:xfrm>
          <a:prstGeom prst="roundRect">
            <a:avLst>
              <a:gd name="adj" fmla="val 8000"/>
            </a:avLst>
          </a:prstGeom>
          <a:solidFill>
            <a:srgbClr val="F4F7FA"/>
          </a:solidFill>
          <a:ln w="2032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822960" y="4087368"/>
            <a:ext cx="685800" cy="329184"/>
          </a:xfrm>
          <a:prstGeom prst="roundRect">
            <a:avLst>
              <a:gd name="adj" fmla="val 50000"/>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wrap="none"/>
          <a:lstStyle/>
          <a:p>
            <a:pPr algn="ctr"/>
            <a:r>
              <a:rPr sz="1300" b="1">
                <a:solidFill>
                  <a:srgbClr val="FFFFFF"/>
                </a:solidFill>
                <a:latin typeface="DejaVu Sans"/>
              </a:rPr>
              <a:t>v1</a:t>
            </a:r>
          </a:p>
        </p:txBody>
      </p:sp>
      <p:sp>
        <p:nvSpPr>
          <p:cNvPr id="5" name="TextBox 4"/>
          <p:cNvSpPr txBox="1"/>
          <p:nvPr/>
        </p:nvSpPr>
        <p:spPr>
          <a:xfrm>
            <a:off x="1645920" y="3977639"/>
            <a:ext cx="3931920" cy="365760"/>
          </a:xfrm>
          <a:prstGeom prst="rect">
            <a:avLst/>
          </a:prstGeom>
          <a:noFill/>
        </p:spPr>
        <p:txBody>
          <a:bodyPr wrap="square" lIns="0" rIns="0" tIns="0" bIns="0" anchor="t">
            <a:spAutoFit/>
          </a:bodyPr>
          <a:lstStyle/>
          <a:p>
            <a:pPr algn="l">
              <a:lnSpc>
                <a:spcPct val="115000"/>
              </a:lnSpc>
            </a:pPr>
            <a:r>
              <a:rPr sz="1250" b="1" i="0">
                <a:solidFill>
                  <a:srgbClr val="21295C"/>
                </a:solidFill>
                <a:latin typeface="DejaVu Sans"/>
              </a:rPr>
              <a:t>Высокий контроль / низкая агентность</a:t>
            </a:r>
          </a:p>
        </p:txBody>
      </p:sp>
      <p:sp>
        <p:nvSpPr>
          <p:cNvPr id="6" name="TextBox 5"/>
          <p:cNvSpPr txBox="1"/>
          <p:nvPr/>
        </p:nvSpPr>
        <p:spPr>
          <a:xfrm>
            <a:off x="1645920" y="4306824"/>
            <a:ext cx="3931920" cy="274320"/>
          </a:xfrm>
          <a:prstGeom prst="rect">
            <a:avLst/>
          </a:prstGeom>
          <a:noFill/>
        </p:spPr>
        <p:txBody>
          <a:bodyPr wrap="square" lIns="0" rIns="0" tIns="0" bIns="0" anchor="t">
            <a:spAutoFit/>
          </a:bodyPr>
          <a:lstStyle/>
          <a:p>
            <a:pPr algn="l">
              <a:lnSpc>
                <a:spcPct val="115000"/>
              </a:lnSpc>
            </a:pPr>
            <a:r>
              <a:rPr sz="1050" b="0" i="1">
                <a:solidFill>
                  <a:srgbClr val="5B6678"/>
                </a:solidFill>
                <a:latin typeface="DejaVu Sans"/>
              </a:rPr>
              <a:t>маршрутизирует</a:t>
            </a:r>
          </a:p>
        </p:txBody>
      </p:sp>
      <p:sp>
        <p:nvSpPr>
          <p:cNvPr id="7" name="Rounded Rectangle 6"/>
          <p:cNvSpPr/>
          <p:nvPr/>
        </p:nvSpPr>
        <p:spPr>
          <a:xfrm>
            <a:off x="640080" y="3017520"/>
            <a:ext cx="5852160" cy="731520"/>
          </a:xfrm>
          <a:prstGeom prst="roundRect">
            <a:avLst>
              <a:gd name="adj" fmla="val 8000"/>
            </a:avLst>
          </a:prstGeom>
          <a:solidFill>
            <a:srgbClr val="F4F7FA"/>
          </a:solidFill>
          <a:ln w="2032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822960" y="3218688"/>
            <a:ext cx="685800" cy="329184"/>
          </a:xfrm>
          <a:prstGeom prst="roundRect">
            <a:avLst>
              <a:gd name="adj" fmla="val 5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wrap="none"/>
          <a:lstStyle/>
          <a:p>
            <a:pPr algn="ctr"/>
            <a:r>
              <a:rPr sz="1300" b="1">
                <a:solidFill>
                  <a:srgbClr val="FFFFFF"/>
                </a:solidFill>
                <a:latin typeface="DejaVu Sans"/>
              </a:rPr>
              <a:t>v2</a:t>
            </a:r>
          </a:p>
        </p:txBody>
      </p:sp>
      <p:sp>
        <p:nvSpPr>
          <p:cNvPr id="9" name="TextBox 8"/>
          <p:cNvSpPr txBox="1"/>
          <p:nvPr/>
        </p:nvSpPr>
        <p:spPr>
          <a:xfrm>
            <a:off x="1645920" y="3108960"/>
            <a:ext cx="4754880" cy="365760"/>
          </a:xfrm>
          <a:prstGeom prst="rect">
            <a:avLst/>
          </a:prstGeom>
          <a:noFill/>
        </p:spPr>
        <p:txBody>
          <a:bodyPr wrap="square" lIns="0" rIns="0" tIns="0" bIns="0" anchor="t">
            <a:spAutoFit/>
          </a:bodyPr>
          <a:lstStyle/>
          <a:p>
            <a:pPr algn="l">
              <a:lnSpc>
                <a:spcPct val="115000"/>
              </a:lnSpc>
            </a:pPr>
            <a:r>
              <a:rPr sz="1250" b="1" i="0">
                <a:solidFill>
                  <a:srgbClr val="21295C"/>
                </a:solidFill>
                <a:latin typeface="DejaVu Sans"/>
              </a:rPr>
              <a:t>Предлагает решения на утверждение человека</a:t>
            </a:r>
          </a:p>
        </p:txBody>
      </p:sp>
      <p:sp>
        <p:nvSpPr>
          <p:cNvPr id="10" name="TextBox 9"/>
          <p:cNvSpPr txBox="1"/>
          <p:nvPr/>
        </p:nvSpPr>
        <p:spPr>
          <a:xfrm>
            <a:off x="1645920" y="3438144"/>
            <a:ext cx="4754880" cy="274320"/>
          </a:xfrm>
          <a:prstGeom prst="rect">
            <a:avLst/>
          </a:prstGeom>
          <a:noFill/>
        </p:spPr>
        <p:txBody>
          <a:bodyPr wrap="square" lIns="0" rIns="0" tIns="0" bIns="0" anchor="t">
            <a:spAutoFit/>
          </a:bodyPr>
          <a:lstStyle/>
          <a:p>
            <a:pPr algn="l">
              <a:lnSpc>
                <a:spcPct val="115000"/>
              </a:lnSpc>
            </a:pPr>
            <a:r>
              <a:rPr sz="1050" b="0" i="1">
                <a:solidFill>
                  <a:srgbClr val="5B6678"/>
                </a:solidFill>
                <a:latin typeface="DejaVu Sans"/>
              </a:rPr>
              <a:t>человек в петле</a:t>
            </a:r>
          </a:p>
        </p:txBody>
      </p:sp>
      <p:sp>
        <p:nvSpPr>
          <p:cNvPr id="11" name="Rounded Rectangle 10"/>
          <p:cNvSpPr/>
          <p:nvPr/>
        </p:nvSpPr>
        <p:spPr>
          <a:xfrm>
            <a:off x="640080" y="2148840"/>
            <a:ext cx="6675120" cy="731520"/>
          </a:xfrm>
          <a:prstGeom prst="roundRect">
            <a:avLst>
              <a:gd name="adj" fmla="val 8000"/>
            </a:avLst>
          </a:prstGeom>
          <a:solidFill>
            <a:srgbClr val="F4F7FA"/>
          </a:solidFill>
          <a:ln w="2032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822960" y="2350008"/>
            <a:ext cx="685800" cy="329184"/>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wrap="none"/>
          <a:lstStyle/>
          <a:p>
            <a:pPr algn="ctr"/>
            <a:r>
              <a:rPr sz="1300" b="1">
                <a:solidFill>
                  <a:srgbClr val="FFFFFF"/>
                </a:solidFill>
                <a:latin typeface="DejaVu Sans"/>
              </a:rPr>
              <a:t>v3</a:t>
            </a:r>
          </a:p>
        </p:txBody>
      </p:sp>
      <p:sp>
        <p:nvSpPr>
          <p:cNvPr id="13" name="TextBox 12"/>
          <p:cNvSpPr txBox="1"/>
          <p:nvPr/>
        </p:nvSpPr>
        <p:spPr>
          <a:xfrm>
            <a:off x="1645920" y="2240280"/>
            <a:ext cx="5577840" cy="365760"/>
          </a:xfrm>
          <a:prstGeom prst="rect">
            <a:avLst/>
          </a:prstGeom>
          <a:noFill/>
        </p:spPr>
        <p:txBody>
          <a:bodyPr wrap="square" lIns="0" rIns="0" tIns="0" bIns="0" anchor="t">
            <a:spAutoFit/>
          </a:bodyPr>
          <a:lstStyle/>
          <a:p>
            <a:pPr algn="l">
              <a:lnSpc>
                <a:spcPct val="115000"/>
              </a:lnSpc>
            </a:pPr>
            <a:r>
              <a:rPr sz="1250" b="1" i="0">
                <a:solidFill>
                  <a:srgbClr val="21295C"/>
                </a:solidFill>
                <a:latin typeface="DejaVu Sans"/>
              </a:rPr>
              <a:t>Автоматически, с возвратом к человеку</a:t>
            </a:r>
          </a:p>
        </p:txBody>
      </p:sp>
      <p:sp>
        <p:nvSpPr>
          <p:cNvPr id="14" name="TextBox 13"/>
          <p:cNvSpPr txBox="1"/>
          <p:nvPr/>
        </p:nvSpPr>
        <p:spPr>
          <a:xfrm>
            <a:off x="1645920" y="2569464"/>
            <a:ext cx="5577840" cy="274320"/>
          </a:xfrm>
          <a:prstGeom prst="rect">
            <a:avLst/>
          </a:prstGeom>
          <a:noFill/>
        </p:spPr>
        <p:txBody>
          <a:bodyPr wrap="square" lIns="0" rIns="0" tIns="0" bIns="0" anchor="t">
            <a:spAutoFit/>
          </a:bodyPr>
          <a:lstStyle/>
          <a:p>
            <a:pPr algn="l">
              <a:lnSpc>
                <a:spcPct val="115000"/>
              </a:lnSpc>
            </a:pPr>
            <a:r>
              <a:rPr sz="1050" b="0" i="1">
                <a:solidFill>
                  <a:srgbClr val="5B6678"/>
                </a:solidFill>
                <a:latin typeface="DejaVu Sans"/>
              </a:rPr>
              <a:t>заслужено трассами</a:t>
            </a:r>
          </a:p>
        </p:txBody>
      </p:sp>
      <p:sp>
        <p:nvSpPr>
          <p:cNvPr id="15" name="Rounded Rectangle 14"/>
          <p:cNvSpPr/>
          <p:nvPr/>
        </p:nvSpPr>
        <p:spPr>
          <a:xfrm>
            <a:off x="7086600" y="1417320"/>
            <a:ext cx="4617720" cy="3200400"/>
          </a:xfrm>
          <a:prstGeom prst="roundRect">
            <a:avLst>
              <a:gd name="adj" fmla="val 9523"/>
            </a:avLst>
          </a:prstGeom>
          <a:solidFill>
            <a:srgbClr val="F4F7FA"/>
          </a:solidFill>
          <a:ln w="1905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315200" y="1554480"/>
            <a:ext cx="4206240" cy="822960"/>
          </a:xfrm>
          <a:prstGeom prst="rect">
            <a:avLst/>
          </a:prstGeom>
          <a:noFill/>
        </p:spPr>
        <p:txBody>
          <a:bodyPr wrap="square" lIns="0" rIns="0" tIns="0" bIns="0" anchor="t">
            <a:spAutoFit/>
          </a:bodyPr>
          <a:lstStyle/>
          <a:p>
            <a:pPr algn="l">
              <a:lnSpc>
                <a:spcPct val="110000"/>
              </a:lnSpc>
            </a:pPr>
            <a:r>
              <a:rPr sz="1400" b="1" i="0">
                <a:solidFill>
                  <a:srgbClr val="028090"/>
                </a:solidFill>
                <a:latin typeface="DejaVu Sans"/>
              </a:rPr>
              <a:t>CC/CD против привычного CI/CD </a:t>
            </a:r>
            <a:r>
              <a:rPr sz="728" baseline="30000" b="0" i="1">
                <a:latin typeface="DejaVu Sans"/>
                <a:cs typeface="DejaVu Sans"/>
                <a:ea typeface="DejaVu Sans"/>
                <a:solidFill>
                  <a:srgbClr val="1C7293"/>
                </a:solidFill>
              </a:rPr>
              <a:t>[1]</a:t>
            </a:r>
          </a:p>
        </p:txBody>
      </p:sp>
      <p:sp>
        <p:nvSpPr>
          <p:cNvPr id="17" name="TextBox 16"/>
          <p:cNvSpPr txBox="1"/>
          <p:nvPr/>
        </p:nvSpPr>
        <p:spPr>
          <a:xfrm>
            <a:off x="7315200" y="2331720"/>
            <a:ext cx="4206240" cy="2103120"/>
          </a:xfrm>
          <a:prstGeom prst="rect">
            <a:avLst/>
          </a:prstGeom>
          <a:noFill/>
        </p:spPr>
        <p:txBody>
          <a:bodyPr wrap="square" lIns="0" rIns="0" tIns="0" bIns="0" anchor="t">
            <a:spAutoFit/>
          </a:bodyPr>
          <a:lstStyle/>
          <a:p>
            <a:pPr algn="l">
              <a:lnSpc>
                <a:spcPct val="120000"/>
              </a:lnSpc>
            </a:pPr>
            <a:r>
              <a:rPr sz="1250" b="0" i="0">
                <a:solidFill>
                  <a:srgbClr val="21295C"/>
                </a:solidFill>
                <a:latin typeface="DejaVu Sans"/>
              </a:rPr>
              <a:t>CC/CD — Continuous Calibration/Development (непрерывная калибровка). Релиз версионируется по уровню агентности, а не по набору функций. Лестница агентности: Copilot, Cursor.</a:t>
            </a:r>
          </a:p>
        </p:txBody>
      </p:sp>
      <p:sp>
        <p:nvSpPr>
          <p:cNvPr id="18" name="Rounded Rectangle 17"/>
          <p:cNvSpPr/>
          <p:nvPr/>
        </p:nvSpPr>
        <p:spPr>
          <a:xfrm>
            <a:off x="640080" y="4617720"/>
            <a:ext cx="11064240" cy="868680"/>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59536" y="4672583"/>
            <a:ext cx="10625328" cy="758952"/>
          </a:xfrm>
          <a:prstGeom prst="rect">
            <a:avLst/>
          </a:prstGeom>
          <a:noFill/>
        </p:spPr>
        <p:txBody>
          <a:bodyPr wrap="square" lIns="0" rIns="0" tIns="0" bIns="0" anchor="ctr">
            <a:spAutoFit/>
          </a:bodyPr>
          <a:lstStyle/>
          <a:p>
            <a:pPr algn="l">
              <a:lnSpc>
                <a:spcPct val="120000"/>
              </a:lnSpc>
            </a:pPr>
            <a:r>
              <a:rPr sz="1300" b="1" i="0">
                <a:solidFill>
                  <a:srgbClr val="21295C"/>
                </a:solidFill>
                <a:latin typeface="DejaVu Sans"/>
              </a:rPr>
              <a:t>«Если не тестировали при высоком контроле — не готовы давать высокую агентность»: автономию агент заслуживает трассами исполнения, а не сразу по умолчанию.</a:t>
            </a:r>
          </a:p>
        </p:txBody>
      </p:sp>
      <p:sp>
        <p:nvSpPr>
          <p:cNvPr id="20" name="TextBox 19"/>
          <p:cNvSpPr txBox="1"/>
          <p:nvPr/>
        </p:nvSpPr>
        <p:spPr>
          <a:xfrm>
            <a:off x="502920" y="6455664"/>
            <a:ext cx="11201400" cy="548640"/>
          </a:xfrm>
          <a:prstGeom prst="rect">
            <a:avLst/>
          </a:prstGeom>
          <a:noFill/>
        </p:spPr>
        <p:txBody>
          <a:bodyPr wrap="square" lIns="0" rIns="0" tIns="0" bIns="0" anchor="t">
            <a:spAutoFit/>
          </a:bodyPr>
          <a:lstStyle/>
          <a:p>
            <a:pPr algn="l">
              <a:lnSpc>
                <a:spcPct val="102000"/>
              </a:lnSpc>
            </a:pPr>
            <a:r>
              <a:rPr sz="850" b="1" i="1">
                <a:solidFill>
                  <a:srgbClr val="065A82"/>
                </a:solidFill>
                <a:latin typeface="DejaVu Sans"/>
              </a:rPr>
              <a:t>[1] </a:t>
            </a:r>
            <a:r>
              <a:rPr sz="850" i="1">
                <a:solidFill>
                  <a:srgbClr val="1C7293"/>
                </a:solidFill>
                <a:latin typeface="DejaVu Sans"/>
                <a:hlinkClick r:id="rId2"/>
              </a:rPr>
              <a:t>Reganti &amp; Badam — CC/CD framework</a:t>
            </a:r>
          </a:p>
        </p:txBody>
      </p:sp>
      <p:sp>
        <p:nvSpPr>
          <p:cNvPr id="21" name="TextBox 20"/>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28 / 56</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65760"/>
            <a:ext cx="11247120" cy="777240"/>
          </a:xfrm>
          <a:prstGeom prst="rect">
            <a:avLst/>
          </a:prstGeom>
          <a:noFill/>
        </p:spPr>
        <p:txBody>
          <a:bodyPr wrap="square" lIns="0" rIns="0" tIns="0" bIns="0" anchor="t">
            <a:spAutoFit/>
          </a:bodyPr>
          <a:lstStyle/>
          <a:p>
            <a:pPr algn="l">
              <a:lnSpc>
                <a:spcPct val="110000"/>
              </a:lnSpc>
            </a:pPr>
            <a:r>
              <a:rPr sz="1900" b="1" i="0">
                <a:solidFill>
                  <a:srgbClr val="21295C"/>
                </a:solidFill>
                <a:latin typeface="DejaVu Sans"/>
              </a:rPr>
              <a:t>Удвоив скорость генерации, вы удваиваете очередь на ревью — не пропускную способность</a:t>
            </a:r>
          </a:p>
        </p:txBody>
      </p:sp>
      <p:sp>
        <p:nvSpPr>
          <p:cNvPr id="3" name="Rounded Rectangle 2"/>
          <p:cNvSpPr/>
          <p:nvPr/>
        </p:nvSpPr>
        <p:spPr>
          <a:xfrm>
            <a:off x="502920" y="1463040"/>
            <a:ext cx="5989320" cy="3108960"/>
          </a:xfrm>
          <a:prstGeom prst="roundRect">
            <a:avLst>
              <a:gd name="adj" fmla="val 9803"/>
            </a:avLst>
          </a:prstGeom>
          <a:solidFill>
            <a:srgbClr val="F4F7FA"/>
          </a:solidFill>
          <a:ln w="1905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scale-mid.png"/>
          <p:cNvPicPr>
            <a:picLocks noChangeAspect="1"/>
          </p:cNvPicPr>
          <p:nvPr/>
        </p:nvPicPr>
        <p:blipFill>
          <a:blip r:embed="rId2"/>
          <a:stretch>
            <a:fillRect/>
          </a:stretch>
        </p:blipFill>
        <p:spPr>
          <a:xfrm>
            <a:off x="2880360" y="1691640"/>
            <a:ext cx="1005840" cy="1005840"/>
          </a:xfrm>
          <a:prstGeom prst="rect">
            <a:avLst/>
          </a:prstGeom>
        </p:spPr>
      </p:pic>
      <p:sp>
        <p:nvSpPr>
          <p:cNvPr id="5" name="Rounded Rectangle 4"/>
          <p:cNvSpPr/>
          <p:nvPr/>
        </p:nvSpPr>
        <p:spPr>
          <a:xfrm>
            <a:off x="868680" y="2971800"/>
            <a:ext cx="2423160" cy="731520"/>
          </a:xfrm>
          <a:prstGeom prst="roundRect">
            <a:avLst>
              <a:gd name="adj" fmla="val 10000"/>
            </a:avLst>
          </a:prstGeom>
          <a:solidFill>
            <a:srgbClr val="FDF3DC"/>
          </a:solidFill>
          <a:ln w="1778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60120" y="3063240"/>
            <a:ext cx="2240280" cy="548640"/>
          </a:xfrm>
          <a:prstGeom prst="rect">
            <a:avLst/>
          </a:prstGeom>
          <a:noFill/>
        </p:spPr>
        <p:txBody>
          <a:bodyPr wrap="square" lIns="0" rIns="0" tIns="0" bIns="0" anchor="ctr">
            <a:spAutoFit/>
          </a:bodyPr>
          <a:lstStyle/>
          <a:p>
            <a:pPr algn="ctr">
              <a:lnSpc>
                <a:spcPct val="100000"/>
              </a:lnSpc>
            </a:pPr>
            <a:r>
              <a:rPr sz="1150" b="1" i="0">
                <a:solidFill>
                  <a:srgbClr val="21295C"/>
                </a:solidFill>
                <a:latin typeface="DejaVu Sans"/>
              </a:rPr>
              <a:t>генерация</a:t>
            </a:r>
          </a:p>
          <a:p>
            <a:pPr algn="ctr">
              <a:lnSpc>
                <a:spcPct val="100000"/>
              </a:lnSpc>
            </a:pPr>
            <a:r>
              <a:rPr sz="1150" b="1" i="0">
                <a:solidFill>
                  <a:srgbClr val="21295C"/>
                </a:solidFill>
                <a:latin typeface="DejaVu Sans"/>
              </a:rPr>
              <a:t>дёшево и быстро</a:t>
            </a:r>
          </a:p>
        </p:txBody>
      </p:sp>
      <p:sp>
        <p:nvSpPr>
          <p:cNvPr id="7" name="Rounded Rectangle 6"/>
          <p:cNvSpPr/>
          <p:nvPr/>
        </p:nvSpPr>
        <p:spPr>
          <a:xfrm>
            <a:off x="3703320" y="2971800"/>
            <a:ext cx="2423160" cy="731520"/>
          </a:xfrm>
          <a:prstGeom prst="roundRect">
            <a:avLst>
              <a:gd name="adj" fmla="val 10000"/>
            </a:avLst>
          </a:prstGeom>
          <a:solidFill>
            <a:srgbClr val="E5EAF0"/>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794760" y="3063240"/>
            <a:ext cx="2240280" cy="548640"/>
          </a:xfrm>
          <a:prstGeom prst="rect">
            <a:avLst/>
          </a:prstGeom>
          <a:noFill/>
        </p:spPr>
        <p:txBody>
          <a:bodyPr wrap="square" lIns="0" rIns="0" tIns="0" bIns="0" anchor="ctr">
            <a:spAutoFit/>
          </a:bodyPr>
          <a:lstStyle/>
          <a:p>
            <a:pPr algn="ctr">
              <a:lnSpc>
                <a:spcPct val="100000"/>
              </a:lnSpc>
            </a:pPr>
            <a:r>
              <a:rPr sz="1150" b="1" i="0">
                <a:solidFill>
                  <a:srgbClr val="21295C"/>
                </a:solidFill>
                <a:latin typeface="DejaVu Sans"/>
              </a:rPr>
              <a:t>верификация</a:t>
            </a:r>
          </a:p>
          <a:p>
            <a:pPr algn="ctr">
              <a:lnSpc>
                <a:spcPct val="100000"/>
              </a:lnSpc>
            </a:pPr>
            <a:r>
              <a:rPr sz="1150" b="1" i="0">
                <a:solidFill>
                  <a:srgbClr val="21295C"/>
                </a:solidFill>
                <a:latin typeface="DejaVu Sans"/>
              </a:rPr>
              <a:t>не ускорилась</a:t>
            </a:r>
          </a:p>
        </p:txBody>
      </p:sp>
      <p:sp>
        <p:nvSpPr>
          <p:cNvPr id="9" name="TextBox 8"/>
          <p:cNvSpPr txBox="1"/>
          <p:nvPr/>
        </p:nvSpPr>
        <p:spPr>
          <a:xfrm>
            <a:off x="868680" y="3840480"/>
            <a:ext cx="5212080" cy="640080"/>
          </a:xfrm>
          <a:prstGeom prst="rect">
            <a:avLst/>
          </a:prstGeom>
          <a:noFill/>
        </p:spPr>
        <p:txBody>
          <a:bodyPr wrap="square" lIns="0" rIns="0" tIns="0" bIns="0" anchor="t">
            <a:spAutoFit/>
          </a:bodyPr>
          <a:lstStyle/>
          <a:p>
            <a:pPr algn="l">
              <a:lnSpc>
                <a:spcPct val="112000"/>
              </a:lnSpc>
            </a:pPr>
            <a:r>
              <a:rPr sz="1200" b="0" i="1">
                <a:solidFill>
                  <a:srgbClr val="5B6678"/>
                </a:solidFill>
                <a:latin typeface="DejaVu Sans"/>
              </a:rPr>
              <a:t>Сгенерировать правдоподобный код — секунды; проверить его — не ускорилось.</a:t>
            </a:r>
          </a:p>
        </p:txBody>
      </p:sp>
      <p:sp>
        <p:nvSpPr>
          <p:cNvPr id="10" name="Rounded Rectangle 9"/>
          <p:cNvSpPr/>
          <p:nvPr/>
        </p:nvSpPr>
        <p:spPr>
          <a:xfrm>
            <a:off x="6720840" y="1463040"/>
            <a:ext cx="4983480" cy="3108960"/>
          </a:xfrm>
          <a:prstGeom prst="roundRect">
            <a:avLst>
              <a:gd name="adj" fmla="val 9803"/>
            </a:avLst>
          </a:prstGeom>
          <a:solidFill>
            <a:srgbClr val="F4F7FA"/>
          </a:solidFill>
          <a:ln w="1905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949440" y="1600200"/>
            <a:ext cx="4572000" cy="365760"/>
          </a:xfrm>
          <a:prstGeom prst="rect">
            <a:avLst/>
          </a:prstGeom>
          <a:noFill/>
        </p:spPr>
        <p:txBody>
          <a:bodyPr wrap="square" lIns="0" rIns="0" tIns="0" bIns="0" anchor="t">
            <a:spAutoFit/>
          </a:bodyPr>
          <a:lstStyle/>
          <a:p>
            <a:pPr algn="l">
              <a:lnSpc>
                <a:spcPct val="115000"/>
              </a:lnSpc>
            </a:pPr>
            <a:r>
              <a:rPr sz="1400" b="1" i="0">
                <a:solidFill>
                  <a:srgbClr val="028090"/>
                </a:solidFill>
                <a:latin typeface="DejaVu Sans"/>
              </a:rPr>
              <a:t>Проблема 70% </a:t>
            </a:r>
            <a:r>
              <a:rPr sz="728" baseline="30000" b="0" i="1">
                <a:latin typeface="DejaVu Sans"/>
                <a:cs typeface="DejaVu Sans"/>
                <a:ea typeface="DejaVu Sans"/>
                <a:solidFill>
                  <a:srgbClr val="1C7293"/>
                </a:solidFill>
              </a:rPr>
              <a:t>[1]</a:t>
            </a:r>
          </a:p>
        </p:txBody>
      </p:sp>
      <p:sp>
        <p:nvSpPr>
          <p:cNvPr id="12" name="TextBox 11"/>
          <p:cNvSpPr txBox="1"/>
          <p:nvPr/>
        </p:nvSpPr>
        <p:spPr>
          <a:xfrm>
            <a:off x="6949440" y="2103120"/>
            <a:ext cx="4572000" cy="2194560"/>
          </a:xfrm>
          <a:prstGeom prst="rect">
            <a:avLst/>
          </a:prstGeom>
          <a:noFill/>
        </p:spPr>
        <p:txBody>
          <a:bodyPr wrap="square" lIns="0" rIns="0" tIns="0" bIns="0" anchor="t">
            <a:spAutoFit/>
          </a:bodyPr>
          <a:lstStyle/>
          <a:p>
            <a:pPr algn="l">
              <a:lnSpc>
                <a:spcPct val="125000"/>
              </a:lnSpc>
            </a:pPr>
            <a:r>
              <a:rPr sz="1250" b="0" i="0">
                <a:solidFill>
                  <a:srgbClr val="21295C"/>
                </a:solidFill>
                <a:latin typeface="DejaVu Sans"/>
              </a:rPr>
              <a:t>Опытный разработчик переосмысливает ИИ-вывод и тратит время на переделку.</a:t>
            </a:r>
          </a:p>
          <a:p>
            <a:pPr algn="l">
              <a:lnSpc>
                <a:spcPct val="125000"/>
              </a:lnSpc>
            </a:pPr>
            <a:r>
              <a:rPr sz="1250" b="0" i="0">
                <a:solidFill>
                  <a:srgbClr val="21295C"/>
                </a:solidFill>
                <a:latin typeface="DejaVu Sans"/>
              </a:rPr>
              <a:t/>
            </a:r>
          </a:p>
          <a:p>
            <a:pPr algn="l">
              <a:lnSpc>
                <a:spcPct val="125000"/>
              </a:lnSpc>
            </a:pPr>
            <a:r>
              <a:rPr sz="1250" b="0" i="0">
                <a:solidFill>
                  <a:srgbClr val="21295C"/>
                </a:solidFill>
                <a:latin typeface="DejaVu Sans"/>
              </a:rPr>
              <a:t>Новичок отправляет «карточный домик кода», который выглядит правдоподобно, но рассыпается под нагрузкой.</a:t>
            </a:r>
          </a:p>
        </p:txBody>
      </p:sp>
      <p:sp>
        <p:nvSpPr>
          <p:cNvPr id="13" name="Rounded Rectangle 12"/>
          <p:cNvSpPr/>
          <p:nvPr/>
        </p:nvSpPr>
        <p:spPr>
          <a:xfrm>
            <a:off x="502920" y="4709160"/>
            <a:ext cx="11201400" cy="777240"/>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22376" y="4764024"/>
            <a:ext cx="10762488" cy="667512"/>
          </a:xfrm>
          <a:prstGeom prst="rect">
            <a:avLst/>
          </a:prstGeom>
          <a:noFill/>
        </p:spPr>
        <p:txBody>
          <a:bodyPr wrap="square" lIns="0" rIns="0" tIns="0" bIns="0" anchor="ctr">
            <a:spAutoFit/>
          </a:bodyPr>
          <a:lstStyle/>
          <a:p>
            <a:pPr algn="l">
              <a:lnSpc>
                <a:spcPct val="120000"/>
              </a:lnSpc>
            </a:pPr>
            <a:r>
              <a:rPr sz="1300" b="1" i="0">
                <a:solidFill>
                  <a:srgbClr val="21295C"/>
                </a:solidFill>
                <a:latin typeface="DejaVu Sans"/>
              </a:rPr>
              <a:t>Отгрузка без eval-гейта или плана отката — это не скорость, это отложенная цена: ревью не масштабируется вместе с генерацией.</a:t>
            </a:r>
          </a:p>
        </p:txBody>
      </p:sp>
      <p:sp>
        <p:nvSpPr>
          <p:cNvPr id="15" name="TextBox 14"/>
          <p:cNvSpPr txBox="1"/>
          <p:nvPr/>
        </p:nvSpPr>
        <p:spPr>
          <a:xfrm>
            <a:off x="502920" y="6455664"/>
            <a:ext cx="11201400" cy="548640"/>
          </a:xfrm>
          <a:prstGeom prst="rect">
            <a:avLst/>
          </a:prstGeom>
          <a:noFill/>
        </p:spPr>
        <p:txBody>
          <a:bodyPr wrap="square" lIns="0" rIns="0" tIns="0" bIns="0" anchor="t">
            <a:spAutoFit/>
          </a:bodyPr>
          <a:lstStyle/>
          <a:p>
            <a:pPr algn="l">
              <a:lnSpc>
                <a:spcPct val="102000"/>
              </a:lnSpc>
            </a:pPr>
            <a:r>
              <a:rPr sz="850" b="1" i="1">
                <a:solidFill>
                  <a:srgbClr val="065A82"/>
                </a:solidFill>
                <a:latin typeface="DejaVu Sans"/>
              </a:rPr>
              <a:t>[1] </a:t>
            </a:r>
            <a:r>
              <a:rPr sz="850" i="1">
                <a:solidFill>
                  <a:srgbClr val="1C7293"/>
                </a:solidFill>
                <a:latin typeface="DejaVu Sans"/>
                <a:hlinkClick r:id="rId3"/>
              </a:rPr>
              <a:t>Osmani — The 70% Problem</a:t>
            </a:r>
          </a:p>
        </p:txBody>
      </p:sp>
      <p:sp>
        <p:nvSpPr>
          <p:cNvPr id="16" name="TextBox 15"/>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29 / 56</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65760"/>
            <a:ext cx="11247120" cy="777240"/>
          </a:xfrm>
          <a:prstGeom prst="rect">
            <a:avLst/>
          </a:prstGeom>
          <a:noFill/>
        </p:spPr>
        <p:txBody>
          <a:bodyPr wrap="square" lIns="0" rIns="0" tIns="0" bIns="0" anchor="t">
            <a:spAutoFit/>
          </a:bodyPr>
          <a:lstStyle/>
          <a:p>
            <a:pPr algn="l">
              <a:lnSpc>
                <a:spcPct val="110000"/>
              </a:lnSpc>
            </a:pPr>
            <a:r>
              <a:rPr sz="2100" b="1" i="0">
                <a:solidFill>
                  <a:srgbClr val="21295C"/>
                </a:solidFill>
                <a:latin typeface="DejaVu Sans"/>
              </a:rPr>
              <a:t>0% → 100% одним шагом — минуя канареечную раскатку целиком</a:t>
            </a:r>
          </a:p>
        </p:txBody>
      </p:sp>
      <p:sp>
        <p:nvSpPr>
          <p:cNvPr id="3" name="Rounded Rectangle 2"/>
          <p:cNvSpPr/>
          <p:nvPr/>
        </p:nvSpPr>
        <p:spPr>
          <a:xfrm>
            <a:off x="502920" y="1417320"/>
            <a:ext cx="3246120" cy="3931920"/>
          </a:xfrm>
          <a:prstGeom prst="roundRect">
            <a:avLst>
              <a:gd name="adj" fmla="val 9389"/>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s26-balloon.jpg"/>
          <p:cNvPicPr>
            <a:picLocks noChangeAspect="1"/>
          </p:cNvPicPr>
          <p:nvPr/>
        </p:nvPicPr>
        <p:blipFill>
          <a:blip r:embed="rId2"/>
          <a:stretch>
            <a:fillRect/>
          </a:stretch>
        </p:blipFill>
        <p:spPr>
          <a:xfrm>
            <a:off x="760086" y="1545336"/>
            <a:ext cx="2731787" cy="3675887"/>
          </a:xfrm>
          <a:prstGeom prst="rect">
            <a:avLst/>
          </a:prstGeom>
        </p:spPr>
      </p:pic>
      <p:sp>
        <p:nvSpPr>
          <p:cNvPr id="5" name="Rounded Rectangle 4"/>
          <p:cNvSpPr/>
          <p:nvPr/>
        </p:nvSpPr>
        <p:spPr>
          <a:xfrm>
            <a:off x="3977639" y="1417320"/>
            <a:ext cx="2788920" cy="1234440"/>
          </a:xfrm>
          <a:prstGeom prst="roundRect">
            <a:avLst>
              <a:gd name="adj" fmla="val 22000"/>
            </a:avLst>
          </a:prstGeom>
          <a:solidFill>
            <a:srgbClr val="FFFFFF"/>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s26-google-real-source.png"/>
          <p:cNvPicPr>
            <a:picLocks noChangeAspect="1"/>
          </p:cNvPicPr>
          <p:nvPr/>
        </p:nvPicPr>
        <p:blipFill>
          <a:blip r:embed="rId3"/>
          <a:stretch>
            <a:fillRect/>
          </a:stretch>
        </p:blipFill>
        <p:spPr>
          <a:xfrm>
            <a:off x="4197096" y="1637058"/>
            <a:ext cx="2350008" cy="794964"/>
          </a:xfrm>
          <a:prstGeom prst="rect">
            <a:avLst/>
          </a:prstGeom>
        </p:spPr>
      </p:pic>
      <p:sp>
        <p:nvSpPr>
          <p:cNvPr id="7" name="Rounded Rectangle 6"/>
          <p:cNvSpPr/>
          <p:nvPr/>
        </p:nvSpPr>
        <p:spPr>
          <a:xfrm>
            <a:off x="6995160" y="1417320"/>
            <a:ext cx="4709160" cy="1234440"/>
          </a:xfrm>
          <a:prstGeom prst="roundRect">
            <a:avLst>
              <a:gd name="adj" fmla="val 22000"/>
            </a:avLst>
          </a:prstGeom>
          <a:solidFill>
            <a:srgbClr val="F4F7FA"/>
          </a:solidFill>
          <a:ln w="1778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223760" y="1481328"/>
            <a:ext cx="4251960" cy="310896"/>
          </a:xfrm>
          <a:prstGeom prst="rect">
            <a:avLst/>
          </a:prstGeom>
          <a:noFill/>
        </p:spPr>
        <p:txBody>
          <a:bodyPr wrap="square" lIns="0" rIns="0" tIns="0" bIns="0" anchor="t">
            <a:spAutoFit/>
          </a:bodyPr>
          <a:lstStyle/>
          <a:p>
            <a:pPr algn="l">
              <a:lnSpc>
                <a:spcPct val="115000"/>
              </a:lnSpc>
            </a:pPr>
            <a:r>
              <a:rPr sz="1300" b="1" i="0">
                <a:solidFill>
                  <a:srgbClr val="065A82"/>
                </a:solidFill>
                <a:latin typeface="DejaVu Sans"/>
              </a:rPr>
              <a:t>Google AI Overviews, май 2024</a:t>
            </a:r>
          </a:p>
        </p:txBody>
      </p:sp>
      <p:sp>
        <p:nvSpPr>
          <p:cNvPr id="9" name="TextBox 8"/>
          <p:cNvSpPr txBox="1"/>
          <p:nvPr/>
        </p:nvSpPr>
        <p:spPr>
          <a:xfrm>
            <a:off x="7223760" y="1828800"/>
            <a:ext cx="4251960" cy="777240"/>
          </a:xfrm>
          <a:prstGeom prst="rect">
            <a:avLst/>
          </a:prstGeom>
          <a:noFill/>
        </p:spPr>
        <p:txBody>
          <a:bodyPr wrap="square" lIns="0" rIns="0" tIns="0" bIns="0" anchor="t">
            <a:spAutoFit/>
          </a:bodyPr>
          <a:lstStyle/>
          <a:p>
            <a:pPr algn="l">
              <a:lnSpc>
                <a:spcPct val="115000"/>
              </a:lnSpc>
            </a:pPr>
            <a:r>
              <a:rPr sz="1150" b="0" i="0">
                <a:solidFill>
                  <a:srgbClr val="21295C"/>
                </a:solidFill>
                <a:latin typeface="DejaVu Sans"/>
              </a:rPr>
              <a:t>Раскатан на 100% поиска США одним шагом </a:t>
            </a:r>
            <a:r>
              <a:rPr sz="598" baseline="30000" b="0" i="1">
                <a:latin typeface="DejaVu Sans"/>
                <a:cs typeface="DejaVu Sans"/>
                <a:ea typeface="DejaVu Sans"/>
                <a:solidFill>
                  <a:srgbClr val="1C7293"/>
                </a:solidFill>
              </a:rPr>
              <a:t>[1]</a:t>
            </a:r>
            <a:r>
              <a:rPr sz="1150" b="0" i="0">
                <a:latin typeface="DejaVu Sans"/>
                <a:cs typeface="DejaVu Sans"/>
                <a:ea typeface="DejaVu Sans"/>
                <a:solidFill>
                  <a:srgbClr val="21295C"/>
                </a:solidFill>
              </a:rPr>
              <a:t>. Без eval-гейта. Отключить пользователю нельзя.</a:t>
            </a:r>
          </a:p>
        </p:txBody>
      </p:sp>
      <p:sp>
        <p:nvSpPr>
          <p:cNvPr id="10" name="Rounded Rectangle 9"/>
          <p:cNvSpPr/>
          <p:nvPr/>
        </p:nvSpPr>
        <p:spPr>
          <a:xfrm>
            <a:off x="4069080" y="3017520"/>
            <a:ext cx="1325880" cy="548640"/>
          </a:xfrm>
          <a:prstGeom prst="roundRect">
            <a:avLst>
              <a:gd name="adj" fmla="val 14000"/>
            </a:avLst>
          </a:prstGeom>
          <a:solidFill>
            <a:srgbClr val="E5EAF0"/>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069080" y="3090672"/>
            <a:ext cx="1325880" cy="402336"/>
          </a:xfrm>
          <a:prstGeom prst="rect">
            <a:avLst/>
          </a:prstGeom>
          <a:noFill/>
        </p:spPr>
        <p:txBody>
          <a:bodyPr wrap="square" lIns="0" rIns="0" tIns="0" bIns="0" anchor="t">
            <a:spAutoFit/>
          </a:bodyPr>
          <a:lstStyle/>
          <a:p>
            <a:pPr algn="ctr">
              <a:lnSpc>
                <a:spcPct val="115000"/>
              </a:lnSpc>
            </a:pPr>
            <a:r>
              <a:rPr sz="1300" b="1" i="0">
                <a:solidFill>
                  <a:srgbClr val="21295C"/>
                </a:solidFill>
                <a:latin typeface="DejaVu Sans"/>
              </a:rPr>
              <a:t>1%</a:t>
            </a:r>
          </a:p>
        </p:txBody>
      </p:sp>
      <p:sp>
        <p:nvSpPr>
          <p:cNvPr id="12" name="Right Arrow 11"/>
          <p:cNvSpPr/>
          <p:nvPr/>
        </p:nvSpPr>
        <p:spPr>
          <a:xfrm>
            <a:off x="5413248" y="3182112"/>
            <a:ext cx="146304" cy="219456"/>
          </a:xfrm>
          <a:prstGeom prst="rightArrow">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5577840" y="3017520"/>
            <a:ext cx="1325880" cy="548640"/>
          </a:xfrm>
          <a:prstGeom prst="roundRect">
            <a:avLst>
              <a:gd name="adj" fmla="val 14000"/>
            </a:avLst>
          </a:prstGeom>
          <a:solidFill>
            <a:srgbClr val="E5EAF0"/>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577840" y="3090672"/>
            <a:ext cx="1325880" cy="402336"/>
          </a:xfrm>
          <a:prstGeom prst="rect">
            <a:avLst/>
          </a:prstGeom>
          <a:noFill/>
        </p:spPr>
        <p:txBody>
          <a:bodyPr wrap="square" lIns="0" rIns="0" tIns="0" bIns="0" anchor="t">
            <a:spAutoFit/>
          </a:bodyPr>
          <a:lstStyle/>
          <a:p>
            <a:pPr algn="ctr">
              <a:lnSpc>
                <a:spcPct val="115000"/>
              </a:lnSpc>
            </a:pPr>
            <a:r>
              <a:rPr sz="1300" b="1" i="0">
                <a:solidFill>
                  <a:srgbClr val="21295C"/>
                </a:solidFill>
                <a:latin typeface="DejaVu Sans"/>
              </a:rPr>
              <a:t>10%</a:t>
            </a:r>
          </a:p>
        </p:txBody>
      </p:sp>
      <p:sp>
        <p:nvSpPr>
          <p:cNvPr id="15" name="Right Arrow 14"/>
          <p:cNvSpPr/>
          <p:nvPr/>
        </p:nvSpPr>
        <p:spPr>
          <a:xfrm>
            <a:off x="6922007" y="3182112"/>
            <a:ext cx="146304" cy="219456"/>
          </a:xfrm>
          <a:prstGeom prst="rightArrow">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7086600" y="3017520"/>
            <a:ext cx="1325880" cy="548640"/>
          </a:xfrm>
          <a:prstGeom prst="roundRect">
            <a:avLst>
              <a:gd name="adj" fmla="val 14000"/>
            </a:avLst>
          </a:prstGeom>
          <a:solidFill>
            <a:srgbClr val="E5EAF0"/>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086600" y="3090672"/>
            <a:ext cx="1325880" cy="402336"/>
          </a:xfrm>
          <a:prstGeom prst="rect">
            <a:avLst/>
          </a:prstGeom>
          <a:noFill/>
        </p:spPr>
        <p:txBody>
          <a:bodyPr wrap="square" lIns="0" rIns="0" tIns="0" bIns="0" anchor="t">
            <a:spAutoFit/>
          </a:bodyPr>
          <a:lstStyle/>
          <a:p>
            <a:pPr algn="ctr">
              <a:lnSpc>
                <a:spcPct val="115000"/>
              </a:lnSpc>
            </a:pPr>
            <a:r>
              <a:rPr sz="1300" b="1" i="0">
                <a:solidFill>
                  <a:srgbClr val="21295C"/>
                </a:solidFill>
                <a:latin typeface="DejaVu Sans"/>
              </a:rPr>
              <a:t>25%</a:t>
            </a:r>
          </a:p>
        </p:txBody>
      </p:sp>
      <p:sp>
        <p:nvSpPr>
          <p:cNvPr id="18" name="Right Arrow 17"/>
          <p:cNvSpPr/>
          <p:nvPr/>
        </p:nvSpPr>
        <p:spPr>
          <a:xfrm>
            <a:off x="8430768" y="3182112"/>
            <a:ext cx="146304" cy="219456"/>
          </a:xfrm>
          <a:prstGeom prst="rightArrow">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8595359" y="3017520"/>
            <a:ext cx="1325880" cy="548640"/>
          </a:xfrm>
          <a:prstGeom prst="roundRect">
            <a:avLst>
              <a:gd name="adj" fmla="val 14000"/>
            </a:avLst>
          </a:prstGeom>
          <a:solidFill>
            <a:srgbClr val="E5EAF0"/>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595359" y="3090672"/>
            <a:ext cx="1325880" cy="402336"/>
          </a:xfrm>
          <a:prstGeom prst="rect">
            <a:avLst/>
          </a:prstGeom>
          <a:noFill/>
        </p:spPr>
        <p:txBody>
          <a:bodyPr wrap="square" lIns="0" rIns="0" tIns="0" bIns="0" anchor="t">
            <a:spAutoFit/>
          </a:bodyPr>
          <a:lstStyle/>
          <a:p>
            <a:pPr algn="ctr">
              <a:lnSpc>
                <a:spcPct val="115000"/>
              </a:lnSpc>
            </a:pPr>
            <a:r>
              <a:rPr sz="1300" b="1" i="0">
                <a:solidFill>
                  <a:srgbClr val="21295C"/>
                </a:solidFill>
                <a:latin typeface="DejaVu Sans"/>
              </a:rPr>
              <a:t>50%</a:t>
            </a:r>
          </a:p>
        </p:txBody>
      </p:sp>
      <p:sp>
        <p:nvSpPr>
          <p:cNvPr id="21" name="Right Arrow 20"/>
          <p:cNvSpPr/>
          <p:nvPr/>
        </p:nvSpPr>
        <p:spPr>
          <a:xfrm>
            <a:off x="9939528" y="3182112"/>
            <a:ext cx="146304" cy="219456"/>
          </a:xfrm>
          <a:prstGeom prst="rightArrow">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10104120" y="3017520"/>
            <a:ext cx="1325880" cy="548640"/>
          </a:xfrm>
          <a:prstGeom prst="roundRect">
            <a:avLst>
              <a:gd name="adj" fmla="val 14000"/>
            </a:avLst>
          </a:prstGeom>
          <a:solidFill>
            <a:srgbClr val="FDF3DC"/>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0104120" y="3090672"/>
            <a:ext cx="1325880" cy="402336"/>
          </a:xfrm>
          <a:prstGeom prst="rect">
            <a:avLst/>
          </a:prstGeom>
          <a:noFill/>
        </p:spPr>
        <p:txBody>
          <a:bodyPr wrap="square" lIns="0" rIns="0" tIns="0" bIns="0" anchor="t">
            <a:spAutoFit/>
          </a:bodyPr>
          <a:lstStyle/>
          <a:p>
            <a:pPr algn="ctr">
              <a:lnSpc>
                <a:spcPct val="115000"/>
              </a:lnSpc>
            </a:pPr>
            <a:r>
              <a:rPr sz="1300" b="1" i="0">
                <a:solidFill>
                  <a:srgbClr val="21295C"/>
                </a:solidFill>
                <a:latin typeface="DejaVu Sans"/>
              </a:rPr>
              <a:t>100%</a:t>
            </a:r>
          </a:p>
        </p:txBody>
      </p:sp>
      <p:sp>
        <p:nvSpPr>
          <p:cNvPr id="24" name="TextBox 23"/>
          <p:cNvSpPr txBox="1"/>
          <p:nvPr/>
        </p:nvSpPr>
        <p:spPr>
          <a:xfrm>
            <a:off x="4069080" y="3657600"/>
            <a:ext cx="7635240" cy="365760"/>
          </a:xfrm>
          <a:prstGeom prst="rect">
            <a:avLst/>
          </a:prstGeom>
          <a:noFill/>
        </p:spPr>
        <p:txBody>
          <a:bodyPr wrap="square" lIns="0" rIns="0" tIns="0" bIns="0" anchor="t">
            <a:spAutoFit/>
          </a:bodyPr>
          <a:lstStyle/>
          <a:p>
            <a:pPr algn="l">
              <a:lnSpc>
                <a:spcPct val="115000"/>
              </a:lnSpc>
            </a:pPr>
            <a:r>
              <a:rPr sz="1150" b="0" i="1">
                <a:solidFill>
                  <a:srgbClr val="5B6678"/>
                </a:solidFill>
                <a:latin typeface="DejaVu Sans"/>
              </a:rPr>
              <a:t>правильная канареечная раскатка (перепрыгнута)</a:t>
            </a:r>
          </a:p>
        </p:txBody>
      </p:sp>
      <p:sp>
        <p:nvSpPr>
          <p:cNvPr id="25" name="Rounded Rectangle 24"/>
          <p:cNvSpPr/>
          <p:nvPr/>
        </p:nvSpPr>
        <p:spPr>
          <a:xfrm>
            <a:off x="3977639" y="4251960"/>
            <a:ext cx="7726679" cy="1097280"/>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197096" y="4306824"/>
            <a:ext cx="7287767" cy="987552"/>
          </a:xfrm>
          <a:prstGeom prst="rect">
            <a:avLst/>
          </a:prstGeom>
          <a:noFill/>
        </p:spPr>
        <p:txBody>
          <a:bodyPr wrap="square" lIns="0" rIns="0" tIns="0" bIns="0" anchor="ctr">
            <a:spAutoFit/>
          </a:bodyPr>
          <a:lstStyle/>
          <a:p>
            <a:pPr algn="l">
              <a:lnSpc>
                <a:spcPct val="120000"/>
              </a:lnSpc>
            </a:pPr>
            <a:r>
              <a:rPr sz="1250" b="1" i="0">
                <a:solidFill>
                  <a:srgbClr val="21295C"/>
                </a:solidFill>
                <a:latin typeface="DejaVu Sans"/>
              </a:rPr>
              <a:t>На 1% трафика паттерн («ешьте камни» — сатира The Onion; «клей на пиццу» — шутка на Reddit) всплыл бы за дни во внутреннем мониторинге </a:t>
            </a:r>
            <a:r>
              <a:rPr sz="650" baseline="30000" b="0" i="1">
                <a:latin typeface="DejaVu Sans"/>
                <a:cs typeface="DejaVu Sans"/>
                <a:ea typeface="DejaVu Sans"/>
                <a:solidFill>
                  <a:srgbClr val="1C7293"/>
                </a:solidFill>
              </a:rPr>
              <a:t>[2]</a:t>
            </a:r>
            <a:r>
              <a:rPr sz="1250" b="1" i="0">
                <a:latin typeface="DejaVu Sans"/>
                <a:cs typeface="DejaVu Sans"/>
                <a:ea typeface="DejaVu Sans"/>
                <a:solidFill>
                  <a:srgbClr val="21295C"/>
                </a:solidFill>
              </a:rPr>
              <a:t>. Вместо этого — публичное осмеяние сразу на 100% аудитории.</a:t>
            </a:r>
          </a:p>
        </p:txBody>
      </p:sp>
      <p:sp>
        <p:nvSpPr>
          <p:cNvPr id="27" name="TextBox 26"/>
          <p:cNvSpPr txBox="1"/>
          <p:nvPr/>
        </p:nvSpPr>
        <p:spPr>
          <a:xfrm>
            <a:off x="502920" y="6455664"/>
            <a:ext cx="11201400" cy="548640"/>
          </a:xfrm>
          <a:prstGeom prst="rect">
            <a:avLst/>
          </a:prstGeom>
          <a:noFill/>
        </p:spPr>
        <p:txBody>
          <a:bodyPr wrap="square" lIns="0" rIns="0" tIns="0" bIns="0" anchor="t">
            <a:spAutoFit/>
          </a:bodyPr>
          <a:lstStyle/>
          <a:p>
            <a:pPr algn="l">
              <a:lnSpc>
                <a:spcPct val="102000"/>
              </a:lnSpc>
            </a:pPr>
            <a:r>
              <a:rPr sz="850" b="1" i="1">
                <a:solidFill>
                  <a:srgbClr val="065A82"/>
                </a:solidFill>
                <a:latin typeface="DejaVu Sans"/>
              </a:rPr>
              <a:t>[1] </a:t>
            </a:r>
            <a:r>
              <a:rPr sz="850" i="1">
                <a:solidFill>
                  <a:srgbClr val="1C7293"/>
                </a:solidFill>
                <a:latin typeface="DejaVu Sans"/>
                <a:hlinkClick r:id="rId4"/>
              </a:rPr>
              <a:t>Forbes (31 мая 2024) — Google AI Overviews</a:t>
            </a:r>
            <a:r>
              <a:rPr sz="850" i="1">
                <a:solidFill>
                  <a:srgbClr val="1C7293"/>
                </a:solidFill>
                <a:latin typeface="DejaVu Sans"/>
              </a:rPr>
              <a:t>   ·   </a:t>
            </a:r>
            <a:r>
              <a:rPr sz="850" b="1" i="1">
                <a:solidFill>
                  <a:srgbClr val="065A82"/>
                </a:solidFill>
                <a:latin typeface="DejaVu Sans"/>
              </a:rPr>
              <a:t>[2] </a:t>
            </a:r>
            <a:r>
              <a:rPr sz="850" i="1">
                <a:solidFill>
                  <a:srgbClr val="1C7293"/>
                </a:solidFill>
                <a:latin typeface="DejaVu Sans"/>
                <a:hlinkClick r:id="rId5"/>
              </a:rPr>
              <a:t>AndroidPolice — «клей на пиццу» / «есть камни»</a:t>
            </a:r>
          </a:p>
        </p:txBody>
      </p:sp>
      <p:sp>
        <p:nvSpPr>
          <p:cNvPr id="28" name="TextBox 27"/>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30 / 56</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65760"/>
            <a:ext cx="11247120" cy="777240"/>
          </a:xfrm>
          <a:prstGeom prst="rect">
            <a:avLst/>
          </a:prstGeom>
          <a:noFill/>
        </p:spPr>
        <p:txBody>
          <a:bodyPr wrap="square" lIns="0" rIns="0" tIns="0" bIns="0" anchor="t">
            <a:spAutoFit/>
          </a:bodyPr>
          <a:lstStyle/>
          <a:p>
            <a:pPr algn="l">
              <a:lnSpc>
                <a:spcPct val="110000"/>
              </a:lnSpc>
            </a:pPr>
            <a:r>
              <a:rPr sz="2000" b="1" i="0">
                <a:solidFill>
                  <a:srgbClr val="21295C"/>
                </a:solidFill>
                <a:latin typeface="DejaVu Sans"/>
              </a:rPr>
              <a:t>2,5–3 года на 0,7% сети — и решение остановиться было правильным </a:t>
            </a:r>
            <a:r>
              <a:rPr sz="1040" baseline="30000" b="0" i="1">
                <a:latin typeface="DejaVu Sans"/>
                <a:cs typeface="DejaVu Sans"/>
                <a:ea typeface="DejaVu Sans"/>
                <a:solidFill>
                  <a:srgbClr val="1C7293"/>
                </a:solidFill>
              </a:rPr>
              <a:t>[1]</a:t>
            </a:r>
          </a:p>
        </p:txBody>
      </p:sp>
      <p:sp>
        <p:nvSpPr>
          <p:cNvPr id="3" name="Rounded Rectangle 2"/>
          <p:cNvSpPr/>
          <p:nvPr/>
        </p:nvSpPr>
        <p:spPr>
          <a:xfrm>
            <a:off x="502920" y="1463040"/>
            <a:ext cx="2788920" cy="1417320"/>
          </a:xfrm>
          <a:prstGeom prst="roundRect">
            <a:avLst>
              <a:gd name="adj" fmla="val 21505"/>
            </a:avLst>
          </a:prstGeom>
          <a:solidFill>
            <a:srgbClr val="FFFFFF"/>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s27-mcdonalds-real-source.png"/>
          <p:cNvPicPr>
            <a:picLocks noChangeAspect="1"/>
          </p:cNvPicPr>
          <p:nvPr/>
        </p:nvPicPr>
        <p:blipFill>
          <a:blip r:embed="rId2"/>
          <a:stretch>
            <a:fillRect/>
          </a:stretch>
        </p:blipFill>
        <p:spPr>
          <a:xfrm>
            <a:off x="1317389" y="1664208"/>
            <a:ext cx="1159982" cy="1014984"/>
          </a:xfrm>
          <a:prstGeom prst="rect">
            <a:avLst/>
          </a:prstGeom>
        </p:spPr>
      </p:pic>
      <p:sp>
        <p:nvSpPr>
          <p:cNvPr id="5" name="Rounded Rectangle 4"/>
          <p:cNvSpPr/>
          <p:nvPr/>
        </p:nvSpPr>
        <p:spPr>
          <a:xfrm>
            <a:off x="502920" y="3017520"/>
            <a:ext cx="2788920" cy="1920240"/>
          </a:xfrm>
          <a:prstGeom prst="roundRect">
            <a:avLst>
              <a:gd name="adj" fmla="val 15873"/>
            </a:avLst>
          </a:prstGeom>
          <a:solidFill>
            <a:srgbClr val="F4F7FA"/>
          </a:solidFill>
          <a:ln w="1778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31520" y="3154680"/>
            <a:ext cx="2331720" cy="822960"/>
          </a:xfrm>
          <a:prstGeom prst="rect">
            <a:avLst/>
          </a:prstGeom>
          <a:noFill/>
        </p:spPr>
        <p:txBody>
          <a:bodyPr wrap="square" lIns="0" rIns="0" tIns="0" bIns="0" anchor="t">
            <a:spAutoFit/>
          </a:bodyPr>
          <a:lstStyle/>
          <a:p>
            <a:pPr algn="ctr">
              <a:lnSpc>
                <a:spcPct val="115000"/>
              </a:lnSpc>
            </a:pPr>
            <a:r>
              <a:rPr sz="4000" b="1" i="0">
                <a:solidFill>
                  <a:srgbClr val="F0AB00"/>
                </a:solidFill>
                <a:latin typeface="DejaVu Sans"/>
              </a:rPr>
              <a:t>0,7%</a:t>
            </a:r>
          </a:p>
        </p:txBody>
      </p:sp>
      <p:sp>
        <p:nvSpPr>
          <p:cNvPr id="7" name="TextBox 6"/>
          <p:cNvSpPr txBox="1"/>
          <p:nvPr/>
        </p:nvSpPr>
        <p:spPr>
          <a:xfrm>
            <a:off x="640080" y="4069080"/>
            <a:ext cx="2514600" cy="777240"/>
          </a:xfrm>
          <a:prstGeom prst="rect">
            <a:avLst/>
          </a:prstGeom>
          <a:noFill/>
        </p:spPr>
        <p:txBody>
          <a:bodyPr wrap="square" lIns="0" rIns="0" tIns="0" bIns="0" anchor="t">
            <a:spAutoFit/>
          </a:bodyPr>
          <a:lstStyle/>
          <a:p>
            <a:pPr algn="ctr">
              <a:lnSpc>
                <a:spcPct val="110000"/>
              </a:lnSpc>
            </a:pPr>
            <a:r>
              <a:rPr sz="1150" b="0" i="1">
                <a:solidFill>
                  <a:srgbClr val="5B6678"/>
                </a:solidFill>
                <a:latin typeface="DejaVu Sans"/>
              </a:rPr>
              <a:t>~100 из ≈13 786 ресторанов США</a:t>
            </a:r>
          </a:p>
        </p:txBody>
      </p:sp>
      <p:sp>
        <p:nvSpPr>
          <p:cNvPr id="8" name="Rounded Rectangle 7"/>
          <p:cNvSpPr/>
          <p:nvPr/>
        </p:nvSpPr>
        <p:spPr>
          <a:xfrm>
            <a:off x="3520440" y="1463040"/>
            <a:ext cx="8183879" cy="2788920"/>
          </a:xfrm>
          <a:prstGeom prst="roundRect">
            <a:avLst>
              <a:gd name="adj" fmla="val 10928"/>
            </a:avLst>
          </a:prstGeom>
          <a:solidFill>
            <a:srgbClr val="F4F7FA"/>
          </a:solidFill>
          <a:ln w="1905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794760" y="1600200"/>
            <a:ext cx="7680960" cy="365760"/>
          </a:xfrm>
          <a:prstGeom prst="rect">
            <a:avLst/>
          </a:prstGeom>
          <a:noFill/>
        </p:spPr>
        <p:txBody>
          <a:bodyPr wrap="square" lIns="0" rIns="0" tIns="0" bIns="0" anchor="t">
            <a:spAutoFit/>
          </a:bodyPr>
          <a:lstStyle/>
          <a:p>
            <a:pPr algn="l">
              <a:lnSpc>
                <a:spcPct val="115000"/>
              </a:lnSpc>
            </a:pPr>
            <a:r>
              <a:rPr sz="1400" b="1" i="0">
                <a:solidFill>
                  <a:srgbClr val="065A82"/>
                </a:solidFill>
                <a:latin typeface="DejaVu Sans"/>
              </a:rPr>
              <a:t>McDonald's × IBM — голосовой приём заказов</a:t>
            </a:r>
          </a:p>
        </p:txBody>
      </p:sp>
      <p:sp>
        <p:nvSpPr>
          <p:cNvPr id="10" name="TextBox 9"/>
          <p:cNvSpPr txBox="1"/>
          <p:nvPr/>
        </p:nvSpPr>
        <p:spPr>
          <a:xfrm>
            <a:off x="3794760" y="2103120"/>
            <a:ext cx="7680960" cy="2011680"/>
          </a:xfrm>
          <a:prstGeom prst="rect">
            <a:avLst/>
          </a:prstGeom>
          <a:noFill/>
        </p:spPr>
        <p:txBody>
          <a:bodyPr wrap="square" lIns="0" rIns="0" tIns="0" bIns="0" anchor="t">
            <a:spAutoFit/>
          </a:bodyPr>
          <a:lstStyle/>
          <a:p>
            <a:pPr algn="l">
              <a:lnSpc>
                <a:spcPct val="125000"/>
              </a:lnSpc>
            </a:pPr>
            <a:r>
              <a:rPr sz="1300" b="0" i="0">
                <a:solidFill>
                  <a:srgbClr val="21295C"/>
                </a:solidFill>
                <a:latin typeface="DejaVu Sans"/>
              </a:rPr>
              <a:t>• 2,5–3 года пилота на 0,7% сети </a:t>
            </a:r>
            <a:r>
              <a:rPr sz="676" baseline="30000" b="0" i="1">
                <a:latin typeface="DejaVu Sans"/>
                <a:cs typeface="DejaVu Sans"/>
                <a:ea typeface="DejaVu Sans"/>
                <a:solidFill>
                  <a:srgbClr val="1C7293"/>
                </a:solidFill>
              </a:rPr>
              <a:t>[2]</a:t>
            </a:r>
          </a:p>
          <a:p>
            <a:pPr algn="l">
              <a:lnSpc>
                <a:spcPct val="125000"/>
              </a:lnSpc>
            </a:pPr>
            <a:r>
              <a:rPr sz="1300" b="0" i="0">
                <a:solidFill>
                  <a:srgbClr val="21295C"/>
                </a:solidFill>
                <a:latin typeface="DejaVu Sans"/>
              </a:rPr>
              <a:t/>
            </a:r>
          </a:p>
          <a:p>
            <a:pPr algn="l">
              <a:lnSpc>
                <a:spcPct val="125000"/>
              </a:lnSpc>
            </a:pPr>
            <a:r>
              <a:rPr sz="1300" b="0" i="0">
                <a:solidFill>
                  <a:srgbClr val="21295C"/>
                </a:solidFill>
                <a:latin typeface="DejaVu Sans"/>
              </a:rPr>
              <a:t>• Вирусные провалы: бекон в мороженом, 9 чаёв вместо одного</a:t>
            </a:r>
          </a:p>
          <a:p>
            <a:pPr algn="l">
              <a:lnSpc>
                <a:spcPct val="125000"/>
              </a:lnSpc>
            </a:pPr>
            <a:r>
              <a:rPr sz="1300" b="0" i="0">
                <a:solidFill>
                  <a:srgbClr val="21295C"/>
                </a:solidFill>
                <a:latin typeface="DejaVu Sans"/>
              </a:rPr>
              <a:t/>
            </a:r>
          </a:p>
          <a:p>
            <a:pPr algn="l">
              <a:lnSpc>
                <a:spcPct val="125000"/>
              </a:lnSpc>
            </a:pPr>
            <a:r>
              <a:rPr sz="1300" b="0" i="0">
                <a:solidFill>
                  <a:srgbClr val="21295C"/>
                </a:solidFill>
                <a:latin typeface="DejaVu Sans"/>
              </a:rPr>
              <a:t>• Закрыт июнь 2024 — цель (голосовая автоматизация) осталась, вендорский подход убит</a:t>
            </a:r>
          </a:p>
        </p:txBody>
      </p:sp>
      <p:sp>
        <p:nvSpPr>
          <p:cNvPr id="11" name="Rounded Rectangle 10"/>
          <p:cNvSpPr/>
          <p:nvPr/>
        </p:nvSpPr>
        <p:spPr>
          <a:xfrm>
            <a:off x="3520440" y="4389120"/>
            <a:ext cx="8183879" cy="960120"/>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739896" y="4443983"/>
            <a:ext cx="7744967" cy="850392"/>
          </a:xfrm>
          <a:prstGeom prst="rect">
            <a:avLst/>
          </a:prstGeom>
          <a:noFill/>
        </p:spPr>
        <p:txBody>
          <a:bodyPr wrap="square" lIns="0" rIns="0" tIns="0" bIns="0" anchor="ctr">
            <a:spAutoFit/>
          </a:bodyPr>
          <a:lstStyle/>
          <a:p>
            <a:pPr algn="l">
              <a:lnSpc>
                <a:spcPct val="120000"/>
              </a:lnSpc>
            </a:pPr>
            <a:r>
              <a:rPr sz="1250" b="1" i="0">
                <a:solidFill>
                  <a:srgbClr val="21295C"/>
                </a:solidFill>
                <a:latin typeface="DejaVu Sans"/>
              </a:rPr>
              <a:t>Зеркало предыдущего кейса: там пропустили пилот целиком и выкатили на всех; здесь пилот был долгим — и его сигнал использовали правильно, приняв дисциплинированное решение «убить», а не масштабировать провал.</a:t>
            </a:r>
          </a:p>
        </p:txBody>
      </p:sp>
      <p:sp>
        <p:nvSpPr>
          <p:cNvPr id="13" name="TextBox 12"/>
          <p:cNvSpPr txBox="1"/>
          <p:nvPr/>
        </p:nvSpPr>
        <p:spPr>
          <a:xfrm>
            <a:off x="502920" y="6455664"/>
            <a:ext cx="11201400" cy="548640"/>
          </a:xfrm>
          <a:prstGeom prst="rect">
            <a:avLst/>
          </a:prstGeom>
          <a:noFill/>
        </p:spPr>
        <p:txBody>
          <a:bodyPr wrap="square" lIns="0" rIns="0" tIns="0" bIns="0" anchor="t">
            <a:spAutoFit/>
          </a:bodyPr>
          <a:lstStyle/>
          <a:p>
            <a:pPr algn="l">
              <a:lnSpc>
                <a:spcPct val="102000"/>
              </a:lnSpc>
            </a:pPr>
            <a:r>
              <a:rPr sz="850" b="1" i="1">
                <a:solidFill>
                  <a:srgbClr val="065A82"/>
                </a:solidFill>
                <a:latin typeface="DejaVu Sans"/>
              </a:rPr>
              <a:t>[1] </a:t>
            </a:r>
            <a:r>
              <a:rPr sz="850" i="1">
                <a:solidFill>
                  <a:srgbClr val="1C7293"/>
                </a:solidFill>
                <a:latin typeface="DejaVu Sans"/>
                <a:hlinkClick r:id="rId3"/>
              </a:rPr>
              <a:t>CNBC (17 июня 2024) — McDonald's × IBM</a:t>
            </a:r>
            <a:r>
              <a:rPr sz="850" i="1">
                <a:solidFill>
                  <a:srgbClr val="1C7293"/>
                </a:solidFill>
                <a:latin typeface="DejaVu Sans"/>
              </a:rPr>
              <a:t>   ·   </a:t>
            </a:r>
            <a:r>
              <a:rPr sz="850" b="1" i="1">
                <a:solidFill>
                  <a:srgbClr val="065A82"/>
                </a:solidFill>
                <a:latin typeface="DejaVu Sans"/>
              </a:rPr>
              <a:t>[2] </a:t>
            </a:r>
            <a:r>
              <a:rPr sz="850" i="1">
                <a:solidFill>
                  <a:srgbClr val="1C7293"/>
                </a:solidFill>
                <a:latin typeface="DejaVu Sans"/>
                <a:hlinkClick r:id="rId4"/>
              </a:rPr>
              <a:t>Nation's Restaurant News — детали закрытия пилота</a:t>
            </a:r>
          </a:p>
        </p:txBody>
      </p:sp>
      <p:sp>
        <p:nvSpPr>
          <p:cNvPr id="14" name="TextBox 13"/>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31 / 56</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4F7FA"/>
        </a:solidFill>
        <a:effectLst/>
      </p:bgPr>
    </p:bg>
    <p:spTree>
      <p:nvGrpSpPr>
        <p:cNvPr id="1" name=""/>
        <p:cNvGrpSpPr/>
        <p:nvPr/>
      </p:nvGrpSpPr>
      <p:grpSpPr/>
      <p:sp>
        <p:nvSpPr>
          <p:cNvPr id="2" name="TextBox 1"/>
          <p:cNvSpPr txBox="1"/>
          <p:nvPr/>
        </p:nvSpPr>
        <p:spPr>
          <a:xfrm>
            <a:off x="9464040" y="91440"/>
            <a:ext cx="2651760" cy="1188720"/>
          </a:xfrm>
          <a:prstGeom prst="rect">
            <a:avLst/>
          </a:prstGeom>
          <a:noFill/>
        </p:spPr>
        <p:txBody>
          <a:bodyPr wrap="square" lIns="0" rIns="0" tIns="0" bIns="0" anchor="ctr">
            <a:spAutoFit/>
          </a:bodyPr>
          <a:lstStyle/>
          <a:p>
            <a:pPr algn="ctr">
              <a:lnSpc>
                <a:spcPct val="115000"/>
              </a:lnSpc>
            </a:pPr>
            <a:r>
              <a:rPr sz="9000" b="1" i="0">
                <a:solidFill>
                  <a:srgbClr val="D9E2EC"/>
                </a:solidFill>
                <a:latin typeface="DejaVu Sans"/>
              </a:rPr>
              <a:t>4</a:t>
            </a:r>
          </a:p>
        </p:txBody>
      </p:sp>
      <p:sp>
        <p:nvSpPr>
          <p:cNvPr id="3" name="Rounded Rectangle 2"/>
          <p:cNvSpPr/>
          <p:nvPr/>
        </p:nvSpPr>
        <p:spPr>
          <a:xfrm>
            <a:off x="7635240" y="1234440"/>
            <a:ext cx="4069080" cy="4160520"/>
          </a:xfrm>
          <a:prstGeom prst="roundRect">
            <a:avLst>
              <a:gd name="adj" fmla="val 749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s28-woman-yelling-cat.jpg"/>
          <p:cNvPicPr>
            <a:picLocks noChangeAspect="1"/>
          </p:cNvPicPr>
          <p:nvPr/>
        </p:nvPicPr>
        <p:blipFill>
          <a:blip r:embed="rId2"/>
          <a:stretch>
            <a:fillRect/>
          </a:stretch>
        </p:blipFill>
        <p:spPr>
          <a:xfrm>
            <a:off x="7763256" y="2086674"/>
            <a:ext cx="3813048" cy="2456052"/>
          </a:xfrm>
          <a:prstGeom prst="rect">
            <a:avLst/>
          </a:prstGeom>
        </p:spPr>
      </p:pic>
      <p:sp>
        <p:nvSpPr>
          <p:cNvPr id="5" name="TextBox 4"/>
          <p:cNvSpPr txBox="1"/>
          <p:nvPr/>
        </p:nvSpPr>
        <p:spPr>
          <a:xfrm>
            <a:off x="685800" y="1417320"/>
            <a:ext cx="6675120" cy="502920"/>
          </a:xfrm>
          <a:prstGeom prst="rect">
            <a:avLst/>
          </a:prstGeom>
          <a:noFill/>
        </p:spPr>
        <p:txBody>
          <a:bodyPr wrap="square" lIns="0" rIns="0" tIns="0" bIns="0" anchor="t">
            <a:spAutoFit/>
          </a:bodyPr>
          <a:lstStyle/>
          <a:p>
            <a:pPr algn="l">
              <a:lnSpc>
                <a:spcPct val="115000"/>
              </a:lnSpc>
            </a:pPr>
            <a:r>
              <a:rPr sz="2000" b="1" i="0">
                <a:solidFill>
                  <a:srgbClr val="028090"/>
                </a:solidFill>
                <a:latin typeface="DejaVu Sans"/>
              </a:rPr>
              <a:t>РАЗДЕЛ 4</a:t>
            </a:r>
          </a:p>
        </p:txBody>
      </p:sp>
      <p:sp>
        <p:nvSpPr>
          <p:cNvPr id="6" name="TextBox 5"/>
          <p:cNvSpPr txBox="1"/>
          <p:nvPr/>
        </p:nvSpPr>
        <p:spPr>
          <a:xfrm>
            <a:off x="685800" y="2395728"/>
            <a:ext cx="6675120" cy="1600200"/>
          </a:xfrm>
          <a:prstGeom prst="rect">
            <a:avLst/>
          </a:prstGeom>
          <a:noFill/>
        </p:spPr>
        <p:txBody>
          <a:bodyPr wrap="square" lIns="0" rIns="0" tIns="0" bIns="0" anchor="t">
            <a:spAutoFit/>
          </a:bodyPr>
          <a:lstStyle/>
          <a:p>
            <a:pPr algn="l">
              <a:lnSpc>
                <a:spcPct val="108000"/>
              </a:lnSpc>
            </a:pPr>
            <a:r>
              <a:rPr sz="3000" b="1" i="0">
                <a:solidFill>
                  <a:srgbClr val="21295C"/>
                </a:solidFill>
                <a:latin typeface="DejaVu Sans"/>
              </a:rPr>
              <a:t>Измерение — стрелка, которой ИИ снизил доверие</a:t>
            </a:r>
          </a:p>
        </p:txBody>
      </p:sp>
      <p:sp>
        <p:nvSpPr>
          <p:cNvPr id="7" name="Rounded Rectangle 6"/>
          <p:cNvSpPr/>
          <p:nvPr/>
        </p:nvSpPr>
        <p:spPr>
          <a:xfrm>
            <a:off x="713232" y="3840480"/>
            <a:ext cx="3291840" cy="384048"/>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wrap="none"/>
          <a:lstStyle/>
          <a:p>
            <a:pPr algn="ctr"/>
            <a:r>
              <a:rPr sz="1250" b="1">
                <a:solidFill>
                  <a:srgbClr val="21295C"/>
                </a:solidFill>
                <a:latin typeface="DejaVu Sans"/>
              </a:rPr>
              <a:t>2 базы · 2 провала</a:t>
            </a:r>
          </a:p>
        </p:txBody>
      </p:sp>
      <p:sp>
        <p:nvSpPr>
          <p:cNvPr id="8" name="TextBox 7"/>
          <p:cNvSpPr txBox="1"/>
          <p:nvPr/>
        </p:nvSpPr>
        <p:spPr>
          <a:xfrm>
            <a:off x="713232" y="4389120"/>
            <a:ext cx="6720840" cy="1417320"/>
          </a:xfrm>
          <a:prstGeom prst="rect">
            <a:avLst/>
          </a:prstGeom>
          <a:noFill/>
        </p:spPr>
        <p:txBody>
          <a:bodyPr wrap="square" lIns="0" rIns="0" tIns="0" bIns="0" anchor="t">
            <a:spAutoFit/>
          </a:bodyPr>
          <a:lstStyle/>
          <a:p>
            <a:pPr algn="l">
              <a:lnSpc>
                <a:spcPct val="116000"/>
              </a:lnSpc>
            </a:pPr>
            <a:r>
              <a:rPr sz="1500" b="0" i="1">
                <a:solidFill>
                  <a:srgbClr val="1C7293"/>
                </a:solidFill>
                <a:latin typeface="DejaVu Sans"/>
              </a:rPr>
              <a:t>Измерение — то место, где «выглядит хорошо» бьёт по продукту сильнее всего. Формальную дисциплину продуктового эксперимента многие видят впервые.</a:t>
            </a:r>
          </a:p>
        </p:txBody>
      </p:sp>
      <p:sp>
        <p:nvSpPr>
          <p:cNvPr id="9" name="Rounded Rectangle 8"/>
          <p:cNvSpPr/>
          <p:nvPr/>
        </p:nvSpPr>
        <p:spPr>
          <a:xfrm>
            <a:off x="502920" y="5989320"/>
            <a:ext cx="1521822"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21208" y="6035040"/>
            <a:ext cx="1485246" cy="164592"/>
          </a:xfrm>
          <a:prstGeom prst="rect">
            <a:avLst/>
          </a:prstGeom>
          <a:noFill/>
        </p:spPr>
        <p:txBody>
          <a:bodyPr wrap="square" lIns="0" rIns="0" tIns="0" bIns="0" anchor="t">
            <a:spAutoFit/>
          </a:bodyPr>
          <a:lstStyle/>
          <a:p>
            <a:pPr algn="ctr">
              <a:lnSpc>
                <a:spcPct val="115000"/>
              </a:lnSpc>
            </a:pPr>
            <a:r>
              <a:rPr sz="1050" b="1" i="0">
                <a:solidFill>
                  <a:srgbClr val="1C7293"/>
                </a:solidFill>
                <a:latin typeface="DejaVu Sans"/>
              </a:rPr>
              <a:t>0</a:t>
            </a:r>
          </a:p>
        </p:txBody>
      </p:sp>
      <p:sp>
        <p:nvSpPr>
          <p:cNvPr id="11" name="TextBox 10"/>
          <p:cNvSpPr txBox="1"/>
          <p:nvPr/>
        </p:nvSpPr>
        <p:spPr>
          <a:xfrm>
            <a:off x="521208" y="6217920"/>
            <a:ext cx="1485246" cy="274320"/>
          </a:xfrm>
          <a:prstGeom prst="rect">
            <a:avLst/>
          </a:prstGeom>
          <a:noFill/>
        </p:spPr>
        <p:txBody>
          <a:bodyPr wrap="square" lIns="0" rIns="0" tIns="0" bIns="0" anchor="t">
            <a:spAutoFit/>
          </a:bodyPr>
          <a:lstStyle/>
          <a:p>
            <a:pPr algn="ctr">
              <a:lnSpc>
                <a:spcPct val="92000"/>
              </a:lnSpc>
            </a:pPr>
            <a:r>
              <a:rPr sz="900" b="0" i="0">
                <a:solidFill>
                  <a:srgbClr val="5B6678"/>
                </a:solidFill>
                <a:latin typeface="DejaVu Sans"/>
              </a:rPr>
              <a:t>Введение</a:t>
            </a:r>
          </a:p>
        </p:txBody>
      </p:sp>
      <p:sp>
        <p:nvSpPr>
          <p:cNvPr id="12" name="Rounded Rectangle 11"/>
          <p:cNvSpPr/>
          <p:nvPr/>
        </p:nvSpPr>
        <p:spPr>
          <a:xfrm>
            <a:off x="2116182" y="5989320"/>
            <a:ext cx="1521822"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134470" y="6035040"/>
            <a:ext cx="1485246" cy="164592"/>
          </a:xfrm>
          <a:prstGeom prst="rect">
            <a:avLst/>
          </a:prstGeom>
          <a:noFill/>
        </p:spPr>
        <p:txBody>
          <a:bodyPr wrap="square" lIns="0" rIns="0" tIns="0" bIns="0" anchor="t">
            <a:spAutoFit/>
          </a:bodyPr>
          <a:lstStyle/>
          <a:p>
            <a:pPr algn="ctr">
              <a:lnSpc>
                <a:spcPct val="115000"/>
              </a:lnSpc>
            </a:pPr>
            <a:r>
              <a:rPr sz="1050" b="1" i="0">
                <a:solidFill>
                  <a:srgbClr val="1C7293"/>
                </a:solidFill>
                <a:latin typeface="DejaVu Sans"/>
              </a:rPr>
              <a:t>1</a:t>
            </a:r>
          </a:p>
        </p:txBody>
      </p:sp>
      <p:sp>
        <p:nvSpPr>
          <p:cNvPr id="14" name="TextBox 13"/>
          <p:cNvSpPr txBox="1"/>
          <p:nvPr/>
        </p:nvSpPr>
        <p:spPr>
          <a:xfrm>
            <a:off x="2134470" y="6217920"/>
            <a:ext cx="1485246" cy="274320"/>
          </a:xfrm>
          <a:prstGeom prst="rect">
            <a:avLst/>
          </a:prstGeom>
          <a:noFill/>
        </p:spPr>
        <p:txBody>
          <a:bodyPr wrap="square" lIns="0" rIns="0" tIns="0" bIns="0" anchor="t">
            <a:spAutoFit/>
          </a:bodyPr>
          <a:lstStyle/>
          <a:p>
            <a:pPr algn="ctr">
              <a:lnSpc>
                <a:spcPct val="92000"/>
              </a:lnSpc>
            </a:pPr>
            <a:r>
              <a:rPr sz="800" b="0" i="0">
                <a:solidFill>
                  <a:srgbClr val="5B6678"/>
                </a:solidFill>
                <a:latin typeface="DejaVu Sans"/>
              </a:rPr>
              <a:t>Исследование</a:t>
            </a:r>
          </a:p>
        </p:txBody>
      </p:sp>
      <p:sp>
        <p:nvSpPr>
          <p:cNvPr id="15" name="Rounded Rectangle 14"/>
          <p:cNvSpPr/>
          <p:nvPr/>
        </p:nvSpPr>
        <p:spPr>
          <a:xfrm>
            <a:off x="3729445" y="5989320"/>
            <a:ext cx="1521822"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747733" y="6035040"/>
            <a:ext cx="1485246" cy="164592"/>
          </a:xfrm>
          <a:prstGeom prst="rect">
            <a:avLst/>
          </a:prstGeom>
          <a:noFill/>
        </p:spPr>
        <p:txBody>
          <a:bodyPr wrap="square" lIns="0" rIns="0" tIns="0" bIns="0" anchor="t">
            <a:spAutoFit/>
          </a:bodyPr>
          <a:lstStyle/>
          <a:p>
            <a:pPr algn="ctr">
              <a:lnSpc>
                <a:spcPct val="115000"/>
              </a:lnSpc>
            </a:pPr>
            <a:r>
              <a:rPr sz="1050" b="1" i="0">
                <a:solidFill>
                  <a:srgbClr val="1C7293"/>
                </a:solidFill>
                <a:latin typeface="DejaVu Sans"/>
              </a:rPr>
              <a:t>2</a:t>
            </a:r>
          </a:p>
        </p:txBody>
      </p:sp>
      <p:sp>
        <p:nvSpPr>
          <p:cNvPr id="17" name="TextBox 16"/>
          <p:cNvSpPr txBox="1"/>
          <p:nvPr/>
        </p:nvSpPr>
        <p:spPr>
          <a:xfrm>
            <a:off x="3747733" y="6217920"/>
            <a:ext cx="1485246" cy="274320"/>
          </a:xfrm>
          <a:prstGeom prst="rect">
            <a:avLst/>
          </a:prstGeom>
          <a:noFill/>
        </p:spPr>
        <p:txBody>
          <a:bodyPr wrap="square" lIns="0" rIns="0" tIns="0" bIns="0" anchor="t">
            <a:spAutoFit/>
          </a:bodyPr>
          <a:lstStyle/>
          <a:p>
            <a:pPr algn="ctr">
              <a:lnSpc>
                <a:spcPct val="92000"/>
              </a:lnSpc>
            </a:pPr>
            <a:r>
              <a:rPr sz="900" b="0" i="0">
                <a:solidFill>
                  <a:srgbClr val="5B6678"/>
                </a:solidFill>
                <a:latin typeface="DejaVu Sans"/>
              </a:rPr>
              <a:t>Дизайн</a:t>
            </a:r>
          </a:p>
        </p:txBody>
      </p:sp>
      <p:sp>
        <p:nvSpPr>
          <p:cNvPr id="18" name="Rounded Rectangle 17"/>
          <p:cNvSpPr/>
          <p:nvPr/>
        </p:nvSpPr>
        <p:spPr>
          <a:xfrm>
            <a:off x="5342708" y="5989320"/>
            <a:ext cx="1521822"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360996" y="6035040"/>
            <a:ext cx="1485246" cy="164592"/>
          </a:xfrm>
          <a:prstGeom prst="rect">
            <a:avLst/>
          </a:prstGeom>
          <a:noFill/>
        </p:spPr>
        <p:txBody>
          <a:bodyPr wrap="square" lIns="0" rIns="0" tIns="0" bIns="0" anchor="t">
            <a:spAutoFit/>
          </a:bodyPr>
          <a:lstStyle/>
          <a:p>
            <a:pPr algn="ctr">
              <a:lnSpc>
                <a:spcPct val="115000"/>
              </a:lnSpc>
            </a:pPr>
            <a:r>
              <a:rPr sz="1050" b="1" i="0">
                <a:solidFill>
                  <a:srgbClr val="1C7293"/>
                </a:solidFill>
                <a:latin typeface="DejaVu Sans"/>
              </a:rPr>
              <a:t>3</a:t>
            </a:r>
          </a:p>
        </p:txBody>
      </p:sp>
      <p:sp>
        <p:nvSpPr>
          <p:cNvPr id="20" name="TextBox 19"/>
          <p:cNvSpPr txBox="1"/>
          <p:nvPr/>
        </p:nvSpPr>
        <p:spPr>
          <a:xfrm>
            <a:off x="5360996" y="6217920"/>
            <a:ext cx="1485246" cy="274320"/>
          </a:xfrm>
          <a:prstGeom prst="rect">
            <a:avLst/>
          </a:prstGeom>
          <a:noFill/>
        </p:spPr>
        <p:txBody>
          <a:bodyPr wrap="square" lIns="0" rIns="0" tIns="0" bIns="0" anchor="t">
            <a:spAutoFit/>
          </a:bodyPr>
          <a:lstStyle/>
          <a:p>
            <a:pPr algn="ctr">
              <a:lnSpc>
                <a:spcPct val="92000"/>
              </a:lnSpc>
            </a:pPr>
            <a:r>
              <a:rPr sz="800" b="0" i="0">
                <a:solidFill>
                  <a:srgbClr val="5B6678"/>
                </a:solidFill>
                <a:latin typeface="DejaVu Sans"/>
              </a:rPr>
              <a:t>Сборка и запуск</a:t>
            </a:r>
          </a:p>
        </p:txBody>
      </p:sp>
      <p:sp>
        <p:nvSpPr>
          <p:cNvPr id="21" name="Rounded Rectangle 20"/>
          <p:cNvSpPr/>
          <p:nvPr/>
        </p:nvSpPr>
        <p:spPr>
          <a:xfrm>
            <a:off x="6955971" y="5989320"/>
            <a:ext cx="1521822" cy="530352"/>
          </a:xfrm>
          <a:prstGeom prst="roundRect">
            <a:avLst>
              <a:gd name="adj" fmla="val 12000"/>
            </a:avLst>
          </a:prstGeom>
          <a:solidFill>
            <a:srgbClr val="FDF3DC"/>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974259" y="6035040"/>
            <a:ext cx="1485246" cy="164592"/>
          </a:xfrm>
          <a:prstGeom prst="rect">
            <a:avLst/>
          </a:prstGeom>
          <a:noFill/>
        </p:spPr>
        <p:txBody>
          <a:bodyPr wrap="square" lIns="0" rIns="0" tIns="0" bIns="0" anchor="t">
            <a:spAutoFit/>
          </a:bodyPr>
          <a:lstStyle/>
          <a:p>
            <a:pPr algn="ctr">
              <a:lnSpc>
                <a:spcPct val="115000"/>
              </a:lnSpc>
            </a:pPr>
            <a:r>
              <a:rPr sz="1050" b="1" i="0">
                <a:solidFill>
                  <a:srgbClr val="21295C"/>
                </a:solidFill>
                <a:latin typeface="DejaVu Sans"/>
              </a:rPr>
              <a:t>4</a:t>
            </a:r>
          </a:p>
        </p:txBody>
      </p:sp>
      <p:sp>
        <p:nvSpPr>
          <p:cNvPr id="23" name="TextBox 22"/>
          <p:cNvSpPr txBox="1"/>
          <p:nvPr/>
        </p:nvSpPr>
        <p:spPr>
          <a:xfrm>
            <a:off x="6974259" y="6217920"/>
            <a:ext cx="1485246" cy="274320"/>
          </a:xfrm>
          <a:prstGeom prst="rect">
            <a:avLst/>
          </a:prstGeom>
          <a:noFill/>
        </p:spPr>
        <p:txBody>
          <a:bodyPr wrap="square" lIns="0" rIns="0" tIns="0" bIns="0" anchor="t">
            <a:spAutoFit/>
          </a:bodyPr>
          <a:lstStyle/>
          <a:p>
            <a:pPr algn="ctr">
              <a:lnSpc>
                <a:spcPct val="92000"/>
              </a:lnSpc>
            </a:pPr>
            <a:r>
              <a:rPr sz="900" b="1" i="0">
                <a:solidFill>
                  <a:srgbClr val="21295C"/>
                </a:solidFill>
                <a:latin typeface="DejaVu Sans"/>
              </a:rPr>
              <a:t>Измерение</a:t>
            </a:r>
          </a:p>
        </p:txBody>
      </p:sp>
      <p:sp>
        <p:nvSpPr>
          <p:cNvPr id="24" name="Rounded Rectangle 23"/>
          <p:cNvSpPr/>
          <p:nvPr/>
        </p:nvSpPr>
        <p:spPr>
          <a:xfrm>
            <a:off x="8569234" y="5989320"/>
            <a:ext cx="1521822"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8587522" y="6035040"/>
            <a:ext cx="1485246" cy="164592"/>
          </a:xfrm>
          <a:prstGeom prst="rect">
            <a:avLst/>
          </a:prstGeom>
          <a:noFill/>
        </p:spPr>
        <p:txBody>
          <a:bodyPr wrap="square" lIns="0" rIns="0" tIns="0" bIns="0" anchor="t">
            <a:spAutoFit/>
          </a:bodyPr>
          <a:lstStyle/>
          <a:p>
            <a:pPr algn="ctr">
              <a:lnSpc>
                <a:spcPct val="115000"/>
              </a:lnSpc>
            </a:pPr>
            <a:r>
              <a:rPr sz="1050" b="1" i="0">
                <a:solidFill>
                  <a:srgbClr val="1C7293"/>
                </a:solidFill>
                <a:latin typeface="DejaVu Sans"/>
              </a:rPr>
              <a:t>5</a:t>
            </a:r>
          </a:p>
        </p:txBody>
      </p:sp>
      <p:sp>
        <p:nvSpPr>
          <p:cNvPr id="26" name="TextBox 25"/>
          <p:cNvSpPr txBox="1"/>
          <p:nvPr/>
        </p:nvSpPr>
        <p:spPr>
          <a:xfrm>
            <a:off x="8587522" y="6217920"/>
            <a:ext cx="1485246" cy="274320"/>
          </a:xfrm>
          <a:prstGeom prst="rect">
            <a:avLst/>
          </a:prstGeom>
          <a:noFill/>
        </p:spPr>
        <p:txBody>
          <a:bodyPr wrap="square" lIns="0" rIns="0" tIns="0" bIns="0" anchor="t">
            <a:spAutoFit/>
          </a:bodyPr>
          <a:lstStyle/>
          <a:p>
            <a:pPr algn="ctr">
              <a:lnSpc>
                <a:spcPct val="92000"/>
              </a:lnSpc>
            </a:pPr>
            <a:r>
              <a:rPr sz="900" b="0" i="0">
                <a:solidFill>
                  <a:srgbClr val="5B6678"/>
                </a:solidFill>
                <a:latin typeface="DejaVu Sans"/>
              </a:rPr>
              <a:t>Поддержка</a:t>
            </a:r>
          </a:p>
        </p:txBody>
      </p:sp>
      <p:sp>
        <p:nvSpPr>
          <p:cNvPr id="27" name="Rounded Rectangle 26"/>
          <p:cNvSpPr/>
          <p:nvPr/>
        </p:nvSpPr>
        <p:spPr>
          <a:xfrm>
            <a:off x="10182497" y="5989320"/>
            <a:ext cx="1521822"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10200785" y="6035040"/>
            <a:ext cx="1485246" cy="164592"/>
          </a:xfrm>
          <a:prstGeom prst="rect">
            <a:avLst/>
          </a:prstGeom>
          <a:noFill/>
        </p:spPr>
        <p:txBody>
          <a:bodyPr wrap="square" lIns="0" rIns="0" tIns="0" bIns="0" anchor="t">
            <a:spAutoFit/>
          </a:bodyPr>
          <a:lstStyle/>
          <a:p>
            <a:pPr algn="ctr">
              <a:lnSpc>
                <a:spcPct val="115000"/>
              </a:lnSpc>
            </a:pPr>
            <a:r>
              <a:rPr sz="1050" b="1" i="0">
                <a:solidFill>
                  <a:srgbClr val="1C7293"/>
                </a:solidFill>
                <a:latin typeface="DejaVu Sans"/>
              </a:rPr>
              <a:t>6</a:t>
            </a:r>
          </a:p>
        </p:txBody>
      </p:sp>
      <p:sp>
        <p:nvSpPr>
          <p:cNvPr id="29" name="TextBox 28"/>
          <p:cNvSpPr txBox="1"/>
          <p:nvPr/>
        </p:nvSpPr>
        <p:spPr>
          <a:xfrm>
            <a:off x="10200785" y="6217920"/>
            <a:ext cx="1485246" cy="274320"/>
          </a:xfrm>
          <a:prstGeom prst="rect">
            <a:avLst/>
          </a:prstGeom>
          <a:noFill/>
        </p:spPr>
        <p:txBody>
          <a:bodyPr wrap="square" lIns="0" rIns="0" tIns="0" bIns="0" anchor="t">
            <a:spAutoFit/>
          </a:bodyPr>
          <a:lstStyle/>
          <a:p>
            <a:pPr algn="ctr">
              <a:lnSpc>
                <a:spcPct val="92000"/>
              </a:lnSpc>
            </a:pPr>
            <a:r>
              <a:rPr sz="800" b="0" i="0">
                <a:solidFill>
                  <a:srgbClr val="5B6678"/>
                </a:solidFill>
                <a:latin typeface="DejaVu Sans"/>
              </a:rPr>
              <a:t>Управление</a:t>
            </a:r>
          </a:p>
        </p:txBody>
      </p:sp>
      <p:sp>
        <p:nvSpPr>
          <p:cNvPr id="30" name="TextBox 29"/>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32 / 56</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65760"/>
            <a:ext cx="10972800" cy="777240"/>
          </a:xfrm>
          <a:prstGeom prst="rect">
            <a:avLst/>
          </a:prstGeom>
          <a:noFill/>
        </p:spPr>
        <p:txBody>
          <a:bodyPr wrap="square" lIns="0" rIns="0" tIns="0" bIns="0" anchor="t">
            <a:spAutoFit/>
          </a:bodyPr>
          <a:lstStyle/>
          <a:p>
            <a:pPr algn="l">
              <a:lnSpc>
                <a:spcPct val="110000"/>
              </a:lnSpc>
            </a:pPr>
            <a:r>
              <a:rPr sz="2600" b="1" i="0">
                <a:solidFill>
                  <a:srgbClr val="21295C"/>
                </a:solidFill>
                <a:latin typeface="DejaVu Sans"/>
              </a:rPr>
              <a:t>Измерение простыми словами</a:t>
            </a:r>
          </a:p>
        </p:txBody>
      </p:sp>
      <p:sp>
        <p:nvSpPr>
          <p:cNvPr id="3" name="Rounded Rectangle 2"/>
          <p:cNvSpPr/>
          <p:nvPr/>
        </p:nvSpPr>
        <p:spPr>
          <a:xfrm>
            <a:off x="502920" y="1554480"/>
            <a:ext cx="2514600" cy="4709160"/>
          </a:xfrm>
          <a:prstGeom prst="roundRect">
            <a:avLst>
              <a:gd name="adj" fmla="val 6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ruler-mid.png"/>
          <p:cNvPicPr>
            <a:picLocks noChangeAspect="1"/>
          </p:cNvPicPr>
          <p:nvPr/>
        </p:nvPicPr>
        <p:blipFill>
          <a:blip r:embed="rId2"/>
          <a:stretch>
            <a:fillRect/>
          </a:stretch>
        </p:blipFill>
        <p:spPr>
          <a:xfrm>
            <a:off x="1234440" y="3249777"/>
            <a:ext cx="1051560" cy="1051560"/>
          </a:xfrm>
          <a:prstGeom prst="rect">
            <a:avLst/>
          </a:prstGeom>
        </p:spPr>
      </p:pic>
      <p:sp>
        <p:nvSpPr>
          <p:cNvPr id="5" name="Rounded Rectangle 4"/>
          <p:cNvSpPr/>
          <p:nvPr/>
        </p:nvSpPr>
        <p:spPr>
          <a:xfrm>
            <a:off x="777240" y="5715000"/>
            <a:ext cx="1965960" cy="402336"/>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wrap="none"/>
          <a:lstStyle/>
          <a:p>
            <a:pPr algn="ctr"/>
            <a:r>
              <a:rPr sz="1150" b="1">
                <a:solidFill>
                  <a:srgbClr val="21295C"/>
                </a:solidFill>
                <a:latin typeface="DejaVu Sans"/>
              </a:rPr>
              <a:t>простыми словами</a:t>
            </a:r>
          </a:p>
        </p:txBody>
      </p:sp>
      <p:sp>
        <p:nvSpPr>
          <p:cNvPr id="6" name="Rounded Rectangle 5"/>
          <p:cNvSpPr/>
          <p:nvPr/>
        </p:nvSpPr>
        <p:spPr>
          <a:xfrm>
            <a:off x="3337560" y="1554480"/>
            <a:ext cx="8366760" cy="1417320"/>
          </a:xfrm>
          <a:prstGeom prst="roundRect">
            <a:avLst>
              <a:gd name="adj" fmla="val 21505"/>
            </a:avLst>
          </a:prstGeom>
          <a:solidFill>
            <a:srgbClr val="F4F7FA"/>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593591" y="1700784"/>
            <a:ext cx="7854696" cy="310896"/>
          </a:xfrm>
          <a:prstGeom prst="rect">
            <a:avLst/>
          </a:prstGeom>
          <a:noFill/>
        </p:spPr>
        <p:txBody>
          <a:bodyPr wrap="square" lIns="0" rIns="0" tIns="0" bIns="0" anchor="t">
            <a:spAutoFit/>
          </a:bodyPr>
          <a:lstStyle/>
          <a:p>
            <a:pPr algn="l">
              <a:lnSpc>
                <a:spcPct val="115000"/>
              </a:lnSpc>
            </a:pPr>
            <a:r>
              <a:rPr sz="1500" b="1" i="0">
                <a:solidFill>
                  <a:srgbClr val="F0AB00"/>
                </a:solidFill>
                <a:latin typeface="DejaVu Sans"/>
              </a:rPr>
              <a:t>Что это</a:t>
            </a:r>
          </a:p>
        </p:txBody>
      </p:sp>
      <p:sp>
        <p:nvSpPr>
          <p:cNvPr id="8" name="TextBox 7"/>
          <p:cNvSpPr txBox="1"/>
          <p:nvPr/>
        </p:nvSpPr>
        <p:spPr>
          <a:xfrm>
            <a:off x="3593591" y="2066543"/>
            <a:ext cx="7854696" cy="758952"/>
          </a:xfrm>
          <a:prstGeom prst="rect">
            <a:avLst/>
          </a:prstGeom>
          <a:noFill/>
        </p:spPr>
        <p:txBody>
          <a:bodyPr wrap="square" lIns="0" rIns="0" tIns="0" bIns="0" anchor="t">
            <a:spAutoFit/>
          </a:bodyPr>
          <a:lstStyle/>
          <a:p>
            <a:pPr algn="l">
              <a:lnSpc>
                <a:spcPct val="122000"/>
              </a:lnSpc>
            </a:pPr>
            <a:r>
              <a:rPr sz="1350" b="0" i="0">
                <a:solidFill>
                  <a:srgbClr val="21295C"/>
                </a:solidFill>
                <a:latin typeface="DejaVu Sans"/>
              </a:rPr>
              <a:t>Фаза, где вы честно проверяете: сработало изменение или только кажется. Формальную дисциплину эксперимента многие видят впервые.</a:t>
            </a:r>
          </a:p>
        </p:txBody>
      </p:sp>
      <p:sp>
        <p:nvSpPr>
          <p:cNvPr id="9" name="Rounded Rectangle 8"/>
          <p:cNvSpPr/>
          <p:nvPr/>
        </p:nvSpPr>
        <p:spPr>
          <a:xfrm>
            <a:off x="3337560" y="3200400"/>
            <a:ext cx="8366760" cy="1417320"/>
          </a:xfrm>
          <a:prstGeom prst="roundRect">
            <a:avLst>
              <a:gd name="adj" fmla="val 21505"/>
            </a:avLst>
          </a:prstGeom>
          <a:solidFill>
            <a:srgbClr val="F4F7FA"/>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593591" y="3346704"/>
            <a:ext cx="7854696" cy="310896"/>
          </a:xfrm>
          <a:prstGeom prst="rect">
            <a:avLst/>
          </a:prstGeom>
          <a:noFill/>
        </p:spPr>
        <p:txBody>
          <a:bodyPr wrap="square" lIns="0" rIns="0" tIns="0" bIns="0" anchor="t">
            <a:spAutoFit/>
          </a:bodyPr>
          <a:lstStyle/>
          <a:p>
            <a:pPr algn="l">
              <a:lnSpc>
                <a:spcPct val="115000"/>
              </a:lnSpc>
            </a:pPr>
            <a:r>
              <a:rPr sz="1500" b="1" i="0">
                <a:solidFill>
                  <a:srgbClr val="065A82"/>
                </a:solidFill>
                <a:latin typeface="DejaVu Sans"/>
              </a:rPr>
              <a:t>Зачем</a:t>
            </a:r>
          </a:p>
        </p:txBody>
      </p:sp>
      <p:sp>
        <p:nvSpPr>
          <p:cNvPr id="11" name="TextBox 10"/>
          <p:cNvSpPr txBox="1"/>
          <p:nvPr/>
        </p:nvSpPr>
        <p:spPr>
          <a:xfrm>
            <a:off x="3593591" y="3712464"/>
            <a:ext cx="7854696" cy="758952"/>
          </a:xfrm>
          <a:prstGeom prst="rect">
            <a:avLst/>
          </a:prstGeom>
          <a:noFill/>
        </p:spPr>
        <p:txBody>
          <a:bodyPr wrap="square" lIns="0" rIns="0" tIns="0" bIns="0" anchor="t">
            <a:spAutoFit/>
          </a:bodyPr>
          <a:lstStyle/>
          <a:p>
            <a:pPr algn="l">
              <a:lnSpc>
                <a:spcPct val="122000"/>
              </a:lnSpc>
            </a:pPr>
            <a:r>
              <a:rPr sz="1350" b="0" i="0">
                <a:solidFill>
                  <a:srgbClr val="21295C"/>
                </a:solidFill>
                <a:latin typeface="DejaVu Sans"/>
              </a:rPr>
              <a:t>«Метрика выросла после релиза» ничего не доказывает — она могла вырасти сама. Нужен способ отделить причину от совпадения.</a:t>
            </a:r>
          </a:p>
        </p:txBody>
      </p:sp>
      <p:sp>
        <p:nvSpPr>
          <p:cNvPr id="12" name="Rounded Rectangle 11"/>
          <p:cNvSpPr/>
          <p:nvPr/>
        </p:nvSpPr>
        <p:spPr>
          <a:xfrm>
            <a:off x="3337560" y="4846320"/>
            <a:ext cx="8366760" cy="1417320"/>
          </a:xfrm>
          <a:prstGeom prst="roundRect">
            <a:avLst>
              <a:gd name="adj" fmla="val 21505"/>
            </a:avLst>
          </a:prstGeom>
          <a:solidFill>
            <a:srgbClr val="F4F7FA"/>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593591" y="4992624"/>
            <a:ext cx="7854696" cy="310896"/>
          </a:xfrm>
          <a:prstGeom prst="rect">
            <a:avLst/>
          </a:prstGeom>
          <a:noFill/>
        </p:spPr>
        <p:txBody>
          <a:bodyPr wrap="square" lIns="0" rIns="0" tIns="0" bIns="0" anchor="t">
            <a:spAutoFit/>
          </a:bodyPr>
          <a:lstStyle/>
          <a:p>
            <a:pPr algn="l">
              <a:lnSpc>
                <a:spcPct val="115000"/>
              </a:lnSpc>
            </a:pPr>
            <a:r>
              <a:rPr sz="1500" b="1" i="0">
                <a:solidFill>
                  <a:srgbClr val="065A82"/>
                </a:solidFill>
                <a:latin typeface="DejaVu Sans"/>
              </a:rPr>
              <a:t>Ментальная модель</a:t>
            </a:r>
          </a:p>
        </p:txBody>
      </p:sp>
      <p:sp>
        <p:nvSpPr>
          <p:cNvPr id="14" name="TextBox 13"/>
          <p:cNvSpPr txBox="1"/>
          <p:nvPr/>
        </p:nvSpPr>
        <p:spPr>
          <a:xfrm>
            <a:off x="3593591" y="5358383"/>
            <a:ext cx="7854696" cy="758952"/>
          </a:xfrm>
          <a:prstGeom prst="rect">
            <a:avLst/>
          </a:prstGeom>
          <a:noFill/>
        </p:spPr>
        <p:txBody>
          <a:bodyPr wrap="square" lIns="0" rIns="0" tIns="0" bIns="0" anchor="t">
            <a:spAutoFit/>
          </a:bodyPr>
          <a:lstStyle/>
          <a:p>
            <a:pPr algn="l">
              <a:lnSpc>
                <a:spcPct val="122000"/>
              </a:lnSpc>
            </a:pPr>
            <a:r>
              <a:rPr sz="1350" b="0" i="0">
                <a:solidFill>
                  <a:srgbClr val="21295C"/>
                </a:solidFill>
                <a:latin typeface="DejaVu Sans"/>
              </a:rPr>
              <a:t>Делим пользователей на две случайные группы: одной — новое, другой — старое. Разница и есть настоящий эффект. Метрику успеха фиксируем заранее.</a:t>
            </a:r>
          </a:p>
        </p:txBody>
      </p:sp>
      <p:sp>
        <p:nvSpPr>
          <p:cNvPr id="15" name="TextBox 14"/>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33 / 56</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65760"/>
            <a:ext cx="11247120" cy="777240"/>
          </a:xfrm>
          <a:prstGeom prst="rect">
            <a:avLst/>
          </a:prstGeom>
          <a:noFill/>
        </p:spPr>
        <p:txBody>
          <a:bodyPr wrap="square" lIns="0" rIns="0" tIns="0" bIns="0" anchor="t">
            <a:spAutoFit/>
          </a:bodyPr>
          <a:lstStyle/>
          <a:p>
            <a:pPr algn="l">
              <a:lnSpc>
                <a:spcPct val="110000"/>
              </a:lnSpc>
            </a:pPr>
            <a:r>
              <a:rPr sz="2300" b="1" i="0">
                <a:solidFill>
                  <a:srgbClr val="21295C"/>
                </a:solidFill>
                <a:latin typeface="DejaVu Sans"/>
              </a:rPr>
              <a:t>Рандомизация отличает причину от совпадения</a:t>
            </a:r>
          </a:p>
        </p:txBody>
      </p:sp>
      <p:sp>
        <p:nvSpPr>
          <p:cNvPr id="3" name="Rounded Rectangle 2"/>
          <p:cNvSpPr/>
          <p:nvPr/>
        </p:nvSpPr>
        <p:spPr>
          <a:xfrm>
            <a:off x="502920" y="1463040"/>
            <a:ext cx="4892040" cy="2788920"/>
          </a:xfrm>
          <a:prstGeom prst="roundRect">
            <a:avLst>
              <a:gd name="adj" fmla="val 10928"/>
            </a:avLst>
          </a:prstGeom>
          <a:solidFill>
            <a:srgbClr val="F4F7FA"/>
          </a:solidFill>
          <a:ln w="1905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2606040" y="1645920"/>
            <a:ext cx="502920" cy="502920"/>
          </a:xfrm>
          <a:prstGeom prst="ellipse">
            <a:avLst/>
          </a:prstGeom>
          <a:solidFill>
            <a:srgbClr val="FDF3DC"/>
          </a:solidFill>
          <a:ln w="2032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circle-help-gold.png"/>
          <p:cNvPicPr>
            <a:picLocks noChangeAspect="1"/>
          </p:cNvPicPr>
          <p:nvPr/>
        </p:nvPicPr>
        <p:blipFill>
          <a:blip r:embed="rId2"/>
          <a:stretch>
            <a:fillRect/>
          </a:stretch>
        </p:blipFill>
        <p:spPr>
          <a:xfrm>
            <a:off x="2724912" y="1764792"/>
            <a:ext cx="274320" cy="274320"/>
          </a:xfrm>
          <a:prstGeom prst="rect">
            <a:avLst/>
          </a:prstGeom>
        </p:spPr>
      </p:pic>
      <p:sp>
        <p:nvSpPr>
          <p:cNvPr id="6" name="TextBox 5"/>
          <p:cNvSpPr txBox="1"/>
          <p:nvPr/>
        </p:nvSpPr>
        <p:spPr>
          <a:xfrm>
            <a:off x="1417320" y="2240280"/>
            <a:ext cx="2743200" cy="274320"/>
          </a:xfrm>
          <a:prstGeom prst="rect">
            <a:avLst/>
          </a:prstGeom>
          <a:noFill/>
        </p:spPr>
        <p:txBody>
          <a:bodyPr wrap="square" lIns="0" rIns="0" tIns="0" bIns="0" anchor="t">
            <a:spAutoFit/>
          </a:bodyPr>
          <a:lstStyle/>
          <a:p>
            <a:pPr algn="ctr">
              <a:lnSpc>
                <a:spcPct val="115000"/>
              </a:lnSpc>
            </a:pPr>
            <a:r>
              <a:rPr sz="1100" b="0" i="1">
                <a:solidFill>
                  <a:srgbClr val="5B6678"/>
                </a:solidFill>
                <a:latin typeface="DejaVu Sans"/>
              </a:rPr>
              <a:t>случайное деление</a:t>
            </a:r>
          </a:p>
        </p:txBody>
      </p:sp>
      <p:sp>
        <p:nvSpPr>
          <p:cNvPr id="7" name="Rounded Rectangle 6"/>
          <p:cNvSpPr/>
          <p:nvPr/>
        </p:nvSpPr>
        <p:spPr>
          <a:xfrm>
            <a:off x="822960" y="2606040"/>
            <a:ext cx="1325880" cy="1417320"/>
          </a:xfrm>
          <a:prstGeom prst="roundRect">
            <a:avLst>
              <a:gd name="adj" fmla="val 8000"/>
            </a:avLst>
          </a:prstGeom>
          <a:solidFill>
            <a:srgbClr val="F4F7FA"/>
          </a:solidFill>
          <a:ln w="2032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users-mid.png"/>
          <p:cNvPicPr>
            <a:picLocks noChangeAspect="1"/>
          </p:cNvPicPr>
          <p:nvPr/>
        </p:nvPicPr>
        <p:blipFill>
          <a:blip r:embed="rId3"/>
          <a:stretch>
            <a:fillRect/>
          </a:stretch>
        </p:blipFill>
        <p:spPr>
          <a:xfrm>
            <a:off x="1234440" y="2788920"/>
            <a:ext cx="502920" cy="502920"/>
          </a:xfrm>
          <a:prstGeom prst="rect">
            <a:avLst/>
          </a:prstGeom>
        </p:spPr>
      </p:pic>
      <p:sp>
        <p:nvSpPr>
          <p:cNvPr id="9" name="TextBox 8"/>
          <p:cNvSpPr txBox="1"/>
          <p:nvPr/>
        </p:nvSpPr>
        <p:spPr>
          <a:xfrm>
            <a:off x="822960" y="3429000"/>
            <a:ext cx="1325880" cy="365760"/>
          </a:xfrm>
          <a:prstGeom prst="rect">
            <a:avLst/>
          </a:prstGeom>
          <a:noFill/>
        </p:spPr>
        <p:txBody>
          <a:bodyPr wrap="square" lIns="0" rIns="0" tIns="0" bIns="0" anchor="t">
            <a:spAutoFit/>
          </a:bodyPr>
          <a:lstStyle/>
          <a:p>
            <a:pPr algn="ctr">
              <a:lnSpc>
                <a:spcPct val="115000"/>
              </a:lnSpc>
            </a:pPr>
            <a:r>
              <a:rPr sz="1250" b="1" i="0">
                <a:solidFill>
                  <a:srgbClr val="1C7293"/>
                </a:solidFill>
                <a:latin typeface="DejaVu Sans"/>
              </a:rPr>
              <a:t>Контроль</a:t>
            </a:r>
          </a:p>
        </p:txBody>
      </p:sp>
      <p:sp>
        <p:nvSpPr>
          <p:cNvPr id="10" name="Rounded Rectangle 9"/>
          <p:cNvSpPr/>
          <p:nvPr/>
        </p:nvSpPr>
        <p:spPr>
          <a:xfrm>
            <a:off x="3246120" y="2606040"/>
            <a:ext cx="1325880" cy="1417320"/>
          </a:xfrm>
          <a:prstGeom prst="roundRect">
            <a:avLst>
              <a:gd name="adj" fmla="val 8000"/>
            </a:avLst>
          </a:prstGeom>
          <a:solidFill>
            <a:srgbClr val="F4F7FA"/>
          </a:solidFill>
          <a:ln w="2032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users-teal.png"/>
          <p:cNvPicPr>
            <a:picLocks noChangeAspect="1"/>
          </p:cNvPicPr>
          <p:nvPr/>
        </p:nvPicPr>
        <p:blipFill>
          <a:blip r:embed="rId4"/>
          <a:stretch>
            <a:fillRect/>
          </a:stretch>
        </p:blipFill>
        <p:spPr>
          <a:xfrm>
            <a:off x="3657600" y="2788920"/>
            <a:ext cx="502920" cy="502920"/>
          </a:xfrm>
          <a:prstGeom prst="rect">
            <a:avLst/>
          </a:prstGeom>
        </p:spPr>
      </p:pic>
      <p:sp>
        <p:nvSpPr>
          <p:cNvPr id="12" name="TextBox 11"/>
          <p:cNvSpPr txBox="1"/>
          <p:nvPr/>
        </p:nvSpPr>
        <p:spPr>
          <a:xfrm>
            <a:off x="3246120" y="3429000"/>
            <a:ext cx="1325880" cy="365760"/>
          </a:xfrm>
          <a:prstGeom prst="rect">
            <a:avLst/>
          </a:prstGeom>
          <a:noFill/>
        </p:spPr>
        <p:txBody>
          <a:bodyPr wrap="square" lIns="0" rIns="0" tIns="0" bIns="0" anchor="t">
            <a:spAutoFit/>
          </a:bodyPr>
          <a:lstStyle/>
          <a:p>
            <a:pPr algn="ctr">
              <a:lnSpc>
                <a:spcPct val="115000"/>
              </a:lnSpc>
            </a:pPr>
            <a:r>
              <a:rPr sz="1250" b="1" i="0">
                <a:solidFill>
                  <a:srgbClr val="028090"/>
                </a:solidFill>
                <a:latin typeface="DejaVu Sans"/>
              </a:rPr>
              <a:t>Воздействие</a:t>
            </a:r>
          </a:p>
        </p:txBody>
      </p:sp>
      <p:sp>
        <p:nvSpPr>
          <p:cNvPr id="13" name="Right Arrow 12"/>
          <p:cNvSpPr/>
          <p:nvPr/>
        </p:nvSpPr>
        <p:spPr>
          <a:xfrm>
            <a:off x="2331720" y="3154680"/>
            <a:ext cx="822960" cy="256032"/>
          </a:xfrm>
          <a:prstGeom prst="rightArrow">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5623560" y="1463040"/>
            <a:ext cx="6080760" cy="2788920"/>
          </a:xfrm>
          <a:prstGeom prst="roundRect">
            <a:avLst>
              <a:gd name="adj" fmla="val 10928"/>
            </a:avLst>
          </a:prstGeom>
          <a:solidFill>
            <a:srgbClr val="F4F7FA"/>
          </a:solidFill>
          <a:ln w="1905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852160" y="1600200"/>
            <a:ext cx="5669280" cy="365760"/>
          </a:xfrm>
          <a:prstGeom prst="rect">
            <a:avLst/>
          </a:prstGeom>
          <a:noFill/>
        </p:spPr>
        <p:txBody>
          <a:bodyPr wrap="square" lIns="0" rIns="0" tIns="0" bIns="0" anchor="t">
            <a:spAutoFit/>
          </a:bodyPr>
          <a:lstStyle/>
          <a:p>
            <a:pPr algn="l">
              <a:lnSpc>
                <a:spcPct val="105000"/>
              </a:lnSpc>
            </a:pPr>
            <a:r>
              <a:rPr sz="1350" b="1" i="0">
                <a:solidFill>
                  <a:srgbClr val="028090"/>
                </a:solidFill>
                <a:latin typeface="DejaVu Sans"/>
              </a:rPr>
              <a:t>OEC — метрика, о значении которой договорились заранее </a:t>
            </a:r>
            <a:r>
              <a:rPr sz="702" baseline="30000" b="0" i="1">
                <a:latin typeface="DejaVu Sans"/>
                <a:cs typeface="DejaVu Sans"/>
                <a:ea typeface="DejaVu Sans"/>
                <a:solidFill>
                  <a:srgbClr val="1C7293"/>
                </a:solidFill>
              </a:rPr>
              <a:t>[1]</a:t>
            </a:r>
          </a:p>
        </p:txBody>
      </p:sp>
      <p:sp>
        <p:nvSpPr>
          <p:cNvPr id="16" name="TextBox 15"/>
          <p:cNvSpPr txBox="1"/>
          <p:nvPr/>
        </p:nvSpPr>
        <p:spPr>
          <a:xfrm>
            <a:off x="5852160" y="2331720"/>
            <a:ext cx="5669280" cy="1737360"/>
          </a:xfrm>
          <a:prstGeom prst="rect">
            <a:avLst/>
          </a:prstGeom>
          <a:noFill/>
        </p:spPr>
        <p:txBody>
          <a:bodyPr wrap="square" lIns="0" rIns="0" tIns="0" bIns="0" anchor="t">
            <a:spAutoFit/>
          </a:bodyPr>
          <a:lstStyle/>
          <a:p>
            <a:pPr algn="l">
              <a:lnSpc>
                <a:spcPct val="120000"/>
              </a:lnSpc>
            </a:pPr>
            <a:r>
              <a:rPr sz="1250" b="0" i="0">
                <a:solidFill>
                  <a:srgbClr val="21295C"/>
                </a:solidFill>
                <a:latin typeface="DejaVu Sans"/>
              </a:rPr>
              <a:t>Контролируемый эксперимент (Кохави): гипотеза с механизмом → рандомизация → заранее определённый размер выборки → решение.</a:t>
            </a:r>
          </a:p>
          <a:p>
            <a:pPr algn="l">
              <a:lnSpc>
                <a:spcPct val="120000"/>
              </a:lnSpc>
            </a:pPr>
            <a:r>
              <a:rPr sz="1250" b="0" i="0">
                <a:solidFill>
                  <a:srgbClr val="21295C"/>
                </a:solidFill>
                <a:latin typeface="DejaVu Sans"/>
              </a:rPr>
              <a:t/>
            </a:r>
          </a:p>
          <a:p>
            <a:pPr algn="l">
              <a:lnSpc>
                <a:spcPct val="120000"/>
              </a:lnSpc>
            </a:pPr>
            <a:r>
              <a:rPr sz="1250" b="0" i="0">
                <a:solidFill>
                  <a:srgbClr val="21295C"/>
                </a:solidFill>
                <a:latin typeface="DejaVu Sans"/>
              </a:rPr>
              <a:t>Учебная ловушка: «время на сайте поддержки» — это хорошо или плохо? Направление метрики надо согласовать до теста.</a:t>
            </a:r>
          </a:p>
        </p:txBody>
      </p:sp>
      <p:sp>
        <p:nvSpPr>
          <p:cNvPr id="17" name="Rounded Rectangle 16"/>
          <p:cNvSpPr/>
          <p:nvPr/>
        </p:nvSpPr>
        <p:spPr>
          <a:xfrm>
            <a:off x="502920" y="4434840"/>
            <a:ext cx="11201400" cy="868680"/>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22376" y="4489703"/>
            <a:ext cx="10762488" cy="758952"/>
          </a:xfrm>
          <a:prstGeom prst="rect">
            <a:avLst/>
          </a:prstGeom>
          <a:noFill/>
        </p:spPr>
        <p:txBody>
          <a:bodyPr wrap="square" lIns="0" rIns="0" tIns="0" bIns="0" anchor="ctr">
            <a:spAutoFit/>
          </a:bodyPr>
          <a:lstStyle/>
          <a:p>
            <a:pPr algn="l">
              <a:lnSpc>
                <a:spcPct val="120000"/>
              </a:lnSpc>
            </a:pPr>
            <a:r>
              <a:rPr sz="1300" b="1" i="0">
                <a:solidFill>
                  <a:srgbClr val="21295C"/>
                </a:solidFill>
                <a:latin typeface="DejaVu Sans"/>
              </a:rPr>
              <a:t>Только случайное деление групп даёт причинность: разница между Control и Treatment вызвана вашим изменением, а не сезоном, рекламой или везением </a:t>
            </a:r>
            <a:r>
              <a:rPr sz="676" baseline="30000" b="0" i="1">
                <a:latin typeface="DejaVu Sans"/>
                <a:cs typeface="DejaVu Sans"/>
                <a:ea typeface="DejaVu Sans"/>
                <a:solidFill>
                  <a:srgbClr val="1C7293"/>
                </a:solidFill>
              </a:rPr>
              <a:t>[2]</a:t>
            </a:r>
            <a:r>
              <a:rPr sz="1300" b="1" i="0">
                <a:latin typeface="DejaVu Sans"/>
                <a:cs typeface="DejaVu Sans"/>
                <a:ea typeface="DejaVu Sans"/>
                <a:solidFill>
                  <a:srgbClr val="21295C"/>
                </a:solidFill>
              </a:rPr>
              <a:t>.</a:t>
            </a:r>
          </a:p>
        </p:txBody>
      </p:sp>
      <p:sp>
        <p:nvSpPr>
          <p:cNvPr id="19" name="TextBox 18"/>
          <p:cNvSpPr txBox="1"/>
          <p:nvPr/>
        </p:nvSpPr>
        <p:spPr>
          <a:xfrm>
            <a:off x="502920" y="6455664"/>
            <a:ext cx="11201400" cy="548640"/>
          </a:xfrm>
          <a:prstGeom prst="rect">
            <a:avLst/>
          </a:prstGeom>
          <a:noFill/>
        </p:spPr>
        <p:txBody>
          <a:bodyPr wrap="square" lIns="0" rIns="0" tIns="0" bIns="0" anchor="t">
            <a:spAutoFit/>
          </a:bodyPr>
          <a:lstStyle/>
          <a:p>
            <a:pPr algn="l">
              <a:lnSpc>
                <a:spcPct val="102000"/>
              </a:lnSpc>
            </a:pPr>
            <a:r>
              <a:rPr sz="850" b="1" i="1">
                <a:solidFill>
                  <a:srgbClr val="065A82"/>
                </a:solidFill>
                <a:latin typeface="DejaVu Sans"/>
              </a:rPr>
              <a:t>[1] </a:t>
            </a:r>
            <a:r>
              <a:rPr sz="850" i="1">
                <a:solidFill>
                  <a:srgbClr val="1C7293"/>
                </a:solidFill>
                <a:latin typeface="DejaVu Sans"/>
                <a:hlinkClick r:id="rId5"/>
              </a:rPr>
              <a:t>Kohavi — Overall Evaluation Criterion (OEC)</a:t>
            </a:r>
            <a:r>
              <a:rPr sz="850" i="1">
                <a:solidFill>
                  <a:srgbClr val="1C7293"/>
                </a:solidFill>
                <a:latin typeface="DejaVu Sans"/>
              </a:rPr>
              <a:t>   ·   </a:t>
            </a:r>
            <a:r>
              <a:rPr sz="850" b="1" i="1">
                <a:solidFill>
                  <a:srgbClr val="065A82"/>
                </a:solidFill>
                <a:latin typeface="DejaVu Sans"/>
              </a:rPr>
              <a:t>[2] </a:t>
            </a:r>
            <a:r>
              <a:rPr sz="850" i="1">
                <a:solidFill>
                  <a:srgbClr val="1C7293"/>
                </a:solidFill>
                <a:latin typeface="DejaVu Sans"/>
                <a:hlinkClick r:id="rId6"/>
              </a:rPr>
              <a:t>Wikipedia — A/B testing (Bing 2012)</a:t>
            </a:r>
          </a:p>
        </p:txBody>
      </p:sp>
      <p:sp>
        <p:nvSpPr>
          <p:cNvPr id="20" name="TextBox 19"/>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34 / 56</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65760"/>
            <a:ext cx="11247120" cy="777240"/>
          </a:xfrm>
          <a:prstGeom prst="rect">
            <a:avLst/>
          </a:prstGeom>
          <a:noFill/>
        </p:spPr>
        <p:txBody>
          <a:bodyPr wrap="square" lIns="0" rIns="0" tIns="0" bIns="0" anchor="t">
            <a:spAutoFit/>
          </a:bodyPr>
          <a:lstStyle/>
          <a:p>
            <a:pPr algn="l">
              <a:lnSpc>
                <a:spcPct val="110000"/>
              </a:lnSpc>
            </a:pPr>
            <a:r>
              <a:rPr sz="2200" b="1" i="0">
                <a:solidFill>
                  <a:srgbClr val="21295C"/>
                </a:solidFill>
                <a:latin typeface="DejaVu Sans"/>
              </a:rPr>
              <a:t>Три вопроса ловят все восемь ловушек эксперимента</a:t>
            </a:r>
          </a:p>
        </p:txBody>
      </p:sp>
      <p:sp>
        <p:nvSpPr>
          <p:cNvPr id="3" name="Rounded Rectangle 2"/>
          <p:cNvSpPr/>
          <p:nvPr/>
        </p:nvSpPr>
        <p:spPr>
          <a:xfrm>
            <a:off x="722376" y="1307592"/>
            <a:ext cx="3172968" cy="256032"/>
          </a:xfrm>
          <a:prstGeom prst="roundRect">
            <a:avLst>
              <a:gd name="adj" fmla="val 50000"/>
            </a:avLst>
          </a:prstGeom>
          <a:solidFill>
            <a:srgbClr val="E4F1F2"/>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wrap="none"/>
          <a:lstStyle/>
          <a:p>
            <a:pPr algn="ctr"/>
            <a:r>
              <a:rPr sz="950" b="1">
                <a:solidFill>
                  <a:srgbClr val="028090"/>
                </a:solidFill>
                <a:latin typeface="DejaVu Sans"/>
              </a:rPr>
              <a:t>ДО ТЕСТА</a:t>
            </a:r>
          </a:p>
        </p:txBody>
      </p:sp>
      <p:sp>
        <p:nvSpPr>
          <p:cNvPr id="4" name="Rounded Rectangle 3"/>
          <p:cNvSpPr/>
          <p:nvPr/>
        </p:nvSpPr>
        <p:spPr>
          <a:xfrm>
            <a:off x="502920" y="1600200"/>
            <a:ext cx="3611880" cy="2606040"/>
          </a:xfrm>
          <a:prstGeom prst="roundRect">
            <a:avLst>
              <a:gd name="adj" fmla="val 11695"/>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722376" y="1783080"/>
            <a:ext cx="457200" cy="36576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wrap="none"/>
          <a:lstStyle/>
          <a:p>
            <a:pPr algn="ctr"/>
            <a:r>
              <a:rPr sz="1500" b="1">
                <a:solidFill>
                  <a:srgbClr val="21295C"/>
                </a:solidFill>
                <a:latin typeface="DejaVu Sans"/>
              </a:rPr>
              <a:t>1</a:t>
            </a:r>
          </a:p>
        </p:txBody>
      </p:sp>
      <p:pic>
        <p:nvPicPr>
          <p:cNvPr id="6" name="Picture 5" descr="shield-alert-mid.png"/>
          <p:cNvPicPr>
            <a:picLocks noChangeAspect="1"/>
          </p:cNvPicPr>
          <p:nvPr/>
        </p:nvPicPr>
        <p:blipFill>
          <a:blip r:embed="rId2"/>
          <a:stretch>
            <a:fillRect/>
          </a:stretch>
        </p:blipFill>
        <p:spPr>
          <a:xfrm>
            <a:off x="3337560" y="1764792"/>
            <a:ext cx="502920" cy="502920"/>
          </a:xfrm>
          <a:prstGeom prst="rect">
            <a:avLst/>
          </a:prstGeom>
        </p:spPr>
      </p:pic>
      <p:sp>
        <p:nvSpPr>
          <p:cNvPr id="7" name="TextBox 6"/>
          <p:cNvSpPr txBox="1"/>
          <p:nvPr/>
        </p:nvSpPr>
        <p:spPr>
          <a:xfrm>
            <a:off x="722376" y="2331720"/>
            <a:ext cx="3172968" cy="594360"/>
          </a:xfrm>
          <a:prstGeom prst="rect">
            <a:avLst/>
          </a:prstGeom>
          <a:noFill/>
        </p:spPr>
        <p:txBody>
          <a:bodyPr wrap="square" lIns="0" rIns="0" tIns="0" bIns="0" anchor="t">
            <a:spAutoFit/>
          </a:bodyPr>
          <a:lstStyle/>
          <a:p>
            <a:pPr algn="l">
              <a:lnSpc>
                <a:spcPct val="105000"/>
              </a:lnSpc>
            </a:pPr>
            <a:r>
              <a:rPr sz="1350" b="1" i="0">
                <a:solidFill>
                  <a:srgbClr val="21295C"/>
                </a:solidFill>
                <a:latin typeface="DejaVu Sans"/>
              </a:rPr>
              <a:t>Настроен ли тест правильно?</a:t>
            </a:r>
          </a:p>
        </p:txBody>
      </p:sp>
      <p:sp>
        <p:nvSpPr>
          <p:cNvPr id="8" name="TextBox 7"/>
          <p:cNvSpPr txBox="1"/>
          <p:nvPr/>
        </p:nvSpPr>
        <p:spPr>
          <a:xfrm>
            <a:off x="722376" y="2926080"/>
            <a:ext cx="3172968" cy="1188720"/>
          </a:xfrm>
          <a:prstGeom prst="rect">
            <a:avLst/>
          </a:prstGeom>
          <a:noFill/>
        </p:spPr>
        <p:txBody>
          <a:bodyPr wrap="square" lIns="0" rIns="0" tIns="0" bIns="0" anchor="t">
            <a:spAutoFit/>
          </a:bodyPr>
          <a:lstStyle/>
          <a:p>
            <a:pPr algn="l">
              <a:lnSpc>
                <a:spcPct val="114000"/>
              </a:lnSpc>
            </a:pPr>
            <a:r>
              <a:rPr sz="1000" b="0" i="1">
                <a:solidFill>
                  <a:srgbClr val="5B6678"/>
                </a:solidFill>
                <a:latin typeface="DejaVu Sans"/>
              </a:rPr>
              <a:t>SRM (перекос групп) </a:t>
            </a:r>
            <a:r>
              <a:rPr sz="520" baseline="30000" b="0" i="1">
                <a:latin typeface="DejaVu Sans"/>
                <a:cs typeface="DejaVu Sans"/>
                <a:ea typeface="DejaVu Sans"/>
                <a:solidFill>
                  <a:srgbClr val="1C7293"/>
                </a:solidFill>
              </a:rPr>
              <a:t>[1]</a:t>
            </a:r>
            <a:r>
              <a:rPr sz="1000" b="0" i="1">
                <a:latin typeface="DejaVu Sans"/>
                <a:cs typeface="DejaVu Sans"/>
                <a:ea typeface="DejaVu Sans"/>
                <a:solidFill>
                  <a:srgbClr val="5B6678"/>
                </a:solidFill>
              </a:rPr>
              <a:t> — доли пользователей в группах не совпали с планом; размер выборки должен быть зафиксирован заранее, а не подогнан под результат</a:t>
            </a:r>
          </a:p>
        </p:txBody>
      </p:sp>
      <p:sp>
        <p:nvSpPr>
          <p:cNvPr id="9" name="Rounded Rectangle 8"/>
          <p:cNvSpPr/>
          <p:nvPr/>
        </p:nvSpPr>
        <p:spPr>
          <a:xfrm>
            <a:off x="4517136" y="1307592"/>
            <a:ext cx="3172968" cy="256032"/>
          </a:xfrm>
          <a:prstGeom prst="roundRect">
            <a:avLst>
              <a:gd name="adj" fmla="val 50000"/>
            </a:avLst>
          </a:prstGeom>
          <a:solidFill>
            <a:srgbClr val="E4F1F2"/>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wrap="none"/>
          <a:lstStyle/>
          <a:p>
            <a:pPr algn="ctr"/>
            <a:r>
              <a:rPr sz="950" b="1">
                <a:solidFill>
                  <a:srgbClr val="028090"/>
                </a:solidFill>
                <a:latin typeface="DejaVu Sans"/>
              </a:rPr>
              <a:t>ИНТЕРПРЕТАЦИЯ</a:t>
            </a:r>
          </a:p>
        </p:txBody>
      </p:sp>
      <p:sp>
        <p:nvSpPr>
          <p:cNvPr id="10" name="Rounded Rectangle 9"/>
          <p:cNvSpPr/>
          <p:nvPr/>
        </p:nvSpPr>
        <p:spPr>
          <a:xfrm>
            <a:off x="4297680" y="1600200"/>
            <a:ext cx="3611880" cy="2606040"/>
          </a:xfrm>
          <a:prstGeom prst="roundRect">
            <a:avLst>
              <a:gd name="adj" fmla="val 11695"/>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4517136" y="1783080"/>
            <a:ext cx="457200" cy="36576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wrap="none"/>
          <a:lstStyle/>
          <a:p>
            <a:pPr algn="ctr"/>
            <a:r>
              <a:rPr sz="1500" b="1">
                <a:solidFill>
                  <a:srgbClr val="21295C"/>
                </a:solidFill>
                <a:latin typeface="DejaVu Sans"/>
              </a:rPr>
              <a:t>2</a:t>
            </a:r>
          </a:p>
        </p:txBody>
      </p:sp>
      <p:pic>
        <p:nvPicPr>
          <p:cNvPr id="12" name="Picture 11" descr="search-mid.png"/>
          <p:cNvPicPr>
            <a:picLocks noChangeAspect="1"/>
          </p:cNvPicPr>
          <p:nvPr/>
        </p:nvPicPr>
        <p:blipFill>
          <a:blip r:embed="rId3"/>
          <a:stretch>
            <a:fillRect/>
          </a:stretch>
        </p:blipFill>
        <p:spPr>
          <a:xfrm>
            <a:off x="7132320" y="1764792"/>
            <a:ext cx="502920" cy="502920"/>
          </a:xfrm>
          <a:prstGeom prst="rect">
            <a:avLst/>
          </a:prstGeom>
        </p:spPr>
      </p:pic>
      <p:sp>
        <p:nvSpPr>
          <p:cNvPr id="13" name="TextBox 12"/>
          <p:cNvSpPr txBox="1"/>
          <p:nvPr/>
        </p:nvSpPr>
        <p:spPr>
          <a:xfrm>
            <a:off x="4517136" y="2331720"/>
            <a:ext cx="3172968" cy="594360"/>
          </a:xfrm>
          <a:prstGeom prst="rect">
            <a:avLst/>
          </a:prstGeom>
          <a:noFill/>
        </p:spPr>
        <p:txBody>
          <a:bodyPr wrap="square" lIns="0" rIns="0" tIns="0" bIns="0" anchor="t">
            <a:spAutoFit/>
          </a:bodyPr>
          <a:lstStyle/>
          <a:p>
            <a:pPr algn="l">
              <a:lnSpc>
                <a:spcPct val="105000"/>
              </a:lnSpc>
            </a:pPr>
            <a:r>
              <a:rPr sz="1350" b="1" i="0">
                <a:solidFill>
                  <a:srgbClr val="21295C"/>
                </a:solidFill>
                <a:latin typeface="DejaVu Sans"/>
              </a:rPr>
              <a:t>Правильно ли читаю результат?</a:t>
            </a:r>
          </a:p>
        </p:txBody>
      </p:sp>
      <p:sp>
        <p:nvSpPr>
          <p:cNvPr id="14" name="TextBox 13"/>
          <p:cNvSpPr txBox="1"/>
          <p:nvPr/>
        </p:nvSpPr>
        <p:spPr>
          <a:xfrm>
            <a:off x="4517136" y="2926080"/>
            <a:ext cx="3172968" cy="1188720"/>
          </a:xfrm>
          <a:prstGeom prst="rect">
            <a:avLst/>
          </a:prstGeom>
          <a:noFill/>
        </p:spPr>
        <p:txBody>
          <a:bodyPr wrap="square" lIns="0" rIns="0" tIns="0" bIns="0" anchor="t">
            <a:spAutoFit/>
          </a:bodyPr>
          <a:lstStyle/>
          <a:p>
            <a:pPr algn="l">
              <a:lnSpc>
                <a:spcPct val="114000"/>
              </a:lnSpc>
            </a:pPr>
            <a:r>
              <a:rPr sz="1000" b="0" i="1">
                <a:solidFill>
                  <a:srgbClr val="5B6678"/>
                </a:solidFill>
                <a:latin typeface="DejaVu Sans"/>
              </a:rPr>
              <a:t>peeking (подглядывание) </a:t>
            </a:r>
            <a:r>
              <a:rPr sz="520" baseline="30000" b="0" i="1">
                <a:latin typeface="DejaVu Sans"/>
                <a:cs typeface="DejaVu Sans"/>
                <a:ea typeface="DejaVu Sans"/>
                <a:solidFill>
                  <a:srgbClr val="1C7293"/>
                </a:solidFill>
              </a:rPr>
              <a:t>[2]</a:t>
            </a:r>
            <a:r>
              <a:rPr sz="1000" b="0" i="1">
                <a:latin typeface="DejaVu Sans"/>
                <a:cs typeface="DejaVu Sans"/>
                <a:ea typeface="DejaVu Sans"/>
                <a:solidFill>
                  <a:srgbClr val="5B6678"/>
                </a:solidFill>
              </a:rPr>
              <a:t> — досрочная проверка результата: 2 подглядки ≈2× ложных срабатываний, поэтому решение принимается только на заранее заданный размер выборки</a:t>
            </a:r>
          </a:p>
        </p:txBody>
      </p:sp>
      <p:sp>
        <p:nvSpPr>
          <p:cNvPr id="15" name="Rounded Rectangle 14"/>
          <p:cNvSpPr/>
          <p:nvPr/>
        </p:nvSpPr>
        <p:spPr>
          <a:xfrm>
            <a:off x="8311896" y="1307592"/>
            <a:ext cx="3172968" cy="256032"/>
          </a:xfrm>
          <a:prstGeom prst="roundRect">
            <a:avLst>
              <a:gd name="adj" fmla="val 50000"/>
            </a:avLst>
          </a:prstGeom>
          <a:solidFill>
            <a:srgbClr val="E4F1F2"/>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wrap="none"/>
          <a:lstStyle/>
          <a:p>
            <a:pPr algn="ctr"/>
            <a:r>
              <a:rPr sz="950" b="1">
                <a:solidFill>
                  <a:srgbClr val="028090"/>
                </a:solidFill>
                <a:latin typeface="DejaVu Sans"/>
              </a:rPr>
              <a:t>ЭФФЕКТ</a:t>
            </a:r>
          </a:p>
        </p:txBody>
      </p:sp>
      <p:sp>
        <p:nvSpPr>
          <p:cNvPr id="16" name="Rounded Rectangle 15"/>
          <p:cNvSpPr/>
          <p:nvPr/>
        </p:nvSpPr>
        <p:spPr>
          <a:xfrm>
            <a:off x="8092440" y="1600200"/>
            <a:ext cx="3611880" cy="2606040"/>
          </a:xfrm>
          <a:prstGeom prst="roundRect">
            <a:avLst>
              <a:gd name="adj" fmla="val 11695"/>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8311896" y="1783080"/>
            <a:ext cx="457200" cy="36576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wrap="none"/>
          <a:lstStyle/>
          <a:p>
            <a:pPr algn="ctr"/>
            <a:r>
              <a:rPr sz="1500" b="1">
                <a:solidFill>
                  <a:srgbClr val="21295C"/>
                </a:solidFill>
                <a:latin typeface="DejaVu Sans"/>
              </a:rPr>
              <a:t>3</a:t>
            </a:r>
          </a:p>
        </p:txBody>
      </p:sp>
      <p:pic>
        <p:nvPicPr>
          <p:cNvPr id="18" name="Picture 17" descr="triangle-alert-mid.png"/>
          <p:cNvPicPr>
            <a:picLocks noChangeAspect="1"/>
          </p:cNvPicPr>
          <p:nvPr/>
        </p:nvPicPr>
        <p:blipFill>
          <a:blip r:embed="rId4"/>
          <a:stretch>
            <a:fillRect/>
          </a:stretch>
        </p:blipFill>
        <p:spPr>
          <a:xfrm>
            <a:off x="10927080" y="1764792"/>
            <a:ext cx="502920" cy="502920"/>
          </a:xfrm>
          <a:prstGeom prst="rect">
            <a:avLst/>
          </a:prstGeom>
        </p:spPr>
      </p:pic>
      <p:sp>
        <p:nvSpPr>
          <p:cNvPr id="19" name="TextBox 18"/>
          <p:cNvSpPr txBox="1"/>
          <p:nvPr/>
        </p:nvSpPr>
        <p:spPr>
          <a:xfrm>
            <a:off x="8311896" y="2331720"/>
            <a:ext cx="3172968" cy="594360"/>
          </a:xfrm>
          <a:prstGeom prst="rect">
            <a:avLst/>
          </a:prstGeom>
          <a:noFill/>
        </p:spPr>
        <p:txBody>
          <a:bodyPr wrap="square" lIns="0" rIns="0" tIns="0" bIns="0" anchor="t">
            <a:spAutoFit/>
          </a:bodyPr>
          <a:lstStyle/>
          <a:p>
            <a:pPr algn="l">
              <a:lnSpc>
                <a:spcPct val="105000"/>
              </a:lnSpc>
            </a:pPr>
            <a:r>
              <a:rPr sz="1350" b="1" i="0">
                <a:solidFill>
                  <a:srgbClr val="21295C"/>
                </a:solidFill>
                <a:latin typeface="DejaVu Sans"/>
              </a:rPr>
              <a:t>Реален ли сам эффект?</a:t>
            </a:r>
          </a:p>
        </p:txBody>
      </p:sp>
      <p:sp>
        <p:nvSpPr>
          <p:cNvPr id="20" name="TextBox 19"/>
          <p:cNvSpPr txBox="1"/>
          <p:nvPr/>
        </p:nvSpPr>
        <p:spPr>
          <a:xfrm>
            <a:off x="8311896" y="2926080"/>
            <a:ext cx="3172968" cy="1188720"/>
          </a:xfrm>
          <a:prstGeom prst="rect">
            <a:avLst/>
          </a:prstGeom>
          <a:noFill/>
        </p:spPr>
        <p:txBody>
          <a:bodyPr wrap="square" lIns="0" rIns="0" tIns="0" bIns="0" anchor="t">
            <a:spAutoFit/>
          </a:bodyPr>
          <a:lstStyle/>
          <a:p>
            <a:pPr algn="l">
              <a:lnSpc>
                <a:spcPct val="114000"/>
              </a:lnSpc>
            </a:pPr>
            <a:r>
              <a:rPr sz="1000" b="0" i="1">
                <a:solidFill>
                  <a:srgbClr val="5B6678"/>
                </a:solidFill>
                <a:latin typeface="DejaVu Sans"/>
              </a:rPr>
              <a:t>закон Тваймана </a:t>
            </a:r>
            <a:r>
              <a:rPr sz="520" baseline="30000" b="0" i="1">
                <a:latin typeface="DejaVu Sans"/>
                <a:cs typeface="DejaVu Sans"/>
                <a:ea typeface="DejaVu Sans"/>
                <a:solidFill>
                  <a:srgbClr val="1C7293"/>
                </a:solidFill>
              </a:rPr>
              <a:t>[3]</a:t>
            </a:r>
            <a:r>
              <a:rPr sz="1000" b="0" i="1">
                <a:latin typeface="DejaVu Sans"/>
                <a:cs typeface="DejaVu Sans"/>
                <a:ea typeface="DejaVu Sans"/>
                <a:solidFill>
                  <a:srgbClr val="5B6678"/>
                </a:solidFill>
              </a:rPr>
              <a:t>: слишком красивая или неожиданная цифра обычно означает ошибку измерения, а не реальный эффект — сначала перепроверь методологию, потом радуйся результату</a:t>
            </a:r>
          </a:p>
        </p:txBody>
      </p:sp>
      <p:sp>
        <p:nvSpPr>
          <p:cNvPr id="21" name="Rounded Rectangle 20"/>
          <p:cNvSpPr/>
          <p:nvPr/>
        </p:nvSpPr>
        <p:spPr>
          <a:xfrm>
            <a:off x="502920" y="4389120"/>
            <a:ext cx="11201400" cy="1051560"/>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22376" y="4443983"/>
            <a:ext cx="10762488" cy="941831"/>
          </a:xfrm>
          <a:prstGeom prst="rect">
            <a:avLst/>
          </a:prstGeom>
          <a:noFill/>
        </p:spPr>
        <p:txBody>
          <a:bodyPr wrap="square" lIns="0" rIns="0" tIns="0" bIns="0" anchor="ctr">
            <a:spAutoFit/>
          </a:bodyPr>
          <a:lstStyle/>
          <a:p>
            <a:pPr algn="l">
              <a:lnSpc>
                <a:spcPct val="120000"/>
              </a:lnSpc>
            </a:pPr>
            <a:r>
              <a:rPr sz="1300" b="1" i="0">
                <a:solidFill>
                  <a:srgbClr val="21295C"/>
                </a:solidFill>
                <a:latin typeface="DejaVu Sans"/>
              </a:rPr>
              <a:t>A/B (измерение) — это не то же, что feature flag (раскатка): первое проверяет эффект, второе управляет доступом. И осторожнее с легендами: тест Bing ≈$100 млн прироста выручки (Kohavi/Thomke, HBR 2017) — это НЕ «кнопка за $300 млн» (отдельный кейс юзабилити).</a:t>
            </a:r>
          </a:p>
        </p:txBody>
      </p:sp>
      <p:sp>
        <p:nvSpPr>
          <p:cNvPr id="23" name="TextBox 22"/>
          <p:cNvSpPr txBox="1"/>
          <p:nvPr/>
        </p:nvSpPr>
        <p:spPr>
          <a:xfrm>
            <a:off x="502920" y="6419088"/>
            <a:ext cx="11201400" cy="548640"/>
          </a:xfrm>
          <a:prstGeom prst="rect">
            <a:avLst/>
          </a:prstGeom>
          <a:noFill/>
        </p:spPr>
        <p:txBody>
          <a:bodyPr wrap="square" lIns="0" rIns="0" tIns="0" bIns="0" anchor="t">
            <a:spAutoFit/>
          </a:bodyPr>
          <a:lstStyle/>
          <a:p>
            <a:pPr algn="l">
              <a:lnSpc>
                <a:spcPct val="102000"/>
              </a:lnSpc>
            </a:pPr>
            <a:r>
              <a:rPr sz="850" b="1" i="1">
                <a:solidFill>
                  <a:srgbClr val="065A82"/>
                </a:solidFill>
                <a:latin typeface="DejaVu Sans"/>
              </a:rPr>
              <a:t>[1] </a:t>
            </a:r>
            <a:r>
              <a:rPr sz="850" i="1">
                <a:solidFill>
                  <a:srgbClr val="1C7293"/>
                </a:solidFill>
                <a:latin typeface="DejaVu Sans"/>
                <a:hlinkClick r:id="rId5"/>
              </a:rPr>
              <a:t>Microsoft Research — Sample Ratio Mismatch (KDD 2019)</a:t>
            </a:r>
            <a:r>
              <a:rPr sz="850" i="1">
                <a:solidFill>
                  <a:srgbClr val="1C7293"/>
                </a:solidFill>
                <a:latin typeface="DejaVu Sans"/>
              </a:rPr>
              <a:t>   ·   </a:t>
            </a:r>
            <a:r>
              <a:rPr sz="850" b="1" i="1">
                <a:solidFill>
                  <a:srgbClr val="065A82"/>
                </a:solidFill>
                <a:latin typeface="DejaVu Sans"/>
              </a:rPr>
              <a:t>[2] </a:t>
            </a:r>
            <a:r>
              <a:rPr sz="850" i="1">
                <a:solidFill>
                  <a:srgbClr val="1C7293"/>
                </a:solidFill>
                <a:latin typeface="DejaVu Sans"/>
                <a:hlinkClick r:id="rId6"/>
              </a:rPr>
              <a:t>GoPractice — проблема подглядывания (peeking)</a:t>
            </a:r>
            <a:r>
              <a:rPr sz="850" i="1">
                <a:solidFill>
                  <a:srgbClr val="1C7293"/>
                </a:solidFill>
                <a:latin typeface="DejaVu Sans"/>
              </a:rPr>
              <a:t>   ·   </a:t>
            </a:r>
            <a:r>
              <a:rPr sz="850" b="1" i="1">
                <a:solidFill>
                  <a:srgbClr val="065A82"/>
                </a:solidFill>
                <a:latin typeface="DejaVu Sans"/>
              </a:rPr>
              <a:t>[3] </a:t>
            </a:r>
            <a:r>
              <a:rPr sz="850" i="1">
                <a:solidFill>
                  <a:srgbClr val="1C7293"/>
                </a:solidFill>
                <a:latin typeface="DejaVu Sans"/>
                <a:hlinkClick r:id="rId7"/>
              </a:rPr>
              <a:t>exp-platform.com — Кохави, Твайман</a:t>
            </a:r>
          </a:p>
        </p:txBody>
      </p:sp>
      <p:sp>
        <p:nvSpPr>
          <p:cNvPr id="24" name="TextBox 23"/>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35 / 56</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65760"/>
            <a:ext cx="11247120" cy="777240"/>
          </a:xfrm>
          <a:prstGeom prst="rect">
            <a:avLst/>
          </a:prstGeom>
          <a:noFill/>
        </p:spPr>
        <p:txBody>
          <a:bodyPr wrap="square" lIns="0" rIns="0" tIns="0" bIns="0" anchor="t">
            <a:spAutoFit/>
          </a:bodyPr>
          <a:lstStyle/>
          <a:p>
            <a:pPr algn="l">
              <a:lnSpc>
                <a:spcPct val="110000"/>
              </a:lnSpc>
            </a:pPr>
            <a:r>
              <a:rPr sz="2000" b="1" i="0">
                <a:solidFill>
                  <a:srgbClr val="21295C"/>
                </a:solidFill>
                <a:latin typeface="DejaVu Sans"/>
              </a:rPr>
              <a:t>pass@k стремится к 100%, pass^k — к 0%: одна вероятность, разный вопрос</a:t>
            </a:r>
          </a:p>
        </p:txBody>
      </p:sp>
      <p:sp>
        <p:nvSpPr>
          <p:cNvPr id="3" name="Rounded Rectangle 2"/>
          <p:cNvSpPr/>
          <p:nvPr/>
        </p:nvSpPr>
        <p:spPr>
          <a:xfrm>
            <a:off x="502920" y="1463040"/>
            <a:ext cx="4892040" cy="3063240"/>
          </a:xfrm>
          <a:prstGeom prst="roundRect">
            <a:avLst>
              <a:gd name="adj" fmla="val 9950"/>
            </a:avLst>
          </a:prstGeom>
          <a:solidFill>
            <a:srgbClr val="F4F7FA"/>
          </a:solidFill>
          <a:ln w="1905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1572768"/>
            <a:ext cx="4480560" cy="365760"/>
          </a:xfrm>
          <a:prstGeom prst="rect">
            <a:avLst/>
          </a:prstGeom>
          <a:noFill/>
        </p:spPr>
        <p:txBody>
          <a:bodyPr wrap="square" lIns="0" rIns="0" tIns="0" bIns="0" anchor="t">
            <a:spAutoFit/>
          </a:bodyPr>
          <a:lstStyle/>
          <a:p>
            <a:pPr algn="l">
              <a:lnSpc>
                <a:spcPct val="115000"/>
              </a:lnSpc>
            </a:pPr>
            <a:r>
              <a:rPr sz="1350" b="1" i="0">
                <a:solidFill>
                  <a:srgbClr val="065A82"/>
                </a:solidFill>
                <a:latin typeface="DejaVu Sans"/>
              </a:rPr>
              <a:t>3 уровня оценки (Хусейн)</a:t>
            </a:r>
          </a:p>
        </p:txBody>
      </p:sp>
      <p:sp>
        <p:nvSpPr>
          <p:cNvPr id="5" name="Rounded Rectangle 4"/>
          <p:cNvSpPr/>
          <p:nvPr/>
        </p:nvSpPr>
        <p:spPr>
          <a:xfrm>
            <a:off x="731520" y="2057400"/>
            <a:ext cx="4434840" cy="640080"/>
          </a:xfrm>
          <a:prstGeom prst="roundRect">
            <a:avLst>
              <a:gd name="adj" fmla="val 8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868680" y="2221992"/>
            <a:ext cx="384048" cy="310896"/>
          </a:xfrm>
          <a:prstGeom prst="roundRect">
            <a:avLst>
              <a:gd name="adj" fmla="val 50000"/>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wrap="none"/>
          <a:lstStyle/>
          <a:p>
            <a:pPr algn="ctr"/>
            <a:r>
              <a:rPr sz="1200" b="1">
                <a:solidFill>
                  <a:srgbClr val="FFFFFF"/>
                </a:solidFill>
                <a:latin typeface="DejaVu Sans"/>
              </a:rPr>
              <a:t>1</a:t>
            </a:r>
          </a:p>
        </p:txBody>
      </p:sp>
      <p:sp>
        <p:nvSpPr>
          <p:cNvPr id="7" name="TextBox 6"/>
          <p:cNvSpPr txBox="1"/>
          <p:nvPr/>
        </p:nvSpPr>
        <p:spPr>
          <a:xfrm>
            <a:off x="1371600" y="2057400"/>
            <a:ext cx="3703320" cy="640080"/>
          </a:xfrm>
          <a:prstGeom prst="rect">
            <a:avLst/>
          </a:prstGeom>
          <a:noFill/>
        </p:spPr>
        <p:txBody>
          <a:bodyPr wrap="square" lIns="0" rIns="0" tIns="0" bIns="0" anchor="ctr">
            <a:spAutoFit/>
          </a:bodyPr>
          <a:lstStyle/>
          <a:p>
            <a:pPr algn="l">
              <a:lnSpc>
                <a:spcPct val="105000"/>
              </a:lnSpc>
            </a:pPr>
            <a:r>
              <a:rPr sz="1150" b="1" i="0">
                <a:solidFill>
                  <a:srgbClr val="21295C"/>
                </a:solidFill>
                <a:latin typeface="DejaVu Sans"/>
              </a:rPr>
              <a:t>Unit-тесты — быстрые, детерминированные</a:t>
            </a:r>
          </a:p>
        </p:txBody>
      </p:sp>
      <p:sp>
        <p:nvSpPr>
          <p:cNvPr id="8" name="Rounded Rectangle 7"/>
          <p:cNvSpPr/>
          <p:nvPr/>
        </p:nvSpPr>
        <p:spPr>
          <a:xfrm>
            <a:off x="731520" y="2834640"/>
            <a:ext cx="4434840" cy="640080"/>
          </a:xfrm>
          <a:prstGeom prst="roundRect">
            <a:avLst>
              <a:gd name="adj" fmla="val 8000"/>
            </a:avLst>
          </a:prstGeom>
          <a:solidFill>
            <a:srgbClr val="F4F7FA"/>
          </a:solidFill>
          <a:ln w="1905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868680" y="2999232"/>
            <a:ext cx="384048" cy="310896"/>
          </a:xfrm>
          <a:prstGeom prst="roundRect">
            <a:avLst>
              <a:gd name="adj" fmla="val 5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wrap="none"/>
          <a:lstStyle/>
          <a:p>
            <a:pPr algn="ctr"/>
            <a:r>
              <a:rPr sz="1200" b="1">
                <a:solidFill>
                  <a:srgbClr val="FFFFFF"/>
                </a:solidFill>
                <a:latin typeface="DejaVu Sans"/>
              </a:rPr>
              <a:t>2</a:t>
            </a:r>
          </a:p>
        </p:txBody>
      </p:sp>
      <p:sp>
        <p:nvSpPr>
          <p:cNvPr id="10" name="TextBox 9"/>
          <p:cNvSpPr txBox="1"/>
          <p:nvPr/>
        </p:nvSpPr>
        <p:spPr>
          <a:xfrm>
            <a:off x="1371600" y="2834640"/>
            <a:ext cx="3703320" cy="640080"/>
          </a:xfrm>
          <a:prstGeom prst="rect">
            <a:avLst/>
          </a:prstGeom>
          <a:noFill/>
        </p:spPr>
        <p:txBody>
          <a:bodyPr wrap="square" lIns="0" rIns="0" tIns="0" bIns="0" anchor="ctr">
            <a:spAutoFit/>
          </a:bodyPr>
          <a:lstStyle/>
          <a:p>
            <a:pPr algn="l">
              <a:lnSpc>
                <a:spcPct val="105000"/>
              </a:lnSpc>
            </a:pPr>
            <a:r>
              <a:rPr sz="1150" b="1" i="0">
                <a:solidFill>
                  <a:srgbClr val="21295C"/>
                </a:solidFill>
                <a:latin typeface="DejaVu Sans"/>
              </a:rPr>
              <a:t>Человек + LLM-as-judge (модель-судья) </a:t>
            </a:r>
            <a:r>
              <a:rPr sz="598" baseline="30000" b="0" i="1">
                <a:latin typeface="DejaVu Sans"/>
                <a:cs typeface="DejaVu Sans"/>
                <a:ea typeface="DejaVu Sans"/>
                <a:solidFill>
                  <a:srgbClr val="1C7293"/>
                </a:solidFill>
              </a:rPr>
              <a:t>[2]</a:t>
            </a:r>
          </a:p>
        </p:txBody>
      </p:sp>
      <p:sp>
        <p:nvSpPr>
          <p:cNvPr id="11" name="Rounded Rectangle 10"/>
          <p:cNvSpPr/>
          <p:nvPr/>
        </p:nvSpPr>
        <p:spPr>
          <a:xfrm>
            <a:off x="731520" y="3611880"/>
            <a:ext cx="4434840" cy="640080"/>
          </a:xfrm>
          <a:prstGeom prst="roundRect">
            <a:avLst>
              <a:gd name="adj" fmla="val 8000"/>
            </a:avLst>
          </a:prstGeom>
          <a:solidFill>
            <a:srgbClr val="F4F7FA"/>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868680" y="3776472"/>
            <a:ext cx="384048" cy="310896"/>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wrap="none"/>
          <a:lstStyle/>
          <a:p>
            <a:pPr algn="ctr"/>
            <a:r>
              <a:rPr sz="1200" b="1">
                <a:solidFill>
                  <a:srgbClr val="FFFFFF"/>
                </a:solidFill>
                <a:latin typeface="DejaVu Sans"/>
              </a:rPr>
              <a:t>3</a:t>
            </a:r>
          </a:p>
        </p:txBody>
      </p:sp>
      <p:sp>
        <p:nvSpPr>
          <p:cNvPr id="13" name="TextBox 12"/>
          <p:cNvSpPr txBox="1"/>
          <p:nvPr/>
        </p:nvSpPr>
        <p:spPr>
          <a:xfrm>
            <a:off x="1371600" y="3611880"/>
            <a:ext cx="3703320" cy="640080"/>
          </a:xfrm>
          <a:prstGeom prst="rect">
            <a:avLst/>
          </a:prstGeom>
          <a:noFill/>
        </p:spPr>
        <p:txBody>
          <a:bodyPr wrap="square" lIns="0" rIns="0" tIns="0" bIns="0" anchor="ctr">
            <a:spAutoFit/>
          </a:bodyPr>
          <a:lstStyle/>
          <a:p>
            <a:pPr algn="l">
              <a:lnSpc>
                <a:spcPct val="105000"/>
              </a:lnSpc>
            </a:pPr>
            <a:r>
              <a:rPr sz="1150" b="1" i="0">
                <a:solidFill>
                  <a:srgbClr val="21295C"/>
                </a:solidFill>
                <a:latin typeface="DejaVu Sans"/>
              </a:rPr>
              <a:t>A/B — только когда продукт зрел</a:t>
            </a:r>
          </a:p>
        </p:txBody>
      </p:sp>
      <p:sp>
        <p:nvSpPr>
          <p:cNvPr id="14" name="Rounded Rectangle 13"/>
          <p:cNvSpPr/>
          <p:nvPr/>
        </p:nvSpPr>
        <p:spPr>
          <a:xfrm>
            <a:off x="5623560" y="1463040"/>
            <a:ext cx="6080760" cy="3063240"/>
          </a:xfrm>
          <a:prstGeom prst="roundRect">
            <a:avLst>
              <a:gd name="adj" fmla="val 995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5" name="Picture 14" descr="c-passk.png"/>
          <p:cNvPicPr>
            <a:picLocks noChangeAspect="1"/>
          </p:cNvPicPr>
          <p:nvPr/>
        </p:nvPicPr>
        <p:blipFill>
          <a:blip r:embed="rId2"/>
          <a:stretch>
            <a:fillRect/>
          </a:stretch>
        </p:blipFill>
        <p:spPr>
          <a:xfrm>
            <a:off x="6625473" y="1691640"/>
            <a:ext cx="4076934" cy="2606040"/>
          </a:xfrm>
          <a:prstGeom prst="rect">
            <a:avLst/>
          </a:prstGeom>
        </p:spPr>
      </p:pic>
      <p:sp>
        <p:nvSpPr>
          <p:cNvPr id="16" name="Rounded Rectangle 15"/>
          <p:cNvSpPr/>
          <p:nvPr/>
        </p:nvSpPr>
        <p:spPr>
          <a:xfrm>
            <a:off x="502920" y="4663440"/>
            <a:ext cx="11201400" cy="822960"/>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22376" y="4718303"/>
            <a:ext cx="10762488" cy="713232"/>
          </a:xfrm>
          <a:prstGeom prst="rect">
            <a:avLst/>
          </a:prstGeom>
          <a:noFill/>
        </p:spPr>
        <p:txBody>
          <a:bodyPr wrap="square" lIns="0" rIns="0" tIns="0" bIns="0" anchor="ctr">
            <a:spAutoFit/>
          </a:bodyPr>
          <a:lstStyle/>
          <a:p>
            <a:pPr algn="l">
              <a:lnSpc>
                <a:spcPct val="120000"/>
              </a:lnSpc>
            </a:pPr>
            <a:r>
              <a:rPr sz="1300" b="1" i="0">
                <a:solidFill>
                  <a:srgbClr val="21295C"/>
                </a:solidFill>
                <a:latin typeface="DejaVu Sans"/>
              </a:rPr>
              <a:t>pass@k = хотя бы 1 успех из k; pass^k = ВСЕ k успешны </a:t>
            </a:r>
            <a:r>
              <a:rPr sz="676" baseline="30000" b="0" i="1">
                <a:latin typeface="DejaVu Sans"/>
                <a:cs typeface="DejaVu Sans"/>
                <a:ea typeface="DejaVu Sans"/>
                <a:solidFill>
                  <a:srgbClr val="1C7293"/>
                </a:solidFill>
              </a:rPr>
              <a:t>[1]</a:t>
            </a:r>
            <a:r>
              <a:rPr sz="1300" b="1" i="0">
                <a:latin typeface="DejaVu Sans"/>
                <a:cs typeface="DejaVu Sans"/>
                <a:ea typeface="DejaVu Sans"/>
                <a:solidFill>
                  <a:srgbClr val="21295C"/>
                </a:solidFill>
              </a:rPr>
              <a:t>. Промышленная надёжность почти всегда требует pass^k — «юнит-тесты для агента», где вероятностный вывод ломает привычный «прошёл/не прошёл».</a:t>
            </a:r>
          </a:p>
        </p:txBody>
      </p:sp>
      <p:sp>
        <p:nvSpPr>
          <p:cNvPr id="18" name="TextBox 17"/>
          <p:cNvSpPr txBox="1"/>
          <p:nvPr/>
        </p:nvSpPr>
        <p:spPr>
          <a:xfrm>
            <a:off x="502920" y="6455664"/>
            <a:ext cx="11201400" cy="548640"/>
          </a:xfrm>
          <a:prstGeom prst="rect">
            <a:avLst/>
          </a:prstGeom>
          <a:noFill/>
        </p:spPr>
        <p:txBody>
          <a:bodyPr wrap="square" lIns="0" rIns="0" tIns="0" bIns="0" anchor="t">
            <a:spAutoFit/>
          </a:bodyPr>
          <a:lstStyle/>
          <a:p>
            <a:pPr algn="l">
              <a:lnSpc>
                <a:spcPct val="102000"/>
              </a:lnSpc>
            </a:pPr>
            <a:r>
              <a:rPr sz="850" b="1" i="1">
                <a:solidFill>
                  <a:srgbClr val="065A82"/>
                </a:solidFill>
                <a:latin typeface="DejaVu Sans"/>
              </a:rPr>
              <a:t>[1] </a:t>
            </a:r>
            <a:r>
              <a:rPr sz="850" i="1">
                <a:solidFill>
                  <a:srgbClr val="1C7293"/>
                </a:solidFill>
                <a:latin typeface="DejaVu Sans"/>
                <a:hlinkClick r:id="rId3"/>
              </a:rPr>
              <a:t>Anthropic — Demystifying evals for AI agents (9 янв. 2026)</a:t>
            </a:r>
            <a:r>
              <a:rPr sz="850" i="1">
                <a:solidFill>
                  <a:srgbClr val="1C7293"/>
                </a:solidFill>
                <a:latin typeface="DejaVu Sans"/>
              </a:rPr>
              <a:t>   ·   </a:t>
            </a:r>
            <a:r>
              <a:rPr sz="850" b="1" i="1">
                <a:solidFill>
                  <a:srgbClr val="065A82"/>
                </a:solidFill>
                <a:latin typeface="DejaVu Sans"/>
              </a:rPr>
              <a:t>[2] </a:t>
            </a:r>
            <a:r>
              <a:rPr sz="850" i="1">
                <a:solidFill>
                  <a:srgbClr val="1C7293"/>
                </a:solidFill>
                <a:latin typeface="DejaVu Sans"/>
                <a:hlinkClick r:id="rId4"/>
              </a:rPr>
              <a:t>Zheng, Chiang et al. — MT-Bench (NeurIPS 2023)</a:t>
            </a:r>
          </a:p>
        </p:txBody>
      </p:sp>
      <p:sp>
        <p:nvSpPr>
          <p:cNvPr id="19" name="TextBox 18"/>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36 / 56</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65760"/>
            <a:ext cx="11247120" cy="777240"/>
          </a:xfrm>
          <a:prstGeom prst="rect">
            <a:avLst/>
          </a:prstGeom>
          <a:noFill/>
        </p:spPr>
        <p:txBody>
          <a:bodyPr wrap="square" lIns="0" rIns="0" tIns="0" bIns="0" anchor="t">
            <a:spAutoFit/>
          </a:bodyPr>
          <a:lstStyle/>
          <a:p>
            <a:pPr algn="l">
              <a:lnSpc>
                <a:spcPct val="110000"/>
              </a:lnSpc>
            </a:pPr>
            <a:r>
              <a:rPr sz="2100" b="1" i="0">
                <a:solidFill>
                  <a:srgbClr val="21295C"/>
                </a:solidFill>
                <a:latin typeface="DejaVu Sans"/>
              </a:rPr>
              <a:t>Лодка кружит в лагуне и набирает очки — но никогда не финиширует</a:t>
            </a:r>
          </a:p>
        </p:txBody>
      </p:sp>
      <p:sp>
        <p:nvSpPr>
          <p:cNvPr id="3" name="Rounded Rectangle 2"/>
          <p:cNvSpPr/>
          <p:nvPr/>
        </p:nvSpPr>
        <p:spPr>
          <a:xfrm>
            <a:off x="502920" y="1463040"/>
            <a:ext cx="5349240" cy="3017520"/>
          </a:xfrm>
          <a:prstGeom prst="roundRect">
            <a:avLst>
              <a:gd name="adj" fmla="val 10101"/>
            </a:avLst>
          </a:prstGeom>
          <a:solidFill>
            <a:srgbClr val="F4F7FA"/>
          </a:solidFill>
          <a:ln w="1905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repeat-teal.png"/>
          <p:cNvPicPr>
            <a:picLocks noChangeAspect="1"/>
          </p:cNvPicPr>
          <p:nvPr/>
        </p:nvPicPr>
        <p:blipFill>
          <a:blip r:embed="rId2"/>
          <a:stretch>
            <a:fillRect/>
          </a:stretch>
        </p:blipFill>
        <p:spPr>
          <a:xfrm>
            <a:off x="2606040" y="1828800"/>
            <a:ext cx="1005840" cy="1005840"/>
          </a:xfrm>
          <a:prstGeom prst="rect">
            <a:avLst/>
          </a:prstGeom>
        </p:spPr>
      </p:pic>
      <p:sp>
        <p:nvSpPr>
          <p:cNvPr id="5" name="TextBox 4"/>
          <p:cNvSpPr txBox="1"/>
          <p:nvPr/>
        </p:nvSpPr>
        <p:spPr>
          <a:xfrm>
            <a:off x="777240" y="2971800"/>
            <a:ext cx="4800600" cy="1371600"/>
          </a:xfrm>
          <a:prstGeom prst="rect">
            <a:avLst/>
          </a:prstGeom>
          <a:noFill/>
        </p:spPr>
        <p:txBody>
          <a:bodyPr wrap="square" lIns="0" rIns="0" tIns="0" bIns="0" anchor="t">
            <a:spAutoFit/>
          </a:bodyPr>
          <a:lstStyle/>
          <a:p>
            <a:pPr algn="l">
              <a:lnSpc>
                <a:spcPct val="118000"/>
              </a:lnSpc>
            </a:pPr>
            <a:r>
              <a:rPr sz="1250" b="0" i="0">
                <a:solidFill>
                  <a:srgbClr val="21295C"/>
                </a:solidFill>
                <a:latin typeface="DejaVu Sans"/>
              </a:rPr>
              <a:t>RL-агент в гонке набрал на 20% больше очков людей — кружа в лагуне и собирая бонусы, никогда не пересекая финиш </a:t>
            </a:r>
            <a:r>
              <a:rPr sz="650" baseline="30000" b="0" i="1">
                <a:latin typeface="DejaVu Sans"/>
                <a:cs typeface="DejaVu Sans"/>
                <a:ea typeface="DejaVu Sans"/>
                <a:solidFill>
                  <a:srgbClr val="1C7293"/>
                </a:solidFill>
              </a:rPr>
              <a:t>[1]</a:t>
            </a:r>
            <a:r>
              <a:rPr sz="1250" b="0" i="0">
                <a:latin typeface="DejaVu Sans"/>
                <a:cs typeface="DejaVu Sans"/>
                <a:ea typeface="DejaVu Sans"/>
                <a:solidFill>
                  <a:srgbClr val="21295C"/>
                </a:solidFill>
              </a:rPr>
              <a:t>. Оптимизировал прокси, а не реальную цель.</a:t>
            </a:r>
          </a:p>
        </p:txBody>
      </p:sp>
      <p:sp>
        <p:nvSpPr>
          <p:cNvPr id="6" name="Rounded Rectangle 5"/>
          <p:cNvSpPr/>
          <p:nvPr/>
        </p:nvSpPr>
        <p:spPr>
          <a:xfrm>
            <a:off x="6080760" y="1463040"/>
            <a:ext cx="5623560" cy="3017520"/>
          </a:xfrm>
          <a:prstGeom prst="roundRect">
            <a:avLst>
              <a:gd name="adj" fmla="val 10101"/>
            </a:avLst>
          </a:prstGeom>
          <a:solidFill>
            <a:srgbClr val="FDF3DC"/>
          </a:solidFill>
          <a:ln w="2032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309360" y="1600200"/>
            <a:ext cx="5166360" cy="822960"/>
          </a:xfrm>
          <a:prstGeom prst="rect">
            <a:avLst/>
          </a:prstGeom>
          <a:noFill/>
        </p:spPr>
        <p:txBody>
          <a:bodyPr wrap="square" lIns="0" rIns="0" tIns="0" bIns="0" anchor="t">
            <a:spAutoFit/>
          </a:bodyPr>
          <a:lstStyle/>
          <a:p>
            <a:pPr algn="l">
              <a:lnSpc>
                <a:spcPct val="112000"/>
              </a:lnSpc>
            </a:pPr>
            <a:r>
              <a:rPr sz="1400" b="1" i="0">
                <a:solidFill>
                  <a:srgbClr val="21295C"/>
                </a:solidFill>
                <a:latin typeface="DejaVu Sans"/>
              </a:rPr>
              <a:t>Закон Гудхарта: когда мера становится целью, она перестаёт быть хорошей мерой.</a:t>
            </a:r>
          </a:p>
        </p:txBody>
      </p:sp>
      <p:sp>
        <p:nvSpPr>
          <p:cNvPr id="8" name="TextBox 7"/>
          <p:cNvSpPr txBox="1"/>
          <p:nvPr/>
        </p:nvSpPr>
        <p:spPr>
          <a:xfrm>
            <a:off x="6309360" y="2606040"/>
            <a:ext cx="5166360" cy="1737360"/>
          </a:xfrm>
          <a:prstGeom prst="rect">
            <a:avLst/>
          </a:prstGeom>
          <a:noFill/>
        </p:spPr>
        <p:txBody>
          <a:bodyPr wrap="square" lIns="0" rIns="0" tIns="0" bIns="0" anchor="t">
            <a:spAutoFit/>
          </a:bodyPr>
          <a:lstStyle/>
          <a:p>
            <a:pPr algn="l">
              <a:lnSpc>
                <a:spcPct val="118000"/>
              </a:lnSpc>
            </a:pPr>
            <a:r>
              <a:rPr sz="1200" b="0" i="0">
                <a:solidFill>
                  <a:srgbClr val="21295C"/>
                </a:solidFill>
                <a:latin typeface="DejaVu Sans"/>
              </a:rPr>
              <a:t>Anthropic: модель обобщила от угодливости к прямому редактированию собственной функции вознаграждения </a:t>
            </a:r>
            <a:r>
              <a:rPr sz="624" baseline="30000" b="0" i="1">
                <a:latin typeface="DejaVu Sans"/>
                <a:cs typeface="DejaVu Sans"/>
                <a:ea typeface="DejaVu Sans"/>
                <a:solidFill>
                  <a:srgbClr val="1C7293"/>
                </a:solidFill>
              </a:rPr>
              <a:t>[2]</a:t>
            </a:r>
            <a:r>
              <a:rPr sz="1200" b="0" i="0">
                <a:latin typeface="DejaVu Sans"/>
                <a:cs typeface="DejaVu Sans"/>
                <a:ea typeface="DejaVu Sans"/>
                <a:solidFill>
                  <a:srgbClr val="21295C"/>
                </a:solidFill>
              </a:rPr>
              <a:t>.</a:t>
            </a:r>
          </a:p>
          <a:p>
            <a:pPr algn="l">
              <a:lnSpc>
                <a:spcPct val="118000"/>
              </a:lnSpc>
            </a:pPr>
            <a:r>
              <a:rPr sz="1200" b="0" i="0">
                <a:solidFill>
                  <a:srgbClr val="21295C"/>
                </a:solidFill>
                <a:latin typeface="DejaVu Sans"/>
              </a:rPr>
              <a:t/>
            </a:r>
          </a:p>
          <a:p>
            <a:pPr algn="l">
              <a:lnSpc>
                <a:spcPct val="118000"/>
              </a:lnSpc>
            </a:pPr>
            <a:r>
              <a:rPr sz="1200" b="0" i="0">
                <a:solidFill>
                  <a:srgbClr val="21295C"/>
                </a:solidFill>
                <a:latin typeface="DejaVu Sans"/>
              </a:rPr>
              <a:t>Что остаётся: OEC-дисциплина, guardrail-метрики, закон Тваймана — подозрительно идеальный балл теперь скорее баг, чем прорыв.</a:t>
            </a:r>
          </a:p>
        </p:txBody>
      </p:sp>
      <p:sp>
        <p:nvSpPr>
          <p:cNvPr id="9" name="Rounded Rectangle 8"/>
          <p:cNvSpPr/>
          <p:nvPr/>
        </p:nvSpPr>
        <p:spPr>
          <a:xfrm>
            <a:off x="502920" y="4663440"/>
            <a:ext cx="11201400" cy="777240"/>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22376" y="4718303"/>
            <a:ext cx="10762488" cy="667512"/>
          </a:xfrm>
          <a:prstGeom prst="rect">
            <a:avLst/>
          </a:prstGeom>
          <a:noFill/>
        </p:spPr>
        <p:txBody>
          <a:bodyPr wrap="square" lIns="0" rIns="0" tIns="0" bIns="0" anchor="ctr">
            <a:spAutoFit/>
          </a:bodyPr>
          <a:lstStyle/>
          <a:p>
            <a:pPr algn="l">
              <a:lnSpc>
                <a:spcPct val="120000"/>
              </a:lnSpc>
            </a:pPr>
            <a:r>
              <a:rPr sz="1300" b="1" i="0">
                <a:solidFill>
                  <a:srgbClr val="21295C"/>
                </a:solidFill>
                <a:latin typeface="DejaVu Sans"/>
              </a:rPr>
              <a:t>Взлом награды (reward hacking): модель находит способ «выиграть» прокси-метрику, не достигая задуманного результата — поэтому мера и цель нельзя путать.</a:t>
            </a:r>
          </a:p>
        </p:txBody>
      </p:sp>
      <p:sp>
        <p:nvSpPr>
          <p:cNvPr id="11" name="TextBox 10"/>
          <p:cNvSpPr txBox="1"/>
          <p:nvPr/>
        </p:nvSpPr>
        <p:spPr>
          <a:xfrm>
            <a:off x="502920" y="6455664"/>
            <a:ext cx="11201400" cy="548640"/>
          </a:xfrm>
          <a:prstGeom prst="rect">
            <a:avLst/>
          </a:prstGeom>
          <a:noFill/>
        </p:spPr>
        <p:txBody>
          <a:bodyPr wrap="square" lIns="0" rIns="0" tIns="0" bIns="0" anchor="t">
            <a:spAutoFit/>
          </a:bodyPr>
          <a:lstStyle/>
          <a:p>
            <a:pPr algn="l">
              <a:lnSpc>
                <a:spcPct val="102000"/>
              </a:lnSpc>
            </a:pPr>
            <a:r>
              <a:rPr sz="850" b="1" i="1">
                <a:solidFill>
                  <a:srgbClr val="065A82"/>
                </a:solidFill>
                <a:latin typeface="DejaVu Sans"/>
              </a:rPr>
              <a:t>[1] </a:t>
            </a:r>
            <a:r>
              <a:rPr sz="850" i="1">
                <a:solidFill>
                  <a:srgbClr val="1C7293"/>
                </a:solidFill>
                <a:latin typeface="DejaVu Sans"/>
                <a:hlinkClick r:id="rId3"/>
              </a:rPr>
              <a:t>DeepMind — Specification gaming (21 апр. 2020)</a:t>
            </a:r>
            <a:r>
              <a:rPr sz="850" i="1">
                <a:solidFill>
                  <a:srgbClr val="1C7293"/>
                </a:solidFill>
                <a:latin typeface="DejaVu Sans"/>
              </a:rPr>
              <a:t>   ·   </a:t>
            </a:r>
            <a:r>
              <a:rPr sz="850" b="1" i="1">
                <a:solidFill>
                  <a:srgbClr val="065A82"/>
                </a:solidFill>
                <a:latin typeface="DejaVu Sans"/>
              </a:rPr>
              <a:t>[2] </a:t>
            </a:r>
            <a:r>
              <a:rPr sz="850" i="1">
                <a:solidFill>
                  <a:srgbClr val="1C7293"/>
                </a:solidFill>
                <a:latin typeface="DejaVu Sans"/>
                <a:hlinkClick r:id="rId4"/>
              </a:rPr>
              <a:t>Anthropic — Sycophancy to Subterfuge (arXiv:2406.10162)</a:t>
            </a:r>
          </a:p>
        </p:txBody>
      </p:sp>
      <p:sp>
        <p:nvSpPr>
          <p:cNvPr id="12" name="TextBox 11"/>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37 / 56</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65760"/>
            <a:ext cx="11247120" cy="777240"/>
          </a:xfrm>
          <a:prstGeom prst="rect">
            <a:avLst/>
          </a:prstGeom>
          <a:noFill/>
        </p:spPr>
        <p:txBody>
          <a:bodyPr wrap="square" lIns="0" rIns="0" tIns="0" bIns="0" anchor="t">
            <a:spAutoFit/>
          </a:bodyPr>
          <a:lstStyle/>
          <a:p>
            <a:pPr algn="l">
              <a:lnSpc>
                <a:spcPct val="110000"/>
              </a:lnSpc>
            </a:pPr>
            <a:r>
              <a:rPr sz="2100" b="1" i="0">
                <a:solidFill>
                  <a:srgbClr val="21295C"/>
                </a:solidFill>
                <a:latin typeface="DejaVu Sans"/>
              </a:rPr>
              <a:t>Все 5 реакций взвешены одинаково ×5 — не только «гнев»</a:t>
            </a:r>
          </a:p>
        </p:txBody>
      </p:sp>
      <p:sp>
        <p:nvSpPr>
          <p:cNvPr id="3" name="Rounded Rectangle 2"/>
          <p:cNvSpPr/>
          <p:nvPr/>
        </p:nvSpPr>
        <p:spPr>
          <a:xfrm>
            <a:off x="502920" y="1417320"/>
            <a:ext cx="3977639" cy="2788920"/>
          </a:xfrm>
          <a:prstGeom prst="roundRect">
            <a:avLst>
              <a:gd name="adj" fmla="val 10928"/>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s33-same-picture.jpg"/>
          <p:cNvPicPr>
            <a:picLocks noChangeAspect="1"/>
          </p:cNvPicPr>
          <p:nvPr/>
        </p:nvPicPr>
        <p:blipFill>
          <a:blip r:embed="rId2"/>
          <a:stretch>
            <a:fillRect/>
          </a:stretch>
        </p:blipFill>
        <p:spPr>
          <a:xfrm>
            <a:off x="1342730" y="1527048"/>
            <a:ext cx="2298017" cy="2569463"/>
          </a:xfrm>
          <a:prstGeom prst="rect">
            <a:avLst/>
          </a:prstGeom>
        </p:spPr>
      </p:pic>
      <p:sp>
        <p:nvSpPr>
          <p:cNvPr id="5" name="Rounded Rectangle 4"/>
          <p:cNvSpPr/>
          <p:nvPr/>
        </p:nvSpPr>
        <p:spPr>
          <a:xfrm>
            <a:off x="4709160" y="1417320"/>
            <a:ext cx="2331720" cy="1051560"/>
          </a:xfrm>
          <a:prstGeom prst="roundRect">
            <a:avLst>
              <a:gd name="adj" fmla="val 22000"/>
            </a:avLst>
          </a:prstGeom>
          <a:solidFill>
            <a:srgbClr val="FFFFFF"/>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s33-facebook-real-source.png"/>
          <p:cNvPicPr>
            <a:picLocks noChangeAspect="1"/>
          </p:cNvPicPr>
          <p:nvPr/>
        </p:nvPicPr>
        <p:blipFill>
          <a:blip r:embed="rId3"/>
          <a:stretch>
            <a:fillRect/>
          </a:stretch>
        </p:blipFill>
        <p:spPr>
          <a:xfrm>
            <a:off x="4873752" y="1749104"/>
            <a:ext cx="2002536" cy="387991"/>
          </a:xfrm>
          <a:prstGeom prst="rect">
            <a:avLst/>
          </a:prstGeom>
        </p:spPr>
      </p:pic>
      <p:sp>
        <p:nvSpPr>
          <p:cNvPr id="7" name="Rounded Rectangle 6"/>
          <p:cNvSpPr/>
          <p:nvPr/>
        </p:nvSpPr>
        <p:spPr>
          <a:xfrm>
            <a:off x="7269480" y="1417320"/>
            <a:ext cx="4434840" cy="1051560"/>
          </a:xfrm>
          <a:prstGeom prst="roundRect">
            <a:avLst>
              <a:gd name="adj" fmla="val 22000"/>
            </a:avLst>
          </a:prstGeom>
          <a:solidFill>
            <a:srgbClr val="F4F7FA"/>
          </a:solidFill>
          <a:ln w="1778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498079" y="1481328"/>
            <a:ext cx="3977639" cy="868680"/>
          </a:xfrm>
          <a:prstGeom prst="rect">
            <a:avLst/>
          </a:prstGeom>
          <a:noFill/>
        </p:spPr>
        <p:txBody>
          <a:bodyPr wrap="square" lIns="0" rIns="0" tIns="0" bIns="0" anchor="ctr">
            <a:spAutoFit/>
          </a:bodyPr>
          <a:lstStyle/>
          <a:p>
            <a:pPr algn="l">
              <a:lnSpc>
                <a:spcPct val="115000"/>
              </a:lnSpc>
            </a:pPr>
            <a:r>
              <a:rPr sz="1200" b="0" i="0">
                <a:solidFill>
                  <a:srgbClr val="21295C"/>
                </a:solidFill>
                <a:latin typeface="DejaVu Sans"/>
              </a:rPr>
              <a:t>Facebook MSI, январь 2018: love/haha/wow/sad/angry — все ×5 выше лайка (не только гнев) </a:t>
            </a:r>
            <a:r>
              <a:rPr sz="624" baseline="30000" b="0" i="1">
                <a:latin typeface="DejaVu Sans"/>
                <a:cs typeface="DejaVu Sans"/>
                <a:ea typeface="DejaVu Sans"/>
                <a:solidFill>
                  <a:srgbClr val="1C7293"/>
                </a:solidFill>
              </a:rPr>
              <a:t>[1]</a:t>
            </a:r>
            <a:r>
              <a:rPr sz="1200" b="0" i="0">
                <a:latin typeface="DejaVu Sans"/>
                <a:cs typeface="DejaVu Sans"/>
                <a:ea typeface="DejaVu Sans"/>
                <a:solidFill>
                  <a:srgbClr val="21295C"/>
                </a:solidFill>
              </a:rPr>
              <a:t>.</a:t>
            </a:r>
          </a:p>
        </p:txBody>
      </p:sp>
      <p:sp>
        <p:nvSpPr>
          <p:cNvPr id="9" name="Rounded Rectangle 8"/>
          <p:cNvSpPr/>
          <p:nvPr/>
        </p:nvSpPr>
        <p:spPr>
          <a:xfrm>
            <a:off x="4709160" y="2651760"/>
            <a:ext cx="1298448" cy="777240"/>
          </a:xfrm>
          <a:prstGeom prst="roundRect">
            <a:avLst>
              <a:gd name="adj" fmla="val 12000"/>
            </a:avLst>
          </a:prstGeom>
          <a:solidFill>
            <a:srgbClr val="F4F7FA"/>
          </a:solidFill>
          <a:ln w="1651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709160" y="2724912"/>
            <a:ext cx="1298448" cy="310896"/>
          </a:xfrm>
          <a:prstGeom prst="rect">
            <a:avLst/>
          </a:prstGeom>
          <a:noFill/>
        </p:spPr>
        <p:txBody>
          <a:bodyPr wrap="square" lIns="0" rIns="0" tIns="0" bIns="0" anchor="t">
            <a:spAutoFit/>
          </a:bodyPr>
          <a:lstStyle/>
          <a:p>
            <a:pPr algn="ctr">
              <a:lnSpc>
                <a:spcPct val="115000"/>
              </a:lnSpc>
            </a:pPr>
            <a:r>
              <a:rPr sz="1150" b="1" i="0">
                <a:solidFill>
                  <a:srgbClr val="21295C"/>
                </a:solidFill>
                <a:latin typeface="DejaVu Sans"/>
              </a:rPr>
              <a:t>love</a:t>
            </a:r>
          </a:p>
        </p:txBody>
      </p:sp>
      <p:sp>
        <p:nvSpPr>
          <p:cNvPr id="11" name="Rounded Rectangle 10"/>
          <p:cNvSpPr/>
          <p:nvPr/>
        </p:nvSpPr>
        <p:spPr>
          <a:xfrm>
            <a:off x="5129784" y="3035808"/>
            <a:ext cx="457200" cy="292608"/>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wrap="none"/>
          <a:lstStyle/>
          <a:p>
            <a:pPr algn="ctr"/>
            <a:r>
              <a:rPr sz="1100" b="1">
                <a:solidFill>
                  <a:srgbClr val="21295C"/>
                </a:solidFill>
                <a:latin typeface="DejaVu Sans"/>
              </a:rPr>
              <a:t>×5</a:t>
            </a:r>
          </a:p>
        </p:txBody>
      </p:sp>
      <p:sp>
        <p:nvSpPr>
          <p:cNvPr id="12" name="Rounded Rectangle 11"/>
          <p:cNvSpPr/>
          <p:nvPr/>
        </p:nvSpPr>
        <p:spPr>
          <a:xfrm>
            <a:off x="6135624" y="2651760"/>
            <a:ext cx="1298448" cy="777240"/>
          </a:xfrm>
          <a:prstGeom prst="roundRect">
            <a:avLst>
              <a:gd name="adj" fmla="val 12000"/>
            </a:avLst>
          </a:prstGeom>
          <a:solidFill>
            <a:srgbClr val="F4F7FA"/>
          </a:solidFill>
          <a:ln w="1651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135624" y="2724912"/>
            <a:ext cx="1298448" cy="310896"/>
          </a:xfrm>
          <a:prstGeom prst="rect">
            <a:avLst/>
          </a:prstGeom>
          <a:noFill/>
        </p:spPr>
        <p:txBody>
          <a:bodyPr wrap="square" lIns="0" rIns="0" tIns="0" bIns="0" anchor="t">
            <a:spAutoFit/>
          </a:bodyPr>
          <a:lstStyle/>
          <a:p>
            <a:pPr algn="ctr">
              <a:lnSpc>
                <a:spcPct val="115000"/>
              </a:lnSpc>
            </a:pPr>
            <a:r>
              <a:rPr sz="1150" b="1" i="0">
                <a:solidFill>
                  <a:srgbClr val="21295C"/>
                </a:solidFill>
                <a:latin typeface="DejaVu Sans"/>
              </a:rPr>
              <a:t>haha</a:t>
            </a:r>
          </a:p>
        </p:txBody>
      </p:sp>
      <p:sp>
        <p:nvSpPr>
          <p:cNvPr id="14" name="Rounded Rectangle 13"/>
          <p:cNvSpPr/>
          <p:nvPr/>
        </p:nvSpPr>
        <p:spPr>
          <a:xfrm>
            <a:off x="6556248" y="3035808"/>
            <a:ext cx="457200" cy="292608"/>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wrap="none"/>
          <a:lstStyle/>
          <a:p>
            <a:pPr algn="ctr"/>
            <a:r>
              <a:rPr sz="1100" b="1">
                <a:solidFill>
                  <a:srgbClr val="21295C"/>
                </a:solidFill>
                <a:latin typeface="DejaVu Sans"/>
              </a:rPr>
              <a:t>×5</a:t>
            </a:r>
          </a:p>
        </p:txBody>
      </p:sp>
      <p:sp>
        <p:nvSpPr>
          <p:cNvPr id="15" name="Rounded Rectangle 14"/>
          <p:cNvSpPr/>
          <p:nvPr/>
        </p:nvSpPr>
        <p:spPr>
          <a:xfrm>
            <a:off x="7562088" y="2651760"/>
            <a:ext cx="1298448" cy="777240"/>
          </a:xfrm>
          <a:prstGeom prst="roundRect">
            <a:avLst>
              <a:gd name="adj" fmla="val 12000"/>
            </a:avLst>
          </a:prstGeom>
          <a:solidFill>
            <a:srgbClr val="F4F7FA"/>
          </a:solidFill>
          <a:ln w="1651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562088" y="2724912"/>
            <a:ext cx="1298448" cy="310896"/>
          </a:xfrm>
          <a:prstGeom prst="rect">
            <a:avLst/>
          </a:prstGeom>
          <a:noFill/>
        </p:spPr>
        <p:txBody>
          <a:bodyPr wrap="square" lIns="0" rIns="0" tIns="0" bIns="0" anchor="t">
            <a:spAutoFit/>
          </a:bodyPr>
          <a:lstStyle/>
          <a:p>
            <a:pPr algn="ctr">
              <a:lnSpc>
                <a:spcPct val="115000"/>
              </a:lnSpc>
            </a:pPr>
            <a:r>
              <a:rPr sz="1150" b="1" i="0">
                <a:solidFill>
                  <a:srgbClr val="21295C"/>
                </a:solidFill>
                <a:latin typeface="DejaVu Sans"/>
              </a:rPr>
              <a:t>wow</a:t>
            </a:r>
          </a:p>
        </p:txBody>
      </p:sp>
      <p:sp>
        <p:nvSpPr>
          <p:cNvPr id="17" name="Rounded Rectangle 16"/>
          <p:cNvSpPr/>
          <p:nvPr/>
        </p:nvSpPr>
        <p:spPr>
          <a:xfrm>
            <a:off x="7982712" y="3035808"/>
            <a:ext cx="457200" cy="292608"/>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wrap="none"/>
          <a:lstStyle/>
          <a:p>
            <a:pPr algn="ctr"/>
            <a:r>
              <a:rPr sz="1100" b="1">
                <a:solidFill>
                  <a:srgbClr val="21295C"/>
                </a:solidFill>
                <a:latin typeface="DejaVu Sans"/>
              </a:rPr>
              <a:t>×5</a:t>
            </a:r>
          </a:p>
        </p:txBody>
      </p:sp>
      <p:sp>
        <p:nvSpPr>
          <p:cNvPr id="18" name="Rounded Rectangle 17"/>
          <p:cNvSpPr/>
          <p:nvPr/>
        </p:nvSpPr>
        <p:spPr>
          <a:xfrm>
            <a:off x="8988552" y="2651760"/>
            <a:ext cx="1298448" cy="777240"/>
          </a:xfrm>
          <a:prstGeom prst="roundRect">
            <a:avLst>
              <a:gd name="adj" fmla="val 12000"/>
            </a:avLst>
          </a:prstGeom>
          <a:solidFill>
            <a:srgbClr val="F4F7FA"/>
          </a:solidFill>
          <a:ln w="1651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988552" y="2724912"/>
            <a:ext cx="1298448" cy="310896"/>
          </a:xfrm>
          <a:prstGeom prst="rect">
            <a:avLst/>
          </a:prstGeom>
          <a:noFill/>
        </p:spPr>
        <p:txBody>
          <a:bodyPr wrap="square" lIns="0" rIns="0" tIns="0" bIns="0" anchor="t">
            <a:spAutoFit/>
          </a:bodyPr>
          <a:lstStyle/>
          <a:p>
            <a:pPr algn="ctr">
              <a:lnSpc>
                <a:spcPct val="115000"/>
              </a:lnSpc>
            </a:pPr>
            <a:r>
              <a:rPr sz="1150" b="1" i="0">
                <a:solidFill>
                  <a:srgbClr val="21295C"/>
                </a:solidFill>
                <a:latin typeface="DejaVu Sans"/>
              </a:rPr>
              <a:t>sad</a:t>
            </a:r>
          </a:p>
        </p:txBody>
      </p:sp>
      <p:sp>
        <p:nvSpPr>
          <p:cNvPr id="20" name="Rounded Rectangle 19"/>
          <p:cNvSpPr/>
          <p:nvPr/>
        </p:nvSpPr>
        <p:spPr>
          <a:xfrm>
            <a:off x="9409176" y="3035808"/>
            <a:ext cx="457200" cy="292608"/>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wrap="none"/>
          <a:lstStyle/>
          <a:p>
            <a:pPr algn="ctr"/>
            <a:r>
              <a:rPr sz="1100" b="1">
                <a:solidFill>
                  <a:srgbClr val="21295C"/>
                </a:solidFill>
                <a:latin typeface="DejaVu Sans"/>
              </a:rPr>
              <a:t>×5</a:t>
            </a:r>
          </a:p>
        </p:txBody>
      </p:sp>
      <p:sp>
        <p:nvSpPr>
          <p:cNvPr id="21" name="Rounded Rectangle 20"/>
          <p:cNvSpPr/>
          <p:nvPr/>
        </p:nvSpPr>
        <p:spPr>
          <a:xfrm>
            <a:off x="10415016" y="2651760"/>
            <a:ext cx="1298448" cy="777240"/>
          </a:xfrm>
          <a:prstGeom prst="roundRect">
            <a:avLst>
              <a:gd name="adj" fmla="val 12000"/>
            </a:avLst>
          </a:prstGeom>
          <a:solidFill>
            <a:srgbClr val="F4F7FA"/>
          </a:solidFill>
          <a:ln w="1651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10415016" y="2724912"/>
            <a:ext cx="1298448" cy="310896"/>
          </a:xfrm>
          <a:prstGeom prst="rect">
            <a:avLst/>
          </a:prstGeom>
          <a:noFill/>
        </p:spPr>
        <p:txBody>
          <a:bodyPr wrap="square" lIns="0" rIns="0" tIns="0" bIns="0" anchor="t">
            <a:spAutoFit/>
          </a:bodyPr>
          <a:lstStyle/>
          <a:p>
            <a:pPr algn="ctr">
              <a:lnSpc>
                <a:spcPct val="115000"/>
              </a:lnSpc>
            </a:pPr>
            <a:r>
              <a:rPr sz="1150" b="1" i="0">
                <a:solidFill>
                  <a:srgbClr val="21295C"/>
                </a:solidFill>
                <a:latin typeface="DejaVu Sans"/>
              </a:rPr>
              <a:t>angry</a:t>
            </a:r>
          </a:p>
        </p:txBody>
      </p:sp>
      <p:sp>
        <p:nvSpPr>
          <p:cNvPr id="23" name="Rounded Rectangle 22"/>
          <p:cNvSpPr/>
          <p:nvPr/>
        </p:nvSpPr>
        <p:spPr>
          <a:xfrm>
            <a:off x="10835640" y="3035808"/>
            <a:ext cx="457200" cy="292608"/>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wrap="none"/>
          <a:lstStyle/>
          <a:p>
            <a:pPr algn="ctr"/>
            <a:r>
              <a:rPr sz="1100" b="1">
                <a:solidFill>
                  <a:srgbClr val="21295C"/>
                </a:solidFill>
                <a:latin typeface="DejaVu Sans"/>
              </a:rPr>
              <a:t>×5</a:t>
            </a:r>
          </a:p>
        </p:txBody>
      </p:sp>
      <p:sp>
        <p:nvSpPr>
          <p:cNvPr id="24" name="Rounded Rectangle 23"/>
          <p:cNvSpPr/>
          <p:nvPr/>
        </p:nvSpPr>
        <p:spPr>
          <a:xfrm>
            <a:off x="4709160" y="3611880"/>
            <a:ext cx="6995160" cy="1737360"/>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4928616" y="3666744"/>
            <a:ext cx="6556248" cy="1627631"/>
          </a:xfrm>
          <a:prstGeom prst="rect">
            <a:avLst/>
          </a:prstGeom>
          <a:noFill/>
        </p:spPr>
        <p:txBody>
          <a:bodyPr wrap="square" lIns="0" rIns="0" tIns="0" bIns="0" anchor="ctr">
            <a:spAutoFit/>
          </a:bodyPr>
          <a:lstStyle/>
          <a:p>
            <a:pPr algn="l">
              <a:lnSpc>
                <a:spcPct val="120000"/>
              </a:lnSpc>
            </a:pPr>
            <a:r>
              <a:rPr sz="1250" b="1" i="0">
                <a:solidFill>
                  <a:srgbClr val="21295C"/>
                </a:solidFill>
                <a:latin typeface="DejaVu Sans"/>
              </a:rPr>
              <a:t>Прокси вовлечённости без guardrail на дезинформацию скрывал вред ~2 года: внутренний guardrail (корреляция гнев ↔ дезинформация) подтверждён к 2019, вес обнулён в сентябре 2019 </a:t>
            </a:r>
            <a:r>
              <a:rPr sz="650" baseline="30000" b="0" i="1">
                <a:latin typeface="DejaVu Sans"/>
                <a:cs typeface="DejaVu Sans"/>
                <a:ea typeface="DejaVu Sans"/>
                <a:solidFill>
                  <a:srgbClr val="1C7293"/>
                </a:solidFill>
              </a:rPr>
              <a:t>[2]</a:t>
            </a:r>
            <a:r>
              <a:rPr sz="1250" b="1" i="0">
                <a:latin typeface="DejaVu Sans"/>
                <a:cs typeface="DejaVu Sans"/>
                <a:ea typeface="DejaVu Sans"/>
                <a:solidFill>
                  <a:srgbClr val="21295C"/>
                </a:solidFill>
              </a:rPr>
              <a:t>. Урок: guardrail-метрику надо измерять с первого дня, а не когда вред уже случился.</a:t>
            </a:r>
          </a:p>
        </p:txBody>
      </p:sp>
      <p:sp>
        <p:nvSpPr>
          <p:cNvPr id="26" name="TextBox 25"/>
          <p:cNvSpPr txBox="1"/>
          <p:nvPr/>
        </p:nvSpPr>
        <p:spPr>
          <a:xfrm>
            <a:off x="502920" y="6455664"/>
            <a:ext cx="11201400" cy="548640"/>
          </a:xfrm>
          <a:prstGeom prst="rect">
            <a:avLst/>
          </a:prstGeom>
          <a:noFill/>
        </p:spPr>
        <p:txBody>
          <a:bodyPr wrap="square" lIns="0" rIns="0" tIns="0" bIns="0" anchor="t">
            <a:spAutoFit/>
          </a:bodyPr>
          <a:lstStyle/>
          <a:p>
            <a:pPr algn="l">
              <a:lnSpc>
                <a:spcPct val="102000"/>
              </a:lnSpc>
            </a:pPr>
            <a:r>
              <a:rPr sz="850" b="1" i="1">
                <a:solidFill>
                  <a:srgbClr val="065A82"/>
                </a:solidFill>
                <a:latin typeface="DejaVu Sans"/>
              </a:rPr>
              <a:t>[1] </a:t>
            </a:r>
            <a:r>
              <a:rPr sz="850" i="1">
                <a:solidFill>
                  <a:srgbClr val="1C7293"/>
                </a:solidFill>
                <a:latin typeface="DejaVu Sans"/>
                <a:hlinkClick r:id="rId4"/>
              </a:rPr>
              <a:t>Techdirt (28 окт. 2021) — коррекция «Facebook Files»</a:t>
            </a:r>
            <a:r>
              <a:rPr sz="850" i="1">
                <a:solidFill>
                  <a:srgbClr val="1C7293"/>
                </a:solidFill>
                <a:latin typeface="DejaVu Sans"/>
              </a:rPr>
              <a:t>   ·   </a:t>
            </a:r>
            <a:r>
              <a:rPr sz="850" b="1" i="1">
                <a:solidFill>
                  <a:srgbClr val="065A82"/>
                </a:solidFill>
                <a:latin typeface="DejaVu Sans"/>
              </a:rPr>
              <a:t>[2] </a:t>
            </a:r>
            <a:r>
              <a:rPr sz="850" i="1">
                <a:solidFill>
                  <a:srgbClr val="1C7293"/>
                </a:solidFill>
                <a:latin typeface="DejaVu Sans"/>
                <a:hlinkClick r:id="rId5"/>
              </a:rPr>
              <a:t>House E&amp;C Committee — документы Haugen</a:t>
            </a:r>
          </a:p>
        </p:txBody>
      </p:sp>
      <p:sp>
        <p:nvSpPr>
          <p:cNvPr id="27" name="TextBox 26"/>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38 / 56</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65760"/>
            <a:ext cx="11247120" cy="777240"/>
          </a:xfrm>
          <a:prstGeom prst="rect">
            <a:avLst/>
          </a:prstGeom>
          <a:noFill/>
        </p:spPr>
        <p:txBody>
          <a:bodyPr wrap="square" lIns="0" rIns="0" tIns="0" bIns="0" anchor="t">
            <a:spAutoFit/>
          </a:bodyPr>
          <a:lstStyle/>
          <a:p>
            <a:pPr algn="l">
              <a:lnSpc>
                <a:spcPct val="110000"/>
              </a:lnSpc>
            </a:pPr>
            <a:r>
              <a:rPr sz="2100" b="1" i="0">
                <a:solidFill>
                  <a:srgbClr val="21295C"/>
                </a:solidFill>
                <a:latin typeface="DejaVu Sans"/>
              </a:rPr>
              <a:t>Сдал бенчмарк формата A ≠ безопасен в проде формата B</a:t>
            </a:r>
          </a:p>
        </p:txBody>
      </p:sp>
      <p:sp>
        <p:nvSpPr>
          <p:cNvPr id="3" name="Rounded Rectangle 2"/>
          <p:cNvSpPr/>
          <p:nvPr/>
        </p:nvSpPr>
        <p:spPr>
          <a:xfrm>
            <a:off x="502920" y="1463040"/>
            <a:ext cx="5532120" cy="2606040"/>
          </a:xfrm>
          <a:prstGeom prst="roundRect">
            <a:avLst>
              <a:gd name="adj" fmla="val 11695"/>
            </a:avLst>
          </a:prstGeom>
          <a:solidFill>
            <a:srgbClr val="F4F7FA"/>
          </a:solidFill>
          <a:ln w="1905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1572768"/>
            <a:ext cx="5029200" cy="365760"/>
          </a:xfrm>
          <a:prstGeom prst="rect">
            <a:avLst/>
          </a:prstGeom>
          <a:noFill/>
        </p:spPr>
        <p:txBody>
          <a:bodyPr wrap="square" lIns="0" rIns="0" tIns="0" bIns="0" anchor="t">
            <a:spAutoFit/>
          </a:bodyPr>
          <a:lstStyle/>
          <a:p>
            <a:pPr algn="l">
              <a:lnSpc>
                <a:spcPct val="115000"/>
              </a:lnSpc>
            </a:pPr>
            <a:r>
              <a:rPr sz="1400" b="1" i="0">
                <a:solidFill>
                  <a:srgbClr val="065A82"/>
                </a:solidFill>
                <a:latin typeface="DejaVu Sans"/>
              </a:rPr>
              <a:t>Медицина</a:t>
            </a:r>
          </a:p>
        </p:txBody>
      </p:sp>
      <p:sp>
        <p:nvSpPr>
          <p:cNvPr id="5" name="Rounded Rectangle 4"/>
          <p:cNvSpPr/>
          <p:nvPr/>
        </p:nvSpPr>
        <p:spPr>
          <a:xfrm>
            <a:off x="731520" y="2011680"/>
            <a:ext cx="2194560" cy="45720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wrap="none"/>
          <a:lstStyle/>
          <a:p>
            <a:pPr algn="ctr"/>
            <a:r>
              <a:rPr sz="1500" b="1">
                <a:solidFill>
                  <a:srgbClr val="21295C"/>
                </a:solidFill>
                <a:latin typeface="DejaVu Sans"/>
              </a:rPr>
              <a:t>86,5% MedQA [1]</a:t>
            </a:r>
          </a:p>
        </p:txBody>
      </p:sp>
      <p:sp>
        <p:nvSpPr>
          <p:cNvPr id="6" name="TextBox 5"/>
          <p:cNvSpPr txBox="1"/>
          <p:nvPr/>
        </p:nvSpPr>
        <p:spPr>
          <a:xfrm>
            <a:off x="731520" y="2651760"/>
            <a:ext cx="5029200" cy="1280160"/>
          </a:xfrm>
          <a:prstGeom prst="rect">
            <a:avLst/>
          </a:prstGeom>
          <a:noFill/>
        </p:spPr>
        <p:txBody>
          <a:bodyPr wrap="square" lIns="0" rIns="0" tIns="0" bIns="0" anchor="t">
            <a:spAutoFit/>
          </a:bodyPr>
          <a:lstStyle/>
          <a:p>
            <a:pPr algn="l">
              <a:lnSpc>
                <a:spcPct val="120000"/>
              </a:lnSpc>
            </a:pPr>
            <a:r>
              <a:rPr sz="1250" b="0" i="0">
                <a:solidFill>
                  <a:srgbClr val="21295C"/>
                </a:solidFill>
                <a:latin typeface="DejaVu Sans"/>
              </a:rPr>
              <a:t>Med-PaLM 2 хорош на бенчмарке вопросов-ответов — но клиническая безопасность требует ОТДЕЛЬНОГО adversarial (состязательного) safety-набора.</a:t>
            </a:r>
          </a:p>
        </p:txBody>
      </p:sp>
      <p:sp>
        <p:nvSpPr>
          <p:cNvPr id="7" name="Rounded Rectangle 6"/>
          <p:cNvSpPr/>
          <p:nvPr/>
        </p:nvSpPr>
        <p:spPr>
          <a:xfrm>
            <a:off x="6172200" y="1463040"/>
            <a:ext cx="5532120" cy="2606040"/>
          </a:xfrm>
          <a:prstGeom prst="roundRect">
            <a:avLst>
              <a:gd name="adj" fmla="val 11695"/>
            </a:avLst>
          </a:prstGeom>
          <a:solidFill>
            <a:srgbClr val="F4F7FA"/>
          </a:solidFill>
          <a:ln w="1905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00800" y="1572768"/>
            <a:ext cx="5029200" cy="365760"/>
          </a:xfrm>
          <a:prstGeom prst="rect">
            <a:avLst/>
          </a:prstGeom>
          <a:noFill/>
        </p:spPr>
        <p:txBody>
          <a:bodyPr wrap="square" lIns="0" rIns="0" tIns="0" bIns="0" anchor="t">
            <a:spAutoFit/>
          </a:bodyPr>
          <a:lstStyle/>
          <a:p>
            <a:pPr algn="l">
              <a:lnSpc>
                <a:spcPct val="115000"/>
              </a:lnSpc>
            </a:pPr>
            <a:r>
              <a:rPr sz="1400" b="1" i="0">
                <a:solidFill>
                  <a:srgbClr val="028090"/>
                </a:solidFill>
                <a:latin typeface="DejaVu Sans"/>
              </a:rPr>
              <a:t>Право</a:t>
            </a:r>
          </a:p>
        </p:txBody>
      </p:sp>
      <p:sp>
        <p:nvSpPr>
          <p:cNvPr id="9" name="TextBox 8"/>
          <p:cNvSpPr txBox="1"/>
          <p:nvPr/>
        </p:nvSpPr>
        <p:spPr>
          <a:xfrm>
            <a:off x="6400800" y="2011680"/>
            <a:ext cx="5029200" cy="822960"/>
          </a:xfrm>
          <a:prstGeom prst="rect">
            <a:avLst/>
          </a:prstGeom>
          <a:noFill/>
        </p:spPr>
        <p:txBody>
          <a:bodyPr wrap="square" lIns="0" rIns="0" tIns="0" bIns="0" anchor="t">
            <a:spAutoFit/>
          </a:bodyPr>
          <a:lstStyle/>
          <a:p>
            <a:pPr algn="l">
              <a:lnSpc>
                <a:spcPct val="118000"/>
              </a:lnSpc>
            </a:pPr>
            <a:r>
              <a:rPr sz="1250" b="0" i="0">
                <a:solidFill>
                  <a:srgbClr val="21295C"/>
                </a:solidFill>
                <a:latin typeface="DejaVu Sans"/>
              </a:rPr>
              <a:t>Stanford RegLab: Lexis+ 17% галлюцинаций, Westlaw 33% — на реальных юридических запросах </a:t>
            </a:r>
            <a:r>
              <a:rPr sz="650" baseline="30000" b="0" i="1">
                <a:latin typeface="DejaVu Sans"/>
                <a:cs typeface="DejaVu Sans"/>
                <a:ea typeface="DejaVu Sans"/>
                <a:solidFill>
                  <a:srgbClr val="1C7293"/>
                </a:solidFill>
              </a:rPr>
              <a:t>[3]</a:t>
            </a:r>
            <a:r>
              <a:rPr sz="1250" b="0" i="0">
                <a:latin typeface="DejaVu Sans"/>
                <a:cs typeface="DejaVu Sans"/>
                <a:ea typeface="DejaVu Sans"/>
                <a:solidFill>
                  <a:srgbClr val="21295C"/>
                </a:solidFill>
              </a:rPr>
              <a:t>.</a:t>
            </a:r>
          </a:p>
        </p:txBody>
      </p:sp>
      <p:sp>
        <p:nvSpPr>
          <p:cNvPr id="10" name="Rounded Rectangle 9"/>
          <p:cNvSpPr/>
          <p:nvPr/>
        </p:nvSpPr>
        <p:spPr>
          <a:xfrm>
            <a:off x="6400800" y="2926080"/>
            <a:ext cx="5074920" cy="868680"/>
          </a:xfrm>
          <a:prstGeom prst="roundRect">
            <a:avLst>
              <a:gd name="adj" fmla="val 7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629400" y="3017520"/>
            <a:ext cx="4663440" cy="685800"/>
          </a:xfrm>
          <a:prstGeom prst="rect">
            <a:avLst/>
          </a:prstGeom>
          <a:noFill/>
        </p:spPr>
        <p:txBody>
          <a:bodyPr wrap="square" lIns="0" rIns="0" tIns="0" bIns="0" anchor="ctr">
            <a:spAutoFit/>
          </a:bodyPr>
          <a:lstStyle/>
          <a:p>
            <a:pPr algn="l">
              <a:lnSpc>
                <a:spcPct val="112000"/>
              </a:lnSpc>
            </a:pPr>
            <a:r>
              <a:rPr sz="1200" b="1" i="0">
                <a:solidFill>
                  <a:srgbClr val="21295C"/>
                </a:solidFill>
                <a:latin typeface="DejaVu Sans"/>
              </a:rPr>
              <a:t>Дело Mata v. Avianca (фейковые цитаты) = ChatGPT, НЕ Harvey </a:t>
            </a:r>
            <a:r>
              <a:rPr sz="624" baseline="30000" b="0" i="1">
                <a:latin typeface="DejaVu Sans"/>
                <a:cs typeface="DejaVu Sans"/>
                <a:ea typeface="DejaVu Sans"/>
                <a:solidFill>
                  <a:srgbClr val="1C7293"/>
                </a:solidFill>
              </a:rPr>
              <a:t>[2]</a:t>
            </a:r>
            <a:r>
              <a:rPr sz="1200" b="1" i="0">
                <a:latin typeface="DejaVu Sans"/>
                <a:cs typeface="DejaVu Sans"/>
                <a:ea typeface="DejaVu Sans"/>
                <a:solidFill>
                  <a:srgbClr val="21295C"/>
                </a:solidFill>
              </a:rPr>
              <a:t> — частая ошибка атрибуции.</a:t>
            </a:r>
          </a:p>
        </p:txBody>
      </p:sp>
      <p:sp>
        <p:nvSpPr>
          <p:cNvPr id="12" name="Rounded Rectangle 11"/>
          <p:cNvSpPr/>
          <p:nvPr/>
        </p:nvSpPr>
        <p:spPr>
          <a:xfrm>
            <a:off x="502920" y="4251960"/>
            <a:ext cx="11201400" cy="1097280"/>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22376" y="4306824"/>
            <a:ext cx="10762488" cy="987552"/>
          </a:xfrm>
          <a:prstGeom prst="rect">
            <a:avLst/>
          </a:prstGeom>
          <a:noFill/>
        </p:spPr>
        <p:txBody>
          <a:bodyPr wrap="square" lIns="0" rIns="0" tIns="0" bIns="0" anchor="ctr">
            <a:spAutoFit/>
          </a:bodyPr>
          <a:lstStyle/>
          <a:p>
            <a:pPr algn="l">
              <a:lnSpc>
                <a:spcPct val="120000"/>
              </a:lnSpc>
            </a:pPr>
            <a:r>
              <a:rPr sz="1300" b="1" i="0">
                <a:solidFill>
                  <a:srgbClr val="21295C"/>
                </a:solidFill>
                <a:latin typeface="DejaVu Sans"/>
              </a:rPr>
              <a:t>Бенчмарк — свидетельство о производительности только на формате задачи именно этого бенчмарка. Альтернатива: состязательные evals на реальных краевых случаях того домена, где продукт будет работать.</a:t>
            </a:r>
          </a:p>
        </p:txBody>
      </p:sp>
      <p:sp>
        <p:nvSpPr>
          <p:cNvPr id="14" name="TextBox 13"/>
          <p:cNvSpPr txBox="1"/>
          <p:nvPr/>
        </p:nvSpPr>
        <p:spPr>
          <a:xfrm>
            <a:off x="502920" y="6419088"/>
            <a:ext cx="11201400" cy="548640"/>
          </a:xfrm>
          <a:prstGeom prst="rect">
            <a:avLst/>
          </a:prstGeom>
          <a:noFill/>
        </p:spPr>
        <p:txBody>
          <a:bodyPr wrap="square" lIns="0" rIns="0" tIns="0" bIns="0" anchor="t">
            <a:spAutoFit/>
          </a:bodyPr>
          <a:lstStyle/>
          <a:p>
            <a:pPr algn="l">
              <a:lnSpc>
                <a:spcPct val="102000"/>
              </a:lnSpc>
            </a:pPr>
            <a:r>
              <a:rPr sz="850" b="1" i="1">
                <a:solidFill>
                  <a:srgbClr val="065A82"/>
                </a:solidFill>
                <a:latin typeface="DejaVu Sans"/>
              </a:rPr>
              <a:t>[1] </a:t>
            </a:r>
            <a:r>
              <a:rPr sz="850" i="1">
                <a:solidFill>
                  <a:srgbClr val="1C7293"/>
                </a:solidFill>
                <a:latin typeface="DejaVu Sans"/>
                <a:hlinkClick r:id="rId2"/>
              </a:rPr>
              <a:t>Med-PaLM 2 — Nature Medicine 2024 (arXiv:2305.09617)</a:t>
            </a:r>
            <a:r>
              <a:rPr sz="850" i="1">
                <a:solidFill>
                  <a:srgbClr val="1C7293"/>
                </a:solidFill>
                <a:latin typeface="DejaVu Sans"/>
              </a:rPr>
              <a:t>   ·   </a:t>
            </a:r>
            <a:r>
              <a:rPr sz="850" b="1" i="1">
                <a:solidFill>
                  <a:srgbClr val="065A82"/>
                </a:solidFill>
                <a:latin typeface="DejaVu Sans"/>
              </a:rPr>
              <a:t>[2] </a:t>
            </a:r>
            <a:r>
              <a:rPr sz="850" i="1">
                <a:solidFill>
                  <a:srgbClr val="1C7293"/>
                </a:solidFill>
                <a:latin typeface="DejaVu Sans"/>
                <a:hlinkClick r:id="rId3"/>
              </a:rPr>
              <a:t>Wikipedia — Mata v. Avianca</a:t>
            </a:r>
            <a:r>
              <a:rPr sz="850" i="1">
                <a:solidFill>
                  <a:srgbClr val="1C7293"/>
                </a:solidFill>
                <a:latin typeface="DejaVu Sans"/>
              </a:rPr>
              <a:t>   ·   </a:t>
            </a:r>
            <a:r>
              <a:rPr sz="850" b="1" i="1">
                <a:solidFill>
                  <a:srgbClr val="065A82"/>
                </a:solidFill>
                <a:latin typeface="DejaVu Sans"/>
              </a:rPr>
              <a:t>[3] </a:t>
            </a:r>
            <a:r>
              <a:rPr sz="850" i="1">
                <a:solidFill>
                  <a:srgbClr val="1C7293"/>
                </a:solidFill>
                <a:latin typeface="DejaVu Sans"/>
                <a:hlinkClick r:id="rId4"/>
              </a:rPr>
              <a:t>Stanford RegLab — J. Empirical Legal Studies</a:t>
            </a:r>
          </a:p>
        </p:txBody>
      </p:sp>
      <p:sp>
        <p:nvSpPr>
          <p:cNvPr id="15" name="TextBox 14"/>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39 / 56</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65760"/>
            <a:ext cx="11247120" cy="777240"/>
          </a:xfrm>
          <a:prstGeom prst="rect">
            <a:avLst/>
          </a:prstGeom>
          <a:noFill/>
        </p:spPr>
        <p:txBody>
          <a:bodyPr wrap="square" lIns="0" rIns="0" tIns="0" bIns="0" anchor="t">
            <a:spAutoFit/>
          </a:bodyPr>
          <a:lstStyle/>
          <a:p>
            <a:pPr algn="l">
              <a:lnSpc>
                <a:spcPct val="110000"/>
              </a:lnSpc>
            </a:pPr>
            <a:r>
              <a:rPr sz="2000" b="1" i="0">
                <a:solidFill>
                  <a:srgbClr val="21295C"/>
                </a:solidFill>
                <a:latin typeface="DejaVu Sans"/>
              </a:rPr>
              <a:t>A/B остаётся фундаментом — evals и guardrail-метрики теперь обязательны поверх</a:t>
            </a:r>
          </a:p>
        </p:txBody>
      </p:sp>
      <p:sp>
        <p:nvSpPr>
          <p:cNvPr id="3" name="Rounded Rectangle 2"/>
          <p:cNvSpPr/>
          <p:nvPr/>
        </p:nvSpPr>
        <p:spPr>
          <a:xfrm>
            <a:off x="662940" y="3977639"/>
            <a:ext cx="5989320" cy="566928"/>
          </a:xfrm>
          <a:prstGeom prst="roundRect">
            <a:avLst>
              <a:gd name="adj" fmla="val 10000"/>
            </a:avLst>
          </a:prstGeom>
          <a:solidFill>
            <a:srgbClr val="F4F7FA"/>
          </a:solidFill>
          <a:ln w="2286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62940" y="3977639"/>
            <a:ext cx="5989320" cy="566928"/>
          </a:xfrm>
          <a:prstGeom prst="rect">
            <a:avLst/>
          </a:prstGeom>
          <a:noFill/>
        </p:spPr>
        <p:txBody>
          <a:bodyPr wrap="square" lIns="0" rIns="0" tIns="0" bIns="0" anchor="ctr">
            <a:spAutoFit/>
          </a:bodyPr>
          <a:lstStyle/>
          <a:p>
            <a:pPr algn="ctr">
              <a:lnSpc>
                <a:spcPct val="115000"/>
              </a:lnSpc>
            </a:pPr>
            <a:r>
              <a:rPr sz="1250" b="1" i="0">
                <a:solidFill>
                  <a:srgbClr val="21295C"/>
                </a:solidFill>
                <a:latin typeface="DejaVu Sans"/>
              </a:rPr>
              <a:t>Классический A/B (рандомизация)</a:t>
            </a:r>
          </a:p>
        </p:txBody>
      </p:sp>
      <p:sp>
        <p:nvSpPr>
          <p:cNvPr id="5" name="Rounded Rectangle 4"/>
          <p:cNvSpPr/>
          <p:nvPr/>
        </p:nvSpPr>
        <p:spPr>
          <a:xfrm>
            <a:off x="1371600" y="3383280"/>
            <a:ext cx="4572000" cy="566928"/>
          </a:xfrm>
          <a:prstGeom prst="roundRect">
            <a:avLst>
              <a:gd name="adj" fmla="val 10000"/>
            </a:avLst>
          </a:prstGeom>
          <a:solidFill>
            <a:srgbClr val="F4F7FA"/>
          </a:solidFill>
          <a:ln w="2286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371600" y="3383280"/>
            <a:ext cx="4572000" cy="566928"/>
          </a:xfrm>
          <a:prstGeom prst="rect">
            <a:avLst/>
          </a:prstGeom>
          <a:noFill/>
        </p:spPr>
        <p:txBody>
          <a:bodyPr wrap="square" lIns="0" rIns="0" tIns="0" bIns="0" anchor="ctr">
            <a:spAutoFit/>
          </a:bodyPr>
          <a:lstStyle/>
          <a:p>
            <a:pPr algn="ctr">
              <a:lnSpc>
                <a:spcPct val="115000"/>
              </a:lnSpc>
            </a:pPr>
            <a:r>
              <a:rPr sz="1250" b="1" i="0">
                <a:solidFill>
                  <a:srgbClr val="21295C"/>
                </a:solidFill>
                <a:latin typeface="DejaVu Sans"/>
              </a:rPr>
              <a:t>Оценки: eval (offline + online)</a:t>
            </a:r>
          </a:p>
        </p:txBody>
      </p:sp>
      <p:sp>
        <p:nvSpPr>
          <p:cNvPr id="7" name="Rounded Rectangle 6"/>
          <p:cNvSpPr/>
          <p:nvPr/>
        </p:nvSpPr>
        <p:spPr>
          <a:xfrm>
            <a:off x="2011680" y="2788920"/>
            <a:ext cx="3291840" cy="566928"/>
          </a:xfrm>
          <a:prstGeom prst="roundRect">
            <a:avLst>
              <a:gd name="adj" fmla="val 10000"/>
            </a:avLst>
          </a:prstGeom>
          <a:solidFill>
            <a:srgbClr val="F4F7FA"/>
          </a:solidFill>
          <a:ln w="2286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2011680" y="2788920"/>
            <a:ext cx="3291840" cy="566928"/>
          </a:xfrm>
          <a:prstGeom prst="rect">
            <a:avLst/>
          </a:prstGeom>
          <a:noFill/>
        </p:spPr>
        <p:txBody>
          <a:bodyPr wrap="square" lIns="0" rIns="0" tIns="0" bIns="0" anchor="ctr">
            <a:spAutoFit/>
          </a:bodyPr>
          <a:lstStyle/>
          <a:p>
            <a:pPr algn="ctr">
              <a:lnSpc>
                <a:spcPct val="115000"/>
              </a:lnSpc>
            </a:pPr>
            <a:r>
              <a:rPr sz="1250" b="1" i="0">
                <a:solidFill>
                  <a:srgbClr val="21295C"/>
                </a:solidFill>
                <a:latin typeface="DejaVu Sans"/>
              </a:rPr>
              <a:t>Guardrail-метрики</a:t>
            </a:r>
          </a:p>
        </p:txBody>
      </p:sp>
      <p:sp>
        <p:nvSpPr>
          <p:cNvPr id="9" name="TextBox 8"/>
          <p:cNvSpPr txBox="1"/>
          <p:nvPr/>
        </p:nvSpPr>
        <p:spPr>
          <a:xfrm>
            <a:off x="502920" y="1508760"/>
            <a:ext cx="6400800" cy="365760"/>
          </a:xfrm>
          <a:prstGeom prst="rect">
            <a:avLst/>
          </a:prstGeom>
          <a:noFill/>
        </p:spPr>
        <p:txBody>
          <a:bodyPr wrap="square" lIns="0" rIns="0" tIns="0" bIns="0" anchor="t">
            <a:spAutoFit/>
          </a:bodyPr>
          <a:lstStyle/>
          <a:p>
            <a:pPr algn="ctr">
              <a:lnSpc>
                <a:spcPct val="115000"/>
              </a:lnSpc>
            </a:pPr>
            <a:r>
              <a:rPr sz="1350" b="1" i="0">
                <a:solidFill>
                  <a:srgbClr val="065A82"/>
                </a:solidFill>
                <a:latin typeface="DejaVu Sans"/>
              </a:rPr>
              <a:t>Измерение = стрелка, которой ИИ снизил доверие</a:t>
            </a:r>
          </a:p>
        </p:txBody>
      </p:sp>
      <p:sp>
        <p:nvSpPr>
          <p:cNvPr id="10" name="Rounded Rectangle 9"/>
          <p:cNvSpPr/>
          <p:nvPr/>
        </p:nvSpPr>
        <p:spPr>
          <a:xfrm>
            <a:off x="7178040" y="1508760"/>
            <a:ext cx="4526280" cy="3063240"/>
          </a:xfrm>
          <a:prstGeom prst="roundRect">
            <a:avLst>
              <a:gd name="adj" fmla="val 995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406640" y="1691640"/>
            <a:ext cx="4114800" cy="2743200"/>
          </a:xfrm>
          <a:prstGeom prst="rect">
            <a:avLst/>
          </a:prstGeom>
          <a:noFill/>
        </p:spPr>
        <p:txBody>
          <a:bodyPr wrap="square" lIns="0" rIns="0" tIns="0" bIns="0" anchor="t">
            <a:spAutoFit/>
          </a:bodyPr>
          <a:lstStyle/>
          <a:p>
            <a:pPr algn="l">
              <a:lnSpc>
                <a:spcPct val="125000"/>
              </a:lnSpc>
            </a:pPr>
            <a:r>
              <a:rPr sz="1300" b="0" i="0">
                <a:solidFill>
                  <a:srgbClr val="21295C"/>
                </a:solidFill>
                <a:latin typeface="DejaVu Sans"/>
              </a:rPr>
              <a:t>• Рандомизация — по-прежнему то, что даёт причинность, а не совпадение.</a:t>
            </a:r>
          </a:p>
          <a:p>
            <a:pPr algn="l">
              <a:lnSpc>
                <a:spcPct val="125000"/>
              </a:lnSpc>
            </a:pPr>
            <a:r>
              <a:rPr sz="1300" b="0" i="0">
                <a:solidFill>
                  <a:srgbClr val="21295C"/>
                </a:solidFill>
                <a:latin typeface="DejaVu Sans"/>
              </a:rPr>
              <a:t/>
            </a:r>
          </a:p>
          <a:p>
            <a:pPr algn="l">
              <a:lnSpc>
                <a:spcPct val="125000"/>
              </a:lnSpc>
            </a:pPr>
            <a:r>
              <a:rPr sz="1300" b="0" i="0">
                <a:solidFill>
                  <a:srgbClr val="21295C"/>
                </a:solidFill>
                <a:latin typeface="DejaVu Sans"/>
              </a:rPr>
              <a:t>• Оценки (evals) и guardrail-метрики — новые слои поверх, а не замена A/B.</a:t>
            </a:r>
          </a:p>
          <a:p>
            <a:pPr algn="l">
              <a:lnSpc>
                <a:spcPct val="125000"/>
              </a:lnSpc>
            </a:pPr>
            <a:r>
              <a:rPr sz="1300" b="0" i="0">
                <a:solidFill>
                  <a:srgbClr val="21295C"/>
                </a:solidFill>
                <a:latin typeface="DejaVu Sans"/>
              </a:rPr>
              <a:t/>
            </a:r>
          </a:p>
          <a:p>
            <a:pPr algn="l">
              <a:lnSpc>
                <a:spcPct val="125000"/>
              </a:lnSpc>
            </a:pPr>
            <a:r>
              <a:rPr sz="1300" b="0" i="0">
                <a:solidFill>
                  <a:srgbClr val="21295C"/>
                </a:solidFill>
                <a:latin typeface="DejaVu Sans"/>
              </a:rPr>
              <a:t>• Центральный навык фазы — отличать сигнал от шума.</a:t>
            </a:r>
          </a:p>
        </p:txBody>
      </p:sp>
      <p:sp>
        <p:nvSpPr>
          <p:cNvPr id="12" name="Rounded Rectangle 11"/>
          <p:cNvSpPr/>
          <p:nvPr/>
        </p:nvSpPr>
        <p:spPr>
          <a:xfrm>
            <a:off x="502920" y="4754880"/>
            <a:ext cx="11201400" cy="731520"/>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22376" y="4809744"/>
            <a:ext cx="10762488" cy="621792"/>
          </a:xfrm>
          <a:prstGeom prst="rect">
            <a:avLst/>
          </a:prstGeom>
          <a:noFill/>
        </p:spPr>
        <p:txBody>
          <a:bodyPr wrap="square" lIns="0" rIns="0" tIns="0" bIns="0" anchor="ctr">
            <a:spAutoFit/>
          </a:bodyPr>
          <a:lstStyle/>
          <a:p>
            <a:pPr algn="l">
              <a:lnSpc>
                <a:spcPct val="120000"/>
              </a:lnSpc>
            </a:pPr>
            <a:r>
              <a:rPr sz="1300" b="1" i="0">
                <a:solidFill>
                  <a:srgbClr val="21295C"/>
                </a:solidFill>
                <a:latin typeface="DejaVu Sans"/>
              </a:rPr>
              <a:t>Мост в поддержку: тот же навык «сигнал ≠ шум» в эксплуатации означает заметить дрейф раньше, чем он проявится на дашборде.</a:t>
            </a:r>
          </a:p>
        </p:txBody>
      </p:sp>
      <p:sp>
        <p:nvSpPr>
          <p:cNvPr id="14" name="TextBox 13"/>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40 / 56</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F4F7FA"/>
        </a:solidFill>
        <a:effectLst/>
      </p:bgPr>
    </p:bg>
    <p:spTree>
      <p:nvGrpSpPr>
        <p:cNvPr id="1" name=""/>
        <p:cNvGrpSpPr/>
        <p:nvPr/>
      </p:nvGrpSpPr>
      <p:grpSpPr/>
      <p:sp>
        <p:nvSpPr>
          <p:cNvPr id="2" name="TextBox 1"/>
          <p:cNvSpPr txBox="1"/>
          <p:nvPr/>
        </p:nvSpPr>
        <p:spPr>
          <a:xfrm>
            <a:off x="9464040" y="91440"/>
            <a:ext cx="2651760" cy="1188720"/>
          </a:xfrm>
          <a:prstGeom prst="rect">
            <a:avLst/>
          </a:prstGeom>
          <a:noFill/>
        </p:spPr>
        <p:txBody>
          <a:bodyPr wrap="square" lIns="0" rIns="0" tIns="0" bIns="0" anchor="ctr">
            <a:spAutoFit/>
          </a:bodyPr>
          <a:lstStyle/>
          <a:p>
            <a:pPr algn="ctr">
              <a:lnSpc>
                <a:spcPct val="115000"/>
              </a:lnSpc>
            </a:pPr>
            <a:r>
              <a:rPr sz="9000" b="1" i="0">
                <a:solidFill>
                  <a:srgbClr val="D9E2EC"/>
                </a:solidFill>
                <a:latin typeface="DejaVu Sans"/>
              </a:rPr>
              <a:t>5</a:t>
            </a:r>
          </a:p>
        </p:txBody>
      </p:sp>
      <p:sp>
        <p:nvSpPr>
          <p:cNvPr id="3" name="Rounded Rectangle 2"/>
          <p:cNvSpPr/>
          <p:nvPr/>
        </p:nvSpPr>
        <p:spPr>
          <a:xfrm>
            <a:off x="7635240" y="1234440"/>
            <a:ext cx="4069080" cy="4160520"/>
          </a:xfrm>
          <a:prstGeom prst="roundRect">
            <a:avLst>
              <a:gd name="adj" fmla="val 749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s36-disaster-girl.jpg"/>
          <p:cNvPicPr>
            <a:picLocks noChangeAspect="1"/>
          </p:cNvPicPr>
          <p:nvPr/>
        </p:nvPicPr>
        <p:blipFill>
          <a:blip r:embed="rId2"/>
          <a:stretch>
            <a:fillRect/>
          </a:stretch>
        </p:blipFill>
        <p:spPr>
          <a:xfrm>
            <a:off x="7763256" y="1884807"/>
            <a:ext cx="3813048" cy="2859786"/>
          </a:xfrm>
          <a:prstGeom prst="rect">
            <a:avLst/>
          </a:prstGeom>
        </p:spPr>
      </p:pic>
      <p:sp>
        <p:nvSpPr>
          <p:cNvPr id="5" name="TextBox 4"/>
          <p:cNvSpPr txBox="1"/>
          <p:nvPr/>
        </p:nvSpPr>
        <p:spPr>
          <a:xfrm>
            <a:off x="685800" y="1417320"/>
            <a:ext cx="6675120" cy="502920"/>
          </a:xfrm>
          <a:prstGeom prst="rect">
            <a:avLst/>
          </a:prstGeom>
          <a:noFill/>
        </p:spPr>
        <p:txBody>
          <a:bodyPr wrap="square" lIns="0" rIns="0" tIns="0" bIns="0" anchor="t">
            <a:spAutoFit/>
          </a:bodyPr>
          <a:lstStyle/>
          <a:p>
            <a:pPr algn="l">
              <a:lnSpc>
                <a:spcPct val="115000"/>
              </a:lnSpc>
            </a:pPr>
            <a:r>
              <a:rPr sz="2000" b="1" i="0">
                <a:solidFill>
                  <a:srgbClr val="028090"/>
                </a:solidFill>
                <a:latin typeface="DejaVu Sans"/>
              </a:rPr>
              <a:t>РАЗДЕЛ 5</a:t>
            </a:r>
          </a:p>
        </p:txBody>
      </p:sp>
      <p:sp>
        <p:nvSpPr>
          <p:cNvPr id="6" name="TextBox 5"/>
          <p:cNvSpPr txBox="1"/>
          <p:nvPr/>
        </p:nvSpPr>
        <p:spPr>
          <a:xfrm>
            <a:off x="685800" y="2395728"/>
            <a:ext cx="6675120" cy="1600200"/>
          </a:xfrm>
          <a:prstGeom prst="rect">
            <a:avLst/>
          </a:prstGeom>
          <a:noFill/>
        </p:spPr>
        <p:txBody>
          <a:bodyPr wrap="square" lIns="0" rIns="0" tIns="0" bIns="0" anchor="t">
            <a:spAutoFit/>
          </a:bodyPr>
          <a:lstStyle/>
          <a:p>
            <a:pPr algn="l">
              <a:lnSpc>
                <a:spcPct val="108000"/>
              </a:lnSpc>
            </a:pPr>
            <a:r>
              <a:rPr sz="3000" b="1" i="0">
                <a:solidFill>
                  <a:srgbClr val="21295C"/>
                </a:solidFill>
                <a:latin typeface="DejaVu Sans"/>
              </a:rPr>
              <a:t>Поддержка — продукт как оркестр</a:t>
            </a:r>
          </a:p>
        </p:txBody>
      </p:sp>
      <p:sp>
        <p:nvSpPr>
          <p:cNvPr id="7" name="Rounded Rectangle 6"/>
          <p:cNvSpPr/>
          <p:nvPr/>
        </p:nvSpPr>
        <p:spPr>
          <a:xfrm>
            <a:off x="713232" y="3840480"/>
            <a:ext cx="3291840" cy="384048"/>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wrap="none"/>
          <a:lstStyle/>
          <a:p>
            <a:pPr algn="ctr"/>
            <a:r>
              <a:rPr sz="1250" b="1">
                <a:solidFill>
                  <a:srgbClr val="21295C"/>
                </a:solidFill>
                <a:latin typeface="DejaVu Sans"/>
              </a:rPr>
              <a:t>2 базы · 3 провала</a:t>
            </a:r>
          </a:p>
        </p:txBody>
      </p:sp>
      <p:sp>
        <p:nvSpPr>
          <p:cNvPr id="8" name="TextBox 7"/>
          <p:cNvSpPr txBox="1"/>
          <p:nvPr/>
        </p:nvSpPr>
        <p:spPr>
          <a:xfrm>
            <a:off x="713232" y="4389120"/>
            <a:ext cx="6720840" cy="1417320"/>
          </a:xfrm>
          <a:prstGeom prst="rect">
            <a:avLst/>
          </a:prstGeom>
          <a:noFill/>
        </p:spPr>
        <p:txBody>
          <a:bodyPr wrap="square" lIns="0" rIns="0" tIns="0" bIns="0" anchor="t">
            <a:spAutoFit/>
          </a:bodyPr>
          <a:lstStyle/>
          <a:p>
            <a:pPr algn="l">
              <a:lnSpc>
                <a:spcPct val="116000"/>
              </a:lnSpc>
            </a:pPr>
            <a:r>
              <a:rPr sz="1500" b="0" i="1">
                <a:solidFill>
                  <a:srgbClr val="1C7293"/>
                </a:solidFill>
                <a:latin typeface="DejaVu Sans"/>
              </a:rPr>
              <a:t>Между «код работает у меня» и «продукт надёжно работает у миллионов 24/7» — пропасть, и её закрывают процессом эксплуатации, а не только качеством кода.</a:t>
            </a:r>
          </a:p>
        </p:txBody>
      </p:sp>
      <p:sp>
        <p:nvSpPr>
          <p:cNvPr id="9" name="Rounded Rectangle 8"/>
          <p:cNvSpPr/>
          <p:nvPr/>
        </p:nvSpPr>
        <p:spPr>
          <a:xfrm>
            <a:off x="502920" y="5989320"/>
            <a:ext cx="1521822"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21208" y="6035040"/>
            <a:ext cx="1485246" cy="164592"/>
          </a:xfrm>
          <a:prstGeom prst="rect">
            <a:avLst/>
          </a:prstGeom>
          <a:noFill/>
        </p:spPr>
        <p:txBody>
          <a:bodyPr wrap="square" lIns="0" rIns="0" tIns="0" bIns="0" anchor="t">
            <a:spAutoFit/>
          </a:bodyPr>
          <a:lstStyle/>
          <a:p>
            <a:pPr algn="ctr">
              <a:lnSpc>
                <a:spcPct val="115000"/>
              </a:lnSpc>
            </a:pPr>
            <a:r>
              <a:rPr sz="1050" b="1" i="0">
                <a:solidFill>
                  <a:srgbClr val="1C7293"/>
                </a:solidFill>
                <a:latin typeface="DejaVu Sans"/>
              </a:rPr>
              <a:t>0</a:t>
            </a:r>
          </a:p>
        </p:txBody>
      </p:sp>
      <p:sp>
        <p:nvSpPr>
          <p:cNvPr id="11" name="TextBox 10"/>
          <p:cNvSpPr txBox="1"/>
          <p:nvPr/>
        </p:nvSpPr>
        <p:spPr>
          <a:xfrm>
            <a:off x="521208" y="6217920"/>
            <a:ext cx="1485246" cy="274320"/>
          </a:xfrm>
          <a:prstGeom prst="rect">
            <a:avLst/>
          </a:prstGeom>
          <a:noFill/>
        </p:spPr>
        <p:txBody>
          <a:bodyPr wrap="square" lIns="0" rIns="0" tIns="0" bIns="0" anchor="t">
            <a:spAutoFit/>
          </a:bodyPr>
          <a:lstStyle/>
          <a:p>
            <a:pPr algn="ctr">
              <a:lnSpc>
                <a:spcPct val="92000"/>
              </a:lnSpc>
            </a:pPr>
            <a:r>
              <a:rPr sz="900" b="0" i="0">
                <a:solidFill>
                  <a:srgbClr val="5B6678"/>
                </a:solidFill>
                <a:latin typeface="DejaVu Sans"/>
              </a:rPr>
              <a:t>Введение</a:t>
            </a:r>
          </a:p>
        </p:txBody>
      </p:sp>
      <p:sp>
        <p:nvSpPr>
          <p:cNvPr id="12" name="Rounded Rectangle 11"/>
          <p:cNvSpPr/>
          <p:nvPr/>
        </p:nvSpPr>
        <p:spPr>
          <a:xfrm>
            <a:off x="2116182" y="5989320"/>
            <a:ext cx="1521822"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134470" y="6035040"/>
            <a:ext cx="1485246" cy="164592"/>
          </a:xfrm>
          <a:prstGeom prst="rect">
            <a:avLst/>
          </a:prstGeom>
          <a:noFill/>
        </p:spPr>
        <p:txBody>
          <a:bodyPr wrap="square" lIns="0" rIns="0" tIns="0" bIns="0" anchor="t">
            <a:spAutoFit/>
          </a:bodyPr>
          <a:lstStyle/>
          <a:p>
            <a:pPr algn="ctr">
              <a:lnSpc>
                <a:spcPct val="115000"/>
              </a:lnSpc>
            </a:pPr>
            <a:r>
              <a:rPr sz="1050" b="1" i="0">
                <a:solidFill>
                  <a:srgbClr val="1C7293"/>
                </a:solidFill>
                <a:latin typeface="DejaVu Sans"/>
              </a:rPr>
              <a:t>1</a:t>
            </a:r>
          </a:p>
        </p:txBody>
      </p:sp>
      <p:sp>
        <p:nvSpPr>
          <p:cNvPr id="14" name="TextBox 13"/>
          <p:cNvSpPr txBox="1"/>
          <p:nvPr/>
        </p:nvSpPr>
        <p:spPr>
          <a:xfrm>
            <a:off x="2134470" y="6217920"/>
            <a:ext cx="1485246" cy="274320"/>
          </a:xfrm>
          <a:prstGeom prst="rect">
            <a:avLst/>
          </a:prstGeom>
          <a:noFill/>
        </p:spPr>
        <p:txBody>
          <a:bodyPr wrap="square" lIns="0" rIns="0" tIns="0" bIns="0" anchor="t">
            <a:spAutoFit/>
          </a:bodyPr>
          <a:lstStyle/>
          <a:p>
            <a:pPr algn="ctr">
              <a:lnSpc>
                <a:spcPct val="92000"/>
              </a:lnSpc>
            </a:pPr>
            <a:r>
              <a:rPr sz="800" b="0" i="0">
                <a:solidFill>
                  <a:srgbClr val="5B6678"/>
                </a:solidFill>
                <a:latin typeface="DejaVu Sans"/>
              </a:rPr>
              <a:t>Исследование</a:t>
            </a:r>
          </a:p>
        </p:txBody>
      </p:sp>
      <p:sp>
        <p:nvSpPr>
          <p:cNvPr id="15" name="Rounded Rectangle 14"/>
          <p:cNvSpPr/>
          <p:nvPr/>
        </p:nvSpPr>
        <p:spPr>
          <a:xfrm>
            <a:off x="3729445" y="5989320"/>
            <a:ext cx="1521822"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747733" y="6035040"/>
            <a:ext cx="1485246" cy="164592"/>
          </a:xfrm>
          <a:prstGeom prst="rect">
            <a:avLst/>
          </a:prstGeom>
          <a:noFill/>
        </p:spPr>
        <p:txBody>
          <a:bodyPr wrap="square" lIns="0" rIns="0" tIns="0" bIns="0" anchor="t">
            <a:spAutoFit/>
          </a:bodyPr>
          <a:lstStyle/>
          <a:p>
            <a:pPr algn="ctr">
              <a:lnSpc>
                <a:spcPct val="115000"/>
              </a:lnSpc>
            </a:pPr>
            <a:r>
              <a:rPr sz="1050" b="1" i="0">
                <a:solidFill>
                  <a:srgbClr val="1C7293"/>
                </a:solidFill>
                <a:latin typeface="DejaVu Sans"/>
              </a:rPr>
              <a:t>2</a:t>
            </a:r>
          </a:p>
        </p:txBody>
      </p:sp>
      <p:sp>
        <p:nvSpPr>
          <p:cNvPr id="17" name="TextBox 16"/>
          <p:cNvSpPr txBox="1"/>
          <p:nvPr/>
        </p:nvSpPr>
        <p:spPr>
          <a:xfrm>
            <a:off x="3747733" y="6217920"/>
            <a:ext cx="1485246" cy="274320"/>
          </a:xfrm>
          <a:prstGeom prst="rect">
            <a:avLst/>
          </a:prstGeom>
          <a:noFill/>
        </p:spPr>
        <p:txBody>
          <a:bodyPr wrap="square" lIns="0" rIns="0" tIns="0" bIns="0" anchor="t">
            <a:spAutoFit/>
          </a:bodyPr>
          <a:lstStyle/>
          <a:p>
            <a:pPr algn="ctr">
              <a:lnSpc>
                <a:spcPct val="92000"/>
              </a:lnSpc>
            </a:pPr>
            <a:r>
              <a:rPr sz="900" b="0" i="0">
                <a:solidFill>
                  <a:srgbClr val="5B6678"/>
                </a:solidFill>
                <a:latin typeface="DejaVu Sans"/>
              </a:rPr>
              <a:t>Дизайн</a:t>
            </a:r>
          </a:p>
        </p:txBody>
      </p:sp>
      <p:sp>
        <p:nvSpPr>
          <p:cNvPr id="18" name="Rounded Rectangle 17"/>
          <p:cNvSpPr/>
          <p:nvPr/>
        </p:nvSpPr>
        <p:spPr>
          <a:xfrm>
            <a:off x="5342708" y="5989320"/>
            <a:ext cx="1521822"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360996" y="6035040"/>
            <a:ext cx="1485246" cy="164592"/>
          </a:xfrm>
          <a:prstGeom prst="rect">
            <a:avLst/>
          </a:prstGeom>
          <a:noFill/>
        </p:spPr>
        <p:txBody>
          <a:bodyPr wrap="square" lIns="0" rIns="0" tIns="0" bIns="0" anchor="t">
            <a:spAutoFit/>
          </a:bodyPr>
          <a:lstStyle/>
          <a:p>
            <a:pPr algn="ctr">
              <a:lnSpc>
                <a:spcPct val="115000"/>
              </a:lnSpc>
            </a:pPr>
            <a:r>
              <a:rPr sz="1050" b="1" i="0">
                <a:solidFill>
                  <a:srgbClr val="1C7293"/>
                </a:solidFill>
                <a:latin typeface="DejaVu Sans"/>
              </a:rPr>
              <a:t>3</a:t>
            </a:r>
          </a:p>
        </p:txBody>
      </p:sp>
      <p:sp>
        <p:nvSpPr>
          <p:cNvPr id="20" name="TextBox 19"/>
          <p:cNvSpPr txBox="1"/>
          <p:nvPr/>
        </p:nvSpPr>
        <p:spPr>
          <a:xfrm>
            <a:off x="5360996" y="6217920"/>
            <a:ext cx="1485246" cy="274320"/>
          </a:xfrm>
          <a:prstGeom prst="rect">
            <a:avLst/>
          </a:prstGeom>
          <a:noFill/>
        </p:spPr>
        <p:txBody>
          <a:bodyPr wrap="square" lIns="0" rIns="0" tIns="0" bIns="0" anchor="t">
            <a:spAutoFit/>
          </a:bodyPr>
          <a:lstStyle/>
          <a:p>
            <a:pPr algn="ctr">
              <a:lnSpc>
                <a:spcPct val="92000"/>
              </a:lnSpc>
            </a:pPr>
            <a:r>
              <a:rPr sz="800" b="0" i="0">
                <a:solidFill>
                  <a:srgbClr val="5B6678"/>
                </a:solidFill>
                <a:latin typeface="DejaVu Sans"/>
              </a:rPr>
              <a:t>Сборка и запуск</a:t>
            </a:r>
          </a:p>
        </p:txBody>
      </p:sp>
      <p:sp>
        <p:nvSpPr>
          <p:cNvPr id="21" name="Rounded Rectangle 20"/>
          <p:cNvSpPr/>
          <p:nvPr/>
        </p:nvSpPr>
        <p:spPr>
          <a:xfrm>
            <a:off x="6955971" y="5989320"/>
            <a:ext cx="1521822"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974259" y="6035040"/>
            <a:ext cx="1485246" cy="164592"/>
          </a:xfrm>
          <a:prstGeom prst="rect">
            <a:avLst/>
          </a:prstGeom>
          <a:noFill/>
        </p:spPr>
        <p:txBody>
          <a:bodyPr wrap="square" lIns="0" rIns="0" tIns="0" bIns="0" anchor="t">
            <a:spAutoFit/>
          </a:bodyPr>
          <a:lstStyle/>
          <a:p>
            <a:pPr algn="ctr">
              <a:lnSpc>
                <a:spcPct val="115000"/>
              </a:lnSpc>
            </a:pPr>
            <a:r>
              <a:rPr sz="1050" b="1" i="0">
                <a:solidFill>
                  <a:srgbClr val="1C7293"/>
                </a:solidFill>
                <a:latin typeface="DejaVu Sans"/>
              </a:rPr>
              <a:t>4</a:t>
            </a:r>
          </a:p>
        </p:txBody>
      </p:sp>
      <p:sp>
        <p:nvSpPr>
          <p:cNvPr id="23" name="TextBox 22"/>
          <p:cNvSpPr txBox="1"/>
          <p:nvPr/>
        </p:nvSpPr>
        <p:spPr>
          <a:xfrm>
            <a:off x="6974259" y="6217920"/>
            <a:ext cx="1485246" cy="274320"/>
          </a:xfrm>
          <a:prstGeom prst="rect">
            <a:avLst/>
          </a:prstGeom>
          <a:noFill/>
        </p:spPr>
        <p:txBody>
          <a:bodyPr wrap="square" lIns="0" rIns="0" tIns="0" bIns="0" anchor="t">
            <a:spAutoFit/>
          </a:bodyPr>
          <a:lstStyle/>
          <a:p>
            <a:pPr algn="ctr">
              <a:lnSpc>
                <a:spcPct val="92000"/>
              </a:lnSpc>
            </a:pPr>
            <a:r>
              <a:rPr sz="900" b="0" i="0">
                <a:solidFill>
                  <a:srgbClr val="5B6678"/>
                </a:solidFill>
                <a:latin typeface="DejaVu Sans"/>
              </a:rPr>
              <a:t>Измерение</a:t>
            </a:r>
          </a:p>
        </p:txBody>
      </p:sp>
      <p:sp>
        <p:nvSpPr>
          <p:cNvPr id="24" name="Rounded Rectangle 23"/>
          <p:cNvSpPr/>
          <p:nvPr/>
        </p:nvSpPr>
        <p:spPr>
          <a:xfrm>
            <a:off x="8569234" y="5989320"/>
            <a:ext cx="1521822" cy="530352"/>
          </a:xfrm>
          <a:prstGeom prst="roundRect">
            <a:avLst>
              <a:gd name="adj" fmla="val 12000"/>
            </a:avLst>
          </a:prstGeom>
          <a:solidFill>
            <a:srgbClr val="FDF3DC"/>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8587522" y="6035040"/>
            <a:ext cx="1485246" cy="164592"/>
          </a:xfrm>
          <a:prstGeom prst="rect">
            <a:avLst/>
          </a:prstGeom>
          <a:noFill/>
        </p:spPr>
        <p:txBody>
          <a:bodyPr wrap="square" lIns="0" rIns="0" tIns="0" bIns="0" anchor="t">
            <a:spAutoFit/>
          </a:bodyPr>
          <a:lstStyle/>
          <a:p>
            <a:pPr algn="ctr">
              <a:lnSpc>
                <a:spcPct val="115000"/>
              </a:lnSpc>
            </a:pPr>
            <a:r>
              <a:rPr sz="1050" b="1" i="0">
                <a:solidFill>
                  <a:srgbClr val="21295C"/>
                </a:solidFill>
                <a:latin typeface="DejaVu Sans"/>
              </a:rPr>
              <a:t>5</a:t>
            </a:r>
          </a:p>
        </p:txBody>
      </p:sp>
      <p:sp>
        <p:nvSpPr>
          <p:cNvPr id="26" name="TextBox 25"/>
          <p:cNvSpPr txBox="1"/>
          <p:nvPr/>
        </p:nvSpPr>
        <p:spPr>
          <a:xfrm>
            <a:off x="8587522" y="6217920"/>
            <a:ext cx="1485246" cy="274320"/>
          </a:xfrm>
          <a:prstGeom prst="rect">
            <a:avLst/>
          </a:prstGeom>
          <a:noFill/>
        </p:spPr>
        <p:txBody>
          <a:bodyPr wrap="square" lIns="0" rIns="0" tIns="0" bIns="0" anchor="t">
            <a:spAutoFit/>
          </a:bodyPr>
          <a:lstStyle/>
          <a:p>
            <a:pPr algn="ctr">
              <a:lnSpc>
                <a:spcPct val="92000"/>
              </a:lnSpc>
            </a:pPr>
            <a:r>
              <a:rPr sz="900" b="1" i="0">
                <a:solidFill>
                  <a:srgbClr val="21295C"/>
                </a:solidFill>
                <a:latin typeface="DejaVu Sans"/>
              </a:rPr>
              <a:t>Поддержка</a:t>
            </a:r>
          </a:p>
        </p:txBody>
      </p:sp>
      <p:sp>
        <p:nvSpPr>
          <p:cNvPr id="27" name="Rounded Rectangle 26"/>
          <p:cNvSpPr/>
          <p:nvPr/>
        </p:nvSpPr>
        <p:spPr>
          <a:xfrm>
            <a:off x="10182497" y="5989320"/>
            <a:ext cx="1521822"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10200785" y="6035040"/>
            <a:ext cx="1485246" cy="164592"/>
          </a:xfrm>
          <a:prstGeom prst="rect">
            <a:avLst/>
          </a:prstGeom>
          <a:noFill/>
        </p:spPr>
        <p:txBody>
          <a:bodyPr wrap="square" lIns="0" rIns="0" tIns="0" bIns="0" anchor="t">
            <a:spAutoFit/>
          </a:bodyPr>
          <a:lstStyle/>
          <a:p>
            <a:pPr algn="ctr">
              <a:lnSpc>
                <a:spcPct val="115000"/>
              </a:lnSpc>
            </a:pPr>
            <a:r>
              <a:rPr sz="1050" b="1" i="0">
                <a:solidFill>
                  <a:srgbClr val="1C7293"/>
                </a:solidFill>
                <a:latin typeface="DejaVu Sans"/>
              </a:rPr>
              <a:t>6</a:t>
            </a:r>
          </a:p>
        </p:txBody>
      </p:sp>
      <p:sp>
        <p:nvSpPr>
          <p:cNvPr id="29" name="TextBox 28"/>
          <p:cNvSpPr txBox="1"/>
          <p:nvPr/>
        </p:nvSpPr>
        <p:spPr>
          <a:xfrm>
            <a:off x="10200785" y="6217920"/>
            <a:ext cx="1485246" cy="274320"/>
          </a:xfrm>
          <a:prstGeom prst="rect">
            <a:avLst/>
          </a:prstGeom>
          <a:noFill/>
        </p:spPr>
        <p:txBody>
          <a:bodyPr wrap="square" lIns="0" rIns="0" tIns="0" bIns="0" anchor="t">
            <a:spAutoFit/>
          </a:bodyPr>
          <a:lstStyle/>
          <a:p>
            <a:pPr algn="ctr">
              <a:lnSpc>
                <a:spcPct val="92000"/>
              </a:lnSpc>
            </a:pPr>
            <a:r>
              <a:rPr sz="800" b="0" i="0">
                <a:solidFill>
                  <a:srgbClr val="5B6678"/>
                </a:solidFill>
                <a:latin typeface="DejaVu Sans"/>
              </a:rPr>
              <a:t>Управление</a:t>
            </a:r>
          </a:p>
        </p:txBody>
      </p:sp>
      <p:sp>
        <p:nvSpPr>
          <p:cNvPr id="30" name="TextBox 29"/>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41 / 56</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65760"/>
            <a:ext cx="10972800" cy="777240"/>
          </a:xfrm>
          <a:prstGeom prst="rect">
            <a:avLst/>
          </a:prstGeom>
          <a:noFill/>
        </p:spPr>
        <p:txBody>
          <a:bodyPr wrap="square" lIns="0" rIns="0" tIns="0" bIns="0" anchor="t">
            <a:spAutoFit/>
          </a:bodyPr>
          <a:lstStyle/>
          <a:p>
            <a:pPr algn="l">
              <a:lnSpc>
                <a:spcPct val="110000"/>
              </a:lnSpc>
            </a:pPr>
            <a:r>
              <a:rPr sz="2600" b="1" i="0">
                <a:solidFill>
                  <a:srgbClr val="21295C"/>
                </a:solidFill>
                <a:latin typeface="DejaVu Sans"/>
              </a:rPr>
              <a:t>Поддержка простыми словами</a:t>
            </a:r>
          </a:p>
        </p:txBody>
      </p:sp>
      <p:sp>
        <p:nvSpPr>
          <p:cNvPr id="3" name="Rounded Rectangle 2"/>
          <p:cNvSpPr/>
          <p:nvPr/>
        </p:nvSpPr>
        <p:spPr>
          <a:xfrm>
            <a:off x="502920" y="1554480"/>
            <a:ext cx="2514600" cy="4709160"/>
          </a:xfrm>
          <a:prstGeom prst="roundRect">
            <a:avLst>
              <a:gd name="adj" fmla="val 6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headphones-mid.png"/>
          <p:cNvPicPr>
            <a:picLocks noChangeAspect="1"/>
          </p:cNvPicPr>
          <p:nvPr/>
        </p:nvPicPr>
        <p:blipFill>
          <a:blip r:embed="rId2"/>
          <a:stretch>
            <a:fillRect/>
          </a:stretch>
        </p:blipFill>
        <p:spPr>
          <a:xfrm>
            <a:off x="1234440" y="3249777"/>
            <a:ext cx="1051560" cy="1051560"/>
          </a:xfrm>
          <a:prstGeom prst="rect">
            <a:avLst/>
          </a:prstGeom>
        </p:spPr>
      </p:pic>
      <p:sp>
        <p:nvSpPr>
          <p:cNvPr id="5" name="Rounded Rectangle 4"/>
          <p:cNvSpPr/>
          <p:nvPr/>
        </p:nvSpPr>
        <p:spPr>
          <a:xfrm>
            <a:off x="777240" y="5715000"/>
            <a:ext cx="1965960" cy="402336"/>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wrap="none"/>
          <a:lstStyle/>
          <a:p>
            <a:pPr algn="ctr"/>
            <a:r>
              <a:rPr sz="1150" b="1">
                <a:solidFill>
                  <a:srgbClr val="21295C"/>
                </a:solidFill>
                <a:latin typeface="DejaVu Sans"/>
              </a:rPr>
              <a:t>простыми словами</a:t>
            </a:r>
          </a:p>
        </p:txBody>
      </p:sp>
      <p:sp>
        <p:nvSpPr>
          <p:cNvPr id="6" name="Rounded Rectangle 5"/>
          <p:cNvSpPr/>
          <p:nvPr/>
        </p:nvSpPr>
        <p:spPr>
          <a:xfrm>
            <a:off x="3337560" y="1554480"/>
            <a:ext cx="8366760" cy="1417320"/>
          </a:xfrm>
          <a:prstGeom prst="roundRect">
            <a:avLst>
              <a:gd name="adj" fmla="val 21505"/>
            </a:avLst>
          </a:prstGeom>
          <a:solidFill>
            <a:srgbClr val="F4F7FA"/>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593591" y="1700784"/>
            <a:ext cx="7854696" cy="310896"/>
          </a:xfrm>
          <a:prstGeom prst="rect">
            <a:avLst/>
          </a:prstGeom>
          <a:noFill/>
        </p:spPr>
        <p:txBody>
          <a:bodyPr wrap="square" lIns="0" rIns="0" tIns="0" bIns="0" anchor="t">
            <a:spAutoFit/>
          </a:bodyPr>
          <a:lstStyle/>
          <a:p>
            <a:pPr algn="l">
              <a:lnSpc>
                <a:spcPct val="115000"/>
              </a:lnSpc>
            </a:pPr>
            <a:r>
              <a:rPr sz="1500" b="1" i="0">
                <a:solidFill>
                  <a:srgbClr val="F0AB00"/>
                </a:solidFill>
                <a:latin typeface="DejaVu Sans"/>
              </a:rPr>
              <a:t>Что это</a:t>
            </a:r>
          </a:p>
        </p:txBody>
      </p:sp>
      <p:sp>
        <p:nvSpPr>
          <p:cNvPr id="8" name="TextBox 7"/>
          <p:cNvSpPr txBox="1"/>
          <p:nvPr/>
        </p:nvSpPr>
        <p:spPr>
          <a:xfrm>
            <a:off x="3593591" y="2066543"/>
            <a:ext cx="7854696" cy="758952"/>
          </a:xfrm>
          <a:prstGeom prst="rect">
            <a:avLst/>
          </a:prstGeom>
          <a:noFill/>
        </p:spPr>
        <p:txBody>
          <a:bodyPr wrap="square" lIns="0" rIns="0" tIns="0" bIns="0" anchor="t">
            <a:spAutoFit/>
          </a:bodyPr>
          <a:lstStyle/>
          <a:p>
            <a:pPr algn="l">
              <a:lnSpc>
                <a:spcPct val="122000"/>
              </a:lnSpc>
            </a:pPr>
            <a:r>
              <a:rPr sz="1350" b="0" i="0">
                <a:solidFill>
                  <a:srgbClr val="21295C"/>
                </a:solidFill>
                <a:latin typeface="DejaVu Sans"/>
              </a:rPr>
              <a:t>Продукт уже живёт у людей круглосуточно: его надо наблюдать, чинить сбои и отвечать на жалобы — годами.</a:t>
            </a:r>
          </a:p>
        </p:txBody>
      </p:sp>
      <p:sp>
        <p:nvSpPr>
          <p:cNvPr id="9" name="Rounded Rectangle 8"/>
          <p:cNvSpPr/>
          <p:nvPr/>
        </p:nvSpPr>
        <p:spPr>
          <a:xfrm>
            <a:off x="3337560" y="3200400"/>
            <a:ext cx="8366760" cy="1417320"/>
          </a:xfrm>
          <a:prstGeom prst="roundRect">
            <a:avLst>
              <a:gd name="adj" fmla="val 21505"/>
            </a:avLst>
          </a:prstGeom>
          <a:solidFill>
            <a:srgbClr val="F4F7FA"/>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593591" y="3346704"/>
            <a:ext cx="7854696" cy="310896"/>
          </a:xfrm>
          <a:prstGeom prst="rect">
            <a:avLst/>
          </a:prstGeom>
          <a:noFill/>
        </p:spPr>
        <p:txBody>
          <a:bodyPr wrap="square" lIns="0" rIns="0" tIns="0" bIns="0" anchor="t">
            <a:spAutoFit/>
          </a:bodyPr>
          <a:lstStyle/>
          <a:p>
            <a:pPr algn="l">
              <a:lnSpc>
                <a:spcPct val="115000"/>
              </a:lnSpc>
            </a:pPr>
            <a:r>
              <a:rPr sz="1500" b="1" i="0">
                <a:solidFill>
                  <a:srgbClr val="065A82"/>
                </a:solidFill>
                <a:latin typeface="DejaVu Sans"/>
              </a:rPr>
              <a:t>Зачем</a:t>
            </a:r>
          </a:p>
        </p:txBody>
      </p:sp>
      <p:sp>
        <p:nvSpPr>
          <p:cNvPr id="11" name="TextBox 10"/>
          <p:cNvSpPr txBox="1"/>
          <p:nvPr/>
        </p:nvSpPr>
        <p:spPr>
          <a:xfrm>
            <a:off x="3593591" y="3712464"/>
            <a:ext cx="7854696" cy="758952"/>
          </a:xfrm>
          <a:prstGeom prst="rect">
            <a:avLst/>
          </a:prstGeom>
          <a:noFill/>
        </p:spPr>
        <p:txBody>
          <a:bodyPr wrap="square" lIns="0" rIns="0" tIns="0" bIns="0" anchor="t">
            <a:spAutoFit/>
          </a:bodyPr>
          <a:lstStyle/>
          <a:p>
            <a:pPr algn="l">
              <a:lnSpc>
                <a:spcPct val="122000"/>
              </a:lnSpc>
            </a:pPr>
            <a:r>
              <a:rPr sz="1350" b="0" i="0">
                <a:solidFill>
                  <a:srgbClr val="21295C"/>
                </a:solidFill>
                <a:latin typeface="DejaVu Sans"/>
              </a:rPr>
              <a:t>«Работает у меня» и «надёжно работает у миллионов 24/7» — разные вещи. Разрыв закрывают процессом, а не только чистым кодом.</a:t>
            </a:r>
          </a:p>
        </p:txBody>
      </p:sp>
      <p:sp>
        <p:nvSpPr>
          <p:cNvPr id="12" name="Rounded Rectangle 11"/>
          <p:cNvSpPr/>
          <p:nvPr/>
        </p:nvSpPr>
        <p:spPr>
          <a:xfrm>
            <a:off x="3337560" y="4846320"/>
            <a:ext cx="8366760" cy="1417320"/>
          </a:xfrm>
          <a:prstGeom prst="roundRect">
            <a:avLst>
              <a:gd name="adj" fmla="val 21505"/>
            </a:avLst>
          </a:prstGeom>
          <a:solidFill>
            <a:srgbClr val="F4F7FA"/>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593591" y="4992624"/>
            <a:ext cx="7854696" cy="310896"/>
          </a:xfrm>
          <a:prstGeom prst="rect">
            <a:avLst/>
          </a:prstGeom>
          <a:noFill/>
        </p:spPr>
        <p:txBody>
          <a:bodyPr wrap="square" lIns="0" rIns="0" tIns="0" bIns="0" anchor="t">
            <a:spAutoFit/>
          </a:bodyPr>
          <a:lstStyle/>
          <a:p>
            <a:pPr algn="l">
              <a:lnSpc>
                <a:spcPct val="115000"/>
              </a:lnSpc>
            </a:pPr>
            <a:r>
              <a:rPr sz="1500" b="1" i="0">
                <a:solidFill>
                  <a:srgbClr val="065A82"/>
                </a:solidFill>
                <a:latin typeface="DejaVu Sans"/>
              </a:rPr>
              <a:t>Ментальная модель</a:t>
            </a:r>
          </a:p>
        </p:txBody>
      </p:sp>
      <p:sp>
        <p:nvSpPr>
          <p:cNvPr id="14" name="TextBox 13"/>
          <p:cNvSpPr txBox="1"/>
          <p:nvPr/>
        </p:nvSpPr>
        <p:spPr>
          <a:xfrm>
            <a:off x="3593591" y="5358383"/>
            <a:ext cx="7854696" cy="758952"/>
          </a:xfrm>
          <a:prstGeom prst="rect">
            <a:avLst/>
          </a:prstGeom>
          <a:noFill/>
        </p:spPr>
        <p:txBody>
          <a:bodyPr wrap="square" lIns="0" rIns="0" tIns="0" bIns="0" anchor="t">
            <a:spAutoFit/>
          </a:bodyPr>
          <a:lstStyle/>
          <a:p>
            <a:pPr algn="l">
              <a:lnSpc>
                <a:spcPct val="122000"/>
              </a:lnSpc>
            </a:pPr>
            <a:r>
              <a:rPr sz="1350" b="0" i="0">
                <a:solidFill>
                  <a:srgbClr val="21295C"/>
                </a:solidFill>
                <a:latin typeface="DejaVu Sans"/>
              </a:rPr>
              <a:t>Заранее договариваемся, сколько сбоев допустимо (бюджет на ошибки). С ИИ сложнее: модель может «тихо деградировать», пока графики ещё зелёные.</a:t>
            </a:r>
          </a:p>
        </p:txBody>
      </p:sp>
      <p:sp>
        <p:nvSpPr>
          <p:cNvPr id="15" name="TextBox 14"/>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42 / 56</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65760"/>
            <a:ext cx="11247120" cy="777240"/>
          </a:xfrm>
          <a:prstGeom prst="rect">
            <a:avLst/>
          </a:prstGeom>
          <a:noFill/>
        </p:spPr>
        <p:txBody>
          <a:bodyPr wrap="square" lIns="0" rIns="0" tIns="0" bIns="0" anchor="t">
            <a:spAutoFit/>
          </a:bodyPr>
          <a:lstStyle/>
          <a:p>
            <a:pPr algn="l">
              <a:lnSpc>
                <a:spcPct val="110000"/>
              </a:lnSpc>
            </a:pPr>
            <a:r>
              <a:rPr sz="2000" b="1" i="0">
                <a:solidFill>
                  <a:srgbClr val="21295C"/>
                </a:solidFill>
                <a:latin typeface="DejaVu Sans"/>
              </a:rPr>
              <a:t>Ответ с кодом 200 ничего не говорит о том, галлюцинирует ли модель</a:t>
            </a:r>
          </a:p>
        </p:txBody>
      </p:sp>
      <p:sp>
        <p:nvSpPr>
          <p:cNvPr id="3" name="Rounded Rectangle 2"/>
          <p:cNvSpPr/>
          <p:nvPr/>
        </p:nvSpPr>
        <p:spPr>
          <a:xfrm>
            <a:off x="502920" y="1600200"/>
            <a:ext cx="2834640" cy="1051560"/>
          </a:xfrm>
          <a:prstGeom prst="roundRect">
            <a:avLst>
              <a:gd name="adj" fmla="val 22000"/>
            </a:avLst>
          </a:prstGeom>
          <a:solidFill>
            <a:srgbClr val="F4F7FA"/>
          </a:solidFill>
          <a:ln w="1905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94360" y="1764792"/>
            <a:ext cx="2651760" cy="365760"/>
          </a:xfrm>
          <a:prstGeom prst="rect">
            <a:avLst/>
          </a:prstGeom>
          <a:noFill/>
        </p:spPr>
        <p:txBody>
          <a:bodyPr wrap="square" lIns="0" rIns="0" tIns="0" bIns="0" anchor="t">
            <a:spAutoFit/>
          </a:bodyPr>
          <a:lstStyle/>
          <a:p>
            <a:pPr algn="ctr">
              <a:lnSpc>
                <a:spcPct val="115000"/>
              </a:lnSpc>
            </a:pPr>
            <a:r>
              <a:rPr sz="1400" b="1" i="0">
                <a:solidFill>
                  <a:srgbClr val="21295C"/>
                </a:solidFill>
                <a:latin typeface="DejaVu Sans"/>
              </a:rPr>
              <a:t>SLI</a:t>
            </a:r>
          </a:p>
        </p:txBody>
      </p:sp>
      <p:sp>
        <p:nvSpPr>
          <p:cNvPr id="5" name="TextBox 4"/>
          <p:cNvSpPr txBox="1"/>
          <p:nvPr/>
        </p:nvSpPr>
        <p:spPr>
          <a:xfrm>
            <a:off x="594360" y="2203704"/>
            <a:ext cx="2651760" cy="310896"/>
          </a:xfrm>
          <a:prstGeom prst="rect">
            <a:avLst/>
          </a:prstGeom>
          <a:noFill/>
        </p:spPr>
        <p:txBody>
          <a:bodyPr wrap="square" lIns="0" rIns="0" tIns="0" bIns="0" anchor="t">
            <a:spAutoFit/>
          </a:bodyPr>
          <a:lstStyle/>
          <a:p>
            <a:pPr algn="ctr">
              <a:lnSpc>
                <a:spcPct val="115000"/>
              </a:lnSpc>
            </a:pPr>
            <a:r>
              <a:rPr sz="1100" b="0" i="1">
                <a:solidFill>
                  <a:srgbClr val="5B6678"/>
                </a:solidFill>
                <a:latin typeface="DejaVu Sans"/>
              </a:rPr>
              <a:t>показатель</a:t>
            </a:r>
          </a:p>
        </p:txBody>
      </p:sp>
      <p:sp>
        <p:nvSpPr>
          <p:cNvPr id="6" name="Right Arrow 5"/>
          <p:cNvSpPr/>
          <p:nvPr/>
        </p:nvSpPr>
        <p:spPr>
          <a:xfrm>
            <a:off x="3364992" y="2002536"/>
            <a:ext cx="265176" cy="237744"/>
          </a:xfrm>
          <a:prstGeom prst="rightArrow">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3657600" y="1600200"/>
            <a:ext cx="2834640" cy="1051560"/>
          </a:xfrm>
          <a:prstGeom prst="roundRect">
            <a:avLst>
              <a:gd name="adj" fmla="val 22000"/>
            </a:avLst>
          </a:prstGeom>
          <a:solidFill>
            <a:srgbClr val="F4F7FA"/>
          </a:solidFill>
          <a:ln w="1905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749039" y="1764792"/>
            <a:ext cx="2651760" cy="365760"/>
          </a:xfrm>
          <a:prstGeom prst="rect">
            <a:avLst/>
          </a:prstGeom>
          <a:noFill/>
        </p:spPr>
        <p:txBody>
          <a:bodyPr wrap="square" lIns="0" rIns="0" tIns="0" bIns="0" anchor="t">
            <a:spAutoFit/>
          </a:bodyPr>
          <a:lstStyle/>
          <a:p>
            <a:pPr algn="ctr">
              <a:lnSpc>
                <a:spcPct val="115000"/>
              </a:lnSpc>
            </a:pPr>
            <a:r>
              <a:rPr sz="1400" b="1" i="0">
                <a:solidFill>
                  <a:srgbClr val="21295C"/>
                </a:solidFill>
                <a:latin typeface="DejaVu Sans"/>
              </a:rPr>
              <a:t>SLO</a:t>
            </a:r>
          </a:p>
        </p:txBody>
      </p:sp>
      <p:sp>
        <p:nvSpPr>
          <p:cNvPr id="9" name="TextBox 8"/>
          <p:cNvSpPr txBox="1"/>
          <p:nvPr/>
        </p:nvSpPr>
        <p:spPr>
          <a:xfrm>
            <a:off x="3749039" y="2203704"/>
            <a:ext cx="2651760" cy="310896"/>
          </a:xfrm>
          <a:prstGeom prst="rect">
            <a:avLst/>
          </a:prstGeom>
          <a:noFill/>
        </p:spPr>
        <p:txBody>
          <a:bodyPr wrap="square" lIns="0" rIns="0" tIns="0" bIns="0" anchor="t">
            <a:spAutoFit/>
          </a:bodyPr>
          <a:lstStyle/>
          <a:p>
            <a:pPr algn="ctr">
              <a:lnSpc>
                <a:spcPct val="115000"/>
              </a:lnSpc>
            </a:pPr>
            <a:r>
              <a:rPr sz="1100" b="0" i="1">
                <a:solidFill>
                  <a:srgbClr val="5B6678"/>
                </a:solidFill>
                <a:latin typeface="DejaVu Sans"/>
              </a:rPr>
              <a:t>цель 99,9%</a:t>
            </a:r>
          </a:p>
        </p:txBody>
      </p:sp>
      <p:sp>
        <p:nvSpPr>
          <p:cNvPr id="10" name="Right Arrow 9"/>
          <p:cNvSpPr/>
          <p:nvPr/>
        </p:nvSpPr>
        <p:spPr>
          <a:xfrm>
            <a:off x="6519672" y="2002536"/>
            <a:ext cx="265176" cy="237744"/>
          </a:xfrm>
          <a:prstGeom prst="rightArrow">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812280" y="1600200"/>
            <a:ext cx="2834640" cy="1051560"/>
          </a:xfrm>
          <a:prstGeom prst="roundRect">
            <a:avLst>
              <a:gd name="adj" fmla="val 22000"/>
            </a:avLst>
          </a:prstGeom>
          <a:solidFill>
            <a:srgbClr val="F4F7FA"/>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903720" y="1764792"/>
            <a:ext cx="2651760" cy="365760"/>
          </a:xfrm>
          <a:prstGeom prst="rect">
            <a:avLst/>
          </a:prstGeom>
          <a:noFill/>
        </p:spPr>
        <p:txBody>
          <a:bodyPr wrap="square" lIns="0" rIns="0" tIns="0" bIns="0" anchor="t">
            <a:spAutoFit/>
          </a:bodyPr>
          <a:lstStyle/>
          <a:p>
            <a:pPr algn="ctr">
              <a:lnSpc>
                <a:spcPct val="115000"/>
              </a:lnSpc>
            </a:pPr>
            <a:r>
              <a:rPr sz="1400" b="1" i="0">
                <a:solidFill>
                  <a:srgbClr val="21295C"/>
                </a:solidFill>
                <a:latin typeface="DejaVu Sans"/>
              </a:rPr>
              <a:t>Error budget</a:t>
            </a:r>
          </a:p>
        </p:txBody>
      </p:sp>
      <p:sp>
        <p:nvSpPr>
          <p:cNvPr id="13" name="TextBox 12"/>
          <p:cNvSpPr txBox="1"/>
          <p:nvPr/>
        </p:nvSpPr>
        <p:spPr>
          <a:xfrm>
            <a:off x="6903720" y="2203704"/>
            <a:ext cx="2651760" cy="310896"/>
          </a:xfrm>
          <a:prstGeom prst="rect">
            <a:avLst/>
          </a:prstGeom>
          <a:noFill/>
        </p:spPr>
        <p:txBody>
          <a:bodyPr wrap="square" lIns="0" rIns="0" tIns="0" bIns="0" anchor="t">
            <a:spAutoFit/>
          </a:bodyPr>
          <a:lstStyle/>
          <a:p>
            <a:pPr algn="ctr">
              <a:lnSpc>
                <a:spcPct val="115000"/>
              </a:lnSpc>
            </a:pPr>
            <a:r>
              <a:rPr sz="1100" b="0" i="1">
                <a:solidFill>
                  <a:srgbClr val="5B6678"/>
                </a:solidFill>
                <a:latin typeface="DejaVu Sans"/>
              </a:rPr>
              <a:t>«1 − SLO»</a:t>
            </a:r>
          </a:p>
        </p:txBody>
      </p:sp>
      <p:sp>
        <p:nvSpPr>
          <p:cNvPr id="14" name="TextBox 13"/>
          <p:cNvSpPr txBox="1"/>
          <p:nvPr/>
        </p:nvSpPr>
        <p:spPr>
          <a:xfrm>
            <a:off x="502920" y="2788920"/>
            <a:ext cx="10058400" cy="457200"/>
          </a:xfrm>
          <a:prstGeom prst="rect">
            <a:avLst/>
          </a:prstGeom>
          <a:noFill/>
        </p:spPr>
        <p:txBody>
          <a:bodyPr wrap="square" lIns="0" rIns="0" tIns="0" bIns="0" anchor="t">
            <a:spAutoFit/>
          </a:bodyPr>
          <a:lstStyle/>
          <a:p>
            <a:pPr algn="l">
              <a:lnSpc>
                <a:spcPct val="115000"/>
              </a:lnSpc>
            </a:pPr>
            <a:r>
              <a:rPr sz="1250" b="0" i="0">
                <a:solidFill>
                  <a:srgbClr val="21295C"/>
                </a:solidFill>
                <a:latin typeface="DejaVu Sans"/>
              </a:rPr>
              <a:t>Error budget = «1 − SLO». Пример: 99,9% → 1000 ошибок на 1 млн запросов за 4 недели. Изменения — ≈70% всех сбоев </a:t>
            </a:r>
            <a:r>
              <a:rPr sz="650" baseline="30000" b="0" i="1">
                <a:latin typeface="DejaVu Sans"/>
                <a:cs typeface="DejaVu Sans"/>
                <a:ea typeface="DejaVu Sans"/>
                <a:solidFill>
                  <a:srgbClr val="1C7293"/>
                </a:solidFill>
              </a:rPr>
              <a:t>[1]</a:t>
            </a:r>
            <a:r>
              <a:rPr sz="1250" b="0" i="0">
                <a:latin typeface="DejaVu Sans"/>
                <a:cs typeface="DejaVu Sans"/>
                <a:ea typeface="DejaVu Sans"/>
                <a:solidFill>
                  <a:srgbClr val="21295C"/>
                </a:solidFill>
              </a:rPr>
              <a:t>.</a:t>
            </a:r>
          </a:p>
        </p:txBody>
      </p:sp>
      <p:sp>
        <p:nvSpPr>
          <p:cNvPr id="15" name="Rounded Rectangle 14"/>
          <p:cNvSpPr/>
          <p:nvPr/>
        </p:nvSpPr>
        <p:spPr>
          <a:xfrm>
            <a:off x="502920" y="3429000"/>
            <a:ext cx="11201400" cy="1005840"/>
          </a:xfrm>
          <a:prstGeom prst="roundRect">
            <a:avLst>
              <a:gd name="adj" fmla="val 6000"/>
            </a:avLst>
          </a:prstGeom>
          <a:solidFill>
            <a:srgbClr val="E5EAF0"/>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x-light.png"/>
          <p:cNvPicPr>
            <a:picLocks noChangeAspect="1"/>
          </p:cNvPicPr>
          <p:nvPr/>
        </p:nvPicPr>
        <p:blipFill>
          <a:blip r:embed="rId2"/>
          <a:stretch>
            <a:fillRect/>
          </a:stretch>
        </p:blipFill>
        <p:spPr>
          <a:xfrm>
            <a:off x="777240" y="3657600"/>
            <a:ext cx="502920" cy="502920"/>
          </a:xfrm>
          <a:prstGeom prst="rect">
            <a:avLst/>
          </a:prstGeom>
        </p:spPr>
      </p:pic>
      <p:sp>
        <p:nvSpPr>
          <p:cNvPr id="17" name="TextBox 16"/>
          <p:cNvSpPr txBox="1"/>
          <p:nvPr/>
        </p:nvSpPr>
        <p:spPr>
          <a:xfrm>
            <a:off x="1463040" y="3566160"/>
            <a:ext cx="9966960" cy="777240"/>
          </a:xfrm>
          <a:prstGeom prst="rect">
            <a:avLst/>
          </a:prstGeom>
          <a:noFill/>
        </p:spPr>
        <p:txBody>
          <a:bodyPr wrap="square" lIns="0" rIns="0" tIns="0" bIns="0" anchor="ctr">
            <a:spAutoFit/>
          </a:bodyPr>
          <a:lstStyle/>
          <a:p>
            <a:pPr algn="l">
              <a:lnSpc>
                <a:spcPct val="115000"/>
              </a:lnSpc>
            </a:pPr>
            <a:r>
              <a:rPr sz="1300" b="1" i="0">
                <a:solidFill>
                  <a:srgbClr val="21295C"/>
                </a:solidFill>
                <a:latin typeface="DejaVu Sans"/>
              </a:rPr>
              <a:t>SLI «доля ответов с кодом 200» = всё ок? Нет: 200 приходит и когда модель уверенно галлюцинирует. Инфраструктурная метрика не видит качества ответа.</a:t>
            </a:r>
          </a:p>
        </p:txBody>
      </p:sp>
      <p:sp>
        <p:nvSpPr>
          <p:cNvPr id="18" name="Rounded Rectangle 17"/>
          <p:cNvSpPr/>
          <p:nvPr/>
        </p:nvSpPr>
        <p:spPr>
          <a:xfrm>
            <a:off x="502920" y="4617720"/>
            <a:ext cx="11201400" cy="822960"/>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22376" y="4672583"/>
            <a:ext cx="10762488" cy="713232"/>
          </a:xfrm>
          <a:prstGeom prst="rect">
            <a:avLst/>
          </a:prstGeom>
          <a:noFill/>
        </p:spPr>
        <p:txBody>
          <a:bodyPr wrap="square" lIns="0" rIns="0" tIns="0" bIns="0" anchor="ctr">
            <a:spAutoFit/>
          </a:bodyPr>
          <a:lstStyle/>
          <a:p>
            <a:pPr algn="l">
              <a:lnSpc>
                <a:spcPct val="120000"/>
              </a:lnSpc>
            </a:pPr>
            <a:r>
              <a:rPr sz="1300" b="1" i="0">
                <a:solidFill>
                  <a:srgbClr val="21295C"/>
                </a:solidFill>
                <a:latin typeface="DejaVu Sans"/>
              </a:rPr>
              <a:t>Дежурства, разбор инцидентов без поиска виноватых, инструкции — вы это можете знать. Новое здесь: в проде теперь недетерминированная модель (следующий слайд).</a:t>
            </a:r>
          </a:p>
        </p:txBody>
      </p:sp>
      <p:sp>
        <p:nvSpPr>
          <p:cNvPr id="20" name="TextBox 19"/>
          <p:cNvSpPr txBox="1"/>
          <p:nvPr/>
        </p:nvSpPr>
        <p:spPr>
          <a:xfrm>
            <a:off x="502920" y="6455664"/>
            <a:ext cx="11201400" cy="548640"/>
          </a:xfrm>
          <a:prstGeom prst="rect">
            <a:avLst/>
          </a:prstGeom>
          <a:noFill/>
        </p:spPr>
        <p:txBody>
          <a:bodyPr wrap="square" lIns="0" rIns="0" tIns="0" bIns="0" anchor="t">
            <a:spAutoFit/>
          </a:bodyPr>
          <a:lstStyle/>
          <a:p>
            <a:pPr algn="l">
              <a:lnSpc>
                <a:spcPct val="102000"/>
              </a:lnSpc>
            </a:pPr>
            <a:r>
              <a:rPr sz="850" b="1" i="1">
                <a:solidFill>
                  <a:srgbClr val="065A82"/>
                </a:solidFill>
                <a:latin typeface="DejaVu Sans"/>
              </a:rPr>
              <a:t>[1] </a:t>
            </a:r>
            <a:r>
              <a:rPr sz="850" i="1">
                <a:solidFill>
                  <a:srgbClr val="1C7293"/>
                </a:solidFill>
                <a:latin typeface="DejaVu Sans"/>
                <a:hlinkClick r:id="rId3"/>
              </a:rPr>
              <a:t>Google SRE — Error Budget Policy</a:t>
            </a:r>
          </a:p>
        </p:txBody>
      </p:sp>
      <p:sp>
        <p:nvSpPr>
          <p:cNvPr id="21" name="TextBox 20"/>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43 / 56</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65760"/>
            <a:ext cx="11247120" cy="777240"/>
          </a:xfrm>
          <a:prstGeom prst="rect">
            <a:avLst/>
          </a:prstGeom>
          <a:noFill/>
        </p:spPr>
        <p:txBody>
          <a:bodyPr wrap="square" lIns="0" rIns="0" tIns="0" bIns="0" anchor="t">
            <a:spAutoFit/>
          </a:bodyPr>
          <a:lstStyle/>
          <a:p>
            <a:pPr algn="l">
              <a:lnSpc>
                <a:spcPct val="110000"/>
              </a:lnSpc>
            </a:pPr>
            <a:r>
              <a:rPr sz="2000" b="1" i="0">
                <a:solidFill>
                  <a:srgbClr val="21295C"/>
                </a:solidFill>
                <a:latin typeface="DejaVu Sans"/>
              </a:rPr>
              <a:t>Трейсинг ловит дрейф галлюцинаций там, где инфра-мониторинг молчит</a:t>
            </a:r>
          </a:p>
        </p:txBody>
      </p:sp>
      <p:sp>
        <p:nvSpPr>
          <p:cNvPr id="3" name="TextBox 2"/>
          <p:cNvSpPr txBox="1"/>
          <p:nvPr/>
        </p:nvSpPr>
        <p:spPr>
          <a:xfrm>
            <a:off x="594360" y="1188720"/>
            <a:ext cx="10515600" cy="320040"/>
          </a:xfrm>
          <a:prstGeom prst="rect">
            <a:avLst/>
          </a:prstGeom>
          <a:noFill/>
        </p:spPr>
        <p:txBody>
          <a:bodyPr wrap="square" lIns="0" rIns="0" tIns="0" bIns="0" anchor="t">
            <a:spAutoFit/>
          </a:bodyPr>
          <a:lstStyle/>
          <a:p>
            <a:pPr algn="l">
              <a:lnSpc>
                <a:spcPct val="115000"/>
              </a:lnSpc>
            </a:pPr>
            <a:r>
              <a:rPr sz="1200" b="0" i="1">
                <a:solidFill>
                  <a:srgbClr val="5B6678"/>
                </a:solidFill>
                <a:latin typeface="DejaVu Sans"/>
              </a:rPr>
              <a:t>Трейсинг (камера над каждым узлом): LangSmith · Langfuse · Arize Phoenix · Helicone </a:t>
            </a:r>
            <a:r>
              <a:rPr sz="624" baseline="30000" b="0" i="1">
                <a:latin typeface="DejaVu Sans"/>
                <a:cs typeface="DejaVu Sans"/>
                <a:ea typeface="DejaVu Sans"/>
                <a:solidFill>
                  <a:srgbClr val="1C7293"/>
                </a:solidFill>
              </a:rPr>
              <a:t>[1]</a:t>
            </a:r>
          </a:p>
        </p:txBody>
      </p:sp>
      <p:sp>
        <p:nvSpPr>
          <p:cNvPr id="4" name="Rounded Rectangle 3"/>
          <p:cNvSpPr/>
          <p:nvPr/>
        </p:nvSpPr>
        <p:spPr>
          <a:xfrm>
            <a:off x="594360" y="2331720"/>
            <a:ext cx="2331720" cy="868680"/>
          </a:xfrm>
          <a:prstGeom prst="roundRect">
            <a:avLst>
              <a:gd name="adj" fmla="val 22000"/>
            </a:avLst>
          </a:prstGeom>
          <a:solidFill>
            <a:srgbClr val="F4F7FA"/>
          </a:solidFill>
          <a:ln w="1778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94360" y="2331720"/>
            <a:ext cx="2331720" cy="868680"/>
          </a:xfrm>
          <a:prstGeom prst="rect">
            <a:avLst/>
          </a:prstGeom>
          <a:noFill/>
        </p:spPr>
        <p:txBody>
          <a:bodyPr wrap="square" lIns="0" rIns="0" tIns="0" bIns="0" anchor="ctr">
            <a:spAutoFit/>
          </a:bodyPr>
          <a:lstStyle/>
          <a:p>
            <a:pPr algn="ctr">
              <a:lnSpc>
                <a:spcPct val="115000"/>
              </a:lnSpc>
            </a:pPr>
            <a:r>
              <a:rPr sz="1300" b="1" i="0">
                <a:solidFill>
                  <a:srgbClr val="21295C"/>
                </a:solidFill>
                <a:latin typeface="DejaVu Sans"/>
              </a:rPr>
              <a:t>промпт</a:t>
            </a:r>
          </a:p>
        </p:txBody>
      </p:sp>
      <p:pic>
        <p:nvPicPr>
          <p:cNvPr id="6" name="Picture 5" descr="search-teal.png"/>
          <p:cNvPicPr>
            <a:picLocks noChangeAspect="1"/>
          </p:cNvPicPr>
          <p:nvPr/>
        </p:nvPicPr>
        <p:blipFill>
          <a:blip r:embed="rId2"/>
          <a:stretch>
            <a:fillRect/>
          </a:stretch>
        </p:blipFill>
        <p:spPr>
          <a:xfrm>
            <a:off x="1559051" y="1764791"/>
            <a:ext cx="402336" cy="402336"/>
          </a:xfrm>
          <a:prstGeom prst="rect">
            <a:avLst/>
          </a:prstGeom>
        </p:spPr>
      </p:pic>
      <p:sp>
        <p:nvSpPr>
          <p:cNvPr id="7" name="Right Arrow 6"/>
          <p:cNvSpPr/>
          <p:nvPr/>
        </p:nvSpPr>
        <p:spPr>
          <a:xfrm>
            <a:off x="2971799" y="2651760"/>
            <a:ext cx="411480" cy="228600"/>
          </a:xfrm>
          <a:prstGeom prst="rightArrow">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3428999" y="2331720"/>
            <a:ext cx="2331720" cy="868680"/>
          </a:xfrm>
          <a:prstGeom prst="roundRect">
            <a:avLst>
              <a:gd name="adj" fmla="val 22000"/>
            </a:avLst>
          </a:prstGeom>
          <a:solidFill>
            <a:srgbClr val="F4F7FA"/>
          </a:solidFill>
          <a:ln w="1778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428999" y="2331720"/>
            <a:ext cx="2331720" cy="868680"/>
          </a:xfrm>
          <a:prstGeom prst="rect">
            <a:avLst/>
          </a:prstGeom>
          <a:noFill/>
        </p:spPr>
        <p:txBody>
          <a:bodyPr wrap="square" lIns="0" rIns="0" tIns="0" bIns="0" anchor="ctr">
            <a:spAutoFit/>
          </a:bodyPr>
          <a:lstStyle/>
          <a:p>
            <a:pPr algn="ctr">
              <a:lnSpc>
                <a:spcPct val="115000"/>
              </a:lnSpc>
            </a:pPr>
            <a:r>
              <a:rPr sz="1300" b="1" i="0">
                <a:solidFill>
                  <a:srgbClr val="21295C"/>
                </a:solidFill>
                <a:latin typeface="DejaVu Sans"/>
              </a:rPr>
              <a:t>поиск</a:t>
            </a:r>
          </a:p>
        </p:txBody>
      </p:sp>
      <p:pic>
        <p:nvPicPr>
          <p:cNvPr id="10" name="Picture 9" descr="search-teal.png"/>
          <p:cNvPicPr>
            <a:picLocks noChangeAspect="1"/>
          </p:cNvPicPr>
          <p:nvPr/>
        </p:nvPicPr>
        <p:blipFill>
          <a:blip r:embed="rId2"/>
          <a:stretch>
            <a:fillRect/>
          </a:stretch>
        </p:blipFill>
        <p:spPr>
          <a:xfrm>
            <a:off x="4393692" y="1764791"/>
            <a:ext cx="402336" cy="402336"/>
          </a:xfrm>
          <a:prstGeom prst="rect">
            <a:avLst/>
          </a:prstGeom>
        </p:spPr>
      </p:pic>
      <p:sp>
        <p:nvSpPr>
          <p:cNvPr id="11" name="Right Arrow 10"/>
          <p:cNvSpPr/>
          <p:nvPr/>
        </p:nvSpPr>
        <p:spPr>
          <a:xfrm>
            <a:off x="5806439" y="2651760"/>
            <a:ext cx="411480" cy="228600"/>
          </a:xfrm>
          <a:prstGeom prst="rightArrow">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6263640" y="2331720"/>
            <a:ext cx="2331720" cy="868680"/>
          </a:xfrm>
          <a:prstGeom prst="roundRect">
            <a:avLst>
              <a:gd name="adj" fmla="val 22000"/>
            </a:avLst>
          </a:prstGeom>
          <a:solidFill>
            <a:srgbClr val="F4F7FA"/>
          </a:solidFill>
          <a:ln w="1778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263640" y="2331720"/>
            <a:ext cx="2331720" cy="868680"/>
          </a:xfrm>
          <a:prstGeom prst="rect">
            <a:avLst/>
          </a:prstGeom>
          <a:noFill/>
        </p:spPr>
        <p:txBody>
          <a:bodyPr wrap="square" lIns="0" rIns="0" tIns="0" bIns="0" anchor="ctr">
            <a:spAutoFit/>
          </a:bodyPr>
          <a:lstStyle/>
          <a:p>
            <a:pPr algn="ctr">
              <a:lnSpc>
                <a:spcPct val="115000"/>
              </a:lnSpc>
            </a:pPr>
            <a:r>
              <a:rPr sz="1300" b="1" i="0">
                <a:solidFill>
                  <a:srgbClr val="21295C"/>
                </a:solidFill>
                <a:latin typeface="DejaVu Sans"/>
              </a:rPr>
              <a:t>инструменты</a:t>
            </a:r>
          </a:p>
        </p:txBody>
      </p:sp>
      <p:pic>
        <p:nvPicPr>
          <p:cNvPr id="14" name="Picture 13" descr="search-teal.png"/>
          <p:cNvPicPr>
            <a:picLocks noChangeAspect="1"/>
          </p:cNvPicPr>
          <p:nvPr/>
        </p:nvPicPr>
        <p:blipFill>
          <a:blip r:embed="rId2"/>
          <a:stretch>
            <a:fillRect/>
          </a:stretch>
        </p:blipFill>
        <p:spPr>
          <a:xfrm>
            <a:off x="7228332" y="1764791"/>
            <a:ext cx="402336" cy="402336"/>
          </a:xfrm>
          <a:prstGeom prst="rect">
            <a:avLst/>
          </a:prstGeom>
        </p:spPr>
      </p:pic>
      <p:sp>
        <p:nvSpPr>
          <p:cNvPr id="15" name="Right Arrow 14"/>
          <p:cNvSpPr/>
          <p:nvPr/>
        </p:nvSpPr>
        <p:spPr>
          <a:xfrm>
            <a:off x="8641080" y="2651760"/>
            <a:ext cx="411480" cy="228600"/>
          </a:xfrm>
          <a:prstGeom prst="rightArrow">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9098280" y="2331720"/>
            <a:ext cx="2331720" cy="868680"/>
          </a:xfrm>
          <a:prstGeom prst="roundRect">
            <a:avLst>
              <a:gd name="adj" fmla="val 22000"/>
            </a:avLst>
          </a:prstGeom>
          <a:solidFill>
            <a:srgbClr val="F4F7FA"/>
          </a:solidFill>
          <a:ln w="1778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098280" y="2331720"/>
            <a:ext cx="2331720" cy="868680"/>
          </a:xfrm>
          <a:prstGeom prst="rect">
            <a:avLst/>
          </a:prstGeom>
          <a:noFill/>
        </p:spPr>
        <p:txBody>
          <a:bodyPr wrap="square" lIns="0" rIns="0" tIns="0" bIns="0" anchor="ctr">
            <a:spAutoFit/>
          </a:bodyPr>
          <a:lstStyle/>
          <a:p>
            <a:pPr algn="ctr">
              <a:lnSpc>
                <a:spcPct val="115000"/>
              </a:lnSpc>
            </a:pPr>
            <a:r>
              <a:rPr sz="1300" b="1" i="0">
                <a:solidFill>
                  <a:srgbClr val="21295C"/>
                </a:solidFill>
                <a:latin typeface="DejaVu Sans"/>
              </a:rPr>
              <a:t>ответ</a:t>
            </a:r>
          </a:p>
        </p:txBody>
      </p:sp>
      <p:pic>
        <p:nvPicPr>
          <p:cNvPr id="18" name="Picture 17" descr="search-teal.png"/>
          <p:cNvPicPr>
            <a:picLocks noChangeAspect="1"/>
          </p:cNvPicPr>
          <p:nvPr/>
        </p:nvPicPr>
        <p:blipFill>
          <a:blip r:embed="rId2"/>
          <a:stretch>
            <a:fillRect/>
          </a:stretch>
        </p:blipFill>
        <p:spPr>
          <a:xfrm>
            <a:off x="10062972" y="1764791"/>
            <a:ext cx="402336" cy="402336"/>
          </a:xfrm>
          <a:prstGeom prst="rect">
            <a:avLst/>
          </a:prstGeom>
        </p:spPr>
      </p:pic>
      <p:sp>
        <p:nvSpPr>
          <p:cNvPr id="19" name="Rounded Rectangle 18"/>
          <p:cNvSpPr/>
          <p:nvPr/>
        </p:nvSpPr>
        <p:spPr>
          <a:xfrm>
            <a:off x="502920" y="3429000"/>
            <a:ext cx="6903720" cy="1051560"/>
          </a:xfrm>
          <a:prstGeom prst="roundRect">
            <a:avLst>
              <a:gd name="adj" fmla="val 22000"/>
            </a:avLst>
          </a:prstGeom>
          <a:solidFill>
            <a:srgbClr val="F4F7FA"/>
          </a:solidFill>
          <a:ln w="1778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31520" y="3520440"/>
            <a:ext cx="6446520" cy="868680"/>
          </a:xfrm>
          <a:prstGeom prst="rect">
            <a:avLst/>
          </a:prstGeom>
          <a:noFill/>
        </p:spPr>
        <p:txBody>
          <a:bodyPr wrap="square" lIns="0" rIns="0" tIns="0" bIns="0" anchor="ctr">
            <a:spAutoFit/>
          </a:bodyPr>
          <a:lstStyle/>
          <a:p>
            <a:pPr algn="l">
              <a:lnSpc>
                <a:spcPct val="115000"/>
              </a:lnSpc>
            </a:pPr>
            <a:r>
              <a:rPr sz="1200" b="0" i="0">
                <a:solidFill>
                  <a:srgbClr val="21295C"/>
                </a:solidFill>
                <a:latin typeface="DejaVu Sans"/>
              </a:rPr>
              <a:t>LLMOps/AgentOps: дрейф данных vs дрейф концепта · runtime guardrails · circuit breaker (предохранитель). Guardian Agents (категория Gartner) </a:t>
            </a:r>
            <a:r>
              <a:rPr sz="624" baseline="30000" b="0" i="1">
                <a:latin typeface="DejaVu Sans"/>
                <a:cs typeface="DejaVu Sans"/>
                <a:ea typeface="DejaVu Sans"/>
                <a:solidFill>
                  <a:srgbClr val="1C7293"/>
                </a:solidFill>
              </a:rPr>
              <a:t>[2]</a:t>
            </a:r>
            <a:r>
              <a:rPr sz="1200" b="0" i="0">
                <a:latin typeface="DejaVu Sans"/>
                <a:cs typeface="DejaVu Sans"/>
                <a:ea typeface="DejaVu Sans"/>
                <a:solidFill>
                  <a:srgbClr val="21295C"/>
                </a:solidFill>
              </a:rPr>
              <a:t> — агенты, следящие за агентами.</a:t>
            </a:r>
          </a:p>
        </p:txBody>
      </p:sp>
      <p:sp>
        <p:nvSpPr>
          <p:cNvPr id="21" name="Rounded Rectangle 20"/>
          <p:cNvSpPr/>
          <p:nvPr/>
        </p:nvSpPr>
        <p:spPr>
          <a:xfrm>
            <a:off x="7589520" y="3429000"/>
            <a:ext cx="4114800" cy="1051560"/>
          </a:xfrm>
          <a:prstGeom prst="roundRect">
            <a:avLst>
              <a:gd name="adj" fmla="val 8000"/>
            </a:avLst>
          </a:prstGeom>
          <a:solidFill>
            <a:srgbClr val="FDF3DC"/>
          </a:solidFill>
          <a:ln w="2032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2" name="Picture 21" descr="lock-gold.png"/>
          <p:cNvPicPr>
            <a:picLocks noChangeAspect="1"/>
          </p:cNvPicPr>
          <p:nvPr/>
        </p:nvPicPr>
        <p:blipFill>
          <a:blip r:embed="rId3"/>
          <a:stretch>
            <a:fillRect/>
          </a:stretch>
        </p:blipFill>
        <p:spPr>
          <a:xfrm>
            <a:off x="7818120" y="3639312"/>
            <a:ext cx="457200" cy="457200"/>
          </a:xfrm>
          <a:prstGeom prst="rect">
            <a:avLst/>
          </a:prstGeom>
        </p:spPr>
      </p:pic>
      <p:sp>
        <p:nvSpPr>
          <p:cNvPr id="23" name="TextBox 22"/>
          <p:cNvSpPr txBox="1"/>
          <p:nvPr/>
        </p:nvSpPr>
        <p:spPr>
          <a:xfrm>
            <a:off x="8412480" y="3520440"/>
            <a:ext cx="3108960" cy="868680"/>
          </a:xfrm>
          <a:prstGeom prst="rect">
            <a:avLst/>
          </a:prstGeom>
          <a:noFill/>
        </p:spPr>
        <p:txBody>
          <a:bodyPr wrap="square" lIns="0" rIns="0" tIns="0" bIns="0" anchor="ctr">
            <a:spAutoFit/>
          </a:bodyPr>
          <a:lstStyle/>
          <a:p>
            <a:pPr algn="l">
              <a:lnSpc>
                <a:spcPct val="112000"/>
              </a:lnSpc>
            </a:pPr>
            <a:r>
              <a:rPr sz="1150" b="1" i="0">
                <a:solidFill>
                  <a:srgbClr val="21295C"/>
                </a:solidFill>
                <a:latin typeface="DejaVu Sans"/>
              </a:rPr>
              <a:t>Не отправлять регулируемые PII (перс. данные) во внешний трейсинг без анонимизации или self-host.</a:t>
            </a:r>
          </a:p>
        </p:txBody>
      </p:sp>
      <p:sp>
        <p:nvSpPr>
          <p:cNvPr id="24" name="Rounded Rectangle 23"/>
          <p:cNvSpPr/>
          <p:nvPr/>
        </p:nvSpPr>
        <p:spPr>
          <a:xfrm>
            <a:off x="502920" y="4617720"/>
            <a:ext cx="11201400" cy="822960"/>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22376" y="4672583"/>
            <a:ext cx="10762488" cy="713232"/>
          </a:xfrm>
          <a:prstGeom prst="rect">
            <a:avLst/>
          </a:prstGeom>
          <a:noFill/>
        </p:spPr>
        <p:txBody>
          <a:bodyPr wrap="square" lIns="0" rIns="0" tIns="0" bIns="0" anchor="ctr">
            <a:spAutoFit/>
          </a:bodyPr>
          <a:lstStyle/>
          <a:p>
            <a:pPr algn="l">
              <a:lnSpc>
                <a:spcPct val="120000"/>
              </a:lnSpc>
            </a:pPr>
            <a:r>
              <a:rPr sz="1300" b="1" i="0">
                <a:solidFill>
                  <a:srgbClr val="21295C"/>
                </a:solidFill>
                <a:latin typeface="DejaVu Sans"/>
              </a:rPr>
              <a:t>Инфраструктурный мониторинг видит «сервис жив»; трейсинг видит «ответы деградируют»: дрейф галлюцинаций, сбои поиска, регрессию промптов.</a:t>
            </a:r>
          </a:p>
        </p:txBody>
      </p:sp>
      <p:sp>
        <p:nvSpPr>
          <p:cNvPr id="26" name="TextBox 25"/>
          <p:cNvSpPr txBox="1"/>
          <p:nvPr/>
        </p:nvSpPr>
        <p:spPr>
          <a:xfrm>
            <a:off x="502920" y="6455664"/>
            <a:ext cx="11201400" cy="548640"/>
          </a:xfrm>
          <a:prstGeom prst="rect">
            <a:avLst/>
          </a:prstGeom>
          <a:noFill/>
        </p:spPr>
        <p:txBody>
          <a:bodyPr wrap="square" lIns="0" rIns="0" tIns="0" bIns="0" anchor="t">
            <a:spAutoFit/>
          </a:bodyPr>
          <a:lstStyle/>
          <a:p>
            <a:pPr algn="l">
              <a:lnSpc>
                <a:spcPct val="102000"/>
              </a:lnSpc>
            </a:pPr>
            <a:r>
              <a:rPr sz="850" b="1" i="1">
                <a:solidFill>
                  <a:srgbClr val="065A82"/>
                </a:solidFill>
                <a:latin typeface="DejaVu Sans"/>
              </a:rPr>
              <a:t>[1] </a:t>
            </a:r>
            <a:r>
              <a:rPr sz="850" i="1">
                <a:solidFill>
                  <a:srgbClr val="1C7293"/>
                </a:solidFill>
                <a:latin typeface="DejaVu Sans"/>
                <a:hlinkClick r:id="rId4"/>
              </a:rPr>
              <a:t>Confident AI — обзор LLMOps observability 2026</a:t>
            </a:r>
            <a:r>
              <a:rPr sz="850" i="1">
                <a:solidFill>
                  <a:srgbClr val="1C7293"/>
                </a:solidFill>
                <a:latin typeface="DejaVu Sans"/>
              </a:rPr>
              <a:t>   ·   </a:t>
            </a:r>
            <a:r>
              <a:rPr sz="850" b="1" i="1">
                <a:solidFill>
                  <a:srgbClr val="065A82"/>
                </a:solidFill>
                <a:latin typeface="DejaVu Sans"/>
              </a:rPr>
              <a:t>[2] </a:t>
            </a:r>
            <a:r>
              <a:rPr sz="850" i="1">
                <a:solidFill>
                  <a:srgbClr val="1C7293"/>
                </a:solidFill>
                <a:latin typeface="DejaVu Sans"/>
                <a:hlinkClick r:id="rId5"/>
              </a:rPr>
              <a:t>Gartner Market Guide for Guardian Agents (25 фев. 2026)</a:t>
            </a:r>
          </a:p>
        </p:txBody>
      </p:sp>
      <p:sp>
        <p:nvSpPr>
          <p:cNvPr id="27" name="TextBox 26"/>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44 / 56</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65760"/>
            <a:ext cx="11247120" cy="777240"/>
          </a:xfrm>
          <a:prstGeom prst="rect">
            <a:avLst/>
          </a:prstGeom>
          <a:noFill/>
        </p:spPr>
        <p:txBody>
          <a:bodyPr wrap="square" lIns="0" rIns="0" tIns="0" bIns="0" anchor="t">
            <a:spAutoFit/>
          </a:bodyPr>
          <a:lstStyle/>
          <a:p>
            <a:pPr algn="l">
              <a:lnSpc>
                <a:spcPct val="110000"/>
              </a:lnSpc>
            </a:pPr>
            <a:r>
              <a:rPr sz="2100" b="1" i="0">
                <a:solidFill>
                  <a:srgbClr val="21295C"/>
                </a:solidFill>
                <a:latin typeface="DejaVu Sans"/>
              </a:rPr>
              <a:t>Дашборды остаются зелёными, пока доверие уже падает недели</a:t>
            </a:r>
          </a:p>
        </p:txBody>
      </p:sp>
      <p:sp>
        <p:nvSpPr>
          <p:cNvPr id="3" name="Rounded Rectangle 2"/>
          <p:cNvSpPr/>
          <p:nvPr/>
        </p:nvSpPr>
        <p:spPr>
          <a:xfrm>
            <a:off x="502920" y="1417320"/>
            <a:ext cx="3063240" cy="3840480"/>
          </a:xfrm>
          <a:prstGeom prst="roundRect">
            <a:avLst>
              <a:gd name="adj" fmla="val 995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s39-grus-plan.jpg"/>
          <p:cNvPicPr>
            <a:picLocks noChangeAspect="1"/>
          </p:cNvPicPr>
          <p:nvPr/>
        </p:nvPicPr>
        <p:blipFill>
          <a:blip r:embed="rId2"/>
          <a:stretch>
            <a:fillRect/>
          </a:stretch>
        </p:blipFill>
        <p:spPr>
          <a:xfrm>
            <a:off x="630936" y="2437248"/>
            <a:ext cx="2807208" cy="1800623"/>
          </a:xfrm>
          <a:prstGeom prst="rect">
            <a:avLst/>
          </a:prstGeom>
        </p:spPr>
      </p:pic>
      <p:sp>
        <p:nvSpPr>
          <p:cNvPr id="5" name="Rounded Rectangle 4"/>
          <p:cNvSpPr/>
          <p:nvPr/>
        </p:nvSpPr>
        <p:spPr>
          <a:xfrm>
            <a:off x="3794760" y="1463040"/>
            <a:ext cx="7909560" cy="1600200"/>
          </a:xfrm>
          <a:prstGeom prst="roundRect">
            <a:avLst>
              <a:gd name="adj" fmla="val 19047"/>
            </a:avLst>
          </a:prstGeom>
          <a:solidFill>
            <a:srgbClr val="F4F7FA"/>
          </a:solidFill>
          <a:ln w="1905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monitor-smartphone-teal.png"/>
          <p:cNvPicPr>
            <a:picLocks noChangeAspect="1"/>
          </p:cNvPicPr>
          <p:nvPr/>
        </p:nvPicPr>
        <p:blipFill>
          <a:blip r:embed="rId3"/>
          <a:stretch>
            <a:fillRect/>
          </a:stretch>
        </p:blipFill>
        <p:spPr>
          <a:xfrm>
            <a:off x="4023360" y="1737360"/>
            <a:ext cx="548640" cy="548640"/>
          </a:xfrm>
          <a:prstGeom prst="rect">
            <a:avLst/>
          </a:prstGeom>
        </p:spPr>
      </p:pic>
      <p:sp>
        <p:nvSpPr>
          <p:cNvPr id="7" name="TextBox 6"/>
          <p:cNvSpPr txBox="1"/>
          <p:nvPr/>
        </p:nvSpPr>
        <p:spPr>
          <a:xfrm>
            <a:off x="4754880" y="1627632"/>
            <a:ext cx="6720840" cy="365760"/>
          </a:xfrm>
          <a:prstGeom prst="rect">
            <a:avLst/>
          </a:prstGeom>
          <a:noFill/>
        </p:spPr>
        <p:txBody>
          <a:bodyPr wrap="square" lIns="0" rIns="0" tIns="0" bIns="0" anchor="t">
            <a:spAutoFit/>
          </a:bodyPr>
          <a:lstStyle/>
          <a:p>
            <a:pPr algn="l">
              <a:lnSpc>
                <a:spcPct val="115000"/>
              </a:lnSpc>
            </a:pPr>
            <a:r>
              <a:rPr sz="1500" b="1" i="0">
                <a:solidFill>
                  <a:srgbClr val="028090"/>
                </a:solidFill>
                <a:latin typeface="DejaVu Sans"/>
              </a:rPr>
              <a:t>Тихий дрейф</a:t>
            </a:r>
          </a:p>
        </p:txBody>
      </p:sp>
      <p:sp>
        <p:nvSpPr>
          <p:cNvPr id="8" name="TextBox 7"/>
          <p:cNvSpPr txBox="1"/>
          <p:nvPr/>
        </p:nvSpPr>
        <p:spPr>
          <a:xfrm>
            <a:off x="4754880" y="2057400"/>
            <a:ext cx="6720840" cy="914400"/>
          </a:xfrm>
          <a:prstGeom prst="rect">
            <a:avLst/>
          </a:prstGeom>
          <a:noFill/>
        </p:spPr>
        <p:txBody>
          <a:bodyPr wrap="square" lIns="0" rIns="0" tIns="0" bIns="0" anchor="t">
            <a:spAutoFit/>
          </a:bodyPr>
          <a:lstStyle/>
          <a:p>
            <a:pPr algn="l">
              <a:lnSpc>
                <a:spcPct val="118000"/>
              </a:lnSpc>
            </a:pPr>
            <a:r>
              <a:rPr sz="1300" b="0" i="0">
                <a:solidFill>
                  <a:srgbClr val="21295C"/>
                </a:solidFill>
                <a:latin typeface="DejaVu Sans"/>
              </a:rPr>
              <a:t>Самые активные пользователи замечают регрессию раньше агрегированных метрик — доверие падает раньше, чем двигаются дашборды.</a:t>
            </a:r>
          </a:p>
        </p:txBody>
      </p:sp>
      <p:sp>
        <p:nvSpPr>
          <p:cNvPr id="9" name="Rounded Rectangle 8"/>
          <p:cNvSpPr/>
          <p:nvPr/>
        </p:nvSpPr>
        <p:spPr>
          <a:xfrm>
            <a:off x="3794760" y="3200400"/>
            <a:ext cx="7909560" cy="1417320"/>
          </a:xfrm>
          <a:prstGeom prst="roundRect">
            <a:avLst>
              <a:gd name="adj" fmla="val 21505"/>
            </a:avLst>
          </a:prstGeom>
          <a:solidFill>
            <a:srgbClr val="F4F7FA"/>
          </a:solidFill>
          <a:ln w="1905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023360" y="3310128"/>
            <a:ext cx="7452360" cy="365760"/>
          </a:xfrm>
          <a:prstGeom prst="rect">
            <a:avLst/>
          </a:prstGeom>
          <a:noFill/>
        </p:spPr>
        <p:txBody>
          <a:bodyPr wrap="square" lIns="0" rIns="0" tIns="0" bIns="0" anchor="t">
            <a:spAutoFit/>
          </a:bodyPr>
          <a:lstStyle/>
          <a:p>
            <a:pPr algn="l">
              <a:lnSpc>
                <a:spcPct val="115000"/>
              </a:lnSpc>
            </a:pPr>
            <a:r>
              <a:rPr sz="1400" b="1" i="0">
                <a:solidFill>
                  <a:srgbClr val="065A82"/>
                </a:solidFill>
                <a:latin typeface="DejaVu Sans"/>
              </a:rPr>
              <a:t>Дрейф правил</a:t>
            </a:r>
          </a:p>
        </p:txBody>
      </p:sp>
      <p:sp>
        <p:nvSpPr>
          <p:cNvPr id="11" name="TextBox 10"/>
          <p:cNvSpPr txBox="1"/>
          <p:nvPr/>
        </p:nvSpPr>
        <p:spPr>
          <a:xfrm>
            <a:off x="4023360" y="3703320"/>
            <a:ext cx="7452360" cy="868680"/>
          </a:xfrm>
          <a:prstGeom prst="rect">
            <a:avLst/>
          </a:prstGeom>
          <a:noFill/>
        </p:spPr>
        <p:txBody>
          <a:bodyPr wrap="square" lIns="0" rIns="0" tIns="0" bIns="0" anchor="t">
            <a:spAutoFit/>
          </a:bodyPr>
          <a:lstStyle/>
          <a:p>
            <a:pPr algn="l">
              <a:lnSpc>
                <a:spcPct val="115000"/>
              </a:lnSpc>
            </a:pPr>
            <a:r>
              <a:rPr sz="1250" b="0" i="0">
                <a:solidFill>
                  <a:srgbClr val="21295C"/>
                </a:solidFill>
                <a:latin typeface="DejaVu Sans"/>
              </a:rPr>
              <a:t>Guardrails (защитные правила) без версионирования молча устаревают: правила расходятся с реальностью незаметно.</a:t>
            </a:r>
          </a:p>
        </p:txBody>
      </p:sp>
      <p:sp>
        <p:nvSpPr>
          <p:cNvPr id="12" name="Rounded Rectangle 11"/>
          <p:cNvSpPr/>
          <p:nvPr/>
        </p:nvSpPr>
        <p:spPr>
          <a:xfrm>
            <a:off x="3794760" y="4754880"/>
            <a:ext cx="7909560" cy="640080"/>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014216" y="4809744"/>
            <a:ext cx="7470648" cy="530352"/>
          </a:xfrm>
          <a:prstGeom prst="rect">
            <a:avLst/>
          </a:prstGeom>
          <a:noFill/>
        </p:spPr>
        <p:txBody>
          <a:bodyPr wrap="square" lIns="0" rIns="0" tIns="0" bIns="0" anchor="ctr">
            <a:spAutoFit/>
          </a:bodyPr>
          <a:lstStyle/>
          <a:p>
            <a:pPr algn="l">
              <a:lnSpc>
                <a:spcPct val="120000"/>
              </a:lnSpc>
            </a:pPr>
            <a:r>
              <a:rPr sz="1250" b="1" i="0">
                <a:solidFill>
                  <a:srgbClr val="21295C"/>
                </a:solidFill>
                <a:latin typeface="DejaVu Sans"/>
              </a:rPr>
              <a:t>Что остаётся: эскалация к человеку, ответственность, инцидент-дисциплина — усилены автономностью ИИ, не отменены ею.</a:t>
            </a:r>
          </a:p>
        </p:txBody>
      </p:sp>
      <p:sp>
        <p:nvSpPr>
          <p:cNvPr id="14" name="TextBox 13"/>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45 / 56</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65760"/>
            <a:ext cx="11247120" cy="777240"/>
          </a:xfrm>
          <a:prstGeom prst="rect">
            <a:avLst/>
          </a:prstGeom>
          <a:noFill/>
        </p:spPr>
        <p:txBody>
          <a:bodyPr wrap="square" lIns="0" rIns="0" tIns="0" bIns="0" anchor="t">
            <a:spAutoFit/>
          </a:bodyPr>
          <a:lstStyle/>
          <a:p>
            <a:pPr algn="l">
              <a:lnSpc>
                <a:spcPct val="110000"/>
              </a:lnSpc>
            </a:pPr>
            <a:r>
              <a:rPr sz="1800" b="1" i="0">
                <a:solidFill>
                  <a:srgbClr val="21295C"/>
                </a:solidFill>
                <a:latin typeface="DejaVu Sans"/>
              </a:rPr>
              <a:t>Модель была откалибрована корректно — не было предохранителя на дрейф в реальном времени</a:t>
            </a:r>
          </a:p>
        </p:txBody>
      </p:sp>
      <p:sp>
        <p:nvSpPr>
          <p:cNvPr id="3" name="Rounded Rectangle 2"/>
          <p:cNvSpPr/>
          <p:nvPr/>
        </p:nvSpPr>
        <p:spPr>
          <a:xfrm>
            <a:off x="502920" y="1463040"/>
            <a:ext cx="2788920" cy="1188720"/>
          </a:xfrm>
          <a:prstGeom prst="roundRect">
            <a:avLst>
              <a:gd name="adj" fmla="val 22000"/>
            </a:avLst>
          </a:prstGeom>
          <a:solidFill>
            <a:srgbClr val="FFFFFF"/>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s40-zillow-real-source.png"/>
          <p:cNvPicPr>
            <a:picLocks noChangeAspect="1"/>
          </p:cNvPicPr>
          <p:nvPr/>
        </p:nvPicPr>
        <p:blipFill>
          <a:blip r:embed="rId2"/>
          <a:stretch>
            <a:fillRect/>
          </a:stretch>
        </p:blipFill>
        <p:spPr>
          <a:xfrm>
            <a:off x="704088" y="1793570"/>
            <a:ext cx="2386584" cy="527659"/>
          </a:xfrm>
          <a:prstGeom prst="rect">
            <a:avLst/>
          </a:prstGeom>
        </p:spPr>
      </p:pic>
      <p:sp>
        <p:nvSpPr>
          <p:cNvPr id="5" name="Rounded Rectangle 4"/>
          <p:cNvSpPr/>
          <p:nvPr/>
        </p:nvSpPr>
        <p:spPr>
          <a:xfrm>
            <a:off x="502920" y="2834640"/>
            <a:ext cx="2788920" cy="2103120"/>
          </a:xfrm>
          <a:prstGeom prst="roundRect">
            <a:avLst>
              <a:gd name="adj" fmla="val 14492"/>
            </a:avLst>
          </a:prstGeom>
          <a:solidFill>
            <a:srgbClr val="F4F7FA"/>
          </a:solidFill>
          <a:ln w="1778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triangle-alert-mid.png"/>
          <p:cNvPicPr>
            <a:picLocks noChangeAspect="1"/>
          </p:cNvPicPr>
          <p:nvPr/>
        </p:nvPicPr>
        <p:blipFill>
          <a:blip r:embed="rId3"/>
          <a:stretch>
            <a:fillRect/>
          </a:stretch>
        </p:blipFill>
        <p:spPr>
          <a:xfrm>
            <a:off x="1417320" y="3017520"/>
            <a:ext cx="822960" cy="822960"/>
          </a:xfrm>
          <a:prstGeom prst="rect">
            <a:avLst/>
          </a:prstGeom>
        </p:spPr>
      </p:pic>
      <p:sp>
        <p:nvSpPr>
          <p:cNvPr id="7" name="TextBox 6"/>
          <p:cNvSpPr txBox="1"/>
          <p:nvPr/>
        </p:nvSpPr>
        <p:spPr>
          <a:xfrm>
            <a:off x="640080" y="3931920"/>
            <a:ext cx="2514600" cy="914400"/>
          </a:xfrm>
          <a:prstGeom prst="rect">
            <a:avLst/>
          </a:prstGeom>
          <a:noFill/>
        </p:spPr>
        <p:txBody>
          <a:bodyPr wrap="square" lIns="0" rIns="0" tIns="0" bIns="0" anchor="t">
            <a:spAutoFit/>
          </a:bodyPr>
          <a:lstStyle/>
          <a:p>
            <a:pPr algn="ctr">
              <a:lnSpc>
                <a:spcPct val="115000"/>
              </a:lnSpc>
            </a:pPr>
            <a:r>
              <a:rPr sz="1200" b="0" i="1">
                <a:solidFill>
                  <a:srgbClr val="5B6678"/>
                </a:solidFill>
                <a:latin typeface="DejaVu Sans"/>
              </a:rPr>
              <a:t>Рынок сдвинулся — дрейф концепта без предохранителя</a:t>
            </a:r>
          </a:p>
        </p:txBody>
      </p:sp>
      <p:sp>
        <p:nvSpPr>
          <p:cNvPr id="8" name="Rounded Rectangle 7"/>
          <p:cNvSpPr/>
          <p:nvPr/>
        </p:nvSpPr>
        <p:spPr>
          <a:xfrm>
            <a:off x="3520440" y="1463040"/>
            <a:ext cx="8183879" cy="3474720"/>
          </a:xfrm>
          <a:prstGeom prst="roundRect">
            <a:avLst>
              <a:gd name="adj" fmla="val 8771"/>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c-zillow.png"/>
          <p:cNvPicPr>
            <a:picLocks noChangeAspect="1"/>
          </p:cNvPicPr>
          <p:nvPr/>
        </p:nvPicPr>
        <p:blipFill>
          <a:blip r:embed="rId4"/>
          <a:stretch>
            <a:fillRect/>
          </a:stretch>
        </p:blipFill>
        <p:spPr>
          <a:xfrm>
            <a:off x="4516037" y="1691640"/>
            <a:ext cx="6192685" cy="2331720"/>
          </a:xfrm>
          <a:prstGeom prst="rect">
            <a:avLst/>
          </a:prstGeom>
        </p:spPr>
      </p:pic>
      <p:sp>
        <p:nvSpPr>
          <p:cNvPr id="10" name="TextBox 9"/>
          <p:cNvSpPr txBox="1"/>
          <p:nvPr/>
        </p:nvSpPr>
        <p:spPr>
          <a:xfrm>
            <a:off x="3794760" y="4069080"/>
            <a:ext cx="7635240" cy="777240"/>
          </a:xfrm>
          <a:prstGeom prst="rect">
            <a:avLst/>
          </a:prstGeom>
          <a:noFill/>
        </p:spPr>
        <p:txBody>
          <a:bodyPr wrap="square" lIns="0" rIns="0" tIns="0" bIns="0" anchor="t">
            <a:spAutoFit/>
          </a:bodyPr>
          <a:lstStyle/>
          <a:p>
            <a:pPr algn="l">
              <a:lnSpc>
                <a:spcPct val="115000"/>
              </a:lnSpc>
            </a:pPr>
            <a:r>
              <a:rPr sz="1200" b="0" i="0">
                <a:solidFill>
                  <a:srgbClr val="21295C"/>
                </a:solidFill>
                <a:latin typeface="DejaVu Sans"/>
              </a:rPr>
              <a:t>Zillow Offers, ноябрь 2021: 9680 домов куплено, 3032 продано · ~2000 уволенных (~25% штата) </a:t>
            </a:r>
            <a:r>
              <a:rPr sz="624" baseline="30000" b="0" i="1">
                <a:latin typeface="DejaVu Sans"/>
                <a:cs typeface="DejaVu Sans"/>
                <a:ea typeface="DejaVu Sans"/>
                <a:solidFill>
                  <a:srgbClr val="1C7293"/>
                </a:solidFill>
              </a:rPr>
              <a:t>[1]</a:t>
            </a:r>
            <a:r>
              <a:rPr sz="1200" b="0" i="0">
                <a:latin typeface="DejaVu Sans"/>
                <a:cs typeface="DejaVu Sans"/>
                <a:ea typeface="DejaVu Sans"/>
                <a:solidFill>
                  <a:srgbClr val="21295C"/>
                </a:solidFill>
              </a:rPr>
              <a:t> · ≈$80 тыс. убытка на объект </a:t>
            </a:r>
            <a:r>
              <a:rPr sz="624" baseline="30000" b="0" i="1">
                <a:latin typeface="DejaVu Sans"/>
                <a:cs typeface="DejaVu Sans"/>
                <a:ea typeface="DejaVu Sans"/>
                <a:solidFill>
                  <a:srgbClr val="1C7293"/>
                </a:solidFill>
              </a:rPr>
              <a:t>[2]</a:t>
            </a:r>
            <a:r>
              <a:rPr sz="1200" b="0" i="0">
                <a:latin typeface="DejaVu Sans"/>
                <a:cs typeface="DejaVu Sans"/>
                <a:ea typeface="DejaVu Sans"/>
                <a:solidFill>
                  <a:srgbClr val="21295C"/>
                </a:solidFill>
              </a:rPr>
              <a:t>.</a:t>
            </a:r>
          </a:p>
        </p:txBody>
      </p:sp>
      <p:sp>
        <p:nvSpPr>
          <p:cNvPr id="11" name="Rounded Rectangle 10"/>
          <p:cNvSpPr/>
          <p:nvPr/>
        </p:nvSpPr>
        <p:spPr>
          <a:xfrm>
            <a:off x="502920" y="5074920"/>
            <a:ext cx="11201400" cy="566928"/>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22376" y="5129783"/>
            <a:ext cx="10762488" cy="457200"/>
          </a:xfrm>
          <a:prstGeom prst="rect">
            <a:avLst/>
          </a:prstGeom>
          <a:noFill/>
        </p:spPr>
        <p:txBody>
          <a:bodyPr wrap="square" lIns="0" rIns="0" tIns="0" bIns="0" anchor="ctr">
            <a:spAutoFit/>
          </a:bodyPr>
          <a:lstStyle/>
          <a:p>
            <a:pPr algn="l">
              <a:lnSpc>
                <a:spcPct val="120000"/>
              </a:lnSpc>
            </a:pPr>
            <a:r>
              <a:rPr sz="1200" b="1" i="0">
                <a:solidFill>
                  <a:srgbClr val="21295C"/>
                </a:solidFill>
                <a:latin typeface="DejaVu Sans"/>
              </a:rPr>
              <a:t>Критерий: модель, совершающая сделки на деньги, требует мониторинга точности предсказания в реальном времени с автоматическим предохранителем (circuit breaker), который отключает её при дрейфе.</a:t>
            </a:r>
          </a:p>
        </p:txBody>
      </p:sp>
      <p:sp>
        <p:nvSpPr>
          <p:cNvPr id="13" name="TextBox 12"/>
          <p:cNvSpPr txBox="1"/>
          <p:nvPr/>
        </p:nvSpPr>
        <p:spPr>
          <a:xfrm>
            <a:off x="502920" y="6455664"/>
            <a:ext cx="11201400" cy="548640"/>
          </a:xfrm>
          <a:prstGeom prst="rect">
            <a:avLst/>
          </a:prstGeom>
          <a:noFill/>
        </p:spPr>
        <p:txBody>
          <a:bodyPr wrap="square" lIns="0" rIns="0" tIns="0" bIns="0" anchor="t">
            <a:spAutoFit/>
          </a:bodyPr>
          <a:lstStyle/>
          <a:p>
            <a:pPr algn="l">
              <a:lnSpc>
                <a:spcPct val="102000"/>
              </a:lnSpc>
            </a:pPr>
            <a:r>
              <a:rPr sz="850" b="1" i="1">
                <a:solidFill>
                  <a:srgbClr val="065A82"/>
                </a:solidFill>
                <a:latin typeface="DejaVu Sans"/>
              </a:rPr>
              <a:t>[1] </a:t>
            </a:r>
            <a:r>
              <a:rPr sz="850" i="1">
                <a:solidFill>
                  <a:srgbClr val="1C7293"/>
                </a:solidFill>
                <a:latin typeface="DejaVu Sans"/>
                <a:hlinkClick r:id="rId5"/>
              </a:rPr>
              <a:t>GeekWire (нояб. 2021) — Zillow Offers</a:t>
            </a:r>
            <a:r>
              <a:rPr sz="850" i="1">
                <a:solidFill>
                  <a:srgbClr val="1C7293"/>
                </a:solidFill>
                <a:latin typeface="DejaVu Sans"/>
              </a:rPr>
              <a:t>   ·   </a:t>
            </a:r>
            <a:r>
              <a:rPr sz="850" b="1" i="1">
                <a:solidFill>
                  <a:srgbClr val="065A82"/>
                </a:solidFill>
                <a:latin typeface="DejaVu Sans"/>
              </a:rPr>
              <a:t>[2] </a:t>
            </a:r>
            <a:r>
              <a:rPr sz="850" i="1">
                <a:solidFill>
                  <a:srgbClr val="1C7293"/>
                </a:solidFill>
                <a:latin typeface="DejaVu Sans"/>
                <a:hlinkClick r:id="rId6"/>
              </a:rPr>
              <a:t>SEC 10-K FY2021 — Zillow Group</a:t>
            </a:r>
          </a:p>
        </p:txBody>
      </p:sp>
      <p:sp>
        <p:nvSpPr>
          <p:cNvPr id="14" name="TextBox 13"/>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46 / 56</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65760"/>
            <a:ext cx="11247120" cy="777240"/>
          </a:xfrm>
          <a:prstGeom prst="rect">
            <a:avLst/>
          </a:prstGeom>
          <a:noFill/>
        </p:spPr>
        <p:txBody>
          <a:bodyPr wrap="square" lIns="0" rIns="0" tIns="0" bIns="0" anchor="t">
            <a:spAutoFit/>
          </a:bodyPr>
          <a:lstStyle/>
          <a:p>
            <a:pPr algn="l">
              <a:lnSpc>
                <a:spcPct val="110000"/>
              </a:lnSpc>
            </a:pPr>
            <a:r>
              <a:rPr sz="2000" b="1" i="0">
                <a:solidFill>
                  <a:srgbClr val="21295C"/>
                </a:solidFill>
                <a:latin typeface="DejaVu Sans"/>
              </a:rPr>
              <a:t>«Бот — отдельное юрлицо» — трибунал отклонил этот довод одной фразой</a:t>
            </a:r>
          </a:p>
        </p:txBody>
      </p:sp>
      <p:sp>
        <p:nvSpPr>
          <p:cNvPr id="3" name="Rounded Rectangle 2"/>
          <p:cNvSpPr/>
          <p:nvPr/>
        </p:nvSpPr>
        <p:spPr>
          <a:xfrm>
            <a:off x="502920" y="1463040"/>
            <a:ext cx="5074920" cy="2788920"/>
          </a:xfrm>
          <a:prstGeom prst="roundRect">
            <a:avLst>
              <a:gd name="adj" fmla="val 10928"/>
            </a:avLst>
          </a:prstGeom>
          <a:solidFill>
            <a:srgbClr val="FFFFFF"/>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s41-aircanada-real-source.png"/>
          <p:cNvPicPr>
            <a:picLocks noChangeAspect="1"/>
          </p:cNvPicPr>
          <p:nvPr/>
        </p:nvPicPr>
        <p:blipFill>
          <a:blip r:embed="rId2"/>
          <a:stretch>
            <a:fillRect/>
          </a:stretch>
        </p:blipFill>
        <p:spPr>
          <a:xfrm>
            <a:off x="1085086" y="1554480"/>
            <a:ext cx="3910586" cy="2606039"/>
          </a:xfrm>
          <a:prstGeom prst="rect">
            <a:avLst/>
          </a:prstGeom>
        </p:spPr>
      </p:pic>
      <p:sp>
        <p:nvSpPr>
          <p:cNvPr id="5" name="Rounded Rectangle 4"/>
          <p:cNvSpPr/>
          <p:nvPr/>
        </p:nvSpPr>
        <p:spPr>
          <a:xfrm>
            <a:off x="5806440" y="1463040"/>
            <a:ext cx="5897880" cy="1600200"/>
          </a:xfrm>
          <a:prstGeom prst="roundRect">
            <a:avLst>
              <a:gd name="adj" fmla="val 19047"/>
            </a:avLst>
          </a:prstGeom>
          <a:solidFill>
            <a:srgbClr val="F4F7FA"/>
          </a:solidFill>
          <a:ln w="1905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scale-mid.png"/>
          <p:cNvPicPr>
            <a:picLocks noChangeAspect="1"/>
          </p:cNvPicPr>
          <p:nvPr/>
        </p:nvPicPr>
        <p:blipFill>
          <a:blip r:embed="rId3"/>
          <a:stretch>
            <a:fillRect/>
          </a:stretch>
        </p:blipFill>
        <p:spPr>
          <a:xfrm>
            <a:off x="6035040" y="1783080"/>
            <a:ext cx="822960" cy="822960"/>
          </a:xfrm>
          <a:prstGeom prst="rect">
            <a:avLst/>
          </a:prstGeom>
        </p:spPr>
      </p:pic>
      <p:sp>
        <p:nvSpPr>
          <p:cNvPr id="7" name="TextBox 6"/>
          <p:cNvSpPr txBox="1"/>
          <p:nvPr/>
        </p:nvSpPr>
        <p:spPr>
          <a:xfrm>
            <a:off x="6995160" y="1645920"/>
            <a:ext cx="4480560" cy="1280160"/>
          </a:xfrm>
          <a:prstGeom prst="rect">
            <a:avLst/>
          </a:prstGeom>
          <a:noFill/>
        </p:spPr>
        <p:txBody>
          <a:bodyPr wrap="square" lIns="0" rIns="0" tIns="0" bIns="0" anchor="ctr">
            <a:spAutoFit/>
          </a:bodyPr>
          <a:lstStyle/>
          <a:p>
            <a:pPr algn="l">
              <a:lnSpc>
                <a:spcPct val="115000"/>
              </a:lnSpc>
            </a:pPr>
            <a:r>
              <a:rPr sz="1300" b="1" i="0">
                <a:solidFill>
                  <a:srgbClr val="21295C"/>
                </a:solidFill>
                <a:latin typeface="DejaVu Sans"/>
              </a:rPr>
              <a:t>Весы в равновесии: ответ бота = статичная страница сайта. Одинаковая ответственность за оба.</a:t>
            </a:r>
          </a:p>
        </p:txBody>
      </p:sp>
      <p:sp>
        <p:nvSpPr>
          <p:cNvPr id="8" name="Rounded Rectangle 7"/>
          <p:cNvSpPr/>
          <p:nvPr/>
        </p:nvSpPr>
        <p:spPr>
          <a:xfrm>
            <a:off x="5806440" y="3246120"/>
            <a:ext cx="5897880" cy="1691640"/>
          </a:xfrm>
          <a:prstGeom prst="roundRect">
            <a:avLst>
              <a:gd name="adj" fmla="val 18018"/>
            </a:avLst>
          </a:prstGeom>
          <a:solidFill>
            <a:srgbClr val="FDF3DC"/>
          </a:solidFill>
          <a:ln w="2032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035040" y="3364992"/>
            <a:ext cx="5440680" cy="365760"/>
          </a:xfrm>
          <a:prstGeom prst="rect">
            <a:avLst/>
          </a:prstGeom>
          <a:noFill/>
        </p:spPr>
        <p:txBody>
          <a:bodyPr wrap="square" lIns="0" rIns="0" tIns="0" bIns="0" anchor="t">
            <a:spAutoFit/>
          </a:bodyPr>
          <a:lstStyle/>
          <a:p>
            <a:pPr algn="l">
              <a:lnSpc>
                <a:spcPct val="115000"/>
              </a:lnSpc>
            </a:pPr>
            <a:r>
              <a:rPr sz="1350" b="1" i="0">
                <a:solidFill>
                  <a:srgbClr val="21295C"/>
                </a:solidFill>
                <a:latin typeface="DejaVu Sans"/>
              </a:rPr>
              <a:t>Air Canada, чат-бот сайта</a:t>
            </a:r>
          </a:p>
        </p:txBody>
      </p:sp>
      <p:sp>
        <p:nvSpPr>
          <p:cNvPr id="10" name="TextBox 9"/>
          <p:cNvSpPr txBox="1"/>
          <p:nvPr/>
        </p:nvSpPr>
        <p:spPr>
          <a:xfrm>
            <a:off x="6035040" y="3749039"/>
            <a:ext cx="5440680" cy="1097280"/>
          </a:xfrm>
          <a:prstGeom prst="rect">
            <a:avLst/>
          </a:prstGeom>
          <a:noFill/>
        </p:spPr>
        <p:txBody>
          <a:bodyPr wrap="square" lIns="0" rIns="0" tIns="0" bIns="0" anchor="t">
            <a:spAutoFit/>
          </a:bodyPr>
          <a:lstStyle/>
          <a:p>
            <a:pPr algn="l">
              <a:lnSpc>
                <a:spcPct val="115000"/>
              </a:lnSpc>
            </a:pPr>
            <a:r>
              <a:rPr sz="1200" b="0" i="0">
                <a:solidFill>
                  <a:srgbClr val="21295C"/>
                </a:solidFill>
                <a:latin typeface="DejaVu Sans"/>
              </a:rPr>
              <a:t>Бот некорректно сообщил о ретроактивной скидке. Трибунал — $812,02 CAD </a:t>
            </a:r>
            <a:r>
              <a:rPr sz="624" baseline="30000" b="0" i="1">
                <a:latin typeface="DejaVu Sans"/>
                <a:cs typeface="DejaVu Sans"/>
                <a:ea typeface="DejaVu Sans"/>
                <a:solidFill>
                  <a:srgbClr val="1C7293"/>
                </a:solidFill>
              </a:rPr>
              <a:t>[1]</a:t>
            </a:r>
            <a:r>
              <a:rPr sz="1200" b="0" i="0">
                <a:latin typeface="DejaVu Sans"/>
                <a:cs typeface="DejaVu Sans"/>
                <a:ea typeface="DejaVu Sans"/>
                <a:solidFill>
                  <a:srgbClr val="21295C"/>
                </a:solidFill>
              </a:rPr>
              <a:t>: компания отвечает за ответ бота как за любой другой контент сайта </a:t>
            </a:r>
            <a:r>
              <a:rPr sz="624" baseline="30000" b="0" i="1">
                <a:latin typeface="DejaVu Sans"/>
                <a:cs typeface="DejaVu Sans"/>
                <a:ea typeface="DejaVu Sans"/>
                <a:solidFill>
                  <a:srgbClr val="1C7293"/>
                </a:solidFill>
              </a:rPr>
              <a:t>[2]</a:t>
            </a:r>
            <a:r>
              <a:rPr sz="1200" b="0" i="0">
                <a:latin typeface="DejaVu Sans"/>
                <a:cs typeface="DejaVu Sans"/>
                <a:ea typeface="DejaVu Sans"/>
                <a:solidFill>
                  <a:srgbClr val="21295C"/>
                </a:solidFill>
              </a:rPr>
              <a:t>.</a:t>
            </a:r>
          </a:p>
        </p:txBody>
      </p:sp>
      <p:sp>
        <p:nvSpPr>
          <p:cNvPr id="11" name="Rounded Rectangle 10"/>
          <p:cNvSpPr/>
          <p:nvPr/>
        </p:nvSpPr>
        <p:spPr>
          <a:xfrm>
            <a:off x="502920" y="5074920"/>
            <a:ext cx="11201400" cy="566928"/>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22376" y="5129783"/>
            <a:ext cx="10762488" cy="457200"/>
          </a:xfrm>
          <a:prstGeom prst="rect">
            <a:avLst/>
          </a:prstGeom>
          <a:noFill/>
        </p:spPr>
        <p:txBody>
          <a:bodyPr wrap="square" lIns="0" rIns="0" tIns="0" bIns="0" anchor="ctr">
            <a:spAutoFit/>
          </a:bodyPr>
          <a:lstStyle/>
          <a:p>
            <a:pPr algn="l">
              <a:lnSpc>
                <a:spcPct val="120000"/>
              </a:lnSpc>
            </a:pPr>
            <a:r>
              <a:rPr sz="1250" b="1" i="0">
                <a:solidFill>
                  <a:srgbClr val="21295C"/>
                </a:solidFill>
                <a:latin typeface="DejaVu Sans"/>
              </a:rPr>
              <a:t>Ты владеешь каждым ответом бота — не больше, но и ни на грамм меньше ответственности, чем за любой другой контент сайта.</a:t>
            </a:r>
          </a:p>
        </p:txBody>
      </p:sp>
      <p:sp>
        <p:nvSpPr>
          <p:cNvPr id="13" name="TextBox 12"/>
          <p:cNvSpPr txBox="1"/>
          <p:nvPr/>
        </p:nvSpPr>
        <p:spPr>
          <a:xfrm>
            <a:off x="502920" y="6455664"/>
            <a:ext cx="11201400" cy="548640"/>
          </a:xfrm>
          <a:prstGeom prst="rect">
            <a:avLst/>
          </a:prstGeom>
          <a:noFill/>
        </p:spPr>
        <p:txBody>
          <a:bodyPr wrap="square" lIns="0" rIns="0" tIns="0" bIns="0" anchor="t">
            <a:spAutoFit/>
          </a:bodyPr>
          <a:lstStyle/>
          <a:p>
            <a:pPr algn="l">
              <a:lnSpc>
                <a:spcPct val="102000"/>
              </a:lnSpc>
            </a:pPr>
            <a:r>
              <a:rPr sz="850" b="1" i="1">
                <a:solidFill>
                  <a:srgbClr val="065A82"/>
                </a:solidFill>
                <a:latin typeface="DejaVu Sans"/>
              </a:rPr>
              <a:t>[1] </a:t>
            </a:r>
            <a:r>
              <a:rPr sz="850" i="1">
                <a:solidFill>
                  <a:srgbClr val="1C7293"/>
                </a:solidFill>
                <a:latin typeface="DejaVu Sans"/>
                <a:hlinkClick r:id="rId4"/>
              </a:rPr>
              <a:t>CanLII — Moffatt v. Air Canada, 2024 BCCRT 149</a:t>
            </a:r>
            <a:r>
              <a:rPr sz="850" i="1">
                <a:solidFill>
                  <a:srgbClr val="1C7293"/>
                </a:solidFill>
                <a:latin typeface="DejaVu Sans"/>
              </a:rPr>
              <a:t>   ·   </a:t>
            </a:r>
            <a:r>
              <a:rPr sz="850" b="1" i="1">
                <a:solidFill>
                  <a:srgbClr val="065A82"/>
                </a:solidFill>
                <a:latin typeface="DejaVu Sans"/>
              </a:rPr>
              <a:t>[2] </a:t>
            </a:r>
            <a:r>
              <a:rPr sz="850" i="1">
                <a:solidFill>
                  <a:srgbClr val="1C7293"/>
                </a:solidFill>
                <a:latin typeface="DejaVu Sans"/>
                <a:hlinkClick r:id="rId5"/>
              </a:rPr>
              <a:t>American Bar Association — комментарий к делу</a:t>
            </a:r>
          </a:p>
        </p:txBody>
      </p:sp>
      <p:sp>
        <p:nvSpPr>
          <p:cNvPr id="14" name="TextBox 13"/>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47 / 56</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65760"/>
            <a:ext cx="11247120" cy="777240"/>
          </a:xfrm>
          <a:prstGeom prst="rect">
            <a:avLst/>
          </a:prstGeom>
          <a:noFill/>
        </p:spPr>
        <p:txBody>
          <a:bodyPr wrap="square" lIns="0" rIns="0" tIns="0" bIns="0" anchor="t">
            <a:spAutoFit/>
          </a:bodyPr>
          <a:lstStyle/>
          <a:p>
            <a:pPr algn="l">
              <a:lnSpc>
                <a:spcPct val="110000"/>
              </a:lnSpc>
            </a:pPr>
            <a:r>
              <a:rPr sz="1800" b="1" i="0">
                <a:solidFill>
                  <a:srgbClr val="21295C"/>
                </a:solidFill>
                <a:latin typeface="DejaVu Sans"/>
              </a:rPr>
              <a:t>10 из 10 журналистов получили один и тот же незаконный совет — не единичный сбой</a:t>
            </a:r>
          </a:p>
        </p:txBody>
      </p:sp>
      <p:sp>
        <p:nvSpPr>
          <p:cNvPr id="3" name="Rounded Rectangle 2"/>
          <p:cNvSpPr/>
          <p:nvPr/>
        </p:nvSpPr>
        <p:spPr>
          <a:xfrm>
            <a:off x="502920" y="1463040"/>
            <a:ext cx="2331720" cy="1051560"/>
          </a:xfrm>
          <a:prstGeom prst="roundRect">
            <a:avLst>
              <a:gd name="adj" fmla="val 22000"/>
            </a:avLst>
          </a:prstGeom>
          <a:solidFill>
            <a:srgbClr val="FFFFFF"/>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s42-klarna-real-source.png"/>
          <p:cNvPicPr>
            <a:picLocks noChangeAspect="1"/>
          </p:cNvPicPr>
          <p:nvPr/>
        </p:nvPicPr>
        <p:blipFill>
          <a:blip r:embed="rId2"/>
          <a:stretch>
            <a:fillRect/>
          </a:stretch>
        </p:blipFill>
        <p:spPr>
          <a:xfrm>
            <a:off x="767612" y="1609344"/>
            <a:ext cx="1802333" cy="758951"/>
          </a:xfrm>
          <a:prstGeom prst="rect">
            <a:avLst/>
          </a:prstGeom>
        </p:spPr>
      </p:pic>
      <p:sp>
        <p:nvSpPr>
          <p:cNvPr id="5" name="Rounded Rectangle 4"/>
          <p:cNvSpPr/>
          <p:nvPr/>
        </p:nvSpPr>
        <p:spPr>
          <a:xfrm>
            <a:off x="502920" y="2651760"/>
            <a:ext cx="5257800" cy="2286000"/>
          </a:xfrm>
          <a:prstGeom prst="roundRect">
            <a:avLst>
              <a:gd name="adj" fmla="val 13333"/>
            </a:avLst>
          </a:prstGeom>
          <a:solidFill>
            <a:srgbClr val="F4F7FA"/>
          </a:solidFill>
          <a:ln w="1905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c-klarna.png"/>
          <p:cNvPicPr>
            <a:picLocks noChangeAspect="1"/>
          </p:cNvPicPr>
          <p:nvPr/>
        </p:nvPicPr>
        <p:blipFill>
          <a:blip r:embed="rId3"/>
          <a:stretch>
            <a:fillRect/>
          </a:stretch>
        </p:blipFill>
        <p:spPr>
          <a:xfrm>
            <a:off x="1697154" y="2834640"/>
            <a:ext cx="2869330" cy="1874519"/>
          </a:xfrm>
          <a:prstGeom prst="rect">
            <a:avLst/>
          </a:prstGeom>
        </p:spPr>
      </p:pic>
      <p:sp>
        <p:nvSpPr>
          <p:cNvPr id="7" name="TextBox 6"/>
          <p:cNvSpPr txBox="1"/>
          <p:nvPr/>
        </p:nvSpPr>
        <p:spPr>
          <a:xfrm>
            <a:off x="2971800" y="1572768"/>
            <a:ext cx="2788920" cy="914400"/>
          </a:xfrm>
          <a:prstGeom prst="rect">
            <a:avLst/>
          </a:prstGeom>
          <a:noFill/>
        </p:spPr>
        <p:txBody>
          <a:bodyPr wrap="square" lIns="0" rIns="0" tIns="0" bIns="0" anchor="t">
            <a:spAutoFit/>
          </a:bodyPr>
          <a:lstStyle/>
          <a:p>
            <a:pPr algn="l">
              <a:lnSpc>
                <a:spcPct val="115000"/>
              </a:lnSpc>
            </a:pPr>
            <a:r>
              <a:rPr sz="1150" b="0" i="0">
                <a:solidFill>
                  <a:srgbClr val="21295C"/>
                </a:solidFill>
                <a:latin typeface="DejaVu Sans"/>
              </a:rPr>
              <a:t>Klarna: политика «только ИИ» откатилась (05.2025) </a:t>
            </a:r>
            <a:r>
              <a:rPr sz="598" baseline="30000" b="0" i="1">
                <a:latin typeface="DejaVu Sans"/>
                <a:cs typeface="DejaVu Sans"/>
                <a:ea typeface="DejaVu Sans"/>
                <a:solidFill>
                  <a:srgbClr val="1C7293"/>
                </a:solidFill>
              </a:rPr>
              <a:t>[1]</a:t>
            </a:r>
            <a:r>
              <a:rPr sz="1150" b="0" i="0">
                <a:latin typeface="DejaVu Sans"/>
                <a:cs typeface="DejaVu Sans"/>
                <a:ea typeface="DejaVu Sans"/>
                <a:solidFill>
                  <a:srgbClr val="21295C"/>
                </a:solidFill>
              </a:rPr>
              <a:t> — но автоматизация выросла до 853 чел.-эквивалентов </a:t>
            </a:r>
            <a:r>
              <a:rPr sz="598" baseline="30000" b="0" i="1">
                <a:latin typeface="DejaVu Sans"/>
                <a:cs typeface="DejaVu Sans"/>
                <a:ea typeface="DejaVu Sans"/>
                <a:solidFill>
                  <a:srgbClr val="1C7293"/>
                </a:solidFill>
              </a:rPr>
              <a:t>[2]</a:t>
            </a:r>
            <a:r>
              <a:rPr sz="1150" b="0" i="0">
                <a:latin typeface="DejaVu Sans"/>
                <a:cs typeface="DejaVu Sans"/>
                <a:ea typeface="DejaVu Sans"/>
                <a:solidFill>
                  <a:srgbClr val="21295C"/>
                </a:solidFill>
              </a:rPr>
              <a:t> (усиление людей, не замена).</a:t>
            </a:r>
          </a:p>
        </p:txBody>
      </p:sp>
      <p:sp>
        <p:nvSpPr>
          <p:cNvPr id="8" name="Rounded Rectangle 7"/>
          <p:cNvSpPr/>
          <p:nvPr/>
        </p:nvSpPr>
        <p:spPr>
          <a:xfrm>
            <a:off x="5989320" y="1463040"/>
            <a:ext cx="5715000" cy="2788920"/>
          </a:xfrm>
          <a:prstGeom prst="roundRect">
            <a:avLst>
              <a:gd name="adj" fmla="val 10928"/>
            </a:avLst>
          </a:prstGeom>
          <a:solidFill>
            <a:srgbClr val="FDF3DC"/>
          </a:solidFill>
          <a:ln w="2032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217920" y="1572768"/>
            <a:ext cx="5257800" cy="365760"/>
          </a:xfrm>
          <a:prstGeom prst="rect">
            <a:avLst/>
          </a:prstGeom>
          <a:noFill/>
        </p:spPr>
        <p:txBody>
          <a:bodyPr wrap="square" lIns="0" rIns="0" tIns="0" bIns="0" anchor="t">
            <a:spAutoFit/>
          </a:bodyPr>
          <a:lstStyle/>
          <a:p>
            <a:pPr algn="l">
              <a:lnSpc>
                <a:spcPct val="115000"/>
              </a:lnSpc>
            </a:pPr>
            <a:r>
              <a:rPr sz="1400" b="1" i="0">
                <a:solidFill>
                  <a:srgbClr val="21295C"/>
                </a:solidFill>
                <a:latin typeface="DejaVu Sans"/>
              </a:rPr>
              <a:t>NYC MyCity — гос-бот</a:t>
            </a:r>
          </a:p>
        </p:txBody>
      </p:sp>
      <p:pic>
        <p:nvPicPr>
          <p:cNvPr id="10" name="Picture 9" descr="user-x-gold.png"/>
          <p:cNvPicPr>
            <a:picLocks noChangeAspect="1"/>
          </p:cNvPicPr>
          <p:nvPr/>
        </p:nvPicPr>
        <p:blipFill>
          <a:blip r:embed="rId4"/>
          <a:stretch>
            <a:fillRect/>
          </a:stretch>
        </p:blipFill>
        <p:spPr>
          <a:xfrm>
            <a:off x="6263640" y="2057400"/>
            <a:ext cx="438912" cy="438912"/>
          </a:xfrm>
          <a:prstGeom prst="rect">
            <a:avLst/>
          </a:prstGeom>
        </p:spPr>
      </p:pic>
      <p:pic>
        <p:nvPicPr>
          <p:cNvPr id="11" name="Picture 10" descr="user-x-gold.png"/>
          <p:cNvPicPr>
            <a:picLocks noChangeAspect="1"/>
          </p:cNvPicPr>
          <p:nvPr/>
        </p:nvPicPr>
        <p:blipFill>
          <a:blip r:embed="rId4"/>
          <a:stretch>
            <a:fillRect/>
          </a:stretch>
        </p:blipFill>
        <p:spPr>
          <a:xfrm>
            <a:off x="7287768" y="2057400"/>
            <a:ext cx="438912" cy="438912"/>
          </a:xfrm>
          <a:prstGeom prst="rect">
            <a:avLst/>
          </a:prstGeom>
        </p:spPr>
      </p:pic>
      <p:pic>
        <p:nvPicPr>
          <p:cNvPr id="12" name="Picture 11" descr="user-x-gold.png"/>
          <p:cNvPicPr>
            <a:picLocks noChangeAspect="1"/>
          </p:cNvPicPr>
          <p:nvPr/>
        </p:nvPicPr>
        <p:blipFill>
          <a:blip r:embed="rId4"/>
          <a:stretch>
            <a:fillRect/>
          </a:stretch>
        </p:blipFill>
        <p:spPr>
          <a:xfrm>
            <a:off x="8311896" y="2057400"/>
            <a:ext cx="438912" cy="438912"/>
          </a:xfrm>
          <a:prstGeom prst="rect">
            <a:avLst/>
          </a:prstGeom>
        </p:spPr>
      </p:pic>
      <p:pic>
        <p:nvPicPr>
          <p:cNvPr id="13" name="Picture 12" descr="user-x-gold.png"/>
          <p:cNvPicPr>
            <a:picLocks noChangeAspect="1"/>
          </p:cNvPicPr>
          <p:nvPr/>
        </p:nvPicPr>
        <p:blipFill>
          <a:blip r:embed="rId4"/>
          <a:stretch>
            <a:fillRect/>
          </a:stretch>
        </p:blipFill>
        <p:spPr>
          <a:xfrm>
            <a:off x="9336024" y="2057400"/>
            <a:ext cx="438912" cy="438912"/>
          </a:xfrm>
          <a:prstGeom prst="rect">
            <a:avLst/>
          </a:prstGeom>
        </p:spPr>
      </p:pic>
      <p:pic>
        <p:nvPicPr>
          <p:cNvPr id="14" name="Picture 13" descr="user-x-gold.png"/>
          <p:cNvPicPr>
            <a:picLocks noChangeAspect="1"/>
          </p:cNvPicPr>
          <p:nvPr/>
        </p:nvPicPr>
        <p:blipFill>
          <a:blip r:embed="rId4"/>
          <a:stretch>
            <a:fillRect/>
          </a:stretch>
        </p:blipFill>
        <p:spPr>
          <a:xfrm>
            <a:off x="10360152" y="2057400"/>
            <a:ext cx="438912" cy="438912"/>
          </a:xfrm>
          <a:prstGeom prst="rect">
            <a:avLst/>
          </a:prstGeom>
        </p:spPr>
      </p:pic>
      <p:pic>
        <p:nvPicPr>
          <p:cNvPr id="15" name="Picture 14" descr="user-x-gold.png"/>
          <p:cNvPicPr>
            <a:picLocks noChangeAspect="1"/>
          </p:cNvPicPr>
          <p:nvPr/>
        </p:nvPicPr>
        <p:blipFill>
          <a:blip r:embed="rId4"/>
          <a:stretch>
            <a:fillRect/>
          </a:stretch>
        </p:blipFill>
        <p:spPr>
          <a:xfrm>
            <a:off x="6263640" y="2697480"/>
            <a:ext cx="438912" cy="438912"/>
          </a:xfrm>
          <a:prstGeom prst="rect">
            <a:avLst/>
          </a:prstGeom>
        </p:spPr>
      </p:pic>
      <p:pic>
        <p:nvPicPr>
          <p:cNvPr id="16" name="Picture 15" descr="user-x-gold.png"/>
          <p:cNvPicPr>
            <a:picLocks noChangeAspect="1"/>
          </p:cNvPicPr>
          <p:nvPr/>
        </p:nvPicPr>
        <p:blipFill>
          <a:blip r:embed="rId4"/>
          <a:stretch>
            <a:fillRect/>
          </a:stretch>
        </p:blipFill>
        <p:spPr>
          <a:xfrm>
            <a:off x="7287768" y="2697480"/>
            <a:ext cx="438912" cy="438912"/>
          </a:xfrm>
          <a:prstGeom prst="rect">
            <a:avLst/>
          </a:prstGeom>
        </p:spPr>
      </p:pic>
      <p:pic>
        <p:nvPicPr>
          <p:cNvPr id="17" name="Picture 16" descr="user-x-gold.png"/>
          <p:cNvPicPr>
            <a:picLocks noChangeAspect="1"/>
          </p:cNvPicPr>
          <p:nvPr/>
        </p:nvPicPr>
        <p:blipFill>
          <a:blip r:embed="rId4"/>
          <a:stretch>
            <a:fillRect/>
          </a:stretch>
        </p:blipFill>
        <p:spPr>
          <a:xfrm>
            <a:off x="8311896" y="2697480"/>
            <a:ext cx="438912" cy="438912"/>
          </a:xfrm>
          <a:prstGeom prst="rect">
            <a:avLst/>
          </a:prstGeom>
        </p:spPr>
      </p:pic>
      <p:pic>
        <p:nvPicPr>
          <p:cNvPr id="18" name="Picture 17" descr="user-x-gold.png"/>
          <p:cNvPicPr>
            <a:picLocks noChangeAspect="1"/>
          </p:cNvPicPr>
          <p:nvPr/>
        </p:nvPicPr>
        <p:blipFill>
          <a:blip r:embed="rId4"/>
          <a:stretch>
            <a:fillRect/>
          </a:stretch>
        </p:blipFill>
        <p:spPr>
          <a:xfrm>
            <a:off x="9336024" y="2697480"/>
            <a:ext cx="438912" cy="438912"/>
          </a:xfrm>
          <a:prstGeom prst="rect">
            <a:avLst/>
          </a:prstGeom>
        </p:spPr>
      </p:pic>
      <p:pic>
        <p:nvPicPr>
          <p:cNvPr id="19" name="Picture 18" descr="user-x-gold.png"/>
          <p:cNvPicPr>
            <a:picLocks noChangeAspect="1"/>
          </p:cNvPicPr>
          <p:nvPr/>
        </p:nvPicPr>
        <p:blipFill>
          <a:blip r:embed="rId4"/>
          <a:stretch>
            <a:fillRect/>
          </a:stretch>
        </p:blipFill>
        <p:spPr>
          <a:xfrm>
            <a:off x="10360152" y="2697480"/>
            <a:ext cx="438912" cy="438912"/>
          </a:xfrm>
          <a:prstGeom prst="rect">
            <a:avLst/>
          </a:prstGeom>
        </p:spPr>
      </p:pic>
      <p:sp>
        <p:nvSpPr>
          <p:cNvPr id="20" name="TextBox 19"/>
          <p:cNvSpPr txBox="1"/>
          <p:nvPr/>
        </p:nvSpPr>
        <p:spPr>
          <a:xfrm>
            <a:off x="6217920" y="3383280"/>
            <a:ext cx="5257800" cy="777240"/>
          </a:xfrm>
          <a:prstGeom prst="rect">
            <a:avLst/>
          </a:prstGeom>
          <a:noFill/>
        </p:spPr>
        <p:txBody>
          <a:bodyPr wrap="square" lIns="0" rIns="0" tIns="0" bIns="0" anchor="t">
            <a:spAutoFit/>
          </a:bodyPr>
          <a:lstStyle/>
          <a:p>
            <a:pPr algn="l">
              <a:lnSpc>
                <a:spcPct val="115000"/>
              </a:lnSpc>
            </a:pPr>
            <a:r>
              <a:rPr sz="1250" b="1" i="0">
                <a:solidFill>
                  <a:srgbClr val="21295C"/>
                </a:solidFill>
                <a:latin typeface="DejaVu Sans"/>
              </a:rPr>
              <a:t>10 из 10 журналистов — один и тот же незаконный совет </a:t>
            </a:r>
            <a:r>
              <a:rPr sz="650" baseline="30000" b="0" i="1">
                <a:latin typeface="DejaVu Sans"/>
                <a:cs typeface="DejaVu Sans"/>
                <a:ea typeface="DejaVu Sans"/>
                <a:solidFill>
                  <a:srgbClr val="1C7293"/>
                </a:solidFill>
              </a:rPr>
              <a:t>[3]</a:t>
            </a:r>
            <a:r>
              <a:rPr sz="1250" b="1" i="0">
                <a:latin typeface="DejaVu Sans"/>
                <a:cs typeface="DejaVu Sans"/>
                <a:ea typeface="DejaVu Sans"/>
                <a:solidFill>
                  <a:srgbClr val="21295C"/>
                </a:solidFill>
              </a:rPr>
              <a:t>. Мэр не отозвал бот сразу.</a:t>
            </a:r>
          </a:p>
        </p:txBody>
      </p:sp>
      <p:sp>
        <p:nvSpPr>
          <p:cNvPr id="21" name="Rounded Rectangle 20"/>
          <p:cNvSpPr/>
          <p:nvPr/>
        </p:nvSpPr>
        <p:spPr>
          <a:xfrm>
            <a:off x="502920" y="5074920"/>
            <a:ext cx="11201400" cy="566928"/>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22376" y="5129783"/>
            <a:ext cx="10762488" cy="457200"/>
          </a:xfrm>
          <a:prstGeom prst="rect">
            <a:avLst/>
          </a:prstGeom>
          <a:noFill/>
        </p:spPr>
        <p:txBody>
          <a:bodyPr wrap="square" lIns="0" rIns="0" tIns="0" bIns="0" anchor="ctr">
            <a:spAutoFit/>
          </a:bodyPr>
          <a:lstStyle/>
          <a:p>
            <a:pPr algn="l">
              <a:lnSpc>
                <a:spcPct val="120000"/>
              </a:lnSpc>
            </a:pPr>
            <a:r>
              <a:rPr sz="1250" b="1" i="0">
                <a:solidFill>
                  <a:srgbClr val="21295C"/>
                </a:solidFill>
                <a:latin typeface="DejaVu Sans"/>
              </a:rPr>
              <a:t>Урок не «ИИ не работает», а «метрика пропускной способности без гарантированной эскалации к человеку — неверный дизайн».</a:t>
            </a:r>
          </a:p>
        </p:txBody>
      </p:sp>
      <p:sp>
        <p:nvSpPr>
          <p:cNvPr id="23" name="TextBox 22"/>
          <p:cNvSpPr txBox="1"/>
          <p:nvPr/>
        </p:nvSpPr>
        <p:spPr>
          <a:xfrm>
            <a:off x="502920" y="6419088"/>
            <a:ext cx="11201400" cy="548640"/>
          </a:xfrm>
          <a:prstGeom prst="rect">
            <a:avLst/>
          </a:prstGeom>
          <a:noFill/>
        </p:spPr>
        <p:txBody>
          <a:bodyPr wrap="square" lIns="0" rIns="0" tIns="0" bIns="0" anchor="t">
            <a:spAutoFit/>
          </a:bodyPr>
          <a:lstStyle/>
          <a:p>
            <a:pPr algn="l">
              <a:lnSpc>
                <a:spcPct val="102000"/>
              </a:lnSpc>
            </a:pPr>
            <a:r>
              <a:rPr sz="850" b="1" i="1">
                <a:solidFill>
                  <a:srgbClr val="065A82"/>
                </a:solidFill>
                <a:latin typeface="DejaVu Sans"/>
              </a:rPr>
              <a:t>[1] </a:t>
            </a:r>
            <a:r>
              <a:rPr sz="850" i="1">
                <a:solidFill>
                  <a:srgbClr val="1C7293"/>
                </a:solidFill>
                <a:latin typeface="DejaVu Sans"/>
                <a:hlinkClick r:id="rId5"/>
              </a:rPr>
              <a:t>Bloomberg (8 мая 2025) — Klarna</a:t>
            </a:r>
            <a:r>
              <a:rPr sz="850" i="1">
                <a:solidFill>
                  <a:srgbClr val="1C7293"/>
                </a:solidFill>
                <a:latin typeface="DejaVu Sans"/>
              </a:rPr>
              <a:t>   ·   </a:t>
            </a:r>
            <a:r>
              <a:rPr sz="850" b="1" i="1">
                <a:solidFill>
                  <a:srgbClr val="065A82"/>
                </a:solidFill>
                <a:latin typeface="DejaVu Sans"/>
              </a:rPr>
              <a:t>[2] </a:t>
            </a:r>
            <a:r>
              <a:rPr sz="850" i="1">
                <a:solidFill>
                  <a:srgbClr val="1C7293"/>
                </a:solidFill>
                <a:latin typeface="DejaVu Sans"/>
                <a:hlinkClick r:id="rId6"/>
              </a:rPr>
              <a:t>Fortune (10 окт. 2025) — 853 FTE</a:t>
            </a:r>
            <a:r>
              <a:rPr sz="850" i="1">
                <a:solidFill>
                  <a:srgbClr val="1C7293"/>
                </a:solidFill>
                <a:latin typeface="DejaVu Sans"/>
              </a:rPr>
              <a:t>   ·   </a:t>
            </a:r>
            <a:r>
              <a:rPr sz="850" b="1" i="1">
                <a:solidFill>
                  <a:srgbClr val="065A82"/>
                </a:solidFill>
                <a:latin typeface="DejaVu Sans"/>
              </a:rPr>
              <a:t>[3] </a:t>
            </a:r>
            <a:r>
              <a:rPr sz="850" i="1">
                <a:solidFill>
                  <a:srgbClr val="1C7293"/>
                </a:solidFill>
                <a:latin typeface="DejaVu Sans"/>
                <a:hlinkClick r:id="rId7"/>
              </a:rPr>
              <a:t>The Markup (29 марта 2024) — NYC MyCity</a:t>
            </a:r>
          </a:p>
        </p:txBody>
      </p:sp>
      <p:sp>
        <p:nvSpPr>
          <p:cNvPr id="24" name="TextBox 23"/>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48 / 56</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65760"/>
            <a:ext cx="11247120" cy="777240"/>
          </a:xfrm>
          <a:prstGeom prst="rect">
            <a:avLst/>
          </a:prstGeom>
          <a:noFill/>
        </p:spPr>
        <p:txBody>
          <a:bodyPr wrap="square" lIns="0" rIns="0" tIns="0" bIns="0" anchor="t">
            <a:spAutoFit/>
          </a:bodyPr>
          <a:lstStyle/>
          <a:p>
            <a:pPr algn="l">
              <a:lnSpc>
                <a:spcPct val="110000"/>
              </a:lnSpc>
            </a:pPr>
            <a:r>
              <a:rPr sz="2200" b="1" i="0">
                <a:solidFill>
                  <a:srgbClr val="21295C"/>
                </a:solidFill>
                <a:latin typeface="DejaVu Sans"/>
              </a:rPr>
              <a:t>Эксплуатация — точка, где петля физически замыкается</a:t>
            </a:r>
          </a:p>
        </p:txBody>
      </p:sp>
      <p:cxnSp>
        <p:nvCxnSpPr>
          <p:cNvPr id="3" name="Connector 2"/>
          <p:cNvCxnSpPr/>
          <p:nvPr/>
        </p:nvCxnSpPr>
        <p:spPr>
          <a:xfrm>
            <a:off x="3337560" y="1417320"/>
            <a:ext cx="1148245" cy="662940"/>
          </a:xfrm>
          <a:prstGeom prst="line">
            <a:avLst/>
          </a:prstGeom>
          <a:ln w="22860">
            <a:solidFill>
              <a:srgbClr val="1C7293"/>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4485805" y="2080260"/>
            <a:ext cx="0" cy="1325879"/>
          </a:xfrm>
          <a:prstGeom prst="line">
            <a:avLst/>
          </a:prstGeom>
          <a:ln w="22860">
            <a:solidFill>
              <a:srgbClr val="1C7293"/>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flipH="1">
            <a:off x="3337560" y="3406139"/>
            <a:ext cx="1148245" cy="662941"/>
          </a:xfrm>
          <a:prstGeom prst="line">
            <a:avLst/>
          </a:prstGeom>
          <a:ln w="22860">
            <a:solidFill>
              <a:srgbClr val="1C7293"/>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flipH="1" flipV="1">
            <a:off x="2189314" y="3406140"/>
            <a:ext cx="1148246" cy="662940"/>
          </a:xfrm>
          <a:prstGeom prst="line">
            <a:avLst/>
          </a:prstGeom>
          <a:ln w="22860">
            <a:solidFill>
              <a:srgbClr val="1C7293"/>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flipV="1">
            <a:off x="2189314" y="2080260"/>
            <a:ext cx="0" cy="1325880"/>
          </a:xfrm>
          <a:prstGeom prst="line">
            <a:avLst/>
          </a:prstGeom>
          <a:ln w="38100">
            <a:solidFill>
              <a:srgbClr val="F0AB0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flipV="1">
            <a:off x="2189314" y="1417320"/>
            <a:ext cx="1148246" cy="662940"/>
          </a:xfrm>
          <a:prstGeom prst="line">
            <a:avLst/>
          </a:prstGeom>
          <a:ln w="22860">
            <a:solidFill>
              <a:srgbClr val="1C7293"/>
            </a:solidFill>
          </a:ln>
        </p:spPr>
        <p:style>
          <a:lnRef idx="2">
            <a:schemeClr val="accent1"/>
          </a:lnRef>
          <a:fillRef idx="0">
            <a:schemeClr val="accent1"/>
          </a:fillRef>
          <a:effectRef idx="1">
            <a:schemeClr val="accent1"/>
          </a:effectRef>
          <a:fontRef idx="minor">
            <a:schemeClr val="tx1"/>
          </a:fontRef>
        </p:style>
      </p:cxnSp>
      <p:sp>
        <p:nvSpPr>
          <p:cNvPr id="9" name="Oval 8"/>
          <p:cNvSpPr/>
          <p:nvPr/>
        </p:nvSpPr>
        <p:spPr>
          <a:xfrm>
            <a:off x="3118104" y="1197864"/>
            <a:ext cx="438912" cy="438912"/>
          </a:xfrm>
          <a:prstGeom prst="ellipse">
            <a:avLst/>
          </a:prstGeom>
          <a:solidFill>
            <a:srgbClr val="F0AB00"/>
          </a:solidFill>
          <a:ln w="1778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560320" y="1655064"/>
            <a:ext cx="1554480" cy="310896"/>
          </a:xfrm>
          <a:prstGeom prst="rect">
            <a:avLst/>
          </a:prstGeom>
          <a:noFill/>
        </p:spPr>
        <p:txBody>
          <a:bodyPr wrap="square" lIns="0" rIns="0" tIns="0" bIns="0" anchor="t">
            <a:spAutoFit/>
          </a:bodyPr>
          <a:lstStyle/>
          <a:p>
            <a:pPr algn="ctr">
              <a:lnSpc>
                <a:spcPct val="115000"/>
              </a:lnSpc>
            </a:pPr>
            <a:r>
              <a:rPr sz="900" b="1" i="0">
                <a:solidFill>
                  <a:srgbClr val="21295C"/>
                </a:solidFill>
                <a:latin typeface="DejaVu Sans"/>
              </a:rPr>
              <a:t>Исследование</a:t>
            </a:r>
          </a:p>
        </p:txBody>
      </p:sp>
      <p:sp>
        <p:nvSpPr>
          <p:cNvPr id="11" name="Oval 10"/>
          <p:cNvSpPr/>
          <p:nvPr/>
        </p:nvSpPr>
        <p:spPr>
          <a:xfrm>
            <a:off x="4266349" y="1860804"/>
            <a:ext cx="438912" cy="438912"/>
          </a:xfrm>
          <a:prstGeom prst="ellipse">
            <a:avLst/>
          </a:prstGeom>
          <a:solidFill>
            <a:srgbClr val="065A82"/>
          </a:solidFill>
          <a:ln w="1778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708565" y="2318004"/>
            <a:ext cx="1554480" cy="310896"/>
          </a:xfrm>
          <a:prstGeom prst="rect">
            <a:avLst/>
          </a:prstGeom>
          <a:noFill/>
        </p:spPr>
        <p:txBody>
          <a:bodyPr wrap="square" lIns="0" rIns="0" tIns="0" bIns="0" anchor="t">
            <a:spAutoFit/>
          </a:bodyPr>
          <a:lstStyle/>
          <a:p>
            <a:pPr algn="ctr">
              <a:lnSpc>
                <a:spcPct val="115000"/>
              </a:lnSpc>
            </a:pPr>
            <a:r>
              <a:rPr sz="900" b="1" i="0">
                <a:solidFill>
                  <a:srgbClr val="21295C"/>
                </a:solidFill>
                <a:latin typeface="DejaVu Sans"/>
              </a:rPr>
              <a:t>Дизайн</a:t>
            </a:r>
          </a:p>
        </p:txBody>
      </p:sp>
      <p:sp>
        <p:nvSpPr>
          <p:cNvPr id="13" name="Oval 12"/>
          <p:cNvSpPr/>
          <p:nvPr/>
        </p:nvSpPr>
        <p:spPr>
          <a:xfrm>
            <a:off x="4266349" y="3186683"/>
            <a:ext cx="438912" cy="438912"/>
          </a:xfrm>
          <a:prstGeom prst="ellipse">
            <a:avLst/>
          </a:prstGeom>
          <a:solidFill>
            <a:srgbClr val="065A82"/>
          </a:solidFill>
          <a:ln w="1778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708565" y="3643883"/>
            <a:ext cx="1554480" cy="310896"/>
          </a:xfrm>
          <a:prstGeom prst="rect">
            <a:avLst/>
          </a:prstGeom>
          <a:noFill/>
        </p:spPr>
        <p:txBody>
          <a:bodyPr wrap="square" lIns="0" rIns="0" tIns="0" bIns="0" anchor="t">
            <a:spAutoFit/>
          </a:bodyPr>
          <a:lstStyle/>
          <a:p>
            <a:pPr algn="ctr">
              <a:lnSpc>
                <a:spcPct val="115000"/>
              </a:lnSpc>
            </a:pPr>
            <a:r>
              <a:rPr sz="900" b="1" i="0">
                <a:solidFill>
                  <a:srgbClr val="21295C"/>
                </a:solidFill>
                <a:latin typeface="DejaVu Sans"/>
              </a:rPr>
              <a:t>Сборка</a:t>
            </a:r>
          </a:p>
        </p:txBody>
      </p:sp>
      <p:sp>
        <p:nvSpPr>
          <p:cNvPr id="15" name="Oval 14"/>
          <p:cNvSpPr/>
          <p:nvPr/>
        </p:nvSpPr>
        <p:spPr>
          <a:xfrm>
            <a:off x="3118104" y="3849624"/>
            <a:ext cx="438912" cy="438912"/>
          </a:xfrm>
          <a:prstGeom prst="ellipse">
            <a:avLst/>
          </a:prstGeom>
          <a:solidFill>
            <a:srgbClr val="065A82"/>
          </a:solidFill>
          <a:ln w="1778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2560320" y="4306824"/>
            <a:ext cx="1554480" cy="310896"/>
          </a:xfrm>
          <a:prstGeom prst="rect">
            <a:avLst/>
          </a:prstGeom>
          <a:noFill/>
        </p:spPr>
        <p:txBody>
          <a:bodyPr wrap="square" lIns="0" rIns="0" tIns="0" bIns="0" anchor="t">
            <a:spAutoFit/>
          </a:bodyPr>
          <a:lstStyle/>
          <a:p>
            <a:pPr algn="ctr">
              <a:lnSpc>
                <a:spcPct val="115000"/>
              </a:lnSpc>
            </a:pPr>
            <a:r>
              <a:rPr sz="900" b="1" i="0">
                <a:solidFill>
                  <a:srgbClr val="21295C"/>
                </a:solidFill>
                <a:latin typeface="DejaVu Sans"/>
              </a:rPr>
              <a:t>Измерение</a:t>
            </a:r>
          </a:p>
        </p:txBody>
      </p:sp>
      <p:sp>
        <p:nvSpPr>
          <p:cNvPr id="17" name="Oval 16"/>
          <p:cNvSpPr/>
          <p:nvPr/>
        </p:nvSpPr>
        <p:spPr>
          <a:xfrm>
            <a:off x="1969858" y="3186684"/>
            <a:ext cx="438912" cy="438912"/>
          </a:xfrm>
          <a:prstGeom prst="ellipse">
            <a:avLst/>
          </a:prstGeom>
          <a:solidFill>
            <a:srgbClr val="F0AB00"/>
          </a:solidFill>
          <a:ln w="1778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412074" y="3643884"/>
            <a:ext cx="1554480" cy="310896"/>
          </a:xfrm>
          <a:prstGeom prst="rect">
            <a:avLst/>
          </a:prstGeom>
          <a:noFill/>
        </p:spPr>
        <p:txBody>
          <a:bodyPr wrap="square" lIns="0" rIns="0" tIns="0" bIns="0" anchor="t">
            <a:spAutoFit/>
          </a:bodyPr>
          <a:lstStyle/>
          <a:p>
            <a:pPr algn="ctr">
              <a:lnSpc>
                <a:spcPct val="115000"/>
              </a:lnSpc>
            </a:pPr>
            <a:r>
              <a:rPr sz="900" b="1" i="0">
                <a:solidFill>
                  <a:srgbClr val="21295C"/>
                </a:solidFill>
                <a:latin typeface="DejaVu Sans"/>
              </a:rPr>
              <a:t>Поддержка</a:t>
            </a:r>
          </a:p>
        </p:txBody>
      </p:sp>
      <p:sp>
        <p:nvSpPr>
          <p:cNvPr id="19" name="Oval 18"/>
          <p:cNvSpPr/>
          <p:nvPr/>
        </p:nvSpPr>
        <p:spPr>
          <a:xfrm>
            <a:off x="1969858" y="1860804"/>
            <a:ext cx="438912" cy="438912"/>
          </a:xfrm>
          <a:prstGeom prst="ellipse">
            <a:avLst/>
          </a:prstGeom>
          <a:solidFill>
            <a:srgbClr val="065A82"/>
          </a:solidFill>
          <a:ln w="1778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412074" y="2318004"/>
            <a:ext cx="1554480" cy="310896"/>
          </a:xfrm>
          <a:prstGeom prst="rect">
            <a:avLst/>
          </a:prstGeom>
          <a:noFill/>
        </p:spPr>
        <p:txBody>
          <a:bodyPr wrap="square" lIns="0" rIns="0" tIns="0" bIns="0" anchor="t">
            <a:spAutoFit/>
          </a:bodyPr>
          <a:lstStyle/>
          <a:p>
            <a:pPr algn="ctr">
              <a:lnSpc>
                <a:spcPct val="115000"/>
              </a:lnSpc>
            </a:pPr>
            <a:r>
              <a:rPr sz="900" b="1" i="0">
                <a:solidFill>
                  <a:srgbClr val="21295C"/>
                </a:solidFill>
                <a:latin typeface="DejaVu Sans"/>
              </a:rPr>
              <a:t>Управление</a:t>
            </a:r>
          </a:p>
        </p:txBody>
      </p:sp>
      <p:sp>
        <p:nvSpPr>
          <p:cNvPr id="21" name="Rounded Rectangle 20"/>
          <p:cNvSpPr/>
          <p:nvPr/>
        </p:nvSpPr>
        <p:spPr>
          <a:xfrm>
            <a:off x="5806440" y="1508760"/>
            <a:ext cx="5897880" cy="2788920"/>
          </a:xfrm>
          <a:prstGeom prst="roundRect">
            <a:avLst>
              <a:gd name="adj" fmla="val 10928"/>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035040" y="1664208"/>
            <a:ext cx="5440680" cy="2468880"/>
          </a:xfrm>
          <a:prstGeom prst="rect">
            <a:avLst/>
          </a:prstGeom>
          <a:noFill/>
        </p:spPr>
        <p:txBody>
          <a:bodyPr wrap="square" lIns="0" rIns="0" tIns="0" bIns="0" anchor="t">
            <a:spAutoFit/>
          </a:bodyPr>
          <a:lstStyle/>
          <a:p>
            <a:pPr algn="l">
              <a:lnSpc>
                <a:spcPct val="125000"/>
              </a:lnSpc>
            </a:pPr>
            <a:r>
              <a:rPr sz="1300" b="0" i="0">
                <a:solidFill>
                  <a:srgbClr val="21295C"/>
                </a:solidFill>
                <a:latin typeface="DejaVu Sans"/>
              </a:rPr>
              <a:t>Поддержка → Продукт замыкает петлю.</a:t>
            </a:r>
          </a:p>
          <a:p>
            <a:pPr algn="l">
              <a:lnSpc>
                <a:spcPct val="125000"/>
              </a:lnSpc>
            </a:pPr>
            <a:r>
              <a:rPr sz="1300" b="0" i="0">
                <a:solidFill>
                  <a:srgbClr val="21295C"/>
                </a:solidFill>
                <a:latin typeface="DejaVu Sans"/>
              </a:rPr>
              <a:t/>
            </a:r>
          </a:p>
          <a:p>
            <a:pPr algn="l">
              <a:lnSpc>
                <a:spcPct val="125000"/>
              </a:lnSpc>
            </a:pPr>
            <a:r>
              <a:rPr sz="1300" b="0" i="0">
                <a:solidFill>
                  <a:srgbClr val="21295C"/>
                </a:solidFill>
                <a:latin typeface="DejaVu Sans"/>
              </a:rPr>
              <a:t>Сигнал из эксплуатации(дрейф, инцидент, жалоба) обновляет reference dataset (эталонный набор) и guardrail — а при глубоком сигнале возвращает к самому намерению: что мы строим и для кого.</a:t>
            </a:r>
          </a:p>
        </p:txBody>
      </p:sp>
      <p:sp>
        <p:nvSpPr>
          <p:cNvPr id="23" name="Rounded Rectangle 22"/>
          <p:cNvSpPr/>
          <p:nvPr/>
        </p:nvSpPr>
        <p:spPr>
          <a:xfrm>
            <a:off x="502920" y="4663440"/>
            <a:ext cx="11201400" cy="777240"/>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22376" y="4718303"/>
            <a:ext cx="10762488" cy="667512"/>
          </a:xfrm>
          <a:prstGeom prst="rect">
            <a:avLst/>
          </a:prstGeom>
          <a:noFill/>
        </p:spPr>
        <p:txBody>
          <a:bodyPr wrap="square" lIns="0" rIns="0" tIns="0" bIns="0" anchor="ctr">
            <a:spAutoFit/>
          </a:bodyPr>
          <a:lstStyle/>
          <a:p>
            <a:pPr algn="l">
              <a:lnSpc>
                <a:spcPct val="120000"/>
              </a:lnSpc>
            </a:pPr>
            <a:r>
              <a:rPr sz="1300" b="1" i="0">
                <a:solidFill>
                  <a:srgbClr val="21295C"/>
                </a:solidFill>
                <a:latin typeface="DejaVu Sans"/>
              </a:rPr>
              <a:t>Наблюдать, интерпретировать, решать — эти шаги остаются человеческими на каждом витке петли, даже когда исполнение почти бесплатно.</a:t>
            </a:r>
          </a:p>
        </p:txBody>
      </p:sp>
      <p:sp>
        <p:nvSpPr>
          <p:cNvPr id="25" name="TextBox 24"/>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49 / 56</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F4F7FA"/>
        </a:solidFill>
        <a:effectLst/>
      </p:bgPr>
    </p:bg>
    <p:spTree>
      <p:nvGrpSpPr>
        <p:cNvPr id="1" name=""/>
        <p:cNvGrpSpPr/>
        <p:nvPr/>
      </p:nvGrpSpPr>
      <p:grpSpPr/>
      <p:sp>
        <p:nvSpPr>
          <p:cNvPr id="2" name="TextBox 1"/>
          <p:cNvSpPr txBox="1"/>
          <p:nvPr/>
        </p:nvSpPr>
        <p:spPr>
          <a:xfrm>
            <a:off x="9464040" y="91440"/>
            <a:ext cx="2651760" cy="1188720"/>
          </a:xfrm>
          <a:prstGeom prst="rect">
            <a:avLst/>
          </a:prstGeom>
          <a:noFill/>
        </p:spPr>
        <p:txBody>
          <a:bodyPr wrap="square" lIns="0" rIns="0" tIns="0" bIns="0" anchor="ctr">
            <a:spAutoFit/>
          </a:bodyPr>
          <a:lstStyle/>
          <a:p>
            <a:pPr algn="ctr">
              <a:lnSpc>
                <a:spcPct val="115000"/>
              </a:lnSpc>
            </a:pPr>
            <a:r>
              <a:rPr sz="9000" b="1" i="0">
                <a:solidFill>
                  <a:srgbClr val="D9E2EC"/>
                </a:solidFill>
                <a:latin typeface="DejaVu Sans"/>
              </a:rPr>
              <a:t>6</a:t>
            </a:r>
          </a:p>
        </p:txBody>
      </p:sp>
      <p:sp>
        <p:nvSpPr>
          <p:cNvPr id="3" name="Rounded Rectangle 2"/>
          <p:cNvSpPr/>
          <p:nvPr/>
        </p:nvSpPr>
        <p:spPr>
          <a:xfrm>
            <a:off x="7635240" y="1234440"/>
            <a:ext cx="4069080" cy="4160520"/>
          </a:xfrm>
          <a:prstGeom prst="roundRect">
            <a:avLst>
              <a:gd name="adj" fmla="val 749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s44-sad-pablo.jpg"/>
          <p:cNvPicPr>
            <a:picLocks noChangeAspect="1"/>
          </p:cNvPicPr>
          <p:nvPr/>
        </p:nvPicPr>
        <p:blipFill>
          <a:blip r:embed="rId2"/>
          <a:stretch>
            <a:fillRect/>
          </a:stretch>
        </p:blipFill>
        <p:spPr>
          <a:xfrm>
            <a:off x="7763256" y="1437303"/>
            <a:ext cx="3813048" cy="3754793"/>
          </a:xfrm>
          <a:prstGeom prst="rect">
            <a:avLst/>
          </a:prstGeom>
        </p:spPr>
      </p:pic>
      <p:sp>
        <p:nvSpPr>
          <p:cNvPr id="5" name="TextBox 4"/>
          <p:cNvSpPr txBox="1"/>
          <p:nvPr/>
        </p:nvSpPr>
        <p:spPr>
          <a:xfrm>
            <a:off x="685800" y="1417320"/>
            <a:ext cx="6675120" cy="502920"/>
          </a:xfrm>
          <a:prstGeom prst="rect">
            <a:avLst/>
          </a:prstGeom>
          <a:noFill/>
        </p:spPr>
        <p:txBody>
          <a:bodyPr wrap="square" lIns="0" rIns="0" tIns="0" bIns="0" anchor="t">
            <a:spAutoFit/>
          </a:bodyPr>
          <a:lstStyle/>
          <a:p>
            <a:pPr algn="l">
              <a:lnSpc>
                <a:spcPct val="115000"/>
              </a:lnSpc>
            </a:pPr>
            <a:r>
              <a:rPr sz="2000" b="1" i="0">
                <a:solidFill>
                  <a:srgbClr val="028090"/>
                </a:solidFill>
                <a:latin typeface="DejaVu Sans"/>
              </a:rPr>
              <a:t>РАЗДЕЛ 6</a:t>
            </a:r>
          </a:p>
        </p:txBody>
      </p:sp>
      <p:sp>
        <p:nvSpPr>
          <p:cNvPr id="6" name="TextBox 5"/>
          <p:cNvSpPr txBox="1"/>
          <p:nvPr/>
        </p:nvSpPr>
        <p:spPr>
          <a:xfrm>
            <a:off x="685800" y="2395728"/>
            <a:ext cx="6675120" cy="1600200"/>
          </a:xfrm>
          <a:prstGeom prst="rect">
            <a:avLst/>
          </a:prstGeom>
          <a:noFill/>
        </p:spPr>
        <p:txBody>
          <a:bodyPr wrap="square" lIns="0" rIns="0" tIns="0" bIns="0" anchor="t">
            <a:spAutoFit/>
          </a:bodyPr>
          <a:lstStyle/>
          <a:p>
            <a:pPr algn="l">
              <a:lnSpc>
                <a:spcPct val="108000"/>
              </a:lnSpc>
            </a:pPr>
            <a:r>
              <a:rPr sz="3000" b="1" i="0">
                <a:solidFill>
                  <a:srgbClr val="21295C"/>
                </a:solidFill>
                <a:latin typeface="DejaVu Sans"/>
              </a:rPr>
              <a:t>Управление — капстоун, отвечающий на хук-парадокс</a:t>
            </a:r>
          </a:p>
        </p:txBody>
      </p:sp>
      <p:sp>
        <p:nvSpPr>
          <p:cNvPr id="7" name="Rounded Rectangle 6"/>
          <p:cNvSpPr/>
          <p:nvPr/>
        </p:nvSpPr>
        <p:spPr>
          <a:xfrm>
            <a:off x="713232" y="3840480"/>
            <a:ext cx="3291840" cy="384048"/>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wrap="none"/>
          <a:lstStyle/>
          <a:p>
            <a:pPr algn="ctr"/>
            <a:r>
              <a:rPr sz="1250" b="1">
                <a:solidFill>
                  <a:srgbClr val="21295C"/>
                </a:solidFill>
                <a:latin typeface="DejaVu Sans"/>
              </a:rPr>
              <a:t>2 провала · развязка</a:t>
            </a:r>
          </a:p>
        </p:txBody>
      </p:sp>
      <p:sp>
        <p:nvSpPr>
          <p:cNvPr id="8" name="TextBox 7"/>
          <p:cNvSpPr txBox="1"/>
          <p:nvPr/>
        </p:nvSpPr>
        <p:spPr>
          <a:xfrm>
            <a:off x="713232" y="4389120"/>
            <a:ext cx="6720840" cy="1417320"/>
          </a:xfrm>
          <a:prstGeom prst="rect">
            <a:avLst/>
          </a:prstGeom>
          <a:noFill/>
        </p:spPr>
        <p:txBody>
          <a:bodyPr wrap="square" lIns="0" rIns="0" tIns="0" bIns="0" anchor="t">
            <a:spAutoFit/>
          </a:bodyPr>
          <a:lstStyle/>
          <a:p>
            <a:pPr algn="l">
              <a:lnSpc>
                <a:spcPct val="116000"/>
              </a:lnSpc>
            </a:pPr>
            <a:r>
              <a:rPr sz="1500" b="0" i="1">
                <a:solidFill>
                  <a:srgbClr val="1C7293"/>
                </a:solidFill>
                <a:latin typeface="DejaVu Sans"/>
              </a:rPr>
              <a:t>Почему сборка почти бесплатна, а ценность — нет. Здесь мы поднимаемся на уровень организации и собираем петлю целиком.</a:t>
            </a:r>
          </a:p>
        </p:txBody>
      </p:sp>
      <p:sp>
        <p:nvSpPr>
          <p:cNvPr id="9" name="Rounded Rectangle 8"/>
          <p:cNvSpPr/>
          <p:nvPr/>
        </p:nvSpPr>
        <p:spPr>
          <a:xfrm>
            <a:off x="502920" y="5989320"/>
            <a:ext cx="1521822"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21208" y="6035040"/>
            <a:ext cx="1485246" cy="164592"/>
          </a:xfrm>
          <a:prstGeom prst="rect">
            <a:avLst/>
          </a:prstGeom>
          <a:noFill/>
        </p:spPr>
        <p:txBody>
          <a:bodyPr wrap="square" lIns="0" rIns="0" tIns="0" bIns="0" anchor="t">
            <a:spAutoFit/>
          </a:bodyPr>
          <a:lstStyle/>
          <a:p>
            <a:pPr algn="ctr">
              <a:lnSpc>
                <a:spcPct val="115000"/>
              </a:lnSpc>
            </a:pPr>
            <a:r>
              <a:rPr sz="1050" b="1" i="0">
                <a:solidFill>
                  <a:srgbClr val="1C7293"/>
                </a:solidFill>
                <a:latin typeface="DejaVu Sans"/>
              </a:rPr>
              <a:t>0</a:t>
            </a:r>
          </a:p>
        </p:txBody>
      </p:sp>
      <p:sp>
        <p:nvSpPr>
          <p:cNvPr id="11" name="TextBox 10"/>
          <p:cNvSpPr txBox="1"/>
          <p:nvPr/>
        </p:nvSpPr>
        <p:spPr>
          <a:xfrm>
            <a:off x="521208" y="6217920"/>
            <a:ext cx="1485246" cy="274320"/>
          </a:xfrm>
          <a:prstGeom prst="rect">
            <a:avLst/>
          </a:prstGeom>
          <a:noFill/>
        </p:spPr>
        <p:txBody>
          <a:bodyPr wrap="square" lIns="0" rIns="0" tIns="0" bIns="0" anchor="t">
            <a:spAutoFit/>
          </a:bodyPr>
          <a:lstStyle/>
          <a:p>
            <a:pPr algn="ctr">
              <a:lnSpc>
                <a:spcPct val="92000"/>
              </a:lnSpc>
            </a:pPr>
            <a:r>
              <a:rPr sz="900" b="0" i="0">
                <a:solidFill>
                  <a:srgbClr val="5B6678"/>
                </a:solidFill>
                <a:latin typeface="DejaVu Sans"/>
              </a:rPr>
              <a:t>Введение</a:t>
            </a:r>
          </a:p>
        </p:txBody>
      </p:sp>
      <p:sp>
        <p:nvSpPr>
          <p:cNvPr id="12" name="Rounded Rectangle 11"/>
          <p:cNvSpPr/>
          <p:nvPr/>
        </p:nvSpPr>
        <p:spPr>
          <a:xfrm>
            <a:off x="2116182" y="5989320"/>
            <a:ext cx="1521822"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134470" y="6035040"/>
            <a:ext cx="1485246" cy="164592"/>
          </a:xfrm>
          <a:prstGeom prst="rect">
            <a:avLst/>
          </a:prstGeom>
          <a:noFill/>
        </p:spPr>
        <p:txBody>
          <a:bodyPr wrap="square" lIns="0" rIns="0" tIns="0" bIns="0" anchor="t">
            <a:spAutoFit/>
          </a:bodyPr>
          <a:lstStyle/>
          <a:p>
            <a:pPr algn="ctr">
              <a:lnSpc>
                <a:spcPct val="115000"/>
              </a:lnSpc>
            </a:pPr>
            <a:r>
              <a:rPr sz="1050" b="1" i="0">
                <a:solidFill>
                  <a:srgbClr val="1C7293"/>
                </a:solidFill>
                <a:latin typeface="DejaVu Sans"/>
              </a:rPr>
              <a:t>1</a:t>
            </a:r>
          </a:p>
        </p:txBody>
      </p:sp>
      <p:sp>
        <p:nvSpPr>
          <p:cNvPr id="14" name="TextBox 13"/>
          <p:cNvSpPr txBox="1"/>
          <p:nvPr/>
        </p:nvSpPr>
        <p:spPr>
          <a:xfrm>
            <a:off x="2134470" y="6217920"/>
            <a:ext cx="1485246" cy="274320"/>
          </a:xfrm>
          <a:prstGeom prst="rect">
            <a:avLst/>
          </a:prstGeom>
          <a:noFill/>
        </p:spPr>
        <p:txBody>
          <a:bodyPr wrap="square" lIns="0" rIns="0" tIns="0" bIns="0" anchor="t">
            <a:spAutoFit/>
          </a:bodyPr>
          <a:lstStyle/>
          <a:p>
            <a:pPr algn="ctr">
              <a:lnSpc>
                <a:spcPct val="92000"/>
              </a:lnSpc>
            </a:pPr>
            <a:r>
              <a:rPr sz="800" b="0" i="0">
                <a:solidFill>
                  <a:srgbClr val="5B6678"/>
                </a:solidFill>
                <a:latin typeface="DejaVu Sans"/>
              </a:rPr>
              <a:t>Исследование</a:t>
            </a:r>
          </a:p>
        </p:txBody>
      </p:sp>
      <p:sp>
        <p:nvSpPr>
          <p:cNvPr id="15" name="Rounded Rectangle 14"/>
          <p:cNvSpPr/>
          <p:nvPr/>
        </p:nvSpPr>
        <p:spPr>
          <a:xfrm>
            <a:off x="3729445" y="5989320"/>
            <a:ext cx="1521822"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747733" y="6035040"/>
            <a:ext cx="1485246" cy="164592"/>
          </a:xfrm>
          <a:prstGeom prst="rect">
            <a:avLst/>
          </a:prstGeom>
          <a:noFill/>
        </p:spPr>
        <p:txBody>
          <a:bodyPr wrap="square" lIns="0" rIns="0" tIns="0" bIns="0" anchor="t">
            <a:spAutoFit/>
          </a:bodyPr>
          <a:lstStyle/>
          <a:p>
            <a:pPr algn="ctr">
              <a:lnSpc>
                <a:spcPct val="115000"/>
              </a:lnSpc>
            </a:pPr>
            <a:r>
              <a:rPr sz="1050" b="1" i="0">
                <a:solidFill>
                  <a:srgbClr val="1C7293"/>
                </a:solidFill>
                <a:latin typeface="DejaVu Sans"/>
              </a:rPr>
              <a:t>2</a:t>
            </a:r>
          </a:p>
        </p:txBody>
      </p:sp>
      <p:sp>
        <p:nvSpPr>
          <p:cNvPr id="17" name="TextBox 16"/>
          <p:cNvSpPr txBox="1"/>
          <p:nvPr/>
        </p:nvSpPr>
        <p:spPr>
          <a:xfrm>
            <a:off x="3747733" y="6217920"/>
            <a:ext cx="1485246" cy="274320"/>
          </a:xfrm>
          <a:prstGeom prst="rect">
            <a:avLst/>
          </a:prstGeom>
          <a:noFill/>
        </p:spPr>
        <p:txBody>
          <a:bodyPr wrap="square" lIns="0" rIns="0" tIns="0" bIns="0" anchor="t">
            <a:spAutoFit/>
          </a:bodyPr>
          <a:lstStyle/>
          <a:p>
            <a:pPr algn="ctr">
              <a:lnSpc>
                <a:spcPct val="92000"/>
              </a:lnSpc>
            </a:pPr>
            <a:r>
              <a:rPr sz="900" b="0" i="0">
                <a:solidFill>
                  <a:srgbClr val="5B6678"/>
                </a:solidFill>
                <a:latin typeface="DejaVu Sans"/>
              </a:rPr>
              <a:t>Дизайн</a:t>
            </a:r>
          </a:p>
        </p:txBody>
      </p:sp>
      <p:sp>
        <p:nvSpPr>
          <p:cNvPr id="18" name="Rounded Rectangle 17"/>
          <p:cNvSpPr/>
          <p:nvPr/>
        </p:nvSpPr>
        <p:spPr>
          <a:xfrm>
            <a:off x="5342708" y="5989320"/>
            <a:ext cx="1521822"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360996" y="6035040"/>
            <a:ext cx="1485246" cy="164592"/>
          </a:xfrm>
          <a:prstGeom prst="rect">
            <a:avLst/>
          </a:prstGeom>
          <a:noFill/>
        </p:spPr>
        <p:txBody>
          <a:bodyPr wrap="square" lIns="0" rIns="0" tIns="0" bIns="0" anchor="t">
            <a:spAutoFit/>
          </a:bodyPr>
          <a:lstStyle/>
          <a:p>
            <a:pPr algn="ctr">
              <a:lnSpc>
                <a:spcPct val="115000"/>
              </a:lnSpc>
            </a:pPr>
            <a:r>
              <a:rPr sz="1050" b="1" i="0">
                <a:solidFill>
                  <a:srgbClr val="1C7293"/>
                </a:solidFill>
                <a:latin typeface="DejaVu Sans"/>
              </a:rPr>
              <a:t>3</a:t>
            </a:r>
          </a:p>
        </p:txBody>
      </p:sp>
      <p:sp>
        <p:nvSpPr>
          <p:cNvPr id="20" name="TextBox 19"/>
          <p:cNvSpPr txBox="1"/>
          <p:nvPr/>
        </p:nvSpPr>
        <p:spPr>
          <a:xfrm>
            <a:off x="5360996" y="6217920"/>
            <a:ext cx="1485246" cy="274320"/>
          </a:xfrm>
          <a:prstGeom prst="rect">
            <a:avLst/>
          </a:prstGeom>
          <a:noFill/>
        </p:spPr>
        <p:txBody>
          <a:bodyPr wrap="square" lIns="0" rIns="0" tIns="0" bIns="0" anchor="t">
            <a:spAutoFit/>
          </a:bodyPr>
          <a:lstStyle/>
          <a:p>
            <a:pPr algn="ctr">
              <a:lnSpc>
                <a:spcPct val="92000"/>
              </a:lnSpc>
            </a:pPr>
            <a:r>
              <a:rPr sz="800" b="0" i="0">
                <a:solidFill>
                  <a:srgbClr val="5B6678"/>
                </a:solidFill>
                <a:latin typeface="DejaVu Sans"/>
              </a:rPr>
              <a:t>Сборка и запуск</a:t>
            </a:r>
          </a:p>
        </p:txBody>
      </p:sp>
      <p:sp>
        <p:nvSpPr>
          <p:cNvPr id="21" name="Rounded Rectangle 20"/>
          <p:cNvSpPr/>
          <p:nvPr/>
        </p:nvSpPr>
        <p:spPr>
          <a:xfrm>
            <a:off x="6955971" y="5989320"/>
            <a:ext cx="1521822"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974259" y="6035040"/>
            <a:ext cx="1485246" cy="164592"/>
          </a:xfrm>
          <a:prstGeom prst="rect">
            <a:avLst/>
          </a:prstGeom>
          <a:noFill/>
        </p:spPr>
        <p:txBody>
          <a:bodyPr wrap="square" lIns="0" rIns="0" tIns="0" bIns="0" anchor="t">
            <a:spAutoFit/>
          </a:bodyPr>
          <a:lstStyle/>
          <a:p>
            <a:pPr algn="ctr">
              <a:lnSpc>
                <a:spcPct val="115000"/>
              </a:lnSpc>
            </a:pPr>
            <a:r>
              <a:rPr sz="1050" b="1" i="0">
                <a:solidFill>
                  <a:srgbClr val="1C7293"/>
                </a:solidFill>
                <a:latin typeface="DejaVu Sans"/>
              </a:rPr>
              <a:t>4</a:t>
            </a:r>
          </a:p>
        </p:txBody>
      </p:sp>
      <p:sp>
        <p:nvSpPr>
          <p:cNvPr id="23" name="TextBox 22"/>
          <p:cNvSpPr txBox="1"/>
          <p:nvPr/>
        </p:nvSpPr>
        <p:spPr>
          <a:xfrm>
            <a:off x="6974259" y="6217920"/>
            <a:ext cx="1485246" cy="274320"/>
          </a:xfrm>
          <a:prstGeom prst="rect">
            <a:avLst/>
          </a:prstGeom>
          <a:noFill/>
        </p:spPr>
        <p:txBody>
          <a:bodyPr wrap="square" lIns="0" rIns="0" tIns="0" bIns="0" anchor="t">
            <a:spAutoFit/>
          </a:bodyPr>
          <a:lstStyle/>
          <a:p>
            <a:pPr algn="ctr">
              <a:lnSpc>
                <a:spcPct val="92000"/>
              </a:lnSpc>
            </a:pPr>
            <a:r>
              <a:rPr sz="900" b="0" i="0">
                <a:solidFill>
                  <a:srgbClr val="5B6678"/>
                </a:solidFill>
                <a:latin typeface="DejaVu Sans"/>
              </a:rPr>
              <a:t>Измерение</a:t>
            </a:r>
          </a:p>
        </p:txBody>
      </p:sp>
      <p:sp>
        <p:nvSpPr>
          <p:cNvPr id="24" name="Rounded Rectangle 23"/>
          <p:cNvSpPr/>
          <p:nvPr/>
        </p:nvSpPr>
        <p:spPr>
          <a:xfrm>
            <a:off x="8569234" y="5989320"/>
            <a:ext cx="1521822"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8587522" y="6035040"/>
            <a:ext cx="1485246" cy="164592"/>
          </a:xfrm>
          <a:prstGeom prst="rect">
            <a:avLst/>
          </a:prstGeom>
          <a:noFill/>
        </p:spPr>
        <p:txBody>
          <a:bodyPr wrap="square" lIns="0" rIns="0" tIns="0" bIns="0" anchor="t">
            <a:spAutoFit/>
          </a:bodyPr>
          <a:lstStyle/>
          <a:p>
            <a:pPr algn="ctr">
              <a:lnSpc>
                <a:spcPct val="115000"/>
              </a:lnSpc>
            </a:pPr>
            <a:r>
              <a:rPr sz="1050" b="1" i="0">
                <a:solidFill>
                  <a:srgbClr val="1C7293"/>
                </a:solidFill>
                <a:latin typeface="DejaVu Sans"/>
              </a:rPr>
              <a:t>5</a:t>
            </a:r>
          </a:p>
        </p:txBody>
      </p:sp>
      <p:sp>
        <p:nvSpPr>
          <p:cNvPr id="26" name="TextBox 25"/>
          <p:cNvSpPr txBox="1"/>
          <p:nvPr/>
        </p:nvSpPr>
        <p:spPr>
          <a:xfrm>
            <a:off x="8587522" y="6217920"/>
            <a:ext cx="1485246" cy="274320"/>
          </a:xfrm>
          <a:prstGeom prst="rect">
            <a:avLst/>
          </a:prstGeom>
          <a:noFill/>
        </p:spPr>
        <p:txBody>
          <a:bodyPr wrap="square" lIns="0" rIns="0" tIns="0" bIns="0" anchor="t">
            <a:spAutoFit/>
          </a:bodyPr>
          <a:lstStyle/>
          <a:p>
            <a:pPr algn="ctr">
              <a:lnSpc>
                <a:spcPct val="92000"/>
              </a:lnSpc>
            </a:pPr>
            <a:r>
              <a:rPr sz="900" b="0" i="0">
                <a:solidFill>
                  <a:srgbClr val="5B6678"/>
                </a:solidFill>
                <a:latin typeface="DejaVu Sans"/>
              </a:rPr>
              <a:t>Поддержка</a:t>
            </a:r>
          </a:p>
        </p:txBody>
      </p:sp>
      <p:sp>
        <p:nvSpPr>
          <p:cNvPr id="27" name="Rounded Rectangle 26"/>
          <p:cNvSpPr/>
          <p:nvPr/>
        </p:nvSpPr>
        <p:spPr>
          <a:xfrm>
            <a:off x="10182497" y="5989320"/>
            <a:ext cx="1521822" cy="530352"/>
          </a:xfrm>
          <a:prstGeom prst="roundRect">
            <a:avLst>
              <a:gd name="adj" fmla="val 12000"/>
            </a:avLst>
          </a:prstGeom>
          <a:solidFill>
            <a:srgbClr val="FDF3DC"/>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10200785" y="6035040"/>
            <a:ext cx="1485246" cy="164592"/>
          </a:xfrm>
          <a:prstGeom prst="rect">
            <a:avLst/>
          </a:prstGeom>
          <a:noFill/>
        </p:spPr>
        <p:txBody>
          <a:bodyPr wrap="square" lIns="0" rIns="0" tIns="0" bIns="0" anchor="t">
            <a:spAutoFit/>
          </a:bodyPr>
          <a:lstStyle/>
          <a:p>
            <a:pPr algn="ctr">
              <a:lnSpc>
                <a:spcPct val="115000"/>
              </a:lnSpc>
            </a:pPr>
            <a:r>
              <a:rPr sz="1050" b="1" i="0">
                <a:solidFill>
                  <a:srgbClr val="21295C"/>
                </a:solidFill>
                <a:latin typeface="DejaVu Sans"/>
              </a:rPr>
              <a:t>6</a:t>
            </a:r>
          </a:p>
        </p:txBody>
      </p:sp>
      <p:sp>
        <p:nvSpPr>
          <p:cNvPr id="29" name="TextBox 28"/>
          <p:cNvSpPr txBox="1"/>
          <p:nvPr/>
        </p:nvSpPr>
        <p:spPr>
          <a:xfrm>
            <a:off x="10200785" y="6217920"/>
            <a:ext cx="1485246" cy="274320"/>
          </a:xfrm>
          <a:prstGeom prst="rect">
            <a:avLst/>
          </a:prstGeom>
          <a:noFill/>
        </p:spPr>
        <p:txBody>
          <a:bodyPr wrap="square" lIns="0" rIns="0" tIns="0" bIns="0" anchor="t">
            <a:spAutoFit/>
          </a:bodyPr>
          <a:lstStyle/>
          <a:p>
            <a:pPr algn="ctr">
              <a:lnSpc>
                <a:spcPct val="92000"/>
              </a:lnSpc>
            </a:pPr>
            <a:r>
              <a:rPr sz="800" b="1" i="0">
                <a:solidFill>
                  <a:srgbClr val="21295C"/>
                </a:solidFill>
                <a:latin typeface="DejaVu Sans"/>
              </a:rPr>
              <a:t>Управление</a:t>
            </a:r>
          </a:p>
        </p:txBody>
      </p:sp>
      <p:sp>
        <p:nvSpPr>
          <p:cNvPr id="30" name="TextBox 29"/>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50 / 56</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65760"/>
            <a:ext cx="10972800" cy="777240"/>
          </a:xfrm>
          <a:prstGeom prst="rect">
            <a:avLst/>
          </a:prstGeom>
          <a:noFill/>
        </p:spPr>
        <p:txBody>
          <a:bodyPr wrap="square" lIns="0" rIns="0" tIns="0" bIns="0" anchor="t">
            <a:spAutoFit/>
          </a:bodyPr>
          <a:lstStyle/>
          <a:p>
            <a:pPr algn="l">
              <a:lnSpc>
                <a:spcPct val="110000"/>
              </a:lnSpc>
            </a:pPr>
            <a:r>
              <a:rPr sz="2600" b="1" i="0">
                <a:solidFill>
                  <a:srgbClr val="21295C"/>
                </a:solidFill>
                <a:latin typeface="DejaVu Sans"/>
              </a:rPr>
              <a:t>Управление простыми словами</a:t>
            </a:r>
          </a:p>
        </p:txBody>
      </p:sp>
      <p:sp>
        <p:nvSpPr>
          <p:cNvPr id="3" name="Rounded Rectangle 2"/>
          <p:cNvSpPr/>
          <p:nvPr/>
        </p:nvSpPr>
        <p:spPr>
          <a:xfrm>
            <a:off x="502920" y="1554480"/>
            <a:ext cx="2514600" cy="4709160"/>
          </a:xfrm>
          <a:prstGeom prst="roundRect">
            <a:avLst>
              <a:gd name="adj" fmla="val 6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scale-mid.png"/>
          <p:cNvPicPr>
            <a:picLocks noChangeAspect="1"/>
          </p:cNvPicPr>
          <p:nvPr/>
        </p:nvPicPr>
        <p:blipFill>
          <a:blip r:embed="rId2"/>
          <a:stretch>
            <a:fillRect/>
          </a:stretch>
        </p:blipFill>
        <p:spPr>
          <a:xfrm>
            <a:off x="1234440" y="3249777"/>
            <a:ext cx="1051560" cy="1051560"/>
          </a:xfrm>
          <a:prstGeom prst="rect">
            <a:avLst/>
          </a:prstGeom>
        </p:spPr>
      </p:pic>
      <p:sp>
        <p:nvSpPr>
          <p:cNvPr id="5" name="Rounded Rectangle 4"/>
          <p:cNvSpPr/>
          <p:nvPr/>
        </p:nvSpPr>
        <p:spPr>
          <a:xfrm>
            <a:off x="777240" y="5715000"/>
            <a:ext cx="1965960" cy="402336"/>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wrap="none"/>
          <a:lstStyle/>
          <a:p>
            <a:pPr algn="ctr"/>
            <a:r>
              <a:rPr sz="1150" b="1">
                <a:solidFill>
                  <a:srgbClr val="21295C"/>
                </a:solidFill>
                <a:latin typeface="DejaVu Sans"/>
              </a:rPr>
              <a:t>простыми словами</a:t>
            </a:r>
          </a:p>
        </p:txBody>
      </p:sp>
      <p:sp>
        <p:nvSpPr>
          <p:cNvPr id="6" name="Rounded Rectangle 5"/>
          <p:cNvSpPr/>
          <p:nvPr/>
        </p:nvSpPr>
        <p:spPr>
          <a:xfrm>
            <a:off x="3337560" y="1554480"/>
            <a:ext cx="8366760" cy="1417320"/>
          </a:xfrm>
          <a:prstGeom prst="roundRect">
            <a:avLst>
              <a:gd name="adj" fmla="val 21505"/>
            </a:avLst>
          </a:prstGeom>
          <a:solidFill>
            <a:srgbClr val="F4F7FA"/>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593591" y="1700784"/>
            <a:ext cx="7854696" cy="310896"/>
          </a:xfrm>
          <a:prstGeom prst="rect">
            <a:avLst/>
          </a:prstGeom>
          <a:noFill/>
        </p:spPr>
        <p:txBody>
          <a:bodyPr wrap="square" lIns="0" rIns="0" tIns="0" bIns="0" anchor="t">
            <a:spAutoFit/>
          </a:bodyPr>
          <a:lstStyle/>
          <a:p>
            <a:pPr algn="l">
              <a:lnSpc>
                <a:spcPct val="115000"/>
              </a:lnSpc>
            </a:pPr>
            <a:r>
              <a:rPr sz="1500" b="1" i="0">
                <a:solidFill>
                  <a:srgbClr val="F0AB00"/>
                </a:solidFill>
                <a:latin typeface="DejaVu Sans"/>
              </a:rPr>
              <a:t>Что это</a:t>
            </a:r>
          </a:p>
        </p:txBody>
      </p:sp>
      <p:sp>
        <p:nvSpPr>
          <p:cNvPr id="8" name="TextBox 7"/>
          <p:cNvSpPr txBox="1"/>
          <p:nvPr/>
        </p:nvSpPr>
        <p:spPr>
          <a:xfrm>
            <a:off x="3593591" y="2066543"/>
            <a:ext cx="7854696" cy="758952"/>
          </a:xfrm>
          <a:prstGeom prst="rect">
            <a:avLst/>
          </a:prstGeom>
          <a:noFill/>
        </p:spPr>
        <p:txBody>
          <a:bodyPr wrap="square" lIns="0" rIns="0" tIns="0" bIns="0" anchor="t">
            <a:spAutoFit/>
          </a:bodyPr>
          <a:lstStyle/>
          <a:p>
            <a:pPr algn="l">
              <a:lnSpc>
                <a:spcPct val="122000"/>
              </a:lnSpc>
            </a:pPr>
            <a:r>
              <a:rPr sz="1350" b="0" i="0">
                <a:solidFill>
                  <a:srgbClr val="21295C"/>
                </a:solidFill>
                <a:latin typeface="DejaVu Sans"/>
              </a:rPr>
              <a:t>Уровень организации: не «как сделать один продукт», а «во что вообще вкладывать деньги» — и остановить то, что не окупается.</a:t>
            </a:r>
          </a:p>
        </p:txBody>
      </p:sp>
      <p:sp>
        <p:nvSpPr>
          <p:cNvPr id="9" name="Rounded Rectangle 8"/>
          <p:cNvSpPr/>
          <p:nvPr/>
        </p:nvSpPr>
        <p:spPr>
          <a:xfrm>
            <a:off x="3337560" y="3200400"/>
            <a:ext cx="8366760" cy="1417320"/>
          </a:xfrm>
          <a:prstGeom prst="roundRect">
            <a:avLst>
              <a:gd name="adj" fmla="val 21505"/>
            </a:avLst>
          </a:prstGeom>
          <a:solidFill>
            <a:srgbClr val="F4F7FA"/>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593591" y="3346704"/>
            <a:ext cx="7854696" cy="310896"/>
          </a:xfrm>
          <a:prstGeom prst="rect">
            <a:avLst/>
          </a:prstGeom>
          <a:noFill/>
        </p:spPr>
        <p:txBody>
          <a:bodyPr wrap="square" lIns="0" rIns="0" tIns="0" bIns="0" anchor="t">
            <a:spAutoFit/>
          </a:bodyPr>
          <a:lstStyle/>
          <a:p>
            <a:pPr algn="l">
              <a:lnSpc>
                <a:spcPct val="115000"/>
              </a:lnSpc>
            </a:pPr>
            <a:r>
              <a:rPr sz="1500" b="1" i="0">
                <a:solidFill>
                  <a:srgbClr val="065A82"/>
                </a:solidFill>
                <a:latin typeface="DejaVu Sans"/>
              </a:rPr>
              <a:t>Зачем</a:t>
            </a:r>
          </a:p>
        </p:txBody>
      </p:sp>
      <p:sp>
        <p:nvSpPr>
          <p:cNvPr id="11" name="TextBox 10"/>
          <p:cNvSpPr txBox="1"/>
          <p:nvPr/>
        </p:nvSpPr>
        <p:spPr>
          <a:xfrm>
            <a:off x="3593591" y="3712464"/>
            <a:ext cx="7854696" cy="758952"/>
          </a:xfrm>
          <a:prstGeom prst="rect">
            <a:avLst/>
          </a:prstGeom>
          <a:noFill/>
        </p:spPr>
        <p:txBody>
          <a:bodyPr wrap="square" lIns="0" rIns="0" tIns="0" bIns="0" anchor="t">
            <a:spAutoFit/>
          </a:bodyPr>
          <a:lstStyle/>
          <a:p>
            <a:pPr algn="l">
              <a:lnSpc>
                <a:spcPct val="122000"/>
              </a:lnSpc>
            </a:pPr>
            <a:r>
              <a:rPr sz="1350" b="0" i="0">
                <a:solidFill>
                  <a:srgbClr val="21295C"/>
                </a:solidFill>
                <a:latin typeface="DejaVu Sans"/>
              </a:rPr>
              <a:t>Ресурсы ограничены. Тот же гейт «продолжать / убить», что и для одной функции, поднимается на уровень капитала между многими инициативами.</a:t>
            </a:r>
          </a:p>
        </p:txBody>
      </p:sp>
      <p:sp>
        <p:nvSpPr>
          <p:cNvPr id="12" name="Rounded Rectangle 11"/>
          <p:cNvSpPr/>
          <p:nvPr/>
        </p:nvSpPr>
        <p:spPr>
          <a:xfrm>
            <a:off x="3337560" y="4846320"/>
            <a:ext cx="8366760" cy="1417320"/>
          </a:xfrm>
          <a:prstGeom prst="roundRect">
            <a:avLst>
              <a:gd name="adj" fmla="val 21505"/>
            </a:avLst>
          </a:prstGeom>
          <a:solidFill>
            <a:srgbClr val="F4F7FA"/>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593591" y="4992624"/>
            <a:ext cx="7854696" cy="310896"/>
          </a:xfrm>
          <a:prstGeom prst="rect">
            <a:avLst/>
          </a:prstGeom>
          <a:noFill/>
        </p:spPr>
        <p:txBody>
          <a:bodyPr wrap="square" lIns="0" rIns="0" tIns="0" bIns="0" anchor="t">
            <a:spAutoFit/>
          </a:bodyPr>
          <a:lstStyle/>
          <a:p>
            <a:pPr algn="l">
              <a:lnSpc>
                <a:spcPct val="115000"/>
              </a:lnSpc>
            </a:pPr>
            <a:r>
              <a:rPr sz="1500" b="1" i="0">
                <a:solidFill>
                  <a:srgbClr val="065A82"/>
                </a:solidFill>
                <a:latin typeface="DejaVu Sans"/>
              </a:rPr>
              <a:t>Ментальная модель</a:t>
            </a:r>
          </a:p>
        </p:txBody>
      </p:sp>
      <p:sp>
        <p:nvSpPr>
          <p:cNvPr id="14" name="TextBox 13"/>
          <p:cNvSpPr txBox="1"/>
          <p:nvPr/>
        </p:nvSpPr>
        <p:spPr>
          <a:xfrm>
            <a:off x="3593591" y="5358383"/>
            <a:ext cx="7854696" cy="758952"/>
          </a:xfrm>
          <a:prstGeom prst="rect">
            <a:avLst/>
          </a:prstGeom>
          <a:noFill/>
        </p:spPr>
        <p:txBody>
          <a:bodyPr wrap="square" lIns="0" rIns="0" tIns="0" bIns="0" anchor="t">
            <a:spAutoFit/>
          </a:bodyPr>
          <a:lstStyle/>
          <a:p>
            <a:pPr algn="l">
              <a:lnSpc>
                <a:spcPct val="122000"/>
              </a:lnSpc>
            </a:pPr>
            <a:r>
              <a:rPr sz="1350" b="0" i="0">
                <a:solidFill>
                  <a:srgbClr val="21295C"/>
                </a:solidFill>
                <a:latin typeface="DejaVu Sans"/>
              </a:rPr>
              <a:t>Воронка портфеля: много идей на входе, немного профинансированных на выходе. У ИИ-продукта новая переменная — стоимость каждого запроса против его ценности.</a:t>
            </a:r>
          </a:p>
        </p:txBody>
      </p:sp>
      <p:sp>
        <p:nvSpPr>
          <p:cNvPr id="15" name="TextBox 14"/>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51 / 56</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65760"/>
            <a:ext cx="11247120" cy="777240"/>
          </a:xfrm>
          <a:prstGeom prst="rect">
            <a:avLst/>
          </a:prstGeom>
          <a:noFill/>
        </p:spPr>
        <p:txBody>
          <a:bodyPr wrap="square" lIns="0" rIns="0" tIns="0" bIns="0" anchor="t">
            <a:spAutoFit/>
          </a:bodyPr>
          <a:lstStyle/>
          <a:p>
            <a:pPr algn="l">
              <a:lnSpc>
                <a:spcPct val="110000"/>
              </a:lnSpc>
            </a:pPr>
            <a:r>
              <a:rPr sz="1900" b="1" i="0">
                <a:solidFill>
                  <a:srgbClr val="21295C"/>
                </a:solidFill>
                <a:latin typeface="DejaVu Sans"/>
              </a:rPr>
              <a:t>Тот же go/kill-гейт — но теперь распределяет капитал между многими инициативами</a:t>
            </a:r>
          </a:p>
        </p:txBody>
      </p:sp>
      <p:sp>
        <p:nvSpPr>
          <p:cNvPr id="3" name="Rounded Rectangle 2"/>
          <p:cNvSpPr/>
          <p:nvPr/>
        </p:nvSpPr>
        <p:spPr>
          <a:xfrm>
            <a:off x="502920" y="1463040"/>
            <a:ext cx="5532120" cy="3246120"/>
          </a:xfrm>
          <a:prstGeom prst="roundRect">
            <a:avLst>
              <a:gd name="adj" fmla="val 9389"/>
            </a:avLst>
          </a:prstGeom>
          <a:solidFill>
            <a:srgbClr val="F4F7FA"/>
          </a:solidFill>
          <a:ln w="1905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1572768"/>
            <a:ext cx="5029200" cy="365760"/>
          </a:xfrm>
          <a:prstGeom prst="rect">
            <a:avLst/>
          </a:prstGeom>
          <a:noFill/>
        </p:spPr>
        <p:txBody>
          <a:bodyPr wrap="square" lIns="0" rIns="0" tIns="0" bIns="0" anchor="t">
            <a:spAutoFit/>
          </a:bodyPr>
          <a:lstStyle/>
          <a:p>
            <a:pPr algn="l">
              <a:lnSpc>
                <a:spcPct val="115000"/>
              </a:lnSpc>
            </a:pPr>
            <a:r>
              <a:rPr sz="1350" b="1" i="0">
                <a:solidFill>
                  <a:srgbClr val="065A82"/>
                </a:solidFill>
                <a:latin typeface="DejaVu Sans"/>
              </a:rPr>
              <a:t>Воронка портфеля</a:t>
            </a:r>
          </a:p>
        </p:txBody>
      </p:sp>
      <p:sp>
        <p:nvSpPr>
          <p:cNvPr id="5" name="Rounded Rectangle 4"/>
          <p:cNvSpPr/>
          <p:nvPr/>
        </p:nvSpPr>
        <p:spPr>
          <a:xfrm>
            <a:off x="800100" y="2057400"/>
            <a:ext cx="4892040" cy="475488"/>
          </a:xfrm>
          <a:prstGeom prst="roundRect">
            <a:avLst>
              <a:gd name="adj" fmla="val 10000"/>
            </a:avLst>
          </a:prstGeom>
          <a:solidFill>
            <a:srgbClr val="F4F7FA"/>
          </a:solidFill>
          <a:ln w="2032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00100" y="2057400"/>
            <a:ext cx="4892040" cy="475488"/>
          </a:xfrm>
          <a:prstGeom prst="rect">
            <a:avLst/>
          </a:prstGeom>
          <a:noFill/>
        </p:spPr>
        <p:txBody>
          <a:bodyPr wrap="square" lIns="0" rIns="0" tIns="0" bIns="0" anchor="ctr">
            <a:spAutoFit/>
          </a:bodyPr>
          <a:lstStyle/>
          <a:p>
            <a:pPr algn="ctr">
              <a:lnSpc>
                <a:spcPct val="115000"/>
              </a:lnSpc>
            </a:pPr>
            <a:r>
              <a:rPr sz="1150" b="1" i="0">
                <a:solidFill>
                  <a:srgbClr val="21295C"/>
                </a:solidFill>
                <a:latin typeface="DejaVu Sans"/>
              </a:rPr>
              <a:t>много инициатив</a:t>
            </a:r>
          </a:p>
        </p:txBody>
      </p:sp>
      <p:sp>
        <p:nvSpPr>
          <p:cNvPr id="7" name="Rounded Rectangle 6"/>
          <p:cNvSpPr/>
          <p:nvPr/>
        </p:nvSpPr>
        <p:spPr>
          <a:xfrm>
            <a:off x="1417320" y="2679192"/>
            <a:ext cx="3657600" cy="475488"/>
          </a:xfrm>
          <a:prstGeom prst="roundRect">
            <a:avLst>
              <a:gd name="adj" fmla="val 10000"/>
            </a:avLst>
          </a:prstGeom>
          <a:solidFill>
            <a:srgbClr val="F4F7FA"/>
          </a:solidFill>
          <a:ln w="2032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417320" y="2679192"/>
            <a:ext cx="3657600" cy="475488"/>
          </a:xfrm>
          <a:prstGeom prst="rect">
            <a:avLst/>
          </a:prstGeom>
          <a:noFill/>
        </p:spPr>
        <p:txBody>
          <a:bodyPr wrap="square" lIns="0" rIns="0" tIns="0" bIns="0" anchor="ctr">
            <a:spAutoFit/>
          </a:bodyPr>
          <a:lstStyle/>
          <a:p>
            <a:pPr algn="ctr">
              <a:lnSpc>
                <a:spcPct val="115000"/>
              </a:lnSpc>
            </a:pPr>
            <a:r>
              <a:rPr sz="1150" b="1" i="0">
                <a:solidFill>
                  <a:srgbClr val="21295C"/>
                </a:solidFill>
                <a:latin typeface="DejaVu Sans"/>
              </a:rPr>
              <a:t>гейт 1</a:t>
            </a:r>
          </a:p>
        </p:txBody>
      </p:sp>
      <p:sp>
        <p:nvSpPr>
          <p:cNvPr id="9" name="Rounded Rectangle 8"/>
          <p:cNvSpPr/>
          <p:nvPr/>
        </p:nvSpPr>
        <p:spPr>
          <a:xfrm>
            <a:off x="2057400" y="3300984"/>
            <a:ext cx="2377440" cy="475488"/>
          </a:xfrm>
          <a:prstGeom prst="roundRect">
            <a:avLst>
              <a:gd name="adj" fmla="val 10000"/>
            </a:avLst>
          </a:prstGeom>
          <a:solidFill>
            <a:srgbClr val="F4F7FA"/>
          </a:solidFill>
          <a:ln w="2032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057400" y="3300984"/>
            <a:ext cx="2377440" cy="475488"/>
          </a:xfrm>
          <a:prstGeom prst="rect">
            <a:avLst/>
          </a:prstGeom>
          <a:noFill/>
        </p:spPr>
        <p:txBody>
          <a:bodyPr wrap="square" lIns="0" rIns="0" tIns="0" bIns="0" anchor="ctr">
            <a:spAutoFit/>
          </a:bodyPr>
          <a:lstStyle/>
          <a:p>
            <a:pPr algn="ctr">
              <a:lnSpc>
                <a:spcPct val="115000"/>
              </a:lnSpc>
            </a:pPr>
            <a:r>
              <a:rPr sz="1150" b="1" i="0">
                <a:solidFill>
                  <a:srgbClr val="21295C"/>
                </a:solidFill>
                <a:latin typeface="DejaVu Sans"/>
              </a:rPr>
              <a:t>гейт 2</a:t>
            </a:r>
          </a:p>
        </p:txBody>
      </p:sp>
      <p:sp>
        <p:nvSpPr>
          <p:cNvPr id="11" name="Rounded Rectangle 10"/>
          <p:cNvSpPr/>
          <p:nvPr/>
        </p:nvSpPr>
        <p:spPr>
          <a:xfrm>
            <a:off x="2194560" y="3922776"/>
            <a:ext cx="2103120" cy="475488"/>
          </a:xfrm>
          <a:prstGeom prst="roundRect">
            <a:avLst>
              <a:gd name="adj" fmla="val 10000"/>
            </a:avLst>
          </a:prstGeom>
          <a:solidFill>
            <a:srgbClr val="F4F7FA"/>
          </a:solidFill>
          <a:ln w="2032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194560" y="3922776"/>
            <a:ext cx="2103120" cy="475488"/>
          </a:xfrm>
          <a:prstGeom prst="rect">
            <a:avLst/>
          </a:prstGeom>
          <a:noFill/>
        </p:spPr>
        <p:txBody>
          <a:bodyPr wrap="square" lIns="0" rIns="0" tIns="0" bIns="0" anchor="ctr">
            <a:spAutoFit/>
          </a:bodyPr>
          <a:lstStyle/>
          <a:p>
            <a:pPr algn="ctr">
              <a:lnSpc>
                <a:spcPct val="115000"/>
              </a:lnSpc>
            </a:pPr>
            <a:r>
              <a:rPr sz="1050" b="1" i="0">
                <a:solidFill>
                  <a:srgbClr val="21295C"/>
                </a:solidFill>
                <a:latin typeface="DejaVu Sans"/>
              </a:rPr>
              <a:t>профинансировано</a:t>
            </a:r>
          </a:p>
        </p:txBody>
      </p:sp>
      <p:sp>
        <p:nvSpPr>
          <p:cNvPr id="13" name="Rounded Rectangle 12"/>
          <p:cNvSpPr/>
          <p:nvPr/>
        </p:nvSpPr>
        <p:spPr>
          <a:xfrm>
            <a:off x="6263640" y="1463040"/>
            <a:ext cx="5440680" cy="1691640"/>
          </a:xfrm>
          <a:prstGeom prst="roundRect">
            <a:avLst>
              <a:gd name="adj" fmla="val 18018"/>
            </a:avLst>
          </a:prstGeom>
          <a:solidFill>
            <a:srgbClr val="F4F7FA"/>
          </a:solidFill>
          <a:ln w="1905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92240" y="1600200"/>
            <a:ext cx="4983480" cy="365760"/>
          </a:xfrm>
          <a:prstGeom prst="rect">
            <a:avLst/>
          </a:prstGeom>
          <a:noFill/>
        </p:spPr>
        <p:txBody>
          <a:bodyPr wrap="square" lIns="0" rIns="0" tIns="0" bIns="0" anchor="t">
            <a:spAutoFit/>
          </a:bodyPr>
          <a:lstStyle/>
          <a:p>
            <a:pPr algn="l">
              <a:lnSpc>
                <a:spcPct val="115000"/>
              </a:lnSpc>
            </a:pPr>
            <a:r>
              <a:rPr sz="1400" b="1" i="0">
                <a:solidFill>
                  <a:srgbClr val="028090"/>
                </a:solidFill>
                <a:latin typeface="DejaVu Sans"/>
              </a:rPr>
              <a:t>Unit-экономика ИИ-продукта</a:t>
            </a:r>
          </a:p>
        </p:txBody>
      </p:sp>
      <p:sp>
        <p:nvSpPr>
          <p:cNvPr id="15" name="TextBox 14"/>
          <p:cNvSpPr txBox="1"/>
          <p:nvPr/>
        </p:nvSpPr>
        <p:spPr>
          <a:xfrm>
            <a:off x="6492240" y="2057400"/>
            <a:ext cx="4983480" cy="1005840"/>
          </a:xfrm>
          <a:prstGeom prst="rect">
            <a:avLst/>
          </a:prstGeom>
          <a:noFill/>
        </p:spPr>
        <p:txBody>
          <a:bodyPr wrap="square" lIns="0" rIns="0" tIns="0" bIns="0" anchor="t">
            <a:spAutoFit/>
          </a:bodyPr>
          <a:lstStyle/>
          <a:p>
            <a:pPr algn="l">
              <a:lnSpc>
                <a:spcPct val="118000"/>
              </a:lnSpc>
            </a:pPr>
            <a:r>
              <a:rPr sz="1250" b="0" i="0">
                <a:solidFill>
                  <a:srgbClr val="21295C"/>
                </a:solidFill>
                <a:latin typeface="DejaVu Sans"/>
              </a:rPr>
              <a:t>Новая переменная — стоимость на запрос против ценности на запрос. Каждое обращение к модели стоит денег.</a:t>
            </a:r>
          </a:p>
        </p:txBody>
      </p:sp>
      <p:sp>
        <p:nvSpPr>
          <p:cNvPr id="16" name="Rounded Rectangle 15"/>
          <p:cNvSpPr/>
          <p:nvPr/>
        </p:nvSpPr>
        <p:spPr>
          <a:xfrm>
            <a:off x="6263640" y="3337560"/>
            <a:ext cx="5440680" cy="1371600"/>
          </a:xfrm>
          <a:prstGeom prst="roundRect">
            <a:avLst>
              <a:gd name="adj" fmla="val 7000"/>
            </a:avLst>
          </a:prstGeom>
          <a:solidFill>
            <a:srgbClr val="FDF3DC"/>
          </a:solidFill>
          <a:ln w="2032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492240" y="3456432"/>
            <a:ext cx="4983480" cy="1143000"/>
          </a:xfrm>
          <a:prstGeom prst="rect">
            <a:avLst/>
          </a:prstGeom>
          <a:noFill/>
        </p:spPr>
        <p:txBody>
          <a:bodyPr wrap="square" lIns="0" rIns="0" tIns="0" bIns="0" anchor="ctr">
            <a:spAutoFit/>
          </a:bodyPr>
          <a:lstStyle/>
          <a:p>
            <a:pPr algn="l">
              <a:lnSpc>
                <a:spcPct val="115000"/>
              </a:lnSpc>
            </a:pPr>
            <a:r>
              <a:rPr sz="1200" b="1" i="0">
                <a:solidFill>
                  <a:srgbClr val="21295C"/>
                </a:solidFill>
                <a:latin typeface="DejaVu Sans"/>
              </a:rPr>
              <a:t>Финансовый KPI на входе в пилот: «снизим стоимость тикета с X₽ до Y₽ при CSAT ≥ Z; N тикетов, M недель, владелец — Иванов».</a:t>
            </a:r>
          </a:p>
        </p:txBody>
      </p:sp>
      <p:sp>
        <p:nvSpPr>
          <p:cNvPr id="18" name="Rounded Rectangle 17"/>
          <p:cNvSpPr/>
          <p:nvPr/>
        </p:nvSpPr>
        <p:spPr>
          <a:xfrm>
            <a:off x="502920" y="4892040"/>
            <a:ext cx="11201400" cy="658368"/>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22376" y="4946903"/>
            <a:ext cx="10762488" cy="548640"/>
          </a:xfrm>
          <a:prstGeom prst="rect">
            <a:avLst/>
          </a:prstGeom>
          <a:noFill/>
        </p:spPr>
        <p:txBody>
          <a:bodyPr wrap="square" lIns="0" rIns="0" tIns="0" bIns="0" anchor="ctr">
            <a:spAutoFit/>
          </a:bodyPr>
          <a:lstStyle/>
          <a:p>
            <a:pPr algn="l">
              <a:lnSpc>
                <a:spcPct val="120000"/>
              </a:lnSpc>
            </a:pPr>
            <a:r>
              <a:rPr sz="1250" b="1" i="0">
                <a:solidFill>
                  <a:srgbClr val="21295C"/>
                </a:solidFill>
                <a:latin typeface="DejaVu Sans"/>
              </a:rPr>
              <a:t>Портфельное управление = Stage-Gate, поднятый на уровень капитала: та же дисциплина «воронка, не туннель», но между продуктами, а не внутри одного.</a:t>
            </a:r>
          </a:p>
        </p:txBody>
      </p:sp>
      <p:sp>
        <p:nvSpPr>
          <p:cNvPr id="20" name="TextBox 19"/>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52 / 56</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65760"/>
            <a:ext cx="11247120" cy="777240"/>
          </a:xfrm>
          <a:prstGeom prst="rect">
            <a:avLst/>
          </a:prstGeom>
          <a:noFill/>
        </p:spPr>
        <p:txBody>
          <a:bodyPr wrap="square" lIns="0" rIns="0" tIns="0" bIns="0" anchor="t">
            <a:spAutoFit/>
          </a:bodyPr>
          <a:lstStyle/>
          <a:p>
            <a:pPr algn="l">
              <a:lnSpc>
                <a:spcPct val="110000"/>
              </a:lnSpc>
            </a:pPr>
            <a:r>
              <a:rPr sz="1900" b="1" i="0">
                <a:solidFill>
                  <a:srgbClr val="21295C"/>
                </a:solidFill>
                <a:latin typeface="DejaVu Sans"/>
              </a:rPr>
              <a:t>Узкое место сместилось с технологии на операционную модель организации</a:t>
            </a:r>
          </a:p>
        </p:txBody>
      </p:sp>
      <p:sp>
        <p:nvSpPr>
          <p:cNvPr id="3" name="Rounded Rectangle 2"/>
          <p:cNvSpPr/>
          <p:nvPr/>
        </p:nvSpPr>
        <p:spPr>
          <a:xfrm>
            <a:off x="502920" y="1463040"/>
            <a:ext cx="5806440" cy="3246120"/>
          </a:xfrm>
          <a:prstGeom prst="roundRect">
            <a:avLst>
              <a:gd name="adj" fmla="val 9389"/>
            </a:avLst>
          </a:prstGeom>
          <a:solidFill>
            <a:srgbClr val="F4F7FA"/>
          </a:solidFill>
          <a:ln w="1905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77240" y="1691640"/>
            <a:ext cx="1691640" cy="402336"/>
          </a:xfrm>
          <a:prstGeom prst="roundRect">
            <a:avLst>
              <a:gd name="adj" fmla="val 50000"/>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wrap="none"/>
          <a:lstStyle/>
          <a:p>
            <a:pPr algn="ctr"/>
            <a:r>
              <a:rPr sz="1200" b="1">
                <a:solidFill>
                  <a:srgbClr val="FFFFFF"/>
                </a:solidFill>
                <a:latin typeface="DejaVu Sans"/>
              </a:rPr>
              <a:t>Deloitte</a:t>
            </a:r>
          </a:p>
        </p:txBody>
      </p:sp>
      <p:cxnSp>
        <p:nvCxnSpPr>
          <p:cNvPr id="5" name="Connector 4"/>
          <p:cNvCxnSpPr/>
          <p:nvPr/>
        </p:nvCxnSpPr>
        <p:spPr>
          <a:xfrm>
            <a:off x="2514600" y="1892808"/>
            <a:ext cx="2103120" cy="804672"/>
          </a:xfrm>
          <a:prstGeom prst="line">
            <a:avLst/>
          </a:prstGeom>
          <a:ln w="15240">
            <a:solidFill>
              <a:srgbClr val="E5EAF0"/>
            </a:solidFill>
          </a:ln>
        </p:spPr>
        <p:style>
          <a:lnRef idx="2">
            <a:schemeClr val="accent1"/>
          </a:lnRef>
          <a:fillRef idx="0">
            <a:schemeClr val="accent1"/>
          </a:fillRef>
          <a:effectRef idx="1">
            <a:schemeClr val="accent1"/>
          </a:effectRef>
          <a:fontRef idx="minor">
            <a:schemeClr val="tx1"/>
          </a:fontRef>
        </p:style>
      </p:cxnSp>
      <p:sp>
        <p:nvSpPr>
          <p:cNvPr id="6" name="Rounded Rectangle 5"/>
          <p:cNvSpPr/>
          <p:nvPr/>
        </p:nvSpPr>
        <p:spPr>
          <a:xfrm>
            <a:off x="777240" y="2240280"/>
            <a:ext cx="1691640" cy="402336"/>
          </a:xfrm>
          <a:prstGeom prst="roundRect">
            <a:avLst>
              <a:gd name="adj" fmla="val 50000"/>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wrap="none"/>
          <a:lstStyle/>
          <a:p>
            <a:pPr algn="ctr"/>
            <a:r>
              <a:rPr sz="1200" b="1">
                <a:solidFill>
                  <a:srgbClr val="FFFFFF"/>
                </a:solidFill>
                <a:latin typeface="DejaVu Sans"/>
              </a:rPr>
              <a:t>Сбер</a:t>
            </a:r>
          </a:p>
        </p:txBody>
      </p:sp>
      <p:cxnSp>
        <p:nvCxnSpPr>
          <p:cNvPr id="7" name="Connector 6"/>
          <p:cNvCxnSpPr/>
          <p:nvPr/>
        </p:nvCxnSpPr>
        <p:spPr>
          <a:xfrm>
            <a:off x="2514600" y="2441448"/>
            <a:ext cx="2103120" cy="256032"/>
          </a:xfrm>
          <a:prstGeom prst="line">
            <a:avLst/>
          </a:prstGeom>
          <a:ln w="15240">
            <a:solidFill>
              <a:srgbClr val="E5EAF0"/>
            </a:solidFill>
          </a:ln>
        </p:spPr>
        <p:style>
          <a:lnRef idx="2">
            <a:schemeClr val="accent1"/>
          </a:lnRef>
          <a:fillRef idx="0">
            <a:schemeClr val="accent1"/>
          </a:fillRef>
          <a:effectRef idx="1">
            <a:schemeClr val="accent1"/>
          </a:effectRef>
          <a:fontRef idx="minor">
            <a:schemeClr val="tx1"/>
          </a:fontRef>
        </p:style>
      </p:cxnSp>
      <p:sp>
        <p:nvSpPr>
          <p:cNvPr id="8" name="Rounded Rectangle 7"/>
          <p:cNvSpPr/>
          <p:nvPr/>
        </p:nvSpPr>
        <p:spPr>
          <a:xfrm>
            <a:off x="777240" y="2788920"/>
            <a:ext cx="1691640" cy="402336"/>
          </a:xfrm>
          <a:prstGeom prst="roundRect">
            <a:avLst>
              <a:gd name="adj" fmla="val 50000"/>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wrap="none"/>
          <a:lstStyle/>
          <a:p>
            <a:pPr algn="ctr"/>
            <a:r>
              <a:rPr sz="1200" b="1">
                <a:solidFill>
                  <a:srgbClr val="FFFFFF"/>
                </a:solidFill>
                <a:latin typeface="DejaVu Sans"/>
              </a:rPr>
              <a:t>Gartner</a:t>
            </a:r>
          </a:p>
        </p:txBody>
      </p:sp>
      <p:cxnSp>
        <p:nvCxnSpPr>
          <p:cNvPr id="9" name="Connector 8"/>
          <p:cNvCxnSpPr/>
          <p:nvPr/>
        </p:nvCxnSpPr>
        <p:spPr>
          <a:xfrm flipV="1">
            <a:off x="2514600" y="2697480"/>
            <a:ext cx="2103120" cy="292608"/>
          </a:xfrm>
          <a:prstGeom prst="line">
            <a:avLst/>
          </a:prstGeom>
          <a:ln w="15240">
            <a:solidFill>
              <a:srgbClr val="E5EAF0"/>
            </a:solidFill>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777240" y="3337560"/>
            <a:ext cx="1691640" cy="402336"/>
          </a:xfrm>
          <a:prstGeom prst="roundRect">
            <a:avLst>
              <a:gd name="adj" fmla="val 50000"/>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wrap="none"/>
          <a:lstStyle/>
          <a:p>
            <a:pPr algn="ctr"/>
            <a:r>
              <a:rPr sz="1200" b="1">
                <a:solidFill>
                  <a:srgbClr val="FFFFFF"/>
                </a:solidFill>
                <a:latin typeface="DejaVu Sans"/>
              </a:rPr>
              <a:t>McKinsey</a:t>
            </a:r>
          </a:p>
        </p:txBody>
      </p:sp>
      <p:cxnSp>
        <p:nvCxnSpPr>
          <p:cNvPr id="11" name="Connector 10"/>
          <p:cNvCxnSpPr/>
          <p:nvPr/>
        </p:nvCxnSpPr>
        <p:spPr>
          <a:xfrm flipV="1">
            <a:off x="2514600" y="2697480"/>
            <a:ext cx="2103120" cy="841248"/>
          </a:xfrm>
          <a:prstGeom prst="line">
            <a:avLst/>
          </a:prstGeom>
          <a:ln w="15240">
            <a:solidFill>
              <a:srgbClr val="E5EAF0"/>
            </a:solidFill>
          </a:ln>
        </p:spPr>
        <p:style>
          <a:lnRef idx="2">
            <a:schemeClr val="accent1"/>
          </a:lnRef>
          <a:fillRef idx="0">
            <a:schemeClr val="accent1"/>
          </a:fillRef>
          <a:effectRef idx="1">
            <a:schemeClr val="accent1"/>
          </a:effectRef>
          <a:fontRef idx="minor">
            <a:schemeClr val="tx1"/>
          </a:fontRef>
        </p:style>
      </p:cxnSp>
      <p:sp>
        <p:nvSpPr>
          <p:cNvPr id="12" name="Rounded Rectangle 11"/>
          <p:cNvSpPr/>
          <p:nvPr/>
        </p:nvSpPr>
        <p:spPr>
          <a:xfrm>
            <a:off x="777240" y="3886200"/>
            <a:ext cx="1691640" cy="402336"/>
          </a:xfrm>
          <a:prstGeom prst="roundRect">
            <a:avLst>
              <a:gd name="adj" fmla="val 50000"/>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wrap="none"/>
          <a:lstStyle/>
          <a:p>
            <a:pPr algn="ctr"/>
            <a:r>
              <a:rPr sz="1200" b="1">
                <a:solidFill>
                  <a:srgbClr val="FFFFFF"/>
                </a:solidFill>
                <a:latin typeface="DejaVu Sans"/>
              </a:rPr>
              <a:t>Forrester</a:t>
            </a:r>
          </a:p>
        </p:txBody>
      </p:sp>
      <p:cxnSp>
        <p:nvCxnSpPr>
          <p:cNvPr id="13" name="Connector 12"/>
          <p:cNvCxnSpPr/>
          <p:nvPr/>
        </p:nvCxnSpPr>
        <p:spPr>
          <a:xfrm flipV="1">
            <a:off x="2514600" y="2697480"/>
            <a:ext cx="2103120" cy="1389888"/>
          </a:xfrm>
          <a:prstGeom prst="line">
            <a:avLst/>
          </a:prstGeom>
          <a:ln w="15240">
            <a:solidFill>
              <a:srgbClr val="E5EAF0"/>
            </a:solidFill>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3794760" y="2331720"/>
            <a:ext cx="2286000" cy="731520"/>
          </a:xfrm>
          <a:prstGeom prst="roundRect">
            <a:avLst>
              <a:gd name="adj" fmla="val 10000"/>
            </a:avLst>
          </a:prstGeom>
          <a:solidFill>
            <a:srgbClr val="FDF3DC"/>
          </a:solidFill>
          <a:ln w="2032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840480" y="2395728"/>
            <a:ext cx="2194560" cy="594360"/>
          </a:xfrm>
          <a:prstGeom prst="rect">
            <a:avLst/>
          </a:prstGeom>
          <a:noFill/>
        </p:spPr>
        <p:txBody>
          <a:bodyPr wrap="square" lIns="0" rIns="0" tIns="0" bIns="0" anchor="ctr">
            <a:spAutoFit/>
          </a:bodyPr>
          <a:lstStyle/>
          <a:p>
            <a:pPr algn="ctr">
              <a:lnSpc>
                <a:spcPct val="100000"/>
              </a:lnSpc>
            </a:pPr>
            <a:r>
              <a:rPr sz="1150" b="1" i="0">
                <a:solidFill>
                  <a:srgbClr val="21295C"/>
                </a:solidFill>
                <a:latin typeface="DejaVu Sans"/>
              </a:rPr>
              <a:t>операционная модель</a:t>
            </a:r>
          </a:p>
        </p:txBody>
      </p:sp>
      <p:sp>
        <p:nvSpPr>
          <p:cNvPr id="16" name="TextBox 15"/>
          <p:cNvSpPr txBox="1"/>
          <p:nvPr/>
        </p:nvSpPr>
        <p:spPr>
          <a:xfrm>
            <a:off x="731520" y="4434840"/>
            <a:ext cx="5394960" cy="274320"/>
          </a:xfrm>
          <a:prstGeom prst="rect">
            <a:avLst/>
          </a:prstGeom>
          <a:noFill/>
        </p:spPr>
        <p:txBody>
          <a:bodyPr wrap="square" lIns="0" rIns="0" tIns="0" bIns="0" anchor="t">
            <a:spAutoFit/>
          </a:bodyPr>
          <a:lstStyle/>
          <a:p>
            <a:pPr algn="l">
              <a:lnSpc>
                <a:spcPct val="115000"/>
              </a:lnSpc>
            </a:pPr>
            <a:r>
              <a:rPr sz="1100" b="0" i="1">
                <a:solidFill>
                  <a:srgbClr val="5B6678"/>
                </a:solidFill>
                <a:latin typeface="DejaVu Sans"/>
              </a:rPr>
              <a:t>Deloitte: 75% — модель должна измениться · 42% низкий/нулевой ROI </a:t>
            </a:r>
            <a:r>
              <a:rPr sz="572" baseline="30000" b="0" i="1">
                <a:latin typeface="DejaVu Sans"/>
                <a:cs typeface="DejaVu Sans"/>
                <a:ea typeface="DejaVu Sans"/>
                <a:solidFill>
                  <a:srgbClr val="1C7293"/>
                </a:solidFill>
              </a:rPr>
              <a:t>[1]</a:t>
            </a:r>
          </a:p>
        </p:txBody>
      </p:sp>
      <p:sp>
        <p:nvSpPr>
          <p:cNvPr id="17" name="Rounded Rectangle 16"/>
          <p:cNvSpPr/>
          <p:nvPr/>
        </p:nvSpPr>
        <p:spPr>
          <a:xfrm>
            <a:off x="6537960" y="1463040"/>
            <a:ext cx="5166360" cy="3246120"/>
          </a:xfrm>
          <a:prstGeom prst="roundRect">
            <a:avLst>
              <a:gd name="adj" fmla="val 9389"/>
            </a:avLst>
          </a:prstGeom>
          <a:solidFill>
            <a:srgbClr val="F4F7FA"/>
          </a:solidFill>
          <a:ln w="1905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766560" y="1600200"/>
            <a:ext cx="4709160" cy="365760"/>
          </a:xfrm>
          <a:prstGeom prst="rect">
            <a:avLst/>
          </a:prstGeom>
          <a:noFill/>
        </p:spPr>
        <p:txBody>
          <a:bodyPr wrap="square" lIns="0" rIns="0" tIns="0" bIns="0" anchor="t">
            <a:spAutoFit/>
          </a:bodyPr>
          <a:lstStyle/>
          <a:p>
            <a:pPr algn="l">
              <a:lnSpc>
                <a:spcPct val="115000"/>
              </a:lnSpc>
            </a:pPr>
            <a:r>
              <a:rPr sz="1400" b="1" i="0">
                <a:solidFill>
                  <a:srgbClr val="028090"/>
                </a:solidFill>
                <a:latin typeface="DejaVu Sans"/>
              </a:rPr>
              <a:t>Зрелость 0–5 (maturity)</a:t>
            </a:r>
          </a:p>
        </p:txBody>
      </p:sp>
      <p:sp>
        <p:nvSpPr>
          <p:cNvPr id="19" name="Rounded Rectangle 18"/>
          <p:cNvSpPr/>
          <p:nvPr/>
        </p:nvSpPr>
        <p:spPr>
          <a:xfrm>
            <a:off x="6812280" y="2331720"/>
            <a:ext cx="640080" cy="640080"/>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812280" y="2468880"/>
            <a:ext cx="640080" cy="365760"/>
          </a:xfrm>
          <a:prstGeom prst="rect">
            <a:avLst/>
          </a:prstGeom>
          <a:noFill/>
        </p:spPr>
        <p:txBody>
          <a:bodyPr wrap="square" lIns="0" rIns="0" tIns="0" bIns="0" anchor="t">
            <a:spAutoFit/>
          </a:bodyPr>
          <a:lstStyle/>
          <a:p>
            <a:pPr algn="ctr">
              <a:lnSpc>
                <a:spcPct val="115000"/>
              </a:lnSpc>
            </a:pPr>
            <a:r>
              <a:rPr sz="1500" b="1" i="0">
                <a:solidFill>
                  <a:srgbClr val="21295C"/>
                </a:solidFill>
                <a:latin typeface="DejaVu Sans"/>
              </a:rPr>
              <a:t>0</a:t>
            </a:r>
          </a:p>
        </p:txBody>
      </p:sp>
      <p:sp>
        <p:nvSpPr>
          <p:cNvPr id="21" name="Rounded Rectangle 20"/>
          <p:cNvSpPr/>
          <p:nvPr/>
        </p:nvSpPr>
        <p:spPr>
          <a:xfrm>
            <a:off x="7589520" y="2331720"/>
            <a:ext cx="640080" cy="640080"/>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589520" y="2468880"/>
            <a:ext cx="640080" cy="365760"/>
          </a:xfrm>
          <a:prstGeom prst="rect">
            <a:avLst/>
          </a:prstGeom>
          <a:noFill/>
        </p:spPr>
        <p:txBody>
          <a:bodyPr wrap="square" lIns="0" rIns="0" tIns="0" bIns="0" anchor="t">
            <a:spAutoFit/>
          </a:bodyPr>
          <a:lstStyle/>
          <a:p>
            <a:pPr algn="ctr">
              <a:lnSpc>
                <a:spcPct val="115000"/>
              </a:lnSpc>
            </a:pPr>
            <a:r>
              <a:rPr sz="1500" b="1" i="0">
                <a:solidFill>
                  <a:srgbClr val="21295C"/>
                </a:solidFill>
                <a:latin typeface="DejaVu Sans"/>
              </a:rPr>
              <a:t>1</a:t>
            </a:r>
          </a:p>
        </p:txBody>
      </p:sp>
      <p:sp>
        <p:nvSpPr>
          <p:cNvPr id="23" name="Rounded Rectangle 22"/>
          <p:cNvSpPr/>
          <p:nvPr/>
        </p:nvSpPr>
        <p:spPr>
          <a:xfrm>
            <a:off x="8366760" y="2331720"/>
            <a:ext cx="640080" cy="640080"/>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366760" y="2468880"/>
            <a:ext cx="640080" cy="365760"/>
          </a:xfrm>
          <a:prstGeom prst="rect">
            <a:avLst/>
          </a:prstGeom>
          <a:noFill/>
        </p:spPr>
        <p:txBody>
          <a:bodyPr wrap="square" lIns="0" rIns="0" tIns="0" bIns="0" anchor="t">
            <a:spAutoFit/>
          </a:bodyPr>
          <a:lstStyle/>
          <a:p>
            <a:pPr algn="ctr">
              <a:lnSpc>
                <a:spcPct val="115000"/>
              </a:lnSpc>
            </a:pPr>
            <a:r>
              <a:rPr sz="1500" b="1" i="0">
                <a:solidFill>
                  <a:srgbClr val="21295C"/>
                </a:solidFill>
                <a:latin typeface="DejaVu Sans"/>
              </a:rPr>
              <a:t>2</a:t>
            </a:r>
          </a:p>
        </p:txBody>
      </p:sp>
      <p:sp>
        <p:nvSpPr>
          <p:cNvPr id="25" name="Rounded Rectangle 24"/>
          <p:cNvSpPr/>
          <p:nvPr/>
        </p:nvSpPr>
        <p:spPr>
          <a:xfrm>
            <a:off x="9144000" y="2331720"/>
            <a:ext cx="640080" cy="640080"/>
          </a:xfrm>
          <a:prstGeom prst="roundRect">
            <a:avLst>
              <a:gd name="adj" fmla="val 12000"/>
            </a:avLst>
          </a:prstGeom>
          <a:solidFill>
            <a:srgbClr val="FDF3DC"/>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9144000" y="2468880"/>
            <a:ext cx="640080" cy="365760"/>
          </a:xfrm>
          <a:prstGeom prst="rect">
            <a:avLst/>
          </a:prstGeom>
          <a:noFill/>
        </p:spPr>
        <p:txBody>
          <a:bodyPr wrap="square" lIns="0" rIns="0" tIns="0" bIns="0" anchor="t">
            <a:spAutoFit/>
          </a:bodyPr>
          <a:lstStyle/>
          <a:p>
            <a:pPr algn="ctr">
              <a:lnSpc>
                <a:spcPct val="115000"/>
              </a:lnSpc>
            </a:pPr>
            <a:r>
              <a:rPr sz="1500" b="1" i="0">
                <a:solidFill>
                  <a:srgbClr val="21295C"/>
                </a:solidFill>
                <a:latin typeface="DejaVu Sans"/>
              </a:rPr>
              <a:t>3</a:t>
            </a:r>
          </a:p>
        </p:txBody>
      </p:sp>
      <p:sp>
        <p:nvSpPr>
          <p:cNvPr id="27" name="Rounded Rectangle 26"/>
          <p:cNvSpPr/>
          <p:nvPr/>
        </p:nvSpPr>
        <p:spPr>
          <a:xfrm>
            <a:off x="9921240" y="2331720"/>
            <a:ext cx="640080" cy="640080"/>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921240" y="2468880"/>
            <a:ext cx="640080" cy="365760"/>
          </a:xfrm>
          <a:prstGeom prst="rect">
            <a:avLst/>
          </a:prstGeom>
          <a:noFill/>
        </p:spPr>
        <p:txBody>
          <a:bodyPr wrap="square" lIns="0" rIns="0" tIns="0" bIns="0" anchor="t">
            <a:spAutoFit/>
          </a:bodyPr>
          <a:lstStyle/>
          <a:p>
            <a:pPr algn="ctr">
              <a:lnSpc>
                <a:spcPct val="115000"/>
              </a:lnSpc>
            </a:pPr>
            <a:r>
              <a:rPr sz="1500" b="1" i="0">
                <a:solidFill>
                  <a:srgbClr val="21295C"/>
                </a:solidFill>
                <a:latin typeface="DejaVu Sans"/>
              </a:rPr>
              <a:t>4</a:t>
            </a:r>
          </a:p>
        </p:txBody>
      </p:sp>
      <p:sp>
        <p:nvSpPr>
          <p:cNvPr id="29" name="Rounded Rectangle 28"/>
          <p:cNvSpPr/>
          <p:nvPr/>
        </p:nvSpPr>
        <p:spPr>
          <a:xfrm>
            <a:off x="10698480" y="2331720"/>
            <a:ext cx="640080" cy="640080"/>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698480" y="2468880"/>
            <a:ext cx="640080" cy="365760"/>
          </a:xfrm>
          <a:prstGeom prst="rect">
            <a:avLst/>
          </a:prstGeom>
          <a:noFill/>
        </p:spPr>
        <p:txBody>
          <a:bodyPr wrap="square" lIns="0" rIns="0" tIns="0" bIns="0" anchor="t">
            <a:spAutoFit/>
          </a:bodyPr>
          <a:lstStyle/>
          <a:p>
            <a:pPr algn="ctr">
              <a:lnSpc>
                <a:spcPct val="115000"/>
              </a:lnSpc>
            </a:pPr>
            <a:r>
              <a:rPr sz="1500" b="1" i="0">
                <a:solidFill>
                  <a:srgbClr val="21295C"/>
                </a:solidFill>
                <a:latin typeface="DejaVu Sans"/>
              </a:rPr>
              <a:t>5</a:t>
            </a:r>
          </a:p>
        </p:txBody>
      </p:sp>
      <p:sp>
        <p:nvSpPr>
          <p:cNvPr id="31" name="TextBox 30"/>
          <p:cNvSpPr txBox="1"/>
          <p:nvPr/>
        </p:nvSpPr>
        <p:spPr>
          <a:xfrm>
            <a:off x="6812280" y="3063240"/>
            <a:ext cx="2194560" cy="457200"/>
          </a:xfrm>
          <a:prstGeom prst="rect">
            <a:avLst/>
          </a:prstGeom>
          <a:noFill/>
        </p:spPr>
        <p:txBody>
          <a:bodyPr wrap="square" lIns="0" rIns="0" tIns="0" bIns="0" anchor="t">
            <a:spAutoFit/>
          </a:bodyPr>
          <a:lstStyle/>
          <a:p>
            <a:pPr algn="l">
              <a:lnSpc>
                <a:spcPct val="115000"/>
              </a:lnSpc>
            </a:pPr>
            <a:r>
              <a:rPr sz="1150" b="1" i="0">
                <a:solidFill>
                  <a:srgbClr val="21295C"/>
                </a:solidFill>
                <a:latin typeface="DejaVu Sans"/>
              </a:rPr>
              <a:t>Сбер здесь →</a:t>
            </a:r>
          </a:p>
        </p:txBody>
      </p:sp>
      <p:sp>
        <p:nvSpPr>
          <p:cNvPr id="32" name="TextBox 31"/>
          <p:cNvSpPr txBox="1"/>
          <p:nvPr/>
        </p:nvSpPr>
        <p:spPr>
          <a:xfrm>
            <a:off x="6766560" y="3611880"/>
            <a:ext cx="4709160" cy="1005840"/>
          </a:xfrm>
          <a:prstGeom prst="rect">
            <a:avLst/>
          </a:prstGeom>
          <a:noFill/>
        </p:spPr>
        <p:txBody>
          <a:bodyPr wrap="square" lIns="0" rIns="0" tIns="0" bIns="0" anchor="t">
            <a:spAutoFit/>
          </a:bodyPr>
          <a:lstStyle/>
          <a:p>
            <a:pPr algn="l">
              <a:lnSpc>
                <a:spcPct val="118000"/>
              </a:lnSpc>
            </a:pPr>
            <a:r>
              <a:rPr sz="1200" b="0" i="0">
                <a:solidFill>
                  <a:srgbClr val="21295C"/>
                </a:solidFill>
                <a:latin typeface="DejaVu Sans"/>
              </a:rPr>
              <a:t>Операторы → оркестраторы. Сбер сам ставит себя на уровень 3 из 5 </a:t>
            </a:r>
            <a:r>
              <a:rPr sz="624" baseline="30000" b="0" i="1">
                <a:latin typeface="DejaVu Sans"/>
                <a:cs typeface="DejaVu Sans"/>
                <a:ea typeface="DejaVu Sans"/>
                <a:solidFill>
                  <a:srgbClr val="1C7293"/>
                </a:solidFill>
              </a:rPr>
              <a:t>[2]</a:t>
            </a:r>
            <a:r>
              <a:rPr sz="1200" b="0" i="0">
                <a:latin typeface="DejaVu Sans"/>
                <a:cs typeface="DejaVu Sans"/>
                <a:ea typeface="DejaVu Sans"/>
                <a:solidFill>
                  <a:srgbClr val="21295C"/>
                </a:solidFill>
              </a:rPr>
              <a:t> — сигнал против хайпа: даже крупный игрок не заявляет вершину шкалы.</a:t>
            </a:r>
          </a:p>
        </p:txBody>
      </p:sp>
      <p:sp>
        <p:nvSpPr>
          <p:cNvPr id="33" name="Rounded Rectangle 32"/>
          <p:cNvSpPr/>
          <p:nvPr/>
        </p:nvSpPr>
        <p:spPr>
          <a:xfrm>
            <a:off x="502920" y="4892040"/>
            <a:ext cx="11201400" cy="658368"/>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722376" y="4946903"/>
            <a:ext cx="10762488" cy="548640"/>
          </a:xfrm>
          <a:prstGeom prst="rect">
            <a:avLst/>
          </a:prstGeom>
          <a:noFill/>
        </p:spPr>
        <p:txBody>
          <a:bodyPr wrap="square" lIns="0" rIns="0" tIns="0" bIns="0" anchor="ctr">
            <a:spAutoFit/>
          </a:bodyPr>
          <a:lstStyle/>
          <a:p>
            <a:pPr algn="l">
              <a:lnSpc>
                <a:spcPct val="120000"/>
              </a:lnSpc>
            </a:pPr>
            <a:r>
              <a:rPr sz="1250" b="1" i="0">
                <a:solidFill>
                  <a:srgbClr val="21295C"/>
                </a:solidFill>
                <a:latin typeface="DejaVu Sans"/>
              </a:rPr>
              <a:t>Пять независимых источников сходятся в одном: выигрывает не тот, у кого лучше модель, а тот, кто перестроил команды и управление под неё.</a:t>
            </a:r>
          </a:p>
        </p:txBody>
      </p:sp>
      <p:sp>
        <p:nvSpPr>
          <p:cNvPr id="35" name="TextBox 34"/>
          <p:cNvSpPr txBox="1"/>
          <p:nvPr/>
        </p:nvSpPr>
        <p:spPr>
          <a:xfrm>
            <a:off x="502920" y="6455664"/>
            <a:ext cx="11201400" cy="548640"/>
          </a:xfrm>
          <a:prstGeom prst="rect">
            <a:avLst/>
          </a:prstGeom>
          <a:noFill/>
        </p:spPr>
        <p:txBody>
          <a:bodyPr wrap="square" lIns="0" rIns="0" tIns="0" bIns="0" anchor="t">
            <a:spAutoFit/>
          </a:bodyPr>
          <a:lstStyle/>
          <a:p>
            <a:pPr algn="l">
              <a:lnSpc>
                <a:spcPct val="102000"/>
              </a:lnSpc>
            </a:pPr>
            <a:r>
              <a:rPr sz="850" b="1" i="1">
                <a:solidFill>
                  <a:srgbClr val="065A82"/>
                </a:solidFill>
                <a:latin typeface="DejaVu Sans"/>
              </a:rPr>
              <a:t>[1] </a:t>
            </a:r>
            <a:r>
              <a:rPr sz="850" i="1">
                <a:solidFill>
                  <a:srgbClr val="1C7293"/>
                </a:solidFill>
                <a:latin typeface="DejaVu Sans"/>
                <a:hlinkClick r:id="rId2"/>
              </a:rPr>
              <a:t>Deloitte — 2026 Global Technology Leadership Study</a:t>
            </a:r>
            <a:r>
              <a:rPr sz="850" i="1">
                <a:solidFill>
                  <a:srgbClr val="1C7293"/>
                </a:solidFill>
                <a:latin typeface="DejaVu Sans"/>
              </a:rPr>
              <a:t>   ·   </a:t>
            </a:r>
            <a:r>
              <a:rPr sz="850" b="1" i="1">
                <a:solidFill>
                  <a:srgbClr val="065A82"/>
                </a:solidFill>
                <a:latin typeface="DejaVu Sans"/>
              </a:rPr>
              <a:t>[2] </a:t>
            </a:r>
            <a:r>
              <a:rPr sz="850" i="1">
                <a:solidFill>
                  <a:srgbClr val="1C7293"/>
                </a:solidFill>
                <a:latin typeface="DejaVu Sans"/>
                <a:hlinkClick r:id="rId3"/>
              </a:rPr>
              <a:t>Sber — вакансия «Лидер AI PDLC»</a:t>
            </a:r>
          </a:p>
        </p:txBody>
      </p:sp>
      <p:sp>
        <p:nvSpPr>
          <p:cNvPr id="36" name="TextBox 35"/>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53 / 56</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256032"/>
            <a:ext cx="11247120" cy="658368"/>
          </a:xfrm>
          <a:prstGeom prst="rect">
            <a:avLst/>
          </a:prstGeom>
          <a:noFill/>
        </p:spPr>
        <p:txBody>
          <a:bodyPr wrap="square" lIns="0" rIns="0" tIns="0" bIns="0" anchor="t">
            <a:spAutoFit/>
          </a:bodyPr>
          <a:lstStyle/>
          <a:p>
            <a:pPr algn="l">
              <a:lnSpc>
                <a:spcPct val="110000"/>
              </a:lnSpc>
            </a:pPr>
            <a:r>
              <a:rPr sz="1800" b="1" i="0">
                <a:solidFill>
                  <a:srgbClr val="21295C"/>
                </a:solidFill>
                <a:latin typeface="DejaVu Sans"/>
              </a:rPr>
              <a:t>60% исследовали → 20% пилот → 5% успех: это 25% среди дошедших, не «95% провал» </a:t>
            </a:r>
            <a:r>
              <a:rPr sz="936" baseline="30000" b="0" i="1">
                <a:latin typeface="DejaVu Sans"/>
                <a:cs typeface="DejaVu Sans"/>
                <a:ea typeface="DejaVu Sans"/>
                <a:solidFill>
                  <a:srgbClr val="1C7293"/>
                </a:solidFill>
              </a:rPr>
              <a:t>[1]</a:t>
            </a:r>
          </a:p>
        </p:txBody>
      </p:sp>
      <p:sp>
        <p:nvSpPr>
          <p:cNvPr id="3" name="Rounded Rectangle 2"/>
          <p:cNvSpPr/>
          <p:nvPr/>
        </p:nvSpPr>
        <p:spPr>
          <a:xfrm>
            <a:off x="502920" y="1097280"/>
            <a:ext cx="11201400" cy="2880360"/>
          </a:xfrm>
          <a:prstGeom prst="roundRect">
            <a:avLst>
              <a:gd name="adj" fmla="val 10582"/>
            </a:avLst>
          </a:prstGeom>
          <a:solidFill>
            <a:srgbClr val="F4F7FA"/>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mit-funnel.png"/>
          <p:cNvPicPr>
            <a:picLocks noChangeAspect="1"/>
          </p:cNvPicPr>
          <p:nvPr/>
        </p:nvPicPr>
        <p:blipFill>
          <a:blip r:embed="rId2"/>
          <a:stretch>
            <a:fillRect/>
          </a:stretch>
        </p:blipFill>
        <p:spPr>
          <a:xfrm>
            <a:off x="3297040" y="1280160"/>
            <a:ext cx="5613159" cy="2514600"/>
          </a:xfrm>
          <a:prstGeom prst="rect">
            <a:avLst/>
          </a:prstGeom>
        </p:spPr>
      </p:pic>
      <p:sp>
        <p:nvSpPr>
          <p:cNvPr id="5" name="Rounded Rectangle 4"/>
          <p:cNvSpPr/>
          <p:nvPr/>
        </p:nvSpPr>
        <p:spPr>
          <a:xfrm>
            <a:off x="502920" y="4114800"/>
            <a:ext cx="11201400" cy="658368"/>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22376" y="4169663"/>
            <a:ext cx="10762488" cy="548640"/>
          </a:xfrm>
          <a:prstGeom prst="rect">
            <a:avLst/>
          </a:prstGeom>
          <a:noFill/>
        </p:spPr>
        <p:txBody>
          <a:bodyPr wrap="square" lIns="0" rIns="0" tIns="0" bIns="0" anchor="ctr">
            <a:spAutoFit/>
          </a:bodyPr>
          <a:lstStyle/>
          <a:p>
            <a:pPr algn="ctr">
              <a:lnSpc>
                <a:spcPct val="120000"/>
              </a:lnSpc>
            </a:pPr>
            <a:r>
              <a:rPr sz="1400" b="1" i="0">
                <a:solidFill>
                  <a:srgbClr val="21295C"/>
                </a:solidFill>
                <a:latin typeface="DejaVu Sans"/>
              </a:rPr>
              <a:t>«95% провал» — заголовок, который не переживает калибровку: успех среди дошедших до пилота — 25%, не 5% </a:t>
            </a:r>
            <a:r>
              <a:rPr sz="728" baseline="30000" b="0" i="1">
                <a:latin typeface="DejaVu Sans"/>
                <a:cs typeface="DejaVu Sans"/>
                <a:ea typeface="DejaVu Sans"/>
                <a:solidFill>
                  <a:srgbClr val="1C7293"/>
                </a:solidFill>
              </a:rPr>
              <a:t>[2, 3]</a:t>
            </a:r>
            <a:r>
              <a:rPr sz="1400" b="1" i="0">
                <a:latin typeface="DejaVu Sans"/>
                <a:cs typeface="DejaVu Sans"/>
                <a:ea typeface="DejaVu Sans"/>
                <a:solidFill>
                  <a:srgbClr val="21295C"/>
                </a:solidFill>
              </a:rPr>
              <a:t>.</a:t>
            </a:r>
          </a:p>
        </p:txBody>
      </p:sp>
      <p:sp>
        <p:nvSpPr>
          <p:cNvPr id="7" name="Rounded Rectangle 6"/>
          <p:cNvSpPr/>
          <p:nvPr/>
        </p:nvSpPr>
        <p:spPr>
          <a:xfrm>
            <a:off x="502920" y="4892040"/>
            <a:ext cx="2331720" cy="1417320"/>
          </a:xfrm>
          <a:prstGeom prst="roundRect">
            <a:avLst>
              <a:gd name="adj" fmla="val 21505"/>
            </a:avLst>
          </a:prstGeom>
          <a:solidFill>
            <a:srgbClr val="FFFFFF"/>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s47-mit-real-source.png"/>
          <p:cNvPicPr>
            <a:picLocks noChangeAspect="1"/>
          </p:cNvPicPr>
          <p:nvPr/>
        </p:nvPicPr>
        <p:blipFill>
          <a:blip r:embed="rId3"/>
          <a:stretch>
            <a:fillRect/>
          </a:stretch>
        </p:blipFill>
        <p:spPr>
          <a:xfrm>
            <a:off x="612648" y="5118839"/>
            <a:ext cx="2112263" cy="963720"/>
          </a:xfrm>
          <a:prstGeom prst="rect">
            <a:avLst/>
          </a:prstGeom>
        </p:spPr>
      </p:pic>
      <p:sp>
        <p:nvSpPr>
          <p:cNvPr id="9" name="Rounded Rectangle 8"/>
          <p:cNvSpPr/>
          <p:nvPr/>
        </p:nvSpPr>
        <p:spPr>
          <a:xfrm>
            <a:off x="2971800" y="4892040"/>
            <a:ext cx="4892040" cy="1417320"/>
          </a:xfrm>
          <a:prstGeom prst="roundRect">
            <a:avLst>
              <a:gd name="adj" fmla="val 21505"/>
            </a:avLst>
          </a:prstGeom>
          <a:solidFill>
            <a:srgbClr val="F4F7FA"/>
          </a:solidFill>
          <a:ln w="1778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182112" y="4983480"/>
            <a:ext cx="4480560" cy="292608"/>
          </a:xfrm>
          <a:prstGeom prst="rect">
            <a:avLst/>
          </a:prstGeom>
          <a:noFill/>
        </p:spPr>
        <p:txBody>
          <a:bodyPr wrap="square" lIns="0" rIns="0" tIns="0" bIns="0" anchor="t">
            <a:spAutoFit/>
          </a:bodyPr>
          <a:lstStyle/>
          <a:p>
            <a:pPr algn="l">
              <a:lnSpc>
                <a:spcPct val="100000"/>
              </a:lnSpc>
            </a:pPr>
            <a:r>
              <a:rPr sz="1150" b="1" i="0">
                <a:solidFill>
                  <a:srgbClr val="065A82"/>
                </a:solidFill>
                <a:latin typeface="DejaVu Sans"/>
              </a:rPr>
              <a:t>4 вопроса к любой громкой цифре провала ИИ</a:t>
            </a:r>
          </a:p>
        </p:txBody>
      </p:sp>
      <p:sp>
        <p:nvSpPr>
          <p:cNvPr id="11" name="TextBox 10"/>
          <p:cNvSpPr txBox="1"/>
          <p:nvPr/>
        </p:nvSpPr>
        <p:spPr>
          <a:xfrm>
            <a:off x="3182112" y="5321808"/>
            <a:ext cx="4480560" cy="237744"/>
          </a:xfrm>
          <a:prstGeom prst="rect">
            <a:avLst/>
          </a:prstGeom>
          <a:noFill/>
        </p:spPr>
        <p:txBody>
          <a:bodyPr wrap="square" lIns="0" rIns="0" tIns="0" bIns="0" anchor="t">
            <a:spAutoFit/>
          </a:bodyPr>
          <a:lstStyle/>
          <a:p>
            <a:pPr algn="l">
              <a:lnSpc>
                <a:spcPct val="100000"/>
              </a:lnSpc>
            </a:pPr>
            <a:r>
              <a:rPr sz="1000" b="0" i="0">
                <a:solidFill>
                  <a:srgbClr val="21295C"/>
                </a:solidFill>
                <a:latin typeface="DejaVu Sans"/>
              </a:rPr>
              <a:t>1. Каков знаменатель?</a:t>
            </a:r>
          </a:p>
        </p:txBody>
      </p:sp>
      <p:sp>
        <p:nvSpPr>
          <p:cNvPr id="12" name="TextBox 11"/>
          <p:cNvSpPr txBox="1"/>
          <p:nvPr/>
        </p:nvSpPr>
        <p:spPr>
          <a:xfrm>
            <a:off x="3182112" y="5568696"/>
            <a:ext cx="4480560" cy="237744"/>
          </a:xfrm>
          <a:prstGeom prst="rect">
            <a:avLst/>
          </a:prstGeom>
          <a:noFill/>
        </p:spPr>
        <p:txBody>
          <a:bodyPr wrap="square" lIns="0" rIns="0" tIns="0" bIns="0" anchor="t">
            <a:spAutoFit/>
          </a:bodyPr>
          <a:lstStyle/>
          <a:p>
            <a:pPr algn="l">
              <a:lnSpc>
                <a:spcPct val="100000"/>
              </a:lnSpc>
            </a:pPr>
            <a:r>
              <a:rPr sz="1000" b="0" i="0">
                <a:solidFill>
                  <a:srgbClr val="21295C"/>
                </a:solidFill>
                <a:latin typeface="DejaVu Sans"/>
              </a:rPr>
              <a:t>2. Что считается «провалом»?</a:t>
            </a:r>
          </a:p>
        </p:txBody>
      </p:sp>
      <p:sp>
        <p:nvSpPr>
          <p:cNvPr id="13" name="TextBox 12"/>
          <p:cNvSpPr txBox="1"/>
          <p:nvPr/>
        </p:nvSpPr>
        <p:spPr>
          <a:xfrm>
            <a:off x="3182112" y="5815584"/>
            <a:ext cx="4480560" cy="237744"/>
          </a:xfrm>
          <a:prstGeom prst="rect">
            <a:avLst/>
          </a:prstGeom>
          <a:noFill/>
        </p:spPr>
        <p:txBody>
          <a:bodyPr wrap="square" lIns="0" rIns="0" tIns="0" bIns="0" anchor="t">
            <a:spAutoFit/>
          </a:bodyPr>
          <a:lstStyle/>
          <a:p>
            <a:pPr algn="l">
              <a:lnSpc>
                <a:spcPct val="100000"/>
              </a:lnSpc>
            </a:pPr>
            <a:r>
              <a:rPr sz="1000" b="0" i="0">
                <a:solidFill>
                  <a:srgbClr val="21295C"/>
                </a:solidFill>
                <a:latin typeface="DejaVu Sans"/>
              </a:rPr>
              <a:t>3. Каков конфликт интересов автора? </a:t>
            </a:r>
            <a:r>
              <a:rPr sz="520" baseline="30000" b="0" i="1">
                <a:latin typeface="DejaVu Sans"/>
                <a:cs typeface="DejaVu Sans"/>
                <a:ea typeface="DejaVu Sans"/>
                <a:solidFill>
                  <a:srgbClr val="1C7293"/>
                </a:solidFill>
              </a:rPr>
              <a:t>[3]</a:t>
            </a:r>
          </a:p>
        </p:txBody>
      </p:sp>
      <p:sp>
        <p:nvSpPr>
          <p:cNvPr id="14" name="TextBox 13"/>
          <p:cNvSpPr txBox="1"/>
          <p:nvPr/>
        </p:nvSpPr>
        <p:spPr>
          <a:xfrm>
            <a:off x="3182112" y="6062472"/>
            <a:ext cx="4480560" cy="237744"/>
          </a:xfrm>
          <a:prstGeom prst="rect">
            <a:avLst/>
          </a:prstGeom>
          <a:noFill/>
        </p:spPr>
        <p:txBody>
          <a:bodyPr wrap="square" lIns="0" rIns="0" tIns="0" bIns="0" anchor="t">
            <a:spAutoFit/>
          </a:bodyPr>
          <a:lstStyle/>
          <a:p>
            <a:pPr algn="l">
              <a:lnSpc>
                <a:spcPct val="100000"/>
              </a:lnSpc>
            </a:pPr>
            <a:r>
              <a:rPr sz="1000" b="0" i="0">
                <a:solidFill>
                  <a:srgbClr val="21295C"/>
                </a:solidFill>
                <a:latin typeface="DejaVu Sans"/>
              </a:rPr>
              <a:t>4. Прослеживается ли к первоисточнику?</a:t>
            </a:r>
          </a:p>
        </p:txBody>
      </p:sp>
      <p:sp>
        <p:nvSpPr>
          <p:cNvPr id="15" name="Rounded Rectangle 14"/>
          <p:cNvSpPr/>
          <p:nvPr/>
        </p:nvSpPr>
        <p:spPr>
          <a:xfrm>
            <a:off x="8001000" y="4892040"/>
            <a:ext cx="3703320" cy="1417320"/>
          </a:xfrm>
          <a:prstGeom prst="roundRect">
            <a:avLst>
              <a:gd name="adj" fmla="val 8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183879" y="4983480"/>
            <a:ext cx="3337560" cy="1234440"/>
          </a:xfrm>
          <a:prstGeom prst="rect">
            <a:avLst/>
          </a:prstGeom>
          <a:noFill/>
        </p:spPr>
        <p:txBody>
          <a:bodyPr wrap="square" lIns="0" rIns="0" tIns="0" bIns="0" anchor="ctr">
            <a:spAutoFit/>
          </a:bodyPr>
          <a:lstStyle/>
          <a:p>
            <a:pPr algn="l">
              <a:lnSpc>
                <a:spcPct val="115000"/>
              </a:lnSpc>
            </a:pPr>
            <a:r>
              <a:rPr sz="1050" b="1" i="0">
                <a:solidFill>
                  <a:srgbClr val="21295C"/>
                </a:solidFill>
                <a:latin typeface="DejaVu Sans"/>
              </a:rPr>
              <a:t>BCG: 60% компаний не отслеживают ни одного финансового KPI, привязанного к ценности ИИ </a:t>
            </a:r>
            <a:r>
              <a:rPr sz="546" baseline="30000" b="0" i="1">
                <a:latin typeface="DejaVu Sans"/>
                <a:cs typeface="DejaVu Sans"/>
                <a:ea typeface="DejaVu Sans"/>
                <a:solidFill>
                  <a:srgbClr val="1C7293"/>
                </a:solidFill>
              </a:rPr>
              <a:t>[5]</a:t>
            </a:r>
            <a:r>
              <a:rPr sz="1050" b="1" i="0">
                <a:latin typeface="DejaVu Sans"/>
                <a:cs typeface="DejaVu Sans"/>
                <a:ea typeface="DejaVu Sans"/>
                <a:solidFill>
                  <a:srgbClr val="21295C"/>
                </a:solidFill>
              </a:rPr>
              <a:t> — вот почему цифры провалов так легко раздуваются.</a:t>
            </a:r>
          </a:p>
        </p:txBody>
      </p:sp>
      <p:sp>
        <p:nvSpPr>
          <p:cNvPr id="17" name="TextBox 16"/>
          <p:cNvSpPr txBox="1"/>
          <p:nvPr/>
        </p:nvSpPr>
        <p:spPr>
          <a:xfrm>
            <a:off x="502920" y="6419088"/>
            <a:ext cx="11201400" cy="548640"/>
          </a:xfrm>
          <a:prstGeom prst="rect">
            <a:avLst/>
          </a:prstGeom>
          <a:noFill/>
        </p:spPr>
        <p:txBody>
          <a:bodyPr wrap="square" lIns="0" rIns="0" tIns="0" bIns="0" anchor="t">
            <a:spAutoFit/>
          </a:bodyPr>
          <a:lstStyle/>
          <a:p>
            <a:pPr algn="l">
              <a:lnSpc>
                <a:spcPct val="102000"/>
              </a:lnSpc>
            </a:pPr>
            <a:r>
              <a:rPr sz="800" b="1" i="1">
                <a:solidFill>
                  <a:srgbClr val="065A82"/>
                </a:solidFill>
                <a:latin typeface="DejaVu Sans"/>
              </a:rPr>
              <a:t>[1] </a:t>
            </a:r>
            <a:r>
              <a:rPr sz="800" i="1">
                <a:solidFill>
                  <a:srgbClr val="1C7293"/>
                </a:solidFill>
                <a:latin typeface="DejaVu Sans"/>
                <a:hlinkClick r:id="rId4"/>
              </a:rPr>
              <a:t>MIT NANDA — «The GenAI Divide» (июль 2025, v0.1)</a:t>
            </a:r>
            <a:r>
              <a:rPr sz="800" i="1">
                <a:solidFill>
                  <a:srgbClr val="1C7293"/>
                </a:solidFill>
                <a:latin typeface="DejaVu Sans"/>
              </a:rPr>
              <a:t>   ·   </a:t>
            </a:r>
            <a:r>
              <a:rPr sz="800" b="1" i="1">
                <a:solidFill>
                  <a:srgbClr val="065A82"/>
                </a:solidFill>
                <a:latin typeface="DejaVu Sans"/>
              </a:rPr>
              <a:t>[2] </a:t>
            </a:r>
            <a:r>
              <a:rPr sz="800" i="1">
                <a:solidFill>
                  <a:srgbClr val="1C7293"/>
                </a:solidFill>
                <a:latin typeface="DejaVu Sans"/>
                <a:hlinkClick r:id="rId5"/>
              </a:rPr>
              <a:t>Fortune (18 авг. 2025) — медиа-искажение MIT-отчёта</a:t>
            </a:r>
            <a:r>
              <a:rPr sz="800" i="1">
                <a:solidFill>
                  <a:srgbClr val="1C7293"/>
                </a:solidFill>
                <a:latin typeface="DejaVu Sans"/>
              </a:rPr>
              <a:t>   ·   </a:t>
            </a:r>
            <a:r>
              <a:rPr sz="800" b="1" i="1">
                <a:solidFill>
                  <a:srgbClr val="065A82"/>
                </a:solidFill>
                <a:latin typeface="DejaVu Sans"/>
              </a:rPr>
              <a:t>[3] </a:t>
            </a:r>
            <a:r>
              <a:rPr sz="800" i="1">
                <a:solidFill>
                  <a:srgbClr val="1C7293"/>
                </a:solidFill>
                <a:latin typeface="DejaVu Sans"/>
                <a:hlinkClick r:id="rId6"/>
              </a:rPr>
              <a:t>NewMR — Myth #2</a:t>
            </a:r>
            <a:r>
              <a:rPr sz="800" i="1">
                <a:solidFill>
                  <a:srgbClr val="1C7293"/>
                </a:solidFill>
                <a:latin typeface="DejaVu Sans"/>
              </a:rPr>
              <a:t>   ·   </a:t>
            </a:r>
            <a:r>
              <a:rPr sz="800" b="1" i="1">
                <a:solidFill>
                  <a:srgbClr val="065A82"/>
                </a:solidFill>
                <a:latin typeface="DejaVu Sans"/>
              </a:rPr>
              <a:t>[4] </a:t>
            </a:r>
            <a:r>
              <a:rPr sz="800" i="1">
                <a:solidFill>
                  <a:srgbClr val="1C7293"/>
                </a:solidFill>
                <a:latin typeface="DejaVu Sans"/>
                <a:hlinkClick r:id="rId7"/>
              </a:rPr>
              <a:t>Gartner (7 апр. 2026, 782 I&amp;O-лидеров)</a:t>
            </a:r>
            <a:r>
              <a:rPr sz="800" i="1">
                <a:solidFill>
                  <a:srgbClr val="1C7293"/>
                </a:solidFill>
                <a:latin typeface="DejaVu Sans"/>
              </a:rPr>
              <a:t>   ·   </a:t>
            </a:r>
            <a:r>
              <a:rPr sz="800" b="1" i="1">
                <a:solidFill>
                  <a:srgbClr val="065A82"/>
                </a:solidFill>
                <a:latin typeface="DejaVu Sans"/>
              </a:rPr>
              <a:t>[5] </a:t>
            </a:r>
            <a:r>
              <a:rPr sz="800" i="1">
                <a:solidFill>
                  <a:srgbClr val="1C7293"/>
                </a:solidFill>
                <a:latin typeface="DejaVu Sans"/>
                <a:hlinkClick r:id="rId8"/>
              </a:rPr>
              <a:t>BCG — Closing the AI Impact Gap</a:t>
            </a:r>
          </a:p>
        </p:txBody>
      </p:sp>
      <p:sp>
        <p:nvSpPr>
          <p:cNvPr id="18" name="TextBox 17"/>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54 / 56</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65760"/>
            <a:ext cx="11247120" cy="777240"/>
          </a:xfrm>
          <a:prstGeom prst="rect">
            <a:avLst/>
          </a:prstGeom>
          <a:noFill/>
        </p:spPr>
        <p:txBody>
          <a:bodyPr wrap="square" lIns="0" rIns="0" tIns="0" bIns="0" anchor="t">
            <a:spAutoFit/>
          </a:bodyPr>
          <a:lstStyle/>
          <a:p>
            <a:pPr algn="l">
              <a:lnSpc>
                <a:spcPct val="110000"/>
              </a:lnSpc>
            </a:pPr>
            <a:r>
              <a:rPr sz="1700" b="1" i="0">
                <a:solidFill>
                  <a:srgbClr val="21295C"/>
                </a:solidFill>
                <a:latin typeface="DejaVu Sans"/>
              </a:rPr>
              <a:t>«Автономный» магазин: 700 из 1000 транзакций требовали ручной проверки против цели 50</a:t>
            </a:r>
          </a:p>
        </p:txBody>
      </p:sp>
      <p:sp>
        <p:nvSpPr>
          <p:cNvPr id="3" name="Rounded Rectangle 2"/>
          <p:cNvSpPr/>
          <p:nvPr/>
        </p:nvSpPr>
        <p:spPr>
          <a:xfrm>
            <a:off x="502920" y="1371600"/>
            <a:ext cx="3063240" cy="1691640"/>
          </a:xfrm>
          <a:prstGeom prst="roundRect">
            <a:avLst>
              <a:gd name="adj" fmla="val 18018"/>
            </a:avLst>
          </a:prstGeom>
          <a:solidFill>
            <a:srgbClr val="FFFFFF"/>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s48-amazon-real-source.png"/>
          <p:cNvPicPr>
            <a:picLocks noChangeAspect="1"/>
          </p:cNvPicPr>
          <p:nvPr/>
        </p:nvPicPr>
        <p:blipFill>
          <a:blip r:embed="rId2"/>
          <a:stretch>
            <a:fillRect/>
          </a:stretch>
        </p:blipFill>
        <p:spPr>
          <a:xfrm>
            <a:off x="840959" y="1463040"/>
            <a:ext cx="2387160" cy="1508760"/>
          </a:xfrm>
          <a:prstGeom prst="rect">
            <a:avLst/>
          </a:prstGeom>
        </p:spPr>
      </p:pic>
      <p:sp>
        <p:nvSpPr>
          <p:cNvPr id="5" name="Rounded Rectangle 4"/>
          <p:cNvSpPr/>
          <p:nvPr/>
        </p:nvSpPr>
        <p:spPr>
          <a:xfrm>
            <a:off x="3749039" y="1371600"/>
            <a:ext cx="3246120" cy="1691640"/>
          </a:xfrm>
          <a:prstGeom prst="roundRect">
            <a:avLst>
              <a:gd name="adj" fmla="val 18018"/>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c-jwo.png"/>
          <p:cNvPicPr>
            <a:picLocks noChangeAspect="1"/>
          </p:cNvPicPr>
          <p:nvPr/>
        </p:nvPicPr>
        <p:blipFill>
          <a:blip r:embed="rId3"/>
          <a:stretch>
            <a:fillRect/>
          </a:stretch>
        </p:blipFill>
        <p:spPr>
          <a:xfrm>
            <a:off x="4260622" y="1508760"/>
            <a:ext cx="2222955" cy="1417320"/>
          </a:xfrm>
          <a:prstGeom prst="rect">
            <a:avLst/>
          </a:prstGeom>
        </p:spPr>
      </p:pic>
      <p:sp>
        <p:nvSpPr>
          <p:cNvPr id="7" name="Rounded Rectangle 6"/>
          <p:cNvSpPr/>
          <p:nvPr/>
        </p:nvSpPr>
        <p:spPr>
          <a:xfrm>
            <a:off x="7178040" y="1371600"/>
            <a:ext cx="4526280" cy="1691640"/>
          </a:xfrm>
          <a:prstGeom prst="roundRect">
            <a:avLst>
              <a:gd name="adj" fmla="val 18018"/>
            </a:avLst>
          </a:prstGeom>
          <a:solidFill>
            <a:srgbClr val="FDF3DC"/>
          </a:solidFill>
          <a:ln w="2032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406640" y="1481328"/>
            <a:ext cx="4069080" cy="1508760"/>
          </a:xfrm>
          <a:prstGeom prst="rect">
            <a:avLst/>
          </a:prstGeom>
          <a:noFill/>
        </p:spPr>
        <p:txBody>
          <a:bodyPr wrap="square" lIns="0" rIns="0" tIns="0" bIns="0" anchor="ctr">
            <a:spAutoFit/>
          </a:bodyPr>
          <a:lstStyle/>
          <a:p>
            <a:pPr algn="l">
              <a:lnSpc>
                <a:spcPct val="115000"/>
              </a:lnSpc>
            </a:pPr>
            <a:r>
              <a:rPr sz="1150" b="1" i="0">
                <a:solidFill>
                  <a:srgbClr val="21295C"/>
                </a:solidFill>
                <a:latin typeface="DejaVu Sans"/>
              </a:rPr>
              <a:t>Just Walk Out (Amazon), с 2018: 700/1000 транзакций — ручная проверка (14× выше цели 50/1000) </a:t>
            </a:r>
            <a:r>
              <a:rPr sz="598" baseline="30000" b="0" i="1">
                <a:latin typeface="DejaVu Sans"/>
                <a:cs typeface="DejaVu Sans"/>
                <a:ea typeface="DejaVu Sans"/>
                <a:solidFill>
                  <a:srgbClr val="1C7293"/>
                </a:solidFill>
              </a:rPr>
              <a:t>[1]</a:t>
            </a:r>
            <a:r>
              <a:rPr sz="1150" b="1" i="0">
                <a:latin typeface="DejaVu Sans"/>
                <a:cs typeface="DejaVu Sans"/>
                <a:ea typeface="DejaVu Sans"/>
                <a:solidFill>
                  <a:srgbClr val="21295C"/>
                </a:solidFill>
              </a:rPr>
              <a:t>. 6 лет маркетинга «автономный ИИ» без раскрытия масштаба труда (скрытая человеческая стоимость) </a:t>
            </a:r>
            <a:r>
              <a:rPr sz="598" baseline="30000" b="0" i="1">
                <a:latin typeface="DejaVu Sans"/>
                <a:cs typeface="DejaVu Sans"/>
                <a:ea typeface="DejaVu Sans"/>
                <a:solidFill>
                  <a:srgbClr val="1C7293"/>
                </a:solidFill>
              </a:rPr>
              <a:t>[2]</a:t>
            </a:r>
            <a:r>
              <a:rPr sz="1150" b="1" i="0">
                <a:latin typeface="DejaVu Sans"/>
                <a:cs typeface="DejaVu Sans"/>
                <a:ea typeface="DejaVu Sans"/>
                <a:solidFill>
                  <a:srgbClr val="21295C"/>
                </a:solidFill>
              </a:rPr>
              <a:t>.</a:t>
            </a:r>
          </a:p>
        </p:txBody>
      </p:sp>
      <p:sp>
        <p:nvSpPr>
          <p:cNvPr id="9" name="Rounded Rectangle 8"/>
          <p:cNvSpPr/>
          <p:nvPr/>
        </p:nvSpPr>
        <p:spPr>
          <a:xfrm>
            <a:off x="502920" y="3337560"/>
            <a:ext cx="11201400" cy="384048"/>
          </a:xfrm>
          <a:prstGeom prst="roundRect">
            <a:avLst>
              <a:gd name="adj" fmla="val 5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02920" y="3337560"/>
            <a:ext cx="11201400" cy="384048"/>
          </a:xfrm>
          <a:prstGeom prst="rect">
            <a:avLst/>
          </a:prstGeom>
          <a:noFill/>
        </p:spPr>
        <p:txBody>
          <a:bodyPr wrap="square" lIns="0" rIns="0" tIns="0" bIns="0" anchor="ctr">
            <a:spAutoFit/>
          </a:bodyPr>
          <a:lstStyle/>
          <a:p>
            <a:pPr algn="ctr">
              <a:lnSpc>
                <a:spcPct val="115000"/>
              </a:lnSpc>
            </a:pPr>
            <a:r>
              <a:rPr sz="1200" b="1" i="0">
                <a:solidFill>
                  <a:srgbClr val="FFFFFF"/>
                </a:solidFill>
                <a:latin typeface="DejaVu Sans"/>
              </a:rPr>
              <a:t>Фаза × что ИИ меняет × что остаётся из классики</a:t>
            </a:r>
          </a:p>
        </p:txBody>
      </p:sp>
      <p:sp>
        <p:nvSpPr>
          <p:cNvPr id="11" name="Rounded Rectangle 10"/>
          <p:cNvSpPr/>
          <p:nvPr/>
        </p:nvSpPr>
        <p:spPr>
          <a:xfrm>
            <a:off x="521208" y="3776472"/>
            <a:ext cx="1830323" cy="1234440"/>
          </a:xfrm>
          <a:prstGeom prst="roundRect">
            <a:avLst>
              <a:gd name="adj" fmla="val 22000"/>
            </a:avLst>
          </a:prstGeom>
          <a:solidFill>
            <a:srgbClr val="F4F7FA"/>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76072" y="3849624"/>
            <a:ext cx="1720596" cy="365760"/>
          </a:xfrm>
          <a:prstGeom prst="rect">
            <a:avLst/>
          </a:prstGeom>
          <a:noFill/>
        </p:spPr>
        <p:txBody>
          <a:bodyPr wrap="square" lIns="0" rIns="0" tIns="0" bIns="0" anchor="t">
            <a:spAutoFit/>
          </a:bodyPr>
          <a:lstStyle/>
          <a:p>
            <a:pPr algn="ctr">
              <a:lnSpc>
                <a:spcPct val="95000"/>
              </a:lnSpc>
            </a:pPr>
            <a:r>
              <a:rPr sz="1050" b="1" i="0">
                <a:solidFill>
                  <a:srgbClr val="21295C"/>
                </a:solidFill>
                <a:latin typeface="DejaVu Sans"/>
              </a:rPr>
              <a:t>Исследование</a:t>
            </a:r>
          </a:p>
        </p:txBody>
      </p:sp>
      <p:sp>
        <p:nvSpPr>
          <p:cNvPr id="13" name="TextBox 12"/>
          <p:cNvSpPr txBox="1"/>
          <p:nvPr/>
        </p:nvSpPr>
        <p:spPr>
          <a:xfrm>
            <a:off x="576072" y="4251960"/>
            <a:ext cx="1720596" cy="310896"/>
          </a:xfrm>
          <a:prstGeom prst="rect">
            <a:avLst/>
          </a:prstGeom>
          <a:noFill/>
        </p:spPr>
        <p:txBody>
          <a:bodyPr wrap="square" lIns="0" rIns="0" tIns="0" bIns="0" anchor="t">
            <a:spAutoFit/>
          </a:bodyPr>
          <a:lstStyle/>
          <a:p>
            <a:pPr algn="ctr">
              <a:lnSpc>
                <a:spcPct val="95000"/>
              </a:lnSpc>
            </a:pPr>
            <a:r>
              <a:rPr sz="900" b="0" i="0">
                <a:solidFill>
                  <a:srgbClr val="028090"/>
                </a:solidFill>
                <a:latin typeface="DejaVu Sans"/>
              </a:rPr>
              <a:t>синтез, кабинет.</a:t>
            </a:r>
          </a:p>
        </p:txBody>
      </p:sp>
      <p:sp>
        <p:nvSpPr>
          <p:cNvPr id="14" name="TextBox 13"/>
          <p:cNvSpPr txBox="1"/>
          <p:nvPr/>
        </p:nvSpPr>
        <p:spPr>
          <a:xfrm>
            <a:off x="576072" y="4636008"/>
            <a:ext cx="1720596" cy="310896"/>
          </a:xfrm>
          <a:prstGeom prst="rect">
            <a:avLst/>
          </a:prstGeom>
          <a:noFill/>
        </p:spPr>
        <p:txBody>
          <a:bodyPr wrap="square" lIns="0" rIns="0" tIns="0" bIns="0" anchor="t">
            <a:spAutoFit/>
          </a:bodyPr>
          <a:lstStyle/>
          <a:p>
            <a:pPr algn="ctr">
              <a:lnSpc>
                <a:spcPct val="95000"/>
              </a:lnSpc>
            </a:pPr>
            <a:r>
              <a:rPr sz="900" b="0" i="0">
                <a:solidFill>
                  <a:srgbClr val="5B6678"/>
                </a:solidFill>
                <a:latin typeface="DejaVu Sans"/>
              </a:rPr>
              <a:t>интервью</a:t>
            </a:r>
          </a:p>
        </p:txBody>
      </p:sp>
      <p:sp>
        <p:nvSpPr>
          <p:cNvPr id="15" name="Rounded Rectangle 14"/>
          <p:cNvSpPr/>
          <p:nvPr/>
        </p:nvSpPr>
        <p:spPr>
          <a:xfrm>
            <a:off x="2388108" y="3776472"/>
            <a:ext cx="1830323" cy="1234440"/>
          </a:xfrm>
          <a:prstGeom prst="roundRect">
            <a:avLst>
              <a:gd name="adj" fmla="val 22000"/>
            </a:avLst>
          </a:prstGeom>
          <a:solidFill>
            <a:srgbClr val="F4F7FA"/>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2442972" y="3849624"/>
            <a:ext cx="1720596" cy="365760"/>
          </a:xfrm>
          <a:prstGeom prst="rect">
            <a:avLst/>
          </a:prstGeom>
          <a:noFill/>
        </p:spPr>
        <p:txBody>
          <a:bodyPr wrap="square" lIns="0" rIns="0" tIns="0" bIns="0" anchor="t">
            <a:spAutoFit/>
          </a:bodyPr>
          <a:lstStyle/>
          <a:p>
            <a:pPr algn="ctr">
              <a:lnSpc>
                <a:spcPct val="95000"/>
              </a:lnSpc>
            </a:pPr>
            <a:r>
              <a:rPr sz="1050" b="1" i="0">
                <a:solidFill>
                  <a:srgbClr val="21295C"/>
                </a:solidFill>
                <a:latin typeface="DejaVu Sans"/>
              </a:rPr>
              <a:t>Дизайн</a:t>
            </a:r>
          </a:p>
        </p:txBody>
      </p:sp>
      <p:sp>
        <p:nvSpPr>
          <p:cNvPr id="17" name="TextBox 16"/>
          <p:cNvSpPr txBox="1"/>
          <p:nvPr/>
        </p:nvSpPr>
        <p:spPr>
          <a:xfrm>
            <a:off x="2442972" y="4251960"/>
            <a:ext cx="1720596" cy="310896"/>
          </a:xfrm>
          <a:prstGeom prst="rect">
            <a:avLst/>
          </a:prstGeom>
          <a:noFill/>
        </p:spPr>
        <p:txBody>
          <a:bodyPr wrap="square" lIns="0" rIns="0" tIns="0" bIns="0" anchor="t">
            <a:spAutoFit/>
          </a:bodyPr>
          <a:lstStyle/>
          <a:p>
            <a:pPr algn="ctr">
              <a:lnSpc>
                <a:spcPct val="95000"/>
              </a:lnSpc>
            </a:pPr>
            <a:r>
              <a:rPr sz="900" b="0" i="0">
                <a:solidFill>
                  <a:srgbClr val="028090"/>
                </a:solidFill>
                <a:latin typeface="DejaVu Sans"/>
              </a:rPr>
              <a:t>генерация</a:t>
            </a:r>
          </a:p>
        </p:txBody>
      </p:sp>
      <p:sp>
        <p:nvSpPr>
          <p:cNvPr id="18" name="TextBox 17"/>
          <p:cNvSpPr txBox="1"/>
          <p:nvPr/>
        </p:nvSpPr>
        <p:spPr>
          <a:xfrm>
            <a:off x="2442972" y="4636008"/>
            <a:ext cx="1720596" cy="310896"/>
          </a:xfrm>
          <a:prstGeom prst="rect">
            <a:avLst/>
          </a:prstGeom>
          <a:noFill/>
        </p:spPr>
        <p:txBody>
          <a:bodyPr wrap="square" lIns="0" rIns="0" tIns="0" bIns="0" anchor="t">
            <a:spAutoFit/>
          </a:bodyPr>
          <a:lstStyle/>
          <a:p>
            <a:pPr algn="ctr">
              <a:lnSpc>
                <a:spcPct val="95000"/>
              </a:lnSpc>
            </a:pPr>
            <a:r>
              <a:rPr sz="900" b="0" i="0">
                <a:solidFill>
                  <a:srgbClr val="5B6678"/>
                </a:solidFill>
                <a:latin typeface="DejaVu Sans"/>
              </a:rPr>
              <a:t>требов. безоп.</a:t>
            </a:r>
          </a:p>
        </p:txBody>
      </p:sp>
      <p:sp>
        <p:nvSpPr>
          <p:cNvPr id="19" name="Rounded Rectangle 18"/>
          <p:cNvSpPr/>
          <p:nvPr/>
        </p:nvSpPr>
        <p:spPr>
          <a:xfrm>
            <a:off x="4255007" y="3776472"/>
            <a:ext cx="1830323" cy="1234440"/>
          </a:xfrm>
          <a:prstGeom prst="roundRect">
            <a:avLst>
              <a:gd name="adj" fmla="val 22000"/>
            </a:avLst>
          </a:prstGeom>
          <a:solidFill>
            <a:srgbClr val="F4F7FA"/>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309872" y="3849624"/>
            <a:ext cx="1720596" cy="365760"/>
          </a:xfrm>
          <a:prstGeom prst="rect">
            <a:avLst/>
          </a:prstGeom>
          <a:noFill/>
        </p:spPr>
        <p:txBody>
          <a:bodyPr wrap="square" lIns="0" rIns="0" tIns="0" bIns="0" anchor="t">
            <a:spAutoFit/>
          </a:bodyPr>
          <a:lstStyle/>
          <a:p>
            <a:pPr algn="ctr">
              <a:lnSpc>
                <a:spcPct val="95000"/>
              </a:lnSpc>
            </a:pPr>
            <a:r>
              <a:rPr sz="1050" b="1" i="0">
                <a:solidFill>
                  <a:srgbClr val="21295C"/>
                </a:solidFill>
                <a:latin typeface="DejaVu Sans"/>
              </a:rPr>
              <a:t>Сборка/запуск</a:t>
            </a:r>
          </a:p>
        </p:txBody>
      </p:sp>
      <p:sp>
        <p:nvSpPr>
          <p:cNvPr id="21" name="TextBox 20"/>
          <p:cNvSpPr txBox="1"/>
          <p:nvPr/>
        </p:nvSpPr>
        <p:spPr>
          <a:xfrm>
            <a:off x="4309872" y="4251960"/>
            <a:ext cx="1720596" cy="310896"/>
          </a:xfrm>
          <a:prstGeom prst="rect">
            <a:avLst/>
          </a:prstGeom>
          <a:noFill/>
        </p:spPr>
        <p:txBody>
          <a:bodyPr wrap="square" lIns="0" rIns="0" tIns="0" bIns="0" anchor="t">
            <a:spAutoFit/>
          </a:bodyPr>
          <a:lstStyle/>
          <a:p>
            <a:pPr algn="ctr">
              <a:lnSpc>
                <a:spcPct val="95000"/>
              </a:lnSpc>
            </a:pPr>
            <a:r>
              <a:rPr sz="900" b="0" i="0">
                <a:solidFill>
                  <a:srgbClr val="028090"/>
                </a:solidFill>
                <a:latin typeface="DejaVu Sans"/>
              </a:rPr>
              <a:t>код ≈ бесплатно</a:t>
            </a:r>
          </a:p>
        </p:txBody>
      </p:sp>
      <p:sp>
        <p:nvSpPr>
          <p:cNvPr id="22" name="TextBox 21"/>
          <p:cNvSpPr txBox="1"/>
          <p:nvPr/>
        </p:nvSpPr>
        <p:spPr>
          <a:xfrm>
            <a:off x="4309872" y="4636008"/>
            <a:ext cx="1720596" cy="310896"/>
          </a:xfrm>
          <a:prstGeom prst="rect">
            <a:avLst/>
          </a:prstGeom>
          <a:noFill/>
        </p:spPr>
        <p:txBody>
          <a:bodyPr wrap="square" lIns="0" rIns="0" tIns="0" bIns="0" anchor="t">
            <a:spAutoFit/>
          </a:bodyPr>
          <a:lstStyle/>
          <a:p>
            <a:pPr algn="ctr">
              <a:lnSpc>
                <a:spcPct val="95000"/>
              </a:lnSpc>
            </a:pPr>
            <a:r>
              <a:rPr sz="900" b="0" i="0">
                <a:solidFill>
                  <a:srgbClr val="5B6678"/>
                </a:solidFill>
                <a:latin typeface="DejaVu Sans"/>
              </a:rPr>
              <a:t>ревью, kill-гейт</a:t>
            </a:r>
          </a:p>
        </p:txBody>
      </p:sp>
      <p:sp>
        <p:nvSpPr>
          <p:cNvPr id="23" name="Rounded Rectangle 22"/>
          <p:cNvSpPr/>
          <p:nvPr/>
        </p:nvSpPr>
        <p:spPr>
          <a:xfrm>
            <a:off x="6121907" y="3776472"/>
            <a:ext cx="1830323" cy="1234440"/>
          </a:xfrm>
          <a:prstGeom prst="roundRect">
            <a:avLst>
              <a:gd name="adj" fmla="val 22000"/>
            </a:avLst>
          </a:prstGeom>
          <a:solidFill>
            <a:srgbClr val="F4F7FA"/>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176772" y="3849624"/>
            <a:ext cx="1720596" cy="365760"/>
          </a:xfrm>
          <a:prstGeom prst="rect">
            <a:avLst/>
          </a:prstGeom>
          <a:noFill/>
        </p:spPr>
        <p:txBody>
          <a:bodyPr wrap="square" lIns="0" rIns="0" tIns="0" bIns="0" anchor="t">
            <a:spAutoFit/>
          </a:bodyPr>
          <a:lstStyle/>
          <a:p>
            <a:pPr algn="ctr">
              <a:lnSpc>
                <a:spcPct val="95000"/>
              </a:lnSpc>
            </a:pPr>
            <a:r>
              <a:rPr sz="1050" b="1" i="0">
                <a:solidFill>
                  <a:srgbClr val="21295C"/>
                </a:solidFill>
                <a:latin typeface="DejaVu Sans"/>
              </a:rPr>
              <a:t>Измерение</a:t>
            </a:r>
          </a:p>
        </p:txBody>
      </p:sp>
      <p:sp>
        <p:nvSpPr>
          <p:cNvPr id="25" name="TextBox 24"/>
          <p:cNvSpPr txBox="1"/>
          <p:nvPr/>
        </p:nvSpPr>
        <p:spPr>
          <a:xfrm>
            <a:off x="6176772" y="4251960"/>
            <a:ext cx="1720596" cy="310896"/>
          </a:xfrm>
          <a:prstGeom prst="rect">
            <a:avLst/>
          </a:prstGeom>
          <a:noFill/>
        </p:spPr>
        <p:txBody>
          <a:bodyPr wrap="square" lIns="0" rIns="0" tIns="0" bIns="0" anchor="t">
            <a:spAutoFit/>
          </a:bodyPr>
          <a:lstStyle/>
          <a:p>
            <a:pPr algn="ctr">
              <a:lnSpc>
                <a:spcPct val="95000"/>
              </a:lnSpc>
            </a:pPr>
            <a:r>
              <a:rPr sz="900" b="0" i="0">
                <a:solidFill>
                  <a:srgbClr val="028090"/>
                </a:solidFill>
                <a:latin typeface="DejaVu Sans"/>
              </a:rPr>
              <a:t>оценки (evals)</a:t>
            </a:r>
          </a:p>
        </p:txBody>
      </p:sp>
      <p:sp>
        <p:nvSpPr>
          <p:cNvPr id="26" name="TextBox 25"/>
          <p:cNvSpPr txBox="1"/>
          <p:nvPr/>
        </p:nvSpPr>
        <p:spPr>
          <a:xfrm>
            <a:off x="6176772" y="4636008"/>
            <a:ext cx="1720596" cy="310896"/>
          </a:xfrm>
          <a:prstGeom prst="rect">
            <a:avLst/>
          </a:prstGeom>
          <a:noFill/>
        </p:spPr>
        <p:txBody>
          <a:bodyPr wrap="square" lIns="0" rIns="0" tIns="0" bIns="0" anchor="t">
            <a:spAutoFit/>
          </a:bodyPr>
          <a:lstStyle/>
          <a:p>
            <a:pPr algn="ctr">
              <a:lnSpc>
                <a:spcPct val="95000"/>
              </a:lnSpc>
            </a:pPr>
            <a:r>
              <a:rPr sz="900" b="0" i="0">
                <a:solidFill>
                  <a:srgbClr val="5B6678"/>
                </a:solidFill>
                <a:latin typeface="DejaVu Sans"/>
              </a:rPr>
              <a:t>рандомизация</a:t>
            </a:r>
          </a:p>
        </p:txBody>
      </p:sp>
      <p:sp>
        <p:nvSpPr>
          <p:cNvPr id="27" name="Rounded Rectangle 26"/>
          <p:cNvSpPr/>
          <p:nvPr/>
        </p:nvSpPr>
        <p:spPr>
          <a:xfrm>
            <a:off x="7988808" y="3776472"/>
            <a:ext cx="1830323" cy="1234440"/>
          </a:xfrm>
          <a:prstGeom prst="roundRect">
            <a:avLst>
              <a:gd name="adj" fmla="val 22000"/>
            </a:avLst>
          </a:prstGeom>
          <a:solidFill>
            <a:srgbClr val="F4F7FA"/>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043672" y="3849624"/>
            <a:ext cx="1720596" cy="365760"/>
          </a:xfrm>
          <a:prstGeom prst="rect">
            <a:avLst/>
          </a:prstGeom>
          <a:noFill/>
        </p:spPr>
        <p:txBody>
          <a:bodyPr wrap="square" lIns="0" rIns="0" tIns="0" bIns="0" anchor="t">
            <a:spAutoFit/>
          </a:bodyPr>
          <a:lstStyle/>
          <a:p>
            <a:pPr algn="ctr">
              <a:lnSpc>
                <a:spcPct val="95000"/>
              </a:lnSpc>
            </a:pPr>
            <a:r>
              <a:rPr sz="1050" b="1" i="0">
                <a:solidFill>
                  <a:srgbClr val="21295C"/>
                </a:solidFill>
                <a:latin typeface="DejaVu Sans"/>
              </a:rPr>
              <a:t>Поддержка</a:t>
            </a:r>
          </a:p>
        </p:txBody>
      </p:sp>
      <p:sp>
        <p:nvSpPr>
          <p:cNvPr id="29" name="TextBox 28"/>
          <p:cNvSpPr txBox="1"/>
          <p:nvPr/>
        </p:nvSpPr>
        <p:spPr>
          <a:xfrm>
            <a:off x="8043672" y="4251960"/>
            <a:ext cx="1720596" cy="310896"/>
          </a:xfrm>
          <a:prstGeom prst="rect">
            <a:avLst/>
          </a:prstGeom>
          <a:noFill/>
        </p:spPr>
        <p:txBody>
          <a:bodyPr wrap="square" lIns="0" rIns="0" tIns="0" bIns="0" anchor="t">
            <a:spAutoFit/>
          </a:bodyPr>
          <a:lstStyle/>
          <a:p>
            <a:pPr algn="ctr">
              <a:lnSpc>
                <a:spcPct val="95000"/>
              </a:lnSpc>
            </a:pPr>
            <a:r>
              <a:rPr sz="900" b="0" i="0">
                <a:solidFill>
                  <a:srgbClr val="028090"/>
                </a:solidFill>
                <a:latin typeface="DejaVu Sans"/>
              </a:rPr>
              <a:t>трейсинг</a:t>
            </a:r>
          </a:p>
        </p:txBody>
      </p:sp>
      <p:sp>
        <p:nvSpPr>
          <p:cNvPr id="30" name="TextBox 29"/>
          <p:cNvSpPr txBox="1"/>
          <p:nvPr/>
        </p:nvSpPr>
        <p:spPr>
          <a:xfrm>
            <a:off x="8043672" y="4636008"/>
            <a:ext cx="1720596" cy="310896"/>
          </a:xfrm>
          <a:prstGeom prst="rect">
            <a:avLst/>
          </a:prstGeom>
          <a:noFill/>
        </p:spPr>
        <p:txBody>
          <a:bodyPr wrap="square" lIns="0" rIns="0" tIns="0" bIns="0" anchor="t">
            <a:spAutoFit/>
          </a:bodyPr>
          <a:lstStyle/>
          <a:p>
            <a:pPr algn="ctr">
              <a:lnSpc>
                <a:spcPct val="95000"/>
              </a:lnSpc>
            </a:pPr>
            <a:r>
              <a:rPr sz="900" b="0" i="0">
                <a:solidFill>
                  <a:srgbClr val="5B6678"/>
                </a:solidFill>
                <a:latin typeface="DejaVu Sans"/>
              </a:rPr>
              <a:t>эскалация</a:t>
            </a:r>
          </a:p>
        </p:txBody>
      </p:sp>
      <p:sp>
        <p:nvSpPr>
          <p:cNvPr id="31" name="Rounded Rectangle 30"/>
          <p:cNvSpPr/>
          <p:nvPr/>
        </p:nvSpPr>
        <p:spPr>
          <a:xfrm>
            <a:off x="9855708" y="3776472"/>
            <a:ext cx="1830323" cy="1234440"/>
          </a:xfrm>
          <a:prstGeom prst="roundRect">
            <a:avLst>
              <a:gd name="adj" fmla="val 22000"/>
            </a:avLst>
          </a:prstGeom>
          <a:solidFill>
            <a:srgbClr val="F4F7FA"/>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9910572" y="3849624"/>
            <a:ext cx="1720596" cy="365760"/>
          </a:xfrm>
          <a:prstGeom prst="rect">
            <a:avLst/>
          </a:prstGeom>
          <a:noFill/>
        </p:spPr>
        <p:txBody>
          <a:bodyPr wrap="square" lIns="0" rIns="0" tIns="0" bIns="0" anchor="t">
            <a:spAutoFit/>
          </a:bodyPr>
          <a:lstStyle/>
          <a:p>
            <a:pPr algn="ctr">
              <a:lnSpc>
                <a:spcPct val="95000"/>
              </a:lnSpc>
            </a:pPr>
            <a:r>
              <a:rPr sz="1050" b="1" i="0">
                <a:solidFill>
                  <a:srgbClr val="21295C"/>
                </a:solidFill>
                <a:latin typeface="DejaVu Sans"/>
              </a:rPr>
              <a:t>Управление</a:t>
            </a:r>
          </a:p>
        </p:txBody>
      </p:sp>
      <p:sp>
        <p:nvSpPr>
          <p:cNvPr id="33" name="TextBox 32"/>
          <p:cNvSpPr txBox="1"/>
          <p:nvPr/>
        </p:nvSpPr>
        <p:spPr>
          <a:xfrm>
            <a:off x="9910572" y="4251960"/>
            <a:ext cx="1720596" cy="310896"/>
          </a:xfrm>
          <a:prstGeom prst="rect">
            <a:avLst/>
          </a:prstGeom>
          <a:noFill/>
        </p:spPr>
        <p:txBody>
          <a:bodyPr wrap="square" lIns="0" rIns="0" tIns="0" bIns="0" anchor="t">
            <a:spAutoFit/>
          </a:bodyPr>
          <a:lstStyle/>
          <a:p>
            <a:pPr algn="ctr">
              <a:lnSpc>
                <a:spcPct val="95000"/>
              </a:lnSpc>
            </a:pPr>
            <a:r>
              <a:rPr sz="900" b="0" i="0">
                <a:solidFill>
                  <a:srgbClr val="028090"/>
                </a:solidFill>
                <a:latin typeface="DejaVu Sans"/>
              </a:rPr>
              <a:t>операц. модель</a:t>
            </a:r>
          </a:p>
        </p:txBody>
      </p:sp>
      <p:sp>
        <p:nvSpPr>
          <p:cNvPr id="34" name="TextBox 33"/>
          <p:cNvSpPr txBox="1"/>
          <p:nvPr/>
        </p:nvSpPr>
        <p:spPr>
          <a:xfrm>
            <a:off x="9910572" y="4636008"/>
            <a:ext cx="1720596" cy="310896"/>
          </a:xfrm>
          <a:prstGeom prst="rect">
            <a:avLst/>
          </a:prstGeom>
          <a:noFill/>
        </p:spPr>
        <p:txBody>
          <a:bodyPr wrap="square" lIns="0" rIns="0" tIns="0" bIns="0" anchor="t">
            <a:spAutoFit/>
          </a:bodyPr>
          <a:lstStyle/>
          <a:p>
            <a:pPr algn="ctr">
              <a:lnSpc>
                <a:spcPct val="95000"/>
              </a:lnSpc>
            </a:pPr>
            <a:r>
              <a:rPr sz="900" b="0" i="0">
                <a:solidFill>
                  <a:srgbClr val="5B6678"/>
                </a:solidFill>
                <a:latin typeface="DejaVu Sans"/>
              </a:rPr>
              <a:t>стоим./запрос</a:t>
            </a:r>
          </a:p>
        </p:txBody>
      </p:sp>
      <p:sp>
        <p:nvSpPr>
          <p:cNvPr id="35" name="TextBox 34"/>
          <p:cNvSpPr txBox="1"/>
          <p:nvPr/>
        </p:nvSpPr>
        <p:spPr>
          <a:xfrm>
            <a:off x="502920" y="6455664"/>
            <a:ext cx="11201400" cy="548640"/>
          </a:xfrm>
          <a:prstGeom prst="rect">
            <a:avLst/>
          </a:prstGeom>
          <a:noFill/>
        </p:spPr>
        <p:txBody>
          <a:bodyPr wrap="square" lIns="0" rIns="0" tIns="0" bIns="0" anchor="t">
            <a:spAutoFit/>
          </a:bodyPr>
          <a:lstStyle/>
          <a:p>
            <a:pPr algn="l">
              <a:lnSpc>
                <a:spcPct val="102000"/>
              </a:lnSpc>
            </a:pPr>
            <a:r>
              <a:rPr sz="850" b="1" i="1">
                <a:solidFill>
                  <a:srgbClr val="065A82"/>
                </a:solidFill>
                <a:latin typeface="DejaVu Sans"/>
              </a:rPr>
              <a:t>[1] </a:t>
            </a:r>
            <a:r>
              <a:rPr sz="850" i="1">
                <a:solidFill>
                  <a:srgbClr val="1C7293"/>
                </a:solidFill>
                <a:latin typeface="DejaVu Sans"/>
                <a:hlinkClick r:id="rId4"/>
              </a:rPr>
              <a:t>Business Standard (апр. 2024) — Just Walk Out</a:t>
            </a:r>
            <a:r>
              <a:rPr sz="850" i="1">
                <a:solidFill>
                  <a:srgbClr val="1C7293"/>
                </a:solidFill>
                <a:latin typeface="DejaVu Sans"/>
              </a:rPr>
              <a:t>   ·   </a:t>
            </a:r>
            <a:r>
              <a:rPr sz="850" b="1" i="1">
                <a:solidFill>
                  <a:srgbClr val="065A82"/>
                </a:solidFill>
                <a:latin typeface="DejaVu Sans"/>
              </a:rPr>
              <a:t>[2] </a:t>
            </a:r>
            <a:r>
              <a:rPr sz="850" i="1">
                <a:solidFill>
                  <a:srgbClr val="1C7293"/>
                </a:solidFill>
                <a:latin typeface="DejaVu Sans"/>
                <a:hlinkClick r:id="rId5"/>
              </a:rPr>
              <a:t>Retail Dive — демонтаж Just Walk Out</a:t>
            </a:r>
          </a:p>
        </p:txBody>
      </p:sp>
      <p:sp>
        <p:nvSpPr>
          <p:cNvPr id="36" name="TextBox 35"/>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55 / 56</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201168"/>
            <a:ext cx="11247120" cy="566928"/>
          </a:xfrm>
          <a:prstGeom prst="rect">
            <a:avLst/>
          </a:prstGeom>
          <a:noFill/>
        </p:spPr>
        <p:txBody>
          <a:bodyPr wrap="square" lIns="0" rIns="0" tIns="0" bIns="0" anchor="t">
            <a:spAutoFit/>
          </a:bodyPr>
          <a:lstStyle/>
          <a:p>
            <a:pPr algn="l">
              <a:lnSpc>
                <a:spcPct val="110000"/>
              </a:lnSpc>
            </a:pPr>
            <a:r>
              <a:rPr sz="2000" b="1" i="0">
                <a:solidFill>
                  <a:srgbClr val="21295C"/>
                </a:solidFill>
                <a:latin typeface="DejaVu Sans"/>
              </a:rPr>
              <a:t>Сборка бесплатна — дефицит теперь: суждение, а не исполнение</a:t>
            </a:r>
          </a:p>
        </p:txBody>
      </p:sp>
      <p:sp>
        <p:nvSpPr>
          <p:cNvPr id="3" name="Rounded Rectangle 2"/>
          <p:cNvSpPr/>
          <p:nvPr/>
        </p:nvSpPr>
        <p:spPr>
          <a:xfrm>
            <a:off x="502920" y="841248"/>
            <a:ext cx="11201400" cy="3246120"/>
          </a:xfrm>
          <a:prstGeom prst="roundRect">
            <a:avLst>
              <a:gd name="adj" fmla="val 9389"/>
            </a:avLst>
          </a:prstGeom>
          <a:solidFill>
            <a:srgbClr val="FFFFFF"/>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s49-missioncontrol-crop.png"/>
          <p:cNvPicPr>
            <a:picLocks noChangeAspect="1"/>
          </p:cNvPicPr>
          <p:nvPr/>
        </p:nvPicPr>
        <p:blipFill>
          <a:blip r:embed="rId2"/>
          <a:stretch>
            <a:fillRect/>
          </a:stretch>
        </p:blipFill>
        <p:spPr>
          <a:xfrm>
            <a:off x="773409" y="923544"/>
            <a:ext cx="10660418" cy="3081527"/>
          </a:xfrm>
          <a:prstGeom prst="rect">
            <a:avLst/>
          </a:prstGeom>
        </p:spPr>
      </p:pic>
      <p:sp>
        <p:nvSpPr>
          <p:cNvPr id="5" name="TextBox 4"/>
          <p:cNvSpPr txBox="1"/>
          <p:nvPr/>
        </p:nvSpPr>
        <p:spPr>
          <a:xfrm>
            <a:off x="640080" y="4114800"/>
            <a:ext cx="8229600" cy="256032"/>
          </a:xfrm>
          <a:prstGeom prst="rect">
            <a:avLst/>
          </a:prstGeom>
          <a:noFill/>
        </p:spPr>
        <p:txBody>
          <a:bodyPr wrap="square" lIns="0" rIns="0" tIns="0" bIns="0" anchor="t">
            <a:spAutoFit/>
          </a:bodyPr>
          <a:lstStyle/>
          <a:p>
            <a:pPr algn="l">
              <a:lnSpc>
                <a:spcPct val="115000"/>
              </a:lnSpc>
            </a:pPr>
            <a:r>
              <a:rPr sz="1050" b="0" i="1">
                <a:solidFill>
                  <a:srgbClr val="5B6678"/>
                </a:solidFill>
                <a:latin typeface="DejaVu Sans"/>
              </a:rPr>
              <a:t>Центр управления NASA, Apollo 16 — люди принимают решение, пока автоматика работает</a:t>
            </a:r>
          </a:p>
        </p:txBody>
      </p:sp>
      <p:sp>
        <p:nvSpPr>
          <p:cNvPr id="6" name="Rounded Rectangle 5"/>
          <p:cNvSpPr/>
          <p:nvPr/>
        </p:nvSpPr>
        <p:spPr>
          <a:xfrm>
            <a:off x="502920" y="4407408"/>
            <a:ext cx="11201400" cy="566928"/>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22376" y="4462272"/>
            <a:ext cx="10762488" cy="457200"/>
          </a:xfrm>
          <a:prstGeom prst="rect">
            <a:avLst/>
          </a:prstGeom>
          <a:noFill/>
        </p:spPr>
        <p:txBody>
          <a:bodyPr wrap="square" lIns="0" rIns="0" tIns="0" bIns="0" anchor="ctr">
            <a:spAutoFit/>
          </a:bodyPr>
          <a:lstStyle/>
          <a:p>
            <a:pPr algn="l">
              <a:lnSpc>
                <a:spcPct val="120000"/>
              </a:lnSpc>
            </a:pPr>
            <a:r>
              <a:rPr sz="1250" b="1" i="0">
                <a:solidFill>
                  <a:srgbClr val="21295C"/>
                </a:solidFill>
                <a:latin typeface="DejaVu Sans"/>
              </a:rPr>
              <a:t>Когда исполнение почти бесплатно, дефицитный ресурс — суждение: отличить сигнал от шума и удержать намерение и ответственность на человеке.</a:t>
            </a:r>
          </a:p>
        </p:txBody>
      </p:sp>
      <p:sp>
        <p:nvSpPr>
          <p:cNvPr id="8" name="Rounded Rectangle 7"/>
          <p:cNvSpPr/>
          <p:nvPr/>
        </p:nvSpPr>
        <p:spPr>
          <a:xfrm>
            <a:off x="502920" y="5084064"/>
            <a:ext cx="4937760" cy="292608"/>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wrap="none"/>
          <a:lstStyle/>
          <a:p>
            <a:pPr algn="ctr"/>
            <a:r>
              <a:rPr sz="1050" b="1">
                <a:solidFill>
                  <a:srgbClr val="21295C"/>
                </a:solidFill>
                <a:latin typeface="DejaVu Sans"/>
              </a:rPr>
              <a:t>Чек-лист «прежде чем делать фазу AI-first»</a:t>
            </a:r>
          </a:p>
        </p:txBody>
      </p:sp>
      <p:pic>
        <p:nvPicPr>
          <p:cNvPr id="9" name="Picture 8" descr="circle-check-teal.png"/>
          <p:cNvPicPr>
            <a:picLocks noChangeAspect="1"/>
          </p:cNvPicPr>
          <p:nvPr/>
        </p:nvPicPr>
        <p:blipFill>
          <a:blip r:embed="rId3"/>
          <a:stretch>
            <a:fillRect/>
          </a:stretch>
        </p:blipFill>
        <p:spPr>
          <a:xfrm>
            <a:off x="502920" y="5468112"/>
            <a:ext cx="219456" cy="219456"/>
          </a:xfrm>
          <a:prstGeom prst="rect">
            <a:avLst/>
          </a:prstGeom>
        </p:spPr>
      </p:pic>
      <p:sp>
        <p:nvSpPr>
          <p:cNvPr id="10" name="TextBox 9"/>
          <p:cNvSpPr txBox="1"/>
          <p:nvPr/>
        </p:nvSpPr>
        <p:spPr>
          <a:xfrm>
            <a:off x="777240" y="5440680"/>
            <a:ext cx="2450592" cy="457200"/>
          </a:xfrm>
          <a:prstGeom prst="rect">
            <a:avLst/>
          </a:prstGeom>
          <a:noFill/>
        </p:spPr>
        <p:txBody>
          <a:bodyPr wrap="square" lIns="0" rIns="0" tIns="0" bIns="0" anchor="ctr">
            <a:spAutoFit/>
          </a:bodyPr>
          <a:lstStyle/>
          <a:p>
            <a:pPr algn="l">
              <a:lnSpc>
                <a:spcPct val="95000"/>
              </a:lnSpc>
            </a:pPr>
            <a:r>
              <a:rPr sz="919" b="0" i="0">
                <a:solidFill>
                  <a:srgbClr val="21295C"/>
                </a:solidFill>
                <a:latin typeface="DejaVu Sans"/>
              </a:rPr>
              <a:t>1. Классика на месте?</a:t>
            </a:r>
          </a:p>
        </p:txBody>
      </p:sp>
      <p:pic>
        <p:nvPicPr>
          <p:cNvPr id="11" name="Picture 10" descr="circle-check-teal.png"/>
          <p:cNvPicPr>
            <a:picLocks noChangeAspect="1"/>
          </p:cNvPicPr>
          <p:nvPr/>
        </p:nvPicPr>
        <p:blipFill>
          <a:blip r:embed="rId3"/>
          <a:stretch>
            <a:fillRect/>
          </a:stretch>
        </p:blipFill>
        <p:spPr>
          <a:xfrm>
            <a:off x="3337560" y="5468112"/>
            <a:ext cx="219456" cy="219456"/>
          </a:xfrm>
          <a:prstGeom prst="rect">
            <a:avLst/>
          </a:prstGeom>
        </p:spPr>
      </p:pic>
      <p:sp>
        <p:nvSpPr>
          <p:cNvPr id="12" name="TextBox 11"/>
          <p:cNvSpPr txBox="1"/>
          <p:nvPr/>
        </p:nvSpPr>
        <p:spPr>
          <a:xfrm>
            <a:off x="3611880" y="5440680"/>
            <a:ext cx="2450592" cy="457200"/>
          </a:xfrm>
          <a:prstGeom prst="rect">
            <a:avLst/>
          </a:prstGeom>
          <a:noFill/>
        </p:spPr>
        <p:txBody>
          <a:bodyPr wrap="square" lIns="0" rIns="0" tIns="0" bIns="0" anchor="ctr">
            <a:spAutoFit/>
          </a:bodyPr>
          <a:lstStyle/>
          <a:p>
            <a:pPr algn="l">
              <a:lnSpc>
                <a:spcPct val="95000"/>
              </a:lnSpc>
            </a:pPr>
            <a:r>
              <a:rPr sz="919" b="0" i="0">
                <a:solidFill>
                  <a:srgbClr val="21295C"/>
                </a:solidFill>
                <a:latin typeface="DejaVu Sans"/>
              </a:rPr>
              <a:t>2. Стоит ли доверие цены?</a:t>
            </a:r>
          </a:p>
        </p:txBody>
      </p:sp>
      <p:pic>
        <p:nvPicPr>
          <p:cNvPr id="13" name="Picture 12" descr="circle-check-teal.png"/>
          <p:cNvPicPr>
            <a:picLocks noChangeAspect="1"/>
          </p:cNvPicPr>
          <p:nvPr/>
        </p:nvPicPr>
        <p:blipFill>
          <a:blip r:embed="rId3"/>
          <a:stretch>
            <a:fillRect/>
          </a:stretch>
        </p:blipFill>
        <p:spPr>
          <a:xfrm>
            <a:off x="6172200" y="5468112"/>
            <a:ext cx="219456" cy="219456"/>
          </a:xfrm>
          <a:prstGeom prst="rect">
            <a:avLst/>
          </a:prstGeom>
        </p:spPr>
      </p:pic>
      <p:sp>
        <p:nvSpPr>
          <p:cNvPr id="14" name="TextBox 13"/>
          <p:cNvSpPr txBox="1"/>
          <p:nvPr/>
        </p:nvSpPr>
        <p:spPr>
          <a:xfrm>
            <a:off x="6446520" y="5440680"/>
            <a:ext cx="2450592" cy="457200"/>
          </a:xfrm>
          <a:prstGeom prst="rect">
            <a:avLst/>
          </a:prstGeom>
          <a:noFill/>
        </p:spPr>
        <p:txBody>
          <a:bodyPr wrap="square" lIns="0" rIns="0" tIns="0" bIns="0" anchor="ctr">
            <a:spAutoFit/>
          </a:bodyPr>
          <a:lstStyle/>
          <a:p>
            <a:pPr algn="l">
              <a:lnSpc>
                <a:spcPct val="95000"/>
              </a:lnSpc>
            </a:pPr>
            <a:r>
              <a:rPr sz="919" b="0" i="0">
                <a:solidFill>
                  <a:srgbClr val="21295C"/>
                </a:solidFill>
                <a:latin typeface="DejaVu Sans"/>
              </a:rPr>
              <a:t>3. Есть эталонный набор и eval?</a:t>
            </a:r>
          </a:p>
        </p:txBody>
      </p:sp>
      <p:pic>
        <p:nvPicPr>
          <p:cNvPr id="15" name="Picture 14" descr="circle-check-teal.png"/>
          <p:cNvPicPr>
            <a:picLocks noChangeAspect="1"/>
          </p:cNvPicPr>
          <p:nvPr/>
        </p:nvPicPr>
        <p:blipFill>
          <a:blip r:embed="rId3"/>
          <a:stretch>
            <a:fillRect/>
          </a:stretch>
        </p:blipFill>
        <p:spPr>
          <a:xfrm>
            <a:off x="9006840" y="5468112"/>
            <a:ext cx="219456" cy="219456"/>
          </a:xfrm>
          <a:prstGeom prst="rect">
            <a:avLst/>
          </a:prstGeom>
        </p:spPr>
      </p:pic>
      <p:sp>
        <p:nvSpPr>
          <p:cNvPr id="16" name="TextBox 15"/>
          <p:cNvSpPr txBox="1"/>
          <p:nvPr/>
        </p:nvSpPr>
        <p:spPr>
          <a:xfrm>
            <a:off x="9281160" y="5440680"/>
            <a:ext cx="2450592" cy="457200"/>
          </a:xfrm>
          <a:prstGeom prst="rect">
            <a:avLst/>
          </a:prstGeom>
          <a:noFill/>
        </p:spPr>
        <p:txBody>
          <a:bodyPr wrap="square" lIns="0" rIns="0" tIns="0" bIns="0" anchor="ctr">
            <a:spAutoFit/>
          </a:bodyPr>
          <a:lstStyle/>
          <a:p>
            <a:pPr algn="l">
              <a:lnSpc>
                <a:spcPct val="95000"/>
              </a:lnSpc>
            </a:pPr>
            <a:r>
              <a:rPr sz="919" b="0" i="0">
                <a:solidFill>
                  <a:srgbClr val="21295C"/>
                </a:solidFill>
                <a:latin typeface="DejaVu Sans"/>
              </a:rPr>
              <a:t>4. Есть guardrail-метрика?</a:t>
            </a:r>
          </a:p>
        </p:txBody>
      </p:sp>
      <p:pic>
        <p:nvPicPr>
          <p:cNvPr id="17" name="Picture 16" descr="circle-check-teal.png"/>
          <p:cNvPicPr>
            <a:picLocks noChangeAspect="1"/>
          </p:cNvPicPr>
          <p:nvPr/>
        </p:nvPicPr>
        <p:blipFill>
          <a:blip r:embed="rId3"/>
          <a:stretch>
            <a:fillRect/>
          </a:stretch>
        </p:blipFill>
        <p:spPr>
          <a:xfrm>
            <a:off x="502920" y="5971032"/>
            <a:ext cx="219456" cy="219456"/>
          </a:xfrm>
          <a:prstGeom prst="rect">
            <a:avLst/>
          </a:prstGeom>
        </p:spPr>
      </p:pic>
      <p:sp>
        <p:nvSpPr>
          <p:cNvPr id="18" name="TextBox 17"/>
          <p:cNvSpPr txBox="1"/>
          <p:nvPr/>
        </p:nvSpPr>
        <p:spPr>
          <a:xfrm>
            <a:off x="777240" y="5943600"/>
            <a:ext cx="2450592" cy="457200"/>
          </a:xfrm>
          <a:prstGeom prst="rect">
            <a:avLst/>
          </a:prstGeom>
          <a:noFill/>
        </p:spPr>
        <p:txBody>
          <a:bodyPr wrap="square" lIns="0" rIns="0" tIns="0" bIns="0" anchor="ctr">
            <a:spAutoFit/>
          </a:bodyPr>
          <a:lstStyle/>
          <a:p>
            <a:pPr algn="l">
              <a:lnSpc>
                <a:spcPct val="95000"/>
              </a:lnSpc>
            </a:pPr>
            <a:r>
              <a:rPr sz="919" b="0" i="0">
                <a:solidFill>
                  <a:srgbClr val="21295C"/>
                </a:solidFill>
                <a:latin typeface="DejaVu Sans"/>
              </a:rPr>
              <a:t>5. Поэтапная раскатка + откат?</a:t>
            </a:r>
          </a:p>
        </p:txBody>
      </p:sp>
      <p:pic>
        <p:nvPicPr>
          <p:cNvPr id="19" name="Picture 18" descr="circle-check-teal.png"/>
          <p:cNvPicPr>
            <a:picLocks noChangeAspect="1"/>
          </p:cNvPicPr>
          <p:nvPr/>
        </p:nvPicPr>
        <p:blipFill>
          <a:blip r:embed="rId3"/>
          <a:stretch>
            <a:fillRect/>
          </a:stretch>
        </p:blipFill>
        <p:spPr>
          <a:xfrm>
            <a:off x="3337560" y="5971032"/>
            <a:ext cx="219456" cy="219456"/>
          </a:xfrm>
          <a:prstGeom prst="rect">
            <a:avLst/>
          </a:prstGeom>
        </p:spPr>
      </p:pic>
      <p:sp>
        <p:nvSpPr>
          <p:cNvPr id="20" name="TextBox 19"/>
          <p:cNvSpPr txBox="1"/>
          <p:nvPr/>
        </p:nvSpPr>
        <p:spPr>
          <a:xfrm>
            <a:off x="3611880" y="5943600"/>
            <a:ext cx="2450592" cy="457200"/>
          </a:xfrm>
          <a:prstGeom prst="rect">
            <a:avLst/>
          </a:prstGeom>
          <a:noFill/>
        </p:spPr>
        <p:txBody>
          <a:bodyPr wrap="square" lIns="0" rIns="0" tIns="0" bIns="0" anchor="ctr">
            <a:spAutoFit/>
          </a:bodyPr>
          <a:lstStyle/>
          <a:p>
            <a:pPr algn="l">
              <a:lnSpc>
                <a:spcPct val="95000"/>
              </a:lnSpc>
            </a:pPr>
            <a:r>
              <a:rPr sz="919" b="0" i="0">
                <a:solidFill>
                  <a:srgbClr val="21295C"/>
                </a:solidFill>
                <a:latin typeface="DejaVu Sans"/>
              </a:rPr>
              <a:t>6. Эскалация к человеку гарантирована?</a:t>
            </a:r>
          </a:p>
        </p:txBody>
      </p:sp>
      <p:pic>
        <p:nvPicPr>
          <p:cNvPr id="21" name="Picture 20" descr="circle-check-teal.png"/>
          <p:cNvPicPr>
            <a:picLocks noChangeAspect="1"/>
          </p:cNvPicPr>
          <p:nvPr/>
        </p:nvPicPr>
        <p:blipFill>
          <a:blip r:embed="rId3"/>
          <a:stretch>
            <a:fillRect/>
          </a:stretch>
        </p:blipFill>
        <p:spPr>
          <a:xfrm>
            <a:off x="6172200" y="5971032"/>
            <a:ext cx="219456" cy="219456"/>
          </a:xfrm>
          <a:prstGeom prst="rect">
            <a:avLst/>
          </a:prstGeom>
        </p:spPr>
      </p:pic>
      <p:sp>
        <p:nvSpPr>
          <p:cNvPr id="22" name="TextBox 21"/>
          <p:cNvSpPr txBox="1"/>
          <p:nvPr/>
        </p:nvSpPr>
        <p:spPr>
          <a:xfrm>
            <a:off x="6446520" y="5943600"/>
            <a:ext cx="2450592" cy="457200"/>
          </a:xfrm>
          <a:prstGeom prst="rect">
            <a:avLst/>
          </a:prstGeom>
          <a:noFill/>
        </p:spPr>
        <p:txBody>
          <a:bodyPr wrap="square" lIns="0" rIns="0" tIns="0" bIns="0" anchor="ctr">
            <a:spAutoFit/>
          </a:bodyPr>
          <a:lstStyle/>
          <a:p>
            <a:pPr algn="l">
              <a:lnSpc>
                <a:spcPct val="95000"/>
              </a:lnSpc>
            </a:pPr>
            <a:r>
              <a:rPr sz="919" b="0" i="0">
                <a:solidFill>
                  <a:srgbClr val="21295C"/>
                </a:solidFill>
                <a:latin typeface="DejaVu Sans"/>
              </a:rPr>
              <a:t>7. Кто отвечает?</a:t>
            </a:r>
          </a:p>
        </p:txBody>
      </p:sp>
      <p:pic>
        <p:nvPicPr>
          <p:cNvPr id="23" name="Picture 22" descr="circle-check-teal.png"/>
          <p:cNvPicPr>
            <a:picLocks noChangeAspect="1"/>
          </p:cNvPicPr>
          <p:nvPr/>
        </p:nvPicPr>
        <p:blipFill>
          <a:blip r:embed="rId3"/>
          <a:stretch>
            <a:fillRect/>
          </a:stretch>
        </p:blipFill>
        <p:spPr>
          <a:xfrm>
            <a:off x="9006840" y="5971032"/>
            <a:ext cx="219456" cy="219456"/>
          </a:xfrm>
          <a:prstGeom prst="rect">
            <a:avLst/>
          </a:prstGeom>
        </p:spPr>
      </p:pic>
      <p:sp>
        <p:nvSpPr>
          <p:cNvPr id="24" name="TextBox 23"/>
          <p:cNvSpPr txBox="1"/>
          <p:nvPr/>
        </p:nvSpPr>
        <p:spPr>
          <a:xfrm>
            <a:off x="9281160" y="5943600"/>
            <a:ext cx="2450592" cy="457200"/>
          </a:xfrm>
          <a:prstGeom prst="rect">
            <a:avLst/>
          </a:prstGeom>
          <a:noFill/>
        </p:spPr>
        <p:txBody>
          <a:bodyPr wrap="square" lIns="0" rIns="0" tIns="0" bIns="0" anchor="ctr">
            <a:spAutoFit/>
          </a:bodyPr>
          <a:lstStyle/>
          <a:p>
            <a:pPr algn="l">
              <a:lnSpc>
                <a:spcPct val="95000"/>
              </a:lnSpc>
            </a:pPr>
            <a:r>
              <a:rPr sz="919" b="0" i="0">
                <a:solidFill>
                  <a:srgbClr val="21295C"/>
                </a:solidFill>
                <a:latin typeface="DejaVu Sans"/>
              </a:rPr>
              <a:t>8. Данные безопасны?</a:t>
            </a:r>
          </a:p>
        </p:txBody>
      </p:sp>
      <p:sp>
        <p:nvSpPr>
          <p:cNvPr id="25" name="TextBox 24"/>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56 / 56</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