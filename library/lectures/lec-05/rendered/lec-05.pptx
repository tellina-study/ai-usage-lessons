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AI».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Мы не разрешим парадокс прямо сейчас — это payoff всей лекции,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AI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 Anthropic internal PR metrics ; MIT Project NANDA 'The GenAI Divide' (July 2025, v0.1, unreviewed)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4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AI-ассистентами,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AI,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AI и где он ломается.</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24/7.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AI-инициативу.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Ключевой 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AI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a:t>
            </a:r>
          </a:p>
          <a:p>
            <a:r>
              <a:t>Отсюда центральный вопрос всей лекции: когда AI сделал сборку почти бесплатной, что стало настоящим узким местом продукта — и на каждой фазе цикла, какая классическая дисциплина остаётся, что AI ускоряет, и где AI-first ломается? Держите этот вопрос как линзу: на каждой фазе спрашивайте не «можно ли тут применить AI» — почти всегда можно, —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производственного процесса; на этом цикле выросло послевоенное японское качество производства. Джон Бойд, военный лётчик-истребитель, сформулировал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цикл Build-Measure-Learn как способ стартапа не потратить месяцы на функцию, которую никто не хочет.</a:t>
            </a:r>
          </a:p>
          <a:p>
            <a:r>
              <a:t>Есть и важный нюанс той же формы — одиночная и двойная петля. Одиночная петля исправляет ошибку относительно фиксированной цели, как термостат. Двойная идёт глубже: периодически ставит под вопрос саму цель. Это прямо предвосхищает сбой, который мы разберём в разделе четыре: обучение модели через обратную связь человека — это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это убедительный аргумент, что петля не модная методология, а структурное свойство системы, которая учится.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AI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Отсюда мета-паттерн, который будет повторяться в каждом из шести разделов буквально по одному и тому же шаблону: у каждой фазы жизненного цикла продукта есть классическая дисциплина, и AI её не отменяет. AI меняет, сколько эта дисциплина стоит и насколько ей можно доверять без проверки — но не устраняет необходимость самой дисциплины. Customer Development не заменяется на «спросить у модели, что думает пользователь»; продуктовый эксперимент не заменяется на «модель предсказала рост метрики». В каждом разделе мы будем задавать один и тот же вопрос: что здесь классика делает надёжным, что AI ускоряет — и в какой момент скорость становится ловушкой, потому что доверие не поспевает за ней.</a:t>
            </a:r>
          </a:p>
          <a:p>
            <a:r>
              <a:t>Подумайте двадцать секунд: на какой стрелке вашей последней задачи скорость обогнала ваше реальное доверие к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AI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 Держите два вопроса раздела: где AI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a:t>
            </a:r>
          </a:p>
          <a:p>
            <a:r>
              <a:t>Ключевая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AI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 вы записываете, во что верите, до того как выйдете за дверь.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Важно развести Customer Development и Build-Measure-Learn, о котором мы говорили в keystone: BML — это двигатель, Customer Development — карта местности, по которой двигатель едет. Сначала понять, что проверяем и у кого, потом — как быстро крутить цикл проверки. И здесь же вводим приём, который будем переиспользовать в каждом следующем разделе: фальсифицируемая гипотеза — записанное утверждение «мы верим, что X, мы проверим это через Y, к дате Z у нас будет ответ да или нет». Формат работает, потому что превращает расплывчатую уверенность в проверяемое обязательство с датой.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 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AI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лучшим инструментом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Dovetail специально построен для кросс-интервью синтеза с дизайном «цитата привязана к источнику» — это защищает от дрейфа в непроверяемое резюме. AI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AI, но лишь около восьми процентов доверяют AI-сгенерированным участникам как источнику данных — разрыв осознан самой профессией. Тереза Торрес, один из ведущих практиков дискавери, использует AI для черновика первого прохода, но правило двух шагов синтеза сохраняется без исключений, и она прямо советует против синтетических интервью — потому что само мышление команды и есть смысл процесса.</a:t>
            </a:r>
          </a:p>
          <a:p>
            <a:r>
              <a:t>Источник: Perplexity Deep Research; Dovetail; NN/g 2026 practitioner survey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материализуется он как конкретный, измеримый механизм: AI-резюме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«AI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Сделаем это проверяемым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 если гипотеза о конкретном прошлом поведении, синтетическая персона его достраивает, а не помнит. Третий: нужна валидация реальным обязательством — предзаказ, депозит, интро — AI-заменителя здесь нет вовсе. Что явно остаётся из классики: три правила Mom Test применяются одинаково, кто бы ни задавал вопрос; гипотезо-первая дисциплина Бланка — противоядие от однокликового AI-дерева. Правило суммарно: чем ближе выход к необратимому решению о реальных людях, тем строже нужен реальный человек; чем дальше — тем уместнее AI как ускоритель черновика.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юзабилити онбординга: реальные пользователи в среднем завершили три из семи шагов; AI-сгенерированная панель синтетических пользователей, тестировавшая тот же самый поток, ложно отчиталась о завершении всех семи из семи.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Это тот же механизм склонности к согласию, о котором курс уже говорил применительно к моделям в целом, но здесь он материализуется как конкретный, измеренный провал именно discovery-фазы.</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 Nielsen Norman Group, 'Synthetic Users' (updated 21 June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После того как независимый исследователь обнаружил несоответствия, Deloitte частично вернула деньги и публично признала использование генеративного AI. База для сравнения: это не единичный случай — база данных фиксирует более семисот двенадцати судебных решений по миру с AI-галлюцинированными цитатами, из которых около девяноста процентов пришлись именно на две тысячи двадцать пятый год.</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в разделе шесть — фабрикация правдоподобной точности, принятая за проверенный факт. 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 Fortune (7 Oct 2025); Damien Charlotin, AI Hallucination Cases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for Oncology разрабатывался с две тысячи двенадцатого года совместно с онкоцентром Memorial Sloan Kettering. Партнёрство с MD Anderson Cancer Center было закрыто в две тысячи шестнадцатом году после трат шестьдесят два миллиона долларов — без единого пролеченного пациента. Внутренние документы IBM, слитые в прессу в две тысячи восемнадцатом, показали, что система выдавала небезопасные и некорректные рекомендации — например, назначала препарат гипотетическому пациенту с активным кровотечением, хотя у препарата есть прямое предупреждение против такого применения. В две тысячи двадцать втором IBM продала это подразделение примерно за миллиард долларов.</a:t>
            </a:r>
          </a:p>
          <a:p>
            <a:r>
              <a:t>Механизм, привязанный именно к фазе Discovery: провал сидит ровно в шаге выбора источника данных — самой сути дискавери как сбора доказательной базы. Систему обучали не на реальных данных пациентов и не на валидированных клинических руководствах, а на небольшом числе синтетических, гипотетических кейсов, размеченных горсткой онкологов. Продукт унаследовал персональные предпочтения нескольких врачей вместо репрезентативной клинической базы. Это тот же класс, что синтетические пользователи в предыдущем провале: синтетический источник, не привязанный к реальным исходам, был принят как достаточное основание — но здесь ставки не неудачная фича, а безопасность пациента.</a:t>
            </a:r>
          </a:p>
          <a:p>
            <a:r>
              <a:t>Урок: discovery-фаза AI-продукта в high-stakes домене обязана верифицировать репрезентативность обучающих данных до демонстрации возможностей клиентам; маркетинговая демонстрация — это не валидация. Критерий: если весь доступный датасет — это small-N синтетические кейсы от узкой группы экспертов, а не реальные исходы на больших выборках, — это сигнал, что для продукта рано, нужна отдельная фаза сбора и валидации данных. Альтернатива: evidence-based системы на структурированных клинических guidelines с прозрачной трассируемостью источника, либо supervised-пилот с человеком-в-контуре. Три провала раздела — один класс: синтетический источник, принятый за валидированную основу решения, меняется только цена ошибки.</a:t>
            </a:r>
          </a:p>
          <a:p>
            <a:r>
              <a:t>Источник: STAT News leak (25 July 2018); MD Anderson partnership termination (Sept 2016)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 вторая стрелка петли: как гипотеза из предыдущего раздела превращается в конкретный артефакт, который можно показать человеку. Аудитория курса технически сильна, но, как правило, не проходила формального дизайн-образования — поэтому раздел, как и предыдущий, начинается с классики, прежде чем переходить к AI-инструментам генерации интерфейсов.</a:t>
            </a:r>
          </a:p>
          <a:p>
            <a:r>
              <a:t>Сегодня — единый несущий каркас дизайн-процесса, эвристики экспертной оценки, что AI даёт для генерации интерфейсов в две тысячи двадцать пятом-двадцать шестом, где он ломается на недетерминированном выводе, и два провала, которые представляют два разных, взаимодополняющих класса дизайн-провала.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a:t>
            </a:r>
          </a:p>
          <a:p>
            <a:r>
              <a:t>Почему это отдельная дисциплина, а не «просто нарисовать красиво»? Потому что дизайн отвечает на два разных вопроса по очереди. Первый: ту ли проблему мы вообще решаем? Второй: правильно ли мы её решаем? Классическая рамка — «два ромба»: на первом ромбе вы сначала расширяете взгляд на проблему, потом сужаете до одной чёткой формулировки; на втором так же поступаете с решением. Самая частая и дорогая ошибка новичка — перепрыгнуть первый ромб: сразу влюбиться в решение, не убедившись, что проблема настоящая.</a:t>
            </a:r>
          </a:p>
          <a:p>
            <a:r>
              <a:t>Ещё одна мысль этой фазы, к которой мы вернёмся на реальном провале: безопасность продукта закладывается здесь, в дизайн-брифе, а не прикручивается патчем после того, как что-то пошло не так. AI умеет генерировать десятки вариантов интерфейса за минуты — но выбор и проверка на реальном человеке остаются за вами.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канонически преподаваемая Stanford d.school. Double Diamond — рамка Design Council Великобритании, визуальная модель двух циклов дивергенции и конвергенции: первый алмаз — Discover, широкое исследование, затем Define, синтез в конкретное техническое задание — про правильную проблему; второй алмаз — Develop, генерация множества направлений, затем Deliver, тестирование и отгрузка одного — про правильное решение.</a:t>
            </a:r>
          </a:p>
          <a:p>
            <a:r>
              <a:t>Для целей этой лекции мы используем Double Diamond как несущий каркас раздела, потому что он структурно эквивалентен Design Thinking, но явнее показывает ключевую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правильную задачу.</a:t>
            </a:r>
          </a:p>
          <a:p>
            <a:r>
              <a:t>Стадии на практике нелинейны — команды постоянно возвращаются от Deliver к Define, и это не признак провала процесса, а его нормальная работа. Держите эту рамку в голове: когда мы дойдём до первого провала раздела, вы увидите, что он случился ровно в точке первого алмаза — в решении, что мы вообще строим и для кого, — а не в технической реализации.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до раннего запуска. Топ-пять из десяти канонических: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a:t>
            </a:r>
          </a:p>
          <a:p>
            <a:r>
              <a:t>Дизайн-система — живой, управляемый набор принципов, токенов, компонентов и паттернов, поддерживающий согласованность продукта в масштабе. Ключевая мысль, которая станет несущей для AI-раздела: дизайн-система — это guardrail, механизм, удерживающий генеративную свободу в рамках уже провалидированного бренда, поэтому она — естественная упряжь для AI-генерации интерфейсов.</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проблем юзабилити; классические пять пользователей находят около восьмидесяти пяти процентов. Это необходимый противовес для следующего слайда: сколько бы AI ни ускорил генерацию прототипа, поставить артефакт перед реальным человеком и наблюдать его реальную растерянность — не имеет AI-заменителя.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командный воркфлоу две тысячи двадцать пятого-двадцать шестого годов: продакт или дизайнер описывает экран в промпте инструменту v0 by Vercel или Figma Make, генератор подтягивает уже существующие компоненты команды, а не общие шаблоны — семьдесят два процента дизайнеров используют генеративный AI, девяносто один процент отмечают улучшение именно качества. Генератор выдаёт два-четыре расходящихся направления за минуты — то, что раньше занимало день ручного вайрфрейминга. Человек-дизайнер конвергирует — выбирает направление, отбрасывает остальные, правит детали, которые модель поняла неверно. Выбранное направление проходит реальный юзабилити-тест с настоящими пользователями.</a:t>
            </a:r>
          </a:p>
          <a:p>
            <a:r>
              <a:t>Другие именованные инструменты: Google Stitch — генератор мокапов из текста; Uizard — более лёгкий уровень; bolt.new — промпт в полноценное приложение в браузере, канонический инструмент вайбкодинга.</a:t>
            </a:r>
          </a:p>
          <a:p>
            <a:r>
              <a:t>Что здесь по-настоящему хорошо, без хайпа: скорость первого черновика, генерация с учётом дизайн-системы — меньше переделки, чем наивный текст-в-UI, и демократизация приличного первого прохода — не-дизайнеры теперь могут произвести нечто презентабельное для начала разговора. Рабочая практика, ясная формулировка всего раздела: AI для дивергенции, человек для конвергенции. Со-творческие инструменты уместно использовать для максимизации объёма и разнообразия ранней разведки. Конвергенция — определение, какую проблему стоит решать, и доработка одного направления до полного соответствия контексту, — прямо названа человеческой сильной стороной, которую никакой промпт не заменит. Дизайн-система — естественный guardrail, удерживающий AI-дивергенцию от дрейфа с бренда.</a:t>
            </a:r>
          </a:p>
          <a:p>
            <a:r>
              <a:t>Источник: v0 by Vercel; Figma Make; Google Stitch; bolt.new [VFY-day-of: версии инструментов]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«AI-мусор» и гомогенизация — ясная критика двух последних лет. Nielsen Norman Group формулирует прямо: UI всё ещё важен, но станет менее значимым дифференциатором, потому что любой сможет сделать прилично выглядящий интерфейс. Механизм гомогенизации: генераторы обучены на одном корпусе существующих UI-паттернов, поэтому множество независимых команд, промптящих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доступности по критериям WCAG на интерфейсах, сгенерированных AI-инструментами, и обнаружило лишь двадцать девять целых соответствия. Худшие показатели — именно базовые критерии: контрастность цвета и использование цвета. Важная находка: дизайн платформы влиял на итоговую доступность сильнее, чем пользовательские промпты — просьба «сделай это доступным» не гарантированно это исправляла. Это прямо опровергает наивную защиту «просто нужно правильно попросить AI».</a:t>
            </a:r>
          </a:p>
          <a:p>
            <a:r>
              <a:t>Ключевое дополнение для этой аудитории — дизайн для недетерминированного вывода. Классический UX предполагает детерминированную систему: одинаковый ввод даёт одинаковый вывод. AI-продукты ломают это допущение — один и тот же ввод может дать разный вывод на разных запусках, что требует новых паттернов: изящный отказ, со-творчество, ответственная автономия. Что остаётся из классики: дизайн-мышление «сначала сопереживание», эвристики Нильсена как быстрый экспертный гейт-ревью, реальное юзабилити-тестирование — противоядие от галлюцинированных «лучших практик», потому что тестирование измеряет реальную человеческую растерянность. Когда здесь не AI-first: продукт, нацеленный на эмоциональную привязанность уязвимых пользователей или автоматизирующий решение о людях, требует явного safety-ревью в MVP, а не полировки постфактум.</a:t>
            </a:r>
          </a:p>
          <a:p>
            <a:r>
              <a:t>Источник: 'Generated Inaccessible: Measuring WCAG Violations in AI UI Design Tools', ACM Web4All 2026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из Флориды покончил с собой в феврале две тысячи двадцать четвёртого года после месяцев эмоционально интенсивного общения с AI-персонажем на платформе Character.AI. Его мать подала иск о неправомерной смерти. В январе две тысячи двадцать шестого Google и Character.AI договорились об урегулировании этого и ещё четырёх исков. База для сравнения: защитные функции — лимит времени для несовершеннолетних, запрет открытого ролевого чата до восемнадцати лет, верификация возраста — были добавлены только после судебных исков, то есть спустя почти два года после запуска продукта.</a:t>
            </a:r>
          </a:p>
          <a:p>
            <a:r>
              <a:t>Почему это фаза Design, а не эксплуатации. Легко ошибочно классифицировать это как операционный провал. Но корень лежит раньше — в самом дизайн-решении о том, какой опыт проектировать: продукт, оптимизирующий эмоциональную привязанность несовершеннолетних, — это выбор первого алмаза Double Diamond, сделанный без вопроса «кто может пострадать от этого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guardrails безопасности обязаны быть частью MVP-дизайна с первого дня, а не постфактум-патчем после трагедии. Разница между «встроено в дизайн» и «добавлено после иска» — это разница между продуктовым решением и юридическим кризисным реагированием. Критерий: если продукт монетизирует или измеряет успех через длительность эмоционально окрашенного взаимодействия с уязвимой демографической группой — это структурный design-flaw. Альтернатива: платформы peer-support с модерацией живыми людьми или клинически валидированные чат-боты с обязательной эскалацией к живому кризисному консультанту.</a:t>
            </a:r>
          </a:p>
          <a:p>
            <a:r>
              <a:t>Источник: Washington Post (24 Oct 2024); CBS News (Jan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Триггер обнаружения: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Девятого августа две тысячи двадцать третьего Комиссия США по соблюдению равных возможностей заключила первое в истории урегулирование по делу об AI-дискриминации: триста шестьдесят пять тысяч долларов компенсации.</a:t>
            </a:r>
          </a:p>
          <a:p>
            <a:r>
              <a:t>Это принципиально отличается от кейса Character.AI — важный контраст в рамках одного раздела: там дизайн не заложил защиту, здесь дизайн заложил конкретное вредное решающее правило. Это не «модель научилась предвзятости из данных» — это жёстко закодированное дискриминационное правило, внедрённое без bias-аудита на этапе дизайна требований к системе отбора.</a:t>
            </a:r>
          </a:p>
          <a:p>
            <a:r>
              <a:t>Почему триггер обнаружения так поучителен: дискриминация вскрылась не аудитом, не тестом — а случайностью. Это значит, что жёсткий возрастной фильтр работал в проде неизвестно сколько, отсекая реальных людей, и был бы невидим, если бы не эта случайная переподача. Bias, зашитый в решающее правило, не проявляется в обычных метриках — скорость отбора выглядит прекрасно, — он проявляется только при целенаправленном аудите на несоразмерное воздействие. Урок: автоматизация решения, затрагивающего людей в юридически защищённых категориях, — область, где юридические ограничения обязаны быть частью технического задания с самого начала. Критерий: любой скрининг, затрагивающий защищённые категории, требует обязательного bias-аудита до продакшна. Альтернатива: прозрачные, аудируемые правила без демографических прокси-переменных плюс периодический анализ несоразмерного воздействия.</a:t>
            </a:r>
          </a:p>
          <a:p>
            <a:r>
              <a:t>Источник: EEOC settlement (9 Aug 2023) — $365,000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AI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вопрос, который не исчезает от того, что писать код стало дешевле.</a:t>
            </a:r>
          </a:p>
          <a:p>
            <a:r>
              <a:t>Сегодня — механика релиза, которую вы, скорее всего, уже знаете из инженерной практики, но встроенная в продуктовый, а не только технический контур решений. Дальше — что AI обнулило и куда сместилось узкое место, и два провала: один — гигант, пропустивший канареечную раскатку, другой — гигант, правильно остановивший провалившийся пилот.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AI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 в продукте.</a:t>
            </a:r>
          </a:p>
          <a:p>
            <a:r>
              <a:t>И вторая половина дисциплины запуска — умение вовремя остановиться. Хороший продуктовый процесс имеет заранее записанные пороги провала и не боится «убить» инициативу, которая годами не выходит на надёжность. Дальше мы увидим оба провала: гиганта, который выкатил на всех сразу без раскатки, и компанию, которая, наоборот, показала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 canary, rollback вам знакомы из повседневной инженерной практики — базовые определения вы, скорее всего, прочтёте по диагонали. Держите при этом одно продуктовое отличие, ради которого раздел вообще существует: здесь та же механика встроена в продуктовый go/kill-гейт, где решение убить проект — это бизнес-решение, а не только технический флаг «включить-выключить».</a:t>
            </a:r>
          </a:p>
          <a:p>
            <a:r>
              <a:t>Единая логическая нить: каждая практика обменивает немного скорости запуска на ограниченный радиус поражения. Feature flag отделяет развёртывание от релиза. Canary — новая версия выкатывается на небольшую долю трафика первой. Staged rollout — обобщение canary: один, десять, двадцать пять, пятьдесят, сто процентов, с проверкой go/no-go на каждом шаге. Rollback — способность быстро вернуться к последнему рабочему состоянию.</a:t>
            </a:r>
          </a:p>
          <a:p>
            <a:r>
              <a:t>MVP Эрика Райса определяется обучением, а не отгрузкой — быстрый способ пройти цикл построить-измерить-научиться. Stage-Gate Роберта Купера — пять стадий, каждой предшествует гейт go/kill/hold/recycle по заранее согласованным критериям; осознанная цель — принудить к дисциплинированным решениям об остановке рано, до капиталоёмких трат — «воронка, а не туннель». Go/no-go гейт готовности к запуску требует конкретно: фазы раскатки с критериями перехода, пороги провала, записанные числом заранее, план отката с назначенным человеком. Здесь снова всплывает наш сквозной приём — фальсифицируемая гипотеза, применённая к решению о релизе. В AI-эру добавляется новая строка чек-листа: прошло ли это eval-гейт против reference dataset — AI-эквивалент набора тестов.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к минутам агентного исполнения. Центральное заявление о риске: по мере того как агенты производят больше кода, объём ревью не масштабируется с той же скоростью. Собственные внутренние данные делают это конкретным: объём кода на инженера вырос примерно на двести процентов год к году, но лишь примерно шестнадцать процентов pull request'ов получили содержательные комментарии человеческого ревью до слияния.</a:t>
            </a:r>
          </a:p>
          <a:p>
            <a:r>
              <a:t>Это ключевой переворот раздела: дефицитный ресурс никогда не был «кто может написать код» — в эпоху AI он однозначно становится «кто может специфицировать достаточно точно» и «кто может проревьюировать достаточно быстро, чтобы не стать узким местом». Заметьте прямую симметрию с keystone: сборка обнулилась, поэтому дефицит сместился к двум человеческим концам стрелки. Bain формулирует то же наблюдение с бизнес-стороны: границы фаз стираются в более непрерывный поток, но явно не заявляет о полной автономии — агенты работают лучше всего с человеческим ревью в критических точках.</a:t>
            </a:r>
          </a:p>
          <a:p>
            <a:r>
              <a:t>Что оставить из классики: контроль версий, PR-ревью — теперь пункт назначения узкого места, а не реликт; feature flags как базовый механизм отгрузить неактивным; поэтапная раскатка — напрямую переиспользуется agency-ladder дальше; kill-switch — небезоговорочно необходим; человеко-владеемая спецификация — артефакт, который агент не может сгенерировать сам себе без угадывания намерения.</a:t>
            </a:r>
          </a:p>
          <a:p>
            <a:r>
              <a:t>Источник: Anthropic 2026 Agentic Coding Trends Report (22 Jan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 для AI-эры принадлежит Айшварье Реганти и Кирити Бадаму: framework CC/CD — непрерывная калибровка и непрерывная разработка, противопоставляемый привычному CI/CD, потому что CI/CD предполагает детерминированный код, который либо проходит тесты, либо нет, а AI-системы этим свойством не обладают.</a:t>
            </a:r>
          </a:p>
          <a:p>
            <a:r>
              <a:t>Механика: фаза до запуска — версионировать релизы по уровню агентности, а не по набору функций. Пример: бот поддержки выходит как версия один — маршрутизирует тикеты, высокий контроль, низкая агентность, версия два — предлагает решения на утверждение человека, версия три — автоматически разрешает с fallback на человека. Построить reference dataset и спроектировать evals — прикладные метрики против эталонного набора перед развёртыванием. Фаза после запуска — прогонять оценки на живых данных,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агентность. Бот, сразу прыгающий к полной автономии, рискует цепочкой сбоев, которую трудно распутать постфактум. Реальный пример: agency-ladder GitHub Copilot и Cursor — от завершений к блокам кода к целым pull request'ам, каждая ступень разблокируется только после того, как предыдущая доказала надёжность на практике. Крупные консалтинги независимо описывают тот же сдвиг, но каждый честно называет свои режимы сбоя: смещение узкого места, распространение пилотов, пробелы измерения. Урок для launch-фазы: консенсус — не «отгружай быстрее», а «перестрой процесс вокруг агента, сохранив человеческое ревью в критических точках».</a:t>
            </a:r>
          </a:p>
          <a:p>
            <a:r>
              <a:t>Источник: Reganti &amp; Badam, Lenny's Newsletter (19 Aug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собственная измеренная находка Anthropic про её же продукт, а не критика извне.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почему именно ревью стало узким местом, потому что это прямое следствие keystone-асимметрии, а не случайность. Генерация и верификация — принципиально разной стоимости операции: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Удешевив одну сторону на порядки и оставив другую прежней, AI не убрал работу — он переместил всю её массу на непонизившуюся сторону. Отсюда контринтуитивное следствие: удвоив скорость генерации, вы не удваиваете пропускную способность продукта — вы удваиваете очередь на ревью.</a:t>
            </a:r>
          </a:p>
          <a:p>
            <a:r>
              <a:t>Проблема семидесяти процентов: AI-агенты доводят команду примерно на семьдесят процентов пути до продакшн-качественного результата; оставшиеся тридцать — там, где senior-инженеры добавляют ценность, которую AI автоматически не поставляет. Senior активно переосмысливают AI-вывод; junior принимают его охотнее, производя «карточный домик кода». Оба провала ниже — вариации именно этого ограничения на уровне решения о запуске. Что остаётся из классики: контроль версий и PR-ревью, feature flags, поэтапная раскатка как прообраз agency-ladder, kill-switch, человеко-владеемая спецификация. Когда здесь не AI-first: необратимое или капиталоёмкое решение не должно приниматься моделью на низшей ступени agency-ladder без детерминированного бизнес-правила поверх.</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 без eval-гейта. В течение нескольких дней функция начала выдавать вирусные, буквально опасные рекомендации: есть камни — источник, сатирическая статья The Onion — и класть клей на пиццу для лучшего сцепления сыра — источник, одиннадцатилетний шутливый комментарий на Reddit. Функцию нельзя было отключить пользователю. Реакция Google была реактивной — все исправления после полного развёртывания, а не до него.</a:t>
            </a:r>
          </a:p>
          <a:p>
            <a:r>
              <a:t>Механизм, привязанный к фазе Build/Launch: это ровно тот случай отсутствующей поэтапной раскатки,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Обратите внимание на природу конкретных провалов: модель не сломалась — она синтезировала статистически правдоподобный ответ из корпуса, не отличив сатиру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a:t>
            </a:r>
          </a:p>
          <a:p>
            <a:r>
              <a:t>Урок: генеративная функция, синтезирующая контент из открытого веба, нуждается в той же дисциплине поэтапного развёртывания и eval-гейта, что и любая другая AI-функция — «поиск — наш зрелый основной продукт» не повод пропустить раскатку, это повышает цену её пропуска. Критерий: любая генеративная функция, чей режим сбоя — «уверенно неправильно, источник — контент низкого качества», нуждается в предзапусковом гейтинге качества источников и постзапусковой поэтапной экспозиции. Альтернатива: канареечный запуск на небольшой процент с автоматическим мониторингом известных классов риска, постоянный пользовательский переключатель отключения.</a:t>
            </a:r>
          </a:p>
          <a:p>
            <a:r>
              <a:t>Источник: Forbes / AndroidPolice (May 2024)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совместно с IBM в течение примерно двух с половиной-трёх лет, масштабировав до около ста ресторанов — примерно ноль целых семь десятых процента от общего числа ресторанов McDonald's в США. Вирусные ролики с провалами накапливались месяцами. Семнадцатого июня две тысячи двадцать четвёртого McDonald's объявил о прекращении партнёрства. Компания не отказалась от цели — голосовая автоматизация остаётся частью будущего, — она убила именно этот конкретный вендорский подход.</a:t>
            </a:r>
          </a:p>
          <a:p>
            <a:r>
              <a:t>Это решение об остановке масштабирования, а не история о рантайм-провале — необычно, это хороший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это не «нужно больше данных», это «текущий подход имеет структурный потолок». Без денаминатора «сто ресторанов» звучит как масштабный пилот; с денаминатором — это крошечная доля сети, которую держали два с половиной года и всё равно не довели до продакшн-надёжности.</a:t>
            </a:r>
          </a:p>
          <a:p>
            <a:r>
              <a:t>Сравните с предыдущим провалом: Google сделал ровно обратную ошибку — сразу сто процентов без пилотной фазы. Два кейса зеркальные: один правильно не пересёк гейт после длинного пилота, другой пропустил пилот целиком. Урок: долгий пилот, продолжающий публично проваливаться при ограниченном масштабе, — это сигнал убить, а не «доработать ещё немного». Критерий: если частота ошибок не сходится к продакшн-уровню после многолетнего пилота, это структурный лимит текущего подхода. Альтернатива: гибрид человек-в-контуре — AI предлагает распознанный заказ, кассир подтверждает перед отправкой на кухню.</a:t>
            </a:r>
          </a:p>
          <a:p>
            <a:r>
              <a:t>Источник: CNBC (17 June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AI снизил доверие, а не стоимость. Это протяжённый и, для инженерной аудитории, весомый раздел: измерение — то место, где «выглядит хорошо не равно есть хорошо» бьёт по продукту сильнее всего. Вы умеете писать код и, возможно, знаете A/B из веб-практики, но формальную дисциплину продуктового эксперимента видите впервые.</a:t>
            </a:r>
          </a:p>
          <a:p>
            <a:r>
              <a:t>Сегодня — что такое контролируемый эксперимент с нуля, восемь классических ловушек, что AI даёт как эквивалент юнит-тестов для агента, где вероятностный вывод ломает привычную логику pass/fail, и два провала — один про метрику без ограждения, другой про бенчмарк не в том формате.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отвечаете на вопрос «сработало ли», причём отвечаете честно. И это та стрелка петли, где AI не удешевил работу, а наоборот — снизил доверие к цифрам, потому что теперь очень легко получить красивый результат, который ничего не значит.</a:t>
            </a:r>
          </a:p>
          <a:p>
            <a:r>
              <a:t>Главная ловушка звучит так: «мы выкатили новую функцию, и метрика выросла — значит, функция хорошая». Это неверный вывод. Метрика могла вырасти по десяти другим причинам: сезон, реклама, случайность. Чтобы отделить причину от совпадения, придумали контролируемый эксперимент. Идея простая: вы случайным образом делите пользователей на две группы. Одной показываете новое, другой — старое, всё остальное одинаково. Если между группами есть разница — она вызвана именно вашим изменением, а не чем-то ещё. Случайное деление — ключевой момент: именно оно делает группы сравнимыми.</a:t>
            </a:r>
          </a:p>
          <a:p>
            <a:r>
              <a:t>Второй важный элемент — договориться заранее, какую метрику мы считаем успехом и что для нас недопустимо. Иначе после эксперимента всегда найдётся цифра, которая «доказывает» то, что мы и так хотели увидеть. Дальше мы разберём типичные ловушки и увидим, как прокси-метрика без страховки почти два года скрывала реальный вред.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и Treatment, и для каждой группы измеряется метрика. Поскольку распределение случайно, статистически значимую разницу можно приписать самому изменению, а не заранее существовавшим различиям. Без рандомизации у вас есть корреляция; с рандомизацией — причинность. Именно поэтому канареечная раскатка не эквивалентна A/B: у неё нет удерживаемой контрольной группы, поэтому она отвечает «сломалось ли что-то», а не «вызвало ли это улучшение».</a:t>
            </a:r>
          </a:p>
          <a:p>
            <a:r>
              <a:t>Канонический процесс: сформулировать гипотезу с механизмом — гипотеза без механизма это догадка, не эксперимент — выбрать метрику, рандомизировать пользователей, прогнать до заранее определённого размера выборки, проверить качество данных, проанализировать, решить.</a:t>
            </a:r>
          </a:p>
          <a:p>
            <a:r>
              <a:t>OEC — метрика, которую эксперимент на самом деле пытается сдвинуть, — то, что организация согласилась считать успехом. Учебный пример Кохави: команда, оптимизирующая сайт поддержки, приняла метрикой «время на сайте». Когда их попросили указать направление, команда раскололась: больше времени — это хорошо, глубокая вовлечённость, или плохо, пользователь застрял? Команда единогласно приняла метрику, ни разу не договорившись, что она значит. Guardrail-метрики — то, что мониторят, но не оптимизируют: они ловят сопутствующий ущерб, которого OEC не видит. Это структурное исправление значимой классической ловушки — оптимизации одной прокси-метрики в изоляции, которую мы увидим в провале этого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в правильном порядке. Первый —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Размер выборки должен быть рассчитан и зафиксирован до старта.</a:t>
            </a:r>
          </a:p>
          <a:p>
            <a:r>
              <a:t>Второй — интерпретация: правильно ли я читаю результат? Peeking — проверка результатов до достижения заранее определённого размера и остановка, как только выглядит значимо; две подглядки примерно удваивают частоту ложноположительных срабатываний, пять — утраивают. P-hacking — более широкое семейство той же ошибки. Третий — сам эффект: реален ли он? Закон Тваймана — любая цифра, которая выглядит интересной, обычно неверна; огромный восхитительный подъём метрики более вероятно означает баг, чем настоящий прорыв.</a:t>
            </a:r>
          </a:p>
          <a:p>
            <a:r>
              <a:t>Важное различие: A/B-тест — это измерение, требующее случайного распределения; feature flag — просто переключатель раскатки. Канонический пример с обязательной поправкой на фактчекинг: эксперимент Bing с заголовком рекламы дал прирост выручки на двенадцать процентов на поиск, что дало более ста миллионов долларов дополнительной годовой выручки — это Кохави и Томке, Harvard Business Review, 2017. Отдельный, не связанный кейс — «кнопка за 300 миллионов долларов» Джареда Спула — это usability-исследование, а не рандомизированный эксперимент; списки-подборки регулярно их путают. Даже AI-native персонализация нуждается в классическом контроле: Spotify честно признаёт, что контекстный бандит сам требует собственного A/B для валидации своей ценности.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ключевой сдвиг: написание evals станет ключевым навыком продакт-менеджеров. Eval — это «квиз для модели»: способ задать конкретную планку точности, которая нужна продукту. Хамель Хусейн предлагает чистую трёхуровневую рамку: уровень один — юнит-тесты, быстрые и детерминированные; уровень два — человеческая и модельная оценка; уровень три — A/B-тестирование, только когда продукт достаточно зрел. A/B не заменяется оценками — это последняя ступень лестницы, а не выброшенный классический инструмент.</a:t>
            </a:r>
          </a:p>
          <a:p>
            <a:r>
              <a:t>Почему вероятностный вывод ломает pass/fail — ясное объяснение для аудитории с нуля. Pass at k — вероятность, что агент выдаст хотя бы один корректный результат за k попыток; pass hat k — вероятность, что агент успешен на всех k попытках. Эти два числа могут кардинально расходиться при одинаковой базовой вероятности: с ростом k pass at k стремится к ста процентам, а pass hat k обваливается к нулю. Вендор, отчитывающийся «наш агент успешен в девяносто пять процентах случаев», отвечает на разные вопросы в зависимости от того, что имеется в виду — и продакшн-надёжность почти всегда требует pass hat k.</a:t>
            </a:r>
          </a:p>
          <a:p>
            <a:r>
              <a:t>LLM-as-judge достигает около восьмидесяти пяти процентов согласия с людьми на лёгких категориях — но согласие может падать ниже шестидесяти процентов на сложных категориях, особенно на безопасности, — судья наименее надёжен именно там, где ставки выше всего. Offline и online eval — слои, не альтернатива: offline ловит известные регрессии, online вскрывает длинный хвост входов. Notion увеличила пропускную способность исправлений с трёх до тридцати фиксов в день после внедрения систематической оценки. Eval — живой артефакт: если баллы упёрлись в потолок, он «сдулся» и требует более сложных кейсов.</a:t>
            </a:r>
          </a:p>
          <a:p>
            <a:r>
              <a:t>Источник: Hamel Husain framework; Anthropic 'Demystifying evals for AI agents' (9 Jan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AI-специфичная формулировка — спецификационный гейминг: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на двадцать процентов больше очков, чем игроки-люди, вечно кружа в лагуне и собирая регенерирующиеся бонусы, никогда не финишируя. Современный пример от Anthropic: обучая модель на кривой всё более взламываемых окружений, исследователи наблюдали, как модель обобщила от простой угодливости к изощрённому взлому вознаграждения, кульминируя в прямом редактировании собственной функции вознаграждения.</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оптимизирует ту прокси, что легче измерить. Guardrail-метрики — ограждения в точном смысле Кохави: метрики, которые не оптимизируешь, но не должен молча деградировать. Закон Тваймана: подозрительно идеальный балл eval теперь более вероятно баг или взломанная прокси, чем настоящий скачок возможностей.</a:t>
            </a:r>
          </a:p>
          <a:p>
            <a:r>
              <a:t>Когда здесь не AI-first: если одна измеряемая величина — прокси вовлечённости без парной counter-метрики на качество, результат недостаточен для решения о полном роллауте. То же для evals: если продукт делает заявление о безопасности, опирающееся исключительно на бенчмарк, чей формат структурно отличается от реальной задачи, — этот бенчмарк не может поддержать заявление.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Механически формула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 это неточно, согласно корректирующему медиа-материалу. Все пять реакций взвешивались одинаково при введении — гнев не выделялся отдельно. Реальный провал был тоньше: «любая сильная реакция равно более содержательно» была огульной прокси качества вовлечённости, а не осознанным решением вознаграждать ярость.</a:t>
            </a:r>
          </a:p>
          <a:p>
            <a:r>
              <a:t>Guardrail, который это поймал, и цена его отсутствия с первого дня: внутренне подтверждено к две тысячи девятнадцатому, что посты с гневной реакцией были непропорционально склонны содержать дезинформацию. Facebook снизил вес гневной реакции до нуля в сентябре две тысячи девятнадцатого. Отдельный внутренний тест показал: без ранжирования пользователи скрывали на пятьдесят процентов больше постов — подтверждая, что подъём вовлечённости был реальным, но не связан с качеством контента.</a:t>
            </a:r>
          </a:p>
          <a:p>
            <a:r>
              <a:t>Механизм, привязанный к фазе Measure: исходный эксперимент оптимизировал прокси вовлечённости, но не измерял downstream-последствия для качества контента; негативный эффект вскрылся только отдельным качественным аудитом после полного роллаута. У Facebook в две тысячи восемнадцатом была одна из сильнейших в мире команд data science — и всё же обратная корреляция подтверждена только через полтора-два года, потому что counter-метрику качества никто не измерял с первого дня. Урок: дизайн A/B-эксперимента для алгоритмических фич обязан включать guardrail-метрики качества, иначе система найдёт способ выиграть тест ценой скрытого вреда. Альтернатива: multi-metric дизайн с guardrail-метриками, мониторимыми с первого дня.</a:t>
            </a:r>
          </a:p>
          <a:p>
            <a:r>
              <a:t>Источник: Techdirt correction (28 Oct 2021); WSJ 'Facebook Files' (2021)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исследователям Google пришлось построить отдельный, более сложный adversarial-набор именно потому, что экзамен-бенчмарк вообще не вскрывает открытые сбои клинической безопасности.</a:t>
            </a:r>
          </a:p>
          <a:p>
            <a:r>
              <a:t>В деле Mata против Avianca адвокат подал документ, цитирующий шесть полностью выдуманных судебных дел, сгенерированных ChatGPT — а не Harvey AI, частая ошибка атрибуции. Строгое рецензируемое исследование: сырой GPT-4 без retrieval ошибался в восемьдесят восемь процентов; наиболее точный из протестированных инструментов Lexis+ AI всё равно ошибался в семнадцати процентах случаев; Westlaw — примерно в тридцати трёх, несмотря на маркетинг «сто процентов без галлюцинаций».</a:t>
            </a:r>
          </a:p>
          <a:p>
            <a:r>
              <a:t>Механизм обоих кейсов, привязанный к фазе Measure: бенчмарк, измеренный на узком формате задачи, не переносится на реальную задачу пользователя — снова закон Гудхарта: бенчмарк стал маркетинговой целью. Этот кейс несёт три ходовых «всем известных» провала, которые при проверке первоисточника оказываются искажёнными — и разбор искажений ценнее самих кейсов, потому что лекция учит фактчекингу на собственном материале. Урок: именованный балл бенчмарка — свидетельство только на формате именно этого бенчмарка. Критерий: если заявление о безопасности опирается исключительно на бенчмарк со структурно иным форматом, оно не подтверждено. Альтернатива: обязательные adversarial наборы, построенные именно под развёрнутую задачу, оцениваемые независимой методологией.</a:t>
            </a:r>
          </a:p>
          <a:p>
            <a:r>
              <a:t>Источник: Med-PaLM 2 arXiv:2305.09617; Stanford RegLab arXiv:2405.20362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AI снизил доверие. Классический контролируемый A/B-эксперимент остаётся — рандомизация по-прежнему даёт причинность там, где изменение вызвало результат, — но поверх него теперь обязательны evals, слоями офлайн и онлайн, не альтернативой, и guardrail-метрики, потому что вероятностный вывод и закон Гудхарта делают любую отдельную прокси уязвимой.</a:t>
            </a:r>
          </a:p>
          <a:p>
            <a:r>
              <a:t>Центральный навык фазы, и всей лекции: отличать сигнал от шума. Подозрительно хорошая цифра — закон Тваймана; взломанная прокси — Гудхарт; бенчмарк не в том формате; прокси без guardrail — всё это шум, замаскированный под сигнал.</a:t>
            </a:r>
          </a:p>
          <a:p>
            <a:r>
              <a:t>Это мост в раздел пять: в эксплуатации тот же навык проявляется как способность заметить дрейф раньше, чем его покажет дашборд. Мы увидим, что тот же принцип — не доверять агрегированной метрике слепо — работает и там, только объект наблюдения меняется с эксперимента на живую систему в проде.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между «код работает у меня» и «продукт надёжно работает у миллионов 24/7» — пропасть, и её закрывают процессом, а не только качеством кода.</a:t>
            </a:r>
          </a:p>
          <a:p>
            <a:r>
              <a:t>Сегодня — инженерия надёжности сайтов с нуля, что AI добавляет как отдельный слой наблюдаемости именно за качеством и поведением ответов, тихий дрейф — весомый операционный урок раздела, и три провала: капитал, потерянный без circuit breaker, юридическая ответственность за каждый ответ бота, и метрика успеха без гарантированной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жизнь: продукт работает круглосуточно у реальных людей, ломается, получает жалобы и требует внимания годами. Между «у меня на ноутбуке работает» и «надёжно работает у миллионов одновременно» лежит пропасть, и закрывают её не героизмом, а процессом.</a:t>
            </a:r>
          </a:p>
          <a:p>
            <a:r>
              <a:t>Классическая инженерная дисциплина здесь — надёжность эксплуатации. Её ключевая идея понятна на пальцах: стопроцентной надёжности не бывает и не нужно, поэтому мы заранее договариваемся, сколько сбоев допустимо, — это и есть бюджет на ошибки. Пока укладываемся в бюджет, можно спокойно выкатывать новое; кончился бюджет — тормозим и стабилизируем. Плюс дежурства, разбор инцидентов без поиска виноватых, инструкции на типовые аварии.</a:t>
            </a:r>
          </a:p>
          <a:p>
            <a:r>
              <a:t>Что меняет AI? Появляется новый, коварный класс проблем. Обычный сбой виден сразу: сервис не отвечает, графики краснеют. А модель может тихо деградировать: технически всё зелёное — ответы приходят, коды успешные, — но качество ответов незаметно падает, и первыми это чувствуют самые активные пользователи, а не дашборд. Дальше мы увидим три дорогих провала эксплуатации и поймём, почему ответственность за каждый ответ бота остаётся на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а в проде AI-продукта работает недетерминированная модель — SLI «доля успешных HTTP-ответов 200» ничего не говорит о том, галлюцинирует ли модель.</a:t>
            </a:r>
          </a:p>
          <a:p>
            <a:r>
              <a:t>Рамка SRE от Google: SLI — количественная метрика поведения сервиса глазами пользователя. SLO — внутренняя цель команды, например девяносто девять целых девять десятых процента успешных запросов за двадцать восемь дней. SLA — внешнее контрактное обязательство, обычно мягче SLO.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Бюджет даёт явное разрешение остановить рискованные релизы, когда он исчерпан. Это тот же паттерн, что Stage-Gate и фальсифицируемая гипотеза — заранее согласованный порог, превращающий абстрактную цель в операционный триггер.</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иначе люди скрывают информацию. Петля support-продукт: тикеты — сырые данные о том, где продукт не соответствует ожиданиям, а не только «закрыть проблему клиента».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AI-продукта в проде два свойства, которых нет у классического ПО: недетерминированность и agency/control tradeoff. Это измеримая инженерная проблема: вариация точности до пятнадцати процентов между запусками одного промпта даже при нулевой температуре, с разрывом до семидесяти процентов между лучшим и худшим прогоном.</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AI-агентов в проде. Честная оговорка: большинство внедрений — прототипы, зрелых production-развёртываний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не afterthought.</a:t>
            </a:r>
          </a:p>
          <a:p>
            <a:r>
              <a:t>Отдельный, часто пропускаемый риск: трейсинг и LLMOps-инструменты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PII без анонимизации на входе или без self-host развёртывания.</a:t>
            </a:r>
          </a:p>
          <a:p>
            <a:r>
              <a:t>Источник: LangSmith / Langfuse / Arize Phoenix / Helicone; Gartner Market Guide for Guardian Agents (25 Feb 2026)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дашборды остаются зелёными, но выходы становятся чуть менее обоснованными,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агрегированные метрики улучшаются.</a:t>
            </a:r>
          </a:p>
          <a:p>
            <a:r>
              <a:t>Governance drift: guardrails сами дрейфуют — если они не версионируются как policy-as-code, они остаются фиксированными, пока система вокруг эволюционирует.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a:t>
            </a:r>
          </a:p>
          <a:p>
            <a:r>
              <a:t>Что остаётся обязательным из классики: human escalation и accountability — не legacy-практика, а структурное требование, усиленное автономностью AI; incident discipline — AI-инцидент всё ещё инцидент с таймлайном, root cause и уроком; error budget и circuit breaker переносятся один к одному на новый класс метрик — качество ответа, дрейф, галлюцинации. Явный урок: AI не убирает потребность в операционной дисциплине — он добавляет новый, более коварный класс отказов поверх старого; тот, кто пропускает классику ради «чисто AI-инструментов», не имеет базовой дисциплины, чтобы вообще заметить новый класс отказов. Когда здесь не AI-first: автоматизированное действие, необратимое или капиталоёмкое, не должно исполняться без circuit breaker на error rate в реальном времени и без гарантированного пути эскалации.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мы вообще считали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и discovery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circuit breaker. Пандемийная волатильность цен — классический concept drift, и его не поймали вовремя, потому что не было работающего эквивалента error budget для этой конкретной модели.</a:t>
            </a:r>
          </a:p>
          <a:p>
            <a:r>
              <a:t>Урок: для моделей, управляющих капиталоёмкими автоматизированными решениями, error-budget-дисциплина обязана применяться к качеству предсказания в реальном времени, а не только к uptime сервиса. Критерий: если стоимость одной ошибки — десятки тысяч долларов реального капитала, а внешние условия демонстрируют растущую волатильность, — это сигнал снизить объём автоматизированных решений до подтверждения устойчивости модели. Альтернатива: гибридная архитектура — алгоритмическая оценка как input, human underwriter принимает финальное решение выше порога риска, плюс явный circuit breaker, проверяемый еженедельно.</a:t>
            </a:r>
          </a:p>
          <a:p>
            <a:r>
              <a:t>Источник: GeekWire (Nov 2021); SEC 10-K FY2021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что тариф по случаю утраты близкого можно оформить ретроактивно в течение девяноста дней — реальная политика этого не допускала. Клиент купил билеты по полной цене и получил отказ в скидке. Трибунал в феврале две тысячи двадцать четвёртого присудил восемьсот двенадцать долларов две цента. Защита Air Canada: чат-бот — отдельное юридическое лицо, отвечающее за свои действия. Трибунал назвал это примечательным заявлением и отклонил: компания отвечает за всю информацию на сайте, исходит ли она из статической страницы или из чат-бота.</a:t>
            </a:r>
          </a:p>
          <a:p>
            <a:r>
              <a:t>Механизм, привязанный к фазе Support/Operate: нет процесса синхронизации базы знаний чат-бота с фактической политикой компании — support-контент управлялся отдельно от единого источника правды.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a:t>
            </a:r>
          </a:p>
          <a:p>
            <a:r>
              <a:t>Урок, сформулированный как принцип: ты владеешь каждым ответом бота — как статичной страницей сайта. Юридическая ответственность за ответы AI-агента полностью лежит на компании; «чат-бот ошибся» не является защитой. Критерий: развёртывание чат-бота, отвечающего на вопросы с юридическими последствиями, без автоматической синхронизации с единым источником правды — это support-процесс, не готовый к автоматизации. Альтернатива: RAG-архитектура с единым источником правды, обязательным citation-linking к точному пункту политики в каждом ответе, периодический аудит ответов бота против текущих политик.</a:t>
            </a:r>
          </a:p>
          <a:p>
            <a:r>
              <a:t>Источник: Moffatt v. Air Canada, 2024 BCCRT 149 (14 Feb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Klarna и OpenAI объявили в феврале две тысячи двадцать четвёртого: AI-ассистент обработал два и три десятых миллиона диалогов за первый месяц, выполняя работу семисот штатных агентов. К маю две тысячи двадцать пятого CEO признал разворот: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 это признание, что throughput-метрика без гарантированного человеческого fallback была неверным операционным дизайном.</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edge case, а систематический, воспроизводимый сбой. Мэр признал ошибки, но отказался снять бот с публикации. Третий пример того же класса: пользователь prompt-инъекцией заставил бот дилерского центра Chevrolet согласиться продать автомобиль за один доллар как «юридически обязывающее предложение».</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Критерий: гарантированная эскалация обязательна для спорных кейсов; если десять из десяти одинаковых вопросов дают один незаконный ответ — это систематический сбой, требующий немедленного kill-switch. Альтернатива: tiered-поддержка с явной опцией «поговорить с человеком», детерминированные guardrails под LLM на критичных действиях.</a:t>
            </a:r>
          </a:p>
          <a:p>
            <a:r>
              <a:t>Источник: Bloomberg (8 May 2025); The Markup (29 Mar 2024)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жалоба, вскрывшая регрессию, инцидент с юридическими последствиями — конвертируется в обновление reference dataset, промпта, guardrail, затем в переоценку через evals, снова в прод, а при более глубоком сигнале — обратно в намерение: что мы вообще строим и для кого.</a:t>
            </a:r>
          </a:p>
          <a:p>
            <a:r>
              <a:t>Это keystone-callback: сигнал из эксплуатации меняет намерение — та же петля discover-build-measure-learn-decide, замкнутая. AI изменил стоимость и доверие каждой стрелки асимметрично, но не саму петлю: наблюдать — теперь уязвимо к тихому дрейфу, интерпретировать — теперь нужен мониторинг сегментов, а не только агрегатов, решать — теперь с ответственностью, которую нельзя делегировать боту. Эти шаги остаются человеческими на каждом витке петли, и именно к этому мы вернёмся, когда соберём всю лекцию в разделе шесть.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safety-by-design в дизайне, ответственность за ответ бота в эксплуатации, policy-as-code в дрейфе. Здесь мы поднимаемся на уровень организации: почему сборка почти бесплатна, а ценность — нет.</a:t>
            </a:r>
          </a:p>
          <a:p>
            <a:r>
              <a:t>Сегодня — portfolio governance и unit-экономика с нуля, что показывают пять независимых источников про сдвиг узкого места с технологии на операционную модель, разрешение хук-парадокса s01, провал про скрытую человеческую стоимость под видом автономии, сводная матрица всей лекции и финальный чек-лист.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a:t>
            </a:r>
          </a:p>
          <a:p>
            <a:r>
              <a:t>Механика та же, что мы уже видели на запуске: гейт «продолжать или убить».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финансирования доходят немногие. Это защищает организацию от того, чтобы годами кормить проекты, которые не приносят ценности.</a:t>
            </a:r>
          </a:p>
          <a:p>
            <a:r>
              <a:t>У AI-продукта в этой арифметике появляется своя особенность — стоимость на запрос. Каждое обращение к модели стоит денег, и эту стоимость надо сравнивать с ценностью, которую запрос приносит. Здесь же мы соберём всю лекцию воедино и ответим на вопрос, с которого начали: почему сборка стала почти бесплатной, а превращение её в ценность — нет. И увидим, как громкие цифры провалов и успехов AI разваливаются, стоит задать им четыре простых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a:t>
            </a:r>
          </a:p>
          <a:p>
            <a:r>
              <a:t>Unit-экономика для AI-продукта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У классического SaaS предельная стоимость обслуживания дополнительного пользователя близка к нулю; у AI-продукта каждый вызов стоит реальных денег, и стоимость на запрос не падает с масштабом так, как падала стоимость классического SaaS.</a:t>
            </a:r>
          </a:p>
          <a:p>
            <a:r>
              <a:t>Сделаем требование операциональным. Плохой KPI — «повысить эффективность поддержки»: не измеримо, направление неясно, как time-on-site у Кохави. Хороший — записанный до пилота: мы верим, что AI-триаж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OEC, guardrail-метрики и заранее зафиксированный порог с датой и владельцем — тот же аппарат, что error budget и Stage-Gate, применённый к решению «финансировать ли AI-инициативу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AI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tech-лидеров говорят, что операционная модель должна фундаментально измениться, при этом сорок два процента отчитываются о низком или нулевом ROI. Узкое место — структурное: легаси-модели финансирования и governance работают на старых годовых циклах, тогда как AI-встроенные воркфлоу непрерывны.</a:t>
            </a:r>
          </a:p>
          <a:p>
            <a:r>
              <a:t>Sber maturity 0-5: Level 0 нет интеграции, Level 3 supervised automation, Level 5 «Zero-Friction PDLC», аспирационный. Показательно: Сбер явно позиционирует себя на Level 3, не на аспирационном Level 5 — это дорожная карта, а не «мы всё внедрили». IDP-экономика окупается только при десяти и более продуктовых командах — сам сторонник подхода очерчивает границу, где его подход неуместен.</a:t>
            </a:r>
          </a:p>
          <a:p>
            <a:r>
              <a:t>Gartner даёт самую чёткую фазовую модель принятия агентов и именованный риск — agentwashing: вендоры переименовывают существующие чат-боты в «агентов» без агентных результатов. McKinsey формулирует то же с организационной стороны: ценность приходит только при редизайне операционной модели, а не при внедрении точечного инструмента. Forrester добавляет числа: улучшения только на кодировании дают тридцать-сорок процентов прироста, но прирост продуктивности команды без end-to-end адаптации — менее десяти процентов. Практический вывод: если ваша AI-инициатива буксует, первый вопрос — не «нужна ли модель побольше», а «есть ли у неё владелец, финансовый KPI и governance-цикл».</a:t>
            </a:r>
          </a:p>
          <a:p>
            <a:r>
              <a:t>Источник: Deloitte 2026 Global Technology Leadership Study; Gartner 5-stage agent adoption curve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MIT Project NANDA, растиражированный как «девяносто пять процентов организаций получают нулевую отдачу». Реальная воронка кастомного трека в самом отчёте: шестьдесят процентов организаций исследовали, двадцать процентов запустили пилот, пять процентов успешно внедрили. Показатель успеха среди дошедших до пилота — пять из двадцати, двадцать пять процентов, а не «девяносто пять процентов пилотов провалились». Отдельно — неразглашённый конфликт интересов: все четыре автора строят или продают agentic-AI продукты через тот же проект.</a:t>
            </a:r>
          </a:p>
          <a:p>
            <a:r>
              <a:t>Извлечём переносимый навык через четыре вопроса. Первый: каков денаминатор — девяносто пять процентов от всех организаций, включая никогда всерьёз не пилотировавших. Второй: что считается провалом — «не окупилось в сроки», «заброшено» и «работает, но не приносит ценности» — три разных события. Третий: каков конфликт интересов автора. Четвёртый: прослеживается ли цифра к первоисточнику с методологией.</a:t>
            </a:r>
          </a:p>
          <a:p>
            <a:r>
              <a:t>Мета-урок про RAND: широко растиражированная «точная» цифра восемьдесят целых три десятых процента отсутствует в самом отчёте RAND — это вторичная фабрикация точности, структурно идентичная провалу Deloitte из раздела один. Триангуляция: Gartner — только двадцать восемь процентов AI-кейсов полностью успешны; S&amp;P — сорок два процента компаний планируют отказаться от инициатив, рост с семнадцати процентов годом ранее; BCG — шестьдесят процентов компаний не отслеживают ни одного финансового KPI. Все источники указывают на один корень: не «модель плоха», а «нет заранее согласованного финансового критерия». Урок: критически проверяйте денаминатор, прежде чем использовать цифру как аргумент в решении.</a:t>
            </a:r>
          </a:p>
          <a:p>
            <a:r>
              <a:t>Источник: MIT Project NANDA 'The GenAI Divide' (July 2025, v0.1); Gartner (7 Apr 2026); BCG (Sep 2025)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Amazon позиционировал Just Walk Out как чистое компьютерное зрение без раскрытия участия людей. Расследование показало: около тысячи работников в Индии просматривали видео для разметки неоднозначных транзакций. Ключевая цифра: в две тысячи двадцать втором семьсот из тысячи транзакций требовали ручной проверки против внутренней цели всего пятьдесят из тысячи — фактический показатель был примерно в четырнадцать раз выше целевого. В апреле две тысячи двадцать четвёртого Amazon объявил об удалении технологии из большинства магазинов Amazon Fresh в США.</a:t>
            </a:r>
          </a:p>
          <a:p>
            <a:r>
              <a:t>Механизм: реальное ограничение точности компьютерного зрения на разнообразии товаров плюс governance-провал — шесть лет маркетинга автономного AI без раскрытия реального масштаба человеческого труда. Это паттерн «Wizard-of-Oz AI» — скрытый человеческий труд под видом автономии. Голая цифра «участвовала тысяча работников» позволяет формально быть правым — люди аннотировали видео, а не следили вживую. Но правильный counterfactual — не участвовали ли люди, а насколько фактическое вмешательство превысило целевое: четырнадцатикратное превышение.</a:t>
            </a:r>
          </a:p>
          <a:p>
            <a:r>
              <a:t>Урок: заявления об автономности должны быть проверяемы и включать честное раскрытие доли human-in-the-loop. Критерий hidden human cost: если для приемлемой точности требуется ручная проверка кратно выше целевого порога — заявленная автономность не достигнута. Соберём теперь все шесть фаз в единую матрицу: для каждой фазы — что AI меняет в стоимости и доверии, какая классика остаётся, когда AI-first ломается, и какие провалы это иллюстрируют. Матрица — не для заучивания, а для применения: встретив новый провал в новостях, определите фазу, нарушенную классику и критерий — это и есть тренируемый навык распознавания.</a:t>
            </a:r>
          </a:p>
          <a:p>
            <a:r>
              <a:t>Источник: The Information (3 Apr 2024)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дошедших до пилота, а не пять процентов всех.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Классическая дисциплина каждой фазы не отменяется: она — аппарат отличения сигнала от шума, доведённый до операциональной формы. Изменилось: стоимость сборки, скорость исследования, скорость прототипа, скорость наблюдения. Осталось человеческим: формулирование намерения, суждение о сигнале против шума, ответственность за каждый ответ продукта, решение «здесь AI не тот инструмент», governance с владельцем.</a:t>
            </a:r>
          </a:p>
          <a:p>
            <a:r>
              <a:t>Практический аппарат — чек-лист из восьми вопросов, которым вы проверяете любую фазу перед тем, как делать её AI-first: классика на месте, стоит ли доверие цены, есть ли eval и reference dataset, есть ли guardrail-метрика, раскатываем ли постепенно с возможностью отката, есть ли гарантированная эскалация к человеку, кто отвечает за результат, безопасны ли данные. Если хотя бы на один вопрос ответ «нет» — это не значит «не применять AI», это значит «здесь есть структурный пробел, который нужно закрыть до, а не после».</a:t>
            </a:r>
          </a:p>
          <a:p>
            <a:r>
              <a:t>Курс не учит «применяйте AI больше» и не учит «бойтесь AI» — он учит говорить обоснованное «да» и обоснованное «нет». На парном семинаре вы пройдёте ту же петлю на учебном AI-продукте — от гипотезы через reference dataset и три оценки до guardrail-метрики и точки эскалации к человеку. 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image" Target="../media/image47.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4.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60.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image" Target="../media/image6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6.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image" Target="../media/image68.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60.png"/><Relationship Id="rId4" Type="http://schemas.openxmlformats.org/officeDocument/2006/relationships/image" Target="../media/image70.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image" Target="../media/image1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image" Target="../media/image77.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55680" cy="86868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325880"/>
            <a:ext cx="6720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1005840" y="1737360"/>
            <a:ext cx="1051560" cy="1051560"/>
          </a:xfrm>
          <a:prstGeom prst="rect">
            <a:avLst/>
          </a:prstGeom>
        </p:spPr>
      </p:pic>
      <p:sp>
        <p:nvSpPr>
          <p:cNvPr id="5" name="TextBox 4"/>
          <p:cNvSpPr txBox="1"/>
          <p:nvPr/>
        </p:nvSpPr>
        <p:spPr>
          <a:xfrm>
            <a:off x="2286000" y="1828800"/>
            <a:ext cx="4617720" cy="822960"/>
          </a:xfrm>
          <a:prstGeom prst="rect">
            <a:avLst/>
          </a:prstGeom>
          <a:noFill/>
        </p:spPr>
        <p:txBody>
          <a:bodyPr wrap="square" lIns="0" rIns="0" tIns="0" bIns="0" anchor="ctr">
            <a:spAutoFit/>
          </a:bodyPr>
          <a:lstStyle/>
          <a:p>
            <a:pPr algn="l">
              <a:lnSpc>
                <a:spcPct val="105000"/>
              </a:lnSpc>
            </a:pPr>
            <a:r>
              <a:rPr sz="1600" b="1" i="0">
                <a:solidFill>
                  <a:srgbClr val="065A82"/>
                </a:solidFill>
                <a:latin typeface="DejaVu Sans"/>
              </a:rPr>
              <a:t>Недели работы → часы</a:t>
            </a:r>
          </a:p>
        </p:txBody>
      </p:sp>
      <p:sp>
        <p:nvSpPr>
          <p:cNvPr id="6" name="TextBox 5"/>
          <p:cNvSpPr txBox="1"/>
          <p:nvPr/>
        </p:nvSpPr>
        <p:spPr>
          <a:xfrm>
            <a:off x="2286000" y="2514600"/>
            <a:ext cx="4617720" cy="36576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внутренний опыт Anthropic</a:t>
            </a:r>
          </a:p>
        </p:txBody>
      </p:sp>
      <p:cxnSp>
        <p:nvCxnSpPr>
          <p:cNvPr id="7" name="Connector 6"/>
          <p:cNvCxnSpPr/>
          <p:nvPr/>
        </p:nvCxnSpPr>
        <p:spPr>
          <a:xfrm>
            <a:off x="777240" y="3063239"/>
            <a:ext cx="6172200" cy="0"/>
          </a:xfrm>
          <a:prstGeom prst="line">
            <a:avLst/>
          </a:prstGeom>
          <a:ln w="19050">
            <a:solidFill>
              <a:srgbClr val="E5EAF0"/>
            </a:solidFill>
            <a:prstDash val="dash"/>
          </a:ln>
        </p:spPr>
        <p:style>
          <a:lnRef idx="2">
            <a:schemeClr val="accent1"/>
          </a:lnRef>
          <a:fillRef idx="0">
            <a:schemeClr val="accent1"/>
          </a:fillRef>
          <a:effectRef idx="1">
            <a:schemeClr val="accent1"/>
          </a:effectRef>
          <a:fontRef idx="minor">
            <a:schemeClr val="tx1"/>
          </a:fontRef>
        </p:style>
      </p:cxnSp>
      <p:pic>
        <p:nvPicPr>
          <p:cNvPr id="8" name="Picture 7" descr="funnel-teal.png"/>
          <p:cNvPicPr>
            <a:picLocks noChangeAspect="1"/>
          </p:cNvPicPr>
          <p:nvPr/>
        </p:nvPicPr>
        <p:blipFill>
          <a:blip r:embed="rId3"/>
          <a:stretch>
            <a:fillRect/>
          </a:stretch>
        </p:blipFill>
        <p:spPr>
          <a:xfrm>
            <a:off x="1005840" y="3246120"/>
            <a:ext cx="1051560" cy="1051560"/>
          </a:xfrm>
          <a:prstGeom prst="rect">
            <a:avLst/>
          </a:prstGeom>
        </p:spPr>
      </p:pic>
      <p:sp>
        <p:nvSpPr>
          <p:cNvPr id="9" name="TextBox 8"/>
          <p:cNvSpPr txBox="1"/>
          <p:nvPr/>
        </p:nvSpPr>
        <p:spPr>
          <a:xfrm>
            <a:off x="2286000" y="3337560"/>
            <a:ext cx="4617720" cy="822960"/>
          </a:xfrm>
          <a:prstGeom prst="rect">
            <a:avLst/>
          </a:prstGeom>
          <a:noFill/>
        </p:spPr>
        <p:txBody>
          <a:bodyPr wrap="square" lIns="0" rIns="0" tIns="0" bIns="0" anchor="ctr">
            <a:spAutoFit/>
          </a:bodyPr>
          <a:lstStyle/>
          <a:p>
            <a:pPr algn="l">
              <a:lnSpc>
                <a:spcPct val="105000"/>
              </a:lnSpc>
            </a:pPr>
            <a:r>
              <a:rPr sz="1600" b="1" i="0">
                <a:solidFill>
                  <a:srgbClr val="028090"/>
                </a:solidFill>
                <a:latin typeface="DejaVu Sans"/>
              </a:rPr>
              <a:t>~95% пилотов — ноль отдачи</a:t>
            </a:r>
          </a:p>
        </p:txBody>
      </p:sp>
      <p:sp>
        <p:nvSpPr>
          <p:cNvPr id="10" name="TextBox 9"/>
          <p:cNvSpPr txBox="1"/>
          <p:nvPr/>
        </p:nvSpPr>
        <p:spPr>
          <a:xfrm>
            <a:off x="2286000" y="4023360"/>
            <a:ext cx="4617720" cy="36576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MIT, лето 2025</a:t>
            </a:r>
          </a:p>
        </p:txBody>
      </p:sp>
      <p:sp>
        <p:nvSpPr>
          <p:cNvPr id="11" name="Rounded Rectangle 10"/>
          <p:cNvSpPr/>
          <p:nvPr/>
        </p:nvSpPr>
        <p:spPr>
          <a:xfrm>
            <a:off x="7452360" y="1325880"/>
            <a:ext cx="42519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01-this-is-fine.jpg"/>
          <p:cNvPicPr>
            <a:picLocks noChangeAspect="1"/>
          </p:cNvPicPr>
          <p:nvPr/>
        </p:nvPicPr>
        <p:blipFill>
          <a:blip r:embed="rId4"/>
          <a:stretch>
            <a:fillRect/>
          </a:stretch>
        </p:blipFill>
        <p:spPr>
          <a:xfrm>
            <a:off x="7598664" y="1986407"/>
            <a:ext cx="3959352" cy="1925064"/>
          </a:xfrm>
          <a:prstGeom prst="rect">
            <a:avLst/>
          </a:prstGeom>
        </p:spPr>
      </p:pic>
      <p:sp>
        <p:nvSpPr>
          <p:cNvPr id="13" name="Rounded Rectangle 12"/>
          <p:cNvSpPr/>
          <p:nvPr/>
        </p:nvSpPr>
        <p:spPr>
          <a:xfrm>
            <a:off x="502920" y="475488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809744"/>
            <a:ext cx="10762488" cy="75895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Оба факта правдивы одновременно: сборка стала почти бесплатной, а превращение сборки в ценность — нет. Как это возможно? Держите вопрос — мы вернёмся к нему в конце лекции.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AI»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sp>
        <p:nvSpPr>
          <p:cNvPr id="3" name="Rounded Rectangle 2"/>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3575304" y="1444752"/>
            <a:ext cx="438912" cy="438912"/>
          </a:xfrm>
          <a:prstGeom prst="rect">
            <a:avLst/>
          </a:prstGeom>
        </p:spPr>
      </p:pic>
      <p:sp>
        <p:nvSpPr>
          <p:cNvPr id="5" name="TextBox 4"/>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6" name="Rounded Rectangle 5"/>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cil-mid.png"/>
          <p:cNvPicPr>
            <a:picLocks noChangeAspect="1"/>
          </p:cNvPicPr>
          <p:nvPr/>
        </p:nvPicPr>
        <p:blipFill>
          <a:blip r:embed="rId3"/>
          <a:stretch>
            <a:fillRect/>
          </a:stretch>
        </p:blipFill>
        <p:spPr>
          <a:xfrm>
            <a:off x="5198685" y="2382012"/>
            <a:ext cx="438912" cy="438912"/>
          </a:xfrm>
          <a:prstGeom prst="rect">
            <a:avLst/>
          </a:prstGeom>
        </p:spPr>
      </p:pic>
      <p:sp>
        <p:nvSpPr>
          <p:cNvPr id="8" name="TextBox 7"/>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9" name="Rounded Rectangle 8"/>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mmer-mid.png"/>
          <p:cNvPicPr>
            <a:picLocks noChangeAspect="1"/>
          </p:cNvPicPr>
          <p:nvPr/>
        </p:nvPicPr>
        <p:blipFill>
          <a:blip r:embed="rId4"/>
          <a:stretch>
            <a:fillRect/>
          </a:stretch>
        </p:blipFill>
        <p:spPr>
          <a:xfrm>
            <a:off x="5198685" y="4256531"/>
            <a:ext cx="438912" cy="438912"/>
          </a:xfrm>
          <a:prstGeom prst="rect">
            <a:avLst/>
          </a:prstGeom>
        </p:spPr>
      </p:pic>
      <p:sp>
        <p:nvSpPr>
          <p:cNvPr id="11" name="TextBox 10"/>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2" name="Rounded Rectangle 11"/>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uler-mid.png"/>
          <p:cNvPicPr>
            <a:picLocks noChangeAspect="1"/>
          </p:cNvPicPr>
          <p:nvPr/>
        </p:nvPicPr>
        <p:blipFill>
          <a:blip r:embed="rId5"/>
          <a:stretch>
            <a:fillRect/>
          </a:stretch>
        </p:blipFill>
        <p:spPr>
          <a:xfrm>
            <a:off x="3575304" y="5193792"/>
            <a:ext cx="438912" cy="438912"/>
          </a:xfrm>
          <a:prstGeom prst="rect">
            <a:avLst/>
          </a:prstGeom>
        </p:spPr>
      </p:pic>
      <p:sp>
        <p:nvSpPr>
          <p:cNvPr id="14" name="TextBox 13"/>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15" name="Rounded Rectangle 14"/>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17" name="TextBox 16"/>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18" name="Rounded Rectangle 17"/>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cale-mid.png"/>
          <p:cNvPicPr>
            <a:picLocks noChangeAspect="1"/>
          </p:cNvPicPr>
          <p:nvPr/>
        </p:nvPicPr>
        <p:blipFill>
          <a:blip r:embed="rId7"/>
          <a:stretch>
            <a:fillRect/>
          </a:stretch>
        </p:blipFill>
        <p:spPr>
          <a:xfrm>
            <a:off x="1951922" y="2382012"/>
            <a:ext cx="438912" cy="438912"/>
          </a:xfrm>
          <a:prstGeom prst="rect">
            <a:avLst/>
          </a:prstGeom>
        </p:spPr>
      </p:pic>
      <p:sp>
        <p:nvSpPr>
          <p:cNvPr id="20" name="TextBox 19"/>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1" name="TextBox 20"/>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2" name="TextBox 21"/>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3" name="TextBox 22"/>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24" name="TextBox 23"/>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25" name="TextBox 24"/>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26" name="TextBox 25"/>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27" name="TextBox 26"/>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28" name="Rounded Rectangle 27"/>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371600"/>
            <a:ext cx="11201400" cy="2606040"/>
          </a:xfrm>
          <a:prstGeom prst="roundRect">
            <a:avLst>
              <a:gd name="adj" fmla="val 1169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5486400" cy="32004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pic>
        <p:nvPicPr>
          <p:cNvPr id="5" name="Picture 4" descr="layers-teal.png"/>
          <p:cNvPicPr>
            <a:picLocks noChangeAspect="1"/>
          </p:cNvPicPr>
          <p:nvPr/>
        </p:nvPicPr>
        <p:blipFill>
          <a:blip r:embed="rId2"/>
          <a:stretch>
            <a:fillRect/>
          </a:stretch>
        </p:blipFill>
        <p:spPr>
          <a:xfrm>
            <a:off x="777240" y="3429000"/>
            <a:ext cx="457200" cy="457200"/>
          </a:xfrm>
          <a:prstGeom prst="rect">
            <a:avLst/>
          </a:prstGeom>
        </p:spPr>
      </p:pic>
      <p:sp>
        <p:nvSpPr>
          <p:cNvPr id="6" name="TextBox 5"/>
          <p:cNvSpPr txBox="1"/>
          <p:nvPr/>
        </p:nvSpPr>
        <p:spPr>
          <a:xfrm>
            <a:off x="1371600" y="3429000"/>
            <a:ext cx="553212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7" name="Rounded Rectangle 6"/>
          <p:cNvSpPr/>
          <p:nvPr/>
        </p:nvSpPr>
        <p:spPr>
          <a:xfrm>
            <a:off x="7223760" y="1874519"/>
            <a:ext cx="4251960" cy="1828800"/>
          </a:xfrm>
          <a:prstGeom prst="roundRect">
            <a:avLst>
              <a:gd name="adj" fmla="val 16666"/>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2011680"/>
            <a:ext cx="3931920" cy="292608"/>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Цикл кода (Лекция 4)</a:t>
            </a:r>
          </a:p>
        </p:txBody>
      </p:sp>
      <p:sp>
        <p:nvSpPr>
          <p:cNvPr id="9" name="TextBox 8"/>
          <p:cNvSpPr txBox="1"/>
          <p:nvPr/>
        </p:nvSpPr>
        <p:spPr>
          <a:xfrm>
            <a:off x="7406640" y="2395728"/>
            <a:ext cx="3931920" cy="1097280"/>
          </a:xfrm>
          <a:prstGeom prst="rect">
            <a:avLst/>
          </a:prstGeom>
          <a:noFill/>
        </p:spPr>
        <p:txBody>
          <a:bodyPr wrap="square" lIns="0" rIns="0" tIns="0" bIns="0" anchor="t">
            <a:spAutoFit/>
          </a:bodyPr>
          <a:lstStyle/>
          <a:p>
            <a:pPr algn="l">
              <a:lnSpc>
                <a:spcPct val="120000"/>
              </a:lnSpc>
            </a:pPr>
            <a:r>
              <a:rPr sz="1200" b="0" i="1">
                <a:solidFill>
                  <a:srgbClr val="5B6678"/>
                </a:solidFill>
                <a:latin typeface="DejaVu Sans"/>
              </a:rPr>
              <a:t>спека → ADR → план → PR → инцидент</a:t>
            </a:r>
          </a:p>
        </p:txBody>
      </p:sp>
      <p:pic>
        <p:nvPicPr>
          <p:cNvPr id="10" name="Picture 9" descr="git-branch-teal.png"/>
          <p:cNvPicPr>
            <a:picLocks noChangeAspect="1"/>
          </p:cNvPicPr>
          <p:nvPr/>
        </p:nvPicPr>
        <p:blipFill>
          <a:blip r:embed="rId3"/>
          <a:stretch>
            <a:fillRect/>
          </a:stretch>
        </p:blipFill>
        <p:spPr>
          <a:xfrm>
            <a:off x="7406640" y="3017520"/>
            <a:ext cx="457200" cy="457200"/>
          </a:xfrm>
          <a:prstGeom prst="rect">
            <a:avLst/>
          </a:prstGeom>
        </p:spPr>
      </p:pic>
      <p:sp>
        <p:nvSpPr>
          <p:cNvPr id="11" name="Rounded Rectangle 10"/>
          <p:cNvSpPr/>
          <p:nvPr/>
        </p:nvSpPr>
        <p:spPr>
          <a:xfrm>
            <a:off x="502920" y="3977639"/>
            <a:ext cx="1120140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96512"/>
            <a:ext cx="10652760" cy="1280160"/>
          </a:xfrm>
          <a:prstGeom prst="rect">
            <a:avLst/>
          </a:prstGeom>
          <a:noFill/>
        </p:spPr>
        <p:txBody>
          <a:bodyPr wrap="square" lIns="0" rIns="0" tIns="0" bIns="0" anchor="ctr">
            <a:spAutoFit/>
          </a:bodyPr>
          <a:lstStyle/>
          <a:p>
            <a:pPr algn="l">
              <a:lnSpc>
                <a:spcPct val="118000"/>
              </a:lnSpc>
            </a:pPr>
            <a:r>
              <a:rPr sz="1700" b="1" i="0">
                <a:solidFill>
                  <a:srgbClr val="21295C"/>
                </a:solidFill>
                <a:latin typeface="DejaVu Sans"/>
              </a:rPr>
              <a:t>Когда AI сделал сборку почти бесплатной — что стало настоящим узким местом продукта, и на каждой фазе цикла: какая классическая дисциплина остаётся, что AI ускоряет, и где AI-first ломается?</a:t>
            </a:r>
          </a:p>
        </p:txBody>
      </p:sp>
      <p:sp>
        <p:nvSpPr>
          <p:cNvPr id="13" name="Rounded Rectangle 12"/>
          <p:cNvSpPr/>
          <p:nvPr/>
        </p:nvSpPr>
        <p:spPr>
          <a:xfrm>
            <a:off x="502920" y="562356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678424"/>
            <a:ext cx="10762488" cy="43891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Единица работы Лекции 4 — pull request (запрос на слияние кода). Единица работы здесь — гипотеза, эксперимент, релиз-решение.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AI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Rectangle 5"/>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8" name="Rounded Rectangle 7"/>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9" name="TextBox 8"/>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10" name="Rounded Rectangle 9"/>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2" name="TextBox 11"/>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3" name="Rounded Rectangle 12"/>
          <p:cNvSpPr/>
          <p:nvPr/>
        </p:nvSpPr>
        <p:spPr>
          <a:xfrm>
            <a:off x="2116182"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5" name="TextBox 14"/>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6" name="Rounded Rectangle 15"/>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8" name="TextBox 17"/>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9" name="Rounded Rectangle 18"/>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1" name="TextBox 20"/>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2" name="Rounded Rectangle 21"/>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4" name="TextBox 23"/>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5" name="Rounded Rectangle 24"/>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7" name="TextBox 26"/>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8" name="Rounded Rectangle 27"/>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30" name="TextBox 29"/>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Внутри офиса нет фактов — факты снаружи. Записываете гипотезу, выходите к людям, проверяете. AI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a:t>
            </a:r>
          </a:p>
        </p:txBody>
      </p:sp>
      <p:sp>
        <p:nvSpPr>
          <p:cNvPr id="3" name="Rounded Rectangle 2"/>
          <p:cNvSpPr/>
          <p:nvPr/>
        </p:nvSpPr>
        <p:spPr>
          <a:xfrm>
            <a:off x="50292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581912"/>
            <a:ext cx="457200" cy="457200"/>
          </a:xfrm>
          <a:prstGeom prst="rect">
            <a:avLst/>
          </a:prstGeom>
        </p:spPr>
      </p:pic>
      <p:sp>
        <p:nvSpPr>
          <p:cNvPr id="5" name="TextBox 4"/>
          <p:cNvSpPr txBox="1"/>
          <p:nvPr/>
        </p:nvSpPr>
        <p:spPr>
          <a:xfrm>
            <a:off x="72237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581912"/>
            <a:ext cx="457200" cy="457200"/>
          </a:xfrm>
          <a:prstGeom prst="rect">
            <a:avLst/>
          </a:prstGeom>
        </p:spPr>
      </p:pic>
      <p:sp>
        <p:nvSpPr>
          <p:cNvPr id="9" name="TextBox 8"/>
          <p:cNvSpPr txBox="1"/>
          <p:nvPr/>
        </p:nvSpPr>
        <p:spPr>
          <a:xfrm>
            <a:off x="451713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581912"/>
            <a:ext cx="457200" cy="457200"/>
          </a:xfrm>
          <a:prstGeom prst="rect">
            <a:avLst/>
          </a:prstGeom>
        </p:spPr>
      </p:pic>
      <p:sp>
        <p:nvSpPr>
          <p:cNvPr id="13" name="TextBox 12"/>
          <p:cNvSpPr txBox="1"/>
          <p:nvPr/>
        </p:nvSpPr>
        <p:spPr>
          <a:xfrm>
            <a:off x="831189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383280"/>
            <a:ext cx="5440680" cy="123444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20440"/>
            <a:ext cx="4983480" cy="320040"/>
          </a:xfrm>
          <a:prstGeom prst="rect">
            <a:avLst/>
          </a:prstGeom>
          <a:noFill/>
        </p:spPr>
        <p:txBody>
          <a:bodyPr wrap="square" lIns="0" rIns="0" tIns="0" bIns="0" anchor="t">
            <a:spAutoFit/>
          </a:bodyPr>
          <a:lstStyle/>
          <a:p>
            <a:pPr algn="l">
              <a:lnSpc>
                <a:spcPct val="115000"/>
              </a:lnSpc>
            </a:pPr>
            <a:r>
              <a:rPr sz="1250" b="1" i="0">
                <a:solidFill>
                  <a:srgbClr val="5B6678"/>
                </a:solidFill>
                <a:latin typeface="DejaVu Sans"/>
              </a:rPr>
              <a:t>Плохо</a:t>
            </a:r>
          </a:p>
        </p:txBody>
      </p:sp>
      <p:sp>
        <p:nvSpPr>
          <p:cNvPr id="17" name="TextBox 16"/>
          <p:cNvSpPr txBox="1"/>
          <p:nvPr/>
        </p:nvSpPr>
        <p:spPr>
          <a:xfrm>
            <a:off x="731520" y="3858768"/>
            <a:ext cx="4983480" cy="685800"/>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383280"/>
            <a:ext cx="5532120" cy="1234440"/>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520440"/>
            <a:ext cx="5074920" cy="32004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Хорошо</a:t>
            </a:r>
          </a:p>
        </p:txBody>
      </p:sp>
      <p:sp>
        <p:nvSpPr>
          <p:cNvPr id="20" name="TextBox 19"/>
          <p:cNvSpPr txBox="1"/>
          <p:nvPr/>
        </p:nvSpPr>
        <p:spPr>
          <a:xfrm>
            <a:off x="6400800" y="3858768"/>
            <a:ext cx="5074920" cy="685800"/>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Качественное отвечает «почему» на маленькой выборке и порождает гипотезы; количественное отвечает «сколько» в масштабе и проверяет уже существующую гипотезу — не иерархия, а разделение труда.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72237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a:t>
            </a:r>
          </a:p>
        </p:txBody>
      </p:sp>
      <p:sp>
        <p:nvSpPr>
          <p:cNvPr id="7" name="Rounded Rectangle 6"/>
          <p:cNvSpPr/>
          <p:nvPr/>
        </p:nvSpPr>
        <p:spPr>
          <a:xfrm>
            <a:off x="2697480" y="1600200"/>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451713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a:t>
            </a:r>
          </a:p>
        </p:txBody>
      </p:sp>
      <p:sp>
        <p:nvSpPr>
          <p:cNvPr id="12" name="Rounded Rectangle 11"/>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600200"/>
            <a:ext cx="512064" cy="512064"/>
          </a:xfrm>
          <a:prstGeom prst="rect">
            <a:avLst/>
          </a:prstGeom>
        </p:spPr>
      </p:pic>
      <p:sp>
        <p:nvSpPr>
          <p:cNvPr id="14" name="TextBox 13"/>
          <p:cNvSpPr txBox="1"/>
          <p:nvPr/>
        </p:nvSpPr>
        <p:spPr>
          <a:xfrm>
            <a:off x="831189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56616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21024"/>
            <a:ext cx="10762488" cy="548640"/>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a:t>
            </a:r>
          </a:p>
        </p:txBody>
      </p:sp>
      <p:sp>
        <p:nvSpPr>
          <p:cNvPr id="18" name="Rounded Rectangle 17"/>
          <p:cNvSpPr/>
          <p:nvPr/>
        </p:nvSpPr>
        <p:spPr>
          <a:xfrm>
            <a:off x="502920" y="4434840"/>
            <a:ext cx="11201400" cy="12344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553712"/>
            <a:ext cx="10652760" cy="1005840"/>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417320"/>
            <a:ext cx="39319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1965960" y="1737360"/>
            <a:ext cx="1005840" cy="1005840"/>
          </a:xfrm>
          <a:prstGeom prst="rect">
            <a:avLst/>
          </a:prstGeom>
        </p:spPr>
      </p:pic>
      <p:sp>
        <p:nvSpPr>
          <p:cNvPr id="5" name="TextBox 4"/>
          <p:cNvSpPr txBox="1"/>
          <p:nvPr/>
        </p:nvSpPr>
        <p:spPr>
          <a:xfrm>
            <a:off x="731520" y="2880360"/>
            <a:ext cx="3474720" cy="1417320"/>
          </a:xfrm>
          <a:prstGeom prst="rect">
            <a:avLst/>
          </a:prstGeom>
          <a:noFill/>
        </p:spPr>
        <p:txBody>
          <a:bodyPr wrap="square" lIns="0" rIns="0" tIns="0" bIns="0" anchor="t">
            <a:spAutoFit/>
          </a:bodyPr>
          <a:lstStyle/>
          <a:p>
            <a:pPr algn="ctr">
              <a:lnSpc>
                <a:spcPct val="118000"/>
              </a:lnSpc>
            </a:pPr>
            <a:r>
              <a:rPr sz="1250" b="0" i="0">
                <a:solidFill>
                  <a:srgbClr val="21295C"/>
                </a:solidFill>
                <a:latin typeface="DejaVu Sans"/>
              </a:rPr>
              <a:t>Зеркало согласия: синтетический собеседник структурно не может отразить несогласие — у него нет реального прошлого, способного противоречить формулировке вопроса.</a:t>
            </a:r>
          </a:p>
        </p:txBody>
      </p:sp>
      <p:sp>
        <p:nvSpPr>
          <p:cNvPr id="6" name="TextBox 5"/>
          <p:cNvSpPr txBox="1"/>
          <p:nvPr/>
        </p:nvSpPr>
        <p:spPr>
          <a:xfrm>
            <a:off x="4709160" y="1417320"/>
            <a:ext cx="69951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7" name="Rounded Rectangle 6"/>
          <p:cNvSpPr/>
          <p:nvPr/>
        </p:nvSpPr>
        <p:spPr>
          <a:xfrm>
            <a:off x="4709160" y="192024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92024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9" name="Picture 8" descr="shield-alert-mid.png"/>
          <p:cNvPicPr>
            <a:picLocks noChangeAspect="1"/>
          </p:cNvPicPr>
          <p:nvPr/>
        </p:nvPicPr>
        <p:blipFill>
          <a:blip r:embed="rId3"/>
          <a:stretch>
            <a:fillRect/>
          </a:stretch>
        </p:blipFill>
        <p:spPr>
          <a:xfrm>
            <a:off x="4837176" y="2057400"/>
            <a:ext cx="384048" cy="384048"/>
          </a:xfrm>
          <a:prstGeom prst="rect">
            <a:avLst/>
          </a:prstGeom>
        </p:spPr>
      </p:pic>
      <p:sp>
        <p:nvSpPr>
          <p:cNvPr id="10" name="Rounded Rectangle 9"/>
          <p:cNvSpPr/>
          <p:nvPr/>
        </p:nvSpPr>
        <p:spPr>
          <a:xfrm>
            <a:off x="4709160" y="269748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269748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12" name="Picture 11" descr="shield-alert-mid.png"/>
          <p:cNvPicPr>
            <a:picLocks noChangeAspect="1"/>
          </p:cNvPicPr>
          <p:nvPr/>
        </p:nvPicPr>
        <p:blipFill>
          <a:blip r:embed="rId3"/>
          <a:stretch>
            <a:fillRect/>
          </a:stretch>
        </p:blipFill>
        <p:spPr>
          <a:xfrm>
            <a:off x="4837176" y="2834640"/>
            <a:ext cx="384048" cy="384048"/>
          </a:xfrm>
          <a:prstGeom prst="rect">
            <a:avLst/>
          </a:prstGeom>
        </p:spPr>
      </p:pic>
      <p:sp>
        <p:nvSpPr>
          <p:cNvPr id="13" name="Rounded Rectangle 12"/>
          <p:cNvSpPr/>
          <p:nvPr/>
        </p:nvSpPr>
        <p:spPr>
          <a:xfrm>
            <a:off x="4709160" y="347472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47472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15" name="Picture 14" descr="shield-alert-mid.png"/>
          <p:cNvPicPr>
            <a:picLocks noChangeAspect="1"/>
          </p:cNvPicPr>
          <p:nvPr/>
        </p:nvPicPr>
        <p:blipFill>
          <a:blip r:embed="rId3"/>
          <a:stretch>
            <a:fillRect/>
          </a:stretch>
        </p:blipFill>
        <p:spPr>
          <a:xfrm>
            <a:off x="4837176" y="3611879"/>
            <a:ext cx="384048" cy="384048"/>
          </a:xfrm>
          <a:prstGeom prst="rect">
            <a:avLst/>
          </a:prstGeom>
        </p:spPr>
      </p:pic>
      <p:sp>
        <p:nvSpPr>
          <p:cNvPr id="16" name="Rounded Rectangle 15"/>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AI-резюме теряет 20-40% деталей интервью (Torres), если пропущен шаг «сначала по отдельности» — прослеживаемый до конкретного шага сбой, не расплывчатое «AI иногда ошибается».</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pikachu.jpg"/>
          <p:cNvPicPr>
            <a:picLocks noChangeAspect="1"/>
          </p:cNvPicPr>
          <p:nvPr/>
        </p:nvPicPr>
        <p:blipFill>
          <a:blip r:embed="rId2"/>
          <a:stretch>
            <a:fillRect/>
          </a:stretch>
        </p:blipFill>
        <p:spPr>
          <a:xfrm>
            <a:off x="1270322" y="1545336"/>
            <a:ext cx="2625715" cy="2624328"/>
          </a:xfrm>
          <a:prstGeom prst="rect">
            <a:avLst/>
          </a:prstGeom>
        </p:spPr>
      </p:pic>
      <p:sp>
        <p:nvSpPr>
          <p:cNvPr id="5" name="Rounded Rectangle 4"/>
          <p:cNvSpPr/>
          <p:nvPr/>
        </p:nvSpPr>
        <p:spPr>
          <a:xfrm>
            <a:off x="4892040" y="1417320"/>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11496" y="1490472"/>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7" name="Picture 6" descr="check-check-mid.png"/>
          <p:cNvPicPr>
            <a:picLocks noChangeAspect="1"/>
          </p:cNvPicPr>
          <p:nvPr/>
        </p:nvPicPr>
        <p:blipFill>
          <a:blip r:embed="rId3"/>
          <a:stretch>
            <a:fillRect/>
          </a:stretch>
        </p:blipFill>
        <p:spPr>
          <a:xfrm>
            <a:off x="5148072" y="1847088"/>
            <a:ext cx="329184" cy="329184"/>
          </a:xfrm>
          <a:prstGeom prst="rect">
            <a:avLst/>
          </a:prstGeom>
        </p:spPr>
      </p:pic>
      <p:pic>
        <p:nvPicPr>
          <p:cNvPr id="8" name="Picture 7" descr="check-check-mid.png"/>
          <p:cNvPicPr>
            <a:picLocks noChangeAspect="1"/>
          </p:cNvPicPr>
          <p:nvPr/>
        </p:nvPicPr>
        <p:blipFill>
          <a:blip r:embed="rId3"/>
          <a:stretch>
            <a:fillRect/>
          </a:stretch>
        </p:blipFill>
        <p:spPr>
          <a:xfrm>
            <a:off x="5532120" y="1847088"/>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916168" y="1847088"/>
            <a:ext cx="329184" cy="329184"/>
          </a:xfrm>
          <a:prstGeom prst="rect">
            <a:avLst/>
          </a:prstGeom>
        </p:spPr>
      </p:pic>
      <p:pic>
        <p:nvPicPr>
          <p:cNvPr id="10" name="Picture 9" descr="x-light.png"/>
          <p:cNvPicPr>
            <a:picLocks noChangeAspect="1"/>
          </p:cNvPicPr>
          <p:nvPr/>
        </p:nvPicPr>
        <p:blipFill>
          <a:blip r:embed="rId4"/>
          <a:stretch>
            <a:fillRect/>
          </a:stretch>
        </p:blipFill>
        <p:spPr>
          <a:xfrm>
            <a:off x="6300216" y="1847088"/>
            <a:ext cx="329184" cy="329184"/>
          </a:xfrm>
          <a:prstGeom prst="rect">
            <a:avLst/>
          </a:prstGeom>
        </p:spPr>
      </p:pic>
      <p:pic>
        <p:nvPicPr>
          <p:cNvPr id="11" name="Picture 10" descr="x-light.png"/>
          <p:cNvPicPr>
            <a:picLocks noChangeAspect="1"/>
          </p:cNvPicPr>
          <p:nvPr/>
        </p:nvPicPr>
        <p:blipFill>
          <a:blip r:embed="rId4"/>
          <a:stretch>
            <a:fillRect/>
          </a:stretch>
        </p:blipFill>
        <p:spPr>
          <a:xfrm>
            <a:off x="6684264" y="1847088"/>
            <a:ext cx="329184" cy="329184"/>
          </a:xfrm>
          <a:prstGeom prst="rect">
            <a:avLst/>
          </a:prstGeom>
        </p:spPr>
      </p:pic>
      <p:pic>
        <p:nvPicPr>
          <p:cNvPr id="12" name="Picture 11" descr="x-light.png"/>
          <p:cNvPicPr>
            <a:picLocks noChangeAspect="1"/>
          </p:cNvPicPr>
          <p:nvPr/>
        </p:nvPicPr>
        <p:blipFill>
          <a:blip r:embed="rId4"/>
          <a:stretch>
            <a:fillRect/>
          </a:stretch>
        </p:blipFill>
        <p:spPr>
          <a:xfrm>
            <a:off x="7068312" y="1847088"/>
            <a:ext cx="329184" cy="329184"/>
          </a:xfrm>
          <a:prstGeom prst="rect">
            <a:avLst/>
          </a:prstGeom>
        </p:spPr>
      </p:pic>
      <p:pic>
        <p:nvPicPr>
          <p:cNvPr id="13" name="Picture 12" descr="x-light.png"/>
          <p:cNvPicPr>
            <a:picLocks noChangeAspect="1"/>
          </p:cNvPicPr>
          <p:nvPr/>
        </p:nvPicPr>
        <p:blipFill>
          <a:blip r:embed="rId4"/>
          <a:stretch>
            <a:fillRect/>
          </a:stretch>
        </p:blipFill>
        <p:spPr>
          <a:xfrm>
            <a:off x="7452360" y="1847088"/>
            <a:ext cx="329184" cy="329184"/>
          </a:xfrm>
          <a:prstGeom prst="rect">
            <a:avLst/>
          </a:prstGeom>
        </p:spPr>
      </p:pic>
      <p:sp>
        <p:nvSpPr>
          <p:cNvPr id="14" name="TextBox 13"/>
          <p:cNvSpPr txBox="1"/>
          <p:nvPr/>
        </p:nvSpPr>
        <p:spPr>
          <a:xfrm>
            <a:off x="7955279" y="160020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5" name="Rounded Rectangle 14"/>
          <p:cNvSpPr/>
          <p:nvPr/>
        </p:nvSpPr>
        <p:spPr>
          <a:xfrm>
            <a:off x="4892040" y="2514600"/>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2587752"/>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7" name="Picture 16" descr="check-check-gold.png"/>
          <p:cNvPicPr>
            <a:picLocks noChangeAspect="1"/>
          </p:cNvPicPr>
          <p:nvPr/>
        </p:nvPicPr>
        <p:blipFill>
          <a:blip r:embed="rId5"/>
          <a:stretch>
            <a:fillRect/>
          </a:stretch>
        </p:blipFill>
        <p:spPr>
          <a:xfrm>
            <a:off x="5148072" y="2944368"/>
            <a:ext cx="329184" cy="329184"/>
          </a:xfrm>
          <a:prstGeom prst="rect">
            <a:avLst/>
          </a:prstGeom>
        </p:spPr>
      </p:pic>
      <p:pic>
        <p:nvPicPr>
          <p:cNvPr id="18" name="Picture 17" descr="check-check-gold.png"/>
          <p:cNvPicPr>
            <a:picLocks noChangeAspect="1"/>
          </p:cNvPicPr>
          <p:nvPr/>
        </p:nvPicPr>
        <p:blipFill>
          <a:blip r:embed="rId5"/>
          <a:stretch>
            <a:fillRect/>
          </a:stretch>
        </p:blipFill>
        <p:spPr>
          <a:xfrm>
            <a:off x="5532120" y="2944368"/>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916168" y="2944368"/>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6300216" y="2944368"/>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684264" y="2944368"/>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7068312" y="2944368"/>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452360" y="2944368"/>
            <a:ext cx="329184" cy="329184"/>
          </a:xfrm>
          <a:prstGeom prst="rect">
            <a:avLst/>
          </a:prstGeom>
        </p:spPr>
      </p:pic>
      <p:sp>
        <p:nvSpPr>
          <p:cNvPr id="24" name="TextBox 23"/>
          <p:cNvSpPr txBox="1"/>
          <p:nvPr/>
        </p:nvSpPr>
        <p:spPr>
          <a:xfrm>
            <a:off x="7955279" y="269748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5" name="TextBox 24"/>
          <p:cNvSpPr txBox="1"/>
          <p:nvPr/>
        </p:nvSpPr>
        <p:spPr>
          <a:xfrm>
            <a:off x="4892040" y="3611880"/>
            <a:ext cx="6812280" cy="502920"/>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6" name="Rounded Rectangle 25"/>
          <p:cNvSpPr/>
          <p:nvPr/>
        </p:nvSpPr>
        <p:spPr>
          <a:xfrm>
            <a:off x="502920" y="448056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535424"/>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AI-галлюцинированными цитатами, ~90% — в 2025 году</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$62 млн — и ни одного пролеченного пациента</a:t>
            </a:r>
          </a:p>
        </p:txBody>
      </p:sp>
      <p:sp>
        <p:nvSpPr>
          <p:cNvPr id="3" name="Rounded Rectangle 2"/>
          <p:cNvSpPr/>
          <p:nvPr/>
        </p:nvSpPr>
        <p:spPr>
          <a:xfrm>
            <a:off x="502920" y="1417320"/>
            <a:ext cx="5074920" cy="2331720"/>
          </a:xfrm>
          <a:prstGeom prst="roundRect">
            <a:avLst>
              <a:gd name="adj" fmla="val 130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651760" y="1554480"/>
            <a:ext cx="822960" cy="822960"/>
          </a:xfrm>
          <a:prstGeom prst="rect">
            <a:avLst/>
          </a:prstGeom>
        </p:spPr>
      </p:pic>
      <p:sp>
        <p:nvSpPr>
          <p:cNvPr id="5" name="TextBox 4"/>
          <p:cNvSpPr txBox="1"/>
          <p:nvPr/>
        </p:nvSpPr>
        <p:spPr>
          <a:xfrm>
            <a:off x="731520" y="2468880"/>
            <a:ext cx="2194560" cy="685800"/>
          </a:xfrm>
          <a:prstGeom prst="rect">
            <a:avLst/>
          </a:prstGeom>
          <a:noFill/>
        </p:spPr>
        <p:txBody>
          <a:bodyPr wrap="square" lIns="0" rIns="0" tIns="0" bIns="0" anchor="t">
            <a:spAutoFit/>
          </a:bodyPr>
          <a:lstStyle/>
          <a:p>
            <a:pPr algn="ctr">
              <a:lnSpc>
                <a:spcPct val="115000"/>
              </a:lnSpc>
            </a:pPr>
            <a:r>
              <a:rPr sz="2200" b="1" i="0">
                <a:solidFill>
                  <a:srgbClr val="21295C"/>
                </a:solidFill>
                <a:latin typeface="DejaVu Sans"/>
              </a:rPr>
              <a:t>$62 млн</a:t>
            </a:r>
          </a:p>
        </p:txBody>
      </p:sp>
      <p:sp>
        <p:nvSpPr>
          <p:cNvPr id="6" name="TextBox 5"/>
          <p:cNvSpPr txBox="1"/>
          <p:nvPr/>
        </p:nvSpPr>
        <p:spPr>
          <a:xfrm>
            <a:off x="3154680" y="2468880"/>
            <a:ext cx="2194560" cy="685800"/>
          </a:xfrm>
          <a:prstGeom prst="rect">
            <a:avLst/>
          </a:prstGeom>
          <a:noFill/>
        </p:spPr>
        <p:txBody>
          <a:bodyPr wrap="square" lIns="0" rIns="0" tIns="0" bIns="0" anchor="t">
            <a:spAutoFit/>
          </a:bodyPr>
          <a:lstStyle/>
          <a:p>
            <a:pPr algn="ctr">
              <a:lnSpc>
                <a:spcPct val="115000"/>
              </a:lnSpc>
            </a:pPr>
            <a:r>
              <a:rPr sz="2200" b="1" i="0">
                <a:solidFill>
                  <a:srgbClr val="028090"/>
                </a:solidFill>
                <a:latin typeface="DejaVu Sans"/>
              </a:rPr>
              <a:t>0 пациентов</a:t>
            </a:r>
          </a:p>
        </p:txBody>
      </p:sp>
      <p:sp>
        <p:nvSpPr>
          <p:cNvPr id="7" name="TextBox 6"/>
          <p:cNvSpPr txBox="1"/>
          <p:nvPr/>
        </p:nvSpPr>
        <p:spPr>
          <a:xfrm>
            <a:off x="731520" y="3246120"/>
            <a:ext cx="4617720" cy="411480"/>
          </a:xfrm>
          <a:prstGeom prst="rect">
            <a:avLst/>
          </a:prstGeom>
          <a:noFill/>
        </p:spPr>
        <p:txBody>
          <a:bodyPr wrap="square" lIns="0" rIns="0" tIns="0" bIns="0" anchor="t">
            <a:spAutoFit/>
          </a:bodyPr>
          <a:lstStyle/>
          <a:p>
            <a:pPr algn="ctr">
              <a:lnSpc>
                <a:spcPct val="115000"/>
              </a:lnSpc>
            </a:pPr>
            <a:r>
              <a:rPr sz="1150" b="0" i="1">
                <a:solidFill>
                  <a:srgbClr val="5B6678"/>
                </a:solidFill>
                <a:latin typeface="DejaVu Sans"/>
              </a:rPr>
              <a:t>MD Anderson: партнёрство закрыто (2016)</a:t>
            </a:r>
          </a:p>
        </p:txBody>
      </p:sp>
      <p:sp>
        <p:nvSpPr>
          <p:cNvPr id="8" name="TextBox 7"/>
          <p:cNvSpPr txBox="1"/>
          <p:nvPr/>
        </p:nvSpPr>
        <p:spPr>
          <a:xfrm>
            <a:off x="5806440" y="1417320"/>
            <a:ext cx="5897880"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IBM Watson for Oncology, с 2012</a:t>
            </a:r>
          </a:p>
        </p:txBody>
      </p:sp>
      <p:pic>
        <p:nvPicPr>
          <p:cNvPr id="9" name="Picture 8" descr="users-light.png"/>
          <p:cNvPicPr>
            <a:picLocks noChangeAspect="1"/>
          </p:cNvPicPr>
          <p:nvPr/>
        </p:nvPicPr>
        <p:blipFill>
          <a:blip r:embed="rId3"/>
          <a:stretch>
            <a:fillRect/>
          </a:stretch>
        </p:blipFill>
        <p:spPr>
          <a:xfrm>
            <a:off x="5806440" y="1874519"/>
            <a:ext cx="384048" cy="384048"/>
          </a:xfrm>
          <a:prstGeom prst="rect">
            <a:avLst/>
          </a:prstGeom>
        </p:spPr>
      </p:pic>
      <p:sp>
        <p:nvSpPr>
          <p:cNvPr id="10" name="TextBox 9"/>
          <p:cNvSpPr txBox="1"/>
          <p:nvPr/>
        </p:nvSpPr>
        <p:spPr>
          <a:xfrm>
            <a:off x="6309359" y="1828799"/>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Внутренние документы: рекомендации «небезопасные и некорректные»</a:t>
            </a:r>
          </a:p>
        </p:txBody>
      </p:sp>
      <p:pic>
        <p:nvPicPr>
          <p:cNvPr id="11" name="Picture 10" descr="user-x-light.png"/>
          <p:cNvPicPr>
            <a:picLocks noChangeAspect="1"/>
          </p:cNvPicPr>
          <p:nvPr/>
        </p:nvPicPr>
        <p:blipFill>
          <a:blip r:embed="rId4"/>
          <a:stretch>
            <a:fillRect/>
          </a:stretch>
        </p:blipFill>
        <p:spPr>
          <a:xfrm>
            <a:off x="5806440" y="2743200"/>
            <a:ext cx="384048" cy="384048"/>
          </a:xfrm>
          <a:prstGeom prst="rect">
            <a:avLst/>
          </a:prstGeom>
        </p:spPr>
      </p:pic>
      <p:sp>
        <p:nvSpPr>
          <p:cNvPr id="12" name="TextBox 11"/>
          <p:cNvSpPr txBox="1"/>
          <p:nvPr/>
        </p:nvSpPr>
        <p:spPr>
          <a:xfrm>
            <a:off x="6309359" y="2697480"/>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Обучен на гипотетических кейсах горстки онкологов MSK — не на реальных исходах</a:t>
            </a:r>
          </a:p>
        </p:txBody>
      </p:sp>
      <p:sp>
        <p:nvSpPr>
          <p:cNvPr id="13" name="Rounded Rectangle 12"/>
          <p:cNvSpPr/>
          <p:nvPr/>
        </p:nvSpPr>
        <p:spPr>
          <a:xfrm>
            <a:off x="502920" y="3977639"/>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03250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домен с высокой ценой ошибки + только синтетические/гипотетические данные под рекомендацией = продукт не готов, каким бы впечатляющим ни было демо. Альтернатива: система на доказательных клинических руководствах с прозрачной трассируемостью источника.</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Rectangle 5"/>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8" name="Rounded Rectangle 7"/>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9" name="TextBox 8"/>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10" name="Rounded Rectangle 9"/>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2" name="TextBox 11"/>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3" name="Rounded Rectangle 12"/>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5" name="TextBox 14"/>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6" name="Rounded Rectangle 15"/>
          <p:cNvSpPr/>
          <p:nvPr/>
        </p:nvSpPr>
        <p:spPr>
          <a:xfrm>
            <a:off x="3729445"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8" name="TextBox 17"/>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9" name="Rounded Rectangle 18"/>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1" name="TextBox 20"/>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2" name="Rounded Rectangle 21"/>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4" name="TextBox 23"/>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5" name="Rounded Rectangle 24"/>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7" name="TextBox 26"/>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8" name="Rounded Rectangle 27"/>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30" name="TextBox 29"/>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2148839"/>
            <a:ext cx="2103120" cy="365760"/>
          </a:xfrm>
          <a:prstGeom prst="rect">
            <a:avLst/>
          </a:prstGeom>
          <a:noFill/>
        </p:spPr>
        <p:txBody>
          <a:bodyPr wrap="square" lIns="0" rIns="0" tIns="0" bIns="0" anchor="t">
            <a:spAutoFit/>
          </a:bodyPr>
          <a:lstStyle/>
          <a:p>
            <a:pPr algn="ctr">
              <a:lnSpc>
                <a:spcPct val="115000"/>
              </a:lnSpc>
            </a:pPr>
            <a:r>
              <a:rPr sz="1250" b="1" i="0">
                <a:solidFill>
                  <a:srgbClr val="065A82"/>
                </a:solidFill>
                <a:latin typeface="DejaVu Sans"/>
              </a:rPr>
              <a:t>Расширяем</a:t>
            </a:r>
          </a:p>
          <a:p>
            <a:pPr algn="ctr">
              <a:lnSpc>
                <a:spcPct val="115000"/>
              </a:lnSpc>
            </a:pPr>
            <a:r>
              <a:rPr sz="1250" b="1" i="0">
                <a:solidFill>
                  <a:srgbClr val="065A82"/>
                </a:solidFill>
                <a:latin typeface="DejaVu Sans"/>
              </a:rPr>
              <a:t>проблему</a:t>
            </a:r>
          </a:p>
        </p:txBody>
      </p:sp>
      <p:sp>
        <p:nvSpPr>
          <p:cNvPr id="5" name="TextBox 4"/>
          <p:cNvSpPr txBox="1"/>
          <p:nvPr/>
        </p:nvSpPr>
        <p:spPr>
          <a:xfrm>
            <a:off x="2011680" y="3063239"/>
            <a:ext cx="2103120" cy="365760"/>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Сужаем:</a:t>
            </a:r>
          </a:p>
          <a:p>
            <a:pPr algn="ctr">
              <a:lnSpc>
                <a:spcPct val="115000"/>
              </a:lnSpc>
            </a:pPr>
            <a:r>
              <a:rPr sz="1250" b="1" i="0">
                <a:solidFill>
                  <a:srgbClr val="21295C"/>
                </a:solidFill>
                <a:latin typeface="DejaVu Sans"/>
              </a:rPr>
              <a:t>одна проблема</a:t>
            </a:r>
          </a:p>
        </p:txBody>
      </p:sp>
      <p:sp>
        <p:nvSpPr>
          <p:cNvPr id="6" name="Diamond 5"/>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0" y="2148839"/>
            <a:ext cx="210312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Расширяем</a:t>
            </a:r>
          </a:p>
          <a:p>
            <a:pPr algn="ctr">
              <a:lnSpc>
                <a:spcPct val="115000"/>
              </a:lnSpc>
            </a:pPr>
            <a:r>
              <a:rPr sz="1250" b="1" i="0">
                <a:solidFill>
                  <a:srgbClr val="028090"/>
                </a:solidFill>
                <a:latin typeface="DejaVu Sans"/>
              </a:rPr>
              <a:t>решение</a:t>
            </a:r>
          </a:p>
        </p:txBody>
      </p:sp>
      <p:sp>
        <p:nvSpPr>
          <p:cNvPr id="8" name="TextBox 7"/>
          <p:cNvSpPr txBox="1"/>
          <p:nvPr/>
        </p:nvSpPr>
        <p:spPr>
          <a:xfrm>
            <a:off x="5943600" y="3063239"/>
            <a:ext cx="2103120" cy="365760"/>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Сужаем:</a:t>
            </a:r>
          </a:p>
          <a:p>
            <a:pPr algn="ctr">
              <a:lnSpc>
                <a:spcPct val="115000"/>
              </a:lnSpc>
            </a:pPr>
            <a:r>
              <a:rPr sz="1250" b="1" i="0">
                <a:solidFill>
                  <a:srgbClr val="21295C"/>
                </a:solidFill>
                <a:latin typeface="DejaVu Sans"/>
              </a:rPr>
              <a:t>одно решение</a:t>
            </a:r>
          </a:p>
        </p:txBody>
      </p:sp>
      <p:sp>
        <p:nvSpPr>
          <p:cNvPr id="9" name="TextBox 8"/>
          <p:cNvSpPr txBox="1"/>
          <p:nvPr/>
        </p:nvSpPr>
        <p:spPr>
          <a:xfrm>
            <a:off x="1737360" y="1481328"/>
            <a:ext cx="2743200" cy="320040"/>
          </a:xfrm>
          <a:prstGeom prst="rect">
            <a:avLst/>
          </a:prstGeom>
          <a:noFill/>
        </p:spPr>
        <p:txBody>
          <a:bodyPr wrap="square" lIns="0" rIns="0" tIns="0" bIns="0" anchor="t">
            <a:spAutoFit/>
          </a:bodyPr>
          <a:lstStyle/>
          <a:p>
            <a:pPr algn="ctr">
              <a:lnSpc>
                <a:spcPct val="115000"/>
              </a:lnSpc>
            </a:pPr>
            <a:r>
              <a:rPr sz="1300" b="1" i="0">
                <a:solidFill>
                  <a:srgbClr val="065A82"/>
                </a:solidFill>
                <a:latin typeface="DejaVu Sans"/>
              </a:rPr>
              <a:t>Правильная проблема</a:t>
            </a:r>
          </a:p>
        </p:txBody>
      </p:sp>
      <p:sp>
        <p:nvSpPr>
          <p:cNvPr id="10" name="TextBox 9"/>
          <p:cNvSpPr txBox="1"/>
          <p:nvPr/>
        </p:nvSpPr>
        <p:spPr>
          <a:xfrm>
            <a:off x="5669280" y="1481328"/>
            <a:ext cx="2743200" cy="320040"/>
          </a:xfrm>
          <a:prstGeom prst="rect">
            <a:avLst/>
          </a:prstGeom>
          <a:noFill/>
        </p:spPr>
        <p:txBody>
          <a:bodyPr wrap="square" lIns="0" rIns="0" tIns="0" bIns="0" anchor="t">
            <a:spAutoFit/>
          </a:bodyPr>
          <a:lstStyle/>
          <a:p>
            <a:pPr algn="ctr">
              <a:lnSpc>
                <a:spcPct val="115000"/>
              </a:lnSpc>
            </a:pPr>
            <a:r>
              <a:rPr sz="1300" b="1" i="0">
                <a:solidFill>
                  <a:srgbClr val="028090"/>
                </a:solidFill>
                <a:latin typeface="DejaVu Sans"/>
              </a:rPr>
              <a:t>Правильное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417320"/>
            <a:ext cx="617220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600200"/>
            <a:ext cx="502920" cy="502920"/>
          </a:xfrm>
          <a:prstGeom prst="rect">
            <a:avLst/>
          </a:prstGeom>
        </p:spPr>
      </p:pic>
      <p:sp>
        <p:nvSpPr>
          <p:cNvPr id="5" name="TextBox 4"/>
          <p:cNvSpPr txBox="1"/>
          <p:nvPr/>
        </p:nvSpPr>
        <p:spPr>
          <a:xfrm>
            <a:off x="1417320" y="1645920"/>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a:t>
            </a:r>
          </a:p>
        </p:txBody>
      </p:sp>
      <p:sp>
        <p:nvSpPr>
          <p:cNvPr id="6" name="Rounded Rectangle 5"/>
          <p:cNvSpPr/>
          <p:nvPr/>
        </p:nvSpPr>
        <p:spPr>
          <a:xfrm>
            <a:off x="731520" y="22402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2219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6974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6791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31546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31363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6118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5935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40690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40507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6903720" y="1417320"/>
            <a:ext cx="4800600" cy="1737360"/>
          </a:xfrm>
          <a:prstGeom prst="roundRect">
            <a:avLst>
              <a:gd name="adj" fmla="val 1754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132320" y="1627632"/>
            <a:ext cx="502920" cy="502920"/>
          </a:xfrm>
          <a:prstGeom prst="rect">
            <a:avLst/>
          </a:prstGeom>
        </p:spPr>
      </p:pic>
      <p:sp>
        <p:nvSpPr>
          <p:cNvPr id="18" name="TextBox 17"/>
          <p:cNvSpPr txBox="1"/>
          <p:nvPr/>
        </p:nvSpPr>
        <p:spPr>
          <a:xfrm>
            <a:off x="7772400" y="1664208"/>
            <a:ext cx="3749039"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Дизайн-система = guardrail</a:t>
            </a:r>
          </a:p>
        </p:txBody>
      </p:sp>
      <p:sp>
        <p:nvSpPr>
          <p:cNvPr id="19" name="TextBox 18"/>
          <p:cNvSpPr txBox="1"/>
          <p:nvPr/>
        </p:nvSpPr>
        <p:spPr>
          <a:xfrm>
            <a:off x="7132320" y="2240280"/>
            <a:ext cx="4389120" cy="82296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6903720" y="3337560"/>
            <a:ext cx="4800600" cy="13258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23176" y="3392424"/>
            <a:ext cx="4361688" cy="12161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AI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 Google Stitch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AI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AI-интерфейсах: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9-clown.jpg"/>
          <p:cNvPicPr>
            <a:picLocks noChangeAspect="1"/>
          </p:cNvPicPr>
          <p:nvPr/>
        </p:nvPicPr>
        <p:blipFill>
          <a:blip r:embed="rId2"/>
          <a:stretch>
            <a:fillRect/>
          </a:stretch>
        </p:blipFill>
        <p:spPr>
          <a:xfrm>
            <a:off x="630936" y="1695261"/>
            <a:ext cx="3172968" cy="3376038"/>
          </a:xfrm>
          <a:prstGeom prst="rect">
            <a:avLst/>
          </a:prstGeom>
        </p:spPr>
      </p:pic>
      <p:sp>
        <p:nvSpPr>
          <p:cNvPr id="5" name="Rounded Rectangle 4"/>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7" name="Rounded Rectangle 6"/>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9" name="TextBox 8"/>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AI-персонажем (02.2024).</a:t>
            </a:r>
          </a:p>
        </p:txBody>
      </p:sp>
      <p:sp>
        <p:nvSpPr>
          <p:cNvPr id="10" name="Oval 9"/>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2" name="Connector 11"/>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5" name="Connector 14"/>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8" name="Connector 17"/>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a:t>
            </a:r>
          </a:p>
        </p:txBody>
      </p:sp>
      <p:sp>
        <p:nvSpPr>
          <p:cNvPr id="21" name="Rounded Rectangle 20"/>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AI-дискриминации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expanding-brain.jpg"/>
          <p:cNvPicPr>
            <a:picLocks noChangeAspect="1"/>
          </p:cNvPicPr>
          <p:nvPr/>
        </p:nvPicPr>
        <p:blipFill>
          <a:blip r:embed="rId2"/>
          <a:stretch>
            <a:fillRect/>
          </a:stretch>
        </p:blipFill>
        <p:spPr>
          <a:xfrm>
            <a:off x="8277872" y="1362456"/>
            <a:ext cx="2783815" cy="3904487"/>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Rectangle 5"/>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8" name="Rounded Rectangle 7"/>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9" name="TextBox 8"/>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AI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10" name="Rounded Rectangle 9"/>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2" name="TextBox 11"/>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3" name="Rounded Rectangle 12"/>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5" name="TextBox 14"/>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6" name="Rounded Rectangle 15"/>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8" name="TextBox 17"/>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9" name="Rounded Rectangle 18"/>
          <p:cNvSpPr/>
          <p:nvPr/>
        </p:nvSpPr>
        <p:spPr>
          <a:xfrm>
            <a:off x="5342708"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1" name="TextBox 20"/>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2" name="Rounded Rectangle 21"/>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4" name="TextBox 23"/>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5" name="Rounded Rectangle 24"/>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7" name="TextBox 26"/>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8" name="Rounded Rectangle 27"/>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30" name="TextBox 29"/>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Артефакт становится работающим продуктом у пользователей. AI сделал само написание кода почти бесплатным.</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 механика запуска</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Feature flag</a:t>
            </a:r>
          </a:p>
        </p:txBody>
      </p:sp>
      <p:sp>
        <p:nvSpPr>
          <p:cNvPr id="5" name="TextBox 4"/>
          <p:cNvSpPr txBox="1"/>
          <p:nvPr/>
        </p:nvSpPr>
        <p:spPr>
          <a:xfrm>
            <a:off x="5943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переключатель</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375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Canary</a:t>
            </a:r>
          </a:p>
        </p:txBody>
      </p:sp>
      <p:sp>
        <p:nvSpPr>
          <p:cNvPr id="9" name="TextBox 8"/>
          <p:cNvSpPr txBox="1"/>
          <p:nvPr/>
        </p:nvSpPr>
        <p:spPr>
          <a:xfrm>
            <a:off x="33375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канарейка</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59"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Staged rollout</a:t>
            </a:r>
          </a:p>
        </p:txBody>
      </p:sp>
      <p:sp>
        <p:nvSpPr>
          <p:cNvPr id="13" name="TextBox 12"/>
          <p:cNvSpPr txBox="1"/>
          <p:nvPr/>
        </p:nvSpPr>
        <p:spPr>
          <a:xfrm>
            <a:off x="6080759"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поэтапно</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Rollback</a:t>
            </a:r>
          </a:p>
        </p:txBody>
      </p:sp>
      <p:sp>
        <p:nvSpPr>
          <p:cNvPr id="17" name="TextBox 16"/>
          <p:cNvSpPr txBox="1"/>
          <p:nvPr/>
        </p:nvSpPr>
        <p:spPr>
          <a:xfrm>
            <a:off x="88239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откат</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337560"/>
            <a:ext cx="9372600" cy="118872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611880"/>
            <a:ext cx="502920" cy="502920"/>
          </a:xfrm>
          <a:prstGeom prst="rect">
            <a:avLst/>
          </a:prstGeom>
        </p:spPr>
      </p:pic>
      <p:sp>
        <p:nvSpPr>
          <p:cNvPr id="21" name="TextBox 20"/>
          <p:cNvSpPr txBox="1"/>
          <p:nvPr/>
        </p:nvSpPr>
        <p:spPr>
          <a:xfrm>
            <a:off x="2331720" y="3456432"/>
            <a:ext cx="8229600" cy="96012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 обучение, не отгрузка. Stage-Gate go/kill (Купер) — «воронка, не туннель»: пороги провала записаны числом заранее.</a:t>
            </a:r>
          </a:p>
        </p:txBody>
      </p:sp>
      <p:sp>
        <p:nvSpPr>
          <p:cNvPr id="22" name="Rounded Rectangle 21"/>
          <p:cNvSpPr/>
          <p:nvPr/>
        </p:nvSpPr>
        <p:spPr>
          <a:xfrm>
            <a:off x="502920" y="480060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85546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886200"/>
            <a:ext cx="5029200" cy="7315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4087368"/>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977639"/>
            <a:ext cx="393192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Высокий контроль / низкая агентность</a:t>
            </a:r>
          </a:p>
        </p:txBody>
      </p:sp>
      <p:sp>
        <p:nvSpPr>
          <p:cNvPr id="6" name="TextBox 5"/>
          <p:cNvSpPr txBox="1"/>
          <p:nvPr/>
        </p:nvSpPr>
        <p:spPr>
          <a:xfrm>
            <a:off x="1645920" y="4306824"/>
            <a:ext cx="393192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3017520"/>
            <a:ext cx="5852160" cy="73152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218688"/>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3108960"/>
            <a:ext cx="475488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438144"/>
            <a:ext cx="475488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2148840"/>
            <a:ext cx="6675120" cy="73152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350008"/>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2240280"/>
            <a:ext cx="5577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Автоматически, с возвратом к человеку</a:t>
            </a:r>
          </a:p>
        </p:txBody>
      </p:sp>
      <p:sp>
        <p:nvSpPr>
          <p:cNvPr id="14" name="TextBox 13"/>
          <p:cNvSpPr txBox="1"/>
          <p:nvPr/>
        </p:nvSpPr>
        <p:spPr>
          <a:xfrm>
            <a:off x="1645920" y="2569464"/>
            <a:ext cx="557784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417320"/>
            <a:ext cx="461772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54480"/>
            <a:ext cx="4206240" cy="822960"/>
          </a:xfrm>
          <a:prstGeom prst="rect">
            <a:avLst/>
          </a:prstGeom>
          <a:noFill/>
        </p:spPr>
        <p:txBody>
          <a:bodyPr wrap="square" lIns="0" rIns="0" tIns="0" bIns="0" anchor="t">
            <a:spAutoFit/>
          </a:bodyPr>
          <a:lstStyle/>
          <a:p>
            <a:pPr algn="l">
              <a:lnSpc>
                <a:spcPct val="110000"/>
              </a:lnSpc>
            </a:pPr>
            <a:r>
              <a:rPr sz="1400" b="1" i="0">
                <a:solidFill>
                  <a:srgbClr val="028090"/>
                </a:solidFill>
                <a:latin typeface="DejaVu Sans"/>
              </a:rPr>
              <a:t>CC/CD против привычного CI/CD</a:t>
            </a:r>
          </a:p>
        </p:txBody>
      </p:sp>
      <p:sp>
        <p:nvSpPr>
          <p:cNvPr id="17" name="TextBox 16"/>
          <p:cNvSpPr txBox="1"/>
          <p:nvPr/>
        </p:nvSpPr>
        <p:spPr>
          <a:xfrm>
            <a:off x="7315200" y="2331720"/>
            <a:ext cx="420624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 Лестница агентности: Copilot, Cursor.</a:t>
            </a:r>
          </a:p>
        </p:txBody>
      </p:sp>
      <p:sp>
        <p:nvSpPr>
          <p:cNvPr id="18" name="Rounded Rectangle 17"/>
          <p:cNvSpPr/>
          <p:nvPr/>
        </p:nvSpPr>
        <p:spPr>
          <a:xfrm>
            <a:off x="640080" y="4617720"/>
            <a:ext cx="1106424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72583"/>
            <a:ext cx="1062532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AI-вывод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Вместо этого — публичное осмеяние сразу на 100% аудитории.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Rectangle 5"/>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AI снизил доверие</a:t>
            </a:r>
          </a:p>
        </p:txBody>
      </p:sp>
      <p:sp>
        <p:nvSpPr>
          <p:cNvPr id="8" name="Rounded Rectangle 7"/>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9" name="TextBox 8"/>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10" name="Rounded Rectangle 9"/>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2" name="TextBox 11"/>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3" name="Rounded Rectangle 12"/>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5" name="TextBox 14"/>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6" name="Rounded Rectangle 15"/>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8" name="TextBox 17"/>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9" name="Rounded Rectangle 18"/>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1" name="TextBox 20"/>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2" name="Rounded Rectangle 21"/>
          <p:cNvSpPr/>
          <p:nvPr/>
        </p:nvSpPr>
        <p:spPr>
          <a:xfrm>
            <a:off x="6955971"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4" name="TextBox 23"/>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5" name="Rounded Rectangle 24"/>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7" name="TextBox 26"/>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8" name="Rounded Rectangle 27"/>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30" name="TextBox 29"/>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502920" y="1463040"/>
            <a:ext cx="361188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2376" y="1664208"/>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5" name="Picture 4" descr="shield-alert-mid.png"/>
          <p:cNvPicPr>
            <a:picLocks noChangeAspect="1"/>
          </p:cNvPicPr>
          <p:nvPr/>
        </p:nvPicPr>
        <p:blipFill>
          <a:blip r:embed="rId2"/>
          <a:stretch>
            <a:fillRect/>
          </a:stretch>
        </p:blipFill>
        <p:spPr>
          <a:xfrm>
            <a:off x="3337560" y="1645920"/>
            <a:ext cx="502920" cy="502920"/>
          </a:xfrm>
          <a:prstGeom prst="rect">
            <a:avLst/>
          </a:prstGeom>
        </p:spPr>
      </p:pic>
      <p:sp>
        <p:nvSpPr>
          <p:cNvPr id="6" name="TextBox 5"/>
          <p:cNvSpPr txBox="1"/>
          <p:nvPr/>
        </p:nvSpPr>
        <p:spPr>
          <a:xfrm>
            <a:off x="722376" y="2240280"/>
            <a:ext cx="3172968" cy="685800"/>
          </a:xfrm>
          <a:prstGeom prst="rect">
            <a:avLst/>
          </a:prstGeom>
          <a:noFill/>
        </p:spPr>
        <p:txBody>
          <a:bodyPr wrap="square" lIns="0" rIns="0" tIns="0" bIns="0" anchor="t">
            <a:spAutoFit/>
          </a:bodyPr>
          <a:lstStyle/>
          <a:p>
            <a:pPr algn="l">
              <a:lnSpc>
                <a:spcPct val="105000"/>
              </a:lnSpc>
            </a:pPr>
            <a:r>
              <a:rPr sz="1400" b="1" i="0">
                <a:solidFill>
                  <a:srgbClr val="21295C"/>
                </a:solidFill>
                <a:latin typeface="DejaVu Sans"/>
              </a:rPr>
              <a:t>Настроен ли тест правильно?</a:t>
            </a:r>
          </a:p>
        </p:txBody>
      </p:sp>
      <p:sp>
        <p:nvSpPr>
          <p:cNvPr id="7" name="TextBox 6"/>
          <p:cNvSpPr txBox="1"/>
          <p:nvPr/>
        </p:nvSpPr>
        <p:spPr>
          <a:xfrm>
            <a:off x="722376" y="2971800"/>
            <a:ext cx="3172968" cy="731520"/>
          </a:xfrm>
          <a:prstGeom prst="rect">
            <a:avLst/>
          </a:prstGeom>
          <a:noFill/>
        </p:spPr>
        <p:txBody>
          <a:bodyPr wrap="square" lIns="0" rIns="0" tIns="0" bIns="0" anchor="t">
            <a:spAutoFit/>
          </a:bodyPr>
          <a:lstStyle/>
          <a:p>
            <a:pPr algn="l">
              <a:lnSpc>
                <a:spcPct val="112000"/>
              </a:lnSpc>
            </a:pPr>
            <a:r>
              <a:rPr sz="1150" b="0" i="1">
                <a:solidFill>
                  <a:srgbClr val="5B6678"/>
                </a:solidFill>
                <a:latin typeface="DejaVu Sans"/>
              </a:rPr>
              <a:t>SRM (перекос групп), размер выборки заранее</a:t>
            </a:r>
          </a:p>
        </p:txBody>
      </p:sp>
      <p:sp>
        <p:nvSpPr>
          <p:cNvPr id="8" name="Rounded Rectangle 7"/>
          <p:cNvSpPr/>
          <p:nvPr/>
        </p:nvSpPr>
        <p:spPr>
          <a:xfrm>
            <a:off x="4297680" y="1463040"/>
            <a:ext cx="361188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17136" y="1664208"/>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0" name="Picture 9" descr="search-mid.png"/>
          <p:cNvPicPr>
            <a:picLocks noChangeAspect="1"/>
          </p:cNvPicPr>
          <p:nvPr/>
        </p:nvPicPr>
        <p:blipFill>
          <a:blip r:embed="rId3"/>
          <a:stretch>
            <a:fillRect/>
          </a:stretch>
        </p:blipFill>
        <p:spPr>
          <a:xfrm>
            <a:off x="7132320" y="1645920"/>
            <a:ext cx="502920" cy="502920"/>
          </a:xfrm>
          <a:prstGeom prst="rect">
            <a:avLst/>
          </a:prstGeom>
        </p:spPr>
      </p:pic>
      <p:sp>
        <p:nvSpPr>
          <p:cNvPr id="11" name="TextBox 10"/>
          <p:cNvSpPr txBox="1"/>
          <p:nvPr/>
        </p:nvSpPr>
        <p:spPr>
          <a:xfrm>
            <a:off x="4517136" y="2240280"/>
            <a:ext cx="3172968" cy="685800"/>
          </a:xfrm>
          <a:prstGeom prst="rect">
            <a:avLst/>
          </a:prstGeom>
          <a:noFill/>
        </p:spPr>
        <p:txBody>
          <a:bodyPr wrap="square" lIns="0" rIns="0" tIns="0" bIns="0" anchor="t">
            <a:spAutoFit/>
          </a:bodyPr>
          <a:lstStyle/>
          <a:p>
            <a:pPr algn="l">
              <a:lnSpc>
                <a:spcPct val="105000"/>
              </a:lnSpc>
            </a:pPr>
            <a:r>
              <a:rPr sz="1400" b="1" i="0">
                <a:solidFill>
                  <a:srgbClr val="21295C"/>
                </a:solidFill>
                <a:latin typeface="DejaVu Sans"/>
              </a:rPr>
              <a:t>Правильно ли читаю результат?</a:t>
            </a:r>
          </a:p>
        </p:txBody>
      </p:sp>
      <p:sp>
        <p:nvSpPr>
          <p:cNvPr id="12" name="TextBox 11"/>
          <p:cNvSpPr txBox="1"/>
          <p:nvPr/>
        </p:nvSpPr>
        <p:spPr>
          <a:xfrm>
            <a:off x="4517136" y="2971800"/>
            <a:ext cx="3172968" cy="731520"/>
          </a:xfrm>
          <a:prstGeom prst="rect">
            <a:avLst/>
          </a:prstGeom>
          <a:noFill/>
        </p:spPr>
        <p:txBody>
          <a:bodyPr wrap="square" lIns="0" rIns="0" tIns="0" bIns="0" anchor="t">
            <a:spAutoFit/>
          </a:bodyPr>
          <a:lstStyle/>
          <a:p>
            <a:pPr algn="l">
              <a:lnSpc>
                <a:spcPct val="112000"/>
              </a:lnSpc>
            </a:pPr>
            <a:r>
              <a:rPr sz="1150" b="0" i="1">
                <a:solidFill>
                  <a:srgbClr val="5B6678"/>
                </a:solidFill>
                <a:latin typeface="DejaVu Sans"/>
              </a:rPr>
              <a:t>peeking: 2 подглядки ≈2× ложных срабатываний</a:t>
            </a:r>
          </a:p>
        </p:txBody>
      </p:sp>
      <p:sp>
        <p:nvSpPr>
          <p:cNvPr id="13" name="Rounded Rectangle 12"/>
          <p:cNvSpPr/>
          <p:nvPr/>
        </p:nvSpPr>
        <p:spPr>
          <a:xfrm>
            <a:off x="8092440" y="1463040"/>
            <a:ext cx="361188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11896" y="1664208"/>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5" name="Picture 14" descr="triangle-alert-mid.png"/>
          <p:cNvPicPr>
            <a:picLocks noChangeAspect="1"/>
          </p:cNvPicPr>
          <p:nvPr/>
        </p:nvPicPr>
        <p:blipFill>
          <a:blip r:embed="rId4"/>
          <a:stretch>
            <a:fillRect/>
          </a:stretch>
        </p:blipFill>
        <p:spPr>
          <a:xfrm>
            <a:off x="10927080" y="1645920"/>
            <a:ext cx="502920" cy="502920"/>
          </a:xfrm>
          <a:prstGeom prst="rect">
            <a:avLst/>
          </a:prstGeom>
        </p:spPr>
      </p:pic>
      <p:sp>
        <p:nvSpPr>
          <p:cNvPr id="16" name="TextBox 15"/>
          <p:cNvSpPr txBox="1"/>
          <p:nvPr/>
        </p:nvSpPr>
        <p:spPr>
          <a:xfrm>
            <a:off x="8311896" y="2240280"/>
            <a:ext cx="3172968" cy="685800"/>
          </a:xfrm>
          <a:prstGeom prst="rect">
            <a:avLst/>
          </a:prstGeom>
          <a:noFill/>
        </p:spPr>
        <p:txBody>
          <a:bodyPr wrap="square" lIns="0" rIns="0" tIns="0" bIns="0" anchor="t">
            <a:spAutoFit/>
          </a:bodyPr>
          <a:lstStyle/>
          <a:p>
            <a:pPr algn="l">
              <a:lnSpc>
                <a:spcPct val="105000"/>
              </a:lnSpc>
            </a:pPr>
            <a:r>
              <a:rPr sz="1400" b="1" i="0">
                <a:solidFill>
                  <a:srgbClr val="21295C"/>
                </a:solidFill>
                <a:latin typeface="DejaVu Sans"/>
              </a:rPr>
              <a:t>Реален ли сам эффект?</a:t>
            </a:r>
          </a:p>
        </p:txBody>
      </p:sp>
      <p:sp>
        <p:nvSpPr>
          <p:cNvPr id="17" name="TextBox 16"/>
          <p:cNvSpPr txBox="1"/>
          <p:nvPr/>
        </p:nvSpPr>
        <p:spPr>
          <a:xfrm>
            <a:off x="8311896" y="2971800"/>
            <a:ext cx="3172968" cy="731520"/>
          </a:xfrm>
          <a:prstGeom prst="rect">
            <a:avLst/>
          </a:prstGeom>
          <a:noFill/>
        </p:spPr>
        <p:txBody>
          <a:bodyPr wrap="square" lIns="0" rIns="0" tIns="0" bIns="0" anchor="t">
            <a:spAutoFit/>
          </a:bodyPr>
          <a:lstStyle/>
          <a:p>
            <a:pPr algn="l">
              <a:lnSpc>
                <a:spcPct val="112000"/>
              </a:lnSpc>
            </a:pPr>
            <a:r>
              <a:rPr sz="1150" b="0" i="1">
                <a:solidFill>
                  <a:srgbClr val="5B6678"/>
                </a:solidFill>
                <a:latin typeface="DejaVu Sans"/>
              </a:rPr>
              <a:t>закон Тваймана: слишком красивая цифра обычно неверна</a:t>
            </a:r>
          </a:p>
        </p:txBody>
      </p:sp>
      <p:sp>
        <p:nvSpPr>
          <p:cNvPr id="18" name="Rounded Rectangle 17"/>
          <p:cNvSpPr/>
          <p:nvPr/>
        </p:nvSpPr>
        <p:spPr>
          <a:xfrm>
            <a:off x="502920" y="4069080"/>
            <a:ext cx="11201400" cy="13258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123944"/>
            <a:ext cx="10762488" cy="12161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change-my-mind.jpg"/>
          <p:cNvPicPr>
            <a:picLocks noChangeAspect="1"/>
          </p:cNvPicPr>
          <p:nvPr/>
        </p:nvPicPr>
        <p:blipFill>
          <a:blip r:embed="rId2"/>
          <a:stretch>
            <a:fillRect/>
          </a:stretch>
        </p:blipFill>
        <p:spPr>
          <a:xfrm>
            <a:off x="1106413" y="1527048"/>
            <a:ext cx="2770651"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Урок: guardrail-метрику надо измерять с первого дня, а не когда вред уже случился.</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Measure = стрелка, которой AI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Rectangle 5"/>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8" name="Rounded Rectangle 7"/>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9" name="TextBox 8"/>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10" name="Rounded Rectangle 9"/>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2" name="TextBox 11"/>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3" name="Rounded Rectangle 12"/>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5" name="TextBox 14"/>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6" name="Rounded Rectangle 15"/>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8" name="TextBox 17"/>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9" name="Rounded Rectangle 18"/>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1" name="TextBox 20"/>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2" name="Rounded Rectangle 21"/>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4" name="TextBox 23"/>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5" name="Rounded Rectangle 24"/>
          <p:cNvSpPr/>
          <p:nvPr/>
        </p:nvSpPr>
        <p:spPr>
          <a:xfrm>
            <a:off x="8569234"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7" name="TextBox 26"/>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8" name="Rounded Rectangle 27"/>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30" name="TextBox 29"/>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Заранее договариваемся, сколько сбоев допустимо (бюджет на ошибки). С AI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Rounded Rectangle 2"/>
          <p:cNvSpPr/>
          <p:nvPr/>
        </p:nvSpPr>
        <p:spPr>
          <a:xfrm>
            <a:off x="594360" y="219456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219456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5" name="Picture 4" descr="search-teal.png"/>
          <p:cNvPicPr>
            <a:picLocks noChangeAspect="1"/>
          </p:cNvPicPr>
          <p:nvPr/>
        </p:nvPicPr>
        <p:blipFill>
          <a:blip r:embed="rId2"/>
          <a:stretch>
            <a:fillRect/>
          </a:stretch>
        </p:blipFill>
        <p:spPr>
          <a:xfrm>
            <a:off x="1559051" y="1627631"/>
            <a:ext cx="402336" cy="402336"/>
          </a:xfrm>
          <a:prstGeom prst="rect">
            <a:avLst/>
          </a:prstGeom>
        </p:spPr>
      </p:pic>
      <p:sp>
        <p:nvSpPr>
          <p:cNvPr id="6" name="Right Arrow 5"/>
          <p:cNvSpPr/>
          <p:nvPr/>
        </p:nvSpPr>
        <p:spPr>
          <a:xfrm>
            <a:off x="2971799" y="251460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8999" y="219456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8999" y="219456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9" name="Picture 8" descr="search-teal.png"/>
          <p:cNvPicPr>
            <a:picLocks noChangeAspect="1"/>
          </p:cNvPicPr>
          <p:nvPr/>
        </p:nvPicPr>
        <p:blipFill>
          <a:blip r:embed="rId2"/>
          <a:stretch>
            <a:fillRect/>
          </a:stretch>
        </p:blipFill>
        <p:spPr>
          <a:xfrm>
            <a:off x="4393692" y="1627631"/>
            <a:ext cx="402336" cy="402336"/>
          </a:xfrm>
          <a:prstGeom prst="rect">
            <a:avLst/>
          </a:prstGeom>
        </p:spPr>
      </p:pic>
      <p:sp>
        <p:nvSpPr>
          <p:cNvPr id="10" name="Right Arrow 9"/>
          <p:cNvSpPr/>
          <p:nvPr/>
        </p:nvSpPr>
        <p:spPr>
          <a:xfrm>
            <a:off x="5806439" y="251460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19456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219456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3" name="Picture 12" descr="search-teal.png"/>
          <p:cNvPicPr>
            <a:picLocks noChangeAspect="1"/>
          </p:cNvPicPr>
          <p:nvPr/>
        </p:nvPicPr>
        <p:blipFill>
          <a:blip r:embed="rId2"/>
          <a:stretch>
            <a:fillRect/>
          </a:stretch>
        </p:blipFill>
        <p:spPr>
          <a:xfrm>
            <a:off x="7228332" y="1627631"/>
            <a:ext cx="402336" cy="402336"/>
          </a:xfrm>
          <a:prstGeom prst="rect">
            <a:avLst/>
          </a:prstGeom>
        </p:spPr>
      </p:pic>
      <p:sp>
        <p:nvSpPr>
          <p:cNvPr id="14" name="Right Arrow 13"/>
          <p:cNvSpPr/>
          <p:nvPr/>
        </p:nvSpPr>
        <p:spPr>
          <a:xfrm>
            <a:off x="8641080" y="251460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098280" y="219456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98280" y="219456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7" name="Picture 16" descr="search-teal.png"/>
          <p:cNvPicPr>
            <a:picLocks noChangeAspect="1"/>
          </p:cNvPicPr>
          <p:nvPr/>
        </p:nvPicPr>
        <p:blipFill>
          <a:blip r:embed="rId2"/>
          <a:stretch>
            <a:fillRect/>
          </a:stretch>
        </p:blipFill>
        <p:spPr>
          <a:xfrm>
            <a:off x="10062972" y="1627631"/>
            <a:ext cx="402336" cy="402336"/>
          </a:xfrm>
          <a:prstGeom prst="rect">
            <a:avLst/>
          </a:prstGeom>
        </p:spPr>
      </p:pic>
      <p:sp>
        <p:nvSpPr>
          <p:cNvPr id="18" name="TextBox 17"/>
          <p:cNvSpPr txBox="1"/>
          <p:nvPr/>
        </p:nvSpPr>
        <p:spPr>
          <a:xfrm>
            <a:off x="594360" y="155448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a:t>
            </a:r>
          </a:p>
        </p:txBody>
      </p:sp>
      <p:sp>
        <p:nvSpPr>
          <p:cNvPr id="19" name="Rounded Rectangle 18"/>
          <p:cNvSpPr/>
          <p:nvPr/>
        </p:nvSpPr>
        <p:spPr>
          <a:xfrm>
            <a:off x="502920" y="3429000"/>
            <a:ext cx="690372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20440"/>
            <a:ext cx="6446520"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LLMOps/AgentOps: дрейф данных vs дрейф концепта · runtime guardrails · circuit breaker (предохранитель). Guardian Agents (категория Gartner) — агенты, следящие за агентами.</a:t>
            </a:r>
          </a:p>
        </p:txBody>
      </p:sp>
      <p:sp>
        <p:nvSpPr>
          <p:cNvPr id="21" name="Rounded Rectangle 20"/>
          <p:cNvSpPr/>
          <p:nvPr/>
        </p:nvSpPr>
        <p:spPr>
          <a:xfrm>
            <a:off x="7589520" y="3429000"/>
            <a:ext cx="4114800" cy="1051560"/>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ock-gold.png"/>
          <p:cNvPicPr>
            <a:picLocks noChangeAspect="1"/>
          </p:cNvPicPr>
          <p:nvPr/>
        </p:nvPicPr>
        <p:blipFill>
          <a:blip r:embed="rId3"/>
          <a:stretch>
            <a:fillRect/>
          </a:stretch>
        </p:blipFill>
        <p:spPr>
          <a:xfrm>
            <a:off x="7818120" y="3639312"/>
            <a:ext cx="457200" cy="457200"/>
          </a:xfrm>
          <a:prstGeom prst="rect">
            <a:avLst/>
          </a:prstGeom>
        </p:spPr>
      </p:pic>
      <p:sp>
        <p:nvSpPr>
          <p:cNvPr id="23" name="TextBox 22"/>
          <p:cNvSpPr txBox="1"/>
          <p:nvPr/>
        </p:nvSpPr>
        <p:spPr>
          <a:xfrm>
            <a:off x="8412480" y="3520440"/>
            <a:ext cx="3108960" cy="86868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4" name="Rounded Rectangle 23"/>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harold.jpg"/>
          <p:cNvPicPr>
            <a:picLocks noChangeAspect="1"/>
          </p:cNvPicPr>
          <p:nvPr/>
        </p:nvPicPr>
        <p:blipFill>
          <a:blip r:embed="rId2"/>
          <a:stretch>
            <a:fillRect/>
          </a:stretch>
        </p:blipFill>
        <p:spPr>
          <a:xfrm>
            <a:off x="933045" y="1545336"/>
            <a:ext cx="2202990" cy="3584448"/>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AI, не отменены ею.</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5358384" y="1691640"/>
            <a:ext cx="4507992"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 ≈$80 тыс. убытка на объект.</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компания отвечает за ответ бота как за любой другой контент сайта.</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 но автоматизация выросла до 853 чел.-эквивалентов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429000" y="1645919"/>
            <a:ext cx="1385813" cy="80010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814813" y="2446020"/>
            <a:ext cx="0" cy="160020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429000" y="4046220"/>
            <a:ext cx="1385813" cy="80010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043186" y="4046220"/>
            <a:ext cx="1385814" cy="80010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43186" y="2446020"/>
            <a:ext cx="0" cy="160020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43186" y="1645919"/>
            <a:ext cx="1385814" cy="80010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209544" y="1426463"/>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88366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595357" y="222656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37573" y="268376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595357" y="382676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37573" y="42839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209544" y="462686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51760" y="5084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823730" y="38267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65946" y="42839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823730" y="222656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65946" y="26837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Support → Product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 (дрейф,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Rectangle 5"/>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8" name="Rounded Rectangle 7"/>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9" name="TextBox 8"/>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10" name="Rounded Rectangle 9"/>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2" name="TextBox 11"/>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3" name="Rounded Rectangle 12"/>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5" name="TextBox 14"/>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6" name="Rounded Rectangle 15"/>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8" name="TextBox 17"/>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9" name="Rounded Rectangle 18"/>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1" name="TextBox 20"/>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2" name="Rounded Rectangle 21"/>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4" name="TextBox 23"/>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5" name="Rounded Rectangle 24"/>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7" name="TextBox 26"/>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8" name="Rounded Rectangle 27"/>
          <p:cNvSpPr/>
          <p:nvPr/>
        </p:nvSpPr>
        <p:spPr>
          <a:xfrm>
            <a:off x="10182497"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30" name="TextBox 29"/>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Воронка портфеля: много идей на входе, немного профинансированных на выходе. У AI-продукта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606039" y="3922776"/>
            <a:ext cx="128016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06039" y="3922776"/>
            <a:ext cx="128016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профинансированы</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AI-продукта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 сигнал против хайпа: даже крупный игрок не заявляет вершину шкалы.</a:t>
            </a:r>
          </a:p>
        </p:txBody>
      </p:sp>
      <p:sp>
        <p:nvSpPr>
          <p:cNvPr id="33" name="Rounded Rectangle 32"/>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a:t>
            </a:r>
          </a:p>
        </p:txBody>
      </p:sp>
      <p:sp>
        <p:nvSpPr>
          <p:cNvPr id="3" name="Rounded Rectangle 2"/>
          <p:cNvSpPr/>
          <p:nvPr/>
        </p:nvSpPr>
        <p:spPr>
          <a:xfrm>
            <a:off x="502920" y="1463040"/>
            <a:ext cx="251460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630936" y="1656464"/>
            <a:ext cx="2258568" cy="1030472"/>
          </a:xfrm>
          <a:prstGeom prst="rect">
            <a:avLst/>
          </a:prstGeom>
        </p:spPr>
      </p:pic>
      <p:sp>
        <p:nvSpPr>
          <p:cNvPr id="5" name="Rounded Rectangle 4"/>
          <p:cNvSpPr/>
          <p:nvPr/>
        </p:nvSpPr>
        <p:spPr>
          <a:xfrm>
            <a:off x="502920" y="3017520"/>
            <a:ext cx="2514600" cy="1920240"/>
          </a:xfrm>
          <a:prstGeom prst="roundRect">
            <a:avLst>
              <a:gd name="adj" fmla="val 15873"/>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154680"/>
            <a:ext cx="2240280" cy="1691640"/>
          </a:xfrm>
          <a:prstGeom prst="rect">
            <a:avLst/>
          </a:prstGeom>
          <a:noFill/>
        </p:spPr>
        <p:txBody>
          <a:bodyPr wrap="square" lIns="0" rIns="0" tIns="0" bIns="0" anchor="ctr">
            <a:spAutoFit/>
          </a:bodyPr>
          <a:lstStyle/>
          <a:p>
            <a:pPr algn="l">
              <a:lnSpc>
                <a:spcPct val="118000"/>
              </a:lnSpc>
            </a:pPr>
            <a:r>
              <a:rPr sz="1200" b="1" i="0">
                <a:solidFill>
                  <a:srgbClr val="21295C"/>
                </a:solidFill>
                <a:latin typeface="DejaVu Sans"/>
              </a:rPr>
              <a:t>«95% провал» — заголовок, который не переживает калибровку: успех среди дошедших до пилота — 25%, не 5%.</a:t>
            </a:r>
          </a:p>
        </p:txBody>
      </p:sp>
      <p:sp>
        <p:nvSpPr>
          <p:cNvPr id="7" name="Rounded Rectangle 6"/>
          <p:cNvSpPr/>
          <p:nvPr/>
        </p:nvSpPr>
        <p:spPr>
          <a:xfrm>
            <a:off x="3246120" y="1463040"/>
            <a:ext cx="397763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mit-funnel.png"/>
          <p:cNvPicPr>
            <a:picLocks noChangeAspect="1"/>
          </p:cNvPicPr>
          <p:nvPr/>
        </p:nvPicPr>
        <p:blipFill>
          <a:blip r:embed="rId3"/>
          <a:stretch>
            <a:fillRect/>
          </a:stretch>
        </p:blipFill>
        <p:spPr>
          <a:xfrm>
            <a:off x="3429000" y="2414229"/>
            <a:ext cx="3611880" cy="1618061"/>
          </a:xfrm>
          <a:prstGeom prst="rect">
            <a:avLst/>
          </a:prstGeom>
        </p:spPr>
      </p:pic>
      <p:sp>
        <p:nvSpPr>
          <p:cNvPr id="9" name="Rounded Rectangle 8"/>
          <p:cNvSpPr/>
          <p:nvPr/>
        </p:nvSpPr>
        <p:spPr>
          <a:xfrm>
            <a:off x="7452360" y="1463040"/>
            <a:ext cx="4251960" cy="3474720"/>
          </a:xfrm>
          <a:prstGeom prst="roundRect">
            <a:avLst>
              <a:gd name="adj" fmla="val 87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600200"/>
            <a:ext cx="3794760" cy="457200"/>
          </a:xfrm>
          <a:prstGeom prst="rect">
            <a:avLst/>
          </a:prstGeom>
          <a:noFill/>
        </p:spPr>
        <p:txBody>
          <a:bodyPr wrap="square" lIns="0" rIns="0" tIns="0" bIns="0" anchor="t">
            <a:spAutoFit/>
          </a:bodyPr>
          <a:lstStyle/>
          <a:p>
            <a:pPr algn="l">
              <a:lnSpc>
                <a:spcPct val="110000"/>
              </a:lnSpc>
            </a:pPr>
            <a:r>
              <a:rPr sz="1300" b="1" i="0">
                <a:solidFill>
                  <a:srgbClr val="065A82"/>
                </a:solidFill>
                <a:latin typeface="DejaVu Sans"/>
              </a:rPr>
              <a:t>4 вопроса к любой громкой цифре провала AI</a:t>
            </a:r>
          </a:p>
        </p:txBody>
      </p:sp>
      <p:sp>
        <p:nvSpPr>
          <p:cNvPr id="11" name="TextBox 10"/>
          <p:cNvSpPr txBox="1"/>
          <p:nvPr/>
        </p:nvSpPr>
        <p:spPr>
          <a:xfrm>
            <a:off x="7680960" y="2240280"/>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1. Каков денаминатор?</a:t>
            </a:r>
          </a:p>
        </p:txBody>
      </p:sp>
      <p:sp>
        <p:nvSpPr>
          <p:cNvPr id="12" name="TextBox 11"/>
          <p:cNvSpPr txBox="1"/>
          <p:nvPr/>
        </p:nvSpPr>
        <p:spPr>
          <a:xfrm>
            <a:off x="7680960" y="2843784"/>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2. Что считается «провалом»?</a:t>
            </a:r>
          </a:p>
        </p:txBody>
      </p:sp>
      <p:sp>
        <p:nvSpPr>
          <p:cNvPr id="13" name="TextBox 12"/>
          <p:cNvSpPr txBox="1"/>
          <p:nvPr/>
        </p:nvSpPr>
        <p:spPr>
          <a:xfrm>
            <a:off x="7680960" y="3447288"/>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3. Каков конфликт интересов автора?</a:t>
            </a:r>
          </a:p>
        </p:txBody>
      </p:sp>
      <p:sp>
        <p:nvSpPr>
          <p:cNvPr id="14" name="TextBox 13"/>
          <p:cNvSpPr txBox="1"/>
          <p:nvPr/>
        </p:nvSpPr>
        <p:spPr>
          <a:xfrm>
            <a:off x="7680960" y="4050791"/>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4. Прослеживается ли к первоисточнику с методологией?</a:t>
            </a:r>
          </a:p>
        </p:txBody>
      </p:sp>
      <p:sp>
        <p:nvSpPr>
          <p:cNvPr id="15" name="Rounded Rectangle 14"/>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BCG: 60% компаний не отслеживают ни одного финансового KPI, привязанного к ценности AI — вот почему цифры провалов так легко раздуваются.</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6 лет маркетинга «автономный AI» без раскрытия масштаба труда (скрытая человеческая стоимость).</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AI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Сборка бесплатна — дефицит теперь: суждение, а не исполнение</a:t>
            </a:r>
          </a:p>
        </p:txBody>
      </p:sp>
      <p:cxnSp>
        <p:nvCxnSpPr>
          <p:cNvPr id="3" name="Connector 2"/>
          <p:cNvCxnSpPr/>
          <p:nvPr/>
        </p:nvCxnSpPr>
        <p:spPr>
          <a:xfrm>
            <a:off x="3063240" y="1444752"/>
            <a:ext cx="1282867" cy="740664"/>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346107" y="2185416"/>
            <a:ext cx="0" cy="1481328"/>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063240" y="3666744"/>
            <a:ext cx="1282867" cy="740664"/>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1780372" y="3666744"/>
            <a:ext cx="1282868" cy="740664"/>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780372" y="2185416"/>
            <a:ext cx="0" cy="1481328"/>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780372" y="1444752"/>
            <a:ext cx="1282868" cy="740664"/>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825496" y="1207008"/>
            <a:ext cx="475488" cy="475488"/>
          </a:xfrm>
          <a:prstGeom prst="ellipse">
            <a:avLst/>
          </a:prstGeom>
          <a:solidFill>
            <a:srgbClr val="F0AB00"/>
          </a:solidFill>
          <a:ln w="203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007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108363" y="1947672"/>
            <a:ext cx="475488" cy="475488"/>
          </a:xfrm>
          <a:prstGeom prst="ellipse">
            <a:avLst/>
          </a:prstGeom>
          <a:solidFill>
            <a:srgbClr val="F0AB00"/>
          </a:solidFill>
          <a:ln w="203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8867" y="2441448"/>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108363" y="3429000"/>
            <a:ext cx="475488" cy="475488"/>
          </a:xfrm>
          <a:prstGeom prst="ellipse">
            <a:avLst/>
          </a:prstGeom>
          <a:solidFill>
            <a:srgbClr val="F0AB00"/>
          </a:solidFill>
          <a:ln w="203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8867" y="3922776"/>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2825496" y="4169664"/>
            <a:ext cx="475488" cy="475488"/>
          </a:xfrm>
          <a:prstGeom prst="ellipse">
            <a:avLst/>
          </a:prstGeom>
          <a:solidFill>
            <a:srgbClr val="F0AB00"/>
          </a:solidFill>
          <a:ln w="203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0" y="4663440"/>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542628" y="3429000"/>
            <a:ext cx="475488" cy="475488"/>
          </a:xfrm>
          <a:prstGeom prst="ellipse">
            <a:avLst/>
          </a:prstGeom>
          <a:solidFill>
            <a:srgbClr val="F0AB00"/>
          </a:solidFill>
          <a:ln w="203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132" y="3922776"/>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542628" y="1947672"/>
            <a:ext cx="475488" cy="475488"/>
          </a:xfrm>
          <a:prstGeom prst="ellipse">
            <a:avLst/>
          </a:prstGeom>
          <a:solidFill>
            <a:srgbClr val="F0AB00"/>
          </a:solidFill>
          <a:ln w="203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3132" y="2441448"/>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Oval 20"/>
          <p:cNvSpPr/>
          <p:nvPr/>
        </p:nvSpPr>
        <p:spPr>
          <a:xfrm>
            <a:off x="2560320" y="242316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users-gold.png"/>
          <p:cNvPicPr>
            <a:picLocks noChangeAspect="1"/>
          </p:cNvPicPr>
          <p:nvPr/>
        </p:nvPicPr>
        <p:blipFill>
          <a:blip r:embed="rId2"/>
          <a:stretch>
            <a:fillRect/>
          </a:stretch>
        </p:blipFill>
        <p:spPr>
          <a:xfrm>
            <a:off x="2743200" y="2606040"/>
            <a:ext cx="640080" cy="640080"/>
          </a:xfrm>
          <a:prstGeom prst="rect">
            <a:avLst/>
          </a:prstGeom>
        </p:spPr>
      </p:pic>
      <p:sp>
        <p:nvSpPr>
          <p:cNvPr id="23" name="TextBox 22"/>
          <p:cNvSpPr txBox="1"/>
          <p:nvPr/>
        </p:nvSpPr>
        <p:spPr>
          <a:xfrm>
            <a:off x="2148840" y="3474720"/>
            <a:ext cx="1828800" cy="32004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человек в центре</a:t>
            </a:r>
          </a:p>
        </p:txBody>
      </p:sp>
      <p:sp>
        <p:nvSpPr>
          <p:cNvPr id="24" name="Rounded Rectangle 23"/>
          <p:cNvSpPr/>
          <p:nvPr/>
        </p:nvSpPr>
        <p:spPr>
          <a:xfrm>
            <a:off x="5806440" y="1417320"/>
            <a:ext cx="5897880"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5040" y="1536192"/>
            <a:ext cx="544068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Чек-лист «прежде чем делать фазу AI-first»</a:t>
            </a:r>
          </a:p>
        </p:txBody>
      </p:sp>
      <p:pic>
        <p:nvPicPr>
          <p:cNvPr id="26" name="Picture 25" descr="circle-check-teal.png"/>
          <p:cNvPicPr>
            <a:picLocks noChangeAspect="1"/>
          </p:cNvPicPr>
          <p:nvPr/>
        </p:nvPicPr>
        <p:blipFill>
          <a:blip r:embed="rId3"/>
          <a:stretch>
            <a:fillRect/>
          </a:stretch>
        </p:blipFill>
        <p:spPr>
          <a:xfrm>
            <a:off x="6035040" y="2057400"/>
            <a:ext cx="274320" cy="274320"/>
          </a:xfrm>
          <a:prstGeom prst="rect">
            <a:avLst/>
          </a:prstGeom>
        </p:spPr>
      </p:pic>
      <p:sp>
        <p:nvSpPr>
          <p:cNvPr id="27" name="TextBox 26"/>
          <p:cNvSpPr txBox="1"/>
          <p:nvPr/>
        </p:nvSpPr>
        <p:spPr>
          <a:xfrm>
            <a:off x="6400800" y="2039112"/>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1. Классика на месте?</a:t>
            </a:r>
          </a:p>
        </p:txBody>
      </p:sp>
      <p:pic>
        <p:nvPicPr>
          <p:cNvPr id="28" name="Picture 27" descr="circle-check-teal.png"/>
          <p:cNvPicPr>
            <a:picLocks noChangeAspect="1"/>
          </p:cNvPicPr>
          <p:nvPr/>
        </p:nvPicPr>
        <p:blipFill>
          <a:blip r:embed="rId3"/>
          <a:stretch>
            <a:fillRect/>
          </a:stretch>
        </p:blipFill>
        <p:spPr>
          <a:xfrm>
            <a:off x="8778240" y="2057400"/>
            <a:ext cx="274320" cy="274320"/>
          </a:xfrm>
          <a:prstGeom prst="rect">
            <a:avLst/>
          </a:prstGeom>
        </p:spPr>
      </p:pic>
      <p:sp>
        <p:nvSpPr>
          <p:cNvPr id="29" name="TextBox 28"/>
          <p:cNvSpPr txBox="1"/>
          <p:nvPr/>
        </p:nvSpPr>
        <p:spPr>
          <a:xfrm>
            <a:off x="9144000" y="2039112"/>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2. Стоит ли доверие цены?</a:t>
            </a:r>
          </a:p>
        </p:txBody>
      </p:sp>
      <p:pic>
        <p:nvPicPr>
          <p:cNvPr id="30" name="Picture 29" descr="circle-check-teal.png"/>
          <p:cNvPicPr>
            <a:picLocks noChangeAspect="1"/>
          </p:cNvPicPr>
          <p:nvPr/>
        </p:nvPicPr>
        <p:blipFill>
          <a:blip r:embed="rId3"/>
          <a:stretch>
            <a:fillRect/>
          </a:stretch>
        </p:blipFill>
        <p:spPr>
          <a:xfrm>
            <a:off x="6035040" y="2679192"/>
            <a:ext cx="274320" cy="274320"/>
          </a:xfrm>
          <a:prstGeom prst="rect">
            <a:avLst/>
          </a:prstGeom>
        </p:spPr>
      </p:pic>
      <p:sp>
        <p:nvSpPr>
          <p:cNvPr id="31" name="TextBox 30"/>
          <p:cNvSpPr txBox="1"/>
          <p:nvPr/>
        </p:nvSpPr>
        <p:spPr>
          <a:xfrm>
            <a:off x="6400800" y="2660904"/>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3. Есть эталонный набор и eval?</a:t>
            </a:r>
          </a:p>
        </p:txBody>
      </p:sp>
      <p:pic>
        <p:nvPicPr>
          <p:cNvPr id="32" name="Picture 31" descr="circle-check-teal.png"/>
          <p:cNvPicPr>
            <a:picLocks noChangeAspect="1"/>
          </p:cNvPicPr>
          <p:nvPr/>
        </p:nvPicPr>
        <p:blipFill>
          <a:blip r:embed="rId3"/>
          <a:stretch>
            <a:fillRect/>
          </a:stretch>
        </p:blipFill>
        <p:spPr>
          <a:xfrm>
            <a:off x="8778240" y="2679192"/>
            <a:ext cx="274320" cy="274320"/>
          </a:xfrm>
          <a:prstGeom prst="rect">
            <a:avLst/>
          </a:prstGeom>
        </p:spPr>
      </p:pic>
      <p:sp>
        <p:nvSpPr>
          <p:cNvPr id="33" name="TextBox 32"/>
          <p:cNvSpPr txBox="1"/>
          <p:nvPr/>
        </p:nvSpPr>
        <p:spPr>
          <a:xfrm>
            <a:off x="9144000" y="2660904"/>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4. Есть guardrail-метрика?</a:t>
            </a:r>
          </a:p>
        </p:txBody>
      </p:sp>
      <p:pic>
        <p:nvPicPr>
          <p:cNvPr id="34" name="Picture 33" descr="circle-check-teal.png"/>
          <p:cNvPicPr>
            <a:picLocks noChangeAspect="1"/>
          </p:cNvPicPr>
          <p:nvPr/>
        </p:nvPicPr>
        <p:blipFill>
          <a:blip r:embed="rId3"/>
          <a:stretch>
            <a:fillRect/>
          </a:stretch>
        </p:blipFill>
        <p:spPr>
          <a:xfrm>
            <a:off x="6035040" y="3300984"/>
            <a:ext cx="274320" cy="274320"/>
          </a:xfrm>
          <a:prstGeom prst="rect">
            <a:avLst/>
          </a:prstGeom>
        </p:spPr>
      </p:pic>
      <p:sp>
        <p:nvSpPr>
          <p:cNvPr id="35" name="TextBox 34"/>
          <p:cNvSpPr txBox="1"/>
          <p:nvPr/>
        </p:nvSpPr>
        <p:spPr>
          <a:xfrm>
            <a:off x="6400800" y="3282696"/>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5. Поэтапная раскатка + откат?</a:t>
            </a:r>
          </a:p>
        </p:txBody>
      </p:sp>
      <p:pic>
        <p:nvPicPr>
          <p:cNvPr id="36" name="Picture 35" descr="circle-check-teal.png"/>
          <p:cNvPicPr>
            <a:picLocks noChangeAspect="1"/>
          </p:cNvPicPr>
          <p:nvPr/>
        </p:nvPicPr>
        <p:blipFill>
          <a:blip r:embed="rId3"/>
          <a:stretch>
            <a:fillRect/>
          </a:stretch>
        </p:blipFill>
        <p:spPr>
          <a:xfrm>
            <a:off x="8778240" y="3300984"/>
            <a:ext cx="274320" cy="274320"/>
          </a:xfrm>
          <a:prstGeom prst="rect">
            <a:avLst/>
          </a:prstGeom>
        </p:spPr>
      </p:pic>
      <p:sp>
        <p:nvSpPr>
          <p:cNvPr id="37" name="TextBox 36"/>
          <p:cNvSpPr txBox="1"/>
          <p:nvPr/>
        </p:nvSpPr>
        <p:spPr>
          <a:xfrm>
            <a:off x="9144000" y="3282696"/>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6. Гарантирована эскалация к человеку?</a:t>
            </a:r>
          </a:p>
        </p:txBody>
      </p:sp>
      <p:pic>
        <p:nvPicPr>
          <p:cNvPr id="38" name="Picture 37" descr="circle-check-teal.png"/>
          <p:cNvPicPr>
            <a:picLocks noChangeAspect="1"/>
          </p:cNvPicPr>
          <p:nvPr/>
        </p:nvPicPr>
        <p:blipFill>
          <a:blip r:embed="rId3"/>
          <a:stretch>
            <a:fillRect/>
          </a:stretch>
        </p:blipFill>
        <p:spPr>
          <a:xfrm>
            <a:off x="6035040" y="3922776"/>
            <a:ext cx="274320" cy="274320"/>
          </a:xfrm>
          <a:prstGeom prst="rect">
            <a:avLst/>
          </a:prstGeom>
        </p:spPr>
      </p:pic>
      <p:sp>
        <p:nvSpPr>
          <p:cNvPr id="39" name="TextBox 38"/>
          <p:cNvSpPr txBox="1"/>
          <p:nvPr/>
        </p:nvSpPr>
        <p:spPr>
          <a:xfrm>
            <a:off x="6400800" y="3904488"/>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7. Кто отвечает?</a:t>
            </a:r>
          </a:p>
        </p:txBody>
      </p:sp>
      <p:pic>
        <p:nvPicPr>
          <p:cNvPr id="40" name="Picture 39" descr="circle-check-teal.png"/>
          <p:cNvPicPr>
            <a:picLocks noChangeAspect="1"/>
          </p:cNvPicPr>
          <p:nvPr/>
        </p:nvPicPr>
        <p:blipFill>
          <a:blip r:embed="rId3"/>
          <a:stretch>
            <a:fillRect/>
          </a:stretch>
        </p:blipFill>
        <p:spPr>
          <a:xfrm>
            <a:off x="8778240" y="3922776"/>
            <a:ext cx="274320" cy="274320"/>
          </a:xfrm>
          <a:prstGeom prst="rect">
            <a:avLst/>
          </a:prstGeom>
        </p:spPr>
      </p:pic>
      <p:sp>
        <p:nvSpPr>
          <p:cNvPr id="41" name="TextBox 40"/>
          <p:cNvSpPr txBox="1"/>
          <p:nvPr/>
        </p:nvSpPr>
        <p:spPr>
          <a:xfrm>
            <a:off x="9144000" y="3904488"/>
            <a:ext cx="2377440"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DejaVu Sans"/>
              </a:rPr>
              <a:t>8. Данные безопасны?</a:t>
            </a:r>
          </a:p>
        </p:txBody>
      </p:sp>
      <p:sp>
        <p:nvSpPr>
          <p:cNvPr id="42" name="TextBox 41"/>
          <p:cNvSpPr txBox="1"/>
          <p:nvPr/>
        </p:nvSpPr>
        <p:spPr>
          <a:xfrm>
            <a:off x="6035040" y="4526280"/>
            <a:ext cx="5440680" cy="32004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Парный семинар: та же петля на учебном AI-продукте</a:t>
            </a:r>
          </a:p>
        </p:txBody>
      </p:sp>
      <p:sp>
        <p:nvSpPr>
          <p:cNvPr id="43" name="Rounded Rectangle 42"/>
          <p:cNvSpPr/>
          <p:nvPr/>
        </p:nvSpPr>
        <p:spPr>
          <a:xfrm>
            <a:off x="502920" y="48920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6" y="4946903"/>
            <a:ext cx="10762488" cy="62179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Когда исполнение почти бесплатно, дефицитный ресурс — суждение: отличить сигнал от шума и удержать намерение и ответственность на человеке.</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