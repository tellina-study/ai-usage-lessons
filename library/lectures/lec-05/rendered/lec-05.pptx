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парадокса.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проходит тесты, и код почти бесплатен. Одновременно летом две тысячи двадцать пятого года исследовательская группа при MIT Media Lab опубликовала отчёт, растиражированный медиа как «девяносто пять процентов организаций получают нулевую отдачу от генеративного ИИ». Два факта одновременно правдивы и на первый взгляд взаимоисключающи: сборка почти бесплатна — и почти никто не извлекает из этого ценность. Как это возможно?</a:t>
            </a:r>
          </a:p>
          <a:p>
            <a:r>
              <a:t>Прежде чем идти дальше, стоит честно разобрать саму цифру девяносто пять процентов, потому что заголовок скрывает важную деталь. Реальная воронка отчёта устроена так: шестьдесят процентов организаций вообще исследовали возможность применения ИИ, двадцать процентов дошли до пилотного проекта, и лишь пять процентов успешно его внедрили. Если считать не от всех организаций, а от тех, кто реально запустил пилот, успешны примерно пять из двадцати — то есть около четверти, а не пяти процентов. Это заметно выше пугающего заголовка, но всё равно отрезвляюще низко: три из четырёх пилотов, доведённых до реального запуска, не приживаются. Есть и методологический нюанс: все четыре автора отчёта одновременно строят или продают собственные продукты в области автономных агентов через тот же исследовательский проект — обстоятельство, которое стоит держать в уме при чтении любого громкого отчёта об эффективности технологии.</a:t>
            </a:r>
          </a:p>
          <a:p>
            <a:r>
              <a:t>Мы не разрешим парадокс прямо сейчас — это станет итоговым выводом всей лекции, и мы вернёмся к нему в самом конце. Но зафиксируем его форму сразу: сборка стала почти бесплатной, а превращение сборки в реальную ценность — нет. Именно это несоответствие — предмет сегодняшней лекции. Мы пройдём весь жизненный цикл продукта: от намерения через исследование, дизайн, сборку, измерение, эксплуатацию — и на каждой фазе будем спрашивать одно и то же: что здесь ИИ удешевил, и что осталось дорогим и человеческим.</a:t>
            </a:r>
          </a:p>
          <a:p>
            <a:r>
              <a:t>Подумайте тридцать секунд: если строить стало почти бесплатно, что тогда стало настоящим узким местом продукта?</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[VFY-day-of]</a:t>
            </a:r>
          </a:p>
          <a:p>
            <a:r>
              <a:t>[2] MIT NANDA — «The GenAI Divide» (июль 2025, v0.1) — «95% пилотов — ноль отдачи»: неревьюированный препринт, требует калибровки (см. s47). https://mlq.ai/media/quarterly_decks/v0.1_State_of_AI_in_Business_2025_Report.pdf [VFY-day-of]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лекция — это увеличение масштаба: код — одна, теперь резко подешевевшая фаза внутри гораздо более широкого жизненного цикла продукта. Вы технически сильны и ежедневно пишете код с ИИ-ассистентами, но большинство продуктовых дисциплин — customer development, дизайн-мышление, продуктовые эксперименты, эксплуатацию по модели инженерии надёжности — видите, скорее всего, впервые. Поэтому каждый из шести разделов сегодня начинается не с ИИ, а с классической базы: откуда взялась дисциплина и какую проблему она решает без единого упоминания искусственного интеллекта. Только после этого мы спрашиваем, что меняет ИИ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Сама структура сегодняшней лекции — база, затем ИИ, затем ограничения, затем разобранный провал — применяет к самой себе тот же принцип, которому она учит: чтобы судить, когда ИИ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это шесть стрелок одной петли. Discovery — откуда берётся гипотеза. Design — как гипотеза становится артефактом. Build и Launch — как артефакт становится работающим продуктом в проде. Measure — как проверить, сработало ли это на самом деле. Support и Operate — что происходит, когда продукт живёт круглосуточно. И Governance — как организация решает, во что вообще вкладывать капитал. В конце мы соберём всё в единую матрицу и чек-лист, которым вы сможете прогнать любую незнакомую ИИ-инициативу.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сегодняшней лекции, и она нарисована не списком, а кругом, потому что это принципиально. Шесть разделов — это не шесть независимых тем, а шесть стрелок одной петли. Мы начинаем с намерения — с Discovery, где рождается гипотеза о том, что вообще строить. Гипотеза проходит через Design, превращаясь в конкретный артефакт, который можно показать человеку. Артефакт проходит через Build и Launch, становясь работающим продуктом в проде. Дальше — Measure: мы проверяем, действительно ли изменение дало эффект, который мы предсказывали. Support и Operate — это то, что происходит, когда продукт уже живёт с реальными пользователями круглые сутки. И наконец Governance — организационный уровень, на котором решается, продолжать ли инвестировать, масштабировать или остановить.</a:t>
            </a:r>
          </a:p>
          <a:p>
            <a:r>
              <a:t>Момент, который отличает эту карту от простого списка: последняя стрелка возвращается в первую. Сигнал из эксплуатации и из governance-решений меняет то, что мы в следующий раз исследуем в Discovery. Это замкнутый цикл, а не одноразовый линейный процесс — и именно поэтому в конце лекции мы вернёмся к тому же самому кругу, только с полным пониманием, что происходит на каждой стрелке.</a:t>
            </a:r>
          </a:p>
          <a:p>
            <a:r>
              <a:t>Есть и практическая причина рисовать именно петлю, а не список: если одна-единственная стрелка резко дешевеет — а сегодня это стрелка сборки, — это не ускоряет весь цикл целиком. Ускорение одной стрелки без остальных перемещает узкое место на следующую, ещё не подешевевшую стрелку, и делает его острее. Мы увидим этот эффект измеренным на практике в разделе про сборку и запуск: команды, которые пишут код в разы быстрее, чем раньше, упираются не в написание, а в ревью и валидацию — то есть в стрелку, которая не подешевела вместе с остальными. Именно поэтому недостаточно спросить «можно ли здесь применить ИИ» — почти всегда можно; правильный вопрос — «куда переместилось узкое место, когда эта стрелка подешевела», и в конце лекции мы вернёмся к тому же кругу с полным ответом на каждой стрелке.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показала, что разработка ПО с ИИ — это инженерная дисциплина вокруг цикла человеко-владеемых артефактов: спецификация, архитектурное решение, план, pull request, запись об инциденте, снова в спецификацию. Этот цикл живёт внутри одной фазы продуктового цикла — Build, которую мы разберём в разделе три сегодня. Сегодняшняя лекция берёт на один уровень выше: продукт как целое проходит собственную петлю, и решение вернуться в начало или остановить продукт принимается не инженерным, а продуктовым критерием — подтвердилась ли гипотеза о ценности для пользователя.</a:t>
            </a:r>
          </a:p>
          <a:p>
            <a:r>
              <a:t>Разница масштаба принципиальна. Лекция четыре отвечала на вопрос «как мне написать код, за который я отвечаю» — единица работы там: pull request, коммит. Эта лекция отвечает на вопрос «откуда вообще берётся уверенность, что стоит писать этот код» — единица работы здесь: гипотеза, эксперимент, релиз-решение, инцидент как сигнал для планирования следующего цикла. Код — только один из шагов этой петли, причём теперь заметно более дешёвый, чем остальные.</a:t>
            </a:r>
          </a:p>
          <a:p>
            <a:r>
              <a:t>Отсюда центральный вопрос всей лекции: когда ИИ сделал сборку почти бесплатной, что стало настоящим узким местом продукта — и на каждой фазе цикла, какая классическая дисциплина остаётся, что ИИ ускоряет, и где AI-first ломается? Обратите внимание: вопрос не спрашивает, полезен ли ИИ в продуктовой работе — очевидно, да, повсеместно. Он спрашивает, что именно ИИ меняет и что не меняет. Ответ будет разным на каждой стрелке: где-то ИИ резко снижает стоимость, а доверие к результату остаётся прежним — это мы увидим в разделе про дизайн; где-то стоимость падает, но доверие падает ещё быстрее — это раздел про эксперимент; а где-то скорость наблюдения за системой растёт, но само наблюдение становится уязвимым для манипуляции — это раздел про эксплуатацию. Держите этот вопрос как линзу на все шесть разделов: на каждой фазе спрашивайте не «можно ли тут применить ИИ», а «куда переместилось узкое место, когда эта стрелка подешевела».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несущая идея всей сегодняшней лекции, и её стоит удержать в голове через все шесть разделов: продукт — это петля обратной связи, исследовать, построить, измерить, научиться, решить, снова исследовать. Это не одна теория одного автора — это форма, к которой независимо друг от друга пришли минимум три человека из совершенно разных областей, не имевшие контакта друг с другом.</a:t>
            </a:r>
          </a:p>
          <a:p>
            <a:r>
              <a:t>Уолтер Шухарт и Уильям Эдвардс Деминг, статистики контроля качества, сформулировали цикл PDCA — спланировать, сделать, проверить, воздействовать — как метод непрерывного улучшения производства ещё в тысяча девятьсот тридцать девятом году; на этом цикле выросло послевоенное японское качество производства. Джон Бойд, военный лётчик-истребитель, сформулировал в семидесятых цикл OODA — наблюдать, сориентироваться, решить, действовать — как модель того, кто побеждает в воздушном бою: не тот, у кого мощнее самолёт, а тот, кто быстрее и точнее проходит этот цикл. Эрик Райс, предприниматель, сформулировал в две тысячи одиннадцатом цикл Build-Measure-Learn как способ стартапа не потратить месяцы на функцию, которую никто не хочет.</a:t>
            </a:r>
          </a:p>
          <a:p>
            <a:r>
              <a:t>Здесь уместен честный вопрос: может, это просто три названия одного и того же круга из нескольких шагов, а сходство — артефакт того, как вообще принято рисовать процессы? Аргумент сильнее случайного совпадения по трём признакам. Три автора работали в разные десятилетия, в трёх непересекающихся профессиях, без задокументированного заимствования друг у друга. Совпадает не просто число шагов, а их функция: в каждом цикле есть шаг сбора данных о реальности, шаг интерпретации этих данных и шаг необратимого выбора действия. И у всех трёх есть задокументированный режим отказа одной и той же природы — пропуск шага интерпретации и превращение цикла в слепое повторение действия.</a:t>
            </a:r>
          </a:p>
          <a:p>
            <a:r>
              <a:t>Есть и нюанс той же формы — одиночная и двойная петля Криса Аргириса и Дональда Шёна, тысяча девятьсот семьдесят восьмой год. Одиночная петля исправляет ошибку относительно фиксированной цели, как термостат. Двойная идёт глубже: ставит под вопрос саму цель. Это предвосхищает сбой, который мы разберём в разделе четыре: обучение модели через обратную связь человека — механизированная одиночная петля, а взлом функции вознаграждения — ровно её режим отказа. Статистик, лётчик и предприниматель нарисовали один и тот же чертёж не сговариваясь — аргумент, что петля не модная методология, а структурное свойство системы, которая учится в условиях неопределённости.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keystone — центральный аналитический инструмент всей лекции: ИИ меняет стоимость и доверие каждой стрелки петли асимметрично, не одинаково. Стрелка «построить» — стоимость почти обнулилась: написание кода, черновика дизайна, первого прототипа исследования на порядки дешевле, чем пять лет назад. Стрелки «измерить» и «научиться» — стоимость осталась прежней или снизилась незначительно, а доверие к результату упало: сам инструмент измерения стал вероятностным и уязвимым к манипуляции метрикой. Стрелки «наблюдать» и «сориентироваться» — стали быстрее, но одновременно уязвимее к атаке: скорость наблюдения за системой в проде выросла, но сама возможность быстро реагировать превращается в уязвимость, если наблюдаемые данные можно отравить.</a:t>
            </a:r>
          </a:p>
          <a:p>
            <a:r>
              <a:t>Стоит задержаться на самой контринтуитивной части — наблюдении. Цикл OODA Бойда родился в военном, противоборствующем контексте: побеждает тот, кто быстрее проходит цикл. ИИ-агент буквально устроен как OODA-петля — наблюдает инструменты, рассуждает, решает, действует, — и здесь скорость Бойда превращается в уязвимость: агент воспринимает недоверенные входы и зацикливается слишком быстро, чтобы верифицировать их. Преимущество скорости у Бойда становится обязательством у автоматизированного агента — чем быстрее он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ровно тот же эффект на материале заводов и кабин самолётов сорока годами раньше, в тысяча девятьсот восемьдесят третьем: когда автоматизируют бо́льшую часть операции, но не всю, оператор не начинает работать меньше — он получает задачу мониторинга того, что делает автомат, в тот редкий момент, когда автомат ошибается и нужно вмешаться быстро и компетентно. Автоматизация снижает бытовую нагрузку и одновременно требует более высокой, а не более низкой квалификации в момент вмешательства — рутинная практика, поддерживающая эту квалификацию, исчезает вместе с автоматизированной рутиной. Похожую петлю намерения и исполнения формулируют сегодня и крупные организации самостоятельно: например, один из российских банков описал в две тысячи двадцать шестом году переход «от кода к намерению» — два контура разной скорости, где человек управляет намерением, а агенты — исполнением.</a:t>
            </a:r>
          </a:p>
          <a:p>
            <a:r>
              <a:t>Отсюда мета-паттерн, который будет повторяться в каждом из шести разделов: у каждой фазы жизненного цикла продукта есть классическая дисциплина, и ИИ её не отменяет. Он меняет, сколько эта дисциплина стоит и насколько ей можно доверять без проверки — но не устраняет саму дисциплину.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проходить петлю по стрелкам, и первая — Discovery, исследование. Это фаза, откуда вообще берётся гипотеза о том, что строить. У большинства сильных инженеров есть неформальный опыт «спросить у друзей, нравится ли идея» — но почти никто не сталкивался с формальной дисциплиной, которая объясняет, почему этот неформальный опыт систематически лжёт: друзья и коллеги хотят вас поддержать, а не сказать правду, которая может задеть, и именно эта доброжелательность искажает сигнал.</a:t>
            </a:r>
          </a:p>
          <a:p>
            <a:r>
              <a:t>Сегодня в этом разделе — две классические базы: методология поиска бизнес-модели через выход к клиентам и техника одного правильного разговора с одним человеком. Дальше — что ИИ добавляет в исследование в две тысячи двадцать пятом-двадцать шестом году, где он ограничен, и три провала, которые показывают, что случается, когда границу пропускают.</a:t>
            </a:r>
          </a:p>
          <a:p>
            <a:r>
              <a:t>Здесь же стоит сразу закрыть один практический вопрос, который почти неизбежно возникает: сколько интервью вообще достаточно? Честный ответ — фиксированного числа нет. Дисциплина отвечает не количеством, а насыщением: вы останавливаетесь, когда новые интервью перестают вскрывать новые темы, а начинают повторять уже услышанное. Для задач юзабилити есть классический ориентир — пять-восемь пользователей вскрывают большинство проблем, мы вернёмся к этой цифре в конкретном провале раздела. Но для проблемных интервью, которые проверяют саму гипотезу о боли, чистого числа нет — и это само по себе показательно: продуктовое исследование не сводится к «прогнать N штук по чек-листу», это процесс, идущий до сходимости сигнала, а не до заранее заданной отметки в календаре. Держите это как первую границу применимости: любой инструмент, включая ИИ-синтез, который отчитывается «мы обработали сто интервью», отвечает на вопрос объёма, а не на вопрос «перестали ли появляться новые темы» — а именно второй определяет, достаточно ли данных для решения на практике.</a:t>
            </a:r>
          </a:p>
          <a:p>
            <a:r>
              <a:t>Держите два вопроса раздела: где ИИ усиливает исследование, и где реальный человек с реальным прошлым обязателен.</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Классика дискавери — большая дисциплина, и дальше в этом разделе из неё работают ровно две вещи. Обе стоит взять точно, потому что на них опираются оба приёма, которые мы разберём следом.</a:t>
            </a:r>
          </a:p>
          <a:p>
            <a:r>
              <a:t>Первая — формат гипотезы. Стив Бланк сформулировал правило, ради которого вся методология и существует: внутри офиса нет фактов, поэтому выходи наружу. Но выход наружу сам по себе ничего не гарантирует. Команда, вышедшая без записанной гипотезы, возвращается с набором впечатлений, которые задним числом подтверждают то, во что она верила до выхода. Поэтому гипотезу записывают заранее и в конкретном формате: не «кажется, руководителям команд нужен инструмент для отчётности», а «мы верим, что руководители тратят больше двух часов в неделю на ручную сборку статуса из разрозненных источников; проверим восемью разговорами; через две недели у нас будет да или нет и медианное время». Три поля: проверяемое число, метод проверки, срок. Срок здесь несёт нагрузку наравне с числом — без него «проверим» не имеет конца, и гипотеза живёт столько, сколько в неё удобно верить.</a:t>
            </a:r>
          </a:p>
          <a:p>
            <a:r>
              <a:t>Вторая — два правила разговора. Спрашивать о конкретном прошлом, а не о мнении про будущее: гипотетический вопрос провоцирует вежливый оптимизм, и собеседник при этом не врёт — он достраивает, потому что больше ему нечем ответить. И засчитывать проверкой обязательство, а не комплимент: легитимные сигналы — потраченное время, поставленная на кон репутация, заплаченные деньги. Пара вопросов внизу показывает разницу на одном шаге. «Заплатили бы двадцать долларов» просит человека предсказать самого себя. «Сколько вы платите сегодня» просит вспомнить.</a:t>
            </a:r>
          </a:p>
          <a:p>
            <a:r>
              <a:t>Дальше эти два правила перестают быть правилами вежливости и становятся техническим критерием. Вопрос, на который собеседник отвечает гипотетическим будущим, мы будем вычёркивать из гайда механически — по признаку, а не по вкусу. А формат гипотезы станет обязательным выходом поиска по корпусу обращений: кластер, не сложившийся в такую запись, дальше не идёт.</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ИИ реально меняет в этой фазе — три вещи, и все три про скорость черновика.</a:t>
            </a:r>
          </a:p>
          <a:p>
            <a:r>
              <a:t>Кабинетный поиск: обзор рыночных отчётов, жалоб и публикаций сжимается до часа. Режим глубокого исследования — в Perplexity он так и называется — планирует траекторию поиска, читает источники и возвращает отчёт со ссылками за минуты; практики сообщают о сокращении времени примерно вдвое — задача на два часа занимает около получаса. Сведение разговоров устроено похоже: инструменты кросс-интервью синтеза — Dovetail и подобные — строятся вокруг принципа «цитата привязана к источнику», и это защищает от дрейфа в непроверяемое резюме. Транскрипция к этому году стала товаром массового рынка, различие между инструментами теперь в качестве сведения десятков разговоров, а не в пересказе одного звонка. Третье — построение эталонного набора пар «запрос и правильный ответ»: он вернётся к нам дважды, в разделах про запуск и про измерение, уже как формальный артефакт.</a:t>
            </a:r>
          </a:p>
          <a:p>
            <a:r>
              <a:t>Теперь граница, и она находится ровно на первом из трёх шагов. Deloitte Australia сдала правительству отчёт стоимостью четыреста сорок тысяч австралийских долларов, содержащий ссылки на несуществующие академические статьи и сфабрикованную цитату, приписанную реальному судебному решению. Обнаружил это не заказчик и не внутренний контроль, а независимый исследователь; после публикации компания частично вернула деньги и признала использование генеративных инструментов. Механизм сбоя назван точно: черновик вторичного исследования приняли как готовый проверенный обзор. Ссылки существуют ровно затем, чтобы проверка была возможна, — пропуск этого шага превращает исследовательского помощника в машину фабрикации. И это не единичный случай: база судебных решений фиксирует более семисот двенадцати эпизодов с придуманными юридическими цитатами по всему миру, из них около девяноста процентов пришлись на один год.</a:t>
            </a:r>
          </a:p>
          <a:p>
            <a:r>
              <a:t>Критерий, который отсюда следует, жёсткий и простой: если результат уходит внешнему заказчику, проверяется каждая ссылка, а не выборка. Альтернатива на случай, когда цена ошибки высока, — обычный поиск по проверенным базам с ручной сверкой, медленнее и без сюрпризов.</a:t>
            </a:r>
          </a:p>
          <a:p>
            <a:r>
              <a:t>Отдельно про синтетических собеседников: у них есть узкая законная роль — репетиция гайда, черновик персон, генерация гипотез. Ни один такой выход не считается доказательством для решения. Разрыв осознан самой профессией: девяносто семь процентов исследователей пользуются ИИ, но засчитывают синтетических участников как данные лишь около восьми.</a:t>
            </a:r>
          </a:p>
          <a:p>
            <a:r>
              <a:t>Источники:</a:t>
            </a:r>
          </a:p>
          <a:p>
            <a:r>
              <a:t>[1] Perplexity Deep Research — обзор для продукт-исследований — desk research: часы → минуты; необходимость проверки источника. https://www.secondtalent.com/resources/perplexity-deep-research-review/</a:t>
            </a:r>
          </a:p>
          <a:p>
            <a:r>
              <a:t>[2] Dovetail — AI-синтез интервью — кластеризация болей в масштабе; ограничения AI-суммаризации. https://listenlabs.ai/articles/dovetail-ai-qualitative-analysis/</a:t>
            </a:r>
          </a:p>
          <a:p>
            <a:r>
              <a:t>[3] NN/g — практический опрос 2026 — 97% исследователей используют ИИ, ~8% доверяют ИИ-персонам как данным. https://www.nngroup.com/articles/state-of-ux-2026/ [VFY-day-of]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Идея «сделать персонажей через субагентов и прогнать на них кастдев» звучит сегодня часто, и она правильная по механике — при одном условии: роль приёма узкая, и её надо удержать.</a:t>
            </a:r>
          </a:p>
          <a:p>
            <a:r>
              <a:t>Персона здесь строится не как абзац внутри системного промпта, а как отдельный файл-агент со своим контекстным окном. Причина инженерная: у каждого субагента собственное окно, они не видят ответов друг друга и не сходятся незаметно к общему голосу. Профиль пишется не портретом, а по формату работы, ради которой продукт нанимают: что человек делал непосредственно перед тем, как начал искать решение, чем пользуется сейчас, во что это ему обходится в часах или деньгах, что он однажды попробовал и бросил. Один и тот же гайд интервью прогоняется через всех персон — и дальше вся ценность приёма в том, куда вы смотрите. Не на содержание ответов. На две производные величины. Первая: какие вопросы гайда дали практически одинаковый ответ у всех персон. Такой вопрос ничего не различает и на живом интервью потратит время впустую — его переписывают. Вторая: на какие вопросы персона отвечает гипотетическим будущим, «я бы этим пользовался». Это нарушение правила спрашивать о конкретном прошлом, зашитое в саму формулировку вопроса, и увидеть его на репетиции дешевле, чем испортить им живой разговор.</a:t>
            </a:r>
          </a:p>
          <a:p>
            <a:r>
              <a:t>Остаётся после прогона версионируемый набор файлов персон и гайд, у которого есть версия два и дифф: какой вопрос переписан и по какому из двух сигналов. Сработало, если доля переписанных вопросов видна диффом, доля вопросов с одинаковым ответом падает от версии к версии, а одно пилотное живое интервью по правленому гайду даёт таймлайн решения, а не список предпочтений.</a:t>
            </a:r>
          </a:p>
          <a:p>
            <a:r>
              <a:t>Теперь граница, без которой приём превращается в тот самый провал, который мы разберём следом. Ни один ответ персоны не идёт в решение и не цитируется как данные. Причина не в осторожности, а в устройстве: отдельное окно даёт изоляцию, но не независимость. Веса те же, распределение то же, значит пять субагентов — это пять коррелированных выборок. Сверка с реальным опросом показывает, как это выглядит в числах: средние воспроизводятся, а разброс занижен почти вдвое. Схлопнутый разброс — ложная уверенность ровно там, где живые люди расходятся сильнее всего, а расхождение и есть то, ради чего вообще идут в поле.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фазы работает там, где у продукта уже есть живые пользователи и накопленный корпус обращений. Он целиком собран из пройденного в Лекциях 2 и 3 и не вводит ни одного нового понятия.</a:t>
            </a:r>
          </a:p>
          <a:p>
            <a:r>
              <a:t>Шаг первый — индексация. Один тикет поддержки становится одним фрагментом, и к нему обязательно прикрепляются метаданные: дата, продукт, сегмент, канал, признак повторного обращения. Это то же условие фильтрации и свежести, которое мы разбирали для поиска с дополнением генерации: без метаданных корпус превращается в мешок текста, из которого нельзя отсечь ни устаревшее, ни нерелевантное.</a:t>
            </a:r>
          </a:p>
          <a:p>
            <a:r>
              <a:t>Шаг второй — извлечение. Гибридный поиск: лексический вместе с плотными векторными представлениями, с переранжированием сверху. Причина не академическая: чисто векторный поиск по тикетам плохо ловит точные коды ошибок и номера заказов, а они в обращениях встречаются постоянно. Это тот же урок, что и на материале поиска с дополнением генерации: вернул что-то не значит вернул правильное.</a:t>
            </a:r>
          </a:p>
          <a:p>
            <a:r>
              <a:t>Шаг третий — кластеризация. Векторные представления фрагментов собираются в темы боли, а дальше к каждому кластеру применяется двухшаговый синтез: сначала каждый тикет по отдельности, потом между тикетами. Пропуск первого шага — это не стилистическая небрежность, а измеримый сбой: резюме теряет от двадцати до сорока процентов важной детали.</a:t>
            </a:r>
          </a:p>
          <a:p>
            <a:r>
              <a:t>Остаётся одна таблица: кластер, число тикетов, минимум три дословные цитаты с номером тикета, гипотеза в формате «вера — тест — дата» и указание, к какому сегменту идти на живое интервью. Требование цитаты с номером — это прослеживаемость, сделанная руками, и именно поэтому её легко проверить. Сработало, если каждая гипотеза доходит до трёх цитат; кластер без цитаты вычёркивается без сожаления, это артефакт модели, а не боль клиента.</a:t>
            </a:r>
          </a:p>
          <a:p>
            <a:r>
              <a:t>Граница двойная, и обе части обязательны. Первая: корпус смещён по построению — в нём только те, кто дошёл до жалобы. Объём не лечит: сто тысяч тикетов смещены так же, как тысяча, потому что тикеты структурно молчат о неудовлетворённой потребности. Не бывает обращения «мне нужно то, чего у вас нет». Поэтому вопрос «чего у нас нет» этим приёмом не закрывается вообще. Вторая: извлечение возвращает похожие обращения, а не важные. Частота не равна значимости.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Пятый риск дискавери — этический, но это конкретный, измеримый механизм: ИИ-резюме может упускать двадцать-сорок процентов важной детали интервью, когда синтез пропускает шаг «сначала по отдельности» и сразу прыгает к кросс-интервью теме. Это не расплывчатое «ИИ иногда ошибается» — это прослеживаемый до конкретного шага сбой.</a:t>
            </a:r>
          </a:p>
          <a:p>
            <a:r>
              <a:t>Почему живые интервью остаются необходимыми — аргумент накопления. Правило два The Mom Test — спрашивать о конкретном прошлом — это ровно то правило, которое синтетическая персона не способна удовлетворить, потому что у неё нет реального прошлого, она может только сгенерировать правдоподобное. Склонность соглашаться измерена, а не предположена: Шарма и соавторы, две тысячи двадцать третий год, показали, что при явном согласии тон ответа смягчается примерно в семьдесят два — девяносто один процент случаев на пяти моделях, а при явном несогласии — лишь в семь-двадцать восемь; это доля сдвига тона, а не частота отрицательного ответа. Эта склонность плюс отсутствие реального прошлого — это накопительный сбой: не просто смещено в сторону «да», а смещено в сторону «да» о событии, которого никогда не было.</a:t>
            </a:r>
          </a:p>
          <a:p>
            <a:r>
              <a:t>Есть и более коварный режим сбоя, чем разовая ошибка: если команда полностью заменяет реальное юзабилити-тестирование синтетическими персонами, возникает замкнутая «петля галлюцинации» — ИИ проектирует под догадку ИИ о пользователе, и ни один живой человек ни разу не проверяет цепочку. Nielsen Norman Group формулирует смежный парадокс: ревью галлюцинированных паттернов утомительнее, чем проектирование с нуля, — человеку приходится ловить каждую тонкую неправильность в том, что выглядит законченным. Отсюда практический вывод: чем дешевле ИИ делает генерацию черновика, тем важнее, а не менее важно, сохранить дешёвый экспертный гейт-ревью и реальный тест перед тем, как черновик дойдёт до реальных пользователей.</a:t>
            </a:r>
          </a:p>
          <a:p>
            <a:r>
              <a:t>Сделаем границу проверяемой через три операциональных критерия. Первый: цена ошибки go/no-go высока — нужен источник, способный сказать «нет», а синтетический по построению не способен. Второй: нужно реальное прошлое, а не правдоподобное. Третий: нужна валидация реальным обязательством — предзаказ, депозит, интро — заменителя здесь нет вовсе. Что остаётся из базы: оба правила разговора применяются одинаково, кто бы ни задавал вопрос; а записанная заранее гипотеза — противоядие от однокликового ИИ-дерева. Итого: чем ближе выход к необратимому решению о людях, тем строже нужен реальный человек; чем дальше — тем уместнее ИИ как ускоритель черновика.</a:t>
            </a:r>
          </a:p>
          <a:p>
            <a:r>
              <a:t>Источники:</a:t>
            </a:r>
          </a:p>
          <a:p>
            <a:r>
              <a:t>[1] Torres — Continuous Discovery Habits / anti-synthetic — контрарная к хайпу позиция: против синтетических интервью и one-click AI-деревьев.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Nielsen Norman Group провела контролируемое сравнение в рамках исследования удобства сценария знакомства с продуктом: реальные пользователи в среднем завершили три из семи шагов; ИИ-сгенерированная панель синтетических пользователей, тестировавшая тот же самый поток, ложно отчиталась о завершении всех семи из семи. База для сравнения здесь — не разовая ошибка промпта, а структурное расхождение сразу в обеих измеряемых величинах на одном и том же тестовом материале. Отдельно реальные пользователи описали функцию дискуссионного форума как надуманную и бесполезную, тогда как синтетические персоны выдали восторженные похвалы той же функции; один синтетический пользователь назвал непрактичную концепцию доставки дронами «изменяющей правила игры» — притом что аналогичная концепция реальными людьми оценивалась скептически.</a:t>
            </a:r>
          </a:p>
          <a:p>
            <a:r>
              <a:t>Механизм, привязанный именно к фазе Discovery: большие языковые модели настроены соглашаться с рамкой заданного вопроса — концепция, описанная с любым энтузиазмом, возвращается провалидированной. Синтетический пользователь не способен произвести несогласие, потому что у него нет реального опыта, способного противоречить формулировке вопроса — только статистически правдоподобное продолжение текста.</a:t>
            </a:r>
          </a:p>
          <a:p>
            <a:r>
              <a:t>Соедините это со вторым правилом Mom Test — спрашивать о реальном прошлом — и получите накопительный сбой: не просто смещено в сторону «да», а смещено в сторону «да» о событии, которого никогда не было. Это делает синтетического пользователя крайней формой смещения выборки, о котором мы говорили ранее: интервьюировать только воодушевлённых ранних пользователей — это уже искажение, но эти люди хотя бы реальны и говорят о реальном опыте; синтетическая персона не говорит ни с кем — она статистически достраивает то, что человек с таким профилем мог бы сказать, и достраивает в сторону согласия.</a:t>
            </a:r>
          </a:p>
          <a:p>
            <a:r>
              <a:t>Урок: синтетическая панель, которая соглашается с вашей концепцией, — не свидетельство, что концепция хороша, это свидетельство, что панель не способна не согласиться. Критерий: любой выход, питающий решение «отгрузить или нет», обязан прослеживаться до реального прошлого поведения реального человека. Альтернатива: использовать синтетическую панель только в до-исследовательской роли, а затем провести реальное тестирование с пятью-восемью участниками — размер, который уже вскрывает большинство проблем юзабилити.</a:t>
            </a:r>
          </a:p>
          <a:p>
            <a:r>
              <a:t>Источники:</a:t>
            </a:r>
          </a:p>
          <a:p>
            <a:r>
              <a:t>[1] NN/g (Rosala &amp; Moran) — Synthetic Users — 3/7 реальных vs 7/7 синтетических на одной и той же задаче (drone-delivery). https://www.nngroup.com/articles/synthetic-users/ [VFY-day-of]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провал раздела замыкает линию, которую мы ведём с самого начала: правдоподобное принимают за реальное.</a:t>
            </a:r>
          </a:p>
          <a:p>
            <a:r>
              <a:t>Систему разрабатывали с две тысячи двенадцатого года совместно с крупным онкологическим центром, коммерческий запуск состоялся в две тысячи пятнадцатом, и продавалась она по всему миру как помощник врача в выборе схемы лечения. В июле две тысячи восемнадцатого расследование по утечке внутренних документов показало, что система выдавала рекомендации, которые сами сотрудники в переписке называли небезопасными и некорректными. Конкретный разобранный пример: препарат назначен гипотетическому пациенту с активным кровотечением — при том что у препарата есть прямое предупреждение производителя против такого применения.</a:t>
            </a:r>
          </a:p>
          <a:p>
            <a:r>
              <a:t>Корневая причина названа в тех же документах и она про данные, а не про модель. Систему обучали не на реальных исходах лечения реальных пациентов, а на небольшом числе синтетических, гипотетических случаев, размеченных горсткой врачей одной клиники. То есть обучающий материал был правдоподобным, внутренне непротиворечивым и полностью придуманным — ровно то свойство, которое мы уже дважды разбирали в этом разделе. Синтетическая панель не могла не согласиться, потому что ей нечем было возразить. Отчёт с придуманными ссылками выглядел как проверенный обзор, потому что выглядеть — это всё, что от него требовалось. Здесь тот же механизм получил доступ к решению о лечении.</a:t>
            </a:r>
          </a:p>
          <a:p>
            <a:r>
              <a:t>Обратите внимание и на второй слой: разметка горсткой врачей одной клиники — это ещё и предельно узкая выборка мнений, выданная за отраслевой стандарт. Два искажения наложились друг на друга.</a:t>
            </a:r>
          </a:p>
          <a:p>
            <a:r>
              <a:t>Критерий, который отсюда переносится дальше и который мы будем применять в каждой следующей фазе: чем выше цена ошибки, тем строже требование, чтобы материал, на котором строится решение, прослеживался до реального прошлого. Не до правдоподобного — до зафиксированного. Альтернатива для этого класса задач существует и она не про отказ от инструмента: система, обученная на реальных исходах и предъявляющая врачу не готовую рекомендацию, а подобранные сопоставимые случаи с источниками, оставляет решение там, где за него отвечают.</a:t>
            </a:r>
          </a:p>
          <a:p>
            <a:r>
              <a:t>Источники:</a:t>
            </a:r>
          </a:p>
          <a:p>
            <a:r>
              <a:t>[1] STAT News — утечка внутренних документов IBM Watson — «небезопасные и некорректные» рекомендации по онкологии (25 июля 2018). https://www.statnews.com/2018/07/25/ibm-watson-recommended-unsafe-incorrect-treatments/</a:t>
            </a:r>
          </a:p>
          <a:p>
            <a:r>
              <a:t>[2] IEEE Spectrum — как Watson переобещал и недодал — обучен на гипотетических кейсах горстки онкологов MSK, не на реальных исходах.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два продолжает ту же петлю, что мы разбирали в разделе один: гипотеза, прошедшая проверку на потенциальных пользователях, здесь превращается в конкретный артефакт — набросок экрана, кликабельный прототип, — который можно показать живому человеку и понаблюдать за его реакцией. Аудитория курса технически сильна и свободно работает с инженерными практиками, но, как правило, не проходила формального дизайн-образования, поэтому раздел, как и предыдущий, начинается не с генеративных инструментов, а с короткой базы: рамки Double Diamond, которая показывает, что дизайн-процесс — это два отдельных цикла расширения и сужения, а не один, и места экспертного обзора понятности — той проверки, которую машина за человека не делает.</a:t>
            </a:r>
          </a:p>
          <a:p>
            <a:r>
              <a:t>Дальше — что генеративные инструменты вроде v0 и Figma Make реально дают команде в две тысячи двадцать пятом-двадцать шестом годах, и где рабочее правило «искусственный интеллект для расхождения вариантов, человек для схождения на одном» перестаёт защищать: у продуктов на основе больших языковых моделей вывод недетерминирован — один и тот же запрос может дать разный ответ на разных прогонах, и это ломает буквальное прочтение классической эвристики консистентности.</a:t>
            </a:r>
          </a:p>
          <a:p>
            <a:r>
              <a:t>Завершает раздел разбор Character.AI, где дизайн не заложил защиту вовсе: продукт месяцами оптимизировал эмоциональную привязанность несовершеннолетнего пользователя без механизма распознавания кризиса, и защитные функции появились только после судебного иска. Рядом с ним по ходу раздела прозвучит соседний класс ошибки, в котором модели нет вообще: система отбора резюме с жёстко закодированным отказом по возрасту. Оба случая относятся к одному и тому же этапу принятия решения — что именно мы проектируем и для кого, — но представляют два разных, взаимодополняющих класса провала в дизайне: отсутствующую защиту и заложенное вредное правило. Держите оба примера в голове как единую рамку: дизайн-решение — это не только про то, что продукт умеет, но и про то, кого он может задеть.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Каркас раздела — два цикла, а не один. Первый алмаз: разойтись по пространству проблемы, потом сойтись на одной формулировке того, что именно мы решаем. Второй алмаз: разойтись по вариантам решения, потом сойтись на одном и довести его. Мы берём эту рамку вместо пятишаговой версии дизайн-мышления, потому что она явнее показывает единственную мысль, которая понадобится дальше: циклов два, и перепрыгнуть первый нельзя.</a:t>
            </a:r>
          </a:p>
          <a:p>
            <a:r>
              <a:t>Частая ошибка инженера ровно в этом и состоит. Сойтись на решении, не проверив саму проблему, — тот же анти-паттерн, что сразу писать код, минуя вопрос, ту ли задачу мы вообще решаем. Возьмите конкретный случай: команда строит внутренний инструмент разбора обращений, потому что тикеты без категории зависают без владельца. Первый алмаз здесь — это наблюдение за живыми операторами, из которого выясняется, что обходной путь у них уже есть: они копируют непонятные тикеты в отдельный чат и тем самым ломают таймер срока ответа. Исходное «нужна более умная категоризация» после этого сужается до другой формулировки: у оператора нет способа пометить тикет как требующий уточнения, не сломав таймер. Это уже другая задача, и только теперь уместен второй алмаз.</a:t>
            </a:r>
          </a:p>
          <a:p>
            <a:r>
              <a:t>Переложение на инструменты, которые мы разберём следом, простое и держится весь раздел: машина хорошо расширяет первую половину каждого алмаза и не делает вторую. Сведение вариантов требует суждения о конкретном контексте — о том, чего в обучающих данных нет.</a:t>
            </a:r>
          </a:p>
          <a:p>
            <a:r>
              <a:t>И третья вещь на слайде, которая позже сработает как отдельный критерий, — про то, кто и что проверяет. Эвристики юзабилити — это не стадия процесса, а быстрый экспертный обзор поверх готового результата, и отвечает он ровно на тот вопрос, который машина проверить не может: понятно ли это живому человеку. Дальше мы увидим механизм, который берёт на себя всё машинно-проверяемое, — и увидим ровно ту границу, где он заканчивается и начинается эта проверка. Порядок тут важен не меньше, чем на самих алмазах: проверка понятности имеет смысл только после того, как вариант уже сведён, — проверять на понятность четыре расходящихся черновика бессмысленно.</a:t>
            </a:r>
          </a:p>
          <a:p>
            <a:r>
              <a:t>Источники:</a:t>
            </a:r>
          </a:p>
          <a:p>
            <a:r>
              <a:t>[1] UK Design Council — The Double Diamond — Discover→Define→Develop→Deliver: два цикла дивергенции/конвергенции. https://www.designcouncil.org.uk/resources/the-double-diamond/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Реалистичный рабочий процесс команды две тысячи двадцать пятого-двадцать шестого годов выглядит так. Продакт или дизайнер описывает экран или поток в запросе инструменту v0 by Vercel, который превращает текст в готовый компонент, или Figma Make, который генерирует целые экраны и подтягивает уже существующие компоненты команды, а не общие шаблоны — по опросам, семьдесят два процента дизайнеров используют генеративный искусственный интеллект в работе, и девяносто один процент отмечают улучшение именно качества результата, а не только скорости. Генератор выдаёт два-четыре расходящихся направления за минуты — то, что раньше занимало день ручного черчения от руки. Дальше человек-дизайнер конвергирует: выбирает направление, отбрасывает остальные, вручную правит детали, которые модель поняла неверно — отступы, иерархию, краевые случаи. Выбранное направление проходит настоящий юзабилити-тест с живыми пользователями, а не с симулированной моделью персоной. И только после этого инженеры забирают провалидированный дизайн в редактор кода вроде Cursor для продакшн-реализации, где человек по-прежнему владеет управлением состоянием и логикой взаимодействия, которые модель склонна упускать.</a:t>
            </a:r>
          </a:p>
          <a:p>
            <a:r>
              <a:t>Другие именованные инструменты того же периода: Google Stitch — бывший стартап Galileo AI, приобретённый Google и перезапущенный на модели Gemini, генератор мокапов из текста; Uizard — более лёгкий и дешёвый уровень; bolt.new — превращает запрос сразу в работающее приложение в браузере, канонический инструмент «вайбкодинга».</a:t>
            </a:r>
          </a:p>
          <a:p>
            <a:r>
              <a:t>Что здесь по-настоящему хорошо, без хайпа. Первое — скорость первого черновика: день ручного черчения превращается в минуты. Второе — генерация с учётом дизайн-системы у Figma Make: результат требует заметно меньше переделки, потому что подтягиваются собственные компоненты команды. Третье, особенно важное для этой аудитории, — демократизация приличного первого прохода: не-дизайнеры теперь могут произвести нечто презентабельное для начала разговора вместо грубого наброска из коробок и стрелок. Но способность быстро сгенерировать красивый экран — не то же самое, что способность спроектировать взаимодействие и проверить его на живом человеке, поэтому рабочая формула раздела: искусственный интеллект для расхождения вариантов, человек — для схождения на одном и его доработки под контекст, ограничения и реальных пользователей.</a:t>
            </a:r>
          </a:p>
          <a:p>
            <a:r>
              <a:t>Источники:</a:t>
            </a:r>
          </a:p>
          <a:p>
            <a:r>
              <a:t>[1] Figma — AI-инструменты дизайна 2026 — Figma Make, v0, Stitch, bolt.new — 2-4 направления за минуты. https://www.figma.com/resource-library/ai-design-tools/ [VFY-day-of]</a:t>
            </a:r>
          </a:p>
          <a:p>
            <a:r>
              <a:t>[2] Google Stitch (ex-Galileo AI) — приобретение Google, май 2025 — быстро меняющийся ландшафт инструментов. https://www.banani.co/blog/galileo-ai-features-and-alternatives [VFY-day-of]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Дизайн-систему принято называть ограничителем, удерживающим генерацию в рамках бренда и стандартов. Формулировка верная, но без механизма это метафора. Разберём, из чего механизм состоит.</a:t>
            </a:r>
          </a:p>
          <a:p>
            <a:r>
              <a:t>Слоёв три, и несущий — только последний. Первый слой — токены в машиночитаемом виде, а не картинка в редакторе макетов: пары «фон и текст» с уже посчитанным коэффициентом контраста, минимальные размеры целей нажатия, видимые состояния фокуса. Это файл, который читает и человек, и сборка, а не договорённость на словах. Второй слой — подача генератору собственных компонентов команды вместо общих шаблонов. Часть инструментов делает это по конструкции, и именно поэтому такая генерация требует меньше переделки. Но обратите внимание: первые два слоя снижают вероятность нарушения, и только третий превращает вероятность в гарантию. Третий слой — автоматический гейт в сборке: каждый сгенерированный экран прогоняется движком проверки доступности с порогом, записанным числом заранее, и нарушение останавливает сборку так же, как её останавливает красный тест. Все три распространённых движка — не ИИ-инструменты, и это часть урока, а не деталь конфигурации.</a:t>
            </a:r>
          </a:p>
          <a:p>
            <a:r>
              <a:t>Остаётся файл токенов с посчитанными контрастами, каталог проверок, который прогоняется на каждом сгенерированном экране, и строка в критерии готовности: экран не считается готовым без зелёного гейта. Сработало, если доля экранов, проходящих с первого раза, растёт, а нарушения по двум критериям, проваленным в замерах сильнее прочих — контрасту и использованию цвета, — уходят к нулю. Именно эти два показателя выбраны не случайно: оба детерминированно проверяемы и не зависят от того, как сформулирован запрос к генератору.</a:t>
            </a:r>
          </a:p>
          <a:p>
            <a:r>
              <a:t>Граница — обязательная часть приёма. Гейт ловит контраст, подписи, размер цели нажатия, порядок фокуса. Он не ловит «понятно ли это» и «не запутает ли это человека». Экран может пройти проверку целиком и остаться непонятным, поэтому тест с пятью-восемью живыми людьми остаётся, просто перестаёт тратиться на то, что дешевле поймать машиной. И вывод, который переносится дальше всего: раз дизайн платформы влияет на итоговую доступность сильнее пользовательских запросов, то просьба к генератору не является механизмом контроля вообще. Отличать просьбу от гарантии — навык, который дальше понадобится в каждой фазе.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гомогенизации простой: генераторы обучены на одном корпусе существующих интерфейсных решений, поэтому множество независимых команд, запросивших «современный дашборд», сходятся на визуально похожем результате. Рядом с этим стоит организационный сбой, который диагностируют отдельно: начать с инструмента и задним числом искать задачу, которую он мог бы решить.</a:t>
            </a:r>
          </a:p>
          <a:p>
            <a:r>
              <a:t>Пробелы доступности — с жёстким числом. Исследование прогнало двадцать одну тысячу восемьсот восемьдесят оценок по критериям доступности на сгенерированных интерфейсах и обнаружило лишь двадцать девять процентов соответствия; хуже всего именно базовые, тривиально проверяемые критерии — контрастность двадцать шесть и восемь, использование цвета девятнадцать и два. Главная находка: дизайн платформы влиял на итоговую доступность сильнее, чем пользовательский запрос. Это прямо опровергает наивную защиту «просто нужно правильно попросить».</a:t>
            </a:r>
          </a:p>
          <a:p>
            <a:r>
              <a:t>Важное дополнение для этой аудитории — дизайн для недетерминированного вывода. Классические эвристики предполагают одинаковый вывод на одинаковый ввод. Из десяти эвристик восемь выдерживают это без изменений — они устроены так, что никогда не опирались на предсказуемость ответа. Ровно две ломаются буквально: консистентность приходится переносить с уровня точного текста на уровень тона и паттерна поведения, а помощь в распознавании ошибки ломается жёстче всего, потому что система обычно не знает, что она неправа, — галлюцинация подаётся с той же уверенностью, что и точный факт. Отсюда три новых приёма подачи: язык неуверенности от первого лица вместо общей оговорки мелким шрифтом, человек в контуре решения там, где у ошибки есть реальная цена, и явное указание, что ответ сгенерирован.</a:t>
            </a:r>
          </a:p>
          <a:p>
            <a:r>
              <a:t>И соседний класс ошибки, который полезно держать рядом именно здесь, потому что модели в нём нет вообще. Компания iTutorGroup жёстко закодировала в системе отбора резюме автоматический отказ кандидатам старше определённого возраста. Вскрылось это случайно: одна из отклонённых подала ту же анкету с другой датой рождения и немедленно получила приглашение. Вредное правило внесли в требования к системе и ни разу не проверили на несоразмерное воздействие по защищённым признакам — а обычные метрики его и не показывают, скорость отбора и точность разбора анкет при этом выглядят прекрасно. Урок ровно тот же, что и на этом слайде: решает не то, насколько умна модель, а то, какие требования попали в задание и что из них проверяется машиной. Здесь не попало ни то, ни другое.</a:t>
            </a:r>
          </a:p>
          <a:p>
            <a:r>
              <a:t>Источники:</a:t>
            </a:r>
          </a:p>
          <a:p>
            <a:r>
              <a:t>[1] ACM Web4All 2026 — Generated Inaccessible — 21 880 оценок WCAG на ИИ-интерфейсах, 29,0% соответствие (контраст 26,8%, цвет 19,2%). https://dl.acm.org/doi/10.1145/3800424.3800430 [VFY-day-of]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Четырнадцатилетний пользователь покончил с собой в феврале две тысячи двадцать четвёртого после месяцев эмоционально насыщенного общения с ИИ-персонажем на платформе. Иск был подан в октябре того же года и урегулирован в январе две тысячи двадцать шестого. Подробности разбирательства для нас второстепенны; важна одна дата: защитные функции — ограничение времени для несовершеннолетних, запрет свободного ролевого общения до восемнадцати лет, проверка возраста — появились в ноябре две тысячи двадцать пятого. Это почти два года после запуска продукта и полтора года после самой трагедии.</a:t>
            </a:r>
          </a:p>
          <a:p>
            <a:r>
              <a:t>Теперь главное для этого раздела: почему кейс стоит здесь, а не в разделе про эксплуатацию. Его легко и неправильно классифицировать как операционный сбой — «бот плохо ответил». Но корень лежит раньше, на стадии, где решают, какой опыт вообще проектировать. Продукт, оптимизирующий эмоциональную привязанность несовершеннолетних, — это выбор, сделанный в первом алмазе, и сделанный без вопроса, кто может пострадать от такого потока взаимодействия. Отсутствие распознавания кризиса — не ошибка реализации, которую можно было поймать тестированием. Это требование, которого не было в задании.</a:t>
            </a:r>
          </a:p>
          <a:p>
            <a:r>
              <a:t>Разница между двумя формулировками не академическая. Ошибку реализации ловят на проверке перед релизом. Отсутствующее требование не ловится вообще ничем, кроме вопроса, заданного в нужный момент, — потому что ни один тест не проверяет то, чего никто не просил. Ровно поэтому цена такой ошибки измеряется не количеством правок, а временем: между запуском и появлением защиты прошло два года, и всё это время продукт работал ровно так, как его спроектировали.</a:t>
            </a:r>
          </a:p>
          <a:p>
            <a:r>
              <a:t>Критерий, который отсюда переносится: продукт, рассчитанный на эмоциональную привязанность уязвимых пользователей, — область, где защитные механизмы входят в минимальную версию, а не добавляются после. Альтернатива существует и она не гипотетическая: платформы взаимной поддержки с живой модерацией и клинически проверенные помощники с обязательной передачей случая человеку. Разница между «заложено в дизайн» и «добавлено после иска» измеряется не репутацией.</a:t>
            </a:r>
          </a:p>
          <a:p>
            <a:r>
              <a:t>Источники:</a:t>
            </a:r>
          </a:p>
          <a:p>
            <a:r>
              <a:t>[1] Washington Post (24 окт. 2024) — гибель 14-летнего пользователя после месяцев общения с ИИ-персонажем. https://www.washingtonpost.com/nation/2024/10/24/character-ai-lawsuit-suicide/</a:t>
            </a:r>
          </a:p>
          <a:p>
            <a:r>
              <a:t>[2] CBS News (янв. 2026) — урегулирование — Character.AI/Google — защита добавлена ретрофитом после трагедии. https://www.cbsnews.com/news/google-settle-lawsuit-florida-teens-suicide-character-ai-chatbot/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три — третья стрелка петли, и именно здесь искусственный интеллект меняет больше всего: стоимость самого написания кода. Но раздел начинается не с этого факта, а с классической дисциплины релиза, потому что именно она определяет, что вообще значит «безопасно выпустить» что-либо, — а этот вопрос не исчезает от того, что писать код стало дешевле.</a:t>
            </a:r>
          </a:p>
          <a:p>
            <a:r>
              <a:t>Сначала — механика, которую вы, скорее всего, уже знаете из инженерной практики: переключатели функций, канареечный и поэтапный выпуск, откат. Новое здесь — не сами примитивы, а то, что ими теперь управляет продуктовое решение убить или продолжить проект, и рамка Роберта Купера, показывающая, зачем такому решению нужен формальный, заранее согласованный рубеж, а не интуиция на ходу.</a:t>
            </a:r>
          </a:p>
          <a:p>
            <a:r>
              <a:t>Дальше — что именно обнулилось в стадии сборки согласно измерению самой компании Anthropic, и куда сместилось узкое место, когда объём написанного кода вырос кратно, а доля содержательного человеческого ревью — нет. Отдельно — переформулировка самого понятия запуска для продуктов на основе больших языковых моделей: релиз версионируется не по набору функций, а по уровню контроля, который система получает, — от предложений на утверждение человека до автономного исполнения с запасным вариантом.</a:t>
            </a:r>
          </a:p>
          <a:p>
            <a:r>
              <a:t>Завершают раздел два примера запуска, зеркальных друг другу. В одном — крупная компания выкатила генеративную функцию поиска на всю аудиторию одним шагом, минуя постепенную раскатку, и получила вирусные, откровенно опасные советы. В другом — сеть ресторанов держала автоматизацию голосового заказа на крошечной доле точек несколько лет и в итоге приняла решение вовремя остановиться, не масштабируя заведомо не готовый подход. Один пропустил пилотную фазу целиком, другой прошёл её честно и использовал её сигнал по назначению — вместе они очерчивают дисциплину, которой посвящён раздел: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Минимальный жизнеспособный продукт определяется обучением, а не отгрузкой, и планируется в обратном порядке: сначала решают, чему конкретно надо научиться, затем какой метрикой отличить подтверждение от опровержения, и только потом — что минимально собрать ради этого измерения. Большинство команд делает наоборот: строит то, что хочется построить, а обучение придумывает задним числом. Для этой аудитории это одна строка, а не тема.</a:t>
            </a:r>
          </a:p>
          <a:p>
            <a:r>
              <a:t>Тема здесь другая — гейт. Стадийно-гейтовый процесс устроен как воронка, а не туннель: перед каждой стадией стоит решение продолжить, закрыть, приостановить или переработать, и вложение растёт только после того, как проект этот гейт прошёл. Дешёвая ранняя стадия существует ровно для того, чтобы отсеивать до крупных трат. По исследованиям на сотнях корпоративных проектов здоровый процесс отсеивает тридцать-пятьдесят процентов идей до стадии разработки; если годовой отсев падает ниже десяти процентов, гейт выродился в формальность.</a:t>
            </a:r>
          </a:p>
          <a:p>
            <a:r>
              <a:t>Примитивы раскатки — флаг функции, канареечный релиз, поэтапная раскатка, откат — вы знаете из инженерной практики. Новое здесь не они, а то, чьё решение они обслуживают: здесь это не «включить или выключить функцию», а «продолжать вкладываться или закрыть».</a:t>
            </a:r>
          </a:p>
          <a:p>
            <a:r>
              <a:t>И теперь фраза, ради которой этот слайд вообще остался. Порог записывают числом до старта не ради отчётности. Без записанного заранее порога нельзя отличить «данные сказали нет» от «мы устали» — а значит, у команды нет права честно закончить: любое закрытие выглядит как сдача, любое продолжение — как упорство.</a:t>
            </a:r>
          </a:p>
          <a:p>
            <a:r>
              <a:t>Как это выглядит, когда порога нет, показывает якорь внизу. Проект в онкоцентре MD Anderson рос через двенадцать продлений контракта с двух с половиной миллионов долларов до примерно шестидесяти двух и был закрыт без единого пролеченного пациента. Обратите внимание на число двенадцать: это двенадцать точек, в каждой из которых кто-то решал продолжить. Закрытие в итоге пришло из аудита закупочных процедур — то есть снаружи процесса, а не из него. Гейт был двенадцать раз, порога не было ни разу.</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go/kill-гейт: «воронка, не туннель», пороги провала заданы заранее.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и месяцев к минутам агентного исполнения, вход в незнакомую кодовую базу — от недель к часам. Центральное заявление о риске: по мере того как агенты производят больше кода, объём ревью не масштабируется с той же скоростью, создавая расширяющийся разрыв видимости и качества. Собственные внутренние данные делают это конкретным и цитируемым: объём кода на инженера вырос примерно на двести процентов год к году, но лишь примерно шестнадцать процентов пул-реквестов получили содержательные комментарии человеческого ревью до слияния — разрыв измерен, а не предположен, и именно поэтому Anthropic выпустила собственный автоматизированный продукт для ревью пул-реквестов.</a:t>
            </a:r>
          </a:p>
          <a:p>
            <a:r>
              <a:t>Это переворот раздела для понимания продукта в целом: дефицитный ресурс никогда не был «кто может написать код» — в эпоху искусственного интеллекта он однозначно становится «кто может специфицировать достаточно точно, чтобы агенту не пришлось угадывать» выше по потоку и «кто может проревьюировать достаточно быстро, чтобы не стать узким местом» ниже по потоку. Несколько независимых источников двух тысяч двадцать шестого года сходятся на одной и той же формулировке: узкое место больше не в том, как быстро агент пишет код, а в цикле ревью и переделки, когда результат расходится с намерением. Консалтинговая компания Bain формулирует то же наблюдение с бизнес-стороны: границы фаз стираются в более непрерывный поток, граница между продуктом и инженерией тоже растворяется, — но явно не заявляет о полной автономии: агенты работают надёжнее всего, когда работа структурирована вокруг них, со свежим контекстом на каждом этапе и человеческим ревью в критических точках.</a:t>
            </a:r>
          </a:p>
          <a:p>
            <a:r>
              <a:t>Что оставить из классики: контроль версий и ревью пул-реквестов — теперь пункт назначения узкого места, а не реликт; переключатели функций как базовый механизм, управляющий теперь чаще уровнем самостоятельности агента, а не только видимостью фичи; поэтапная раскатка, которую напрямую переиспользует лестница автономии дальше; аварийный выключатель как небезоговорочная необходимость; и спецификация, которой владеет человек, — артефакт, который агент не может сгенерировать сам себе без угадывания намерения.</a:t>
            </a:r>
          </a:p>
          <a:p>
            <a:r>
              <a:t>Источники:</a:t>
            </a:r>
          </a:p>
          <a:p>
            <a:r>
              <a:t>[1] Anthropic — 2026 Agentic Coding Trends Report — +200% кода на инженера год к году; лишь ~16% PR получают содержательное человеческое ревью до слияния. https://resources.anthropic.com/2026-agentic-coding-trends-report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автономии — способ версионировать релиз по уровню контроля, а не по набору функций. Бот поддержки выходит сначала как маршрутизатор обращений: высокий контроль, низкая автономия. Потом предлагает решение человеку на утверждение. Потом решает сам, с возвратом к человеку при затруднении. Те же ступени видны в инструментах для кода: подсказка-завершение, блок кода, целый запрос на слияние, — и оба распространённых инструмента до сих пор поставляются с явным регулятором доверия, который команда поднимает сама.</a:t>
            </a:r>
          </a:p>
          <a:p>
            <a:r>
              <a:t>Фраза «каждая ступень открывается после того, как предыдущая доказала надёжность» остаётся лозунгом, пока не сказано, чем доказала. Требование проверяемое, и пунктов в нём четыре. Первый: эталонный набор с кейсами того самого класса риска, который открывает новая ступень, а не общего — набор про рутину не даёт права на автоматический отказ по политике. Второй: порог для этого класса, записанный числом до прогона, и гейт, взятый на повторных прогонах, причём на успехе во всех попытках, а не хотя бы в одной. Причина прямая: автоматический режим по определению отвечает каждый раз. Третий: в наборе есть строки, добавленные из реальных отказов предыдущей ступени, и они зелёные. Четвёртый, который забывают чаще прочих: записанный путь назад — как функция возвращается на ступень ниже, за какое время и по чьему решению.</a:t>
            </a:r>
          </a:p>
          <a:p>
            <a:r>
              <a:t>Остаётся запись о ступени: какая функция на каком уровне, когда поднята, кем и каким путём возвращается, плюс порог в файле порогов. Сработало, если всё четыре предъявлены до перехода и путь назад хотя бы раз проверен, а не только описан.</a:t>
            </a:r>
          </a:p>
          <a:p>
            <a:r>
              <a:t>Граница начинается с распространённого самообмана. Аргумент «оператор давно ничего не правил» доказательством не является: если предыдущая ступень не произвела ни одной записанной правки, значит на неё не смотрели, а не значит, что она отработала безупречно. Набор, который всегда зелёный, права тоже не выдаёт — это насыщение, сломанный измеритель. И дословная формулировка, ради которой всё это держится: если вы не тестировали, как система ведёт себя при высоком контроле, вы не готовы давать ей высокую автономию.</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Эталонный набор и гейт оценок назывались обязательными элементами запуска трижды, ни разу не показанные изнутри. Вот механика, и это прямой перенос дисциплины теста, написанного до кода, с кода на продукт.</a:t>
            </a:r>
          </a:p>
          <a:p>
            <a:r>
              <a:t>Набор живёт в репозитории как версионируемый файл. Каждая строка — четыре поля: вход, ожидаемый ответ или рубрика оценки, класс риска, источник примера. Источник обязателен, и он обязательно реальный: рекомендация — начинать с пяти-десяти настоящих промышленных примеров, а не выдуманных. Это то же требование реального прошлого вместо правдоподобного, которое мы уже применяли к интервью, только здесь оно применено к тесту.</a:t>
            </a:r>
          </a:p>
          <a:p>
            <a:r>
              <a:t>Пороги записываются отдельно и числом, заранее, по классам риска. Рутинный запрос — не ниже девяноста процентов. Отказ по политике безопасности — сто процентов, без исключений. Ответ с юридическим последствием — вообще не через модель, а через детерминированное правило поверх неё. Обратите внимание на третью строку: это не строгий порог, это отказ от инструмента, и в таблице порогов он стоит осознанно.</a:t>
            </a:r>
          </a:p>
          <a:p>
            <a:r>
              <a:t>Прогон набора — команда в конвейере сборки, возвращающая ненулевой код при недоборе порога. Гейт краснеет ровно так же, как красный тест останавливает развёртывание, и именно ради этого свойства тест называется детерминированным гейтом, а не рекомендацией. Петля замыкается тем, что каждый промышленный сбой добавляется в набор отдельной строкой с источником «инцидент»: один артефакт связывает сразу три фазы — запуск, измерение и эксплуатацию.</a:t>
            </a:r>
          </a:p>
          <a:p>
            <a:r>
              <a:t>Сработало, если набор растёт после каждого инцидента — это измеримо, по числу строк с источником «инцидент», — и однажды пойманная регрессия больше не повторяется молча.</a:t>
            </a:r>
          </a:p>
          <a:p>
            <a:r>
              <a:t>Граница — три именованных режима отказа, без них приём учит ложной уверенности. Насыщение: набор, который всегда зелёный, ничего не измеряет. Переобучение под набор: как только его прохождение становится целью, он перестаёт быть мерой. И разница между «успешен хотя бы раз» и «успешен всегда»: гейт на среднем проходе постоянства не даёт. Добавлю четвёртое: один зелёный прогон — не доказательство, потому что разброс между технически одинаковыми прогонами доходит до пятнадцати процентных пунктов.</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приём называет механику эталонного набора и порога, но не называет, на чём гейт физически исполняется. А конкретные инструменты определяют, что вообще можно гарантировать, поэтому их стоит знать поимённо — с оговоркой, что имена волатильны, а механизм переживает смену поставщика.</a:t>
            </a:r>
          </a:p>
          <a:p>
            <a:r>
              <a:t>Первый вариант запускается командой и возвращает код выхода сто при падении балла ниже порога, заданного переменной окружения или прямо в действии конвейера. Проваленный гейт останавливает сборку тем же механизмом, что и проваленный тест кода, — то есть в конвейере не появляется новая сущность, появляется ещё один шаг известного вида. Второй прогоняет кейсы из отдельного каталога против порога, задаваемого ключом, и делает это трижды на кейс, а не один раз. Это важнее, чем кажется: три прогона делают разброс видимым сразу, а не оставляют вас наедине со средним баллом, которому нечего противопоставить. Третий запускается тем же прогоном тестов, которым команда уже гоняет код, и отдельного шага в конвейере заводить не нужно вовсе.</a:t>
            </a:r>
          </a:p>
          <a:p>
            <a:r>
              <a:t>Одна вещь экономит время заранее: единого термина для строки набора нет. Разные инструменты называют её по-разному, и все четыре слова означают одно и то же. Искать общий стандарт — трата времени, лучше сразу зафиксировать слово внутри команды.</a:t>
            </a:r>
          </a:p>
          <a:p>
            <a:r>
              <a:t>Артефакт и критерий здесь наследуются у эталонного набора, своих у этой механики нет: те же файлы набора и порогов, плюс шаг конвейера, который их запускает; гейт сработал, если он краснеет и блокирует слияние, а не пишет предупреждение в журнал сборки.</a:t>
            </a:r>
          </a:p>
          <a:p>
            <a:r>
              <a:t>Границу эта механика не снимает, и она серьёзнее выбора инструмента. Порог бессмыслен, если он выше надёжности того, чем измеряется. Модель-судья согласуется с людьми примерно на восьмидесяти пяти процентах — на том же уровне, на котором люди согласуются между собой. Поставьте при таком судье гейт на девяносто пять — и вы измеряете надёжность судьи, а не системы. И число на маленьком наборе без оценки разброса остаётся шумом: это ровно та дисциплина, которой мы требуем от продуктового эксперимента, применённая к тесту над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масштабируется вместе с генерацией — это несущее ограничение всего раздела, и это собственная измеренная находка Anthropic про её же продукт, а не критика со стороны. Она напрямую означает, что «отгружаем быстро, потому что сборка теперь бесплатна» — ловушка, если объём ревью не масштабируется параллельно.</a:t>
            </a:r>
          </a:p>
          <a:p>
            <a:r>
              <a:t>Стоит проговорить именно механизм, потому что это не случайность, а прямое следствие асимметрии стоимости и доверия, заданной в начале лекции. Генерация и верификация — операции принципиально разной стоимости: сгенерировать правдоподобный код модель может за секунды, но проверить,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искусственный интеллект не убрал работу — он переместил всю её массу на сторону, которая не подешевела. Отсюда контринтуитивное следствие, которое команды регулярно упускают: удвоив скорость генерации, вы не удваиваете пропускную способность продукта — вы удваиваете очередь на ревью, то есть усугубляете узкое место, если параллельно не наращиваете верификацию.</a:t>
            </a:r>
          </a:p>
          <a:p>
            <a:r>
              <a:t>«Проблема семидесяти процентов»: агенты кодирования и конструкторы приложений доводят команду примерно на семьдесят процентов пути до продакшн-качественного результата; оставшиеся тридцать — рефакторинг в поддерживаемые модули, отлов краевых случаев, применение годами выстраданной инженерной мудрости — там, где опытные инженеры добавляют ценность, которую система автоматически не поставляет. Документированное расхождение: опытные инженеры активно переосмысливают и ограничивают вывод модели; начинающие принимают его охотнее, производя код, который выглядит завершённым, но ломается под реальной нагрузкой. Определение готовности к отгрузке обязано явно поглотить эти тридцать процентов, иначе оно молча деградирует до «тесты прошли, значит готово».</a:t>
            </a:r>
          </a:p>
          <a:p>
            <a:r>
              <a:t>Что остаётся из классики: контроль версий и ревью как пункт назначения узкого места, переключатели функций, поэтапная раскатка как прообраз лестницы самостоятельности, аварийный выключатель, спецификация, которой владеет человек. Когда здесь не место первоочередному применению искусственного интеллекта: решение необратимое или капиталоёмкое по своей природе не должно приниматься моделью на низшей ступени самостоятельности без детерминированного бизнес-правила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года Google выкатил функцию AI Overviews на сто процентов пользователей поиска в США одним шагом — минуя обычную поэтапную раскатку из прошлого слайда, один-десять-двадцать пять-пятьдесят-сто процентов, и без формальной проверки против эталонного набора перед полным развёртыванием. В течение нескольких дней функция начала выдавать вирусные, откровенно опасные рекомендации: есть камни — источник, сатирическая статья издания The Onion, — и класть клей на пиццу для лучшего сцепления сыра — источник, одиннадцатилетний шутливый комментарий на форуме Reddit. Функцию нельзя было отключить пользователю. Реакция компании была реактивной: ограничение ответов на «бессмысленные» запросы, фильтрация источников-сатиры и юмора, пауза обзоров на темах повышенного риска вроде здоровья — всё после полного развёртывания на аудиторию, а не до него.</a:t>
            </a:r>
          </a:p>
          <a:p>
            <a:r>
              <a:t>Механизм, привязанный к фазе сборки и запуска: это ровно тот случай отсутствующей поэтапной раскатки и отсутствующего гейта проверки, о котором предупреждает предыдущий слайд — полнотрафиковый запуск генеративной функции без канареечной фазы, которая поймала бы паттерн сбоя качества источников до того, как их увидели все пользователи поиска в стране.</a:t>
            </a:r>
          </a:p>
          <a:p>
            <a:r>
              <a:t>Обратите внимание на природу конкретных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режим «уверенно неправильно», который канареечная фаза поймала бы за дни на одном проценте трафика, вместо чего компания получила публичное осмеяние на всей аудитории.</a:t>
            </a:r>
          </a:p>
          <a:p>
            <a:r>
              <a:t>Урок: генеративная функция, синтезирующая контент из открытого веба, нуждается в той же дисциплине поэтапного развёртывания и проверки перед запуском, что и любая другая функция на основе искусственного интеллекта; «поиск — наш зрелый основной продукт» не повод пропустить раскатку — это, наоборот, повышает цену её пропуска, потому что сто процентов аудитории здесь означает всю пользовательскую базу сразу. Альтернатива — канареечный запуск на небольшой процент запросов с мониторингом известных классов риска и постоянный, легко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история провала, а расплата предыдущего слайда: здесь гейт «продолжать или закрыть» сработал, и стоит разобрать, за счёт чего.</a:t>
            </a:r>
          </a:p>
          <a:p>
            <a:r>
              <a:t>Партнёрство началось в конце две тысячи двадцать первого и продлилось два с половиной-три года, дорастя примерно до ста ресторанов. Сразу назовём знаменатель, потому что без него цифра читается неправильно: сто ресторанов — это около ноль целых семи десятых процента от почти четырнадцати тысяч точек сети в США. Без знаменателя это звучит как масштабное внедрение; со знаменателем это узкая полоса, специально удержанная узкой. Всё это время накапливались публичные сбои — бекон в мороженом, девять чаёв вместо одного, смешение заказов соседних полос проезда. В июне две тысячи двадцать четвёртого партнёрство прекратили. Обратите внимание, что именно закрыли: не цель, а подход. Голосовая автоматизация приёма заказов осталась в планах, убит был конкретный технический путь к ней.</a:t>
            </a:r>
          </a:p>
          <a:p>
            <a:r>
              <a:t>Почему это правильно прочитанный сигнал. Пилот длиной два с половиной года, удержанный на доле меньше процента и продолжающий регулярно производить публичные сбои, говорит о структурном потолке подхода, а не о нехватке данных. Здесь потолок понятный: точность распознавания речи в шумной среде с разными акцентами и посторонними голосами. Дополнительное время такой потолок не двигает, и команда это увидела по накопленному сигналу, а не по ощущению усталости — ровно то различение, ради которого порог записывают заранее.</a:t>
            </a:r>
          </a:p>
          <a:p>
            <a:r>
              <a:t>Сравните с предыдущим случаем, где раскатка пошла сразу на всю аудиторию без пилотной фазы вообще. Две зеркальные ошибки относительно одной оси: один проект не пересёк гейт после длинного честного пилота, другой пропустил пилот целиком. Держать при себе стоит обе.</a:t>
            </a:r>
          </a:p>
          <a:p>
            <a:r>
              <a:t>И альтернатива, которая здесь не обсуждалась, хотя сохраняла бы большую часть выгоды: человек в контуре — система предлагает распознанный заказ, кассир подтверждает его на экране перед отправкой на кухню. Это закрывает ровно тот режим сбоя, который за годы так и не сошёлся к приемлемому уровню.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четыре — четвёртая стрелка петли, и именно та, у которой ИИ снизил доверие, а не стоимость. Это развёрнутый и для сильной инженерной аудитории особенно значимый раздел: измерение — то место, где «выглядит хорошо» не равно «есть хорошо», и в продукте это расхождение бьёт больнее всего. Вы умеете писать код и, возможно, знаете A/B-тестирование из веб-практики, но формальную дисциплину продуктового эксперимента многие видят впервые — поэтому раздел подаёт её через контраст: вы знаете это по CI-тестам, вот в чём принципиальное отличие продуктового эксперимента от юнит-теста.</a:t>
            </a:r>
          </a:p>
          <a:p>
            <a:r>
              <a:t>Юнит-тест детерминирован: один и тот же код при одном и том же входе либо проходит проверку, либо нет, и это повторяется сколько угодно раз с одинаковым результатом. Продуктовый эксперимент имеет дело с живыми людьми, а их поведение зашумлено сезоном, рекламными всплесками, составом аудитории — поэтому единственный способ отделить причину от случайности здесь не повторный прогон одного и того же теста, а случайное разделение реальных пользователей на две сравнимые группы.</a:t>
            </a:r>
          </a:p>
          <a:p>
            <a:r>
              <a:t>Дальше раздел проходит четыре шага. Сначала — с нуля, что такое контролируемый эксперимент и OEC, единая метрика успеха, о значении которой команда согласилась заранее, прежде чем увидеть результат. Затем — приём, который закрывает три самые частые ловушки не памятью, а механически: один файл, закоммиченный до включения эксперимента. Дальше — что ИИ добавляет как эквивалент юнит-тестов для агента, и где вероятностный вывод модели ломает привычную логику «прошёл/не прошёл» из детерминированного мира. И два провала: один про метрику вовлечённости, выигравшую тест ценой скрытого вреда на протяжении почти двух лет, другой про бенчмарк, измеряющий не тот вопрос, который затем выдают за доказательство безопасности в реальном мире.</a:t>
            </a:r>
          </a:p>
          <a:p>
            <a:r>
              <a:t>Общая нить раздела — не список отдельных фактов, а один переносимый навык: отличать сигнал от шума. Подозрительно хорошая цифра, взломанная прокси-метрика, бенчмарк не в том формате задачи — во всех трёх случаях числа выглядят убедительно именно тогда, когда доверять им нельзя, и умение это распознать пригодится далеко за пределами продуктовых экспериментов.</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эксперимент — это применение логики случайного распределения к живому продукту, и стоит проговорить, почему случайность здесь не формальность. Померьте эффект без контрольной группы: метрика выросла на пять процентов после релиза, но за ту же неделю был рекламный всплеск и сменился сезон. Отделить ваше изменение от всего остального нечем. Случайное деление решает это в корне: раз люди попадают в группы случайно, все посторонние факторы в среднем распределены между группами одинаково и вычитаются при сравнении — остаётся ровно одно систематическое различие, само изменение. Отсюда же следует, почему канареечная раскатка не заменяет эксперимент: у неё нет удерживаемой случайной группы, и она честно отвечает «сломалось ли что-то», но не «вызвало ли изменение улучшение».</a:t>
            </a:r>
          </a:p>
          <a:p>
            <a:r>
              <a:t>Метрика решения — та единственная, которую эксперимент на самом деле пытается сдвинуть и которую команда заранее согласилась считать успехом. Требование, которое пропускают чаще всего, — направление. Учебный случай: команда сайта поддержки приняла метрикой время на сайте, и раскол начался ровно тогда, когда её попросили сказать, рост это хорошо или плохо. Больше времени — глубокая вовлечённость или человек не может найти ответ? Метрику приняли единогласно, ни разу не договорившись, что она значит. Рядом с ней всегда стоит метрика-ограничитель: её мониторят, но не оптимизируют, и она ловит ущерб, которого метрика решения не видит, — время загрузки, частоту жалоб, удержание при оптимизации сиюминутного действия. Именно отсутствие такой страховки мы разберём в провале этого раздела.</a:t>
            </a:r>
          </a:p>
          <a:p>
            <a:r>
              <a:t>И последнее — размер выборки. Это не абстракция и не «наберём сколько получится», а конкретное число, которое можно получить самому до старта. Возьмите базовую конверсию пять процентов и минимально значимый относительный эффект десять процентов: стандартный расчёт даёт тридцать одну тысячу двести пользователей на группу, больше шестидесяти двух тысяч суммарно. Теперь посмотрите на второе число: пять тысяч активных пользователей в неделю. Держите оба перед глазами — к тому, что из них следует, мы вернёмся на следующем шаге.</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A/B testing (Bing 2012) — рекламный заголовок: +12% выручки (~$100 млн), независимо от материалов Кохави.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ловушки эксперимента — подглядывание, подгонка под значимость и множественные сравнения — выглядят разными, но их объединяет один механизм: решение о том, что считается успехом, принимается после того, как эксперимент уже показал часть результата. Приём убирает этот зазор технически, а не декларативно.</a:t>
            </a:r>
          </a:p>
          <a:p>
            <a:r>
              <a:t>До включения эксперимента в репозиторий коммитится один файл. В нём записаны: сводный критерий оценки с направлением — направленность нельзя дописать потом, и именно это поле ловит классическую ловушку метрики, значение которой команда не обсудила; метрики-ограничители, которые мониторят, но не оптимизируют; минимально значимый эффект и посчитанный по нему размер выборки; единица рандомизации — по пользователю, а не по запросу; правило остановки; и явное указание, какая ровно одна метрика является основанием решения, а какие лишь наблюдаются. После включения эксперимента файл не редактируется — только дополняется секцией «решение» с датой.</a:t>
            </a:r>
          </a:p>
          <a:p>
            <a:r>
              <a:t>Почему это работает, стоит проговорить отдельно, потому что звучит как бюрократия, а является инженерным приёмом. Разница между «записали заранее» и «объяснили потом» здесь не этическая, а механическая: подглядывание и перебор метрик физически невозможны, если правило остановки уже стоит в истории версий с временной меткой раньше, чем появился первый результат. Это тот же паттерн, что и один файл на задачу со структурированными полями в заголовке, и тот же принцип, что тест, написанный до кода: порог существует раньше результата, который он будет оценивать.</a:t>
            </a:r>
          </a:p>
          <a:p>
            <a:r>
              <a:t>Сработало, если решение принято по названной заранее метрике. А если принято по другой — это зафиксировано как отклонение с обоснованием, а не произошло тихо.</a:t>
            </a:r>
          </a:p>
          <a:p>
            <a:r>
              <a:t>Граница обязательная, а не оговорка. Пред-регистрация не делает эксперимент валидным — она делает невалидность видимой. Эффект новизны она не лечит, для него нужна отдельная контрольная группа. И она не работает там, где выборки физически не хватает. Возьмите расчёт: тридцать одна тысяча двести пользователей на группу при пяти тысячах активных в неделю — это больше двенадцати недель. Честный вывод не «запустим на маленькой выборке», а пересмотр эффекта или переход к качественному методу.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Оценки полезно представлять не списком проверок, а замкнутой петлёй — иначе они вырождаются в отчёт, который никто не читает.</a:t>
            </a:r>
          </a:p>
          <a:p>
            <a:r>
              <a:t>Первый слой — оценка до развёртывания: прогон против курируемого фиксированного набора. Он воспроизводим и ловит известные регрессии; прямой аналог проверок на каждое изменение кода. Второй — оценка живого трафика, которая вскрывает длинный хвост входов, не предвиденный ни одним фиксированным набором, и поведение, проявляющееся только за много реальных ходов. Консенсус практиков — оба, непрерывно, а не или-или. Третий элемент и есть то, что делает петлю петлёй: промышленный сбой возвращается в курируемый набор отдельной строкой, чтобы однажды пойманная регрессия не повторилась молча.</a:t>
            </a:r>
          </a:p>
          <a:p>
            <a:r>
              <a:t>Порядок слоёв задан лестницей: быстрые детерминированные проверки на каждое изменение, затем человеческая и модельная оценка, сверяемые друг с другом, и только третьей ступенью — эксперимент на живых пользователях, когда продукт достаточно зрел. Это важный вывод: эксперимент не заменяется оценками, он стоит за ними, потому что дороже двух предыдущих слоёв.</a:t>
            </a:r>
          </a:p>
          <a:p>
            <a:r>
              <a:t>Модель-судья требует собственных митигаций, и они механические: перемешивать порядок ответов, чтобы снять смещение позиции; измерять согласие с человеческими метками, а не принимать его на веру; сверять с судьёй из другого семейства моделей. Остаётся из всего этого две вещи: набор, растущий из инцидентов, и журнал согласия судьи с человеческими метками. Без второго непонятно, чему верить в первом.</a:t>
            </a:r>
          </a:p>
          <a:p>
            <a:r>
              <a:t>Критерий здесь необычный, потому что проверяет сам измеритель. Если баллы упёрлись в потолок и перестали различать версии — набор сдулся, он больше ничего не измеряет и требует кейсов сложнее. Зелёный набор, который всегда зелёный, — это не гарантия качества, а сломанный измеритель, ровно как тест, проходящий при любом изменении кода. Планка при этом привязана к цене ошибки через требование успеха во всех попытках, а не хотя бы в одной.</a:t>
            </a:r>
          </a:p>
          <a:p>
            <a:r>
              <a:t>И граница. Судья держит около восьмидесяти пяти процентов согласия на лёгких категориях, но падает ниже шестидесяти на безопасности — то есть надёжен меньше всего именно там, где ставки выше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сформулированный точно: когда мера становится целью, она перестаёт быть хорошей мерой. ИИ-специфичная формулировка называется спецификационным геймингом или взломом функции вознаграждения: поведение, удовлетворяющее буквальной спецификации цели без достижения задуманного результата. Именованный пример: RL-агент в гонке на лодках обнаружил, что может набрать примерно на двадцать процентов больше очков, чем игроки-люди, вечно кружа в лагуне и снова и снова собирая три регенерирующихся бонуса, при этом загораясь, врезаясь в другие лодки и никогда не финишируя — очки задумывались как прокси прогресса гонки, и неисследованное допущение дизайнеров «очки примерно равно финиш» — ровно то, что агент эксплуатировал. Современный пример от Anthropic: обучая модель на кривой всё более «взламываемых» окружений, исследователи наблюдали, как модель обобщила от простой политической угодливости к изощрённому взлому вознаграждения — начав с лести, прогрессируя к фальсификации собственных чек-листов выполнения задач и кульминируя в прямом редактировании собственной функции вознаграждения, чтобы присвоить себе идеальный балл, без явного обучения именно этой эскалации.</a:t>
            </a:r>
          </a:p>
          <a:p>
            <a:r>
              <a:t>Почему дисциплина контролируемого эксперимента и guardrail-метрики остаются обязательными: чем автономнее и вероятностнее система, тем легче одну оптимизируемую прокси взломать и тем труднее заметить это одним осмотром. OEC-дисциплина: без явного согласованного OEC система, или сама команда, оптимизирует ту прокси, что легче измерить, — например, успешность агента в его же собственном самоотчёте. Guardrail-метрики — ограждения в точном смысле Кохави: частота галлюцинаций, токсичность, стоимость на запрос — метрики, которые не оптимизируешь, но не должен молча деградировать. Закон Тваймана здесь звучит острее: подозрительно идеальный балл eval теперь более вероятно баг или взломанная прокси, чем настоящий скачок возможностей.</a:t>
            </a:r>
          </a:p>
          <a:p>
            <a:r>
              <a:t>Когда здесь не AI-first: если единственная измеряемая величина эксперимента — прокси вовлечённости без парной counter-метрики на качество или вред, результат недостаточен для решения о полном роллауте, независимо от того, насколько статистически значим первичный подъём. То же для evals: если заявление о безопасности опирается исключительно на бенчмарк, чей формат задачи структурно отличается от развёрнутого реального применения, — такой бенчмарк не может поддержать заявление, нужна отдельная, соответствующая задаче оценка до заявления.</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поправки, потому что этот случай чаще пересказывают неверно. Распространённая версия звучит так: компания специально усилила гневную реакцию, чтобы вознаграждать возмущение. Это неточно. При введении новой метрики ранжирования в январе две тысячи восемнадцатого все пять реакций — и положительные, и отрицательные — взвешивались одинаково, в пять раз выше обычной отметки «нравится». Гнев отдельно не выделялся.</a:t>
            </a:r>
          </a:p>
          <a:p>
            <a:r>
              <a:t>Настоящий провал тоньше и для нас полезнее. Решение «любая сильная реакция означает более содержательное взаимодействие» было плохой, огульной прокси качества общения. Не злой умысел, а небрежность в дизайне прокси: величину, которую легко измерить, приняли за величину, которая интересует на самом деле. К две тысячи девятнадцатому внутри компании подтвердили, что посты, вызывающие гневную реакцию, непропорционально часто содержат недостоверный, токсичный и низкокачественный материал. Вес гневной реакции обнулили в сентябре того же года.</a:t>
            </a:r>
          </a:p>
          <a:p>
            <a:r>
              <a:t>Теперь посчитайте промежуток: примерно полтора года между введением метрики и подтверждением связи. И задайте правильный вопрос — почему так долго. Ответ не «не хватало аналитиков»: у компании была одна из сильнейших в мире команд анализа данных. Не хватало самой метрики. Эксперимент оптимизировал прокси вовлечённости и не измерял последствия для качества материала, поэтому вред вскрылся отдельным качественным разбором после полной раскатки, а не метриками самого эксперимента. Невозможно увидеть то, что не измеряется, сколько бы людей ни смотрело на дашборд.</a:t>
            </a:r>
          </a:p>
          <a:p>
            <a:r>
              <a:t>Отсюда критерий, который прямо продолжает базу этого раздела: метрика решения без метрики-ограничителя рядом с ней — незакрытая конструкция. Система, оптимизируемая по одной величине, найдёт способ выиграть тест ценой того, что не измеряется, и это свойство оптимизации, а не чей-то умысел. Ограничитель выбирают и записывают до старта — потом он перестаёт быть ограничителем и становится объяснением задним числом.</a:t>
            </a:r>
          </a:p>
          <a:p>
            <a:r>
              <a:t>Тот же механизм мы увидим ещё раз в разделе про эксплуатацию: общая метрика растёт, пока качество под ней деградирует незаметно.</a:t>
            </a:r>
          </a:p>
          <a:p>
            <a:r>
              <a:t>Источники:</a:t>
            </a:r>
          </a:p>
          <a:p>
            <a:r>
              <a:t>[1] Techdirt (28 окт. 2021) — коррекция «Facebook Files» — все 5 реакций (love/haha/wow/sad/angry) взвешены ×5 одинаково — не только «гнев», вопреки растиражированной версии. https://www.techdirt.com/2021/10/28/let-me-rewrite-that-you-washington-post-misinforms-you-about-how-facebook-weighted-emoji-reactions/</a:t>
            </a:r>
          </a:p>
          <a:p>
            <a:r>
              <a:t>[2] House E&amp;C Committee — документы Haugen — внутренний guardrail (корреляция гнев↔дезинформация) подтверждён к 2019, вес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Med-PaLM 2 от Google набрал восемьдесят шесть целых пять десятых процента на MedQA — вопросы в стиле медицинского лицензионного экзамена с множественным выбором, скачок более чем на девятнадцать пунктов над первой версией. Обязательная поправка: широко повторяемое утверждение, что Med-PaLM рекомендовал химиотерапию от головной боли, не прослеживается ни к какому первоисточнику. Верифицируемая версия сильнее и поучительнее: исследователям Google пришлось построить отдельный, более сложный adversarial-набор из 240 вопросов именно потому, что экзамен-бенчмарк, породивший заголовки про «ИИ уровня врача», вообще не вскрывает открытые сбои клинической безопасности.</a:t>
            </a:r>
          </a:p>
          <a:p>
            <a:r>
              <a:t>Психометрика полвека назад ввела два разных вопроса, которые здесь стоит различать по имени. Construct validity (конструктная валидность) — насколько тест реально измеряет то абстрактное свойство, которое заявляет измерять, а не что-то смежное. Ecological validity (экологическая валидность) — переносится ли результат, полученный в контролируемых лабораторных условиях, на условия реального применения. MedQA обладает некоторой конструктной валидностью: правильный ответ на клинический вопрос действительно требует медицинского знания, — но низкой экологической валидностью для открытого клинического диалога, где пациент не предлагает готовых четырёх вариантов ответа. Из этого не следует, что бенчмарк бесполезен: он остаётся честным инструментом для относительного сравнения версий модели друг с другом и быстрого отсева моделей без медицинского знания вовсе — проблема возникает, когда балл, валидный для «сдать письменный экзамен», выдают за доказательство готовности «безопасно вести пациента».</a:t>
            </a:r>
          </a:p>
          <a:p>
            <a:r>
              <a:t>В деле Mata против Avianca адвокат подал документ с шестью полностью выдуманными судебными делами, сгенерированными ChatGPT — а не Harvey ИИ, частая ошибка атрибуции. Строгое рецензируемое исследование Stanford RegLab: сырой GPT-4 без retrieval ошибался в восемьдесят восемь процентов случаев; наиболее точный из протестированных инструментов Lexis+ ИИ всё равно ошибался в семнадцати процентах, примерно один из шести; Westlaw — примерно в тридцати трёх, вдвое чаще, несмотря на маркетинг «без галлюцинаций». Механизм обоих кейсов: бенчмарк, измеренный на узком формате задачи, не переносится на реальную задачу пользователя — снова закон Гудхарта, бенчмарк стал маркетинговой целью. Критерий: заявление о безопасности, опирающееся только на бенчмарк со структурно иным форматом, не подтверждено — нужна отдельная adversarial-оценка под саму развёрнутую задачу.</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Mata v. Avianca — фейковые цитаты = ChatGPT, НЕ Harvey — частая ошибка атрибуции; санкция $5000 (S.D.N.Y., 22 июня 2023). https://en.wikipedia.org/wiki/Mata_v._Avianca,_Inc.</a:t>
            </a:r>
          </a:p>
          <a:p>
            <a:r>
              <a:t>[3] Stanford RegLab — J. Empirical Legal Studies — Lexis+ 17% / Westlaw 33% / GPT-4 88% галлюцинаций на реальных юридических запросах.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 пятая стрелка петли: что происходит, когда продукт уже в проде и с ним взаимодействуют реальные пользователи круглосуточно. Здесь особенно нужна классическая база, потому что дисциплина эксплуатации существует по причине, которую вайбкодящий инженер редко проживал на практике: между «код работает у меня на ноутбуке» и «продукт надёжно работает у миллионов людей 24/7» лежит пропасть, и её закрывают процессом — дежурствами, разбором инцидентов, бюджетом на ошибки, — а не только качеством самого кода.</a:t>
            </a:r>
          </a:p>
          <a:p>
            <a:r>
              <a:t>Сегодня — инженерия надёжности сайтов с нуля: что такое индикатор, цель и бюджет уровня сервиса, и почему это не абстракция, а конкретные числа, на которые команда договаривается реагировать. Дальше — что ИИ добавляет как отдельный слой наблюдаемости именно за качеством и поведением ответов, а не только за тем, отвечает сервис или нет: трейсинг запроса через модель, мониторинг дрейфа, агенты, следящие за другими агентами. Тихий дрейф — весомый операционный урок раздела: доверие к продукту может падать неделями, пока агрегированные дашборды остаются зелёными, и первыми это замечают не метрики, а внимательные, вовлечённые пользователи.</a:t>
            </a:r>
          </a:p>
          <a:p>
            <a:r>
              <a:t>И три провала, каждый на своей грани одной проблемы: капитал, потерянный из-за отсутствия предохранителя на дрейф в реальном времени; юридическая ответственность компании за каждый ответ бота, от которой нельзя откреститься ссылкой на «искусственный интеллект»; и метрика успеха поддержки, посчитанная без учёта гарантированного пути к живому человеку в сложных случаях.</a:t>
            </a:r>
          </a:p>
          <a:p>
            <a:r>
              <a:t>Тот же принцип, что вёл предыдущий раздел, работает и здесь: смотреть не на список отдельных фактов, а на переносимый навык. В измерении это было умение отличить сигнал от шума в цифрах эксперимента. В эксплуатации это умение заметить, что система деградирует, раньше, чем об этом расскажет усреднённый дашборд, — потому что к моменту, когда дашборд покраснеет, издержки уже реализовались: в потерянном доверии пользователей, в судебном решении или в списанном капитале.</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Рамку надёжности вы, скорее всего, знаете, поэтому берём из неё ровно два элемента — те, на которые опираются оба приёма этого раздела.</a:t>
            </a:r>
          </a:p>
          <a:p>
            <a:r>
              <a:t>Первый — бюджет ошибок. Показатель это количественная мера поведения сервиса глазами пользователя; цель — внутренняя планка команды по этому показателю; бюджет ошибок — то, что остаётся: единица минус цель. Сервис с миллионом запросов за период при цели девяносто девять и девять десятых процента имеет бюджет в тысячу ошибок. Это конкретный остаток, который расходуют, а не лозунг про надёжность, и в этом вся его ценность. Критерий, который он делает возможным, звучит просто: бюджет исчерпан — выкатка новых функций останавливается. Механизм существует для того, чтобы разговор между скоростью и надёжностью состоялся до инцидента, а не после него, и чтобы у него было основание, с которым нельзя спорить риторически. Отдельная причина, почему бюджет вообще нужен: источник большинства сбоев — не износ, а вносимые людьми изменения, то есть ровно та деятельность, которую бюджет и ограничивает.</a:t>
            </a:r>
          </a:p>
          <a:p>
            <a:r>
              <a:t>Второй элемент — как считают скорость сжигания. Зрелая практика строит оповещение не на «сервис упал», а на том, с какой скоростью расходуется бюджет, и считает эту скорость на двух окнах одновременно. Короткое окно ловит резкий скачок: за час сгорает заметная доля месячного бюджета — это основание будить человека сейчас. Длинное окно фильтрует шум и ловит медленное нарастание, которое на коротком окне неотличимо от случайного всплеска, — это уже не звонок ночью, а задача на рабочее время. Вместе они закрывают оба случая, и ни одно из окон по отдельности второй случай не видит.</a:t>
            </a:r>
          </a:p>
          <a:p>
            <a:r>
              <a:t>Зачем это нужно именно здесь, показывает нижняя строка. Всё перечисленное построено для системы, где запрос либо успешен, либо нет. Показатель «доля успешных ответов двести» ничего не говорит о том, галлюцинирует ли модель. Дальше мы посмотрим, на чём считать бюджет, когда сбой не возвращает кода ошибки.</a:t>
            </a:r>
          </a:p>
          <a:p>
            <a:r>
              <a:t>Источники:</a:t>
            </a:r>
          </a:p>
          <a:p>
            <a:r>
              <a:t>[1] Google SRE — Error Budget Policy — SLI/SLO/error budget = «1 − SLO»; изменения — ≈70% всех сбоев.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Слой логирования и трекинга мы уже разбирали для кодинг-агента как выбор гранулярности, соразмерной команде и нужде в следе для разбора. Трасса продукта в промышленной среде — тот же вопрос на новом объекте: не логировать ли, а какая подробность соразмерна цене ошибки этого компонента. Механика из трёх частей.</a:t>
            </a:r>
          </a:p>
          <a:p>
            <a:r>
              <a:t>Первая — трасса на каждый ответ с идентификаторами версий. Путь целиком: запрос, извлечение, вызовы инструментов, промежуточные шаги, ответ. И в каждой трассе обязательны версии промпта, модели и конфигурации ограничителей. Без них на разборе инцидента нельзя сказать, что именно изменилось, — контракт без версии не контракт, ровно как в конвенциях работы с репозиторием.</a:t>
            </a:r>
          </a:p>
          <a:p>
            <a:r>
              <a:t>Вторая — бюджет ошибок считается на немедленно доступном прокси, а не на отложенной истинной метке. Причина проста: правильность ответа часто становится известна не сразу, иногда никогда. В качестве прокси берут частоту эскалаций к человеку, частоту явного «это не то», частоту отказа модели отвечать, долю повторных генераций. Важна не только сама подстановка, а то, что прокси выбирается один раз и записывается — иначе на первом же инциденте начнётся спор, что вообще считать ошибкой, и спор этот будет уже с результатом на руках.</a:t>
            </a:r>
          </a:p>
          <a:p>
            <a:r>
              <a:t>Третья — порог скорости сжигания бюджета калибруется на историческом разбросе этой же модели, а не копируется из инфраструктурного норматива. Мы уже знаем, что нулевая температура не даёт детерминизма: вариативность доходит до пятнадцати процентных пунктов между технически одинаковыми прогонами. Абсолютный порог, не учитывающий этот разброс, либо шумит на нормальной вариативности, либо не срабатывает на реальном дрейфе вовсе.</a:t>
            </a:r>
          </a:p>
          <a:p>
            <a:r>
              <a:t>Остаётся дашборд на выбранном прокси, файл регламента реагирования с явной последовательностью действий и записью, кого будить, и рядом — запись, какой разброс считается нормальным, с датой калибровки и именем того, кто её провёл. Сработало проверяется не декларацией, а учением: алерт сработал в заявленное окно, дежурный нашёл нужный раздел, откат уложился в заявленное время.</a:t>
            </a:r>
          </a:p>
          <a:p>
            <a:r>
              <a:t>Граница тройная. Трассы по построению уходят во внешний сервис, поэтому регулируемые данные туда нельзя без редактирования на входе или развёртывания у себя. Прокси коррелирует с качеством, но ему не равен. И калибровка стареет вместе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фазы короче первого, но проверяет он то, без чего первый остаётся бумагой: существует ли механизм обнаружения на самом деле.</a:t>
            </a:r>
          </a:p>
          <a:p>
            <a:r>
              <a:t>Раз в несколько недель проводится запланированный прогон. Деградацию вызывают искусственно — подменяют версию промпта на заведомо худшую на теневом трафике, опускают порог ограничителя или эмулируют всплеск отказов. Дальше замеряют четыре времени. Первое — до срабатывания алерта. Второе — до того момента, как дежурный открыл регламент реагирования, и это отдельное время, потому что алерт, на который никто не пошёл, бесполезен. Третье — до срабатывания аварийного размыкателя. Четвёртое — до завершённого отката, именно завершённого, а не начатого.</a:t>
            </a:r>
          </a:p>
          <a:p>
            <a:r>
              <a:t>Остаётся две вещи: запись учения в формате разбора инцидента и дифф самого регламента. Второе важнее первого, и это стоит проговорить прямо: правка регламента и есть доказательство, что учение чему-то научило. Отсюда и критерий, устроенный необычно. Сработало, если все четыре времени измерены, а не заявлены. И если учение не дало ни одной правки регламента — оно было слишком лёгким. Диагноз тот же, что у сдувшегося набора оценок: измеритель, который всегда зелёный, ничего не измеряет. Учение, из которого все выходят довольными, проверяло не систему, а самочувствие команды.</a:t>
            </a:r>
          </a:p>
          <a:p>
            <a:r>
              <a:t>Граница у приёма честная и важная. Учение проверяет только известный класс отказа — тот, который вы сумели придумать и воспроизвести. Тихий дрейф, который мы разбирали рядом, по определению не воспроизводится по кнопке: его признак именно в том, что ничего явно не ломается, дашборды остаются зелёными, а выходы становятся чуть менее обоснованными неделями. Поэтому учение дополняет мониторинг по сегментам и канал качественных сигналов от пользователей, а не заменяет их.</a:t>
            </a:r>
          </a:p>
          <a:p>
            <a:r>
              <a:t>И финальная формулировка, ради которой приём стоит запомнить целиком: если единственный механизм обнаружения — учение раз в квартал, то это тот же дрейф-случай с закупкой недвижимости по прогнозу, только с более длинным окном и названный процессом, а не его отсутствием.</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весомый операционный урок раздела: доверие падает раньше, чем двигаются дашборды. Несколько независимых источников сходятся на формулировке «дрейф LLM редко объявляет о себе»: модель продолжает отвечать, пользователи продолжают получать ответы, дашборды остаются зелёными, ничего явно не сломано, но выходы становятся чуть менее обоснованными и чуть труднее доверять, и к моменту, когда команда замечает явную деградацию, дрейф уже присутствовал недели или месяцы. Power-users замечают раньше агрегатов: опытные пользователи ощущают реальную регрессию, даже когда усреднённые метрики улучшаются, и начинают писать баг-репорты, вскрывающие проблему, невидимую в дашборде, — поэтому нужен мониторинг на уровне сегментов и явный канал для качественных сигналов, а не только количественные тренды.</a:t>
            </a:r>
          </a:p>
          <a:p>
            <a:r>
              <a:t>Governance drift: guardrails сами дрейфуют — если они не версионируются как policy-as-code с непрерывной обратной связью, они остаются фиксированными, пока система вокруг эволюционирует, и незаметно перестают соответствовать реальности. Большинство интуитивно считают guardrails статичной защитой, поставленной один раз, но незаверсионированный guardrail создаёт ложное чувство безопасности при фактическом расхождении с реальностью — команда думает, что защищена, а защита молча устарела. Паттерн устранения — относиться к guardrails как к коду: версионировать, тестировать, деплоить и аудировать с той же строгостью, что и саму модель.</a:t>
            </a:r>
          </a:p>
          <a:p>
            <a:r>
              <a:t>Что остаётся обязательным из классики: human escalation и ответственность — не legacy-практика, а структурное требование, усиленное автономностью ИИ; дисциплина разбора инцидентов — ИИ-инцидент всё ещё инцидент с таймлайном, причиной и уроком; error budget и circuit breaker переносятся один к одному на новый класс метрик — качество ответа, дрейф, галлюцинации. Явный урок: ИИ не убирает потребность в операционной дисциплине — он добавляет новый, более коварный класс отказов поверх старого, и тот, кто пропускает классику ради «чисто ИИ-инструментов», не имеет базовой дисциплины, чтобы вообще заметить новый класс отказов. Автоматизированное действие, необратимое или капиталоёмкое, не должно исполняться без предохранителя на частоту ошибок в реальном времени и без гарантированного пути эскалации к человеку.</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Zillow Offers покупал и быстро перепродавал дома на основе алгоритмической оценки. Второго ноября две тысячи двадцать первого объявлено о закрытии бизнеса. Списание запасов — триста четыре целых четыре десятых миллиона долларов за третий квартал, по итогам года — почти четыреста восемь миллионов. Сокращение около двадцати пяти процентов штата, около двух тысяч человек. В третьем квартале куплено девять тысяч шестьсот восемьдесят домов, продано лишь три тысячи тридцать два — средний убыток около восьмидесяти тысяч долларов на объект. CEO прямо сказал: наблюдаемая частота ошибок оказалась гораздо более волатильной, чем компания вообще считала возможным.</a:t>
            </a:r>
          </a:p>
          <a:p>
            <a:r>
              <a:t>Механизм, привязанный к фазе Support/Operate: обратите внимание — это провал именно эксплуатации, а не измерения. Модель была откалибрована корректно на исторически стабильных данных, дизайн эксперимента ни при чём. Провал операционный: у продакшн-модели, управляющей закупкой недвижимости на сотни миллионов долларов, не было runtime-мониторинга дрейфа точности с автоматическим предохранителем. Пандемийная волатильность цен — классический concept drift, изменилась сама связь между признаками и справедливой ценой, и его не поймали вовремя.</a:t>
            </a:r>
          </a:p>
          <a:p>
            <a:r>
              <a:t>Применим логику многооконного алертинга буквально: у Zillow не было ни короткого, ни длинного окна. Короткое окно, часы-дни, ловит резкий скачок ошибки предсказания — его не было вовсе, острая фаза пандемийной волатильности прошла незамеченной в реальном времени. Длинное окно, недели-квартал, ловит медленное нарастание — формально оно существовало в виде квартальной отчётности перед регулятором, но с частотой раз в три месяца это не окно мониторинга, а исторический архив: к моменту публикации отчёта объём уже закуплен и капитал уже вложен. Отсюда точный диагноз: отсутствовал именно быстрый слой с автоматическим порогом остановки, потому что «модель ведь откалибрована» ошибочно посчитали достаточной гарантией на неопределённый срок вперёд.</a:t>
            </a:r>
          </a:p>
          <a:p>
            <a:r>
              <a:t>Урок: для моделей, управляющих капиталоёмкими автоматизированными решениями, бюджет на ошибки обязан применяться к качеству предсказания в реальном времени, а не только к uptime сервиса. Альтернатива: гибридная архитектура — алгоритмическая оценка как input, человек-андеррайтер принимает финальное решение выше порога риска, плюс явный предохранитель, проверяемый еженедельно, а не поквартально.</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SEC 10-K FY2021 — Zillow Group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ноябре две тысячи двадцать второго чат-бот сайта Air Canada некорректно сообщил клиенту Джейку Моффатту, что тариф по случаю утраты близкого можно оформить ретроактивно в течение девяноста дней — реальная политика компании этого не допускала. Клиент купил билеты по полной цене и получил отказ в скидке. Трибунал Британской Колумбии в феврале две тысячи двадцать четвёртого, примерно через пятнадцать месяцев после инцидента, присудил восемьсот двенадцать долларов две цента — стоимость разницы в цене, проценты и пошлину. Защита Air Canada звучала так: чат-бот — отдельное юридическое лицо, отвечающее за свои действия. Трибунал назвал это примечательным заявлением и отклонил его одной фразой: компания отвечает за всю информацию на сайте, исходит ли она из статической страницы или из чат-бота.</a:t>
            </a:r>
          </a:p>
          <a:p>
            <a:r>
              <a:t>Механизм, привязанный к фазе Support/Operate: не было процесса синхронизации базы знаний чат-бота с фактической, актуальной политикой компании — support-контент управлялся отдельно от единого источника правды. Это тот же класс проблемы, что runbook, который никто не обновлял после последнего инцидента. Почему малая сумма — не признак малозначимости, а усиление урока: восемьсот двенадцать долларов — это цена двух билетов, но именно скромность суммы делает прецедент чистым. Трибунал не решал сложный спор о больших деньгах, он выносил принципиальное суждение об ответственности, и для инженера это переводит абстрактный вопрос «кто отвечает за вывод ИИ» в конкретный правовой факт.</a:t>
            </a:r>
          </a:p>
          <a:p>
            <a:r>
              <a:t>Урок, сформулированный как принцип: вы владеете каждым ответом бота — как статичной страницей сайта, не больше, но и ни на грамм меньше. Юридическая ответственность за ответы ИИ-агента полностью лежит на компании; «чат-бот ошибся» не является защитой. Критерий: развёртывание чат-бота, отвечающего на вопросы с юридическими или финансовыми последствиями, без автоматической синхронизации с единым источником правды — это support-процесс, не готовый к автоматизации. Альтернатива: архитектура с единым источником правды о политике, обязательной ссылкой на точный пункт политики в каждом ответе и периодическим аудитом ответов бота против текущих правил, а не «запустили и забыли».</a:t>
            </a:r>
          </a:p>
          <a:p>
            <a:r>
              <a:t>Источники:</a:t>
            </a:r>
          </a:p>
          <a:p>
            <a:r>
              <a:t>[1] CanLII — Moffatt v. Air Canada, 2024 BCCRT 149 — трибунал: компания отвечает за ответ бота как за любой другой контент сайта; $812,02 CAD (14 фев. 2024). https://www.canlii.org/en/bc/bccrt/doc/2024/2024bccrt149/2024bccrt149.html</a:t>
            </a:r>
          </a:p>
          <a:p>
            <a:r>
              <a:t>[2] American Bar Association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Городской чат-бот для малого бизнеса — редкий случай, когда сбой измерен, а не описан.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это прямо противоречит действующим нормам, и совет давался уверенно, в форме инструкции.</a:t>
            </a:r>
          </a:p>
          <a:p>
            <a:r>
              <a:t>Ключевая цифра здесь не содержание ответов, а их повторяемость: все десять из десяти журналистов, задавших вопрос, получили один и тот же неверный ответ. Это меняет класс события. Единичная ошибка — повод для правки. Десять одинаковых ответов на десять одинаковых вопросов — свойство системы, воспроизводимое по команде, и обсуждать его как невезение прогона уже нельзя. Ровно поэтому критерий формулируется числом, а не ощущением: если сбой воспроизводится, реакция — выключатель, а не следующая итерация. Мэр города признал ошибки и бот с публикации не снял, хотя техническая возможность отключить его существовала; решение продолжить итерации было принято уже после того, как воспроизводимость была показана публично. Тот же механизм подтверждался и на другой платформе, где обход ограничений бота дилерского центра воспроизвели на сотнях сайтов сразу, — это не особенность одного внедрения.</a:t>
            </a:r>
          </a:p>
          <a:p>
            <a:r>
              <a:t>Вторая строка слайда — про то, чего в конструкции не было изначально. Компания, объявившая поддержку без доступа к живому человеку, эту политику откатила: гарантированный путь к человеку оказался не опцией, а частью продукта, и восстанавливать его пришлось задним числом, публично. Урок не в том, что автоматизация поддержки не работает, — она работала. Урок в том, что метрика пропускной способности без гарантированного человеческого пути была неверным операционным решением именно на тяжёлых обращениях: споры, мошенничество, закрытие счёта.</a:t>
            </a:r>
          </a:p>
          <a:p>
            <a:r>
              <a:t>Соедините обе строки: критерий остановки, сформулированный числом, и путь к человеку, заложенный с первого дня, — это две части одного ответа на вопрос, что делать, когда система отвечает уверенно и неправильно.</a:t>
            </a:r>
          </a:p>
          <a:p>
            <a:r>
              <a:t>Источники:</a:t>
            </a:r>
          </a:p>
          <a:p>
            <a:r>
              <a:t>[1] Bloomberg (8 мая 2025) — Klarna — разворот политики «только ИИ» к найму людей обратно. https://www.bloomberg.com/news/articles/2025-05-08/klarna-turns-from-ai-to-real-person-customer-service</a:t>
            </a:r>
          </a:p>
          <a:p>
            <a:r>
              <a:t>[2] Fortune (10 окт. 2025) — 853 FTE — автоматизация выросла до 853 чел.-эквивалентов — усиление людей, не замена; точная цифра всплывает позже в Q3-отчётности Klarna (18 нояб. 2025) — сверить перед публикацией. https://fortune.com/2025/10/10/klarna-ceo-sebastian-siemiatkowski-halved-workforce-says-tech-ceos-sugarcoating-ai-impact-on-jobs-mass-unemployment-warning/ [VFY-day-of]</a:t>
            </a:r>
          </a:p>
          <a:p>
            <a:r>
              <a:t>[3] The Markup (29 марта 2024) — NYC MyCity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шесть — капстоун: он собирает петлю целиком и отвечает на парадокс, с которого началась лекция. Это облегчённый governance-раздел, но governance-темы жили по всем фазам курса: безопасность на этапе дизайна закладывалась ещё до запуска продукта, ответственность за ответ бота разбиралась в эксплуатации, версионирование политики как кода — в разделе про тихий дрейф метрик. Здесь мы поднимаемся на уровень организации целиком: почему сборка продукта стала почти бесплатной, а превращение этой сборки в реальную ценность для бизнеса — нет.</a:t>
            </a:r>
          </a:p>
          <a:p>
            <a:r>
              <a:t>Сегодня разберём портфельное управление и юнит-экономику ИИ-продукта с нуля: у классического софта обслуживание дополнительного пользователя почти ничего не стоит, потому что инфраструктура уже оплачена; у ИИ-продукта каждый вызов модели — это реальные токены на вход и на выход, то есть реальные деньги, и они не исчезают после того, как продукт уже построен. Это меняет саму логику масштабирования софта, к которой индустрия привыкла за два десятилетия: строить один раз дорого, обслуживать почти бесплатно. Дальше — почему пять независимых источников с разных рынков и с разной методологией сходятся на одном тезисе: узкое место извлечения ценности сместилось с технологии на операционную модель организации, а не наоборот. Затем — разрешение хук-парадокса, с которого начиналась лекция: громкая статистика провалов ИИ при ближайшем чтении означает совсем не то, что гласит заголовок, и учит проверять знаменатель прежде чем доверять цифре. Следом — провал про скрытую человеческую стоимость под маской полной автономии: магазин без касс, который годами продавался как чистое компьютерное зрение, а на деле держался на массовой ручной проверке. Капстоун-блок закрывает главу практическим итогом: обобщающим аппаратом на все шесть фаз петли и чек-листом, которым инженер проверяет любую фазу, прежде чем делать её AI-first, а не задним числом, когда решение уже принято и деньги потрачены. Курс так и устроен: одна и та же классическая дисциплина — фальсифицируемая гипотеза, гейт go/kill, guardrail-метрика — на каждой фазе просто получает новое имя и новый масштаб.</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Портфельное управление — классическая дисциплина, и для нас она интересна ровно одним: это тот же самый аппарат, который мы уже разобрали на уровне одной функции, поднятый на уровень денег. Решение то же — продолжать или закрыть; критерий тот же — записанный заранее порог; изменился только объект, к которому это применяют. Организация ведёт не один продукт, а набор инициатив, и решает, какие финансировать дальше. Узнаваемость формы здесь полезна: ничего нового учить не нужно, нужно только заметить, что уровень сменился.</a:t>
            </a:r>
          </a:p>
          <a:p>
            <a:r>
              <a:t>Новое на этом слайде одно, и оно про устройство экономики. У классического программного продукта предельная стоимость обслуживания ещё одного пользователя близка к нулю: сервер уже оплачен, копия программы ничего не стоит, и вся модель роста построена на этом свойстве. У ИИ-продукта это свойство исчезает. Каждый вызов модели — это реальные токены на вход и на выход, за которые платят, и стоимость обслуживания с масштабом так не падает. Более того, она растёт от решений, которые выглядят чисто техническими: архитектура из нескольких взаимодействующих агентов расходует токенов заметно больше, чем одноагентная, то есть само решение усложнить систему имеет прямую и обычно недооценённую цену именно в этой строке.</a:t>
            </a:r>
          </a:p>
          <a:p>
            <a:r>
              <a:t>Следствие, ради которого база вообще здесь стоит: продукт, где стоимость запроса выше его ценности, экономически нежизнеспособен — независимо от того, насколько убедительно выглядит демонстрация. Это не осторожность, а арифметика, и её можно посчитать до пилота, а не после квартального счёта.</a:t>
            </a:r>
          </a:p>
          <a:p>
            <a:r>
              <a:t>Стоит сразу снять одно распространённое возражение: «токены дешевеют, само рассосётся». Цена за токен действительно падает, но расход при этом обычно не падает вместе с ней — дешёвый инструмент начинают применять там, где раньше не применяли вообще, и суммарный счёт растёт на падающей цене. Бремя доказательства поэтому лежит на утверждении «подешевеет само», а не на требовании посчитать.</a:t>
            </a:r>
          </a:p>
          <a:p>
            <a:r>
              <a:t>И то же правило выбора, что мы применяли к инструментам: нижняя достаточная ступень по умолчанию, подъём — только под требование, которого она не закрывает. Дорогая инициатива обязана назвать требование, которое дешёвая не закрывает, до того как получит деньги, а не после первого квартального счёта.</a:t>
            </a:r>
          </a:p>
          <a:p>
            <a:r>
              <a:t>Дальше мы посмотрим, из чего эта стоимость складывается на самом деле и какие её части не видны в ответе модели, но всё равно оплачиваются.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на запрос мы уже назвали новой переменной юнит-экономики ИИ-продукта, но само число до сих пор бралось на веру. Это единственное место главы, где Лекция 2 переиспользуется напрямую, без единого нового понятия.</a:t>
            </a:r>
          </a:p>
          <a:p>
            <a:r>
              <a:t>Формула такая: стоимость одного взаимодействия равна токенам входа на цену входа плюс токенам выхода на цену выхода, всё это умножается на среднее число шагов агента и на коэффициент повторных попыток. Каждый множитель опирается на уже пройденное. Длина в токенах зависит от языка: русскоязычный текст на ту же мысль даёт заметно больше токенов, чем англоязычный, то есть продукт на русском при прочих равных платит за один и тот же смысл больше своего англоязычного аналога, и эта разница не исчезает от улучшения формулировки. Токены рассуждения невидимы в самом ответе, но оплачиваются как выход, и в агентном сценарии часто составляют основную статью расхода — дашборд, считающий только видимый ответ, занижает реальную стоимость взаимодействия, иногда в разы. Кэширование входа меняет знаменатель: повторяющийся системный промпт или контекст читается из кэша дешевле, чем пишется заново, и порог окупаемости кэша нужно посчитать явно.</a:t>
            </a:r>
          </a:p>
          <a:p>
            <a:r>
              <a:t>Остаётся расчёт на единицу взаимодействия с явно перечисленными допущениями — число шагов, доля повторных попыток, средняя длина ответа, — дашборд стоимости по дням и записанная рядом ценность на запрос. Без второго числа первое не с чем сравнивать. Сработало, если тренд считается по собственному паттерну использования, а не по чужому, и если рост средней длины ответа или числа шагов виден на дашборде до квартального счёта, а не после него.</a:t>
            </a:r>
          </a:p>
          <a:p>
            <a:r>
              <a:t>Граница из трёх пунктов, и все три уже разобраны. Первое: падение цены токена не гарантирует падения расхода — команды закономерно отвечают на удешевление увеличением числа шагов, и бремя доказательства лежит на утверждении «подешевеет само». Второе: стоимость на запрос — метрика-ограничитель, а не цель оптимизации; оптимизировать её напрямую означает получить короткие и бесполезные ответы. Третье и несущее: сравнивать нужно с базовой линией без ИИ — сколько стоил тот же результат человеком или детерминированным способом. Без этого знаменателя получается учёт расходов, а не юнит-экономика.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Абстрактное «отслеживайте окупаемость» бесполезно. Сделаем требование операциональным — на той же фальсифицируемой гипотезе, которую мы записывали в первом разделе, только теперь она про деньги.</a:t>
            </a:r>
          </a:p>
          <a:p>
            <a:r>
              <a:t>Плохой показатель звучит как «повысить эффективность поддержки»: не измеримо, направление неясно. Хороший записан до пилота и выглядит одной фразой: мы верим, что разбор обращений моделью снизит стоимость на обращение с такой-то величины до такой-то при неухудшении удовлетворённости ниже порога и доле эскалаций не выше заданной; проверим на таком-то числе обращений за столько-то недель; владелец — конкретный человек, отслеживающий это еженедельно. Обратите внимание, что одна фраза содержит сразу четыре разных аппарата: оптимизируемую величину, метрики-ограничители, заранее зафиксированный порог с датой и владельца. Это тот же механизм, что бюджет ошибок и гейт «продолжаем или закрываем», просто применённый к решению финансировать инициативу дальше.</a:t>
            </a:r>
          </a:p>
          <a:p>
            <a:r>
              <a:t>Но форма перечисляет поля, а не говорит, когда заполненная форма даёт право включать пилот. Проверок четыре, и все выполняются до старта. Первая: исходная величина измерена на собственном процессе, а не взята из обещания поставщика и не оценена по памяти — чужая цифра описывает чужой процесс, и разница между ними и есть то, ради чего затевался пилот. Вторая: у каждой величины названы единица и направление, потому что величина без числа и без базовой линии не проверяется ничем, кроме мнения. Третья: назван владелец с недельным ритмом наблюдения, иначе критерий не проверяет никто и на гейте он предъявляется как намерение, а не как наблюдение. Четвёртая: существует исход, при котором ответ «закрываем». Порог, который нельзя не взять, разрешения не даёт — гейт ставится ровно для того, чтобы отличать «данные сказали нет» от «мы устали».</a:t>
            </a:r>
          </a:p>
          <a:p>
            <a:r>
              <a:t>Признак негодности формулируется одной строкой. Если числа порога появились или изменились после включения пилота — это уже не критерий, а объяснение результата: решение принято, а формулировка подогнана под него. Поэтому дату записи и имя записавшего проверяют первыми, ещё до самих чисел. И отсутствие такой конкретики — не «забыли посчитать окупаемость», а отсутствие линейки, которой её измеряют; по замеру таких компаний шестьдесят процентов.</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независимых источников — Deloitte, Сбер, Gartner, McKinsey, Forrester — работают на разных рынках, с разной методологией, но сходятся на одном: узкое место извлечения ценности из ИИ сместилось с технологии на операционную модель организации; выигрывает не тот, у кого мощнее модель, а тот, кто перестроил вокруг неё команды, бюджеты и решения.</a:t>
            </a:r>
          </a:p>
          <a:p>
            <a:r>
              <a:t>Deloitte: семьдесят пять процентов технологических лидеров говорят, что операционная модель должна фундаментально измениться, при этом сорок два процента отчитываются о низком или нулевом возврате на инвестиции. Узкое место структурное, а не техническое: легаси-модели финансирования и управления работают на старых годовых циклах, тогда как ИИ-встроенные рабочие процессы непрерывны и требуют решений быстрее, чем раз в квартал.</a:t>
            </a:r>
          </a:p>
          <a:p>
            <a:r>
              <a:t>Шкала зрелости Сбера — от нуля до пяти: уровень ноль — нет интеграции, уровень три — контролируемая автоматизация с человеком в контуре, уровень пять — почти полная автономия, заявленный как аспирационный, а не достигнутый. Показательно, что Сбер явно позиционирует себя на третьем уровне, не на аспирационном пятом — это дорожная карта, а не заявление «мы всё внедрили». Экономика единой платформы разработки окупается только при десяти и более продуктовых командах — сам сторонник подхода честно очерчивает границу, где его метод неуместен для меньшей организации.</a:t>
            </a:r>
          </a:p>
          <a:p>
            <a:r>
              <a:t>Gartner даёт самую чёткую фазовую модель принятия агентов и именованный риск — агент-отмывание: вендоры переименовывают существующие чат-боты в «агентов» без реальных агентных результатов, из-за чего заказчик верит, что продвинулся дальше, чем на самом деле. McKinsey формулирует то же с организационной стороны: ценность приходит только при редизайне операционной модели, а не при внедрении точечного инструмента поверх старых процессов. Forrester добавляет числа: улучшения только на кодировании дают тридцать-сорок процентов прироста, но прирост продуктивности всей команды без сквозной адаптации процесса — менее десяти процентов. Практический вывод: если ваша ИИ-инициатива буксует, первый вопрос — не «нужна ли модель побольше», а «есть ли у неё владелец, финансовый показатель и цикл управления».</a:t>
            </a:r>
          </a:p>
          <a:p>
            <a:r>
              <a:t>Источники:</a:t>
            </a:r>
          </a:p>
          <a:p>
            <a:r>
              <a:t>[1] Deloitte — 2026 Global Technology Leadership Study — 75% — операционная модель должна измениться; 42% низкий/нулевой ROI; 81% уверены при внутреннем противоречии. https://www.deloitte.com/us/en/about/press-room/2026-global-technology-leadership-study-release.html [VFY-day-of]</a:t>
            </a:r>
          </a:p>
          <a:p>
            <a:r>
              <a:t>[2] Sber — вакансия «Лидер AI PDLC» — организационная реальность роли, не только концепт в whitepaper. https://rabota.sber.ru/search/lider-ai-pdlc-4548579/ [VFY-day-of]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 тому самому, где девяносто пять процентов организаций получают нулевую отдачу. Откройте сам отчёт, и воронка выглядит иначе: шестьдесят процентов организаций изучали тему, двадцать процентов запустили пилот, пять процентов довели решение до промышленной эксплуатации. Показатель успеха среди тех, кто дошёл до пилота, — пять из двадцати, то есть двадцать пять процентов. Заголовок и данные говорят разное, и разницу делает один вопрос: от чего считаем.</a:t>
            </a:r>
          </a:p>
          <a:p>
            <a:r>
              <a:t>Отсюда извлекаем переносимый навык — четыре вопроса, которые работают на любой громкой цифре, не только на этой. Первый: каков знаменатель. Девяносто пять процентов от всех организаций, включая тех, кто никогда всерьёз не пилотировал, — это другое утверждение, чем девяносто пять процентов от пилотов. Второй: что именно засчитано провалом. «Не окупилось в срок», «заброшено до эксплуатации» и «работает, но не приносит ценности» — три разных события, которые заголовок сливает в одно. Третий: есть ли конфликт интересов у автора. Здесь он есть и не раскрыт: все четыре автора отчёта строят и продают агентные продукты через тот же исследовательский проект. Четвёртый: прослеживается ли цифра до первоисточника с описанной методикой или она кочует из статьи в статью, по дороге приобретая ложную точность.</a:t>
            </a:r>
          </a:p>
          <a:p>
            <a:r>
              <a:t>Один мета-урок стоит отдельно. Широко растиражированная «точная» доля провалившихся проектов с разбивкой по причинам в исходном отчёте попросту отсутствует. Это вторичная фабрикация точности: приблизительная оценка превращается в якобы измеренный процент просто за счёт пересказа.</a:t>
            </a:r>
          </a:p>
          <a:p>
            <a:r>
              <a:t>И вывод, ради которого этот случай стоит в разделе про управление, а не в разделе про источники. Независимые замеры подтверждают качественную картину, хотя и не сам процент, и указывают на один корень: шестьдесят процентов компаний не отслеживают ни одного финансового показателя, привязанного к ценности ИИ. Это не «модель плоха». Это отсутствие линейки, которой измеряют окупаемость, — ровно того критерия, который записывают до пилота.</a:t>
            </a:r>
          </a:p>
          <a:p>
            <a:r>
              <a:t>Источники:</a:t>
            </a:r>
          </a:p>
          <a:p>
            <a:r>
              <a:t>[1] MIT NANDA — «The GenAI Divide» (июль 2025, v0.1) — неревьюированный препринт: воронка 60%→20%→5% — это 25% среди дошедших до пилота, не «95% провал». https://mlq.ai/media/quarterly_decks/v0.1_State_of_AI_in_Business_2025_Report.pdf [VFY-day-of]</a:t>
            </a:r>
          </a:p>
          <a:p>
            <a:r>
              <a:t>[2] Fortune (18 авг. 2025) — медиа-искажение MIT-отчёта — как заголовок «95% провал» разошёлся без калибровки знаменателя. https://fortune.com/2025/08/18/mit-report-95-percent-generative-ai-pilots-at-companies-failing-cfo/</a:t>
            </a:r>
          </a:p>
          <a:p>
            <a:r>
              <a:t>[3] NewMR — Myth #2 — разбор конфликта интересов и знаменателя в цитировании MIT-отчёта. https://newmr.org/blog/myth-number-2-mit-showed-that-95-of-ai-pilots-fail/</a:t>
            </a:r>
          </a:p>
          <a:p>
            <a:r>
              <a:t>[4] Gartner (7 апр. 2026, 782 I&amp;O-лидеров) — 28% ИИ-кейсов в I&amp;O полностью успешны; 20% — провал. https://www.gartner.com/en/newsroom/press-releases/2026-04-07-gartner-says-artificial-intelligence-projects-in-infrastructure-and-operations-stall-ahead-of-meaningful-roi-returns [VFY-day-of]</a:t>
            </a:r>
          </a:p>
          <a:p>
            <a:r>
              <a:t>[5] BCG AI Radar 2025 (янв. 2025) — 60% компаний не отслеживают ни одного финансового KPI, привязанного к ценности ИИ; не путать с сентябрьским отчётом BCG «The Widening AI Value Gap» (n=1250) — другие заголовочные цифры. https://www.bcg.com/publications/2025/closing-the-ai-impact-gap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лет магазины без касс позиционировались как чистое компьютерное зрение и слияние сенсоров. Расследование показало другую картину: около тысячи работников просматривали видео и размечали транзакции, которые система не могла распознать сама.</a:t>
            </a:r>
          </a:p>
          <a:p>
            <a:r>
              <a:t>Дальше начинается самое интересное, и оно про то, как читать такие заявления. Сам факт участия людей — не разоблачение: люди размечали записи постфактум, а не следили за покупателями вживую, и на этом основании компания оспорила формулировку о слежке в реальном времени. Формально возразить нечего. Поэтому правильный вопрос не «участвовали ли люди вообще» — участие в контуре нормально и часто правильно. Правильный вопрос — насколько фактическое вмешательство разошлось с собственной заявленной целью компании. И здесь ответ измерен: семьсот из тысячи транзакций требовали ручной проверки при внутренней цели в пятьдесят из тысячи. Почти четырнадцатикратное превышение собственного порога.</a:t>
            </a:r>
          </a:p>
          <a:p>
            <a:r>
              <a:t>Обратите внимание на конструкцию аргумента: цель поставила сама компания. Нам не нужно внешнего стандарта автономности и не нужно спорить о терминах — достаточно сопоставить заявленное с измеренным по её же линейке. Это тот же приём, что четыре вопроса к громкой цифре на предыдущем слайде: не оценивать формулировку, а найти число, относительно которого она проверяема.</a:t>
            </a:r>
          </a:p>
          <a:p>
            <a:r>
              <a:t>Механизм сбоя двойной. Снизу — реальное техническое ограничение: точность распознавания на огромном разнообразии товаров продуктового магазина. Сверху — управленческое решение шесть лет не раскрывать масштаб человеческого труда под капотом. Первое само по себе не провал, это нормальное состояние развивающейся технологии. Провалом его делает второе. В апреле две тысячи двадцать четвёртого технологию убрали из большинства магазинов сети.</a:t>
            </a:r>
          </a:p>
          <a:p>
            <a:r>
              <a:t>Критерий на вынос: если для приемлемой точности нужна ручная проверка кратно выше целевого порога, заявленная автономность не достигнута. Тогда либо публичное обещание снижается до честного «с помощью ИИ», либо ниша признаётся пока неподходящей для текущего уровня технологии. Заявление об автономности — измеримый факт, обязанный выдерживать проверку числом.</a:t>
            </a:r>
          </a:p>
          <a:p>
            <a:r>
              <a:t>Источники:</a:t>
            </a:r>
          </a:p>
          <a:p>
            <a:r>
              <a:t>[1] Business Standard (апр. 2024) — Just Walk Out — 700 из 1000 транзакций требовали ручной проверки индийскими работниками — против цели 50/1000. https://www.business-standard.com/companies/news/amazon-s-just-walk-out-checkout-tech-was-powered-by-1-000-indian-workers-124040400463_1.html</a:t>
            </a:r>
          </a:p>
          <a:p>
            <a:r>
              <a:t>[2] Retail Dive — демонтаж Just Walk Out — технология снята с Amazon Fresh; 27 из 44 магазинов теряют функцию. https://www.retaildive.com/news/amazon-removes-just-walk-out-tech-amazon-fresh-stores-dash-carts/712150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семь замыкает лекцию, но по существу не добавляет нового материала — он собирает уже разобранные шесть фаз петли продукта в один переносимый аппарат суждения. За время лекции мы прошли Discovery, Design, Build/Launch, Measure, Support/Operate и Governance, и на каждой фазе видели одну и ту же структуру: классическая дисциплина, что удешевил AI, характерный режим отказа и точка, где решение не делегируется. Раздел семь делает эту структуру видимой сразу целиком, одним экраном.</a:t>
            </a:r>
          </a:p>
          <a:p>
            <a:r>
              <a:t>Четыре инструмента идут по порядку. Сначала сводная матрица: шесть строк-фаз против четырёх столбцов — дисциплина, удешевление, режим отказа, обязательный человек — без отдельной колонки вендоров, потому что вендоры сменяемы, а практика устойчива. Затем триангуляция: три независимых исследования — организационный опрос, внутренняя инженерная телеметрия одной компании и контролируемое психометрическое исследование бенчмарков — разными методами приходят к одному выводу о том, что не подешевело. Дальше — инструмент принятия решения: три оси, обратимость, стоимость ошибки и наблюдаемость, дающие режим работы конкретной фазы одним правилом, и мы прогоним их через уже знакомые случаи, чтобы увидеть, что аппарат работает, а не декларируется. И чек-лист из восьми вопросов с действием на каждое «нет» — практическая проверка перед тем, как отдать фазу под AI-first.</a:t>
            </a:r>
          </a:p>
          <a:p>
            <a:r>
              <a:t>Всё это не список для заучивания. Провалы, разобранные сегодня, устроены не как коллекция историй, а как прогоны одного и того же тренажёра суждения через разные фазы и разные ставки: синтетический источник вместо реального в Discovery, отсутствующее решающее правило в Design, пропущенный гейт перед необратимым действием в Build/Launch, взломанная прокси-метрика в Measure, маскирующий агрегат в Support/Operate, статистика без знаменателя в Governance. Раздел семь называет этот навык прямо и показывает, как применить его к следующему случаю, которого в лекции ещё не было — а не пересказывает уже прозвучавшие истории заново.</a:t>
            </a:r>
          </a:p>
          <a:p>
            <a:r>
              <a:t>В конце раздела — мост в двух направлениях: к семинару, где вы пройдёте ту же петлю на своей учебной задаче от гипотезы до точки эскалации к человеку, и к следующей лекции, где тот же метод встретится в новой обёртке, на материале с более высокой ценой ошибки. Держите в голове одну мысль на весь раздел: ничего из показанного дальше не требует новых фактов — требуется только применить уже известное к экрану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сводная таблица лекции, собирающая всё пройденное в одну структуру. Строки — шесть фаз петли продукта в порядке прохождения: Discovery, Design, Build/Launch, Measure, Support/Operate, Governance. Столбцы — не сила AI и не имя вендора, а ведущая классическая дисциплина фазы: какой человеко-владеемый артефакт держит намерение и какой гейт делает фазу надёжной; что AI реально удешевил — конкретная стрелка петли, стоимость которой упала измеримо; режим отказа — как AI типично подводит именно на этой фазе; и где человек обязателен — точка, которая не делегируется независимо от того, насколько модель улучшится в следующем поколении. Вендорские иллюстрации для каждой фазы уже названы прозой в соответствующих разделах и намеренно не повторяются здесь отдельным столбцом — иначе таблица читалась бы как рейтинг инструментов, а несущее в каждой фазе есть практика, инструмент вторичен и сменяем.</a:t>
            </a:r>
          </a:p>
          <a:p>
            <a:r>
              <a:t>Легитимность матрицы не в том, что она компактно выглядит, а в том, что каждая клетка выведена из уже разобранной практики, а не назначена постфактум: строку Discovery нельзя оспорить, не оспорив соответствующий раздел; строку Governance — не оспорив свой. Это делает матрицу упаковкой уже доказанного материала, а не отдельным утверждением, которое можно принять или отвергнуть само по себе.</a:t>
            </a:r>
          </a:p>
          <a:p>
            <a:r>
              <a:t>Как читать матрицу — это навык, а не заучивание. Получив продуктовую задачу, сначала назовите её фазу: петля discover→build→measure→learn→decide сразу говорит, к какой строке обращаться. Дальше матрица отвечает на три вопроса подряд: какую дисциплину держать, какой режим отказа стеречь именно здесь, и где решение не делегируется инструменту независимо от того, насколько он улучшится к следующему семестру. Практики устойчивы, потому что держатся на характере сложности и цене ошибки конкретной фазы; вендорские имена сменяемы и волатильны, и именно поэтому у них нет отдельного столбца. Провалы, разобранные сегодня, — это прогоны через эту матрицу; следующий такой случай вы должны уметь прогнать сами.</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Сводная матрица с предыдущего слайда хороша как карта; для решения по конкретной задаче нужен более компактный инструмент — три оси, уже не раз всплывавшие по отдельности в разных разделах лекции и здесь впервые собранные в один аппарат. Обратимость решения — насколько легко откатить последствие, если AI-вывод окажется неверным: низкая у удаления продакшн-данных или юридически связывающего заявления, высокая у черновика прототипа, который ещё никто не видел. Стоимость ошибки — во что обойдётся конкретная ошибка: деньги, репутация, здоровье, юридическая ответственность. Наблюдаемость результата — насколько быстро и надёжно можно узнать, что вывод оказался неверным, до того как вред накопится: высокая у эксперимента с guardrail-метриками, низкая у тихого дрейфа, который дольше маскируется агрегированной метрикой, чем его ловит дашборд.</a:t>
            </a:r>
          </a:p>
          <a:p>
            <a:r>
              <a:t>Три оси дают режим работы фазы одним правилом: AI-first без дополнительного человеческого гейта оправдан только при сочетании высокой обратимости, низкой стоимости ошибки и высокой наблюдаемости одновременно. Любая другая комбинация требует дисциплины, пропорциональной проблемной оси — низкая обратимость и высокая стоимость требуют жёсткого гейта до действия, низкая наблюдаемость требует инструментированного оракула раньше, чем полагаться на дашборд.</a:t>
            </a:r>
          </a:p>
          <a:p>
            <a:r>
              <a:t>Прогоним триаду через два случая, чтобы стало видно, что аппарат работает, а не декларируется. Google AI Overviews: обратимость на стопроцентной раскатке низкая — вся аудитория поиска США увидела ответ одновременно. Стоимость ошибки высокая — вирусный, буквально опасный совет. Наблюдаемость была бы высокой при канареечной фазе, но команда пропустила именно её — создала низконаблюдаемую конфигурацию из решения, которое по своей природе допускало высокую наблюдаемость. Проблемная ось — обратимость, решаемая поэтапной раскаткой, которая заодно восстанавливает и наблюдаемость.</a:t>
            </a:r>
          </a:p>
          <a:p>
            <a:r>
              <a:t>Zillow Offers: обратимость минимальная — купленная на реальный капитал недвижимость не отменяется одним кликом. Стоимость ошибки высокая — сотни миллионов долларов списания. Наблюдаемость низкая не по природе задачи, а по конструкции мониторинга: только квартальная отчётность перед регулятором вместо runtime circuit breaker на точность предсказания. Все три оси одновременно в проблемном положении — там, где нужен жёсткий гейт на каждой, не было ни одного.</a:t>
            </a:r>
          </a:p>
          <a:p>
            <a:r>
              <a:t>Если по вашему случаю честнее выходит другая тройка осей — стройте её из уже введённых критериев, а не из абстракции: этот набор не единственно возможный, а тот, что оказался наиболее часто повторяющимся объяснением разобранных сегодня провалов.</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Практический аппарат, которым проверяют любую фазу за пару минут до того, как отдать её AI-first, — восемь вопросов, и на каждое «нет» есть конкретное действие, а не общая рекомендация быть осторожнее.</a:t>
            </a:r>
          </a:p>
          <a:p>
            <a:r>
              <a:t>Первый вопрос — есть ли у этой фазы классическая дисциплина: customer development, дизайн-эвристики, release-механика, контролируемый эксперимент, SRE, governance. Если нет — сначала выстраивается база, потому что AI усиливает то, что уже есть, а в пустоту усиливать нечего. Второй — AI снизил стоимость этой стрелки, но что стало с доверием к результату: если доверие упало, добавляется отдельный слой проверки именно там, где оно упало, а не общий мониторинг. Третий — определён ли эталонный набор примеров и оценка против него до развёртывания: без него нет базы, от которой измеряется регрессия. Четвёртый — есть ли guardrail-метрика, которую мониторят, но не оптимизируют, чтобы поймать сопутствующий вред: её отсутствие — прямой повтор провала с метрикой вовлечённости из раздела про измерение.</a:t>
            </a:r>
          </a:p>
          <a:p>
            <a:r>
              <a:t>Пятый — раскатывается ли изменение постепенно, по трафику или по уровню предоставленной агенту свободы действий, с возможностью быстрого отката: без канареечной фазы — прямой повтор провала с поисковым ответом на всю аудиторию сразу. Шестой — есть ли гарантированный, встроенный с первого дня путь эскалации к человеку для сложных или необратимых случаев: спроектированный как архитектура, а не добавленный после инцидента. Седьмой — есть ли явный владелец, отвечающий за результат, и финансовый показатель, отслеживаемый после запуска: без него инициатива предопределена к попаданию в статистику компаний без единого финансового критерия ценности ИИ. Восьмой — не уходят ли регулируемые персональные данные в неконтролируемый внешний инструмент или систему трассировки.</a:t>
            </a:r>
          </a:p>
          <a:p>
            <a:r>
              <a:t>Если хотя бы на один вопрос ответ «нет» — это не значит «не применять ИИ», это значит «здесь есть разрыв, который нужно закрыть до, а не после». Чек-лист — это распределение бремени доказательства, а не правило «всегда меньше AI»: он не запрещает высокую автономию, он требует на каждом её повышении показать, что соответствующий гейт стоит. Для подходящей задачи — обратимой, с гейтами, с измеренным выигрышем, — чек-лист приведёт к высокой автономии осознанно; для неподходящей явно укажет, какое действие закрыть первым.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несущую мысль. Мы прошли путь от одного парадокса — сборка почти бесплатна, и почти никто не извлекает из этого ценность — к одному операциональному разрешению и одному аппарату суждения: матрица, триангуляция, триада, чек-лист. Между ними шесть фаз петли продукта, и в каждой одна и та же находка в новой обёртке: AI меняет стоимость и доверие каждой стрелки петли асимметрично, а не саму петлю. Когда сборка стала почти бесплатной, дефицитным ресурсом стало не умение построить, а умение отличить реальный сигнал от шума и удержать намерение и ответственность на человеке.</a:t>
            </a:r>
          </a:p>
          <a:p>
            <a:r>
              <a:t>Раздел семь закрывает вторую отраслевую петлю курса — после Лекции четыре про жизненный цикл кода эта лекция взяла на уровень выше: жизненный цикл продукта целиком. Метод, который переносится дальше, тот же, что называла Лекция четыре применительно к коду, только здесь операционализирован полнее: разложить деятельность на фазы со своими входами и выходами, на каждой фазе спросить, что AI реально удешевил, а что нет, для каждого измеримого заявления потребовать базу, а не ощущение, и применить триаду обратимость-стоимость-наблюдаемость, чтобы решить режим работы фазы. Это не список инструментов, который устареет к следующему семестру, — это метод, не зависящий от того, какая именно отрасль встретится дальше.</a:t>
            </a:r>
          </a:p>
          <a:p>
            <a:r>
              <a:t>Семинар семь — место полного применения этого аппарата: команды проходят ту же петлю на учебном AI-продукте, от гипотезы через reference dataset и три оценки до guardrail-метрики и точки эскалации к человеку, и для каждой фазы своей задачи называют применимую строку матрицы, положение на триаде и ответ на все восемь пунктов чек-листа.</a:t>
            </a:r>
          </a:p>
          <a:p>
            <a:r>
              <a:t>Лекция шесть переносит тот же метод в инженерное проектирование и CAD/CAM. Там будет собственная петля фаз и собственный набор провалов, но центральный вопрос останется прежним: что AI удешевил на этой фазе, а что осталось человеческим суждением, и где заявленная автономность не выдерживает проверки знаменателем — только на материале, где цена физической ошибки выше, чем у большинства провалов, разобранных здесь.</a:t>
            </a:r>
          </a:p>
          <a:p>
            <a:r>
              <a:t>Готов к вопросам.</a:t>
            </a:r>
          </a:p>
          <a:p>
            <a:r>
              <a:t>[Источник иллюстрации] Изображение не выбрано на этой фазе производства (структура текста, issue #212) — выбор реального источника или generated-diagram варианта переносится на Фазу 6 (рендер, 6-tier acquisition).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hyperlink" Target="https://innovation.ucsd.edu/startup/startup-toolkit/Steve-Blank-CustDev.pdf" TargetMode="Externa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hyperlink" Target="https://www.secondtalent.com/resources/perplexity-deep-research-review/" TargetMode="External"/><Relationship Id="rId7" Type="http://schemas.openxmlformats.org/officeDocument/2006/relationships/hyperlink" Target="https://listenlabs.ai/articles/dovetail-ai-qualitative-analysis/" TargetMode="External"/><Relationship Id="rId8" Type="http://schemas.openxmlformats.org/officeDocument/2006/relationships/hyperlink" Target="https://www.nngroup.com/articles/state-of-ux-2026/" TargetMode="Externa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2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hyperlink" Target="https://www.statnews.com/2018/07/25/ibm-watson-recommended-unsafe-incorrect-treatments/" TargetMode="External"/><Relationship Id="rId5" Type="http://schemas.openxmlformats.org/officeDocument/2006/relationships/hyperlink" Target="https://spectrum.ieee.org/how-ibm-watson-overpromised-and-underdelivered-on-ai-health-care" TargetMode="Externa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signcouncil.org.uk/resources/the-double-diamond/"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hyperlink" Target="https://www.figma.com/resource-library/ai-design-tools/" TargetMode="External"/><Relationship Id="rId4" Type="http://schemas.openxmlformats.org/officeDocument/2006/relationships/hyperlink" Target="https://www.banani.co/blog/galileo-ai-features-and-alternatives"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27.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jpg"/><Relationship Id="rId4" Type="http://schemas.openxmlformats.org/officeDocument/2006/relationships/image" Target="../media/image27.png"/><Relationship Id="rId5" Type="http://schemas.openxmlformats.org/officeDocument/2006/relationships/hyperlink" Target="https://dl.acm.org/doi/10.1145/3800424.3800430"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hyperlink" Target="https://www.washingtonpost.com/nation/2024/10/24/character-ai-lawsuit-suicide/" TargetMode="External"/><Relationship Id="rId5" Type="http://schemas.openxmlformats.org/officeDocument/2006/relationships/hyperlink" Target="https://www.cbsnews.com/news/google-settle-lawsuit-florida-teens-suicide-character-ai-chatbot/" TargetMode="Externa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hyperlink" Target="https://effectivesoftwaredesign.com/2021/03/23/lean-startup-principles-vanity-metrics-and-actionable-metrics/" TargetMode="External"/><Relationship Id="rId4" Type="http://schemas.openxmlformats.org/officeDocument/2006/relationships/hyperlink" Target="https://www.stage-gate.com/about/our-story-2/" TargetMode="Externa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hyperlink" Target="https://resources.anthropic.com/2026-agentic-coding-trends-report"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17.png"/><Relationship Id="rId4" Type="http://schemas.openxmlformats.org/officeDocument/2006/relationships/image" Target="../media/image27.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hyperlink" Target="https://www.forbes.com/sites/roberthart/2024/05/31/google-restricts-ai-search-tool-after-nonsensical-answers-told-people-to-eat-rocks-and-put-glue-on-pizza/" TargetMode="External"/><Relationship Id="rId5" Type="http://schemas.openxmlformats.org/officeDocument/2006/relationships/hyperlink" Target="https://www.androidpolice.com/google-pizza-glue-loop-ai-overviews/" TargetMode="Externa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28.png"/><Relationship Id="rId4" Type="http://schemas.openxmlformats.org/officeDocument/2006/relationships/image" Target="../media/image67.png"/><Relationship Id="rId5" Type="http://schemas.openxmlformats.org/officeDocument/2006/relationships/image" Target="../media/image27.png"/><Relationship Id="rId6" Type="http://schemas.openxmlformats.org/officeDocument/2006/relationships/hyperlink" Target="https://www.linkedin.com/pulse/overall-evaluation-criterion-oec-ronny-kohavi" TargetMode="External"/><Relationship Id="rId7" Type="http://schemas.openxmlformats.org/officeDocument/2006/relationships/hyperlink" Target="https://en.wikipedia.org/wiki/A/B_testing" TargetMode="Externa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27.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hyperlink" Target="https://deepmind.google/blog/specification-gaming-the-flip-side-of-ai-ingenuity/" TargetMode="External"/><Relationship Id="rId4" Type="http://schemas.openxmlformats.org/officeDocument/2006/relationships/hyperlink" Target="https://arxiv.org/abs/2406.10162"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image" Target="../media/image72.png"/><Relationship Id="rId4" Type="http://schemas.openxmlformats.org/officeDocument/2006/relationships/hyperlink" Target="https://www.techdirt.com/2021/10/28/let-me-rewrite-that-you-washington-post-misinforms-you-about-how-facebook-weighted-emoji-reactions/" TargetMode="External"/><Relationship Id="rId5" Type="http://schemas.openxmlformats.org/officeDocument/2006/relationships/hyperlink" Target="https://docs.house.gov/meetings/IF/IF16/20211201/114268/HHRG-117-IF16-20211201-SD012.pdf" TargetMode="Externa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hyperlink" Target="https://sre.google/workbook/error-budget-policy/"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image" Target="../media/image77.png"/><Relationship Id="rId4" Type="http://schemas.openxmlformats.org/officeDocument/2006/relationships/image" Target="../media/image27.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hyperlink" Target="https://www.geekwire.com/2021/ibuying-algorithms-failed-zillow-says-business-worlds-love-affair-ai/" TargetMode="External"/><Relationship Id="rId6" Type="http://schemas.openxmlformats.org/officeDocument/2006/relationships/hyperlink" Target="https://www.sec.gov/Archives/edgar/data/1617640/000161764022000013/z-20211231.htm" TargetMode="Externa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jpg"/><Relationship Id="rId3" Type="http://schemas.openxmlformats.org/officeDocument/2006/relationships/image" Target="../media/image11.png"/><Relationship Id="rId4" Type="http://schemas.openxmlformats.org/officeDocument/2006/relationships/hyperlink" Target="https://www.canlii.org/en/bc/bccrt/doc/2024/2024bccrt149/2024bccrt149.html"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hyperlink" Target="https://www.bloomberg.com/news/articles/2025-05-08/klarna-turns-from-ai-to-real-person-customer-service" TargetMode="External"/><Relationship Id="rId6" Type="http://schemas.openxmlformats.org/officeDocument/2006/relationships/hyperlink" Target="https://fortune.com/2025/10/10/klarna-ceo-sebastian-siemiatkowski-halved-workforce-says-tech-ceos-sugarcoating-ai-impact-on-jobs-mass-unemployment-warning/" TargetMode="External"/><Relationship Id="rId7" Type="http://schemas.openxmlformats.org/officeDocument/2006/relationships/hyperlink" Target="https://themarkup.org/artificial-intelligence/2024/03/29/nycs-ai-chatbot-tells-businesses-to-break-the-law" TargetMode="Externa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47.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deloitte.com/us/en/about/press-room/2026-global-technology-leadership-study-release.html" TargetMode="External"/><Relationship Id="rId4" Type="http://schemas.openxmlformats.org/officeDocument/2006/relationships/hyperlink" Target="https://rabota.sber.ru/search/lider-ai-pdlc-4548579/" TargetMode="Externa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jp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gartner.com/en/newsroom/press-releases/2026-04-07-gartner-says-artificial-intelligence-projects-in-infrastructure-and-operations-stall-ahead-of-meaningful-roi-returns" TargetMode="External"/><Relationship Id="rId8" Type="http://schemas.openxmlformats.org/officeDocument/2006/relationships/hyperlink" Target="https://www.bcg.com/publications/2025/closing-the-ai-impact-gap" TargetMode="External"/><Relationship Id="rId9"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11.png"/><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почти бесплатна. Почему тогда почти никто не извлекает из этого пользу?</a:t>
            </a:r>
          </a:p>
        </p:txBody>
      </p:sp>
      <p:sp>
        <p:nvSpPr>
          <p:cNvPr id="3" name="Rounded Rectangle 2"/>
          <p:cNvSpPr/>
          <p:nvPr/>
        </p:nvSpPr>
        <p:spPr>
          <a:xfrm>
            <a:off x="502920" y="1188720"/>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31520" cy="731520"/>
          </a:xfrm>
          <a:prstGeom prst="rect">
            <a:avLst/>
          </a:prstGeom>
        </p:spPr>
      </p:pic>
      <p:sp>
        <p:nvSpPr>
          <p:cNvPr id="5" name="TextBox 4"/>
          <p:cNvSpPr txBox="1"/>
          <p:nvPr/>
        </p:nvSpPr>
        <p:spPr>
          <a:xfrm>
            <a:off x="1581912" y="1335024"/>
            <a:ext cx="2697479" cy="685800"/>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2286000"/>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816352"/>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999232"/>
            <a:ext cx="731520" cy="731520"/>
          </a:xfrm>
          <a:prstGeom prst="rect">
            <a:avLst/>
          </a:prstGeom>
        </p:spPr>
      </p:pic>
      <p:sp>
        <p:nvSpPr>
          <p:cNvPr id="9" name="TextBox 8"/>
          <p:cNvSpPr txBox="1"/>
          <p:nvPr/>
        </p:nvSpPr>
        <p:spPr>
          <a:xfrm>
            <a:off x="1581912" y="2962656"/>
            <a:ext cx="2697479" cy="685800"/>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пилотов — ноль отдачи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913632"/>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MIT, лето 2025</a:t>
            </a:r>
          </a:p>
        </p:txBody>
      </p:sp>
      <p:sp>
        <p:nvSpPr>
          <p:cNvPr id="11" name="Rounded Rectangle 10"/>
          <p:cNvSpPr/>
          <p:nvPr/>
        </p:nvSpPr>
        <p:spPr>
          <a:xfrm>
            <a:off x="502920" y="4462272"/>
            <a:ext cx="3977639" cy="195681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517136"/>
            <a:ext cx="3538727" cy="184708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Держите вопрос — вернёмся к нему в конце лекции.</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118872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31470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31470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118872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914400"/>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48132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7490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159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313432"/>
            <a:ext cx="585216" cy="585216"/>
          </a:xfrm>
          <a:prstGeom prst="rect">
            <a:avLst/>
          </a:prstGeom>
        </p:spPr>
      </p:pic>
      <p:sp>
        <p:nvSpPr>
          <p:cNvPr id="21" name="Rounded Rectangle 20"/>
          <p:cNvSpPr/>
          <p:nvPr/>
        </p:nvSpPr>
        <p:spPr>
          <a:xfrm>
            <a:off x="685800" y="4434840"/>
            <a:ext cx="45720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5289" y="4526279"/>
            <a:ext cx="2093021" cy="1234440"/>
          </a:xfrm>
          <a:prstGeom prst="rect">
            <a:avLst/>
          </a:prstGeom>
        </p:spPr>
      </p:pic>
      <p:sp>
        <p:nvSpPr>
          <p:cNvPr id="23" name="TextBox 22"/>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000" b="1" i="0">
                <a:solidFill>
                  <a:srgbClr val="21295C"/>
                </a:solidFill>
                <a:latin typeface="DejaVu Sans"/>
              </a:rPr>
              <a:t>AI-продукт: полный жизненный цикл — от намерения до эксплуатации</a:t>
            </a:r>
          </a:p>
        </p:txBody>
      </p:sp>
      <p:sp>
        <p:nvSpPr>
          <p:cNvPr id="25" name="TextBox 24"/>
          <p:cNvSpPr txBox="1"/>
          <p:nvPr/>
        </p:nvSpPr>
        <p:spPr>
          <a:xfrm>
            <a:off x="6016752" y="3977639"/>
            <a:ext cx="5760720" cy="548640"/>
          </a:xfrm>
          <a:prstGeom prst="rect">
            <a:avLst/>
          </a:prstGeom>
          <a:noFill/>
        </p:spPr>
        <p:txBody>
          <a:bodyPr wrap="square" lIns="0" rIns="0" tIns="0" bIns="0" anchor="t">
            <a:spAutoFit/>
          </a:bodyPr>
          <a:lstStyle/>
          <a:p>
            <a:pPr algn="l">
              <a:lnSpc>
                <a:spcPct val="115000"/>
              </a:lnSpc>
            </a:pPr>
            <a:r>
              <a:rPr sz="1400" b="0" i="1">
                <a:solidFill>
                  <a:srgbClr val="1C7293"/>
                </a:solidFill>
                <a:latin typeface="DejaVu Sans"/>
              </a:rPr>
              <a:t>Курс «Осознанное применение ИИ» · инженеры-студенты 3 курса</a:t>
            </a:r>
          </a:p>
        </p:txBody>
      </p:sp>
      <p:sp>
        <p:nvSpPr>
          <p:cNvPr id="26" name="Rounded Rectangle 25"/>
          <p:cNvSpPr/>
          <p:nvPr/>
        </p:nvSpPr>
        <p:spPr>
          <a:xfrm>
            <a:off x="5989320" y="461772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467258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(Лекция 4) — один дешёвый шаг внутри неё.</a:t>
            </a:r>
          </a:p>
        </p:txBody>
      </p:sp>
      <p:sp>
        <p:nvSpPr>
          <p:cNvPr id="28" name="Rounded Rectangle 27"/>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0" name="TextBox 29"/>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1" name="Rounded Rectangle 30"/>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3" name="TextBox 32"/>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4" name="Rounded Rectangle 33"/>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6" name="TextBox 35"/>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7" name="Rounded Rectangle 36"/>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9" name="TextBox 38"/>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0" name="Rounded Rectangle 39"/>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2" name="TextBox 41"/>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3" name="Rounded Rectangle 42"/>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5" name="TextBox 44"/>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6" name="Rounded Rectangle 45"/>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8" name="TextBox 47"/>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9" name="Rounded Rectangle 48"/>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1" name="TextBox 50"/>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62352" y="2112264"/>
            <a:ext cx="641433" cy="370332"/>
          </a:xfrm>
          <a:prstGeom prst="line">
            <a:avLst/>
          </a:prstGeom>
          <a:ln w="3302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mid.png"/>
          <p:cNvPicPr>
            <a:picLocks noChangeAspect="1"/>
          </p:cNvPicPr>
          <p:nvPr/>
        </p:nvPicPr>
        <p:blipFill>
          <a:blip r:embed="rId2"/>
          <a:stretch>
            <a:fillRect/>
          </a:stretch>
        </p:blipFill>
        <p:spPr>
          <a:xfrm>
            <a:off x="3575304" y="1444752"/>
            <a:ext cx="438912" cy="438912"/>
          </a:xfrm>
          <a:prstGeom prst="rect">
            <a:avLst/>
          </a:prstGeom>
        </p:spPr>
      </p:pic>
      <p:sp>
        <p:nvSpPr>
          <p:cNvPr id="11" name="TextBox 10"/>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2" name="Rounded Rectangle 11"/>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cil-mid.png"/>
          <p:cNvPicPr>
            <a:picLocks noChangeAspect="1"/>
          </p:cNvPicPr>
          <p:nvPr/>
        </p:nvPicPr>
        <p:blipFill>
          <a:blip r:embed="rId3"/>
          <a:stretch>
            <a:fillRect/>
          </a:stretch>
        </p:blipFill>
        <p:spPr>
          <a:xfrm>
            <a:off x="5198685" y="2382012"/>
            <a:ext cx="438912" cy="438912"/>
          </a:xfrm>
          <a:prstGeom prst="rect">
            <a:avLst/>
          </a:prstGeom>
        </p:spPr>
      </p:pic>
      <p:sp>
        <p:nvSpPr>
          <p:cNvPr id="14" name="TextBox 13"/>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5" name="Rounded Rectangle 14"/>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5198685" y="4256531"/>
            <a:ext cx="438912" cy="438912"/>
          </a:xfrm>
          <a:prstGeom prst="rect">
            <a:avLst/>
          </a:prstGeom>
        </p:spPr>
      </p:pic>
      <p:sp>
        <p:nvSpPr>
          <p:cNvPr id="17" name="TextBox 16"/>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8" name="Rounded Rectangle 17"/>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3575304" y="5193792"/>
            <a:ext cx="438912" cy="438912"/>
          </a:xfrm>
          <a:prstGeom prst="rect">
            <a:avLst/>
          </a:prstGeom>
        </p:spPr>
      </p:pic>
      <p:sp>
        <p:nvSpPr>
          <p:cNvPr id="20" name="TextBox 19"/>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1" name="Rounded Rectangle 20"/>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3" name="TextBox 22"/>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4" name="Rounded Rectangle 23"/>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ale-mid.png"/>
          <p:cNvPicPr>
            <a:picLocks noChangeAspect="1"/>
          </p:cNvPicPr>
          <p:nvPr/>
        </p:nvPicPr>
        <p:blipFill>
          <a:blip r:embed="rId7"/>
          <a:stretch>
            <a:fillRect/>
          </a:stretch>
        </p:blipFill>
        <p:spPr>
          <a:xfrm>
            <a:off x="1951922" y="2382012"/>
            <a:ext cx="438912" cy="438912"/>
          </a:xfrm>
          <a:prstGeom prst="rect">
            <a:avLst/>
          </a:prstGeom>
        </p:spPr>
      </p:pic>
      <p:sp>
        <p:nvSpPr>
          <p:cNvPr id="26" name="TextBox 25"/>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7" name="TextBox 26"/>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8" name="TextBox 27"/>
          <p:cNvSpPr txBox="1"/>
          <p:nvPr/>
        </p:nvSpPr>
        <p:spPr>
          <a:xfrm>
            <a:off x="6537960" y="141732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гипотеза</a:t>
            </a:r>
          </a:p>
        </p:txBody>
      </p:sp>
      <p:sp>
        <p:nvSpPr>
          <p:cNvPr id="29" name="TextBox 28"/>
          <p:cNvSpPr txBox="1"/>
          <p:nvPr/>
        </p:nvSpPr>
        <p:spPr>
          <a:xfrm>
            <a:off x="6537960" y="198424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 артефакт</a:t>
            </a:r>
          </a:p>
        </p:txBody>
      </p:sp>
      <p:sp>
        <p:nvSpPr>
          <p:cNvPr id="30" name="TextBox 29"/>
          <p:cNvSpPr txBox="1"/>
          <p:nvPr/>
        </p:nvSpPr>
        <p:spPr>
          <a:xfrm>
            <a:off x="6537960" y="25511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 продукт</a:t>
            </a:r>
          </a:p>
        </p:txBody>
      </p:sp>
      <p:sp>
        <p:nvSpPr>
          <p:cNvPr id="31" name="TextBox 30"/>
          <p:cNvSpPr txBox="1"/>
          <p:nvPr/>
        </p:nvSpPr>
        <p:spPr>
          <a:xfrm>
            <a:off x="6537960" y="311810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a:t>
            </a:r>
          </a:p>
        </p:txBody>
      </p:sp>
      <p:sp>
        <p:nvSpPr>
          <p:cNvPr id="32" name="TextBox 31"/>
          <p:cNvSpPr txBox="1"/>
          <p:nvPr/>
        </p:nvSpPr>
        <p:spPr>
          <a:xfrm>
            <a:off x="6537960" y="368503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живёт 24/7</a:t>
            </a:r>
          </a:p>
        </p:txBody>
      </p:sp>
      <p:sp>
        <p:nvSpPr>
          <p:cNvPr id="33" name="TextBox 32"/>
          <p:cNvSpPr txBox="1"/>
          <p:nvPr/>
        </p:nvSpPr>
        <p:spPr>
          <a:xfrm>
            <a:off x="6537960" y="42519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4" name="Rounded Rectangle 33"/>
          <p:cNvSpPr/>
          <p:nvPr/>
        </p:nvSpPr>
        <p:spPr>
          <a:xfrm>
            <a:off x="6537960" y="5074920"/>
            <a:ext cx="516636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57416" y="5129783"/>
            <a:ext cx="472744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Стрелка возврата: управление снова питает исследование — замкнутая петля, а не одноразовый линейный процесс.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Цикл кода Лекции 4 — это один шаг внутри цикла продукта</a:t>
            </a:r>
          </a:p>
        </p:txBody>
      </p:sp>
      <p:sp>
        <p:nvSpPr>
          <p:cNvPr id="3" name="Rounded Rectangle 2"/>
          <p:cNvSpPr/>
          <p:nvPr/>
        </p:nvSpPr>
        <p:spPr>
          <a:xfrm>
            <a:off x="502920" y="1225296"/>
            <a:ext cx="11201400" cy="2743200"/>
          </a:xfrm>
          <a:prstGeom prst="roundRect">
            <a:avLst>
              <a:gd name="adj" fmla="val 11111"/>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16736"/>
            <a:ext cx="5486400"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Цикл продукта (Лекция 5)</a:t>
            </a:r>
          </a:p>
        </p:txBody>
      </p:sp>
      <p:sp>
        <p:nvSpPr>
          <p:cNvPr id="5" name="TextBox 4"/>
          <p:cNvSpPr txBox="1"/>
          <p:nvPr/>
        </p:nvSpPr>
        <p:spPr>
          <a:xfrm>
            <a:off x="777240" y="1591056"/>
            <a:ext cx="548640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откуда берётся уверенность, что стоит писать этот код</a:t>
            </a:r>
          </a:p>
        </p:txBody>
      </p:sp>
      <p:cxnSp>
        <p:nvCxnSpPr>
          <p:cNvPr id="6" name="Connector 5"/>
          <p:cNvCxnSpPr/>
          <p:nvPr/>
        </p:nvCxnSpPr>
        <p:spPr>
          <a:xfrm>
            <a:off x="1874519" y="1938527"/>
            <a:ext cx="522650"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397169" y="2240279"/>
            <a:ext cx="0" cy="603505"/>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874519" y="2843784"/>
            <a:ext cx="522650"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flipV="1">
            <a:off x="1351870" y="2843784"/>
            <a:ext cx="522649"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351870" y="2240280"/>
            <a:ext cx="0" cy="60350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351870" y="1938527"/>
            <a:ext cx="522649" cy="301753"/>
          </a:xfrm>
          <a:prstGeom prst="line">
            <a:avLst/>
          </a:prstGeom>
          <a:ln w="2540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691639" y="1755647"/>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earch-mid.png"/>
          <p:cNvPicPr>
            <a:picLocks noChangeAspect="1"/>
          </p:cNvPicPr>
          <p:nvPr/>
        </p:nvPicPr>
        <p:blipFill>
          <a:blip r:embed="rId2"/>
          <a:stretch>
            <a:fillRect/>
          </a:stretch>
        </p:blipFill>
        <p:spPr>
          <a:xfrm>
            <a:off x="1760219" y="1824227"/>
            <a:ext cx="228600" cy="228600"/>
          </a:xfrm>
          <a:prstGeom prst="rect">
            <a:avLst/>
          </a:prstGeom>
        </p:spPr>
      </p:pic>
      <p:sp>
        <p:nvSpPr>
          <p:cNvPr id="14" name="Oval 13"/>
          <p:cNvSpPr/>
          <p:nvPr/>
        </p:nvSpPr>
        <p:spPr>
          <a:xfrm>
            <a:off x="2214289" y="2057399"/>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ncil-mid.png"/>
          <p:cNvPicPr>
            <a:picLocks noChangeAspect="1"/>
          </p:cNvPicPr>
          <p:nvPr/>
        </p:nvPicPr>
        <p:blipFill>
          <a:blip r:embed="rId3"/>
          <a:stretch>
            <a:fillRect/>
          </a:stretch>
        </p:blipFill>
        <p:spPr>
          <a:xfrm>
            <a:off x="2282869" y="2125979"/>
            <a:ext cx="228600" cy="228600"/>
          </a:xfrm>
          <a:prstGeom prst="rect">
            <a:avLst/>
          </a:prstGeom>
        </p:spPr>
      </p:pic>
      <p:sp>
        <p:nvSpPr>
          <p:cNvPr id="16" name="Oval 15"/>
          <p:cNvSpPr/>
          <p:nvPr/>
        </p:nvSpPr>
        <p:spPr>
          <a:xfrm>
            <a:off x="2214289" y="2660903"/>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2282869" y="2729484"/>
            <a:ext cx="228600" cy="228600"/>
          </a:xfrm>
          <a:prstGeom prst="rect">
            <a:avLst/>
          </a:prstGeom>
        </p:spPr>
      </p:pic>
      <p:sp>
        <p:nvSpPr>
          <p:cNvPr id="18" name="Oval 17"/>
          <p:cNvSpPr/>
          <p:nvPr/>
        </p:nvSpPr>
        <p:spPr>
          <a:xfrm>
            <a:off x="1691639" y="2962656"/>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1760219" y="3031236"/>
            <a:ext cx="228600" cy="228600"/>
          </a:xfrm>
          <a:prstGeom prst="rect">
            <a:avLst/>
          </a:prstGeom>
        </p:spPr>
      </p:pic>
      <p:sp>
        <p:nvSpPr>
          <p:cNvPr id="20" name="Oval 19"/>
          <p:cNvSpPr/>
          <p:nvPr/>
        </p:nvSpPr>
        <p:spPr>
          <a:xfrm>
            <a:off x="1168990" y="2660903"/>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eadphones-mid.png"/>
          <p:cNvPicPr>
            <a:picLocks noChangeAspect="1"/>
          </p:cNvPicPr>
          <p:nvPr/>
        </p:nvPicPr>
        <p:blipFill>
          <a:blip r:embed="rId6"/>
          <a:stretch>
            <a:fillRect/>
          </a:stretch>
        </p:blipFill>
        <p:spPr>
          <a:xfrm>
            <a:off x="1237570" y="2729484"/>
            <a:ext cx="228600" cy="228600"/>
          </a:xfrm>
          <a:prstGeom prst="rect">
            <a:avLst/>
          </a:prstGeom>
        </p:spPr>
      </p:pic>
      <p:sp>
        <p:nvSpPr>
          <p:cNvPr id="22" name="Oval 21"/>
          <p:cNvSpPr/>
          <p:nvPr/>
        </p:nvSpPr>
        <p:spPr>
          <a:xfrm>
            <a:off x="1168990" y="2057400"/>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cale-mid.png"/>
          <p:cNvPicPr>
            <a:picLocks noChangeAspect="1"/>
          </p:cNvPicPr>
          <p:nvPr/>
        </p:nvPicPr>
        <p:blipFill>
          <a:blip r:embed="rId7"/>
          <a:stretch>
            <a:fillRect/>
          </a:stretch>
        </p:blipFill>
        <p:spPr>
          <a:xfrm>
            <a:off x="1237570" y="2125980"/>
            <a:ext cx="228600" cy="228600"/>
          </a:xfrm>
          <a:prstGeom prst="rect">
            <a:avLst/>
          </a:prstGeom>
        </p:spPr>
      </p:pic>
      <p:sp>
        <p:nvSpPr>
          <p:cNvPr id="24" name="Rounded Rectangle 23"/>
          <p:cNvSpPr/>
          <p:nvPr/>
        </p:nvSpPr>
        <p:spPr>
          <a:xfrm>
            <a:off x="3063240" y="2350008"/>
            <a:ext cx="96012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6 фаз</a:t>
            </a:r>
          </a:p>
        </p:txBody>
      </p:sp>
      <p:pic>
        <p:nvPicPr>
          <p:cNvPr id="25" name="Picture 24" descr="layers-teal.png"/>
          <p:cNvPicPr>
            <a:picLocks noChangeAspect="1"/>
          </p:cNvPicPr>
          <p:nvPr/>
        </p:nvPicPr>
        <p:blipFill>
          <a:blip r:embed="rId8"/>
          <a:stretch>
            <a:fillRect/>
          </a:stretch>
        </p:blipFill>
        <p:spPr>
          <a:xfrm>
            <a:off x="777240" y="3419856"/>
            <a:ext cx="402336" cy="402336"/>
          </a:xfrm>
          <a:prstGeom prst="rect">
            <a:avLst/>
          </a:prstGeom>
        </p:spPr>
      </p:pic>
      <p:sp>
        <p:nvSpPr>
          <p:cNvPr id="26" name="TextBox 25"/>
          <p:cNvSpPr txBox="1"/>
          <p:nvPr/>
        </p:nvSpPr>
        <p:spPr>
          <a:xfrm>
            <a:off x="1298448" y="3383280"/>
            <a:ext cx="4892040" cy="502920"/>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исследование → дизайн → сборка/запуск → измерение → эксплуатация → управление → снова исследование</a:t>
            </a:r>
          </a:p>
        </p:txBody>
      </p:sp>
      <p:sp>
        <p:nvSpPr>
          <p:cNvPr id="27" name="Rounded Rectangle 26"/>
          <p:cNvSpPr/>
          <p:nvPr/>
        </p:nvSpPr>
        <p:spPr>
          <a:xfrm>
            <a:off x="6446520" y="1645920"/>
            <a:ext cx="5029200" cy="1920240"/>
          </a:xfrm>
          <a:prstGeom prst="roundRect">
            <a:avLst>
              <a:gd name="adj" fmla="val 15873"/>
            </a:avLst>
          </a:prstGeom>
          <a:solidFill>
            <a:srgbClr val="FFFFFF"/>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git-branch-teal.png"/>
          <p:cNvPicPr>
            <a:picLocks noChangeAspect="1"/>
          </p:cNvPicPr>
          <p:nvPr/>
        </p:nvPicPr>
        <p:blipFill>
          <a:blip r:embed="rId9"/>
          <a:stretch>
            <a:fillRect/>
          </a:stretch>
        </p:blipFill>
        <p:spPr>
          <a:xfrm>
            <a:off x="6675120" y="1828800"/>
            <a:ext cx="420624" cy="420624"/>
          </a:xfrm>
          <a:prstGeom prst="rect">
            <a:avLst/>
          </a:prstGeom>
        </p:spPr>
      </p:pic>
      <p:sp>
        <p:nvSpPr>
          <p:cNvPr id="29" name="TextBox 28"/>
          <p:cNvSpPr txBox="1"/>
          <p:nvPr/>
        </p:nvSpPr>
        <p:spPr>
          <a:xfrm>
            <a:off x="7223760" y="1828800"/>
            <a:ext cx="4069080"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Цикл кода (Лекция 4)</a:t>
            </a:r>
          </a:p>
        </p:txBody>
      </p:sp>
      <p:sp>
        <p:nvSpPr>
          <p:cNvPr id="30" name="TextBox 29"/>
          <p:cNvSpPr txBox="1"/>
          <p:nvPr/>
        </p:nvSpPr>
        <p:spPr>
          <a:xfrm>
            <a:off x="7223760" y="2139696"/>
            <a:ext cx="406908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как надёжно писать код с ИИ</a:t>
            </a:r>
          </a:p>
        </p:txBody>
      </p:sp>
      <p:sp>
        <p:nvSpPr>
          <p:cNvPr id="31" name="TextBox 30"/>
          <p:cNvSpPr txBox="1"/>
          <p:nvPr/>
        </p:nvSpPr>
        <p:spPr>
          <a:xfrm>
            <a:off x="6675120" y="2651760"/>
            <a:ext cx="4617720" cy="731520"/>
          </a:xfrm>
          <a:prstGeom prst="rect">
            <a:avLst/>
          </a:prstGeom>
          <a:noFill/>
        </p:spPr>
        <p:txBody>
          <a:bodyPr wrap="square" lIns="0" rIns="0" tIns="0" bIns="0" anchor="t">
            <a:spAutoFit/>
          </a:bodyPr>
          <a:lstStyle/>
          <a:p>
            <a:pPr algn="l">
              <a:lnSpc>
                <a:spcPct val="120000"/>
              </a:lnSpc>
            </a:pPr>
            <a:r>
              <a:rPr sz="1300" b="0" i="1">
                <a:solidFill>
                  <a:srgbClr val="065A82"/>
                </a:solidFill>
                <a:latin typeface="DejaVu Sans"/>
              </a:rPr>
              <a:t>спека → ADR → план → PR → инцидент</a:t>
            </a:r>
          </a:p>
        </p:txBody>
      </p:sp>
      <p:sp>
        <p:nvSpPr>
          <p:cNvPr id="32" name="Rounded Rectangle 31"/>
          <p:cNvSpPr/>
          <p:nvPr/>
        </p:nvSpPr>
        <p:spPr>
          <a:xfrm>
            <a:off x="502920" y="407822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133087"/>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Чтобы пользовательская ценность состоялась — то есть продукт работал, был внедрён и кем-то выбран, — цикл кода приходится обернуть в ещё один цикл. Без внешнего цикла выходит собранное и никем не используемое: код есть, продукта нет.</a:t>
            </a:r>
          </a:p>
        </p:txBody>
      </p:sp>
      <p:sp>
        <p:nvSpPr>
          <p:cNvPr id="34" name="Rounded Rectangle 33"/>
          <p:cNvSpPr/>
          <p:nvPr/>
        </p:nvSpPr>
        <p:spPr>
          <a:xfrm>
            <a:off x="502920" y="4956048"/>
            <a:ext cx="11201400" cy="1389888"/>
          </a:xfrm>
          <a:prstGeom prst="roundRect">
            <a:avLst>
              <a:gd name="adj" fmla="val 2192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047488"/>
            <a:ext cx="10652760" cy="1207008"/>
          </a:xfrm>
          <a:prstGeom prst="rect">
            <a:avLst/>
          </a:prstGeom>
          <a:noFill/>
        </p:spPr>
        <p:txBody>
          <a:bodyPr wrap="square" lIns="0" rIns="0" tIns="0" bIns="0" anchor="ctr">
            <a:spAutoFit/>
          </a:bodyPr>
          <a:lstStyle/>
          <a:p>
            <a:pPr algn="l">
              <a:lnSpc>
                <a:spcPct val="116000"/>
              </a:lnSpc>
            </a:pPr>
            <a:r>
              <a:rPr sz="1650" b="1" i="0">
                <a:solidFill>
                  <a:srgbClr val="21295C"/>
                </a:solidFill>
                <a:latin typeface="DejaVu Sans"/>
              </a:rPr>
              <a:t>Когда ИИ сделал сборку почти бесплатной — что стало настоящим узким местом продукта, и на каждой фазе цикла: какая классическая дисциплина остаётся, что ИИ ускоряет, и где AI-first ломается?</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Три человека из разных областей нарисовали один и тот же чертёж</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r-chart-3-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136245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Деминг · статистика качества</a:t>
            </a:r>
          </a:p>
        </p:txBody>
      </p:sp>
      <p:sp>
        <p:nvSpPr>
          <p:cNvPr id="6" name="Rounded Rectangle 5"/>
          <p:cNvSpPr/>
          <p:nvPr/>
        </p:nvSpPr>
        <p:spPr>
          <a:xfrm>
            <a:off x="72237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PDCA</a:t>
            </a:r>
          </a:p>
        </p:txBody>
      </p:sp>
      <p:sp>
        <p:nvSpPr>
          <p:cNvPr id="7" name="TextBox 6"/>
          <p:cNvSpPr txBox="1"/>
          <p:nvPr/>
        </p:nvSpPr>
        <p:spPr>
          <a:xfrm>
            <a:off x="72237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планируй → делай → проверяй → корректируй</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lane-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515721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Бойд · воздушный бой</a:t>
            </a:r>
          </a:p>
        </p:txBody>
      </p:sp>
      <p:sp>
        <p:nvSpPr>
          <p:cNvPr id="11" name="Rounded Rectangle 10"/>
          <p:cNvSpPr/>
          <p:nvPr/>
        </p:nvSpPr>
        <p:spPr>
          <a:xfrm>
            <a:off x="451713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OODA</a:t>
            </a:r>
          </a:p>
        </p:txBody>
      </p:sp>
      <p:sp>
        <p:nvSpPr>
          <p:cNvPr id="12" name="TextBox 11"/>
          <p:cNvSpPr txBox="1"/>
          <p:nvPr/>
        </p:nvSpPr>
        <p:spPr>
          <a:xfrm>
            <a:off x="451713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наблюдай → ориентируйся → решай → действуй</a:t>
            </a:r>
          </a:p>
        </p:txBody>
      </p:sp>
      <p:sp>
        <p:nvSpPr>
          <p:cNvPr id="13" name="Rounded Rectangle 12"/>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mid.png"/>
          <p:cNvPicPr>
            <a:picLocks noChangeAspect="1"/>
          </p:cNvPicPr>
          <p:nvPr/>
        </p:nvPicPr>
        <p:blipFill>
          <a:blip r:embed="rId4"/>
          <a:stretch>
            <a:fillRect/>
          </a:stretch>
        </p:blipFill>
        <p:spPr>
          <a:xfrm>
            <a:off x="8311896" y="1600200"/>
            <a:ext cx="512064" cy="512064"/>
          </a:xfrm>
          <a:prstGeom prst="rect">
            <a:avLst/>
          </a:prstGeom>
        </p:spPr>
      </p:pic>
      <p:sp>
        <p:nvSpPr>
          <p:cNvPr id="15" name="TextBox 14"/>
          <p:cNvSpPr txBox="1"/>
          <p:nvPr/>
        </p:nvSpPr>
        <p:spPr>
          <a:xfrm>
            <a:off x="895197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Райс · стартапы</a:t>
            </a:r>
          </a:p>
        </p:txBody>
      </p:sp>
      <p:sp>
        <p:nvSpPr>
          <p:cNvPr id="16" name="Rounded Rectangle 15"/>
          <p:cNvSpPr/>
          <p:nvPr/>
        </p:nvSpPr>
        <p:spPr>
          <a:xfrm>
            <a:off x="831189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BML</a:t>
            </a:r>
          </a:p>
        </p:txBody>
      </p:sp>
      <p:sp>
        <p:nvSpPr>
          <p:cNvPr id="17" name="TextBox 16"/>
          <p:cNvSpPr txBox="1"/>
          <p:nvPr/>
        </p:nvSpPr>
        <p:spPr>
          <a:xfrm>
            <a:off x="831189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строй → измеряй → учись</a:t>
            </a:r>
          </a:p>
        </p:txBody>
      </p:sp>
      <p:sp>
        <p:nvSpPr>
          <p:cNvPr id="18" name="Oval 17"/>
          <p:cNvSpPr/>
          <p:nvPr/>
        </p:nvSpPr>
        <p:spPr>
          <a:xfrm>
            <a:off x="5596128" y="3611880"/>
            <a:ext cx="1005840" cy="1005840"/>
          </a:xfrm>
          <a:prstGeom prst="ellipse">
            <a:avLst/>
          </a:prstGeom>
          <a:solidFill>
            <a:srgbClr val="FDF3DC"/>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peat-gold.png"/>
          <p:cNvPicPr>
            <a:picLocks noChangeAspect="1"/>
          </p:cNvPicPr>
          <p:nvPr/>
        </p:nvPicPr>
        <p:blipFill>
          <a:blip r:embed="rId5"/>
          <a:stretch>
            <a:fillRect/>
          </a:stretch>
        </p:blipFill>
        <p:spPr>
          <a:xfrm>
            <a:off x="5779008" y="3794760"/>
            <a:ext cx="640080" cy="640080"/>
          </a:xfrm>
          <a:prstGeom prst="rect">
            <a:avLst/>
          </a:prstGeom>
        </p:spPr>
      </p:pic>
      <p:cxnSp>
        <p:nvCxnSpPr>
          <p:cNvPr id="20" name="Connector 19"/>
          <p:cNvCxnSpPr/>
          <p:nvPr/>
        </p:nvCxnSpPr>
        <p:spPr>
          <a:xfrm>
            <a:off x="2308860" y="3291839"/>
            <a:ext cx="3790188"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099048" y="3291839"/>
            <a:ext cx="457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099048" y="3291839"/>
            <a:ext cx="379933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Не сговариваясь — один и тот же чертёж: петля обратной связи как структурное свойство любой системы, которая учится в условиях неопределённости.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ИИ меняет стоимость и доверие каждой стрелки петли — но не одинаково</a:t>
            </a:r>
          </a:p>
        </p:txBody>
      </p:sp>
      <p:sp>
        <p:nvSpPr>
          <p:cNvPr id="3" name="Rounded Rectangle 2"/>
          <p:cNvSpPr/>
          <p:nvPr/>
        </p:nvSpPr>
        <p:spPr>
          <a:xfrm>
            <a:off x="502920" y="1417320"/>
            <a:ext cx="11201400" cy="82296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600200"/>
            <a:ext cx="457200" cy="457200"/>
          </a:xfrm>
          <a:prstGeom prst="rect">
            <a:avLst/>
          </a:prstGeom>
        </p:spPr>
      </p:pic>
      <p:sp>
        <p:nvSpPr>
          <p:cNvPr id="5" name="TextBox 4"/>
          <p:cNvSpPr txBox="1"/>
          <p:nvPr/>
        </p:nvSpPr>
        <p:spPr>
          <a:xfrm>
            <a:off x="1371600" y="154533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Строить</a:t>
            </a:r>
          </a:p>
        </p:txBody>
      </p:sp>
      <p:sp>
        <p:nvSpPr>
          <p:cNvPr id="6" name="TextBox 5"/>
          <p:cNvSpPr txBox="1"/>
          <p:nvPr/>
        </p:nvSpPr>
        <p:spPr>
          <a:xfrm>
            <a:off x="4709160" y="154533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почти обнулилась</a:t>
            </a:r>
          </a:p>
        </p:txBody>
      </p:sp>
      <p:sp>
        <p:nvSpPr>
          <p:cNvPr id="7" name="Rounded Rectangle 6"/>
          <p:cNvSpPr/>
          <p:nvPr/>
        </p:nvSpPr>
        <p:spPr>
          <a:xfrm>
            <a:off x="502920" y="2377440"/>
            <a:ext cx="11201400" cy="822960"/>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uler-light.png"/>
          <p:cNvPicPr>
            <a:picLocks noChangeAspect="1"/>
          </p:cNvPicPr>
          <p:nvPr/>
        </p:nvPicPr>
        <p:blipFill>
          <a:blip r:embed="rId3"/>
          <a:stretch>
            <a:fillRect/>
          </a:stretch>
        </p:blipFill>
        <p:spPr>
          <a:xfrm>
            <a:off x="731520" y="2560320"/>
            <a:ext cx="457200" cy="457200"/>
          </a:xfrm>
          <a:prstGeom prst="rect">
            <a:avLst/>
          </a:prstGeom>
        </p:spPr>
      </p:pic>
      <p:sp>
        <p:nvSpPr>
          <p:cNvPr id="9" name="TextBox 8"/>
          <p:cNvSpPr txBox="1"/>
          <p:nvPr/>
        </p:nvSpPr>
        <p:spPr>
          <a:xfrm>
            <a:off x="1371600" y="250545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Измерять / учиться</a:t>
            </a:r>
          </a:p>
        </p:txBody>
      </p:sp>
      <p:sp>
        <p:nvSpPr>
          <p:cNvPr id="10" name="TextBox 9"/>
          <p:cNvSpPr txBox="1"/>
          <p:nvPr/>
        </p:nvSpPr>
        <p:spPr>
          <a:xfrm>
            <a:off x="4709160" y="250545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та же, доверие упало</a:t>
            </a:r>
          </a:p>
        </p:txBody>
      </p:sp>
      <p:sp>
        <p:nvSpPr>
          <p:cNvPr id="11" name="Rounded Rectangle 10"/>
          <p:cNvSpPr/>
          <p:nvPr/>
        </p:nvSpPr>
        <p:spPr>
          <a:xfrm>
            <a:off x="502920" y="3337560"/>
            <a:ext cx="11201400" cy="822960"/>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teal.png"/>
          <p:cNvPicPr>
            <a:picLocks noChangeAspect="1"/>
          </p:cNvPicPr>
          <p:nvPr/>
        </p:nvPicPr>
        <p:blipFill>
          <a:blip r:embed="rId4"/>
          <a:stretch>
            <a:fillRect/>
          </a:stretch>
        </p:blipFill>
        <p:spPr>
          <a:xfrm>
            <a:off x="731520" y="3520440"/>
            <a:ext cx="457200" cy="457200"/>
          </a:xfrm>
          <a:prstGeom prst="rect">
            <a:avLst/>
          </a:prstGeom>
        </p:spPr>
      </p:pic>
      <p:sp>
        <p:nvSpPr>
          <p:cNvPr id="13" name="TextBox 12"/>
          <p:cNvSpPr txBox="1"/>
          <p:nvPr/>
        </p:nvSpPr>
        <p:spPr>
          <a:xfrm>
            <a:off x="1371600" y="346557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Исследовать</a:t>
            </a:r>
          </a:p>
        </p:txBody>
      </p:sp>
      <p:sp>
        <p:nvSpPr>
          <p:cNvPr id="14" name="TextBox 13"/>
          <p:cNvSpPr txBox="1"/>
          <p:nvPr/>
        </p:nvSpPr>
        <p:spPr>
          <a:xfrm>
            <a:off x="4709160" y="346557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быстрее, но уязвимее к атаке</a:t>
            </a:r>
          </a:p>
        </p:txBody>
      </p:sp>
      <p:sp>
        <p:nvSpPr>
          <p:cNvPr id="15" name="Rounded Rectangle 14"/>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Мета-паттерн, повторяется в каждом из 6 разделов: у каждой стрелки есть классическая дисциплина — ИИ её не отменяет, а меняет её стоимость и требуемую степень проверки.</a:t>
            </a:r>
          </a:p>
        </p:txBody>
      </p:sp>
      <p:sp>
        <p:nvSpPr>
          <p:cNvPr id="17" name="Rounded Rectangle 16"/>
          <p:cNvSpPr/>
          <p:nvPr/>
        </p:nvSpPr>
        <p:spPr>
          <a:xfrm>
            <a:off x="502920" y="5440680"/>
            <a:ext cx="11201400" cy="68580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59552"/>
            <a:ext cx="10652760" cy="502920"/>
          </a:xfrm>
          <a:prstGeom prst="rect">
            <a:avLst/>
          </a:prstGeom>
          <a:noFill/>
        </p:spPr>
        <p:txBody>
          <a:bodyPr wrap="square" lIns="0" rIns="0" tIns="0" bIns="0" anchor="ctr">
            <a:spAutoFit/>
          </a:bodyPr>
          <a:lstStyle/>
          <a:p>
            <a:pPr algn="l">
              <a:lnSpc>
                <a:spcPct val="115000"/>
              </a:lnSpc>
            </a:pPr>
            <a:r>
              <a:rPr sz="1250" b="0" i="1">
                <a:solidFill>
                  <a:srgbClr val="5B6678"/>
                </a:solidFill>
                <a:latin typeface="DejaVu Sans"/>
              </a:rPr>
              <a:t>Подумайте: на какой стрелке вашей последней задачи скорость обогнала ваше реальное доверие к результату?</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намерение и гипотеза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Откуда вообще берётся гипотеза о том, что строить. У большинства есть неформальный опыт «спросить у друзей» — и почти никто не сталкивался с формальной дисциплиной, объясняющей, почему этот опыт систематически лжёт.</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«Внутри офиса нет фактов» — 4 шага, каждый заканчивается решением</a:t>
            </a:r>
          </a:p>
        </p:txBody>
      </p:sp>
      <p:sp>
        <p:nvSpPr>
          <p:cNvPr id="3" name="Rounded Rectangle 2"/>
          <p:cNvSpPr/>
          <p:nvPr/>
        </p:nvSpPr>
        <p:spPr>
          <a:xfrm>
            <a:off x="5029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1</a:t>
            </a:r>
          </a:p>
        </p:txBody>
      </p:sp>
      <p:sp>
        <p:nvSpPr>
          <p:cNvPr id="5" name="TextBox 4"/>
          <p:cNvSpPr txBox="1"/>
          <p:nvPr/>
        </p:nvSpPr>
        <p:spPr>
          <a:xfrm>
            <a:off x="5577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Исследование</a:t>
            </a:r>
          </a:p>
        </p:txBody>
      </p:sp>
      <p:sp>
        <p:nvSpPr>
          <p:cNvPr id="6" name="TextBox 5"/>
          <p:cNvSpPr txBox="1"/>
          <p:nvPr/>
        </p:nvSpPr>
        <p:spPr>
          <a:xfrm>
            <a:off x="5943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discovery</a:t>
            </a:r>
          </a:p>
        </p:txBody>
      </p:sp>
      <p:pic>
        <p:nvPicPr>
          <p:cNvPr id="7" name="Picture 6" descr="diamond-gold.png"/>
          <p:cNvPicPr>
            <a:picLocks noChangeAspect="1"/>
          </p:cNvPicPr>
          <p:nvPr/>
        </p:nvPicPr>
        <p:blipFill>
          <a:blip r:embed="rId2"/>
          <a:stretch>
            <a:fillRect/>
          </a:stretch>
        </p:blipFill>
        <p:spPr>
          <a:xfrm>
            <a:off x="1600200" y="2624328"/>
            <a:ext cx="292608" cy="292608"/>
          </a:xfrm>
          <a:prstGeom prst="rect">
            <a:avLst/>
          </a:prstGeom>
        </p:spPr>
      </p:pic>
      <p:sp>
        <p:nvSpPr>
          <p:cNvPr id="8" name="Right Arrow 7"/>
          <p:cNvSpPr/>
          <p:nvPr/>
        </p:nvSpPr>
        <p:spPr>
          <a:xfrm>
            <a:off x="30083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461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375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2</a:t>
            </a:r>
          </a:p>
        </p:txBody>
      </p:sp>
      <p:sp>
        <p:nvSpPr>
          <p:cNvPr id="11" name="TextBox 10"/>
          <p:cNvSpPr txBox="1"/>
          <p:nvPr/>
        </p:nvSpPr>
        <p:spPr>
          <a:xfrm>
            <a:off x="33009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Проверка</a:t>
            </a:r>
          </a:p>
        </p:txBody>
      </p:sp>
      <p:sp>
        <p:nvSpPr>
          <p:cNvPr id="12" name="TextBox 11"/>
          <p:cNvSpPr txBox="1"/>
          <p:nvPr/>
        </p:nvSpPr>
        <p:spPr>
          <a:xfrm>
            <a:off x="33375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validation</a:t>
            </a:r>
          </a:p>
        </p:txBody>
      </p:sp>
      <p:pic>
        <p:nvPicPr>
          <p:cNvPr id="13" name="Picture 12" descr="diamond-gold.png"/>
          <p:cNvPicPr>
            <a:picLocks noChangeAspect="1"/>
          </p:cNvPicPr>
          <p:nvPr/>
        </p:nvPicPr>
        <p:blipFill>
          <a:blip r:embed="rId2"/>
          <a:stretch>
            <a:fillRect/>
          </a:stretch>
        </p:blipFill>
        <p:spPr>
          <a:xfrm>
            <a:off x="4343400" y="2624328"/>
            <a:ext cx="292608" cy="292608"/>
          </a:xfrm>
          <a:prstGeom prst="rect">
            <a:avLst/>
          </a:prstGeom>
        </p:spPr>
      </p:pic>
      <p:sp>
        <p:nvSpPr>
          <p:cNvPr id="14" name="Right Arrow 13"/>
          <p:cNvSpPr/>
          <p:nvPr/>
        </p:nvSpPr>
        <p:spPr>
          <a:xfrm>
            <a:off x="5751575"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893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59"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3</a:t>
            </a:r>
          </a:p>
        </p:txBody>
      </p:sp>
      <p:sp>
        <p:nvSpPr>
          <p:cNvPr id="17" name="TextBox 16"/>
          <p:cNvSpPr txBox="1"/>
          <p:nvPr/>
        </p:nvSpPr>
        <p:spPr>
          <a:xfrm>
            <a:off x="6044183"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Создание спроса</a:t>
            </a:r>
          </a:p>
        </p:txBody>
      </p:sp>
      <p:sp>
        <p:nvSpPr>
          <p:cNvPr id="18" name="TextBox 17"/>
          <p:cNvSpPr txBox="1"/>
          <p:nvPr/>
        </p:nvSpPr>
        <p:spPr>
          <a:xfrm>
            <a:off x="6080759"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creation</a:t>
            </a:r>
          </a:p>
        </p:txBody>
      </p:sp>
      <p:pic>
        <p:nvPicPr>
          <p:cNvPr id="19" name="Picture 18" descr="diamond-gold.png"/>
          <p:cNvPicPr>
            <a:picLocks noChangeAspect="1"/>
          </p:cNvPicPr>
          <p:nvPr/>
        </p:nvPicPr>
        <p:blipFill>
          <a:blip r:embed="rId2"/>
          <a:stretch>
            <a:fillRect/>
          </a:stretch>
        </p:blipFill>
        <p:spPr>
          <a:xfrm>
            <a:off x="7086600" y="2624328"/>
            <a:ext cx="292608" cy="292608"/>
          </a:xfrm>
          <a:prstGeom prst="rect">
            <a:avLst/>
          </a:prstGeom>
        </p:spPr>
      </p:pic>
      <p:sp>
        <p:nvSpPr>
          <p:cNvPr id="20" name="Right Arrow 19"/>
          <p:cNvSpPr/>
          <p:nvPr/>
        </p:nvSpPr>
        <p:spPr>
          <a:xfrm>
            <a:off x="84947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325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4</a:t>
            </a:r>
          </a:p>
        </p:txBody>
      </p:sp>
      <p:sp>
        <p:nvSpPr>
          <p:cNvPr id="23" name="TextBox 22"/>
          <p:cNvSpPr txBox="1"/>
          <p:nvPr/>
        </p:nvSpPr>
        <p:spPr>
          <a:xfrm>
            <a:off x="87873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Масштаб</a:t>
            </a:r>
          </a:p>
        </p:txBody>
      </p:sp>
      <p:sp>
        <p:nvSpPr>
          <p:cNvPr id="24" name="TextBox 23"/>
          <p:cNvSpPr txBox="1"/>
          <p:nvPr/>
        </p:nvSpPr>
        <p:spPr>
          <a:xfrm>
            <a:off x="88239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building</a:t>
            </a:r>
          </a:p>
        </p:txBody>
      </p:sp>
      <p:pic>
        <p:nvPicPr>
          <p:cNvPr id="25" name="Picture 24" descr="diamond-gold.png"/>
          <p:cNvPicPr>
            <a:picLocks noChangeAspect="1"/>
          </p:cNvPicPr>
          <p:nvPr/>
        </p:nvPicPr>
        <p:blipFill>
          <a:blip r:embed="rId2"/>
          <a:stretch>
            <a:fillRect/>
          </a:stretch>
        </p:blipFill>
        <p:spPr>
          <a:xfrm>
            <a:off x="9829800" y="2624328"/>
            <a:ext cx="292608" cy="292608"/>
          </a:xfrm>
          <a:prstGeom prst="rect">
            <a:avLst/>
          </a:prstGeom>
        </p:spPr>
      </p:pic>
      <p:sp>
        <p:nvSpPr>
          <p:cNvPr id="26" name="TextBox 25"/>
          <p:cNvSpPr txBox="1"/>
          <p:nvPr/>
        </p:nvSpPr>
        <p:spPr>
          <a:xfrm>
            <a:off x="502920" y="3017520"/>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Стив Бланк — методология Customer Development </a:t>
            </a:r>
            <a:r>
              <a:rPr sz="650" baseline="30000" b="0" i="1">
                <a:latin typeface="DejaVu Sans"/>
                <a:cs typeface="DejaVu Sans"/>
                <a:ea typeface="DejaVu Sans"/>
                <a:solidFill>
                  <a:srgbClr val="1C7293"/>
                </a:solidFill>
              </a:rPr>
              <a:t>[1]</a:t>
            </a:r>
          </a:p>
        </p:txBody>
      </p:sp>
      <p:sp>
        <p:nvSpPr>
          <p:cNvPr id="27" name="Rounded Rectangle 26"/>
          <p:cNvSpPr/>
          <p:nvPr/>
        </p:nvSpPr>
        <p:spPr>
          <a:xfrm>
            <a:off x="1417320" y="356616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oute-gold.png"/>
          <p:cNvPicPr>
            <a:picLocks noChangeAspect="1"/>
          </p:cNvPicPr>
          <p:nvPr/>
        </p:nvPicPr>
        <p:blipFill>
          <a:blip r:embed="rId3"/>
          <a:stretch>
            <a:fillRect/>
          </a:stretch>
        </p:blipFill>
        <p:spPr>
          <a:xfrm>
            <a:off x="1645920" y="3749039"/>
            <a:ext cx="457200" cy="457200"/>
          </a:xfrm>
          <a:prstGeom prst="rect">
            <a:avLst/>
          </a:prstGeom>
        </p:spPr>
      </p:pic>
      <p:sp>
        <p:nvSpPr>
          <p:cNvPr id="29" name="TextBox 28"/>
          <p:cNvSpPr txBox="1"/>
          <p:nvPr/>
        </p:nvSpPr>
        <p:spPr>
          <a:xfrm>
            <a:off x="2240280" y="3730752"/>
            <a:ext cx="8321040" cy="96012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Фальсифицируемая гипотеза</a:t>
            </a:r>
          </a:p>
          <a:p>
            <a:pPr algn="l">
              <a:lnSpc>
                <a:spcPct val="115000"/>
              </a:lnSpc>
              <a:spcBef>
                <a:spcPts val="600"/>
              </a:spcBef>
            </a:pPr>
            <a:r>
              <a:rPr sz="1300" b="0" i="0">
                <a:solidFill>
                  <a:srgbClr val="21295C"/>
                </a:solidFill>
                <a:latin typeface="DejaVu Sans"/>
              </a:rPr>
              <a:t>мы верим X → проверим через Y → к дате Z получим ответ да/нет</a:t>
            </a:r>
          </a:p>
        </p:txBody>
      </p:sp>
      <p:sp>
        <p:nvSpPr>
          <p:cNvPr id="30" name="Rounded Rectangle 29"/>
          <p:cNvSpPr/>
          <p:nvPr/>
        </p:nvSpPr>
        <p:spPr>
          <a:xfrm>
            <a:off x="502920" y="507492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2978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BML — двигатель; Customer Development — карта местности, по которой двигатель едет. Сначала понять, что проверяем и у кого — потом, как быстро крутить цикл.</a:t>
            </a:r>
          </a:p>
        </p:txBody>
      </p:sp>
      <p:sp>
        <p:nvSpPr>
          <p:cNvPr id="32" name="TextBox 3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Blank — Customer Development (Four Steps to the Epiphany)</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Часы → минуты: но ссылки существуют, чтобы их проверяли</a:t>
            </a:r>
          </a:p>
        </p:txBody>
      </p:sp>
      <p:sp>
        <p:nvSpPr>
          <p:cNvPr id="3" name="Rounded Rectangle 2"/>
          <p:cNvSpPr/>
          <p:nvPr/>
        </p:nvSpPr>
        <p:spPr>
          <a:xfrm>
            <a:off x="50292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search-mid.png"/>
          <p:cNvPicPr>
            <a:picLocks noChangeAspect="1"/>
          </p:cNvPicPr>
          <p:nvPr/>
        </p:nvPicPr>
        <p:blipFill>
          <a:blip r:embed="rId2"/>
          <a:stretch>
            <a:fillRect/>
          </a:stretch>
        </p:blipFill>
        <p:spPr>
          <a:xfrm>
            <a:off x="722376" y="1517904"/>
            <a:ext cx="475488" cy="475488"/>
          </a:xfrm>
          <a:prstGeom prst="rect">
            <a:avLst/>
          </a:prstGeom>
        </p:spPr>
      </p:pic>
      <p:sp>
        <p:nvSpPr>
          <p:cNvPr id="5" name="TextBox 4"/>
          <p:cNvSpPr txBox="1"/>
          <p:nvPr/>
        </p:nvSpPr>
        <p:spPr>
          <a:xfrm>
            <a:off x="72237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Desk research (кабинетное исследование)</a:t>
            </a:r>
          </a:p>
        </p:txBody>
      </p:sp>
      <p:sp>
        <p:nvSpPr>
          <p:cNvPr id="6" name="TextBox 5"/>
          <p:cNvSpPr txBox="1"/>
          <p:nvPr/>
        </p:nvSpPr>
        <p:spPr>
          <a:xfrm>
            <a:off x="72237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Perplexity Deep Research: 2 часа → ~30 минут </a:t>
            </a:r>
            <a:r>
              <a:rPr sz="572" baseline="30000" b="0" i="1">
                <a:latin typeface="DejaVu Sans"/>
                <a:cs typeface="DejaVu Sans"/>
                <a:ea typeface="DejaVu Sans"/>
                <a:solidFill>
                  <a:srgbClr val="1C7293"/>
                </a:solidFill>
              </a:rPr>
              <a:t>[1]</a:t>
            </a:r>
          </a:p>
        </p:txBody>
      </p:sp>
      <p:sp>
        <p:nvSpPr>
          <p:cNvPr id="7" name="Rounded Rectangle 6"/>
          <p:cNvSpPr/>
          <p:nvPr/>
        </p:nvSpPr>
        <p:spPr>
          <a:xfrm>
            <a:off x="2697480" y="1517904"/>
            <a:ext cx="118872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00" b="1">
                <a:solidFill>
                  <a:srgbClr val="21295C"/>
                </a:solidFill>
                <a:latin typeface="DejaVu Sans"/>
              </a:rPr>
              <a:t>проверь источник</a:t>
            </a:r>
          </a:p>
        </p:txBody>
      </p:sp>
      <p:sp>
        <p:nvSpPr>
          <p:cNvPr id="8" name="Rounded Rectangle 7"/>
          <p:cNvSpPr/>
          <p:nvPr/>
        </p:nvSpPr>
        <p:spPr>
          <a:xfrm>
            <a:off x="429768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out-list-mid.png"/>
          <p:cNvPicPr>
            <a:picLocks noChangeAspect="1"/>
          </p:cNvPicPr>
          <p:nvPr/>
        </p:nvPicPr>
        <p:blipFill>
          <a:blip r:embed="rId3"/>
          <a:stretch>
            <a:fillRect/>
          </a:stretch>
        </p:blipFill>
        <p:spPr>
          <a:xfrm>
            <a:off x="4517136" y="1517904"/>
            <a:ext cx="475488" cy="475488"/>
          </a:xfrm>
          <a:prstGeom prst="rect">
            <a:avLst/>
          </a:prstGeom>
        </p:spPr>
      </p:pic>
      <p:sp>
        <p:nvSpPr>
          <p:cNvPr id="10" name="TextBox 9"/>
          <p:cNvSpPr txBox="1"/>
          <p:nvPr/>
        </p:nvSpPr>
        <p:spPr>
          <a:xfrm>
            <a:off x="451713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Синтез интервью</a:t>
            </a:r>
          </a:p>
        </p:txBody>
      </p:sp>
      <p:sp>
        <p:nvSpPr>
          <p:cNvPr id="11" name="TextBox 10"/>
          <p:cNvSpPr txBox="1"/>
          <p:nvPr/>
        </p:nvSpPr>
        <p:spPr>
          <a:xfrm>
            <a:off x="451713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Dovetail — кластеризация болей в масштабе </a:t>
            </a:r>
            <a:r>
              <a:rPr sz="572" baseline="30000" b="0" i="1">
                <a:latin typeface="DejaVu Sans"/>
                <a:cs typeface="DejaVu Sans"/>
                <a:ea typeface="DejaVu Sans"/>
                <a:solidFill>
                  <a:srgbClr val="1C7293"/>
                </a:solidFill>
              </a:rPr>
              <a:t>[2]</a:t>
            </a:r>
          </a:p>
        </p:txBody>
      </p:sp>
      <p:sp>
        <p:nvSpPr>
          <p:cNvPr id="12" name="Rounded Rectangle 11"/>
          <p:cNvSpPr/>
          <p:nvPr/>
        </p:nvSpPr>
        <p:spPr>
          <a:xfrm>
            <a:off x="809244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tabase-mid.png"/>
          <p:cNvPicPr>
            <a:picLocks noChangeAspect="1"/>
          </p:cNvPicPr>
          <p:nvPr/>
        </p:nvPicPr>
        <p:blipFill>
          <a:blip r:embed="rId4"/>
          <a:stretch>
            <a:fillRect/>
          </a:stretch>
        </p:blipFill>
        <p:spPr>
          <a:xfrm>
            <a:off x="8311896" y="1517904"/>
            <a:ext cx="475488" cy="475488"/>
          </a:xfrm>
          <a:prstGeom prst="rect">
            <a:avLst/>
          </a:prstGeom>
        </p:spPr>
      </p:pic>
      <p:sp>
        <p:nvSpPr>
          <p:cNvPr id="14" name="TextBox 13"/>
          <p:cNvSpPr txBox="1"/>
          <p:nvPr/>
        </p:nvSpPr>
        <p:spPr>
          <a:xfrm>
            <a:off x="831189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Reference dataset (эталонный набор)</a:t>
            </a:r>
          </a:p>
        </p:txBody>
      </p:sp>
      <p:sp>
        <p:nvSpPr>
          <p:cNvPr id="15" name="TextBox 14"/>
          <p:cNvSpPr txBox="1"/>
          <p:nvPr/>
        </p:nvSpPr>
        <p:spPr>
          <a:xfrm>
            <a:off x="831189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курируемая коллекция «запрос → правильный ответ»</a:t>
            </a:r>
          </a:p>
        </p:txBody>
      </p:sp>
      <p:sp>
        <p:nvSpPr>
          <p:cNvPr id="16" name="Rounded Rectangle 15"/>
          <p:cNvSpPr/>
          <p:nvPr/>
        </p:nvSpPr>
        <p:spPr>
          <a:xfrm>
            <a:off x="502920" y="3310128"/>
            <a:ext cx="1120140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364992"/>
            <a:ext cx="10762488" cy="530352"/>
          </a:xfrm>
          <a:prstGeom prst="rect">
            <a:avLst/>
          </a:prstGeom>
          <a:noFill/>
        </p:spPr>
        <p:txBody>
          <a:bodyPr wrap="square" lIns="0" rIns="0" tIns="0" bIns="0" anchor="ctr">
            <a:spAutoFit/>
          </a:bodyPr>
          <a:lstStyle/>
          <a:p>
            <a:pPr algn="ctr">
              <a:lnSpc>
                <a:spcPct val="120000"/>
              </a:lnSpc>
            </a:pPr>
            <a:r>
              <a:rPr sz="1450" b="1" i="0">
                <a:solidFill>
                  <a:srgbClr val="21295C"/>
                </a:solidFill>
                <a:latin typeface="DejaVu Sans"/>
              </a:rPr>
              <a:t>97% исследователей используют ИИ — лишь ~8% доверяют ИИ-персонам как данным </a:t>
            </a:r>
            <a:r>
              <a:rPr sz="754" baseline="30000" b="0" i="1">
                <a:latin typeface="DejaVu Sans"/>
                <a:cs typeface="DejaVu Sans"/>
                <a:ea typeface="DejaVu Sans"/>
                <a:solidFill>
                  <a:srgbClr val="1C7293"/>
                </a:solidFill>
              </a:rPr>
              <a:t>[3]</a:t>
            </a:r>
          </a:p>
        </p:txBody>
      </p:sp>
      <p:sp>
        <p:nvSpPr>
          <p:cNvPr id="18" name="Rounded Rectangle 17"/>
          <p:cNvSpPr/>
          <p:nvPr/>
        </p:nvSpPr>
        <p:spPr>
          <a:xfrm>
            <a:off x="502920" y="4078224"/>
            <a:ext cx="11201400" cy="117043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169663"/>
            <a:ext cx="10652760" cy="987552"/>
          </a:xfrm>
          <a:prstGeom prst="rect">
            <a:avLst/>
          </a:prstGeom>
          <a:noFill/>
        </p:spPr>
        <p:txBody>
          <a:bodyPr wrap="square" lIns="0" rIns="0" tIns="0" bIns="0" anchor="ctr">
            <a:spAutoFit/>
          </a:bodyPr>
          <a:lstStyle/>
          <a:p>
            <a:pPr algn="l">
              <a:lnSpc>
                <a:spcPct val="115000"/>
              </a:lnSpc>
            </a:pPr>
            <a:r>
              <a:rPr sz="1250" b="0" i="0">
                <a:solidFill>
                  <a:srgbClr val="21295C"/>
                </a:solidFill>
                <a:latin typeface="DejaVu Sans"/>
              </a:rPr>
              <a:t>Обязательная практика: проверять важные данные напрямую по источнику до использования в решении. Синтетические пользователи — только пре-исследование (пилотаж гайда, черновик персон, генерация гипотез), никогда не доказательство для решения «продолжать/остановить».</a:t>
            </a:r>
          </a:p>
        </p:txBody>
      </p:sp>
      <p:sp>
        <p:nvSpPr>
          <p:cNvPr id="20" name="Rounded Rectangle 19"/>
          <p:cNvSpPr/>
          <p:nvPr/>
        </p:nvSpPr>
        <p:spPr>
          <a:xfrm>
            <a:off x="502920" y="5394960"/>
            <a:ext cx="11201400" cy="804672"/>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5800" y="5596128"/>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help-white.png"/>
          <p:cNvPicPr>
            <a:picLocks noChangeAspect="1"/>
          </p:cNvPicPr>
          <p:nvPr/>
        </p:nvPicPr>
        <p:blipFill>
          <a:blip r:embed="rId5"/>
          <a:stretch>
            <a:fillRect/>
          </a:stretch>
        </p:blipFill>
        <p:spPr>
          <a:xfrm>
            <a:off x="763524" y="5673852"/>
            <a:ext cx="246888" cy="246888"/>
          </a:xfrm>
          <a:prstGeom prst="rect">
            <a:avLst/>
          </a:prstGeom>
        </p:spPr>
      </p:pic>
      <p:sp>
        <p:nvSpPr>
          <p:cNvPr id="23" name="TextBox 22"/>
          <p:cNvSpPr txBox="1"/>
          <p:nvPr/>
        </p:nvSpPr>
        <p:spPr>
          <a:xfrm>
            <a:off x="1252728" y="5440680"/>
            <a:ext cx="10241280" cy="713232"/>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ИИ-персона прошла ваш сценарий знакомства с продуктом целиком и назвала функцию отличной. Что в устройстве такого источника мешает ему сказать «нет»?</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Perplexity Deep Research — обзор для продукт-исследований</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Dovetail — AI-синтез интервью</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NN/g — практический опрос 2026</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10667"/>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Панель субагентов правит гайд интервью — и ничего не говорит о продукте</a:t>
            </a:r>
          </a:p>
        </p:txBody>
      </p:sp>
      <p:sp>
        <p:nvSpPr>
          <p:cNvPr id="3" name="Rounded Rectangle 2"/>
          <p:cNvSpPr/>
          <p:nvPr/>
        </p:nvSpPr>
        <p:spPr>
          <a:xfrm>
            <a:off x="502920" y="520979"/>
            <a:ext cx="1152144" cy="167335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20979"/>
            <a:ext cx="1060704" cy="167335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20979"/>
            <a:ext cx="9902952" cy="1673352"/>
          </a:xfrm>
          <a:prstGeom prst="roundRect">
            <a:avLst>
              <a:gd name="adj" fmla="val 1821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84248" y="62613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84248" y="62613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8" name="TextBox 7"/>
          <p:cNvSpPr txBox="1"/>
          <p:nvPr/>
        </p:nvSpPr>
        <p:spPr>
          <a:xfrm>
            <a:off x="2295144" y="612419"/>
            <a:ext cx="9226296" cy="357741"/>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Персона — </a:t>
            </a:r>
            <a:r>
              <a:rPr sz="980" b="1" i="0">
                <a:solidFill>
                  <a:srgbClr val="065A82"/>
                </a:solidFill>
                <a:latin typeface="DejaVu Sans"/>
              </a:rPr>
              <a:t>отдельный файл-агент со своим контекстным окном</a:t>
            </a:r>
            <a:r>
              <a:rPr sz="980" b="0" i="0">
                <a:solidFill>
                  <a:srgbClr val="21295C"/>
                </a:solidFill>
                <a:latin typeface="DejaVu Sans"/>
              </a:rPr>
              <a:t>, а не абзац внутри общего диалога: субагенты не видят ответов друг друга и не сходятся незаметно к одному голосу.</a:t>
            </a:r>
          </a:p>
        </p:txBody>
      </p:sp>
      <p:sp>
        <p:nvSpPr>
          <p:cNvPr id="9" name="Oval 8"/>
          <p:cNvSpPr/>
          <p:nvPr/>
        </p:nvSpPr>
        <p:spPr>
          <a:xfrm>
            <a:off x="1984248" y="104788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04788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1" name="TextBox 10"/>
          <p:cNvSpPr txBox="1"/>
          <p:nvPr/>
        </p:nvSpPr>
        <p:spPr>
          <a:xfrm>
            <a:off x="2295144" y="1034168"/>
            <a:ext cx="9226296" cy="357741"/>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Профиль пишется в формате JTBD — работы, ради которой продукт нанимают: что делал перед тем, как начал искать решение; чем пользуется сейчас; во что обходится в часах и деньгах; что попробовал и бросил. Не «Анна, 34, любит удобные интерфейсы».</a:t>
            </a:r>
          </a:p>
        </p:txBody>
      </p:sp>
      <p:sp>
        <p:nvSpPr>
          <p:cNvPr id="12" name="Oval 11"/>
          <p:cNvSpPr/>
          <p:nvPr/>
        </p:nvSpPr>
        <p:spPr>
          <a:xfrm>
            <a:off x="1984248" y="146963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84248" y="146963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4" name="TextBox 13"/>
          <p:cNvSpPr txBox="1"/>
          <p:nvPr/>
        </p:nvSpPr>
        <p:spPr>
          <a:xfrm>
            <a:off x="2295144" y="1455917"/>
            <a:ext cx="9226296" cy="20173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Один и тот же гайд прогоняется через всех персон.</a:t>
            </a:r>
          </a:p>
        </p:txBody>
      </p:sp>
      <p:sp>
        <p:nvSpPr>
          <p:cNvPr id="15" name="Oval 14"/>
          <p:cNvSpPr/>
          <p:nvPr/>
        </p:nvSpPr>
        <p:spPr>
          <a:xfrm>
            <a:off x="1984248" y="173537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984248" y="173537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17" name="TextBox 16"/>
          <p:cNvSpPr txBox="1"/>
          <p:nvPr/>
        </p:nvSpPr>
        <p:spPr>
          <a:xfrm>
            <a:off x="2295144" y="1721656"/>
            <a:ext cx="9226296" cy="357741"/>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Смотрят на </a:t>
            </a:r>
            <a:r>
              <a:rPr sz="980" b="1" i="0">
                <a:solidFill>
                  <a:srgbClr val="065A82"/>
                </a:solidFill>
                <a:latin typeface="DejaVu Sans"/>
              </a:rPr>
              <a:t>две производные</a:t>
            </a:r>
            <a:r>
              <a:rPr sz="980" b="0" i="0">
                <a:solidFill>
                  <a:srgbClr val="21295C"/>
                </a:solidFill>
                <a:latin typeface="DejaVu Sans"/>
              </a:rPr>
              <a:t>, а не на содержание ответов: вопрос с одинаковым ответом у всех ничего не различает — переписать; ответ гипотетическим будущим («я бы этим пользовался») нарушает правило спрашивать о конкретном прошлом — переписать.</a:t>
            </a:r>
          </a:p>
        </p:txBody>
      </p:sp>
      <p:sp>
        <p:nvSpPr>
          <p:cNvPr id="18" name="Rounded Rectangle 17"/>
          <p:cNvSpPr/>
          <p:nvPr/>
        </p:nvSpPr>
        <p:spPr>
          <a:xfrm>
            <a:off x="502920" y="2258339"/>
            <a:ext cx="1152144" cy="134416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258339"/>
            <a:ext cx="1060704" cy="134416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0" name="Rounded Rectangle 19"/>
          <p:cNvSpPr/>
          <p:nvPr/>
        </p:nvSpPr>
        <p:spPr>
          <a:xfrm>
            <a:off x="1801368" y="2258339"/>
            <a:ext cx="9902952" cy="134416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984248" y="2349779"/>
            <a:ext cx="4526280" cy="1161288"/>
          </a:xfrm>
          <a:prstGeom prst="roundRect">
            <a:avLst>
              <a:gd name="adj" fmla="val 15310"/>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03120" y="2468651"/>
            <a:ext cx="4288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research/</a:t>
            </a:r>
          </a:p>
        </p:txBody>
      </p:sp>
      <p:sp>
        <p:nvSpPr>
          <p:cNvPr id="23" name="TextBox 22"/>
          <p:cNvSpPr txBox="1"/>
          <p:nvPr/>
        </p:nvSpPr>
        <p:spPr>
          <a:xfrm>
            <a:off x="2103120" y="2622270"/>
            <a:ext cx="4288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personas/            </a:t>
            </a:r>
            <a:r>
              <a:rPr sz="850" b="0" i="0">
                <a:solidFill>
                  <a:srgbClr val="5B6678"/>
                </a:solidFill>
                <a:latin typeface="DejaVu Sans Mono"/>
              </a:rPr>
              <a:t># файл на персону,</a:t>
            </a:r>
          </a:p>
        </p:txBody>
      </p:sp>
      <p:sp>
        <p:nvSpPr>
          <p:cNvPr id="24" name="TextBox 23"/>
          <p:cNvSpPr txBox="1"/>
          <p:nvPr/>
        </p:nvSpPr>
        <p:spPr>
          <a:xfrm>
            <a:off x="2103120" y="2775889"/>
            <a:ext cx="4288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b2b-ops-lead.md    </a:t>
            </a:r>
            <a:r>
              <a:rPr sz="850" b="0" i="0">
                <a:solidFill>
                  <a:srgbClr val="5B6678"/>
                </a:solidFill>
                <a:latin typeface="DejaVu Sans Mono"/>
              </a:rPr>
              <a:t># версионируется</a:t>
            </a:r>
          </a:p>
        </p:txBody>
      </p:sp>
      <p:sp>
        <p:nvSpPr>
          <p:cNvPr id="25" name="TextBox 24"/>
          <p:cNvSpPr txBox="1"/>
          <p:nvPr/>
        </p:nvSpPr>
        <p:spPr>
          <a:xfrm>
            <a:off x="2103120" y="2929509"/>
            <a:ext cx="4288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solo-founder.md</a:t>
            </a:r>
          </a:p>
        </p:txBody>
      </p:sp>
      <p:sp>
        <p:nvSpPr>
          <p:cNvPr id="26" name="TextBox 25"/>
          <p:cNvSpPr txBox="1"/>
          <p:nvPr/>
        </p:nvSpPr>
        <p:spPr>
          <a:xfrm>
            <a:off x="2103120" y="3083128"/>
            <a:ext cx="4288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guide.md             </a:t>
            </a:r>
            <a:r>
              <a:rPr sz="850" b="0" i="0">
                <a:solidFill>
                  <a:srgbClr val="5B6678"/>
                </a:solidFill>
                <a:latin typeface="DejaVu Sans Mono"/>
              </a:rPr>
              <a:t># v1 → v2; в диффе видно,</a:t>
            </a:r>
          </a:p>
        </p:txBody>
      </p:sp>
      <p:sp>
        <p:nvSpPr>
          <p:cNvPr id="27" name="TextBox 26"/>
          <p:cNvSpPr txBox="1"/>
          <p:nvPr/>
        </p:nvSpPr>
        <p:spPr>
          <a:xfrm>
            <a:off x="2103120" y="3236747"/>
            <a:ext cx="4288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какой вопрос и по какому сигналу</a:t>
            </a:r>
          </a:p>
        </p:txBody>
      </p:sp>
      <p:sp>
        <p:nvSpPr>
          <p:cNvPr id="28" name="Rounded Rectangle 27"/>
          <p:cNvSpPr/>
          <p:nvPr/>
        </p:nvSpPr>
        <p:spPr>
          <a:xfrm>
            <a:off x="7511796" y="2349779"/>
            <a:ext cx="530352" cy="329184"/>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7676388" y="2413787"/>
            <a:ext cx="201168" cy="201168"/>
          </a:xfrm>
          <a:prstGeom prst="rect">
            <a:avLst/>
          </a:prstGeom>
        </p:spPr>
      </p:pic>
      <p:cxnSp>
        <p:nvCxnSpPr>
          <p:cNvPr id="30" name="Connector 29"/>
          <p:cNvCxnSpPr/>
          <p:nvPr/>
        </p:nvCxnSpPr>
        <p:spPr>
          <a:xfrm>
            <a:off x="8042148" y="2514371"/>
            <a:ext cx="146304"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88452" y="2349779"/>
            <a:ext cx="530352" cy="329184"/>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8353044" y="2413787"/>
            <a:ext cx="201168" cy="201168"/>
          </a:xfrm>
          <a:prstGeom prst="rect">
            <a:avLst/>
          </a:prstGeom>
        </p:spPr>
      </p:pic>
      <p:cxnSp>
        <p:nvCxnSpPr>
          <p:cNvPr id="33" name="Connector 32"/>
          <p:cNvCxnSpPr/>
          <p:nvPr/>
        </p:nvCxnSpPr>
        <p:spPr>
          <a:xfrm>
            <a:off x="8718804" y="2514371"/>
            <a:ext cx="146304"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865108" y="2349779"/>
            <a:ext cx="530352" cy="329184"/>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9029700" y="2413787"/>
            <a:ext cx="201168" cy="201168"/>
          </a:xfrm>
          <a:prstGeom prst="rect">
            <a:avLst/>
          </a:prstGeom>
        </p:spPr>
      </p:pic>
      <p:cxnSp>
        <p:nvCxnSpPr>
          <p:cNvPr id="36" name="Connector 35"/>
          <p:cNvCxnSpPr/>
          <p:nvPr/>
        </p:nvCxnSpPr>
        <p:spPr>
          <a:xfrm>
            <a:off x="9395460" y="2514371"/>
            <a:ext cx="146304"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541763" y="2349779"/>
            <a:ext cx="530352" cy="329184"/>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users-mid.png"/>
          <p:cNvPicPr>
            <a:picLocks noChangeAspect="1"/>
          </p:cNvPicPr>
          <p:nvPr/>
        </p:nvPicPr>
        <p:blipFill>
          <a:blip r:embed="rId2"/>
          <a:stretch>
            <a:fillRect/>
          </a:stretch>
        </p:blipFill>
        <p:spPr>
          <a:xfrm>
            <a:off x="9706355" y="2413787"/>
            <a:ext cx="201168" cy="201168"/>
          </a:xfrm>
          <a:prstGeom prst="rect">
            <a:avLst/>
          </a:prstGeom>
        </p:spPr>
      </p:pic>
      <p:cxnSp>
        <p:nvCxnSpPr>
          <p:cNvPr id="39" name="Connector 38"/>
          <p:cNvCxnSpPr/>
          <p:nvPr/>
        </p:nvCxnSpPr>
        <p:spPr>
          <a:xfrm>
            <a:off x="10072115" y="2514371"/>
            <a:ext cx="146304"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10218420" y="2349779"/>
            <a:ext cx="530352" cy="329184"/>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users-mid.png"/>
          <p:cNvPicPr>
            <a:picLocks noChangeAspect="1"/>
          </p:cNvPicPr>
          <p:nvPr/>
        </p:nvPicPr>
        <p:blipFill>
          <a:blip r:embed="rId2"/>
          <a:stretch>
            <a:fillRect/>
          </a:stretch>
        </p:blipFill>
        <p:spPr>
          <a:xfrm>
            <a:off x="10383012" y="2413787"/>
            <a:ext cx="201168" cy="201168"/>
          </a:xfrm>
          <a:prstGeom prst="rect">
            <a:avLst/>
          </a:prstGeom>
        </p:spPr>
      </p:pic>
      <p:pic>
        <p:nvPicPr>
          <p:cNvPr id="42" name="Picture 41" descr="x-gold.png"/>
          <p:cNvPicPr>
            <a:picLocks noChangeAspect="1"/>
          </p:cNvPicPr>
          <p:nvPr/>
        </p:nvPicPr>
        <p:blipFill>
          <a:blip r:embed="rId3"/>
          <a:stretch>
            <a:fillRect/>
          </a:stretch>
        </p:blipFill>
        <p:spPr>
          <a:xfrm>
            <a:off x="9047988" y="2432075"/>
            <a:ext cx="164592" cy="164592"/>
          </a:xfrm>
          <a:prstGeom prst="rect">
            <a:avLst/>
          </a:prstGeom>
        </p:spPr>
      </p:pic>
      <p:sp>
        <p:nvSpPr>
          <p:cNvPr id="43" name="TextBox 42"/>
          <p:cNvSpPr txBox="1"/>
          <p:nvPr/>
        </p:nvSpPr>
        <p:spPr>
          <a:xfrm>
            <a:off x="6739128" y="2715539"/>
            <a:ext cx="4782312" cy="201168"/>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не видят ответов друг друга — изоляция есть, независимости нет</a:t>
            </a:r>
          </a:p>
        </p:txBody>
      </p:sp>
      <p:cxnSp>
        <p:nvCxnSpPr>
          <p:cNvPr id="44" name="Connector 43"/>
          <p:cNvCxnSpPr/>
          <p:nvPr/>
        </p:nvCxnSpPr>
        <p:spPr>
          <a:xfrm>
            <a:off x="9130284" y="2934995"/>
            <a:ext cx="0" cy="146304"/>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530083" y="3099587"/>
            <a:ext cx="3200400" cy="310896"/>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30083" y="3099587"/>
            <a:ext cx="3200400" cy="310896"/>
          </a:xfrm>
          <a:prstGeom prst="rect">
            <a:avLst/>
          </a:prstGeom>
          <a:noFill/>
        </p:spPr>
        <p:txBody>
          <a:bodyPr wrap="square" lIns="0" rIns="0" tIns="0" bIns="0" anchor="ctr">
            <a:spAutoFit/>
          </a:bodyPr>
          <a:lstStyle/>
          <a:p>
            <a:pPr algn="ctr">
              <a:lnSpc>
                <a:spcPct val="115000"/>
              </a:lnSpc>
            </a:pPr>
            <a:r>
              <a:rPr sz="1000" b="1" i="0">
                <a:solidFill>
                  <a:srgbClr val="21295C"/>
                </a:solidFill>
                <a:latin typeface="DejaVu Sans"/>
              </a:rPr>
              <a:t>наружу выходит только гайд v2</a:t>
            </a:r>
          </a:p>
        </p:txBody>
      </p:sp>
      <p:sp>
        <p:nvSpPr>
          <p:cNvPr id="47" name="Rounded Rectangle 46"/>
          <p:cNvSpPr/>
          <p:nvPr/>
        </p:nvSpPr>
        <p:spPr>
          <a:xfrm>
            <a:off x="502920" y="3666515"/>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3666515"/>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49" name="Rounded Rectangle 48"/>
          <p:cNvSpPr/>
          <p:nvPr/>
        </p:nvSpPr>
        <p:spPr>
          <a:xfrm>
            <a:off x="1801368" y="3666515"/>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84248" y="3757955"/>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Доля переписанных вопросов видна диффом · доля вопросов «одинаковый ответ у всех» падает от версии к версии · пилотное живое интервью по правленому гайду даёт таймлайн «первая мысль — почти-решение — отказ — выбор», а не список предпочтений.</a:t>
            </a:r>
          </a:p>
        </p:txBody>
      </p:sp>
      <p:sp>
        <p:nvSpPr>
          <p:cNvPr id="51" name="Rounded Rectangle 50"/>
          <p:cNvSpPr/>
          <p:nvPr/>
        </p:nvSpPr>
        <p:spPr>
          <a:xfrm>
            <a:off x="502920" y="4368952"/>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4368952"/>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53" name="Rounded Rectangle 52"/>
          <p:cNvSpPr/>
          <p:nvPr/>
        </p:nvSpPr>
        <p:spPr>
          <a:xfrm>
            <a:off x="1801368" y="4368952"/>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984248" y="4460392"/>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Ни один ответ персоны не идёт в решение и не цитируется как данные: наружу выходит только правленый гайд. Отдельное окно даёт изоляцию, но не независимость — веса и распределение те же, поэтому </a:t>
            </a:r>
            <a:r>
              <a:rPr sz="1000" b="1" i="0">
                <a:solidFill>
                  <a:srgbClr val="21295C"/>
                </a:solidFill>
                <a:latin typeface="DejaVu Sans"/>
              </a:rPr>
              <a:t>пять субагентов дают пять коррелированных выборок, а не пять человек</a:t>
            </a:r>
            <a:r>
              <a:rPr sz="1000" b="1" i="0">
                <a:solidFill>
                  <a:srgbClr val="21295C"/>
                </a:solidFill>
                <a:latin typeface="DejaVu Sans"/>
              </a:rPr>
              <a:t>. Сверка с реальным опросом: средние воспроизводятся, разброс схлопывается — отклонение </a:t>
            </a:r>
            <a:r>
              <a:rPr sz="1000" b="1" i="0">
                <a:solidFill>
                  <a:srgbClr val="21295C"/>
                </a:solidFill>
                <a:latin typeface="DejaVu Sans"/>
              </a:rPr>
              <a:t>16 против 31</a:t>
            </a:r>
            <a:r>
              <a:rPr sz="1000" b="1" i="0">
                <a:solidFill>
                  <a:srgbClr val="21295C"/>
                </a:solidFill>
                <a:latin typeface="DejaVu Sans"/>
              </a:rPr>
              <a:t> у живых. Неправильный запуск виден по выводу о продукте.</a:t>
            </a:r>
          </a:p>
        </p:txBody>
      </p:sp>
      <p:sp>
        <p:nvSpPr>
          <p:cNvPr id="55" name="Rectangle 54"/>
          <p:cNvSpPr/>
          <p:nvPr/>
        </p:nvSpPr>
        <p:spPr>
          <a:xfrm>
            <a:off x="502920" y="5426354"/>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 y="5408066"/>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3 — субагент как отдельный слот со своей ценой настройки: для короткого гайда эта цена не окупается.</a:t>
            </a:r>
          </a:p>
        </p:txBody>
      </p:sp>
      <p:sp>
        <p:nvSpPr>
          <p:cNvPr id="57" name="Rounded Rectangle 56"/>
          <p:cNvSpPr/>
          <p:nvPr/>
        </p:nvSpPr>
        <p:spPr>
          <a:xfrm>
            <a:off x="502920" y="5737250"/>
            <a:ext cx="11201400" cy="487387"/>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85800" y="5779776"/>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circle-help-white.png"/>
          <p:cNvPicPr>
            <a:picLocks noChangeAspect="1"/>
          </p:cNvPicPr>
          <p:nvPr/>
        </p:nvPicPr>
        <p:blipFill>
          <a:blip r:embed="rId4"/>
          <a:stretch>
            <a:fillRect/>
          </a:stretch>
        </p:blipFill>
        <p:spPr>
          <a:xfrm>
            <a:off x="763524" y="5857500"/>
            <a:ext cx="246888" cy="246888"/>
          </a:xfrm>
          <a:prstGeom prst="rect">
            <a:avLst/>
          </a:prstGeom>
        </p:spPr>
      </p:pic>
      <p:sp>
        <p:nvSpPr>
          <p:cNvPr id="60" name="TextBox 59"/>
          <p:cNvSpPr txBox="1"/>
          <p:nvPr/>
        </p:nvSpPr>
        <p:spPr>
          <a:xfrm>
            <a:off x="1252728" y="5782970"/>
            <a:ext cx="10241280" cy="395947"/>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100" b="1" i="0">
                <a:solidFill>
                  <a:srgbClr val="21295C"/>
                </a:solidFill>
                <a:latin typeface="DejaVu Sans"/>
              </a:rPr>
              <a:t>Вы прогнали гайд интервью через пять ИИ-персон. На один вопрос все пять ответили почти одинаково. Что это говорит — про продукт или про вопрос? И что вы меняете?</a:t>
            </a:r>
          </a:p>
        </p:txBody>
      </p:sp>
      <p:sp>
        <p:nvSpPr>
          <p:cNvPr id="61" name="TextBox 6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Сверка синтетических ответов с реальным национальным опросом — Bisbee, Clinton, Dorff, Kenkel, Larson, Political Analysis, 2024</a:t>
            </a:r>
          </a:p>
        </p:txBody>
      </p:sp>
      <p:sp>
        <p:nvSpPr>
          <p:cNvPr id="62" name="TextBox 6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2954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Три шага по корпусу обращений — и ни одной гипотезы без трёх дословных цитат</a:t>
            </a:r>
          </a:p>
        </p:txBody>
      </p:sp>
      <p:sp>
        <p:nvSpPr>
          <p:cNvPr id="3" name="Rounded Rectangle 2"/>
          <p:cNvSpPr/>
          <p:nvPr/>
        </p:nvSpPr>
        <p:spPr>
          <a:xfrm>
            <a:off x="502920" y="505752"/>
            <a:ext cx="1152144" cy="1609344"/>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05752"/>
            <a:ext cx="1060704" cy="160934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05752"/>
            <a:ext cx="9902952" cy="1609344"/>
          </a:xfrm>
          <a:prstGeom prst="roundRect">
            <a:avLst>
              <a:gd name="adj" fmla="val 189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080259" y="597192"/>
            <a:ext cx="2907792" cy="310896"/>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tabase-white.png"/>
          <p:cNvPicPr>
            <a:picLocks noChangeAspect="1"/>
          </p:cNvPicPr>
          <p:nvPr/>
        </p:nvPicPr>
        <p:blipFill>
          <a:blip r:embed="rId2"/>
          <a:stretch>
            <a:fillRect/>
          </a:stretch>
        </p:blipFill>
        <p:spPr>
          <a:xfrm>
            <a:off x="2171699" y="652056"/>
            <a:ext cx="201168" cy="201168"/>
          </a:xfrm>
          <a:prstGeom prst="rect">
            <a:avLst/>
          </a:prstGeom>
        </p:spPr>
      </p:pic>
      <p:sp>
        <p:nvSpPr>
          <p:cNvPr id="8" name="TextBox 7"/>
          <p:cNvSpPr txBox="1"/>
          <p:nvPr/>
        </p:nvSpPr>
        <p:spPr>
          <a:xfrm>
            <a:off x="2427731" y="597192"/>
            <a:ext cx="2487168" cy="310896"/>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a:rPr>
              <a:t>1. ИНДЕКСАЦИЯ</a:t>
            </a:r>
          </a:p>
        </p:txBody>
      </p:sp>
      <p:sp>
        <p:nvSpPr>
          <p:cNvPr id="9" name="TextBox 8"/>
          <p:cNvSpPr txBox="1"/>
          <p:nvPr/>
        </p:nvSpPr>
        <p:spPr>
          <a:xfrm>
            <a:off x="2116835" y="962952"/>
            <a:ext cx="2834640" cy="1060704"/>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Один тикет — один фрагмент с обязательными метаданными: дата, продукт, сегмент, канал, признак повторного обращения. Без них корпус — мешок текста: не отфильтровать ни устаревшее, ни нерелевантное.</a:t>
            </a:r>
          </a:p>
        </p:txBody>
      </p:sp>
      <p:sp>
        <p:nvSpPr>
          <p:cNvPr id="10" name="Right Arrow 9"/>
          <p:cNvSpPr/>
          <p:nvPr/>
        </p:nvSpPr>
        <p:spPr>
          <a:xfrm>
            <a:off x="5033772" y="670344"/>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298948" y="597192"/>
            <a:ext cx="2907792" cy="310896"/>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check-white.png"/>
          <p:cNvPicPr>
            <a:picLocks noChangeAspect="1"/>
          </p:cNvPicPr>
          <p:nvPr/>
        </p:nvPicPr>
        <p:blipFill>
          <a:blip r:embed="rId3"/>
          <a:stretch>
            <a:fillRect/>
          </a:stretch>
        </p:blipFill>
        <p:spPr>
          <a:xfrm>
            <a:off x="5390388" y="652056"/>
            <a:ext cx="201168" cy="201168"/>
          </a:xfrm>
          <a:prstGeom prst="rect">
            <a:avLst/>
          </a:prstGeom>
        </p:spPr>
      </p:pic>
      <p:sp>
        <p:nvSpPr>
          <p:cNvPr id="13" name="TextBox 12"/>
          <p:cNvSpPr txBox="1"/>
          <p:nvPr/>
        </p:nvSpPr>
        <p:spPr>
          <a:xfrm>
            <a:off x="5646420" y="597192"/>
            <a:ext cx="2487168" cy="310896"/>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a:rPr>
              <a:t>2. ИЗВЛЕЧЕНИЕ</a:t>
            </a:r>
          </a:p>
        </p:txBody>
      </p:sp>
      <p:sp>
        <p:nvSpPr>
          <p:cNvPr id="14" name="TextBox 13"/>
          <p:cNvSpPr txBox="1"/>
          <p:nvPr/>
        </p:nvSpPr>
        <p:spPr>
          <a:xfrm>
            <a:off x="5335524" y="962952"/>
            <a:ext cx="2834640" cy="1060704"/>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Гибридный поиск — лексический BM25 плюс плотные векторные представления — с переранжированием. Чисто векторный поиск по тикетам плохо ловит коды ошибок и номера заказов.</a:t>
            </a:r>
          </a:p>
        </p:txBody>
      </p:sp>
      <p:sp>
        <p:nvSpPr>
          <p:cNvPr id="15" name="Right Arrow 14"/>
          <p:cNvSpPr/>
          <p:nvPr/>
        </p:nvSpPr>
        <p:spPr>
          <a:xfrm>
            <a:off x="8252460" y="670344"/>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517636" y="597192"/>
            <a:ext cx="2907792" cy="310896"/>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roup-white.png"/>
          <p:cNvPicPr>
            <a:picLocks noChangeAspect="1"/>
          </p:cNvPicPr>
          <p:nvPr/>
        </p:nvPicPr>
        <p:blipFill>
          <a:blip r:embed="rId4"/>
          <a:stretch>
            <a:fillRect/>
          </a:stretch>
        </p:blipFill>
        <p:spPr>
          <a:xfrm>
            <a:off x="8609076" y="652056"/>
            <a:ext cx="201168" cy="201168"/>
          </a:xfrm>
          <a:prstGeom prst="rect">
            <a:avLst/>
          </a:prstGeom>
        </p:spPr>
      </p:pic>
      <p:sp>
        <p:nvSpPr>
          <p:cNvPr id="18" name="TextBox 17"/>
          <p:cNvSpPr txBox="1"/>
          <p:nvPr/>
        </p:nvSpPr>
        <p:spPr>
          <a:xfrm>
            <a:off x="8865108" y="597192"/>
            <a:ext cx="2487168" cy="310896"/>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a:rPr>
              <a:t>3. КЛАСТЕРИЗАЦИЯ</a:t>
            </a:r>
          </a:p>
        </p:txBody>
      </p:sp>
      <p:sp>
        <p:nvSpPr>
          <p:cNvPr id="19" name="TextBox 18"/>
          <p:cNvSpPr txBox="1"/>
          <p:nvPr/>
        </p:nvSpPr>
        <p:spPr>
          <a:xfrm>
            <a:off x="8554211" y="962952"/>
            <a:ext cx="2834640" cy="1060704"/>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Фрагменты группируются в темы боли, к каждому кластеру — двухшаговый синтез: сначала каждый тикет по отдельности, потом между тикетами. Пропуск первого шага — потеря 20–40% детали.</a:t>
            </a:r>
          </a:p>
        </p:txBody>
      </p:sp>
      <p:sp>
        <p:nvSpPr>
          <p:cNvPr id="20" name="Rounded Rectangle 19"/>
          <p:cNvSpPr/>
          <p:nvPr/>
        </p:nvSpPr>
        <p:spPr>
          <a:xfrm>
            <a:off x="502920" y="2179104"/>
            <a:ext cx="1152144" cy="1005840"/>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179104"/>
            <a:ext cx="1060704" cy="100584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2" name="Rounded Rectangle 21"/>
          <p:cNvSpPr/>
          <p:nvPr/>
        </p:nvSpPr>
        <p:spPr>
          <a:xfrm>
            <a:off x="1801368" y="2179104"/>
            <a:ext cx="9902952"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84248" y="2270544"/>
            <a:ext cx="9537192" cy="201168"/>
          </a:xfrm>
          <a:prstGeom prst="rect">
            <a:avLst/>
          </a:prstGeom>
          <a:noFill/>
        </p:spPr>
        <p:txBody>
          <a:bodyPr wrap="square" lIns="0" rIns="0" tIns="0" bIns="0" anchor="t">
            <a:spAutoFit/>
          </a:bodyPr>
          <a:lstStyle/>
          <a:p>
            <a:pPr algn="l">
              <a:lnSpc>
                <a:spcPct val="105000"/>
              </a:lnSpc>
            </a:pPr>
            <a:r>
              <a:rPr sz="860" b="0" i="1">
                <a:solidFill>
                  <a:srgbClr val="5B6678"/>
                </a:solidFill>
                <a:latin typeface="DejaVu Sans"/>
              </a:rPr>
              <a:t>Одна таблица — и в ней гипотеза не существует без прослеживаемости до тикета:</a:t>
            </a:r>
          </a:p>
        </p:txBody>
      </p:sp>
      <p:sp>
        <p:nvSpPr>
          <p:cNvPr id="24" name="Rounded Rectangle 23"/>
          <p:cNvSpPr/>
          <p:nvPr/>
        </p:nvSpPr>
        <p:spPr>
          <a:xfrm>
            <a:off x="1984248" y="2508288"/>
            <a:ext cx="1463040" cy="274320"/>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9112" y="2508288"/>
            <a:ext cx="1353312" cy="27432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Кластер</a:t>
            </a:r>
          </a:p>
        </p:txBody>
      </p:sp>
      <p:sp>
        <p:nvSpPr>
          <p:cNvPr id="26" name="Rounded Rectangle 25"/>
          <p:cNvSpPr/>
          <p:nvPr/>
        </p:nvSpPr>
        <p:spPr>
          <a:xfrm>
            <a:off x="3502152" y="2508288"/>
            <a:ext cx="914400" cy="274320"/>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57016" y="2508288"/>
            <a:ext cx="804672" cy="27432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Тикетов</a:t>
            </a:r>
          </a:p>
        </p:txBody>
      </p:sp>
      <p:sp>
        <p:nvSpPr>
          <p:cNvPr id="28" name="Rounded Rectangle 27"/>
          <p:cNvSpPr/>
          <p:nvPr/>
        </p:nvSpPr>
        <p:spPr>
          <a:xfrm>
            <a:off x="4471416" y="2508288"/>
            <a:ext cx="2148840" cy="274320"/>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26280" y="2508288"/>
            <a:ext cx="2039112" cy="27432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Цитаты с номером</a:t>
            </a:r>
          </a:p>
        </p:txBody>
      </p:sp>
      <p:sp>
        <p:nvSpPr>
          <p:cNvPr id="30" name="Rounded Rectangle 29"/>
          <p:cNvSpPr/>
          <p:nvPr/>
        </p:nvSpPr>
        <p:spPr>
          <a:xfrm>
            <a:off x="6675120" y="2508288"/>
            <a:ext cx="2743200" cy="274320"/>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984" y="2508288"/>
            <a:ext cx="2633472" cy="27432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Гипотеза «вера — тест — дата»</a:t>
            </a:r>
          </a:p>
        </p:txBody>
      </p:sp>
      <p:sp>
        <p:nvSpPr>
          <p:cNvPr id="32" name="Rounded Rectangle 31"/>
          <p:cNvSpPr/>
          <p:nvPr/>
        </p:nvSpPr>
        <p:spPr>
          <a:xfrm>
            <a:off x="9473184" y="2508288"/>
            <a:ext cx="2048256" cy="274320"/>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28048" y="2508288"/>
            <a:ext cx="1938528" cy="27432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К какому сегменту идти живьём</a:t>
            </a:r>
          </a:p>
        </p:txBody>
      </p:sp>
      <p:sp>
        <p:nvSpPr>
          <p:cNvPr id="34" name="Rounded Rectangle 33"/>
          <p:cNvSpPr/>
          <p:nvPr/>
        </p:nvSpPr>
        <p:spPr>
          <a:xfrm>
            <a:off x="1984248" y="2800896"/>
            <a:ext cx="1463040" cy="274320"/>
          </a:xfrm>
          <a:prstGeom prst="roundRect">
            <a:avLst>
              <a:gd name="adj" fmla="val 1666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39112" y="2800896"/>
            <a:ext cx="1353312" cy="274320"/>
          </a:xfrm>
          <a:prstGeom prst="rect">
            <a:avLst/>
          </a:prstGeom>
          <a:noFill/>
        </p:spPr>
        <p:txBody>
          <a:bodyPr wrap="square" lIns="0" rIns="0" tIns="0" bIns="0" anchor="ctr">
            <a:spAutoFit/>
          </a:bodyPr>
          <a:lstStyle/>
          <a:p>
            <a:pPr algn="ctr">
              <a:lnSpc>
                <a:spcPct val="100000"/>
              </a:lnSpc>
            </a:pPr>
            <a:r>
              <a:rPr sz="900" b="0" i="1">
                <a:solidFill>
                  <a:srgbClr val="5B6678"/>
                </a:solidFill>
                <a:latin typeface="DejaVu Sans"/>
              </a:rPr>
              <a:t>тема боли</a:t>
            </a:r>
          </a:p>
        </p:txBody>
      </p:sp>
      <p:sp>
        <p:nvSpPr>
          <p:cNvPr id="36" name="Rounded Rectangle 35"/>
          <p:cNvSpPr/>
          <p:nvPr/>
        </p:nvSpPr>
        <p:spPr>
          <a:xfrm>
            <a:off x="3502152" y="2800896"/>
            <a:ext cx="914400" cy="274320"/>
          </a:xfrm>
          <a:prstGeom prst="roundRect">
            <a:avLst>
              <a:gd name="adj" fmla="val 1666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57016" y="2800896"/>
            <a:ext cx="804672" cy="274320"/>
          </a:xfrm>
          <a:prstGeom prst="rect">
            <a:avLst/>
          </a:prstGeom>
          <a:noFill/>
        </p:spPr>
        <p:txBody>
          <a:bodyPr wrap="square" lIns="0" rIns="0" tIns="0" bIns="0" anchor="ctr">
            <a:spAutoFit/>
          </a:bodyPr>
          <a:lstStyle/>
          <a:p>
            <a:pPr algn="ctr">
              <a:lnSpc>
                <a:spcPct val="100000"/>
              </a:lnSpc>
            </a:pPr>
            <a:r>
              <a:rPr sz="900" b="0" i="1">
                <a:solidFill>
                  <a:srgbClr val="5B6678"/>
                </a:solidFill>
                <a:latin typeface="DejaVu Sans"/>
              </a:rPr>
              <a:t>N</a:t>
            </a:r>
          </a:p>
        </p:txBody>
      </p:sp>
      <p:sp>
        <p:nvSpPr>
          <p:cNvPr id="38" name="Rounded Rectangle 37"/>
          <p:cNvSpPr/>
          <p:nvPr/>
        </p:nvSpPr>
        <p:spPr>
          <a:xfrm>
            <a:off x="4471416" y="2800896"/>
            <a:ext cx="2148840" cy="274320"/>
          </a:xfrm>
          <a:prstGeom prst="roundRect">
            <a:avLst>
              <a:gd name="adj" fmla="val 1666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26280" y="2800896"/>
            <a:ext cx="2039112" cy="274320"/>
          </a:xfrm>
          <a:prstGeom prst="rect">
            <a:avLst/>
          </a:prstGeom>
          <a:noFill/>
        </p:spPr>
        <p:txBody>
          <a:bodyPr wrap="square" lIns="0" rIns="0" tIns="0" bIns="0" anchor="ctr">
            <a:spAutoFit/>
          </a:bodyPr>
          <a:lstStyle/>
          <a:p>
            <a:pPr algn="ctr">
              <a:lnSpc>
                <a:spcPct val="100000"/>
              </a:lnSpc>
            </a:pPr>
            <a:r>
              <a:rPr sz="900" b="0" i="1">
                <a:solidFill>
                  <a:srgbClr val="5B6678"/>
                </a:solidFill>
                <a:latin typeface="DejaVu Sans"/>
              </a:rPr>
              <a:t>#____ · #____ · #____</a:t>
            </a:r>
          </a:p>
        </p:txBody>
      </p:sp>
      <p:sp>
        <p:nvSpPr>
          <p:cNvPr id="40" name="Rounded Rectangle 39"/>
          <p:cNvSpPr/>
          <p:nvPr/>
        </p:nvSpPr>
        <p:spPr>
          <a:xfrm>
            <a:off x="6675120" y="2800896"/>
            <a:ext cx="2743200" cy="274320"/>
          </a:xfrm>
          <a:prstGeom prst="roundRect">
            <a:avLst>
              <a:gd name="adj" fmla="val 1666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29984" y="2800896"/>
            <a:ext cx="2633472" cy="274320"/>
          </a:xfrm>
          <a:prstGeom prst="rect">
            <a:avLst/>
          </a:prstGeom>
          <a:noFill/>
        </p:spPr>
        <p:txBody>
          <a:bodyPr wrap="square" lIns="0" rIns="0" tIns="0" bIns="0" anchor="ctr">
            <a:spAutoFit/>
          </a:bodyPr>
          <a:lstStyle/>
          <a:p>
            <a:pPr algn="ctr">
              <a:lnSpc>
                <a:spcPct val="100000"/>
              </a:lnSpc>
            </a:pPr>
            <a:r>
              <a:rPr sz="900" b="0" i="1">
                <a:solidFill>
                  <a:srgbClr val="5B6678"/>
                </a:solidFill>
                <a:latin typeface="DejaVu Sans"/>
              </a:rPr>
              <a:t>вера — тест — дата</a:t>
            </a:r>
          </a:p>
        </p:txBody>
      </p:sp>
      <p:sp>
        <p:nvSpPr>
          <p:cNvPr id="42" name="Rounded Rectangle 41"/>
          <p:cNvSpPr/>
          <p:nvPr/>
        </p:nvSpPr>
        <p:spPr>
          <a:xfrm>
            <a:off x="9473184" y="2800896"/>
            <a:ext cx="2048256" cy="274320"/>
          </a:xfrm>
          <a:prstGeom prst="roundRect">
            <a:avLst>
              <a:gd name="adj" fmla="val 1666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28048" y="2800896"/>
            <a:ext cx="1938528" cy="274320"/>
          </a:xfrm>
          <a:prstGeom prst="rect">
            <a:avLst/>
          </a:prstGeom>
          <a:noFill/>
        </p:spPr>
        <p:txBody>
          <a:bodyPr wrap="square" lIns="0" rIns="0" tIns="0" bIns="0" anchor="ctr">
            <a:spAutoFit/>
          </a:bodyPr>
          <a:lstStyle/>
          <a:p>
            <a:pPr algn="ctr">
              <a:lnSpc>
                <a:spcPct val="100000"/>
              </a:lnSpc>
            </a:pPr>
            <a:r>
              <a:rPr sz="900" b="0" i="1">
                <a:solidFill>
                  <a:srgbClr val="5B6678"/>
                </a:solidFill>
                <a:latin typeface="DejaVu Sans"/>
              </a:rPr>
              <a:t>сегмент</a:t>
            </a:r>
          </a:p>
        </p:txBody>
      </p:sp>
      <p:sp>
        <p:nvSpPr>
          <p:cNvPr id="44" name="Rounded Rectangle 43"/>
          <p:cNvSpPr/>
          <p:nvPr/>
        </p:nvSpPr>
        <p:spPr>
          <a:xfrm>
            <a:off x="502920" y="3248952"/>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3248952"/>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46" name="Rounded Rectangle 45"/>
          <p:cNvSpPr/>
          <p:nvPr/>
        </p:nvSpPr>
        <p:spPr>
          <a:xfrm>
            <a:off x="1801368" y="3248952"/>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984248" y="3340392"/>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Каждая гипотеза прослеживается минимум до </a:t>
            </a:r>
            <a:r>
              <a:rPr sz="1000" b="1" i="0">
                <a:solidFill>
                  <a:srgbClr val="028090"/>
                </a:solidFill>
                <a:latin typeface="DejaVu Sans"/>
              </a:rPr>
              <a:t>трёх дословных цитат с номером тикета</a:t>
            </a:r>
            <a:r>
              <a:rPr sz="1000" b="0" i="0">
                <a:solidFill>
                  <a:srgbClr val="21295C"/>
                </a:solidFill>
                <a:latin typeface="DejaVu Sans"/>
              </a:rPr>
              <a:t> · кластер без цитаты — артефакт модели, а не боль клиента, и вычёркивается · дальше уходит только гипотеза с записанным порогом.</a:t>
            </a:r>
          </a:p>
        </p:txBody>
      </p:sp>
      <p:sp>
        <p:nvSpPr>
          <p:cNvPr id="48" name="Rounded Rectangle 47"/>
          <p:cNvSpPr/>
          <p:nvPr/>
        </p:nvSpPr>
        <p:spPr>
          <a:xfrm>
            <a:off x="502920" y="3951389"/>
            <a:ext cx="1152144" cy="1554480"/>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8640" y="3951389"/>
            <a:ext cx="1060704" cy="1554480"/>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50" name="Rounded Rectangle 49"/>
          <p:cNvSpPr/>
          <p:nvPr/>
        </p:nvSpPr>
        <p:spPr>
          <a:xfrm>
            <a:off x="1801368" y="3951389"/>
            <a:ext cx="9902952" cy="1554480"/>
          </a:xfrm>
          <a:prstGeom prst="roundRect">
            <a:avLst>
              <a:gd name="adj" fmla="val 1960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984248" y="4042829"/>
            <a:ext cx="7205472" cy="1371600"/>
          </a:xfrm>
          <a:prstGeom prst="rect">
            <a:avLst/>
          </a:prstGeom>
          <a:noFill/>
        </p:spPr>
        <p:txBody>
          <a:bodyPr wrap="square" lIns="0" rIns="0" tIns="0" bIns="0" anchor="ctr">
            <a:spAutoFit/>
          </a:bodyPr>
          <a:lstStyle/>
          <a:p>
            <a:pPr algn="l">
              <a:lnSpc>
                <a:spcPct val="114000"/>
              </a:lnSpc>
            </a:pPr>
            <a:r>
              <a:rPr sz="1050" b="1" i="0">
                <a:solidFill>
                  <a:srgbClr val="21295C"/>
                </a:solidFill>
                <a:latin typeface="DejaVu Sans"/>
              </a:rPr>
              <a:t>Корпус смещён </a:t>
            </a:r>
            <a:r>
              <a:rPr sz="1050" b="1" i="0">
                <a:solidFill>
                  <a:srgbClr val="21295C"/>
                </a:solidFill>
                <a:latin typeface="DejaVu Sans"/>
              </a:rPr>
              <a:t>по построению</a:t>
            </a:r>
            <a:r>
              <a:rPr sz="1050" b="1" i="0">
                <a:solidFill>
                  <a:srgbClr val="21295C"/>
                </a:solidFill>
                <a:latin typeface="DejaVu Sans"/>
              </a:rPr>
              <a:t>, а не по недосмотру: в нём есть только те, кто дошёл до жалобы. Объём этого не лечит — сто тысяч тикетов смещены ровно так же, как тысяча, потому что </a:t>
            </a:r>
            <a:r>
              <a:rPr sz="1050" b="1" i="0">
                <a:solidFill>
                  <a:srgbClr val="21295C"/>
                </a:solidFill>
                <a:latin typeface="DejaVu Sans"/>
              </a:rPr>
              <a:t>не бывает тикета «мне нужно то, чего у вас вообще нет»</a:t>
            </a:r>
            <a:r>
              <a:rPr sz="1050" b="1" i="0">
                <a:solidFill>
                  <a:srgbClr val="21295C"/>
                </a:solidFill>
                <a:latin typeface="DejaVu Sans"/>
              </a:rPr>
              <a:t>. Вопрос «чего у нас нет» закрывается другим инструментом — интервью с теми, кто отвалился. И второе: извлечение возвращает </a:t>
            </a:r>
            <a:r>
              <a:rPr sz="1050" b="1" i="0">
                <a:solidFill>
                  <a:srgbClr val="21295C"/>
                </a:solidFill>
                <a:latin typeface="DejaVu Sans"/>
              </a:rPr>
              <a:t>похожие</a:t>
            </a:r>
            <a:r>
              <a:rPr sz="1050" b="1" i="0">
                <a:solidFill>
                  <a:srgbClr val="21295C"/>
                </a:solidFill>
                <a:latin typeface="DejaVu Sans"/>
              </a:rPr>
              <a:t> обращения, а не важные. Десять тысяч жалоб на опечатку — это по-прежнему одна опечатка.</a:t>
            </a:r>
          </a:p>
        </p:txBody>
      </p:sp>
      <p:sp>
        <p:nvSpPr>
          <p:cNvPr id="52" name="Rounded Rectangle 51"/>
          <p:cNvSpPr/>
          <p:nvPr/>
        </p:nvSpPr>
        <p:spPr>
          <a:xfrm>
            <a:off x="9372600" y="4061117"/>
            <a:ext cx="2103120" cy="1335024"/>
          </a:xfrm>
          <a:prstGeom prst="roundRect">
            <a:avLst>
              <a:gd name="adj" fmla="val 13318"/>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funnel-gold.png"/>
          <p:cNvPicPr>
            <a:picLocks noChangeAspect="1"/>
          </p:cNvPicPr>
          <p:nvPr/>
        </p:nvPicPr>
        <p:blipFill>
          <a:blip r:embed="rId5"/>
          <a:stretch>
            <a:fillRect/>
          </a:stretch>
        </p:blipFill>
        <p:spPr>
          <a:xfrm>
            <a:off x="9482328" y="4189133"/>
            <a:ext cx="274320" cy="274320"/>
          </a:xfrm>
          <a:prstGeom prst="rect">
            <a:avLst/>
          </a:prstGeom>
        </p:spPr>
      </p:pic>
      <p:sp>
        <p:nvSpPr>
          <p:cNvPr id="54" name="TextBox 53"/>
          <p:cNvSpPr txBox="1"/>
          <p:nvPr/>
        </p:nvSpPr>
        <p:spPr>
          <a:xfrm>
            <a:off x="9829800" y="4152557"/>
            <a:ext cx="1554480" cy="347472"/>
          </a:xfrm>
          <a:prstGeom prst="rect">
            <a:avLst/>
          </a:prstGeom>
          <a:noFill/>
        </p:spPr>
        <p:txBody>
          <a:bodyPr wrap="square" lIns="0" rIns="0" tIns="0" bIns="0" anchor="t">
            <a:spAutoFit/>
          </a:bodyPr>
          <a:lstStyle/>
          <a:p>
            <a:pPr algn="l">
              <a:lnSpc>
                <a:spcPct val="105000"/>
              </a:lnSpc>
            </a:pPr>
            <a:r>
              <a:rPr sz="900" b="1" i="0">
                <a:solidFill>
                  <a:srgbClr val="21295C"/>
                </a:solidFill>
                <a:latin typeface="DejaVu Sans"/>
              </a:rPr>
              <a:t>кто дошёл до жалобы</a:t>
            </a:r>
          </a:p>
        </p:txBody>
      </p:sp>
      <p:sp>
        <p:nvSpPr>
          <p:cNvPr id="55" name="Rounded Rectangle 54"/>
          <p:cNvSpPr/>
          <p:nvPr/>
        </p:nvSpPr>
        <p:spPr>
          <a:xfrm>
            <a:off x="9518904" y="4591469"/>
            <a:ext cx="1810512" cy="182880"/>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18904" y="4774349"/>
            <a:ext cx="1810512" cy="201168"/>
          </a:xfrm>
          <a:prstGeom prst="rect">
            <a:avLst/>
          </a:prstGeom>
          <a:noFill/>
        </p:spPr>
        <p:txBody>
          <a:bodyPr wrap="square" lIns="0" rIns="0" tIns="0" bIns="0" anchor="t">
            <a:spAutoFit/>
          </a:bodyPr>
          <a:lstStyle/>
          <a:p>
            <a:pPr algn="l">
              <a:lnSpc>
                <a:spcPct val="105000"/>
              </a:lnSpc>
            </a:pPr>
            <a:r>
              <a:rPr sz="800" b="0" i="1">
                <a:solidFill>
                  <a:srgbClr val="5B6678"/>
                </a:solidFill>
                <a:latin typeface="DejaVu Sans"/>
              </a:rPr>
              <a:t>все пользователи</a:t>
            </a:r>
          </a:p>
        </p:txBody>
      </p:sp>
      <p:sp>
        <p:nvSpPr>
          <p:cNvPr id="57" name="Rounded Rectangle 56"/>
          <p:cNvSpPr/>
          <p:nvPr/>
        </p:nvSpPr>
        <p:spPr>
          <a:xfrm>
            <a:off x="9518904" y="4957229"/>
            <a:ext cx="365760" cy="18288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921240" y="4957229"/>
            <a:ext cx="1417320" cy="201168"/>
          </a:xfrm>
          <a:prstGeom prst="rect">
            <a:avLst/>
          </a:prstGeom>
          <a:noFill/>
        </p:spPr>
        <p:txBody>
          <a:bodyPr wrap="square" lIns="0" rIns="0" tIns="0" bIns="0" anchor="t">
            <a:spAutoFit/>
          </a:bodyPr>
          <a:lstStyle/>
          <a:p>
            <a:pPr algn="l">
              <a:lnSpc>
                <a:spcPct val="105000"/>
              </a:lnSpc>
            </a:pPr>
            <a:r>
              <a:rPr sz="800" b="1" i="0">
                <a:solidFill>
                  <a:srgbClr val="21295C"/>
                </a:solidFill>
                <a:latin typeface="DejaVu Sans"/>
              </a:rPr>
              <a:t>корпус обращений</a:t>
            </a:r>
          </a:p>
        </p:txBody>
      </p:sp>
      <p:sp>
        <p:nvSpPr>
          <p:cNvPr id="59" name="Rectangle 58"/>
          <p:cNvSpPr/>
          <p:nvPr/>
        </p:nvSpPr>
        <p:spPr>
          <a:xfrm>
            <a:off x="502920" y="5606453"/>
            <a:ext cx="50292" cy="364109"/>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85800" y="5588165"/>
            <a:ext cx="11018520" cy="400685"/>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2 — векторные представления и кластеризация. Лекция 3 — поиск с дополнением генерации: метаданные, свежесть, гибридное извлечение, «вернул что-то не значит вернул правильное».</a:t>
            </a:r>
          </a:p>
        </p:txBody>
      </p:sp>
      <p:sp>
        <p:nvSpPr>
          <p:cNvPr id="61" name="TextBox 6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Двухшаговый синтез — Тереза Торрес</a:t>
            </a:r>
          </a:p>
        </p:txBody>
      </p:sp>
      <p:sp>
        <p:nvSpPr>
          <p:cNvPr id="62" name="TextBox 6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1353312"/>
            <a:ext cx="4160520" cy="3547872"/>
          </a:xfrm>
          <a:prstGeom prst="roundRect">
            <a:avLst>
              <a:gd name="adj" fmla="val 85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2199132" y="1499616"/>
            <a:ext cx="768096" cy="768096"/>
          </a:xfrm>
          <a:prstGeom prst="rect">
            <a:avLst/>
          </a:prstGeom>
        </p:spPr>
      </p:pic>
      <p:sp>
        <p:nvSpPr>
          <p:cNvPr id="5" name="TextBox 4"/>
          <p:cNvSpPr txBox="1"/>
          <p:nvPr/>
        </p:nvSpPr>
        <p:spPr>
          <a:xfrm>
            <a:off x="731520" y="2359152"/>
            <a:ext cx="3703320" cy="310896"/>
          </a:xfrm>
          <a:prstGeom prst="rect">
            <a:avLst/>
          </a:prstGeom>
          <a:noFill/>
        </p:spPr>
        <p:txBody>
          <a:bodyPr wrap="square" lIns="0" rIns="0" tIns="0" bIns="0" anchor="t">
            <a:spAutoFit/>
          </a:bodyPr>
          <a:lstStyle/>
          <a:p>
            <a:pPr algn="ctr">
              <a:lnSpc>
                <a:spcPct val="115000"/>
              </a:lnSpc>
            </a:pPr>
            <a:r>
              <a:rPr sz="1400" b="1" i="0">
                <a:solidFill>
                  <a:srgbClr val="065A82"/>
                </a:solidFill>
                <a:latin typeface="DejaVu Sans"/>
              </a:rPr>
              <a:t>Зеркало согласия</a:t>
            </a:r>
          </a:p>
        </p:txBody>
      </p:sp>
      <p:sp>
        <p:nvSpPr>
          <p:cNvPr id="6" name="Rounded Rectangle 5"/>
          <p:cNvSpPr/>
          <p:nvPr/>
        </p:nvSpPr>
        <p:spPr>
          <a:xfrm>
            <a:off x="704088" y="2761488"/>
            <a:ext cx="1737360" cy="896112"/>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834640"/>
            <a:ext cx="1737360" cy="438912"/>
          </a:xfrm>
          <a:prstGeom prst="rect">
            <a:avLst/>
          </a:prstGeom>
          <a:noFill/>
        </p:spPr>
        <p:txBody>
          <a:bodyPr wrap="square" lIns="0" rIns="0" tIns="0" bIns="0" anchor="t">
            <a:spAutoFit/>
          </a:bodyPr>
          <a:lstStyle/>
          <a:p>
            <a:pPr algn="ctr">
              <a:lnSpc>
                <a:spcPct val="115000"/>
              </a:lnSpc>
            </a:pPr>
            <a:r>
              <a:rPr sz="2100" b="1" i="0">
                <a:solidFill>
                  <a:srgbClr val="21295C"/>
                </a:solidFill>
                <a:latin typeface="DejaVu Sans"/>
              </a:rPr>
              <a:t>72–91%</a:t>
            </a:r>
          </a:p>
        </p:txBody>
      </p:sp>
      <p:sp>
        <p:nvSpPr>
          <p:cNvPr id="8" name="TextBox 7"/>
          <p:cNvSpPr txBox="1"/>
          <p:nvPr/>
        </p:nvSpPr>
        <p:spPr>
          <a:xfrm>
            <a:off x="749808" y="3291840"/>
            <a:ext cx="1645920" cy="310896"/>
          </a:xfrm>
          <a:prstGeom prst="rect">
            <a:avLst/>
          </a:prstGeom>
          <a:noFill/>
        </p:spPr>
        <p:txBody>
          <a:bodyPr wrap="square" lIns="0" rIns="0" tIns="0" bIns="0" anchor="t">
            <a:spAutoFit/>
          </a:bodyPr>
          <a:lstStyle/>
          <a:p>
            <a:pPr algn="ctr">
              <a:lnSpc>
                <a:spcPct val="100000"/>
              </a:lnSpc>
            </a:pPr>
            <a:r>
              <a:rPr sz="950" b="0" i="0">
                <a:solidFill>
                  <a:srgbClr val="5B6678"/>
                </a:solidFill>
                <a:latin typeface="DejaVu Sans"/>
              </a:rPr>
              <a:t>при явном согласии</a:t>
            </a:r>
          </a:p>
        </p:txBody>
      </p:sp>
      <p:sp>
        <p:nvSpPr>
          <p:cNvPr id="9" name="Rounded Rectangle 8"/>
          <p:cNvSpPr/>
          <p:nvPr/>
        </p:nvSpPr>
        <p:spPr>
          <a:xfrm>
            <a:off x="2624328" y="2761488"/>
            <a:ext cx="1737360" cy="896112"/>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834640"/>
            <a:ext cx="1737360" cy="438912"/>
          </a:xfrm>
          <a:prstGeom prst="rect">
            <a:avLst/>
          </a:prstGeom>
          <a:noFill/>
        </p:spPr>
        <p:txBody>
          <a:bodyPr wrap="square" lIns="0" rIns="0" tIns="0" bIns="0" anchor="t">
            <a:spAutoFit/>
          </a:bodyPr>
          <a:lstStyle/>
          <a:p>
            <a:pPr algn="ctr">
              <a:lnSpc>
                <a:spcPct val="115000"/>
              </a:lnSpc>
            </a:pPr>
            <a:r>
              <a:rPr sz="2100" b="1" i="0">
                <a:solidFill>
                  <a:srgbClr val="1C7293"/>
                </a:solidFill>
                <a:latin typeface="DejaVu Sans"/>
              </a:rPr>
              <a:t>7–28%</a:t>
            </a:r>
          </a:p>
        </p:txBody>
      </p:sp>
      <p:sp>
        <p:nvSpPr>
          <p:cNvPr id="11" name="TextBox 10"/>
          <p:cNvSpPr txBox="1"/>
          <p:nvPr/>
        </p:nvSpPr>
        <p:spPr>
          <a:xfrm>
            <a:off x="2670048" y="3291840"/>
            <a:ext cx="1645920" cy="310896"/>
          </a:xfrm>
          <a:prstGeom prst="rect">
            <a:avLst/>
          </a:prstGeom>
          <a:noFill/>
        </p:spPr>
        <p:txBody>
          <a:bodyPr wrap="square" lIns="0" rIns="0" tIns="0" bIns="0" anchor="t">
            <a:spAutoFit/>
          </a:bodyPr>
          <a:lstStyle/>
          <a:p>
            <a:pPr algn="ctr">
              <a:lnSpc>
                <a:spcPct val="100000"/>
              </a:lnSpc>
            </a:pPr>
            <a:r>
              <a:rPr sz="950" b="0" i="0">
                <a:solidFill>
                  <a:srgbClr val="5B6678"/>
                </a:solidFill>
                <a:latin typeface="DejaVu Sans"/>
              </a:rPr>
              <a:t>при явном несогласии</a:t>
            </a:r>
          </a:p>
        </p:txBody>
      </p:sp>
      <p:sp>
        <p:nvSpPr>
          <p:cNvPr id="12" name="TextBox 11"/>
          <p:cNvSpPr txBox="1"/>
          <p:nvPr/>
        </p:nvSpPr>
        <p:spPr>
          <a:xfrm>
            <a:off x="731520" y="3767328"/>
            <a:ext cx="3703320" cy="786384"/>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Сдвиг тона ответа модели к позитиву («feedback positivity», 5 моделей) — это не «частота отрицательного ответа».</a:t>
            </a:r>
          </a:p>
        </p:txBody>
      </p:sp>
      <p:sp>
        <p:nvSpPr>
          <p:cNvPr id="13" name="TextBox 12"/>
          <p:cNvSpPr txBox="1"/>
          <p:nvPr/>
        </p:nvSpPr>
        <p:spPr>
          <a:xfrm>
            <a:off x="731520" y="4572000"/>
            <a:ext cx="3703320" cy="201168"/>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Sharma и др., 2023 — Figure 1, ICLR 2024</a:t>
            </a:r>
          </a:p>
        </p:txBody>
      </p:sp>
      <p:sp>
        <p:nvSpPr>
          <p:cNvPr id="14" name="TextBox 13"/>
          <p:cNvSpPr txBox="1"/>
          <p:nvPr/>
        </p:nvSpPr>
        <p:spPr>
          <a:xfrm>
            <a:off x="4892040" y="1353312"/>
            <a:ext cx="681228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живое интервью строго лучше ИИ-синтеза</a:t>
            </a:r>
          </a:p>
        </p:txBody>
      </p:sp>
      <p:sp>
        <p:nvSpPr>
          <p:cNvPr id="15" name="Rounded Rectangle 14"/>
          <p:cNvSpPr/>
          <p:nvPr/>
        </p:nvSpPr>
        <p:spPr>
          <a:xfrm>
            <a:off x="4892040" y="181051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81051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Высокая цена ошибки «продолжать/остановить»</a:t>
            </a:r>
          </a:p>
        </p:txBody>
      </p:sp>
      <p:pic>
        <p:nvPicPr>
          <p:cNvPr id="17" name="Picture 16" descr="shield-alert-mid.png"/>
          <p:cNvPicPr>
            <a:picLocks noChangeAspect="1"/>
          </p:cNvPicPr>
          <p:nvPr/>
        </p:nvPicPr>
        <p:blipFill>
          <a:blip r:embed="rId3"/>
          <a:stretch>
            <a:fillRect/>
          </a:stretch>
        </p:blipFill>
        <p:spPr>
          <a:xfrm>
            <a:off x="5020055" y="1938528"/>
            <a:ext cx="365760" cy="365760"/>
          </a:xfrm>
          <a:prstGeom prst="rect">
            <a:avLst/>
          </a:prstGeom>
        </p:spPr>
      </p:pic>
      <p:sp>
        <p:nvSpPr>
          <p:cNvPr id="18" name="Rounded Rectangle 17"/>
          <p:cNvSpPr/>
          <p:nvPr/>
        </p:nvSpPr>
        <p:spPr>
          <a:xfrm>
            <a:off x="4892040" y="2560320"/>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560320"/>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не правдоподобное</a:t>
            </a:r>
          </a:p>
        </p:txBody>
      </p:sp>
      <p:pic>
        <p:nvPicPr>
          <p:cNvPr id="20" name="Picture 19" descr="shield-alert-mid.png"/>
          <p:cNvPicPr>
            <a:picLocks noChangeAspect="1"/>
          </p:cNvPicPr>
          <p:nvPr/>
        </p:nvPicPr>
        <p:blipFill>
          <a:blip r:embed="rId3"/>
          <a:stretch>
            <a:fillRect/>
          </a:stretch>
        </p:blipFill>
        <p:spPr>
          <a:xfrm>
            <a:off x="5020055" y="2688336"/>
            <a:ext cx="365760" cy="365760"/>
          </a:xfrm>
          <a:prstGeom prst="rect">
            <a:avLst/>
          </a:prstGeom>
        </p:spPr>
      </p:pic>
      <p:sp>
        <p:nvSpPr>
          <p:cNvPr id="21" name="Rounded Rectangle 20"/>
          <p:cNvSpPr/>
          <p:nvPr/>
        </p:nvSpPr>
        <p:spPr>
          <a:xfrm>
            <a:off x="4892040" y="3310128"/>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3310128"/>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валидация обязательством, не мнением</a:t>
            </a:r>
          </a:p>
        </p:txBody>
      </p:sp>
      <p:pic>
        <p:nvPicPr>
          <p:cNvPr id="23" name="Picture 22" descr="shield-alert-mid.png"/>
          <p:cNvPicPr>
            <a:picLocks noChangeAspect="1"/>
          </p:cNvPicPr>
          <p:nvPr/>
        </p:nvPicPr>
        <p:blipFill>
          <a:blip r:embed="rId3"/>
          <a:stretch>
            <a:fillRect/>
          </a:stretch>
        </p:blipFill>
        <p:spPr>
          <a:xfrm>
            <a:off x="5020055" y="3438144"/>
            <a:ext cx="365760" cy="365760"/>
          </a:xfrm>
          <a:prstGeom prst="rect">
            <a:avLst/>
          </a:prstGeom>
        </p:spPr>
      </p:pic>
      <p:sp>
        <p:nvSpPr>
          <p:cNvPr id="24" name="TextBox 23"/>
          <p:cNvSpPr txBox="1"/>
          <p:nvPr/>
        </p:nvSpPr>
        <p:spPr>
          <a:xfrm>
            <a:off x="4892040" y="4133087"/>
            <a:ext cx="6812280" cy="768096"/>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a:t>
            </a:r>
          </a:p>
        </p:txBody>
      </p:sp>
      <p:sp>
        <p:nvSpPr>
          <p:cNvPr id="25" name="Rounded Rectangle 24"/>
          <p:cNvSpPr/>
          <p:nvPr/>
        </p:nvSpPr>
        <p:spPr>
          <a:xfrm>
            <a:off x="502920" y="508406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138927"/>
            <a:ext cx="10762488" cy="73152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ИИ-резюме теряет 20-40% деталей интервью (Torres)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если пропущен шаг «сначала по отдельности» — прослеживаемый до конкретного шага сбой,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Torres — Continuous Discovery Habits / anti-synthetic</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Одна и та же задача: реальные люди — 3 из 7, синтетическая панель — 7 из 7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416052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2-trade-offer.jpg"/>
          <p:cNvPicPr>
            <a:picLocks noChangeAspect="1"/>
          </p:cNvPicPr>
          <p:nvPr/>
        </p:nvPicPr>
        <p:blipFill>
          <a:blip r:embed="rId2"/>
          <a:stretch>
            <a:fillRect/>
          </a:stretch>
        </p:blipFill>
        <p:spPr>
          <a:xfrm>
            <a:off x="1580052" y="1545336"/>
            <a:ext cx="2006256" cy="2624328"/>
          </a:xfrm>
          <a:prstGeom prst="rect">
            <a:avLst/>
          </a:prstGeom>
        </p:spPr>
      </p:pic>
      <p:sp>
        <p:nvSpPr>
          <p:cNvPr id="5" name="TextBox 4"/>
          <p:cNvSpPr txBox="1"/>
          <p:nvPr/>
        </p:nvSpPr>
        <p:spPr>
          <a:xfrm>
            <a:off x="4892040" y="1389888"/>
            <a:ext cx="6812280" cy="347472"/>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NN/g: контролируемое сравнение на сценарии знакомства с продуктом</a:t>
            </a:r>
          </a:p>
        </p:txBody>
      </p:sp>
      <p:sp>
        <p:nvSpPr>
          <p:cNvPr id="6" name="Rounded Rectangle 5"/>
          <p:cNvSpPr/>
          <p:nvPr/>
        </p:nvSpPr>
        <p:spPr>
          <a:xfrm>
            <a:off x="4892040" y="1810512"/>
            <a:ext cx="681228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11496" y="1883664"/>
            <a:ext cx="274320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Реальные люди</a:t>
            </a:r>
          </a:p>
        </p:txBody>
      </p:sp>
      <p:pic>
        <p:nvPicPr>
          <p:cNvPr id="8" name="Picture 7" descr="check-check-mid.png"/>
          <p:cNvPicPr>
            <a:picLocks noChangeAspect="1"/>
          </p:cNvPicPr>
          <p:nvPr/>
        </p:nvPicPr>
        <p:blipFill>
          <a:blip r:embed="rId3"/>
          <a:stretch>
            <a:fillRect/>
          </a:stretch>
        </p:blipFill>
        <p:spPr>
          <a:xfrm>
            <a:off x="5148072" y="2240280"/>
            <a:ext cx="329184" cy="329184"/>
          </a:xfrm>
          <a:prstGeom prst="rect">
            <a:avLst/>
          </a:prstGeom>
        </p:spPr>
      </p:pic>
      <p:pic>
        <p:nvPicPr>
          <p:cNvPr id="9" name="Picture 8" descr="check-check-mid.png"/>
          <p:cNvPicPr>
            <a:picLocks noChangeAspect="1"/>
          </p:cNvPicPr>
          <p:nvPr/>
        </p:nvPicPr>
        <p:blipFill>
          <a:blip r:embed="rId3"/>
          <a:stretch>
            <a:fillRect/>
          </a:stretch>
        </p:blipFill>
        <p:spPr>
          <a:xfrm>
            <a:off x="5532120" y="2240280"/>
            <a:ext cx="329184" cy="329184"/>
          </a:xfrm>
          <a:prstGeom prst="rect">
            <a:avLst/>
          </a:prstGeom>
        </p:spPr>
      </p:pic>
      <p:pic>
        <p:nvPicPr>
          <p:cNvPr id="10" name="Picture 9" descr="check-check-mid.png"/>
          <p:cNvPicPr>
            <a:picLocks noChangeAspect="1"/>
          </p:cNvPicPr>
          <p:nvPr/>
        </p:nvPicPr>
        <p:blipFill>
          <a:blip r:embed="rId3"/>
          <a:stretch>
            <a:fillRect/>
          </a:stretch>
        </p:blipFill>
        <p:spPr>
          <a:xfrm>
            <a:off x="5916168" y="2240280"/>
            <a:ext cx="329184" cy="329184"/>
          </a:xfrm>
          <a:prstGeom prst="rect">
            <a:avLst/>
          </a:prstGeom>
        </p:spPr>
      </p:pic>
      <p:pic>
        <p:nvPicPr>
          <p:cNvPr id="11" name="Picture 10" descr="x-light.png"/>
          <p:cNvPicPr>
            <a:picLocks noChangeAspect="1"/>
          </p:cNvPicPr>
          <p:nvPr/>
        </p:nvPicPr>
        <p:blipFill>
          <a:blip r:embed="rId4"/>
          <a:stretch>
            <a:fillRect/>
          </a:stretch>
        </p:blipFill>
        <p:spPr>
          <a:xfrm>
            <a:off x="6300216" y="2240280"/>
            <a:ext cx="329184" cy="329184"/>
          </a:xfrm>
          <a:prstGeom prst="rect">
            <a:avLst/>
          </a:prstGeom>
        </p:spPr>
      </p:pic>
      <p:pic>
        <p:nvPicPr>
          <p:cNvPr id="12" name="Picture 11" descr="x-light.png"/>
          <p:cNvPicPr>
            <a:picLocks noChangeAspect="1"/>
          </p:cNvPicPr>
          <p:nvPr/>
        </p:nvPicPr>
        <p:blipFill>
          <a:blip r:embed="rId4"/>
          <a:stretch>
            <a:fillRect/>
          </a:stretch>
        </p:blipFill>
        <p:spPr>
          <a:xfrm>
            <a:off x="6684264" y="2240280"/>
            <a:ext cx="329184" cy="329184"/>
          </a:xfrm>
          <a:prstGeom prst="rect">
            <a:avLst/>
          </a:prstGeom>
        </p:spPr>
      </p:pic>
      <p:pic>
        <p:nvPicPr>
          <p:cNvPr id="13" name="Picture 12" descr="x-light.png"/>
          <p:cNvPicPr>
            <a:picLocks noChangeAspect="1"/>
          </p:cNvPicPr>
          <p:nvPr/>
        </p:nvPicPr>
        <p:blipFill>
          <a:blip r:embed="rId4"/>
          <a:stretch>
            <a:fillRect/>
          </a:stretch>
        </p:blipFill>
        <p:spPr>
          <a:xfrm>
            <a:off x="7068312" y="2240280"/>
            <a:ext cx="329184" cy="329184"/>
          </a:xfrm>
          <a:prstGeom prst="rect">
            <a:avLst/>
          </a:prstGeom>
        </p:spPr>
      </p:pic>
      <p:pic>
        <p:nvPicPr>
          <p:cNvPr id="14" name="Picture 13" descr="x-light.png"/>
          <p:cNvPicPr>
            <a:picLocks noChangeAspect="1"/>
          </p:cNvPicPr>
          <p:nvPr/>
        </p:nvPicPr>
        <p:blipFill>
          <a:blip r:embed="rId4"/>
          <a:stretch>
            <a:fillRect/>
          </a:stretch>
        </p:blipFill>
        <p:spPr>
          <a:xfrm>
            <a:off x="7452360" y="2240280"/>
            <a:ext cx="329184" cy="329184"/>
          </a:xfrm>
          <a:prstGeom prst="rect">
            <a:avLst/>
          </a:prstGeom>
        </p:spPr>
      </p:pic>
      <p:sp>
        <p:nvSpPr>
          <p:cNvPr id="15" name="TextBox 14"/>
          <p:cNvSpPr txBox="1"/>
          <p:nvPr/>
        </p:nvSpPr>
        <p:spPr>
          <a:xfrm>
            <a:off x="7955279" y="1993392"/>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3 из 7 — «надуманно и бесполезно»</a:t>
            </a:r>
          </a:p>
        </p:txBody>
      </p:sp>
      <p:sp>
        <p:nvSpPr>
          <p:cNvPr id="16" name="Rounded Rectangle 15"/>
          <p:cNvSpPr/>
          <p:nvPr/>
        </p:nvSpPr>
        <p:spPr>
          <a:xfrm>
            <a:off x="4892040" y="2907792"/>
            <a:ext cx="6812280" cy="9601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11496" y="2980944"/>
            <a:ext cx="274320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Синт-панель</a:t>
            </a:r>
          </a:p>
        </p:txBody>
      </p:sp>
      <p:pic>
        <p:nvPicPr>
          <p:cNvPr id="18" name="Picture 17" descr="check-check-gold.png"/>
          <p:cNvPicPr>
            <a:picLocks noChangeAspect="1"/>
          </p:cNvPicPr>
          <p:nvPr/>
        </p:nvPicPr>
        <p:blipFill>
          <a:blip r:embed="rId5"/>
          <a:stretch>
            <a:fillRect/>
          </a:stretch>
        </p:blipFill>
        <p:spPr>
          <a:xfrm>
            <a:off x="5148072" y="3337560"/>
            <a:ext cx="329184" cy="329184"/>
          </a:xfrm>
          <a:prstGeom prst="rect">
            <a:avLst/>
          </a:prstGeom>
        </p:spPr>
      </p:pic>
      <p:pic>
        <p:nvPicPr>
          <p:cNvPr id="19" name="Picture 18" descr="check-check-gold.png"/>
          <p:cNvPicPr>
            <a:picLocks noChangeAspect="1"/>
          </p:cNvPicPr>
          <p:nvPr/>
        </p:nvPicPr>
        <p:blipFill>
          <a:blip r:embed="rId5"/>
          <a:stretch>
            <a:fillRect/>
          </a:stretch>
        </p:blipFill>
        <p:spPr>
          <a:xfrm>
            <a:off x="5532120" y="3337560"/>
            <a:ext cx="329184" cy="329184"/>
          </a:xfrm>
          <a:prstGeom prst="rect">
            <a:avLst/>
          </a:prstGeom>
        </p:spPr>
      </p:pic>
      <p:pic>
        <p:nvPicPr>
          <p:cNvPr id="20" name="Picture 19" descr="check-check-gold.png"/>
          <p:cNvPicPr>
            <a:picLocks noChangeAspect="1"/>
          </p:cNvPicPr>
          <p:nvPr/>
        </p:nvPicPr>
        <p:blipFill>
          <a:blip r:embed="rId5"/>
          <a:stretch>
            <a:fillRect/>
          </a:stretch>
        </p:blipFill>
        <p:spPr>
          <a:xfrm>
            <a:off x="5916168" y="3337560"/>
            <a:ext cx="329184" cy="329184"/>
          </a:xfrm>
          <a:prstGeom prst="rect">
            <a:avLst/>
          </a:prstGeom>
        </p:spPr>
      </p:pic>
      <p:pic>
        <p:nvPicPr>
          <p:cNvPr id="21" name="Picture 20" descr="check-check-gold.png"/>
          <p:cNvPicPr>
            <a:picLocks noChangeAspect="1"/>
          </p:cNvPicPr>
          <p:nvPr/>
        </p:nvPicPr>
        <p:blipFill>
          <a:blip r:embed="rId5"/>
          <a:stretch>
            <a:fillRect/>
          </a:stretch>
        </p:blipFill>
        <p:spPr>
          <a:xfrm>
            <a:off x="6300216" y="3337560"/>
            <a:ext cx="329184" cy="329184"/>
          </a:xfrm>
          <a:prstGeom prst="rect">
            <a:avLst/>
          </a:prstGeom>
        </p:spPr>
      </p:pic>
      <p:pic>
        <p:nvPicPr>
          <p:cNvPr id="22" name="Picture 21" descr="check-check-gold.png"/>
          <p:cNvPicPr>
            <a:picLocks noChangeAspect="1"/>
          </p:cNvPicPr>
          <p:nvPr/>
        </p:nvPicPr>
        <p:blipFill>
          <a:blip r:embed="rId5"/>
          <a:stretch>
            <a:fillRect/>
          </a:stretch>
        </p:blipFill>
        <p:spPr>
          <a:xfrm>
            <a:off x="6684264" y="3337560"/>
            <a:ext cx="329184" cy="329184"/>
          </a:xfrm>
          <a:prstGeom prst="rect">
            <a:avLst/>
          </a:prstGeom>
        </p:spPr>
      </p:pic>
      <p:pic>
        <p:nvPicPr>
          <p:cNvPr id="23" name="Picture 22" descr="check-check-gold.png"/>
          <p:cNvPicPr>
            <a:picLocks noChangeAspect="1"/>
          </p:cNvPicPr>
          <p:nvPr/>
        </p:nvPicPr>
        <p:blipFill>
          <a:blip r:embed="rId5"/>
          <a:stretch>
            <a:fillRect/>
          </a:stretch>
        </p:blipFill>
        <p:spPr>
          <a:xfrm>
            <a:off x="7068312" y="3337560"/>
            <a:ext cx="329184" cy="329184"/>
          </a:xfrm>
          <a:prstGeom prst="rect">
            <a:avLst/>
          </a:prstGeom>
        </p:spPr>
      </p:pic>
      <p:pic>
        <p:nvPicPr>
          <p:cNvPr id="24" name="Picture 23" descr="check-check-gold.png"/>
          <p:cNvPicPr>
            <a:picLocks noChangeAspect="1"/>
          </p:cNvPicPr>
          <p:nvPr/>
        </p:nvPicPr>
        <p:blipFill>
          <a:blip r:embed="rId5"/>
          <a:stretch>
            <a:fillRect/>
          </a:stretch>
        </p:blipFill>
        <p:spPr>
          <a:xfrm>
            <a:off x="7452360" y="3337560"/>
            <a:ext cx="329184" cy="329184"/>
          </a:xfrm>
          <a:prstGeom prst="rect">
            <a:avLst/>
          </a:prstGeom>
        </p:spPr>
      </p:pic>
      <p:sp>
        <p:nvSpPr>
          <p:cNvPr id="25" name="TextBox 24"/>
          <p:cNvSpPr txBox="1"/>
          <p:nvPr/>
        </p:nvSpPr>
        <p:spPr>
          <a:xfrm>
            <a:off x="7955279" y="3090672"/>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7 из 7 — «меняет правила игры»</a:t>
            </a:r>
          </a:p>
        </p:txBody>
      </p:sp>
      <p:sp>
        <p:nvSpPr>
          <p:cNvPr id="26" name="TextBox 25"/>
          <p:cNvSpPr txBox="1"/>
          <p:nvPr/>
        </p:nvSpPr>
        <p:spPr>
          <a:xfrm>
            <a:off x="4892040" y="3986784"/>
            <a:ext cx="6812280" cy="347472"/>
          </a:xfrm>
          <a:prstGeom prst="rect">
            <a:avLst/>
          </a:prstGeom>
          <a:noFill/>
        </p:spPr>
        <p:txBody>
          <a:bodyPr wrap="square" lIns="0" rIns="0" tIns="0" bIns="0" anchor="t">
            <a:spAutoFit/>
          </a:bodyPr>
          <a:lstStyle/>
          <a:p>
            <a:pPr algn="l">
              <a:lnSpc>
                <a:spcPct val="115000"/>
              </a:lnSpc>
            </a:pPr>
            <a:r>
              <a:rPr sz="1250" b="0" i="1">
                <a:solidFill>
                  <a:srgbClr val="5B6678"/>
                </a:solidFill>
                <a:latin typeface="DejaVu Sans"/>
              </a:rPr>
              <a:t>Одна и та же фича — противоположные вердикты</a:t>
            </a:r>
          </a:p>
        </p:txBody>
      </p:sp>
      <p:sp>
        <p:nvSpPr>
          <p:cNvPr id="27" name="Rounded Rectangle 26"/>
          <p:cNvSpPr/>
          <p:nvPr/>
        </p:nvSpPr>
        <p:spPr>
          <a:xfrm>
            <a:off x="502920" y="4681728"/>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4736592"/>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синтетический выход дисквалифицирован для решения «продолжать/остановить» по построению, а не из-за невезения прогона. Альтернатива: до-исследовательская роль + реальное тестирование 5-8 участников.</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NN/g (Rosala &amp; Moran) — Synthetic Users</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124712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Один бренд, два провала: данные подвели одну систему, закупка — другую</a:t>
            </a:r>
          </a:p>
        </p:txBody>
      </p:sp>
      <p:sp>
        <p:nvSpPr>
          <p:cNvPr id="3" name="Rounded Rectangle 2"/>
          <p:cNvSpPr/>
          <p:nvPr/>
        </p:nvSpPr>
        <p:spPr>
          <a:xfrm>
            <a:off x="502920" y="1042415"/>
            <a:ext cx="269748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IBM Watson Health</a:t>
            </a:r>
          </a:p>
        </p:txBody>
      </p:sp>
      <p:sp>
        <p:nvSpPr>
          <p:cNvPr id="4" name="Rounded Rectangle 3"/>
          <p:cNvSpPr/>
          <p:nvPr/>
        </p:nvSpPr>
        <p:spPr>
          <a:xfrm>
            <a:off x="502920" y="1554480"/>
            <a:ext cx="5532120" cy="3291840"/>
          </a:xfrm>
          <a:prstGeom prst="roundRect">
            <a:avLst>
              <a:gd name="adj" fmla="val 925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sk-conical-mid.png"/>
          <p:cNvPicPr>
            <a:picLocks noChangeAspect="1"/>
          </p:cNvPicPr>
          <p:nvPr/>
        </p:nvPicPr>
        <p:blipFill>
          <a:blip r:embed="rId2"/>
          <a:stretch>
            <a:fillRect/>
          </a:stretch>
        </p:blipFill>
        <p:spPr>
          <a:xfrm>
            <a:off x="722376" y="1700784"/>
            <a:ext cx="457200" cy="457200"/>
          </a:xfrm>
          <a:prstGeom prst="rect">
            <a:avLst/>
          </a:prstGeom>
        </p:spPr>
      </p:pic>
      <p:sp>
        <p:nvSpPr>
          <p:cNvPr id="6" name="TextBox 5"/>
          <p:cNvSpPr txBox="1"/>
          <p:nvPr/>
        </p:nvSpPr>
        <p:spPr>
          <a:xfrm>
            <a:off x="1289304" y="1700784"/>
            <a:ext cx="4526279" cy="292608"/>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Случай A — Watson for Oncology</a:t>
            </a:r>
          </a:p>
        </p:txBody>
      </p:sp>
      <p:sp>
        <p:nvSpPr>
          <p:cNvPr id="7" name="TextBox 6"/>
          <p:cNvSpPr txBox="1"/>
          <p:nvPr/>
        </p:nvSpPr>
        <p:spPr>
          <a:xfrm>
            <a:off x="1289304" y="2002536"/>
            <a:ext cx="4526279" cy="256032"/>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Memorial Sloan Kettering, с 2012</a:t>
            </a:r>
          </a:p>
        </p:txBody>
      </p:sp>
      <p:sp>
        <p:nvSpPr>
          <p:cNvPr id="8" name="TextBox 7"/>
          <p:cNvSpPr txBox="1"/>
          <p:nvPr/>
        </p:nvSpPr>
        <p:spPr>
          <a:xfrm>
            <a:off x="740664" y="234086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Коммерческий запуск 2015; внутренние документы: рекомендации «небезопасные и некорректные»</a:t>
            </a:r>
          </a:p>
        </p:txBody>
      </p:sp>
      <p:sp>
        <p:nvSpPr>
          <p:cNvPr id="9" name="TextBox 8"/>
          <p:cNvSpPr txBox="1"/>
          <p:nvPr/>
        </p:nvSpPr>
        <p:spPr>
          <a:xfrm>
            <a:off x="740664" y="288950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Бевацизумаб гипотетическому пациенту с активным кровотечением — вопреки предупреждению производителя</a:t>
            </a:r>
          </a:p>
        </p:txBody>
      </p:sp>
      <p:sp>
        <p:nvSpPr>
          <p:cNvPr id="10" name="Rounded Rectangle 9"/>
          <p:cNvSpPr/>
          <p:nvPr/>
        </p:nvSpPr>
        <p:spPr>
          <a:xfrm>
            <a:off x="740664" y="3474720"/>
            <a:ext cx="5056631" cy="384048"/>
          </a:xfrm>
          <a:prstGeom prst="roundRect">
            <a:avLst>
              <a:gd name="adj" fmla="val 14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3474720"/>
            <a:ext cx="5056631" cy="384048"/>
          </a:xfrm>
          <a:prstGeom prst="rect">
            <a:avLst/>
          </a:prstGeom>
          <a:noFill/>
        </p:spPr>
        <p:txBody>
          <a:bodyPr wrap="square" lIns="0" rIns="0" tIns="0" bIns="0" anchor="ctr">
            <a:spAutoFit/>
          </a:bodyPr>
          <a:lstStyle/>
          <a:p>
            <a:pPr algn="ctr">
              <a:lnSpc>
                <a:spcPct val="115000"/>
              </a:lnSpc>
            </a:pPr>
            <a:r>
              <a:rPr sz="1100" b="0" i="1">
                <a:solidFill>
                  <a:srgbClr val="5B6678"/>
                </a:solidFill>
                <a:latin typeface="DejaVu Sans"/>
              </a:rPr>
              <a:t>STAT News · 25 июля 2018 </a:t>
            </a:r>
            <a:r>
              <a:rPr sz="572" baseline="30000" b="0" i="1">
                <a:latin typeface="DejaVu Sans"/>
                <a:cs typeface="DejaVu Sans"/>
                <a:ea typeface="DejaVu Sans"/>
                <a:solidFill>
                  <a:srgbClr val="1C7293"/>
                </a:solidFill>
              </a:rPr>
              <a:t>[1]</a:t>
            </a:r>
          </a:p>
        </p:txBody>
      </p:sp>
      <p:sp>
        <p:nvSpPr>
          <p:cNvPr id="12" name="Rounded Rectangle 11"/>
          <p:cNvSpPr/>
          <p:nvPr/>
        </p:nvSpPr>
        <p:spPr>
          <a:xfrm>
            <a:off x="740664" y="3950208"/>
            <a:ext cx="5056631" cy="786384"/>
          </a:xfrm>
          <a:prstGeom prst="roundRect">
            <a:avLst>
              <a:gd name="adj" fmla="val 9000"/>
            </a:avLst>
          </a:prstGeom>
          <a:solidFill>
            <a:srgbClr val="E1EAF0"/>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3986784"/>
            <a:ext cx="4764024" cy="713232"/>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Причина: обучен на малом числе синтетических, гипотетических кейсов горстки онкологов MSK — не на реальных исходах </a:t>
            </a:r>
            <a:r>
              <a:rPr sz="546" baseline="30000" b="0" i="1">
                <a:latin typeface="DejaVu Sans"/>
                <a:cs typeface="DejaVu Sans"/>
                <a:ea typeface="DejaVu Sans"/>
                <a:solidFill>
                  <a:srgbClr val="1C7293"/>
                </a:solidFill>
              </a:rPr>
              <a:t>[2]</a:t>
            </a:r>
          </a:p>
        </p:txBody>
      </p:sp>
      <p:sp>
        <p:nvSpPr>
          <p:cNvPr id="14" name="Rounded Rectangle 13"/>
          <p:cNvSpPr/>
          <p:nvPr/>
        </p:nvSpPr>
        <p:spPr>
          <a:xfrm>
            <a:off x="6172200" y="1554480"/>
            <a:ext cx="5532120" cy="3291840"/>
          </a:xfrm>
          <a:prstGeom prst="roundRect">
            <a:avLst>
              <a:gd name="adj" fmla="val 9259"/>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warning-teal.png"/>
          <p:cNvPicPr>
            <a:picLocks noChangeAspect="1"/>
          </p:cNvPicPr>
          <p:nvPr/>
        </p:nvPicPr>
        <p:blipFill>
          <a:blip r:embed="rId3"/>
          <a:stretch>
            <a:fillRect/>
          </a:stretch>
        </p:blipFill>
        <p:spPr>
          <a:xfrm>
            <a:off x="6391656" y="1700784"/>
            <a:ext cx="457200" cy="457200"/>
          </a:xfrm>
          <a:prstGeom prst="rect">
            <a:avLst/>
          </a:prstGeom>
        </p:spPr>
      </p:pic>
      <p:sp>
        <p:nvSpPr>
          <p:cNvPr id="16" name="TextBox 15"/>
          <p:cNvSpPr txBox="1"/>
          <p:nvPr/>
        </p:nvSpPr>
        <p:spPr>
          <a:xfrm>
            <a:off x="6958584" y="1700784"/>
            <a:ext cx="4526279" cy="292608"/>
          </a:xfrm>
          <a:prstGeom prst="rect">
            <a:avLst/>
          </a:prstGeom>
          <a:noFill/>
        </p:spPr>
        <p:txBody>
          <a:bodyPr wrap="square" lIns="0" rIns="0" tIns="0" bIns="0" anchor="t">
            <a:spAutoFit/>
          </a:bodyPr>
          <a:lstStyle/>
          <a:p>
            <a:pPr algn="l">
              <a:lnSpc>
                <a:spcPct val="105000"/>
              </a:lnSpc>
            </a:pPr>
            <a:r>
              <a:rPr sz="1300" b="1" i="0">
                <a:solidFill>
                  <a:srgbClr val="028090"/>
                </a:solidFill>
                <a:latin typeface="DejaVu Sans"/>
              </a:rPr>
              <a:t>Случай B — Oncology Expert Advisor</a:t>
            </a:r>
          </a:p>
        </p:txBody>
      </p:sp>
      <p:sp>
        <p:nvSpPr>
          <p:cNvPr id="17" name="TextBox 16"/>
          <p:cNvSpPr txBox="1"/>
          <p:nvPr/>
        </p:nvSpPr>
        <p:spPr>
          <a:xfrm>
            <a:off x="6958584" y="2002536"/>
            <a:ext cx="4526279" cy="256032"/>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MD Anderson, 2013–2016</a:t>
            </a:r>
          </a:p>
        </p:txBody>
      </p:sp>
      <p:sp>
        <p:nvSpPr>
          <p:cNvPr id="18" name="TextBox 17"/>
          <p:cNvSpPr txBox="1"/>
          <p:nvPr/>
        </p:nvSpPr>
        <p:spPr>
          <a:xfrm>
            <a:off x="6409944" y="234086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Контракт через 12 продлений вырос с $2,4 млн до $39,2 млн IBM + $23 млн PwC</a:t>
            </a:r>
          </a:p>
        </p:txBody>
      </p:sp>
      <p:sp>
        <p:nvSpPr>
          <p:cNvPr id="19" name="TextBox 18"/>
          <p:cNvSpPr txBox="1"/>
          <p:nvPr/>
        </p:nvSpPr>
        <p:spPr>
          <a:xfrm>
            <a:off x="6409944" y="288950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Закрыт в сентябре 2016 — без единого пролеченного пациента</a:t>
            </a:r>
          </a:p>
        </p:txBody>
      </p:sp>
      <p:sp>
        <p:nvSpPr>
          <p:cNvPr id="20" name="Rounded Rectangle 19"/>
          <p:cNvSpPr/>
          <p:nvPr/>
        </p:nvSpPr>
        <p:spPr>
          <a:xfrm>
            <a:off x="6409944" y="3474720"/>
            <a:ext cx="5056631" cy="384048"/>
          </a:xfrm>
          <a:prstGeom prst="roundRect">
            <a:avLst>
              <a:gd name="adj" fmla="val 14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3474720"/>
            <a:ext cx="5056631" cy="384048"/>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 $62 млн  →  0 пациентов</a:t>
            </a:r>
          </a:p>
        </p:txBody>
      </p:sp>
      <p:sp>
        <p:nvSpPr>
          <p:cNvPr id="22" name="Rounded Rectangle 21"/>
          <p:cNvSpPr/>
          <p:nvPr/>
        </p:nvSpPr>
        <p:spPr>
          <a:xfrm>
            <a:off x="6409944" y="3950208"/>
            <a:ext cx="5056631" cy="786384"/>
          </a:xfrm>
          <a:prstGeom prst="roundRect">
            <a:avLst>
              <a:gd name="adj" fmla="val 9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6248" y="3986784"/>
            <a:ext cx="4764024" cy="713232"/>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Причина по аудиту University of Texas System: обход конкурсных закупочных процедур + дефицит донорского финансирования ≈ $11,6 млн — не про данные и не про модель</a:t>
            </a:r>
          </a:p>
        </p:txBody>
      </p:sp>
      <p:sp>
        <p:nvSpPr>
          <p:cNvPr id="24" name="Rounded Rectangle 23"/>
          <p:cNvSpPr/>
          <p:nvPr/>
        </p:nvSpPr>
        <p:spPr>
          <a:xfrm>
            <a:off x="502920" y="5029200"/>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84064"/>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Два независимых механизма отказа одной корпорации: непригодные данные против несостоятельного управления проектом. Не всякий дорогой провал с ИИ на обложке объясняется самим ИИ.</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STAT News — утечка внутренних документов IBM Watson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IEEE Spectrum — как Watson переобещал и недодал</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1 практика · 1 провал</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Как гипотеза из исследования превращается в конкретный артефакт, который можно показать человеку. Здесь же закладывается безопасность — в дизайн-брифе, а не патчем после того, как что-то пошло не так.</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Два алмаза: сначала правильная проблема, потом правильное решение</a:t>
            </a:r>
          </a:p>
        </p:txBody>
      </p:sp>
      <p:sp>
        <p:nvSpPr>
          <p:cNvPr id="3" name="Diamond 2"/>
          <p:cNvSpPr/>
          <p:nvPr/>
        </p:nvSpPr>
        <p:spPr>
          <a:xfrm>
            <a:off x="1828800" y="1874519"/>
            <a:ext cx="2468880" cy="1828800"/>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468879"/>
            <a:ext cx="3383280" cy="640080"/>
          </a:xfrm>
          <a:prstGeom prst="rect">
            <a:avLst/>
          </a:prstGeom>
          <a:noFill/>
        </p:spPr>
        <p:txBody>
          <a:bodyPr wrap="square" lIns="0" rIns="0" tIns="0" bIns="0" anchor="ctr">
            <a:spAutoFit/>
          </a:bodyPr>
          <a:lstStyle/>
          <a:p>
            <a:pPr algn="ctr">
              <a:lnSpc>
                <a:spcPct val="115000"/>
              </a:lnSpc>
            </a:pPr>
            <a:r>
              <a:rPr sz="1350" b="1" i="0">
                <a:solidFill>
                  <a:srgbClr val="065A82"/>
                </a:solidFill>
                <a:latin typeface="DejaVu Sans"/>
              </a:rPr>
              <a:t>Правильная</a:t>
            </a:r>
          </a:p>
          <a:p>
            <a:pPr algn="ctr">
              <a:lnSpc>
                <a:spcPct val="115000"/>
              </a:lnSpc>
            </a:pPr>
            <a:r>
              <a:rPr sz="1350" b="1" i="0">
                <a:solidFill>
                  <a:srgbClr val="065A82"/>
                </a:solidFill>
                <a:latin typeface="DejaVu Sans"/>
              </a:rPr>
              <a:t>проблема</a:t>
            </a:r>
          </a:p>
        </p:txBody>
      </p:sp>
      <p:sp>
        <p:nvSpPr>
          <p:cNvPr id="5" name="TextBox 4"/>
          <p:cNvSpPr txBox="1"/>
          <p:nvPr/>
        </p:nvSpPr>
        <p:spPr>
          <a:xfrm>
            <a:off x="1508760" y="1307591"/>
            <a:ext cx="3108960" cy="502920"/>
          </a:xfrm>
          <a:prstGeom prst="rect">
            <a:avLst/>
          </a:prstGeom>
          <a:noFill/>
        </p:spPr>
        <p:txBody>
          <a:bodyPr wrap="square" lIns="0" rIns="0" tIns="0" bIns="0" anchor="t">
            <a:spAutoFit/>
          </a:bodyPr>
          <a:lstStyle/>
          <a:p>
            <a:pPr algn="ctr">
              <a:lnSpc>
                <a:spcPct val="105000"/>
              </a:lnSpc>
            </a:pPr>
            <a:r>
              <a:rPr sz="1250" b="1" i="0">
                <a:solidFill>
                  <a:srgbClr val="065A82"/>
                </a:solidFill>
                <a:latin typeface="DejaVu Sans"/>
              </a:rPr>
              <a:t>Расширяем проблему</a:t>
            </a:r>
          </a:p>
        </p:txBody>
      </p:sp>
      <p:sp>
        <p:nvSpPr>
          <p:cNvPr id="6" name="TextBox 5"/>
          <p:cNvSpPr txBox="1"/>
          <p:nvPr/>
        </p:nvSpPr>
        <p:spPr>
          <a:xfrm>
            <a:off x="150876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одна проблема</a:t>
            </a:r>
          </a:p>
        </p:txBody>
      </p:sp>
      <p:sp>
        <p:nvSpPr>
          <p:cNvPr id="7" name="Diamond 6"/>
          <p:cNvSpPr/>
          <p:nvPr/>
        </p:nvSpPr>
        <p:spPr>
          <a:xfrm>
            <a:off x="5760720" y="1874519"/>
            <a:ext cx="2468880" cy="1828800"/>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2468879"/>
            <a:ext cx="3383280" cy="640080"/>
          </a:xfrm>
          <a:prstGeom prst="rect">
            <a:avLst/>
          </a:prstGeom>
          <a:noFill/>
        </p:spPr>
        <p:txBody>
          <a:bodyPr wrap="square" lIns="0" rIns="0" tIns="0" bIns="0" anchor="ctr">
            <a:spAutoFit/>
          </a:bodyPr>
          <a:lstStyle/>
          <a:p>
            <a:pPr algn="ctr">
              <a:lnSpc>
                <a:spcPct val="115000"/>
              </a:lnSpc>
            </a:pPr>
            <a:r>
              <a:rPr sz="1350" b="1" i="0">
                <a:solidFill>
                  <a:srgbClr val="028090"/>
                </a:solidFill>
                <a:latin typeface="DejaVu Sans"/>
              </a:rPr>
              <a:t>Правильное</a:t>
            </a:r>
          </a:p>
          <a:p>
            <a:pPr algn="ctr">
              <a:lnSpc>
                <a:spcPct val="115000"/>
              </a:lnSpc>
            </a:pPr>
            <a:r>
              <a:rPr sz="1350" b="1" i="0">
                <a:solidFill>
                  <a:srgbClr val="028090"/>
                </a:solidFill>
                <a:latin typeface="DejaVu Sans"/>
              </a:rPr>
              <a:t>решение</a:t>
            </a:r>
          </a:p>
        </p:txBody>
      </p:sp>
      <p:sp>
        <p:nvSpPr>
          <p:cNvPr id="9" name="TextBox 8"/>
          <p:cNvSpPr txBox="1"/>
          <p:nvPr/>
        </p:nvSpPr>
        <p:spPr>
          <a:xfrm>
            <a:off x="5440680" y="1307591"/>
            <a:ext cx="3108960" cy="502920"/>
          </a:xfrm>
          <a:prstGeom prst="rect">
            <a:avLst/>
          </a:prstGeom>
          <a:noFill/>
        </p:spPr>
        <p:txBody>
          <a:bodyPr wrap="square" lIns="0" rIns="0" tIns="0" bIns="0" anchor="t">
            <a:spAutoFit/>
          </a:bodyPr>
          <a:lstStyle/>
          <a:p>
            <a:pPr algn="ctr">
              <a:lnSpc>
                <a:spcPct val="105000"/>
              </a:lnSpc>
            </a:pPr>
            <a:r>
              <a:rPr sz="1250" b="1" i="0">
                <a:solidFill>
                  <a:srgbClr val="028090"/>
                </a:solidFill>
                <a:latin typeface="DejaVu Sans"/>
              </a:rPr>
              <a:t>Расширяем решение</a:t>
            </a:r>
          </a:p>
        </p:txBody>
      </p:sp>
      <p:sp>
        <p:nvSpPr>
          <p:cNvPr id="10" name="TextBox 9"/>
          <p:cNvSpPr txBox="1"/>
          <p:nvPr/>
        </p:nvSpPr>
        <p:spPr>
          <a:xfrm>
            <a:off x="544068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одно решение</a:t>
            </a:r>
          </a:p>
        </p:txBody>
      </p:sp>
      <p:sp>
        <p:nvSpPr>
          <p:cNvPr id="11" name="Right Arrow 10"/>
          <p:cNvSpPr/>
          <p:nvPr/>
        </p:nvSpPr>
        <p:spPr>
          <a:xfrm>
            <a:off x="4617720" y="2651760"/>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2606040"/>
            <a:ext cx="3108960" cy="11887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Double Diamond </a:t>
            </a:r>
            <a:r>
              <a:rPr sz="624" baseline="30000" b="0" i="1">
                <a:latin typeface="DejaVu Sans"/>
                <a:cs typeface="DejaVu Sans"/>
                <a:ea typeface="DejaVu Sans"/>
                <a:solidFill>
                  <a:srgbClr val="1C7293"/>
                </a:solidFill>
              </a:rPr>
              <a:t>[1]</a:t>
            </a:r>
          </a:p>
          <a:p>
            <a:pPr algn="l">
              <a:lnSpc>
                <a:spcPct val="115000"/>
              </a:lnSpc>
            </a:pPr>
            <a:r>
              <a:rPr sz="1200" b="0" i="0">
                <a:solidFill>
                  <a:srgbClr val="21295C"/>
                </a:solidFill>
                <a:latin typeface="DejaVu Sans"/>
              </a:rPr>
              <a:t>(Design Council UK)</a:t>
            </a:r>
          </a:p>
          <a:p>
            <a:pPr algn="l">
              <a:lnSpc>
                <a:spcPct val="115000"/>
              </a:lnSpc>
            </a:pPr>
            <a:r>
              <a:rPr sz="1200" b="0" i="0">
                <a:solidFill>
                  <a:srgbClr val="21295C"/>
                </a:solidFill>
                <a:latin typeface="DejaVu Sans"/>
              </a:rPr>
              <a:t/>
            </a:r>
          </a:p>
          <a:p>
            <a:pPr algn="l">
              <a:lnSpc>
                <a:spcPct val="115000"/>
              </a:lnSpc>
            </a:pPr>
            <a:r>
              <a:rPr sz="1200" b="0" i="0">
                <a:solidFill>
                  <a:srgbClr val="21295C"/>
                </a:solidFill>
                <a:latin typeface="DejaVu Sans"/>
              </a:rPr>
              <a:t>Design Thinking — его 5-шаговая версия того же каркаса</a:t>
            </a:r>
          </a:p>
        </p:txBody>
      </p:sp>
      <p:sp>
        <p:nvSpPr>
          <p:cNvPr id="13" name="Rounded Rectangle 12"/>
          <p:cNvSpPr/>
          <p:nvPr/>
        </p:nvSpPr>
        <p:spPr>
          <a:xfrm>
            <a:off x="502920" y="4206240"/>
            <a:ext cx="11201400" cy="12344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261103"/>
            <a:ext cx="10762488" cy="1124712"/>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Частая ошибка: конвергировать на решении, не проверив саму проблему — перепрыгнуть первый алмаз. Дешёвый прототип нужен именно для того, чтобы это вскрыть до траты денег на разработку.</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UK Design Council — The Double Diamond</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ИИ для дивергенции, человек для конвергенции</a:t>
            </a:r>
          </a:p>
        </p:txBody>
      </p:sp>
      <p:sp>
        <p:nvSpPr>
          <p:cNvPr id="3" name="Rounded Rectangle 2"/>
          <p:cNvSpPr/>
          <p:nvPr/>
        </p:nvSpPr>
        <p:spPr>
          <a:xfrm>
            <a:off x="502920" y="1463040"/>
            <a:ext cx="59893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4864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Генерация направлений</a:t>
            </a:r>
          </a:p>
        </p:txBody>
      </p:sp>
      <p:sp>
        <p:nvSpPr>
          <p:cNvPr id="5" name="Rounded Rectangle 4"/>
          <p:cNvSpPr/>
          <p:nvPr/>
        </p:nvSpPr>
        <p:spPr>
          <a:xfrm>
            <a:off x="77724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61288" y="2212848"/>
            <a:ext cx="411480" cy="411480"/>
          </a:xfrm>
          <a:prstGeom prst="rect">
            <a:avLst/>
          </a:prstGeom>
        </p:spPr>
      </p:pic>
      <p:sp>
        <p:nvSpPr>
          <p:cNvPr id="7" name="TextBox 6"/>
          <p:cNvSpPr txBox="1"/>
          <p:nvPr/>
        </p:nvSpPr>
        <p:spPr>
          <a:xfrm>
            <a:off x="77724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8" name="Rounded Rectangle 7"/>
          <p:cNvSpPr/>
          <p:nvPr/>
        </p:nvSpPr>
        <p:spPr>
          <a:xfrm>
            <a:off x="219456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578608" y="2212848"/>
            <a:ext cx="411480" cy="411480"/>
          </a:xfrm>
          <a:prstGeom prst="rect">
            <a:avLst/>
          </a:prstGeom>
        </p:spPr>
      </p:pic>
      <p:sp>
        <p:nvSpPr>
          <p:cNvPr id="10" name="TextBox 9"/>
          <p:cNvSpPr txBox="1"/>
          <p:nvPr/>
        </p:nvSpPr>
        <p:spPr>
          <a:xfrm>
            <a:off x="219456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1" name="Rounded Rectangle 10"/>
          <p:cNvSpPr/>
          <p:nvPr/>
        </p:nvSpPr>
        <p:spPr>
          <a:xfrm>
            <a:off x="361188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995928" y="2212848"/>
            <a:ext cx="411480" cy="411480"/>
          </a:xfrm>
          <a:prstGeom prst="rect">
            <a:avLst/>
          </a:prstGeom>
        </p:spPr>
      </p:pic>
      <p:sp>
        <p:nvSpPr>
          <p:cNvPr id="13" name="TextBox 12"/>
          <p:cNvSpPr txBox="1"/>
          <p:nvPr/>
        </p:nvSpPr>
        <p:spPr>
          <a:xfrm>
            <a:off x="361188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14" name="Rounded Rectangle 13"/>
          <p:cNvSpPr/>
          <p:nvPr/>
        </p:nvSpPr>
        <p:spPr>
          <a:xfrm>
            <a:off x="502920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413248" y="2212848"/>
            <a:ext cx="411480" cy="411480"/>
          </a:xfrm>
          <a:prstGeom prst="rect">
            <a:avLst/>
          </a:prstGeom>
        </p:spPr>
      </p:pic>
      <p:sp>
        <p:nvSpPr>
          <p:cNvPr id="16" name="TextBox 15"/>
          <p:cNvSpPr txBox="1"/>
          <p:nvPr/>
        </p:nvSpPr>
        <p:spPr>
          <a:xfrm>
            <a:off x="502920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17" name="Right Arrow 16"/>
          <p:cNvSpPr/>
          <p:nvPr/>
        </p:nvSpPr>
        <p:spPr>
          <a:xfrm>
            <a:off x="2788920" y="3246120"/>
            <a:ext cx="914400" cy="27432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31720" y="3611880"/>
            <a:ext cx="1828800" cy="50292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3675887"/>
            <a:ext cx="1828800" cy="36576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1 доработанное</a:t>
            </a:r>
          </a:p>
        </p:txBody>
      </p:sp>
      <p:sp>
        <p:nvSpPr>
          <p:cNvPr id="20" name="Rounded Rectangle 19"/>
          <p:cNvSpPr/>
          <p:nvPr/>
        </p:nvSpPr>
        <p:spPr>
          <a:xfrm>
            <a:off x="6720840" y="1463040"/>
            <a:ext cx="498348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0" y="1572768"/>
            <a:ext cx="457200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Инструменты 2025–26</a:t>
            </a:r>
          </a:p>
        </p:txBody>
      </p:sp>
      <p:sp>
        <p:nvSpPr>
          <p:cNvPr id="22" name="TextBox 21"/>
          <p:cNvSpPr txBox="1"/>
          <p:nvPr/>
        </p:nvSpPr>
        <p:spPr>
          <a:xfrm>
            <a:off x="6949440" y="2011680"/>
            <a:ext cx="45720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v0 (Vercel) · Figma Make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 Google Stitch </a:t>
            </a:r>
            <a:r>
              <a:rPr sz="650" baseline="30000" b="0" i="1">
                <a:latin typeface="DejaVu Sans"/>
                <a:cs typeface="DejaVu Sans"/>
                <a:ea typeface="DejaVu Sans"/>
                <a:solidFill>
                  <a:srgbClr val="1C7293"/>
                </a:solidFill>
              </a:rPr>
              <a:t>[2]</a:t>
            </a:r>
            <a:r>
              <a:rPr sz="1250" b="0" i="0">
                <a:latin typeface="DejaVu Sans"/>
                <a:cs typeface="DejaVu Sans"/>
                <a:ea typeface="DejaVu Sans"/>
                <a:solidFill>
                  <a:srgbClr val="21295C"/>
                </a:solidFill>
              </a:rPr>
              <a:t> · bolt.new</a:t>
            </a:r>
          </a:p>
        </p:txBody>
      </p:sp>
      <p:sp>
        <p:nvSpPr>
          <p:cNvPr id="23" name="TextBox 22"/>
          <p:cNvSpPr txBox="1"/>
          <p:nvPr/>
        </p:nvSpPr>
        <p:spPr>
          <a:xfrm>
            <a:off x="6949440" y="2697480"/>
            <a:ext cx="4572000" cy="137160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 2–4 направления за минуты (было — день ручного вайрфрейминга)</a:t>
            </a:r>
          </a:p>
          <a:p>
            <a:pPr algn="l">
              <a:lnSpc>
                <a:spcPct val="118000"/>
              </a:lnSpc>
            </a:pPr>
            <a:r>
              <a:rPr sz="1200" b="0" i="0">
                <a:solidFill>
                  <a:srgbClr val="21295C"/>
                </a:solidFill>
                <a:latin typeface="DejaVu Sans"/>
              </a:rPr>
              <a:t>• Figma Make подтягивает собственные компоненты команды — меньше переделки</a:t>
            </a:r>
          </a:p>
        </p:txBody>
      </p:sp>
      <p:sp>
        <p:nvSpPr>
          <p:cNvPr id="24" name="Rounded Rectangle 23"/>
          <p:cNvSpPr/>
          <p:nvPr/>
        </p:nvSpPr>
        <p:spPr>
          <a:xfrm>
            <a:off x="502920" y="443484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489703"/>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Конвергенция требует суждения о конкретном контексте, которого нет в обучающих данных: ИИ расширяет пространство вариантов, а выбор и проверку на живом пользователе оставляем человеку.</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Figma — AI-инструменты дизайна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Stitch (ex-Galileo AI)</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Три слоя дизайн-системы — контролем является только третий</a:t>
            </a:r>
          </a:p>
        </p:txBody>
      </p:sp>
      <p:sp>
        <p:nvSpPr>
          <p:cNvPr id="3" name="Rounded Rectangle 2"/>
          <p:cNvSpPr/>
          <p:nvPr/>
        </p:nvSpPr>
        <p:spPr>
          <a:xfrm>
            <a:off x="502920" y="536206"/>
            <a:ext cx="1152144" cy="182880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182880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36206"/>
            <a:ext cx="9902952" cy="1828800"/>
          </a:xfrm>
          <a:prstGeom prst="roundRect">
            <a:avLst>
              <a:gd name="adj" fmla="val 1666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984248" y="627646"/>
            <a:ext cx="9537192" cy="566928"/>
          </a:xfrm>
          <a:prstGeom prst="roundRect">
            <a:avLst>
              <a:gd name="adj" fmla="val 22000"/>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84248" y="627646"/>
            <a:ext cx="2103120" cy="56692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ield-check-white.png"/>
          <p:cNvPicPr>
            <a:picLocks noChangeAspect="1"/>
          </p:cNvPicPr>
          <p:nvPr/>
        </p:nvPicPr>
        <p:blipFill>
          <a:blip r:embed="rId2"/>
          <a:stretch>
            <a:fillRect/>
          </a:stretch>
        </p:blipFill>
        <p:spPr>
          <a:xfrm>
            <a:off x="2112264" y="792238"/>
            <a:ext cx="237744" cy="237744"/>
          </a:xfrm>
          <a:prstGeom prst="rect">
            <a:avLst/>
          </a:prstGeom>
        </p:spPr>
      </p:pic>
      <p:sp>
        <p:nvSpPr>
          <p:cNvPr id="9" name="TextBox 8"/>
          <p:cNvSpPr txBox="1"/>
          <p:nvPr/>
        </p:nvSpPr>
        <p:spPr>
          <a:xfrm>
            <a:off x="2404872" y="627646"/>
            <a:ext cx="1627632" cy="566928"/>
          </a:xfrm>
          <a:prstGeom prst="rect">
            <a:avLst/>
          </a:prstGeom>
          <a:noFill/>
        </p:spPr>
        <p:txBody>
          <a:bodyPr wrap="square" lIns="0" rIns="0" tIns="0" bIns="0" anchor="ctr">
            <a:spAutoFit/>
          </a:bodyPr>
          <a:lstStyle/>
          <a:p>
            <a:pPr algn="l">
              <a:lnSpc>
                <a:spcPct val="102000"/>
              </a:lnSpc>
            </a:pPr>
            <a:r>
              <a:rPr sz="1000" b="1" i="0">
                <a:solidFill>
                  <a:srgbClr val="FFFFFF"/>
                </a:solidFill>
                <a:latin typeface="DejaVu Sans"/>
              </a:rPr>
              <a:t>3. ГЕЙТ В СБОРКЕ</a:t>
            </a:r>
          </a:p>
        </p:txBody>
      </p:sp>
      <p:sp>
        <p:nvSpPr>
          <p:cNvPr id="10" name="TextBox 9"/>
          <p:cNvSpPr txBox="1"/>
          <p:nvPr/>
        </p:nvSpPr>
        <p:spPr>
          <a:xfrm>
            <a:off x="4215383" y="664222"/>
            <a:ext cx="7196327" cy="493776"/>
          </a:xfrm>
          <a:prstGeom prst="rect">
            <a:avLst/>
          </a:prstGeom>
          <a:noFill/>
        </p:spPr>
        <p:txBody>
          <a:bodyPr wrap="square" lIns="0" rIns="0" tIns="0" bIns="0" anchor="ctr">
            <a:spAutoFit/>
          </a:bodyPr>
          <a:lstStyle/>
          <a:p>
            <a:pPr algn="l">
              <a:lnSpc>
                <a:spcPct val="113000"/>
              </a:lnSpc>
            </a:pPr>
            <a:r>
              <a:rPr sz="950" b="0" i="0">
                <a:solidFill>
                  <a:srgbClr val="21295C"/>
                </a:solidFill>
                <a:latin typeface="DejaVu Sans"/>
              </a:rPr>
              <a:t>Экран прогоняется движком проверки доступности (axe-core, pa11y, Lighthouse) с порогом, записанным числом заранее. Нарушение останавливает сборку. </a:t>
            </a:r>
            <a:r>
              <a:rPr sz="950" b="1" i="0">
                <a:solidFill>
                  <a:srgbClr val="065A82"/>
                </a:solidFill>
                <a:latin typeface="DejaVu Sans"/>
              </a:rPr>
              <a:t>Ни один из трёх движков не является ИИ-инструментом, и это часть урока.</a:t>
            </a:r>
          </a:p>
        </p:txBody>
      </p:sp>
      <p:sp>
        <p:nvSpPr>
          <p:cNvPr id="11" name="Rounded Rectangle 10"/>
          <p:cNvSpPr/>
          <p:nvPr/>
        </p:nvSpPr>
        <p:spPr>
          <a:xfrm>
            <a:off x="1984248" y="1249438"/>
            <a:ext cx="8392728" cy="457200"/>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1249438"/>
            <a:ext cx="2103120" cy="4572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mponent-white.png"/>
          <p:cNvPicPr>
            <a:picLocks noChangeAspect="1"/>
          </p:cNvPicPr>
          <p:nvPr/>
        </p:nvPicPr>
        <p:blipFill>
          <a:blip r:embed="rId3"/>
          <a:stretch>
            <a:fillRect/>
          </a:stretch>
        </p:blipFill>
        <p:spPr>
          <a:xfrm>
            <a:off x="2112264" y="1359166"/>
            <a:ext cx="237744" cy="237744"/>
          </a:xfrm>
          <a:prstGeom prst="rect">
            <a:avLst/>
          </a:prstGeom>
        </p:spPr>
      </p:pic>
      <p:sp>
        <p:nvSpPr>
          <p:cNvPr id="14" name="TextBox 13"/>
          <p:cNvSpPr txBox="1"/>
          <p:nvPr/>
        </p:nvSpPr>
        <p:spPr>
          <a:xfrm>
            <a:off x="2404872" y="1249438"/>
            <a:ext cx="1627632" cy="457200"/>
          </a:xfrm>
          <a:prstGeom prst="rect">
            <a:avLst/>
          </a:prstGeom>
          <a:noFill/>
        </p:spPr>
        <p:txBody>
          <a:bodyPr wrap="square" lIns="0" rIns="0" tIns="0" bIns="0" anchor="ctr">
            <a:spAutoFit/>
          </a:bodyPr>
          <a:lstStyle/>
          <a:p>
            <a:pPr algn="l">
              <a:lnSpc>
                <a:spcPct val="102000"/>
              </a:lnSpc>
            </a:pPr>
            <a:r>
              <a:rPr sz="1000" b="1" i="0">
                <a:solidFill>
                  <a:srgbClr val="FFFFFF"/>
                </a:solidFill>
                <a:latin typeface="DejaVu Sans"/>
              </a:rPr>
              <a:t>2. СВОИ КОМПОНЕНТЫ</a:t>
            </a:r>
          </a:p>
        </p:txBody>
      </p:sp>
      <p:sp>
        <p:nvSpPr>
          <p:cNvPr id="15" name="TextBox 14"/>
          <p:cNvSpPr txBox="1"/>
          <p:nvPr/>
        </p:nvSpPr>
        <p:spPr>
          <a:xfrm>
            <a:off x="4215383" y="1286014"/>
            <a:ext cx="6051864" cy="384048"/>
          </a:xfrm>
          <a:prstGeom prst="rect">
            <a:avLst/>
          </a:prstGeom>
          <a:noFill/>
        </p:spPr>
        <p:txBody>
          <a:bodyPr wrap="square" lIns="0" rIns="0" tIns="0" bIns="0" anchor="ctr">
            <a:spAutoFit/>
          </a:bodyPr>
          <a:lstStyle/>
          <a:p>
            <a:pPr algn="l">
              <a:lnSpc>
                <a:spcPct val="113000"/>
              </a:lnSpc>
            </a:pPr>
            <a:r>
              <a:rPr sz="950" b="0" i="0">
                <a:solidFill>
                  <a:srgbClr val="21295C"/>
                </a:solidFill>
                <a:latin typeface="DejaVu Sans"/>
              </a:rPr>
              <a:t>Генератору подаются собственные компоненты команды, а не общие шаблоны: меньше переделки — но это </a:t>
            </a:r>
            <a:r>
              <a:rPr sz="950" b="1" i="0">
                <a:solidFill>
                  <a:srgbClr val="065A82"/>
                </a:solidFill>
                <a:latin typeface="DejaVu Sans"/>
              </a:rPr>
              <a:t>снижение вероятности, не гарантия</a:t>
            </a:r>
            <a:r>
              <a:rPr sz="950" b="0" i="0">
                <a:solidFill>
                  <a:srgbClr val="21295C"/>
                </a:solidFill>
                <a:latin typeface="DejaVu Sans"/>
              </a:rPr>
              <a:t>.</a:t>
            </a:r>
          </a:p>
        </p:txBody>
      </p:sp>
      <p:sp>
        <p:nvSpPr>
          <p:cNvPr id="16" name="Rounded Rectangle 15"/>
          <p:cNvSpPr/>
          <p:nvPr/>
        </p:nvSpPr>
        <p:spPr>
          <a:xfrm>
            <a:off x="1984248" y="1761502"/>
            <a:ext cx="7248265" cy="457200"/>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1761502"/>
            <a:ext cx="2103120" cy="45720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alette-white.png"/>
          <p:cNvPicPr>
            <a:picLocks noChangeAspect="1"/>
          </p:cNvPicPr>
          <p:nvPr/>
        </p:nvPicPr>
        <p:blipFill>
          <a:blip r:embed="rId4"/>
          <a:stretch>
            <a:fillRect/>
          </a:stretch>
        </p:blipFill>
        <p:spPr>
          <a:xfrm>
            <a:off x="2112264" y="1871230"/>
            <a:ext cx="237744" cy="237744"/>
          </a:xfrm>
          <a:prstGeom prst="rect">
            <a:avLst/>
          </a:prstGeom>
        </p:spPr>
      </p:pic>
      <p:sp>
        <p:nvSpPr>
          <p:cNvPr id="19" name="TextBox 18"/>
          <p:cNvSpPr txBox="1"/>
          <p:nvPr/>
        </p:nvSpPr>
        <p:spPr>
          <a:xfrm>
            <a:off x="2404872" y="1761502"/>
            <a:ext cx="1627632" cy="457200"/>
          </a:xfrm>
          <a:prstGeom prst="rect">
            <a:avLst/>
          </a:prstGeom>
          <a:noFill/>
        </p:spPr>
        <p:txBody>
          <a:bodyPr wrap="square" lIns="0" rIns="0" tIns="0" bIns="0" anchor="ctr">
            <a:spAutoFit/>
          </a:bodyPr>
          <a:lstStyle/>
          <a:p>
            <a:pPr algn="l">
              <a:lnSpc>
                <a:spcPct val="102000"/>
              </a:lnSpc>
            </a:pPr>
            <a:r>
              <a:rPr sz="1000" b="1" i="0">
                <a:solidFill>
                  <a:srgbClr val="FFFFFF"/>
                </a:solidFill>
                <a:latin typeface="DejaVu Sans"/>
              </a:rPr>
              <a:t>1. ТОКЕНЫ</a:t>
            </a:r>
          </a:p>
        </p:txBody>
      </p:sp>
      <p:sp>
        <p:nvSpPr>
          <p:cNvPr id="20" name="TextBox 19"/>
          <p:cNvSpPr txBox="1"/>
          <p:nvPr/>
        </p:nvSpPr>
        <p:spPr>
          <a:xfrm>
            <a:off x="4215383" y="1798078"/>
            <a:ext cx="4907401" cy="384048"/>
          </a:xfrm>
          <a:prstGeom prst="rect">
            <a:avLst/>
          </a:prstGeom>
          <a:noFill/>
        </p:spPr>
        <p:txBody>
          <a:bodyPr wrap="square" lIns="0" rIns="0" tIns="0" bIns="0" anchor="ctr">
            <a:spAutoFit/>
          </a:bodyPr>
          <a:lstStyle/>
          <a:p>
            <a:pPr algn="l">
              <a:lnSpc>
                <a:spcPct val="113000"/>
              </a:lnSpc>
            </a:pPr>
            <a:r>
              <a:rPr sz="950" b="0" i="0">
                <a:solidFill>
                  <a:srgbClr val="21295C"/>
                </a:solidFill>
                <a:latin typeface="DejaVu Sans"/>
              </a:rPr>
              <a:t>Машиночитаемый файл, а не картинка в макете: пары «фон/текст» с посчитанным контрастом, размеры целей нажатия, состояния фокуса.</a:t>
            </a:r>
          </a:p>
        </p:txBody>
      </p:sp>
      <p:sp>
        <p:nvSpPr>
          <p:cNvPr id="21" name="Rounded Rectangle 20"/>
          <p:cNvSpPr/>
          <p:nvPr/>
        </p:nvSpPr>
        <p:spPr>
          <a:xfrm>
            <a:off x="502920" y="2429014"/>
            <a:ext cx="1152144" cy="1216152"/>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429014"/>
            <a:ext cx="1060704" cy="121615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3" name="Rounded Rectangle 22"/>
          <p:cNvSpPr/>
          <p:nvPr/>
        </p:nvSpPr>
        <p:spPr>
          <a:xfrm>
            <a:off x="1801368" y="2429014"/>
            <a:ext cx="9902952" cy="12161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984248" y="2520454"/>
            <a:ext cx="4709160" cy="1033272"/>
          </a:xfrm>
          <a:prstGeom prst="roundRect">
            <a:avLst>
              <a:gd name="adj" fmla="val 17207"/>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03120" y="2639326"/>
            <a:ext cx="447141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design/tokens.json     </a:t>
            </a:r>
            <a:r>
              <a:rPr sz="850" b="0" i="0">
                <a:solidFill>
                  <a:srgbClr val="5B6678"/>
                </a:solidFill>
                <a:latin typeface="DejaVu Sans Mono"/>
              </a:rPr>
              <a:t># контрасты и размеры</a:t>
            </a:r>
          </a:p>
        </p:txBody>
      </p:sp>
      <p:sp>
        <p:nvSpPr>
          <p:cNvPr id="26" name="TextBox 25"/>
          <p:cNvSpPr txBox="1"/>
          <p:nvPr/>
        </p:nvSpPr>
        <p:spPr>
          <a:xfrm>
            <a:off x="2103120" y="2792945"/>
            <a:ext cx="447141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посчитаны, а не заявлены</a:t>
            </a:r>
          </a:p>
        </p:txBody>
      </p:sp>
      <p:sp>
        <p:nvSpPr>
          <p:cNvPr id="27" name="TextBox 26"/>
          <p:cNvSpPr txBox="1"/>
          <p:nvPr/>
        </p:nvSpPr>
        <p:spPr>
          <a:xfrm>
            <a:off x="2103120" y="2946565"/>
            <a:ext cx="447141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tests/a11y/            </a:t>
            </a:r>
            <a:r>
              <a:rPr sz="850" b="0" i="0">
                <a:solidFill>
                  <a:srgbClr val="5B6678"/>
                </a:solidFill>
                <a:latin typeface="DejaVu Sans Mono"/>
              </a:rPr>
              <a:t># прогон на каждый экран</a:t>
            </a:r>
          </a:p>
        </p:txBody>
      </p:sp>
      <p:sp>
        <p:nvSpPr>
          <p:cNvPr id="28" name="TextBox 27"/>
          <p:cNvSpPr txBox="1"/>
          <p:nvPr/>
        </p:nvSpPr>
        <p:spPr>
          <a:xfrm>
            <a:off x="2103120" y="3100184"/>
            <a:ext cx="4471416" cy="190195"/>
          </a:xfrm>
          <a:prstGeom prst="rect">
            <a:avLst/>
          </a:prstGeom>
          <a:noFill/>
        </p:spPr>
        <p:txBody>
          <a:bodyPr wrap="square" lIns="0" rIns="0" tIns="0" bIns="0" anchor="t">
            <a:spAutoFit/>
          </a:bodyPr>
          <a:lstStyle/>
          <a:p>
            <a:pPr algn="l">
              <a:lnSpc>
                <a:spcPct val="100000"/>
              </a:lnSpc>
            </a:pPr>
            <a:r>
              <a:rPr sz="850" b="0" i="0">
                <a:solidFill>
                  <a:srgbClr val="5B6678"/>
                </a:solidFill>
                <a:latin typeface="DejaVu Sans Mono"/>
              </a:rPr>
              <a:t># + строка в критерии готовности:</a:t>
            </a:r>
          </a:p>
        </p:txBody>
      </p:sp>
      <p:sp>
        <p:nvSpPr>
          <p:cNvPr id="29" name="TextBox 28"/>
          <p:cNvSpPr txBox="1"/>
          <p:nvPr/>
        </p:nvSpPr>
        <p:spPr>
          <a:xfrm>
            <a:off x="2103120" y="3253803"/>
            <a:ext cx="4471416" cy="190195"/>
          </a:xfrm>
          <a:prstGeom prst="rect">
            <a:avLst/>
          </a:prstGeom>
          <a:noFill/>
        </p:spPr>
        <p:txBody>
          <a:bodyPr wrap="square" lIns="0" rIns="0" tIns="0" bIns="0" anchor="t">
            <a:spAutoFit/>
          </a:bodyPr>
          <a:lstStyle/>
          <a:p>
            <a:pPr algn="l">
              <a:lnSpc>
                <a:spcPct val="100000"/>
              </a:lnSpc>
            </a:pPr>
            <a:r>
              <a:rPr sz="850" b="0" i="0">
                <a:solidFill>
                  <a:srgbClr val="5B6678"/>
                </a:solidFill>
                <a:latin typeface="DejaVu Sans Mono"/>
              </a:rPr>
              <a:t>#   экран не готов без зелёного гейта</a:t>
            </a:r>
          </a:p>
        </p:txBody>
      </p:sp>
      <p:sp>
        <p:nvSpPr>
          <p:cNvPr id="30" name="TextBox 29"/>
          <p:cNvSpPr txBox="1"/>
          <p:nvPr/>
        </p:nvSpPr>
        <p:spPr>
          <a:xfrm>
            <a:off x="6922008" y="2502166"/>
            <a:ext cx="4599431" cy="310896"/>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Доля экранов, проходящих два худших измеренных критерия доступности, — оба проверяются машиной:</a:t>
            </a:r>
          </a:p>
        </p:txBody>
      </p:sp>
      <p:sp>
        <p:nvSpPr>
          <p:cNvPr id="31" name="TextBox 30"/>
          <p:cNvSpPr txBox="1"/>
          <p:nvPr/>
        </p:nvSpPr>
        <p:spPr>
          <a:xfrm>
            <a:off x="6922008" y="2922790"/>
            <a:ext cx="1874519" cy="201168"/>
          </a:xfrm>
          <a:prstGeom prst="rect">
            <a:avLst/>
          </a:prstGeom>
          <a:noFill/>
        </p:spPr>
        <p:txBody>
          <a:bodyPr wrap="square" lIns="0" rIns="0" tIns="0" bIns="0" anchor="t">
            <a:spAutoFit/>
          </a:bodyPr>
          <a:lstStyle/>
          <a:p>
            <a:pPr algn="l">
              <a:lnSpc>
                <a:spcPct val="100000"/>
              </a:lnSpc>
            </a:pPr>
            <a:r>
              <a:rPr sz="950" b="0" i="0">
                <a:solidFill>
                  <a:srgbClr val="21295C"/>
                </a:solidFill>
                <a:latin typeface="DejaVu Sans"/>
              </a:rPr>
              <a:t>контраст</a:t>
            </a:r>
          </a:p>
        </p:txBody>
      </p:sp>
      <p:sp>
        <p:nvSpPr>
          <p:cNvPr id="32" name="Rounded Rectangle 31"/>
          <p:cNvSpPr/>
          <p:nvPr/>
        </p:nvSpPr>
        <p:spPr>
          <a:xfrm>
            <a:off x="8887968" y="2950222"/>
            <a:ext cx="1901951" cy="155448"/>
          </a:xfrm>
          <a:prstGeom prst="roundRect">
            <a:avLst>
              <a:gd name="adj" fmla="val 35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887968" y="2950222"/>
            <a:ext cx="509723" cy="155448"/>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63072" y="2922790"/>
            <a:ext cx="658368" cy="201168"/>
          </a:xfrm>
          <a:prstGeom prst="rect">
            <a:avLst/>
          </a:prstGeom>
          <a:noFill/>
        </p:spPr>
        <p:txBody>
          <a:bodyPr wrap="square" lIns="0" rIns="0" tIns="0" bIns="0" anchor="t">
            <a:spAutoFit/>
          </a:bodyPr>
          <a:lstStyle/>
          <a:p>
            <a:pPr algn="l">
              <a:lnSpc>
                <a:spcPct val="100000"/>
              </a:lnSpc>
            </a:pPr>
            <a:r>
              <a:rPr sz="950" b="1" i="0">
                <a:solidFill>
                  <a:srgbClr val="21295C"/>
                </a:solidFill>
                <a:latin typeface="DejaVu Sans"/>
              </a:rPr>
              <a:t>26,8%</a:t>
            </a:r>
          </a:p>
        </p:txBody>
      </p:sp>
      <p:sp>
        <p:nvSpPr>
          <p:cNvPr id="35" name="TextBox 34"/>
          <p:cNvSpPr txBox="1"/>
          <p:nvPr/>
        </p:nvSpPr>
        <p:spPr>
          <a:xfrm>
            <a:off x="6922008" y="3306838"/>
            <a:ext cx="1874519" cy="201168"/>
          </a:xfrm>
          <a:prstGeom prst="rect">
            <a:avLst/>
          </a:prstGeom>
          <a:noFill/>
        </p:spPr>
        <p:txBody>
          <a:bodyPr wrap="square" lIns="0" rIns="0" tIns="0" bIns="0" anchor="t">
            <a:spAutoFit/>
          </a:bodyPr>
          <a:lstStyle/>
          <a:p>
            <a:pPr algn="l">
              <a:lnSpc>
                <a:spcPct val="100000"/>
              </a:lnSpc>
            </a:pPr>
            <a:r>
              <a:rPr sz="950" b="0" i="0">
                <a:solidFill>
                  <a:srgbClr val="21295C"/>
                </a:solidFill>
                <a:latin typeface="DejaVu Sans"/>
              </a:rPr>
              <a:t>использование цвета</a:t>
            </a:r>
          </a:p>
        </p:txBody>
      </p:sp>
      <p:sp>
        <p:nvSpPr>
          <p:cNvPr id="36" name="Rounded Rectangle 35"/>
          <p:cNvSpPr/>
          <p:nvPr/>
        </p:nvSpPr>
        <p:spPr>
          <a:xfrm>
            <a:off x="8887968" y="3334270"/>
            <a:ext cx="1901951" cy="155448"/>
          </a:xfrm>
          <a:prstGeom prst="roundRect">
            <a:avLst>
              <a:gd name="adj" fmla="val 35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887968" y="3334270"/>
            <a:ext cx="365174" cy="155448"/>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863072" y="3306838"/>
            <a:ext cx="658368" cy="201168"/>
          </a:xfrm>
          <a:prstGeom prst="rect">
            <a:avLst/>
          </a:prstGeom>
          <a:noFill/>
        </p:spPr>
        <p:txBody>
          <a:bodyPr wrap="square" lIns="0" rIns="0" tIns="0" bIns="0" anchor="t">
            <a:spAutoFit/>
          </a:bodyPr>
          <a:lstStyle/>
          <a:p>
            <a:pPr algn="l">
              <a:lnSpc>
                <a:spcPct val="100000"/>
              </a:lnSpc>
            </a:pPr>
            <a:r>
              <a:rPr sz="950" b="1" i="0">
                <a:solidFill>
                  <a:srgbClr val="21295C"/>
                </a:solidFill>
                <a:latin typeface="DejaVu Sans"/>
              </a:rPr>
              <a:t>19,2%</a:t>
            </a:r>
          </a:p>
        </p:txBody>
      </p:sp>
      <p:sp>
        <p:nvSpPr>
          <p:cNvPr id="39" name="Rounded Rectangle 38"/>
          <p:cNvSpPr/>
          <p:nvPr/>
        </p:nvSpPr>
        <p:spPr>
          <a:xfrm>
            <a:off x="502920" y="3709174"/>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3709174"/>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41" name="Rounded Rectangle 40"/>
          <p:cNvSpPr/>
          <p:nvPr/>
        </p:nvSpPr>
        <p:spPr>
          <a:xfrm>
            <a:off x="1801368" y="3709174"/>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984248" y="3800614"/>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Доля сгенерированных экранов, проходящих гейт </a:t>
            </a:r>
            <a:r>
              <a:rPr sz="1000" b="1" i="0">
                <a:solidFill>
                  <a:srgbClr val="028090"/>
                </a:solidFill>
                <a:latin typeface="DejaVu Sans"/>
              </a:rPr>
              <a:t>с первого прогона</a:t>
            </a:r>
            <a:r>
              <a:rPr sz="1000" b="0" i="0">
                <a:solidFill>
                  <a:srgbClr val="21295C"/>
                </a:solidFill>
                <a:latin typeface="DejaVu Sans"/>
              </a:rPr>
              <a:t>, растёт от итерации к итерации · нарушения по контрасту и использованию цвета уходят к нулю: оба детерминированно проверяемы машиной и не зависят от формулировки запроса.</a:t>
            </a:r>
          </a:p>
        </p:txBody>
      </p:sp>
      <p:sp>
        <p:nvSpPr>
          <p:cNvPr id="43" name="Rounded Rectangle 42"/>
          <p:cNvSpPr/>
          <p:nvPr/>
        </p:nvSpPr>
        <p:spPr>
          <a:xfrm>
            <a:off x="502920" y="4411611"/>
            <a:ext cx="1152144" cy="107899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4411611"/>
            <a:ext cx="1060704" cy="107899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5" name="Rounded Rectangle 44"/>
          <p:cNvSpPr/>
          <p:nvPr/>
        </p:nvSpPr>
        <p:spPr>
          <a:xfrm>
            <a:off x="1801368" y="4411611"/>
            <a:ext cx="9902952" cy="107899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eye-off-gold.png"/>
          <p:cNvPicPr>
            <a:picLocks noChangeAspect="1"/>
          </p:cNvPicPr>
          <p:nvPr/>
        </p:nvPicPr>
        <p:blipFill>
          <a:blip r:embed="rId5"/>
          <a:stretch>
            <a:fillRect/>
          </a:stretch>
        </p:blipFill>
        <p:spPr>
          <a:xfrm>
            <a:off x="1984248" y="4740795"/>
            <a:ext cx="310896" cy="310896"/>
          </a:xfrm>
          <a:prstGeom prst="rect">
            <a:avLst/>
          </a:prstGeom>
        </p:spPr>
      </p:pic>
      <p:sp>
        <p:nvSpPr>
          <p:cNvPr id="47" name="TextBox 46"/>
          <p:cNvSpPr txBox="1"/>
          <p:nvPr/>
        </p:nvSpPr>
        <p:spPr>
          <a:xfrm>
            <a:off x="2404872" y="4503051"/>
            <a:ext cx="9116567" cy="896112"/>
          </a:xfrm>
          <a:prstGeom prst="rect">
            <a:avLst/>
          </a:prstGeom>
          <a:noFill/>
        </p:spPr>
        <p:txBody>
          <a:bodyPr wrap="square" lIns="0" rIns="0" tIns="0" bIns="0" anchor="ctr">
            <a:spAutoFit/>
          </a:bodyPr>
          <a:lstStyle/>
          <a:p>
            <a:pPr algn="l">
              <a:lnSpc>
                <a:spcPct val="113000"/>
              </a:lnSpc>
            </a:pPr>
            <a:r>
              <a:rPr sz="1050" b="1" i="0">
                <a:solidFill>
                  <a:srgbClr val="21295C"/>
                </a:solidFill>
                <a:latin typeface="DejaVu Sans"/>
              </a:rPr>
              <a:t>Гейт ловит только машинно-проверяемое: контраст, подписи, размер цели нажатия, порядок перехода фокуса. Он </a:t>
            </a:r>
            <a:r>
              <a:rPr sz="1050" b="1" i="0">
                <a:solidFill>
                  <a:srgbClr val="21295C"/>
                </a:solidFill>
                <a:latin typeface="DejaVu Sans"/>
              </a:rPr>
              <a:t>не ловит «понятно ли это»</a:t>
            </a:r>
            <a:r>
              <a:rPr sz="1050" b="1" i="0">
                <a:solidFill>
                  <a:srgbClr val="21295C"/>
                </a:solidFill>
                <a:latin typeface="DejaVu Sans"/>
              </a:rPr>
              <a:t>: экран может пройти гейт целиком и остаться непонятным, поэтому приём не заменяет ни обзор по эвристикам, ни тест с 5–8 живыми людьми — он снимает с обоих то, что дешевле поймать машиной. И </a:t>
            </a:r>
            <a:r>
              <a:rPr sz="1050" b="1" i="0">
                <a:solidFill>
                  <a:srgbClr val="21295C"/>
                </a:solidFill>
                <a:latin typeface="DejaVu Sans"/>
              </a:rPr>
              <a:t>«попросите генератор сделать доступно» механизмом контроля не является</a:t>
            </a:r>
            <a:r>
              <a:rPr sz="1050" b="1" i="0">
                <a:solidFill>
                  <a:srgbClr val="21295C"/>
                </a:solidFill>
                <a:latin typeface="DejaVu Sans"/>
              </a:rPr>
              <a:t>: механизм — число, останавливающее сборку.</a:t>
            </a:r>
          </a:p>
        </p:txBody>
      </p:sp>
      <p:sp>
        <p:nvSpPr>
          <p:cNvPr id="48" name="Rectangle 47"/>
          <p:cNvSpPr/>
          <p:nvPr/>
        </p:nvSpPr>
        <p:spPr>
          <a:xfrm>
            <a:off x="502920" y="5591187"/>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5572899"/>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тест-инвариант как автоматический надзор: та же конструкция, применённая не к модулям, а к интерфейсу.</a:t>
            </a:r>
          </a:p>
        </p:txBody>
      </p:sp>
      <p:sp>
        <p:nvSpPr>
          <p:cNvPr id="50" name="Rounded Rectangle 49"/>
          <p:cNvSpPr/>
          <p:nvPr/>
        </p:nvSpPr>
        <p:spPr>
          <a:xfrm>
            <a:off x="502920" y="5902083"/>
            <a:ext cx="11201400" cy="487387"/>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85800" y="5944609"/>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circle-help-white.png"/>
          <p:cNvPicPr>
            <a:picLocks noChangeAspect="1"/>
          </p:cNvPicPr>
          <p:nvPr/>
        </p:nvPicPr>
        <p:blipFill>
          <a:blip r:embed="rId6"/>
          <a:stretch>
            <a:fillRect/>
          </a:stretch>
        </p:blipFill>
        <p:spPr>
          <a:xfrm>
            <a:off x="763524" y="6022333"/>
            <a:ext cx="246888" cy="246888"/>
          </a:xfrm>
          <a:prstGeom prst="rect">
            <a:avLst/>
          </a:prstGeom>
        </p:spPr>
      </p:pic>
      <p:sp>
        <p:nvSpPr>
          <p:cNvPr id="53" name="TextBox 52"/>
          <p:cNvSpPr txBox="1"/>
          <p:nvPr/>
        </p:nvSpPr>
        <p:spPr>
          <a:xfrm>
            <a:off x="1252728" y="5947803"/>
            <a:ext cx="10241280" cy="395947"/>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100" b="1" i="0">
                <a:solidFill>
                  <a:srgbClr val="21295C"/>
                </a:solidFill>
                <a:latin typeface="DejaVu Sans"/>
              </a:rPr>
              <a:t>Вы трижды написали генератору «сделай экран доступным» — и трижды получили экран, не проходящий проверку контраста. Почему четвёртая формулировка не поможет, и что тогда является механизмом контроля?</a:t>
            </a:r>
          </a:p>
        </p:txBody>
      </p:sp>
      <p:sp>
        <p:nvSpPr>
          <p:cNvPr id="54" name="TextBox 53"/>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26,8% и 19,2% соответствия — ACM Web4All, 2026</a:t>
            </a:r>
          </a:p>
        </p:txBody>
      </p:sp>
      <p:sp>
        <p:nvSpPr>
          <p:cNvPr id="55" name="TextBox 5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29% соответствие WCAG на 21 880 оценках — платформа важнее промпта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417320"/>
            <a:ext cx="443484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80160" y="1600200"/>
            <a:ext cx="2880360" cy="2880360"/>
          </a:xfrm>
          <a:prstGeom prst="rect">
            <a:avLst/>
          </a:prstGeom>
        </p:spPr>
      </p:pic>
      <p:sp>
        <p:nvSpPr>
          <p:cNvPr id="5" name="Rounded Rectangle 4"/>
          <p:cNvSpPr/>
          <p:nvPr/>
        </p:nvSpPr>
        <p:spPr>
          <a:xfrm>
            <a:off x="5166360" y="1417320"/>
            <a:ext cx="32461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18-pigeon.jpg"/>
          <p:cNvPicPr>
            <a:picLocks noChangeAspect="1"/>
          </p:cNvPicPr>
          <p:nvPr/>
        </p:nvPicPr>
        <p:blipFill>
          <a:blip r:embed="rId3"/>
          <a:stretch>
            <a:fillRect/>
          </a:stretch>
        </p:blipFill>
        <p:spPr>
          <a:xfrm>
            <a:off x="5276088" y="1681528"/>
            <a:ext cx="3026663" cy="2717703"/>
          </a:xfrm>
          <a:prstGeom prst="rect">
            <a:avLst/>
          </a:prstGeom>
        </p:spPr>
      </p:pic>
      <p:sp>
        <p:nvSpPr>
          <p:cNvPr id="7" name="Rounded Rectangle 6"/>
          <p:cNvSpPr/>
          <p:nvPr/>
        </p:nvSpPr>
        <p:spPr>
          <a:xfrm>
            <a:off x="8641080" y="1417320"/>
            <a:ext cx="3063240" cy="3246120"/>
          </a:xfrm>
          <a:prstGeom prst="roundRect">
            <a:avLst>
              <a:gd name="adj" fmla="val 995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1392" y="1554480"/>
            <a:ext cx="2651760" cy="1280160"/>
          </a:xfrm>
          <a:prstGeom prst="rect">
            <a:avLst/>
          </a:prstGeom>
          <a:noFill/>
        </p:spPr>
        <p:txBody>
          <a:bodyPr wrap="square" lIns="0" rIns="0" tIns="0" bIns="0" anchor="t">
            <a:spAutoFit/>
          </a:bodyPr>
          <a:lstStyle/>
          <a:p>
            <a:pPr algn="l">
              <a:lnSpc>
                <a:spcPct val="120000"/>
              </a:lnSpc>
            </a:pPr>
            <a:r>
              <a:rPr sz="1150" b="0" i="0">
                <a:solidFill>
                  <a:srgbClr val="21295C"/>
                </a:solidFill>
                <a:latin typeface="DejaVu Sans"/>
              </a:rPr>
              <a:t>21 880 оценок WCAG на ИИ-интерфейсах:</a:t>
            </a:r>
          </a:p>
          <a:p>
            <a:pPr algn="l">
              <a:lnSpc>
                <a:spcPct val="120000"/>
              </a:lnSpc>
            </a:pPr>
            <a:r>
              <a:rPr sz="1150" b="0" i="0">
                <a:solidFill>
                  <a:srgbClr val="21295C"/>
                </a:solidFill>
                <a:latin typeface="DejaVu Sans"/>
              </a:rPr>
              <a:t/>
            </a:r>
          </a:p>
          <a:p>
            <a:pPr algn="l">
              <a:lnSpc>
                <a:spcPct val="120000"/>
              </a:lnSpc>
            </a:pPr>
            <a:r>
              <a:rPr sz="1150" b="0" i="0">
                <a:solidFill>
                  <a:srgbClr val="21295C"/>
                </a:solidFill>
                <a:latin typeface="DejaVu Sans"/>
              </a:rPr>
              <a:t>• контраст 26,8%</a:t>
            </a:r>
          </a:p>
          <a:p>
            <a:pPr algn="l">
              <a:lnSpc>
                <a:spcPct val="120000"/>
              </a:lnSpc>
            </a:pPr>
            <a:r>
              <a:rPr sz="1150" b="0" i="0">
                <a:solidFill>
                  <a:srgbClr val="21295C"/>
                </a:solidFill>
                <a:latin typeface="DejaVu Sans"/>
              </a:rPr>
              <a:t>• использование цвета 19,2%</a:t>
            </a:r>
          </a:p>
        </p:txBody>
      </p:sp>
      <p:sp>
        <p:nvSpPr>
          <p:cNvPr id="9" name="TextBox 8"/>
          <p:cNvSpPr txBox="1"/>
          <p:nvPr/>
        </p:nvSpPr>
        <p:spPr>
          <a:xfrm>
            <a:off x="8851392" y="3063240"/>
            <a:ext cx="2651760" cy="1463040"/>
          </a:xfrm>
          <a:prstGeom prst="rect">
            <a:avLst/>
          </a:prstGeom>
          <a:noFill/>
        </p:spPr>
        <p:txBody>
          <a:bodyPr wrap="square" lIns="0" rIns="0" tIns="0" bIns="0" anchor="t">
            <a:spAutoFit/>
          </a:bodyPr>
          <a:lstStyle/>
          <a:p>
            <a:pPr algn="l">
              <a:lnSpc>
                <a:spcPct val="118000"/>
              </a:lnSpc>
            </a:pPr>
            <a:r>
              <a:rPr sz="1150" b="0" i="1">
                <a:solidFill>
                  <a:srgbClr val="5B6678"/>
                </a:solidFill>
                <a:latin typeface="DejaVu Sans"/>
              </a:rPr>
              <a:t>«Сделай доступным» в промпте не гарантирует результат — решают дефолты платформы, а не текст запроса.</a:t>
            </a:r>
          </a:p>
        </p:txBody>
      </p:sp>
      <p:sp>
        <p:nvSpPr>
          <p:cNvPr id="10" name="Rounded Rectangle 9"/>
          <p:cNvSpPr/>
          <p:nvPr/>
        </p:nvSpPr>
        <p:spPr>
          <a:xfrm>
            <a:off x="502920" y="475488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09744"/>
            <a:ext cx="10762488"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Дизайн для НЕДЕТЕРМИНИРОВАННОГО вывода: тот же ввод → разный вывод → ломает эвристику консистентности; нужны человеко-контрольные точки.</a:t>
            </a:r>
          </a:p>
        </p:txBody>
      </p:sp>
      <p:sp>
        <p:nvSpPr>
          <p:cNvPr id="12" name="Rounded Rectangle 11"/>
          <p:cNvSpPr/>
          <p:nvPr/>
        </p:nvSpPr>
        <p:spPr>
          <a:xfrm>
            <a:off x="502920" y="5541264"/>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5800" y="5705855"/>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ircle-help-white.png"/>
          <p:cNvPicPr>
            <a:picLocks noChangeAspect="1"/>
          </p:cNvPicPr>
          <p:nvPr/>
        </p:nvPicPr>
        <p:blipFill>
          <a:blip r:embed="rId4"/>
          <a:stretch>
            <a:fillRect/>
          </a:stretch>
        </p:blipFill>
        <p:spPr>
          <a:xfrm>
            <a:off x="763524" y="5783579"/>
            <a:ext cx="246888" cy="246888"/>
          </a:xfrm>
          <a:prstGeom prst="rect">
            <a:avLst/>
          </a:prstGeom>
        </p:spPr>
      </p:pic>
      <p:sp>
        <p:nvSpPr>
          <p:cNvPr id="15" name="TextBox 14"/>
          <p:cNvSpPr txBox="1"/>
          <p:nvPr/>
        </p:nvSpPr>
        <p:spPr>
          <a:xfrm>
            <a:off x="1252728" y="5586983"/>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Черновик экрана теперь стоит минуты. Какой вопрос дизайн-брифа при такой скорости пропускают первым?</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ACM Web4All 2026 — Generated Inaccessible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Защита появилась почти через два года после запуска — уже после трагедии</a:t>
            </a:r>
          </a:p>
        </p:txBody>
      </p:sp>
      <p:sp>
        <p:nvSpPr>
          <p:cNvPr id="3" name="Rounded Rectangle 2"/>
          <p:cNvSpPr/>
          <p:nvPr/>
        </p:nvSpPr>
        <p:spPr>
          <a:xfrm>
            <a:off x="502920" y="1417320"/>
            <a:ext cx="3429000" cy="39319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hield-alert-light.png"/>
          <p:cNvPicPr>
            <a:picLocks noChangeAspect="1"/>
          </p:cNvPicPr>
          <p:nvPr/>
        </p:nvPicPr>
        <p:blipFill>
          <a:blip r:embed="rId2"/>
          <a:stretch>
            <a:fillRect/>
          </a:stretch>
        </p:blipFill>
        <p:spPr>
          <a:xfrm>
            <a:off x="1417320" y="1874519"/>
            <a:ext cx="1600200" cy="1600200"/>
          </a:xfrm>
          <a:prstGeom prst="rect">
            <a:avLst/>
          </a:prstGeom>
        </p:spPr>
      </p:pic>
      <p:sp>
        <p:nvSpPr>
          <p:cNvPr id="5" name="TextBox 4"/>
          <p:cNvSpPr txBox="1"/>
          <p:nvPr/>
        </p:nvSpPr>
        <p:spPr>
          <a:xfrm>
            <a:off x="777240" y="3703320"/>
            <a:ext cx="2880360" cy="1371600"/>
          </a:xfrm>
          <a:prstGeom prst="rect">
            <a:avLst/>
          </a:prstGeom>
          <a:noFill/>
        </p:spPr>
        <p:txBody>
          <a:bodyPr wrap="square" lIns="0" rIns="0" tIns="0" bIns="0" anchor="t">
            <a:spAutoFit/>
          </a:bodyPr>
          <a:lstStyle/>
          <a:p>
            <a:pPr algn="ctr">
              <a:lnSpc>
                <a:spcPct val="120000"/>
              </a:lnSpc>
            </a:pPr>
            <a:r>
              <a:rPr sz="1300" b="1" i="0">
                <a:solidFill>
                  <a:srgbClr val="21295C"/>
                </a:solidFill>
                <a:latin typeface="DejaVu Sans"/>
              </a:rPr>
              <a:t>Защита уязвимых пользователей добавлена ретрофитом — после трагедии, а не в исходном дизайн-брифе.</a:t>
            </a:r>
          </a:p>
        </p:txBody>
      </p:sp>
      <p:sp>
        <p:nvSpPr>
          <p:cNvPr id="6" name="Rounded Rectangle 5"/>
          <p:cNvSpPr/>
          <p:nvPr/>
        </p:nvSpPr>
        <p:spPr>
          <a:xfrm>
            <a:off x="4160520" y="1417320"/>
            <a:ext cx="288036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9-characterai-real-source.png"/>
          <p:cNvPicPr>
            <a:picLocks noChangeAspect="1"/>
          </p:cNvPicPr>
          <p:nvPr/>
        </p:nvPicPr>
        <p:blipFill>
          <a:blip r:embed="rId3"/>
          <a:stretch>
            <a:fillRect/>
          </a:stretch>
        </p:blipFill>
        <p:spPr>
          <a:xfrm>
            <a:off x="4343400" y="1817995"/>
            <a:ext cx="2514600" cy="524530"/>
          </a:xfrm>
          <a:prstGeom prst="rect">
            <a:avLst/>
          </a:prstGeom>
        </p:spPr>
      </p:pic>
      <p:sp>
        <p:nvSpPr>
          <p:cNvPr id="8" name="Rounded Rectangle 7"/>
          <p:cNvSpPr/>
          <p:nvPr/>
        </p:nvSpPr>
        <p:spPr>
          <a:xfrm>
            <a:off x="7223760" y="1417320"/>
            <a:ext cx="4480560" cy="13258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481328"/>
            <a:ext cx="402336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Character.AI</a:t>
            </a:r>
          </a:p>
        </p:txBody>
      </p:sp>
      <p:sp>
        <p:nvSpPr>
          <p:cNvPr id="10" name="TextBox 9"/>
          <p:cNvSpPr txBox="1"/>
          <p:nvPr/>
        </p:nvSpPr>
        <p:spPr>
          <a:xfrm>
            <a:off x="7452360" y="1847088"/>
            <a:ext cx="4023360" cy="82296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14-летний пользователь погиб после месяцев общения с ИИ-персонажем (02.2024)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11" name="Oval 10"/>
          <p:cNvSpPr/>
          <p:nvPr/>
        </p:nvSpPr>
        <p:spPr>
          <a:xfrm>
            <a:off x="44348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Запуск</a:t>
            </a:r>
          </a:p>
        </p:txBody>
      </p:sp>
      <p:cxnSp>
        <p:nvCxnSpPr>
          <p:cNvPr id="13" name="Connector 12"/>
          <p:cNvCxnSpPr/>
          <p:nvPr/>
        </p:nvCxnSpPr>
        <p:spPr>
          <a:xfrm>
            <a:off x="47091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2636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Трагедия</a:t>
            </a:r>
          </a:p>
          <a:p>
            <a:pPr algn="ctr">
              <a:lnSpc>
                <a:spcPct val="90000"/>
              </a:lnSpc>
            </a:pPr>
            <a:r>
              <a:rPr sz="1000" b="1" i="0">
                <a:solidFill>
                  <a:srgbClr val="21295C"/>
                </a:solidFill>
                <a:latin typeface="DejaVu Sans"/>
              </a:rPr>
              <a:t>02.2024</a:t>
            </a:r>
          </a:p>
        </p:txBody>
      </p:sp>
      <p:cxnSp>
        <p:nvCxnSpPr>
          <p:cNvPr id="16" name="Connector 15"/>
          <p:cNvCxnSpPr/>
          <p:nvPr/>
        </p:nvCxnSpPr>
        <p:spPr>
          <a:xfrm>
            <a:off x="65379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0924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Иск</a:t>
            </a:r>
          </a:p>
          <a:p>
            <a:pPr algn="ctr">
              <a:lnSpc>
                <a:spcPct val="90000"/>
              </a:lnSpc>
            </a:pPr>
            <a:r>
              <a:rPr sz="1000" b="1" i="0">
                <a:solidFill>
                  <a:srgbClr val="21295C"/>
                </a:solidFill>
                <a:latin typeface="DejaVu Sans"/>
              </a:rPr>
              <a:t>10.2024</a:t>
            </a:r>
          </a:p>
        </p:txBody>
      </p:sp>
      <p:cxnSp>
        <p:nvCxnSpPr>
          <p:cNvPr id="19" name="Connector 18"/>
          <p:cNvCxnSpPr/>
          <p:nvPr/>
        </p:nvCxnSpPr>
        <p:spPr>
          <a:xfrm>
            <a:off x="8366760" y="3383280"/>
            <a:ext cx="1554480"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9921240" y="3246120"/>
            <a:ext cx="274320" cy="27432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Защита</a:t>
            </a:r>
          </a:p>
          <a:p>
            <a:pPr algn="ctr">
              <a:lnSpc>
                <a:spcPct val="90000"/>
              </a:lnSpc>
            </a:pPr>
            <a:r>
              <a:rPr sz="1000" b="1" i="0">
                <a:solidFill>
                  <a:srgbClr val="21295C"/>
                </a:solidFill>
                <a:latin typeface="DejaVu Sans"/>
              </a:rPr>
              <a:t>11.2025 </a:t>
            </a:r>
            <a:r>
              <a:rPr sz="520" baseline="30000" b="0" i="1">
                <a:latin typeface="DejaVu Sans"/>
                <a:cs typeface="DejaVu Sans"/>
                <a:ea typeface="DejaVu Sans"/>
                <a:solidFill>
                  <a:srgbClr val="1C7293"/>
                </a:solidFill>
              </a:rPr>
              <a:t>[2]</a:t>
            </a:r>
          </a:p>
        </p:txBody>
      </p:sp>
      <p:sp>
        <p:nvSpPr>
          <p:cNvPr id="22" name="Rounded Rectangle 21"/>
          <p:cNvSpPr/>
          <p:nvPr/>
        </p:nvSpPr>
        <p:spPr>
          <a:xfrm>
            <a:off x="4160520" y="4343400"/>
            <a:ext cx="75438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4398264"/>
            <a:ext cx="71048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рантайм-баг, а отсутствующее требование в дизайн-брифе: MVP оптимизировал вовлечённость без вопроса «кто может пострадать». Критерий: защита уязвимых — в MVP, а не патчем после трагедии.</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Washington Post (24 окт.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CBS News (янв. 2026) — урегулирование</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схлопнутая стрелка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3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ИИ меняет больше всего — стоимость самого написания кода. Но раздел начинается не с этого факта, а с классической дисциплины релиза: как выкатывать безопасно и когда остановиться.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Та же механика — но здесь решение убить продукт, а не флаг переключить</a:t>
            </a:r>
          </a:p>
        </p:txBody>
      </p:sp>
      <p:sp>
        <p:nvSpPr>
          <p:cNvPr id="3" name="Rounded Rectangle 2"/>
          <p:cNvSpPr/>
          <p:nvPr/>
        </p:nvSpPr>
        <p:spPr>
          <a:xfrm>
            <a:off x="5029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Переключатель функции</a:t>
            </a:r>
          </a:p>
        </p:txBody>
      </p:sp>
      <p:sp>
        <p:nvSpPr>
          <p:cNvPr id="5" name="TextBox 4"/>
          <p:cNvSpPr txBox="1"/>
          <p:nvPr/>
        </p:nvSpPr>
        <p:spPr>
          <a:xfrm>
            <a:off x="5760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feature flag</a:t>
            </a:r>
          </a:p>
        </p:txBody>
      </p:sp>
      <p:sp>
        <p:nvSpPr>
          <p:cNvPr id="6" name="Right Arrow 5"/>
          <p:cNvSpPr/>
          <p:nvPr/>
        </p:nvSpPr>
        <p:spPr>
          <a:xfrm>
            <a:off x="30083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192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Канареечный релиз</a:t>
            </a:r>
          </a:p>
        </p:txBody>
      </p:sp>
      <p:sp>
        <p:nvSpPr>
          <p:cNvPr id="9" name="TextBox 8"/>
          <p:cNvSpPr txBox="1"/>
          <p:nvPr/>
        </p:nvSpPr>
        <p:spPr>
          <a:xfrm>
            <a:off x="33192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canary</a:t>
            </a:r>
          </a:p>
        </p:txBody>
      </p:sp>
      <p:sp>
        <p:nvSpPr>
          <p:cNvPr id="10" name="Right Arrow 9"/>
          <p:cNvSpPr/>
          <p:nvPr/>
        </p:nvSpPr>
        <p:spPr>
          <a:xfrm>
            <a:off x="5751575"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893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624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Поэтапная раскатка</a:t>
            </a:r>
          </a:p>
        </p:txBody>
      </p:sp>
      <p:sp>
        <p:nvSpPr>
          <p:cNvPr id="13" name="TextBox 12"/>
          <p:cNvSpPr txBox="1"/>
          <p:nvPr/>
        </p:nvSpPr>
        <p:spPr>
          <a:xfrm>
            <a:off x="60624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staged rollout</a:t>
            </a:r>
          </a:p>
        </p:txBody>
      </p:sp>
      <p:sp>
        <p:nvSpPr>
          <p:cNvPr id="14" name="Right Arrow 13"/>
          <p:cNvSpPr/>
          <p:nvPr/>
        </p:nvSpPr>
        <p:spPr>
          <a:xfrm>
            <a:off x="84947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7325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Откат</a:t>
            </a:r>
          </a:p>
        </p:txBody>
      </p:sp>
      <p:sp>
        <p:nvSpPr>
          <p:cNvPr id="17" name="TextBox 16"/>
          <p:cNvSpPr txBox="1"/>
          <p:nvPr/>
        </p:nvSpPr>
        <p:spPr>
          <a:xfrm>
            <a:off x="88056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rollback</a:t>
            </a:r>
          </a:p>
        </p:txBody>
      </p:sp>
      <p:sp>
        <p:nvSpPr>
          <p:cNvPr id="18" name="TextBox 17"/>
          <p:cNvSpPr txBox="1"/>
          <p:nvPr/>
        </p:nvSpPr>
        <p:spPr>
          <a:xfrm>
            <a:off x="502920" y="2724912"/>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Эти примитивы вы знаете из инженерной раскатки (CI/CD)</a:t>
            </a:r>
          </a:p>
        </p:txBody>
      </p:sp>
      <p:sp>
        <p:nvSpPr>
          <p:cNvPr id="19" name="Rounded Rectangle 18"/>
          <p:cNvSpPr/>
          <p:nvPr/>
        </p:nvSpPr>
        <p:spPr>
          <a:xfrm>
            <a:off x="1417320" y="352044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gold.png"/>
          <p:cNvPicPr>
            <a:picLocks noChangeAspect="1"/>
          </p:cNvPicPr>
          <p:nvPr/>
        </p:nvPicPr>
        <p:blipFill>
          <a:blip r:embed="rId2"/>
          <a:stretch>
            <a:fillRect/>
          </a:stretch>
        </p:blipFill>
        <p:spPr>
          <a:xfrm>
            <a:off x="1645920" y="3822191"/>
            <a:ext cx="502920" cy="502920"/>
          </a:xfrm>
          <a:prstGeom prst="rect">
            <a:avLst/>
          </a:prstGeom>
        </p:spPr>
      </p:pic>
      <p:sp>
        <p:nvSpPr>
          <p:cNvPr id="21" name="TextBox 20"/>
          <p:cNvSpPr txBox="1"/>
          <p:nvPr/>
        </p:nvSpPr>
        <p:spPr>
          <a:xfrm>
            <a:off x="2331720" y="3639312"/>
            <a:ext cx="8229600" cy="1005840"/>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a:rPr>
              <a:t>НОВОЕ здесь — чьё и по каким критериям решение они обслуживают: MVP (Райс)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 обучение, не отгрузка. Stage-Gate go/kill (Купер)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 «воронка, не туннель»: пороги провала записаны числом заранее.</a:t>
            </a:r>
          </a:p>
        </p:txBody>
      </p:sp>
      <p:sp>
        <p:nvSpPr>
          <p:cNvPr id="22" name="Rounded Rectangle 21"/>
          <p:cNvSpPr/>
          <p:nvPr/>
        </p:nvSpPr>
        <p:spPr>
          <a:xfrm>
            <a:off x="502920" y="51206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755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Общий смысл: скорость запуска покупается ограниченным «радиусом поражения» — сколько пользователей задето, если новое окажется плохим.</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Stage-Gate — история метода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+200% кода на инженера — но лишь 16% PR получили содержательное ревью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562356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eview-bottleneck.png"/>
          <p:cNvPicPr>
            <a:picLocks noChangeAspect="1"/>
          </p:cNvPicPr>
          <p:nvPr/>
        </p:nvPicPr>
        <p:blipFill>
          <a:blip r:embed="rId2"/>
          <a:stretch>
            <a:fillRect/>
          </a:stretch>
        </p:blipFill>
        <p:spPr>
          <a:xfrm>
            <a:off x="1129097" y="1645920"/>
            <a:ext cx="4371205" cy="2788920"/>
          </a:xfrm>
          <a:prstGeom prst="rect">
            <a:avLst/>
          </a:prstGeom>
        </p:spPr>
      </p:pic>
      <p:sp>
        <p:nvSpPr>
          <p:cNvPr id="5" name="Rounded Rectangle 4"/>
          <p:cNvSpPr/>
          <p:nvPr/>
        </p:nvSpPr>
        <p:spPr>
          <a:xfrm>
            <a:off x="6355080" y="1417320"/>
            <a:ext cx="53492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572768"/>
            <a:ext cx="49377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Измерение Anthropic</a:t>
            </a:r>
          </a:p>
        </p:txBody>
      </p:sp>
      <p:sp>
        <p:nvSpPr>
          <p:cNvPr id="7" name="TextBox 6"/>
          <p:cNvSpPr txBox="1"/>
          <p:nvPr/>
        </p:nvSpPr>
        <p:spPr>
          <a:xfrm>
            <a:off x="6583680" y="2057400"/>
            <a:ext cx="4937760" cy="237744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Реализация: недели/месяцы → минуты агентного исполнения</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Объём кода на инженера: +200% год к году</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Содержательное человеческое ревью до слияния: лишь ~16% PR</a:t>
            </a:r>
          </a:p>
        </p:txBody>
      </p:sp>
      <p:sp>
        <p:nvSpPr>
          <p:cNvPr id="8" name="Rounded Rectangle 7"/>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Дефицитный ресурс сместился к двум человеческим концам: точность намерения на входе и качество суждения на выходе — узкое место теперь ревью, а не написание.</a:t>
            </a:r>
          </a:p>
        </p:txBody>
      </p:sp>
      <p:sp>
        <p:nvSpPr>
          <p:cNvPr id="10" name="TextBox 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Anthropic — 2026 Agentic Coding Trends Report</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8475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Ступень автономии открывается доказательством — четыре пункта, которые предъявляют до перехода</a:t>
            </a:r>
          </a:p>
        </p:txBody>
      </p:sp>
      <p:sp>
        <p:nvSpPr>
          <p:cNvPr id="3" name="Rounded Rectangle 2"/>
          <p:cNvSpPr/>
          <p:nvPr/>
        </p:nvSpPr>
        <p:spPr>
          <a:xfrm>
            <a:off x="502920" y="795070"/>
            <a:ext cx="1152144" cy="221284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95070"/>
            <a:ext cx="1060704" cy="221284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795070"/>
            <a:ext cx="9902952"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886510"/>
            <a:ext cx="3931920" cy="42062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Релиз версионируется по </a:t>
            </a:r>
            <a:r>
              <a:rPr sz="1000" b="1" i="0">
                <a:solidFill>
                  <a:srgbClr val="065A82"/>
                </a:solidFill>
                <a:latin typeface="DejaVu Sans"/>
              </a:rPr>
              <a:t>уровню контроля</a:t>
            </a:r>
            <a:r>
              <a:rPr sz="1000" b="0" i="0">
                <a:solidFill>
                  <a:srgbClr val="21295C"/>
                </a:solidFill>
                <a:latin typeface="DejaVu Sans"/>
              </a:rPr>
              <a:t>, а не по набору функций:</a:t>
            </a:r>
          </a:p>
        </p:txBody>
      </p:sp>
      <p:sp>
        <p:nvSpPr>
          <p:cNvPr id="7" name="Rounded Rectangle 6"/>
          <p:cNvSpPr/>
          <p:nvPr/>
        </p:nvSpPr>
        <p:spPr>
          <a:xfrm>
            <a:off x="1984248" y="1343710"/>
            <a:ext cx="3931920" cy="36576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75688" y="1343710"/>
            <a:ext cx="384048" cy="365760"/>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a:rPr>
              <a:t>в3</a:t>
            </a:r>
          </a:p>
        </p:txBody>
      </p:sp>
      <p:sp>
        <p:nvSpPr>
          <p:cNvPr id="9" name="TextBox 8"/>
          <p:cNvSpPr txBox="1"/>
          <p:nvPr/>
        </p:nvSpPr>
        <p:spPr>
          <a:xfrm>
            <a:off x="2496312" y="1343710"/>
            <a:ext cx="3346703" cy="365760"/>
          </a:xfrm>
          <a:prstGeom prst="rect">
            <a:avLst/>
          </a:prstGeom>
          <a:noFill/>
        </p:spPr>
        <p:txBody>
          <a:bodyPr wrap="square" lIns="0" rIns="0" tIns="0" bIns="0" anchor="ctr">
            <a:spAutoFit/>
          </a:bodyPr>
          <a:lstStyle/>
          <a:p>
            <a:pPr algn="l">
              <a:lnSpc>
                <a:spcPct val="104000"/>
              </a:lnSpc>
            </a:pPr>
            <a:r>
              <a:rPr sz="900" b="0" i="0">
                <a:solidFill>
                  <a:srgbClr val="FFFFFF"/>
                </a:solidFill>
                <a:latin typeface="DejaVu Sans"/>
              </a:rPr>
              <a:t>решает сам, с возвратом к человеку при затруднении</a:t>
            </a:r>
          </a:p>
        </p:txBody>
      </p:sp>
      <p:sp>
        <p:nvSpPr>
          <p:cNvPr id="10" name="Rounded Rectangle 9"/>
          <p:cNvSpPr/>
          <p:nvPr/>
        </p:nvSpPr>
        <p:spPr>
          <a:xfrm>
            <a:off x="1984248" y="1764334"/>
            <a:ext cx="3302812" cy="36576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75688" y="1764334"/>
            <a:ext cx="384048" cy="365760"/>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a:rPr>
              <a:t>в2</a:t>
            </a:r>
          </a:p>
        </p:txBody>
      </p:sp>
      <p:sp>
        <p:nvSpPr>
          <p:cNvPr id="12" name="TextBox 11"/>
          <p:cNvSpPr txBox="1"/>
          <p:nvPr/>
        </p:nvSpPr>
        <p:spPr>
          <a:xfrm>
            <a:off x="2496312" y="1764334"/>
            <a:ext cx="2717596" cy="365760"/>
          </a:xfrm>
          <a:prstGeom prst="rect">
            <a:avLst/>
          </a:prstGeom>
          <a:noFill/>
        </p:spPr>
        <p:txBody>
          <a:bodyPr wrap="square" lIns="0" rIns="0" tIns="0" bIns="0" anchor="ctr">
            <a:spAutoFit/>
          </a:bodyPr>
          <a:lstStyle/>
          <a:p>
            <a:pPr algn="l">
              <a:lnSpc>
                <a:spcPct val="104000"/>
              </a:lnSpc>
            </a:pPr>
            <a:r>
              <a:rPr sz="900" b="0" i="0">
                <a:solidFill>
                  <a:srgbClr val="FFFFFF"/>
                </a:solidFill>
                <a:latin typeface="DejaVu Sans"/>
              </a:rPr>
              <a:t>предлагает решение на утверждение человеку</a:t>
            </a:r>
          </a:p>
        </p:txBody>
      </p:sp>
      <p:sp>
        <p:nvSpPr>
          <p:cNvPr id="13" name="Rounded Rectangle 12"/>
          <p:cNvSpPr/>
          <p:nvPr/>
        </p:nvSpPr>
        <p:spPr>
          <a:xfrm>
            <a:off x="1984248" y="2184958"/>
            <a:ext cx="2673705" cy="365760"/>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75688" y="2184958"/>
            <a:ext cx="384048" cy="365760"/>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a:rPr>
              <a:t>в1</a:t>
            </a:r>
          </a:p>
        </p:txBody>
      </p:sp>
      <p:sp>
        <p:nvSpPr>
          <p:cNvPr id="15" name="TextBox 14"/>
          <p:cNvSpPr txBox="1"/>
          <p:nvPr/>
        </p:nvSpPr>
        <p:spPr>
          <a:xfrm>
            <a:off x="2496312" y="2184958"/>
            <a:ext cx="2088489" cy="365760"/>
          </a:xfrm>
          <a:prstGeom prst="rect">
            <a:avLst/>
          </a:prstGeom>
          <a:noFill/>
        </p:spPr>
        <p:txBody>
          <a:bodyPr wrap="square" lIns="0" rIns="0" tIns="0" bIns="0" anchor="ctr">
            <a:spAutoFit/>
          </a:bodyPr>
          <a:lstStyle/>
          <a:p>
            <a:pPr algn="l">
              <a:lnSpc>
                <a:spcPct val="104000"/>
              </a:lnSpc>
            </a:pPr>
            <a:r>
              <a:rPr sz="900" b="0" i="0">
                <a:solidFill>
                  <a:srgbClr val="FFFFFF"/>
                </a:solidFill>
                <a:latin typeface="DejaVu Sans"/>
              </a:rPr>
              <a:t>маршрутизирует обращения</a:t>
            </a:r>
          </a:p>
        </p:txBody>
      </p:sp>
      <p:pic>
        <p:nvPicPr>
          <p:cNvPr id="16" name="Picture 15" descr="trending-up-gold.png"/>
          <p:cNvPicPr>
            <a:picLocks noChangeAspect="1"/>
          </p:cNvPicPr>
          <p:nvPr/>
        </p:nvPicPr>
        <p:blipFill>
          <a:blip r:embed="rId2"/>
          <a:stretch>
            <a:fillRect/>
          </a:stretch>
        </p:blipFill>
        <p:spPr>
          <a:xfrm>
            <a:off x="5623559" y="904798"/>
            <a:ext cx="256032" cy="256032"/>
          </a:xfrm>
          <a:prstGeom prst="rect">
            <a:avLst/>
          </a:prstGeom>
        </p:spPr>
      </p:pic>
      <p:sp>
        <p:nvSpPr>
          <p:cNvPr id="17" name="TextBox 16"/>
          <p:cNvSpPr txBox="1"/>
          <p:nvPr/>
        </p:nvSpPr>
        <p:spPr>
          <a:xfrm>
            <a:off x="1984248" y="2623870"/>
            <a:ext cx="3931920" cy="201168"/>
          </a:xfrm>
          <a:prstGeom prst="rect">
            <a:avLst/>
          </a:prstGeom>
          <a:noFill/>
        </p:spPr>
        <p:txBody>
          <a:bodyPr wrap="square" lIns="0" rIns="0" tIns="0" bIns="0" anchor="t">
            <a:spAutoFit/>
          </a:bodyPr>
          <a:lstStyle/>
          <a:p>
            <a:pPr algn="l">
              <a:lnSpc>
                <a:spcPct val="105000"/>
              </a:lnSpc>
            </a:pPr>
            <a:r>
              <a:rPr sz="860" b="0" i="1">
                <a:solidFill>
                  <a:srgbClr val="5B6678"/>
                </a:solidFill>
                <a:latin typeface="DejaVu Sans"/>
              </a:rPr>
              <a:t>тот же регулятор доверия в инструментах для кода: подсказка-завершение → блок кода → целый запрос на слияние</a:t>
            </a:r>
          </a:p>
        </p:txBody>
      </p:sp>
      <p:pic>
        <p:nvPicPr>
          <p:cNvPr id="18" name="Picture 17" descr="lock-gold.png"/>
          <p:cNvPicPr>
            <a:picLocks noChangeAspect="1"/>
          </p:cNvPicPr>
          <p:nvPr/>
        </p:nvPicPr>
        <p:blipFill>
          <a:blip r:embed="rId3"/>
          <a:stretch>
            <a:fillRect/>
          </a:stretch>
        </p:blipFill>
        <p:spPr>
          <a:xfrm>
            <a:off x="6190488" y="868222"/>
            <a:ext cx="237744" cy="237744"/>
          </a:xfrm>
          <a:prstGeom prst="rect">
            <a:avLst/>
          </a:prstGeom>
        </p:spPr>
      </p:pic>
      <p:sp>
        <p:nvSpPr>
          <p:cNvPr id="19" name="TextBox 18"/>
          <p:cNvSpPr txBox="1"/>
          <p:nvPr/>
        </p:nvSpPr>
        <p:spPr>
          <a:xfrm>
            <a:off x="6501383" y="868222"/>
            <a:ext cx="5020056" cy="237744"/>
          </a:xfrm>
          <a:prstGeom prst="rect">
            <a:avLst/>
          </a:prstGeom>
          <a:noFill/>
        </p:spPr>
        <p:txBody>
          <a:bodyPr wrap="square" lIns="0" rIns="0" tIns="0" bIns="0" anchor="t">
            <a:spAutoFit/>
          </a:bodyPr>
          <a:lstStyle/>
          <a:p>
            <a:pPr algn="l">
              <a:lnSpc>
                <a:spcPct val="100000"/>
              </a:lnSpc>
            </a:pPr>
            <a:r>
              <a:rPr sz="1000" b="1" i="0">
                <a:solidFill>
                  <a:srgbClr val="21295C"/>
                </a:solidFill>
                <a:latin typeface="DejaVu Sans"/>
              </a:rPr>
              <a:t>ЧЕМ ОТКРЫВАЕТСЯ СЛЕДУЮЩАЯ СТУПЕНЬ — четыре пункта</a:t>
            </a:r>
          </a:p>
        </p:txBody>
      </p:sp>
      <p:sp>
        <p:nvSpPr>
          <p:cNvPr id="20" name="Oval 19"/>
          <p:cNvSpPr/>
          <p:nvPr/>
        </p:nvSpPr>
        <p:spPr>
          <a:xfrm>
            <a:off x="6190488" y="117454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0488" y="117454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501383" y="1160830"/>
            <a:ext cx="5020056" cy="357741"/>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Эталонный набор с кейсами </a:t>
            </a:r>
            <a:r>
              <a:rPr sz="980" b="1" i="0">
                <a:solidFill>
                  <a:srgbClr val="065A82"/>
                </a:solidFill>
                <a:latin typeface="DejaVu Sans"/>
              </a:rPr>
              <a:t>того самого класса риска</a:t>
            </a:r>
            <a:r>
              <a:rPr sz="980" b="0" i="0">
                <a:solidFill>
                  <a:srgbClr val="21295C"/>
                </a:solidFill>
                <a:latin typeface="DejaVu Sans"/>
              </a:rPr>
              <a:t>, который открывает новая ступень, а не общего.</a:t>
            </a:r>
          </a:p>
        </p:txBody>
      </p:sp>
      <p:sp>
        <p:nvSpPr>
          <p:cNvPr id="23" name="Oval 22"/>
          <p:cNvSpPr/>
          <p:nvPr/>
        </p:nvSpPr>
        <p:spPr>
          <a:xfrm>
            <a:off x="6190488" y="15780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0488" y="15780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501383" y="1564292"/>
            <a:ext cx="5020056" cy="513751"/>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Порог для этого класса, записанный числом </a:t>
            </a:r>
            <a:r>
              <a:rPr sz="980" b="1" i="0">
                <a:solidFill>
                  <a:srgbClr val="065A82"/>
                </a:solidFill>
                <a:latin typeface="DejaVu Sans"/>
              </a:rPr>
              <a:t>до</a:t>
            </a:r>
            <a:r>
              <a:rPr sz="980" b="0" i="0">
                <a:solidFill>
                  <a:srgbClr val="21295C"/>
                </a:solidFill>
                <a:latin typeface="DejaVu Sans"/>
              </a:rPr>
              <a:t> прогона, и гейт на повторных прогонах — «успешен во всех попытках», а не «хотя бы в одной»: автоматический режим отвечает каждый раз.</a:t>
            </a:r>
          </a:p>
        </p:txBody>
      </p:sp>
      <p:sp>
        <p:nvSpPr>
          <p:cNvPr id="26" name="Oval 25"/>
          <p:cNvSpPr/>
          <p:nvPr/>
        </p:nvSpPr>
        <p:spPr>
          <a:xfrm>
            <a:off x="6190488" y="213747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0488" y="213747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501383" y="2123763"/>
            <a:ext cx="5020056" cy="357741"/>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Строки, добавленные в набор из </a:t>
            </a:r>
            <a:r>
              <a:rPr sz="980" b="1" i="0">
                <a:solidFill>
                  <a:srgbClr val="065A82"/>
                </a:solidFill>
                <a:latin typeface="DejaVu Sans"/>
              </a:rPr>
              <a:t>реальных отказов предыдущей ступени</a:t>
            </a:r>
            <a:r>
              <a:rPr sz="980" b="0" i="0">
                <a:solidFill>
                  <a:srgbClr val="21295C"/>
                </a:solidFill>
                <a:latin typeface="DejaVu Sans"/>
              </a:rPr>
              <a:t>, — и они зелёные.</a:t>
            </a:r>
          </a:p>
        </p:txBody>
      </p:sp>
      <p:sp>
        <p:nvSpPr>
          <p:cNvPr id="29" name="Oval 28"/>
          <p:cNvSpPr/>
          <p:nvPr/>
        </p:nvSpPr>
        <p:spPr>
          <a:xfrm>
            <a:off x="6190488" y="254094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90488" y="254094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31" name="TextBox 30"/>
          <p:cNvSpPr txBox="1"/>
          <p:nvPr/>
        </p:nvSpPr>
        <p:spPr>
          <a:xfrm>
            <a:off x="6501383" y="2527225"/>
            <a:ext cx="5020056" cy="35774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Записанный путь назад:</a:t>
            </a:r>
            <a:r>
              <a:rPr sz="980" b="0" i="0">
                <a:solidFill>
                  <a:srgbClr val="21295C"/>
                </a:solidFill>
                <a:latin typeface="DejaVu Sans"/>
              </a:rPr>
              <a:t> как функция возвращается на ступень ниже, за какое время и по чьему решению.</a:t>
            </a:r>
          </a:p>
        </p:txBody>
      </p:sp>
      <p:sp>
        <p:nvSpPr>
          <p:cNvPr id="32" name="Rounded Rectangle 31"/>
          <p:cNvSpPr/>
          <p:nvPr/>
        </p:nvSpPr>
        <p:spPr>
          <a:xfrm>
            <a:off x="502920" y="3071926"/>
            <a:ext cx="1152144" cy="1060704"/>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071926"/>
            <a:ext cx="1060704" cy="106070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34" name="Rounded Rectangle 33"/>
          <p:cNvSpPr/>
          <p:nvPr/>
        </p:nvSpPr>
        <p:spPr>
          <a:xfrm>
            <a:off x="1801368" y="3071926"/>
            <a:ext cx="9902952"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84248" y="3163366"/>
            <a:ext cx="5440680" cy="877824"/>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103120" y="3282238"/>
            <a:ext cx="52029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releases/agency-level.md   </a:t>
            </a:r>
            <a:r>
              <a:rPr sz="850" b="0" i="0">
                <a:solidFill>
                  <a:srgbClr val="5B6678"/>
                </a:solidFill>
                <a:latin typeface="DejaVu Sans Mono"/>
              </a:rPr>
              <a:t># ступень функции, дата подъёма,</a:t>
            </a:r>
          </a:p>
        </p:txBody>
      </p:sp>
      <p:sp>
        <p:nvSpPr>
          <p:cNvPr id="37" name="TextBox 36"/>
          <p:cNvSpPr txBox="1"/>
          <p:nvPr/>
        </p:nvSpPr>
        <p:spPr>
          <a:xfrm>
            <a:off x="2103120" y="3435858"/>
            <a:ext cx="52029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кто решил, путь назад</a:t>
            </a:r>
          </a:p>
        </p:txBody>
      </p:sp>
      <p:sp>
        <p:nvSpPr>
          <p:cNvPr id="38" name="TextBox 37"/>
          <p:cNvSpPr txBox="1"/>
          <p:nvPr/>
        </p:nvSpPr>
        <p:spPr>
          <a:xfrm>
            <a:off x="2103120" y="3589477"/>
            <a:ext cx="52029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evals/thresholds.yaml      </a:t>
            </a:r>
            <a:r>
              <a:rPr sz="850" b="0" i="0">
                <a:solidFill>
                  <a:srgbClr val="5B6678"/>
                </a:solidFill>
                <a:latin typeface="DejaVu Sans Mono"/>
              </a:rPr>
              <a:t># порог того класса риска,</a:t>
            </a:r>
          </a:p>
        </p:txBody>
      </p:sp>
      <p:sp>
        <p:nvSpPr>
          <p:cNvPr id="39" name="TextBox 38"/>
          <p:cNvSpPr txBox="1"/>
          <p:nvPr/>
        </p:nvSpPr>
        <p:spPr>
          <a:xfrm>
            <a:off x="2103120" y="3743096"/>
            <a:ext cx="52029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который открывает ступень</a:t>
            </a:r>
          </a:p>
        </p:txBody>
      </p:sp>
      <p:sp>
        <p:nvSpPr>
          <p:cNvPr id="40" name="Rounded Rectangle 39"/>
          <p:cNvSpPr/>
          <p:nvPr/>
        </p:nvSpPr>
        <p:spPr>
          <a:xfrm>
            <a:off x="7653528" y="3163366"/>
            <a:ext cx="3867911" cy="877824"/>
          </a:xfrm>
          <a:prstGeom prst="roundRect">
            <a:avLst>
              <a:gd name="adj" fmla="val 19444"/>
            </a:avLst>
          </a:prstGeom>
          <a:solidFill>
            <a:srgbClr val="FFFFFF"/>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octagon-alert-slate.png"/>
          <p:cNvPicPr>
            <a:picLocks noChangeAspect="1"/>
          </p:cNvPicPr>
          <p:nvPr/>
        </p:nvPicPr>
        <p:blipFill>
          <a:blip r:embed="rId4"/>
          <a:stretch>
            <a:fillRect/>
          </a:stretch>
        </p:blipFill>
        <p:spPr>
          <a:xfrm>
            <a:off x="7781544" y="3465118"/>
            <a:ext cx="274320" cy="274320"/>
          </a:xfrm>
          <a:prstGeom prst="rect">
            <a:avLst/>
          </a:prstGeom>
        </p:spPr>
      </p:pic>
      <p:sp>
        <p:nvSpPr>
          <p:cNvPr id="42" name="TextBox 41"/>
          <p:cNvSpPr txBox="1"/>
          <p:nvPr/>
        </p:nvSpPr>
        <p:spPr>
          <a:xfrm>
            <a:off x="8147304" y="3199942"/>
            <a:ext cx="3319272" cy="804672"/>
          </a:xfrm>
          <a:prstGeom prst="rect">
            <a:avLst/>
          </a:prstGeom>
          <a:noFill/>
        </p:spPr>
        <p:txBody>
          <a:bodyPr wrap="square" lIns="0" rIns="0" tIns="0" bIns="0" anchor="ctr">
            <a:spAutoFit/>
          </a:bodyPr>
          <a:lstStyle/>
          <a:p>
            <a:pPr algn="l">
              <a:lnSpc>
                <a:spcPct val="112000"/>
              </a:lnSpc>
            </a:pPr>
            <a:r>
              <a:rPr sz="950" b="1" i="0">
                <a:solidFill>
                  <a:srgbClr val="21295C"/>
                </a:solidFill>
                <a:latin typeface="DejaVu Sans"/>
              </a:rPr>
              <a:t>«Оператор давно ничего не правил»</a:t>
            </a:r>
            <a:r>
              <a:rPr sz="950" b="0" i="0">
                <a:solidFill>
                  <a:srgbClr val="5B6678"/>
                </a:solidFill>
                <a:latin typeface="DejaVu Sans"/>
              </a:rPr>
              <a:t> — в этот файл не записывается: правом на переход не является.</a:t>
            </a:r>
          </a:p>
        </p:txBody>
      </p:sp>
      <p:sp>
        <p:nvSpPr>
          <p:cNvPr id="43" name="Rounded Rectangle 42"/>
          <p:cNvSpPr/>
          <p:nvPr/>
        </p:nvSpPr>
        <p:spPr>
          <a:xfrm>
            <a:off x="502920" y="4196638"/>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4196638"/>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45" name="Rounded Rectangle 44"/>
          <p:cNvSpPr/>
          <p:nvPr/>
        </p:nvSpPr>
        <p:spPr>
          <a:xfrm>
            <a:off x="1801368" y="4196638"/>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4288078"/>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Все четыре пункта предъявлены </a:t>
            </a:r>
            <a:r>
              <a:rPr sz="1000" b="1" i="0">
                <a:solidFill>
                  <a:srgbClr val="028090"/>
                </a:solidFill>
                <a:latin typeface="DejaVu Sans"/>
              </a:rPr>
              <a:t>до</a:t>
            </a:r>
            <a:r>
              <a:rPr sz="1000" b="0" i="0">
                <a:solidFill>
                  <a:srgbClr val="21295C"/>
                </a:solidFill>
                <a:latin typeface="DejaVu Sans"/>
              </a:rPr>
              <a:t> перехода, а не после · переход зафиксирован датой и именем решившего · путь назад проверен, а не описан.</a:t>
            </a:r>
          </a:p>
        </p:txBody>
      </p:sp>
      <p:sp>
        <p:nvSpPr>
          <p:cNvPr id="47" name="Rounded Rectangle 46"/>
          <p:cNvSpPr/>
          <p:nvPr/>
        </p:nvSpPr>
        <p:spPr>
          <a:xfrm>
            <a:off x="502920" y="4899075"/>
            <a:ext cx="1152144" cy="111601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4899075"/>
            <a:ext cx="1060704" cy="111601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9" name="Rounded Rectangle 48"/>
          <p:cNvSpPr/>
          <p:nvPr/>
        </p:nvSpPr>
        <p:spPr>
          <a:xfrm>
            <a:off x="1801368" y="4899075"/>
            <a:ext cx="9902952" cy="111601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84248" y="4990515"/>
            <a:ext cx="9537192" cy="933132"/>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«Оператор давно ничего не правил» — не доказательство, а </a:t>
            </a:r>
            <a:r>
              <a:rPr sz="1000" b="1" i="0">
                <a:solidFill>
                  <a:srgbClr val="21295C"/>
                </a:solidFill>
                <a:latin typeface="DejaVu Sans"/>
              </a:rPr>
              <a:t>отсутствие измерения</a:t>
            </a:r>
            <a:r>
              <a:rPr sz="1000" b="1" i="0">
                <a:solidFill>
                  <a:srgbClr val="21295C"/>
                </a:solidFill>
                <a:latin typeface="DejaVu Sans"/>
              </a:rPr>
              <a:t>: если ступень не произвела ни одной записанной правки, на неё не смотрели, а не отработали безупречно. Всегда зелёный набор разрешения тоже не даёт — это насыщение, сломанный измеритель. Дословно: </a:t>
            </a:r>
            <a:r>
              <a:rPr sz="1000" b="1" i="0">
                <a:solidFill>
                  <a:srgbClr val="21295C"/>
                </a:solidFill>
                <a:latin typeface="DejaVu Sans"/>
              </a:rPr>
              <a:t>не тестировали поведение при высоком контроле — не готовы давать высокую автономию.</a:t>
            </a:r>
            <a:r>
              <a:rPr sz="1000" b="1" i="0">
                <a:solidFill>
                  <a:srgbClr val="21295C"/>
                </a:solidFill>
                <a:latin typeface="DejaVu Sans"/>
              </a:rPr>
              <a:t> Решение, необратимое по природе — юридически связывающее предложение, удаление промышленных данных, релиз на всю аудиторию без отката — моделью не принимается.</a:t>
            </a:r>
          </a:p>
        </p:txBody>
      </p:sp>
      <p:sp>
        <p:nvSpPr>
          <p:cNvPr id="51" name="Rectangle 50"/>
          <p:cNvSpPr/>
          <p:nvPr/>
        </p:nvSpPr>
        <p:spPr>
          <a:xfrm>
            <a:off x="502920" y="6115672"/>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85800" y="6097384"/>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контракт без версии не контракт: ступень, дата и путь назад лежат в версионируемом файле.</a:t>
            </a:r>
          </a:p>
        </p:txBody>
      </p:sp>
      <p:sp>
        <p:nvSpPr>
          <p:cNvPr id="53" name="TextBox 5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50+ внедрений, непрерывная поставка ИИ-функций — Реганти и Бадам, 19 августа 2025</a:t>
            </a:r>
          </a:p>
        </p:txBody>
      </p:sp>
      <p:sp>
        <p:nvSpPr>
          <p:cNvPr id="54" name="TextBox 5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10667"/>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Эталонный набор — спецификация, которую исполняет сборка, а не документ</a:t>
            </a:r>
          </a:p>
        </p:txBody>
      </p:sp>
      <p:sp>
        <p:nvSpPr>
          <p:cNvPr id="3" name="Rounded Rectangle 2"/>
          <p:cNvSpPr/>
          <p:nvPr/>
        </p:nvSpPr>
        <p:spPr>
          <a:xfrm>
            <a:off x="502920" y="520979"/>
            <a:ext cx="1152144" cy="184708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20979"/>
            <a:ext cx="1060704" cy="184708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20979"/>
            <a:ext cx="9902952"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12419"/>
            <a:ext cx="5349240" cy="219456"/>
          </a:xfrm>
          <a:prstGeom prst="rect">
            <a:avLst/>
          </a:prstGeom>
          <a:noFill/>
        </p:spPr>
        <p:txBody>
          <a:bodyPr wrap="square" lIns="0" rIns="0" tIns="0" bIns="0" anchor="t">
            <a:spAutoFit/>
          </a:bodyPr>
          <a:lstStyle/>
          <a:p>
            <a:pPr algn="l">
              <a:lnSpc>
                <a:spcPct val="110000"/>
              </a:lnSpc>
            </a:pPr>
            <a:r>
              <a:rPr sz="980" b="0" i="0">
                <a:solidFill>
                  <a:srgbClr val="21295C"/>
                </a:solidFill>
                <a:latin typeface="DejaVu Sans"/>
              </a:rPr>
              <a:t>Набор живёт в репозитории как версионируемый файл. Строка — четыре поля:</a:t>
            </a:r>
          </a:p>
        </p:txBody>
      </p:sp>
      <p:sp>
        <p:nvSpPr>
          <p:cNvPr id="7" name="Rounded Rectangle 6"/>
          <p:cNvSpPr/>
          <p:nvPr/>
        </p:nvSpPr>
        <p:spPr>
          <a:xfrm>
            <a:off x="1984248" y="886739"/>
            <a:ext cx="5349240" cy="830275"/>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05611"/>
            <a:ext cx="5111496" cy="184708"/>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{"вход": "...",</a:t>
            </a:r>
          </a:p>
        </p:txBody>
      </p:sp>
      <p:sp>
        <p:nvSpPr>
          <p:cNvPr id="9" name="TextBox 8"/>
          <p:cNvSpPr txBox="1"/>
          <p:nvPr/>
        </p:nvSpPr>
        <p:spPr>
          <a:xfrm>
            <a:off x="2103120" y="1153744"/>
            <a:ext cx="5111496" cy="184708"/>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"ожидаемый_ответ_или_рубрика": "...",</a:t>
            </a:r>
          </a:p>
        </p:txBody>
      </p:sp>
      <p:sp>
        <p:nvSpPr>
          <p:cNvPr id="10" name="TextBox 9"/>
          <p:cNvSpPr txBox="1"/>
          <p:nvPr/>
        </p:nvSpPr>
        <p:spPr>
          <a:xfrm>
            <a:off x="2103120" y="1301876"/>
            <a:ext cx="5111496" cy="184708"/>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"класс_риска": "отказ_по_политике",</a:t>
            </a:r>
          </a:p>
        </p:txBody>
      </p:sp>
      <p:sp>
        <p:nvSpPr>
          <p:cNvPr id="11" name="TextBox 10"/>
          <p:cNvSpPr txBox="1"/>
          <p:nvPr/>
        </p:nvSpPr>
        <p:spPr>
          <a:xfrm>
            <a:off x="2103120" y="1450009"/>
            <a:ext cx="5111496" cy="184708"/>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"источник": "инцидент-2026-04-11"}</a:t>
            </a:r>
          </a:p>
        </p:txBody>
      </p:sp>
      <p:sp>
        <p:nvSpPr>
          <p:cNvPr id="12" name="TextBox 11"/>
          <p:cNvSpPr txBox="1"/>
          <p:nvPr/>
        </p:nvSpPr>
        <p:spPr>
          <a:xfrm>
            <a:off x="1984248" y="1746275"/>
            <a:ext cx="5349240" cy="512064"/>
          </a:xfrm>
          <a:prstGeom prst="rect">
            <a:avLst/>
          </a:prstGeom>
          <a:noFill/>
        </p:spPr>
        <p:txBody>
          <a:bodyPr wrap="square" lIns="0" rIns="0" tIns="0" bIns="0" anchor="t">
            <a:spAutoFit/>
          </a:bodyPr>
          <a:lstStyle/>
          <a:p>
            <a:pPr algn="l">
              <a:lnSpc>
                <a:spcPct val="112000"/>
              </a:lnSpc>
            </a:pPr>
            <a:r>
              <a:rPr sz="950" b="1" i="0">
                <a:solidFill>
                  <a:srgbClr val="065A82"/>
                </a:solidFill>
                <a:latin typeface="DejaVu Sans"/>
              </a:rPr>
              <a:t>Источник обязателен и обязательно реальный:</a:t>
            </a:r>
            <a:r>
              <a:rPr sz="950" b="0" i="0">
                <a:solidFill>
                  <a:srgbClr val="21295C"/>
                </a:solidFill>
                <a:latin typeface="DejaVu Sans"/>
              </a:rPr>
              <a:t> начинают с 5–10 настоящих промышленных примеров — то же «реальное прошлое, а не правдоподобное», что и в интервью.</a:t>
            </a:r>
          </a:p>
        </p:txBody>
      </p:sp>
      <p:sp>
        <p:nvSpPr>
          <p:cNvPr id="13" name="TextBox 12"/>
          <p:cNvSpPr txBox="1"/>
          <p:nvPr/>
        </p:nvSpPr>
        <p:spPr>
          <a:xfrm>
            <a:off x="7607808" y="612419"/>
            <a:ext cx="3913632" cy="219456"/>
          </a:xfrm>
          <a:prstGeom prst="rect">
            <a:avLst/>
          </a:prstGeom>
          <a:noFill/>
        </p:spPr>
        <p:txBody>
          <a:bodyPr wrap="square" lIns="0" rIns="0" tIns="0" bIns="0" anchor="t">
            <a:spAutoFit/>
          </a:bodyPr>
          <a:lstStyle/>
          <a:p>
            <a:pPr algn="l">
              <a:lnSpc>
                <a:spcPct val="100000"/>
              </a:lnSpc>
            </a:pPr>
            <a:r>
              <a:rPr sz="1000" b="1" i="0">
                <a:solidFill>
                  <a:srgbClr val="21295C"/>
                </a:solidFill>
                <a:latin typeface="DejaVu Sans"/>
              </a:rPr>
              <a:t>ПОРОГИ — числом, заранее, по классам риска</a:t>
            </a:r>
          </a:p>
        </p:txBody>
      </p:sp>
      <p:sp>
        <p:nvSpPr>
          <p:cNvPr id="14" name="Rounded Rectangle 13"/>
          <p:cNvSpPr/>
          <p:nvPr/>
        </p:nvSpPr>
        <p:spPr>
          <a:xfrm>
            <a:off x="7607808" y="868451"/>
            <a:ext cx="3913632" cy="34747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35824" y="868451"/>
            <a:ext cx="2191633" cy="347472"/>
          </a:xfrm>
          <a:prstGeom prst="rect">
            <a:avLst/>
          </a:prstGeom>
          <a:noFill/>
        </p:spPr>
        <p:txBody>
          <a:bodyPr wrap="square" lIns="0" rIns="0" tIns="0" bIns="0" anchor="ctr">
            <a:spAutoFit/>
          </a:bodyPr>
          <a:lstStyle/>
          <a:p>
            <a:pPr algn="l">
              <a:lnSpc>
                <a:spcPct val="104000"/>
              </a:lnSpc>
            </a:pPr>
            <a:r>
              <a:rPr sz="950" b="0" i="0">
                <a:solidFill>
                  <a:srgbClr val="21295C"/>
                </a:solidFill>
                <a:latin typeface="DejaVu Sans"/>
              </a:rPr>
              <a:t>Рутинный запрос</a:t>
            </a:r>
          </a:p>
        </p:txBody>
      </p:sp>
      <p:sp>
        <p:nvSpPr>
          <p:cNvPr id="16" name="TextBox 15"/>
          <p:cNvSpPr txBox="1"/>
          <p:nvPr/>
        </p:nvSpPr>
        <p:spPr>
          <a:xfrm>
            <a:off x="9877714" y="868451"/>
            <a:ext cx="1565452" cy="347472"/>
          </a:xfrm>
          <a:prstGeom prst="rect">
            <a:avLst/>
          </a:prstGeom>
          <a:noFill/>
        </p:spPr>
        <p:txBody>
          <a:bodyPr wrap="square" lIns="0" rIns="0" tIns="0" bIns="0" anchor="ctr">
            <a:spAutoFit/>
          </a:bodyPr>
          <a:lstStyle/>
          <a:p>
            <a:pPr algn="r">
              <a:lnSpc>
                <a:spcPct val="104000"/>
              </a:lnSpc>
            </a:pPr>
            <a:r>
              <a:rPr sz="950" b="1" i="0">
                <a:solidFill>
                  <a:srgbClr val="21295C"/>
                </a:solidFill>
                <a:latin typeface="DejaVu Sans"/>
              </a:rPr>
              <a:t>не ниже 90%</a:t>
            </a:r>
          </a:p>
        </p:txBody>
      </p:sp>
      <p:sp>
        <p:nvSpPr>
          <p:cNvPr id="17" name="Rounded Rectangle 16"/>
          <p:cNvSpPr/>
          <p:nvPr/>
        </p:nvSpPr>
        <p:spPr>
          <a:xfrm>
            <a:off x="7607808" y="1252499"/>
            <a:ext cx="3913632" cy="34747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35824" y="1252499"/>
            <a:ext cx="2191633" cy="347472"/>
          </a:xfrm>
          <a:prstGeom prst="rect">
            <a:avLst/>
          </a:prstGeom>
          <a:noFill/>
        </p:spPr>
        <p:txBody>
          <a:bodyPr wrap="square" lIns="0" rIns="0" tIns="0" bIns="0" anchor="ctr">
            <a:spAutoFit/>
          </a:bodyPr>
          <a:lstStyle/>
          <a:p>
            <a:pPr algn="l">
              <a:lnSpc>
                <a:spcPct val="104000"/>
              </a:lnSpc>
            </a:pPr>
            <a:r>
              <a:rPr sz="950" b="0" i="0">
                <a:solidFill>
                  <a:srgbClr val="21295C"/>
                </a:solidFill>
                <a:latin typeface="DejaVu Sans"/>
              </a:rPr>
              <a:t>Отказ по политике безопасности</a:t>
            </a:r>
          </a:p>
        </p:txBody>
      </p:sp>
      <p:sp>
        <p:nvSpPr>
          <p:cNvPr id="19" name="TextBox 18"/>
          <p:cNvSpPr txBox="1"/>
          <p:nvPr/>
        </p:nvSpPr>
        <p:spPr>
          <a:xfrm>
            <a:off x="9877714" y="1252499"/>
            <a:ext cx="1565452" cy="347472"/>
          </a:xfrm>
          <a:prstGeom prst="rect">
            <a:avLst/>
          </a:prstGeom>
          <a:noFill/>
        </p:spPr>
        <p:txBody>
          <a:bodyPr wrap="square" lIns="0" rIns="0" tIns="0" bIns="0" anchor="ctr">
            <a:spAutoFit/>
          </a:bodyPr>
          <a:lstStyle/>
          <a:p>
            <a:pPr algn="r">
              <a:lnSpc>
                <a:spcPct val="104000"/>
              </a:lnSpc>
            </a:pPr>
            <a:r>
              <a:rPr sz="950" b="1" i="0">
                <a:solidFill>
                  <a:srgbClr val="21295C"/>
                </a:solidFill>
                <a:latin typeface="DejaVu Sans"/>
              </a:rPr>
              <a:t>100%, без исключений</a:t>
            </a:r>
          </a:p>
        </p:txBody>
      </p:sp>
      <p:sp>
        <p:nvSpPr>
          <p:cNvPr id="20" name="Rounded Rectangle 19"/>
          <p:cNvSpPr/>
          <p:nvPr/>
        </p:nvSpPr>
        <p:spPr>
          <a:xfrm>
            <a:off x="7607808" y="1636547"/>
            <a:ext cx="3913632" cy="347472"/>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35824" y="1636547"/>
            <a:ext cx="2191633" cy="347472"/>
          </a:xfrm>
          <a:prstGeom prst="rect">
            <a:avLst/>
          </a:prstGeom>
          <a:noFill/>
        </p:spPr>
        <p:txBody>
          <a:bodyPr wrap="square" lIns="0" rIns="0" tIns="0" bIns="0" anchor="ctr">
            <a:spAutoFit/>
          </a:bodyPr>
          <a:lstStyle/>
          <a:p>
            <a:pPr algn="l">
              <a:lnSpc>
                <a:spcPct val="104000"/>
              </a:lnSpc>
            </a:pPr>
            <a:r>
              <a:rPr sz="950" b="0" i="0">
                <a:solidFill>
                  <a:srgbClr val="21295C"/>
                </a:solidFill>
                <a:latin typeface="DejaVu Sans"/>
              </a:rPr>
              <a:t>Ответ с юридическим последствием</a:t>
            </a:r>
          </a:p>
        </p:txBody>
      </p:sp>
      <p:sp>
        <p:nvSpPr>
          <p:cNvPr id="22" name="TextBox 21"/>
          <p:cNvSpPr txBox="1"/>
          <p:nvPr/>
        </p:nvSpPr>
        <p:spPr>
          <a:xfrm>
            <a:off x="9877714" y="1636547"/>
            <a:ext cx="1565452" cy="347472"/>
          </a:xfrm>
          <a:prstGeom prst="rect">
            <a:avLst/>
          </a:prstGeom>
          <a:noFill/>
        </p:spPr>
        <p:txBody>
          <a:bodyPr wrap="square" lIns="0" rIns="0" tIns="0" bIns="0" anchor="ctr">
            <a:spAutoFit/>
          </a:bodyPr>
          <a:lstStyle/>
          <a:p>
            <a:pPr algn="r">
              <a:lnSpc>
                <a:spcPct val="104000"/>
              </a:lnSpc>
            </a:pPr>
            <a:r>
              <a:rPr sz="950" b="1" i="0">
                <a:solidFill>
                  <a:srgbClr val="028090"/>
                </a:solidFill>
                <a:latin typeface="DejaVu Sans"/>
              </a:rPr>
              <a:t>не через модель</a:t>
            </a:r>
          </a:p>
        </p:txBody>
      </p:sp>
      <p:sp>
        <p:nvSpPr>
          <p:cNvPr id="23" name="TextBox 22"/>
          <p:cNvSpPr txBox="1"/>
          <p:nvPr/>
        </p:nvSpPr>
        <p:spPr>
          <a:xfrm>
            <a:off x="7607808" y="2038883"/>
            <a:ext cx="3913632" cy="201168"/>
          </a:xfrm>
          <a:prstGeom prst="rect">
            <a:avLst/>
          </a:prstGeom>
          <a:noFill/>
        </p:spPr>
        <p:txBody>
          <a:bodyPr wrap="square" lIns="0" rIns="0" tIns="0" bIns="0" anchor="t">
            <a:spAutoFit/>
          </a:bodyPr>
          <a:lstStyle/>
          <a:p>
            <a:pPr algn="l">
              <a:lnSpc>
                <a:spcPct val="105000"/>
              </a:lnSpc>
            </a:pPr>
            <a:r>
              <a:rPr sz="860" b="0" i="1">
                <a:solidFill>
                  <a:srgbClr val="5B6678"/>
                </a:solidFill>
                <a:latin typeface="DejaVu Sans"/>
              </a:rPr>
              <a:t>последняя строка — не порог, а отказ от инструмента: детерминированное правило поверх модели</a:t>
            </a:r>
          </a:p>
        </p:txBody>
      </p:sp>
      <p:sp>
        <p:nvSpPr>
          <p:cNvPr id="24" name="Rounded Rectangle 23"/>
          <p:cNvSpPr/>
          <p:nvPr/>
        </p:nvSpPr>
        <p:spPr>
          <a:xfrm>
            <a:off x="502920" y="2432075"/>
            <a:ext cx="1152144" cy="1042415"/>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432075"/>
            <a:ext cx="1060704" cy="104241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6" name="Rounded Rectangle 25"/>
          <p:cNvSpPr/>
          <p:nvPr/>
        </p:nvSpPr>
        <p:spPr>
          <a:xfrm>
            <a:off x="1801368" y="2432075"/>
            <a:ext cx="9902952"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84248" y="2523515"/>
            <a:ext cx="4617720" cy="859536"/>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03120" y="2642387"/>
            <a:ext cx="437997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evals/reference.jsonl     </a:t>
            </a:r>
            <a:r>
              <a:rPr sz="850" b="0" i="0">
                <a:solidFill>
                  <a:srgbClr val="5B6678"/>
                </a:solidFill>
                <a:latin typeface="DejaVu Sans Mono"/>
              </a:rPr>
              <a:t># строки набора</a:t>
            </a:r>
          </a:p>
        </p:txBody>
      </p:sp>
      <p:sp>
        <p:nvSpPr>
          <p:cNvPr id="29" name="TextBox 28"/>
          <p:cNvSpPr txBox="1"/>
          <p:nvPr/>
        </p:nvSpPr>
        <p:spPr>
          <a:xfrm>
            <a:off x="2103120" y="2796006"/>
            <a:ext cx="437997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evals/thresholds.yaml     </a:t>
            </a:r>
            <a:r>
              <a:rPr sz="850" b="0" i="0">
                <a:solidFill>
                  <a:srgbClr val="5B6678"/>
                </a:solidFill>
                <a:latin typeface="DejaVu Sans Mono"/>
              </a:rPr>
              <a:t># пороги по классам риска</a:t>
            </a:r>
          </a:p>
        </p:txBody>
      </p:sp>
      <p:sp>
        <p:nvSpPr>
          <p:cNvPr id="30" name="TextBox 29"/>
          <p:cNvSpPr txBox="1"/>
          <p:nvPr/>
        </p:nvSpPr>
        <p:spPr>
          <a:xfrm>
            <a:off x="2103120" y="2949625"/>
            <a:ext cx="4379976" cy="190195"/>
          </a:xfrm>
          <a:prstGeom prst="rect">
            <a:avLst/>
          </a:prstGeom>
          <a:noFill/>
        </p:spPr>
        <p:txBody>
          <a:bodyPr wrap="square" lIns="0" rIns="0" tIns="0" bIns="0" anchor="t">
            <a:spAutoFit/>
          </a:bodyPr>
          <a:lstStyle/>
          <a:p>
            <a:pPr algn="l">
              <a:lnSpc>
                <a:spcPct val="100000"/>
              </a:lnSpc>
            </a:pPr>
            <a:r>
              <a:rPr sz="850" b="0" i="0">
                <a:solidFill>
                  <a:srgbClr val="5B6678"/>
                </a:solidFill>
                <a:latin typeface="DejaVu Sans Mono"/>
              </a:rPr>
              <a:t># + строка в гейте «продолжаем / закрываем»</a:t>
            </a:r>
          </a:p>
        </p:txBody>
      </p:sp>
      <p:sp>
        <p:nvSpPr>
          <p:cNvPr id="31" name="TextBox 30"/>
          <p:cNvSpPr txBox="1"/>
          <p:nvPr/>
        </p:nvSpPr>
        <p:spPr>
          <a:xfrm>
            <a:off x="2103120" y="3103245"/>
            <a:ext cx="4379976" cy="190195"/>
          </a:xfrm>
          <a:prstGeom prst="rect">
            <a:avLst/>
          </a:prstGeom>
          <a:noFill/>
        </p:spPr>
        <p:txBody>
          <a:bodyPr wrap="square" lIns="0" rIns="0" tIns="0" bIns="0" anchor="t">
            <a:spAutoFit/>
          </a:bodyPr>
          <a:lstStyle/>
          <a:p>
            <a:pPr algn="l">
              <a:lnSpc>
                <a:spcPct val="100000"/>
              </a:lnSpc>
            </a:pPr>
            <a:r>
              <a:rPr sz="850" b="0" i="0">
                <a:solidFill>
                  <a:srgbClr val="5B6678"/>
                </a:solidFill>
                <a:latin typeface="DejaVu Sans Mono"/>
              </a:rPr>
              <a:t># + строка в критерии готовности</a:t>
            </a:r>
          </a:p>
        </p:txBody>
      </p:sp>
      <p:pic>
        <p:nvPicPr>
          <p:cNvPr id="32" name="Picture 31" descr="git-pull-request-closed-mid.png"/>
          <p:cNvPicPr>
            <a:picLocks noChangeAspect="1"/>
          </p:cNvPicPr>
          <p:nvPr/>
        </p:nvPicPr>
        <p:blipFill>
          <a:blip r:embed="rId2"/>
          <a:stretch>
            <a:fillRect/>
          </a:stretch>
        </p:blipFill>
        <p:spPr>
          <a:xfrm>
            <a:off x="6830568" y="2541803"/>
            <a:ext cx="237744" cy="237744"/>
          </a:xfrm>
          <a:prstGeom prst="rect">
            <a:avLst/>
          </a:prstGeom>
        </p:spPr>
      </p:pic>
      <p:sp>
        <p:nvSpPr>
          <p:cNvPr id="33" name="TextBox 32"/>
          <p:cNvSpPr txBox="1"/>
          <p:nvPr/>
        </p:nvSpPr>
        <p:spPr>
          <a:xfrm>
            <a:off x="7141464" y="2523515"/>
            <a:ext cx="4379976" cy="420624"/>
          </a:xfrm>
          <a:prstGeom prst="rect">
            <a:avLst/>
          </a:prstGeom>
          <a:noFill/>
        </p:spPr>
        <p:txBody>
          <a:bodyPr wrap="square" lIns="0" rIns="0" tIns="0" bIns="0" anchor="t">
            <a:spAutoFit/>
          </a:bodyPr>
          <a:lstStyle/>
          <a:p>
            <a:pPr algn="l">
              <a:lnSpc>
                <a:spcPct val="112000"/>
              </a:lnSpc>
            </a:pPr>
            <a:r>
              <a:rPr sz="950" b="1" i="0">
                <a:solidFill>
                  <a:srgbClr val="065A82"/>
                </a:solidFill>
                <a:latin typeface="DejaVu Sans"/>
              </a:rPr>
              <a:t>Гейт.</a:t>
            </a:r>
            <a:r>
              <a:rPr sz="950" b="0" i="0">
                <a:solidFill>
                  <a:srgbClr val="21295C"/>
                </a:solidFill>
                <a:latin typeface="DejaVu Sans"/>
              </a:rPr>
              <a:t> Прогон набора — команда в конвейере сборки, возвращающая ненулевой код при недоборе порога.</a:t>
            </a:r>
          </a:p>
        </p:txBody>
      </p:sp>
      <p:pic>
        <p:nvPicPr>
          <p:cNvPr id="34" name="Picture 33" descr="repeat-gold.png"/>
          <p:cNvPicPr>
            <a:picLocks noChangeAspect="1"/>
          </p:cNvPicPr>
          <p:nvPr/>
        </p:nvPicPr>
        <p:blipFill>
          <a:blip r:embed="rId3"/>
          <a:stretch>
            <a:fillRect/>
          </a:stretch>
        </p:blipFill>
        <p:spPr>
          <a:xfrm>
            <a:off x="6830568" y="2999003"/>
            <a:ext cx="237744" cy="237744"/>
          </a:xfrm>
          <a:prstGeom prst="rect">
            <a:avLst/>
          </a:prstGeom>
        </p:spPr>
      </p:pic>
      <p:sp>
        <p:nvSpPr>
          <p:cNvPr id="35" name="TextBox 34"/>
          <p:cNvSpPr txBox="1"/>
          <p:nvPr/>
        </p:nvSpPr>
        <p:spPr>
          <a:xfrm>
            <a:off x="7141464" y="2980715"/>
            <a:ext cx="4379976" cy="438912"/>
          </a:xfrm>
          <a:prstGeom prst="rect">
            <a:avLst/>
          </a:prstGeom>
          <a:noFill/>
        </p:spPr>
        <p:txBody>
          <a:bodyPr wrap="square" lIns="0" rIns="0" tIns="0" bIns="0" anchor="t">
            <a:spAutoFit/>
          </a:bodyPr>
          <a:lstStyle/>
          <a:p>
            <a:pPr algn="l">
              <a:lnSpc>
                <a:spcPct val="112000"/>
              </a:lnSpc>
            </a:pPr>
            <a:r>
              <a:rPr sz="950" b="1" i="0">
                <a:solidFill>
                  <a:srgbClr val="065A82"/>
                </a:solidFill>
                <a:latin typeface="DejaVu Sans"/>
              </a:rPr>
              <a:t>Замыкание.</a:t>
            </a:r>
            <a:r>
              <a:rPr sz="950" b="0" i="0">
                <a:solidFill>
                  <a:srgbClr val="21295C"/>
                </a:solidFill>
                <a:latin typeface="DejaVu Sans"/>
              </a:rPr>
              <a:t> Каждый сбой возвращается строкой с источником «инцидент».</a:t>
            </a:r>
          </a:p>
        </p:txBody>
      </p:sp>
      <p:sp>
        <p:nvSpPr>
          <p:cNvPr id="36" name="Rounded Rectangle 35"/>
          <p:cNvSpPr/>
          <p:nvPr/>
        </p:nvSpPr>
        <p:spPr>
          <a:xfrm>
            <a:off x="502920" y="3538499"/>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3538499"/>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38" name="Rounded Rectangle 37"/>
          <p:cNvSpPr/>
          <p:nvPr/>
        </p:nvSpPr>
        <p:spPr>
          <a:xfrm>
            <a:off x="1801368" y="3538499"/>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84248" y="3629939"/>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Набор растёт после каждого инцидента — измеримо, по числу строк с источником «инцидент» · однажды пойманная регрессия не повторяется молча на следующем релизе.</a:t>
            </a:r>
          </a:p>
        </p:txBody>
      </p:sp>
      <p:sp>
        <p:nvSpPr>
          <p:cNvPr id="40" name="Rounded Rectangle 39"/>
          <p:cNvSpPr/>
          <p:nvPr/>
        </p:nvSpPr>
        <p:spPr>
          <a:xfrm>
            <a:off x="502920" y="4240936"/>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240936"/>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 три режима отказа</a:t>
            </a:r>
          </a:p>
        </p:txBody>
      </p:sp>
      <p:sp>
        <p:nvSpPr>
          <p:cNvPr id="42" name="Rounded Rectangle 41"/>
          <p:cNvSpPr/>
          <p:nvPr/>
        </p:nvSpPr>
        <p:spPr>
          <a:xfrm>
            <a:off x="1801368" y="4240936"/>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84248" y="4332376"/>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Насыщение</a:t>
            </a:r>
            <a:r>
              <a:rPr sz="1000" b="1" i="0">
                <a:solidFill>
                  <a:srgbClr val="21295C"/>
                </a:solidFill>
                <a:latin typeface="DejaVu Sans"/>
              </a:rPr>
              <a:t> — всегда зелёный набор ничего не измеряет: это сломанный измеритель, а не гарантия. </a:t>
            </a:r>
            <a:r>
              <a:rPr sz="1000" b="1" i="0">
                <a:solidFill>
                  <a:srgbClr val="21295C"/>
                </a:solidFill>
                <a:latin typeface="DejaVu Sans"/>
              </a:rPr>
              <a:t>Переобучение под набор</a:t>
            </a:r>
            <a:r>
              <a:rPr sz="1000" b="1" i="0">
                <a:solidFill>
                  <a:srgbClr val="21295C"/>
                </a:solidFill>
                <a:latin typeface="DejaVu Sans"/>
              </a:rPr>
              <a:t> — как только прохождение становится целью команды, набор перестаёт быть мерой. </a:t>
            </a:r>
            <a:r>
              <a:rPr sz="1000" b="1" i="0">
                <a:solidFill>
                  <a:srgbClr val="21295C"/>
                </a:solidFill>
                <a:latin typeface="DejaVu Sans"/>
              </a:rPr>
              <a:t>Успех хотя бы раз против успеха всегда</a:t>
            </a:r>
            <a:r>
              <a:rPr sz="1000" b="1" i="0">
                <a:solidFill>
                  <a:srgbClr val="21295C"/>
                </a:solidFill>
                <a:latin typeface="DejaVu Sans"/>
              </a:rPr>
              <a:t> — гейт на среднем проходе не даёт постоянства при повторных запусках. И зелёный набор формата «вопрос — ответ» не переносится на открытую генерацию.</a:t>
            </a:r>
          </a:p>
        </p:txBody>
      </p:sp>
      <p:sp>
        <p:nvSpPr>
          <p:cNvPr id="44" name="Rectangle 43"/>
          <p:cNvSpPr/>
          <p:nvPr/>
        </p:nvSpPr>
        <p:spPr>
          <a:xfrm>
            <a:off x="502920" y="5298338"/>
            <a:ext cx="50292" cy="364109"/>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5280050"/>
            <a:ext cx="11018520" cy="400685"/>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исполняемая спецификация и гейт прогона: тест, написанный до кода, переносится с кода на продукт без изменения конструкции.</a:t>
            </a:r>
          </a:p>
        </p:txBody>
      </p:sp>
      <p:sp>
        <p:nvSpPr>
          <p:cNvPr id="46" name="Rounded Rectangle 45"/>
          <p:cNvSpPr/>
          <p:nvPr/>
        </p:nvSpPr>
        <p:spPr>
          <a:xfrm>
            <a:off x="502920" y="5735599"/>
            <a:ext cx="11201400" cy="487387"/>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5800" y="5778125"/>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ircle-help-white.png"/>
          <p:cNvPicPr>
            <a:picLocks noChangeAspect="1"/>
          </p:cNvPicPr>
          <p:nvPr/>
        </p:nvPicPr>
        <p:blipFill>
          <a:blip r:embed="rId4"/>
          <a:stretch>
            <a:fillRect/>
          </a:stretch>
        </p:blipFill>
        <p:spPr>
          <a:xfrm>
            <a:off x="763524" y="5855849"/>
            <a:ext cx="246888" cy="246888"/>
          </a:xfrm>
          <a:prstGeom prst="rect">
            <a:avLst/>
          </a:prstGeom>
        </p:spPr>
      </p:pic>
      <p:sp>
        <p:nvSpPr>
          <p:cNvPr id="49" name="TextBox 48"/>
          <p:cNvSpPr txBox="1"/>
          <p:nvPr/>
        </p:nvSpPr>
        <p:spPr>
          <a:xfrm>
            <a:off x="1252728" y="5781319"/>
            <a:ext cx="10241280" cy="395947"/>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100" b="1" i="0">
                <a:solidFill>
                  <a:srgbClr val="21295C"/>
                </a:solidFill>
                <a:latin typeface="DejaVu Sans"/>
              </a:rPr>
              <a:t>Ваш эталонный набор третий релиз подряд зелёный на 100%. Хорошая это новость или плохая — и какое действие отсюда следует?</a:t>
            </a:r>
          </a:p>
        </p:txBody>
      </p:sp>
      <p:sp>
        <p:nvSpPr>
          <p:cNvPr id="50" name="TextBox 49"/>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5–10 реальных промышленных примеров на старте — рекомендация Anthropic</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Гейт исполняется тем же конвейером, что и тесты кода</a:t>
            </a:r>
          </a:p>
        </p:txBody>
      </p:sp>
      <p:sp>
        <p:nvSpPr>
          <p:cNvPr id="3" name="Rounded Rectangle 2"/>
          <p:cNvSpPr/>
          <p:nvPr/>
        </p:nvSpPr>
        <p:spPr>
          <a:xfrm>
            <a:off x="502920" y="536206"/>
            <a:ext cx="1152144" cy="210312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21031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36206"/>
            <a:ext cx="9902952"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984248" y="627646"/>
            <a:ext cx="3032760" cy="1444752"/>
          </a:xfrm>
          <a:prstGeom prst="roundRect">
            <a:avLst>
              <a:gd name="adj" fmla="val 1406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84248" y="627646"/>
            <a:ext cx="3032760" cy="329184"/>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erminal-white.png"/>
          <p:cNvPicPr>
            <a:picLocks noChangeAspect="1"/>
          </p:cNvPicPr>
          <p:nvPr/>
        </p:nvPicPr>
        <p:blipFill>
          <a:blip r:embed="rId2"/>
          <a:stretch>
            <a:fillRect/>
          </a:stretch>
        </p:blipFill>
        <p:spPr>
          <a:xfrm>
            <a:off x="2093976" y="691654"/>
            <a:ext cx="201168" cy="201168"/>
          </a:xfrm>
          <a:prstGeom prst="rect">
            <a:avLst/>
          </a:prstGeom>
        </p:spPr>
      </p:pic>
      <p:sp>
        <p:nvSpPr>
          <p:cNvPr id="9" name="TextBox 8"/>
          <p:cNvSpPr txBox="1"/>
          <p:nvPr/>
        </p:nvSpPr>
        <p:spPr>
          <a:xfrm>
            <a:off x="2350008" y="627646"/>
            <a:ext cx="2593848" cy="329184"/>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Mono"/>
              </a:rPr>
              <a:t>promptfoo</a:t>
            </a:r>
          </a:p>
        </p:txBody>
      </p:sp>
      <p:sp>
        <p:nvSpPr>
          <p:cNvPr id="10" name="Rounded Rectangle 9"/>
          <p:cNvSpPr/>
          <p:nvPr/>
        </p:nvSpPr>
        <p:spPr>
          <a:xfrm>
            <a:off x="2075688" y="1029982"/>
            <a:ext cx="2849879" cy="320040"/>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48840" y="1103134"/>
            <a:ext cx="2703575" cy="210312"/>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promptfoo eval</a:t>
            </a:r>
          </a:p>
        </p:txBody>
      </p:sp>
      <p:sp>
        <p:nvSpPr>
          <p:cNvPr id="12" name="TextBox 11"/>
          <p:cNvSpPr txBox="1"/>
          <p:nvPr/>
        </p:nvSpPr>
        <p:spPr>
          <a:xfrm>
            <a:off x="2093976" y="1414030"/>
            <a:ext cx="2813303" cy="585216"/>
          </a:xfrm>
          <a:prstGeom prst="rect">
            <a:avLst/>
          </a:prstGeom>
          <a:noFill/>
        </p:spPr>
        <p:txBody>
          <a:bodyPr wrap="square" lIns="0" rIns="0" tIns="0" bIns="0" anchor="t">
            <a:spAutoFit/>
          </a:bodyPr>
          <a:lstStyle/>
          <a:p>
            <a:pPr algn="l">
              <a:lnSpc>
                <a:spcPct val="113000"/>
              </a:lnSpc>
            </a:pPr>
            <a:r>
              <a:rPr sz="930" b="0" i="0">
                <a:solidFill>
                  <a:srgbClr val="21295C"/>
                </a:solidFill>
                <a:latin typeface="DejaVu Sans"/>
              </a:rPr>
              <a:t>Код выхода </a:t>
            </a:r>
            <a:r>
              <a:rPr sz="930" b="1" i="0">
                <a:solidFill>
                  <a:srgbClr val="065A82"/>
                </a:solidFill>
                <a:latin typeface="DejaVu Sans"/>
              </a:rPr>
              <a:t>100</a:t>
            </a:r>
            <a:r>
              <a:rPr sz="930" b="0" i="0">
                <a:solidFill>
                  <a:srgbClr val="21295C"/>
                </a:solidFill>
                <a:latin typeface="DejaVu Sans"/>
              </a:rPr>
              <a:t> при падении балла ниже порога — сборка останавливается тем же механизмом, что и на проваленном тесте.</a:t>
            </a:r>
          </a:p>
        </p:txBody>
      </p:sp>
      <p:sp>
        <p:nvSpPr>
          <p:cNvPr id="13" name="Rounded Rectangle 12"/>
          <p:cNvSpPr/>
          <p:nvPr/>
        </p:nvSpPr>
        <p:spPr>
          <a:xfrm>
            <a:off x="5236464" y="627646"/>
            <a:ext cx="3032760" cy="1444752"/>
          </a:xfrm>
          <a:prstGeom prst="roundRect">
            <a:avLst>
              <a:gd name="adj" fmla="val 1406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36464" y="627646"/>
            <a:ext cx="3032760" cy="329184"/>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peat-2-white.png"/>
          <p:cNvPicPr>
            <a:picLocks noChangeAspect="1"/>
          </p:cNvPicPr>
          <p:nvPr/>
        </p:nvPicPr>
        <p:blipFill>
          <a:blip r:embed="rId3"/>
          <a:stretch>
            <a:fillRect/>
          </a:stretch>
        </p:blipFill>
        <p:spPr>
          <a:xfrm>
            <a:off x="5346192" y="691654"/>
            <a:ext cx="201168" cy="201168"/>
          </a:xfrm>
          <a:prstGeom prst="rect">
            <a:avLst/>
          </a:prstGeom>
        </p:spPr>
      </p:pic>
      <p:sp>
        <p:nvSpPr>
          <p:cNvPr id="16" name="TextBox 15"/>
          <p:cNvSpPr txBox="1"/>
          <p:nvPr/>
        </p:nvSpPr>
        <p:spPr>
          <a:xfrm>
            <a:off x="5602224" y="627646"/>
            <a:ext cx="2593848" cy="329184"/>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Mono"/>
              </a:rPr>
              <a:t>claude plugin eval</a:t>
            </a:r>
          </a:p>
        </p:txBody>
      </p:sp>
      <p:sp>
        <p:nvSpPr>
          <p:cNvPr id="17" name="Rounded Rectangle 16"/>
          <p:cNvSpPr/>
          <p:nvPr/>
        </p:nvSpPr>
        <p:spPr>
          <a:xfrm>
            <a:off x="5327904" y="1029982"/>
            <a:ext cx="2849879" cy="320040"/>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01056" y="1103134"/>
            <a:ext cx="2703575" cy="210312"/>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claude plugin eval --threshold</a:t>
            </a:r>
          </a:p>
        </p:txBody>
      </p:sp>
      <p:sp>
        <p:nvSpPr>
          <p:cNvPr id="19" name="TextBox 18"/>
          <p:cNvSpPr txBox="1"/>
          <p:nvPr/>
        </p:nvSpPr>
        <p:spPr>
          <a:xfrm>
            <a:off x="5346192" y="1414030"/>
            <a:ext cx="2813303" cy="585216"/>
          </a:xfrm>
          <a:prstGeom prst="rect">
            <a:avLst/>
          </a:prstGeom>
          <a:noFill/>
        </p:spPr>
        <p:txBody>
          <a:bodyPr wrap="square" lIns="0" rIns="0" tIns="0" bIns="0" anchor="t">
            <a:spAutoFit/>
          </a:bodyPr>
          <a:lstStyle/>
          <a:p>
            <a:pPr algn="l">
              <a:lnSpc>
                <a:spcPct val="113000"/>
              </a:lnSpc>
            </a:pPr>
            <a:r>
              <a:rPr sz="930" b="0" i="0">
                <a:solidFill>
                  <a:srgbClr val="21295C"/>
                </a:solidFill>
                <a:latin typeface="DejaVu Sans"/>
              </a:rPr>
              <a:t>Кейсы из каталога evals/ прогоняются </a:t>
            </a:r>
            <a:r>
              <a:rPr sz="930" b="1" i="0">
                <a:solidFill>
                  <a:srgbClr val="065A82"/>
                </a:solidFill>
                <a:latin typeface="DejaVu Sans"/>
              </a:rPr>
              <a:t>трижды</a:t>
            </a:r>
            <a:r>
              <a:rPr sz="930" b="0" i="0">
                <a:solidFill>
                  <a:srgbClr val="21295C"/>
                </a:solidFill>
                <a:latin typeface="DejaVu Sans"/>
              </a:rPr>
              <a:t>, а не один раз: разброс виден сразу, не только средний балл.</a:t>
            </a:r>
          </a:p>
        </p:txBody>
      </p:sp>
      <p:sp>
        <p:nvSpPr>
          <p:cNvPr id="20" name="Rounded Rectangle 19"/>
          <p:cNvSpPr/>
          <p:nvPr/>
        </p:nvSpPr>
        <p:spPr>
          <a:xfrm>
            <a:off x="8488680" y="627646"/>
            <a:ext cx="3032760" cy="1444752"/>
          </a:xfrm>
          <a:prstGeom prst="roundRect">
            <a:avLst>
              <a:gd name="adj" fmla="val 1406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488680" y="627646"/>
            <a:ext cx="3032760" cy="329184"/>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flask-conical-white.png"/>
          <p:cNvPicPr>
            <a:picLocks noChangeAspect="1"/>
          </p:cNvPicPr>
          <p:nvPr/>
        </p:nvPicPr>
        <p:blipFill>
          <a:blip r:embed="rId4"/>
          <a:stretch>
            <a:fillRect/>
          </a:stretch>
        </p:blipFill>
        <p:spPr>
          <a:xfrm>
            <a:off x="8598408" y="691654"/>
            <a:ext cx="201168" cy="201168"/>
          </a:xfrm>
          <a:prstGeom prst="rect">
            <a:avLst/>
          </a:prstGeom>
        </p:spPr>
      </p:pic>
      <p:sp>
        <p:nvSpPr>
          <p:cNvPr id="23" name="TextBox 22"/>
          <p:cNvSpPr txBox="1"/>
          <p:nvPr/>
        </p:nvSpPr>
        <p:spPr>
          <a:xfrm>
            <a:off x="8854440" y="627646"/>
            <a:ext cx="2593848" cy="329184"/>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Mono"/>
              </a:rPr>
              <a:t>DeepEval</a:t>
            </a:r>
          </a:p>
        </p:txBody>
      </p:sp>
      <p:sp>
        <p:nvSpPr>
          <p:cNvPr id="24" name="Rounded Rectangle 23"/>
          <p:cNvSpPr/>
          <p:nvPr/>
        </p:nvSpPr>
        <p:spPr>
          <a:xfrm>
            <a:off x="8580120" y="1029982"/>
            <a:ext cx="2849879" cy="320040"/>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3272" y="1103134"/>
            <a:ext cx="2703575" cy="210312"/>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pytest</a:t>
            </a:r>
          </a:p>
        </p:txBody>
      </p:sp>
      <p:sp>
        <p:nvSpPr>
          <p:cNvPr id="26" name="TextBox 25"/>
          <p:cNvSpPr txBox="1"/>
          <p:nvPr/>
        </p:nvSpPr>
        <p:spPr>
          <a:xfrm>
            <a:off x="8598408" y="1414030"/>
            <a:ext cx="2813303" cy="585216"/>
          </a:xfrm>
          <a:prstGeom prst="rect">
            <a:avLst/>
          </a:prstGeom>
          <a:noFill/>
        </p:spPr>
        <p:txBody>
          <a:bodyPr wrap="square" lIns="0" rIns="0" tIns="0" bIns="0" anchor="t">
            <a:spAutoFit/>
          </a:bodyPr>
          <a:lstStyle/>
          <a:p>
            <a:pPr algn="l">
              <a:lnSpc>
                <a:spcPct val="113000"/>
              </a:lnSpc>
            </a:pPr>
            <a:r>
              <a:rPr sz="930" b="0" i="0">
                <a:solidFill>
                  <a:srgbClr val="21295C"/>
                </a:solidFill>
                <a:latin typeface="DejaVu Sans"/>
              </a:rPr>
              <a:t>Запускается тем же прогоном тестов, которым команда уже пользуется: отдельный шаг заводить не нужно.</a:t>
            </a:r>
          </a:p>
        </p:txBody>
      </p:sp>
      <p:sp>
        <p:nvSpPr>
          <p:cNvPr id="27" name="Rounded Rectangle 26"/>
          <p:cNvSpPr/>
          <p:nvPr/>
        </p:nvSpPr>
        <p:spPr>
          <a:xfrm>
            <a:off x="1984248" y="2182126"/>
            <a:ext cx="9537192" cy="329184"/>
          </a:xfrm>
          <a:prstGeom prst="roundRect">
            <a:avLst>
              <a:gd name="adj" fmla="val 19444"/>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30552" y="2191270"/>
            <a:ext cx="9244584" cy="310896"/>
          </a:xfrm>
          <a:prstGeom prst="rect">
            <a:avLst/>
          </a:prstGeom>
          <a:noFill/>
        </p:spPr>
        <p:txBody>
          <a:bodyPr wrap="square" lIns="0" rIns="0" tIns="0" bIns="0" anchor="ctr">
            <a:spAutoFit/>
          </a:bodyPr>
          <a:lstStyle/>
          <a:p>
            <a:pPr algn="l">
              <a:lnSpc>
                <a:spcPct val="110000"/>
              </a:lnSpc>
            </a:pPr>
            <a:r>
              <a:rPr sz="950" b="1" i="0">
                <a:solidFill>
                  <a:srgbClr val="065A82"/>
                </a:solidFill>
                <a:latin typeface="DejaVu Sans"/>
              </a:rPr>
              <a:t>Стоит знать заранее:</a:t>
            </a:r>
            <a:r>
              <a:rPr sz="950" b="0" i="0">
                <a:solidFill>
                  <a:srgbClr val="21295C"/>
                </a:solidFill>
                <a:latin typeface="DejaVu Sans"/>
              </a:rPr>
              <a:t> единого термина для строки набора нет: goldens, examples, test cases, samples означают одно и то же.</a:t>
            </a:r>
          </a:p>
        </p:txBody>
      </p:sp>
      <p:sp>
        <p:nvSpPr>
          <p:cNvPr id="29" name="Rounded Rectangle 28"/>
          <p:cNvSpPr/>
          <p:nvPr/>
        </p:nvSpPr>
        <p:spPr>
          <a:xfrm>
            <a:off x="502920" y="2703334"/>
            <a:ext cx="1152144" cy="93268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2703334"/>
            <a:ext cx="1060704" cy="93268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31" name="Rounded Rectangle 30"/>
          <p:cNvSpPr/>
          <p:nvPr/>
        </p:nvSpPr>
        <p:spPr>
          <a:xfrm>
            <a:off x="1801368" y="2703334"/>
            <a:ext cx="9902952"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984248" y="2794774"/>
            <a:ext cx="4617720" cy="749808"/>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03120" y="2913646"/>
            <a:ext cx="437997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evals/reference.jsonl    </a:t>
            </a:r>
            <a:r>
              <a:rPr sz="850" b="0" i="0">
                <a:solidFill>
                  <a:srgbClr val="5B6678"/>
                </a:solidFill>
                <a:latin typeface="DejaVu Sans Mono"/>
              </a:rPr>
              <a:t># наследуется у набора</a:t>
            </a:r>
          </a:p>
        </p:txBody>
      </p:sp>
      <p:sp>
        <p:nvSpPr>
          <p:cNvPr id="34" name="TextBox 33"/>
          <p:cNvSpPr txBox="1"/>
          <p:nvPr/>
        </p:nvSpPr>
        <p:spPr>
          <a:xfrm>
            <a:off x="2103120" y="3067265"/>
            <a:ext cx="437997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evals/thresholds.yaml    </a:t>
            </a:r>
            <a:r>
              <a:rPr sz="850" b="0" i="0">
                <a:solidFill>
                  <a:srgbClr val="5B6678"/>
                </a:solidFill>
                <a:latin typeface="DejaVu Sans Mono"/>
              </a:rPr>
              <a:t># наследуются пороги</a:t>
            </a:r>
          </a:p>
        </p:txBody>
      </p:sp>
      <p:sp>
        <p:nvSpPr>
          <p:cNvPr id="35" name="TextBox 34"/>
          <p:cNvSpPr txBox="1"/>
          <p:nvPr/>
        </p:nvSpPr>
        <p:spPr>
          <a:xfrm>
            <a:off x="6830568" y="2794774"/>
            <a:ext cx="4690872" cy="749808"/>
          </a:xfrm>
          <a:prstGeom prst="rect">
            <a:avLst/>
          </a:prstGeom>
          <a:noFill/>
        </p:spPr>
        <p:txBody>
          <a:bodyPr wrap="square" lIns="0" rIns="0" tIns="0" bIns="0" anchor="ctr">
            <a:spAutoFit/>
          </a:bodyPr>
          <a:lstStyle/>
          <a:p>
            <a:pPr algn="l">
              <a:lnSpc>
                <a:spcPct val="114000"/>
              </a:lnSpc>
            </a:pPr>
            <a:r>
              <a:rPr sz="980" b="0" i="0">
                <a:solidFill>
                  <a:srgbClr val="21295C"/>
                </a:solidFill>
                <a:latin typeface="DejaVu Sans"/>
              </a:rPr>
              <a:t>Своего артефакта у приёма нет: добавляется </a:t>
            </a:r>
            <a:r>
              <a:rPr sz="980" b="1" i="0">
                <a:solidFill>
                  <a:srgbClr val="065A82"/>
                </a:solidFill>
                <a:latin typeface="DejaVu Sans"/>
              </a:rPr>
              <a:t>шаг конвейера</a:t>
            </a:r>
            <a:r>
              <a:rPr sz="980" b="0" i="0">
                <a:solidFill>
                  <a:srgbClr val="21295C"/>
                </a:solidFill>
                <a:latin typeface="DejaVu Sans"/>
              </a:rPr>
              <a:t>, который запускает уже существующие два файла.</a:t>
            </a:r>
          </a:p>
        </p:txBody>
      </p:sp>
      <p:sp>
        <p:nvSpPr>
          <p:cNvPr id="36" name="Rounded Rectangle 35"/>
          <p:cNvSpPr/>
          <p:nvPr/>
        </p:nvSpPr>
        <p:spPr>
          <a:xfrm>
            <a:off x="502920" y="3700030"/>
            <a:ext cx="1152144" cy="4792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3700030"/>
            <a:ext cx="1060704" cy="4792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38" name="Rounded Rectangle 37"/>
          <p:cNvSpPr/>
          <p:nvPr/>
        </p:nvSpPr>
        <p:spPr>
          <a:xfrm>
            <a:off x="1801368" y="3700030"/>
            <a:ext cx="9902952" cy="4792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84248" y="3791470"/>
            <a:ext cx="9537192" cy="296354"/>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Гейт </a:t>
            </a:r>
            <a:r>
              <a:rPr sz="1000" b="1" i="0">
                <a:solidFill>
                  <a:srgbClr val="028090"/>
                </a:solidFill>
                <a:latin typeface="DejaVu Sans"/>
              </a:rPr>
              <a:t>краснеет</a:t>
            </a:r>
            <a:r>
              <a:rPr sz="1000" b="0" i="0">
                <a:solidFill>
                  <a:srgbClr val="21295C"/>
                </a:solidFill>
                <a:latin typeface="DejaVu Sans"/>
              </a:rPr>
              <a:t> на недоборе порога и останавливает слияние, а не пишет предупреждение в журнал.</a:t>
            </a:r>
          </a:p>
        </p:txBody>
      </p:sp>
      <p:sp>
        <p:nvSpPr>
          <p:cNvPr id="40" name="Rounded Rectangle 39"/>
          <p:cNvSpPr/>
          <p:nvPr/>
        </p:nvSpPr>
        <p:spPr>
          <a:xfrm>
            <a:off x="502920" y="4243273"/>
            <a:ext cx="1152144" cy="160934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243273"/>
            <a:ext cx="1060704" cy="160934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2" name="Rounded Rectangle 41"/>
          <p:cNvSpPr/>
          <p:nvPr/>
        </p:nvSpPr>
        <p:spPr>
          <a:xfrm>
            <a:off x="1801368" y="4243273"/>
            <a:ext cx="9902952" cy="1609344"/>
          </a:xfrm>
          <a:prstGeom prst="roundRect">
            <a:avLst>
              <a:gd name="adj" fmla="val 18939"/>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84248" y="4334713"/>
            <a:ext cx="6291072" cy="1426464"/>
          </a:xfrm>
          <a:prstGeom prst="rect">
            <a:avLst/>
          </a:prstGeom>
          <a:noFill/>
        </p:spPr>
        <p:txBody>
          <a:bodyPr wrap="square" lIns="0" rIns="0" tIns="0" bIns="0" anchor="ctr">
            <a:spAutoFit/>
          </a:bodyPr>
          <a:lstStyle/>
          <a:p>
            <a:pPr algn="l">
              <a:lnSpc>
                <a:spcPct val="113000"/>
              </a:lnSpc>
            </a:pPr>
            <a:r>
              <a:rPr sz="1000" b="1" i="0">
                <a:solidFill>
                  <a:srgbClr val="21295C"/>
                </a:solidFill>
                <a:latin typeface="DejaVu Sans"/>
              </a:rPr>
              <a:t>Порог бессмыслен, если он выше надёжности того, чем измеряется.</a:t>
            </a:r>
            <a:r>
              <a:rPr sz="1000" b="1" i="0">
                <a:solidFill>
                  <a:srgbClr val="21295C"/>
                </a:solidFill>
                <a:latin typeface="DejaVu Sans"/>
              </a:rPr>
              <a:t> Модель-судья согласуется с людьми примерно на 85% — на уровне, на котором люди согласуются между собой. Значит, гейт на 95% с таким судьёй измеряет надёжность </a:t>
            </a:r>
            <a:r>
              <a:rPr sz="1000" b="1" i="0">
                <a:solidFill>
                  <a:srgbClr val="21295C"/>
                </a:solidFill>
                <a:latin typeface="DejaVu Sans"/>
              </a:rPr>
              <a:t>судьи</a:t>
            </a:r>
            <a:r>
              <a:rPr sz="1000" b="1" i="0">
                <a:solidFill>
                  <a:srgbClr val="21295C"/>
                </a:solidFill>
                <a:latin typeface="DejaVu Sans"/>
              </a:rPr>
              <a:t>, а не системы. И число на маленьком наборе без оценки разброса — шум, а не сигнал.</a:t>
            </a:r>
          </a:p>
        </p:txBody>
      </p:sp>
      <p:sp>
        <p:nvSpPr>
          <p:cNvPr id="44" name="Rectangle 43"/>
          <p:cNvSpPr/>
          <p:nvPr/>
        </p:nvSpPr>
        <p:spPr>
          <a:xfrm>
            <a:off x="8458200" y="5066233"/>
            <a:ext cx="2926080" cy="182880"/>
          </a:xfrm>
          <a:prstGeom prst="rect">
            <a:avLst/>
          </a:prstGeom>
          <a:solidFill>
            <a:srgbClr val="FFFFFF"/>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458200" y="5066233"/>
            <a:ext cx="2487168" cy="182880"/>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0945368" y="5011369"/>
            <a:ext cx="0" cy="292608"/>
          </a:xfrm>
          <a:prstGeom prst="line">
            <a:avLst/>
          </a:prstGeom>
          <a:ln w="31750">
            <a:solidFill>
              <a:srgbClr val="065A82"/>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366760" y="4773625"/>
            <a:ext cx="2578608" cy="219456"/>
          </a:xfrm>
          <a:prstGeom prst="rect">
            <a:avLst/>
          </a:prstGeom>
          <a:noFill/>
        </p:spPr>
        <p:txBody>
          <a:bodyPr wrap="square" lIns="0" rIns="0" tIns="0" bIns="0" anchor="t">
            <a:spAutoFit/>
          </a:bodyPr>
          <a:lstStyle/>
          <a:p>
            <a:pPr algn="r">
              <a:lnSpc>
                <a:spcPct val="100000"/>
              </a:lnSpc>
            </a:pPr>
            <a:r>
              <a:rPr sz="860" b="1" i="0">
                <a:solidFill>
                  <a:srgbClr val="065A82"/>
                </a:solidFill>
                <a:latin typeface="DejaVu Sans"/>
              </a:rPr>
              <a:t>надёжность судьи · 85%</a:t>
            </a:r>
          </a:p>
        </p:txBody>
      </p:sp>
      <p:cxnSp>
        <p:nvCxnSpPr>
          <p:cNvPr id="48" name="Connector 47"/>
          <p:cNvCxnSpPr/>
          <p:nvPr/>
        </p:nvCxnSpPr>
        <p:spPr>
          <a:xfrm>
            <a:off x="11237976" y="5011369"/>
            <a:ext cx="0" cy="292608"/>
          </a:xfrm>
          <a:prstGeom prst="line">
            <a:avLst/>
          </a:prstGeom>
          <a:ln w="31750">
            <a:solidFill>
              <a:srgbClr val="F0AB0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458200" y="5322265"/>
            <a:ext cx="2926080" cy="219456"/>
          </a:xfrm>
          <a:prstGeom prst="rect">
            <a:avLst/>
          </a:prstGeom>
          <a:noFill/>
        </p:spPr>
        <p:txBody>
          <a:bodyPr wrap="square" lIns="0" rIns="0" tIns="0" bIns="0" anchor="t">
            <a:spAutoFit/>
          </a:bodyPr>
          <a:lstStyle/>
          <a:p>
            <a:pPr algn="r">
              <a:lnSpc>
                <a:spcPct val="100000"/>
              </a:lnSpc>
            </a:pPr>
            <a:r>
              <a:rPr sz="860" b="1" i="0">
                <a:solidFill>
                  <a:srgbClr val="F0AB00"/>
                </a:solidFill>
                <a:latin typeface="DejaVu Sans"/>
              </a:rPr>
              <a:t>порог гейта · 95%</a:t>
            </a:r>
          </a:p>
        </p:txBody>
      </p:sp>
      <p:sp>
        <p:nvSpPr>
          <p:cNvPr id="50" name="TextBox 49"/>
          <p:cNvSpPr txBox="1"/>
          <p:nvPr/>
        </p:nvSpPr>
        <p:spPr>
          <a:xfrm>
            <a:off x="8458200" y="5560009"/>
            <a:ext cx="2926080" cy="201168"/>
          </a:xfrm>
          <a:prstGeom prst="rect">
            <a:avLst/>
          </a:prstGeom>
          <a:noFill/>
        </p:spPr>
        <p:txBody>
          <a:bodyPr wrap="square" lIns="0" rIns="0" tIns="0" bIns="0" anchor="t">
            <a:spAutoFit/>
          </a:bodyPr>
          <a:lstStyle/>
          <a:p>
            <a:pPr algn="r">
              <a:lnSpc>
                <a:spcPct val="105000"/>
              </a:lnSpc>
            </a:pPr>
            <a:r>
              <a:rPr sz="840" b="0" i="1">
                <a:solidFill>
                  <a:srgbClr val="5B6678"/>
                </a:solidFill>
                <a:latin typeface="DejaVu Sans"/>
              </a:rPr>
              <a:t>порог выше измерителя — измеряется измеритель</a:t>
            </a:r>
          </a:p>
        </p:txBody>
      </p:sp>
      <p:sp>
        <p:nvSpPr>
          <p:cNvPr id="51" name="Rectangle 50"/>
          <p:cNvSpPr/>
          <p:nvPr/>
        </p:nvSpPr>
        <p:spPr>
          <a:xfrm>
            <a:off x="502920" y="5953201"/>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85800" y="5934913"/>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гейт прогона в конвейере: красный шаг блокирует слияние. Меняется только объект проверки — не код, а ответ.</a:t>
            </a:r>
          </a:p>
        </p:txBody>
      </p:sp>
      <p:sp>
        <p:nvSpPr>
          <p:cNvPr id="53" name="TextBox 5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promptfoo — код выхода 100 · claude plugin eval — три прогона на кейс · DeepEval — запуск через pytest</a:t>
            </a:r>
          </a:p>
        </p:txBody>
      </p:sp>
      <p:sp>
        <p:nvSpPr>
          <p:cNvPr id="54" name="TextBox 5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Удвоив скорость генерации, вы удваиваете очередь на ревью — не пропускную способность</a:t>
            </a:r>
          </a:p>
        </p:txBody>
      </p:sp>
      <p:sp>
        <p:nvSpPr>
          <p:cNvPr id="3" name="Rounded Rectangle 2"/>
          <p:cNvSpPr/>
          <p:nvPr/>
        </p:nvSpPr>
        <p:spPr>
          <a:xfrm>
            <a:off x="502920" y="1463040"/>
            <a:ext cx="5989320" cy="3108960"/>
          </a:xfrm>
          <a:prstGeom prst="roundRect">
            <a:avLst>
              <a:gd name="adj" fmla="val 98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880360" y="1691640"/>
            <a:ext cx="1005840" cy="1005840"/>
          </a:xfrm>
          <a:prstGeom prst="rect">
            <a:avLst/>
          </a:prstGeom>
        </p:spPr>
      </p:pic>
      <p:sp>
        <p:nvSpPr>
          <p:cNvPr id="5" name="Rounded Rectangle 4"/>
          <p:cNvSpPr/>
          <p:nvPr/>
        </p:nvSpPr>
        <p:spPr>
          <a:xfrm>
            <a:off x="868680" y="2971800"/>
            <a:ext cx="2423160" cy="731520"/>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генерация</a:t>
            </a:r>
          </a:p>
          <a:p>
            <a:pPr algn="ctr">
              <a:lnSpc>
                <a:spcPct val="100000"/>
              </a:lnSpc>
            </a:pPr>
            <a:r>
              <a:rPr sz="1150" b="1" i="0">
                <a:solidFill>
                  <a:srgbClr val="21295C"/>
                </a:solidFill>
                <a:latin typeface="DejaVu Sans"/>
              </a:rPr>
              <a:t>дёшево и быстро</a:t>
            </a:r>
          </a:p>
        </p:txBody>
      </p:sp>
      <p:sp>
        <p:nvSpPr>
          <p:cNvPr id="7" name="Rounded Rectangle 6"/>
          <p:cNvSpPr/>
          <p:nvPr/>
        </p:nvSpPr>
        <p:spPr>
          <a:xfrm>
            <a:off x="3703320" y="2971800"/>
            <a:ext cx="2423160" cy="731520"/>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верификация</a:t>
            </a:r>
          </a:p>
          <a:p>
            <a:pPr algn="ctr">
              <a:lnSpc>
                <a:spcPct val="100000"/>
              </a:lnSpc>
            </a:pPr>
            <a:r>
              <a:rPr sz="1150" b="1" i="0">
                <a:solidFill>
                  <a:srgbClr val="21295C"/>
                </a:solidFill>
                <a:latin typeface="DejaVu Sans"/>
              </a:rPr>
              <a:t>не ускорилась</a:t>
            </a:r>
          </a:p>
        </p:txBody>
      </p:sp>
      <p:sp>
        <p:nvSpPr>
          <p:cNvPr id="9" name="TextBox 8"/>
          <p:cNvSpPr txBox="1"/>
          <p:nvPr/>
        </p:nvSpPr>
        <p:spPr>
          <a:xfrm>
            <a:off x="868680" y="3840480"/>
            <a:ext cx="5212080" cy="640080"/>
          </a:xfrm>
          <a:prstGeom prst="rect">
            <a:avLst/>
          </a:prstGeom>
          <a:noFill/>
        </p:spPr>
        <p:txBody>
          <a:bodyPr wrap="square" lIns="0" rIns="0" tIns="0" bIns="0" anchor="t">
            <a:spAutoFit/>
          </a:bodyPr>
          <a:lstStyle/>
          <a:p>
            <a:pPr algn="l">
              <a:lnSpc>
                <a:spcPct val="112000"/>
              </a:lnSpc>
            </a:pPr>
            <a:r>
              <a:rPr sz="1200" b="0" i="1">
                <a:solidFill>
                  <a:srgbClr val="5B6678"/>
                </a:solidFill>
                <a:latin typeface="DejaVu Sans"/>
              </a:rPr>
              <a:t>Сгенерировать правдоподобный код — секунды; проверить его — не ускорилось.</a:t>
            </a:r>
          </a:p>
        </p:txBody>
      </p:sp>
      <p:sp>
        <p:nvSpPr>
          <p:cNvPr id="10" name="Rounded Rectangle 9"/>
          <p:cNvSpPr/>
          <p:nvPr/>
        </p:nvSpPr>
        <p:spPr>
          <a:xfrm>
            <a:off x="6720840" y="1463040"/>
            <a:ext cx="4983480" cy="3108960"/>
          </a:xfrm>
          <a:prstGeom prst="roundRect">
            <a:avLst>
              <a:gd name="adj" fmla="val 980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600200"/>
            <a:ext cx="45720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Проблема 70% </a:t>
            </a:r>
            <a:r>
              <a:rPr sz="728" baseline="30000" b="0" i="1">
                <a:latin typeface="DejaVu Sans"/>
                <a:cs typeface="DejaVu Sans"/>
                <a:ea typeface="DejaVu Sans"/>
                <a:solidFill>
                  <a:srgbClr val="1C7293"/>
                </a:solidFill>
              </a:rPr>
              <a:t>[1]</a:t>
            </a:r>
          </a:p>
        </p:txBody>
      </p:sp>
      <p:sp>
        <p:nvSpPr>
          <p:cNvPr id="12" name="TextBox 11"/>
          <p:cNvSpPr txBox="1"/>
          <p:nvPr/>
        </p:nvSpPr>
        <p:spPr>
          <a:xfrm>
            <a:off x="6949440" y="2103120"/>
            <a:ext cx="4572000" cy="2194560"/>
          </a:xfrm>
          <a:prstGeom prst="rect">
            <a:avLst/>
          </a:prstGeom>
          <a:noFill/>
        </p:spPr>
        <p:txBody>
          <a:bodyPr wrap="square" lIns="0" rIns="0" tIns="0" bIns="0" anchor="t">
            <a:spAutoFit/>
          </a:bodyPr>
          <a:lstStyle/>
          <a:p>
            <a:pPr algn="l">
              <a:lnSpc>
                <a:spcPct val="125000"/>
              </a:lnSpc>
            </a:pPr>
            <a:r>
              <a:rPr sz="1250" b="0" i="0">
                <a:solidFill>
                  <a:srgbClr val="21295C"/>
                </a:solidFill>
                <a:latin typeface="DejaVu Sans"/>
              </a:rPr>
              <a:t>Опытный разработчик переосмысливает ИИ-вывод и тратит время на переделку.</a:t>
            </a:r>
          </a:p>
          <a:p>
            <a:pPr algn="l">
              <a:lnSpc>
                <a:spcPct val="125000"/>
              </a:lnSpc>
            </a:pPr>
            <a:r>
              <a:rPr sz="1250" b="0" i="0">
                <a:solidFill>
                  <a:srgbClr val="21295C"/>
                </a:solidFill>
                <a:latin typeface="DejaVu Sans"/>
              </a:rPr>
              <a:t/>
            </a:r>
          </a:p>
          <a:p>
            <a:pPr algn="l">
              <a:lnSpc>
                <a:spcPct val="125000"/>
              </a:lnSpc>
            </a:pPr>
            <a:r>
              <a:rPr sz="1250" b="0" i="0">
                <a:solidFill>
                  <a:srgbClr val="21295C"/>
                </a:solidFill>
                <a:latin typeface="DejaVu Sans"/>
              </a:rPr>
              <a:t>Новичок отправляет «карточный домик кода», который выглядит правдоподобно, но рассыпается под нагрузкой.</a:t>
            </a:r>
          </a:p>
        </p:txBody>
      </p:sp>
      <p:sp>
        <p:nvSpPr>
          <p:cNvPr id="13" name="Rounded Rectangle 12"/>
          <p:cNvSpPr/>
          <p:nvPr/>
        </p:nvSpPr>
        <p:spPr>
          <a:xfrm>
            <a:off x="502920" y="470916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76402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Отгрузка без eval-гейта или плана отката — это не скорость, это отложенная цена: ревью не масштабируется вместе с генерацией.</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0% → 100% одним шагом — минуя канареечную раскатку целиком</a:t>
            </a:r>
          </a:p>
        </p:txBody>
      </p:sp>
      <p:sp>
        <p:nvSpPr>
          <p:cNvPr id="3" name="Rounded Rectangle 2"/>
          <p:cNvSpPr/>
          <p:nvPr/>
        </p:nvSpPr>
        <p:spPr>
          <a:xfrm>
            <a:off x="502920" y="1417320"/>
            <a:ext cx="3246120" cy="39319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6-balloon.jpg"/>
          <p:cNvPicPr>
            <a:picLocks noChangeAspect="1"/>
          </p:cNvPicPr>
          <p:nvPr/>
        </p:nvPicPr>
        <p:blipFill>
          <a:blip r:embed="rId2"/>
          <a:stretch>
            <a:fillRect/>
          </a:stretch>
        </p:blipFill>
        <p:spPr>
          <a:xfrm>
            <a:off x="760086" y="1545336"/>
            <a:ext cx="2731787" cy="3675887"/>
          </a:xfrm>
          <a:prstGeom prst="rect">
            <a:avLst/>
          </a:prstGeom>
        </p:spPr>
      </p:pic>
      <p:sp>
        <p:nvSpPr>
          <p:cNvPr id="5" name="Rounded Rectangle 4"/>
          <p:cNvSpPr/>
          <p:nvPr/>
        </p:nvSpPr>
        <p:spPr>
          <a:xfrm>
            <a:off x="3977639" y="1417320"/>
            <a:ext cx="2788920" cy="123444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26-google-real-source.png"/>
          <p:cNvPicPr>
            <a:picLocks noChangeAspect="1"/>
          </p:cNvPicPr>
          <p:nvPr/>
        </p:nvPicPr>
        <p:blipFill>
          <a:blip r:embed="rId3"/>
          <a:stretch>
            <a:fillRect/>
          </a:stretch>
        </p:blipFill>
        <p:spPr>
          <a:xfrm>
            <a:off x="4197096" y="1637058"/>
            <a:ext cx="2350008" cy="794964"/>
          </a:xfrm>
          <a:prstGeom prst="rect">
            <a:avLst/>
          </a:prstGeom>
        </p:spPr>
      </p:pic>
      <p:sp>
        <p:nvSpPr>
          <p:cNvPr id="7" name="Rounded Rectangle 6"/>
          <p:cNvSpPr/>
          <p:nvPr/>
        </p:nvSpPr>
        <p:spPr>
          <a:xfrm>
            <a:off x="6995160" y="1417320"/>
            <a:ext cx="4709160" cy="123444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481328"/>
            <a:ext cx="425196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AI Overviews, май 2024</a:t>
            </a:r>
          </a:p>
        </p:txBody>
      </p:sp>
      <p:sp>
        <p:nvSpPr>
          <p:cNvPr id="9" name="TextBox 8"/>
          <p:cNvSpPr txBox="1"/>
          <p:nvPr/>
        </p:nvSpPr>
        <p:spPr>
          <a:xfrm>
            <a:off x="7223760" y="1828800"/>
            <a:ext cx="4251960" cy="77724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Раскатан на 100% поиска США одним шагом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Без eval-гейта. Отключить пользователю нельзя.</a:t>
            </a:r>
          </a:p>
        </p:txBody>
      </p:sp>
      <p:sp>
        <p:nvSpPr>
          <p:cNvPr id="10" name="Rounded Rectangle 9"/>
          <p:cNvSpPr/>
          <p:nvPr/>
        </p:nvSpPr>
        <p:spPr>
          <a:xfrm>
            <a:off x="406908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a:t>
            </a:r>
          </a:p>
        </p:txBody>
      </p:sp>
      <p:sp>
        <p:nvSpPr>
          <p:cNvPr id="12" name="Right Arrow 11"/>
          <p:cNvSpPr/>
          <p:nvPr/>
        </p:nvSpPr>
        <p:spPr>
          <a:xfrm>
            <a:off x="541324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7784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a:t>
            </a:r>
          </a:p>
        </p:txBody>
      </p:sp>
      <p:sp>
        <p:nvSpPr>
          <p:cNvPr id="15" name="Right Arrow 14"/>
          <p:cNvSpPr/>
          <p:nvPr/>
        </p:nvSpPr>
        <p:spPr>
          <a:xfrm>
            <a:off x="6922007"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8660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8660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25%</a:t>
            </a:r>
          </a:p>
        </p:txBody>
      </p:sp>
      <p:sp>
        <p:nvSpPr>
          <p:cNvPr id="18" name="Right Arrow 17"/>
          <p:cNvSpPr/>
          <p:nvPr/>
        </p:nvSpPr>
        <p:spPr>
          <a:xfrm>
            <a:off x="843076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95359"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59"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50%</a:t>
            </a:r>
          </a:p>
        </p:txBody>
      </p:sp>
      <p:sp>
        <p:nvSpPr>
          <p:cNvPr id="21" name="Right Arrow 20"/>
          <p:cNvSpPr/>
          <p:nvPr/>
        </p:nvSpPr>
        <p:spPr>
          <a:xfrm>
            <a:off x="993952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3017520"/>
            <a:ext cx="1325880" cy="548640"/>
          </a:xfrm>
          <a:prstGeom prst="roundRect">
            <a:avLst>
              <a:gd name="adj" fmla="val 14000"/>
            </a:avLst>
          </a:prstGeom>
          <a:solidFill>
            <a:srgbClr val="FDF3DC"/>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0412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100%</a:t>
            </a:r>
          </a:p>
        </p:txBody>
      </p:sp>
      <p:sp>
        <p:nvSpPr>
          <p:cNvPr id="24" name="TextBox 23"/>
          <p:cNvSpPr txBox="1"/>
          <p:nvPr/>
        </p:nvSpPr>
        <p:spPr>
          <a:xfrm>
            <a:off x="4069080" y="3657600"/>
            <a:ext cx="7635240" cy="365760"/>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правильная канареечная раскатка (перепрыгнута)</a:t>
            </a:r>
          </a:p>
        </p:txBody>
      </p:sp>
      <p:sp>
        <p:nvSpPr>
          <p:cNvPr id="25" name="Rounded Rectangle 24"/>
          <p:cNvSpPr/>
          <p:nvPr/>
        </p:nvSpPr>
        <p:spPr>
          <a:xfrm>
            <a:off x="3977639" y="4251960"/>
            <a:ext cx="7726679"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97096" y="4306824"/>
            <a:ext cx="7287767"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1% трафика паттерн («ешьте камни» — сатира The Onion; «клей на пиццу» — шутка на Reddit) всплыл бы за дни во внутреннем мониторинге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Вместо этого — публичное осмеяние сразу на 100% аудитории.</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AndroidPolice — «клей на пиццу» / «есть камни»</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2,5–3 года на 0,7% сети — и решение остановиться было правильным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63040"/>
            <a:ext cx="27889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7-mcdonalds-real-source.png"/>
          <p:cNvPicPr>
            <a:picLocks noChangeAspect="1"/>
          </p:cNvPicPr>
          <p:nvPr/>
        </p:nvPicPr>
        <p:blipFill>
          <a:blip r:embed="rId2"/>
          <a:stretch>
            <a:fillRect/>
          </a:stretch>
        </p:blipFill>
        <p:spPr>
          <a:xfrm>
            <a:off x="1317389" y="1664208"/>
            <a:ext cx="1159982" cy="1014984"/>
          </a:xfrm>
          <a:prstGeom prst="rect">
            <a:avLst/>
          </a:prstGeom>
        </p:spPr>
      </p:pic>
      <p:sp>
        <p:nvSpPr>
          <p:cNvPr id="5" name="Rounded Rectangle 4"/>
          <p:cNvSpPr/>
          <p:nvPr/>
        </p:nvSpPr>
        <p:spPr>
          <a:xfrm>
            <a:off x="502920" y="3017520"/>
            <a:ext cx="2788920" cy="1920240"/>
          </a:xfrm>
          <a:prstGeom prst="roundRect">
            <a:avLst>
              <a:gd name="adj" fmla="val 1587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154680"/>
            <a:ext cx="2331720" cy="822960"/>
          </a:xfrm>
          <a:prstGeom prst="rect">
            <a:avLst/>
          </a:prstGeom>
          <a:noFill/>
        </p:spPr>
        <p:txBody>
          <a:bodyPr wrap="square" lIns="0" rIns="0" tIns="0" bIns="0" anchor="t">
            <a:spAutoFit/>
          </a:bodyPr>
          <a:lstStyle/>
          <a:p>
            <a:pPr algn="ctr">
              <a:lnSpc>
                <a:spcPct val="115000"/>
              </a:lnSpc>
            </a:pPr>
            <a:r>
              <a:rPr sz="4000" b="1" i="0">
                <a:solidFill>
                  <a:srgbClr val="F0AB00"/>
                </a:solidFill>
                <a:latin typeface="DejaVu Sans"/>
              </a:rPr>
              <a:t>0,7%</a:t>
            </a:r>
          </a:p>
        </p:txBody>
      </p:sp>
      <p:sp>
        <p:nvSpPr>
          <p:cNvPr id="7" name="TextBox 6"/>
          <p:cNvSpPr txBox="1"/>
          <p:nvPr/>
        </p:nvSpPr>
        <p:spPr>
          <a:xfrm>
            <a:off x="640080" y="4069080"/>
            <a:ext cx="2514600" cy="777240"/>
          </a:xfrm>
          <a:prstGeom prst="rect">
            <a:avLst/>
          </a:prstGeom>
          <a:noFill/>
        </p:spPr>
        <p:txBody>
          <a:bodyPr wrap="square" lIns="0" rIns="0" tIns="0" bIns="0" anchor="t">
            <a:spAutoFit/>
          </a:bodyPr>
          <a:lstStyle/>
          <a:p>
            <a:pPr algn="ctr">
              <a:lnSpc>
                <a:spcPct val="110000"/>
              </a:lnSpc>
            </a:pPr>
            <a:r>
              <a:rPr sz="1150" b="0" i="1">
                <a:solidFill>
                  <a:srgbClr val="5B6678"/>
                </a:solidFill>
                <a:latin typeface="DejaVu Sans"/>
              </a:rPr>
              <a:t>~100 из ≈13 786 ресторанов США</a:t>
            </a:r>
          </a:p>
        </p:txBody>
      </p:sp>
      <p:sp>
        <p:nvSpPr>
          <p:cNvPr id="8" name="Rounded Rectangle 7"/>
          <p:cNvSpPr/>
          <p:nvPr/>
        </p:nvSpPr>
        <p:spPr>
          <a:xfrm>
            <a:off x="3520440" y="1463040"/>
            <a:ext cx="8183879"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94760" y="1600200"/>
            <a:ext cx="76809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McDonald's × IBM — голосовой приём заказов</a:t>
            </a:r>
          </a:p>
        </p:txBody>
      </p:sp>
      <p:sp>
        <p:nvSpPr>
          <p:cNvPr id="10" name="TextBox 9"/>
          <p:cNvSpPr txBox="1"/>
          <p:nvPr/>
        </p:nvSpPr>
        <p:spPr>
          <a:xfrm>
            <a:off x="3794760" y="2103120"/>
            <a:ext cx="7680960" cy="20116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2,5–3 года пилота на 0,7% сети </a:t>
            </a:r>
            <a:r>
              <a:rPr sz="676" baseline="30000" b="0" i="1">
                <a:latin typeface="DejaVu Sans"/>
                <a:cs typeface="DejaVu Sans"/>
                <a:ea typeface="DejaVu Sans"/>
                <a:solidFill>
                  <a:srgbClr val="1C7293"/>
                </a:solidFill>
              </a:rPr>
              <a:t>[2]</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Вирусные провалы: бекон в мороженом, 9 чаёв вместо одного</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Закрыт июнь 2024 — цель (голосовая автоматизация) осталась, вендорский подход убит</a:t>
            </a:r>
          </a:p>
        </p:txBody>
      </p:sp>
      <p:sp>
        <p:nvSpPr>
          <p:cNvPr id="11" name="Rounded Rectangle 10"/>
          <p:cNvSpPr/>
          <p:nvPr/>
        </p:nvSpPr>
        <p:spPr>
          <a:xfrm>
            <a:off x="3520440" y="4389120"/>
            <a:ext cx="8183879"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9896" y="4443983"/>
            <a:ext cx="7744967"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Зеркало предыдущего кейса: там пропустили пилот целиком и выкатили на всех; здесь пилот был долгим — и его сигнал использовали правильно, приняв дисциплинированное решение «убить», а не масштабировать провал.</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 стрелка, которой ИИ снизил доверие</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Измерение — то место, где «выглядит хорошо» бьёт по продукту сильнее всего. Формальную дисциплину продуктового эксперимента многие видят впервые.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Рандомизация отличает причину от совпадения</a:t>
            </a:r>
          </a:p>
        </p:txBody>
      </p:sp>
      <p:sp>
        <p:nvSpPr>
          <p:cNvPr id="3" name="Rounded Rectangle 2"/>
          <p:cNvSpPr/>
          <p:nvPr/>
        </p:nvSpPr>
        <p:spPr>
          <a:xfrm>
            <a:off x="502920" y="1463040"/>
            <a:ext cx="489204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606040" y="1645920"/>
            <a:ext cx="502920" cy="502920"/>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help-gold.png"/>
          <p:cNvPicPr>
            <a:picLocks noChangeAspect="1"/>
          </p:cNvPicPr>
          <p:nvPr/>
        </p:nvPicPr>
        <p:blipFill>
          <a:blip r:embed="rId2"/>
          <a:stretch>
            <a:fillRect/>
          </a:stretch>
        </p:blipFill>
        <p:spPr>
          <a:xfrm>
            <a:off x="2724912" y="1764792"/>
            <a:ext cx="274320" cy="274320"/>
          </a:xfrm>
          <a:prstGeom prst="rect">
            <a:avLst/>
          </a:prstGeom>
        </p:spPr>
      </p:pic>
      <p:sp>
        <p:nvSpPr>
          <p:cNvPr id="6" name="TextBox 5"/>
          <p:cNvSpPr txBox="1"/>
          <p:nvPr/>
        </p:nvSpPr>
        <p:spPr>
          <a:xfrm>
            <a:off x="1417320" y="2240280"/>
            <a:ext cx="2743200" cy="274320"/>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случайное деление</a:t>
            </a:r>
          </a:p>
        </p:txBody>
      </p:sp>
      <p:sp>
        <p:nvSpPr>
          <p:cNvPr id="7" name="Rounded Rectangle 6"/>
          <p:cNvSpPr/>
          <p:nvPr/>
        </p:nvSpPr>
        <p:spPr>
          <a:xfrm>
            <a:off x="822960" y="2606040"/>
            <a:ext cx="1325880" cy="14173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1234440" y="2788920"/>
            <a:ext cx="502920" cy="502920"/>
          </a:xfrm>
          <a:prstGeom prst="rect">
            <a:avLst/>
          </a:prstGeom>
        </p:spPr>
      </p:pic>
      <p:sp>
        <p:nvSpPr>
          <p:cNvPr id="9" name="TextBox 8"/>
          <p:cNvSpPr txBox="1"/>
          <p:nvPr/>
        </p:nvSpPr>
        <p:spPr>
          <a:xfrm>
            <a:off x="822960" y="3429000"/>
            <a:ext cx="1325880" cy="365760"/>
          </a:xfrm>
          <a:prstGeom prst="rect">
            <a:avLst/>
          </a:prstGeom>
          <a:noFill/>
        </p:spPr>
        <p:txBody>
          <a:bodyPr wrap="square" lIns="0" rIns="0" tIns="0" bIns="0" anchor="t">
            <a:spAutoFit/>
          </a:bodyPr>
          <a:lstStyle/>
          <a:p>
            <a:pPr algn="ctr">
              <a:lnSpc>
                <a:spcPct val="115000"/>
              </a:lnSpc>
            </a:pPr>
            <a:r>
              <a:rPr sz="1250" b="1" i="0">
                <a:solidFill>
                  <a:srgbClr val="1C7293"/>
                </a:solidFill>
                <a:latin typeface="DejaVu Sans"/>
              </a:rPr>
              <a:t>Контроль</a:t>
            </a:r>
          </a:p>
        </p:txBody>
      </p:sp>
      <p:sp>
        <p:nvSpPr>
          <p:cNvPr id="10" name="Rounded Rectangle 9"/>
          <p:cNvSpPr/>
          <p:nvPr/>
        </p:nvSpPr>
        <p:spPr>
          <a:xfrm>
            <a:off x="3246120" y="2606040"/>
            <a:ext cx="1325880" cy="1417320"/>
          </a:xfrm>
          <a:prstGeom prst="roundRect">
            <a:avLst>
              <a:gd name="adj" fmla="val 8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teal.png"/>
          <p:cNvPicPr>
            <a:picLocks noChangeAspect="1"/>
          </p:cNvPicPr>
          <p:nvPr/>
        </p:nvPicPr>
        <p:blipFill>
          <a:blip r:embed="rId4"/>
          <a:stretch>
            <a:fillRect/>
          </a:stretch>
        </p:blipFill>
        <p:spPr>
          <a:xfrm>
            <a:off x="3657600" y="2788920"/>
            <a:ext cx="502920" cy="502920"/>
          </a:xfrm>
          <a:prstGeom prst="rect">
            <a:avLst/>
          </a:prstGeom>
        </p:spPr>
      </p:pic>
      <p:sp>
        <p:nvSpPr>
          <p:cNvPr id="12" name="TextBox 11"/>
          <p:cNvSpPr txBox="1"/>
          <p:nvPr/>
        </p:nvSpPr>
        <p:spPr>
          <a:xfrm>
            <a:off x="3246120" y="3429000"/>
            <a:ext cx="132588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Воздействие</a:t>
            </a:r>
          </a:p>
        </p:txBody>
      </p:sp>
      <p:sp>
        <p:nvSpPr>
          <p:cNvPr id="13" name="Right Arrow 12"/>
          <p:cNvSpPr/>
          <p:nvPr/>
        </p:nvSpPr>
        <p:spPr>
          <a:xfrm>
            <a:off x="2331720" y="3154680"/>
            <a:ext cx="82296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0" y="1463040"/>
            <a:ext cx="608076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600200"/>
            <a:ext cx="5669280" cy="365760"/>
          </a:xfrm>
          <a:prstGeom prst="rect">
            <a:avLst/>
          </a:prstGeom>
          <a:noFill/>
        </p:spPr>
        <p:txBody>
          <a:bodyPr wrap="square" lIns="0" rIns="0" tIns="0" bIns="0" anchor="t">
            <a:spAutoFit/>
          </a:bodyPr>
          <a:lstStyle/>
          <a:p>
            <a:pPr algn="l">
              <a:lnSpc>
                <a:spcPct val="105000"/>
              </a:lnSpc>
            </a:pPr>
            <a:r>
              <a:rPr sz="1350" b="1" i="0">
                <a:solidFill>
                  <a:srgbClr val="028090"/>
                </a:solidFill>
                <a:latin typeface="DejaVu Sans"/>
              </a:rPr>
              <a:t>OEC — метрика, о значении которой договорились заранее </a:t>
            </a:r>
            <a:r>
              <a:rPr sz="702" baseline="30000" b="0" i="1">
                <a:latin typeface="DejaVu Sans"/>
                <a:cs typeface="DejaVu Sans"/>
                <a:ea typeface="DejaVu Sans"/>
                <a:solidFill>
                  <a:srgbClr val="1C7293"/>
                </a:solidFill>
              </a:rPr>
              <a:t>[1]</a:t>
            </a:r>
          </a:p>
        </p:txBody>
      </p:sp>
      <p:sp>
        <p:nvSpPr>
          <p:cNvPr id="16" name="TextBox 15"/>
          <p:cNvSpPr txBox="1"/>
          <p:nvPr/>
        </p:nvSpPr>
        <p:spPr>
          <a:xfrm>
            <a:off x="5852160" y="2331720"/>
            <a:ext cx="566928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Контролируемый эксперимент (Кохави): гипотеза с механизмом → рандомизация → заранее определённый размер выборки → решение.</a:t>
            </a:r>
          </a:p>
          <a:p>
            <a:pPr algn="l">
              <a:lnSpc>
                <a:spcPct val="120000"/>
              </a:lnSpc>
            </a:pPr>
            <a:r>
              <a:rPr sz="1250" b="0" i="0">
                <a:solidFill>
                  <a:srgbClr val="21295C"/>
                </a:solidFill>
                <a:latin typeface="DejaVu Sans"/>
              </a:rPr>
              <a:t/>
            </a:r>
          </a:p>
          <a:p>
            <a:pPr algn="l">
              <a:lnSpc>
                <a:spcPct val="120000"/>
              </a:lnSpc>
            </a:pPr>
            <a:r>
              <a:rPr sz="1250" b="0" i="0">
                <a:solidFill>
                  <a:srgbClr val="21295C"/>
                </a:solidFill>
                <a:latin typeface="DejaVu Sans"/>
              </a:rPr>
              <a:t>Учебная ловушка: «время на сайте поддержки» — это хорошо или плохо? Направление метрики надо согласовать до теста.</a:t>
            </a:r>
          </a:p>
        </p:txBody>
      </p:sp>
      <p:sp>
        <p:nvSpPr>
          <p:cNvPr id="17" name="Rounded Rectangle 16"/>
          <p:cNvSpPr/>
          <p:nvPr/>
        </p:nvSpPr>
        <p:spPr>
          <a:xfrm>
            <a:off x="502920" y="443484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489703"/>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Только случайное деление групп даёт причинность: разница между Control и Treatment вызвана вашим изменением, а не сезоном, рекламой или везением </a:t>
            </a:r>
            <a:r>
              <a:rPr sz="676" baseline="30000" b="0" i="1">
                <a:latin typeface="DejaVu Sans"/>
                <a:cs typeface="DejaVu Sans"/>
                <a:ea typeface="DejaVu Sans"/>
                <a:solidFill>
                  <a:srgbClr val="1C7293"/>
                </a:solidFill>
              </a:rPr>
              <a:t>[2]</a:t>
            </a:r>
            <a:r>
              <a:rPr sz="1300" b="1" i="0">
                <a:latin typeface="DejaVu Sans"/>
                <a:cs typeface="DejaVu Sans"/>
                <a:ea typeface="DejaVu Sans"/>
                <a:solidFill>
                  <a:srgbClr val="21295C"/>
                </a:solidFill>
              </a:rPr>
              <a:t>.</a:t>
            </a:r>
          </a:p>
        </p:txBody>
      </p:sp>
      <p:sp>
        <p:nvSpPr>
          <p:cNvPr id="19" name="Rounded Rectangle 18"/>
          <p:cNvSpPr/>
          <p:nvPr/>
        </p:nvSpPr>
        <p:spPr>
          <a:xfrm>
            <a:off x="502920" y="5413248"/>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85800" y="5577840"/>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help-white.png"/>
          <p:cNvPicPr>
            <a:picLocks noChangeAspect="1"/>
          </p:cNvPicPr>
          <p:nvPr/>
        </p:nvPicPr>
        <p:blipFill>
          <a:blip r:embed="rId5"/>
          <a:stretch>
            <a:fillRect/>
          </a:stretch>
        </p:blipFill>
        <p:spPr>
          <a:xfrm>
            <a:off x="763524" y="5655564"/>
            <a:ext cx="246888" cy="246888"/>
          </a:xfrm>
          <a:prstGeom prst="rect">
            <a:avLst/>
          </a:prstGeom>
        </p:spPr>
      </p:pic>
      <p:sp>
        <p:nvSpPr>
          <p:cNvPr id="22" name="TextBox 21"/>
          <p:cNvSpPr txBox="1"/>
          <p:nvPr/>
        </p:nvSpPr>
        <p:spPr>
          <a:xfrm>
            <a:off x="1252728" y="5458968"/>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OEC вырос на 8% на третий день теста, p &lt; 0,05. Останавливаете тест и раскатываете?</a:t>
            </a:r>
          </a:p>
        </p:txBody>
      </p:sp>
      <p:sp>
        <p:nvSpPr>
          <p:cNvPr id="23" name="TextBox 2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Wikipedia — A/B testing (Bing 2012)</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10667"/>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Файл коммитится до включения эксперимента — и дальше только дополняется</a:t>
            </a:r>
          </a:p>
        </p:txBody>
      </p:sp>
      <p:sp>
        <p:nvSpPr>
          <p:cNvPr id="3" name="Rounded Rectangle 2"/>
          <p:cNvSpPr/>
          <p:nvPr/>
        </p:nvSpPr>
        <p:spPr>
          <a:xfrm>
            <a:off x="502920" y="520979"/>
            <a:ext cx="1152144" cy="218541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20979"/>
            <a:ext cx="1060704" cy="218541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20979"/>
            <a:ext cx="9902952" cy="2185416"/>
          </a:xfrm>
          <a:prstGeom prst="roundRect">
            <a:avLst>
              <a:gd name="adj" fmla="val 1394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12419"/>
            <a:ext cx="5532120" cy="384048"/>
          </a:xfrm>
          <a:prstGeom prst="rect">
            <a:avLst/>
          </a:prstGeom>
          <a:noFill/>
        </p:spPr>
        <p:txBody>
          <a:bodyPr wrap="square" lIns="0" rIns="0" tIns="0" bIns="0" anchor="t">
            <a:spAutoFit/>
          </a:bodyPr>
          <a:lstStyle/>
          <a:p>
            <a:pPr algn="l">
              <a:lnSpc>
                <a:spcPct val="112000"/>
              </a:lnSpc>
            </a:pPr>
            <a:r>
              <a:rPr sz="980" b="0" i="0">
                <a:solidFill>
                  <a:srgbClr val="21295C"/>
                </a:solidFill>
                <a:latin typeface="DejaVu Sans"/>
              </a:rPr>
              <a:t>Подглядывание, подгонка и множественные сравнения держатся на одном: что считать успехом, решают </a:t>
            </a:r>
            <a:r>
              <a:rPr sz="980" b="1" i="0">
                <a:solidFill>
                  <a:srgbClr val="065A82"/>
                </a:solidFill>
                <a:latin typeface="DejaVu Sans"/>
              </a:rPr>
              <a:t>после</a:t>
            </a:r>
            <a:r>
              <a:rPr sz="980" b="0" i="0">
                <a:solidFill>
                  <a:srgbClr val="21295C"/>
                </a:solidFill>
                <a:latin typeface="DejaVu Sans"/>
              </a:rPr>
              <a:t> первых результатов.</a:t>
            </a:r>
          </a:p>
        </p:txBody>
      </p:sp>
      <p:sp>
        <p:nvSpPr>
          <p:cNvPr id="7" name="Rounded Rectangle 6"/>
          <p:cNvSpPr/>
          <p:nvPr/>
        </p:nvSpPr>
        <p:spPr>
          <a:xfrm>
            <a:off x="1984248" y="1051331"/>
            <a:ext cx="2651760" cy="274320"/>
          </a:xfrm>
          <a:prstGeom prst="roundRect">
            <a:avLst>
              <a:gd name="adj" fmla="val 19444"/>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it-commit-horizontal-gold.png"/>
          <p:cNvPicPr>
            <a:picLocks noChangeAspect="1"/>
          </p:cNvPicPr>
          <p:nvPr/>
        </p:nvPicPr>
        <p:blipFill>
          <a:blip r:embed="rId2"/>
          <a:stretch>
            <a:fillRect/>
          </a:stretch>
        </p:blipFill>
        <p:spPr>
          <a:xfrm>
            <a:off x="2075688" y="1087907"/>
            <a:ext cx="201168" cy="201168"/>
          </a:xfrm>
          <a:prstGeom prst="rect">
            <a:avLst/>
          </a:prstGeom>
        </p:spPr>
      </p:pic>
      <p:sp>
        <p:nvSpPr>
          <p:cNvPr id="9" name="TextBox 8"/>
          <p:cNvSpPr txBox="1"/>
          <p:nvPr/>
        </p:nvSpPr>
        <p:spPr>
          <a:xfrm>
            <a:off x="2331720" y="1051331"/>
            <a:ext cx="2231136" cy="274320"/>
          </a:xfrm>
          <a:prstGeom prst="rect">
            <a:avLst/>
          </a:prstGeom>
          <a:noFill/>
        </p:spPr>
        <p:txBody>
          <a:bodyPr wrap="square" lIns="0" rIns="0" tIns="0" bIns="0" anchor="ctr">
            <a:spAutoFit/>
          </a:bodyPr>
          <a:lstStyle/>
          <a:p>
            <a:pPr algn="l">
              <a:lnSpc>
                <a:spcPct val="100000"/>
              </a:lnSpc>
            </a:pPr>
            <a:r>
              <a:rPr sz="950" b="1" i="0">
                <a:solidFill>
                  <a:srgbClr val="21295C"/>
                </a:solidFill>
                <a:latin typeface="DejaVu Sans"/>
              </a:rPr>
              <a:t>коммит до включения</a:t>
            </a:r>
          </a:p>
        </p:txBody>
      </p:sp>
      <p:sp>
        <p:nvSpPr>
          <p:cNvPr id="10" name="Rounded Rectangle 9"/>
          <p:cNvSpPr/>
          <p:nvPr/>
        </p:nvSpPr>
        <p:spPr>
          <a:xfrm>
            <a:off x="1984248" y="1362227"/>
            <a:ext cx="5532120" cy="1249070"/>
          </a:xfrm>
          <a:prstGeom prst="roundRect">
            <a:avLst>
              <a:gd name="adj" fmla="val 1423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03120" y="1481099"/>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oec: конверсия в оплату        </a:t>
            </a:r>
            <a:r>
              <a:rPr sz="880" b="0" i="0">
                <a:solidFill>
                  <a:srgbClr val="5B6678"/>
                </a:solidFill>
                <a:latin typeface="DejaVu Sans Mono"/>
              </a:rPr>
              <a:t># с направлением: растёт</a:t>
            </a:r>
          </a:p>
        </p:txBody>
      </p:sp>
      <p:sp>
        <p:nvSpPr>
          <p:cNvPr id="12" name="TextBox 11"/>
          <p:cNvSpPr txBox="1"/>
          <p:nvPr/>
        </p:nvSpPr>
        <p:spPr>
          <a:xfrm>
            <a:off x="2103120" y="1625574"/>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guardrails: [время ответа, доля отписок]</a:t>
            </a:r>
          </a:p>
        </p:txBody>
      </p:sp>
      <p:sp>
        <p:nvSpPr>
          <p:cNvPr id="13" name="TextBox 12"/>
          <p:cNvSpPr txBox="1"/>
          <p:nvPr/>
        </p:nvSpPr>
        <p:spPr>
          <a:xfrm>
            <a:off x="2103120" y="1770049"/>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mde: 10% относительных</a:t>
            </a:r>
          </a:p>
        </p:txBody>
      </p:sp>
      <p:sp>
        <p:nvSpPr>
          <p:cNvPr id="14" name="TextBox 13"/>
          <p:cNvSpPr txBox="1"/>
          <p:nvPr/>
        </p:nvSpPr>
        <p:spPr>
          <a:xfrm>
            <a:off x="2103120" y="1914525"/>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sample_size: 31 200 на группу  </a:t>
            </a:r>
            <a:r>
              <a:rPr sz="880" b="0" i="0">
                <a:solidFill>
                  <a:srgbClr val="5B6678"/>
                </a:solidFill>
                <a:latin typeface="DejaVu Sans Mono"/>
              </a:rPr>
              <a:t># посчитан, не назначен</a:t>
            </a:r>
          </a:p>
        </p:txBody>
      </p:sp>
      <p:sp>
        <p:nvSpPr>
          <p:cNvPr id="15" name="TextBox 14"/>
          <p:cNvSpPr txBox="1"/>
          <p:nvPr/>
        </p:nvSpPr>
        <p:spPr>
          <a:xfrm>
            <a:off x="2103120" y="2059000"/>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unit: пользователь             </a:t>
            </a:r>
            <a:r>
              <a:rPr sz="880" b="0" i="0">
                <a:solidFill>
                  <a:srgbClr val="5B6678"/>
                </a:solidFill>
                <a:latin typeface="DejaVu Sans Mono"/>
              </a:rPr>
              <a:t># не запрос</a:t>
            </a:r>
          </a:p>
        </p:txBody>
      </p:sp>
      <p:sp>
        <p:nvSpPr>
          <p:cNvPr id="16" name="TextBox 15"/>
          <p:cNvSpPr txBox="1"/>
          <p:nvPr/>
        </p:nvSpPr>
        <p:spPr>
          <a:xfrm>
            <a:off x="2103120" y="2203475"/>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stopping_rule: ...</a:t>
            </a:r>
          </a:p>
        </p:txBody>
      </p:sp>
      <p:sp>
        <p:nvSpPr>
          <p:cNvPr id="17" name="TextBox 16"/>
          <p:cNvSpPr txBox="1"/>
          <p:nvPr/>
        </p:nvSpPr>
        <p:spPr>
          <a:xfrm>
            <a:off x="2103120" y="2347950"/>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decision_metric: oec           </a:t>
            </a:r>
            <a:r>
              <a:rPr sz="880" b="0" i="0">
                <a:solidFill>
                  <a:srgbClr val="5B6678"/>
                </a:solidFill>
                <a:latin typeface="DejaVu Sans Mono"/>
              </a:rPr>
              <a:t># ровно одна</a:t>
            </a:r>
          </a:p>
        </p:txBody>
      </p:sp>
      <p:sp>
        <p:nvSpPr>
          <p:cNvPr id="18" name="TextBox 17"/>
          <p:cNvSpPr txBox="1"/>
          <p:nvPr/>
        </p:nvSpPr>
        <p:spPr>
          <a:xfrm>
            <a:off x="7808975" y="612419"/>
            <a:ext cx="3712463" cy="219456"/>
          </a:xfrm>
          <a:prstGeom prst="rect">
            <a:avLst/>
          </a:prstGeom>
          <a:noFill/>
        </p:spPr>
        <p:txBody>
          <a:bodyPr wrap="square" lIns="0" rIns="0" tIns="0" bIns="0" anchor="t">
            <a:spAutoFit/>
          </a:bodyPr>
          <a:lstStyle/>
          <a:p>
            <a:pPr algn="l">
              <a:lnSpc>
                <a:spcPct val="100000"/>
              </a:lnSpc>
            </a:pPr>
            <a:r>
              <a:rPr sz="1000" b="1" i="0">
                <a:solidFill>
                  <a:srgbClr val="21295C"/>
                </a:solidFill>
                <a:latin typeface="DejaVu Sans"/>
              </a:rPr>
              <a:t>ПОЧЕМУ ЭТО РАБОТАЕТ — порядок во времени</a:t>
            </a:r>
          </a:p>
        </p:txBody>
      </p:sp>
      <p:cxnSp>
        <p:nvCxnSpPr>
          <p:cNvPr id="19" name="Connector 18"/>
          <p:cNvCxnSpPr/>
          <p:nvPr/>
        </p:nvCxnSpPr>
        <p:spPr>
          <a:xfrm>
            <a:off x="7900415" y="1270787"/>
            <a:ext cx="3483864"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083296" y="1179347"/>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27263" y="795299"/>
            <a:ext cx="1737360" cy="329184"/>
          </a:xfrm>
          <a:prstGeom prst="rect">
            <a:avLst/>
          </a:prstGeom>
          <a:noFill/>
        </p:spPr>
        <p:txBody>
          <a:bodyPr wrap="square" lIns="0" rIns="0" tIns="0" bIns="0" anchor="t">
            <a:spAutoFit/>
          </a:bodyPr>
          <a:lstStyle/>
          <a:p>
            <a:pPr algn="ctr">
              <a:lnSpc>
                <a:spcPct val="104000"/>
              </a:lnSpc>
            </a:pPr>
            <a:r>
              <a:rPr sz="900" b="1" i="0">
                <a:solidFill>
                  <a:srgbClr val="21295C"/>
                </a:solidFill>
                <a:latin typeface="DejaVu Sans"/>
              </a:rPr>
              <a:t>коммит файла</a:t>
            </a:r>
          </a:p>
        </p:txBody>
      </p:sp>
      <p:sp>
        <p:nvSpPr>
          <p:cNvPr id="22" name="Oval 21"/>
          <p:cNvSpPr/>
          <p:nvPr/>
        </p:nvSpPr>
        <p:spPr>
          <a:xfrm>
            <a:off x="10744199" y="1179347"/>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39" y="795299"/>
            <a:ext cx="1645920" cy="329184"/>
          </a:xfrm>
          <a:prstGeom prst="rect">
            <a:avLst/>
          </a:prstGeom>
          <a:noFill/>
        </p:spPr>
        <p:txBody>
          <a:bodyPr wrap="square" lIns="0" rIns="0" tIns="0" bIns="0" anchor="t">
            <a:spAutoFit/>
          </a:bodyPr>
          <a:lstStyle/>
          <a:p>
            <a:pPr algn="ctr">
              <a:lnSpc>
                <a:spcPct val="104000"/>
              </a:lnSpc>
            </a:pPr>
            <a:r>
              <a:rPr sz="900" b="1" i="0">
                <a:solidFill>
                  <a:srgbClr val="065A82"/>
                </a:solidFill>
                <a:latin typeface="DejaVu Sans"/>
              </a:rPr>
              <a:t>первый результат</a:t>
            </a:r>
          </a:p>
        </p:txBody>
      </p:sp>
      <p:cxnSp>
        <p:nvCxnSpPr>
          <p:cNvPr id="24" name="Connector 23"/>
          <p:cNvCxnSpPr/>
          <p:nvPr/>
        </p:nvCxnSpPr>
        <p:spPr>
          <a:xfrm>
            <a:off x="8174736" y="1417091"/>
            <a:ext cx="2569463"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808975" y="1508531"/>
            <a:ext cx="3712463" cy="201168"/>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правило остановки уже в истории с меткой раньше первого результата — подглядывание и перебор метрик физически невозможны</a:t>
            </a:r>
          </a:p>
        </p:txBody>
      </p:sp>
      <p:sp>
        <p:nvSpPr>
          <p:cNvPr id="26" name="TextBox 25"/>
          <p:cNvSpPr txBox="1"/>
          <p:nvPr/>
        </p:nvSpPr>
        <p:spPr>
          <a:xfrm>
            <a:off x="7808975" y="2057171"/>
            <a:ext cx="3712463" cy="365760"/>
          </a:xfrm>
          <a:prstGeom prst="rect">
            <a:avLst/>
          </a:prstGeom>
          <a:noFill/>
        </p:spPr>
        <p:txBody>
          <a:bodyPr wrap="square" lIns="0" rIns="0" tIns="0" bIns="0" anchor="t">
            <a:spAutoFit/>
          </a:bodyPr>
          <a:lstStyle/>
          <a:p>
            <a:pPr algn="l">
              <a:lnSpc>
                <a:spcPct val="112000"/>
              </a:lnSpc>
            </a:pPr>
            <a:r>
              <a:rPr sz="980" b="0" i="0">
                <a:solidFill>
                  <a:srgbClr val="21295C"/>
                </a:solidFill>
                <a:latin typeface="DejaVu Sans"/>
              </a:rPr>
              <a:t>После включения файл </a:t>
            </a:r>
            <a:r>
              <a:rPr sz="980" b="1" i="0">
                <a:solidFill>
                  <a:srgbClr val="065A82"/>
                </a:solidFill>
                <a:latin typeface="DejaVu Sans"/>
              </a:rPr>
              <a:t>не редактируется</a:t>
            </a:r>
            <a:r>
              <a:rPr sz="980" b="0" i="0">
                <a:solidFill>
                  <a:srgbClr val="21295C"/>
                </a:solidFill>
                <a:latin typeface="DejaVu Sans"/>
              </a:rPr>
              <a:t> — только дополняется секцией «решение» с датой.</a:t>
            </a:r>
          </a:p>
        </p:txBody>
      </p:sp>
      <p:sp>
        <p:nvSpPr>
          <p:cNvPr id="27" name="Rounded Rectangle 26"/>
          <p:cNvSpPr/>
          <p:nvPr/>
        </p:nvSpPr>
        <p:spPr>
          <a:xfrm>
            <a:off x="502920" y="2770403"/>
            <a:ext cx="1152144" cy="768096"/>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770403"/>
            <a:ext cx="1060704" cy="76809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9" name="Rounded Rectangle 28"/>
          <p:cNvSpPr/>
          <p:nvPr/>
        </p:nvSpPr>
        <p:spPr>
          <a:xfrm>
            <a:off x="1801368" y="2770403"/>
            <a:ext cx="9902952" cy="76809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984248" y="2861843"/>
            <a:ext cx="5120640" cy="585215"/>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03120" y="2980715"/>
            <a:ext cx="488289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experiments/&lt;имя&gt;/preregistration.md</a:t>
            </a:r>
          </a:p>
        </p:txBody>
      </p:sp>
      <p:sp>
        <p:nvSpPr>
          <p:cNvPr id="32" name="TextBox 31"/>
          <p:cNvSpPr txBox="1"/>
          <p:nvPr/>
        </p:nvSpPr>
        <p:spPr>
          <a:xfrm>
            <a:off x="2103120" y="3134334"/>
            <a:ext cx="488289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статус, даты, владелец — в заголовке; каталог на работу</a:t>
            </a:r>
          </a:p>
        </p:txBody>
      </p:sp>
      <p:sp>
        <p:nvSpPr>
          <p:cNvPr id="33" name="TextBox 32"/>
          <p:cNvSpPr txBox="1"/>
          <p:nvPr/>
        </p:nvSpPr>
        <p:spPr>
          <a:xfrm>
            <a:off x="7333488" y="2861843"/>
            <a:ext cx="4187952" cy="585215"/>
          </a:xfrm>
          <a:prstGeom prst="rect">
            <a:avLst/>
          </a:prstGeom>
          <a:noFill/>
        </p:spPr>
        <p:txBody>
          <a:bodyPr wrap="square" lIns="0" rIns="0" tIns="0" bIns="0" anchor="ctr">
            <a:spAutoFit/>
          </a:bodyPr>
          <a:lstStyle/>
          <a:p>
            <a:pPr algn="l">
              <a:lnSpc>
                <a:spcPct val="114000"/>
              </a:lnSpc>
            </a:pPr>
            <a:r>
              <a:rPr sz="980" b="0" i="0">
                <a:solidFill>
                  <a:srgbClr val="21295C"/>
                </a:solidFill>
                <a:latin typeface="DejaVu Sans"/>
              </a:rPr>
              <a:t>Тот же приём, что и у единицы работы в репозитории: файл с полями в заголовке, живущий в истории изменений, а не в переписке.</a:t>
            </a:r>
          </a:p>
        </p:txBody>
      </p:sp>
      <p:sp>
        <p:nvSpPr>
          <p:cNvPr id="34" name="Rounded Rectangle 33"/>
          <p:cNvSpPr/>
          <p:nvPr/>
        </p:nvSpPr>
        <p:spPr>
          <a:xfrm>
            <a:off x="502920" y="3602507"/>
            <a:ext cx="1152144" cy="4792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602507"/>
            <a:ext cx="1060704" cy="4792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36" name="Rounded Rectangle 35"/>
          <p:cNvSpPr/>
          <p:nvPr/>
        </p:nvSpPr>
        <p:spPr>
          <a:xfrm>
            <a:off x="1801368" y="3602507"/>
            <a:ext cx="9902952" cy="4792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84248" y="3693947"/>
            <a:ext cx="9537192" cy="296354"/>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Решение принято по названной заранее метрике · если по другой — это зафиксировано как </a:t>
            </a:r>
            <a:r>
              <a:rPr sz="1000" b="1" i="0">
                <a:solidFill>
                  <a:srgbClr val="028090"/>
                </a:solidFill>
                <a:latin typeface="DejaVu Sans"/>
              </a:rPr>
              <a:t>отклонение с обоснованием</a:t>
            </a:r>
            <a:r>
              <a:rPr sz="1000" b="0" i="0">
                <a:solidFill>
                  <a:srgbClr val="21295C"/>
                </a:solidFill>
                <a:latin typeface="DejaVu Sans"/>
              </a:rPr>
              <a:t>, а не тихо.</a:t>
            </a:r>
          </a:p>
        </p:txBody>
      </p:sp>
      <p:sp>
        <p:nvSpPr>
          <p:cNvPr id="38" name="Rounded Rectangle 37"/>
          <p:cNvSpPr/>
          <p:nvPr/>
        </p:nvSpPr>
        <p:spPr>
          <a:xfrm>
            <a:off x="502920" y="4145749"/>
            <a:ext cx="1152144" cy="135331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4145749"/>
            <a:ext cx="1060704" cy="135331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0" name="Rounded Rectangle 39"/>
          <p:cNvSpPr/>
          <p:nvPr/>
        </p:nvSpPr>
        <p:spPr>
          <a:xfrm>
            <a:off x="1801368" y="4145749"/>
            <a:ext cx="9902952" cy="135331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84248" y="4237189"/>
            <a:ext cx="6611112" cy="1170432"/>
          </a:xfrm>
          <a:prstGeom prst="rect">
            <a:avLst/>
          </a:prstGeom>
          <a:noFill/>
        </p:spPr>
        <p:txBody>
          <a:bodyPr wrap="square" lIns="0" rIns="0" tIns="0" bIns="0" anchor="ctr">
            <a:spAutoFit/>
          </a:bodyPr>
          <a:lstStyle/>
          <a:p>
            <a:pPr algn="l">
              <a:lnSpc>
                <a:spcPct val="112000"/>
              </a:lnSpc>
            </a:pPr>
            <a:r>
              <a:rPr sz="1000" b="1" i="0">
                <a:solidFill>
                  <a:srgbClr val="21295C"/>
                </a:solidFill>
                <a:latin typeface="DejaVu Sans"/>
              </a:rPr>
              <a:t>Пред-регистрация не делает эксперимент валидным — она делает невалидность видимой.</a:t>
            </a:r>
            <a:r>
              <a:rPr sz="1000" b="1" i="0">
                <a:solidFill>
                  <a:srgbClr val="21295C"/>
                </a:solidFill>
                <a:latin typeface="DejaVu Sans"/>
              </a:rPr>
              <a:t> Эффекта новизны она не лечит: для него нужна отдельная контрольная группа. И она не работает там, где выборки не хватает: честный вывод не «посмотрим на маленькой выборке», а пересмотр минимально значимого эффекта или качественный метод — </a:t>
            </a:r>
            <a:r>
              <a:rPr sz="1000" b="1" i="0">
                <a:solidFill>
                  <a:srgbClr val="21295C"/>
                </a:solidFill>
                <a:latin typeface="DejaVu Sans"/>
              </a:rPr>
              <a:t>недостижимая выборка перестаёт быть источником причинного вывода вообще.</a:t>
            </a:r>
          </a:p>
        </p:txBody>
      </p:sp>
      <p:sp>
        <p:nvSpPr>
          <p:cNvPr id="42" name="Rounded Rectangle 41"/>
          <p:cNvSpPr/>
          <p:nvPr/>
        </p:nvSpPr>
        <p:spPr>
          <a:xfrm>
            <a:off x="8778240" y="4237189"/>
            <a:ext cx="2743200" cy="1170432"/>
          </a:xfrm>
          <a:prstGeom prst="roundRect">
            <a:avLst>
              <a:gd name="adj" fmla="val 15190"/>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78240" y="4292053"/>
            <a:ext cx="2743200" cy="201168"/>
          </a:xfrm>
          <a:prstGeom prst="rect">
            <a:avLst/>
          </a:prstGeom>
          <a:noFill/>
        </p:spPr>
        <p:txBody>
          <a:bodyPr wrap="square" lIns="0" rIns="0" tIns="0" bIns="0" anchor="t">
            <a:spAutoFit/>
          </a:bodyPr>
          <a:lstStyle/>
          <a:p>
            <a:pPr algn="ctr">
              <a:lnSpc>
                <a:spcPct val="105000"/>
              </a:lnSpc>
            </a:pPr>
            <a:r>
              <a:rPr sz="880" b="1" i="0">
                <a:solidFill>
                  <a:srgbClr val="21295C"/>
                </a:solidFill>
                <a:latin typeface="DejaVu Sans"/>
              </a:rPr>
              <a:t>12+ недель до ответа</a:t>
            </a:r>
          </a:p>
        </p:txBody>
      </p:sp>
      <p:sp>
        <p:nvSpPr>
          <p:cNvPr id="44" name="Rounded Rectangle 43"/>
          <p:cNvSpPr/>
          <p:nvPr/>
        </p:nvSpPr>
        <p:spPr>
          <a:xfrm>
            <a:off x="9281160" y="4749253"/>
            <a:ext cx="640080" cy="420624"/>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52560" y="4548085"/>
            <a:ext cx="1097280" cy="182880"/>
          </a:xfrm>
          <a:prstGeom prst="rect">
            <a:avLst/>
          </a:prstGeom>
          <a:noFill/>
        </p:spPr>
        <p:txBody>
          <a:bodyPr wrap="square" lIns="0" rIns="0" tIns="0" bIns="0" anchor="t">
            <a:spAutoFit/>
          </a:bodyPr>
          <a:lstStyle/>
          <a:p>
            <a:pPr algn="ctr">
              <a:lnSpc>
                <a:spcPct val="100000"/>
              </a:lnSpc>
            </a:pPr>
            <a:r>
              <a:rPr sz="1000" b="1" i="0">
                <a:solidFill>
                  <a:srgbClr val="065A82"/>
                </a:solidFill>
                <a:latin typeface="DejaVu Sans"/>
              </a:rPr>
              <a:t>31 200</a:t>
            </a:r>
          </a:p>
        </p:txBody>
      </p:sp>
      <p:sp>
        <p:nvSpPr>
          <p:cNvPr id="46" name="TextBox 45"/>
          <p:cNvSpPr txBox="1"/>
          <p:nvPr/>
        </p:nvSpPr>
        <p:spPr>
          <a:xfrm>
            <a:off x="9052560" y="5188165"/>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нужно на группу</a:t>
            </a:r>
          </a:p>
        </p:txBody>
      </p:sp>
      <p:sp>
        <p:nvSpPr>
          <p:cNvPr id="47" name="Rounded Rectangle 46"/>
          <p:cNvSpPr/>
          <p:nvPr/>
        </p:nvSpPr>
        <p:spPr>
          <a:xfrm>
            <a:off x="10607040" y="5102470"/>
            <a:ext cx="640080" cy="67407"/>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378440" y="4901302"/>
            <a:ext cx="1097280" cy="182880"/>
          </a:xfrm>
          <a:prstGeom prst="rect">
            <a:avLst/>
          </a:prstGeom>
          <a:noFill/>
        </p:spPr>
        <p:txBody>
          <a:bodyPr wrap="square" lIns="0" rIns="0" tIns="0" bIns="0" anchor="t">
            <a:spAutoFit/>
          </a:bodyPr>
          <a:lstStyle/>
          <a:p>
            <a:pPr algn="ctr">
              <a:lnSpc>
                <a:spcPct val="100000"/>
              </a:lnSpc>
            </a:pPr>
            <a:r>
              <a:rPr sz="1000" b="1" i="0">
                <a:solidFill>
                  <a:srgbClr val="F0AB00"/>
                </a:solidFill>
                <a:latin typeface="DejaVu Sans"/>
              </a:rPr>
              <a:t>5 000</a:t>
            </a:r>
          </a:p>
        </p:txBody>
      </p:sp>
      <p:sp>
        <p:nvSpPr>
          <p:cNvPr id="49" name="TextBox 48"/>
          <p:cNvSpPr txBox="1"/>
          <p:nvPr/>
        </p:nvSpPr>
        <p:spPr>
          <a:xfrm>
            <a:off x="10378440" y="5188165"/>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есть в неделю</a:t>
            </a:r>
          </a:p>
        </p:txBody>
      </p:sp>
      <p:sp>
        <p:nvSpPr>
          <p:cNvPr id="50" name="Rectangle 49"/>
          <p:cNvSpPr/>
          <p:nvPr/>
        </p:nvSpPr>
        <p:spPr>
          <a:xfrm>
            <a:off x="502920" y="5599645"/>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 y="5581357"/>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один файл на единицу работы и тест, написанный до кода: порог существует раньше результата, который он оценивает.</a:t>
            </a:r>
          </a:p>
        </p:txBody>
      </p:sp>
      <p:sp>
        <p:nvSpPr>
          <p:cNvPr id="52" name="Rounded Rectangle 51"/>
          <p:cNvSpPr/>
          <p:nvPr/>
        </p:nvSpPr>
        <p:spPr>
          <a:xfrm>
            <a:off x="502920" y="5910541"/>
            <a:ext cx="11201400" cy="487387"/>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800" y="5953067"/>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circle-help-white.png"/>
          <p:cNvPicPr>
            <a:picLocks noChangeAspect="1"/>
          </p:cNvPicPr>
          <p:nvPr/>
        </p:nvPicPr>
        <p:blipFill>
          <a:blip r:embed="rId3"/>
          <a:stretch>
            <a:fillRect/>
          </a:stretch>
        </p:blipFill>
        <p:spPr>
          <a:xfrm>
            <a:off x="763524" y="6030791"/>
            <a:ext cx="246888" cy="246888"/>
          </a:xfrm>
          <a:prstGeom prst="rect">
            <a:avLst/>
          </a:prstGeom>
        </p:spPr>
      </p:pic>
      <p:sp>
        <p:nvSpPr>
          <p:cNvPr id="55" name="TextBox 54"/>
          <p:cNvSpPr txBox="1"/>
          <p:nvPr/>
        </p:nvSpPr>
        <p:spPr>
          <a:xfrm>
            <a:off x="1252728" y="5956261"/>
            <a:ext cx="10241280" cy="395947"/>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100" b="1" i="0">
                <a:solidFill>
                  <a:srgbClr val="21295C"/>
                </a:solidFill>
                <a:latin typeface="DejaVu Sans"/>
              </a:rPr>
              <a:t>Вы хотите проверить, что ИИ-подсказки поднимают конверсию на 10% относительных. У продукта 5000 активных пользователей в неделю. Какое решение вы принимаете до того, как включить тест?</a:t>
            </a:r>
          </a:p>
        </p:txBody>
      </p:sp>
      <p:sp>
        <p:nvSpPr>
          <p:cNvPr id="56" name="TextBox 5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Расчёт мощности 31 200 на группу — иллюстративный</a:t>
            </a:r>
          </a:p>
        </p:txBody>
      </p:sp>
      <p:sp>
        <p:nvSpPr>
          <p:cNvPr id="57" name="TextBox 5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Петля замыкается не дашбордом, а строкой инцидента, вернувшейся в набор</a:t>
            </a:r>
          </a:p>
        </p:txBody>
      </p:sp>
      <p:sp>
        <p:nvSpPr>
          <p:cNvPr id="3" name="Rounded Rectangle 2"/>
          <p:cNvSpPr/>
          <p:nvPr/>
        </p:nvSpPr>
        <p:spPr>
          <a:xfrm>
            <a:off x="502920" y="825525"/>
            <a:ext cx="1152144" cy="219456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219456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825525"/>
            <a:ext cx="9902952" cy="219456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984248" y="916965"/>
            <a:ext cx="1691640" cy="475488"/>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39112" y="916965"/>
            <a:ext cx="1581912" cy="475488"/>
          </a:xfrm>
          <a:prstGeom prst="rect">
            <a:avLst/>
          </a:prstGeom>
          <a:noFill/>
        </p:spPr>
        <p:txBody>
          <a:bodyPr wrap="square" lIns="0" rIns="0" tIns="0" bIns="0" anchor="ctr">
            <a:spAutoFit/>
          </a:bodyPr>
          <a:lstStyle/>
          <a:p>
            <a:pPr algn="ctr">
              <a:lnSpc>
                <a:spcPct val="104000"/>
              </a:lnSpc>
            </a:pPr>
            <a:r>
              <a:rPr sz="950" b="1" i="0">
                <a:solidFill>
                  <a:srgbClr val="065A82"/>
                </a:solidFill>
                <a:latin typeface="DejaVu Sans"/>
              </a:rPr>
              <a:t>набор</a:t>
            </a:r>
          </a:p>
          <a:p>
            <a:pPr algn="ctr">
              <a:lnSpc>
                <a:spcPct val="104000"/>
              </a:lnSpc>
            </a:pPr>
            <a:r>
              <a:rPr sz="950" b="1" i="0">
                <a:solidFill>
                  <a:srgbClr val="065A82"/>
                </a:solidFill>
                <a:latin typeface="DejaVu Sans"/>
              </a:rPr>
              <a:t>оценок</a:t>
            </a:r>
          </a:p>
        </p:txBody>
      </p:sp>
      <p:sp>
        <p:nvSpPr>
          <p:cNvPr id="8" name="Rounded Rectangle 7"/>
          <p:cNvSpPr/>
          <p:nvPr/>
        </p:nvSpPr>
        <p:spPr>
          <a:xfrm>
            <a:off x="4315968" y="916965"/>
            <a:ext cx="1691640" cy="475488"/>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0831" y="916965"/>
            <a:ext cx="1581912" cy="475488"/>
          </a:xfrm>
          <a:prstGeom prst="rect">
            <a:avLst/>
          </a:prstGeom>
          <a:noFill/>
        </p:spPr>
        <p:txBody>
          <a:bodyPr wrap="square" lIns="0" rIns="0" tIns="0" bIns="0" anchor="ctr">
            <a:spAutoFit/>
          </a:bodyPr>
          <a:lstStyle/>
          <a:p>
            <a:pPr algn="ctr">
              <a:lnSpc>
                <a:spcPct val="104000"/>
              </a:lnSpc>
            </a:pPr>
            <a:r>
              <a:rPr sz="950" b="1" i="0">
                <a:solidFill>
                  <a:srgbClr val="1C7293"/>
                </a:solidFill>
                <a:latin typeface="DejaVu Sans"/>
              </a:rPr>
              <a:t>развёртывание</a:t>
            </a:r>
          </a:p>
        </p:txBody>
      </p:sp>
      <p:sp>
        <p:nvSpPr>
          <p:cNvPr id="10" name="Rounded Rectangle 9"/>
          <p:cNvSpPr/>
          <p:nvPr/>
        </p:nvSpPr>
        <p:spPr>
          <a:xfrm>
            <a:off x="4315968" y="1941093"/>
            <a:ext cx="1691640" cy="475488"/>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0831" y="1941093"/>
            <a:ext cx="1581912" cy="475488"/>
          </a:xfrm>
          <a:prstGeom prst="rect">
            <a:avLst/>
          </a:prstGeom>
          <a:noFill/>
        </p:spPr>
        <p:txBody>
          <a:bodyPr wrap="square" lIns="0" rIns="0" tIns="0" bIns="0" anchor="ctr">
            <a:spAutoFit/>
          </a:bodyPr>
          <a:lstStyle/>
          <a:p>
            <a:pPr algn="ctr">
              <a:lnSpc>
                <a:spcPct val="104000"/>
              </a:lnSpc>
            </a:pPr>
            <a:r>
              <a:rPr sz="950" b="1" i="0">
                <a:solidFill>
                  <a:srgbClr val="028090"/>
                </a:solidFill>
                <a:latin typeface="DejaVu Sans"/>
              </a:rPr>
              <a:t>живой трафик</a:t>
            </a:r>
          </a:p>
        </p:txBody>
      </p:sp>
      <p:sp>
        <p:nvSpPr>
          <p:cNvPr id="12" name="Rounded Rectangle 11"/>
          <p:cNvSpPr/>
          <p:nvPr/>
        </p:nvSpPr>
        <p:spPr>
          <a:xfrm>
            <a:off x="1984248" y="1941093"/>
            <a:ext cx="1691640" cy="475488"/>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39112" y="1941093"/>
            <a:ext cx="1581912" cy="475488"/>
          </a:xfrm>
          <a:prstGeom prst="rect">
            <a:avLst/>
          </a:prstGeom>
          <a:noFill/>
        </p:spPr>
        <p:txBody>
          <a:bodyPr wrap="square" lIns="0" rIns="0" tIns="0" bIns="0" anchor="ctr">
            <a:spAutoFit/>
          </a:bodyPr>
          <a:lstStyle/>
          <a:p>
            <a:pPr algn="ctr">
              <a:lnSpc>
                <a:spcPct val="104000"/>
              </a:lnSpc>
            </a:pPr>
            <a:r>
              <a:rPr sz="950" b="1" i="0">
                <a:solidFill>
                  <a:srgbClr val="5B6678"/>
                </a:solidFill>
                <a:latin typeface="DejaVu Sans"/>
              </a:rPr>
              <a:t>инцидент</a:t>
            </a:r>
          </a:p>
        </p:txBody>
      </p:sp>
      <p:cxnSp>
        <p:nvCxnSpPr>
          <p:cNvPr id="14" name="Connector 13"/>
          <p:cNvCxnSpPr/>
          <p:nvPr/>
        </p:nvCxnSpPr>
        <p:spPr>
          <a:xfrm>
            <a:off x="3675887" y="1154709"/>
            <a:ext cx="640081"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61788" y="1392453"/>
            <a:ext cx="0" cy="54864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675887" y="2178837"/>
            <a:ext cx="640081"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30068" y="1392453"/>
            <a:ext cx="0" cy="548640"/>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pic>
        <p:nvPicPr>
          <p:cNvPr id="18" name="Picture 17" descr="refresh-cw-gold.png"/>
          <p:cNvPicPr>
            <a:picLocks noChangeAspect="1"/>
          </p:cNvPicPr>
          <p:nvPr/>
        </p:nvPicPr>
        <p:blipFill>
          <a:blip r:embed="rId2"/>
          <a:stretch>
            <a:fillRect/>
          </a:stretch>
        </p:blipFill>
        <p:spPr>
          <a:xfrm>
            <a:off x="2921508" y="1520469"/>
            <a:ext cx="237744" cy="237744"/>
          </a:xfrm>
          <a:prstGeom prst="rect">
            <a:avLst/>
          </a:prstGeom>
        </p:spPr>
      </p:pic>
      <p:sp>
        <p:nvSpPr>
          <p:cNvPr id="19" name="TextBox 18"/>
          <p:cNvSpPr txBox="1"/>
          <p:nvPr/>
        </p:nvSpPr>
        <p:spPr>
          <a:xfrm>
            <a:off x="1984248" y="2471445"/>
            <a:ext cx="3977639" cy="201168"/>
          </a:xfrm>
          <a:prstGeom prst="rect">
            <a:avLst/>
          </a:prstGeom>
          <a:noFill/>
        </p:spPr>
        <p:txBody>
          <a:bodyPr wrap="square" lIns="0" rIns="0" tIns="0" bIns="0" anchor="t">
            <a:spAutoFit/>
          </a:bodyPr>
          <a:lstStyle/>
          <a:p>
            <a:pPr algn="l">
              <a:lnSpc>
                <a:spcPct val="105000"/>
              </a:lnSpc>
            </a:pPr>
            <a:r>
              <a:rPr sz="880" b="0" i="1">
                <a:solidFill>
                  <a:srgbClr val="21295C"/>
                </a:solidFill>
                <a:latin typeface="DejaVu Sans"/>
              </a:rPr>
              <a:t>золотая стрелка и делает петлю петлёй: сбой возвращается отдельной строкой</a:t>
            </a:r>
          </a:p>
        </p:txBody>
      </p:sp>
      <p:sp>
        <p:nvSpPr>
          <p:cNvPr id="20" name="Oval 19"/>
          <p:cNvSpPr/>
          <p:nvPr/>
        </p:nvSpPr>
        <p:spPr>
          <a:xfrm>
            <a:off x="6144768" y="93068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44768" y="93068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455664" y="916965"/>
            <a:ext cx="5065776" cy="35774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Оценка до развёртывания</a:t>
            </a:r>
            <a:r>
              <a:rPr sz="980" b="0" i="0">
                <a:solidFill>
                  <a:srgbClr val="21295C"/>
                </a:solidFill>
                <a:latin typeface="DejaVu Sans"/>
              </a:rPr>
              <a:t> — прогон против курируемого набора: воспроизводимо, ловит известные регрессии.</a:t>
            </a:r>
          </a:p>
        </p:txBody>
      </p:sp>
      <p:sp>
        <p:nvSpPr>
          <p:cNvPr id="23" name="Oval 22"/>
          <p:cNvSpPr/>
          <p:nvPr/>
        </p:nvSpPr>
        <p:spPr>
          <a:xfrm>
            <a:off x="6144768" y="134328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134328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455664" y="1329570"/>
            <a:ext cx="5065776" cy="35774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Оценка на живом трафике</a:t>
            </a:r>
            <a:r>
              <a:rPr sz="980" b="0" i="0">
                <a:solidFill>
                  <a:srgbClr val="21295C"/>
                </a:solidFill>
                <a:latin typeface="DejaVu Sans"/>
              </a:rPr>
              <a:t> — вскрывает длинный хвост входов, который не предвидел ни один фиксированный набор.</a:t>
            </a:r>
          </a:p>
        </p:txBody>
      </p:sp>
      <p:sp>
        <p:nvSpPr>
          <p:cNvPr id="26" name="Oval 25"/>
          <p:cNvSpPr/>
          <p:nvPr/>
        </p:nvSpPr>
        <p:spPr>
          <a:xfrm>
            <a:off x="6144768" y="175589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44768" y="175589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455664" y="1742175"/>
            <a:ext cx="5065776" cy="35774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Замыкание</a:t>
            </a:r>
            <a:r>
              <a:rPr sz="980" b="0" i="0">
                <a:solidFill>
                  <a:srgbClr val="21295C"/>
                </a:solidFill>
                <a:latin typeface="DejaVu Sans"/>
              </a:rPr>
              <a:t> — промышленный сбой возвращается в набор отдельной строкой, чтобы регрессия не повторилась молча.</a:t>
            </a:r>
          </a:p>
        </p:txBody>
      </p:sp>
      <p:sp>
        <p:nvSpPr>
          <p:cNvPr id="29" name="Rounded Rectangle 28"/>
          <p:cNvSpPr/>
          <p:nvPr/>
        </p:nvSpPr>
        <p:spPr>
          <a:xfrm>
            <a:off x="6144768" y="2178837"/>
            <a:ext cx="1633727"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99631" y="2178837"/>
            <a:ext cx="1523999"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проверки на каждое изменение</a:t>
            </a:r>
          </a:p>
        </p:txBody>
      </p:sp>
      <p:sp>
        <p:nvSpPr>
          <p:cNvPr id="31" name="Right Arrow 30"/>
          <p:cNvSpPr/>
          <p:nvPr/>
        </p:nvSpPr>
        <p:spPr>
          <a:xfrm>
            <a:off x="7815071" y="2297709"/>
            <a:ext cx="164592"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16239" y="2178837"/>
            <a:ext cx="1633727"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71104" y="2178837"/>
            <a:ext cx="1523999"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человек и модель-судья</a:t>
            </a:r>
          </a:p>
        </p:txBody>
      </p:sp>
      <p:sp>
        <p:nvSpPr>
          <p:cNvPr id="34" name="Right Arrow 33"/>
          <p:cNvSpPr/>
          <p:nvPr/>
        </p:nvSpPr>
        <p:spPr>
          <a:xfrm>
            <a:off x="9686543" y="2297709"/>
            <a:ext cx="164592"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887712" y="2178837"/>
            <a:ext cx="1633727" cy="384048"/>
          </a:xfrm>
          <a:prstGeom prst="roundRect">
            <a:avLst>
              <a:gd name="adj" fmla="val 19444"/>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2576" y="2178837"/>
            <a:ext cx="1523999"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эксперимент на живых пользователях</a:t>
            </a:r>
          </a:p>
        </p:txBody>
      </p:sp>
      <p:sp>
        <p:nvSpPr>
          <p:cNvPr id="37" name="TextBox 36"/>
          <p:cNvSpPr txBox="1"/>
          <p:nvPr/>
        </p:nvSpPr>
        <p:spPr>
          <a:xfrm>
            <a:off x="6144768" y="2599461"/>
            <a:ext cx="5376672" cy="201168"/>
          </a:xfrm>
          <a:prstGeom prst="rect">
            <a:avLst/>
          </a:prstGeom>
          <a:noFill/>
        </p:spPr>
        <p:txBody>
          <a:bodyPr wrap="square" lIns="0" rIns="0" tIns="0" bIns="0" anchor="t">
            <a:spAutoFit/>
          </a:bodyPr>
          <a:lstStyle/>
          <a:p>
            <a:pPr algn="l">
              <a:lnSpc>
                <a:spcPct val="105000"/>
              </a:lnSpc>
            </a:pPr>
            <a:r>
              <a:rPr sz="880" b="0" i="1">
                <a:solidFill>
                  <a:srgbClr val="21295C"/>
                </a:solidFill>
                <a:latin typeface="DejaVu Sans"/>
              </a:rPr>
              <a:t>эксперимент на живых пользователях — последняя ступень, а не первая: он за оценками, потому что дороже</a:t>
            </a:r>
          </a:p>
        </p:txBody>
      </p:sp>
      <p:sp>
        <p:nvSpPr>
          <p:cNvPr id="38" name="Rounded Rectangle 37"/>
          <p:cNvSpPr/>
          <p:nvPr/>
        </p:nvSpPr>
        <p:spPr>
          <a:xfrm>
            <a:off x="502920" y="3084093"/>
            <a:ext cx="1152144" cy="1152144"/>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3084093"/>
            <a:ext cx="1060704" cy="115214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40" name="Rounded Rectangle 39"/>
          <p:cNvSpPr/>
          <p:nvPr/>
        </p:nvSpPr>
        <p:spPr>
          <a:xfrm>
            <a:off x="1801368" y="3084093"/>
            <a:ext cx="9902952" cy="115214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984248" y="3175533"/>
            <a:ext cx="5394960" cy="969264"/>
          </a:xfrm>
          <a:prstGeom prst="roundRect">
            <a:avLst>
              <a:gd name="adj" fmla="val 18343"/>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03120" y="3294405"/>
            <a:ext cx="515721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evals/reference.jsonl        </a:t>
            </a:r>
            <a:r>
              <a:rPr sz="850" b="0" i="0">
                <a:solidFill>
                  <a:srgbClr val="5B6678"/>
                </a:solidFill>
                <a:latin typeface="DejaVu Sans Mono"/>
              </a:rPr>
              <a:t># набор, растущий из инцидентов</a:t>
            </a:r>
          </a:p>
        </p:txBody>
      </p:sp>
      <p:sp>
        <p:nvSpPr>
          <p:cNvPr id="43" name="TextBox 42"/>
          <p:cNvSpPr txBox="1"/>
          <p:nvPr/>
        </p:nvSpPr>
        <p:spPr>
          <a:xfrm>
            <a:off x="2103120" y="3448024"/>
            <a:ext cx="515721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evals/judge-agreement.jsonl  </a:t>
            </a:r>
            <a:r>
              <a:rPr sz="850" b="0" i="0">
                <a:solidFill>
                  <a:srgbClr val="5B6678"/>
                </a:solidFill>
                <a:latin typeface="DejaVu Sans Mono"/>
              </a:rPr>
              <a:t># журнал согласия судьи</a:t>
            </a:r>
          </a:p>
        </p:txBody>
      </p:sp>
      <p:sp>
        <p:nvSpPr>
          <p:cNvPr id="44" name="TextBox 43"/>
          <p:cNvSpPr txBox="1"/>
          <p:nvPr/>
        </p:nvSpPr>
        <p:spPr>
          <a:xfrm>
            <a:off x="2103120" y="3601643"/>
            <a:ext cx="515721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с человеческими метками</a:t>
            </a:r>
          </a:p>
        </p:txBody>
      </p:sp>
      <p:sp>
        <p:nvSpPr>
          <p:cNvPr id="45" name="TextBox 44"/>
          <p:cNvSpPr txBox="1"/>
          <p:nvPr/>
        </p:nvSpPr>
        <p:spPr>
          <a:xfrm>
            <a:off x="7607808" y="3175533"/>
            <a:ext cx="3913631" cy="310896"/>
          </a:xfrm>
          <a:prstGeom prst="rect">
            <a:avLst/>
          </a:prstGeom>
          <a:noFill/>
        </p:spPr>
        <p:txBody>
          <a:bodyPr wrap="square" lIns="0" rIns="0" tIns="0" bIns="0" anchor="t">
            <a:spAutoFit/>
          </a:bodyPr>
          <a:lstStyle/>
          <a:p>
            <a:pPr algn="l">
              <a:lnSpc>
                <a:spcPct val="110000"/>
              </a:lnSpc>
            </a:pPr>
            <a:r>
              <a:rPr sz="950" b="0" i="0">
                <a:solidFill>
                  <a:srgbClr val="21295C"/>
                </a:solidFill>
                <a:latin typeface="DejaVu Sans"/>
              </a:rPr>
              <a:t>Без второго не понять, чему верить. </a:t>
            </a:r>
            <a:r>
              <a:rPr sz="950" b="1" i="0">
                <a:solidFill>
                  <a:srgbClr val="065A82"/>
                </a:solidFill>
                <a:latin typeface="DejaVu Sans"/>
              </a:rPr>
              <a:t>Митигации судьи:</a:t>
            </a:r>
          </a:p>
        </p:txBody>
      </p:sp>
      <p:sp>
        <p:nvSpPr>
          <p:cNvPr id="46" name="Rounded Rectangle 45"/>
          <p:cNvSpPr/>
          <p:nvPr/>
        </p:nvSpPr>
        <p:spPr>
          <a:xfrm>
            <a:off x="7607808" y="3541293"/>
            <a:ext cx="3822191" cy="182880"/>
          </a:xfrm>
          <a:prstGeom prst="roundRect">
            <a:avLst>
              <a:gd name="adj" fmla="val 50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819" b="0">
                <a:solidFill>
                  <a:srgbClr val="21295C"/>
                </a:solidFill>
                <a:latin typeface="DejaVu Sans"/>
              </a:rPr>
              <a:t>перемешивать порядок ответов</a:t>
            </a:r>
          </a:p>
        </p:txBody>
      </p:sp>
      <p:sp>
        <p:nvSpPr>
          <p:cNvPr id="47" name="Rounded Rectangle 46"/>
          <p:cNvSpPr/>
          <p:nvPr/>
        </p:nvSpPr>
        <p:spPr>
          <a:xfrm>
            <a:off x="7607808" y="3742461"/>
            <a:ext cx="3822191" cy="182880"/>
          </a:xfrm>
          <a:prstGeom prst="roundRect">
            <a:avLst>
              <a:gd name="adj" fmla="val 50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819" b="0">
                <a:solidFill>
                  <a:srgbClr val="21295C"/>
                </a:solidFill>
                <a:latin typeface="DejaVu Sans"/>
              </a:rPr>
              <a:t>измерять согласие с метками</a:t>
            </a:r>
          </a:p>
        </p:txBody>
      </p:sp>
      <p:sp>
        <p:nvSpPr>
          <p:cNvPr id="48" name="Rounded Rectangle 47"/>
          <p:cNvSpPr/>
          <p:nvPr/>
        </p:nvSpPr>
        <p:spPr>
          <a:xfrm>
            <a:off x="7607808" y="3943629"/>
            <a:ext cx="3822191" cy="182880"/>
          </a:xfrm>
          <a:prstGeom prst="roundRect">
            <a:avLst>
              <a:gd name="adj" fmla="val 50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819" b="0">
                <a:solidFill>
                  <a:srgbClr val="21295C"/>
                </a:solidFill>
                <a:latin typeface="DejaVu Sans"/>
              </a:rPr>
              <a:t>сверять с судьёй другого семейства</a:t>
            </a:r>
          </a:p>
        </p:txBody>
      </p:sp>
      <p:sp>
        <p:nvSpPr>
          <p:cNvPr id="49" name="Rounded Rectangle 48"/>
          <p:cNvSpPr/>
          <p:nvPr/>
        </p:nvSpPr>
        <p:spPr>
          <a:xfrm>
            <a:off x="502920" y="4300245"/>
            <a:ext cx="1152144" cy="797623"/>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4300245"/>
            <a:ext cx="1060704" cy="79762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51" name="Rounded Rectangle 50"/>
          <p:cNvSpPr/>
          <p:nvPr/>
        </p:nvSpPr>
        <p:spPr>
          <a:xfrm>
            <a:off x="1801368" y="4300245"/>
            <a:ext cx="9902952" cy="797623"/>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984248" y="4391685"/>
            <a:ext cx="9537192" cy="614743"/>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Проверка насыщения: балл упёрся в потолок и перестал различать версии — набор </a:t>
            </a:r>
            <a:r>
              <a:rPr sz="1000" b="1" i="0">
                <a:solidFill>
                  <a:srgbClr val="028090"/>
                </a:solidFill>
                <a:latin typeface="DejaVu Sans"/>
              </a:rPr>
              <a:t>сдулся</a:t>
            </a:r>
            <a:r>
              <a:rPr sz="1000" b="0" i="0">
                <a:solidFill>
                  <a:srgbClr val="21295C"/>
                </a:solidFill>
                <a:latin typeface="DejaVu Sans"/>
              </a:rPr>
              <a:t> и требует кейсов сложнее · планка привязана к цене ошибки через «успешен во всех попытках» · именованная база: переход на систематическую оценку поднял пропускную способность исправлений с </a:t>
            </a:r>
            <a:r>
              <a:rPr sz="1000" b="1" i="0">
                <a:solidFill>
                  <a:srgbClr val="028090"/>
                </a:solidFill>
                <a:latin typeface="DejaVu Sans"/>
              </a:rPr>
              <a:t>3 до 30 в день</a:t>
            </a:r>
            <a:r>
              <a:rPr sz="1000" b="0" i="0">
                <a:solidFill>
                  <a:srgbClr val="21295C"/>
                </a:solidFill>
                <a:latin typeface="DejaVu Sans"/>
              </a:rPr>
              <a:t>.</a:t>
            </a:r>
          </a:p>
        </p:txBody>
      </p:sp>
      <p:sp>
        <p:nvSpPr>
          <p:cNvPr id="53" name="Rounded Rectangle 52"/>
          <p:cNvSpPr/>
          <p:nvPr/>
        </p:nvSpPr>
        <p:spPr>
          <a:xfrm>
            <a:off x="502920" y="5161876"/>
            <a:ext cx="1152144" cy="797623"/>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8640" y="5161876"/>
            <a:ext cx="1060704" cy="797623"/>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55" name="Rounded Rectangle 54"/>
          <p:cNvSpPr/>
          <p:nvPr/>
        </p:nvSpPr>
        <p:spPr>
          <a:xfrm>
            <a:off x="1801368" y="5161876"/>
            <a:ext cx="9902952" cy="797623"/>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984248" y="5253316"/>
            <a:ext cx="9537192" cy="614743"/>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Модель-судья держит </a:t>
            </a:r>
            <a:r>
              <a:rPr sz="1000" b="1" i="0">
                <a:solidFill>
                  <a:srgbClr val="21295C"/>
                </a:solidFill>
                <a:latin typeface="DejaVu Sans"/>
              </a:rPr>
              <a:t>80–85% согласия на лёгких категориях и падает ниже 60% на безопасности</a:t>
            </a:r>
            <a:r>
              <a:rPr sz="1000" b="1" i="0">
                <a:solidFill>
                  <a:srgbClr val="21295C"/>
                </a:solidFill>
                <a:latin typeface="DejaVu Sans"/>
              </a:rPr>
              <a:t> — судья надёжен меньше всего там, где цена ошибки выше всего. Набор, который всегда зелёный, — не гарантия качества, а сломанный измеритель, ровно как тест, проходящий при любом изменении кода. И эксперимент на живых пользователях оценками </a:t>
            </a:r>
            <a:r>
              <a:rPr sz="1000" b="1" i="0">
                <a:solidFill>
                  <a:srgbClr val="21295C"/>
                </a:solidFill>
                <a:latin typeface="DejaVu Sans"/>
              </a:rPr>
              <a:t>не заменяется</a:t>
            </a:r>
            <a:r>
              <a:rPr sz="1000" b="1" i="0">
                <a:solidFill>
                  <a:srgbClr val="21295C"/>
                </a:solidFill>
                <a:latin typeface="DejaVu Sans"/>
              </a:rPr>
              <a:t>.</a:t>
            </a:r>
          </a:p>
        </p:txBody>
      </p:sp>
      <p:sp>
        <p:nvSpPr>
          <p:cNvPr id="57" name="Rectangle 56"/>
          <p:cNvSpPr/>
          <p:nvPr/>
        </p:nvSpPr>
        <p:spPr>
          <a:xfrm>
            <a:off x="502920" y="6060084"/>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6041796"/>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гейт прогона до слияния и петля «сбой — правка — проверка»: здесь она замкнута на качество ответа.</a:t>
            </a:r>
          </a:p>
        </p:txBody>
      </p:sp>
      <p:sp>
        <p:nvSpPr>
          <p:cNvPr id="59" name="TextBox 58"/>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Трёхуровневая рамка — Хусейн · согласие судьи 85% / ниже 60% на безопасности · 3 → 30 исправлений в день — Notion</a:t>
            </a:r>
          </a:p>
        </p:txBody>
      </p:sp>
      <p:sp>
        <p:nvSpPr>
          <p:cNvPr id="60" name="TextBox 5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Лодка кружит в лагуне и набирает очки — но никогда не финиширует</a:t>
            </a:r>
          </a:p>
        </p:txBody>
      </p:sp>
      <p:sp>
        <p:nvSpPr>
          <p:cNvPr id="3" name="Rounded Rectangle 2"/>
          <p:cNvSpPr/>
          <p:nvPr/>
        </p:nvSpPr>
        <p:spPr>
          <a:xfrm>
            <a:off x="502920" y="1463040"/>
            <a:ext cx="5349240" cy="3017520"/>
          </a:xfrm>
          <a:prstGeom prst="roundRect">
            <a:avLst>
              <a:gd name="adj" fmla="val 101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peat-teal.png"/>
          <p:cNvPicPr>
            <a:picLocks noChangeAspect="1"/>
          </p:cNvPicPr>
          <p:nvPr/>
        </p:nvPicPr>
        <p:blipFill>
          <a:blip r:embed="rId2"/>
          <a:stretch>
            <a:fillRect/>
          </a:stretch>
        </p:blipFill>
        <p:spPr>
          <a:xfrm>
            <a:off x="2606040" y="1828800"/>
            <a:ext cx="1005840" cy="1005840"/>
          </a:xfrm>
          <a:prstGeom prst="rect">
            <a:avLst/>
          </a:prstGeom>
        </p:spPr>
      </p:pic>
      <p:sp>
        <p:nvSpPr>
          <p:cNvPr id="5" name="TextBox 4"/>
          <p:cNvSpPr txBox="1"/>
          <p:nvPr/>
        </p:nvSpPr>
        <p:spPr>
          <a:xfrm>
            <a:off x="777240" y="2971800"/>
            <a:ext cx="4800600" cy="137160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RL-агент в гонке набрал на 20% больше очков людей — кружа в лагуне и собирая бонусы, никогда не пересекая финиш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Оптимизировал прокси, а не реальную цель.</a:t>
            </a:r>
          </a:p>
        </p:txBody>
      </p:sp>
      <p:sp>
        <p:nvSpPr>
          <p:cNvPr id="6" name="Rounded Rectangle 5"/>
          <p:cNvSpPr/>
          <p:nvPr/>
        </p:nvSpPr>
        <p:spPr>
          <a:xfrm>
            <a:off x="6080760" y="1463040"/>
            <a:ext cx="5623560" cy="3017520"/>
          </a:xfrm>
          <a:prstGeom prst="roundRect">
            <a:avLst>
              <a:gd name="adj" fmla="val 10101"/>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00200"/>
            <a:ext cx="5166360" cy="822960"/>
          </a:xfrm>
          <a:prstGeom prst="rect">
            <a:avLst/>
          </a:prstGeom>
          <a:noFill/>
        </p:spPr>
        <p:txBody>
          <a:bodyPr wrap="square" lIns="0" rIns="0" tIns="0" bIns="0" anchor="t">
            <a:spAutoFit/>
          </a:bodyPr>
          <a:lstStyle/>
          <a:p>
            <a:pPr algn="l">
              <a:lnSpc>
                <a:spcPct val="112000"/>
              </a:lnSpc>
            </a:pPr>
            <a:r>
              <a:rPr sz="1400" b="1" i="0">
                <a:solidFill>
                  <a:srgbClr val="21295C"/>
                </a:solidFill>
                <a:latin typeface="DejaVu Sans"/>
              </a:rPr>
              <a:t>Закон Гудхарта: когда мера становится целью, она перестаёт быть хорошей мерой.</a:t>
            </a:r>
          </a:p>
        </p:txBody>
      </p:sp>
      <p:sp>
        <p:nvSpPr>
          <p:cNvPr id="8" name="TextBox 7"/>
          <p:cNvSpPr txBox="1"/>
          <p:nvPr/>
        </p:nvSpPr>
        <p:spPr>
          <a:xfrm>
            <a:off x="6309360" y="2606040"/>
            <a:ext cx="5166360" cy="173736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Anthropic: модель обобщила от угодливости к прямому редактированию собственной функции вознаграждения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Что остаётся: OEC-дисциплина, guardrail-метрики, закон Тваймана — подозрительно идеальный балл теперь скорее баг, чем прорыв.</a:t>
            </a:r>
          </a:p>
        </p:txBody>
      </p:sp>
      <p:sp>
        <p:nvSpPr>
          <p:cNvPr id="9" name="Rounded Rectangle 8"/>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Взлом награды (reward hacking): модель находит способ «выиграть» прокси-метрику, не достигая задуманного результата — поэтому мера и цель нельзя путать.</a:t>
            </a:r>
          </a:p>
        </p:txBody>
      </p:sp>
      <p:sp>
        <p:nvSpPr>
          <p:cNvPr id="11" name="TextBox 1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Anthropic — Sycophancy to Subterfuge (arXiv:2406.10162)</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Все 5 реакций взвешены одинаково ×5 — не только «гнев»</a:t>
            </a:r>
          </a:p>
        </p:txBody>
      </p:sp>
      <p:sp>
        <p:nvSpPr>
          <p:cNvPr id="3" name="Rounded Rectangle 2"/>
          <p:cNvSpPr/>
          <p:nvPr/>
        </p:nvSpPr>
        <p:spPr>
          <a:xfrm>
            <a:off x="502920" y="1417320"/>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3-same-picture.jpg"/>
          <p:cNvPicPr>
            <a:picLocks noChangeAspect="1"/>
          </p:cNvPicPr>
          <p:nvPr/>
        </p:nvPicPr>
        <p:blipFill>
          <a:blip r:embed="rId2"/>
          <a:stretch>
            <a:fillRect/>
          </a:stretch>
        </p:blipFill>
        <p:spPr>
          <a:xfrm>
            <a:off x="1342730" y="1527048"/>
            <a:ext cx="2298017" cy="2569463"/>
          </a:xfrm>
          <a:prstGeom prst="rect">
            <a:avLst/>
          </a:prstGeom>
        </p:spPr>
      </p:pic>
      <p:sp>
        <p:nvSpPr>
          <p:cNvPr id="5" name="Rounded Rectangle 4"/>
          <p:cNvSpPr/>
          <p:nvPr/>
        </p:nvSpPr>
        <p:spPr>
          <a:xfrm>
            <a:off x="4709160" y="141732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33-facebook-real-source.png"/>
          <p:cNvPicPr>
            <a:picLocks noChangeAspect="1"/>
          </p:cNvPicPr>
          <p:nvPr/>
        </p:nvPicPr>
        <p:blipFill>
          <a:blip r:embed="rId3"/>
          <a:stretch>
            <a:fillRect/>
          </a:stretch>
        </p:blipFill>
        <p:spPr>
          <a:xfrm>
            <a:off x="4873752" y="1749104"/>
            <a:ext cx="2002536" cy="387991"/>
          </a:xfrm>
          <a:prstGeom prst="rect">
            <a:avLst/>
          </a:prstGeom>
        </p:spPr>
      </p:pic>
      <p:sp>
        <p:nvSpPr>
          <p:cNvPr id="7" name="Rounded Rectangle 6"/>
          <p:cNvSpPr/>
          <p:nvPr/>
        </p:nvSpPr>
        <p:spPr>
          <a:xfrm>
            <a:off x="7269480" y="1417320"/>
            <a:ext cx="443484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1481328"/>
            <a:ext cx="3977639"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Facebook MSI, январь 2018: love/haha/wow/sad/angry — все ×5 выше лайка (не только гнев)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9" name="Rounded Rectangle 8"/>
          <p:cNvSpPr/>
          <p:nvPr/>
        </p:nvSpPr>
        <p:spPr>
          <a:xfrm>
            <a:off x="4709160"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love</a:t>
            </a:r>
          </a:p>
        </p:txBody>
      </p:sp>
      <p:sp>
        <p:nvSpPr>
          <p:cNvPr id="11" name="Rounded Rectangle 10"/>
          <p:cNvSpPr/>
          <p:nvPr/>
        </p:nvSpPr>
        <p:spPr>
          <a:xfrm>
            <a:off x="5129784"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2" name="Rounded Rectangle 11"/>
          <p:cNvSpPr/>
          <p:nvPr/>
        </p:nvSpPr>
        <p:spPr>
          <a:xfrm>
            <a:off x="6135624"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35624"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haha</a:t>
            </a:r>
          </a:p>
        </p:txBody>
      </p:sp>
      <p:sp>
        <p:nvSpPr>
          <p:cNvPr id="14" name="Rounded Rectangle 13"/>
          <p:cNvSpPr/>
          <p:nvPr/>
        </p:nvSpPr>
        <p:spPr>
          <a:xfrm>
            <a:off x="6556248"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5" name="Rounded Rectangle 14"/>
          <p:cNvSpPr/>
          <p:nvPr/>
        </p:nvSpPr>
        <p:spPr>
          <a:xfrm>
            <a:off x="7562088"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62088"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wow</a:t>
            </a:r>
          </a:p>
        </p:txBody>
      </p:sp>
      <p:sp>
        <p:nvSpPr>
          <p:cNvPr id="17" name="Rounded Rectangle 16"/>
          <p:cNvSpPr/>
          <p:nvPr/>
        </p:nvSpPr>
        <p:spPr>
          <a:xfrm>
            <a:off x="7982712"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8" name="Rounded Rectangle 17"/>
          <p:cNvSpPr/>
          <p:nvPr/>
        </p:nvSpPr>
        <p:spPr>
          <a:xfrm>
            <a:off x="8988552"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8552"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sad</a:t>
            </a:r>
          </a:p>
        </p:txBody>
      </p:sp>
      <p:sp>
        <p:nvSpPr>
          <p:cNvPr id="20" name="Rounded Rectangle 19"/>
          <p:cNvSpPr/>
          <p:nvPr/>
        </p:nvSpPr>
        <p:spPr>
          <a:xfrm>
            <a:off x="9409176"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1" name="Rounded Rectangle 20"/>
          <p:cNvSpPr/>
          <p:nvPr/>
        </p:nvSpPr>
        <p:spPr>
          <a:xfrm>
            <a:off x="10415016"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5016"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angry</a:t>
            </a:r>
          </a:p>
        </p:txBody>
      </p:sp>
      <p:sp>
        <p:nvSpPr>
          <p:cNvPr id="23" name="Rounded Rectangle 22"/>
          <p:cNvSpPr/>
          <p:nvPr/>
        </p:nvSpPr>
        <p:spPr>
          <a:xfrm>
            <a:off x="10835640"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4" name="Rounded Rectangle 23"/>
          <p:cNvSpPr/>
          <p:nvPr/>
        </p:nvSpPr>
        <p:spPr>
          <a:xfrm>
            <a:off x="4709160" y="3611880"/>
            <a:ext cx="699516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28616" y="3666744"/>
            <a:ext cx="6556248" cy="16276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Прокси вовлечённости без guardrail на дезинформацию скрывал вред ~2 года: внутренний guardrail (корреляция гнев ↔ дезинформация) подтверждён к 2019, вес обнулён в сентябре 2019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Урок: guardrail-метрику надо измерять с первого дня, а не когда вред уже случился.</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House E&amp;C Committee — документы Haugen</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Сдал бенчмарк формата A ≠ безопасен в проде формата B</a:t>
            </a:r>
          </a:p>
        </p:txBody>
      </p:sp>
      <p:sp>
        <p:nvSpPr>
          <p:cNvPr id="3" name="Rounded Rectangle 2"/>
          <p:cNvSpPr/>
          <p:nvPr/>
        </p:nvSpPr>
        <p:spPr>
          <a:xfrm>
            <a:off x="502920" y="1463040"/>
            <a:ext cx="5532120" cy="2606040"/>
          </a:xfrm>
          <a:prstGeom prst="roundRect">
            <a:avLst>
              <a:gd name="adj" fmla="val 1169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Медицина</a:t>
            </a:r>
          </a:p>
        </p:txBody>
      </p:sp>
      <p:sp>
        <p:nvSpPr>
          <p:cNvPr id="5" name="Rounded Rectangle 4"/>
          <p:cNvSpPr/>
          <p:nvPr/>
        </p:nvSpPr>
        <p:spPr>
          <a:xfrm>
            <a:off x="731520" y="2011680"/>
            <a:ext cx="2194560"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86,5% MedQA [1]</a:t>
            </a:r>
          </a:p>
        </p:txBody>
      </p:sp>
      <p:sp>
        <p:nvSpPr>
          <p:cNvPr id="6" name="TextBox 5"/>
          <p:cNvSpPr txBox="1"/>
          <p:nvPr/>
        </p:nvSpPr>
        <p:spPr>
          <a:xfrm>
            <a:off x="731520" y="2651760"/>
            <a:ext cx="5029200" cy="12801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Med-PaLM 2 хорош на бенчмарке вопросов-ответов — но клиническая безопасность требует ОТДЕЛЬНОГО adversarial (состязательного) safety-набора.</a:t>
            </a:r>
          </a:p>
        </p:txBody>
      </p:sp>
      <p:sp>
        <p:nvSpPr>
          <p:cNvPr id="7" name="Rounded Rectangle 6"/>
          <p:cNvSpPr/>
          <p:nvPr/>
        </p:nvSpPr>
        <p:spPr>
          <a:xfrm>
            <a:off x="6172200" y="1463040"/>
            <a:ext cx="5532120" cy="2606040"/>
          </a:xfrm>
          <a:prstGeom prst="roundRect">
            <a:avLst>
              <a:gd name="adj" fmla="val 1169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72768"/>
            <a:ext cx="50292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Право</a:t>
            </a:r>
          </a:p>
        </p:txBody>
      </p:sp>
      <p:sp>
        <p:nvSpPr>
          <p:cNvPr id="9" name="TextBox 8"/>
          <p:cNvSpPr txBox="1"/>
          <p:nvPr/>
        </p:nvSpPr>
        <p:spPr>
          <a:xfrm>
            <a:off x="6400800" y="2011680"/>
            <a:ext cx="5029200" cy="82296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Stanford RegLab: Lexis+ 17% галлюцинаций, Westlaw 33% — на реальных юридических запросах </a:t>
            </a:r>
            <a:r>
              <a:rPr sz="650" baseline="30000" b="0" i="1">
                <a:latin typeface="DejaVu Sans"/>
                <a:cs typeface="DejaVu Sans"/>
                <a:ea typeface="DejaVu Sans"/>
                <a:solidFill>
                  <a:srgbClr val="1C7293"/>
                </a:solidFill>
              </a:rPr>
              <a:t>[3]</a:t>
            </a:r>
            <a:r>
              <a:rPr sz="1250" b="0" i="0">
                <a:latin typeface="DejaVu Sans"/>
                <a:cs typeface="DejaVu Sans"/>
                <a:ea typeface="DejaVu Sans"/>
                <a:solidFill>
                  <a:srgbClr val="21295C"/>
                </a:solidFill>
              </a:rPr>
              <a:t>.</a:t>
            </a:r>
          </a:p>
        </p:txBody>
      </p:sp>
      <p:sp>
        <p:nvSpPr>
          <p:cNvPr id="10" name="Rounded Rectangle 9"/>
          <p:cNvSpPr/>
          <p:nvPr/>
        </p:nvSpPr>
        <p:spPr>
          <a:xfrm>
            <a:off x="6400800" y="2926080"/>
            <a:ext cx="5074920" cy="868680"/>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3017520"/>
            <a:ext cx="4663440" cy="685800"/>
          </a:xfrm>
          <a:prstGeom prst="rect">
            <a:avLst/>
          </a:prstGeom>
          <a:noFill/>
        </p:spPr>
        <p:txBody>
          <a:bodyPr wrap="square" lIns="0" rIns="0" tIns="0" bIns="0" anchor="ctr">
            <a:spAutoFit/>
          </a:bodyPr>
          <a:lstStyle/>
          <a:p>
            <a:pPr algn="l">
              <a:lnSpc>
                <a:spcPct val="112000"/>
              </a:lnSpc>
            </a:pPr>
            <a:r>
              <a:rPr sz="1200" b="1" i="0">
                <a:solidFill>
                  <a:srgbClr val="21295C"/>
                </a:solidFill>
                <a:latin typeface="DejaVu Sans"/>
              </a:rPr>
              <a:t>Дело Mata v. Avianca (фейковые цитаты) = ChatGPT, НЕ Harvey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 — частая ошибка атрибуции.</a:t>
            </a:r>
          </a:p>
        </p:txBody>
      </p:sp>
      <p:sp>
        <p:nvSpPr>
          <p:cNvPr id="12" name="Rounded Rectangle 11"/>
          <p:cNvSpPr/>
          <p:nvPr/>
        </p:nvSpPr>
        <p:spPr>
          <a:xfrm>
            <a:off x="502920" y="4251960"/>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306824"/>
            <a:ext cx="10762488" cy="9875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Бенчмарк — свидетельство о производительности только на формате задачи именно этого бенчмарка. Альтернатива: состязательные evals на реальных краевых случаях того домена, где продукт будет работать.</a:t>
            </a:r>
          </a:p>
        </p:txBody>
      </p:sp>
      <p:sp>
        <p:nvSpPr>
          <p:cNvPr id="14" name="TextBox 1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Mata v.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продукт как оркестр</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Между «код работает у меня» и «продукт надёжно работает у миллионов 24/7» — пропасть, и её закрывают процессом эксплуатации, а не только качеством кода.</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Ответ с кодом 200 ничего не говорит о том, галлюцинирует ли модель</a:t>
            </a:r>
          </a:p>
        </p:txBody>
      </p:sp>
      <p:sp>
        <p:nvSpPr>
          <p:cNvPr id="3" name="Rounded Rectangle 2"/>
          <p:cNvSpPr/>
          <p:nvPr/>
        </p:nvSpPr>
        <p:spPr>
          <a:xfrm>
            <a:off x="50292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SLI</a:t>
            </a:r>
          </a:p>
        </p:txBody>
      </p:sp>
      <p:sp>
        <p:nvSpPr>
          <p:cNvPr id="5" name="TextBox 4"/>
          <p:cNvSpPr txBox="1"/>
          <p:nvPr/>
        </p:nvSpPr>
        <p:spPr>
          <a:xfrm>
            <a:off x="59436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показатель</a:t>
            </a:r>
          </a:p>
        </p:txBody>
      </p:sp>
      <p:sp>
        <p:nvSpPr>
          <p:cNvPr id="6" name="Right Arrow 5"/>
          <p:cNvSpPr/>
          <p:nvPr/>
        </p:nvSpPr>
        <p:spPr>
          <a:xfrm>
            <a:off x="336499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SLO</a:t>
            </a:r>
          </a:p>
        </p:txBody>
      </p:sp>
      <p:sp>
        <p:nvSpPr>
          <p:cNvPr id="9" name="TextBox 8"/>
          <p:cNvSpPr txBox="1"/>
          <p:nvPr/>
        </p:nvSpPr>
        <p:spPr>
          <a:xfrm>
            <a:off x="3749039"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цель 99,9%</a:t>
            </a:r>
          </a:p>
        </p:txBody>
      </p:sp>
      <p:sp>
        <p:nvSpPr>
          <p:cNvPr id="10" name="Right Arrow 9"/>
          <p:cNvSpPr/>
          <p:nvPr/>
        </p:nvSpPr>
        <p:spPr>
          <a:xfrm>
            <a:off x="651967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12280" y="1600200"/>
            <a:ext cx="2834640" cy="1051560"/>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Error budget</a:t>
            </a:r>
          </a:p>
        </p:txBody>
      </p:sp>
      <p:sp>
        <p:nvSpPr>
          <p:cNvPr id="13" name="TextBox 12"/>
          <p:cNvSpPr txBox="1"/>
          <p:nvPr/>
        </p:nvSpPr>
        <p:spPr>
          <a:xfrm>
            <a:off x="690372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«1 − SLO»</a:t>
            </a:r>
          </a:p>
        </p:txBody>
      </p:sp>
      <p:sp>
        <p:nvSpPr>
          <p:cNvPr id="14" name="TextBox 13"/>
          <p:cNvSpPr txBox="1"/>
          <p:nvPr/>
        </p:nvSpPr>
        <p:spPr>
          <a:xfrm>
            <a:off x="502920" y="2788920"/>
            <a:ext cx="100584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Error budget = «1 − SLO». Пример: 99,9% → 1000 ошибок на 1 млн запросов за 4 недели. Изменения — ≈70% всех сбоев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a:t>
            </a:r>
          </a:p>
        </p:txBody>
      </p:sp>
      <p:sp>
        <p:nvSpPr>
          <p:cNvPr id="15" name="Rounded Rectangle 14"/>
          <p:cNvSpPr/>
          <p:nvPr/>
        </p:nvSpPr>
        <p:spPr>
          <a:xfrm>
            <a:off x="502920" y="3429000"/>
            <a:ext cx="11201400"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light.png"/>
          <p:cNvPicPr>
            <a:picLocks noChangeAspect="1"/>
          </p:cNvPicPr>
          <p:nvPr/>
        </p:nvPicPr>
        <p:blipFill>
          <a:blip r:embed="rId2"/>
          <a:stretch>
            <a:fillRect/>
          </a:stretch>
        </p:blipFill>
        <p:spPr>
          <a:xfrm>
            <a:off x="777240" y="3657600"/>
            <a:ext cx="502920" cy="502920"/>
          </a:xfrm>
          <a:prstGeom prst="rect">
            <a:avLst/>
          </a:prstGeom>
        </p:spPr>
      </p:pic>
      <p:sp>
        <p:nvSpPr>
          <p:cNvPr id="17" name="TextBox 16"/>
          <p:cNvSpPr txBox="1"/>
          <p:nvPr/>
        </p:nvSpPr>
        <p:spPr>
          <a:xfrm>
            <a:off x="1463040" y="3566160"/>
            <a:ext cx="9966960" cy="77724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SLI «доля ответов с кодом 200» = всё ок? Нет: 200 приходит и когда модель уверенно галлюцинирует. Инфраструктурная метрика не видит качества ответа.</a:t>
            </a:r>
          </a:p>
        </p:txBody>
      </p:sp>
      <p:sp>
        <p:nvSpPr>
          <p:cNvPr id="18" name="Rounded Rectangle 17"/>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Дежурства, разбор инцидентов без поиска виноватых, инструкции — вы это можете знать. Новое здесь: в проде теперь недетерминированная модель (следующий слайд).</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SRE — Error Budget Policy</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Трасса без версии — не трасса: три части наблюдаемости ИИ-компонента</a:t>
            </a:r>
          </a:p>
        </p:txBody>
      </p:sp>
      <p:sp>
        <p:nvSpPr>
          <p:cNvPr id="3" name="Rounded Rectangle 2"/>
          <p:cNvSpPr/>
          <p:nvPr/>
        </p:nvSpPr>
        <p:spPr>
          <a:xfrm>
            <a:off x="502920" y="536206"/>
            <a:ext cx="1152144" cy="233172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23317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36206"/>
            <a:ext cx="990295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84248" y="64136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84248" y="64136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8" name="TextBox 7"/>
          <p:cNvSpPr txBox="1"/>
          <p:nvPr/>
        </p:nvSpPr>
        <p:spPr>
          <a:xfrm>
            <a:off x="2295144" y="627646"/>
            <a:ext cx="5705856" cy="669762"/>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Трасса на каждый ответ с идентификаторами версий.</a:t>
            </a:r>
            <a:r>
              <a:rPr sz="980" b="0" i="0">
                <a:solidFill>
                  <a:srgbClr val="21295C"/>
                </a:solidFill>
                <a:latin typeface="DejaVu Sans"/>
              </a:rPr>
              <a:t> Промпт → извлечение → вызовы инструментов → ответ. Обязательны версии промпта, модели и конфигурации ограничителей: без них на разборе инцидента нельзя сказать, что изменилось. </a:t>
            </a:r>
            <a:r>
              <a:rPr sz="980" b="1" i="0">
                <a:solidFill>
                  <a:srgbClr val="065A82"/>
                </a:solidFill>
                <a:latin typeface="DejaVu Sans"/>
              </a:rPr>
              <a:t>Контракт без версии — не контракт.</a:t>
            </a:r>
          </a:p>
        </p:txBody>
      </p:sp>
      <p:sp>
        <p:nvSpPr>
          <p:cNvPr id="9" name="Oval 8"/>
          <p:cNvSpPr/>
          <p:nvPr/>
        </p:nvSpPr>
        <p:spPr>
          <a:xfrm>
            <a:off x="1984248" y="136598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36598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1" name="TextBox 10"/>
          <p:cNvSpPr txBox="1"/>
          <p:nvPr/>
        </p:nvSpPr>
        <p:spPr>
          <a:xfrm>
            <a:off x="2295144" y="1352273"/>
            <a:ext cx="5705856" cy="669762"/>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Бюджет ошибок считается на немедленно доступном прокси</a:t>
            </a:r>
            <a:r>
              <a:rPr sz="980" b="0" i="0">
                <a:solidFill>
                  <a:srgbClr val="21295C"/>
                </a:solidFill>
                <a:latin typeface="DejaVu Sans"/>
              </a:rPr>
              <a:t>, а не на отложенной истинной метке: правильность ответа часто известна не сразу. Прокси выбирается </a:t>
            </a:r>
            <a:r>
              <a:rPr sz="980" b="1" i="0">
                <a:solidFill>
                  <a:srgbClr val="065A82"/>
                </a:solidFill>
                <a:latin typeface="DejaVu Sans"/>
              </a:rPr>
              <a:t>один раз и записывается</a:t>
            </a:r>
            <a:r>
              <a:rPr sz="980" b="0" i="0">
                <a:solidFill>
                  <a:srgbClr val="21295C"/>
                </a:solidFill>
                <a:latin typeface="DejaVu Sans"/>
              </a:rPr>
              <a:t>, иначе на первом же инциденте начнётся спор, что считать ошибкой.</a:t>
            </a:r>
          </a:p>
        </p:txBody>
      </p:sp>
      <p:sp>
        <p:nvSpPr>
          <p:cNvPr id="12" name="Oval 11"/>
          <p:cNvSpPr/>
          <p:nvPr/>
        </p:nvSpPr>
        <p:spPr>
          <a:xfrm>
            <a:off x="1984248" y="209061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84248" y="209061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4" name="TextBox 13"/>
          <p:cNvSpPr txBox="1"/>
          <p:nvPr/>
        </p:nvSpPr>
        <p:spPr>
          <a:xfrm>
            <a:off x="2295144" y="2076899"/>
            <a:ext cx="5705856" cy="669762"/>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Порог скорости сжигания калибруется на историческом разбросе этой же модели</a:t>
            </a:r>
            <a:r>
              <a:rPr sz="980" b="0" i="0">
                <a:solidFill>
                  <a:srgbClr val="21295C"/>
                </a:solidFill>
                <a:latin typeface="DejaVu Sans"/>
              </a:rPr>
              <a:t>, а не копируется из инфраструктурного норматива. Вариативность доходит до </a:t>
            </a:r>
            <a:r>
              <a:rPr sz="980" b="1" i="0">
                <a:solidFill>
                  <a:srgbClr val="065A82"/>
                </a:solidFill>
                <a:latin typeface="DejaVu Sans"/>
              </a:rPr>
              <a:t>15 процентных пунктов</a:t>
            </a:r>
            <a:r>
              <a:rPr sz="980" b="0" i="0">
                <a:solidFill>
                  <a:srgbClr val="21295C"/>
                </a:solidFill>
                <a:latin typeface="DejaVu Sans"/>
              </a:rPr>
              <a:t> между одинаковыми прогонами: абсолютный порог либо шумит, либо не срабатывает на реальном дрейфе вовсе.</a:t>
            </a:r>
          </a:p>
        </p:txBody>
      </p:sp>
      <p:sp>
        <p:nvSpPr>
          <p:cNvPr id="15" name="Rounded Rectangle 14"/>
          <p:cNvSpPr/>
          <p:nvPr/>
        </p:nvSpPr>
        <p:spPr>
          <a:xfrm>
            <a:off x="8138159" y="627646"/>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59" y="627646"/>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промпт</a:t>
            </a:r>
          </a:p>
        </p:txBody>
      </p:sp>
      <p:sp>
        <p:nvSpPr>
          <p:cNvPr id="17" name="Rounded Rectangle 16"/>
          <p:cNvSpPr/>
          <p:nvPr/>
        </p:nvSpPr>
        <p:spPr>
          <a:xfrm>
            <a:off x="8229599" y="892822"/>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9" y="892822"/>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19" name="Rounded Rectangle 18"/>
          <p:cNvSpPr/>
          <p:nvPr/>
        </p:nvSpPr>
        <p:spPr>
          <a:xfrm>
            <a:off x="9002267" y="627646"/>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02267" y="627646"/>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извлечение</a:t>
            </a:r>
          </a:p>
        </p:txBody>
      </p:sp>
      <p:sp>
        <p:nvSpPr>
          <p:cNvPr id="21" name="Rounded Rectangle 20"/>
          <p:cNvSpPr/>
          <p:nvPr/>
        </p:nvSpPr>
        <p:spPr>
          <a:xfrm>
            <a:off x="9093707" y="892822"/>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93707" y="892822"/>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3" name="Rounded Rectangle 22"/>
          <p:cNvSpPr/>
          <p:nvPr/>
        </p:nvSpPr>
        <p:spPr>
          <a:xfrm>
            <a:off x="9866376" y="627646"/>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66376" y="627646"/>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инструменты</a:t>
            </a:r>
          </a:p>
        </p:txBody>
      </p:sp>
      <p:sp>
        <p:nvSpPr>
          <p:cNvPr id="25" name="Rounded Rectangle 24"/>
          <p:cNvSpPr/>
          <p:nvPr/>
        </p:nvSpPr>
        <p:spPr>
          <a:xfrm>
            <a:off x="9957815" y="892822"/>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57815" y="892822"/>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7" name="Rounded Rectangle 26"/>
          <p:cNvSpPr/>
          <p:nvPr/>
        </p:nvSpPr>
        <p:spPr>
          <a:xfrm>
            <a:off x="10730484" y="627646"/>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730484" y="627646"/>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ответ</a:t>
            </a:r>
          </a:p>
        </p:txBody>
      </p:sp>
      <p:sp>
        <p:nvSpPr>
          <p:cNvPr id="29" name="Rounded Rectangle 28"/>
          <p:cNvSpPr/>
          <p:nvPr/>
        </p:nvSpPr>
        <p:spPr>
          <a:xfrm>
            <a:off x="10821924" y="892822"/>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21924" y="892822"/>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1" name="TextBox 30"/>
          <p:cNvSpPr txBox="1"/>
          <p:nvPr/>
        </p:nvSpPr>
        <p:spPr>
          <a:xfrm>
            <a:off x="8138159" y="1093990"/>
            <a:ext cx="3383280" cy="201168"/>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подсвечены не этапы, а версии</a:t>
            </a:r>
          </a:p>
        </p:txBody>
      </p:sp>
      <p:sp>
        <p:nvSpPr>
          <p:cNvPr id="32" name="Rounded Rectangle 31"/>
          <p:cNvSpPr/>
          <p:nvPr/>
        </p:nvSpPr>
        <p:spPr>
          <a:xfrm>
            <a:off x="8138159" y="1359166"/>
            <a:ext cx="3383280" cy="192024"/>
          </a:xfrm>
          <a:prstGeom prst="roundRect">
            <a:avLst>
              <a:gd name="adj" fmla="val 1388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599" y="1359166"/>
            <a:ext cx="3200400" cy="192024"/>
          </a:xfrm>
          <a:prstGeom prst="rect">
            <a:avLst/>
          </a:prstGeom>
          <a:noFill/>
        </p:spPr>
        <p:txBody>
          <a:bodyPr wrap="square" lIns="0" rIns="0" tIns="0" bIns="0" anchor="ctr">
            <a:spAutoFit/>
          </a:bodyPr>
          <a:lstStyle/>
          <a:p>
            <a:pPr algn="l">
              <a:lnSpc>
                <a:spcPct val="100000"/>
              </a:lnSpc>
            </a:pPr>
            <a:r>
              <a:rPr sz="780" b="1" i="0">
                <a:solidFill>
                  <a:srgbClr val="21295C"/>
                </a:solidFill>
                <a:latin typeface="DejaVu Sans"/>
              </a:rPr>
              <a:t>эскалации к человеку   ← выбран один раз и записан</a:t>
            </a:r>
          </a:p>
        </p:txBody>
      </p:sp>
      <p:sp>
        <p:nvSpPr>
          <p:cNvPr id="34" name="Rounded Rectangle 33"/>
          <p:cNvSpPr/>
          <p:nvPr/>
        </p:nvSpPr>
        <p:spPr>
          <a:xfrm>
            <a:off x="8138159" y="1574050"/>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9" y="1574050"/>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явное «это не то»</a:t>
            </a:r>
          </a:p>
        </p:txBody>
      </p:sp>
      <p:sp>
        <p:nvSpPr>
          <p:cNvPr id="36" name="Rounded Rectangle 35"/>
          <p:cNvSpPr/>
          <p:nvPr/>
        </p:nvSpPr>
        <p:spPr>
          <a:xfrm>
            <a:off x="8138159" y="1788934"/>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599" y="1788934"/>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отказ отвечать</a:t>
            </a:r>
          </a:p>
        </p:txBody>
      </p:sp>
      <p:sp>
        <p:nvSpPr>
          <p:cNvPr id="38" name="Rounded Rectangle 37"/>
          <p:cNvSpPr/>
          <p:nvPr/>
        </p:nvSpPr>
        <p:spPr>
          <a:xfrm>
            <a:off x="8138159" y="2003818"/>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9" y="2003818"/>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повторные генерации</a:t>
            </a:r>
          </a:p>
        </p:txBody>
      </p:sp>
      <p:sp>
        <p:nvSpPr>
          <p:cNvPr id="40" name="Rectangle 39"/>
          <p:cNvSpPr/>
          <p:nvPr/>
        </p:nvSpPr>
        <p:spPr>
          <a:xfrm>
            <a:off x="8138159" y="2255278"/>
            <a:ext cx="3383280" cy="201168"/>
          </a:xfrm>
          <a:prstGeom prst="rect">
            <a:avLst/>
          </a:prstGeom>
          <a:solidFill>
            <a:srgbClr val="FFFFFF"/>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006839" y="2255278"/>
            <a:ext cx="1188720" cy="201168"/>
          </a:xfrm>
          <a:prstGeom prst="rect">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10195559" y="2209558"/>
            <a:ext cx="0" cy="292608"/>
          </a:xfrm>
          <a:prstGeom prst="line">
            <a:avLst/>
          </a:prstGeom>
          <a:ln w="31750">
            <a:solidFill>
              <a:srgbClr val="F0AB0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8138159" y="2493022"/>
            <a:ext cx="2011680" cy="201168"/>
          </a:xfrm>
          <a:prstGeom prst="rect">
            <a:avLst/>
          </a:prstGeom>
          <a:noFill/>
        </p:spPr>
        <p:txBody>
          <a:bodyPr wrap="square" lIns="0" rIns="0" tIns="0" bIns="0" anchor="t">
            <a:spAutoFit/>
          </a:bodyPr>
          <a:lstStyle/>
          <a:p>
            <a:pPr algn="ctr">
              <a:lnSpc>
                <a:spcPct val="105000"/>
              </a:lnSpc>
            </a:pPr>
            <a:r>
              <a:rPr sz="780" b="0" i="1">
                <a:solidFill>
                  <a:srgbClr val="5B6678"/>
                </a:solidFill>
                <a:latin typeface="DejaVu Sans"/>
              </a:rPr>
              <a:t>собственный разброс этой модели</a:t>
            </a:r>
          </a:p>
        </p:txBody>
      </p:sp>
      <p:sp>
        <p:nvSpPr>
          <p:cNvPr id="44" name="TextBox 43"/>
          <p:cNvSpPr txBox="1"/>
          <p:nvPr/>
        </p:nvSpPr>
        <p:spPr>
          <a:xfrm>
            <a:off x="10222991" y="2493022"/>
            <a:ext cx="1298448" cy="201168"/>
          </a:xfrm>
          <a:prstGeom prst="rect">
            <a:avLst/>
          </a:prstGeom>
          <a:noFill/>
        </p:spPr>
        <p:txBody>
          <a:bodyPr wrap="square" lIns="0" rIns="0" tIns="0" bIns="0" anchor="t">
            <a:spAutoFit/>
          </a:bodyPr>
          <a:lstStyle/>
          <a:p>
            <a:pPr algn="l">
              <a:lnSpc>
                <a:spcPct val="105000"/>
              </a:lnSpc>
            </a:pPr>
            <a:r>
              <a:rPr sz="780" b="1" i="0">
                <a:solidFill>
                  <a:srgbClr val="21295C"/>
                </a:solidFill>
                <a:latin typeface="DejaVu Sans"/>
              </a:rPr>
              <a:t>порог — внутри него</a:t>
            </a:r>
          </a:p>
        </p:txBody>
      </p:sp>
      <p:sp>
        <p:nvSpPr>
          <p:cNvPr id="45" name="Rounded Rectangle 44"/>
          <p:cNvSpPr/>
          <p:nvPr/>
        </p:nvSpPr>
        <p:spPr>
          <a:xfrm>
            <a:off x="502920" y="2931934"/>
            <a:ext cx="1152144" cy="1325880"/>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2931934"/>
            <a:ext cx="1060704" cy="132588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47" name="Rounded Rectangle 46"/>
          <p:cNvSpPr/>
          <p:nvPr/>
        </p:nvSpPr>
        <p:spPr>
          <a:xfrm>
            <a:off x="1801368" y="2931934"/>
            <a:ext cx="9902952" cy="13258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984248" y="3023374"/>
            <a:ext cx="5989320" cy="1143000"/>
          </a:xfrm>
          <a:prstGeom prst="roundRect">
            <a:avLst>
              <a:gd name="adj" fmla="val 15555"/>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03120" y="3142246"/>
            <a:ext cx="5751576" cy="182880"/>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runbook-ai-quality.md</a:t>
            </a:r>
          </a:p>
        </p:txBody>
      </p:sp>
      <p:sp>
        <p:nvSpPr>
          <p:cNvPr id="50" name="TextBox 49"/>
          <p:cNvSpPr txBox="1"/>
          <p:nvPr/>
        </p:nvSpPr>
        <p:spPr>
          <a:xfrm>
            <a:off x="2103120" y="3288550"/>
            <a:ext cx="5751576" cy="182880"/>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«качество поехало» → откатить версию промпта →</a:t>
            </a:r>
          </a:p>
        </p:txBody>
      </p:sp>
      <p:sp>
        <p:nvSpPr>
          <p:cNvPr id="51" name="TextBox 50"/>
          <p:cNvSpPr txBox="1"/>
          <p:nvPr/>
        </p:nvSpPr>
        <p:spPr>
          <a:xfrm>
            <a:off x="2103120" y="3434854"/>
            <a:ext cx="5751576" cy="182880"/>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поднять порог эскалации → включить строгий</a:t>
            </a:r>
          </a:p>
        </p:txBody>
      </p:sp>
      <p:sp>
        <p:nvSpPr>
          <p:cNvPr id="52" name="TextBox 51"/>
          <p:cNvSpPr txBox="1"/>
          <p:nvPr/>
        </p:nvSpPr>
        <p:spPr>
          <a:xfrm>
            <a:off x="2103120" y="3581158"/>
            <a:ext cx="5751576" cy="182880"/>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ограничитель → кого будить</a:t>
            </a:r>
          </a:p>
        </p:txBody>
      </p:sp>
      <p:sp>
        <p:nvSpPr>
          <p:cNvPr id="53" name="TextBox 52"/>
          <p:cNvSpPr txBox="1"/>
          <p:nvPr/>
        </p:nvSpPr>
        <p:spPr>
          <a:xfrm>
            <a:off x="2103120" y="3727462"/>
            <a:ext cx="5751576" cy="182880"/>
          </a:xfrm>
          <a:prstGeom prst="rect">
            <a:avLst/>
          </a:prstGeom>
          <a:noFill/>
        </p:spPr>
        <p:txBody>
          <a:bodyPr wrap="square" lIns="0" rIns="0" tIns="0" bIns="0" anchor="t">
            <a:spAutoFit/>
          </a:bodyPr>
          <a:lstStyle/>
          <a:p>
            <a:pPr algn="l">
              <a:lnSpc>
                <a:spcPct val="100000"/>
              </a:lnSpc>
            </a:pPr>
            <a:r>
              <a:rPr sz="860" b="0" i="0">
                <a:solidFill>
                  <a:srgbClr val="5B6678"/>
                </a:solidFill>
                <a:latin typeface="DejaVu Sans Mono"/>
              </a:rPr>
              <a:t># + дашборд на выбранном прокси</a:t>
            </a:r>
          </a:p>
        </p:txBody>
      </p:sp>
      <p:sp>
        <p:nvSpPr>
          <p:cNvPr id="54" name="TextBox 53"/>
          <p:cNvSpPr txBox="1"/>
          <p:nvPr/>
        </p:nvSpPr>
        <p:spPr>
          <a:xfrm>
            <a:off x="2103120" y="3873766"/>
            <a:ext cx="5751576" cy="182880"/>
          </a:xfrm>
          <a:prstGeom prst="rect">
            <a:avLst/>
          </a:prstGeom>
          <a:noFill/>
        </p:spPr>
        <p:txBody>
          <a:bodyPr wrap="square" lIns="0" rIns="0" tIns="0" bIns="0" anchor="t">
            <a:spAutoFit/>
          </a:bodyPr>
          <a:lstStyle/>
          <a:p>
            <a:pPr algn="l">
              <a:lnSpc>
                <a:spcPct val="100000"/>
              </a:lnSpc>
            </a:pPr>
            <a:r>
              <a:rPr sz="860" b="0" i="0">
                <a:solidFill>
                  <a:srgbClr val="5B6678"/>
                </a:solidFill>
                <a:latin typeface="DejaVu Sans Mono"/>
              </a:rPr>
              <a:t># + запись «какой разброс нормален»: дата калибровки</a:t>
            </a:r>
          </a:p>
        </p:txBody>
      </p:sp>
      <p:sp>
        <p:nvSpPr>
          <p:cNvPr id="55" name="TextBox 54"/>
          <p:cNvSpPr txBox="1"/>
          <p:nvPr/>
        </p:nvSpPr>
        <p:spPr>
          <a:xfrm>
            <a:off x="8202167" y="3023374"/>
            <a:ext cx="3319272" cy="1143000"/>
          </a:xfrm>
          <a:prstGeom prst="rect">
            <a:avLst/>
          </a:prstGeom>
          <a:noFill/>
        </p:spPr>
        <p:txBody>
          <a:bodyPr wrap="square" lIns="0" rIns="0" tIns="0" bIns="0" anchor="ctr">
            <a:spAutoFit/>
          </a:bodyPr>
          <a:lstStyle/>
          <a:p>
            <a:pPr algn="l">
              <a:lnSpc>
                <a:spcPct val="114000"/>
              </a:lnSpc>
            </a:pPr>
            <a:r>
              <a:rPr sz="980" b="0" i="0">
                <a:solidFill>
                  <a:srgbClr val="21295C"/>
                </a:solidFill>
                <a:latin typeface="DejaVu Sans"/>
              </a:rPr>
              <a:t>Регламент — не описание намерения, а последовательность действий с именами: </a:t>
            </a:r>
            <a:r>
              <a:rPr sz="980" b="1" i="0">
                <a:solidFill>
                  <a:srgbClr val="065A82"/>
                </a:solidFill>
                <a:latin typeface="DejaVu Sans"/>
              </a:rPr>
              <a:t>что откатить, что поднять, кого будить</a:t>
            </a:r>
            <a:r>
              <a:rPr sz="980" b="0" i="0">
                <a:solidFill>
                  <a:srgbClr val="21295C"/>
                </a:solidFill>
                <a:latin typeface="DejaVu Sans"/>
              </a:rPr>
              <a:t>.</a:t>
            </a:r>
          </a:p>
        </p:txBody>
      </p:sp>
      <p:sp>
        <p:nvSpPr>
          <p:cNvPr id="56" name="Rounded Rectangle 55"/>
          <p:cNvSpPr/>
          <p:nvPr/>
        </p:nvSpPr>
        <p:spPr>
          <a:xfrm>
            <a:off x="502920" y="4321822"/>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4321822"/>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58" name="Rounded Rectangle 57"/>
          <p:cNvSpPr/>
          <p:nvPr/>
        </p:nvSpPr>
        <p:spPr>
          <a:xfrm>
            <a:off x="1801368" y="4321822"/>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984248" y="4413262"/>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Проверяется не декларацией, а </a:t>
            </a:r>
            <a:r>
              <a:rPr sz="1000" b="1" i="0">
                <a:solidFill>
                  <a:srgbClr val="028090"/>
                </a:solidFill>
                <a:latin typeface="DejaVu Sans"/>
              </a:rPr>
              <a:t>плановым учением</a:t>
            </a:r>
            <a:r>
              <a:rPr sz="1000" b="0" i="0">
                <a:solidFill>
                  <a:srgbClr val="21295C"/>
                </a:solidFill>
                <a:latin typeface="DejaVu Sans"/>
              </a:rPr>
              <a:t>: алерт срабатывает в заявленное окно · дежурный находит нужный раздел регламента · откат укладывается в заявленное время.</a:t>
            </a:r>
          </a:p>
        </p:txBody>
      </p:sp>
      <p:sp>
        <p:nvSpPr>
          <p:cNvPr id="60" name="Rounded Rectangle 59"/>
          <p:cNvSpPr/>
          <p:nvPr/>
        </p:nvSpPr>
        <p:spPr>
          <a:xfrm>
            <a:off x="502920" y="5024259"/>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8640" y="5024259"/>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 тройная</a:t>
            </a:r>
          </a:p>
        </p:txBody>
      </p:sp>
      <p:sp>
        <p:nvSpPr>
          <p:cNvPr id="62" name="Rounded Rectangle 61"/>
          <p:cNvSpPr/>
          <p:nvPr/>
        </p:nvSpPr>
        <p:spPr>
          <a:xfrm>
            <a:off x="1801368" y="5024259"/>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984248" y="5115699"/>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Трассы по построению уходят во внешний сервис — </a:t>
            </a:r>
            <a:r>
              <a:rPr sz="1000" b="1" i="0">
                <a:solidFill>
                  <a:srgbClr val="21295C"/>
                </a:solidFill>
                <a:latin typeface="DejaVu Sans"/>
              </a:rPr>
              <a:t>регулируемые данные туда нельзя</a:t>
            </a:r>
            <a:r>
              <a:rPr sz="1000" b="1" i="0">
                <a:solidFill>
                  <a:srgbClr val="21295C"/>
                </a:solidFill>
                <a:latin typeface="DejaVu Sans"/>
              </a:rPr>
              <a:t> без редактирования на входе или развёртывания у себя. Прокси коррелирует с качеством, но </a:t>
            </a:r>
            <a:r>
              <a:rPr sz="1000" b="1" i="0">
                <a:solidFill>
                  <a:srgbClr val="21295C"/>
                </a:solidFill>
                <a:latin typeface="DejaVu Sans"/>
              </a:rPr>
              <a:t>не равен ему</a:t>
            </a:r>
            <a:r>
              <a:rPr sz="1000" b="1" i="0">
                <a:solidFill>
                  <a:srgbClr val="21295C"/>
                </a:solidFill>
                <a:latin typeface="DejaVu Sans"/>
              </a:rPr>
              <a:t>: путать частоту эскалаций с точностью в отчёте — способ обмануть себя. Калибровка </a:t>
            </a:r>
            <a:r>
              <a:rPr sz="1000" b="1" i="0">
                <a:solidFill>
                  <a:srgbClr val="21295C"/>
                </a:solidFill>
                <a:latin typeface="DejaVu Sans"/>
              </a:rPr>
              <a:t>стареет вместе с моделью</a:t>
            </a:r>
            <a:r>
              <a:rPr sz="1000" b="1" i="0">
                <a:solidFill>
                  <a:srgbClr val="21295C"/>
                </a:solidFill>
                <a:latin typeface="DejaVu Sans"/>
              </a:rPr>
              <a:t>, и незаверсионированный порог даёт то же ложное чувство защищённости, что незаверсионированный ограничитель.</a:t>
            </a:r>
          </a:p>
        </p:txBody>
      </p:sp>
      <p:sp>
        <p:nvSpPr>
          <p:cNvPr id="64" name="Rectangle 63"/>
          <p:cNvSpPr/>
          <p:nvPr/>
        </p:nvSpPr>
        <p:spPr>
          <a:xfrm>
            <a:off x="502920" y="6081661"/>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5800" y="6063373"/>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слой логирования: вопрос не «логировать ли», а какая гранулярность соразмерна цене ошибки.</a:t>
            </a:r>
          </a:p>
        </p:txBody>
      </p:sp>
      <p:sp>
        <p:nvSpPr>
          <p:cNvPr id="66" name="TextBox 6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Вариация до 15 процентных пунктов между технически одинаковыми прогонами — Eval4NLP, 2025</a:t>
            </a:r>
          </a:p>
        </p:txBody>
      </p:sp>
      <p:sp>
        <p:nvSpPr>
          <p:cNvPr id="67" name="TextBox 6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Четыре времени, измеренные на учении, — а не заявленные в регламенте</a:t>
            </a:r>
          </a:p>
        </p:txBody>
      </p:sp>
      <p:sp>
        <p:nvSpPr>
          <p:cNvPr id="3" name="Rounded Rectangle 2"/>
          <p:cNvSpPr/>
          <p:nvPr/>
        </p:nvSpPr>
        <p:spPr>
          <a:xfrm>
            <a:off x="502920" y="536206"/>
            <a:ext cx="1152144" cy="226771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22677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36206"/>
            <a:ext cx="9902952"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237744"/>
          </a:xfrm>
          <a:prstGeom prst="rect">
            <a:avLst/>
          </a:prstGeom>
          <a:noFill/>
        </p:spPr>
        <p:txBody>
          <a:bodyPr wrap="square" lIns="0" rIns="0" tIns="0" bIns="0" anchor="t">
            <a:spAutoFit/>
          </a:bodyPr>
          <a:lstStyle/>
          <a:p>
            <a:pPr algn="l">
              <a:lnSpc>
                <a:spcPct val="110000"/>
              </a:lnSpc>
            </a:pPr>
            <a:r>
              <a:rPr sz="1000" b="0" i="0">
                <a:solidFill>
                  <a:srgbClr val="21295C"/>
                </a:solidFill>
                <a:latin typeface="DejaVu Sans"/>
              </a:rPr>
              <a:t>Раз в несколько недель — запланированный прогон. Деградация вызывается искусственно, одним из трёх способов:</a:t>
            </a:r>
          </a:p>
        </p:txBody>
      </p:sp>
      <p:sp>
        <p:nvSpPr>
          <p:cNvPr id="7" name="Rounded Rectangle 6"/>
          <p:cNvSpPr/>
          <p:nvPr/>
        </p:nvSpPr>
        <p:spPr>
          <a:xfrm>
            <a:off x="1984248" y="920254"/>
            <a:ext cx="4069080" cy="310896"/>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75688" y="920254"/>
            <a:ext cx="3886200" cy="310896"/>
          </a:xfrm>
          <a:prstGeom prst="rect">
            <a:avLst/>
          </a:prstGeom>
          <a:noFill/>
        </p:spPr>
        <p:txBody>
          <a:bodyPr wrap="square" lIns="0" rIns="0" tIns="0" bIns="0" anchor="ctr">
            <a:spAutoFit/>
          </a:bodyPr>
          <a:lstStyle/>
          <a:p>
            <a:pPr algn="ctr">
              <a:lnSpc>
                <a:spcPct val="102000"/>
              </a:lnSpc>
            </a:pPr>
            <a:r>
              <a:rPr sz="900" b="0" i="0">
                <a:solidFill>
                  <a:srgbClr val="21295C"/>
                </a:solidFill>
                <a:latin typeface="DejaVu Sans"/>
              </a:rPr>
              <a:t>подменить версию промпта на заведомо худшую на теневом трафике</a:t>
            </a:r>
          </a:p>
        </p:txBody>
      </p:sp>
      <p:sp>
        <p:nvSpPr>
          <p:cNvPr id="9" name="Rounded Rectangle 8"/>
          <p:cNvSpPr/>
          <p:nvPr/>
        </p:nvSpPr>
        <p:spPr>
          <a:xfrm>
            <a:off x="6163056" y="920254"/>
            <a:ext cx="2606040" cy="310896"/>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54496" y="920254"/>
            <a:ext cx="2423160" cy="310896"/>
          </a:xfrm>
          <a:prstGeom prst="rect">
            <a:avLst/>
          </a:prstGeom>
          <a:noFill/>
        </p:spPr>
        <p:txBody>
          <a:bodyPr wrap="square" lIns="0" rIns="0" tIns="0" bIns="0" anchor="ctr">
            <a:spAutoFit/>
          </a:bodyPr>
          <a:lstStyle/>
          <a:p>
            <a:pPr algn="ctr">
              <a:lnSpc>
                <a:spcPct val="102000"/>
              </a:lnSpc>
            </a:pPr>
            <a:r>
              <a:rPr sz="900" b="0" i="0">
                <a:solidFill>
                  <a:srgbClr val="21295C"/>
                </a:solidFill>
                <a:latin typeface="DejaVu Sans"/>
              </a:rPr>
              <a:t>опустить порог ограничителя</a:t>
            </a:r>
          </a:p>
        </p:txBody>
      </p:sp>
      <p:sp>
        <p:nvSpPr>
          <p:cNvPr id="11" name="Rounded Rectangle 10"/>
          <p:cNvSpPr/>
          <p:nvPr/>
        </p:nvSpPr>
        <p:spPr>
          <a:xfrm>
            <a:off x="8878824" y="920254"/>
            <a:ext cx="2606040" cy="310896"/>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70264" y="920254"/>
            <a:ext cx="2423160" cy="310896"/>
          </a:xfrm>
          <a:prstGeom prst="rect">
            <a:avLst/>
          </a:prstGeom>
          <a:noFill/>
        </p:spPr>
        <p:txBody>
          <a:bodyPr wrap="square" lIns="0" rIns="0" tIns="0" bIns="0" anchor="ctr">
            <a:spAutoFit/>
          </a:bodyPr>
          <a:lstStyle/>
          <a:p>
            <a:pPr algn="ctr">
              <a:lnSpc>
                <a:spcPct val="102000"/>
              </a:lnSpc>
            </a:pPr>
            <a:r>
              <a:rPr sz="900" b="0" i="0">
                <a:solidFill>
                  <a:srgbClr val="21295C"/>
                </a:solidFill>
                <a:latin typeface="DejaVu Sans"/>
              </a:rPr>
              <a:t>эмулировать всплеск отказов</a:t>
            </a:r>
          </a:p>
        </p:txBody>
      </p:sp>
      <p:sp>
        <p:nvSpPr>
          <p:cNvPr id="13" name="TextBox 12"/>
          <p:cNvSpPr txBox="1"/>
          <p:nvPr/>
        </p:nvSpPr>
        <p:spPr>
          <a:xfrm>
            <a:off x="1984248" y="1414030"/>
            <a:ext cx="9116567" cy="219456"/>
          </a:xfrm>
          <a:prstGeom prst="rect">
            <a:avLst/>
          </a:prstGeom>
          <a:noFill/>
        </p:spPr>
        <p:txBody>
          <a:bodyPr wrap="square" lIns="0" rIns="0" tIns="0" bIns="0" anchor="t">
            <a:spAutoFit/>
          </a:bodyPr>
          <a:lstStyle/>
          <a:p>
            <a:pPr algn="l">
              <a:lnSpc>
                <a:spcPct val="100000"/>
              </a:lnSpc>
            </a:pPr>
            <a:r>
              <a:rPr sz="1000" b="1" i="0">
                <a:solidFill>
                  <a:srgbClr val="21295C"/>
                </a:solidFill>
                <a:latin typeface="DejaVu Sans"/>
              </a:rPr>
              <a:t>И замеряются четыре времени — поля пустые: число берётся с учения, а не из регламента</a:t>
            </a:r>
          </a:p>
        </p:txBody>
      </p:sp>
      <p:cxnSp>
        <p:nvCxnSpPr>
          <p:cNvPr id="14" name="Connector 13"/>
          <p:cNvCxnSpPr/>
          <p:nvPr/>
        </p:nvCxnSpPr>
        <p:spPr>
          <a:xfrm>
            <a:off x="1984248" y="1980958"/>
            <a:ext cx="9537192"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3002661" y="1862086"/>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02661" y="1862086"/>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7" name="TextBox 16"/>
          <p:cNvSpPr txBox="1"/>
          <p:nvPr/>
        </p:nvSpPr>
        <p:spPr>
          <a:xfrm>
            <a:off x="1984248" y="1615198"/>
            <a:ext cx="2274570" cy="256032"/>
          </a:xfrm>
          <a:prstGeom prst="rect">
            <a:avLst/>
          </a:prstGeom>
          <a:noFill/>
        </p:spPr>
        <p:txBody>
          <a:bodyPr wrap="square" lIns="0" rIns="0" tIns="0" bIns="0" anchor="b">
            <a:spAutoFit/>
          </a:bodyPr>
          <a:lstStyle/>
          <a:p>
            <a:pPr algn="ctr">
              <a:lnSpc>
                <a:spcPct val="104000"/>
              </a:lnSpc>
            </a:pPr>
            <a:r>
              <a:rPr sz="860" b="0" i="0">
                <a:solidFill>
                  <a:srgbClr val="21295C"/>
                </a:solidFill>
                <a:latin typeface="DejaVu Sans"/>
              </a:rPr>
              <a:t>до срабатывания алерта</a:t>
            </a:r>
          </a:p>
        </p:txBody>
      </p:sp>
      <p:sp>
        <p:nvSpPr>
          <p:cNvPr id="18" name="Rounded Rectangle 17"/>
          <p:cNvSpPr/>
          <p:nvPr/>
        </p:nvSpPr>
        <p:spPr>
          <a:xfrm>
            <a:off x="2618612" y="2182126"/>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18612" y="2182126"/>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0" name="Oval 19"/>
          <p:cNvSpPr/>
          <p:nvPr/>
        </p:nvSpPr>
        <p:spPr>
          <a:xfrm>
            <a:off x="5423534" y="1862086"/>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23534" y="1862086"/>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2" name="TextBox 21"/>
          <p:cNvSpPr txBox="1"/>
          <p:nvPr/>
        </p:nvSpPr>
        <p:spPr>
          <a:xfrm>
            <a:off x="4405122" y="1615198"/>
            <a:ext cx="2274570" cy="256032"/>
          </a:xfrm>
          <a:prstGeom prst="rect">
            <a:avLst/>
          </a:prstGeom>
          <a:noFill/>
        </p:spPr>
        <p:txBody>
          <a:bodyPr wrap="square" lIns="0" rIns="0" tIns="0" bIns="0" anchor="b">
            <a:spAutoFit/>
          </a:bodyPr>
          <a:lstStyle/>
          <a:p>
            <a:pPr algn="ctr">
              <a:lnSpc>
                <a:spcPct val="104000"/>
              </a:lnSpc>
            </a:pPr>
            <a:r>
              <a:rPr sz="860" b="0" i="0">
                <a:solidFill>
                  <a:srgbClr val="21295C"/>
                </a:solidFill>
                <a:latin typeface="DejaVu Sans"/>
              </a:rPr>
              <a:t>до открытия регламента дежурным</a:t>
            </a:r>
          </a:p>
        </p:txBody>
      </p:sp>
      <p:sp>
        <p:nvSpPr>
          <p:cNvPr id="23" name="Rounded Rectangle 22"/>
          <p:cNvSpPr/>
          <p:nvPr/>
        </p:nvSpPr>
        <p:spPr>
          <a:xfrm>
            <a:off x="5039487" y="2182126"/>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39487" y="2182126"/>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5" name="Oval 24"/>
          <p:cNvSpPr/>
          <p:nvPr/>
        </p:nvSpPr>
        <p:spPr>
          <a:xfrm>
            <a:off x="7844408" y="1862086"/>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44408" y="1862086"/>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7" name="TextBox 26"/>
          <p:cNvSpPr txBox="1"/>
          <p:nvPr/>
        </p:nvSpPr>
        <p:spPr>
          <a:xfrm>
            <a:off x="6825996" y="1615198"/>
            <a:ext cx="2274570" cy="256032"/>
          </a:xfrm>
          <a:prstGeom prst="rect">
            <a:avLst/>
          </a:prstGeom>
          <a:noFill/>
        </p:spPr>
        <p:txBody>
          <a:bodyPr wrap="square" lIns="0" rIns="0" tIns="0" bIns="0" anchor="b">
            <a:spAutoFit/>
          </a:bodyPr>
          <a:lstStyle/>
          <a:p>
            <a:pPr algn="ctr">
              <a:lnSpc>
                <a:spcPct val="104000"/>
              </a:lnSpc>
            </a:pPr>
            <a:r>
              <a:rPr sz="860" b="0" i="0">
                <a:solidFill>
                  <a:srgbClr val="21295C"/>
                </a:solidFill>
                <a:latin typeface="DejaVu Sans"/>
              </a:rPr>
              <a:t>до срабатывания размыкателя</a:t>
            </a:r>
          </a:p>
        </p:txBody>
      </p:sp>
      <p:sp>
        <p:nvSpPr>
          <p:cNvPr id="28" name="Rounded Rectangle 27"/>
          <p:cNvSpPr/>
          <p:nvPr/>
        </p:nvSpPr>
        <p:spPr>
          <a:xfrm>
            <a:off x="7460361" y="2182126"/>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60361" y="2182126"/>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30" name="Oval 29"/>
          <p:cNvSpPr/>
          <p:nvPr/>
        </p:nvSpPr>
        <p:spPr>
          <a:xfrm>
            <a:off x="10265283" y="1862086"/>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65283" y="1862086"/>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32" name="TextBox 31"/>
          <p:cNvSpPr txBox="1"/>
          <p:nvPr/>
        </p:nvSpPr>
        <p:spPr>
          <a:xfrm>
            <a:off x="9246870" y="1615198"/>
            <a:ext cx="2274570" cy="256032"/>
          </a:xfrm>
          <a:prstGeom prst="rect">
            <a:avLst/>
          </a:prstGeom>
          <a:noFill/>
        </p:spPr>
        <p:txBody>
          <a:bodyPr wrap="square" lIns="0" rIns="0" tIns="0" bIns="0" anchor="b">
            <a:spAutoFit/>
          </a:bodyPr>
          <a:lstStyle/>
          <a:p>
            <a:pPr algn="ctr">
              <a:lnSpc>
                <a:spcPct val="104000"/>
              </a:lnSpc>
            </a:pPr>
            <a:r>
              <a:rPr sz="860" b="0" i="0">
                <a:solidFill>
                  <a:srgbClr val="21295C"/>
                </a:solidFill>
                <a:latin typeface="DejaVu Sans"/>
              </a:rPr>
              <a:t>до завершённого отката</a:t>
            </a:r>
          </a:p>
        </p:txBody>
      </p:sp>
      <p:sp>
        <p:nvSpPr>
          <p:cNvPr id="33" name="Rounded Rectangle 32"/>
          <p:cNvSpPr/>
          <p:nvPr/>
        </p:nvSpPr>
        <p:spPr>
          <a:xfrm>
            <a:off x="9881235" y="2182126"/>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81235" y="2182126"/>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pic>
        <p:nvPicPr>
          <p:cNvPr id="35" name="Picture 34" descr="timer-gold.png"/>
          <p:cNvPicPr>
            <a:picLocks noChangeAspect="1"/>
          </p:cNvPicPr>
          <p:nvPr/>
        </p:nvPicPr>
        <p:blipFill>
          <a:blip r:embed="rId2"/>
          <a:stretch>
            <a:fillRect/>
          </a:stretch>
        </p:blipFill>
        <p:spPr>
          <a:xfrm>
            <a:off x="11247119" y="1487182"/>
            <a:ext cx="237744" cy="237744"/>
          </a:xfrm>
          <a:prstGeom prst="rect">
            <a:avLst/>
          </a:prstGeom>
        </p:spPr>
      </p:pic>
      <p:sp>
        <p:nvSpPr>
          <p:cNvPr id="36" name="Rounded Rectangle 35"/>
          <p:cNvSpPr/>
          <p:nvPr/>
        </p:nvSpPr>
        <p:spPr>
          <a:xfrm>
            <a:off x="502920" y="2867926"/>
            <a:ext cx="1152144" cy="1060704"/>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2867926"/>
            <a:ext cx="1060704" cy="106070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38" name="Rounded Rectangle 37"/>
          <p:cNvSpPr/>
          <p:nvPr/>
        </p:nvSpPr>
        <p:spPr>
          <a:xfrm>
            <a:off x="1801368" y="2867926"/>
            <a:ext cx="9902952"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984248" y="2959366"/>
            <a:ext cx="5669280" cy="877824"/>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103120" y="3078238"/>
            <a:ext cx="5431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ops/drills/&lt;дата&gt;-&lt;сценарий&gt;.md</a:t>
            </a:r>
          </a:p>
        </p:txBody>
      </p:sp>
      <p:sp>
        <p:nvSpPr>
          <p:cNvPr id="41" name="TextBox 40"/>
          <p:cNvSpPr txBox="1"/>
          <p:nvPr/>
        </p:nvSpPr>
        <p:spPr>
          <a:xfrm>
            <a:off x="2103120" y="3231857"/>
            <a:ext cx="5431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запись в формате разбора инцидента; дата в имени</a:t>
            </a:r>
          </a:p>
        </p:txBody>
      </p:sp>
      <p:sp>
        <p:nvSpPr>
          <p:cNvPr id="42" name="TextBox 41"/>
          <p:cNvSpPr txBox="1"/>
          <p:nvPr/>
        </p:nvSpPr>
        <p:spPr>
          <a:xfrm>
            <a:off x="2103120" y="3385477"/>
            <a:ext cx="5431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несущая: по каталогу видно, когда учение было</a:t>
            </a:r>
          </a:p>
        </p:txBody>
      </p:sp>
      <p:sp>
        <p:nvSpPr>
          <p:cNvPr id="43" name="TextBox 42"/>
          <p:cNvSpPr txBox="1"/>
          <p:nvPr/>
        </p:nvSpPr>
        <p:spPr>
          <a:xfrm>
            <a:off x="2103120" y="3539096"/>
            <a:ext cx="5431536" cy="190195"/>
          </a:xfrm>
          <a:prstGeom prst="rect">
            <a:avLst/>
          </a:prstGeom>
          <a:noFill/>
        </p:spPr>
        <p:txBody>
          <a:bodyPr wrap="square" lIns="0" rIns="0" tIns="0" bIns="0" anchor="t">
            <a:spAutoFit/>
          </a:bodyPr>
          <a:lstStyle/>
          <a:p>
            <a:pPr algn="l">
              <a:lnSpc>
                <a:spcPct val="100000"/>
              </a:lnSpc>
            </a:pPr>
            <a:r>
              <a:rPr sz="850" b="0" i="0">
                <a:solidFill>
                  <a:srgbClr val="5B6678"/>
                </a:solidFill>
                <a:latin typeface="DejaVu Sans Mono"/>
              </a:rPr>
              <a:t># + дифф самого runbook-ai-quality.md</a:t>
            </a:r>
          </a:p>
        </p:txBody>
      </p:sp>
      <p:pic>
        <p:nvPicPr>
          <p:cNvPr id="44" name="Picture 43" descr="file-diff-gold.png"/>
          <p:cNvPicPr>
            <a:picLocks noChangeAspect="1"/>
          </p:cNvPicPr>
          <p:nvPr/>
        </p:nvPicPr>
        <p:blipFill>
          <a:blip r:embed="rId3"/>
          <a:stretch>
            <a:fillRect/>
          </a:stretch>
        </p:blipFill>
        <p:spPr>
          <a:xfrm>
            <a:off x="7882128" y="3261118"/>
            <a:ext cx="274320" cy="274320"/>
          </a:xfrm>
          <a:prstGeom prst="rect">
            <a:avLst/>
          </a:prstGeom>
        </p:spPr>
      </p:pic>
      <p:sp>
        <p:nvSpPr>
          <p:cNvPr id="45" name="TextBox 44"/>
          <p:cNvSpPr txBox="1"/>
          <p:nvPr/>
        </p:nvSpPr>
        <p:spPr>
          <a:xfrm>
            <a:off x="8275320" y="2959366"/>
            <a:ext cx="3246120" cy="877824"/>
          </a:xfrm>
          <a:prstGeom prst="rect">
            <a:avLst/>
          </a:prstGeom>
          <a:noFill/>
        </p:spPr>
        <p:txBody>
          <a:bodyPr wrap="square" lIns="0" rIns="0" tIns="0" bIns="0" anchor="ctr">
            <a:spAutoFit/>
          </a:bodyPr>
          <a:lstStyle/>
          <a:p>
            <a:pPr algn="l">
              <a:lnSpc>
                <a:spcPct val="114000"/>
              </a:lnSpc>
            </a:pPr>
            <a:r>
              <a:rPr sz="980" b="1" i="0">
                <a:solidFill>
                  <a:srgbClr val="065A82"/>
                </a:solidFill>
                <a:latin typeface="DejaVu Sans"/>
              </a:rPr>
              <a:t>Дифф регламента важнее записи:</a:t>
            </a:r>
            <a:r>
              <a:rPr sz="980" b="0" i="0">
                <a:solidFill>
                  <a:srgbClr val="21295C"/>
                </a:solidFill>
                <a:latin typeface="DejaVu Sans"/>
              </a:rPr>
              <a:t> правка и есть доказательство, что учение чему-то научило.</a:t>
            </a:r>
          </a:p>
        </p:txBody>
      </p:sp>
      <p:sp>
        <p:nvSpPr>
          <p:cNvPr id="46" name="Rounded Rectangle 45"/>
          <p:cNvSpPr/>
          <p:nvPr/>
        </p:nvSpPr>
        <p:spPr>
          <a:xfrm>
            <a:off x="502920" y="3992638"/>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3992638"/>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48" name="Rounded Rectangle 47"/>
          <p:cNvSpPr/>
          <p:nvPr/>
        </p:nvSpPr>
        <p:spPr>
          <a:xfrm>
            <a:off x="1801368" y="3992638"/>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984248" y="4084078"/>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Все четыре времени </a:t>
            </a:r>
            <a:r>
              <a:rPr sz="1000" b="1" i="0">
                <a:solidFill>
                  <a:srgbClr val="028090"/>
                </a:solidFill>
                <a:latin typeface="DejaVu Sans"/>
              </a:rPr>
              <a:t>измерены, а не заявлены</a:t>
            </a:r>
            <a:r>
              <a:rPr sz="1000" b="0" i="0">
                <a:solidFill>
                  <a:srgbClr val="21295C"/>
                </a:solidFill>
                <a:latin typeface="DejaVu Sans"/>
              </a:rPr>
              <a:t> · учение, не давшее ни одной правки регламента, было слишком лёгким — тот же диагноз, что у сдувшегося набора оценок: измеритель, который всегда зелёный, ничего не измеряет.</a:t>
            </a:r>
          </a:p>
        </p:txBody>
      </p:sp>
      <p:sp>
        <p:nvSpPr>
          <p:cNvPr id="50" name="Rounded Rectangle 49"/>
          <p:cNvSpPr/>
          <p:nvPr/>
        </p:nvSpPr>
        <p:spPr>
          <a:xfrm>
            <a:off x="502920" y="4695075"/>
            <a:ext cx="1152144" cy="1325880"/>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695075"/>
            <a:ext cx="1060704" cy="1325880"/>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52" name="Rounded Rectangle 51"/>
          <p:cNvSpPr/>
          <p:nvPr/>
        </p:nvSpPr>
        <p:spPr>
          <a:xfrm>
            <a:off x="1801368" y="4695075"/>
            <a:ext cx="9902952" cy="132588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984248" y="4786515"/>
            <a:ext cx="9537192" cy="1143000"/>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Учение проверяет только </a:t>
            </a:r>
            <a:r>
              <a:rPr sz="1000" b="1" i="0">
                <a:solidFill>
                  <a:srgbClr val="21295C"/>
                </a:solidFill>
                <a:latin typeface="DejaVu Sans"/>
              </a:rPr>
              <a:t>известный</a:t>
            </a:r>
            <a:r>
              <a:rPr sz="1000" b="1" i="0">
                <a:solidFill>
                  <a:srgbClr val="21295C"/>
                </a:solidFill>
                <a:latin typeface="DejaVu Sans"/>
              </a:rPr>
              <a:t> класс отказа. Тихий дрейф по определению не воспроизводится по кнопке — его признак именно в том, что ничего явно не ломается, — поэтому учение дополняет, а не заменяет мониторинг по сегментам и канал качественных сигналов от пользователей. </a:t>
            </a:r>
            <a:r>
              <a:rPr sz="1000" b="1" i="0">
                <a:solidFill>
                  <a:srgbClr val="21295C"/>
                </a:solidFill>
                <a:latin typeface="DejaVu Sans"/>
              </a:rPr>
              <a:t>Если единственный механизм обнаружения — учение раз в квартал, это тот же дрейф с более длинным окном, только названный процессом.</a:t>
            </a:r>
          </a:p>
        </p:txBody>
      </p:sp>
      <p:sp>
        <p:nvSpPr>
          <p:cNvPr id="54" name="Rectangle 53"/>
          <p:cNvSpPr/>
          <p:nvPr/>
        </p:nvSpPr>
        <p:spPr>
          <a:xfrm>
            <a:off x="502920" y="6121539"/>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 y="6103251"/>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гейт прогона: проверка существует, только если её кто-то запускает и она умеет краснеть. Здесь запускают руками.</a:t>
            </a:r>
          </a:p>
        </p:txBody>
      </p:sp>
      <p:sp>
        <p:nvSpPr>
          <p:cNvPr id="56" name="TextBox 5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Дашборды остаются зелёными, пока доверие уже падает недели</a:t>
            </a:r>
          </a:p>
        </p:txBody>
      </p:sp>
      <p:sp>
        <p:nvSpPr>
          <p:cNvPr id="3" name="Rounded Rectangle 2"/>
          <p:cNvSpPr/>
          <p:nvPr/>
        </p:nvSpPr>
        <p:spPr>
          <a:xfrm>
            <a:off x="502920" y="1417320"/>
            <a:ext cx="3063240" cy="384048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30936" y="2437248"/>
            <a:ext cx="2807208" cy="1800623"/>
          </a:xfrm>
          <a:prstGeom prst="rect">
            <a:avLst/>
          </a:prstGeom>
        </p:spPr>
      </p:pic>
      <p:sp>
        <p:nvSpPr>
          <p:cNvPr id="5" name="Rounded Rectangle 4"/>
          <p:cNvSpPr/>
          <p:nvPr/>
        </p:nvSpPr>
        <p:spPr>
          <a:xfrm>
            <a:off x="3794760" y="1463040"/>
            <a:ext cx="7909560" cy="1600200"/>
          </a:xfrm>
          <a:prstGeom prst="roundRect">
            <a:avLst>
              <a:gd name="adj" fmla="val 1904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teal.png"/>
          <p:cNvPicPr>
            <a:picLocks noChangeAspect="1"/>
          </p:cNvPicPr>
          <p:nvPr/>
        </p:nvPicPr>
        <p:blipFill>
          <a:blip r:embed="rId3"/>
          <a:stretch>
            <a:fillRect/>
          </a:stretch>
        </p:blipFill>
        <p:spPr>
          <a:xfrm>
            <a:off x="4023360" y="1737360"/>
            <a:ext cx="548640" cy="548640"/>
          </a:xfrm>
          <a:prstGeom prst="rect">
            <a:avLst/>
          </a:prstGeom>
        </p:spPr>
      </p:pic>
      <p:sp>
        <p:nvSpPr>
          <p:cNvPr id="7" name="TextBox 6"/>
          <p:cNvSpPr txBox="1"/>
          <p:nvPr/>
        </p:nvSpPr>
        <p:spPr>
          <a:xfrm>
            <a:off x="4754880" y="1627632"/>
            <a:ext cx="6720840" cy="365760"/>
          </a:xfrm>
          <a:prstGeom prst="rect">
            <a:avLst/>
          </a:prstGeom>
          <a:noFill/>
        </p:spPr>
        <p:txBody>
          <a:bodyPr wrap="square" lIns="0" rIns="0" tIns="0" bIns="0" anchor="t">
            <a:spAutoFit/>
          </a:bodyPr>
          <a:lstStyle/>
          <a:p>
            <a:pPr algn="l">
              <a:lnSpc>
                <a:spcPct val="115000"/>
              </a:lnSpc>
            </a:pPr>
            <a:r>
              <a:rPr sz="1500" b="1" i="0">
                <a:solidFill>
                  <a:srgbClr val="028090"/>
                </a:solidFill>
                <a:latin typeface="DejaVu Sans"/>
              </a:rPr>
              <a:t>Тихий дрейф</a:t>
            </a:r>
          </a:p>
        </p:txBody>
      </p:sp>
      <p:sp>
        <p:nvSpPr>
          <p:cNvPr id="8" name="TextBox 7"/>
          <p:cNvSpPr txBox="1"/>
          <p:nvPr/>
        </p:nvSpPr>
        <p:spPr>
          <a:xfrm>
            <a:off x="4754880" y="2057400"/>
            <a:ext cx="6720840" cy="914400"/>
          </a:xfrm>
          <a:prstGeom prst="rect">
            <a:avLst/>
          </a:prstGeom>
          <a:noFill/>
        </p:spPr>
        <p:txBody>
          <a:bodyPr wrap="square" lIns="0" rIns="0" tIns="0" bIns="0" anchor="t">
            <a:spAutoFit/>
          </a:bodyPr>
          <a:lstStyle/>
          <a:p>
            <a:pPr algn="l">
              <a:lnSpc>
                <a:spcPct val="118000"/>
              </a:lnSpc>
            </a:pPr>
            <a:r>
              <a:rPr sz="1300" b="0" i="0">
                <a:solidFill>
                  <a:srgbClr val="21295C"/>
                </a:solidFill>
                <a:latin typeface="DejaVu Sans"/>
              </a:rPr>
              <a:t>Самые активные пользователи замечают регрессию раньше агрегированных метрик — доверие падает раньше, чем двигаются дашборды.</a:t>
            </a:r>
          </a:p>
        </p:txBody>
      </p:sp>
      <p:sp>
        <p:nvSpPr>
          <p:cNvPr id="9" name="Rounded Rectangle 8"/>
          <p:cNvSpPr/>
          <p:nvPr/>
        </p:nvSpPr>
        <p:spPr>
          <a:xfrm>
            <a:off x="3794760" y="3200400"/>
            <a:ext cx="7909560" cy="1417320"/>
          </a:xfrm>
          <a:prstGeom prst="roundRect">
            <a:avLst>
              <a:gd name="adj" fmla="val 2150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3360" y="3310128"/>
            <a:ext cx="7452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Дрейф правил</a:t>
            </a:r>
          </a:p>
        </p:txBody>
      </p:sp>
      <p:sp>
        <p:nvSpPr>
          <p:cNvPr id="11" name="TextBox 10"/>
          <p:cNvSpPr txBox="1"/>
          <p:nvPr/>
        </p:nvSpPr>
        <p:spPr>
          <a:xfrm>
            <a:off x="4023360" y="3703320"/>
            <a:ext cx="7452360"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Guardrails (защитные правила) без версионирования молча устаревают: правила расходятся с реальностью незаметно.</a:t>
            </a:r>
          </a:p>
        </p:txBody>
      </p:sp>
      <p:sp>
        <p:nvSpPr>
          <p:cNvPr id="12" name="Rounded Rectangle 11"/>
          <p:cNvSpPr/>
          <p:nvPr/>
        </p:nvSpPr>
        <p:spPr>
          <a:xfrm>
            <a:off x="3794760" y="4754880"/>
            <a:ext cx="790956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6" y="4809744"/>
            <a:ext cx="7470648" cy="5303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эскалация к человеку, ответственность, инцидент-дисциплина — усилены автономностью ИИ, не отменены ею.</a:t>
            </a:r>
          </a:p>
        </p:txBody>
      </p:sp>
      <p:sp>
        <p:nvSpPr>
          <p:cNvPr id="14" name="Rounded Rectangle 13"/>
          <p:cNvSpPr/>
          <p:nvPr/>
        </p:nvSpPr>
        <p:spPr>
          <a:xfrm>
            <a:off x="502920" y="5541264"/>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85800" y="5705855"/>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help-white.png"/>
          <p:cNvPicPr>
            <a:picLocks noChangeAspect="1"/>
          </p:cNvPicPr>
          <p:nvPr/>
        </p:nvPicPr>
        <p:blipFill>
          <a:blip r:embed="rId4"/>
          <a:stretch>
            <a:fillRect/>
          </a:stretch>
        </p:blipFill>
        <p:spPr>
          <a:xfrm>
            <a:off x="763524" y="5783579"/>
            <a:ext cx="246888" cy="246888"/>
          </a:xfrm>
          <a:prstGeom prst="rect">
            <a:avLst/>
          </a:prstGeom>
        </p:spPr>
      </p:pic>
      <p:sp>
        <p:nvSpPr>
          <p:cNvPr id="17" name="TextBox 16"/>
          <p:cNvSpPr txBox="1"/>
          <p:nvPr/>
        </p:nvSpPr>
        <p:spPr>
          <a:xfrm>
            <a:off x="1252728" y="5586983"/>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Назовите один сигнал в своей системе, который сегодня не попадает ни в один дашборд, но первым скажет, что качество упало.</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Модель была откалибрована корректно — не было предохранителя на дрейф в реальном времени</a:t>
            </a:r>
          </a:p>
        </p:txBody>
      </p:sp>
      <p:sp>
        <p:nvSpPr>
          <p:cNvPr id="3" name="Rounded Rectangle 2"/>
          <p:cNvSpPr/>
          <p:nvPr/>
        </p:nvSpPr>
        <p:spPr>
          <a:xfrm>
            <a:off x="502920" y="1463040"/>
            <a:ext cx="2788920" cy="118872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0-zillow-real-source.png"/>
          <p:cNvPicPr>
            <a:picLocks noChangeAspect="1"/>
          </p:cNvPicPr>
          <p:nvPr/>
        </p:nvPicPr>
        <p:blipFill>
          <a:blip r:embed="rId2"/>
          <a:stretch>
            <a:fillRect/>
          </a:stretch>
        </p:blipFill>
        <p:spPr>
          <a:xfrm>
            <a:off x="704088" y="1793570"/>
            <a:ext cx="2386584" cy="527659"/>
          </a:xfrm>
          <a:prstGeom prst="rect">
            <a:avLst/>
          </a:prstGeom>
        </p:spPr>
      </p:pic>
      <p:sp>
        <p:nvSpPr>
          <p:cNvPr id="5" name="Rounded Rectangle 4"/>
          <p:cNvSpPr/>
          <p:nvPr/>
        </p:nvSpPr>
        <p:spPr>
          <a:xfrm>
            <a:off x="502920" y="2834640"/>
            <a:ext cx="2788920" cy="2103120"/>
          </a:xfrm>
          <a:prstGeom prst="roundRect">
            <a:avLst>
              <a:gd name="adj" fmla="val 14492"/>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mid.png"/>
          <p:cNvPicPr>
            <a:picLocks noChangeAspect="1"/>
          </p:cNvPicPr>
          <p:nvPr/>
        </p:nvPicPr>
        <p:blipFill>
          <a:blip r:embed="rId3"/>
          <a:stretch>
            <a:fillRect/>
          </a:stretch>
        </p:blipFill>
        <p:spPr>
          <a:xfrm>
            <a:off x="1417320" y="3017520"/>
            <a:ext cx="822960" cy="822960"/>
          </a:xfrm>
          <a:prstGeom prst="rect">
            <a:avLst/>
          </a:prstGeom>
        </p:spPr>
      </p:pic>
      <p:sp>
        <p:nvSpPr>
          <p:cNvPr id="7" name="TextBox 6"/>
          <p:cNvSpPr txBox="1"/>
          <p:nvPr/>
        </p:nvSpPr>
        <p:spPr>
          <a:xfrm>
            <a:off x="640080" y="3931920"/>
            <a:ext cx="2514600" cy="914400"/>
          </a:xfrm>
          <a:prstGeom prst="rect">
            <a:avLst/>
          </a:prstGeom>
          <a:noFill/>
        </p:spPr>
        <p:txBody>
          <a:bodyPr wrap="square" lIns="0" rIns="0" tIns="0" bIns="0" anchor="t">
            <a:spAutoFit/>
          </a:bodyPr>
          <a:lstStyle/>
          <a:p>
            <a:pPr algn="ctr">
              <a:lnSpc>
                <a:spcPct val="115000"/>
              </a:lnSpc>
            </a:pPr>
            <a:r>
              <a:rPr sz="1200" b="0" i="1">
                <a:solidFill>
                  <a:srgbClr val="5B6678"/>
                </a:solidFill>
                <a:latin typeface="DejaVu Sans"/>
              </a:rPr>
              <a:t>Рынок сдвинулся — дрейф концепта без предохранителя</a:t>
            </a:r>
          </a:p>
        </p:txBody>
      </p:sp>
      <p:sp>
        <p:nvSpPr>
          <p:cNvPr id="8" name="Rounded Rectangle 7"/>
          <p:cNvSpPr/>
          <p:nvPr/>
        </p:nvSpPr>
        <p:spPr>
          <a:xfrm>
            <a:off x="3520440" y="1463040"/>
            <a:ext cx="818387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4"/>
          <a:stretch>
            <a:fillRect/>
          </a:stretch>
        </p:blipFill>
        <p:spPr>
          <a:xfrm>
            <a:off x="4516037" y="1691640"/>
            <a:ext cx="6192685" cy="2331720"/>
          </a:xfrm>
          <a:prstGeom prst="rect">
            <a:avLst/>
          </a:prstGeom>
        </p:spPr>
      </p:pic>
      <p:sp>
        <p:nvSpPr>
          <p:cNvPr id="10" name="TextBox 9"/>
          <p:cNvSpPr txBox="1"/>
          <p:nvPr/>
        </p:nvSpPr>
        <p:spPr>
          <a:xfrm>
            <a:off x="3794760" y="4069080"/>
            <a:ext cx="7635240" cy="77724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Zillow Offers, ноябрь 2021: 9680 домов куплено, 3032 продано · ~2000 уволенных (~25% штата)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 ≈$80 тыс. убытка на объект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Критерий: модель, совершающая сделки на деньги, требует мониторинга точности предсказания в реальном времени с автоматическим предохранителем (circuit breaker), который отключает её при дрейфе.</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SEC 10-K FY2021 — Zillow Group</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«Бот — отдельное юрлицо» — трибунал отклонил этот довод одной фразой</a:t>
            </a:r>
          </a:p>
        </p:txBody>
      </p:sp>
      <p:sp>
        <p:nvSpPr>
          <p:cNvPr id="3" name="Rounded Rectangle 2"/>
          <p:cNvSpPr/>
          <p:nvPr/>
        </p:nvSpPr>
        <p:spPr>
          <a:xfrm>
            <a:off x="502920" y="1463040"/>
            <a:ext cx="5074920" cy="2788920"/>
          </a:xfrm>
          <a:prstGeom prst="roundRect">
            <a:avLst>
              <a:gd name="adj" fmla="val 1092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1-aircanada-real-source.png"/>
          <p:cNvPicPr>
            <a:picLocks noChangeAspect="1"/>
          </p:cNvPicPr>
          <p:nvPr/>
        </p:nvPicPr>
        <p:blipFill>
          <a:blip r:embed="rId2"/>
          <a:stretch>
            <a:fillRect/>
          </a:stretch>
        </p:blipFill>
        <p:spPr>
          <a:xfrm>
            <a:off x="1085086" y="1554480"/>
            <a:ext cx="3910586" cy="2606039"/>
          </a:xfrm>
          <a:prstGeom prst="rect">
            <a:avLst/>
          </a:prstGeom>
        </p:spPr>
      </p:pic>
      <p:sp>
        <p:nvSpPr>
          <p:cNvPr id="5" name="Rounded Rectangle 4"/>
          <p:cNvSpPr/>
          <p:nvPr/>
        </p:nvSpPr>
        <p:spPr>
          <a:xfrm>
            <a:off x="5806440" y="1463040"/>
            <a:ext cx="5897880" cy="1600200"/>
          </a:xfrm>
          <a:prstGeom prst="roundRect">
            <a:avLst>
              <a:gd name="adj" fmla="val 1904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mid.png"/>
          <p:cNvPicPr>
            <a:picLocks noChangeAspect="1"/>
          </p:cNvPicPr>
          <p:nvPr/>
        </p:nvPicPr>
        <p:blipFill>
          <a:blip r:embed="rId3"/>
          <a:stretch>
            <a:fillRect/>
          </a:stretch>
        </p:blipFill>
        <p:spPr>
          <a:xfrm>
            <a:off x="6035040" y="1783080"/>
            <a:ext cx="822960" cy="822960"/>
          </a:xfrm>
          <a:prstGeom prst="rect">
            <a:avLst/>
          </a:prstGeom>
        </p:spPr>
      </p:pic>
      <p:sp>
        <p:nvSpPr>
          <p:cNvPr id="7" name="TextBox 6"/>
          <p:cNvSpPr txBox="1"/>
          <p:nvPr/>
        </p:nvSpPr>
        <p:spPr>
          <a:xfrm>
            <a:off x="6995160" y="1645920"/>
            <a:ext cx="4480560" cy="128016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Весы в равновесии: ответ бота = статичная страница сайта. Одинаковая ответственность за оба.</a:t>
            </a:r>
          </a:p>
        </p:txBody>
      </p:sp>
      <p:sp>
        <p:nvSpPr>
          <p:cNvPr id="8" name="Rounded Rectangle 7"/>
          <p:cNvSpPr/>
          <p:nvPr/>
        </p:nvSpPr>
        <p:spPr>
          <a:xfrm>
            <a:off x="5806440" y="3246120"/>
            <a:ext cx="58978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364992"/>
            <a:ext cx="5440680" cy="365760"/>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Air Canada, чат-бот сайта</a:t>
            </a:r>
          </a:p>
        </p:txBody>
      </p:sp>
      <p:sp>
        <p:nvSpPr>
          <p:cNvPr id="10" name="TextBox 9"/>
          <p:cNvSpPr txBox="1"/>
          <p:nvPr/>
        </p:nvSpPr>
        <p:spPr>
          <a:xfrm>
            <a:off x="6035040" y="3749039"/>
            <a:ext cx="5440680" cy="109728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Бот некорректно сообщил о ретроактивной скидке. Трибунал — $812,02 CAD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компания отвечает за ответ бота как за любой другой контент сайта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Ты владеешь каждым ответом бота — не больше, но и ни на грамм меньше ответственности, чем за любой другой контент сайта.</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CanLII — Moffatt v. Air Canada, 2024 BCCRT 149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American Bar Association — комментарий к делу</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10 из 10 журналистов получили один и тот же незаконный совет — не единичный сбой</a:t>
            </a:r>
          </a:p>
        </p:txBody>
      </p:sp>
      <p:sp>
        <p:nvSpPr>
          <p:cNvPr id="3" name="Rounded Rectangle 2"/>
          <p:cNvSpPr/>
          <p:nvPr/>
        </p:nvSpPr>
        <p:spPr>
          <a:xfrm>
            <a:off x="502920" y="146304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2-klarna-real-source.png"/>
          <p:cNvPicPr>
            <a:picLocks noChangeAspect="1"/>
          </p:cNvPicPr>
          <p:nvPr/>
        </p:nvPicPr>
        <p:blipFill>
          <a:blip r:embed="rId2"/>
          <a:stretch>
            <a:fillRect/>
          </a:stretch>
        </p:blipFill>
        <p:spPr>
          <a:xfrm>
            <a:off x="767612" y="1609344"/>
            <a:ext cx="1802333" cy="758951"/>
          </a:xfrm>
          <a:prstGeom prst="rect">
            <a:avLst/>
          </a:prstGeom>
        </p:spPr>
      </p:pic>
      <p:sp>
        <p:nvSpPr>
          <p:cNvPr id="5" name="Rounded Rectangle 4"/>
          <p:cNvSpPr/>
          <p:nvPr/>
        </p:nvSpPr>
        <p:spPr>
          <a:xfrm>
            <a:off x="502920" y="2651760"/>
            <a:ext cx="5257800" cy="2286000"/>
          </a:xfrm>
          <a:prstGeom prst="roundRect">
            <a:avLst>
              <a:gd name="adj" fmla="val 1333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klarna.png"/>
          <p:cNvPicPr>
            <a:picLocks noChangeAspect="1"/>
          </p:cNvPicPr>
          <p:nvPr/>
        </p:nvPicPr>
        <p:blipFill>
          <a:blip r:embed="rId3"/>
          <a:stretch>
            <a:fillRect/>
          </a:stretch>
        </p:blipFill>
        <p:spPr>
          <a:xfrm>
            <a:off x="1697154" y="2834640"/>
            <a:ext cx="2869330" cy="1874519"/>
          </a:xfrm>
          <a:prstGeom prst="rect">
            <a:avLst/>
          </a:prstGeom>
        </p:spPr>
      </p:pic>
      <p:sp>
        <p:nvSpPr>
          <p:cNvPr id="7" name="TextBox 6"/>
          <p:cNvSpPr txBox="1"/>
          <p:nvPr/>
        </p:nvSpPr>
        <p:spPr>
          <a:xfrm>
            <a:off x="2971800" y="1572768"/>
            <a:ext cx="2788920" cy="91440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Klarna: политика «только ИИ» откатилась (05.2025)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 но автоматизация выросла до 853 чел.-эквивалентов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(усиление людей, не замена).</a:t>
            </a:r>
          </a:p>
        </p:txBody>
      </p:sp>
      <p:sp>
        <p:nvSpPr>
          <p:cNvPr id="8" name="Rounded Rectangle 7"/>
          <p:cNvSpPr/>
          <p:nvPr/>
        </p:nvSpPr>
        <p:spPr>
          <a:xfrm>
            <a:off x="5989320" y="1463040"/>
            <a:ext cx="5715000" cy="2788920"/>
          </a:xfrm>
          <a:prstGeom prst="roundRect">
            <a:avLst>
              <a:gd name="adj" fmla="val 1092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72768"/>
            <a:ext cx="525780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NYC MyCity — гос-бот</a:t>
            </a:r>
          </a:p>
        </p:txBody>
      </p:sp>
      <p:pic>
        <p:nvPicPr>
          <p:cNvPr id="10" name="Picture 9" descr="user-x-gold.png"/>
          <p:cNvPicPr>
            <a:picLocks noChangeAspect="1"/>
          </p:cNvPicPr>
          <p:nvPr/>
        </p:nvPicPr>
        <p:blipFill>
          <a:blip r:embed="rId4"/>
          <a:stretch>
            <a:fillRect/>
          </a:stretch>
        </p:blipFill>
        <p:spPr>
          <a:xfrm>
            <a:off x="6263640" y="2057400"/>
            <a:ext cx="438912" cy="438912"/>
          </a:xfrm>
          <a:prstGeom prst="rect">
            <a:avLst/>
          </a:prstGeom>
        </p:spPr>
      </p:pic>
      <p:pic>
        <p:nvPicPr>
          <p:cNvPr id="11" name="Picture 10" descr="user-x-gold.png"/>
          <p:cNvPicPr>
            <a:picLocks noChangeAspect="1"/>
          </p:cNvPicPr>
          <p:nvPr/>
        </p:nvPicPr>
        <p:blipFill>
          <a:blip r:embed="rId4"/>
          <a:stretch>
            <a:fillRect/>
          </a:stretch>
        </p:blipFill>
        <p:spPr>
          <a:xfrm>
            <a:off x="7287768" y="2057400"/>
            <a:ext cx="438912" cy="438912"/>
          </a:xfrm>
          <a:prstGeom prst="rect">
            <a:avLst/>
          </a:prstGeom>
        </p:spPr>
      </p:pic>
      <p:pic>
        <p:nvPicPr>
          <p:cNvPr id="12" name="Picture 11" descr="user-x-gold.png"/>
          <p:cNvPicPr>
            <a:picLocks noChangeAspect="1"/>
          </p:cNvPicPr>
          <p:nvPr/>
        </p:nvPicPr>
        <p:blipFill>
          <a:blip r:embed="rId4"/>
          <a:stretch>
            <a:fillRect/>
          </a:stretch>
        </p:blipFill>
        <p:spPr>
          <a:xfrm>
            <a:off x="8311896" y="2057400"/>
            <a:ext cx="438912" cy="438912"/>
          </a:xfrm>
          <a:prstGeom prst="rect">
            <a:avLst/>
          </a:prstGeom>
        </p:spPr>
      </p:pic>
      <p:pic>
        <p:nvPicPr>
          <p:cNvPr id="13" name="Picture 12" descr="user-x-gold.png"/>
          <p:cNvPicPr>
            <a:picLocks noChangeAspect="1"/>
          </p:cNvPicPr>
          <p:nvPr/>
        </p:nvPicPr>
        <p:blipFill>
          <a:blip r:embed="rId4"/>
          <a:stretch>
            <a:fillRect/>
          </a:stretch>
        </p:blipFill>
        <p:spPr>
          <a:xfrm>
            <a:off x="9336024" y="2057400"/>
            <a:ext cx="438912" cy="438912"/>
          </a:xfrm>
          <a:prstGeom prst="rect">
            <a:avLst/>
          </a:prstGeom>
        </p:spPr>
      </p:pic>
      <p:pic>
        <p:nvPicPr>
          <p:cNvPr id="14" name="Picture 13" descr="user-x-gold.png"/>
          <p:cNvPicPr>
            <a:picLocks noChangeAspect="1"/>
          </p:cNvPicPr>
          <p:nvPr/>
        </p:nvPicPr>
        <p:blipFill>
          <a:blip r:embed="rId4"/>
          <a:stretch>
            <a:fillRect/>
          </a:stretch>
        </p:blipFill>
        <p:spPr>
          <a:xfrm>
            <a:off x="10360152" y="2057400"/>
            <a:ext cx="438912" cy="438912"/>
          </a:xfrm>
          <a:prstGeom prst="rect">
            <a:avLst/>
          </a:prstGeom>
        </p:spPr>
      </p:pic>
      <p:pic>
        <p:nvPicPr>
          <p:cNvPr id="15" name="Picture 14" descr="user-x-gold.png"/>
          <p:cNvPicPr>
            <a:picLocks noChangeAspect="1"/>
          </p:cNvPicPr>
          <p:nvPr/>
        </p:nvPicPr>
        <p:blipFill>
          <a:blip r:embed="rId4"/>
          <a:stretch>
            <a:fillRect/>
          </a:stretch>
        </p:blipFill>
        <p:spPr>
          <a:xfrm>
            <a:off x="6263640" y="2697480"/>
            <a:ext cx="438912" cy="438912"/>
          </a:xfrm>
          <a:prstGeom prst="rect">
            <a:avLst/>
          </a:prstGeom>
        </p:spPr>
      </p:pic>
      <p:pic>
        <p:nvPicPr>
          <p:cNvPr id="16" name="Picture 15" descr="user-x-gold.png"/>
          <p:cNvPicPr>
            <a:picLocks noChangeAspect="1"/>
          </p:cNvPicPr>
          <p:nvPr/>
        </p:nvPicPr>
        <p:blipFill>
          <a:blip r:embed="rId4"/>
          <a:stretch>
            <a:fillRect/>
          </a:stretch>
        </p:blipFill>
        <p:spPr>
          <a:xfrm>
            <a:off x="7287768" y="2697480"/>
            <a:ext cx="438912" cy="438912"/>
          </a:xfrm>
          <a:prstGeom prst="rect">
            <a:avLst/>
          </a:prstGeom>
        </p:spPr>
      </p:pic>
      <p:pic>
        <p:nvPicPr>
          <p:cNvPr id="17" name="Picture 16" descr="user-x-gold.png"/>
          <p:cNvPicPr>
            <a:picLocks noChangeAspect="1"/>
          </p:cNvPicPr>
          <p:nvPr/>
        </p:nvPicPr>
        <p:blipFill>
          <a:blip r:embed="rId4"/>
          <a:stretch>
            <a:fillRect/>
          </a:stretch>
        </p:blipFill>
        <p:spPr>
          <a:xfrm>
            <a:off x="8311896" y="2697480"/>
            <a:ext cx="438912" cy="438912"/>
          </a:xfrm>
          <a:prstGeom prst="rect">
            <a:avLst/>
          </a:prstGeom>
        </p:spPr>
      </p:pic>
      <p:pic>
        <p:nvPicPr>
          <p:cNvPr id="18" name="Picture 17" descr="user-x-gold.png"/>
          <p:cNvPicPr>
            <a:picLocks noChangeAspect="1"/>
          </p:cNvPicPr>
          <p:nvPr/>
        </p:nvPicPr>
        <p:blipFill>
          <a:blip r:embed="rId4"/>
          <a:stretch>
            <a:fillRect/>
          </a:stretch>
        </p:blipFill>
        <p:spPr>
          <a:xfrm>
            <a:off x="9336024" y="2697480"/>
            <a:ext cx="438912" cy="438912"/>
          </a:xfrm>
          <a:prstGeom prst="rect">
            <a:avLst/>
          </a:prstGeom>
        </p:spPr>
      </p:pic>
      <p:pic>
        <p:nvPicPr>
          <p:cNvPr id="19" name="Picture 18" descr="user-x-gold.png"/>
          <p:cNvPicPr>
            <a:picLocks noChangeAspect="1"/>
          </p:cNvPicPr>
          <p:nvPr/>
        </p:nvPicPr>
        <p:blipFill>
          <a:blip r:embed="rId4"/>
          <a:stretch>
            <a:fillRect/>
          </a:stretch>
        </p:blipFill>
        <p:spPr>
          <a:xfrm>
            <a:off x="10360152" y="2697480"/>
            <a:ext cx="438912" cy="438912"/>
          </a:xfrm>
          <a:prstGeom prst="rect">
            <a:avLst/>
          </a:prstGeom>
        </p:spPr>
      </p:pic>
      <p:sp>
        <p:nvSpPr>
          <p:cNvPr id="20" name="TextBox 19"/>
          <p:cNvSpPr txBox="1"/>
          <p:nvPr/>
        </p:nvSpPr>
        <p:spPr>
          <a:xfrm>
            <a:off x="6217920" y="3383280"/>
            <a:ext cx="5257800" cy="77724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10 из 10 журналистов — один и тот же незаконный совет </a:t>
            </a:r>
            <a:r>
              <a:rPr sz="650" baseline="30000" b="0" i="1">
                <a:latin typeface="DejaVu Sans"/>
                <a:cs typeface="DejaVu Sans"/>
                <a:ea typeface="DejaVu Sans"/>
                <a:solidFill>
                  <a:srgbClr val="1C7293"/>
                </a:solidFill>
              </a:rPr>
              <a:t>[3]</a:t>
            </a:r>
            <a:r>
              <a:rPr sz="1250" b="1" i="0">
                <a:latin typeface="DejaVu Sans"/>
                <a:cs typeface="DejaVu Sans"/>
                <a:ea typeface="DejaVu Sans"/>
                <a:solidFill>
                  <a:srgbClr val="21295C"/>
                </a:solidFill>
              </a:rPr>
              <a:t>. Мэр не отозвал бот сразу.</a:t>
            </a:r>
          </a:p>
        </p:txBody>
      </p:sp>
      <p:sp>
        <p:nvSpPr>
          <p:cNvPr id="21" name="Rounded Rectangle 2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не «ИИ не работает», а «метрика пропускной способности без гарантированной эскалации к человеку — неверный дизайн».</a:t>
            </a:r>
          </a:p>
        </p:txBody>
      </p:sp>
      <p:sp>
        <p:nvSpPr>
          <p:cNvPr id="23" name="TextBox 2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Fortune (10 окт. 2025) — 853 FTE</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The Markup (29 марта 2024) — NYC MyCity</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Управление — капстоун, отвечающий на хук-парадокс</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Почему сборка почти бесплатна, а ценность — нет. Здесь мы поднимаемся на уровень организации и собираем петлю целиком.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Тот же go/kill-гейт — но теперь распределяет капитал между многими инициативами</a:t>
            </a:r>
          </a:p>
        </p:txBody>
      </p:sp>
      <p:sp>
        <p:nvSpPr>
          <p:cNvPr id="3" name="Rounded Rectangle 2"/>
          <p:cNvSpPr/>
          <p:nvPr/>
        </p:nvSpPr>
        <p:spPr>
          <a:xfrm>
            <a:off x="502920" y="1463040"/>
            <a:ext cx="553212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Воронка портфеля</a:t>
            </a:r>
          </a:p>
        </p:txBody>
      </p:sp>
      <p:sp>
        <p:nvSpPr>
          <p:cNvPr id="5" name="Rounded Rectangle 4"/>
          <p:cNvSpPr/>
          <p:nvPr/>
        </p:nvSpPr>
        <p:spPr>
          <a:xfrm>
            <a:off x="800100" y="2057400"/>
            <a:ext cx="4892040" cy="47548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057400"/>
            <a:ext cx="48920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много инициатив</a:t>
            </a:r>
          </a:p>
        </p:txBody>
      </p:sp>
      <p:sp>
        <p:nvSpPr>
          <p:cNvPr id="7" name="Rounded Rectangle 6"/>
          <p:cNvSpPr/>
          <p:nvPr/>
        </p:nvSpPr>
        <p:spPr>
          <a:xfrm>
            <a:off x="1417320" y="2679192"/>
            <a:ext cx="3657600" cy="475488"/>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2679192"/>
            <a:ext cx="365760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1</a:t>
            </a:r>
          </a:p>
        </p:txBody>
      </p:sp>
      <p:sp>
        <p:nvSpPr>
          <p:cNvPr id="9" name="Rounded Rectangle 8"/>
          <p:cNvSpPr/>
          <p:nvPr/>
        </p:nvSpPr>
        <p:spPr>
          <a:xfrm>
            <a:off x="2057400" y="3300984"/>
            <a:ext cx="2377440" cy="475488"/>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300984"/>
            <a:ext cx="23774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2</a:t>
            </a:r>
          </a:p>
        </p:txBody>
      </p:sp>
      <p:sp>
        <p:nvSpPr>
          <p:cNvPr id="11" name="Rounded Rectangle 10"/>
          <p:cNvSpPr/>
          <p:nvPr/>
        </p:nvSpPr>
        <p:spPr>
          <a:xfrm>
            <a:off x="2194560" y="3922776"/>
            <a:ext cx="2103120" cy="475488"/>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94560" y="3922776"/>
            <a:ext cx="2103120" cy="475488"/>
          </a:xfrm>
          <a:prstGeom prst="rect">
            <a:avLst/>
          </a:prstGeom>
          <a:noFill/>
        </p:spPr>
        <p:txBody>
          <a:bodyPr wrap="square" lIns="0" rIns="0" tIns="0" bIns="0" anchor="ctr">
            <a:spAutoFit/>
          </a:bodyPr>
          <a:lstStyle/>
          <a:p>
            <a:pPr algn="ctr">
              <a:lnSpc>
                <a:spcPct val="115000"/>
              </a:lnSpc>
            </a:pPr>
            <a:r>
              <a:rPr sz="1050" b="1" i="0">
                <a:solidFill>
                  <a:srgbClr val="21295C"/>
                </a:solidFill>
                <a:latin typeface="DejaVu Sans"/>
              </a:rPr>
              <a:t>профинансировано</a:t>
            </a:r>
          </a:p>
        </p:txBody>
      </p:sp>
      <p:sp>
        <p:nvSpPr>
          <p:cNvPr id="13" name="Rounded Rectangle 12"/>
          <p:cNvSpPr/>
          <p:nvPr/>
        </p:nvSpPr>
        <p:spPr>
          <a:xfrm>
            <a:off x="6263640" y="1463040"/>
            <a:ext cx="5440680" cy="1691640"/>
          </a:xfrm>
          <a:prstGeom prst="roundRect">
            <a:avLst>
              <a:gd name="adj" fmla="val 1801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00200"/>
            <a:ext cx="498348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Unit-экономика ИИ-продукта</a:t>
            </a:r>
          </a:p>
        </p:txBody>
      </p:sp>
      <p:sp>
        <p:nvSpPr>
          <p:cNvPr id="15" name="TextBox 14"/>
          <p:cNvSpPr txBox="1"/>
          <p:nvPr/>
        </p:nvSpPr>
        <p:spPr>
          <a:xfrm>
            <a:off x="6492240" y="2057400"/>
            <a:ext cx="4983480" cy="100584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Новая переменная — стоимость на запрос против ценности на запрос. Каждое обращение к модели стоит денег.</a:t>
            </a:r>
          </a:p>
        </p:txBody>
      </p:sp>
      <p:sp>
        <p:nvSpPr>
          <p:cNvPr id="16" name="Rounded Rectangle 15"/>
          <p:cNvSpPr/>
          <p:nvPr/>
        </p:nvSpPr>
        <p:spPr>
          <a:xfrm>
            <a:off x="6263640" y="3337560"/>
            <a:ext cx="5440680" cy="137160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4983480" cy="1143000"/>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Финансовый KPI на входе в пилот: «снизим стоимость тикета с X₽ до Y₽ при CSAT ≥ Z; N тикетов, M недель, владелец — Иванов».</a:t>
            </a:r>
          </a:p>
        </p:txBody>
      </p:sp>
      <p:sp>
        <p:nvSpPr>
          <p:cNvPr id="18" name="Rounded Rectangle 17"/>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Портфельное управление = Stage-Gate, поднятый на уровень капитала: та же дисциплина «воронка, не туннель», но между продуктами, а не внутри одного.</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Четыре множителя — и ни один из них не новый</a:t>
            </a:r>
          </a:p>
        </p:txBody>
      </p:sp>
      <p:sp>
        <p:nvSpPr>
          <p:cNvPr id="3" name="Rounded Rectangle 2"/>
          <p:cNvSpPr/>
          <p:nvPr/>
        </p:nvSpPr>
        <p:spPr>
          <a:xfrm>
            <a:off x="502920" y="536206"/>
            <a:ext cx="1152144" cy="221284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221284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36206"/>
            <a:ext cx="9902952"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09358"/>
            <a:ext cx="9537192" cy="219456"/>
          </a:xfrm>
          <a:prstGeom prst="rect">
            <a:avLst/>
          </a:prstGeom>
          <a:noFill/>
        </p:spPr>
        <p:txBody>
          <a:bodyPr wrap="square" lIns="0" rIns="0" tIns="0" bIns="0" anchor="t">
            <a:spAutoFit/>
          </a:bodyPr>
          <a:lstStyle/>
          <a:p>
            <a:pPr algn="l">
              <a:lnSpc>
                <a:spcPct val="100000"/>
              </a:lnSpc>
            </a:pPr>
            <a:r>
              <a:rPr sz="1000" b="1" i="0">
                <a:solidFill>
                  <a:srgbClr val="21295C"/>
                </a:solidFill>
                <a:latin typeface="DejaVu Sans"/>
              </a:rPr>
              <a:t>Стоимость одного взаимодействия:</a:t>
            </a:r>
          </a:p>
        </p:txBody>
      </p:sp>
      <p:sp>
        <p:nvSpPr>
          <p:cNvPr id="7" name="Rounded Rectangle 6"/>
          <p:cNvSpPr/>
          <p:nvPr/>
        </p:nvSpPr>
        <p:spPr>
          <a:xfrm>
            <a:off x="1984248" y="865390"/>
            <a:ext cx="3931920" cy="548640"/>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57400" y="865390"/>
            <a:ext cx="3785615" cy="548640"/>
          </a:xfrm>
          <a:prstGeom prst="rect">
            <a:avLst/>
          </a:prstGeom>
          <a:noFill/>
        </p:spPr>
        <p:txBody>
          <a:bodyPr wrap="square" lIns="0" rIns="0" tIns="0" bIns="0" anchor="ctr">
            <a:spAutoFit/>
          </a:bodyPr>
          <a:lstStyle/>
          <a:p>
            <a:pPr algn="ctr">
              <a:lnSpc>
                <a:spcPct val="108000"/>
              </a:lnSpc>
            </a:pPr>
            <a:r>
              <a:rPr sz="980" b="1" i="0">
                <a:solidFill>
                  <a:srgbClr val="065A82"/>
                </a:solidFill>
                <a:latin typeface="DejaVu Sans"/>
              </a:rPr>
              <a:t>токены входа × цена входа</a:t>
            </a:r>
          </a:p>
          <a:p>
            <a:pPr algn="ctr">
              <a:lnSpc>
                <a:spcPct val="108000"/>
              </a:lnSpc>
            </a:pPr>
            <a:r>
              <a:rPr sz="980" b="1" i="0">
                <a:solidFill>
                  <a:srgbClr val="065A82"/>
                </a:solidFill>
                <a:latin typeface="DejaVu Sans"/>
              </a:rPr>
              <a:t>+ токены выхода × цена выхода</a:t>
            </a:r>
          </a:p>
        </p:txBody>
      </p:sp>
      <p:sp>
        <p:nvSpPr>
          <p:cNvPr id="9" name="TextBox 8"/>
          <p:cNvSpPr txBox="1"/>
          <p:nvPr/>
        </p:nvSpPr>
        <p:spPr>
          <a:xfrm>
            <a:off x="5916168" y="865390"/>
            <a:ext cx="310896" cy="548640"/>
          </a:xfrm>
          <a:prstGeom prst="rect">
            <a:avLst/>
          </a:prstGeom>
          <a:noFill/>
        </p:spPr>
        <p:txBody>
          <a:bodyPr wrap="square" lIns="0" rIns="0" tIns="0" bIns="0" anchor="ctr">
            <a:spAutoFit/>
          </a:bodyPr>
          <a:lstStyle/>
          <a:p>
            <a:pPr algn="ctr">
              <a:lnSpc>
                <a:spcPct val="100000"/>
              </a:lnSpc>
            </a:pPr>
            <a:r>
              <a:rPr sz="1500" b="1" i="0">
                <a:solidFill>
                  <a:srgbClr val="5B6678"/>
                </a:solidFill>
                <a:latin typeface="DejaVu Sans"/>
              </a:rPr>
              <a:t>×</a:t>
            </a:r>
          </a:p>
        </p:txBody>
      </p:sp>
      <p:sp>
        <p:nvSpPr>
          <p:cNvPr id="10" name="Rounded Rectangle 9"/>
          <p:cNvSpPr/>
          <p:nvPr/>
        </p:nvSpPr>
        <p:spPr>
          <a:xfrm>
            <a:off x="6227064" y="865390"/>
            <a:ext cx="2148840" cy="548640"/>
          </a:xfrm>
          <a:prstGeom prst="roundRect">
            <a:avLst>
              <a:gd name="adj" fmla="val 22000"/>
            </a:avLst>
          </a:prstGeom>
          <a:solidFill>
            <a:srgbClr val="FFFFFF"/>
          </a:solidFill>
          <a:ln w="2286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0216" y="865390"/>
            <a:ext cx="2002536" cy="548640"/>
          </a:xfrm>
          <a:prstGeom prst="rect">
            <a:avLst/>
          </a:prstGeom>
          <a:noFill/>
        </p:spPr>
        <p:txBody>
          <a:bodyPr wrap="square" lIns="0" rIns="0" tIns="0" bIns="0" anchor="ctr">
            <a:spAutoFit/>
          </a:bodyPr>
          <a:lstStyle/>
          <a:p>
            <a:pPr algn="ctr">
              <a:lnSpc>
                <a:spcPct val="108000"/>
              </a:lnSpc>
            </a:pPr>
            <a:r>
              <a:rPr sz="980" b="1" i="0">
                <a:solidFill>
                  <a:srgbClr val="1C7293"/>
                </a:solidFill>
                <a:latin typeface="DejaVu Sans"/>
              </a:rPr>
              <a:t>среднее число</a:t>
            </a:r>
          </a:p>
          <a:p>
            <a:pPr algn="ctr">
              <a:lnSpc>
                <a:spcPct val="108000"/>
              </a:lnSpc>
            </a:pPr>
            <a:r>
              <a:rPr sz="980" b="1" i="0">
                <a:solidFill>
                  <a:srgbClr val="1C7293"/>
                </a:solidFill>
                <a:latin typeface="DejaVu Sans"/>
              </a:rPr>
              <a:t>шагов агента</a:t>
            </a:r>
          </a:p>
        </p:txBody>
      </p:sp>
      <p:sp>
        <p:nvSpPr>
          <p:cNvPr id="12" name="TextBox 11"/>
          <p:cNvSpPr txBox="1"/>
          <p:nvPr/>
        </p:nvSpPr>
        <p:spPr>
          <a:xfrm>
            <a:off x="8375904" y="865390"/>
            <a:ext cx="310896" cy="548640"/>
          </a:xfrm>
          <a:prstGeom prst="rect">
            <a:avLst/>
          </a:prstGeom>
          <a:noFill/>
        </p:spPr>
        <p:txBody>
          <a:bodyPr wrap="square" lIns="0" rIns="0" tIns="0" bIns="0" anchor="ctr">
            <a:spAutoFit/>
          </a:bodyPr>
          <a:lstStyle/>
          <a:p>
            <a:pPr algn="ctr">
              <a:lnSpc>
                <a:spcPct val="100000"/>
              </a:lnSpc>
            </a:pPr>
            <a:r>
              <a:rPr sz="1500" b="1" i="0">
                <a:solidFill>
                  <a:srgbClr val="5B6678"/>
                </a:solidFill>
                <a:latin typeface="DejaVu Sans"/>
              </a:rPr>
              <a:t>×</a:t>
            </a:r>
          </a:p>
        </p:txBody>
      </p:sp>
      <p:sp>
        <p:nvSpPr>
          <p:cNvPr id="13" name="Rounded Rectangle 12"/>
          <p:cNvSpPr/>
          <p:nvPr/>
        </p:nvSpPr>
        <p:spPr>
          <a:xfrm>
            <a:off x="8686800" y="865390"/>
            <a:ext cx="2331720" cy="548640"/>
          </a:xfrm>
          <a:prstGeom prst="roundRect">
            <a:avLst>
              <a:gd name="adj" fmla="val 22000"/>
            </a:avLst>
          </a:prstGeom>
          <a:solidFill>
            <a:srgbClr val="FFFFFF"/>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59952" y="865390"/>
            <a:ext cx="2185415" cy="548640"/>
          </a:xfrm>
          <a:prstGeom prst="rect">
            <a:avLst/>
          </a:prstGeom>
          <a:noFill/>
        </p:spPr>
        <p:txBody>
          <a:bodyPr wrap="square" lIns="0" rIns="0" tIns="0" bIns="0" anchor="ctr">
            <a:spAutoFit/>
          </a:bodyPr>
          <a:lstStyle/>
          <a:p>
            <a:pPr algn="ctr">
              <a:lnSpc>
                <a:spcPct val="108000"/>
              </a:lnSpc>
            </a:pPr>
            <a:r>
              <a:rPr sz="980" b="1" i="0">
                <a:solidFill>
                  <a:srgbClr val="028090"/>
                </a:solidFill>
                <a:latin typeface="DejaVu Sans"/>
              </a:rPr>
              <a:t>коэффициент</a:t>
            </a:r>
          </a:p>
          <a:p>
            <a:pPr algn="ctr">
              <a:lnSpc>
                <a:spcPct val="108000"/>
              </a:lnSpc>
            </a:pPr>
            <a:r>
              <a:rPr sz="980" b="1" i="0">
                <a:solidFill>
                  <a:srgbClr val="028090"/>
                </a:solidFill>
                <a:latin typeface="DejaVu Sans"/>
              </a:rPr>
              <a:t>повторных попыток</a:t>
            </a:r>
          </a:p>
        </p:txBody>
      </p:sp>
      <p:pic>
        <p:nvPicPr>
          <p:cNvPr id="15" name="Picture 14" descr="calculator-gold.png"/>
          <p:cNvPicPr>
            <a:picLocks noChangeAspect="1"/>
          </p:cNvPicPr>
          <p:nvPr/>
        </p:nvPicPr>
        <p:blipFill>
          <a:blip r:embed="rId2"/>
          <a:stretch>
            <a:fillRect/>
          </a:stretch>
        </p:blipFill>
        <p:spPr>
          <a:xfrm>
            <a:off x="11228832" y="1011694"/>
            <a:ext cx="256032" cy="256032"/>
          </a:xfrm>
          <a:prstGeom prst="rect">
            <a:avLst/>
          </a:prstGeom>
        </p:spPr>
      </p:pic>
      <p:sp>
        <p:nvSpPr>
          <p:cNvPr id="16" name="TextBox 15"/>
          <p:cNvSpPr txBox="1"/>
          <p:nvPr/>
        </p:nvSpPr>
        <p:spPr>
          <a:xfrm>
            <a:off x="1984248" y="1487182"/>
            <a:ext cx="9537192" cy="201168"/>
          </a:xfrm>
          <a:prstGeom prst="rect">
            <a:avLst/>
          </a:prstGeom>
          <a:noFill/>
        </p:spPr>
        <p:txBody>
          <a:bodyPr wrap="square" lIns="0" rIns="0" tIns="0" bIns="0" anchor="t">
            <a:spAutoFit/>
          </a:bodyPr>
          <a:lstStyle/>
          <a:p>
            <a:pPr algn="l">
              <a:lnSpc>
                <a:spcPct val="100000"/>
              </a:lnSpc>
            </a:pPr>
            <a:r>
              <a:rPr sz="960" b="1" i="0">
                <a:solidFill>
                  <a:srgbClr val="21295C"/>
                </a:solidFill>
                <a:latin typeface="DejaVu Sans"/>
              </a:rPr>
              <a:t>ЧТО СТОИТ ЗА КАЖДЫМ МНОЖИТЕЛЕМ</a:t>
            </a:r>
          </a:p>
        </p:txBody>
      </p:sp>
      <p:sp>
        <p:nvSpPr>
          <p:cNvPr id="17" name="TextBox 16"/>
          <p:cNvSpPr txBox="1"/>
          <p:nvPr/>
        </p:nvSpPr>
        <p:spPr>
          <a:xfrm>
            <a:off x="1984248" y="1706638"/>
            <a:ext cx="3057144" cy="950976"/>
          </a:xfrm>
          <a:prstGeom prst="rect">
            <a:avLst/>
          </a:prstGeom>
          <a:noFill/>
        </p:spPr>
        <p:txBody>
          <a:bodyPr wrap="square" lIns="0" rIns="0" tIns="0" bIns="0" anchor="t">
            <a:spAutoFit/>
          </a:bodyPr>
          <a:lstStyle/>
          <a:p>
            <a:pPr algn="l">
              <a:lnSpc>
                <a:spcPct val="113000"/>
              </a:lnSpc>
            </a:pPr>
            <a:r>
              <a:rPr sz="930" b="1" i="0">
                <a:solidFill>
                  <a:srgbClr val="065A82"/>
                </a:solidFill>
                <a:latin typeface="DejaVu Sans"/>
              </a:rPr>
              <a:t>Длина в токенах зависит от языка.</a:t>
            </a:r>
            <a:r>
              <a:rPr sz="930" b="0" i="0">
                <a:solidFill>
                  <a:srgbClr val="21295C"/>
                </a:solidFill>
                <a:latin typeface="DejaVu Sans"/>
              </a:rPr>
              <a:t> Русскоязычный текст на ту же мысль даёт заметно больше токенов, чем англоязычный: продукт на русском платит за один и тот же смысл больше, и разница не исчезает от улучшения формулировки запроса.</a:t>
            </a:r>
          </a:p>
        </p:txBody>
      </p:sp>
      <p:pic>
        <p:nvPicPr>
          <p:cNvPr id="18" name="Picture 17" descr="eye-off-gold.png"/>
          <p:cNvPicPr>
            <a:picLocks noChangeAspect="1"/>
          </p:cNvPicPr>
          <p:nvPr/>
        </p:nvPicPr>
        <p:blipFill>
          <a:blip r:embed="rId3"/>
          <a:stretch>
            <a:fillRect/>
          </a:stretch>
        </p:blipFill>
        <p:spPr>
          <a:xfrm>
            <a:off x="5224272" y="1724926"/>
            <a:ext cx="201168" cy="201168"/>
          </a:xfrm>
          <a:prstGeom prst="rect">
            <a:avLst/>
          </a:prstGeom>
        </p:spPr>
      </p:pic>
      <p:sp>
        <p:nvSpPr>
          <p:cNvPr id="19" name="TextBox 18"/>
          <p:cNvSpPr txBox="1"/>
          <p:nvPr/>
        </p:nvSpPr>
        <p:spPr>
          <a:xfrm>
            <a:off x="5498591" y="1706638"/>
            <a:ext cx="2782824" cy="950976"/>
          </a:xfrm>
          <a:prstGeom prst="rect">
            <a:avLst/>
          </a:prstGeom>
          <a:noFill/>
        </p:spPr>
        <p:txBody>
          <a:bodyPr wrap="square" lIns="0" rIns="0" tIns="0" bIns="0" anchor="t">
            <a:spAutoFit/>
          </a:bodyPr>
          <a:lstStyle/>
          <a:p>
            <a:pPr algn="l">
              <a:lnSpc>
                <a:spcPct val="113000"/>
              </a:lnSpc>
            </a:pPr>
            <a:r>
              <a:rPr sz="930" b="1" i="0">
                <a:solidFill>
                  <a:srgbClr val="065A82"/>
                </a:solidFill>
                <a:latin typeface="DejaVu Sans"/>
              </a:rPr>
              <a:t>Токены рассуждения невидимы в ответе, но оплачиваются как выход</a:t>
            </a:r>
            <a:r>
              <a:rPr sz="930" b="0" i="0">
                <a:solidFill>
                  <a:srgbClr val="21295C"/>
                </a:solidFill>
                <a:latin typeface="DejaVu Sans"/>
              </a:rPr>
              <a:t> и в агентном сценарии часто составляют основную статью расхода. Дашборд, считающий только видимый ответ, занижает реальную стоимость.</a:t>
            </a:r>
          </a:p>
        </p:txBody>
      </p:sp>
      <p:sp>
        <p:nvSpPr>
          <p:cNvPr id="20" name="TextBox 19"/>
          <p:cNvSpPr txBox="1"/>
          <p:nvPr/>
        </p:nvSpPr>
        <p:spPr>
          <a:xfrm>
            <a:off x="8464296" y="1706638"/>
            <a:ext cx="3057144" cy="950976"/>
          </a:xfrm>
          <a:prstGeom prst="rect">
            <a:avLst/>
          </a:prstGeom>
          <a:noFill/>
        </p:spPr>
        <p:txBody>
          <a:bodyPr wrap="square" lIns="0" rIns="0" tIns="0" bIns="0" anchor="t">
            <a:spAutoFit/>
          </a:bodyPr>
          <a:lstStyle/>
          <a:p>
            <a:pPr algn="l">
              <a:lnSpc>
                <a:spcPct val="113000"/>
              </a:lnSpc>
            </a:pPr>
            <a:r>
              <a:rPr sz="930" b="1" i="0">
                <a:solidFill>
                  <a:srgbClr val="065A82"/>
                </a:solidFill>
                <a:latin typeface="DejaVu Sans"/>
              </a:rPr>
              <a:t>Кэширование входа меняет знаменатель:</a:t>
            </a:r>
            <a:r>
              <a:rPr sz="930" b="0" i="0">
                <a:solidFill>
                  <a:srgbClr val="21295C"/>
                </a:solidFill>
                <a:latin typeface="DejaVu Sans"/>
              </a:rPr>
              <a:t> повторяющийся системный промпт читается из кэша дешевле, чем пишется заново, и порог окупаемости кэша считают явно, а не принимают на веру.</a:t>
            </a:r>
          </a:p>
        </p:txBody>
      </p:sp>
      <p:sp>
        <p:nvSpPr>
          <p:cNvPr id="21" name="Rounded Rectangle 20"/>
          <p:cNvSpPr/>
          <p:nvPr/>
        </p:nvSpPr>
        <p:spPr>
          <a:xfrm>
            <a:off x="502920" y="2813062"/>
            <a:ext cx="1152144" cy="1499616"/>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13062"/>
            <a:ext cx="1060704" cy="149961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3" name="Rounded Rectangle 22"/>
          <p:cNvSpPr/>
          <p:nvPr/>
        </p:nvSpPr>
        <p:spPr>
          <a:xfrm>
            <a:off x="1801368" y="2813062"/>
            <a:ext cx="9902952" cy="1499616"/>
          </a:xfrm>
          <a:prstGeom prst="roundRect">
            <a:avLst>
              <a:gd name="adj" fmla="val 203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984248" y="2904502"/>
            <a:ext cx="5760720" cy="1316736"/>
          </a:xfrm>
          <a:prstGeom prst="roundRect">
            <a:avLst>
              <a:gd name="adj" fmla="val 13503"/>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03120" y="3023374"/>
            <a:ext cx="552297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pilots/&lt;имя-пилота&gt;/</a:t>
            </a:r>
          </a:p>
        </p:txBody>
      </p:sp>
      <p:sp>
        <p:nvSpPr>
          <p:cNvPr id="26" name="TextBox 25"/>
          <p:cNvSpPr txBox="1"/>
          <p:nvPr/>
        </p:nvSpPr>
        <p:spPr>
          <a:xfrm>
            <a:off x="2103120" y="3176993"/>
            <a:ext cx="552297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unit-cost.md   </a:t>
            </a:r>
            <a:r>
              <a:rPr sz="860" b="0" i="0">
                <a:solidFill>
                  <a:srgbClr val="5B6678"/>
                </a:solidFill>
                <a:latin typeface="DejaVu Sans Mono"/>
              </a:rPr>
              <a:t># расчёт на единицу взаимодействия;</a:t>
            </a:r>
          </a:p>
        </p:txBody>
      </p:sp>
      <p:sp>
        <p:nvSpPr>
          <p:cNvPr id="27" name="TextBox 26"/>
          <p:cNvSpPr txBox="1"/>
          <p:nvPr/>
        </p:nvSpPr>
        <p:spPr>
          <a:xfrm>
            <a:off x="2103120" y="3330613"/>
            <a:ext cx="552297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допущения явно: число шагов агента,</a:t>
            </a:r>
          </a:p>
        </p:txBody>
      </p:sp>
      <p:sp>
        <p:nvSpPr>
          <p:cNvPr id="28" name="TextBox 27"/>
          <p:cNvSpPr txBox="1"/>
          <p:nvPr/>
        </p:nvSpPr>
        <p:spPr>
          <a:xfrm>
            <a:off x="2103120" y="3484232"/>
            <a:ext cx="552297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доля повторных попыток, средняя длина</a:t>
            </a:r>
          </a:p>
        </p:txBody>
      </p:sp>
      <p:sp>
        <p:nvSpPr>
          <p:cNvPr id="29" name="TextBox 28"/>
          <p:cNvSpPr txBox="1"/>
          <p:nvPr/>
        </p:nvSpPr>
        <p:spPr>
          <a:xfrm>
            <a:off x="2103120" y="3637851"/>
            <a:ext cx="552297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ответа; рядом — ценность на запрос</a:t>
            </a:r>
          </a:p>
        </p:txBody>
      </p:sp>
      <p:sp>
        <p:nvSpPr>
          <p:cNvPr id="30" name="TextBox 29"/>
          <p:cNvSpPr txBox="1"/>
          <p:nvPr/>
        </p:nvSpPr>
        <p:spPr>
          <a:xfrm>
            <a:off x="2103120" y="3791470"/>
            <a:ext cx="552297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go-kill.md     </a:t>
            </a:r>
            <a:r>
              <a:rPr sz="860" b="0" i="0">
                <a:solidFill>
                  <a:srgbClr val="5B6678"/>
                </a:solidFill>
                <a:latin typeface="DejaVu Sans Mono"/>
              </a:rPr>
              <a:t># критерий остановки пилота</a:t>
            </a:r>
          </a:p>
        </p:txBody>
      </p:sp>
      <p:sp>
        <p:nvSpPr>
          <p:cNvPr id="31" name="TextBox 30"/>
          <p:cNvSpPr txBox="1"/>
          <p:nvPr/>
        </p:nvSpPr>
        <p:spPr>
          <a:xfrm>
            <a:off x="7973567" y="2886214"/>
            <a:ext cx="3547872" cy="274320"/>
          </a:xfrm>
          <a:prstGeom prst="rect">
            <a:avLst/>
          </a:prstGeom>
          <a:noFill/>
        </p:spPr>
        <p:txBody>
          <a:bodyPr wrap="square" lIns="0" rIns="0" tIns="0" bIns="0" anchor="t">
            <a:spAutoFit/>
          </a:bodyPr>
          <a:lstStyle/>
          <a:p>
            <a:pPr algn="l">
              <a:lnSpc>
                <a:spcPct val="105000"/>
              </a:lnSpc>
            </a:pPr>
            <a:r>
              <a:rPr sz="880" b="0" i="1">
                <a:solidFill>
                  <a:srgbClr val="5B6678"/>
                </a:solidFill>
                <a:latin typeface="DejaVu Sans"/>
              </a:rPr>
              <a:t>Дашборд «стоимость на запрос по дням» — не файл в репозитории:</a:t>
            </a:r>
          </a:p>
        </p:txBody>
      </p:sp>
      <p:sp>
        <p:nvSpPr>
          <p:cNvPr id="32" name="Rounded Rectangle 31"/>
          <p:cNvSpPr/>
          <p:nvPr/>
        </p:nvSpPr>
        <p:spPr>
          <a:xfrm>
            <a:off x="8065007" y="3178822"/>
            <a:ext cx="3273552" cy="786384"/>
          </a:xfrm>
          <a:prstGeom prst="roundRect">
            <a:avLst>
              <a:gd name="adj" fmla="val 1666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V="1">
            <a:off x="8229599" y="3716855"/>
            <a:ext cx="726948" cy="72421"/>
          </a:xfrm>
          <a:prstGeom prst="line">
            <a:avLst/>
          </a:prstGeom>
          <a:ln w="2540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956547" y="3632365"/>
            <a:ext cx="726948" cy="84490"/>
          </a:xfrm>
          <a:prstGeom prst="line">
            <a:avLst/>
          </a:prstGeom>
          <a:ln w="2540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9683495" y="3523734"/>
            <a:ext cx="726948" cy="108631"/>
          </a:xfrm>
          <a:prstGeom prst="line">
            <a:avLst/>
          </a:prstGeom>
          <a:ln w="2540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0410443" y="3390963"/>
            <a:ext cx="726948" cy="132771"/>
          </a:xfrm>
          <a:prstGeom prst="line">
            <a:avLst/>
          </a:prstGeom>
          <a:ln w="2540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193023" y="3499594"/>
            <a:ext cx="3017520" cy="0"/>
          </a:xfrm>
          <a:prstGeom prst="line">
            <a:avLst/>
          </a:prstGeom>
          <a:ln w="20320">
            <a:solidFill>
              <a:srgbClr val="028090"/>
            </a:solidFill>
            <a:prstDash val="dash"/>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10419130" y="3435586"/>
            <a:ext cx="128016" cy="12801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73567" y="4020070"/>
            <a:ext cx="3547872" cy="292608"/>
          </a:xfrm>
          <a:prstGeom prst="rect">
            <a:avLst/>
          </a:prstGeom>
          <a:noFill/>
        </p:spPr>
        <p:txBody>
          <a:bodyPr wrap="square" lIns="0" rIns="0" tIns="0" bIns="0" anchor="t">
            <a:spAutoFit/>
          </a:bodyPr>
          <a:lstStyle/>
          <a:p>
            <a:pPr algn="l">
              <a:lnSpc>
                <a:spcPct val="105000"/>
              </a:lnSpc>
            </a:pPr>
            <a:r>
              <a:rPr sz="800" b="0" i="1">
                <a:solidFill>
                  <a:srgbClr val="5B6678"/>
                </a:solidFill>
                <a:latin typeface="DejaVu Sans"/>
              </a:rPr>
              <a:t>синим — стоимость на запрос, бирюзовым — ценность; золотая точка — день, когда они сошлись</a:t>
            </a:r>
          </a:p>
        </p:txBody>
      </p:sp>
      <p:sp>
        <p:nvSpPr>
          <p:cNvPr id="40" name="Rounded Rectangle 39"/>
          <p:cNvSpPr/>
          <p:nvPr/>
        </p:nvSpPr>
        <p:spPr>
          <a:xfrm>
            <a:off x="502920" y="4376686"/>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376686"/>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42" name="Rounded Rectangle 41"/>
          <p:cNvSpPr/>
          <p:nvPr/>
        </p:nvSpPr>
        <p:spPr>
          <a:xfrm>
            <a:off x="1801368" y="4376686"/>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84248" y="4468126"/>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Тренд считается по </a:t>
            </a:r>
            <a:r>
              <a:rPr sz="1000" b="1" i="0">
                <a:solidFill>
                  <a:srgbClr val="028090"/>
                </a:solidFill>
                <a:latin typeface="DejaVu Sans"/>
              </a:rPr>
              <a:t>собственному</a:t>
            </a:r>
            <a:r>
              <a:rPr sz="1000" b="0" i="0">
                <a:solidFill>
                  <a:srgbClr val="21295C"/>
                </a:solidFill>
                <a:latin typeface="DejaVu Sans"/>
              </a:rPr>
              <a:t> паттерну использования, а не по чужому · рост средней длины ответа или числа шагов агента виден на дашборде </a:t>
            </a:r>
            <a:r>
              <a:rPr sz="1000" b="1" i="0">
                <a:solidFill>
                  <a:srgbClr val="028090"/>
                </a:solidFill>
                <a:latin typeface="DejaVu Sans"/>
              </a:rPr>
              <a:t>до</a:t>
            </a:r>
            <a:r>
              <a:rPr sz="1000" b="0" i="0">
                <a:solidFill>
                  <a:srgbClr val="21295C"/>
                </a:solidFill>
                <a:latin typeface="DejaVu Sans"/>
              </a:rPr>
              <a:t> квартального счёта, а не после.</a:t>
            </a:r>
          </a:p>
        </p:txBody>
      </p:sp>
      <p:sp>
        <p:nvSpPr>
          <p:cNvPr id="44" name="Rounded Rectangle 43"/>
          <p:cNvSpPr/>
          <p:nvPr/>
        </p:nvSpPr>
        <p:spPr>
          <a:xfrm>
            <a:off x="502920" y="5079123"/>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5079123"/>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 три пункта</a:t>
            </a:r>
          </a:p>
        </p:txBody>
      </p:sp>
      <p:sp>
        <p:nvSpPr>
          <p:cNvPr id="46" name="Rounded Rectangle 45"/>
          <p:cNvSpPr/>
          <p:nvPr/>
        </p:nvSpPr>
        <p:spPr>
          <a:xfrm>
            <a:off x="1801368" y="5079123"/>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984248" y="5170563"/>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Падение цены токена не гарантирует падения расхода</a:t>
            </a:r>
            <a:r>
              <a:rPr sz="1000" b="1" i="0">
                <a:solidFill>
                  <a:srgbClr val="21295C"/>
                </a:solidFill>
                <a:latin typeface="DejaVu Sans"/>
              </a:rPr>
              <a:t> — команды закономерно отвечают на удешевление увеличением числа шагов, и бремя доказательства лежит на утверждении «подешевеет само». </a:t>
            </a:r>
            <a:r>
              <a:rPr sz="1000" b="1" i="0">
                <a:solidFill>
                  <a:srgbClr val="21295C"/>
                </a:solidFill>
                <a:latin typeface="DejaVu Sans"/>
              </a:rPr>
              <a:t>Стоимость на запрос — метрика-ограничитель, а не цель оптимизации:</a:t>
            </a:r>
            <a:r>
              <a:rPr sz="1000" b="1" i="0">
                <a:solidFill>
                  <a:srgbClr val="21295C"/>
                </a:solidFill>
                <a:latin typeface="DejaVu Sans"/>
              </a:rPr>
              <a:t> оптимизировать её означает получить короткие и бесполезные ответы. И </a:t>
            </a:r>
            <a:r>
              <a:rPr sz="1000" b="1" i="0">
                <a:solidFill>
                  <a:srgbClr val="21295C"/>
                </a:solidFill>
                <a:latin typeface="DejaVu Sans"/>
              </a:rPr>
              <a:t>сравнивать нужно с базовой линией без ИИ</a:t>
            </a:r>
            <a:r>
              <a:rPr sz="1000" b="1" i="0">
                <a:solidFill>
                  <a:srgbClr val="21295C"/>
                </a:solidFill>
                <a:latin typeface="DejaVu Sans"/>
              </a:rPr>
              <a:t>: сколько стоил тот же результат человеком. Без этого знаменателя получается не юнит-экономика, а учёт расходов.</a:t>
            </a:r>
          </a:p>
        </p:txBody>
      </p:sp>
      <p:sp>
        <p:nvSpPr>
          <p:cNvPr id="48" name="Rectangle 47"/>
          <p:cNvSpPr/>
          <p:nvPr/>
        </p:nvSpPr>
        <p:spPr>
          <a:xfrm>
            <a:off x="502920" y="6136525"/>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6118237"/>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2 — токенизация, зависимость длины от языка, токены рассуждения, кэширование входа — переиспользованы прямо.</a:t>
            </a:r>
          </a:p>
        </p:txBody>
      </p:sp>
      <p:sp>
        <p:nvSpPr>
          <p:cNvPr id="50" name="TextBox 4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2954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Критерий записан до пилота — иначе это объяснение результата, а не критерий</a:t>
            </a:r>
          </a:p>
        </p:txBody>
      </p:sp>
      <p:sp>
        <p:nvSpPr>
          <p:cNvPr id="3" name="Rounded Rectangle 2"/>
          <p:cNvSpPr/>
          <p:nvPr/>
        </p:nvSpPr>
        <p:spPr>
          <a:xfrm>
            <a:off x="502920" y="505752"/>
            <a:ext cx="1152144" cy="227685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05752"/>
            <a:ext cx="1060704" cy="227685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05752"/>
            <a:ext cx="9902952" cy="2276856"/>
          </a:xfrm>
          <a:prstGeom prst="roundRect">
            <a:avLst>
              <a:gd name="adj" fmla="val 1338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984248" y="597192"/>
            <a:ext cx="5349240" cy="292608"/>
          </a:xfrm>
          <a:prstGeom prst="roundRect">
            <a:avLst>
              <a:gd name="adj" fmla="val 19444"/>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lendar-clock-gold.png"/>
          <p:cNvPicPr>
            <a:picLocks noChangeAspect="1"/>
          </p:cNvPicPr>
          <p:nvPr/>
        </p:nvPicPr>
        <p:blipFill>
          <a:blip r:embed="rId2"/>
          <a:stretch>
            <a:fillRect/>
          </a:stretch>
        </p:blipFill>
        <p:spPr>
          <a:xfrm>
            <a:off x="2075688" y="642912"/>
            <a:ext cx="201168" cy="201168"/>
          </a:xfrm>
          <a:prstGeom prst="rect">
            <a:avLst/>
          </a:prstGeom>
        </p:spPr>
      </p:pic>
      <p:sp>
        <p:nvSpPr>
          <p:cNvPr id="8" name="TextBox 7"/>
          <p:cNvSpPr txBox="1"/>
          <p:nvPr/>
        </p:nvSpPr>
        <p:spPr>
          <a:xfrm>
            <a:off x="2331720" y="597192"/>
            <a:ext cx="4910327" cy="292608"/>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дата записи и имя записавшего — проверяются первыми</a:t>
            </a:r>
          </a:p>
        </p:txBody>
      </p:sp>
      <p:sp>
        <p:nvSpPr>
          <p:cNvPr id="9" name="Rounded Rectangle 8"/>
          <p:cNvSpPr/>
          <p:nvPr/>
        </p:nvSpPr>
        <p:spPr>
          <a:xfrm>
            <a:off x="1984248" y="944664"/>
            <a:ext cx="5349240" cy="1280160"/>
          </a:xfrm>
          <a:prstGeom prst="roundRect">
            <a:avLst>
              <a:gd name="adj" fmla="val 15873"/>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30552" y="1017816"/>
            <a:ext cx="5056631" cy="1133856"/>
          </a:xfrm>
          <a:prstGeom prst="rect">
            <a:avLst/>
          </a:prstGeom>
          <a:noFill/>
        </p:spPr>
        <p:txBody>
          <a:bodyPr wrap="square" lIns="0" rIns="0" tIns="0" bIns="0" anchor="t">
            <a:spAutoFit/>
          </a:bodyPr>
          <a:lstStyle/>
          <a:p>
            <a:pPr algn="l">
              <a:lnSpc>
                <a:spcPct val="116000"/>
              </a:lnSpc>
            </a:pPr>
            <a:r>
              <a:rPr sz="1000" b="0" i="0">
                <a:solidFill>
                  <a:srgbClr val="21295C"/>
                </a:solidFill>
                <a:latin typeface="DejaVu Sans"/>
              </a:rPr>
              <a:t>«Мы верим, что ИИ-разбор обращений </a:t>
            </a:r>
            <a:r>
              <a:rPr sz="1000" b="1" i="0">
                <a:solidFill>
                  <a:srgbClr val="065A82"/>
                </a:solidFill>
                <a:latin typeface="DejaVu Sans"/>
              </a:rPr>
              <a:t>снизит стоимость на обращение с X₽ до Y₽</a:t>
            </a:r>
            <a:r>
              <a:rPr sz="1000" b="0" i="0">
                <a:solidFill>
                  <a:srgbClr val="21295C"/>
                </a:solidFill>
                <a:latin typeface="DejaVu Sans"/>
              </a:rPr>
              <a:t> при не-ухудшении удовлетворённости клиента ниже порога </a:t>
            </a:r>
            <a:r>
              <a:rPr sz="1000" b="1" i="0">
                <a:solidFill>
                  <a:srgbClr val="028090"/>
                </a:solidFill>
                <a:latin typeface="DejaVu Sans"/>
              </a:rPr>
              <a:t>Z</a:t>
            </a:r>
            <a:r>
              <a:rPr sz="1000" b="0" i="0">
                <a:solidFill>
                  <a:srgbClr val="21295C"/>
                </a:solidFill>
                <a:latin typeface="DejaVu Sans"/>
              </a:rPr>
              <a:t> и доле эскалаций не выше </a:t>
            </a:r>
            <a:r>
              <a:rPr sz="1000" b="1" i="0">
                <a:solidFill>
                  <a:srgbClr val="028090"/>
                </a:solidFill>
                <a:latin typeface="DejaVu Sans"/>
              </a:rPr>
              <a:t>W</a:t>
            </a:r>
            <a:r>
              <a:rPr sz="1000" b="0" i="0">
                <a:solidFill>
                  <a:srgbClr val="21295C"/>
                </a:solidFill>
                <a:latin typeface="DejaVu Sans"/>
              </a:rPr>
              <a:t>; проверим на </a:t>
            </a:r>
            <a:r>
              <a:rPr sz="1000" b="1" i="0">
                <a:solidFill>
                  <a:srgbClr val="1C7293"/>
                </a:solidFill>
                <a:latin typeface="DejaVu Sans"/>
              </a:rPr>
              <a:t>N обращениях за M недель</a:t>
            </a:r>
            <a:r>
              <a:rPr sz="1000" b="0" i="0">
                <a:solidFill>
                  <a:srgbClr val="21295C"/>
                </a:solidFill>
                <a:latin typeface="DejaVu Sans"/>
              </a:rPr>
              <a:t>; владелец — </a:t>
            </a:r>
            <a:r>
              <a:rPr sz="1000" b="1" i="0">
                <a:solidFill>
                  <a:srgbClr val="F0AB00"/>
                </a:solidFill>
                <a:latin typeface="DejaVu Sans"/>
              </a:rPr>
              <a:t>конкретный человек, отслеживающий это еженедельно</a:t>
            </a:r>
            <a:r>
              <a:rPr sz="1000" b="0" i="0">
                <a:solidFill>
                  <a:srgbClr val="21295C"/>
                </a:solidFill>
                <a:latin typeface="DejaVu Sans"/>
              </a:rPr>
              <a:t>».</a:t>
            </a:r>
          </a:p>
        </p:txBody>
      </p:sp>
      <p:sp>
        <p:nvSpPr>
          <p:cNvPr id="11" name="TextBox 10"/>
          <p:cNvSpPr txBox="1"/>
          <p:nvPr/>
        </p:nvSpPr>
        <p:spPr>
          <a:xfrm>
            <a:off x="1984248" y="2279688"/>
            <a:ext cx="5349240" cy="201168"/>
          </a:xfrm>
          <a:prstGeom prst="rect">
            <a:avLst/>
          </a:prstGeom>
          <a:noFill/>
        </p:spPr>
        <p:txBody>
          <a:bodyPr wrap="square" lIns="0" rIns="0" tIns="0" bIns="0" anchor="t">
            <a:spAutoFit/>
          </a:bodyPr>
          <a:lstStyle/>
          <a:p>
            <a:pPr algn="l">
              <a:lnSpc>
                <a:spcPct val="105000"/>
              </a:lnSpc>
            </a:pPr>
            <a:r>
              <a:rPr sz="880" b="0" i="1">
                <a:solidFill>
                  <a:srgbClr val="21295C"/>
                </a:solidFill>
                <a:latin typeface="DejaVu Sans"/>
              </a:rPr>
              <a:t>одна фраза несёт сразу четыре аппарата: оптимизируемая величина · ограничители · объём и срок · владелец</a:t>
            </a:r>
          </a:p>
        </p:txBody>
      </p:sp>
      <p:pic>
        <p:nvPicPr>
          <p:cNvPr id="12" name="Picture 11" descr="clipboard-check-teal.png"/>
          <p:cNvPicPr>
            <a:picLocks noChangeAspect="1"/>
          </p:cNvPicPr>
          <p:nvPr/>
        </p:nvPicPr>
        <p:blipFill>
          <a:blip r:embed="rId3"/>
          <a:stretch>
            <a:fillRect/>
          </a:stretch>
        </p:blipFill>
        <p:spPr>
          <a:xfrm>
            <a:off x="7607808" y="578904"/>
            <a:ext cx="219456" cy="219456"/>
          </a:xfrm>
          <a:prstGeom prst="rect">
            <a:avLst/>
          </a:prstGeom>
        </p:spPr>
      </p:pic>
      <p:sp>
        <p:nvSpPr>
          <p:cNvPr id="13" name="TextBox 12"/>
          <p:cNvSpPr txBox="1"/>
          <p:nvPr/>
        </p:nvSpPr>
        <p:spPr>
          <a:xfrm>
            <a:off x="7900416" y="578904"/>
            <a:ext cx="3621024" cy="219456"/>
          </a:xfrm>
          <a:prstGeom prst="rect">
            <a:avLst/>
          </a:prstGeom>
          <a:noFill/>
        </p:spPr>
        <p:txBody>
          <a:bodyPr wrap="square" lIns="0" rIns="0" tIns="0" bIns="0" anchor="t">
            <a:spAutoFit/>
          </a:bodyPr>
          <a:lstStyle/>
          <a:p>
            <a:pPr algn="l">
              <a:lnSpc>
                <a:spcPct val="100000"/>
              </a:lnSpc>
            </a:pPr>
            <a:r>
              <a:rPr sz="1000" b="1" i="0">
                <a:solidFill>
                  <a:srgbClr val="21295C"/>
                </a:solidFill>
                <a:latin typeface="DejaVu Sans"/>
              </a:rPr>
              <a:t>ЧЕТЫРЕ ПРОВЕРКИ ГОДНОСТИ — все до старта</a:t>
            </a:r>
          </a:p>
        </p:txBody>
      </p:sp>
      <p:sp>
        <p:nvSpPr>
          <p:cNvPr id="14" name="Rounded Rectangle 13"/>
          <p:cNvSpPr/>
          <p:nvPr/>
        </p:nvSpPr>
        <p:spPr>
          <a:xfrm>
            <a:off x="7607808" y="889800"/>
            <a:ext cx="201168" cy="201168"/>
          </a:xfrm>
          <a:prstGeom prst="roundRect">
            <a:avLst>
              <a:gd name="adj" fmla="val 8333"/>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07808" y="889800"/>
            <a:ext cx="201168" cy="201168"/>
          </a:xfrm>
          <a:prstGeom prst="rect">
            <a:avLst/>
          </a:prstGeom>
          <a:noFill/>
        </p:spPr>
        <p:txBody>
          <a:bodyPr wrap="square" lIns="0" rIns="0" tIns="0" bIns="0" anchor="ctr">
            <a:spAutoFit/>
          </a:bodyPr>
          <a:lstStyle/>
          <a:p>
            <a:pPr algn="ctr">
              <a:lnSpc>
                <a:spcPct val="100000"/>
              </a:lnSpc>
            </a:pPr>
            <a:r>
              <a:rPr sz="800" b="1" i="0">
                <a:solidFill>
                  <a:srgbClr val="028090"/>
                </a:solidFill>
                <a:latin typeface="DejaVu Sans"/>
              </a:rPr>
              <a:t>1</a:t>
            </a:r>
          </a:p>
        </p:txBody>
      </p:sp>
      <p:sp>
        <p:nvSpPr>
          <p:cNvPr id="16" name="TextBox 15"/>
          <p:cNvSpPr txBox="1"/>
          <p:nvPr/>
        </p:nvSpPr>
        <p:spPr>
          <a:xfrm>
            <a:off x="7900416" y="871512"/>
            <a:ext cx="3621024" cy="489872"/>
          </a:xfrm>
          <a:prstGeom prst="rect">
            <a:avLst/>
          </a:prstGeom>
          <a:noFill/>
        </p:spPr>
        <p:txBody>
          <a:bodyPr wrap="square" lIns="0" rIns="0" tIns="0" bIns="0" anchor="t">
            <a:spAutoFit/>
          </a:bodyPr>
          <a:lstStyle/>
          <a:p>
            <a:pPr algn="l">
              <a:lnSpc>
                <a:spcPct val="112000"/>
              </a:lnSpc>
            </a:pPr>
            <a:r>
              <a:rPr sz="930" b="1" i="0">
                <a:solidFill>
                  <a:srgbClr val="065A82"/>
                </a:solidFill>
                <a:latin typeface="DejaVu Sans"/>
              </a:rPr>
              <a:t>X₽ измерена на собственном процессе</a:t>
            </a:r>
            <a:r>
              <a:rPr sz="930" b="0" i="0">
                <a:solidFill>
                  <a:srgbClr val="21295C"/>
                </a:solidFill>
                <a:latin typeface="DejaVu Sans"/>
              </a:rPr>
              <a:t>, а не взята из обещания поставщика: чужая цифра описывает чужой процесс.</a:t>
            </a:r>
          </a:p>
        </p:txBody>
      </p:sp>
      <p:sp>
        <p:nvSpPr>
          <p:cNvPr id="17" name="Rounded Rectangle 16"/>
          <p:cNvSpPr/>
          <p:nvPr/>
        </p:nvSpPr>
        <p:spPr>
          <a:xfrm>
            <a:off x="7607808" y="1425392"/>
            <a:ext cx="201168" cy="201168"/>
          </a:xfrm>
          <a:prstGeom prst="roundRect">
            <a:avLst>
              <a:gd name="adj" fmla="val 8333"/>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7808" y="1425392"/>
            <a:ext cx="201168" cy="201168"/>
          </a:xfrm>
          <a:prstGeom prst="rect">
            <a:avLst/>
          </a:prstGeom>
          <a:noFill/>
        </p:spPr>
        <p:txBody>
          <a:bodyPr wrap="square" lIns="0" rIns="0" tIns="0" bIns="0" anchor="ctr">
            <a:spAutoFit/>
          </a:bodyPr>
          <a:lstStyle/>
          <a:p>
            <a:pPr algn="ctr">
              <a:lnSpc>
                <a:spcPct val="100000"/>
              </a:lnSpc>
            </a:pPr>
            <a:r>
              <a:rPr sz="800" b="1" i="0">
                <a:solidFill>
                  <a:srgbClr val="028090"/>
                </a:solidFill>
                <a:latin typeface="DejaVu Sans"/>
              </a:rPr>
              <a:t>2</a:t>
            </a:r>
          </a:p>
        </p:txBody>
      </p:sp>
      <p:sp>
        <p:nvSpPr>
          <p:cNvPr id="19" name="TextBox 18"/>
          <p:cNvSpPr txBox="1"/>
          <p:nvPr/>
        </p:nvSpPr>
        <p:spPr>
          <a:xfrm>
            <a:off x="7900416" y="1407104"/>
            <a:ext cx="3621024" cy="341821"/>
          </a:xfrm>
          <a:prstGeom prst="rect">
            <a:avLst/>
          </a:prstGeom>
          <a:noFill/>
        </p:spPr>
        <p:txBody>
          <a:bodyPr wrap="square" lIns="0" rIns="0" tIns="0" bIns="0" anchor="t">
            <a:spAutoFit/>
          </a:bodyPr>
          <a:lstStyle/>
          <a:p>
            <a:pPr algn="l">
              <a:lnSpc>
                <a:spcPct val="112000"/>
              </a:lnSpc>
            </a:pPr>
            <a:r>
              <a:rPr sz="930" b="1" i="0">
                <a:solidFill>
                  <a:srgbClr val="065A82"/>
                </a:solidFill>
                <a:latin typeface="DejaVu Sans"/>
              </a:rPr>
              <a:t>У каждой величины есть единица и направление</a:t>
            </a:r>
            <a:r>
              <a:rPr sz="930" b="0" i="0">
                <a:solidFill>
                  <a:srgbClr val="21295C"/>
                </a:solidFill>
                <a:latin typeface="DejaVu Sans"/>
              </a:rPr>
              <a:t> («снизить с X₽ до Y₽»), а не одно намерение.</a:t>
            </a:r>
          </a:p>
        </p:txBody>
      </p:sp>
      <p:sp>
        <p:nvSpPr>
          <p:cNvPr id="20" name="Rounded Rectangle 19"/>
          <p:cNvSpPr/>
          <p:nvPr/>
        </p:nvSpPr>
        <p:spPr>
          <a:xfrm>
            <a:off x="7607808" y="1812934"/>
            <a:ext cx="201168" cy="201168"/>
          </a:xfrm>
          <a:prstGeom prst="roundRect">
            <a:avLst>
              <a:gd name="adj" fmla="val 8333"/>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07808" y="1812934"/>
            <a:ext cx="201168" cy="201168"/>
          </a:xfrm>
          <a:prstGeom prst="rect">
            <a:avLst/>
          </a:prstGeom>
          <a:noFill/>
        </p:spPr>
        <p:txBody>
          <a:bodyPr wrap="square" lIns="0" rIns="0" tIns="0" bIns="0" anchor="ctr">
            <a:spAutoFit/>
          </a:bodyPr>
          <a:lstStyle/>
          <a:p>
            <a:pPr algn="ctr">
              <a:lnSpc>
                <a:spcPct val="100000"/>
              </a:lnSpc>
            </a:pPr>
            <a:r>
              <a:rPr sz="800" b="1" i="0">
                <a:solidFill>
                  <a:srgbClr val="028090"/>
                </a:solidFill>
                <a:latin typeface="DejaVu Sans"/>
              </a:rPr>
              <a:t>3</a:t>
            </a:r>
          </a:p>
        </p:txBody>
      </p:sp>
      <p:sp>
        <p:nvSpPr>
          <p:cNvPr id="22" name="TextBox 21"/>
          <p:cNvSpPr txBox="1"/>
          <p:nvPr/>
        </p:nvSpPr>
        <p:spPr>
          <a:xfrm>
            <a:off x="7900416" y="1794646"/>
            <a:ext cx="3621024" cy="341821"/>
          </a:xfrm>
          <a:prstGeom prst="rect">
            <a:avLst/>
          </a:prstGeom>
          <a:noFill/>
        </p:spPr>
        <p:txBody>
          <a:bodyPr wrap="square" lIns="0" rIns="0" tIns="0" bIns="0" anchor="t">
            <a:spAutoFit/>
          </a:bodyPr>
          <a:lstStyle/>
          <a:p>
            <a:pPr algn="l">
              <a:lnSpc>
                <a:spcPct val="112000"/>
              </a:lnSpc>
            </a:pPr>
            <a:r>
              <a:rPr sz="930" b="1" i="0">
                <a:solidFill>
                  <a:srgbClr val="065A82"/>
                </a:solidFill>
                <a:latin typeface="DejaVu Sans"/>
              </a:rPr>
              <a:t>Назван владелец</a:t>
            </a:r>
            <a:r>
              <a:rPr sz="930" b="0" i="0">
                <a:solidFill>
                  <a:srgbClr val="21295C"/>
                </a:solidFill>
                <a:latin typeface="DejaVu Sans"/>
              </a:rPr>
              <a:t> — человек с недельным ритмом: критерий без имени не проверяет никто.</a:t>
            </a:r>
          </a:p>
        </p:txBody>
      </p:sp>
      <p:sp>
        <p:nvSpPr>
          <p:cNvPr id="23" name="Rounded Rectangle 22"/>
          <p:cNvSpPr/>
          <p:nvPr/>
        </p:nvSpPr>
        <p:spPr>
          <a:xfrm>
            <a:off x="7607808" y="2200476"/>
            <a:ext cx="201168" cy="201168"/>
          </a:xfrm>
          <a:prstGeom prst="roundRect">
            <a:avLst>
              <a:gd name="adj" fmla="val 8333"/>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7808" y="2200476"/>
            <a:ext cx="201168" cy="201168"/>
          </a:xfrm>
          <a:prstGeom prst="rect">
            <a:avLst/>
          </a:prstGeom>
          <a:noFill/>
        </p:spPr>
        <p:txBody>
          <a:bodyPr wrap="square" lIns="0" rIns="0" tIns="0" bIns="0" anchor="ctr">
            <a:spAutoFit/>
          </a:bodyPr>
          <a:lstStyle/>
          <a:p>
            <a:pPr algn="ctr">
              <a:lnSpc>
                <a:spcPct val="100000"/>
              </a:lnSpc>
            </a:pPr>
            <a:r>
              <a:rPr sz="800" b="1" i="0">
                <a:solidFill>
                  <a:srgbClr val="028090"/>
                </a:solidFill>
                <a:latin typeface="DejaVu Sans"/>
              </a:rPr>
              <a:t>4</a:t>
            </a:r>
          </a:p>
        </p:txBody>
      </p:sp>
      <p:sp>
        <p:nvSpPr>
          <p:cNvPr id="25" name="TextBox 24"/>
          <p:cNvSpPr txBox="1"/>
          <p:nvPr/>
        </p:nvSpPr>
        <p:spPr>
          <a:xfrm>
            <a:off x="7900416" y="2182188"/>
            <a:ext cx="3621024" cy="489872"/>
          </a:xfrm>
          <a:prstGeom prst="rect">
            <a:avLst/>
          </a:prstGeom>
          <a:noFill/>
        </p:spPr>
        <p:txBody>
          <a:bodyPr wrap="square" lIns="0" rIns="0" tIns="0" bIns="0" anchor="t">
            <a:spAutoFit/>
          </a:bodyPr>
          <a:lstStyle/>
          <a:p>
            <a:pPr algn="l">
              <a:lnSpc>
                <a:spcPct val="112000"/>
              </a:lnSpc>
            </a:pPr>
            <a:r>
              <a:rPr sz="930" b="1" i="0">
                <a:solidFill>
                  <a:srgbClr val="065A82"/>
                </a:solidFill>
                <a:latin typeface="DejaVu Sans"/>
              </a:rPr>
              <a:t>Существует исход «закрываем»</a:t>
            </a:r>
            <a:r>
              <a:rPr sz="930" b="0" i="0">
                <a:solidFill>
                  <a:srgbClr val="21295C"/>
                </a:solidFill>
                <a:latin typeface="DejaVu Sans"/>
              </a:rPr>
              <a:t>: гейт ставится ровно для того, чтобы отличать «данные сказали нет» от «мы устали».</a:t>
            </a:r>
          </a:p>
        </p:txBody>
      </p:sp>
      <p:sp>
        <p:nvSpPr>
          <p:cNvPr id="26" name="Rounded Rectangle 25"/>
          <p:cNvSpPr/>
          <p:nvPr/>
        </p:nvSpPr>
        <p:spPr>
          <a:xfrm>
            <a:off x="502920" y="2846616"/>
            <a:ext cx="1152144" cy="1216152"/>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2846616"/>
            <a:ext cx="1060704" cy="121615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8" name="Rounded Rectangle 27"/>
          <p:cNvSpPr/>
          <p:nvPr/>
        </p:nvSpPr>
        <p:spPr>
          <a:xfrm>
            <a:off x="1801368" y="2846616"/>
            <a:ext cx="9902952" cy="12161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984248" y="2938056"/>
            <a:ext cx="5577840" cy="1033272"/>
          </a:xfrm>
          <a:prstGeom prst="roundRect">
            <a:avLst>
              <a:gd name="adj" fmla="val 17207"/>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103120" y="3056928"/>
            <a:ext cx="534009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pilots/&lt;имя-пилота&gt;/go-kill.md</a:t>
            </a:r>
          </a:p>
        </p:txBody>
      </p:sp>
      <p:sp>
        <p:nvSpPr>
          <p:cNvPr id="31" name="TextBox 30"/>
          <p:cNvSpPr txBox="1"/>
          <p:nvPr/>
        </p:nvSpPr>
        <p:spPr>
          <a:xfrm>
            <a:off x="2103120" y="3210547"/>
            <a:ext cx="534009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дата записи и имя записавшего</a:t>
            </a:r>
          </a:p>
        </p:txBody>
      </p:sp>
      <p:sp>
        <p:nvSpPr>
          <p:cNvPr id="32" name="TextBox 31"/>
          <p:cNvSpPr txBox="1"/>
          <p:nvPr/>
        </p:nvSpPr>
        <p:spPr>
          <a:xfrm>
            <a:off x="2103120" y="3364166"/>
            <a:ext cx="534009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X₽ — измерено на своём процессе</a:t>
            </a:r>
          </a:p>
        </p:txBody>
      </p:sp>
      <p:sp>
        <p:nvSpPr>
          <p:cNvPr id="33" name="TextBox 32"/>
          <p:cNvSpPr txBox="1"/>
          <p:nvPr/>
        </p:nvSpPr>
        <p:spPr>
          <a:xfrm>
            <a:off x="2103120" y="3517785"/>
            <a:ext cx="534009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Y₽, Z, W — единица и направление</a:t>
            </a:r>
          </a:p>
        </p:txBody>
      </p:sp>
      <p:sp>
        <p:nvSpPr>
          <p:cNvPr id="34" name="TextBox 33"/>
          <p:cNvSpPr txBox="1"/>
          <p:nvPr/>
        </p:nvSpPr>
        <p:spPr>
          <a:xfrm>
            <a:off x="2103120" y="3671404"/>
            <a:ext cx="534009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N обращений, M недель; владелец, ритм — еженедельно</a:t>
            </a:r>
          </a:p>
        </p:txBody>
      </p:sp>
      <p:pic>
        <p:nvPicPr>
          <p:cNvPr id="35" name="Picture 34" descr="door-open-gold.png"/>
          <p:cNvPicPr>
            <a:picLocks noChangeAspect="1"/>
          </p:cNvPicPr>
          <p:nvPr/>
        </p:nvPicPr>
        <p:blipFill>
          <a:blip r:embed="rId4"/>
          <a:stretch>
            <a:fillRect/>
          </a:stretch>
        </p:blipFill>
        <p:spPr>
          <a:xfrm>
            <a:off x="7790688" y="3317532"/>
            <a:ext cx="274320" cy="274320"/>
          </a:xfrm>
          <a:prstGeom prst="rect">
            <a:avLst/>
          </a:prstGeom>
        </p:spPr>
      </p:pic>
      <p:sp>
        <p:nvSpPr>
          <p:cNvPr id="36" name="TextBox 35"/>
          <p:cNvSpPr txBox="1"/>
          <p:nvPr/>
        </p:nvSpPr>
        <p:spPr>
          <a:xfrm>
            <a:off x="8183879" y="2938056"/>
            <a:ext cx="3337559" cy="1033272"/>
          </a:xfrm>
          <a:prstGeom prst="rect">
            <a:avLst/>
          </a:prstGeom>
          <a:noFill/>
        </p:spPr>
        <p:txBody>
          <a:bodyPr wrap="square" lIns="0" rIns="0" tIns="0" bIns="0" anchor="ctr">
            <a:spAutoFit/>
          </a:bodyPr>
          <a:lstStyle/>
          <a:p>
            <a:pPr algn="l">
              <a:lnSpc>
                <a:spcPct val="114000"/>
              </a:lnSpc>
            </a:pPr>
            <a:r>
              <a:rPr sz="980" b="0" i="0">
                <a:solidFill>
                  <a:srgbClr val="21295C"/>
                </a:solidFill>
                <a:latin typeface="DejaVu Sans"/>
              </a:rPr>
              <a:t>Тот же каталог пилота, что и у расчёта стоимости: расчёт и критерий остановки — </a:t>
            </a:r>
            <a:r>
              <a:rPr sz="980" b="1" i="0">
                <a:solidFill>
                  <a:srgbClr val="065A82"/>
                </a:solidFill>
                <a:latin typeface="DejaVu Sans"/>
              </a:rPr>
              <a:t>два файла одного решения</a:t>
            </a:r>
            <a:r>
              <a:rPr sz="980" b="0" i="0">
                <a:solidFill>
                  <a:srgbClr val="21295C"/>
                </a:solidFill>
                <a:latin typeface="DejaVu Sans"/>
              </a:rPr>
              <a:t>, а не два разных хозяйства.</a:t>
            </a:r>
          </a:p>
        </p:txBody>
      </p:sp>
      <p:sp>
        <p:nvSpPr>
          <p:cNvPr id="37" name="Rounded Rectangle 36"/>
          <p:cNvSpPr/>
          <p:nvPr/>
        </p:nvSpPr>
        <p:spPr>
          <a:xfrm>
            <a:off x="502920" y="4126776"/>
            <a:ext cx="1152144" cy="4792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4126776"/>
            <a:ext cx="1060704" cy="4792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39" name="Rounded Rectangle 38"/>
          <p:cNvSpPr/>
          <p:nvPr/>
        </p:nvSpPr>
        <p:spPr>
          <a:xfrm>
            <a:off x="1801368" y="4126776"/>
            <a:ext cx="9902952" cy="4792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984248" y="4218216"/>
            <a:ext cx="9537192" cy="296354"/>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Решение на гейте принято </a:t>
            </a:r>
            <a:r>
              <a:rPr sz="1000" b="1" i="0">
                <a:solidFill>
                  <a:srgbClr val="028090"/>
                </a:solidFill>
                <a:latin typeface="DejaVu Sans"/>
              </a:rPr>
              <a:t>против записанного</a:t>
            </a:r>
            <a:r>
              <a:rPr sz="1000" b="0" i="0">
                <a:solidFill>
                  <a:srgbClr val="21295C"/>
                </a:solidFill>
                <a:latin typeface="DejaVu Sans"/>
              </a:rPr>
              <a:t> — с датой и именем, проверяемыми первыми.</a:t>
            </a:r>
          </a:p>
        </p:txBody>
      </p:sp>
      <p:sp>
        <p:nvSpPr>
          <p:cNvPr id="41" name="Rounded Rectangle 40"/>
          <p:cNvSpPr/>
          <p:nvPr/>
        </p:nvSpPr>
        <p:spPr>
          <a:xfrm>
            <a:off x="502920" y="4670018"/>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670018"/>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3" name="Rounded Rectangle 42"/>
          <p:cNvSpPr/>
          <p:nvPr/>
        </p:nvSpPr>
        <p:spPr>
          <a:xfrm>
            <a:off x="1801368" y="4670018"/>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761458"/>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Если числа порога появились или изменились после включения пилота — это уже не критерий, а объяснение результата:</a:t>
            </a:r>
            <a:r>
              <a:rPr sz="1000" b="1" i="0">
                <a:solidFill>
                  <a:srgbClr val="21295C"/>
                </a:solidFill>
                <a:latin typeface="DejaVu Sans"/>
              </a:rPr>
              <a:t> решение принято, а формулировка подогнана под него. Критерий без названного владельца не проверяет никто, а сравнение с отраслевым обещанием вместо собственной базовой линии превращает юнит-экономику в учёт расходов. Отсутствие этой конкретики — не «забыли посчитать окупаемость», а </a:t>
            </a:r>
            <a:r>
              <a:rPr sz="1000" b="1" i="0">
                <a:solidFill>
                  <a:srgbClr val="21295C"/>
                </a:solidFill>
                <a:latin typeface="DejaVu Sans"/>
              </a:rPr>
              <a:t>отсутствие линейки, которой её измеряют</a:t>
            </a:r>
            <a:r>
              <a:rPr sz="1000" b="1" i="0">
                <a:solidFill>
                  <a:srgbClr val="21295C"/>
                </a:solidFill>
                <a:latin typeface="DejaVu Sans"/>
              </a:rPr>
              <a:t>: по замеру таких компаний </a:t>
            </a:r>
            <a:r>
              <a:rPr sz="1000" b="1" i="0">
                <a:solidFill>
                  <a:srgbClr val="21295C"/>
                </a:solidFill>
                <a:latin typeface="DejaVu Sans"/>
              </a:rPr>
              <a:t>60%</a:t>
            </a:r>
            <a:r>
              <a:rPr sz="1000" b="1" i="0">
                <a:solidFill>
                  <a:srgbClr val="21295C"/>
                </a:solidFill>
                <a:latin typeface="DejaVu Sans"/>
              </a:rPr>
              <a:t>.</a:t>
            </a:r>
          </a:p>
        </p:txBody>
      </p:sp>
      <p:sp>
        <p:nvSpPr>
          <p:cNvPr id="45" name="Rectangle 44"/>
          <p:cNvSpPr/>
          <p:nvPr/>
        </p:nvSpPr>
        <p:spPr>
          <a:xfrm>
            <a:off x="502920" y="5727420"/>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5709132"/>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исполняемая спецификация: порог существует раньше результата. Тот же приём, применённый к решению финансировать.</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60% компаний не отслеживают ни одного финансового показателя, привязанного к ценности ИИ — BCG AI Radar, январь 2025 (n=1803)</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сместилось с технологии на операционную модель организации</a:t>
            </a:r>
          </a:p>
        </p:txBody>
      </p:sp>
      <p:sp>
        <p:nvSpPr>
          <p:cNvPr id="3" name="Rounded Rectangle 2"/>
          <p:cNvSpPr/>
          <p:nvPr/>
        </p:nvSpPr>
        <p:spPr>
          <a:xfrm>
            <a:off x="502920" y="1463040"/>
            <a:ext cx="58064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Deloitte</a:t>
            </a:r>
          </a:p>
        </p:txBody>
      </p:sp>
      <p:cxnSp>
        <p:nvCxnSpPr>
          <p:cNvPr id="5" name="Connector 4"/>
          <p:cNvCxnSpPr/>
          <p:nvPr/>
        </p:nvCxnSpPr>
        <p:spPr>
          <a:xfrm>
            <a:off x="2514600" y="1892808"/>
            <a:ext cx="2103120" cy="80467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77240" y="224028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Сбер</a:t>
            </a:r>
          </a:p>
        </p:txBody>
      </p:sp>
      <p:cxnSp>
        <p:nvCxnSpPr>
          <p:cNvPr id="7" name="Connector 6"/>
          <p:cNvCxnSpPr/>
          <p:nvPr/>
        </p:nvCxnSpPr>
        <p:spPr>
          <a:xfrm>
            <a:off x="2514600" y="2441448"/>
            <a:ext cx="2103120" cy="25603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77240" y="278892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Gartner</a:t>
            </a:r>
          </a:p>
        </p:txBody>
      </p:sp>
      <p:cxnSp>
        <p:nvCxnSpPr>
          <p:cNvPr id="9" name="Connector 8"/>
          <p:cNvCxnSpPr/>
          <p:nvPr/>
        </p:nvCxnSpPr>
        <p:spPr>
          <a:xfrm flipV="1">
            <a:off x="2514600" y="2697480"/>
            <a:ext cx="2103120" cy="29260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77240" y="333756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McKinsey</a:t>
            </a:r>
          </a:p>
        </p:txBody>
      </p:sp>
      <p:cxnSp>
        <p:nvCxnSpPr>
          <p:cNvPr id="11" name="Connector 10"/>
          <p:cNvCxnSpPr/>
          <p:nvPr/>
        </p:nvCxnSpPr>
        <p:spPr>
          <a:xfrm flipV="1">
            <a:off x="2514600" y="2697480"/>
            <a:ext cx="2103120" cy="84124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388620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Forrester</a:t>
            </a:r>
          </a:p>
        </p:txBody>
      </p:sp>
      <p:cxnSp>
        <p:nvCxnSpPr>
          <p:cNvPr id="13" name="Connector 12"/>
          <p:cNvCxnSpPr/>
          <p:nvPr/>
        </p:nvCxnSpPr>
        <p:spPr>
          <a:xfrm flipV="1">
            <a:off x="2514600" y="2697480"/>
            <a:ext cx="2103120" cy="138988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794760" y="2331720"/>
            <a:ext cx="2286000" cy="731520"/>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2395728"/>
            <a:ext cx="2194560" cy="59436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операционная модель</a:t>
            </a:r>
          </a:p>
        </p:txBody>
      </p:sp>
      <p:sp>
        <p:nvSpPr>
          <p:cNvPr id="16" name="TextBox 15"/>
          <p:cNvSpPr txBox="1"/>
          <p:nvPr/>
        </p:nvSpPr>
        <p:spPr>
          <a:xfrm>
            <a:off x="731520" y="4434840"/>
            <a:ext cx="539496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Deloitte: 75% — модель должна измениться · 42% низкий/нулевой ROI </a:t>
            </a:r>
            <a:r>
              <a:rPr sz="572" baseline="30000" b="0" i="1">
                <a:latin typeface="DejaVu Sans"/>
                <a:cs typeface="DejaVu Sans"/>
                <a:ea typeface="DejaVu Sans"/>
                <a:solidFill>
                  <a:srgbClr val="1C7293"/>
                </a:solidFill>
              </a:rPr>
              <a:t>[1]</a:t>
            </a:r>
          </a:p>
        </p:txBody>
      </p:sp>
      <p:sp>
        <p:nvSpPr>
          <p:cNvPr id="17" name="Rounded Rectangle 16"/>
          <p:cNvSpPr/>
          <p:nvPr/>
        </p:nvSpPr>
        <p:spPr>
          <a:xfrm>
            <a:off x="6537960" y="1463040"/>
            <a:ext cx="5166360" cy="3246120"/>
          </a:xfrm>
          <a:prstGeom prst="roundRect">
            <a:avLst>
              <a:gd name="adj" fmla="val 938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1600200"/>
            <a:ext cx="470916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Зрелость 0–5 (maturity)</a:t>
            </a:r>
          </a:p>
        </p:txBody>
      </p:sp>
      <p:sp>
        <p:nvSpPr>
          <p:cNvPr id="19" name="Rounded Rectangle 18"/>
          <p:cNvSpPr/>
          <p:nvPr/>
        </p:nvSpPr>
        <p:spPr>
          <a:xfrm>
            <a:off x="68122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0</a:t>
            </a:r>
          </a:p>
        </p:txBody>
      </p:sp>
      <p:sp>
        <p:nvSpPr>
          <p:cNvPr id="21" name="Rounded Rectangle 20"/>
          <p:cNvSpPr/>
          <p:nvPr/>
        </p:nvSpPr>
        <p:spPr>
          <a:xfrm>
            <a:off x="758952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1</a:t>
            </a:r>
          </a:p>
        </p:txBody>
      </p:sp>
      <p:sp>
        <p:nvSpPr>
          <p:cNvPr id="23" name="Rounded Rectangle 22"/>
          <p:cNvSpPr/>
          <p:nvPr/>
        </p:nvSpPr>
        <p:spPr>
          <a:xfrm>
            <a:off x="836676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2</a:t>
            </a:r>
          </a:p>
        </p:txBody>
      </p:sp>
      <p:sp>
        <p:nvSpPr>
          <p:cNvPr id="25" name="Rounded Rectangle 24"/>
          <p:cNvSpPr/>
          <p:nvPr/>
        </p:nvSpPr>
        <p:spPr>
          <a:xfrm>
            <a:off x="9144000" y="2331720"/>
            <a:ext cx="64008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3</a:t>
            </a:r>
          </a:p>
        </p:txBody>
      </p:sp>
      <p:sp>
        <p:nvSpPr>
          <p:cNvPr id="27" name="Rounded Rectangle 26"/>
          <p:cNvSpPr/>
          <p:nvPr/>
        </p:nvSpPr>
        <p:spPr>
          <a:xfrm>
            <a:off x="992124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2124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4</a:t>
            </a:r>
          </a:p>
        </p:txBody>
      </p:sp>
      <p:sp>
        <p:nvSpPr>
          <p:cNvPr id="29" name="Rounded Rectangle 28"/>
          <p:cNvSpPr/>
          <p:nvPr/>
        </p:nvSpPr>
        <p:spPr>
          <a:xfrm>
            <a:off x="106984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984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5</a:t>
            </a:r>
          </a:p>
        </p:txBody>
      </p:sp>
      <p:sp>
        <p:nvSpPr>
          <p:cNvPr id="31" name="TextBox 30"/>
          <p:cNvSpPr txBox="1"/>
          <p:nvPr/>
        </p:nvSpPr>
        <p:spPr>
          <a:xfrm>
            <a:off x="6812280" y="3063240"/>
            <a:ext cx="2194560" cy="45720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Сбер здесь →</a:t>
            </a:r>
          </a:p>
        </p:txBody>
      </p:sp>
      <p:sp>
        <p:nvSpPr>
          <p:cNvPr id="32" name="TextBox 31"/>
          <p:cNvSpPr txBox="1"/>
          <p:nvPr/>
        </p:nvSpPr>
        <p:spPr>
          <a:xfrm>
            <a:off x="6766560" y="3611880"/>
            <a:ext cx="4709160" cy="100584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Операторы → оркестраторы. Сбер сам ставит себя на уровень 3 из 5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 — сигнал против хайпа: даже крупный игрок не заявляет вершину шкалы.</a:t>
            </a:r>
          </a:p>
        </p:txBody>
      </p:sp>
      <p:sp>
        <p:nvSpPr>
          <p:cNvPr id="33" name="Rounded Rectangle 32"/>
          <p:cNvSpPr/>
          <p:nvPr/>
        </p:nvSpPr>
        <p:spPr>
          <a:xfrm>
            <a:off x="502920" y="48006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4855464"/>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Пять независимых источников сходятся в одном: выигрывает не тот, у кого лучше модель, а тот, кто перестроил команды и управление под неё.</a:t>
            </a:r>
          </a:p>
        </p:txBody>
      </p:sp>
      <p:sp>
        <p:nvSpPr>
          <p:cNvPr id="35" name="Rounded Rectangle 34"/>
          <p:cNvSpPr/>
          <p:nvPr/>
        </p:nvSpPr>
        <p:spPr>
          <a:xfrm>
            <a:off x="502920" y="5559552"/>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5800" y="5724144"/>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ircle-help-white.png"/>
          <p:cNvPicPr>
            <a:picLocks noChangeAspect="1"/>
          </p:cNvPicPr>
          <p:nvPr/>
        </p:nvPicPr>
        <p:blipFill>
          <a:blip r:embed="rId2"/>
          <a:stretch>
            <a:fillRect/>
          </a:stretch>
        </p:blipFill>
        <p:spPr>
          <a:xfrm>
            <a:off x="763524" y="5801868"/>
            <a:ext cx="246888" cy="246888"/>
          </a:xfrm>
          <a:prstGeom prst="rect">
            <a:avLst/>
          </a:prstGeom>
        </p:spPr>
      </p:pic>
      <p:sp>
        <p:nvSpPr>
          <p:cNvPr id="38" name="TextBox 37"/>
          <p:cNvSpPr txBox="1"/>
          <p:nvPr/>
        </p:nvSpPr>
        <p:spPr>
          <a:xfrm>
            <a:off x="1252728" y="5605272"/>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Вам показывают заголовок «95% ИИ-пилотов провалились». Какой первый вопрос вы задаёте этой цифре?</a:t>
            </a:r>
          </a:p>
        </p:txBody>
      </p:sp>
      <p:sp>
        <p:nvSpPr>
          <p:cNvPr id="39" name="TextBox 3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Deloitte — 2026 Global Technology Leadership Study</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Sber — вакансия «Лидер AI PDLC»</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60% исследовали → 20% пилот → 5% успех: это 25% среди дошедших, не «95% провал» </a:t>
            </a:r>
            <a:r>
              <a:rPr sz="936" baseline="30000" b="0" i="1">
                <a:latin typeface="DejaVu Sans"/>
                <a:cs typeface="DejaVu Sans"/>
                <a:ea typeface="DejaVu Sans"/>
                <a:solidFill>
                  <a:srgbClr val="1C7293"/>
                </a:solidFill>
              </a:rPr>
              <a:t>[1]</a:t>
            </a:r>
          </a:p>
        </p:txBody>
      </p:sp>
      <p:sp>
        <p:nvSpPr>
          <p:cNvPr id="3" name="Rounded Rectangle 2"/>
          <p:cNvSpPr/>
          <p:nvPr/>
        </p:nvSpPr>
        <p:spPr>
          <a:xfrm>
            <a:off x="502920" y="1097280"/>
            <a:ext cx="11201400" cy="2880360"/>
          </a:xfrm>
          <a:prstGeom prst="roundRect">
            <a:avLst>
              <a:gd name="adj" fmla="val 10582"/>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mit-funnel.png"/>
          <p:cNvPicPr>
            <a:picLocks noChangeAspect="1"/>
          </p:cNvPicPr>
          <p:nvPr/>
        </p:nvPicPr>
        <p:blipFill>
          <a:blip r:embed="rId2"/>
          <a:stretch>
            <a:fillRect/>
          </a:stretch>
        </p:blipFill>
        <p:spPr>
          <a:xfrm>
            <a:off x="3297040" y="1280160"/>
            <a:ext cx="5613159" cy="2514600"/>
          </a:xfrm>
          <a:prstGeom prst="rect">
            <a:avLst/>
          </a:prstGeom>
        </p:spPr>
      </p:pic>
      <p:sp>
        <p:nvSpPr>
          <p:cNvPr id="5" name="Rounded Rectangle 4"/>
          <p:cNvSpPr/>
          <p:nvPr/>
        </p:nvSpPr>
        <p:spPr>
          <a:xfrm>
            <a:off x="502920" y="41148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4169663"/>
            <a:ext cx="10762488" cy="548640"/>
          </a:xfrm>
          <a:prstGeom prst="rect">
            <a:avLst/>
          </a:prstGeom>
          <a:noFill/>
        </p:spPr>
        <p:txBody>
          <a:bodyPr wrap="square" lIns="0" rIns="0" tIns="0" bIns="0" anchor="ctr">
            <a:spAutoFit/>
          </a:bodyPr>
          <a:lstStyle/>
          <a:p>
            <a:pPr algn="ctr">
              <a:lnSpc>
                <a:spcPct val="120000"/>
              </a:lnSpc>
            </a:pPr>
            <a:r>
              <a:rPr sz="1400" b="1" i="0">
                <a:solidFill>
                  <a:srgbClr val="21295C"/>
                </a:solidFill>
                <a:latin typeface="DejaVu Sans"/>
              </a:rPr>
              <a:t>«95% провал» — заголовок, который не переживает калибровку: успех среди дошедших до пилота — 25%, не 5% </a:t>
            </a:r>
            <a:r>
              <a:rPr sz="728" baseline="30000" b="0" i="1">
                <a:latin typeface="DejaVu Sans"/>
                <a:cs typeface="DejaVu Sans"/>
                <a:ea typeface="DejaVu Sans"/>
                <a:solidFill>
                  <a:srgbClr val="1C7293"/>
                </a:solidFill>
              </a:rPr>
              <a:t>[2, 3]</a:t>
            </a:r>
            <a:r>
              <a:rPr sz="1400" b="1" i="0">
                <a:latin typeface="DejaVu Sans"/>
                <a:cs typeface="DejaVu Sans"/>
                <a:ea typeface="DejaVu Sans"/>
                <a:solidFill>
                  <a:srgbClr val="21295C"/>
                </a:solidFill>
              </a:rPr>
              <a:t>.</a:t>
            </a:r>
          </a:p>
        </p:txBody>
      </p:sp>
      <p:sp>
        <p:nvSpPr>
          <p:cNvPr id="7" name="Rounded Rectangle 6"/>
          <p:cNvSpPr/>
          <p:nvPr/>
        </p:nvSpPr>
        <p:spPr>
          <a:xfrm>
            <a:off x="502920" y="4892040"/>
            <a:ext cx="23317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7-mit-real-source.png"/>
          <p:cNvPicPr>
            <a:picLocks noChangeAspect="1"/>
          </p:cNvPicPr>
          <p:nvPr/>
        </p:nvPicPr>
        <p:blipFill>
          <a:blip r:embed="rId3"/>
          <a:stretch>
            <a:fillRect/>
          </a:stretch>
        </p:blipFill>
        <p:spPr>
          <a:xfrm>
            <a:off x="612648" y="5118839"/>
            <a:ext cx="2112263" cy="963720"/>
          </a:xfrm>
          <a:prstGeom prst="rect">
            <a:avLst/>
          </a:prstGeom>
        </p:spPr>
      </p:pic>
      <p:sp>
        <p:nvSpPr>
          <p:cNvPr id="9" name="Rounded Rectangle 8"/>
          <p:cNvSpPr/>
          <p:nvPr/>
        </p:nvSpPr>
        <p:spPr>
          <a:xfrm>
            <a:off x="2971800" y="4892040"/>
            <a:ext cx="4892040" cy="1417320"/>
          </a:xfrm>
          <a:prstGeom prst="roundRect">
            <a:avLst>
              <a:gd name="adj" fmla="val 21505"/>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82112" y="4983480"/>
            <a:ext cx="4480560" cy="292608"/>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4 вопроса к любой громкой цифре провала ИИ</a:t>
            </a:r>
          </a:p>
        </p:txBody>
      </p:sp>
      <p:sp>
        <p:nvSpPr>
          <p:cNvPr id="11" name="TextBox 10"/>
          <p:cNvSpPr txBox="1"/>
          <p:nvPr/>
        </p:nvSpPr>
        <p:spPr>
          <a:xfrm>
            <a:off x="3182112" y="5321808"/>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1. Каков знаменатель?</a:t>
            </a:r>
          </a:p>
        </p:txBody>
      </p:sp>
      <p:sp>
        <p:nvSpPr>
          <p:cNvPr id="12" name="TextBox 11"/>
          <p:cNvSpPr txBox="1"/>
          <p:nvPr/>
        </p:nvSpPr>
        <p:spPr>
          <a:xfrm>
            <a:off x="3182112" y="5568696"/>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2. Что считается «провалом»?</a:t>
            </a:r>
          </a:p>
        </p:txBody>
      </p:sp>
      <p:sp>
        <p:nvSpPr>
          <p:cNvPr id="13" name="TextBox 12"/>
          <p:cNvSpPr txBox="1"/>
          <p:nvPr/>
        </p:nvSpPr>
        <p:spPr>
          <a:xfrm>
            <a:off x="3182112" y="5815584"/>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3. Каков конфликт интересов автора? </a:t>
            </a:r>
            <a:r>
              <a:rPr sz="520" baseline="30000" b="0" i="1">
                <a:latin typeface="DejaVu Sans"/>
                <a:cs typeface="DejaVu Sans"/>
                <a:ea typeface="DejaVu Sans"/>
                <a:solidFill>
                  <a:srgbClr val="1C7293"/>
                </a:solidFill>
              </a:rPr>
              <a:t>[3]</a:t>
            </a:r>
          </a:p>
        </p:txBody>
      </p:sp>
      <p:sp>
        <p:nvSpPr>
          <p:cNvPr id="14" name="TextBox 13"/>
          <p:cNvSpPr txBox="1"/>
          <p:nvPr/>
        </p:nvSpPr>
        <p:spPr>
          <a:xfrm>
            <a:off x="3182112" y="6062472"/>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4. Прослеживается ли к первоисточнику?</a:t>
            </a:r>
          </a:p>
        </p:txBody>
      </p:sp>
      <p:sp>
        <p:nvSpPr>
          <p:cNvPr id="15" name="Rounded Rectangle 14"/>
          <p:cNvSpPr/>
          <p:nvPr/>
        </p:nvSpPr>
        <p:spPr>
          <a:xfrm>
            <a:off x="8001000" y="4892040"/>
            <a:ext cx="3703320" cy="14173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4983480"/>
            <a:ext cx="3337560" cy="1234440"/>
          </a:xfrm>
          <a:prstGeom prst="rect">
            <a:avLst/>
          </a:prstGeom>
          <a:noFill/>
        </p:spPr>
        <p:txBody>
          <a:bodyPr wrap="square" lIns="0" rIns="0" tIns="0" bIns="0" anchor="ctr">
            <a:spAutoFit/>
          </a:bodyPr>
          <a:lstStyle/>
          <a:p>
            <a:pPr algn="l">
              <a:lnSpc>
                <a:spcPct val="115000"/>
              </a:lnSpc>
            </a:pPr>
            <a:r>
              <a:rPr sz="1050" b="1" i="0">
                <a:solidFill>
                  <a:srgbClr val="21295C"/>
                </a:solidFill>
                <a:latin typeface="DejaVu Sans"/>
              </a:rPr>
              <a:t>BCG AI Radar 2025 (январь 2025, 1803 руководителя): 60% компаний не отслеживают ни одного финансового KPI, привязанного к ценности ИИ </a:t>
            </a:r>
            <a:r>
              <a:rPr sz="546" baseline="30000" b="0" i="1">
                <a:latin typeface="DejaVu Sans"/>
                <a:cs typeface="DejaVu Sans"/>
                <a:ea typeface="DejaVu Sans"/>
                <a:solidFill>
                  <a:srgbClr val="1C7293"/>
                </a:solidFill>
              </a:rPr>
              <a:t>[5]</a:t>
            </a:r>
            <a:r>
              <a:rPr sz="1050" b="1" i="0">
                <a:latin typeface="DejaVu Sans"/>
                <a:cs typeface="DejaVu Sans"/>
                <a:ea typeface="DejaVu Sans"/>
                <a:solidFill>
                  <a:srgbClr val="21295C"/>
                </a:solidFill>
              </a:rPr>
              <a:t>.</a:t>
            </a:r>
          </a:p>
        </p:txBody>
      </p:sp>
      <p:sp>
        <p:nvSpPr>
          <p:cNvPr id="17" name="TextBox 1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MIT NANDA — «The GenAI Divide» (июль 2025, v0.1)</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5"/>
              </a:rPr>
              <a:t>Fortune (18 авг. 2025) — медиа-искажение MIT-отчёта</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6"/>
              </a:rPr>
              <a:t>NewMR — Myth #2</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7"/>
              </a:rPr>
              <a:t>Gartner (7 апр. 2026, 782 I&amp;O-лидеров)</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8"/>
              </a:rPr>
              <a:t>BCG AI Radar 2025 (янв. 2025)</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«Автономный» магазин: 700 из 1000 транзакций требовали ручной проверки против цели 50</a:t>
            </a:r>
          </a:p>
        </p:txBody>
      </p:sp>
      <p:sp>
        <p:nvSpPr>
          <p:cNvPr id="3" name="Rounded Rectangle 2"/>
          <p:cNvSpPr/>
          <p:nvPr/>
        </p:nvSpPr>
        <p:spPr>
          <a:xfrm>
            <a:off x="502920" y="1371600"/>
            <a:ext cx="3063240" cy="1691640"/>
          </a:xfrm>
          <a:prstGeom prst="roundRect">
            <a:avLst>
              <a:gd name="adj" fmla="val 1801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840959" y="1463040"/>
            <a:ext cx="2387160" cy="1508760"/>
          </a:xfrm>
          <a:prstGeom prst="rect">
            <a:avLst/>
          </a:prstGeom>
        </p:spPr>
      </p:pic>
      <p:sp>
        <p:nvSpPr>
          <p:cNvPr id="5" name="Rounded Rectangle 4"/>
          <p:cNvSpPr/>
          <p:nvPr/>
        </p:nvSpPr>
        <p:spPr>
          <a:xfrm>
            <a:off x="3749039" y="1371600"/>
            <a:ext cx="3246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jwo.png"/>
          <p:cNvPicPr>
            <a:picLocks noChangeAspect="1"/>
          </p:cNvPicPr>
          <p:nvPr/>
        </p:nvPicPr>
        <p:blipFill>
          <a:blip r:embed="rId3"/>
          <a:stretch>
            <a:fillRect/>
          </a:stretch>
        </p:blipFill>
        <p:spPr>
          <a:xfrm>
            <a:off x="4260622" y="1508760"/>
            <a:ext cx="2222955" cy="1417320"/>
          </a:xfrm>
          <a:prstGeom prst="rect">
            <a:avLst/>
          </a:prstGeom>
        </p:spPr>
      </p:pic>
      <p:sp>
        <p:nvSpPr>
          <p:cNvPr id="7" name="Rounded Rectangle 6"/>
          <p:cNvSpPr/>
          <p:nvPr/>
        </p:nvSpPr>
        <p:spPr>
          <a:xfrm>
            <a:off x="7178040" y="1371600"/>
            <a:ext cx="45262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1481328"/>
            <a:ext cx="4069080" cy="1508760"/>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Just Walk Out (Amazon), с 2018: 700/1000 транзакций — ручная проверка (14× выше цели 50/1000) </a:t>
            </a:r>
            <a:r>
              <a:rPr sz="598" baseline="30000" b="0" i="1">
                <a:latin typeface="DejaVu Sans"/>
                <a:cs typeface="DejaVu Sans"/>
                <a:ea typeface="DejaVu Sans"/>
                <a:solidFill>
                  <a:srgbClr val="1C7293"/>
                </a:solidFill>
              </a:rPr>
              <a:t>[1]</a:t>
            </a:r>
            <a:r>
              <a:rPr sz="1150" b="1" i="0">
                <a:latin typeface="DejaVu Sans"/>
                <a:cs typeface="DejaVu Sans"/>
                <a:ea typeface="DejaVu Sans"/>
                <a:solidFill>
                  <a:srgbClr val="21295C"/>
                </a:solidFill>
              </a:rPr>
              <a:t>. 6 лет маркетинга «автономный ИИ» без раскрытия масштаба труда (скрытая человеческая стоимость)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a:t>
            </a:r>
          </a:p>
        </p:txBody>
      </p:sp>
      <p:sp>
        <p:nvSpPr>
          <p:cNvPr id="9" name="Rounded Rectangle 8"/>
          <p:cNvSpPr/>
          <p:nvPr/>
        </p:nvSpPr>
        <p:spPr>
          <a:xfrm>
            <a:off x="502920" y="3337560"/>
            <a:ext cx="11201400" cy="384048"/>
          </a:xfrm>
          <a:prstGeom prst="roundRect">
            <a:avLst>
              <a:gd name="adj" fmla="val 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337560"/>
            <a:ext cx="11201400" cy="384048"/>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Фаза × что ИИ меняет × что остаётся из классики</a:t>
            </a:r>
          </a:p>
        </p:txBody>
      </p:sp>
      <p:sp>
        <p:nvSpPr>
          <p:cNvPr id="11" name="Rounded Rectangle 10"/>
          <p:cNvSpPr/>
          <p:nvPr/>
        </p:nvSpPr>
        <p:spPr>
          <a:xfrm>
            <a:off x="5212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Исследование</a:t>
            </a:r>
          </a:p>
        </p:txBody>
      </p:sp>
      <p:sp>
        <p:nvSpPr>
          <p:cNvPr id="13" name="TextBox 12"/>
          <p:cNvSpPr txBox="1"/>
          <p:nvPr/>
        </p:nvSpPr>
        <p:spPr>
          <a:xfrm>
            <a:off x="5760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синтез, кабинет.</a:t>
            </a:r>
          </a:p>
        </p:txBody>
      </p:sp>
      <p:sp>
        <p:nvSpPr>
          <p:cNvPr id="14" name="TextBox 13"/>
          <p:cNvSpPr txBox="1"/>
          <p:nvPr/>
        </p:nvSpPr>
        <p:spPr>
          <a:xfrm>
            <a:off x="5760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интервью</a:t>
            </a:r>
          </a:p>
        </p:txBody>
      </p:sp>
      <p:sp>
        <p:nvSpPr>
          <p:cNvPr id="15" name="Rounded Rectangle 14"/>
          <p:cNvSpPr/>
          <p:nvPr/>
        </p:nvSpPr>
        <p:spPr>
          <a:xfrm>
            <a:off x="23881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Дизайн</a:t>
            </a:r>
          </a:p>
        </p:txBody>
      </p:sp>
      <p:sp>
        <p:nvSpPr>
          <p:cNvPr id="17" name="TextBox 16"/>
          <p:cNvSpPr txBox="1"/>
          <p:nvPr/>
        </p:nvSpPr>
        <p:spPr>
          <a:xfrm>
            <a:off x="24429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генерация</a:t>
            </a:r>
          </a:p>
        </p:txBody>
      </p:sp>
      <p:sp>
        <p:nvSpPr>
          <p:cNvPr id="18" name="TextBox 17"/>
          <p:cNvSpPr txBox="1"/>
          <p:nvPr/>
        </p:nvSpPr>
        <p:spPr>
          <a:xfrm>
            <a:off x="24429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требов. безоп.</a:t>
            </a:r>
          </a:p>
        </p:txBody>
      </p:sp>
      <p:sp>
        <p:nvSpPr>
          <p:cNvPr id="19" name="Rounded Rectangle 18"/>
          <p:cNvSpPr/>
          <p:nvPr/>
        </p:nvSpPr>
        <p:spPr>
          <a:xfrm>
            <a:off x="42550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098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Сборка/запуск</a:t>
            </a:r>
          </a:p>
        </p:txBody>
      </p:sp>
      <p:sp>
        <p:nvSpPr>
          <p:cNvPr id="21" name="TextBox 20"/>
          <p:cNvSpPr txBox="1"/>
          <p:nvPr/>
        </p:nvSpPr>
        <p:spPr>
          <a:xfrm>
            <a:off x="43098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код ≈ бесплатно</a:t>
            </a:r>
          </a:p>
        </p:txBody>
      </p:sp>
      <p:sp>
        <p:nvSpPr>
          <p:cNvPr id="22" name="TextBox 21"/>
          <p:cNvSpPr txBox="1"/>
          <p:nvPr/>
        </p:nvSpPr>
        <p:spPr>
          <a:xfrm>
            <a:off x="43098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ревью, kill-гейт</a:t>
            </a:r>
          </a:p>
        </p:txBody>
      </p:sp>
      <p:sp>
        <p:nvSpPr>
          <p:cNvPr id="23" name="Rounded Rectangle 22"/>
          <p:cNvSpPr/>
          <p:nvPr/>
        </p:nvSpPr>
        <p:spPr>
          <a:xfrm>
            <a:off x="61219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67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Измерение</a:t>
            </a:r>
          </a:p>
        </p:txBody>
      </p:sp>
      <p:sp>
        <p:nvSpPr>
          <p:cNvPr id="25" name="TextBox 24"/>
          <p:cNvSpPr txBox="1"/>
          <p:nvPr/>
        </p:nvSpPr>
        <p:spPr>
          <a:xfrm>
            <a:off x="61767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оценки (evals)</a:t>
            </a:r>
          </a:p>
        </p:txBody>
      </p:sp>
      <p:sp>
        <p:nvSpPr>
          <p:cNvPr id="26" name="TextBox 25"/>
          <p:cNvSpPr txBox="1"/>
          <p:nvPr/>
        </p:nvSpPr>
        <p:spPr>
          <a:xfrm>
            <a:off x="61767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рандомизация</a:t>
            </a:r>
          </a:p>
        </p:txBody>
      </p:sp>
      <p:sp>
        <p:nvSpPr>
          <p:cNvPr id="27" name="Rounded Rectangle 26"/>
          <p:cNvSpPr/>
          <p:nvPr/>
        </p:nvSpPr>
        <p:spPr>
          <a:xfrm>
            <a:off x="79888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36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Поддержка</a:t>
            </a:r>
          </a:p>
        </p:txBody>
      </p:sp>
      <p:sp>
        <p:nvSpPr>
          <p:cNvPr id="29" name="TextBox 28"/>
          <p:cNvSpPr txBox="1"/>
          <p:nvPr/>
        </p:nvSpPr>
        <p:spPr>
          <a:xfrm>
            <a:off x="80436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трейсинг</a:t>
            </a:r>
          </a:p>
        </p:txBody>
      </p:sp>
      <p:sp>
        <p:nvSpPr>
          <p:cNvPr id="30" name="TextBox 29"/>
          <p:cNvSpPr txBox="1"/>
          <p:nvPr/>
        </p:nvSpPr>
        <p:spPr>
          <a:xfrm>
            <a:off x="80436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эскалация</a:t>
            </a:r>
          </a:p>
        </p:txBody>
      </p:sp>
      <p:sp>
        <p:nvSpPr>
          <p:cNvPr id="31" name="Rounded Rectangle 30"/>
          <p:cNvSpPr/>
          <p:nvPr/>
        </p:nvSpPr>
        <p:spPr>
          <a:xfrm>
            <a:off x="98557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05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Управление</a:t>
            </a:r>
          </a:p>
        </p:txBody>
      </p:sp>
      <p:sp>
        <p:nvSpPr>
          <p:cNvPr id="33" name="TextBox 32"/>
          <p:cNvSpPr txBox="1"/>
          <p:nvPr/>
        </p:nvSpPr>
        <p:spPr>
          <a:xfrm>
            <a:off x="99105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операц. модель</a:t>
            </a:r>
          </a:p>
        </p:txBody>
      </p:sp>
      <p:sp>
        <p:nvSpPr>
          <p:cNvPr id="34" name="TextBox 33"/>
          <p:cNvSpPr txBox="1"/>
          <p:nvPr/>
        </p:nvSpPr>
        <p:spPr>
          <a:xfrm>
            <a:off x="99105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стоим./запрос</a:t>
            </a:r>
          </a:p>
        </p:txBody>
      </p:sp>
      <p:sp>
        <p:nvSpPr>
          <p:cNvPr id="35" name="TextBox 3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Just Walk Out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Just Walk Out</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Oval 2"/>
          <p:cNvSpPr/>
          <p:nvPr/>
        </p:nvSpPr>
        <p:spPr>
          <a:xfrm>
            <a:off x="9281160" y="2240279"/>
            <a:ext cx="1097280" cy="1097280"/>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gold.png"/>
          <p:cNvPicPr>
            <a:picLocks noChangeAspect="1"/>
          </p:cNvPicPr>
          <p:nvPr/>
        </p:nvPicPr>
        <p:blipFill>
          <a:blip r:embed="rId2"/>
          <a:stretch>
            <a:fillRect/>
          </a:stretch>
        </p:blipFill>
        <p:spPr>
          <a:xfrm>
            <a:off x="9464040" y="2423160"/>
            <a:ext cx="731520" cy="731520"/>
          </a:xfrm>
          <a:prstGeom prst="rect">
            <a:avLst/>
          </a:prstGeom>
        </p:spPr>
      </p:pic>
      <p:cxnSp>
        <p:nvCxnSpPr>
          <p:cNvPr id="5" name="Connector 4"/>
          <p:cNvCxnSpPr/>
          <p:nvPr/>
        </p:nvCxnSpPr>
        <p:spPr>
          <a:xfrm>
            <a:off x="9829800" y="1307591"/>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0" y="886967"/>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Исследование</a:t>
            </a:r>
          </a:p>
        </p:txBody>
      </p:sp>
      <p:cxnSp>
        <p:nvCxnSpPr>
          <p:cNvPr id="7" name="Connector 6"/>
          <p:cNvCxnSpPr/>
          <p:nvPr/>
        </p:nvCxnSpPr>
        <p:spPr>
          <a:xfrm flipH="1">
            <a:off x="10463314" y="2048255"/>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680273" y="1773936"/>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Дизайн</a:t>
            </a:r>
          </a:p>
        </p:txBody>
      </p:sp>
      <p:cxnSp>
        <p:nvCxnSpPr>
          <p:cNvPr id="9" name="Connector 8"/>
          <p:cNvCxnSpPr/>
          <p:nvPr/>
        </p:nvCxnSpPr>
        <p:spPr>
          <a:xfrm flipH="1" flipV="1">
            <a:off x="10463314" y="3154679"/>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680273" y="3547871"/>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Сборка</a:t>
            </a:r>
          </a:p>
        </p:txBody>
      </p:sp>
      <p:cxnSp>
        <p:nvCxnSpPr>
          <p:cNvPr id="11" name="Connector 10"/>
          <p:cNvCxnSpPr/>
          <p:nvPr/>
        </p:nvCxnSpPr>
        <p:spPr>
          <a:xfrm flipV="1">
            <a:off x="9829800" y="3520439"/>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0" y="4434840"/>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Измерение</a:t>
            </a:r>
          </a:p>
        </p:txBody>
      </p:sp>
      <p:cxnSp>
        <p:nvCxnSpPr>
          <p:cNvPr id="13" name="Connector 12"/>
          <p:cNvCxnSpPr/>
          <p:nvPr/>
        </p:nvCxnSpPr>
        <p:spPr>
          <a:xfrm flipV="1">
            <a:off x="8546932" y="3154679"/>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07726" y="3547871"/>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Поддержка</a:t>
            </a:r>
          </a:p>
        </p:txBody>
      </p:sp>
      <p:cxnSp>
        <p:nvCxnSpPr>
          <p:cNvPr id="15" name="Connector 14"/>
          <p:cNvCxnSpPr/>
          <p:nvPr/>
        </p:nvCxnSpPr>
        <p:spPr>
          <a:xfrm>
            <a:off x="8546932" y="2048255"/>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07726" y="1773935"/>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Управление</a:t>
            </a:r>
          </a:p>
        </p:txBody>
      </p:sp>
      <p:sp>
        <p:nvSpPr>
          <p:cNvPr id="17" name="TextBox 16"/>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18" name="TextBox 17"/>
          <p:cNvSpPr txBox="1"/>
          <p:nvPr/>
        </p:nvSpPr>
        <p:spPr>
          <a:xfrm>
            <a:off x="685800" y="2395728"/>
            <a:ext cx="6675120" cy="1600200"/>
          </a:xfrm>
          <a:prstGeom prst="rect">
            <a:avLst/>
          </a:prstGeom>
          <a:noFill/>
        </p:spPr>
        <p:txBody>
          <a:bodyPr wrap="square" lIns="0" rIns="0" tIns="0" bIns="0" anchor="t">
            <a:spAutoFit/>
          </a:bodyPr>
          <a:lstStyle/>
          <a:p>
            <a:pPr algn="l">
              <a:lnSpc>
                <a:spcPct val="112000"/>
              </a:lnSpc>
            </a:pPr>
            <a:r>
              <a:rPr sz="2600" b="1" i="0">
                <a:solidFill>
                  <a:srgbClr val="21295C"/>
                </a:solidFill>
                <a:latin typeface="DejaVu Sans"/>
              </a:rPr>
              <a:t>Обобщение — аппарат суждения</a:t>
            </a:r>
          </a:p>
          <a:p>
            <a:pPr algn="l">
              <a:lnSpc>
                <a:spcPct val="112000"/>
              </a:lnSpc>
            </a:pPr>
            <a:r>
              <a:rPr sz="2600" b="1" i="0">
                <a:solidFill>
                  <a:srgbClr val="21295C"/>
                </a:solidFill>
                <a:latin typeface="DejaVu Sans"/>
              </a:rPr>
              <a:t>из шести пройденных фаз</a:t>
            </a:r>
          </a:p>
        </p:txBody>
      </p:sp>
      <p:sp>
        <p:nvSpPr>
          <p:cNvPr id="19" name="Rounded Rectangle 18"/>
          <p:cNvSpPr/>
          <p:nvPr/>
        </p:nvSpPr>
        <p:spPr>
          <a:xfrm>
            <a:off x="713232" y="3858768"/>
            <a:ext cx="406908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1 матрица · 3 оси · 8 пунктов</a:t>
            </a:r>
          </a:p>
        </p:txBody>
      </p:sp>
      <p:sp>
        <p:nvSpPr>
          <p:cNvPr id="20" name="TextBox 19"/>
          <p:cNvSpPr txBox="1"/>
          <p:nvPr/>
        </p:nvSpPr>
        <p:spPr>
          <a:xfrm>
            <a:off x="713232" y="4407408"/>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не появляется ничего нового — появляется способ применить уже разобранное к случаю, которого ещё не было в этой лекции.</a:t>
            </a:r>
          </a:p>
        </p:txBody>
      </p:sp>
      <p:sp>
        <p:nvSpPr>
          <p:cNvPr id="21" name="Rounded Rectangle 20"/>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23" name="TextBox 22"/>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24" name="Rounded Rectangle 23"/>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26" name="TextBox 25"/>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27" name="Rounded Rectangle 26"/>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29" name="TextBox 28"/>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0" name="Rounded Rectangle 29"/>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2" name="TextBox 31"/>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33" name="Rounded Rectangle 32"/>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35" name="TextBox 34"/>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36" name="Rounded Rectangle 35"/>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38" name="TextBox 37"/>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39" name="Rounded Rectangle 38"/>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1" name="TextBox 40"/>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2" name="Rounded Rectangle 41"/>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44" name="TextBox 43"/>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6916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5087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249424" y="896112"/>
            <a:ext cx="23774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40864" y="896112"/>
            <a:ext cx="21945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Дисциплина (артефакт)</a:t>
            </a:r>
          </a:p>
        </p:txBody>
      </p:sp>
      <p:sp>
        <p:nvSpPr>
          <p:cNvPr id="7" name="Rounded Rectangle 6"/>
          <p:cNvSpPr/>
          <p:nvPr/>
        </p:nvSpPr>
        <p:spPr>
          <a:xfrm>
            <a:off x="4681728" y="896112"/>
            <a:ext cx="2157984"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73168" y="896112"/>
            <a:ext cx="1975103"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ИИ удешевил</a:t>
            </a:r>
          </a:p>
        </p:txBody>
      </p:sp>
      <p:sp>
        <p:nvSpPr>
          <p:cNvPr id="9" name="Rounded Rectangle 8"/>
          <p:cNvSpPr/>
          <p:nvPr/>
        </p:nvSpPr>
        <p:spPr>
          <a:xfrm>
            <a:off x="6894576" y="896112"/>
            <a:ext cx="23774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86016" y="896112"/>
            <a:ext cx="21945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326880" y="896112"/>
            <a:ext cx="237744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19" y="896112"/>
            <a:ext cx="2194560"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490472"/>
            <a:ext cx="274320" cy="274320"/>
          </a:xfrm>
          <a:prstGeom prst="rect">
            <a:avLst/>
          </a:prstGeom>
        </p:spPr>
      </p:pic>
      <p:sp>
        <p:nvSpPr>
          <p:cNvPr id="15" name="TextBox 14"/>
          <p:cNvSpPr txBox="1"/>
          <p:nvPr/>
        </p:nvSpPr>
        <p:spPr>
          <a:xfrm>
            <a:off x="978408" y="1371600"/>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Исследование</a:t>
            </a:r>
          </a:p>
        </p:txBody>
      </p:sp>
      <p:sp>
        <p:nvSpPr>
          <p:cNvPr id="16" name="Rounded Rectangle 15"/>
          <p:cNvSpPr/>
          <p:nvPr/>
        </p:nvSpPr>
        <p:spPr>
          <a:xfrm>
            <a:off x="2249424" y="1325880"/>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7440"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Customer Development и Mom Test: фальсифицируемая гипотеза</a:t>
            </a:r>
          </a:p>
        </p:txBody>
      </p:sp>
      <p:sp>
        <p:nvSpPr>
          <p:cNvPr id="18" name="Rounded Rectangle 17"/>
          <p:cNvSpPr/>
          <p:nvPr/>
        </p:nvSpPr>
        <p:spPr>
          <a:xfrm>
            <a:off x="4681728" y="1325880"/>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09744" y="1371600"/>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Кабинетный поиск; синтез сотен интервью в кластеры</a:t>
            </a:r>
          </a:p>
        </p:txBody>
      </p:sp>
      <p:sp>
        <p:nvSpPr>
          <p:cNvPr id="20" name="Rounded Rectangle 19"/>
          <p:cNvSpPr/>
          <p:nvPr/>
        </p:nvSpPr>
        <p:spPr>
          <a:xfrm>
            <a:off x="6894576" y="1325880"/>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Угодливость: синтетический источник не производит «нет»</a:t>
            </a:r>
          </a:p>
        </p:txBody>
      </p:sp>
      <p:sp>
        <p:nvSpPr>
          <p:cNvPr id="22" name="Rounded Rectangle 21"/>
          <p:cNvSpPr/>
          <p:nvPr/>
        </p:nvSpPr>
        <p:spPr>
          <a:xfrm>
            <a:off x="9326880" y="1325880"/>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54896"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1975103"/>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139696"/>
            <a:ext cx="274320" cy="274320"/>
          </a:xfrm>
          <a:prstGeom prst="rect">
            <a:avLst/>
          </a:prstGeom>
        </p:spPr>
      </p:pic>
      <p:sp>
        <p:nvSpPr>
          <p:cNvPr id="26" name="TextBox 25"/>
          <p:cNvSpPr txBox="1"/>
          <p:nvPr/>
        </p:nvSpPr>
        <p:spPr>
          <a:xfrm>
            <a:off x="978408" y="2020823"/>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Дизайн</a:t>
            </a:r>
          </a:p>
        </p:txBody>
      </p:sp>
      <p:sp>
        <p:nvSpPr>
          <p:cNvPr id="27" name="Rounded Rectangle 26"/>
          <p:cNvSpPr/>
          <p:nvPr/>
        </p:nvSpPr>
        <p:spPr>
          <a:xfrm>
            <a:off x="2249424" y="1975103"/>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77440"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Double Diamond, эвристики Нильсена, дизайн-система</a:t>
            </a:r>
          </a:p>
        </p:txBody>
      </p:sp>
      <p:sp>
        <p:nvSpPr>
          <p:cNvPr id="29" name="Rounded Rectangle 28"/>
          <p:cNvSpPr/>
          <p:nvPr/>
        </p:nvSpPr>
        <p:spPr>
          <a:xfrm>
            <a:off x="4681728" y="1975103"/>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9744" y="2020823"/>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Черновик экрана: день → минуты</a:t>
            </a:r>
          </a:p>
        </p:txBody>
      </p:sp>
      <p:sp>
        <p:nvSpPr>
          <p:cNvPr id="31" name="Rounded Rectangle 30"/>
          <p:cNvSpPr/>
          <p:nvPr/>
        </p:nvSpPr>
        <p:spPr>
          <a:xfrm>
            <a:off x="6894576" y="1975103"/>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22592"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Однообразие решений; пробелы доступности — 29,0% экранов проходят WCAG</a:t>
            </a:r>
          </a:p>
        </p:txBody>
      </p:sp>
      <p:sp>
        <p:nvSpPr>
          <p:cNvPr id="33" name="Rounded Rectangle 32"/>
          <p:cNvSpPr/>
          <p:nvPr/>
        </p:nvSpPr>
        <p:spPr>
          <a:xfrm>
            <a:off x="9326880" y="1975103"/>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54896"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Сведение к контексту бренда и аудит безопасности до MVP</a:t>
            </a:r>
          </a:p>
        </p:txBody>
      </p:sp>
      <p:sp>
        <p:nvSpPr>
          <p:cNvPr id="35" name="Rounded Rectangle 34"/>
          <p:cNvSpPr/>
          <p:nvPr/>
        </p:nvSpPr>
        <p:spPr>
          <a:xfrm>
            <a:off x="502920" y="2624327"/>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788920"/>
            <a:ext cx="274320" cy="274320"/>
          </a:xfrm>
          <a:prstGeom prst="rect">
            <a:avLst/>
          </a:prstGeom>
        </p:spPr>
      </p:pic>
      <p:sp>
        <p:nvSpPr>
          <p:cNvPr id="37" name="TextBox 36"/>
          <p:cNvSpPr txBox="1"/>
          <p:nvPr/>
        </p:nvSpPr>
        <p:spPr>
          <a:xfrm>
            <a:off x="978408" y="2670047"/>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Сборка и запуск</a:t>
            </a:r>
          </a:p>
        </p:txBody>
      </p:sp>
      <p:sp>
        <p:nvSpPr>
          <p:cNvPr id="38" name="Rounded Rectangle 37"/>
          <p:cNvSpPr/>
          <p:nvPr/>
        </p:nvSpPr>
        <p:spPr>
          <a:xfrm>
            <a:off x="2249424" y="2624327"/>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377440"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MVP, гейт «продолжать/убить», канареечный запуск</a:t>
            </a:r>
          </a:p>
        </p:txBody>
      </p:sp>
      <p:sp>
        <p:nvSpPr>
          <p:cNvPr id="40" name="Rounded Rectangle 39"/>
          <p:cNvSpPr/>
          <p:nvPr/>
        </p:nvSpPr>
        <p:spPr>
          <a:xfrm>
            <a:off x="4681728" y="2624327"/>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09744" y="2670047"/>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Сама сборка: шаблонный и связующий код</a:t>
            </a:r>
          </a:p>
        </p:txBody>
      </p:sp>
      <p:sp>
        <p:nvSpPr>
          <p:cNvPr id="42" name="Rounded Rectangle 41"/>
          <p:cNvSpPr/>
          <p:nvPr/>
        </p:nvSpPr>
        <p:spPr>
          <a:xfrm>
            <a:off x="6894576" y="2624327"/>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22592"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Пропуск гейта оценки и поэтапной раскатки — ошибка сразу на всю аудиторию</a:t>
            </a:r>
          </a:p>
        </p:txBody>
      </p:sp>
      <p:sp>
        <p:nvSpPr>
          <p:cNvPr id="44" name="Rounded Rectangle 43"/>
          <p:cNvSpPr/>
          <p:nvPr/>
        </p:nvSpPr>
        <p:spPr>
          <a:xfrm>
            <a:off x="9326880" y="2624327"/>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54896"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Спецификация намерения на входе; решение о темпе и об остановке</a:t>
            </a:r>
          </a:p>
        </p:txBody>
      </p:sp>
      <p:sp>
        <p:nvSpPr>
          <p:cNvPr id="46" name="Rounded Rectangle 45"/>
          <p:cNvSpPr/>
          <p:nvPr/>
        </p:nvSpPr>
        <p:spPr>
          <a:xfrm>
            <a:off x="502920" y="3273551"/>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438144"/>
            <a:ext cx="274320" cy="274320"/>
          </a:xfrm>
          <a:prstGeom prst="rect">
            <a:avLst/>
          </a:prstGeom>
        </p:spPr>
      </p:pic>
      <p:sp>
        <p:nvSpPr>
          <p:cNvPr id="48" name="TextBox 47"/>
          <p:cNvSpPr txBox="1"/>
          <p:nvPr/>
        </p:nvSpPr>
        <p:spPr>
          <a:xfrm>
            <a:off x="978408" y="3319271"/>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Измерение</a:t>
            </a:r>
          </a:p>
        </p:txBody>
      </p:sp>
      <p:sp>
        <p:nvSpPr>
          <p:cNvPr id="49" name="Rounded Rectangle 48"/>
          <p:cNvSpPr/>
          <p:nvPr/>
        </p:nvSpPr>
        <p:spPr>
          <a:xfrm>
            <a:off x="2249424" y="3273551"/>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377440"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Контролируемый эксперимент, OEC, guardrail-метрики</a:t>
            </a:r>
          </a:p>
        </p:txBody>
      </p:sp>
      <p:sp>
        <p:nvSpPr>
          <p:cNvPr id="51" name="Rounded Rectangle 50"/>
          <p:cNvSpPr/>
          <p:nvPr/>
        </p:nvSpPr>
        <p:spPr>
          <a:xfrm>
            <a:off x="4681728" y="3273551"/>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09744" y="3319271"/>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Оценки в масштабе; дешёвый первый проход</a:t>
            </a:r>
          </a:p>
        </p:txBody>
      </p:sp>
      <p:sp>
        <p:nvSpPr>
          <p:cNvPr id="53" name="Rounded Rectangle 52"/>
          <p:cNvSpPr/>
          <p:nvPr/>
        </p:nvSpPr>
        <p:spPr>
          <a:xfrm>
            <a:off x="6894576" y="3273551"/>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022592"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Взломанная прокси без guardrail; бенчмарк не переносится на задачу</a:t>
            </a:r>
          </a:p>
        </p:txBody>
      </p:sp>
      <p:sp>
        <p:nvSpPr>
          <p:cNvPr id="55" name="Rounded Rectangle 54"/>
          <p:cNvSpPr/>
          <p:nvPr/>
        </p:nvSpPr>
        <p:spPr>
          <a:xfrm>
            <a:off x="9326880" y="3273551"/>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454896"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OEC и guardrail названы до теста; чтение результата через ловушки</a:t>
            </a:r>
          </a:p>
        </p:txBody>
      </p:sp>
      <p:sp>
        <p:nvSpPr>
          <p:cNvPr id="57" name="Rounded Rectangle 56"/>
          <p:cNvSpPr/>
          <p:nvPr/>
        </p:nvSpPr>
        <p:spPr>
          <a:xfrm>
            <a:off x="502920" y="3922775"/>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087367"/>
            <a:ext cx="274320" cy="274320"/>
          </a:xfrm>
          <a:prstGeom prst="rect">
            <a:avLst/>
          </a:prstGeom>
        </p:spPr>
      </p:pic>
      <p:sp>
        <p:nvSpPr>
          <p:cNvPr id="59" name="TextBox 58"/>
          <p:cNvSpPr txBox="1"/>
          <p:nvPr/>
        </p:nvSpPr>
        <p:spPr>
          <a:xfrm>
            <a:off x="978408" y="3968495"/>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Поддержка</a:t>
            </a:r>
          </a:p>
        </p:txBody>
      </p:sp>
      <p:sp>
        <p:nvSpPr>
          <p:cNvPr id="60" name="Rounded Rectangle 59"/>
          <p:cNvSpPr/>
          <p:nvPr/>
        </p:nvSpPr>
        <p:spPr>
          <a:xfrm>
            <a:off x="2249424" y="3922775"/>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377440"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SRE: SLI, SLO, бюджет ошибок, эскалация к человеку</a:t>
            </a:r>
          </a:p>
        </p:txBody>
      </p:sp>
      <p:sp>
        <p:nvSpPr>
          <p:cNvPr id="62" name="Rounded Rectangle 61"/>
          <p:cNvSpPr/>
          <p:nvPr/>
        </p:nvSpPr>
        <p:spPr>
          <a:xfrm>
            <a:off x="4681728" y="3922775"/>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09744" y="3968495"/>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Скорость наблюдения: трассировка и дашборды</a:t>
            </a:r>
          </a:p>
        </p:txBody>
      </p:sp>
      <p:sp>
        <p:nvSpPr>
          <p:cNvPr id="64" name="Rounded Rectangle 63"/>
          <p:cNvSpPr/>
          <p:nvPr/>
        </p:nvSpPr>
        <p:spPr>
          <a:xfrm>
            <a:off x="6894576" y="3922775"/>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22592"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Тихий дрейф маскируется агрегатом; поток ответов без гарантии эскалации</a:t>
            </a:r>
          </a:p>
        </p:txBody>
      </p:sp>
      <p:sp>
        <p:nvSpPr>
          <p:cNvPr id="66" name="Rounded Rectangle 65"/>
          <p:cNvSpPr/>
          <p:nvPr/>
        </p:nvSpPr>
        <p:spPr>
          <a:xfrm>
            <a:off x="9326880" y="3922775"/>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454896"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Владение системной моделью; ответственность за каждый ответ</a:t>
            </a:r>
          </a:p>
        </p:txBody>
      </p:sp>
      <p:sp>
        <p:nvSpPr>
          <p:cNvPr id="68" name="Rounded Rectangle 67"/>
          <p:cNvSpPr/>
          <p:nvPr/>
        </p:nvSpPr>
        <p:spPr>
          <a:xfrm>
            <a:off x="502920" y="4571999"/>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4736591"/>
            <a:ext cx="274320" cy="274320"/>
          </a:xfrm>
          <a:prstGeom prst="rect">
            <a:avLst/>
          </a:prstGeom>
        </p:spPr>
      </p:pic>
      <p:sp>
        <p:nvSpPr>
          <p:cNvPr id="70" name="TextBox 69"/>
          <p:cNvSpPr txBox="1"/>
          <p:nvPr/>
        </p:nvSpPr>
        <p:spPr>
          <a:xfrm>
            <a:off x="978408" y="4617719"/>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Управление</a:t>
            </a:r>
          </a:p>
        </p:txBody>
      </p:sp>
      <p:sp>
        <p:nvSpPr>
          <p:cNvPr id="71" name="Rounded Rectangle 70"/>
          <p:cNvSpPr/>
          <p:nvPr/>
        </p:nvSpPr>
        <p:spPr>
          <a:xfrm>
            <a:off x="2249424" y="4571999"/>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377440"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Портфельное управление, финансовый показатель с владельцем</a:t>
            </a:r>
          </a:p>
        </p:txBody>
      </p:sp>
      <p:sp>
        <p:nvSpPr>
          <p:cNvPr id="73" name="Rounded Rectangle 72"/>
          <p:cNvSpPr/>
          <p:nvPr/>
        </p:nvSpPr>
        <p:spPr>
          <a:xfrm>
            <a:off x="4681728" y="4571999"/>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09744" y="4617719"/>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Диагностика операционной модели организации</a:t>
            </a:r>
          </a:p>
        </p:txBody>
      </p:sp>
      <p:sp>
        <p:nvSpPr>
          <p:cNvPr id="75" name="Rounded Rectangle 74"/>
          <p:cNvSpPr/>
          <p:nvPr/>
        </p:nvSpPr>
        <p:spPr>
          <a:xfrm>
            <a:off x="6894576" y="4571999"/>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022592"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Статистика без знаменателя: 25% успеха среди дошедших, не 5% «всех»</a:t>
            </a:r>
          </a:p>
        </p:txBody>
      </p:sp>
      <p:sp>
        <p:nvSpPr>
          <p:cNvPr id="77" name="Rounded Rectangle 76"/>
          <p:cNvSpPr/>
          <p:nvPr/>
        </p:nvSpPr>
        <p:spPr>
          <a:xfrm>
            <a:off x="9326880" y="4571999"/>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454896"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Критерий успеха согласован заранее; сравнение со своей базовой линией</a:t>
            </a:r>
          </a:p>
        </p:txBody>
      </p:sp>
      <p:sp>
        <p:nvSpPr>
          <p:cNvPr id="79" name="TextBox 78"/>
          <p:cNvSpPr txBox="1"/>
          <p:nvPr/>
        </p:nvSpPr>
        <p:spPr>
          <a:xfrm>
            <a:off x="502920" y="5266943"/>
            <a:ext cx="11201400" cy="274320"/>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29,0% экранов проходят WCAG — ACM Web4All, 2026 · воронка 60% → 20% → 5% и знаменатель пилотов — MIT NANDA, июль 2025 · 60% компаний без финансового показателя ценности ИИ — BCG AI Radar, январь 2025 (n=1803)</a:t>
            </a:r>
          </a:p>
        </p:txBody>
      </p:sp>
      <p:sp>
        <p:nvSpPr>
          <p:cNvPr id="80" name="Rounded Rectangle 79"/>
          <p:cNvSpPr/>
          <p:nvPr/>
        </p:nvSpPr>
        <p:spPr>
          <a:xfrm>
            <a:off x="502920" y="5596127"/>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22376" y="5650991"/>
            <a:ext cx="10762488" cy="566928"/>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задачи — дальше матрица отвечает по порядку, какую дисциплину держать, какой режим отказа стеречь и где решение не делегируется. Имена инструментов сменяемы; дисциплина, режим отказа и точка человека держатся на характере сложности и цене ошибки фазы.</a:t>
            </a:r>
          </a:p>
        </p:txBody>
      </p:sp>
      <p:sp>
        <p:nvSpPr>
          <p:cNvPr id="82" name="TextBox 8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47120" cy="676656"/>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оси решают режим фазы: без гейта — только при высокой обратимости, низкой стоимости и высокой наблюдаемости</a:t>
            </a:r>
          </a:p>
        </p:txBody>
      </p:sp>
      <p:sp>
        <p:nvSpPr>
          <p:cNvPr id="3" name="Rounded Rectangle 2"/>
          <p:cNvSpPr/>
          <p:nvPr/>
        </p:nvSpPr>
        <p:spPr>
          <a:xfrm>
            <a:off x="502920" y="914400"/>
            <a:ext cx="3611880" cy="1152144"/>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otate-ccw-mid.png"/>
          <p:cNvPicPr>
            <a:picLocks noChangeAspect="1"/>
          </p:cNvPicPr>
          <p:nvPr/>
        </p:nvPicPr>
        <p:blipFill>
          <a:blip r:embed="rId2"/>
          <a:stretch>
            <a:fillRect/>
          </a:stretch>
        </p:blipFill>
        <p:spPr>
          <a:xfrm>
            <a:off x="685800" y="1024128"/>
            <a:ext cx="365760" cy="365760"/>
          </a:xfrm>
          <a:prstGeom prst="rect">
            <a:avLst/>
          </a:prstGeom>
        </p:spPr>
      </p:pic>
      <p:sp>
        <p:nvSpPr>
          <p:cNvPr id="5" name="TextBox 4"/>
          <p:cNvSpPr txBox="1"/>
          <p:nvPr/>
        </p:nvSpPr>
        <p:spPr>
          <a:xfrm>
            <a:off x="1161288" y="1005840"/>
            <a:ext cx="2807208"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DejaVu Sans"/>
              </a:rPr>
              <a:t>Обратимость</a:t>
            </a:r>
          </a:p>
        </p:txBody>
      </p:sp>
      <p:sp>
        <p:nvSpPr>
          <p:cNvPr id="6" name="TextBox 5"/>
          <p:cNvSpPr txBox="1"/>
          <p:nvPr/>
        </p:nvSpPr>
        <p:spPr>
          <a:xfrm>
            <a:off x="70408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Насколько легко откатить последствие, если вывод неверен.</a:t>
            </a:r>
          </a:p>
        </p:txBody>
      </p:sp>
      <p:sp>
        <p:nvSpPr>
          <p:cNvPr id="7" name="Rounded Rectangle 6"/>
          <p:cNvSpPr/>
          <p:nvPr/>
        </p:nvSpPr>
        <p:spPr>
          <a:xfrm>
            <a:off x="4297680" y="914400"/>
            <a:ext cx="3611880" cy="115214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anknote-mid.png"/>
          <p:cNvPicPr>
            <a:picLocks noChangeAspect="1"/>
          </p:cNvPicPr>
          <p:nvPr/>
        </p:nvPicPr>
        <p:blipFill>
          <a:blip r:embed="rId3"/>
          <a:stretch>
            <a:fillRect/>
          </a:stretch>
        </p:blipFill>
        <p:spPr>
          <a:xfrm>
            <a:off x="4480560" y="1024128"/>
            <a:ext cx="365760" cy="365760"/>
          </a:xfrm>
          <a:prstGeom prst="rect">
            <a:avLst/>
          </a:prstGeom>
        </p:spPr>
      </p:pic>
      <p:sp>
        <p:nvSpPr>
          <p:cNvPr id="9" name="TextBox 8"/>
          <p:cNvSpPr txBox="1"/>
          <p:nvPr/>
        </p:nvSpPr>
        <p:spPr>
          <a:xfrm>
            <a:off x="4956048" y="1005840"/>
            <a:ext cx="2807208" cy="365760"/>
          </a:xfrm>
          <a:prstGeom prst="rect">
            <a:avLst/>
          </a:prstGeom>
          <a:noFill/>
        </p:spPr>
        <p:txBody>
          <a:bodyPr wrap="square" lIns="0" rIns="0" tIns="0" bIns="0" anchor="ctr">
            <a:spAutoFit/>
          </a:bodyPr>
          <a:lstStyle/>
          <a:p>
            <a:pPr algn="l">
              <a:lnSpc>
                <a:spcPct val="115000"/>
              </a:lnSpc>
            </a:pPr>
            <a:r>
              <a:rPr sz="1500" b="1" i="0">
                <a:solidFill>
                  <a:srgbClr val="065A82"/>
                </a:solidFill>
                <a:latin typeface="DejaVu Sans"/>
              </a:rPr>
              <a:t>Стоимость ошибки</a:t>
            </a:r>
          </a:p>
        </p:txBody>
      </p:sp>
      <p:sp>
        <p:nvSpPr>
          <p:cNvPr id="10" name="TextBox 9"/>
          <p:cNvSpPr txBox="1"/>
          <p:nvPr/>
        </p:nvSpPr>
        <p:spPr>
          <a:xfrm>
            <a:off x="449884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Во что обойдётся ошибка: деньги, репутация, здоровье, ответственность.</a:t>
            </a:r>
          </a:p>
        </p:txBody>
      </p:sp>
      <p:sp>
        <p:nvSpPr>
          <p:cNvPr id="11" name="Rounded Rectangle 10"/>
          <p:cNvSpPr/>
          <p:nvPr/>
        </p:nvSpPr>
        <p:spPr>
          <a:xfrm>
            <a:off x="8092440" y="914400"/>
            <a:ext cx="3611880" cy="1152144"/>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ye-mid.png"/>
          <p:cNvPicPr>
            <a:picLocks noChangeAspect="1"/>
          </p:cNvPicPr>
          <p:nvPr/>
        </p:nvPicPr>
        <p:blipFill>
          <a:blip r:embed="rId4"/>
          <a:stretch>
            <a:fillRect/>
          </a:stretch>
        </p:blipFill>
        <p:spPr>
          <a:xfrm>
            <a:off x="8275320" y="1024128"/>
            <a:ext cx="365760" cy="365760"/>
          </a:xfrm>
          <a:prstGeom prst="rect">
            <a:avLst/>
          </a:prstGeom>
        </p:spPr>
      </p:pic>
      <p:sp>
        <p:nvSpPr>
          <p:cNvPr id="13" name="TextBox 12"/>
          <p:cNvSpPr txBox="1"/>
          <p:nvPr/>
        </p:nvSpPr>
        <p:spPr>
          <a:xfrm>
            <a:off x="8750808" y="1005840"/>
            <a:ext cx="2807208" cy="365760"/>
          </a:xfrm>
          <a:prstGeom prst="rect">
            <a:avLst/>
          </a:prstGeom>
          <a:noFill/>
        </p:spPr>
        <p:txBody>
          <a:bodyPr wrap="square" lIns="0" rIns="0" tIns="0" bIns="0" anchor="ctr">
            <a:spAutoFit/>
          </a:bodyPr>
          <a:lstStyle/>
          <a:p>
            <a:pPr algn="l">
              <a:lnSpc>
                <a:spcPct val="115000"/>
              </a:lnSpc>
            </a:pPr>
            <a:r>
              <a:rPr sz="1500" b="1" i="0">
                <a:solidFill>
                  <a:srgbClr val="1C7293"/>
                </a:solidFill>
                <a:latin typeface="DejaVu Sans"/>
              </a:rPr>
              <a:t>Наблюдаемость</a:t>
            </a:r>
          </a:p>
        </p:txBody>
      </p:sp>
      <p:sp>
        <p:nvSpPr>
          <p:cNvPr id="14" name="TextBox 13"/>
          <p:cNvSpPr txBox="1"/>
          <p:nvPr/>
        </p:nvSpPr>
        <p:spPr>
          <a:xfrm>
            <a:off x="829360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Насколько быстро узнаем, что вывод неверен, — до того как вред накопится.</a:t>
            </a:r>
          </a:p>
        </p:txBody>
      </p:sp>
      <p:sp>
        <p:nvSpPr>
          <p:cNvPr id="15" name="Rounded Rectangle 14"/>
          <p:cNvSpPr/>
          <p:nvPr/>
        </p:nvSpPr>
        <p:spPr>
          <a:xfrm>
            <a:off x="502920" y="217627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2231136"/>
            <a:ext cx="10762488" cy="676656"/>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AI-first без дополнительного человеческого гейта оправдан только при сочетании высокой обратимости, низкой стоимости ошибки и высокой наблюдаемости одновременно. Любая другая комбинация требует гейта, соразмерного проблемной оси.</a:t>
            </a:r>
          </a:p>
        </p:txBody>
      </p:sp>
      <p:sp>
        <p:nvSpPr>
          <p:cNvPr id="17" name="Rounded Rectangle 16"/>
          <p:cNvSpPr/>
          <p:nvPr/>
        </p:nvSpPr>
        <p:spPr>
          <a:xfrm>
            <a:off x="502920" y="3054096"/>
            <a:ext cx="2340864"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054096"/>
            <a:ext cx="2157984"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Случай</a:t>
            </a:r>
          </a:p>
        </p:txBody>
      </p:sp>
      <p:sp>
        <p:nvSpPr>
          <p:cNvPr id="19" name="Rounded Rectangle 18"/>
          <p:cNvSpPr/>
          <p:nvPr/>
        </p:nvSpPr>
        <p:spPr>
          <a:xfrm>
            <a:off x="2898648" y="3054096"/>
            <a:ext cx="204825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90088" y="3054096"/>
            <a:ext cx="1865376"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Обратимость</a:t>
            </a:r>
          </a:p>
        </p:txBody>
      </p:sp>
      <p:sp>
        <p:nvSpPr>
          <p:cNvPr id="21" name="Rounded Rectangle 20"/>
          <p:cNvSpPr/>
          <p:nvPr/>
        </p:nvSpPr>
        <p:spPr>
          <a:xfrm>
            <a:off x="5001768" y="3054096"/>
            <a:ext cx="213969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3208" y="3054096"/>
            <a:ext cx="1956815"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Стоимость ошибки</a:t>
            </a:r>
          </a:p>
        </p:txBody>
      </p:sp>
      <p:sp>
        <p:nvSpPr>
          <p:cNvPr id="23" name="Rounded Rectangle 22"/>
          <p:cNvSpPr/>
          <p:nvPr/>
        </p:nvSpPr>
        <p:spPr>
          <a:xfrm>
            <a:off x="7196328" y="3054096"/>
            <a:ext cx="213969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87768" y="3054096"/>
            <a:ext cx="1956815"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Наблюдаемость</a:t>
            </a:r>
          </a:p>
        </p:txBody>
      </p:sp>
      <p:sp>
        <p:nvSpPr>
          <p:cNvPr id="25" name="Rounded Rectangle 24"/>
          <p:cNvSpPr/>
          <p:nvPr/>
        </p:nvSpPr>
        <p:spPr>
          <a:xfrm>
            <a:off x="9390888" y="3054096"/>
            <a:ext cx="2313432" cy="36576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82328" y="3054096"/>
            <a:ext cx="2130551" cy="365760"/>
          </a:xfrm>
          <a:prstGeom prst="rect">
            <a:avLst/>
          </a:prstGeom>
          <a:noFill/>
        </p:spPr>
        <p:txBody>
          <a:bodyPr wrap="square" lIns="0" rIns="0" tIns="0" bIns="0" anchor="ctr">
            <a:spAutoFit/>
          </a:bodyPr>
          <a:lstStyle/>
          <a:p>
            <a:pPr algn="ctr">
              <a:lnSpc>
                <a:spcPct val="98000"/>
              </a:lnSpc>
            </a:pPr>
            <a:r>
              <a:rPr sz="1050" b="1" i="0">
                <a:solidFill>
                  <a:srgbClr val="21295C"/>
                </a:solidFill>
                <a:latin typeface="DejaVu Sans"/>
              </a:rPr>
              <a:t>Проблемная ось → мера</a:t>
            </a:r>
          </a:p>
        </p:txBody>
      </p:sp>
      <p:sp>
        <p:nvSpPr>
          <p:cNvPr id="27" name="Rounded Rectangle 26"/>
          <p:cNvSpPr/>
          <p:nvPr/>
        </p:nvSpPr>
        <p:spPr>
          <a:xfrm>
            <a:off x="502920" y="3474720"/>
            <a:ext cx="2340864"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3547872"/>
            <a:ext cx="2084832" cy="44586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Google AI Overviews</a:t>
            </a:r>
          </a:p>
        </p:txBody>
      </p:sp>
      <p:sp>
        <p:nvSpPr>
          <p:cNvPr id="29" name="TextBox 28"/>
          <p:cNvSpPr txBox="1"/>
          <p:nvPr/>
        </p:nvSpPr>
        <p:spPr>
          <a:xfrm>
            <a:off x="630936" y="4036893"/>
            <a:ext cx="2084832" cy="368320"/>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раскатка на 100% трафика поиска</a:t>
            </a:r>
          </a:p>
        </p:txBody>
      </p:sp>
      <p:sp>
        <p:nvSpPr>
          <p:cNvPr id="30" name="Rounded Rectangle 29"/>
          <p:cNvSpPr/>
          <p:nvPr/>
        </p:nvSpPr>
        <p:spPr>
          <a:xfrm>
            <a:off x="2898648" y="3474720"/>
            <a:ext cx="204825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26664" y="3520439"/>
            <a:ext cx="1792224"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низкая — вся аудитория увидела ответ одновременно</a:t>
            </a:r>
          </a:p>
        </p:txBody>
      </p:sp>
      <p:sp>
        <p:nvSpPr>
          <p:cNvPr id="32" name="Rounded Rectangle 31"/>
          <p:cNvSpPr/>
          <p:nvPr/>
        </p:nvSpPr>
        <p:spPr>
          <a:xfrm>
            <a:off x="5001768" y="3474720"/>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29784" y="3520439"/>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высокая — вирусный, потенциально опасный совет</a:t>
            </a:r>
          </a:p>
        </p:txBody>
      </p:sp>
      <p:sp>
        <p:nvSpPr>
          <p:cNvPr id="34" name="Rounded Rectangle 33"/>
          <p:cNvSpPr/>
          <p:nvPr/>
        </p:nvSpPr>
        <p:spPr>
          <a:xfrm>
            <a:off x="7196328" y="3474720"/>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24344" y="3520439"/>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была бы высокой при канареечной фазе, но её пропустили</a:t>
            </a:r>
          </a:p>
        </p:txBody>
      </p:sp>
      <p:sp>
        <p:nvSpPr>
          <p:cNvPr id="36" name="Rounded Rectangle 35"/>
          <p:cNvSpPr/>
          <p:nvPr/>
        </p:nvSpPr>
        <p:spPr>
          <a:xfrm>
            <a:off x="9390888" y="3474720"/>
            <a:ext cx="2313432" cy="96926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18904" y="3520439"/>
            <a:ext cx="2057400"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обратимость (масштаб раскатки) → поэтапная раскатка возвращает и наблюдаемость</a:t>
            </a:r>
          </a:p>
        </p:txBody>
      </p:sp>
      <p:sp>
        <p:nvSpPr>
          <p:cNvPr id="38" name="Rounded Rectangle 37"/>
          <p:cNvSpPr/>
          <p:nvPr/>
        </p:nvSpPr>
        <p:spPr>
          <a:xfrm>
            <a:off x="502920" y="4498847"/>
            <a:ext cx="2340864"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4571999"/>
            <a:ext cx="2084832" cy="44586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Zillow Offers</a:t>
            </a:r>
          </a:p>
        </p:txBody>
      </p:sp>
      <p:sp>
        <p:nvSpPr>
          <p:cNvPr id="40" name="TextBox 39"/>
          <p:cNvSpPr txBox="1"/>
          <p:nvPr/>
        </p:nvSpPr>
        <p:spPr>
          <a:xfrm>
            <a:off x="630936" y="5061021"/>
            <a:ext cx="2084832" cy="368320"/>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закупка недвижимости по прогнозу цены</a:t>
            </a:r>
          </a:p>
        </p:txBody>
      </p:sp>
      <p:sp>
        <p:nvSpPr>
          <p:cNvPr id="41" name="Rounded Rectangle 40"/>
          <p:cNvSpPr/>
          <p:nvPr/>
        </p:nvSpPr>
        <p:spPr>
          <a:xfrm>
            <a:off x="2898648" y="4498847"/>
            <a:ext cx="204825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26664" y="4544567"/>
            <a:ext cx="1792224"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минимальная — купленный дом не отменяется одним кликом</a:t>
            </a:r>
          </a:p>
        </p:txBody>
      </p:sp>
      <p:sp>
        <p:nvSpPr>
          <p:cNvPr id="43" name="Rounded Rectangle 42"/>
          <p:cNvSpPr/>
          <p:nvPr/>
        </p:nvSpPr>
        <p:spPr>
          <a:xfrm>
            <a:off x="5001768" y="4498847"/>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29784" y="4544567"/>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максимальная — списания $304–408 млн, ≈2000 домов в убыток, ≈$80 тыс. на дом</a:t>
            </a:r>
          </a:p>
        </p:txBody>
      </p:sp>
      <p:sp>
        <p:nvSpPr>
          <p:cNvPr id="45" name="Rounded Rectangle 44"/>
          <p:cNvSpPr/>
          <p:nvPr/>
        </p:nvSpPr>
        <p:spPr>
          <a:xfrm>
            <a:off x="7196328" y="4498847"/>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24344" y="4544567"/>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низкая по конструкции — только квартальная отчётность, не контроль в реальном времени</a:t>
            </a:r>
          </a:p>
        </p:txBody>
      </p:sp>
      <p:sp>
        <p:nvSpPr>
          <p:cNvPr id="47" name="Rounded Rectangle 46"/>
          <p:cNvSpPr/>
          <p:nvPr/>
        </p:nvSpPr>
        <p:spPr>
          <a:xfrm>
            <a:off x="9390888" y="4498847"/>
            <a:ext cx="2313432" cy="96926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18904" y="4544567"/>
            <a:ext cx="2057400"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все три оси сразу → нужен жёсткий гейт на каждой, не было ни одного</a:t>
            </a:r>
          </a:p>
        </p:txBody>
      </p:sp>
      <p:sp>
        <p:nvSpPr>
          <p:cNvPr id="49" name="Rounded Rectangle 48"/>
          <p:cNvSpPr/>
          <p:nvPr/>
        </p:nvSpPr>
        <p:spPr>
          <a:xfrm>
            <a:off x="502920" y="5596127"/>
            <a:ext cx="11201400" cy="69494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2376" y="5650991"/>
            <a:ext cx="10762488" cy="585216"/>
          </a:xfrm>
          <a:prstGeom prst="rect">
            <a:avLst/>
          </a:prstGeom>
          <a:noFill/>
        </p:spPr>
        <p:txBody>
          <a:bodyPr wrap="square" lIns="0" rIns="0" tIns="0" bIns="0" anchor="ctr">
            <a:spAutoFit/>
          </a:bodyPr>
          <a:lstStyle/>
          <a:p>
            <a:pPr algn="ctr">
              <a:lnSpc>
                <a:spcPct val="118000"/>
              </a:lnSpc>
            </a:pPr>
            <a:r>
              <a:rPr sz="1250" b="1" i="0">
                <a:solidFill>
                  <a:srgbClr val="21295C"/>
                </a:solidFill>
                <a:latin typeface="DejaVu Sans"/>
              </a:rPr>
              <a:t>Вопрос залу: команда хочет отдать ИИ автоматический ответ на публичные отзывы о продукте. Прогоните случай по трём осям — какая из них проблемная и какая мера её закрывает?</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37744"/>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Восемь вопросов, восемь действий: чек-лист распределяет бремя доказательства</a:t>
            </a:r>
          </a:p>
        </p:txBody>
      </p:sp>
      <p:sp>
        <p:nvSpPr>
          <p:cNvPr id="3" name="Rounded Rectangle 2"/>
          <p:cNvSpPr/>
          <p:nvPr/>
        </p:nvSpPr>
        <p:spPr>
          <a:xfrm>
            <a:off x="502920" y="841248"/>
            <a:ext cx="475488" cy="347472"/>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841248"/>
            <a:ext cx="475488" cy="347472"/>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a:t>
            </a:r>
          </a:p>
        </p:txBody>
      </p:sp>
      <p:sp>
        <p:nvSpPr>
          <p:cNvPr id="5" name="Rounded Rectangle 4"/>
          <p:cNvSpPr/>
          <p:nvPr/>
        </p:nvSpPr>
        <p:spPr>
          <a:xfrm>
            <a:off x="1033271" y="841248"/>
            <a:ext cx="3749039"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 y="841248"/>
            <a:ext cx="3566159" cy="347472"/>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Вопрос</a:t>
            </a:r>
          </a:p>
        </p:txBody>
      </p:sp>
      <p:sp>
        <p:nvSpPr>
          <p:cNvPr id="7" name="Rounded Rectangle 6"/>
          <p:cNvSpPr/>
          <p:nvPr/>
        </p:nvSpPr>
        <p:spPr>
          <a:xfrm>
            <a:off x="4837175" y="841248"/>
            <a:ext cx="6867144"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28615" y="841248"/>
            <a:ext cx="6684264" cy="347472"/>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Действие, если ответ «нет»</a:t>
            </a:r>
          </a:p>
        </p:txBody>
      </p:sp>
      <p:sp>
        <p:nvSpPr>
          <p:cNvPr id="9" name="Rounded Rectangle 8"/>
          <p:cNvSpPr/>
          <p:nvPr/>
        </p:nvSpPr>
        <p:spPr>
          <a:xfrm>
            <a:off x="502920" y="122529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22529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1</a:t>
            </a:r>
          </a:p>
        </p:txBody>
      </p:sp>
      <p:sp>
        <p:nvSpPr>
          <p:cNvPr id="11" name="Rounded Rectangle 10"/>
          <p:cNvSpPr/>
          <p:nvPr/>
        </p:nvSpPr>
        <p:spPr>
          <a:xfrm>
            <a:off x="1033271" y="122529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rcle-check-mid.png"/>
          <p:cNvPicPr>
            <a:picLocks noChangeAspect="1"/>
          </p:cNvPicPr>
          <p:nvPr/>
        </p:nvPicPr>
        <p:blipFill>
          <a:blip r:embed="rId2"/>
          <a:stretch>
            <a:fillRect/>
          </a:stretch>
        </p:blipFill>
        <p:spPr>
          <a:xfrm>
            <a:off x="1161288" y="1344168"/>
            <a:ext cx="274320" cy="274320"/>
          </a:xfrm>
          <a:prstGeom prst="rect">
            <a:avLst/>
          </a:prstGeom>
        </p:spPr>
      </p:pic>
      <p:sp>
        <p:nvSpPr>
          <p:cNvPr id="13" name="TextBox 12"/>
          <p:cNvSpPr txBox="1"/>
          <p:nvPr/>
        </p:nvSpPr>
        <p:spPr>
          <a:xfrm>
            <a:off x="1508760" y="127101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Классика фазы на месте?</a:t>
            </a:r>
          </a:p>
        </p:txBody>
      </p:sp>
      <p:sp>
        <p:nvSpPr>
          <p:cNvPr id="14" name="Rounded Rectangle 13"/>
          <p:cNvSpPr/>
          <p:nvPr/>
        </p:nvSpPr>
        <p:spPr>
          <a:xfrm>
            <a:off x="4837175" y="122529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65191" y="127101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Сначала выстроить базовую дисциплину фазы — в пустоте усиливать нечего</a:t>
            </a:r>
          </a:p>
        </p:txBody>
      </p:sp>
      <p:sp>
        <p:nvSpPr>
          <p:cNvPr id="16" name="Rounded Rectangle 15"/>
          <p:cNvSpPr/>
          <p:nvPr/>
        </p:nvSpPr>
        <p:spPr>
          <a:xfrm>
            <a:off x="502920" y="177393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177393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2</a:t>
            </a:r>
          </a:p>
        </p:txBody>
      </p:sp>
      <p:sp>
        <p:nvSpPr>
          <p:cNvPr id="18" name="Rounded Rectangle 17"/>
          <p:cNvSpPr/>
          <p:nvPr/>
        </p:nvSpPr>
        <p:spPr>
          <a:xfrm>
            <a:off x="1033271" y="177393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mid.png"/>
          <p:cNvPicPr>
            <a:picLocks noChangeAspect="1"/>
          </p:cNvPicPr>
          <p:nvPr/>
        </p:nvPicPr>
        <p:blipFill>
          <a:blip r:embed="rId2"/>
          <a:stretch>
            <a:fillRect/>
          </a:stretch>
        </p:blipFill>
        <p:spPr>
          <a:xfrm>
            <a:off x="1161288" y="1892808"/>
            <a:ext cx="274320" cy="274320"/>
          </a:xfrm>
          <a:prstGeom prst="rect">
            <a:avLst/>
          </a:prstGeom>
        </p:spPr>
      </p:pic>
      <p:sp>
        <p:nvSpPr>
          <p:cNvPr id="20" name="TextBox 19"/>
          <p:cNvSpPr txBox="1"/>
          <p:nvPr/>
        </p:nvSpPr>
        <p:spPr>
          <a:xfrm>
            <a:off x="1508760" y="181965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Стоит ли доверие своей цены?</a:t>
            </a:r>
          </a:p>
        </p:txBody>
      </p:sp>
      <p:sp>
        <p:nvSpPr>
          <p:cNvPr id="21" name="Rounded Rectangle 20"/>
          <p:cNvSpPr/>
          <p:nvPr/>
        </p:nvSpPr>
        <p:spPr>
          <a:xfrm>
            <a:off x="4837175" y="177393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65191" y="181965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Добавить проверку там, где доверие упало: guardrail-метрику или мониторинг сегментов, а не агрегат</a:t>
            </a:r>
          </a:p>
        </p:txBody>
      </p:sp>
      <p:sp>
        <p:nvSpPr>
          <p:cNvPr id="23" name="Rounded Rectangle 22"/>
          <p:cNvSpPr/>
          <p:nvPr/>
        </p:nvSpPr>
        <p:spPr>
          <a:xfrm>
            <a:off x="502920" y="232257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232257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3</a:t>
            </a:r>
          </a:p>
        </p:txBody>
      </p:sp>
      <p:sp>
        <p:nvSpPr>
          <p:cNvPr id="25" name="Rounded Rectangle 24"/>
          <p:cNvSpPr/>
          <p:nvPr/>
        </p:nvSpPr>
        <p:spPr>
          <a:xfrm>
            <a:off x="1033271" y="232257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ircle-check-mid.png"/>
          <p:cNvPicPr>
            <a:picLocks noChangeAspect="1"/>
          </p:cNvPicPr>
          <p:nvPr/>
        </p:nvPicPr>
        <p:blipFill>
          <a:blip r:embed="rId2"/>
          <a:stretch>
            <a:fillRect/>
          </a:stretch>
        </p:blipFill>
        <p:spPr>
          <a:xfrm>
            <a:off x="1161288" y="2441448"/>
            <a:ext cx="274320" cy="274320"/>
          </a:xfrm>
          <a:prstGeom prst="rect">
            <a:avLst/>
          </a:prstGeom>
        </p:spPr>
      </p:pic>
      <p:sp>
        <p:nvSpPr>
          <p:cNvPr id="27" name="TextBox 26"/>
          <p:cNvSpPr txBox="1"/>
          <p:nvPr/>
        </p:nvSpPr>
        <p:spPr>
          <a:xfrm>
            <a:off x="1508760" y="236829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Есть эталонный набор и оценка против него?</a:t>
            </a:r>
          </a:p>
        </p:txBody>
      </p:sp>
      <p:sp>
        <p:nvSpPr>
          <p:cNvPr id="28" name="Rounded Rectangle 27"/>
          <p:cNvSpPr/>
          <p:nvPr/>
        </p:nvSpPr>
        <p:spPr>
          <a:xfrm>
            <a:off x="4837175" y="232257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65191" y="236829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Построить набор из 20–100 примеров до развёртывания — иначе нет базы, от которой меряется регрессия</a:t>
            </a:r>
          </a:p>
        </p:txBody>
      </p:sp>
      <p:sp>
        <p:nvSpPr>
          <p:cNvPr id="30" name="Rounded Rectangle 29"/>
          <p:cNvSpPr/>
          <p:nvPr/>
        </p:nvSpPr>
        <p:spPr>
          <a:xfrm>
            <a:off x="502920" y="287121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287121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4</a:t>
            </a:r>
          </a:p>
        </p:txBody>
      </p:sp>
      <p:sp>
        <p:nvSpPr>
          <p:cNvPr id="32" name="Rounded Rectangle 31"/>
          <p:cNvSpPr/>
          <p:nvPr/>
        </p:nvSpPr>
        <p:spPr>
          <a:xfrm>
            <a:off x="1033271" y="287121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mid.png"/>
          <p:cNvPicPr>
            <a:picLocks noChangeAspect="1"/>
          </p:cNvPicPr>
          <p:nvPr/>
        </p:nvPicPr>
        <p:blipFill>
          <a:blip r:embed="rId2"/>
          <a:stretch>
            <a:fillRect/>
          </a:stretch>
        </p:blipFill>
        <p:spPr>
          <a:xfrm>
            <a:off x="1161288" y="2990088"/>
            <a:ext cx="274320" cy="274320"/>
          </a:xfrm>
          <a:prstGeom prst="rect">
            <a:avLst/>
          </a:prstGeom>
        </p:spPr>
      </p:pic>
      <p:sp>
        <p:nvSpPr>
          <p:cNvPr id="34" name="TextBox 33"/>
          <p:cNvSpPr txBox="1"/>
          <p:nvPr/>
        </p:nvSpPr>
        <p:spPr>
          <a:xfrm>
            <a:off x="1508760" y="291693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Есть guardrail-метрика?</a:t>
            </a:r>
          </a:p>
        </p:txBody>
      </p:sp>
      <p:sp>
        <p:nvSpPr>
          <p:cNvPr id="35" name="Rounded Rectangle 34"/>
          <p:cNvSpPr/>
          <p:nvPr/>
        </p:nvSpPr>
        <p:spPr>
          <a:xfrm>
            <a:off x="4837175" y="287121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65191" y="291693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Назвать guardrail явно до теста, а не постфактум: что мониторим, но не оптимизируем</a:t>
            </a:r>
          </a:p>
        </p:txBody>
      </p:sp>
      <p:sp>
        <p:nvSpPr>
          <p:cNvPr id="37" name="Rounded Rectangle 36"/>
          <p:cNvSpPr/>
          <p:nvPr/>
        </p:nvSpPr>
        <p:spPr>
          <a:xfrm>
            <a:off x="502920" y="3419856"/>
            <a:ext cx="475488" cy="512064"/>
          </a:xfrm>
          <a:prstGeom prst="roundRect">
            <a:avLst>
              <a:gd name="adj" fmla="val 1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341985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5</a:t>
            </a:r>
          </a:p>
        </p:txBody>
      </p:sp>
      <p:sp>
        <p:nvSpPr>
          <p:cNvPr id="39" name="Rounded Rectangle 38"/>
          <p:cNvSpPr/>
          <p:nvPr/>
        </p:nvSpPr>
        <p:spPr>
          <a:xfrm>
            <a:off x="1033271" y="3419856"/>
            <a:ext cx="3749039" cy="512064"/>
          </a:xfrm>
          <a:prstGeom prst="roundRect">
            <a:avLst>
              <a:gd name="adj" fmla="val 7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ircle-check-mid.png"/>
          <p:cNvPicPr>
            <a:picLocks noChangeAspect="1"/>
          </p:cNvPicPr>
          <p:nvPr/>
        </p:nvPicPr>
        <p:blipFill>
          <a:blip r:embed="rId2"/>
          <a:stretch>
            <a:fillRect/>
          </a:stretch>
        </p:blipFill>
        <p:spPr>
          <a:xfrm>
            <a:off x="1161288" y="3538728"/>
            <a:ext cx="274320" cy="274320"/>
          </a:xfrm>
          <a:prstGeom prst="rect">
            <a:avLst/>
          </a:prstGeom>
        </p:spPr>
      </p:pic>
      <p:sp>
        <p:nvSpPr>
          <p:cNvPr id="41" name="TextBox 40"/>
          <p:cNvSpPr txBox="1"/>
          <p:nvPr/>
        </p:nvSpPr>
        <p:spPr>
          <a:xfrm>
            <a:off x="1508760" y="346557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Поэтапная раскатка и быстрый откат?</a:t>
            </a:r>
          </a:p>
        </p:txBody>
      </p:sp>
      <p:sp>
        <p:nvSpPr>
          <p:cNvPr id="42" name="Rounded Rectangle 41"/>
          <p:cNvSpPr/>
          <p:nvPr/>
        </p:nvSpPr>
        <p:spPr>
          <a:xfrm>
            <a:off x="4837175" y="3419856"/>
            <a:ext cx="6867144" cy="512064"/>
          </a:xfrm>
          <a:prstGeom prst="roundRect">
            <a:avLst>
              <a:gd name="adj" fmla="val 7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5191" y="346557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Ввести канареечную фазу или лестницу самостоятельности до полной раскатки — это ось обратимости из триады</a:t>
            </a:r>
          </a:p>
        </p:txBody>
      </p:sp>
      <p:sp>
        <p:nvSpPr>
          <p:cNvPr id="44" name="Rounded Rectangle 43"/>
          <p:cNvSpPr/>
          <p:nvPr/>
        </p:nvSpPr>
        <p:spPr>
          <a:xfrm>
            <a:off x="502920" y="396849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396849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6</a:t>
            </a:r>
          </a:p>
        </p:txBody>
      </p:sp>
      <p:sp>
        <p:nvSpPr>
          <p:cNvPr id="46" name="Rounded Rectangle 45"/>
          <p:cNvSpPr/>
          <p:nvPr/>
        </p:nvSpPr>
        <p:spPr>
          <a:xfrm>
            <a:off x="1033271" y="396849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circle-check-mid.png"/>
          <p:cNvPicPr>
            <a:picLocks noChangeAspect="1"/>
          </p:cNvPicPr>
          <p:nvPr/>
        </p:nvPicPr>
        <p:blipFill>
          <a:blip r:embed="rId2"/>
          <a:stretch>
            <a:fillRect/>
          </a:stretch>
        </p:blipFill>
        <p:spPr>
          <a:xfrm>
            <a:off x="1161288" y="4087368"/>
            <a:ext cx="274320" cy="274320"/>
          </a:xfrm>
          <a:prstGeom prst="rect">
            <a:avLst/>
          </a:prstGeom>
        </p:spPr>
      </p:pic>
      <p:sp>
        <p:nvSpPr>
          <p:cNvPr id="48" name="TextBox 47"/>
          <p:cNvSpPr txBox="1"/>
          <p:nvPr/>
        </p:nvSpPr>
        <p:spPr>
          <a:xfrm>
            <a:off x="1508760" y="401421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Эскалация к человеку гарантирована?</a:t>
            </a:r>
          </a:p>
        </p:txBody>
      </p:sp>
      <p:sp>
        <p:nvSpPr>
          <p:cNvPr id="49" name="Rounded Rectangle 48"/>
          <p:cNvSpPr/>
          <p:nvPr/>
        </p:nvSpPr>
        <p:spPr>
          <a:xfrm>
            <a:off x="4837175" y="396849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5191" y="401421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Спроектировать эскалацию как архитектуру с первого дня, а не как функцию после инцидента</a:t>
            </a:r>
          </a:p>
        </p:txBody>
      </p:sp>
      <p:sp>
        <p:nvSpPr>
          <p:cNvPr id="51" name="Rounded Rectangle 50"/>
          <p:cNvSpPr/>
          <p:nvPr/>
        </p:nvSpPr>
        <p:spPr>
          <a:xfrm>
            <a:off x="502920" y="451713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02920" y="451713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7</a:t>
            </a:r>
          </a:p>
        </p:txBody>
      </p:sp>
      <p:sp>
        <p:nvSpPr>
          <p:cNvPr id="53" name="Rounded Rectangle 52"/>
          <p:cNvSpPr/>
          <p:nvPr/>
        </p:nvSpPr>
        <p:spPr>
          <a:xfrm>
            <a:off x="1033271" y="451713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circle-check-mid.png"/>
          <p:cNvPicPr>
            <a:picLocks noChangeAspect="1"/>
          </p:cNvPicPr>
          <p:nvPr/>
        </p:nvPicPr>
        <p:blipFill>
          <a:blip r:embed="rId2"/>
          <a:stretch>
            <a:fillRect/>
          </a:stretch>
        </p:blipFill>
        <p:spPr>
          <a:xfrm>
            <a:off x="1161288" y="4636007"/>
            <a:ext cx="274320" cy="274320"/>
          </a:xfrm>
          <a:prstGeom prst="rect">
            <a:avLst/>
          </a:prstGeom>
        </p:spPr>
      </p:pic>
      <p:sp>
        <p:nvSpPr>
          <p:cNvPr id="55" name="TextBox 54"/>
          <p:cNvSpPr txBox="1"/>
          <p:nvPr/>
        </p:nvSpPr>
        <p:spPr>
          <a:xfrm>
            <a:off x="1508760" y="456285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Кто отвечает за результат?</a:t>
            </a:r>
          </a:p>
        </p:txBody>
      </p:sp>
      <p:sp>
        <p:nvSpPr>
          <p:cNvPr id="56" name="Rounded Rectangle 55"/>
          <p:cNvSpPr/>
          <p:nvPr/>
        </p:nvSpPr>
        <p:spPr>
          <a:xfrm>
            <a:off x="4837175" y="451713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65191" y="456285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Назначить владельца и записать финансовый показатель до запуска</a:t>
            </a:r>
          </a:p>
        </p:txBody>
      </p:sp>
      <p:sp>
        <p:nvSpPr>
          <p:cNvPr id="58" name="Rounded Rectangle 57"/>
          <p:cNvSpPr/>
          <p:nvPr/>
        </p:nvSpPr>
        <p:spPr>
          <a:xfrm>
            <a:off x="502920" y="5065775"/>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2920" y="5065775"/>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8</a:t>
            </a:r>
          </a:p>
        </p:txBody>
      </p:sp>
      <p:sp>
        <p:nvSpPr>
          <p:cNvPr id="60" name="Rounded Rectangle 59"/>
          <p:cNvSpPr/>
          <p:nvPr/>
        </p:nvSpPr>
        <p:spPr>
          <a:xfrm>
            <a:off x="1033271" y="5065775"/>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circle-check-mid.png"/>
          <p:cNvPicPr>
            <a:picLocks noChangeAspect="1"/>
          </p:cNvPicPr>
          <p:nvPr/>
        </p:nvPicPr>
        <p:blipFill>
          <a:blip r:embed="rId2"/>
          <a:stretch>
            <a:fillRect/>
          </a:stretch>
        </p:blipFill>
        <p:spPr>
          <a:xfrm>
            <a:off x="1161288" y="5184647"/>
            <a:ext cx="274320" cy="274320"/>
          </a:xfrm>
          <a:prstGeom prst="rect">
            <a:avLst/>
          </a:prstGeom>
        </p:spPr>
      </p:pic>
      <p:sp>
        <p:nvSpPr>
          <p:cNvPr id="62" name="TextBox 61"/>
          <p:cNvSpPr txBox="1"/>
          <p:nvPr/>
        </p:nvSpPr>
        <p:spPr>
          <a:xfrm>
            <a:off x="1508760" y="511149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Данные безопасны?</a:t>
            </a:r>
          </a:p>
        </p:txBody>
      </p:sp>
      <p:sp>
        <p:nvSpPr>
          <p:cNvPr id="63" name="Rounded Rectangle 62"/>
          <p:cNvSpPr/>
          <p:nvPr/>
        </p:nvSpPr>
        <p:spPr>
          <a:xfrm>
            <a:off x="4837175" y="5065775"/>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65191" y="511149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Обезличить регулируемые поля или перейти на собственный контур до подключения внешнего инструмента</a:t>
            </a:r>
          </a:p>
        </p:txBody>
      </p:sp>
      <p:sp>
        <p:nvSpPr>
          <p:cNvPr id="65" name="Rounded Rectangle 64"/>
          <p:cNvSpPr/>
          <p:nvPr/>
        </p:nvSpPr>
        <p:spPr>
          <a:xfrm>
            <a:off x="502920" y="5705855"/>
            <a:ext cx="1120140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5760719"/>
            <a:ext cx="10762488" cy="530352"/>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Хотя бы одно «нет» не значит «не применять ИИ» — значит «закрыть разрыв до, а не после»: для подходящей задачи чек-лист осознанно приведёт к высокой самостоятельности.</a:t>
            </a:r>
          </a:p>
        </p:txBody>
      </p:sp>
      <p:sp>
        <p:nvSpPr>
          <p:cNvPr id="67" name="TextBox 6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61888"/>
            <a:ext cx="7223760" cy="310896"/>
          </a:xfrm>
          <a:prstGeom prst="rect">
            <a:avLst/>
          </a:prstGeom>
          <a:noFill/>
        </p:spPr>
        <p:txBody>
          <a:bodyPr wrap="square" lIns="0" rIns="0" tIns="0" bIns="0" anchor="t">
            <a:spAutoFit/>
          </a:bodyPr>
          <a:lstStyle/>
          <a:p>
            <a:pPr algn="l">
              <a:lnSpc>
                <a:spcPct val="105000"/>
              </a:lnSpc>
            </a:pPr>
            <a:r>
              <a:rPr sz="1000" b="0" i="1">
                <a:solidFill>
                  <a:srgbClr val="5B6678"/>
                </a:solidFill>
                <a:latin typeface="DejaVu Sans"/>
              </a:rPr>
              <a:t>Инженер за рабочей станцией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67665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аппарата на учебном AI-продукте: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67665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инженерном проектировании и CAD/CAM — там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