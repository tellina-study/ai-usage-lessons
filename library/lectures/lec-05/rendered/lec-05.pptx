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(см. s47).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сделать себе несколько собеседников через модель и прогнать на них разговор звучит сегодня часто. По механике она правильная —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что человек делал непосредственно перед тем, как начал искать решение; чем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 а расхождение и есть то, ради чего вообще идут в поле.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работает там, где у продукта уже есть живые пользователи и накопленный архив обращений в поддержку.</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точному совпадению слов и по смыслу. Причина не академическая. Точный код ошибки или номер заказа находит только поиск по словам, а описание проблемы своими словами — только поиск по смыслу, и в обращениях постоянно встречается и то и другое. Поодиночке каждый способ систематически промахивается, и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замыкает линию, которую мы ведём с самого начала: правдоподобное принимают за реальное.</a:t>
            </a:r>
          </a:p>
          <a:p>
            <a:r>
              <a:t>Что произошло. С две тысячи двенадцатого года крупная технологическая компания вместе с известным онкологическим центром разрабатывала систему, подсказывающую врачу схему лечения рака. С две тысячи пятнадцатого её продавали больницам по всему миру. В июле две тысячи восемнадцатого журналистское издание опубликовало утёкшие внутренние документы компании.</a:t>
            </a:r>
          </a:p>
          <a:p>
            <a:r>
              <a:t>Что было в документах. Сотрудники в переписке называли рекомендации системы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придуманных,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выдуманным — ровно то свойство, которое мы разбирали двумя слайдами раньше. Панель выдуманных собеседников не могла не согласиться, потому что ей нечем было возразить. Здесь тот же механизм получил доступ к решению о лечении.</a:t>
            </a:r>
          </a:p>
          <a:p>
            <a:r>
              <a:t>Обратите внимание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 и ни одно из них не видно изнутри результата: система выдавала уверенные, связные, профессионально звучащие рекомендации.</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зафиксированного прошлого. Не до правдоподобного — до зафиксированного.</a:t>
            </a:r>
          </a:p>
          <a:p>
            <a:r>
              <a:t>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 Разница между этими двумя устройствами — не в качестве модели, а в том, что именно она кладёт на стол.</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придуманных, гипотетических случаях, размеченных горсткой онкологов одной клиники, а не на реальных исходах лечения.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Аудитория курса технически сильна и свободно работает с инженерными практиками, но формального дизайн-образования, как правило, не проходила, поэтому раздел начинается с короткой базы. Возьмём ровно столько, сколько понадобится дальше: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разбор Character.AI. Продукт месяцами оптимизировал возвращаемость подростка к вымышленному собеседнику, не имея ни проверки возраста, ни распознавания кризисного состояния, и защита появилась только через три года после запуска. Держите этот случай как образец ошибки, которую не ловит ни один тест: требования, которого никто не записал.</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два.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что это за продукт, потому что не все с ним сталкивались. Character.AI — сервис, где человек переписывается с вымышленными персонажами: можно выбрать готового героя или сочинить своего, а отвечает за него языковая модель. Устроен он так, чтобы к персонажу возвращались: он помнит переписку, держит характер и готов поддерживать разговор сколь угодно долго. Запущен в сентябре двадцать второго года.</a:t>
            </a:r>
          </a:p>
          <a:p>
            <a:r>
              <a:t>В феврале двадцать четвёртого четырнадцатилетний пользователь покончил с собой после месяцев ежедневного общения с таким персонажем. Ни проверки возраста, ни распознавания кризисного состояния, ни ограничения времени в продукте тогда не было. Иск подан в октябре того же года, урегулирован в январе двадцать шестого. Подробности разбирательства нам вторичны, важна одна дата: запрет свободного общения для несовершеннолетних, ограничение времени и проверка возраста появились в ноябре двадцать пятого. Это три года и два месяца после запуска и двадцать один месяц после самой смерти.</a:t>
            </a:r>
          </a:p>
          <a:p>
            <a:r>
              <a:t>Теперь главное — почему случай стоит в разделе про дизайн, а не про эксплуатацию. Его легко и неправильно записать в сбои: бот плохо ответил. Но корень лежит раньше, там, где решают, какой опыт вообще проектировать. Продукт, оптимизирующий возвращаемость подростка к вымышленному собеседнику, — это выбор, сделанный в первом ромбе и сделанный без вопроса, кто может пострадать от такого потока общения. Отсутствие распознавания кризиса — не ошибка реализации, которую поймали бы тестированием. Это требование, которого не было в задании.</a:t>
            </a:r>
          </a:p>
          <a:p>
            <a:r>
              <a:t>Разница не академическая. Ошибку реализации ловят проверкой перед выпуском. Требования, которого нет, не ловит ничто, кроме вопроса, заданного вовремя: ни один тест не проверяет то, чего никто не просил. Поэтому цена такой ошибки измеряется не количеством правок, а временем — три года, всё это время продукт работал ровно так, как его спроектировали.</a:t>
            </a:r>
          </a:p>
          <a:p>
            <a:r>
              <a:t>Критерий, который отсюда переносится дальше. Там, где продукт рассчитан на эмоциональную привязанность уязвимых людей, защита входит в первую же версию, а не добавляется после иска. Альтернатива существует и она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(7 янв. 2026) — урегулирование — Character.AI и Google урегулировали иски; условия конфиденциальны, без признания вины. https://www.cbsnews.com/news/google-settle-lawsuit-florida-teens-suicide-character-ai-chatbot/</a:t>
            </a:r>
          </a:p>
          <a:p>
            <a:r>
              <a:t>[3] Character.AI — объявление о защите несовершеннолетних (29 окт. 2025) — запрет свободного общения для пользователей младше 18 и проверка возраста — не позднее 25 нояб. 2025; запуск сервиса — 16 сент. 2022, отсюда «три года». https://blog.character.ai/u18-chat-announcement/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куда переехало узкое место, когда объём кода вырос кратно, а объём содержательного ревью — нет. Потом три приёма, которыми эту фазу держат: шкала самостоятельности, эталонный набор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это выглядит без порога, показывает якорь. Проект в онкоцентре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Двенадцать продлений — это двенадцать точек, в каждой из которых кто-то решал продолжить. Закрытие пришло из аудита закупок, то есть снаружи процесса. Рубеж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исполнения агентом, вход в незнакомую кодовую базу — от недель к часам. Центральное заявление о риске звучит так: по мере того как агенты производят больше кода, объём ревью не растёт с той же скоростью, и разрыв видимости расширяется. Внутренние данные делают это цитируемым, и брать их надо парой. Объём кода на инженера вырос примерно на двести процентов за год. Содержательные комментарии ревью получали около шестнадцати процентов изменений — а после того, как первый проход отдали автоматике, доля выросла до пятидесяти четырёх. Разрыв, заметьте, не придуман со стороны: компания измерила его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одной компании. Отчёт Faros AI за две тысячи двадцать шестой год, построенный на телеметрии двадцати двух тысяч разработчиков более чем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всего на треть, и утроившееся число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 Цифры волатильные, перед лекцией их стоит перепроверить.</a:t>
            </a:r>
          </a:p>
          <a:p>
            <a:r>
              <a:t>Правая часть слайда — главное, ради чего он здесь. Классика не отменена, она нагружена по-новому. Ревью изменений было и остаётся, но из гигиены превратилось в узкое место. Переключатель функции остался, но теперь чаще переключает не видимость функции, а уровень самостоятельности системы. Поэтапная раскатка осталась, но к оси «процент аудитории» добавилась ось «сколько система решает сама». Тесты до кода остались и получили продолжение — эталонный набор для ответов модели. Аварийное отключение перешло из желательного в обязательное. А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Теперь это точность намерения на входе и скорость суждения на выходе.</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главная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 значит, версионировать выпуск надо по уровню контроля, а не по набору функций.</a:t>
            </a:r>
          </a:p>
          <a:p>
            <a:r>
              <a:t>Пример, который стоит проговорить вслух: бот поддержки. Первая версия только маршрутизирует обращения — высокий контроль, низкая самостоятельность. Вторая предлагает решение, а подтверждает оператор. Третья решает сама и возвращает человеку то, с чем не справилась. Это не три этапа разработки, это три разных уровня самостоятельности, и между ними стоит проверка. Ровно так же устроены регуляторы доверия в инструментах для написания кода: от подсказки-завершения к блоку кода и к целому готовому изменению.</a:t>
            </a:r>
          </a:p>
          <a:p>
            <a:r>
              <a:t>Дословная формулировка провала из того же источника: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именно потому, что полная автономия убирает дешёвые контрольные точки, ради которых существует поэтапная раскатка.</a:t>
            </a:r>
          </a:p>
          <a:p>
            <a:r>
              <a:t>О чём слайд молчит, а сказать стоит. На практике уровень функции, дата подъёма, имя решившего и путь назад лежат в версионируемом файле рядом с кодом, а не в памяти команды — это прямое продолжение конвенций прошлой лекции: контракт без версии не контракт. Условия подъёма опираются на эталонный набор со следующего слайда: важно, чтобы примеры были того самого класса риска, который открывает новый уровень, а не общего, и чтобы порог был записан числом до прогона.</a:t>
            </a:r>
          </a:p>
          <a:p>
            <a:r>
              <a:t>И граница, которую нельзя смягчать. Аргумент «оператор давно ничего не правил» — не доказательство, а отсутствие измерения.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прямой перенос дисциплины прошлой лекции — теста, написанного до кода, — с кода на продукт. Там тест был исполняемой спецификацией: он говорит, что значит «работает», и говорит это раньше результата. Здесь ровно то же, только проверяется ответ модели.</a:t>
            </a:r>
          </a:p>
          <a:p>
            <a:r>
              <a:t>Что стоит проговорить про сбор набора. Источник примера обязателен и обязательно реальный: рекомендация начинать с пяти-десяти настоящих рабочих примеров, а не выдуманных, — то же требование «реальное прошлое, а не правдоподобное», которое мы применяли к интервью. Придуманный пример проверяет воображение команды, а не продукт. Практическое следствие: набор нельзя написать за один присест в начале проекта — он растёт из эксплуатации, и по числу случаев, пришедших из реальных сбоев, видно, живой он или декоративный.</a:t>
            </a:r>
          </a:p>
          <a:p>
            <a:r>
              <a:t>Про шкалу требований. Три строки на слайде выглядят как три порога, но третья строка — не порог. Это отказ от инструмента: ответ с юридическим последствием не отдают модели вообще, поверх неё ставят детерминированное правило. Различать это важно, иначе шкала читается как «просто поставьте планку повыше».</a:t>
            </a:r>
          </a:p>
          <a:p>
            <a:r>
              <a:t>Чем это физически исполняется, если спросят. Есть промышленные инструменты, встраивающиеся в конвейер сборки: promptfoo останавливает сборку кодом возврата при падении балла ниже порога; штатная проверка в Claude Code прогоняет случаи трижды, а не один раз, так что разброс виден сразу; DeepEval запускается обычным прогоном тестов, и отдельный шаг заводить не нужно. Единого термина для одной строки набора нет — в разных инструментах это goldens, examples, test cases, samples, и искать общий стандарт бессмысленно.</a:t>
            </a:r>
          </a:p>
          <a:p>
            <a:r>
              <a:t>И граница, ради которой карточка вообще имеет право стоять рядом с разбором провалов. Зелёный набор — не доказательство. Насыщение: всегда зелёный набор ничего не измеряет. Подгонка под набор: как только прохождение становится целью, мера перестаёт быть мерой. Разброс: инференс модели недетерминирован даже при нулевой температуре, расхождение между одинаковыми прогонами доходит до пятнадцати процентных пунктов. И надёжность измерителя: модель-судья согласуется с людьми примерно на восьмидесяти пяти процентах — на уровне, на котором люди согласуются между собой.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про две тысячи двадцать шестой. Запрет подглядывать частично снят техникой: платформы экспериментов считают интервал так, что смотреть можно в любой момент. Но за свободу смотреть платят чувствительностью, а правило остановки всё равно задают до запуска — просто теперь его задают в настройке, а не в голове.</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такое, потому что слово «эвал» в русской речи уже прижилось, а смысл за ним часто теряется. Оценка — это набор задач с заранее известным желаемым ответом, на котором прогоняют модель или агента. Смысл тот же, что у набора тестов для кода. Разница одна, но существенная: ответ не сверяют посимвольно, его оценивает человек, отдельная модель-судья или проверка по правилу. Поэтому результат не «прошёл или не прошёл», а доля — и с этой долей дальше надо что-то делать.</a:t>
            </a:r>
          </a:p>
          <a:p>
            <a:r>
              <a:t>Представлять оценки полезно не списком проверок, а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непрерывно, а не или-или. Третий элемент и делает петлю петлёй: каждый разбор промышленного сбоя добавляет в набор строку, чтобы однажды пойманное не повторилось молча.</a:t>
            </a:r>
          </a:p>
          <a:p>
            <a:r>
              <a:t>Порядок дороговизны задан лестницей: быстрые проверки на каждое изменение, затем человек и модель-судья, сверяемые друг с другом, и только третьей ступенью — эксперимент на живых пользователях. Вывод здесь важный: эксперимент оценками не заменяется, он стоит за ними, потому что дороже.</a:t>
            </a:r>
          </a:p>
          <a:p>
            <a:r>
              <a:t>Отдельно — проверка самого измерителя. Если баллы упёрлись в потолок и перестали различать версии, это не «мы всё решили», а сдувшийся набор. Зелёный набор, который всегда зелёный, ровно так же бесполезен, как тест, проходящий при любом изменении кода. Именованная база: команда, перешедшая от разовых проверок к систематической оценке, подняла поток исправлений с трёх до тридцати в день.</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Она надёжна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приходят не от износа, а от изменений, которые вносим мы сами. Железо не стареет за неделю, а вот выкатка, правка промпта, смена версии модели — происходят постоянно. То есть источник сбоев — это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Сначала — база: бюджет ошибок как конкретное число, на которое команда договаривается реагировать, и два окна наблюдения, потому что быстрый сбой и медленное сползание видны по-разному. Дальше два приёма: наблюдаемость ответов модели и учебная тревога, которая проверяет, что обнаружение вообще работает. Потом — почему для ИИ-компонента это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многие из вас знают, поэтому беру из неё ровно то, на что опираются оба приёма раздела, и начинаю не с определения, а с причины.</a:t>
            </a:r>
          </a:p>
          <a:p>
            <a:r>
              <a:t>Причина такая. В работающей системе около семидесяти процентов отказов приходят не от износа, а от изменений, которые вносим мы сами: выкатка, правка промпта, смена версии модели. То есть источник сбоев — ровно та деятельность, которой команда занята каждый день. Отсюда прямое следствие: если заранее не договориться, сколько сбоев допустимо, то спор «быстрее или надёжнее» будет решаться каждый раз после инцидента и в пользу того, кто громче. Вся дисциплина существует,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ценность: бюджет исчерпан — выкатка новых функций останавливается.</a:t>
            </a:r>
          </a:p>
          <a:p>
            <a:r>
              <a:t>Второй элемент — как смотрят скорость расходования. Зрелая практика строит оповещение не на «сервис упал», а на том, с какой скоростью сгорает бюджет, и смотрит эту скорость на двух окнах одновременно. Короткое окно ловит резкий скачок: за час сгорела заметная доля месячного бюджета — основание будить человека сейчас. Длинное окно фильтрует шум и ловит медленное сползание, которое на коротком окне неотличимо от случайного всплеска, — это уже не звонок ночью, а задача на рабочее время. Ни одно из окон по отдельности второй случай не видит.</a:t>
            </a:r>
          </a:p>
          <a:p>
            <a:r>
              <a:t>И зачем это здесь. Всё перечисленное построено для системы, где запрос либо успешен, либо нет. А код двести — «ответ отдан успешно» — приходит и тогда, когда модель уверенно выдумывает. Дальше смотрим, на чём считать бюджет, когда сбой не возвращает кода ошибки вообще.</a:t>
            </a:r>
          </a:p>
          <a:p>
            <a:r>
              <a:t>Источники:</a:t>
            </a:r>
          </a:p>
          <a:p>
            <a:r>
              <a:t>[1] Google — политика бюджета ошибок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вообще такое. Наблюдаемость — возможность по записям системы ответить на вопрос «что у нас произошло», не переспрашивая саму систему. Для обычного сервиса такие записи отвечают, работал он или нет. Для компонента с моделью нужен другой ответ: не «ответил ли», а «насколько хорошо ответил». И вот этого система про себя не знает — измерять приходится снаружи.</a:t>
            </a:r>
          </a:p>
          <a:p>
            <a:r>
              <a:t>Складывается из трёх вещей. Первая: записывать путь ответа целиком, а не только его конец, и помечать версией всё, что на результат влияет, — саму модель, инструкцию для неё, настройки ограничителей. Без версий на разборе нельзя сказать, что изменилось, и разбор превращается в обмен догадками.</a:t>
            </a:r>
          </a:p>
          <a:p>
            <a:r>
              <a:t>Вторая: заранее договориться о быстрой косвенной метрике качества. Причина простая — правильность ответа часто выясняется поздно, а иногда никогда. Поэтому следят за тем, что видно сразу: как часто зовут живого человека, переспрашивают, отказываются отвечать. Важно выбрать признак до инцидента: иначе на первом же разборе начнётся спор, что считать ошибкой, — спор уже с результатом на руках.</a:t>
            </a:r>
          </a:p>
          <a:p>
            <a:r>
              <a:t>Третья: порог тревоги брать из собственного разброса системы, а не из чужого норматива. Одна и та же модель на один и тот же запрос отвечает по-разному, расхождение доходит до пятнадцати процентных пунктов. Порог, который этого не учитывает, либо звенит на нормальном разбросе, либо молчит на настоящей деградации.</a:t>
            </a:r>
          </a:p>
          <a:p>
            <a:r>
              <a:t>Что здесь от классики и что добавляет ИИ. Классика — сквозная трассировка по общему стандарту, она работает и тут без изменений. Новое: тот же стандарт расширили соглашениями для генеративных моделей. Только держите в уме их статус. В июне двадцать шестого их вынесли в отдельное хранилище, выпусков там до сих пор нет, каждое поле помечено как незавершённое. Инструменты их уже понимают, поэтому записи переносимы на практике — но по факту, а не по документу: опираться как на готовый стандарт рано, закладывайтесь на то, что записи придётся переразмечать. Заодно живой пример разницы между стандартом, о котором договорились, и стандартом, который просто сложился. Поверх появилась выборочная автооценка живых ответов отдельной моделью-судьёй.</a:t>
            </a:r>
          </a:p>
          <a:p>
            <a:r>
              <a:t>Граница. Записи уходят во внешний сервис — персональные данные туда нельзя. Косвенная метрика не равна качеству. Модель-судья не оракул: её согласие с человеком надо проверять отдельно.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но проверяет он то, без чего первый остаётся бумагой: работает ли обнаружение на самом деле.</a:t>
            </a:r>
          </a:p>
          <a:p>
            <a:r>
              <a:t>Что это такое. То же, что учебная пожарная тревога, только для качества ответов. Раз в несколько недель систему намеренно и управляемо портят и смотрят, сработает ли обнаружение. Обратите внимание, что проверяют здесь не систему, а себя: есть ли вообще чем заметить деградацию и успеет ли кто-то на неё прийти. Приборы могут стоять, а показывают ли они — отдельный вопрос, и отвечает на него только проверка.</a:t>
            </a:r>
          </a:p>
          <a:p>
            <a:r>
              <a:t>Механизм. Ухудшили качество управляемо и по плану — измеряем четыре времени. Первое: за сколько заметили. Второе: за сколько пришёл человек, и это отдельное время, потому что тревога, на которую никто не пошёл, бесполезна. Третье: за сколько автоматика остановила происходящее сама. Четвёртое: за сколько вернули как было — именно вернули, а не начали возвращать.</a:t>
            </a:r>
          </a:p>
          <a:p>
            <a:r>
              <a:t>Поля на слайде пустые, и это намеренно: число берётся с учения, а не из инструкции. Отсюда критерий, устроенный непривычно: учение, которое не изменило ни одной инструкции, было слишком лёгким. Диагноз тот же, что у набора проверок, всегда показывающего зелёное: измеритель, который никогда не краснеет, ничего не измеряет. Учение, из которого все выходят довольными, проверяло самочувствие команды, а не систему.</a:t>
            </a:r>
          </a:p>
          <a:p>
            <a:r>
              <a:t>Что здесь от классики и что меняется. Классика — учения на отказ: гасят службу, отнимают ресурс, смотрят, поднимется ли система. Для ИИ-компонента ломать доступность бессмысленно, потому что он деградирует, оставаясь полностью доступным. Поэтому портят не доступность, а качество: подменяют инструкцию модели на заведомо более слабую, ослабляют ограничители, имитируют поток отказов.</a:t>
            </a:r>
          </a:p>
          <a:p>
            <a:r>
              <a:t>Граница честная. Учение проверяет только тот класс отказа, который вы сумели придумать заранее. Тихий дрейф, к которому мы сейчас перейдём, по кнопке не воспроизводится — его признак в том, что ничего явно не ломается. Поэтому учение дополняет наблюдение по сегментам и живой канал жалоб, а не заменяет их.</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не один продукт, а десятки инициатив сразу, и денег хватает не на все — это и есть весь сюжет. Решение, которое здесь принимают, ровно одно и звучит просто: эту инициативу финансируем дальше, эту останавливаем. Вы уже видели этот выбор внутри одного продукта, когда решали судьбу отдельной функции. Здесь то же самое, но между продуктами. Ничего нового учить не нужно, и разворачивать отдельную дисциплину управления портфелем я не буду — вам важно понимать, какое решение принимают над вашей работой, а не уметь вести портфель.</a:t>
            </a:r>
          </a:p>
          <a:p>
            <a:r>
              <a:t>Что происходит, если это решение не принимать явно. Инициатива, которую никто не закрыл, не исчезает сама — она продолжает тратить людей и бюджет, не показывая результата, и это состояние может длиться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то есть снижение расходов или рост выручки — видят шесть процентов компаний. Шесть, не шестьдесят.</a:t>
            </a:r>
          </a:p>
          <a:p>
            <a:r>
              <a:t>Теперь то единственное, что в этой фазе для ИИ-продукта действительно новое. Обычную программу дорого построить и почти бесплатно обслуживать: сервер уже оплачен, ещё одна копия не стоит практически ничего, и вся привычная логика роста построена на этом свойстве. У ИИ-продукта свойство исчезает. Каждое обращение пользователя — это платный вызов модели по счётчику, и расходы на обслуживание растут вместе с числом пользователей, вместо того чтобы выполаживаться.</a:t>
            </a:r>
          </a:p>
          <a:p>
            <a:r>
              <a:t>Следствие из этого прямое и неприятное. Продукт, у которого один запрос обходится дороже, чем приносит, не спасается ростом: каждый новый пользователь делает убыток больше, а не меньше. Это не осторожность и не пессимизм, это арифметика — и посчитать её можно до пилота, на бумаге, за полчаса. Ровно этим мы и займёмся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одного обращения мы уже назвали новой переменной, но само число до сих пор брали на веру. Посчитаем.</a:t>
            </a:r>
          </a:p>
          <a:p>
            <a:r>
              <a:t>Что это за расчёт. Полстраницы на бумаге: во что обходится одно обращение пользователя и сколько оно приносит. Полчаса работы, до всякого пилота. Отвечает ровно на один вопрос — может ли продукт быть прибыльным в принципе.</a:t>
            </a:r>
          </a:p>
          <a:p>
            <a:r>
              <a:t>Складывается из четырёх вещей. Платят не за вопрос, а за объём текста, и считают его в токенах — кусочках слова, на которые модель режет текст; отдельно за входящий, отдельно за исходящий. Первое: объём туда и обратно, причём русский текст на ту же мысль занимает заметно больше английского, и платят за это тоже. Второе: сколько шагов модель делает, прежде чем ответить — промежуточные рассуждения пользователь не видит, но оплачивает их как ответ, и в агентном сценарии это часто главная статья расхода. Третье: как часто приходится переспрашивать — неудачная попытка стоит столько же, сколько удачная. Четвёртое: что удалось не пересчитывать заново, потому что повторяющаяся часть запроса читается из памяти дешевле.</a:t>
            </a:r>
          </a:p>
          <a:p>
            <a:r>
              <a:t>Что с этим делают сейчас. Без искусственного интеллекта вообще: если задачу решает обычный код, правило или поиск по базе — модель не зовут. Это самая дешёвая оптимизация из существующих, и делают её первой. С моделями: запрос направляют самой дешёвой, которая справляется, а к дорогой поднимают только непрошедшее по качеству; команды сообщают о сокращении счёта на сорок-восемьдесят пять процентов без заметной потери качества. Занимаются этим уже почти все — девяносто восемь процентов команд по управлению расходами против тридцати одного двумя годами раньше.</a:t>
            </a:r>
          </a:p>
          <a:p>
            <a:r>
              <a:t>И граница. Цена за единицу текста падает год от года, а счёт растёт: дешёвый инструмент начинают звать там, где раньше не звали. Многоагентная схема расходует примерно в пятнадцать раз больше обычного диалога — решение «пусть агенты посовещаются» имеет цену. Считать бесполезно, если не с чем сравнить: нужна цена того же результата без ИИ. И само число — ограничитель, а не цель: если давить именно его, получите короткие бесполезные ответы.</a:t>
            </a:r>
          </a:p>
          <a:p>
            <a:r>
              <a:t>Источники:</a:t>
            </a:r>
          </a:p>
          <a:p>
            <a:r>
              <a:t>[1] FinOps Foundation — рабочая группа по экономике токенов — расходами на ИИ занимаются 98% команд по управлению расходами против 31% двумя годами раньше. https://www.finops.org/wg/token-economics-saas/</a:t>
            </a:r>
          </a:p>
          <a:p>
            <a:r>
              <a:t>[2] Anthropic — инженерный разбор многоагентной системы — агент расходует примерно вчетверо, многоагентная схема — примерно в 15 раз больше токенов, чем обычный диалог. https://www.anthropic.com/engineering/multi-agent-research-system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слайд нужен ради одного практического вывода, и я его сразу назову: когда ИИ-инициатива буксует, инженерный рефлекс — «наверное, нужна модель посильнее». Данные говорят, что этот рефлекс почти всегда уводит не туда.</a:t>
            </a:r>
          </a:p>
          <a:p>
            <a:r>
              <a:t>Три источника, разная методология, один результат. Deloitte в этом году опросил больше шестисот шестидесяти руководителей и получил внутреннее противоречие прямо внутри одной анкеты: восемьдесят один процент уверены, что смогут масштабировать искусственный интеллект, и одновременно семьдесят пять процентов говорят, что операционная модель для этого обязана фундаментально измениться. Сорок два процента при этом сообщают о низком или нулевом возврате вложенного. То есть уверенность высокая, а готовность — нет, и этот разрыв люди видят в себе сами.</a:t>
            </a:r>
          </a:p>
          <a:p>
            <a:r>
              <a:t>Gartner даёт прогноз и именованный риск: более сорока процентов агентных проектов закроют до конца двадцать седьмого года, и причины в списке управленческие — расходы, неясная ценность, слабый контроль рисков, а не качество моделей. Отдельно стоит их же оценка рынка: из тысяч поставщиков, называющих свой продукт агентным, реально агентных около ста тридцати. Переименовать существующего чат-бота в «агента» дешевле, чем его построить.</a:t>
            </a:r>
          </a:p>
          <a:p>
            <a:r>
              <a:t>Boston Consulting Group разбирает ту же картину по долям вклада: десять процентов ценности даёт алгоритм, двадцать — данные и техника, семьдесят — люди и процессы вокруг. Для инженера это неприятная, но полезная пропорция: та часть, которой вы управляете напрямую и в которой вы сильнее всего, — это первые десять процентов.</a:t>
            </a:r>
          </a:p>
          <a:p>
            <a:r>
              <a:t>Что с этим делать. Если инициатива не даёт результата, первый вопрос — не про размер модели, а простой: назван ли у неё владелец, есть ли записанное число, по которому судят, и срок, к которому судят. Ровно эту мысль подтверждают оба следующих разбора: в первом громкая статистика провалов оказывается статистикой отсутствия измерений, во втором — заявление об автономности, которое никто не сверял с собственной целью компании.</a:t>
            </a:r>
          </a:p>
          <a:p>
            <a:r>
              <a:t>Источники:</a:t>
            </a:r>
          </a:p>
          <a:p>
            <a:r>
              <a:t>[1] Deloitte — исследование технологического лидерства (2026) — более 660 руководителей: 81% уверены, что масштабируют ИИ, и при этом 75% говорят, что операционная модель обязана измениться; 42% — низкий или нулевой возврат вложенного. https://www.deloitte.com/us/en/about/press-room/2026-global-technology-leadership-study-release.html</a:t>
            </a:r>
          </a:p>
          <a:p>
            <a:r>
              <a:t>[2] Gartner — прогноз по агентным проектам — более 40% агентных проектов закроют до конца 2027 года: расходы, неясная ценность, слабый контроль рисков; реально агентных поставщиков около 130 из тысяч. https://www.gartner.com/en/newsroom/press-releases/2025-06-25-gartner-predicts-over-40-percent-of-agentic-ai-projects-will-be-canceled-by-end-of-2027</a:t>
            </a:r>
          </a:p>
          <a:p>
            <a:r>
              <a:t>[3] Boston Consulting Group — окупаемость пилотов (2026) — доли вклада в результат: 10% алгоритм, 20% данные и техника, 70% люди и процессы.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не сила искусственного интеллекта и не имя продукта, а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а не «всё стало быстрее». Режим отказа — характерный для этой фазы способ подвести: на исследовании это угодливость, на дизайне однообразие, на сборке пропущенный рубеж, на измерении взломанная косвенная метрика, на поддержке тихий дрейф под хорошим средним, на управлении статистика без знаменателя. И 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Устойчиво не название, а дисциплина, характерный отказ и точка человека — они держатся на природе сложности и цене ошибки фазы, а не на чьём-то продукте.</a:t>
            </a:r>
          </a:p>
          <a:p>
            <a:r>
              <a:t>Цифр в таблице тоже нет. Каждая цифра, которую мы называли, стоит в своём разделе рядом со своей базой сравнения, и вырванная оттуда в клетку она перестаёт что-либо значить. Таблица держит структуру.</a:t>
            </a:r>
          </a:p>
          <a:p>
            <a:r>
              <a:t>Легитимность матрицы не в том, что она компактна, а в том, что каждая клетка выведена из уже разобранного. Строку про исследование нельзя оспорить, не оспорив соответствующий раздел. Это упаковка доказанного, а не новое утверждение, которое надо принимать на веру.</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 Провалы, разобранные сегодня, — это прогоны через эту таблицу; следующий такой случай вы должны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но решение по конкретной задаче принимают не по карте. Для этого нужен инструмент компактнее — три оси, которые по отдельности всплывали почти в каждом разделе, а здесь впервые собраны вместе.</a:t>
            </a:r>
          </a:p>
          <a:p>
            <a:r>
              <a:t>Обратимость — насколько легко откатить последствие, если вывод окажется неверным. Низкая у удаления данных в работающей системе или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и надёжно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Отдать фазу без дополнительного рубежа с человеком оправдано только тогда, когда высокая обратимость, низкая цена ошибки и высокая наблюдаемость сходятся одновременно. Любая другая комбинация требует рубежа, и рубеж выбирается по проблемной оси, а не по общему ощущению тревоги. Поэтому на каждой карточке написано, чего именно требует эта ось, когда она в проблемном положении: низкая обратимость требует постепенности и обратного пути, высокая цена ошибки требует названного владельца и границы для регулируемых данных, низкая наблюдаемость требует эталонного набора и метрики-ограничителя раньше, чем вы начнёте доверять средним числам.</a:t>
            </a:r>
          </a:p>
          <a:p>
            <a:r>
              <a:t>Проверим на двух случаях, которые мы разбирали. Поисковые ответы, раскатанные сразу на всех: обратимость низкая, потому что ошибку увидели все одновременно; цена высокая, потому что совет оказался вирусным и опасным. Наблюдаемость могла быть высокой — канареечный выпуск её давал, — но его пропустили. Проблемная ось одна, обратимость, и мера по ней возвращает заодно и наблюдаемость.</a:t>
            </a:r>
          </a:p>
          <a:p>
            <a:r>
              <a:t>Второй случай — закупка домов по прогнозу модели. Обратимость минимальная: купленный дом не отменить.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не по природе задачи, а по конструкции контроля — квартальный отчёт вместо проверки в реальном времени. Все три оси в проблемном положении, и ни на одной не стояло рубежа.</a:t>
            </a:r>
          </a:p>
          <a:p>
            <a:r>
              <a:t>И главное: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3.png"/><Relationship Id="rId6" Type="http://schemas.openxmlformats.org/officeDocument/2006/relationships/hyperlink" Target="https://www.statnews.com/2018/07/25/ibm-watson-recommended-unsafe-incorrect-treatments/" TargetMode="External"/><Relationship Id="rId7" Type="http://schemas.openxmlformats.org/officeDocument/2006/relationships/hyperlink" Target="https://spectrum.ieee.org/how-ibm-watson-overpromised-and-underdelivered-on-ai-health-care" TargetMode="Externa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hyperlink" Target="https://arxiv.org/abs/2609.26725"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dl.acm.org/doi/10.1145/3800424.380043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www.washingtonpost.com/nation/2024/10/24/character-ai-lawsuit-suicide/" TargetMode="External"/><Relationship Id="rId4" Type="http://schemas.openxmlformats.org/officeDocument/2006/relationships/hyperlink" Target="https://www.cbsnews.com/news/google-settle-lawsuit-florida-teens-suicide-character-ai-chatbot/" TargetMode="External"/><Relationship Id="rId5" Type="http://schemas.openxmlformats.org/officeDocument/2006/relationships/hyperlink" Target="https://blog.character.ai/u18-chat-announcement/"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6.png"/><Relationship Id="rId4" Type="http://schemas.openxmlformats.org/officeDocument/2006/relationships/image" Target="../media/image2.png"/><Relationship Id="rId5" Type="http://schemas.openxmlformats.org/officeDocument/2006/relationships/image" Target="../media/image47.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2.png"/><Relationship Id="rId4" Type="http://schemas.openxmlformats.org/officeDocument/2006/relationships/image" Target="../media/image52.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hyperlink" Target="https://www.canlii.org/en/bc/bccrt/doc/2024/2024bccrt149/2024bccrt149.html" TargetMode="External"/><Relationship Id="rId4" Type="http://schemas.openxmlformats.org/officeDocument/2006/relationships/hyperlink" Target="https://www.americanbar.org/groups/business_law/resources/business-law-today/2024-february/bc-tribunal-confirms-companies-remain-liable-information-provided-ai-chatbot/" TargetMode="Externa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bcg.com/publications/2026/why-ai-pilots-rarely-deliver-value"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gartner.com/en/newsroom/press-releases/2025-06-25-gartner-predicts-over-40-percent-of-agentic-ai-projects-will-be-canceled-by-end-of-2027"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11.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859536"/>
            <a:ext cx="11201400" cy="329184"/>
          </a:xfrm>
          <a:prstGeom prst="rect">
            <a:avLst/>
          </a:prstGeom>
          <a:noFill/>
        </p:spPr>
        <p:txBody>
          <a:bodyPr wrap="square" lIns="0" rIns="0" tIns="0" bIns="0" anchor="t">
            <a:spAutoFit/>
          </a:bodyPr>
          <a:lstStyle/>
          <a:p>
            <a:pPr algn="l">
              <a:lnSpc>
                <a:spcPct val="104000"/>
              </a:lnSpc>
            </a:pPr>
            <a:r>
              <a:rPr sz="1150" b="0" i="1">
                <a:solidFill>
                  <a:srgbClr val="5B6678"/>
                </a:solidFill>
                <a:latin typeface="DejaVu Sans"/>
              </a:rPr>
              <a:t>Цикл кода из Лекции 4 — спецификация, архитектурное решение, план, запрос на слияние, запись об инциденте — целиком лежит внутри одной из этих фаз, «сборки и запуска».</a:t>
            </a:r>
          </a:p>
        </p:txBody>
      </p:sp>
      <p:sp>
        <p:nvSpPr>
          <p:cNvPr id="4" name="TextBox 3"/>
          <p:cNvSpPr txBox="1"/>
          <p:nvPr/>
        </p:nvSpPr>
        <p:spPr>
          <a:xfrm>
            <a:off x="502920" y="1243584"/>
            <a:ext cx="5577840" cy="420624"/>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5" name="Rounded Rectangle 4"/>
          <p:cNvSpPr/>
          <p:nvPr/>
        </p:nvSpPr>
        <p:spPr>
          <a:xfrm>
            <a:off x="502920" y="170078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183794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185623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8" name="TextBox 7"/>
          <p:cNvSpPr txBox="1"/>
          <p:nvPr/>
        </p:nvSpPr>
        <p:spPr>
          <a:xfrm>
            <a:off x="1033271" y="171907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9" name="TextBox 8"/>
          <p:cNvSpPr txBox="1"/>
          <p:nvPr/>
        </p:nvSpPr>
        <p:spPr>
          <a:xfrm>
            <a:off x="1033271" y="2048256"/>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10" name="Rounded Rectangle 9"/>
          <p:cNvSpPr/>
          <p:nvPr/>
        </p:nvSpPr>
        <p:spPr>
          <a:xfrm>
            <a:off x="502920" y="228600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42316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44144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3" name="TextBox 12"/>
          <p:cNvSpPr txBox="1"/>
          <p:nvPr/>
        </p:nvSpPr>
        <p:spPr>
          <a:xfrm>
            <a:off x="1033271" y="230428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4" name="TextBox 13"/>
          <p:cNvSpPr txBox="1"/>
          <p:nvPr/>
        </p:nvSpPr>
        <p:spPr>
          <a:xfrm>
            <a:off x="1033271" y="263347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5" name="Rounded Rectangle 14"/>
          <p:cNvSpPr/>
          <p:nvPr/>
        </p:nvSpPr>
        <p:spPr>
          <a:xfrm>
            <a:off x="502920" y="287121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 y="300837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02666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8" name="TextBox 17"/>
          <p:cNvSpPr txBox="1"/>
          <p:nvPr/>
        </p:nvSpPr>
        <p:spPr>
          <a:xfrm>
            <a:off x="1033271" y="288950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9" name="TextBox 18"/>
          <p:cNvSpPr txBox="1"/>
          <p:nvPr/>
        </p:nvSpPr>
        <p:spPr>
          <a:xfrm>
            <a:off x="1033271" y="321868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20" name="Rounded Rectangle 19"/>
          <p:cNvSpPr/>
          <p:nvPr/>
        </p:nvSpPr>
        <p:spPr>
          <a:xfrm>
            <a:off x="502920" y="345643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9224" y="359359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 y="361188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3" name="TextBox 22"/>
          <p:cNvSpPr txBox="1"/>
          <p:nvPr/>
        </p:nvSpPr>
        <p:spPr>
          <a:xfrm>
            <a:off x="1033271" y="347472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4" name="TextBox 23"/>
          <p:cNvSpPr txBox="1"/>
          <p:nvPr/>
        </p:nvSpPr>
        <p:spPr>
          <a:xfrm>
            <a:off x="1033271" y="380390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5" name="Rounded Rectangle 24"/>
          <p:cNvSpPr/>
          <p:nvPr/>
        </p:nvSpPr>
        <p:spPr>
          <a:xfrm>
            <a:off x="502920" y="4041648"/>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9224" y="417880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4197096"/>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8" name="TextBox 27"/>
          <p:cNvSpPr txBox="1"/>
          <p:nvPr/>
        </p:nvSpPr>
        <p:spPr>
          <a:xfrm>
            <a:off x="1033271" y="405993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9" name="TextBox 28"/>
          <p:cNvSpPr txBox="1"/>
          <p:nvPr/>
        </p:nvSpPr>
        <p:spPr>
          <a:xfrm>
            <a:off x="1033271" y="4389120"/>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30" name="TextBox 29"/>
          <p:cNvSpPr txBox="1"/>
          <p:nvPr/>
        </p:nvSpPr>
        <p:spPr>
          <a:xfrm>
            <a:off x="539496" y="4663440"/>
            <a:ext cx="5504688" cy="640080"/>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пятый открывается только после запуска. У каждого своя фаза: цикл и есть минимальный набор мест, где на эти вопросы отвечают.</a:t>
            </a:r>
          </a:p>
        </p:txBody>
      </p:sp>
      <p:sp>
        <p:nvSpPr>
          <p:cNvPr id="31" name="Rounded Rectangle 30"/>
          <p:cNvSpPr/>
          <p:nvPr/>
        </p:nvSpPr>
        <p:spPr>
          <a:xfrm>
            <a:off x="6355080" y="1243584"/>
            <a:ext cx="534924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6248" y="131673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3" name="TextBox 32"/>
          <p:cNvSpPr txBox="1"/>
          <p:nvPr/>
        </p:nvSpPr>
        <p:spPr>
          <a:xfrm>
            <a:off x="6556248" y="1627632"/>
            <a:ext cx="4946903" cy="109728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Вопросы не исчезают — их место занимают допущения, обычно оптимистичные.</a:t>
            </a:r>
          </a:p>
          <a:p>
            <a:pPr algn="l">
              <a:lnSpc>
                <a:spcPct val="110000"/>
              </a:lnSpc>
            </a:pPr>
            <a:r>
              <a:rPr sz="1100" b="0" i="0">
                <a:solidFill>
                  <a:srgbClr val="21295C"/>
                </a:solidFill>
                <a:latin typeface="DejaVu Sans"/>
              </a:rPr>
              <a:t>Ошибка тоже не исчезает — сдвигается только момент, когда её находят.</a:t>
            </a:r>
          </a:p>
          <a:p>
            <a:pPr algn="l">
              <a:lnSpc>
                <a:spcPct val="110000"/>
              </a:lnSpc>
            </a:pPr>
            <a:r>
              <a:rPr sz="1100" b="0" i="0">
                <a:solidFill>
                  <a:srgbClr val="21295C"/>
                </a:solidFill>
                <a:latin typeface="DejaVu Sans"/>
              </a:rPr>
              <a:t>Находят её после того, как сборка оплачена, релиз состоялся, а откат стоит дороже самой ошибки.</a:t>
            </a:r>
          </a:p>
        </p:txBody>
      </p:sp>
      <p:sp>
        <p:nvSpPr>
          <p:cNvPr id="34" name="Rounded Rectangle 33"/>
          <p:cNvSpPr/>
          <p:nvPr/>
        </p:nvSpPr>
        <p:spPr>
          <a:xfrm>
            <a:off x="6355080" y="2889504"/>
            <a:ext cx="5349240" cy="1353312"/>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6248" y="296265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Цена позднего обнаружения</a:t>
            </a:r>
          </a:p>
        </p:txBody>
      </p:sp>
      <p:sp>
        <p:nvSpPr>
          <p:cNvPr id="36" name="TextBox 35"/>
          <p:cNvSpPr txBox="1"/>
          <p:nvPr/>
        </p:nvSpPr>
        <p:spPr>
          <a:xfrm>
            <a:off x="6556248" y="3273552"/>
            <a:ext cx="4946903" cy="877824"/>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От требований до выпуска стоимость исправления расходится до ста раз в крупных проектах и примерно вчетверо в небольших (Барри Боэм, 1981).</a:t>
            </a:r>
          </a:p>
          <a:p>
            <a:pPr algn="l">
              <a:lnSpc>
                <a:spcPct val="110000"/>
              </a:lnSpc>
            </a:pPr>
            <a:r>
              <a:rPr sz="1050" b="0" i="0">
                <a:solidFill>
                  <a:srgbClr val="21295C"/>
                </a:solidFill>
                <a:latin typeface="DejaVu Sans"/>
              </a:rPr>
              <a:t>Цикл не устраняет ошибку в гипотезе: он двигает её обнаружение туда, где она стоит разговор, а не сборку.</a:t>
            </a:r>
          </a:p>
        </p:txBody>
      </p:sp>
      <p:sp>
        <p:nvSpPr>
          <p:cNvPr id="37" name="Rounded Rectangle 36"/>
          <p:cNvSpPr/>
          <p:nvPr/>
        </p:nvSpPr>
        <p:spPr>
          <a:xfrm>
            <a:off x="6355080" y="4315968"/>
            <a:ext cx="5349240" cy="1042415"/>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6248" y="4389120"/>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9" name="TextBox 38"/>
          <p:cNvSpPr txBox="1"/>
          <p:nvPr/>
        </p:nvSpPr>
        <p:spPr>
          <a:xfrm>
            <a:off x="6556248" y="4700016"/>
            <a:ext cx="4946903" cy="566927"/>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 Сборка во всех четырёх случаях прошла успешно.</a:t>
            </a:r>
          </a:p>
        </p:txBody>
      </p:sp>
      <p:sp>
        <p:nvSpPr>
          <p:cNvPr id="40" name="Rounded Rectangle 39"/>
          <p:cNvSpPr/>
          <p:nvPr/>
        </p:nvSpPr>
        <p:spPr>
          <a:xfrm>
            <a:off x="502920" y="541324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2376" y="5468112"/>
            <a:ext cx="10762488" cy="786384"/>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 Воронка из начала лекции — 60% организаций пробуют, 20% доходят до пилота, 5% внедряют — не парадокс, а следствие.</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188720"/>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353312"/>
            <a:ext cx="420624" cy="420624"/>
          </a:xfrm>
          <a:prstGeom prst="rect">
            <a:avLst/>
          </a:prstGeom>
        </p:spPr>
      </p:pic>
      <p:sp>
        <p:nvSpPr>
          <p:cNvPr id="5" name="TextBox 4"/>
          <p:cNvSpPr txBox="1"/>
          <p:nvPr/>
        </p:nvSpPr>
        <p:spPr>
          <a:xfrm>
            <a:off x="1316736" y="123444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6" name="TextBox 5"/>
          <p:cNvSpPr txBox="1"/>
          <p:nvPr/>
        </p:nvSpPr>
        <p:spPr>
          <a:xfrm>
            <a:off x="1316736" y="162763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7" name="TextBox 6"/>
          <p:cNvSpPr txBox="1"/>
          <p:nvPr/>
        </p:nvSpPr>
        <p:spPr>
          <a:xfrm>
            <a:off x="5047488" y="128016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8" name="Rounded Rectangle 7"/>
          <p:cNvSpPr/>
          <p:nvPr/>
        </p:nvSpPr>
        <p:spPr>
          <a:xfrm>
            <a:off x="502920" y="2048256"/>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uler-light.png"/>
          <p:cNvPicPr>
            <a:picLocks noChangeAspect="1"/>
          </p:cNvPicPr>
          <p:nvPr/>
        </p:nvPicPr>
        <p:blipFill>
          <a:blip r:embed="rId3"/>
          <a:stretch>
            <a:fillRect/>
          </a:stretch>
        </p:blipFill>
        <p:spPr>
          <a:xfrm>
            <a:off x="731520" y="2212848"/>
            <a:ext cx="420624" cy="420624"/>
          </a:xfrm>
          <a:prstGeom prst="rect">
            <a:avLst/>
          </a:prstGeom>
        </p:spPr>
      </p:pic>
      <p:sp>
        <p:nvSpPr>
          <p:cNvPr id="10" name="TextBox 9"/>
          <p:cNvSpPr txBox="1"/>
          <p:nvPr/>
        </p:nvSpPr>
        <p:spPr>
          <a:xfrm>
            <a:off x="1316736" y="2093976"/>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1" name="TextBox 10"/>
          <p:cNvSpPr txBox="1"/>
          <p:nvPr/>
        </p:nvSpPr>
        <p:spPr>
          <a:xfrm>
            <a:off x="1316736" y="2487168"/>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2" name="TextBox 11"/>
          <p:cNvSpPr txBox="1"/>
          <p:nvPr/>
        </p:nvSpPr>
        <p:spPr>
          <a:xfrm>
            <a:off x="5047488" y="2139696"/>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3" name="Rounded Rectangle 12"/>
          <p:cNvSpPr/>
          <p:nvPr/>
        </p:nvSpPr>
        <p:spPr>
          <a:xfrm>
            <a:off x="502920" y="2907791"/>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ye-teal.png"/>
          <p:cNvPicPr>
            <a:picLocks noChangeAspect="1"/>
          </p:cNvPicPr>
          <p:nvPr/>
        </p:nvPicPr>
        <p:blipFill>
          <a:blip r:embed="rId4"/>
          <a:stretch>
            <a:fillRect/>
          </a:stretch>
        </p:blipFill>
        <p:spPr>
          <a:xfrm>
            <a:off x="731520" y="3072384"/>
            <a:ext cx="420624" cy="420624"/>
          </a:xfrm>
          <a:prstGeom prst="rect">
            <a:avLst/>
          </a:prstGeom>
        </p:spPr>
      </p:pic>
      <p:sp>
        <p:nvSpPr>
          <p:cNvPr id="15" name="TextBox 14"/>
          <p:cNvSpPr txBox="1"/>
          <p:nvPr/>
        </p:nvSpPr>
        <p:spPr>
          <a:xfrm>
            <a:off x="1316736" y="2953511"/>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6" name="TextBox 15"/>
          <p:cNvSpPr txBox="1"/>
          <p:nvPr/>
        </p:nvSpPr>
        <p:spPr>
          <a:xfrm>
            <a:off x="1316736" y="3346703"/>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17" name="TextBox 16"/>
          <p:cNvSpPr txBox="1"/>
          <p:nvPr/>
        </p:nvSpPr>
        <p:spPr>
          <a:xfrm>
            <a:off x="5047488" y="2999232"/>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18" name="Rounded Rectangle 17"/>
          <p:cNvSpPr/>
          <p:nvPr/>
        </p:nvSpPr>
        <p:spPr>
          <a:xfrm>
            <a:off x="502920" y="3749039"/>
            <a:ext cx="11201400" cy="658368"/>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22191"/>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в статистике качества (Деминг, 1939), в военной авиации (Бойд, 1970-е) и в стартапах (Райс, 2011). Это структурное свойство любой системы, которая учится в неопределённости, а не методология одного автора.</a:t>
            </a:r>
          </a:p>
        </p:txBody>
      </p:sp>
      <p:sp>
        <p:nvSpPr>
          <p:cNvPr id="20" name="Rounded Rectangle 19"/>
          <p:cNvSpPr/>
          <p:nvPr/>
        </p:nvSpPr>
        <p:spPr>
          <a:xfrm>
            <a:off x="502920" y="44988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5537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Мета-паттерн всех шести разделов: у каждой стрелки есть классическая дисциплина, и искусственный интеллект её не отменяет. Он меняет, сколько эта дисциплина стоит и насколько ей можно верить без проверки.</a:t>
            </a:r>
          </a:p>
        </p:txBody>
      </p:sp>
      <p:sp>
        <p:nvSpPr>
          <p:cNvPr id="22" name="Rounded Rectangle 21"/>
          <p:cNvSpPr/>
          <p:nvPr/>
        </p:nvSpPr>
        <p:spPr>
          <a:xfrm>
            <a:off x="502920" y="5468112"/>
            <a:ext cx="11201400" cy="80467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541264"/>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31136"/>
            <a:ext cx="5056631"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книга «The Mom Test», Роб Фитцпатрик</a:t>
            </a:r>
          </a:p>
        </p:txBody>
      </p:sp>
      <p:sp>
        <p:nvSpPr>
          <p:cNvPr id="17" name="Rounded Rectangle 16"/>
          <p:cNvSpPr/>
          <p:nvPr/>
        </p:nvSpPr>
        <p:spPr>
          <a:xfrm>
            <a:off x="6409944" y="2542032"/>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679191"/>
            <a:ext cx="310896" cy="310896"/>
          </a:xfrm>
          <a:prstGeom prst="rect">
            <a:avLst/>
          </a:prstGeom>
        </p:spPr>
      </p:pic>
      <p:sp>
        <p:nvSpPr>
          <p:cNvPr id="19" name="TextBox 18"/>
          <p:cNvSpPr txBox="1"/>
          <p:nvPr/>
        </p:nvSpPr>
        <p:spPr>
          <a:xfrm>
            <a:off x="7013448" y="2542032"/>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18687"/>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55847"/>
            <a:ext cx="310896" cy="310896"/>
          </a:xfrm>
          <a:prstGeom prst="rect">
            <a:avLst/>
          </a:prstGeom>
        </p:spPr>
      </p:pic>
      <p:sp>
        <p:nvSpPr>
          <p:cNvPr id="22" name="TextBox 21"/>
          <p:cNvSpPr txBox="1"/>
          <p:nvPr/>
        </p:nvSpPr>
        <p:spPr>
          <a:xfrm>
            <a:off x="7013448" y="3218687"/>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4974336"/>
            <a:ext cx="11201400" cy="13350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029200"/>
            <a:ext cx="10762488" cy="1225295"/>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Ссылка в отчёте не доказательство, пока её не открыли. Измерено на 53 090 ссылках из отчётов десяти моделей и исследовательских агентов: 3–13% ссылок выдуманы — их нет даже в веб-архиве, они не существовали никогда, и не открываются ещё от 5 до 18%. Отсюда прямая арифметика: при самом низком измеренном уровне 3% отчёт с 50 ссылками содержит хотя бы одну несуществующую с вероятностью 78% — это верхняя оценка: расчёт считает ссылки независимыми друг от друга. Deloitte сдала правительству Австралии отчёт за 440 000 австралийских долларов именно с таким содержимым.</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 слушают не содержание реплик, а то, где текст не работает.</a:t>
            </a:r>
          </a:p>
        </p:txBody>
      </p:sp>
      <p:sp>
        <p:nvSpPr>
          <p:cNvPr id="7" name="Rounded Rectangle 6"/>
          <p:cNvSpPr/>
          <p:nvPr/>
        </p:nvSpPr>
        <p:spPr>
          <a:xfrm>
            <a:off x="502920" y="1746681"/>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5183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5183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38121"/>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Описывают несколько разных типов клиента — </a:t>
            </a:r>
            <a:r>
              <a:rPr sz="1100" b="1" i="0">
                <a:solidFill>
                  <a:srgbClr val="065A82"/>
                </a:solidFill>
                <a:latin typeface="DejaVu Sans"/>
              </a:rPr>
              <a:t>не портретом</a:t>
            </a:r>
            <a:r>
              <a:rPr sz="1100" b="0" i="0">
                <a:solidFill>
                  <a:srgbClr val="21295C"/>
                </a:solidFill>
                <a:latin typeface="DejaVu Sans"/>
              </a:rPr>
              <a:t> («Анна, 34, любит удобные интерфейсы»), а по тому, как человек живёт с задачей: что делал перед тем, как начал искать решение, чем пользуется сейчас, во что это обходится в часах или деньгах, что однажды попробовал и бросил.</a:t>
            </a:r>
          </a:p>
        </p:txBody>
      </p:sp>
      <p:sp>
        <p:nvSpPr>
          <p:cNvPr id="13" name="Oval 12"/>
          <p:cNvSpPr/>
          <p:nvPr/>
        </p:nvSpPr>
        <p:spPr>
          <a:xfrm>
            <a:off x="1984248" y="26620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6620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648305"/>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9468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468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33147"/>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323170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3170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17989"/>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Читают </a:t>
            </a:r>
            <a:r>
              <a:rPr sz="1100" b="1" i="0">
                <a:solidFill>
                  <a:srgbClr val="065A82"/>
                </a:solidFill>
                <a:latin typeface="DejaVu Sans"/>
              </a:rPr>
              <a:t>не ответы, а две вещи</a:t>
            </a:r>
            <a:r>
              <a:rPr sz="1100" b="0" i="0">
                <a:solidFill>
                  <a:srgbClr val="21295C"/>
                </a:solidFill>
                <a:latin typeface="DejaVu Sans"/>
              </a:rPr>
              <a:t>. Вопрос, на который все ответили примерно одинаково, никого не различает — переписать. Вопрос, на который отвечают про воображаемое будущее («я бы этим пользовался»), подталкивает к вежливой выдумке вместо воспоминания — переписать.</a:t>
            </a:r>
          </a:p>
        </p:txBody>
      </p:sp>
      <p:sp>
        <p:nvSpPr>
          <p:cNvPr id="22" name="Rounded Rectangle 21"/>
          <p:cNvSpPr/>
          <p:nvPr/>
        </p:nvSpPr>
        <p:spPr>
          <a:xfrm>
            <a:off x="876452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892540" y="2121585"/>
            <a:ext cx="182880" cy="182880"/>
          </a:xfrm>
          <a:prstGeom prst="rect">
            <a:avLst/>
          </a:prstGeom>
        </p:spPr>
      </p:pic>
      <p:cxnSp>
        <p:nvCxnSpPr>
          <p:cNvPr id="24" name="Connector 23"/>
          <p:cNvCxnSpPr/>
          <p:nvPr/>
        </p:nvCxnSpPr>
        <p:spPr>
          <a:xfrm>
            <a:off x="920343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31316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441180" y="2121585"/>
            <a:ext cx="182880" cy="182880"/>
          </a:xfrm>
          <a:prstGeom prst="rect">
            <a:avLst/>
          </a:prstGeom>
        </p:spPr>
      </p:pic>
      <p:cxnSp>
        <p:nvCxnSpPr>
          <p:cNvPr id="27" name="Connector 26"/>
          <p:cNvCxnSpPr/>
          <p:nvPr/>
        </p:nvCxnSpPr>
        <p:spPr>
          <a:xfrm>
            <a:off x="975207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86180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989819" y="2121585"/>
            <a:ext cx="182880" cy="182880"/>
          </a:xfrm>
          <a:prstGeom prst="rect">
            <a:avLst/>
          </a:prstGeom>
        </p:spPr>
      </p:pic>
      <p:cxnSp>
        <p:nvCxnSpPr>
          <p:cNvPr id="30" name="Connector 29"/>
          <p:cNvCxnSpPr/>
          <p:nvPr/>
        </p:nvCxnSpPr>
        <p:spPr>
          <a:xfrm>
            <a:off x="1030071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41044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538459" y="2121585"/>
            <a:ext cx="182880" cy="182880"/>
          </a:xfrm>
          <a:prstGeom prst="rect">
            <a:avLst/>
          </a:prstGeom>
        </p:spPr>
      </p:pic>
      <p:cxnSp>
        <p:nvCxnSpPr>
          <p:cNvPr id="33" name="Connector 32"/>
          <p:cNvCxnSpPr/>
          <p:nvPr/>
        </p:nvCxnSpPr>
        <p:spPr>
          <a:xfrm>
            <a:off x="1084935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95908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1087100" y="2121585"/>
            <a:ext cx="182880" cy="182880"/>
          </a:xfrm>
          <a:prstGeom prst="rect">
            <a:avLst/>
          </a:prstGeom>
        </p:spPr>
      </p:pic>
      <p:pic>
        <p:nvPicPr>
          <p:cNvPr id="36" name="Picture 35" descr="x-gold.png"/>
          <p:cNvPicPr>
            <a:picLocks noChangeAspect="1"/>
          </p:cNvPicPr>
          <p:nvPr/>
        </p:nvPicPr>
        <p:blipFill>
          <a:blip r:embed="rId3"/>
          <a:stretch>
            <a:fillRect/>
          </a:stretch>
        </p:blipFill>
        <p:spPr>
          <a:xfrm>
            <a:off x="9998963" y="2130729"/>
            <a:ext cx="164592" cy="164592"/>
          </a:xfrm>
          <a:prstGeom prst="rect">
            <a:avLst/>
          </a:prstGeom>
        </p:spPr>
      </p:pic>
      <p:sp>
        <p:nvSpPr>
          <p:cNvPr id="37" name="TextBox 36"/>
          <p:cNvSpPr txBox="1"/>
          <p:nvPr/>
        </p:nvSpPr>
        <p:spPr>
          <a:xfrm>
            <a:off x="8641080" y="2405049"/>
            <a:ext cx="288036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10081259" y="267936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686800" y="2898825"/>
            <a:ext cx="2788920" cy="713232"/>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69096" y="2898825"/>
            <a:ext cx="2624328" cy="713232"/>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4206417"/>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206417"/>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206417"/>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297857"/>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Ответы собеседников — не данные о пользователях, и цитировать их как мнение нельзя: модель одна, и пять таких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50" b="1" i="0">
                <a:solidFill>
                  <a:srgbClr val="21295C"/>
                </a:solidFill>
                <a:latin typeface="DejaVu Sans"/>
              </a:rPr>
              <a:t>16 против 31</a:t>
            </a:r>
            <a:r>
              <a:rPr sz="1150" b="1" i="0">
                <a:solidFill>
                  <a:srgbClr val="21295C"/>
                </a:solidFill>
                <a:latin typeface="DejaVu Sans"/>
              </a:rPr>
              <a:t>) — согласие выглядит прочнее, чем оно есть, ровно там, где живые люди расходятся сильнее всего. Приём запущен неправильно, если из прогона вынесен вывод о продукте, а не о формулировке вопроса.</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не ощущение «пользователи недовольны», а названная тема боли с дословными цитатами и указанием, с кем об этом говорить живьём.</a:t>
            </a:r>
          </a:p>
        </p:txBody>
      </p:sp>
      <p:sp>
        <p:nvSpPr>
          <p:cNvPr id="7" name="Rounded Rectangle 6"/>
          <p:cNvSpPr/>
          <p:nvPr/>
        </p:nvSpPr>
        <p:spPr>
          <a:xfrm>
            <a:off x="502920" y="1746681"/>
            <a:ext cx="1152144" cy="192024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192024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080259" y="1838121"/>
            <a:ext cx="2907792" cy="310896"/>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white.png"/>
          <p:cNvPicPr>
            <a:picLocks noChangeAspect="1"/>
          </p:cNvPicPr>
          <p:nvPr/>
        </p:nvPicPr>
        <p:blipFill>
          <a:blip r:embed="rId2"/>
          <a:stretch>
            <a:fillRect/>
          </a:stretch>
        </p:blipFill>
        <p:spPr>
          <a:xfrm>
            <a:off x="2171699" y="1892985"/>
            <a:ext cx="201168" cy="201168"/>
          </a:xfrm>
          <a:prstGeom prst="rect">
            <a:avLst/>
          </a:prstGeom>
        </p:spPr>
      </p:pic>
      <p:sp>
        <p:nvSpPr>
          <p:cNvPr id="12" name="TextBox 11"/>
          <p:cNvSpPr txBox="1"/>
          <p:nvPr/>
        </p:nvSpPr>
        <p:spPr>
          <a:xfrm>
            <a:off x="2427731"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1. СЛОЖИТЬ И РАЗМЕТИТЬ</a:t>
            </a:r>
          </a:p>
        </p:txBody>
      </p:sp>
      <p:sp>
        <p:nvSpPr>
          <p:cNvPr id="13" name="TextBox 12"/>
          <p:cNvSpPr txBox="1"/>
          <p:nvPr/>
        </p:nvSpPr>
        <p:spPr>
          <a:xfrm>
            <a:off x="2116835"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 Без разметки архив превращается в мешок текста: не отделить прошлогоднее от сегодняшнего и чужое от своего.</a:t>
            </a:r>
          </a:p>
        </p:txBody>
      </p:sp>
      <p:sp>
        <p:nvSpPr>
          <p:cNvPr id="14" name="Right Arrow 13"/>
          <p:cNvSpPr/>
          <p:nvPr/>
        </p:nvSpPr>
        <p:spPr>
          <a:xfrm>
            <a:off x="5033772"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98948" y="1838121"/>
            <a:ext cx="2907792" cy="310896"/>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earch-check-white.png"/>
          <p:cNvPicPr>
            <a:picLocks noChangeAspect="1"/>
          </p:cNvPicPr>
          <p:nvPr/>
        </p:nvPicPr>
        <p:blipFill>
          <a:blip r:embed="rId3"/>
          <a:stretch>
            <a:fillRect/>
          </a:stretch>
        </p:blipFill>
        <p:spPr>
          <a:xfrm>
            <a:off x="5390388" y="1892985"/>
            <a:ext cx="201168" cy="201168"/>
          </a:xfrm>
          <a:prstGeom prst="rect">
            <a:avLst/>
          </a:prstGeom>
        </p:spPr>
      </p:pic>
      <p:sp>
        <p:nvSpPr>
          <p:cNvPr id="17" name="TextBox 16"/>
          <p:cNvSpPr txBox="1"/>
          <p:nvPr/>
        </p:nvSpPr>
        <p:spPr>
          <a:xfrm>
            <a:off x="5646420"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2. ИСКАТЬ ДВУМЯ СПОСОБАМИ</a:t>
            </a:r>
          </a:p>
        </p:txBody>
      </p:sp>
      <p:sp>
        <p:nvSpPr>
          <p:cNvPr id="18" name="TextBox 17"/>
          <p:cNvSpPr txBox="1"/>
          <p:nvPr/>
        </p:nvSpPr>
        <p:spPr>
          <a:xfrm>
            <a:off x="5335524"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 точному совпадению слов и по смыслу. Точный код ошибки или номер заказа находит только первый способ, описание проблемы своими словами — только второй. Поодиночке каждый систематически промахивается.</a:t>
            </a:r>
          </a:p>
        </p:txBody>
      </p:sp>
      <p:sp>
        <p:nvSpPr>
          <p:cNvPr id="19" name="Right Arrow 18"/>
          <p:cNvSpPr/>
          <p:nvPr/>
        </p:nvSpPr>
        <p:spPr>
          <a:xfrm>
            <a:off x="8252460"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517636" y="1838121"/>
            <a:ext cx="2907792" cy="310896"/>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roup-white.png"/>
          <p:cNvPicPr>
            <a:picLocks noChangeAspect="1"/>
          </p:cNvPicPr>
          <p:nvPr/>
        </p:nvPicPr>
        <p:blipFill>
          <a:blip r:embed="rId4"/>
          <a:stretch>
            <a:fillRect/>
          </a:stretch>
        </p:blipFill>
        <p:spPr>
          <a:xfrm>
            <a:off x="8609076" y="1892985"/>
            <a:ext cx="201168" cy="201168"/>
          </a:xfrm>
          <a:prstGeom prst="rect">
            <a:avLst/>
          </a:prstGeom>
        </p:spPr>
      </p:pic>
      <p:sp>
        <p:nvSpPr>
          <p:cNvPr id="22" name="TextBox 21"/>
          <p:cNvSpPr txBox="1"/>
          <p:nvPr/>
        </p:nvSpPr>
        <p:spPr>
          <a:xfrm>
            <a:off x="8865108"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3. СОБРАТЬ ПОХОЖЕЕ В ГРУППЫ</a:t>
            </a:r>
          </a:p>
        </p:txBody>
      </p:sp>
      <p:sp>
        <p:nvSpPr>
          <p:cNvPr id="23" name="TextBox 22"/>
          <p:cNvSpPr txBox="1"/>
          <p:nvPr/>
        </p:nvSpPr>
        <p:spPr>
          <a:xfrm>
            <a:off x="8554211"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Каждую группу пересказывают в два приёма: сначала каждое обращение по отдельности, потом общее между ними. Пропуск первого приёма — потеря 20–40% деталей.</a:t>
            </a:r>
          </a:p>
        </p:txBody>
      </p:sp>
      <p:sp>
        <p:nvSpPr>
          <p:cNvPr id="24" name="Rounded Rectangle 23"/>
          <p:cNvSpPr/>
          <p:nvPr/>
        </p:nvSpPr>
        <p:spPr>
          <a:xfrm>
            <a:off x="502920" y="3730929"/>
            <a:ext cx="1152144" cy="170078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30929"/>
            <a:ext cx="1060704" cy="170078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6" name="Rounded Rectangle 25"/>
          <p:cNvSpPr/>
          <p:nvPr/>
        </p:nvSpPr>
        <p:spPr>
          <a:xfrm>
            <a:off x="1801368" y="3730929"/>
            <a:ext cx="9902952" cy="1700784"/>
          </a:xfrm>
          <a:prstGeom prst="roundRect">
            <a:avLst>
              <a:gd name="adj" fmla="val 17921"/>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822369"/>
            <a:ext cx="7205472" cy="1517904"/>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Архив смещён </a:t>
            </a:r>
            <a:r>
              <a:rPr sz="1100" b="1" i="0">
                <a:solidFill>
                  <a:srgbClr val="21295C"/>
                </a:solidFill>
                <a:latin typeface="DejaVu Sans"/>
              </a:rPr>
              <a:t>по построению</a:t>
            </a:r>
            <a:r>
              <a:rPr sz="1100" b="1" i="0">
                <a:solidFill>
                  <a:srgbClr val="21295C"/>
                </a:solidFill>
                <a:latin typeface="DejaVu Sans"/>
              </a:rPr>
              <a:t>, а не по недосмотру: в нём есть только те, кто дошёл до жалобы. Объём этого не лечит — сто тысяч обращений смещены ровно так же, как тысяча, потому что </a:t>
            </a:r>
            <a:r>
              <a:rPr sz="1100" b="1" i="0">
                <a:solidFill>
                  <a:srgbClr val="21295C"/>
                </a:solidFill>
                <a:latin typeface="DejaVu Sans"/>
              </a:rPr>
              <a:t>не бывает обращения «мне нужно то, чего у вас вообще нет»</a:t>
            </a:r>
            <a:r>
              <a:rPr sz="1100" b="1" i="0">
                <a:solidFill>
                  <a:srgbClr val="21295C"/>
                </a:solidFill>
                <a:latin typeface="DejaVu Sans"/>
              </a:rPr>
              <a:t>. На вопрос «чего у нас нет» и «почему люди не доходят до регистрации» этот приём не отвечает вообще — нужен разговор с теми, кто ушёл. И второе: поиск возвращает </a:t>
            </a:r>
            <a:r>
              <a:rPr sz="1100" b="1" i="0">
                <a:solidFill>
                  <a:srgbClr val="21295C"/>
                </a:solidFill>
                <a:latin typeface="DejaVu Sans"/>
              </a:rPr>
              <a:t>похожие</a:t>
            </a:r>
            <a:r>
              <a:rPr sz="1100" b="1" i="0">
                <a:solidFill>
                  <a:srgbClr val="21295C"/>
                </a:solidFill>
                <a:latin typeface="DejaVu Sans"/>
              </a:rPr>
              <a:t> обращения, а не важные. Десять тысяч жалоб на опечатку в письме — это по-прежнему одна опечатка, просто заметная в масштабе.</a:t>
            </a:r>
          </a:p>
        </p:txBody>
      </p:sp>
      <p:sp>
        <p:nvSpPr>
          <p:cNvPr id="28" name="Rounded Rectangle 27"/>
          <p:cNvSpPr/>
          <p:nvPr/>
        </p:nvSpPr>
        <p:spPr>
          <a:xfrm>
            <a:off x="9372600" y="3840657"/>
            <a:ext cx="2103120" cy="1481328"/>
          </a:xfrm>
          <a:prstGeom prst="roundRect">
            <a:avLst>
              <a:gd name="adj" fmla="val 12002"/>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unnel-gold.png"/>
          <p:cNvPicPr>
            <a:picLocks noChangeAspect="1"/>
          </p:cNvPicPr>
          <p:nvPr/>
        </p:nvPicPr>
        <p:blipFill>
          <a:blip r:embed="rId5"/>
          <a:stretch>
            <a:fillRect/>
          </a:stretch>
        </p:blipFill>
        <p:spPr>
          <a:xfrm>
            <a:off x="9482328" y="3968673"/>
            <a:ext cx="274320" cy="274320"/>
          </a:xfrm>
          <a:prstGeom prst="rect">
            <a:avLst/>
          </a:prstGeom>
        </p:spPr>
      </p:pic>
      <p:sp>
        <p:nvSpPr>
          <p:cNvPr id="30" name="TextBox 29"/>
          <p:cNvSpPr txBox="1"/>
          <p:nvPr/>
        </p:nvSpPr>
        <p:spPr>
          <a:xfrm>
            <a:off x="9829800" y="3950385"/>
            <a:ext cx="1554480" cy="36576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31" name="Rounded Rectangle 30"/>
          <p:cNvSpPr/>
          <p:nvPr/>
        </p:nvSpPr>
        <p:spPr>
          <a:xfrm>
            <a:off x="9518904" y="4480737"/>
            <a:ext cx="181051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18904" y="470019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33" name="Rounded Rectangle 32"/>
          <p:cNvSpPr/>
          <p:nvPr/>
        </p:nvSpPr>
        <p:spPr>
          <a:xfrm>
            <a:off x="9518904" y="4956225"/>
            <a:ext cx="365760" cy="20116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39528" y="4956225"/>
            <a:ext cx="1417320" cy="219456"/>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35" name="TextBox 3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217420" y="969264"/>
            <a:ext cx="731520" cy="731520"/>
          </a:xfrm>
          <a:prstGeom prst="rect">
            <a:avLst/>
          </a:prstGeom>
        </p:spPr>
      </p:pic>
      <p:sp>
        <p:nvSpPr>
          <p:cNvPr id="5" name="TextBox 4"/>
          <p:cNvSpPr txBox="1"/>
          <p:nvPr/>
        </p:nvSpPr>
        <p:spPr>
          <a:xfrm>
            <a:off x="731520" y="1792224"/>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194560"/>
            <a:ext cx="1737360" cy="1024128"/>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28600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2194560"/>
            <a:ext cx="1737360" cy="102412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28600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346704"/>
            <a:ext cx="3703320" cy="841248"/>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доля случаев, в которых тон ответа модели сдвигается к позитиву (5 моделей). Не «частота отрицательного ответа» — именно сдвиг тона.</a:t>
            </a:r>
          </a:p>
        </p:txBody>
      </p:sp>
      <p:sp>
        <p:nvSpPr>
          <p:cNvPr id="13" name="TextBox 12"/>
          <p:cNvSpPr txBox="1"/>
          <p:nvPr/>
        </p:nvSpPr>
        <p:spPr>
          <a:xfrm>
            <a:off x="731520" y="429768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соавторы, 2023 — рисунок 1</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3"/>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3"/>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3"/>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Тереза Торрес —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Помощник врача, обученный на придуманных случаях: рекомендации назвали небезопасными</a:t>
            </a:r>
          </a:p>
        </p:txBody>
      </p:sp>
      <p:sp>
        <p:nvSpPr>
          <p:cNvPr id="3" name="Rounded Rectangle 2"/>
          <p:cNvSpPr/>
          <p:nvPr/>
        </p:nvSpPr>
        <p:spPr>
          <a:xfrm>
            <a:off x="502920" y="1005840"/>
            <a:ext cx="11201400" cy="93268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59536"/>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С 2012 года компания IBM вместе с онкологическим центром Memorial Sloan Kettering разрабатывала Watson for Oncology — систему, подсказывающую врачу схему лечения рака. С 2015 года её продавали больницам по всему миру. 25 июля 2018 года издание STAT News опубликовало утёкшие внутренние документы компании.</a:t>
            </a:r>
          </a:p>
        </p:txBody>
      </p:sp>
      <p:sp>
        <p:nvSpPr>
          <p:cNvPr id="6" name="Rounded Rectangle 5"/>
          <p:cNvSpPr/>
          <p:nvPr/>
        </p:nvSpPr>
        <p:spPr>
          <a:xfrm>
            <a:off x="502920" y="2029968"/>
            <a:ext cx="5532120" cy="2286000"/>
          </a:xfrm>
          <a:prstGeom prst="roundRect">
            <a:avLst>
              <a:gd name="adj" fmla="val 13333"/>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e-warning-mid.png"/>
          <p:cNvPicPr>
            <a:picLocks noChangeAspect="1"/>
          </p:cNvPicPr>
          <p:nvPr/>
        </p:nvPicPr>
        <p:blipFill>
          <a:blip r:embed="rId3"/>
          <a:stretch>
            <a:fillRect/>
          </a:stretch>
        </p:blipFill>
        <p:spPr>
          <a:xfrm>
            <a:off x="722376" y="2157984"/>
            <a:ext cx="420624" cy="420624"/>
          </a:xfrm>
          <a:prstGeom prst="rect">
            <a:avLst/>
          </a:prstGeom>
        </p:spPr>
      </p:pic>
      <p:sp>
        <p:nvSpPr>
          <p:cNvPr id="8" name="TextBox 7"/>
          <p:cNvSpPr txBox="1"/>
          <p:nvPr/>
        </p:nvSpPr>
        <p:spPr>
          <a:xfrm>
            <a:off x="1271016" y="2194560"/>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документы</a:t>
            </a:r>
          </a:p>
        </p:txBody>
      </p:sp>
      <p:sp>
        <p:nvSpPr>
          <p:cNvPr id="9" name="TextBox 8"/>
          <p:cNvSpPr txBox="1"/>
          <p:nvPr/>
        </p:nvSpPr>
        <p:spPr>
          <a:xfrm>
            <a:off x="740664" y="2633472"/>
            <a:ext cx="5056631"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Сотрудники в переписке называли рекомендации системы «небезопасными и некорректными»</a:t>
            </a:r>
          </a:p>
        </p:txBody>
      </p:sp>
      <p:sp>
        <p:nvSpPr>
          <p:cNvPr id="10" name="TextBox 9"/>
          <p:cNvSpPr txBox="1"/>
          <p:nvPr/>
        </p:nvSpPr>
        <p:spPr>
          <a:xfrm>
            <a:off x="740664" y="3328415"/>
            <a:ext cx="5056631" cy="84124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Разобранный пример: препарат назначен гипотетическому пациенту с активным кровотечением — вопреки прямому предупреждению производителя против такого применения</a:t>
            </a:r>
          </a:p>
        </p:txBody>
      </p:sp>
      <p:sp>
        <p:nvSpPr>
          <p:cNvPr id="11" name="Rounded Rectangle 10"/>
          <p:cNvSpPr/>
          <p:nvPr/>
        </p:nvSpPr>
        <p:spPr>
          <a:xfrm>
            <a:off x="6172200" y="2029968"/>
            <a:ext cx="5532120" cy="2286000"/>
          </a:xfrm>
          <a:prstGeom prst="roundRect">
            <a:avLst>
              <a:gd name="adj" fmla="val 133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sk-conical-teal.png"/>
          <p:cNvPicPr>
            <a:picLocks noChangeAspect="1"/>
          </p:cNvPicPr>
          <p:nvPr/>
        </p:nvPicPr>
        <p:blipFill>
          <a:blip r:embed="rId4"/>
          <a:stretch>
            <a:fillRect/>
          </a:stretch>
        </p:blipFill>
        <p:spPr>
          <a:xfrm>
            <a:off x="6391656" y="2157984"/>
            <a:ext cx="420624" cy="420624"/>
          </a:xfrm>
          <a:prstGeom prst="rect">
            <a:avLst/>
          </a:prstGeom>
        </p:spPr>
      </p:pic>
      <p:sp>
        <p:nvSpPr>
          <p:cNvPr id="13" name="TextBox 12"/>
          <p:cNvSpPr txBox="1"/>
          <p:nvPr/>
        </p:nvSpPr>
        <p:spPr>
          <a:xfrm>
            <a:off x="6940296" y="2194560"/>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Почему так вышло</a:t>
            </a:r>
          </a:p>
        </p:txBody>
      </p:sp>
      <p:sp>
        <p:nvSpPr>
          <p:cNvPr id="14" name="Rounded Rectangle 13"/>
          <p:cNvSpPr/>
          <p:nvPr/>
        </p:nvSpPr>
        <p:spPr>
          <a:xfrm>
            <a:off x="6409944"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придуманные случаи</a:t>
            </a:r>
          </a:p>
          <a:p>
            <a:pPr algn="ctr">
              <a:lnSpc>
                <a:spcPct val="106000"/>
              </a:lnSpc>
            </a:pPr>
            <a:r>
              <a:rPr sz="950" b="1" i="0">
                <a:solidFill>
                  <a:srgbClr val="21295C"/>
                </a:solidFill>
                <a:latin typeface="DejaVu Sans"/>
              </a:rPr>
              <a:t>(на них обучали)</a:t>
            </a:r>
          </a:p>
        </p:txBody>
      </p:sp>
      <p:sp>
        <p:nvSpPr>
          <p:cNvPr id="16" name="Rounded Rectangle 15"/>
          <p:cNvSpPr/>
          <p:nvPr/>
        </p:nvSpPr>
        <p:spPr>
          <a:xfrm>
            <a:off x="9409176"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реальные исходы лечения</a:t>
            </a:r>
          </a:p>
          <a:p>
            <a:pPr algn="ctr">
              <a:lnSpc>
                <a:spcPct val="106000"/>
              </a:lnSpc>
            </a:pPr>
            <a:r>
              <a:rPr sz="950" b="1" i="0">
                <a:solidFill>
                  <a:srgbClr val="21295C"/>
                </a:solidFill>
                <a:latin typeface="DejaVu Sans"/>
              </a:rPr>
              <a:t>(на них не обучали)</a:t>
            </a:r>
          </a:p>
        </p:txBody>
      </p:sp>
      <p:cxnSp>
        <p:nvCxnSpPr>
          <p:cNvPr id="18" name="Connector 17"/>
          <p:cNvCxnSpPr/>
          <p:nvPr/>
        </p:nvCxnSpPr>
        <p:spPr>
          <a:xfrm>
            <a:off x="8540496" y="2880360"/>
            <a:ext cx="795528" cy="0"/>
          </a:xfrm>
          <a:prstGeom prst="line">
            <a:avLst/>
          </a:prstGeom>
          <a:ln w="17780">
            <a:solidFill>
              <a:srgbClr val="5B6678"/>
            </a:solidFill>
            <a:prstDash val="dash"/>
          </a:ln>
        </p:spPr>
        <p:style>
          <a:lnRef idx="2">
            <a:schemeClr val="accent1"/>
          </a:lnRef>
          <a:fillRef idx="0">
            <a:schemeClr val="accent1"/>
          </a:fillRef>
          <a:effectRef idx="1">
            <a:schemeClr val="accent1"/>
          </a:effectRef>
          <a:fontRef idx="minor">
            <a:schemeClr val="tx1"/>
          </a:fontRef>
        </p:style>
      </p:cxnSp>
      <p:pic>
        <p:nvPicPr>
          <p:cNvPr id="19" name="Picture 18" descr="x-gold.png"/>
          <p:cNvPicPr>
            <a:picLocks noChangeAspect="1"/>
          </p:cNvPicPr>
          <p:nvPr/>
        </p:nvPicPr>
        <p:blipFill>
          <a:blip r:embed="rId5"/>
          <a:stretch>
            <a:fillRect/>
          </a:stretch>
        </p:blipFill>
        <p:spPr>
          <a:xfrm>
            <a:off x="8846820" y="2788920"/>
            <a:ext cx="182880" cy="182880"/>
          </a:xfrm>
          <a:prstGeom prst="rect">
            <a:avLst/>
          </a:prstGeom>
        </p:spPr>
      </p:pic>
      <p:sp>
        <p:nvSpPr>
          <p:cNvPr id="20" name="TextBox 19"/>
          <p:cNvSpPr txBox="1"/>
          <p:nvPr/>
        </p:nvSpPr>
        <p:spPr>
          <a:xfrm>
            <a:off x="8467344" y="3163824"/>
            <a:ext cx="941832" cy="201168"/>
          </a:xfrm>
          <a:prstGeom prst="rect">
            <a:avLst/>
          </a:prstGeom>
          <a:noFill/>
        </p:spPr>
        <p:txBody>
          <a:bodyPr wrap="square" lIns="0" rIns="0" tIns="0" bIns="0" anchor="t">
            <a:spAutoFit/>
          </a:bodyPr>
          <a:lstStyle/>
          <a:p>
            <a:pPr algn="ctr">
              <a:lnSpc>
                <a:spcPct val="115000"/>
              </a:lnSpc>
            </a:pPr>
            <a:r>
              <a:rPr sz="850" b="0" i="1">
                <a:solidFill>
                  <a:srgbClr val="5B6678"/>
                </a:solidFill>
                <a:latin typeface="DejaVu Sans"/>
              </a:rPr>
              <a:t>сверки нет</a:t>
            </a:r>
          </a:p>
        </p:txBody>
      </p:sp>
      <p:sp>
        <p:nvSpPr>
          <p:cNvPr id="21" name="TextBox 20"/>
          <p:cNvSpPr txBox="1"/>
          <p:nvPr/>
        </p:nvSpPr>
        <p:spPr>
          <a:xfrm>
            <a:off x="6409944" y="3383280"/>
            <a:ext cx="5056631" cy="8778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Обучали на небольшом числе придуманных случаев, размеченных горсткой врачей одной клиники: материал правдоподобный, непротиворечивый и полностью выдуманный. Мнение горстки врачей при этом выдано за отраслевой стандарт.</a:t>
            </a:r>
          </a:p>
        </p:txBody>
      </p:sp>
      <p:sp>
        <p:nvSpPr>
          <p:cNvPr id="22" name="Rounded Rectangle 21"/>
          <p:cNvSpPr/>
          <p:nvPr/>
        </p:nvSpPr>
        <p:spPr>
          <a:xfrm>
            <a:off x="502920" y="4480560"/>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535424"/>
            <a:ext cx="10762488" cy="10058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Тот же класс сбоя, что двумя слайдами раньше: правдоподобный материал принят за реальный. Разница только в цене ошибки — здесь она измеряется в людях, а не в возвращённом гонораре. Чем выше цена ошибки, тем строже требование: материал, на котором строится решение, должен прослеживаться до зафиксированного прошлого, а не до правдоподобного.</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IEEE Spectrum — как Watson переобещал и недодал</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кого продукт может задеть: это решение принимают в задании на дизайн, потом уже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41324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68112"/>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05840"/>
            <a:ext cx="5303520"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Что машина делает сама</a:t>
            </a:r>
          </a:p>
        </p:txBody>
      </p:sp>
      <p:sp>
        <p:nvSpPr>
          <p:cNvPr id="5" name="Rounded Rectangle 4"/>
          <p:cNvSpPr/>
          <p:nvPr/>
        </p:nvSpPr>
        <p:spPr>
          <a:xfrm>
            <a:off x="713232"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24712" y="1463040"/>
            <a:ext cx="347472" cy="347472"/>
          </a:xfrm>
          <a:prstGeom prst="rect">
            <a:avLst/>
          </a:prstGeom>
        </p:spPr>
      </p:pic>
      <p:sp>
        <p:nvSpPr>
          <p:cNvPr id="7" name="TextBox 6"/>
          <p:cNvSpPr txBox="1"/>
          <p:nvPr/>
        </p:nvSpPr>
        <p:spPr>
          <a:xfrm>
            <a:off x="713232"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1</a:t>
            </a:r>
          </a:p>
        </p:txBody>
      </p:sp>
      <p:sp>
        <p:nvSpPr>
          <p:cNvPr id="8" name="Rounded Rectangle 7"/>
          <p:cNvSpPr/>
          <p:nvPr/>
        </p:nvSpPr>
        <p:spPr>
          <a:xfrm>
            <a:off x="2029967"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441448" y="1463040"/>
            <a:ext cx="347472" cy="347472"/>
          </a:xfrm>
          <a:prstGeom prst="rect">
            <a:avLst/>
          </a:prstGeom>
        </p:spPr>
      </p:pic>
      <p:sp>
        <p:nvSpPr>
          <p:cNvPr id="10" name="TextBox 9"/>
          <p:cNvSpPr txBox="1"/>
          <p:nvPr/>
        </p:nvSpPr>
        <p:spPr>
          <a:xfrm>
            <a:off x="2029967"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2</a:t>
            </a:r>
          </a:p>
        </p:txBody>
      </p:sp>
      <p:sp>
        <p:nvSpPr>
          <p:cNvPr id="11" name="Rounded Rectangle 10"/>
          <p:cNvSpPr/>
          <p:nvPr/>
        </p:nvSpPr>
        <p:spPr>
          <a:xfrm>
            <a:off x="3346704"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758184" y="1463040"/>
            <a:ext cx="347472" cy="347472"/>
          </a:xfrm>
          <a:prstGeom prst="rect">
            <a:avLst/>
          </a:prstGeom>
        </p:spPr>
      </p:pic>
      <p:sp>
        <p:nvSpPr>
          <p:cNvPr id="13" name="TextBox 12"/>
          <p:cNvSpPr txBox="1"/>
          <p:nvPr/>
        </p:nvSpPr>
        <p:spPr>
          <a:xfrm>
            <a:off x="3346704"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3</a:t>
            </a:r>
          </a:p>
        </p:txBody>
      </p:sp>
      <p:sp>
        <p:nvSpPr>
          <p:cNvPr id="14" name="Rounded Rectangle 13"/>
          <p:cNvSpPr/>
          <p:nvPr/>
        </p:nvSpPr>
        <p:spPr>
          <a:xfrm>
            <a:off x="4663440"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074920" y="1463040"/>
            <a:ext cx="347472" cy="347472"/>
          </a:xfrm>
          <a:prstGeom prst="rect">
            <a:avLst/>
          </a:prstGeom>
        </p:spPr>
      </p:pic>
      <p:sp>
        <p:nvSpPr>
          <p:cNvPr id="16" name="TextBox 15"/>
          <p:cNvSpPr txBox="1"/>
          <p:nvPr/>
        </p:nvSpPr>
        <p:spPr>
          <a:xfrm>
            <a:off x="4663440"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4</a:t>
            </a:r>
          </a:p>
        </p:txBody>
      </p:sp>
      <p:sp>
        <p:nvSpPr>
          <p:cNvPr id="17" name="Rounded Rectangle 16"/>
          <p:cNvSpPr/>
          <p:nvPr/>
        </p:nvSpPr>
        <p:spPr>
          <a:xfrm>
            <a:off x="713232" y="2377440"/>
            <a:ext cx="5285232"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2432304"/>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19" name="Rounded Rectangle 1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21" name="TextBox 2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22" name="Rounded Rectangle 2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24" name="TextBox 2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25" name="TextBox 2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26" name="TextBox 2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27" name="Rounded Rectangle 26"/>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2297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Машина расширяет набор вариантов. Свести их к одному — решение о конкретном случае: о ваших пользователях, ваших ограничениях и вашем контексте, которых в обучающих данных нет. Поэтому выбирает и отвечает за выбор человек.</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Стюарт и соавторы — рандомизированный опыт, arXiv:2609.26725 (22 сент.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275207"/>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27520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275207"/>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1092327"/>
          </a:xfrm>
          <a:prstGeom prst="rect">
            <a:avLst/>
          </a:prstGeom>
          <a:noFill/>
        </p:spPr>
        <p:txBody>
          <a:bodyPr wrap="square" lIns="0" rIns="0" tIns="0" bIns="0" anchor="ctr">
            <a:spAutoFit/>
          </a:bodyPr>
          <a:lstStyle/>
          <a:p>
            <a:pPr algn="l">
              <a:lnSpc>
                <a:spcPct val="114000"/>
              </a:lnSpc>
            </a:pPr>
            <a:r>
              <a:rPr sz="1200" b="1" i="0">
                <a:solidFill>
                  <a:srgbClr val="028090"/>
                </a:solidFill>
                <a:latin typeface="DejaVu Sans"/>
              </a:rPr>
              <a:t>Дизайн-система</a:t>
            </a:r>
            <a:r>
              <a:rPr sz="1200" b="0" i="0">
                <a:solidFill>
                  <a:srgbClr val="21295C"/>
                </a:solidFill>
                <a:latin typeface="DejaVu Sans"/>
              </a:rPr>
              <a:t> — это общий свод правил интерфейса продукта и набор готовых деталей к нему: какие сочетания цветов допустимы, какого размера бывают кнопки и поля ввода, как выглядит элемент, на котором сейчас стоит курсор, из чего собираются типовые блоки. Раньше это был документ для людей. Сейчас важнее другое: часть этих правил можно записать так, чтобы читал и проверял их не человек глазами, а машина, — и именно эта часть превращает свод правил в настоящий ограничитель для генератора.</a:t>
            </a:r>
          </a:p>
        </p:txBody>
      </p:sp>
      <p:sp>
        <p:nvSpPr>
          <p:cNvPr id="7" name="Rounded Rectangle 6"/>
          <p:cNvSpPr/>
          <p:nvPr/>
        </p:nvSpPr>
        <p:spPr>
          <a:xfrm>
            <a:off x="502920" y="2164740"/>
            <a:ext cx="1152144" cy="28529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64740"/>
            <a:ext cx="1060704" cy="28529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2164740"/>
            <a:ext cx="9902952"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256180"/>
            <a:ext cx="9537192" cy="256032"/>
          </a:xfrm>
          <a:prstGeom prst="rect">
            <a:avLst/>
          </a:prstGeom>
          <a:noFill/>
        </p:spPr>
        <p:txBody>
          <a:bodyPr wrap="square" lIns="0" rIns="0" tIns="0" bIns="0" anchor="t">
            <a:spAutoFit/>
          </a:bodyPr>
          <a:lstStyle/>
          <a:p>
            <a:pPr algn="l">
              <a:lnSpc>
                <a:spcPct val="105000"/>
              </a:lnSpc>
            </a:pPr>
            <a:r>
              <a:rPr sz="950" b="0" i="1">
                <a:solidFill>
                  <a:srgbClr val="5B6678"/>
                </a:solidFill>
                <a:latin typeface="DejaVu Sans"/>
              </a:rPr>
              <a:t>Слои уложены снизу вверх: каждый следующий сильнее предыдущего, и только верхний превращает пожелание в гарантию.</a:t>
            </a:r>
          </a:p>
        </p:txBody>
      </p:sp>
      <p:sp>
        <p:nvSpPr>
          <p:cNvPr id="11" name="Rounded Rectangle 10"/>
          <p:cNvSpPr/>
          <p:nvPr/>
        </p:nvSpPr>
        <p:spPr>
          <a:xfrm>
            <a:off x="1984248" y="2548788"/>
            <a:ext cx="9537192" cy="987552"/>
          </a:xfrm>
          <a:prstGeom prst="roundRect">
            <a:avLst>
              <a:gd name="adj" fmla="val 20576"/>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548788"/>
            <a:ext cx="2212848" cy="987552"/>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923692"/>
            <a:ext cx="237744" cy="237744"/>
          </a:xfrm>
          <a:prstGeom prst="rect">
            <a:avLst/>
          </a:prstGeom>
        </p:spPr>
      </p:pic>
      <p:sp>
        <p:nvSpPr>
          <p:cNvPr id="14" name="TextBox 13"/>
          <p:cNvSpPr txBox="1"/>
          <p:nvPr/>
        </p:nvSpPr>
        <p:spPr>
          <a:xfrm>
            <a:off x="2423160" y="2548788"/>
            <a:ext cx="1719072" cy="987552"/>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3. ПРОВЕРКА,</a:t>
            </a:r>
          </a:p>
          <a:p>
            <a:pPr algn="l">
              <a:lnSpc>
                <a:spcPct val="102000"/>
              </a:lnSpc>
            </a:pPr>
            <a:r>
              <a:rPr sz="950" b="1" i="0">
                <a:solidFill>
                  <a:srgbClr val="FFFFFF"/>
                </a:solidFill>
                <a:latin typeface="DejaVu Sans"/>
              </a:rPr>
              <a:t>ОСТАНАВЛИВАЮЩАЯ</a:t>
            </a:r>
          </a:p>
          <a:p>
            <a:pPr algn="l">
              <a:lnSpc>
                <a:spcPct val="102000"/>
              </a:lnSpc>
            </a:pPr>
            <a:r>
              <a:rPr sz="950" b="1" i="0">
                <a:solidFill>
                  <a:srgbClr val="FFFFFF"/>
                </a:solidFill>
                <a:latin typeface="DejaVu Sans"/>
              </a:rPr>
              <a:t>ВЫПУСК</a:t>
            </a:r>
          </a:p>
        </p:txBody>
      </p:sp>
      <p:sp>
        <p:nvSpPr>
          <p:cNvPr id="15" name="TextBox 14"/>
          <p:cNvSpPr txBox="1"/>
          <p:nvPr/>
        </p:nvSpPr>
        <p:spPr>
          <a:xfrm>
            <a:off x="4325112" y="2585364"/>
            <a:ext cx="7086600" cy="914400"/>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Правило проверяют автоматически на каждом сгенерированном экране, и нарушение не обсуждают, а блокируют — ровно как красный тест не пускает изменение дальше. </a:t>
            </a:r>
            <a:r>
              <a:rPr sz="1100" b="1" i="0">
                <a:solidFill>
                  <a:srgbClr val="065A82"/>
                </a:solidFill>
                <a:latin typeface="DejaVu Sans"/>
              </a:rPr>
              <a:t>Гарантию даёт только этот слой.</a:t>
            </a:r>
            <a:r>
              <a:rPr sz="1100" b="0" i="0">
                <a:solidFill>
                  <a:srgbClr val="21295C"/>
                </a:solidFill>
                <a:latin typeface="DejaVu Sans"/>
              </a:rPr>
              <a:t> Готовые движки такой проверки (axe-core, pa11y, встроенная проверка Lighthouse) существуют давно и сами по себе к ИИ отношения не имеют — и это часть урока.</a:t>
            </a:r>
          </a:p>
        </p:txBody>
      </p:sp>
      <p:sp>
        <p:nvSpPr>
          <p:cNvPr id="16" name="Rounded Rectangle 15"/>
          <p:cNvSpPr/>
          <p:nvPr/>
        </p:nvSpPr>
        <p:spPr>
          <a:xfrm>
            <a:off x="1984248" y="3591204"/>
            <a:ext cx="8392728" cy="60350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3591204"/>
            <a:ext cx="2212848" cy="60350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774084"/>
            <a:ext cx="237744" cy="237744"/>
          </a:xfrm>
          <a:prstGeom prst="rect">
            <a:avLst/>
          </a:prstGeom>
        </p:spPr>
      </p:pic>
      <p:sp>
        <p:nvSpPr>
          <p:cNvPr id="19" name="TextBox 18"/>
          <p:cNvSpPr txBox="1"/>
          <p:nvPr/>
        </p:nvSpPr>
        <p:spPr>
          <a:xfrm>
            <a:off x="2423160" y="3591204"/>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2. СВОИ ДЕТАЛИ</a:t>
            </a:r>
          </a:p>
          <a:p>
            <a:pPr algn="l">
              <a:lnSpc>
                <a:spcPct val="102000"/>
              </a:lnSpc>
            </a:pPr>
            <a:r>
              <a:rPr sz="950" b="1" i="0">
                <a:solidFill>
                  <a:srgbClr val="FFFFFF"/>
                </a:solidFill>
                <a:latin typeface="DejaVu Sans"/>
              </a:rPr>
              <a:t>ВМЕСТО ЧУЖИХ</a:t>
            </a:r>
          </a:p>
          <a:p>
            <a:pPr algn="l">
              <a:lnSpc>
                <a:spcPct val="102000"/>
              </a:lnSpc>
            </a:pPr>
            <a:r>
              <a:rPr sz="950" b="1" i="0">
                <a:solidFill>
                  <a:srgbClr val="FFFFFF"/>
                </a:solidFill>
                <a:latin typeface="DejaVu Sans"/>
              </a:rPr>
              <a:t>ЗАГОТОВОК</a:t>
            </a:r>
          </a:p>
        </p:txBody>
      </p:sp>
      <p:sp>
        <p:nvSpPr>
          <p:cNvPr id="20" name="TextBox 19"/>
          <p:cNvSpPr txBox="1"/>
          <p:nvPr/>
        </p:nvSpPr>
        <p:spPr>
          <a:xfrm>
            <a:off x="4325112" y="3627780"/>
            <a:ext cx="5942136"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Генератору дают собственные детали команды, а не общие шаблоны: результат ближе к продукту и требует меньше переделки. Это </a:t>
            </a:r>
            <a:r>
              <a:rPr sz="1100"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4249572"/>
            <a:ext cx="7248265" cy="60350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4249572"/>
            <a:ext cx="2212848" cy="60350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4432452"/>
            <a:ext cx="237744" cy="237744"/>
          </a:xfrm>
          <a:prstGeom prst="rect">
            <a:avLst/>
          </a:prstGeom>
        </p:spPr>
      </p:pic>
      <p:sp>
        <p:nvSpPr>
          <p:cNvPr id="24" name="TextBox 23"/>
          <p:cNvSpPr txBox="1"/>
          <p:nvPr/>
        </p:nvSpPr>
        <p:spPr>
          <a:xfrm>
            <a:off x="2423160" y="4249572"/>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1. ПРАВИЛА,</a:t>
            </a:r>
          </a:p>
          <a:p>
            <a:pPr algn="l">
              <a:lnSpc>
                <a:spcPct val="102000"/>
              </a:lnSpc>
            </a:pPr>
            <a:r>
              <a:rPr sz="950" b="1" i="0">
                <a:solidFill>
                  <a:srgbClr val="FFFFFF"/>
                </a:solidFill>
                <a:latin typeface="DejaVu Sans"/>
              </a:rPr>
              <a:t>ЗАПИСАННЫЕ</a:t>
            </a:r>
          </a:p>
          <a:p>
            <a:pPr algn="l">
              <a:lnSpc>
                <a:spcPct val="102000"/>
              </a:lnSpc>
            </a:pPr>
            <a:r>
              <a:rPr sz="950" b="1" i="0">
                <a:solidFill>
                  <a:srgbClr val="FFFFFF"/>
                </a:solidFill>
                <a:latin typeface="DejaVu Sans"/>
              </a:rPr>
              <a:t>ЧИСЛАМИ</a:t>
            </a:r>
          </a:p>
        </p:txBody>
      </p:sp>
      <p:sp>
        <p:nvSpPr>
          <p:cNvPr id="25" name="TextBox 24"/>
          <p:cNvSpPr txBox="1"/>
          <p:nvPr/>
        </p:nvSpPr>
        <p:spPr>
          <a:xfrm>
            <a:off x="4325112" y="4286148"/>
            <a:ext cx="4797673"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Пока правило живёт в картинке макета или в устной договорённости, проверить его может только человек и только глазами. Записанное числом, оно становится проверяемым.</a:t>
            </a:r>
          </a:p>
        </p:txBody>
      </p:sp>
      <p:sp>
        <p:nvSpPr>
          <p:cNvPr id="26" name="Rounded Rectangle 25"/>
          <p:cNvSpPr/>
          <p:nvPr/>
        </p:nvSpPr>
        <p:spPr>
          <a:xfrm>
            <a:off x="502920" y="5081676"/>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81676"/>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8" name="Rounded Rectangle 27"/>
          <p:cNvSpPr/>
          <p:nvPr/>
        </p:nvSpPr>
        <p:spPr>
          <a:xfrm>
            <a:off x="1801368" y="5081676"/>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5173116"/>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Машина проверяет только то, что выражается числом: хватает ли контраста, велика ли кнопка, подписано ли поле. «Понятно ли это живому человеку» остаётся человеку: экран может пройти все проверки и остаться непонятным. Поэтому приём не отменяет ни обзор по десяти эвристикам Нильсена, ни показ живым людям. И главное: </a:t>
            </a:r>
            <a:r>
              <a:rPr sz="1150" b="1" i="0">
                <a:solidFill>
                  <a:srgbClr val="21295C"/>
                </a:solidFill>
                <a:latin typeface="DejaVu Sans"/>
              </a:rPr>
              <a:t>просьба к генератору механизмом контроля не является ни в какой формулировке.</a:t>
            </a:r>
            <a:r>
              <a:rPr sz="1150" b="1" i="0">
                <a:solidFill>
                  <a:srgbClr val="21295C"/>
                </a:solidFill>
                <a:latin typeface="DejaVu Sans"/>
              </a:rPr>
              <a:t> Механизм — это правило, которое умеет остановить выпуск.</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Rounded Rectangle 10"/>
          <p:cNvSpPr/>
          <p:nvPr/>
        </p:nvSpPr>
        <p:spPr>
          <a:xfrm>
            <a:off x="502920" y="3941063"/>
            <a:ext cx="11201400" cy="12435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005072"/>
            <a:ext cx="1078992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Второе ограничение: один и тот же запрос даёт разные ответы</a:t>
            </a:r>
          </a:p>
        </p:txBody>
      </p:sp>
      <p:sp>
        <p:nvSpPr>
          <p:cNvPr id="13" name="TextBox 12"/>
          <p:cNvSpPr txBox="1"/>
          <p:nvPr/>
        </p:nvSpPr>
        <p:spPr>
          <a:xfrm>
            <a:off x="713232" y="4279392"/>
            <a:ext cx="10789920" cy="822960"/>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Классические эвристики Нильсена исходят из того, что одинаковое действие даёт одинаковый результат. У продукта на языковой модели это не так. Из десяти эвристик буквально ломаются два. Единообразие приходится переносить с уровня точных слов на уровень тона и поведения. Помощь в распознавании ошибки ломается сильнее: система обычно не знает, что она неправа, и выдумку подаёт с той же уверенностью, что и точный факт.</a:t>
            </a:r>
          </a:p>
        </p:txBody>
      </p:sp>
      <p:sp>
        <p:nvSpPr>
          <p:cNvPr id="14" name="Rounded Rectangle 13"/>
          <p:cNvSpPr/>
          <p:nvPr/>
        </p:nvSpPr>
        <p:spPr>
          <a:xfrm>
            <a:off x="502920" y="5294376"/>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349240"/>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Защиту несовершеннолетних включили через три года после запуска — и через 21 месяц после смерти подростка</a:t>
            </a:r>
          </a:p>
        </p:txBody>
      </p:sp>
      <p:sp>
        <p:nvSpPr>
          <p:cNvPr id="3" name="Rounded Rectangle 2"/>
          <p:cNvSpPr/>
          <p:nvPr/>
        </p:nvSpPr>
        <p:spPr>
          <a:xfrm>
            <a:off x="502920" y="1024128"/>
            <a:ext cx="11201400" cy="1755648"/>
          </a:xfrm>
          <a:prstGeom prst="roundRect">
            <a:avLst>
              <a:gd name="adj" fmla="val 1736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170432"/>
            <a:ext cx="2240280" cy="93268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characterai-real-source.png"/>
          <p:cNvPicPr>
            <a:picLocks noChangeAspect="1"/>
          </p:cNvPicPr>
          <p:nvPr/>
        </p:nvPicPr>
        <p:blipFill>
          <a:blip r:embed="rId2"/>
          <a:stretch>
            <a:fillRect/>
          </a:stretch>
        </p:blipFill>
        <p:spPr>
          <a:xfrm>
            <a:off x="786384" y="1429825"/>
            <a:ext cx="1984248" cy="413902"/>
          </a:xfrm>
          <a:prstGeom prst="rect">
            <a:avLst/>
          </a:prstGeom>
        </p:spPr>
      </p:pic>
      <p:sp>
        <p:nvSpPr>
          <p:cNvPr id="6" name="TextBox 5"/>
          <p:cNvSpPr txBox="1"/>
          <p:nvPr/>
        </p:nvSpPr>
        <p:spPr>
          <a:xfrm>
            <a:off x="658368" y="2176272"/>
            <a:ext cx="2240280" cy="365760"/>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сервис общения</a:t>
            </a:r>
          </a:p>
          <a:p>
            <a:pPr algn="ctr">
              <a:lnSpc>
                <a:spcPct val="105000"/>
              </a:lnSpc>
            </a:pPr>
            <a:r>
              <a:rPr sz="950" b="0" i="1">
                <a:solidFill>
                  <a:srgbClr val="5B6678"/>
                </a:solidFill>
                <a:latin typeface="DejaVu Sans"/>
              </a:rPr>
              <a:t>с ИИ-персонажами</a:t>
            </a:r>
          </a:p>
        </p:txBody>
      </p:sp>
      <p:sp>
        <p:nvSpPr>
          <p:cNvPr id="7" name="TextBox 6"/>
          <p:cNvSpPr txBox="1"/>
          <p:nvPr/>
        </p:nvSpPr>
        <p:spPr>
          <a:xfrm>
            <a:off x="3090672" y="1097280"/>
            <a:ext cx="841248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3090672" y="1353312"/>
            <a:ext cx="8412480" cy="135331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Character.AI </a:t>
            </a:r>
            <a:r>
              <a:rPr sz="1100" b="0" i="0">
                <a:solidFill>
                  <a:srgbClr val="21295C"/>
                </a:solidFill>
                <a:latin typeface="DejaVu Sans"/>
              </a:rPr>
              <a:t>— сервис, где человек переписывается с вымышленными персонажами: можно выбрать готового героя или сочинить своего, а отвечает за него языковая модель. Продукт устроен так, чтобы к персонажу возвращались: он помнит переписку, держит характер и поддерживает разговор сколь угодно долго.</a:t>
            </a:r>
          </a:p>
          <a:p>
            <a:pPr algn="l">
              <a:lnSpc>
                <a:spcPct val="115000"/>
              </a:lnSpc>
              <a:spcBef>
                <a:spcPts val="400"/>
              </a:spcBef>
            </a:pPr>
            <a:r>
              <a:rPr sz="1100" b="0" i="0">
                <a:solidFill>
                  <a:srgbClr val="21295C"/>
                </a:solidFill>
                <a:latin typeface="DejaVu Sans"/>
              </a:rPr>
              <a:t>В феврале 2024 года четырнадцатилетний пользователь покончил с собой после месяцев ежедневного общения с таким персонажем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Проверки возраста, распознавания кризисного состояния и ограничения времени в продукте тогда не было.</a:t>
            </a:r>
          </a:p>
        </p:txBody>
      </p:sp>
      <p:sp>
        <p:nvSpPr>
          <p:cNvPr id="9" name="Rounded Rectangle 8"/>
          <p:cNvSpPr/>
          <p:nvPr/>
        </p:nvSpPr>
        <p:spPr>
          <a:xfrm>
            <a:off x="502920" y="2889504"/>
            <a:ext cx="11201400" cy="1005840"/>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930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Запуск</a:t>
            </a:r>
          </a:p>
          <a:p>
            <a:pPr algn="ctr">
              <a:lnSpc>
                <a:spcPct val="95000"/>
              </a:lnSpc>
            </a:pPr>
            <a:r>
              <a:rPr sz="950" b="1" i="0">
                <a:solidFill>
                  <a:srgbClr val="21295C"/>
                </a:solidFill>
                <a:latin typeface="DejaVu Sans"/>
              </a:rPr>
              <a:t>09.2022</a:t>
            </a:r>
          </a:p>
        </p:txBody>
      </p:sp>
      <p:cxnSp>
        <p:nvCxnSpPr>
          <p:cNvPr id="12" name="Connector 11"/>
          <p:cNvCxnSpPr/>
          <p:nvPr/>
        </p:nvCxnSpPr>
        <p:spPr>
          <a:xfrm>
            <a:off x="1545336" y="3236976"/>
            <a:ext cx="2029967"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575303"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Смерть подростка</a:t>
            </a:r>
          </a:p>
          <a:p>
            <a:pPr algn="ctr">
              <a:lnSpc>
                <a:spcPct val="95000"/>
              </a:lnSpc>
            </a:pPr>
            <a:r>
              <a:rPr sz="950" b="1" i="0">
                <a:solidFill>
                  <a:srgbClr val="21295C"/>
                </a:solidFill>
                <a:latin typeface="DejaVu Sans"/>
              </a:rPr>
              <a:t>02.2024</a:t>
            </a:r>
          </a:p>
        </p:txBody>
      </p:sp>
      <p:cxnSp>
        <p:nvCxnSpPr>
          <p:cNvPr id="15" name="Connector 14"/>
          <p:cNvCxnSpPr/>
          <p:nvPr/>
        </p:nvCxnSpPr>
        <p:spPr>
          <a:xfrm>
            <a:off x="383133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0702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Иск</a:t>
            </a:r>
          </a:p>
          <a:p>
            <a:pPr algn="ctr">
              <a:lnSpc>
                <a:spcPct val="95000"/>
              </a:lnSpc>
            </a:pPr>
            <a:r>
              <a:rPr sz="950" b="1" i="0">
                <a:solidFill>
                  <a:srgbClr val="21295C"/>
                </a:solidFill>
                <a:latin typeface="DejaVu Sans"/>
              </a:rPr>
              <a:t>10.2024</a:t>
            </a:r>
          </a:p>
        </p:txBody>
      </p:sp>
      <p:cxnSp>
        <p:nvCxnSpPr>
          <p:cNvPr id="18" name="Connector 17"/>
          <p:cNvCxnSpPr/>
          <p:nvPr/>
        </p:nvCxnSpPr>
        <p:spPr>
          <a:xfrm>
            <a:off x="616305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38744" y="3108960"/>
            <a:ext cx="256032" cy="256032"/>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Защита включена</a:t>
            </a:r>
          </a:p>
          <a:p>
            <a:pPr algn="ctr">
              <a:lnSpc>
                <a:spcPct val="95000"/>
              </a:lnSpc>
            </a:pPr>
            <a:r>
              <a:rPr sz="950" b="1" i="0">
                <a:solidFill>
                  <a:srgbClr val="21295C"/>
                </a:solidFill>
                <a:latin typeface="DejaVu Sans"/>
              </a:rPr>
              <a:t>11.2025 </a:t>
            </a:r>
            <a:r>
              <a:rPr sz="494" baseline="30000" b="0" i="1">
                <a:latin typeface="DejaVu Sans"/>
                <a:cs typeface="DejaVu Sans"/>
                <a:ea typeface="DejaVu Sans"/>
                <a:solidFill>
                  <a:srgbClr val="1C7293"/>
                </a:solidFill>
              </a:rPr>
              <a:t>[3]</a:t>
            </a:r>
          </a:p>
        </p:txBody>
      </p:sp>
      <p:cxnSp>
        <p:nvCxnSpPr>
          <p:cNvPr id="21" name="Connector 20"/>
          <p:cNvCxnSpPr/>
          <p:nvPr/>
        </p:nvCxnSpPr>
        <p:spPr>
          <a:xfrm>
            <a:off x="8494776" y="3236976"/>
            <a:ext cx="2029968"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2474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Урегулирование</a:t>
            </a:r>
          </a:p>
          <a:p>
            <a:pPr algn="ctr">
              <a:lnSpc>
                <a:spcPct val="95000"/>
              </a:lnSpc>
            </a:pPr>
            <a:r>
              <a:rPr sz="950" b="1" i="0">
                <a:solidFill>
                  <a:srgbClr val="21295C"/>
                </a:solidFill>
                <a:latin typeface="DejaVu Sans"/>
              </a:rPr>
              <a:t>01.2026 </a:t>
            </a:r>
            <a:r>
              <a:rPr sz="494" baseline="30000" b="0" i="1">
                <a:latin typeface="DejaVu Sans"/>
                <a:cs typeface="DejaVu Sans"/>
                <a:ea typeface="DejaVu Sans"/>
                <a:solidFill>
                  <a:srgbClr val="1C7293"/>
                </a:solidFill>
              </a:rPr>
              <a:t>[2]</a:t>
            </a:r>
          </a:p>
        </p:txBody>
      </p:sp>
      <p:sp>
        <p:nvSpPr>
          <p:cNvPr id="24" name="Rounded Rectangle 23"/>
          <p:cNvSpPr/>
          <p:nvPr/>
        </p:nvSpPr>
        <p:spPr>
          <a:xfrm>
            <a:off x="502920" y="400507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059935"/>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сбой в работе, а требование, которого не было в задании на дизайн: продукт оптимизировали на то, чтобы к нему возвращались, и ни разу не спросили, кто может пострадать от такого потока общения. Ошибку в работе ловят проверкой перед выпуском. Требование, которого нет, не ловится ничем, кроме вопроса, заданного вовремя, — ни один тест не проверяет то, чего никто не просил.</a:t>
            </a:r>
          </a:p>
        </p:txBody>
      </p:sp>
      <p:sp>
        <p:nvSpPr>
          <p:cNvPr id="26" name="Rounded Rectangle 25"/>
          <p:cNvSpPr/>
          <p:nvPr/>
        </p:nvSpPr>
        <p:spPr>
          <a:xfrm>
            <a:off x="502920" y="5138928"/>
            <a:ext cx="11201400" cy="85953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93792"/>
            <a:ext cx="10762488" cy="749808"/>
          </a:xfrm>
          <a:prstGeom prst="rect">
            <a:avLst/>
          </a:prstGeom>
          <a:noFill/>
        </p:spPr>
        <p:txBody>
          <a:bodyPr wrap="square" lIns="0" rIns="0" tIns="0" bIns="0" anchor="ctr">
            <a:spAutoFit/>
          </a:bodyPr>
          <a:lstStyle/>
          <a:p>
            <a:pPr algn="l">
              <a:lnSpc>
                <a:spcPct val="118000"/>
              </a:lnSpc>
            </a:pPr>
            <a:r>
              <a:rPr sz="1150" b="0" i="0">
                <a:solidFill>
                  <a:srgbClr val="21295C"/>
                </a:solidFill>
                <a:latin typeface="DejaVu Sans"/>
              </a:rPr>
              <a:t>Там, где продукт рассчитан на эмоциональную привязанность уязвимых людей, защита входит в первую же версию, а не добавляется после иска. Альтернатива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p:txBody>
      </p:sp>
      <p:sp>
        <p:nvSpPr>
          <p:cNvPr id="28" name="TextBox 2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CBS News (7 янв. 2026) — урегулирование</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Character.AI — объявление о защите несовершеннолетних (29 окт. 2025)</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MVP — minimum viable product, Эрик Райс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ctagon-alert-slate.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Онкологический центр MD Anderson, проект Oncology Expert Advisor. </a:t>
            </a:r>
            <a:r>
              <a:rPr sz="1100" b="0" i="0">
                <a:solidFill>
                  <a:srgbClr val="5B6678"/>
                </a:solidFill>
                <a:latin typeface="DejaVu Sans"/>
              </a:rPr>
              <a:t>Контракт вырос через двенадцать продлений с 2,4 до ≈62 млн долларов и был закрыт без единого пролеченного пациента. Двенадцать поводов пройти рубеж — и ни одного записанного порога, по которому его можно было не пройти.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узкое место переехало в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89888"/>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9222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9572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9806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40156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80390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40740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80974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изменения крупнее, очередь длиннее</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уже не видимость функции, а уровень самостоятельности системы</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вторая ось раскатки — уровень контроля, а не только процент аудитории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Тесты, написанные до кода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эталонный набор: проверяют ответ модели, а не только код</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Дефицитный ресурс — не «кто напишет код», а «кто достаточно точно поставит задачу» на входе и «кто успеет проверить»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1084173"/>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8417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84173"/>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901293"/>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Функцию не «включают с ИИ», а выпускают уровнями самостоятельности. Сначала система только подсказывает и ничего не решает. Потом предлагает готовое решение, а подтверждает человек. И лишь потом решает сама, возвращая человеку то, с чем не справилась. </a:t>
            </a:r>
            <a:r>
              <a:rPr sz="1200" b="1" i="0">
                <a:solidFill>
                  <a:srgbClr val="028090"/>
                </a:solidFill>
                <a:latin typeface="DejaVu Sans"/>
              </a:rPr>
              <a:t>Версия продукта здесь — не набор функций, а уровень самостоятельности, который система на сегодня заслужила.</a:t>
            </a:r>
          </a:p>
        </p:txBody>
      </p:sp>
      <p:sp>
        <p:nvSpPr>
          <p:cNvPr id="7" name="Rounded Rectangle 6"/>
          <p:cNvSpPr/>
          <p:nvPr/>
        </p:nvSpPr>
        <p:spPr>
          <a:xfrm>
            <a:off x="502920" y="1699615"/>
            <a:ext cx="1152144" cy="14813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99615"/>
            <a:ext cx="1060704" cy="14813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ШКАЛА</a:t>
            </a:r>
          </a:p>
        </p:txBody>
      </p:sp>
      <p:sp>
        <p:nvSpPr>
          <p:cNvPr id="9" name="Rounded Rectangle 8"/>
          <p:cNvSpPr/>
          <p:nvPr/>
        </p:nvSpPr>
        <p:spPr>
          <a:xfrm>
            <a:off x="1801368" y="1699615"/>
            <a:ext cx="9902952"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91055"/>
            <a:ext cx="2898648" cy="8229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подсказывает</a:t>
            </a:r>
          </a:p>
        </p:txBody>
      </p:sp>
      <p:sp>
        <p:nvSpPr>
          <p:cNvPr id="12" name="TextBox 11"/>
          <p:cNvSpPr txBox="1"/>
          <p:nvPr/>
        </p:nvSpPr>
        <p:spPr>
          <a:xfrm>
            <a:off x="2075688"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решает человек</a:t>
            </a:r>
          </a:p>
        </p:txBody>
      </p:sp>
      <p:sp>
        <p:nvSpPr>
          <p:cNvPr id="13" name="Right Arrow 12"/>
          <p:cNvSpPr/>
          <p:nvPr/>
        </p:nvSpPr>
        <p:spPr>
          <a:xfrm>
            <a:off x="4965192"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03520" y="1791055"/>
            <a:ext cx="2898648" cy="8229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59"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предлагает решение</a:t>
            </a:r>
          </a:p>
        </p:txBody>
      </p:sp>
      <p:sp>
        <p:nvSpPr>
          <p:cNvPr id="16" name="TextBox 15"/>
          <p:cNvSpPr txBox="1"/>
          <p:nvPr/>
        </p:nvSpPr>
        <p:spPr>
          <a:xfrm>
            <a:off x="5394959"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подтверждает человек</a:t>
            </a:r>
          </a:p>
        </p:txBody>
      </p:sp>
      <p:sp>
        <p:nvSpPr>
          <p:cNvPr id="17" name="Right Arrow 16"/>
          <p:cNvSpPr/>
          <p:nvPr/>
        </p:nvSpPr>
        <p:spPr>
          <a:xfrm>
            <a:off x="8284463"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22792" y="1791055"/>
            <a:ext cx="2898648" cy="82296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14232"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решает сама</a:t>
            </a:r>
          </a:p>
        </p:txBody>
      </p:sp>
      <p:sp>
        <p:nvSpPr>
          <p:cNvPr id="20" name="TextBox 19"/>
          <p:cNvSpPr txBox="1"/>
          <p:nvPr/>
        </p:nvSpPr>
        <p:spPr>
          <a:xfrm>
            <a:off x="8714232"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возвращает человеку трудное</a:t>
            </a:r>
          </a:p>
        </p:txBody>
      </p:sp>
      <p:sp>
        <p:nvSpPr>
          <p:cNvPr id="21" name="TextBox 20"/>
          <p:cNvSpPr txBox="1"/>
          <p:nvPr/>
        </p:nvSpPr>
        <p:spPr>
          <a:xfrm>
            <a:off x="1984248" y="2687167"/>
            <a:ext cx="9537192" cy="201168"/>
          </a:xfrm>
          <a:prstGeom prst="rect">
            <a:avLst/>
          </a:prstGeom>
          <a:noFill/>
        </p:spPr>
        <p:txBody>
          <a:bodyPr wrap="square" lIns="0" rIns="0" tIns="0" bIns="0" anchor="t">
            <a:spAutoFit/>
          </a:bodyPr>
          <a:lstStyle/>
          <a:p>
            <a:pPr algn="l">
              <a:lnSpc>
                <a:spcPct val="105000"/>
              </a:lnSpc>
            </a:pPr>
            <a:r>
              <a:rPr sz="980" b="0" i="1">
                <a:solidFill>
                  <a:srgbClr val="5B6678"/>
                </a:solidFill>
                <a:latin typeface="DejaVu Sans"/>
              </a:rPr>
              <a:t>шкала самостоятельности, а не последовательность версий продукта · так же устроены регуляторы доверия в инструментах для написания кода: от подсказки к блоку кода и к целому готовому изменению</a:t>
            </a:r>
          </a:p>
        </p:txBody>
      </p:sp>
      <p:sp>
        <p:nvSpPr>
          <p:cNvPr id="22" name="Rounded Rectangle 21"/>
          <p:cNvSpPr/>
          <p:nvPr/>
        </p:nvSpPr>
        <p:spPr>
          <a:xfrm>
            <a:off x="502920" y="3244951"/>
            <a:ext cx="1152144" cy="141848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244951"/>
            <a:ext cx="1060704" cy="14184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4" name="Rounded Rectangle 23"/>
          <p:cNvSpPr/>
          <p:nvPr/>
        </p:nvSpPr>
        <p:spPr>
          <a:xfrm>
            <a:off x="1801368" y="3244951"/>
            <a:ext cx="9902952" cy="1418482"/>
          </a:xfrm>
          <a:prstGeom prst="roundRect">
            <a:avLst>
              <a:gd name="adj" fmla="val 214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3336391"/>
            <a:ext cx="9537192" cy="1235602"/>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Каждый уровень — отдельный выпуск: со своим кругом пользователей, своим набором наблюдаемых признаков и своим способом остановиться. Подъём на следующий уровень не наступает по календарю и не выдаётся за хорошее поведение — его открывают доказательством, и доказательство состоит из трёх вещей: система справляется </a:t>
            </a:r>
            <a:r>
              <a:rPr sz="1150" b="1" i="0">
                <a:solidFill>
                  <a:srgbClr val="065A82"/>
                </a:solidFill>
                <a:latin typeface="DejaVu Sans"/>
              </a:rPr>
              <a:t>именно с теми случаями, которые новый уровень ей доверяет</a:t>
            </a:r>
            <a:r>
              <a:rPr sz="1150" b="0" i="0">
                <a:solidFill>
                  <a:srgbClr val="21295C"/>
                </a:solidFill>
                <a:latin typeface="DejaVu Sans"/>
              </a:rPr>
              <a:t>, а не со случаями вообще; справляется </a:t>
            </a:r>
            <a:r>
              <a:rPr sz="1150" b="1" i="0">
                <a:solidFill>
                  <a:srgbClr val="065A82"/>
                </a:solidFill>
                <a:latin typeface="DejaVu Sans"/>
              </a:rPr>
              <a:t>устойчиво, при повторных попытках</a:t>
            </a:r>
            <a:r>
              <a:rPr sz="1150" b="0" i="0">
                <a:solidFill>
                  <a:srgbClr val="21295C"/>
                </a:solidFill>
                <a:latin typeface="DejaVu Sans"/>
              </a:rPr>
              <a:t>, а не один раз; и для неё </a:t>
            </a:r>
            <a:r>
              <a:rPr sz="1150" b="1" i="0">
                <a:solidFill>
                  <a:srgbClr val="065A82"/>
                </a:solidFill>
                <a:latin typeface="DejaVu Sans"/>
              </a:rPr>
              <a:t>заранее описано, как вернуть её на уровень ниже</a:t>
            </a:r>
            <a:r>
              <a:rPr sz="1150" b="0" i="0">
                <a:solidFill>
                  <a:srgbClr val="21295C"/>
                </a:solidFill>
                <a:latin typeface="DejaVu Sans"/>
              </a:rPr>
              <a:t> — кто решает, по какому признаку и за какое время.</a:t>
            </a:r>
          </a:p>
        </p:txBody>
      </p:sp>
      <p:sp>
        <p:nvSpPr>
          <p:cNvPr id="26" name="Rounded Rectangle 25"/>
          <p:cNvSpPr/>
          <p:nvPr/>
        </p:nvSpPr>
        <p:spPr>
          <a:xfrm>
            <a:off x="502920" y="4727441"/>
            <a:ext cx="1152144" cy="141848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727441"/>
            <a:ext cx="1060704" cy="141848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8" name="Rounded Rectangle 27"/>
          <p:cNvSpPr/>
          <p:nvPr/>
        </p:nvSpPr>
        <p:spPr>
          <a:xfrm>
            <a:off x="1801368" y="4727441"/>
            <a:ext cx="9902952" cy="1418482"/>
          </a:xfrm>
          <a:prstGeom prst="roundRect">
            <a:avLst>
              <a:gd name="adj" fmla="val 2148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4818881"/>
            <a:ext cx="9537192" cy="1235602"/>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«Оператор давно ничего не правил» доказательством не является: если правок нет, ровно так же возможно, что на систему просто не смотрели. </a:t>
            </a:r>
            <a:r>
              <a:rPr sz="1150" b="1" i="0">
                <a:solidFill>
                  <a:srgbClr val="21295C"/>
                </a:solidFill>
                <a:latin typeface="DejaVu Sans"/>
              </a:rPr>
              <a:t>Отсутствие замечаний — не результат измерения, а его отсутствие.</a:t>
            </a:r>
            <a:r>
              <a:rPr sz="1150" b="1" i="0">
                <a:solidFill>
                  <a:srgbClr val="21295C"/>
                </a:solidFill>
                <a:latin typeface="DejaVu Sans"/>
              </a:rPr>
              <a:t> И есть решения, которые не поднимают на верхний уровень никогда, сколько бы система ни работала без нареканий: необратимые и дорогие. Юридически обязывающее предложение, удаление рабочих данных, выпуск сразу на всю аудиторию без возможности вернуться — такие решения остаются за жёстким правилом поверх модели, а не за моделью.</a:t>
            </a:r>
          </a:p>
        </p:txBody>
      </p:sp>
      <p:sp>
        <p:nvSpPr>
          <p:cNvPr id="30" name="TextBox 29"/>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Реганти и Бадам, 19 августа 2025 — обобщение более 50 внедрений</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Эталонный набор — как проверять ответы ИИ так же, как проверяют код</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Небольшая коллекция реальных случаев, для каждого из которых заранее записано, какой ответ считается приемлемым. По сути это те же тесты, только проверяется не код, а ответ модели. Набор собирают </a:t>
            </a:r>
            <a:r>
              <a:rPr sz="1150" b="1" i="0">
                <a:solidFill>
                  <a:srgbClr val="028090"/>
                </a:solidFill>
                <a:latin typeface="DejaVu Sans"/>
              </a:rPr>
              <a:t>из настоящих обращений пользователей, а не из придуманных</a:t>
            </a:r>
            <a:r>
              <a:rPr sz="1150" b="0" i="0">
                <a:solidFill>
                  <a:srgbClr val="21295C"/>
                </a:solidFill>
                <a:latin typeface="DejaVu Sans"/>
              </a:rPr>
              <a:t>: правдоподобный пример проверяет воображение команды, а реальный — продукт. Начинают обычно с пяти-десяти случаев и растят набор дальше.</a:t>
            </a:r>
          </a:p>
        </p:txBody>
      </p:sp>
      <p:sp>
        <p:nvSpPr>
          <p:cNvPr id="7" name="Rounded Rectangle 6"/>
          <p:cNvSpPr/>
          <p:nvPr/>
        </p:nvSpPr>
        <p:spPr>
          <a:xfrm>
            <a:off x="502920" y="1667776"/>
            <a:ext cx="1152144" cy="25054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25054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9" name="Rounded Rectangle 8"/>
          <p:cNvSpPr/>
          <p:nvPr/>
        </p:nvSpPr>
        <p:spPr>
          <a:xfrm>
            <a:off x="1801368" y="1667776"/>
            <a:ext cx="9902952"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759216"/>
            <a:ext cx="4846320" cy="226771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Набор живёт рядом с продуктом и меняется вместе с ним, а не лежит отдельным документом.</a:t>
            </a:r>
          </a:p>
          <a:p>
            <a:pPr algn="l">
              <a:lnSpc>
                <a:spcPct val="116000"/>
              </a:lnSpc>
            </a:pPr>
            <a:r>
              <a:rPr sz="1100" b="0" i="0">
                <a:solidFill>
                  <a:srgbClr val="21295C"/>
                </a:solidFill>
                <a:latin typeface="DejaVu Sans"/>
              </a:rPr>
              <a:t>Проверка запускается сама, вместе с обычными тестами, и так же </a:t>
            </a:r>
            <a:r>
              <a:rPr sz="1100" b="1" i="0">
                <a:solidFill>
                  <a:srgbClr val="065A82"/>
                </a:solidFill>
                <a:latin typeface="DejaVu Sans"/>
              </a:rPr>
              <a:t>останавливает выпуск</a:t>
            </a:r>
            <a:r>
              <a:rPr sz="1100" b="0" i="0">
                <a:solidFill>
                  <a:srgbClr val="21295C"/>
                </a:solidFill>
                <a:latin typeface="DejaVu Sans"/>
              </a:rPr>
              <a:t>, а не пишет предупреждение в журнал.</a:t>
            </a:r>
          </a:p>
          <a:p>
            <a:pPr algn="l">
              <a:lnSpc>
                <a:spcPct val="116000"/>
              </a:lnSpc>
            </a:pPr>
            <a:r>
              <a:rPr sz="1100" b="0" i="0">
                <a:solidFill>
                  <a:srgbClr val="21295C"/>
                </a:solidFill>
                <a:latin typeface="DejaVu Sans"/>
              </a:rPr>
              <a:t>Каждый случившийся сбой возвращается в набор отдельным случаем — поэтому однажды пойманная ошибка </a:t>
            </a:r>
            <a:r>
              <a:rPr sz="1100" b="1" i="0">
                <a:solidFill>
                  <a:srgbClr val="065A82"/>
                </a:solidFill>
                <a:latin typeface="DejaVu Sans"/>
              </a:rPr>
              <a:t>не повторяется молча</a:t>
            </a:r>
            <a:r>
              <a:rPr sz="1100" b="0" i="0">
                <a:solidFill>
                  <a:srgbClr val="21295C"/>
                </a:solidFill>
                <a:latin typeface="DejaVu Sans"/>
              </a:rPr>
              <a:t> на следующем выпуске.</a:t>
            </a:r>
          </a:p>
          <a:p>
            <a:pPr algn="l">
              <a:lnSpc>
                <a:spcPct val="116000"/>
              </a:lnSpc>
            </a:pPr>
            <a:r>
              <a:rPr sz="1100" b="0" i="0">
                <a:solidFill>
                  <a:srgbClr val="21295C"/>
                </a:solidFill>
                <a:latin typeface="DejaVu Sans"/>
              </a:rPr>
              <a:t>Готовые инструменты для этого есть; конкретные названия — в материалах лекции.</a:t>
            </a:r>
          </a:p>
        </p:txBody>
      </p:sp>
      <p:sp>
        <p:nvSpPr>
          <p:cNvPr id="11" name="TextBox 10"/>
          <p:cNvSpPr txBox="1"/>
          <p:nvPr/>
        </p:nvSpPr>
        <p:spPr>
          <a:xfrm>
            <a:off x="7123176" y="1759216"/>
            <a:ext cx="4398264" cy="402336"/>
          </a:xfrm>
          <a:prstGeom prst="rect">
            <a:avLst/>
          </a:prstGeom>
          <a:noFill/>
        </p:spPr>
        <p:txBody>
          <a:bodyPr wrap="square" lIns="0" rIns="0" tIns="0" bIns="0" anchor="t">
            <a:spAutoFit/>
          </a:bodyPr>
          <a:lstStyle/>
          <a:p>
            <a:pPr algn="l">
              <a:lnSpc>
                <a:spcPct val="108000"/>
              </a:lnSpc>
            </a:pPr>
            <a:r>
              <a:rPr sz="1050" b="1" i="0">
                <a:solidFill>
                  <a:srgbClr val="21295C"/>
                </a:solidFill>
                <a:latin typeface="DejaVu Sans"/>
              </a:rPr>
              <a:t>Требования назначают заранее — по цене ошибки</a:t>
            </a:r>
          </a:p>
        </p:txBody>
      </p:sp>
      <p:sp>
        <p:nvSpPr>
          <p:cNvPr id="12" name="Rounded Rectangle 11"/>
          <p:cNvSpPr/>
          <p:nvPr/>
        </p:nvSpPr>
        <p:spPr>
          <a:xfrm>
            <a:off x="7123176" y="2216416"/>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2216416"/>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Обычный запрос</a:t>
            </a:r>
          </a:p>
        </p:txBody>
      </p:sp>
      <p:sp>
        <p:nvSpPr>
          <p:cNvPr id="14" name="TextBox 13"/>
          <p:cNvSpPr txBox="1"/>
          <p:nvPr/>
        </p:nvSpPr>
        <p:spPr>
          <a:xfrm>
            <a:off x="9322308" y="2216416"/>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права почти всегда</a:t>
            </a:r>
          </a:p>
        </p:txBody>
      </p:sp>
      <p:sp>
        <p:nvSpPr>
          <p:cNvPr id="15" name="Rounded Rectangle 14"/>
          <p:cNvSpPr/>
          <p:nvPr/>
        </p:nvSpPr>
        <p:spPr>
          <a:xfrm>
            <a:off x="7123176" y="2783344"/>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51192" y="2783344"/>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Отказ по правилам</a:t>
            </a:r>
          </a:p>
          <a:p>
            <a:pPr algn="l">
              <a:lnSpc>
                <a:spcPct val="106000"/>
              </a:lnSpc>
            </a:pPr>
            <a:r>
              <a:rPr sz="980" b="0" i="0">
                <a:solidFill>
                  <a:srgbClr val="21295C"/>
                </a:solidFill>
                <a:latin typeface="DejaVu Sans"/>
              </a:rPr>
              <a:t>безопасности</a:t>
            </a:r>
          </a:p>
        </p:txBody>
      </p:sp>
      <p:sp>
        <p:nvSpPr>
          <p:cNvPr id="17" name="TextBox 16"/>
          <p:cNvSpPr txBox="1"/>
          <p:nvPr/>
        </p:nvSpPr>
        <p:spPr>
          <a:xfrm>
            <a:off x="9322308" y="2783344"/>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каждый раз,</a:t>
            </a:r>
          </a:p>
          <a:p>
            <a:pPr algn="r">
              <a:lnSpc>
                <a:spcPct val="106000"/>
              </a:lnSpc>
            </a:pPr>
            <a:r>
              <a:rPr sz="980" b="1" i="0">
                <a:solidFill>
                  <a:srgbClr val="21295C"/>
                </a:solidFill>
                <a:latin typeface="DejaVu Sans"/>
              </a:rPr>
              <a:t>без исключений</a:t>
            </a:r>
          </a:p>
        </p:txBody>
      </p:sp>
      <p:sp>
        <p:nvSpPr>
          <p:cNvPr id="18" name="Rounded Rectangle 17"/>
          <p:cNvSpPr/>
          <p:nvPr/>
        </p:nvSpPr>
        <p:spPr>
          <a:xfrm>
            <a:off x="7123176" y="3350272"/>
            <a:ext cx="4398264" cy="530352"/>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51192" y="3350272"/>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Ответ с юридическим</a:t>
            </a:r>
          </a:p>
          <a:p>
            <a:pPr algn="l">
              <a:lnSpc>
                <a:spcPct val="106000"/>
              </a:lnSpc>
            </a:pPr>
            <a:r>
              <a:rPr sz="980" b="0" i="0">
                <a:solidFill>
                  <a:srgbClr val="21295C"/>
                </a:solidFill>
                <a:latin typeface="DejaVu Sans"/>
              </a:rPr>
              <a:t>последствием</a:t>
            </a:r>
          </a:p>
        </p:txBody>
      </p:sp>
      <p:sp>
        <p:nvSpPr>
          <p:cNvPr id="20" name="TextBox 19"/>
          <p:cNvSpPr txBox="1"/>
          <p:nvPr/>
        </p:nvSpPr>
        <p:spPr>
          <a:xfrm>
            <a:off x="9322308" y="3350272"/>
            <a:ext cx="2111166" cy="530352"/>
          </a:xfrm>
          <a:prstGeom prst="rect">
            <a:avLst/>
          </a:prstGeom>
          <a:noFill/>
        </p:spPr>
        <p:txBody>
          <a:bodyPr wrap="square" lIns="0" rIns="0" tIns="0" bIns="0" anchor="ctr">
            <a:spAutoFit/>
          </a:bodyPr>
          <a:lstStyle/>
          <a:p>
            <a:pPr algn="r">
              <a:lnSpc>
                <a:spcPct val="106000"/>
              </a:lnSpc>
            </a:pPr>
            <a:r>
              <a:rPr sz="980" b="1" i="0">
                <a:solidFill>
                  <a:srgbClr val="028090"/>
                </a:solidFill>
                <a:latin typeface="DejaVu Sans"/>
              </a:rPr>
              <a:t>не доверяют модели —</a:t>
            </a:r>
          </a:p>
          <a:p>
            <a:pPr algn="r">
              <a:lnSpc>
                <a:spcPct val="106000"/>
              </a:lnSpc>
            </a:pPr>
            <a:r>
              <a:rPr sz="980" b="1" i="0">
                <a:solidFill>
                  <a:srgbClr val="028090"/>
                </a:solidFill>
                <a:latin typeface="DejaVu Sans"/>
              </a:rPr>
              <a:t>жёсткое правило поверх</a:t>
            </a:r>
          </a:p>
        </p:txBody>
      </p:sp>
      <p:sp>
        <p:nvSpPr>
          <p:cNvPr id="21" name="TextBox 20"/>
          <p:cNvSpPr txBox="1"/>
          <p:nvPr/>
        </p:nvSpPr>
        <p:spPr>
          <a:xfrm>
            <a:off x="7123176" y="3953776"/>
            <a:ext cx="4398264"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последняя строка — не порог, а отказ от инструмента</a:t>
            </a:r>
          </a:p>
        </p:txBody>
      </p:sp>
      <p:sp>
        <p:nvSpPr>
          <p:cNvPr id="22" name="Rounded Rectangle 21"/>
          <p:cNvSpPr/>
          <p:nvPr/>
        </p:nvSpPr>
        <p:spPr>
          <a:xfrm>
            <a:off x="502920" y="4237240"/>
            <a:ext cx="1152144" cy="138982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237240"/>
            <a:ext cx="1060704" cy="138982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4" name="Rounded Rectangle 23"/>
          <p:cNvSpPr/>
          <p:nvPr/>
        </p:nvSpPr>
        <p:spPr>
          <a:xfrm>
            <a:off x="1801368" y="4237240"/>
            <a:ext cx="9902952" cy="1389827"/>
          </a:xfrm>
          <a:prstGeom prst="roundRect">
            <a:avLst>
              <a:gd name="adj" fmla="val 2193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4328680"/>
            <a:ext cx="9537192" cy="1206947"/>
          </a:xfrm>
          <a:prstGeom prst="rect">
            <a:avLst/>
          </a:prstGeom>
          <a:noFill/>
        </p:spPr>
        <p:txBody>
          <a:bodyPr wrap="square" lIns="0" rIns="0" tIns="0" bIns="0" anchor="ctr">
            <a:spAutoFit/>
          </a:bodyPr>
          <a:lstStyle/>
          <a:p>
            <a:pPr algn="l">
              <a:lnSpc>
                <a:spcPct val="114000"/>
              </a:lnSpc>
            </a:pPr>
            <a:r>
              <a:rPr sz="1120" b="1" i="0">
                <a:solidFill>
                  <a:srgbClr val="21295C"/>
                </a:solidFill>
                <a:latin typeface="DejaVu Sans"/>
              </a:rPr>
              <a:t>Три способа обмануть себя этим приёмом. </a:t>
            </a:r>
            <a:r>
              <a:rPr sz="1120" b="1" i="0">
                <a:solidFill>
                  <a:srgbClr val="21295C"/>
                </a:solidFill>
                <a:latin typeface="DejaVu Sans"/>
              </a:rPr>
              <a:t>Набор, который всегда зелёный, ничего не измеряет</a:t>
            </a:r>
            <a:r>
              <a:rPr sz="1120" b="1" i="0">
                <a:solidFill>
                  <a:srgbClr val="21295C"/>
                </a:solidFill>
                <a:latin typeface="DejaVu Sans"/>
              </a:rPr>
              <a:t> — это сломанный измеритель, а не гарантия. </a:t>
            </a:r>
            <a:r>
              <a:rPr sz="1120" b="1" i="0">
                <a:solidFill>
                  <a:srgbClr val="21295C"/>
                </a:solidFill>
                <a:latin typeface="DejaVu Sans"/>
              </a:rPr>
              <a:t>Как только прохождение набора становится целью команды</a:t>
            </a:r>
            <a:r>
              <a:rPr sz="1120" b="1" i="0">
                <a:solidFill>
                  <a:srgbClr val="21295C"/>
                </a:solidFill>
                <a:latin typeface="DejaVu Sans"/>
              </a:rPr>
              <a:t>, а не средством, он перестаёт быть мерой. </a:t>
            </a:r>
            <a:r>
              <a:rPr sz="1120" b="1" i="0">
                <a:solidFill>
                  <a:srgbClr val="21295C"/>
                </a:solidFill>
                <a:latin typeface="DejaVu Sans"/>
              </a:rPr>
              <a:t>Одна удачная попытка доказательством не является</a:t>
            </a:r>
            <a:r>
              <a:rPr sz="1120" b="1" i="0">
                <a:solidFill>
                  <a:srgbClr val="21295C"/>
                </a:solidFill>
                <a:latin typeface="DejaVu Sans"/>
              </a:rPr>
              <a:t>: одинаковые прогоны расходятся между собой, поэтому проверку повторяют, а требование ставят с запасом на разброс. Отдельно: требование выше точности самого измерителя измеряет измеритель, а не продукт — если ответы оценивает другая модель, согласная с людьми примерно в 85% случаев, планка в 95% бессмысленна.</a:t>
            </a:r>
          </a:p>
        </p:txBody>
      </p:sp>
      <p:sp>
        <p:nvSpPr>
          <p:cNvPr id="26" name="TextBox 2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рабочих примеров на старте — рекомендация Anthropic · согласие модели-судьи с людьми ≈85%</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028090"/>
                </a:solidFill>
                <a:latin typeface="DejaVu Sans"/>
              </a:rPr>
              <a:t>Радиус поражения — сколько людей пострадает, если новое окажется плохим — становится решением команды, а не тем, что выясняется после запуска.</a:t>
            </a:r>
            <a:r>
              <a:rPr sz="1150" b="0" i="0">
                <a:solidFill>
                  <a:srgbClr val="21295C"/>
                </a:solidFill>
                <a:latin typeface="DejaVu Sans"/>
              </a:rPr>
              <a:t> Это самая старая практика раздела, и именно её проверяют оба случая, которые разбираются дальше.</a:t>
            </a:r>
          </a:p>
        </p:txBody>
      </p:sp>
      <p:sp>
        <p:nvSpPr>
          <p:cNvPr id="7" name="Rounded Rectangle 6"/>
          <p:cNvSpPr/>
          <p:nvPr/>
        </p:nvSpPr>
        <p:spPr>
          <a:xfrm>
            <a:off x="502920" y="1667776"/>
            <a:ext cx="1152144" cy="153619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153619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СХЕМА</a:t>
            </a:r>
          </a:p>
        </p:txBody>
      </p:sp>
      <p:sp>
        <p:nvSpPr>
          <p:cNvPr id="9" name="Rounded Rectangle 8"/>
          <p:cNvSpPr/>
          <p:nvPr/>
        </p:nvSpPr>
        <p:spPr>
          <a:xfrm>
            <a:off x="1801368" y="1667776"/>
            <a:ext cx="9902952" cy="1536192"/>
          </a:xfrm>
          <a:prstGeom prst="roundRect">
            <a:avLst>
              <a:gd name="adj" fmla="val 198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59216"/>
            <a:ext cx="2151126" cy="42062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узкий круг</a:t>
            </a:r>
          </a:p>
        </p:txBody>
      </p:sp>
      <p:sp>
        <p:nvSpPr>
          <p:cNvPr id="12" name="Right Arrow 11"/>
          <p:cNvSpPr/>
          <p:nvPr/>
        </p:nvSpPr>
        <p:spPr>
          <a:xfrm>
            <a:off x="4171950"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46270" y="1759216"/>
            <a:ext cx="2151126" cy="42062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1133"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малая доля</a:t>
            </a:r>
          </a:p>
        </p:txBody>
      </p:sp>
      <p:sp>
        <p:nvSpPr>
          <p:cNvPr id="15" name="Right Arrow 14"/>
          <p:cNvSpPr/>
          <p:nvPr/>
        </p:nvSpPr>
        <p:spPr>
          <a:xfrm>
            <a:off x="6633972"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08292" y="1759216"/>
            <a:ext cx="2151126" cy="42062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63155"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часть аудитории</a:t>
            </a:r>
          </a:p>
        </p:txBody>
      </p:sp>
      <p:sp>
        <p:nvSpPr>
          <p:cNvPr id="18" name="Right Arrow 17"/>
          <p:cNvSpPr/>
          <p:nvPr/>
        </p:nvSpPr>
        <p:spPr>
          <a:xfrm>
            <a:off x="9095993"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70314" y="1759216"/>
            <a:ext cx="2151126" cy="42062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25178"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все</a:t>
            </a:r>
          </a:p>
        </p:txBody>
      </p:sp>
      <p:cxnSp>
        <p:nvCxnSpPr>
          <p:cNvPr id="21" name="Connector 20"/>
          <p:cNvCxnSpPr/>
          <p:nvPr/>
        </p:nvCxnSpPr>
        <p:spPr>
          <a:xfrm flipH="1">
            <a:off x="2258568" y="2326144"/>
            <a:ext cx="8988551" cy="0"/>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2381008"/>
            <a:ext cx="9537192" cy="256032"/>
          </a:xfrm>
          <a:prstGeom prst="rect">
            <a:avLst/>
          </a:prstGeom>
          <a:noFill/>
        </p:spPr>
        <p:txBody>
          <a:bodyPr wrap="square" lIns="0" rIns="0" tIns="0" bIns="0" anchor="t">
            <a:spAutoFit/>
          </a:bodyPr>
          <a:lstStyle/>
          <a:p>
            <a:pPr algn="ctr">
              <a:lnSpc>
                <a:spcPct val="115000"/>
              </a:lnSpc>
            </a:pPr>
            <a:r>
              <a:rPr sz="1050" b="1" i="0">
                <a:solidFill>
                  <a:srgbClr val="F0AB00"/>
                </a:solidFill>
                <a:latin typeface="DejaVu Sans"/>
              </a:rPr>
              <a:t>путь назад</a:t>
            </a:r>
          </a:p>
        </p:txBody>
      </p:sp>
      <p:sp>
        <p:nvSpPr>
          <p:cNvPr id="23" name="TextBox 22"/>
          <p:cNvSpPr txBox="1"/>
          <p:nvPr/>
        </p:nvSpPr>
        <p:spPr>
          <a:xfrm>
            <a:off x="1984248" y="2691904"/>
            <a:ext cx="9537192"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доля аудитории растёт ступенями, и на каждой заранее сказано, что наблюдают и какое ухудшение останавливает движение вперёд; возврат описан до запуска, а не сочиняется в момент сбоя</a:t>
            </a:r>
          </a:p>
        </p:txBody>
      </p:sp>
      <p:sp>
        <p:nvSpPr>
          <p:cNvPr id="24" name="Rounded Rectangle 23"/>
          <p:cNvSpPr/>
          <p:nvPr/>
        </p:nvSpPr>
        <p:spPr>
          <a:xfrm>
            <a:off x="502920" y="3267976"/>
            <a:ext cx="1152144" cy="1370723"/>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267976"/>
            <a:ext cx="1060704" cy="137072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6" name="Rounded Rectangle 25"/>
          <p:cNvSpPr/>
          <p:nvPr/>
        </p:nvSpPr>
        <p:spPr>
          <a:xfrm>
            <a:off x="1801368" y="3267976"/>
            <a:ext cx="9902952" cy="137072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359416"/>
            <a:ext cx="9537192" cy="1187843"/>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Три вещи назначаются до включения, а не по ходу. </a:t>
            </a:r>
            <a:r>
              <a:rPr sz="1100" b="1" i="0">
                <a:solidFill>
                  <a:srgbClr val="065A82"/>
                </a:solidFill>
                <a:latin typeface="DejaVu Sans"/>
              </a:rPr>
              <a:t>Ступени</a:t>
            </a:r>
            <a:r>
              <a:rPr sz="1100" b="0" i="0">
                <a:solidFill>
                  <a:srgbClr val="21295C"/>
                </a:solidFill>
                <a:latin typeface="DejaVu Sans"/>
              </a:rPr>
              <a:t> — какие доли аудитории проходим и в каком порядке. </a:t>
            </a:r>
            <a:r>
              <a:rPr sz="1100" b="1" i="0">
                <a:solidFill>
                  <a:srgbClr val="065A82"/>
                </a:solidFill>
                <a:latin typeface="DejaVu Sans"/>
              </a:rPr>
              <a:t>Признак остановки</a:t>
            </a:r>
            <a:r>
              <a:rPr sz="1100" b="0" i="0">
                <a:solidFill>
                  <a:srgbClr val="21295C"/>
                </a:solidFill>
                <a:latin typeface="DejaVu Sans"/>
              </a:rPr>
              <a:t> — что на каждой ступени наблюдают и какое ухудшение останавливает движение вперёд; без названного заранее признака «стало хуже» обсуждается бесконечно. </a:t>
            </a:r>
            <a:r>
              <a:rPr sz="1100" b="1" i="0">
                <a:solidFill>
                  <a:srgbClr val="065A82"/>
                </a:solidFill>
                <a:latin typeface="DejaVu Sans"/>
              </a:rPr>
              <a:t>Путь назад</a:t>
            </a:r>
            <a:r>
              <a:rPr sz="1100" b="0" i="0">
                <a:solidFill>
                  <a:srgbClr val="21295C"/>
                </a:solidFill>
                <a:latin typeface="DejaVu Sans"/>
              </a:rPr>
              <a:t> — кто принимает решение вернуться, за какое время это делается и проверяли ли, что возврат вообще работает. Для функции на основе модели ступени идут медленнее, чем для обычной: сигнал качества шумный, и на его чтение нужны часы наблюдения, а не минуты — обычную функцию видно по отказам и задержкам сразу, а ухудшение ответов проступает только на объёме.</a:t>
            </a:r>
          </a:p>
        </p:txBody>
      </p:sp>
      <p:sp>
        <p:nvSpPr>
          <p:cNvPr id="28" name="Rounded Rectangle 27"/>
          <p:cNvSpPr/>
          <p:nvPr/>
        </p:nvSpPr>
        <p:spPr>
          <a:xfrm>
            <a:off x="502920" y="4702708"/>
            <a:ext cx="1152144" cy="1195609"/>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702708"/>
            <a:ext cx="1060704" cy="1195609"/>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0" name="Rounded Rectangle 29"/>
          <p:cNvSpPr/>
          <p:nvPr/>
        </p:nvSpPr>
        <p:spPr>
          <a:xfrm>
            <a:off x="1801368" y="4702708"/>
            <a:ext cx="9902952" cy="1195609"/>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84248" y="4794148"/>
            <a:ext cx="9537192" cy="1012729"/>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это не «нужно ещё немного данных», а потолок подхода, и читать его надо как повод закрыть. Обратная ошибка так же реальна: </a:t>
            </a:r>
            <a:r>
              <a:rPr sz="1100" b="1" i="0">
                <a:solidFill>
                  <a:srgbClr val="21295C"/>
                </a:solidFill>
                <a:latin typeface="DejaVu Sans"/>
              </a:rPr>
              <a:t>зрелость основного продукта не даёт права пропустить пилот</a:t>
            </a:r>
            <a:r>
              <a:rPr sz="1100" b="1" i="0">
                <a:solidFill>
                  <a:srgbClr val="21295C"/>
                </a:solidFill>
                <a:latin typeface="DejaVu Sans"/>
              </a:rPr>
              <a:t>, а повышает цену такого пропуска — «сто процентов аудитории» здесь означает всю базу сразу. И путь назад, который описан, но ни разу не проверен, — это не путь назад, а намерение.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3017520" y="1097280"/>
            <a:ext cx="822960" cy="822960"/>
          </a:xfrm>
          <a:prstGeom prst="rect">
            <a:avLst/>
          </a:prstGeom>
        </p:spPr>
      </p:pic>
      <p:sp>
        <p:nvSpPr>
          <p:cNvPr id="5" name="Rounded Rectangle 4"/>
          <p:cNvSpPr/>
          <p:nvPr/>
        </p:nvSpPr>
        <p:spPr>
          <a:xfrm>
            <a:off x="868680" y="2084831"/>
            <a:ext cx="2423160" cy="713232"/>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сделать</a:t>
            </a:r>
          </a:p>
          <a:p>
            <a:pPr algn="ctr">
              <a:lnSpc>
                <a:spcPct val="104000"/>
              </a:lnSpc>
            </a:pPr>
            <a:r>
              <a:rPr sz="1150" b="1" i="0">
                <a:solidFill>
                  <a:srgbClr val="21295C"/>
                </a:solidFill>
                <a:latin typeface="DejaVu Sans"/>
              </a:rPr>
              <a:t>подешевело</a:t>
            </a:r>
          </a:p>
        </p:txBody>
      </p:sp>
      <p:sp>
        <p:nvSpPr>
          <p:cNvPr id="7" name="Rounded Rectangle 6"/>
          <p:cNvSpPr/>
          <p:nvPr/>
        </p:nvSpPr>
        <p:spPr>
          <a:xfrm>
            <a:off x="3703320" y="2084831"/>
            <a:ext cx="2423160" cy="713232"/>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проверить</a:t>
            </a:r>
          </a:p>
          <a:p>
            <a:pPr algn="ctr">
              <a:lnSpc>
                <a:spcPct val="104000"/>
              </a:lnSpc>
            </a:pPr>
            <a:r>
              <a:rPr sz="1150" b="1" i="0">
                <a:solidFill>
                  <a:srgbClr val="21295C"/>
                </a:solidFill>
                <a:latin typeface="DejaVu Sans"/>
              </a:rPr>
              <a:t>не сдвинулось</a:t>
            </a:r>
          </a:p>
        </p:txBody>
      </p:sp>
      <p:sp>
        <p:nvSpPr>
          <p:cNvPr id="9" name="TextBox 8"/>
          <p:cNvSpPr txBox="1"/>
          <p:nvPr/>
        </p:nvSpPr>
        <p:spPr>
          <a:xfrm>
            <a:off x="868680" y="2852928"/>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3163824"/>
            <a:ext cx="5257800" cy="124358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 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Короткая записка, которую делают </a:t>
            </a:r>
            <a:r>
              <a:rPr sz="1100" b="1" i="0">
                <a:solidFill>
                  <a:srgbClr val="065A82"/>
                </a:solidFill>
                <a:latin typeface="DejaVu Sans"/>
              </a:rPr>
              <a:t>до</a:t>
            </a:r>
            <a:r>
              <a:rPr sz="110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исследования регистрируют до набора пациентов, иначе журнал не примет статью. В продукте это одна запись на эксперимент, лежащая там, где у записей есть дата и автор.</a:t>
            </a:r>
          </a:p>
        </p:txBody>
      </p:sp>
      <p:sp>
        <p:nvSpPr>
          <p:cNvPr id="7" name="Rounded Rectangle 6"/>
          <p:cNvSpPr/>
          <p:nvPr/>
        </p:nvSpPr>
        <p:spPr>
          <a:xfrm>
            <a:off x="502920" y="1445596"/>
            <a:ext cx="1152144" cy="23957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37036"/>
            <a:ext cx="5495544" cy="695233"/>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До запуска записывают четыре вещи:</a:t>
            </a:r>
            <a:r>
              <a:rPr sz="1019" b="0" i="0">
                <a:solidFill>
                  <a:srgbClr val="21295C"/>
                </a:solidFill>
                <a:latin typeface="DejaVu Sans"/>
              </a:rPr>
              <a:t> какую одну величину считаем основанием решения и в какую сторону она должна двинуться; что мониторим как ограничитель; какой размер эффекта считаем значимым и сколько для него нужно наблюдений; при каком условии останавливаемся.</a:t>
            </a:r>
          </a:p>
        </p:txBody>
      </p:sp>
      <p:sp>
        <p:nvSpPr>
          <p:cNvPr id="13" name="Oval 12"/>
          <p:cNvSpPr/>
          <p:nvPr/>
        </p:nvSpPr>
        <p:spPr>
          <a:xfrm>
            <a:off x="1984248" y="231913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1913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05422"/>
            <a:ext cx="5495544" cy="532855"/>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Запись кладут туда, где есть время</a:t>
            </a:r>
            <a:r>
              <a:rPr sz="1019" b="0" i="0">
                <a:solidFill>
                  <a:srgbClr val="21295C"/>
                </a:solidFill>
                <a:latin typeface="DejaVu Sans"/>
              </a:rPr>
              <a:t> — в систему контроля версий, с датой и автором. Весь механизм в этом: метка времени стоит раньше первого результата.</a:t>
            </a:r>
          </a:p>
        </p:txBody>
      </p:sp>
      <p:sp>
        <p:nvSpPr>
          <p:cNvPr id="16" name="Oval 15"/>
          <p:cNvSpPr/>
          <p:nvPr/>
        </p:nvSpPr>
        <p:spPr>
          <a:xfrm>
            <a:off x="1984248" y="29251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251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11429"/>
            <a:ext cx="5495544" cy="370476"/>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После запуска запись не переписывают</a:t>
            </a:r>
            <a:r>
              <a:rPr sz="1019" b="0" i="0">
                <a:solidFill>
                  <a:srgbClr val="21295C"/>
                </a:solidFill>
                <a:latin typeface="DejaVu Sans"/>
              </a:rPr>
              <a:t> — к ней дописывают принятое решение и дату.</a:t>
            </a:r>
          </a:p>
        </p:txBody>
      </p:sp>
      <p:cxnSp>
        <p:nvCxnSpPr>
          <p:cNvPr id="19" name="Connector 18"/>
          <p:cNvCxnSpPr/>
          <p:nvPr/>
        </p:nvCxnSpPr>
        <p:spPr>
          <a:xfrm>
            <a:off x="8156448" y="2103964"/>
            <a:ext cx="322783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39328" y="2012524"/>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1665052"/>
            <a:ext cx="1737360" cy="292608"/>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012524"/>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665052"/>
            <a:ext cx="1645920" cy="292608"/>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430768" y="2250268"/>
            <a:ext cx="2313432"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65008" y="2341708"/>
            <a:ext cx="3456432" cy="201168"/>
          </a:xfrm>
          <a:prstGeom prst="rect">
            <a:avLst/>
          </a:prstGeom>
          <a:noFill/>
        </p:spPr>
        <p:txBody>
          <a:bodyPr wrap="square" lIns="0" rIns="0" tIns="0" bIns="0" anchor="t">
            <a:spAutoFit/>
          </a:bodyPr>
          <a:lstStyle/>
          <a:p>
            <a:pPr algn="ctr">
              <a:lnSpc>
                <a:spcPct val="105000"/>
              </a:lnSpc>
            </a:pPr>
            <a:r>
              <a:rPr sz="919"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8065008" y="2670892"/>
            <a:ext cx="3456432" cy="1005840"/>
          </a:xfrm>
          <a:prstGeom prst="rect">
            <a:avLst/>
          </a:prstGeom>
          <a:noFill/>
        </p:spPr>
        <p:txBody>
          <a:bodyPr wrap="square" lIns="0" rIns="0" tIns="0" bIns="0" anchor="t">
            <a:spAutoFit/>
          </a:bodyPr>
          <a:lstStyle/>
          <a:p>
            <a:pPr algn="l">
              <a:lnSpc>
                <a:spcPct val="114000"/>
              </a:lnSpc>
            </a:pPr>
            <a:r>
              <a:rPr sz="1000" b="1" i="0">
                <a:solidFill>
                  <a:srgbClr val="065A82"/>
                </a:solidFill>
                <a:latin typeface="DejaVu Sans"/>
              </a:rPr>
              <a:t>Почему это работает.</a:t>
            </a:r>
            <a:r>
              <a:rPr sz="1000" b="0" i="0">
                <a:solidFill>
                  <a:srgbClr val="21295C"/>
                </a:solidFill>
                <a:latin typeface="DejaVu Sans"/>
              </a:rPr>
              <a:t> Три частые ловушки — остановить на удачной точке, перебрать метрики и выбрать сработавшую, подвинуть порог — все требуют, чтобы критерий успеха можно было выбрать после результата. Если он записан раньше, выбирать не из чего.</a:t>
            </a:r>
          </a:p>
        </p:txBody>
      </p:sp>
      <p:sp>
        <p:nvSpPr>
          <p:cNvPr id="27" name="Rectangle 26"/>
          <p:cNvSpPr/>
          <p:nvPr/>
        </p:nvSpPr>
        <p:spPr>
          <a:xfrm>
            <a:off x="502920" y="3941908"/>
            <a:ext cx="50292" cy="5669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923620"/>
            <a:ext cx="11018520" cy="603504"/>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ПРАКТИКИ 2026   </a:t>
            </a:r>
            <a:r>
              <a:rPr sz="960" b="0" i="1">
                <a:solidFill>
                  <a:srgbClr val="5B6678"/>
                </a:solidFill>
                <a:latin typeface="DejaVu Sans"/>
              </a:rPr>
              <a:t>Платформы экспериментов Statsig, GrowthBook, Eppo считают доверительный интервал так, что смотреть на результат можно в любой момент без потери корректности: запрет на подглядывание стал настройкой, а не дисциплиной. Платят за это чувствительностью, и правило остановки всё равно задают до запуска.</a:t>
            </a:r>
          </a:p>
        </p:txBody>
      </p:sp>
      <p:sp>
        <p:nvSpPr>
          <p:cNvPr id="29" name="Rounded Rectangle 28"/>
          <p:cNvSpPr/>
          <p:nvPr/>
        </p:nvSpPr>
        <p:spPr>
          <a:xfrm>
            <a:off x="502920" y="4591132"/>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591132"/>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591132"/>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682572"/>
            <a:ext cx="6611112" cy="1042416"/>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контрольная группа. И она бессильна там, где наблюдений физически не хватает: честный выход — сменить вопрос или метод, а не выборку.</a:t>
            </a:r>
          </a:p>
        </p:txBody>
      </p:sp>
      <p:sp>
        <p:nvSpPr>
          <p:cNvPr id="33" name="Rounded Rectangle 32"/>
          <p:cNvSpPr/>
          <p:nvPr/>
        </p:nvSpPr>
        <p:spPr>
          <a:xfrm>
            <a:off x="8778240" y="4682572"/>
            <a:ext cx="2743200" cy="1042416"/>
          </a:xfrm>
          <a:prstGeom prst="roundRect">
            <a:avLst>
              <a:gd name="adj" fmla="val 1705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0" y="4737436"/>
            <a:ext cx="2743200" cy="201168"/>
          </a:xfrm>
          <a:prstGeom prst="rect">
            <a:avLst/>
          </a:prstGeom>
          <a:noFill/>
        </p:spPr>
        <p:txBody>
          <a:bodyPr wrap="square" lIns="0" rIns="0" tIns="0" bIns="0" anchor="t">
            <a:spAutoFit/>
          </a:bodyPr>
          <a:lstStyle/>
          <a:p>
            <a:pPr algn="ctr">
              <a:lnSpc>
                <a:spcPct val="105000"/>
              </a:lnSpc>
            </a:pPr>
            <a:r>
              <a:rPr sz="880" b="1" i="0">
                <a:solidFill>
                  <a:srgbClr val="21295C"/>
                </a:solidFill>
                <a:latin typeface="DejaVu Sans"/>
              </a:rPr>
              <a:t>ответа ждать больше трёх месяцев</a:t>
            </a:r>
          </a:p>
        </p:txBody>
      </p:sp>
      <p:sp>
        <p:nvSpPr>
          <p:cNvPr id="35" name="Rounded Rectangle 34"/>
          <p:cNvSpPr/>
          <p:nvPr/>
        </p:nvSpPr>
        <p:spPr>
          <a:xfrm>
            <a:off x="9281160" y="5084908"/>
            <a:ext cx="640080" cy="402336"/>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0" y="4883740"/>
            <a:ext cx="1097280" cy="182880"/>
          </a:xfrm>
          <a:prstGeom prst="rect">
            <a:avLst/>
          </a:prstGeom>
          <a:noFill/>
        </p:spPr>
        <p:txBody>
          <a:bodyPr wrap="square" lIns="0" rIns="0" tIns="0" bIns="0" anchor="t">
            <a:spAutoFit/>
          </a:bodyPr>
          <a:lstStyle/>
          <a:p>
            <a:pPr algn="ctr">
              <a:lnSpc>
                <a:spcPct val="100000"/>
              </a:lnSpc>
            </a:pPr>
            <a:r>
              <a:rPr sz="1000" b="1" i="0">
                <a:solidFill>
                  <a:srgbClr val="065A82"/>
                </a:solidFill>
                <a:latin typeface="DejaVu Sans"/>
              </a:rPr>
              <a:t>31 200</a:t>
            </a:r>
          </a:p>
        </p:txBody>
      </p:sp>
      <p:sp>
        <p:nvSpPr>
          <p:cNvPr id="37" name="TextBox 36"/>
          <p:cNvSpPr txBox="1"/>
          <p:nvPr/>
        </p:nvSpPr>
        <p:spPr>
          <a:xfrm>
            <a:off x="905256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38" name="Rounded Rectangle 37"/>
          <p:cNvSpPr/>
          <p:nvPr/>
        </p:nvSpPr>
        <p:spPr>
          <a:xfrm>
            <a:off x="10607040" y="5422767"/>
            <a:ext cx="640080" cy="64476"/>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78440" y="5221599"/>
            <a:ext cx="1097280" cy="182880"/>
          </a:xfrm>
          <a:prstGeom prst="rect">
            <a:avLst/>
          </a:prstGeom>
          <a:noFill/>
        </p:spPr>
        <p:txBody>
          <a:bodyPr wrap="square" lIns="0" rIns="0" tIns="0" bIns="0" anchor="t">
            <a:spAutoFit/>
          </a:bodyPr>
          <a:lstStyle/>
          <a:p>
            <a:pPr algn="ctr">
              <a:lnSpc>
                <a:spcPct val="100000"/>
              </a:lnSpc>
            </a:pPr>
            <a:r>
              <a:rPr sz="1000" b="1" i="0">
                <a:solidFill>
                  <a:srgbClr val="F0AB00"/>
                </a:solidFill>
                <a:latin typeface="DejaVu Sans"/>
              </a:rPr>
              <a:t>5 000</a:t>
            </a:r>
          </a:p>
        </p:txBody>
      </p:sp>
      <p:sp>
        <p:nvSpPr>
          <p:cNvPr id="40" name="TextBox 39"/>
          <p:cNvSpPr txBox="1"/>
          <p:nvPr/>
        </p:nvSpPr>
        <p:spPr>
          <a:xfrm>
            <a:off x="1037844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1" name="TextBox 4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Расчёт 31 200 на группу — иллюстративный</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Оценки: тесты для системы, которая каждый раз отвечает иначе</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Оценка (в обиходе «эвал») — набор задач с заранее известным желаемым ответом, на котором прогоняют модель или агента. Смысл тот же, что у набора тестов для кода, но с одной разницей: ответ не сверяют посимвольно. Его оценивает человек, отдельная модель-судья или проверка по правилу — поэтому результат не «прошёл / не прошёл», а доля.</a:t>
            </a:r>
          </a:p>
        </p:txBody>
      </p:sp>
      <p:sp>
        <p:nvSpPr>
          <p:cNvPr id="7" name="Rounded Rectangle 6"/>
          <p:cNvSpPr/>
          <p:nvPr/>
        </p:nvSpPr>
        <p:spPr>
          <a:xfrm>
            <a:off x="502920" y="1445596"/>
            <a:ext cx="1152144" cy="248716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48716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487168"/>
          </a:xfrm>
          <a:prstGeom prst="roundRect">
            <a:avLst>
              <a:gd name="adj" fmla="val 122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537036"/>
            <a:ext cx="1645920" cy="457200"/>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537036"/>
            <a:ext cx="1536192" cy="457200"/>
          </a:xfrm>
          <a:prstGeom prst="rect">
            <a:avLst/>
          </a:prstGeom>
          <a:noFill/>
        </p:spPr>
        <p:txBody>
          <a:bodyPr wrap="square" lIns="0" rIns="0" tIns="0" bIns="0" anchor="ctr">
            <a:spAutoFit/>
          </a:bodyPr>
          <a:lstStyle/>
          <a:p>
            <a:pPr algn="ctr">
              <a:lnSpc>
                <a:spcPct val="104000"/>
              </a:lnSpc>
            </a:pPr>
            <a:r>
              <a:rPr sz="950" b="1" i="0">
                <a:solidFill>
                  <a:srgbClr val="065A82"/>
                </a:solidFill>
                <a:latin typeface="DejaVu Sans"/>
              </a:rPr>
              <a:t>набор</a:t>
            </a:r>
          </a:p>
          <a:p>
            <a:pPr algn="ctr">
              <a:lnSpc>
                <a:spcPct val="104000"/>
              </a:lnSpc>
            </a:pPr>
            <a:r>
              <a:rPr sz="950" b="1" i="0">
                <a:solidFill>
                  <a:srgbClr val="065A82"/>
                </a:solidFill>
                <a:latin typeface="DejaVu Sans"/>
              </a:rPr>
              <a:t>задач</a:t>
            </a:r>
          </a:p>
        </p:txBody>
      </p:sp>
      <p:sp>
        <p:nvSpPr>
          <p:cNvPr id="12" name="Rounded Rectangle 11"/>
          <p:cNvSpPr/>
          <p:nvPr/>
        </p:nvSpPr>
        <p:spPr>
          <a:xfrm>
            <a:off x="4224528" y="1537036"/>
            <a:ext cx="1645920" cy="457200"/>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1537036"/>
            <a:ext cx="1536192" cy="457200"/>
          </a:xfrm>
          <a:prstGeom prst="rect">
            <a:avLst/>
          </a:prstGeom>
          <a:noFill/>
        </p:spPr>
        <p:txBody>
          <a:bodyPr wrap="square" lIns="0" rIns="0" tIns="0" bIns="0" anchor="ctr">
            <a:spAutoFit/>
          </a:bodyPr>
          <a:lstStyle/>
          <a:p>
            <a:pPr algn="ctr">
              <a:lnSpc>
                <a:spcPct val="104000"/>
              </a:lnSpc>
            </a:pPr>
            <a:r>
              <a:rPr sz="950" b="1" i="0">
                <a:solidFill>
                  <a:srgbClr val="1C7293"/>
                </a:solidFill>
                <a:latin typeface="DejaVu Sans"/>
              </a:rPr>
              <a:t>выпуск</a:t>
            </a:r>
          </a:p>
        </p:txBody>
      </p:sp>
      <p:sp>
        <p:nvSpPr>
          <p:cNvPr id="14" name="Rounded Rectangle 13"/>
          <p:cNvSpPr/>
          <p:nvPr/>
        </p:nvSpPr>
        <p:spPr>
          <a:xfrm>
            <a:off x="4224528" y="2506300"/>
            <a:ext cx="1645920" cy="457200"/>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2506300"/>
            <a:ext cx="1536192" cy="457200"/>
          </a:xfrm>
          <a:prstGeom prst="rect">
            <a:avLst/>
          </a:prstGeom>
          <a:noFill/>
        </p:spPr>
        <p:txBody>
          <a:bodyPr wrap="square" lIns="0" rIns="0" tIns="0" bIns="0" anchor="ctr">
            <a:spAutoFit/>
          </a:bodyPr>
          <a:lstStyle/>
          <a:p>
            <a:pPr algn="ctr">
              <a:lnSpc>
                <a:spcPct val="104000"/>
              </a:lnSpc>
            </a:pPr>
            <a:r>
              <a:rPr sz="950" b="1" i="0">
                <a:solidFill>
                  <a:srgbClr val="028090"/>
                </a:solidFill>
                <a:latin typeface="DejaVu Sans"/>
              </a:rPr>
              <a:t>живой трафик</a:t>
            </a:r>
          </a:p>
        </p:txBody>
      </p:sp>
      <p:sp>
        <p:nvSpPr>
          <p:cNvPr id="16" name="Rounded Rectangle 15"/>
          <p:cNvSpPr/>
          <p:nvPr/>
        </p:nvSpPr>
        <p:spPr>
          <a:xfrm>
            <a:off x="1984248" y="2506300"/>
            <a:ext cx="1645920" cy="457200"/>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39112" y="2506300"/>
            <a:ext cx="1536192" cy="457200"/>
          </a:xfrm>
          <a:prstGeom prst="rect">
            <a:avLst/>
          </a:prstGeom>
          <a:noFill/>
        </p:spPr>
        <p:txBody>
          <a:bodyPr wrap="square" lIns="0" rIns="0" tIns="0" bIns="0" anchor="ctr">
            <a:spAutoFit/>
          </a:bodyPr>
          <a:lstStyle/>
          <a:p>
            <a:pPr algn="ctr">
              <a:lnSpc>
                <a:spcPct val="104000"/>
              </a:lnSpc>
            </a:pPr>
            <a:r>
              <a:rPr sz="950" b="1" i="0">
                <a:solidFill>
                  <a:srgbClr val="5B6678"/>
                </a:solidFill>
                <a:latin typeface="DejaVu Sans"/>
              </a:rPr>
              <a:t>разбор сбоя</a:t>
            </a:r>
          </a:p>
        </p:txBody>
      </p:sp>
      <p:cxnSp>
        <p:nvCxnSpPr>
          <p:cNvPr id="18" name="Connector 17"/>
          <p:cNvCxnSpPr/>
          <p:nvPr/>
        </p:nvCxnSpPr>
        <p:spPr>
          <a:xfrm>
            <a:off x="3630168" y="1765636"/>
            <a:ext cx="594360"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47488" y="1994236"/>
            <a:ext cx="0" cy="5120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630168" y="2734900"/>
            <a:ext cx="594360"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807208" y="1994236"/>
            <a:ext cx="0" cy="512064"/>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3036652"/>
            <a:ext cx="3840479" cy="402336"/>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не петля, а отчёт</a:t>
            </a:r>
          </a:p>
        </p:txBody>
      </p:sp>
      <p:sp>
        <p:nvSpPr>
          <p:cNvPr id="23" name="Oval 22"/>
          <p:cNvSpPr/>
          <p:nvPr/>
        </p:nvSpPr>
        <p:spPr>
          <a:xfrm>
            <a:off x="614476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5" name="TextBox 24"/>
          <p:cNvSpPr txBox="1"/>
          <p:nvPr/>
        </p:nvSpPr>
        <p:spPr>
          <a:xfrm>
            <a:off x="6455664" y="1537036"/>
            <a:ext cx="5065776" cy="364109"/>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выпуска</a:t>
            </a:r>
            <a:r>
              <a:rPr sz="1000" b="0" i="0">
                <a:solidFill>
                  <a:srgbClr val="21295C"/>
                </a:solidFill>
                <a:latin typeface="DejaVu Sans"/>
              </a:rPr>
              <a:t> — прогон против отобранного набора: воспроизводимо, ловит то, что уже ломалось.</a:t>
            </a:r>
          </a:p>
        </p:txBody>
      </p:sp>
      <p:sp>
        <p:nvSpPr>
          <p:cNvPr id="26" name="Oval 25"/>
          <p:cNvSpPr/>
          <p:nvPr/>
        </p:nvSpPr>
        <p:spPr>
          <a:xfrm>
            <a:off x="6144768" y="19697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19697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8" name="TextBox 27"/>
          <p:cNvSpPr txBox="1"/>
          <p:nvPr/>
        </p:nvSpPr>
        <p:spPr>
          <a:xfrm>
            <a:off x="6455664" y="1956009"/>
            <a:ext cx="5065776" cy="52330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выпуска</a:t>
            </a:r>
            <a:r>
              <a:rPr sz="1000" b="0" i="0">
                <a:solidFill>
                  <a:srgbClr val="21295C"/>
                </a:solidFill>
                <a:latin typeface="DejaVu Sans"/>
              </a:rPr>
              <a:t> — оценка на живом трафике: вскрывает входы, которых в наборе не было, и поведение, заметное только на длинной цепочке ходов.</a:t>
            </a:r>
          </a:p>
        </p:txBody>
      </p:sp>
      <p:sp>
        <p:nvSpPr>
          <p:cNvPr id="29" name="Oval 28"/>
          <p:cNvSpPr/>
          <p:nvPr/>
        </p:nvSpPr>
        <p:spPr>
          <a:xfrm>
            <a:off x="6144768" y="254789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254789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31" name="TextBox 30"/>
          <p:cNvSpPr txBox="1"/>
          <p:nvPr/>
        </p:nvSpPr>
        <p:spPr>
          <a:xfrm>
            <a:off x="6455664" y="2534177"/>
            <a:ext cx="5065776" cy="20491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Замыкание</a:t>
            </a:r>
            <a:r>
              <a:rPr sz="1000" b="0" i="0">
                <a:solidFill>
                  <a:srgbClr val="21295C"/>
                </a:solidFill>
                <a:latin typeface="DejaVu Sans"/>
              </a:rPr>
              <a:t> — разбор промышленного сбоя добавляет в набор строку.</a:t>
            </a:r>
          </a:p>
        </p:txBody>
      </p:sp>
      <p:sp>
        <p:nvSpPr>
          <p:cNvPr id="32" name="Rounded Rectangle 31"/>
          <p:cNvSpPr/>
          <p:nvPr/>
        </p:nvSpPr>
        <p:spPr>
          <a:xfrm>
            <a:off x="6144768"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1"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проверки на каждое изменение</a:t>
            </a:r>
          </a:p>
        </p:txBody>
      </p:sp>
      <p:sp>
        <p:nvSpPr>
          <p:cNvPr id="34" name="Right Arrow 33"/>
          <p:cNvSpPr/>
          <p:nvPr/>
        </p:nvSpPr>
        <p:spPr>
          <a:xfrm>
            <a:off x="7818119"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10144"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65008"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человек и модель-судья</a:t>
            </a:r>
          </a:p>
        </p:txBody>
      </p:sp>
      <p:sp>
        <p:nvSpPr>
          <p:cNvPr id="37" name="Right Arrow 36"/>
          <p:cNvSpPr/>
          <p:nvPr/>
        </p:nvSpPr>
        <p:spPr>
          <a:xfrm>
            <a:off x="9683496"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875520" y="2817196"/>
            <a:ext cx="1645920" cy="384048"/>
          </a:xfrm>
          <a:prstGeom prst="roundRect">
            <a:avLst>
              <a:gd name="adj" fmla="val 19444"/>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эксперимент на живых пользователях</a:t>
            </a:r>
          </a:p>
        </p:txBody>
      </p:sp>
      <p:sp>
        <p:nvSpPr>
          <p:cNvPr id="40" name="TextBox 39"/>
          <p:cNvSpPr txBox="1"/>
          <p:nvPr/>
        </p:nvSpPr>
        <p:spPr>
          <a:xfrm>
            <a:off x="6144768" y="3256108"/>
            <a:ext cx="5376672" cy="530352"/>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Лестница задаёт дороговизну: эксперимент на живых пользователях — </a:t>
            </a:r>
            <a:r>
              <a:rPr sz="960" b="1" i="0">
                <a:solidFill>
                  <a:srgbClr val="065A82"/>
                </a:solidFill>
                <a:latin typeface="DejaVu Sans"/>
              </a:rPr>
              <a:t>последняя ступень, а не первая</a:t>
            </a:r>
            <a:r>
              <a:rPr sz="960" b="0" i="0">
                <a:solidFill>
                  <a:srgbClr val="21295C"/>
                </a:solidFill>
                <a:latin typeface="DejaVu Sans"/>
              </a:rPr>
              <a:t>. Оценками он не заменяется. Балл, упёршийся в потолок, — не «задача решена», а сдувшийся набор.</a:t>
            </a:r>
          </a:p>
        </p:txBody>
      </p:sp>
      <p:sp>
        <p:nvSpPr>
          <p:cNvPr id="41" name="Rectangle 40"/>
          <p:cNvSpPr/>
          <p:nvPr/>
        </p:nvSpPr>
        <p:spPr>
          <a:xfrm>
            <a:off x="502920" y="4033348"/>
            <a:ext cx="50292" cy="3657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015060"/>
            <a:ext cx="11018520" cy="402336"/>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ИНСТРУМЕНТЫ 2026   </a:t>
            </a:r>
            <a:r>
              <a:rPr sz="960" b="0" i="1">
                <a:solidFill>
                  <a:srgbClr val="5B6678"/>
                </a:solidFill>
                <a:latin typeface="DejaVu Sans"/>
              </a:rPr>
              <a:t>Langfuse, Braintrust, LangSmith, Arize Phoenix — все строятся вокруг трассы запроса, к которой оценки прикрепляются прямо на живом трафике; Langfuse и Phoenix разворачиваются на своём оборудовании.</a:t>
            </a:r>
          </a:p>
        </p:txBody>
      </p:sp>
      <p:sp>
        <p:nvSpPr>
          <p:cNvPr id="43" name="Rounded Rectangle 42"/>
          <p:cNvSpPr/>
          <p:nvPr/>
        </p:nvSpPr>
        <p:spPr>
          <a:xfrm>
            <a:off x="502920" y="4481404"/>
            <a:ext cx="1152144" cy="96955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481404"/>
            <a:ext cx="1060704" cy="96955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5" name="Rounded Rectangle 44"/>
          <p:cNvSpPr/>
          <p:nvPr/>
        </p:nvSpPr>
        <p:spPr>
          <a:xfrm>
            <a:off x="1801368" y="4481404"/>
            <a:ext cx="9902952" cy="96955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4572844"/>
            <a:ext cx="9537192" cy="786673"/>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Модель-судья соглашается с человеком на 80–90% там, где предпочтение очевидно, и падает к 60–65%, как только ответы близки или их просто меняют местами</a:t>
            </a:r>
            <a:r>
              <a:rPr sz="1019" b="1" i="0">
                <a:solidFill>
                  <a:srgbClr val="21295C"/>
                </a:solidFill>
                <a:latin typeface="DejaVu Sans"/>
              </a:rPr>
              <a:t> — то есть надёжна меньше всего там, где цена ошибки выше всего. Отсюда обязательные поправки: перемешивать порядок ответов, измерять согласие с человеческими метками, сверять с судьёй из другого семейства моделей. Набор, который всегда зелёный, — не гарантия качества, а сломанный измеритель.</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Хусейн · согласие модели-судьи с человеком: 80–90% при явном предпочтении, 60–65% с ничьими и перестановкой</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удержать обещание продукта после запуска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после запуска, и большинство отказов приходит не от износа, а от изменений, которые вносим мы сами. Без этой работы деградацию первым замечает пользователь — а компания узнаёт о ней из суда, из списания капитала или из публичного расследования.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сколько сбоев допустимо — число, а не лозунг</a:t>
            </a:r>
          </a:p>
        </p:txBody>
      </p:sp>
      <p:sp>
        <p:nvSpPr>
          <p:cNvPr id="3" name="Rounded Rectangle 2"/>
          <p:cNvSpPr/>
          <p:nvPr/>
        </p:nvSpPr>
        <p:spPr>
          <a:xfrm>
            <a:off x="502920" y="896112"/>
            <a:ext cx="1120140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приходят не от износа, а от изменений, которые вносим мы сами: выкатка, правка промпта, смена версии модели. Значит, источник сбоев — та работа, которой команда занята каждый день. Если допустимое число сбоев не согласовано заранее, спор «быстрее или надёжнее» решается после инцидента и в пользу того, кто громче.</a:t>
            </a:r>
          </a:p>
        </p:txBody>
      </p:sp>
      <p:sp>
        <p:nvSpPr>
          <p:cNvPr id="5" name="Rounded Rectangle 4"/>
          <p:cNvSpPr/>
          <p:nvPr/>
        </p:nvSpPr>
        <p:spPr>
          <a:xfrm>
            <a:off x="502920"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7" name="TextBox 6"/>
          <p:cNvSpPr txBox="1"/>
          <p:nvPr/>
        </p:nvSpPr>
        <p:spPr>
          <a:xfrm>
            <a:off x="594360"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8" name="Right Arrow 7"/>
          <p:cNvSpPr/>
          <p:nvPr/>
        </p:nvSpPr>
        <p:spPr>
          <a:xfrm>
            <a:off x="2624327"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62072"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3512"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1" name="TextBox 10"/>
          <p:cNvSpPr txBox="1"/>
          <p:nvPr/>
        </p:nvSpPr>
        <p:spPr>
          <a:xfrm>
            <a:off x="2953512"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2" name="Right Arrow 11"/>
          <p:cNvSpPr/>
          <p:nvPr/>
        </p:nvSpPr>
        <p:spPr>
          <a:xfrm>
            <a:off x="4983479"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21224" y="1938528"/>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5" name="TextBox 14"/>
          <p:cNvSpPr txBox="1"/>
          <p:nvPr/>
        </p:nvSpPr>
        <p:spPr>
          <a:xfrm>
            <a:off x="5312664"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6" name="TextBox 15"/>
          <p:cNvSpPr txBox="1"/>
          <p:nvPr/>
        </p:nvSpPr>
        <p:spPr>
          <a:xfrm>
            <a:off x="502920" y="2999232"/>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расходуют, а не лозунг про надёжность.</a:t>
            </a:r>
          </a:p>
        </p:txBody>
      </p:sp>
      <p:sp>
        <p:nvSpPr>
          <p:cNvPr id="17" name="Rounded Rectangle 16"/>
          <p:cNvSpPr/>
          <p:nvPr/>
        </p:nvSpPr>
        <p:spPr>
          <a:xfrm>
            <a:off x="502920" y="3566160"/>
            <a:ext cx="6821424" cy="914400"/>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694176"/>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19" name="Rounded Rectangle 18"/>
          <p:cNvSpPr/>
          <p:nvPr/>
        </p:nvSpPr>
        <p:spPr>
          <a:xfrm>
            <a:off x="7589520" y="1938528"/>
            <a:ext cx="4114800" cy="2697480"/>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2029968"/>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1" name="TextBox 20"/>
          <p:cNvSpPr txBox="1"/>
          <p:nvPr/>
        </p:nvSpPr>
        <p:spPr>
          <a:xfrm>
            <a:off x="7790688" y="2304288"/>
            <a:ext cx="3712463" cy="29260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 отдельности ни одно из них второй случай не видит</a:t>
            </a:r>
          </a:p>
        </p:txBody>
      </p:sp>
      <p:sp>
        <p:nvSpPr>
          <p:cNvPr id="22" name="TextBox 21"/>
          <p:cNvSpPr txBox="1"/>
          <p:nvPr/>
        </p:nvSpPr>
        <p:spPr>
          <a:xfrm>
            <a:off x="7790688" y="2651760"/>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3" name="Connector 22"/>
          <p:cNvCxnSpPr/>
          <p:nvPr/>
        </p:nvCxnSpPr>
        <p:spPr>
          <a:xfrm>
            <a:off x="7818120" y="3310128"/>
            <a:ext cx="146304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66760" y="2962656"/>
            <a:ext cx="246888"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13648" y="2962656"/>
            <a:ext cx="256032"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3017520"/>
            <a:ext cx="2084831" cy="36576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поднять дежурного</a:t>
            </a:r>
          </a:p>
          <a:p>
            <a:pPr algn="l">
              <a:lnSpc>
                <a:spcPct val="105000"/>
              </a:lnSpc>
            </a:pPr>
            <a:r>
              <a:rPr sz="900" b="0" i="1">
                <a:solidFill>
                  <a:srgbClr val="5B6678"/>
                </a:solidFill>
                <a:latin typeface="DejaVu Sans"/>
              </a:rPr>
              <a:t>сейчас</a:t>
            </a:r>
          </a:p>
        </p:txBody>
      </p:sp>
      <p:sp>
        <p:nvSpPr>
          <p:cNvPr id="27" name="TextBox 26"/>
          <p:cNvSpPr txBox="1"/>
          <p:nvPr/>
        </p:nvSpPr>
        <p:spPr>
          <a:xfrm>
            <a:off x="7790688" y="349300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8" name="Connector 27"/>
          <p:cNvCxnSpPr/>
          <p:nvPr/>
        </p:nvCxnSpPr>
        <p:spPr>
          <a:xfrm>
            <a:off x="7818120" y="4169663"/>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818120" y="3785615"/>
            <a:ext cx="3520440" cy="329185"/>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818120" y="4242816"/>
            <a:ext cx="3657600"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задача на рабочее время, не звонок ночью</a:t>
            </a:r>
          </a:p>
        </p:txBody>
      </p:sp>
      <p:sp>
        <p:nvSpPr>
          <p:cNvPr id="31" name="Rounded Rectangle 30"/>
          <p:cNvSpPr/>
          <p:nvPr/>
        </p:nvSpPr>
        <p:spPr>
          <a:xfrm>
            <a:off x="502920" y="48006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855464"/>
            <a:ext cx="10762488" cy="67665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на чём считать бюджет, когда сбой не возвращает ошибки.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Наблюдаемость ИИ-ответов: как увидеть, что качество упало</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Наблюдаемость — это когда по записям системы можно ответить на вопрос «что у нас произошло», не переспрашивая саму систему. Для обычного сервиса записи отвечают, работал он или нет. Для ИИ-компонента нужен другой ответ — </a:t>
            </a:r>
            <a:r>
              <a:rPr sz="1019" b="1" i="0">
                <a:solidFill>
                  <a:srgbClr val="21295C"/>
                </a:solidFill>
                <a:latin typeface="DejaVu Sans"/>
              </a:rPr>
              <a:t>не «ответил ли», а «насколько хорошо ответил»</a:t>
            </a:r>
            <a:r>
              <a:rPr sz="1019" b="0" i="0">
                <a:solidFill>
                  <a:srgbClr val="21295C"/>
                </a:solidFill>
                <a:latin typeface="DejaVu Sans"/>
              </a:rPr>
              <a:t>. Этого система про себя не знает, и измерять приходится снаружи.</a:t>
            </a:r>
          </a:p>
        </p:txBody>
      </p:sp>
      <p:sp>
        <p:nvSpPr>
          <p:cNvPr id="7" name="Rounded Rectangle 6"/>
          <p:cNvSpPr/>
          <p:nvPr/>
        </p:nvSpPr>
        <p:spPr>
          <a:xfrm>
            <a:off x="502920" y="1407389"/>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125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125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498829"/>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Записывать путь ответа целиком, а не только его конец</a:t>
            </a:r>
            <a:r>
              <a:rPr sz="980" b="0" i="0">
                <a:solidFill>
                  <a:srgbClr val="21295C"/>
                </a:solidFill>
                <a:latin typeface="DejaVu Sans"/>
              </a:rPr>
              <a:t> — и помечать версией всё, что на результат влияет. Без версий на разборе нельзя сказать, что именно изменилось.</a:t>
            </a:r>
          </a:p>
        </p:txBody>
      </p:sp>
      <p:sp>
        <p:nvSpPr>
          <p:cNvPr id="13" name="Oval 12"/>
          <p:cNvSpPr/>
          <p:nvPr/>
        </p:nvSpPr>
        <p:spPr>
          <a:xfrm>
            <a:off x="1984248" y="208116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8116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67445"/>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Договориться заранее о быстрой косвенной метрике качества.</a:t>
            </a:r>
            <a:r>
              <a:rPr sz="980" b="0" i="0">
                <a:solidFill>
                  <a:srgbClr val="21295C"/>
                </a:solidFill>
                <a:latin typeface="DejaVu Sans"/>
              </a:rPr>
              <a:t> Правильность ответа часто выясняется поздно или никогда, поэтому следят за тем, что видно сразу: как часто зовут человека, как часто переспрашивают, как часто система отказывается отвечать.</a:t>
            </a:r>
          </a:p>
        </p:txBody>
      </p:sp>
      <p:sp>
        <p:nvSpPr>
          <p:cNvPr id="16" name="Oval 15"/>
          <p:cNvSpPr/>
          <p:nvPr/>
        </p:nvSpPr>
        <p:spPr>
          <a:xfrm>
            <a:off x="1984248" y="28057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57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92072"/>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Порог тревоги брать из собственного разброса системы, а не из чужого норматива.</a:t>
            </a:r>
            <a:r>
              <a:rPr sz="980" b="0" i="0">
                <a:solidFill>
                  <a:srgbClr val="21295C"/>
                </a:solidFill>
                <a:latin typeface="DejaVu Sans"/>
              </a:rPr>
              <a:t> Одна и та же модель отвечает по-разному на один и тот же запрос — расхождение доходит до </a:t>
            </a:r>
            <a:r>
              <a:rPr sz="980" b="1" i="0">
                <a:solidFill>
                  <a:srgbClr val="065A82"/>
                </a:solidFill>
                <a:latin typeface="DejaVu Sans"/>
              </a:rPr>
              <a:t>15 процентных пунктов</a:t>
            </a:r>
            <a:r>
              <a:rPr sz="980" b="0" i="0">
                <a:solidFill>
                  <a:srgbClr val="21295C"/>
                </a:solidFill>
                <a:latin typeface="DejaVu Sans"/>
              </a:rPr>
              <a:t>.</a:t>
            </a:r>
          </a:p>
        </p:txBody>
      </p:sp>
      <p:sp>
        <p:nvSpPr>
          <p:cNvPr id="19" name="Rounded Rectangle 18"/>
          <p:cNvSpPr/>
          <p:nvPr/>
        </p:nvSpPr>
        <p:spPr>
          <a:xfrm>
            <a:off x="8138159"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59"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запрос</a:t>
            </a:r>
          </a:p>
        </p:txBody>
      </p:sp>
      <p:sp>
        <p:nvSpPr>
          <p:cNvPr id="21" name="Rounded Rectangle 20"/>
          <p:cNvSpPr/>
          <p:nvPr/>
        </p:nvSpPr>
        <p:spPr>
          <a:xfrm>
            <a:off x="8229599"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9"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002267"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2267"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поиск</a:t>
            </a:r>
          </a:p>
        </p:txBody>
      </p:sp>
      <p:sp>
        <p:nvSpPr>
          <p:cNvPr id="25" name="Rounded Rectangle 24"/>
          <p:cNvSpPr/>
          <p:nvPr/>
        </p:nvSpPr>
        <p:spPr>
          <a:xfrm>
            <a:off x="9093707"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3707"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9866376"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66376"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9" name="Rounded Rectangle 28"/>
          <p:cNvSpPr/>
          <p:nvPr/>
        </p:nvSpPr>
        <p:spPr>
          <a:xfrm>
            <a:off x="9957815"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7815"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Rounded Rectangle 30"/>
          <p:cNvSpPr/>
          <p:nvPr/>
        </p:nvSpPr>
        <p:spPr>
          <a:xfrm>
            <a:off x="10730484"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30484"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33" name="Rounded Rectangle 32"/>
          <p:cNvSpPr/>
          <p:nvPr/>
        </p:nvSpPr>
        <p:spPr>
          <a:xfrm>
            <a:off x="10821924"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21924"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5" name="TextBox 34"/>
          <p:cNvSpPr txBox="1"/>
          <p:nvPr/>
        </p:nvSpPr>
        <p:spPr>
          <a:xfrm>
            <a:off x="8138159" y="1965173"/>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путь ответа: подсвечены не этапы, а версии</a:t>
            </a:r>
          </a:p>
        </p:txBody>
      </p:sp>
      <p:sp>
        <p:nvSpPr>
          <p:cNvPr id="36" name="Rounded Rectangle 35"/>
          <p:cNvSpPr/>
          <p:nvPr/>
        </p:nvSpPr>
        <p:spPr>
          <a:xfrm>
            <a:off x="8138159" y="2212061"/>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9" y="2212061"/>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зовут человека   ← согласован заранее</a:t>
            </a:r>
          </a:p>
        </p:txBody>
      </p:sp>
      <p:sp>
        <p:nvSpPr>
          <p:cNvPr id="38" name="Rounded Rectangle 37"/>
          <p:cNvSpPr/>
          <p:nvPr/>
        </p:nvSpPr>
        <p:spPr>
          <a:xfrm>
            <a:off x="8138159" y="241780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9" y="241780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переспрашивают</a:t>
            </a:r>
          </a:p>
        </p:txBody>
      </p:sp>
      <p:sp>
        <p:nvSpPr>
          <p:cNvPr id="40" name="Rounded Rectangle 39"/>
          <p:cNvSpPr/>
          <p:nvPr/>
        </p:nvSpPr>
        <p:spPr>
          <a:xfrm>
            <a:off x="8138159" y="262354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599" y="262354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42" name="Rounded Rectangle 41"/>
          <p:cNvSpPr/>
          <p:nvPr/>
        </p:nvSpPr>
        <p:spPr>
          <a:xfrm>
            <a:off x="8138159" y="282928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9" y="282928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ответы</a:t>
            </a:r>
          </a:p>
        </p:txBody>
      </p:sp>
      <p:sp>
        <p:nvSpPr>
          <p:cNvPr id="44" name="TextBox 43"/>
          <p:cNvSpPr txBox="1"/>
          <p:nvPr/>
        </p:nvSpPr>
        <p:spPr>
          <a:xfrm>
            <a:off x="8138159" y="3044165"/>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косвенная метрика качества: выбрана одна</a:t>
            </a:r>
          </a:p>
        </p:txBody>
      </p:sp>
      <p:sp>
        <p:nvSpPr>
          <p:cNvPr id="45" name="Rectangle 44"/>
          <p:cNvSpPr/>
          <p:nvPr/>
        </p:nvSpPr>
        <p:spPr>
          <a:xfrm>
            <a:off x="8138159" y="3300197"/>
            <a:ext cx="3383280" cy="201168"/>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006839" y="3300197"/>
            <a:ext cx="1188720" cy="201168"/>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95559" y="3254477"/>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138159" y="3510509"/>
            <a:ext cx="2011680" cy="201168"/>
          </a:xfrm>
          <a:prstGeom prst="rect">
            <a:avLst/>
          </a:prstGeom>
          <a:noFill/>
        </p:spPr>
        <p:txBody>
          <a:bodyPr wrap="square" lIns="0" rIns="0" tIns="0" bIns="0" anchor="t">
            <a:spAutoFit/>
          </a:bodyPr>
          <a:lstStyle/>
          <a:p>
            <a:pPr algn="ctr">
              <a:lnSpc>
                <a:spcPct val="105000"/>
              </a:lnSpc>
            </a:pPr>
            <a:r>
              <a:rPr sz="780" b="0" i="1">
                <a:solidFill>
                  <a:srgbClr val="5B6678"/>
                </a:solidFill>
                <a:latin typeface="DejaVu Sans"/>
              </a:rPr>
              <a:t>собственный разброс системы</a:t>
            </a:r>
          </a:p>
        </p:txBody>
      </p:sp>
      <p:sp>
        <p:nvSpPr>
          <p:cNvPr id="49" name="TextBox 48"/>
          <p:cNvSpPr txBox="1"/>
          <p:nvPr/>
        </p:nvSpPr>
        <p:spPr>
          <a:xfrm>
            <a:off x="10222991" y="3510509"/>
            <a:ext cx="1298448" cy="201168"/>
          </a:xfrm>
          <a:prstGeom prst="rect">
            <a:avLst/>
          </a:prstGeom>
          <a:noFill/>
        </p:spPr>
        <p:txBody>
          <a:bodyPr wrap="square" lIns="0" rIns="0" tIns="0" bIns="0" anchor="t">
            <a:spAutoFit/>
          </a:bodyPr>
          <a:lstStyle/>
          <a:p>
            <a:pPr algn="l">
              <a:lnSpc>
                <a:spcPct val="105000"/>
              </a:lnSpc>
            </a:pPr>
            <a:r>
              <a:rPr sz="780" b="1" i="0">
                <a:solidFill>
                  <a:srgbClr val="21295C"/>
                </a:solidFill>
                <a:latin typeface="DejaVu Sans"/>
              </a:rPr>
              <a:t>порог — внутри него</a:t>
            </a:r>
          </a:p>
        </p:txBody>
      </p:sp>
      <p:sp>
        <p:nvSpPr>
          <p:cNvPr id="50" name="Rounded Rectangle 49"/>
          <p:cNvSpPr/>
          <p:nvPr/>
        </p:nvSpPr>
        <p:spPr>
          <a:xfrm>
            <a:off x="502920" y="3867125"/>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3867125"/>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3867125"/>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3958565"/>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00428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классика, работает и здесь</a:t>
            </a:r>
          </a:p>
        </p:txBody>
      </p:sp>
      <p:sp>
        <p:nvSpPr>
          <p:cNvPr id="55" name="TextBox 54"/>
          <p:cNvSpPr txBox="1"/>
          <p:nvPr/>
        </p:nvSpPr>
        <p:spPr>
          <a:xfrm>
            <a:off x="2084831"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Сквозная трассировка по общему стандарту: по одной записи виден весь путь запроса через службы.</a:t>
            </a:r>
          </a:p>
        </p:txBody>
      </p:sp>
      <p:sp>
        <p:nvSpPr>
          <p:cNvPr id="56" name="Rounded Rectangle 55"/>
          <p:cNvSpPr/>
          <p:nvPr/>
        </p:nvSpPr>
        <p:spPr>
          <a:xfrm>
            <a:off x="6844284" y="3958565"/>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00428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добавилось к 2026 году</a:t>
            </a:r>
          </a:p>
        </p:txBody>
      </p:sp>
      <p:sp>
        <p:nvSpPr>
          <p:cNvPr id="58" name="TextBox 57"/>
          <p:cNvSpPr txBox="1"/>
          <p:nvPr/>
        </p:nvSpPr>
        <p:spPr>
          <a:xfrm>
            <a:off x="6944868"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Тот же стандарт, расширенный соглашениями для генеративных моделей, — но они </a:t>
            </a:r>
            <a:r>
              <a:rPr sz="950" b="1" i="0">
                <a:solidFill>
                  <a:srgbClr val="21295C"/>
                </a:solidFill>
                <a:latin typeface="DejaVu Sans"/>
              </a:rPr>
              <a:t>ещё в разработке</a:t>
            </a:r>
            <a:r>
              <a:rPr sz="950" b="0" i="0">
                <a:solidFill>
                  <a:srgbClr val="21295C"/>
                </a:solidFill>
                <a:latin typeface="DejaVu Sans"/>
              </a:rPr>
              <a:t>: переносимость держат инструменты, а не стандарт. Поверх — выборочная автооценка живых ответов моделью-судьёй и слежение за расхождением по версии промпта, модели и сегменту пользователей.</a:t>
            </a:r>
          </a:p>
        </p:txBody>
      </p:sp>
      <p:sp>
        <p:nvSpPr>
          <p:cNvPr id="59" name="Rounded Rectangle 58"/>
          <p:cNvSpPr/>
          <p:nvPr/>
        </p:nvSpPr>
        <p:spPr>
          <a:xfrm>
            <a:off x="502920" y="5280229"/>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80229"/>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61" name="Rounded Rectangle 60"/>
          <p:cNvSpPr/>
          <p:nvPr/>
        </p:nvSpPr>
        <p:spPr>
          <a:xfrm>
            <a:off x="1801368" y="5280229"/>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371669"/>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Записи ответов по построению уходят наружу — </a:t>
            </a:r>
            <a:r>
              <a:rPr sz="1000" b="1" i="0">
                <a:solidFill>
                  <a:srgbClr val="21295C"/>
                </a:solidFill>
                <a:latin typeface="DejaVu Sans"/>
              </a:rPr>
              <a:t>персональные данные туда нельзя</a:t>
            </a:r>
            <a:r>
              <a:rPr sz="1000" b="1" i="0">
                <a:solidFill>
                  <a:srgbClr val="21295C"/>
                </a:solidFill>
                <a:latin typeface="DejaVu Sans"/>
              </a:rPr>
              <a:t> без обезличивания или своего развёртывания. Косвенная метрика </a:t>
            </a:r>
            <a:r>
              <a:rPr sz="1000" b="1" i="0">
                <a:solidFill>
                  <a:srgbClr val="21295C"/>
                </a:solidFill>
                <a:latin typeface="DejaVu Sans"/>
              </a:rPr>
              <a:t>не равна качеству</a:t>
            </a:r>
            <a:r>
              <a:rPr sz="1000" b="1" i="0">
                <a:solidFill>
                  <a:srgbClr val="21295C"/>
                </a:solidFill>
                <a:latin typeface="DejaVu Sans"/>
              </a:rPr>
              <a:t>: путать частоту обращений к человеку с точностью — способ обмануть себя. </a:t>
            </a:r>
            <a:r>
              <a:rPr sz="1000" b="1" i="0">
                <a:solidFill>
                  <a:srgbClr val="21295C"/>
                </a:solidFill>
                <a:latin typeface="DejaVu Sans"/>
              </a:rPr>
              <a:t>Модель-судья не оракул:</a:t>
            </a:r>
            <a:r>
              <a:rPr sz="1000" b="1" i="0">
                <a:solidFill>
                  <a:srgbClr val="21295C"/>
                </a:solidFill>
                <a:latin typeface="DejaVu Sans"/>
              </a:rPr>
              <a:t> её согласие с человеком надо проверять отдельно, иначе тревога считается по мнению другой модели. Калибровка </a:t>
            </a:r>
            <a:r>
              <a:rPr sz="1000" b="1" i="0">
                <a:solidFill>
                  <a:srgbClr val="21295C"/>
                </a:solidFill>
                <a:latin typeface="DejaVu Sans"/>
              </a:rPr>
              <a:t>стареет вместе с моделью</a:t>
            </a:r>
            <a:r>
              <a:rPr sz="1000" b="1" i="0">
                <a:solidFill>
                  <a:srgbClr val="21295C"/>
                </a:solidFill>
                <a:latin typeface="DejaVu Sans"/>
              </a:rPr>
              <a:t>.</a:t>
            </a:r>
          </a:p>
        </p:txBody>
      </p:sp>
      <p:sp>
        <p:nvSpPr>
          <p:cNvPr id="63" name="TextBox 6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Расхождение до 15 процентных пунктов между технически одинаковыми прогонами — Eval4NLP, 2025; соглашения OpenTelemetry для генеративных моделей: 12 июня 2026 вынесены в отдельный репозиторий, выпусков нет, все поля в статусе разработки</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проверка, что деградацию вообще есть чем заметить</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То же, что </a:t>
            </a:r>
            <a:r>
              <a:rPr sz="1019" b="1" i="0">
                <a:solidFill>
                  <a:srgbClr val="21295C"/>
                </a:solidFill>
                <a:latin typeface="DejaVu Sans"/>
              </a:rPr>
              <a:t>учебная пожарная тревога</a:t>
            </a:r>
            <a:r>
              <a:rPr sz="1019" b="0" i="0">
                <a:solidFill>
                  <a:srgbClr val="21295C"/>
                </a:solidFill>
                <a:latin typeface="DejaVu Sans"/>
              </a:rPr>
              <a:t>, только для качества ответов. Раз в несколько недель систему намеренно и управляемо портят — и смотрят, сработает ли обнаружение. Проверяют не систему, а себя: есть ли вообще чем заметить деградацию и успеет ли кто-то на неё прийти. Без такой проверки наблюдаемость остаётся бумагой: приборы стоят, но никто не знает, показывают ли они.</a:t>
            </a:r>
          </a:p>
        </p:txBody>
      </p:sp>
      <p:sp>
        <p:nvSpPr>
          <p:cNvPr id="7" name="Rounded Rectangle 6"/>
          <p:cNvSpPr/>
          <p:nvPr/>
        </p:nvSpPr>
        <p:spPr>
          <a:xfrm>
            <a:off x="502920" y="1407389"/>
            <a:ext cx="1152144" cy="18105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18105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1810512"/>
          </a:xfrm>
          <a:prstGeom prst="roundRect">
            <a:avLst>
              <a:gd name="adj" fmla="val 16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498829"/>
            <a:ext cx="9537192" cy="457200"/>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Ухудшить качество управляемо и по плану, а затем измерить </a:t>
            </a:r>
            <a:r>
              <a:rPr sz="1000" b="1" i="0">
                <a:solidFill>
                  <a:srgbClr val="065A82"/>
                </a:solidFill>
                <a:latin typeface="DejaVu Sans"/>
              </a:rPr>
              <a:t>четыре времени</a:t>
            </a:r>
            <a:r>
              <a:rPr sz="1000" b="0" i="0">
                <a:solidFill>
                  <a:srgbClr val="21295C"/>
                </a:solidFill>
                <a:latin typeface="DejaVu Sans"/>
              </a:rPr>
              <a:t>. Поля пустые намеренно: число берётся с учения, а не из инструкции.</a:t>
            </a:r>
          </a:p>
        </p:txBody>
      </p:sp>
      <p:cxnSp>
        <p:nvCxnSpPr>
          <p:cNvPr id="11" name="Connector 10"/>
          <p:cNvCxnSpPr/>
          <p:nvPr/>
        </p:nvCxnSpPr>
        <p:spPr>
          <a:xfrm>
            <a:off x="1984248" y="2522957"/>
            <a:ext cx="953719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002661"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2661"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4" name="TextBox 13"/>
          <p:cNvSpPr txBox="1"/>
          <p:nvPr/>
        </p:nvSpPr>
        <p:spPr>
          <a:xfrm>
            <a:off x="1984248"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заметили</a:t>
            </a:r>
          </a:p>
        </p:txBody>
      </p:sp>
      <p:sp>
        <p:nvSpPr>
          <p:cNvPr id="15" name="Rounded Rectangle 14"/>
          <p:cNvSpPr/>
          <p:nvPr/>
        </p:nvSpPr>
        <p:spPr>
          <a:xfrm>
            <a:off x="2618612"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8612"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17" name="Oval 16"/>
          <p:cNvSpPr/>
          <p:nvPr/>
        </p:nvSpPr>
        <p:spPr>
          <a:xfrm>
            <a:off x="5423534"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3534"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9" name="TextBox 18"/>
          <p:cNvSpPr txBox="1"/>
          <p:nvPr/>
        </p:nvSpPr>
        <p:spPr>
          <a:xfrm>
            <a:off x="4405122"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пришёл человек</a:t>
            </a:r>
          </a:p>
        </p:txBody>
      </p:sp>
      <p:sp>
        <p:nvSpPr>
          <p:cNvPr id="20" name="Rounded Rectangle 19"/>
          <p:cNvSpPr/>
          <p:nvPr/>
        </p:nvSpPr>
        <p:spPr>
          <a:xfrm>
            <a:off x="5039487"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39487"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2" name="Oval 21"/>
          <p:cNvSpPr/>
          <p:nvPr/>
        </p:nvSpPr>
        <p:spPr>
          <a:xfrm>
            <a:off x="7844408"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44408"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4" name="TextBox 23"/>
          <p:cNvSpPr txBox="1"/>
          <p:nvPr/>
        </p:nvSpPr>
        <p:spPr>
          <a:xfrm>
            <a:off x="6825996"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автоматика остановила</a:t>
            </a:r>
          </a:p>
        </p:txBody>
      </p:sp>
      <p:sp>
        <p:nvSpPr>
          <p:cNvPr id="25" name="Rounded Rectangle 24"/>
          <p:cNvSpPr/>
          <p:nvPr/>
        </p:nvSpPr>
        <p:spPr>
          <a:xfrm>
            <a:off x="7460361"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60361"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7" name="Oval 26"/>
          <p:cNvSpPr/>
          <p:nvPr/>
        </p:nvSpPr>
        <p:spPr>
          <a:xfrm>
            <a:off x="10265283"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65283"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9" name="TextBox 28"/>
          <p:cNvSpPr txBox="1"/>
          <p:nvPr/>
        </p:nvSpPr>
        <p:spPr>
          <a:xfrm>
            <a:off x="9246870"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вернули как было</a:t>
            </a:r>
          </a:p>
        </p:txBody>
      </p:sp>
      <p:sp>
        <p:nvSpPr>
          <p:cNvPr id="30" name="Rounded Rectangle 29"/>
          <p:cNvSpPr/>
          <p:nvPr/>
        </p:nvSpPr>
        <p:spPr>
          <a:xfrm>
            <a:off x="9881235"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81235"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32" name="TextBox 31"/>
          <p:cNvSpPr txBox="1"/>
          <p:nvPr/>
        </p:nvSpPr>
        <p:spPr>
          <a:xfrm>
            <a:off x="1984248" y="2998445"/>
            <a:ext cx="9537192" cy="201168"/>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учение, не изменившее ни одной инструкции, было слишком лёгким: измеритель, который всегда зелёный, ничего не измеряет</a:t>
            </a:r>
          </a:p>
        </p:txBody>
      </p:sp>
      <p:sp>
        <p:nvSpPr>
          <p:cNvPr id="33" name="Rounded Rectangle 32"/>
          <p:cNvSpPr/>
          <p:nvPr/>
        </p:nvSpPr>
        <p:spPr>
          <a:xfrm>
            <a:off x="502920" y="3281909"/>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3281909"/>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3281909"/>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3373349"/>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341906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классические учения на отказ</a:t>
            </a:r>
          </a:p>
        </p:txBody>
      </p:sp>
      <p:sp>
        <p:nvSpPr>
          <p:cNvPr id="38" name="TextBox 37"/>
          <p:cNvSpPr txBox="1"/>
          <p:nvPr/>
        </p:nvSpPr>
        <p:spPr>
          <a:xfrm>
            <a:off x="2084831"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проверяют, поднимется ли система и придёт ли дежурный.</a:t>
            </a:r>
          </a:p>
        </p:txBody>
      </p:sp>
      <p:sp>
        <p:nvSpPr>
          <p:cNvPr id="39" name="Rounded Rectangle 38"/>
          <p:cNvSpPr/>
          <p:nvPr/>
        </p:nvSpPr>
        <p:spPr>
          <a:xfrm>
            <a:off x="6844284" y="3373349"/>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341906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портят не доступность, а качество</a:t>
            </a:r>
          </a:p>
        </p:txBody>
      </p:sp>
      <p:sp>
        <p:nvSpPr>
          <p:cNvPr id="41" name="TextBox 40"/>
          <p:cNvSpPr txBox="1"/>
          <p:nvPr/>
        </p:nvSpPr>
        <p:spPr>
          <a:xfrm>
            <a:off x="6944868"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Ломать доступность бессмысленно: </a:t>
            </a:r>
            <a:r>
              <a:rPr sz="950" b="1" i="0">
                <a:solidFill>
                  <a:srgbClr val="21295C"/>
                </a:solidFill>
                <a:latin typeface="DejaVu Sans"/>
              </a:rPr>
              <a:t>ИИ-компонент деградирует, оставаясь доступным.</a:t>
            </a:r>
            <a:r>
              <a:rPr sz="950" b="0" i="0">
                <a:solidFill>
                  <a:srgbClr val="21295C"/>
                </a:solidFill>
                <a:latin typeface="DejaVu Sans"/>
              </a:rPr>
              <a:t> Подменяют инструкцию модели на заведомо более слабую, ослабляют ограничители, имитируют поток отказов. Отсюда и четвёртое время: вернуть как было — это откат версии, а не перезапуск.</a:t>
            </a:r>
          </a:p>
        </p:txBody>
      </p:sp>
      <p:sp>
        <p:nvSpPr>
          <p:cNvPr id="42" name="Rounded Rectangle 41"/>
          <p:cNvSpPr/>
          <p:nvPr/>
        </p:nvSpPr>
        <p:spPr>
          <a:xfrm>
            <a:off x="502920" y="4695013"/>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4695013"/>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4" name="Rounded Rectangle 43"/>
          <p:cNvSpPr/>
          <p:nvPr/>
        </p:nvSpPr>
        <p:spPr>
          <a:xfrm>
            <a:off x="1801368" y="4695013"/>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4786453"/>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тот класс отказа, </a:t>
            </a:r>
            <a:r>
              <a:rPr sz="1000" b="1" i="0">
                <a:solidFill>
                  <a:srgbClr val="21295C"/>
                </a:solidFill>
                <a:latin typeface="DejaVu Sans"/>
              </a:rPr>
              <a:t>который удалось придумать заранее</a:t>
            </a:r>
            <a:r>
              <a:rPr sz="1000" b="1" i="0">
                <a:solidFill>
                  <a:srgbClr val="21295C"/>
                </a:solidFill>
                <a:latin typeface="DejaVu Sans"/>
              </a:rPr>
              <a:t>. Тихий дрейф по кнопке не воспроизводится — его признак именно в том, что ничего явно не ломается, — поэтому учение дополняет наблюдение по сегментам и живой канал жалоб, а не заменяет их. </a:t>
            </a:r>
            <a:r>
              <a:rPr sz="1000" b="1" i="0">
                <a:solidFill>
                  <a:srgbClr val="21295C"/>
                </a:solidFill>
                <a:latin typeface="DejaVu Sans"/>
              </a:rPr>
              <a:t>Если обнаружение существует только в виде учения раз в квартал, это не процесс, а его отсутствие с длинным окном.</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21900" y="2542032"/>
            <a:ext cx="5002718" cy="1883664"/>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1-aircanada-real-source.png"/>
          <p:cNvPicPr>
            <a:picLocks noChangeAspect="1"/>
          </p:cNvPicPr>
          <p:nvPr/>
        </p:nvPicPr>
        <p:blipFill>
          <a:blip r:embed="rId2"/>
          <a:stretch>
            <a:fillRect/>
          </a:stretch>
        </p:blipFill>
        <p:spPr>
          <a:xfrm>
            <a:off x="932034" y="2432304"/>
            <a:ext cx="3348012" cy="2231136"/>
          </a:xfrm>
          <a:prstGeom prst="rect">
            <a:avLst/>
          </a:prstGeom>
        </p:spPr>
      </p:pic>
      <p:sp>
        <p:nvSpPr>
          <p:cNvPr id="8" name="Rounded Rectangle 7"/>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0" name="TextBox 9"/>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1" name="Rounded Rectangle 10"/>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Американская ассоциация юристов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остановить</a:t>
            </a:r>
          </a:p>
        </p:txBody>
      </p:sp>
      <p:sp>
        <p:nvSpPr>
          <p:cNvPr id="3" name="Rounded Rectangle 2"/>
          <p:cNvSpPr/>
          <p:nvPr/>
        </p:nvSpPr>
        <p:spPr>
          <a:xfrm>
            <a:off x="502920" y="804672"/>
            <a:ext cx="5532120" cy="2971800"/>
          </a:xfrm>
          <a:prstGeom prst="roundRect">
            <a:avLst>
              <a:gd name="adj" fmla="val 1025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507492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31520" y="1207008"/>
            <a:ext cx="5074920" cy="292608"/>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822960" y="1572768"/>
            <a:ext cx="4892040" cy="420624"/>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89204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десятки инициатив</a:t>
            </a:r>
          </a:p>
        </p:txBody>
      </p:sp>
      <p:sp>
        <p:nvSpPr>
          <p:cNvPr id="8" name="Rounded Rectangle 7"/>
          <p:cNvSpPr/>
          <p:nvPr/>
        </p:nvSpPr>
        <p:spPr>
          <a:xfrm>
            <a:off x="1348739" y="2084832"/>
            <a:ext cx="3840480" cy="420624"/>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8739" y="2084832"/>
            <a:ext cx="38404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первое решение</a:t>
            </a:r>
          </a:p>
        </p:txBody>
      </p:sp>
      <p:sp>
        <p:nvSpPr>
          <p:cNvPr id="10" name="Rounded Rectangle 9"/>
          <p:cNvSpPr/>
          <p:nvPr/>
        </p:nvSpPr>
        <p:spPr>
          <a:xfrm>
            <a:off x="1874519" y="2596896"/>
            <a:ext cx="2788920" cy="420624"/>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2596896"/>
            <a:ext cx="278892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второе решение</a:t>
            </a:r>
          </a:p>
        </p:txBody>
      </p:sp>
      <p:sp>
        <p:nvSpPr>
          <p:cNvPr id="12" name="Rounded Rectangle 11"/>
          <p:cNvSpPr/>
          <p:nvPr/>
        </p:nvSpPr>
        <p:spPr>
          <a:xfrm>
            <a:off x="2148839" y="3108960"/>
            <a:ext cx="2240280" cy="420624"/>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39" y="3108960"/>
            <a:ext cx="22402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финансируют</a:t>
            </a:r>
          </a:p>
        </p:txBody>
      </p:sp>
      <p:sp>
        <p:nvSpPr>
          <p:cNvPr id="14" name="Rounded Rectangle 13"/>
          <p:cNvSpPr/>
          <p:nvPr/>
        </p:nvSpPr>
        <p:spPr>
          <a:xfrm>
            <a:off x="6263640" y="804672"/>
            <a:ext cx="5440680" cy="2971800"/>
          </a:xfrm>
          <a:prstGeom prst="roundRect">
            <a:avLst>
              <a:gd name="adj" fmla="val 1025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914400"/>
            <a:ext cx="4983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ЧТО ЗДЕСЬ НОВОГО У ИИ-ПРОДУКТА</a:t>
            </a:r>
          </a:p>
        </p:txBody>
      </p:sp>
      <p:sp>
        <p:nvSpPr>
          <p:cNvPr id="16" name="Rounded Rectangle 15"/>
          <p:cNvSpPr/>
          <p:nvPr/>
        </p:nvSpPr>
        <p:spPr>
          <a:xfrm>
            <a:off x="6629400" y="1298448"/>
            <a:ext cx="3749039" cy="1225296"/>
          </a:xfrm>
          <a:prstGeom prst="roundRect">
            <a:avLst>
              <a:gd name="adj" fmla="val 12437"/>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30568" y="2340863"/>
            <a:ext cx="3438144"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30568" y="1408176"/>
            <a:ext cx="0" cy="932687"/>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30568" y="1481328"/>
            <a:ext cx="3319272" cy="859535"/>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30568" y="1762597"/>
            <a:ext cx="730239" cy="354421"/>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60807" y="2117018"/>
            <a:ext cx="863011" cy="121250"/>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423818" y="2238268"/>
            <a:ext cx="863011" cy="4663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286829" y="2284902"/>
            <a:ext cx="863011" cy="1865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451592" y="1389888"/>
            <a:ext cx="1188720" cy="402336"/>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ИИ-продукт</a:t>
            </a:r>
          </a:p>
        </p:txBody>
      </p:sp>
      <p:sp>
        <p:nvSpPr>
          <p:cNvPr id="25" name="TextBox 24"/>
          <p:cNvSpPr txBox="1"/>
          <p:nvPr/>
        </p:nvSpPr>
        <p:spPr>
          <a:xfrm>
            <a:off x="10451592" y="1993391"/>
            <a:ext cx="1188720" cy="402336"/>
          </a:xfrm>
          <a:prstGeom prst="rect">
            <a:avLst/>
          </a:prstGeom>
          <a:noFill/>
        </p:spPr>
        <p:txBody>
          <a:bodyPr wrap="square" lIns="0" rIns="0" tIns="0" bIns="0" anchor="t">
            <a:spAutoFit/>
          </a:bodyPr>
          <a:lstStyle/>
          <a:p>
            <a:pPr algn="l">
              <a:lnSpc>
                <a:spcPct val="100000"/>
              </a:lnSpc>
            </a:pPr>
            <a:r>
              <a:rPr sz="950" b="1" i="0">
                <a:solidFill>
                  <a:srgbClr val="065A82"/>
                </a:solidFill>
                <a:latin typeface="DejaVu Sans"/>
              </a:rPr>
              <a:t>обычная</a:t>
            </a:r>
          </a:p>
          <a:p>
            <a:pPr algn="l">
              <a:lnSpc>
                <a:spcPct val="100000"/>
              </a:lnSpc>
            </a:pPr>
            <a:r>
              <a:rPr sz="950" b="1" i="0">
                <a:solidFill>
                  <a:srgbClr val="065A82"/>
                </a:solidFill>
                <a:latin typeface="DejaVu Sans"/>
              </a:rPr>
              <a:t>программа</a:t>
            </a:r>
          </a:p>
        </p:txBody>
      </p:sp>
      <p:sp>
        <p:nvSpPr>
          <p:cNvPr id="26" name="TextBox 25"/>
          <p:cNvSpPr txBox="1"/>
          <p:nvPr/>
        </p:nvSpPr>
        <p:spPr>
          <a:xfrm>
            <a:off x="6492240" y="2551175"/>
            <a:ext cx="4983480" cy="201168"/>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число запросов · вертикаль — расходы на обслуживание</a:t>
            </a:r>
          </a:p>
        </p:txBody>
      </p:sp>
      <p:sp>
        <p:nvSpPr>
          <p:cNvPr id="27" name="TextBox 26"/>
          <p:cNvSpPr txBox="1"/>
          <p:nvPr/>
        </p:nvSpPr>
        <p:spPr>
          <a:xfrm>
            <a:off x="6492240" y="2798064"/>
            <a:ext cx="4983480" cy="86868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У обычной программы обслуживание ещё одного пользователя почти ничего не стоит: сервер оплачен. У ИИ-продукта каждое обращение — </a:t>
            </a:r>
            <a:r>
              <a:rPr sz="1150" b="1" i="0">
                <a:solidFill>
                  <a:srgbClr val="065A82"/>
                </a:solidFill>
                <a:latin typeface="DejaVu Sans"/>
              </a:rPr>
              <a:t>платный вызов модели</a:t>
            </a:r>
            <a:r>
              <a:rPr sz="1150" b="0" i="0">
                <a:solidFill>
                  <a:srgbClr val="21295C"/>
                </a:solidFill>
                <a:latin typeface="DejaVu Sans"/>
              </a:rPr>
              <a:t>.</a:t>
            </a:r>
          </a:p>
        </p:txBody>
      </p:sp>
      <p:sp>
        <p:nvSpPr>
          <p:cNvPr id="28" name="Rounded Rectangle 27"/>
          <p:cNvSpPr/>
          <p:nvPr/>
        </p:nvSpPr>
        <p:spPr>
          <a:xfrm>
            <a:off x="502920" y="3913632"/>
            <a:ext cx="1120140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05072"/>
            <a:ext cx="10744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30" name="TextBox 29"/>
          <p:cNvSpPr txBox="1"/>
          <p:nvPr/>
        </p:nvSpPr>
        <p:spPr>
          <a:xfrm>
            <a:off x="731520" y="4297680"/>
            <a:ext cx="10744200" cy="73152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Инициатива, которую никто не закрыл, не исчезает: она продолжает тратить людей и деньги, не показывая результата. </a:t>
            </a:r>
            <a:r>
              <a:rPr sz="1150" b="1" i="0">
                <a:solidFill>
                  <a:srgbClr val="065A82"/>
                </a:solidFill>
                <a:latin typeface="DejaVu Sans"/>
              </a:rPr>
              <a:t>Deloitte, 2026:</a:t>
            </a:r>
            <a:r>
              <a:rPr sz="1150" b="0" i="0">
                <a:solidFill>
                  <a:srgbClr val="21295C"/>
                </a:solidFill>
                <a:latin typeface="DejaVu Sans"/>
              </a:rPr>
              <a:t> 42% технологических руководителей сообщают о низком или нулевом возврате вложенного. </a:t>
            </a:r>
            <a:r>
              <a:rPr sz="1150" b="1" i="0">
                <a:solidFill>
                  <a:srgbClr val="065A82"/>
                </a:solidFill>
                <a:latin typeface="DejaVu Sans"/>
              </a:rPr>
              <a:t>Boston Consulting Group, январь 2026</a:t>
            </a:r>
            <a:r>
              <a:rPr sz="1150"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31" name="Rounded Rectangle 30"/>
          <p:cNvSpPr/>
          <p:nvPr/>
        </p:nvSpPr>
        <p:spPr>
          <a:xfrm>
            <a:off x="502920" y="5230368"/>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Поэтому продукт, где один запрос стоит дороже, чем приносит, не спасает рост: каждый новый пользователь делает убыток больше. Это арифметика, и её считают до пилота, а не по квартальному счёту.</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Boston Consulting Group — окупаемость пилотов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Считаем, во что обходится один запрос к модели</a:t>
            </a:r>
          </a:p>
        </p:txBody>
      </p:sp>
      <p:sp>
        <p:nvSpPr>
          <p:cNvPr id="3" name="Rounded Rectangle 2"/>
          <p:cNvSpPr/>
          <p:nvPr/>
        </p:nvSpPr>
        <p:spPr>
          <a:xfrm>
            <a:off x="502920" y="536206"/>
            <a:ext cx="1152144" cy="969553"/>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96955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969553"/>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786673"/>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Расчёт на полстраницы: во что обходится одно обращение пользователя к вашему продукту и сколько оно приносит. Делается на бумаге, до пилота, занимает полчаса. Отвечает на один вопрос — </a:t>
            </a:r>
            <a:r>
              <a:rPr sz="1019" b="1" i="0">
                <a:solidFill>
                  <a:srgbClr val="21295C"/>
                </a:solidFill>
                <a:latin typeface="DejaVu Sans"/>
              </a:rPr>
              <a:t>может ли этот продукт быть прибыльным в принципе</a:t>
            </a:r>
            <a:r>
              <a:rPr sz="1019" b="0" i="0">
                <a:solidFill>
                  <a:srgbClr val="21295C"/>
                </a:solidFill>
                <a:latin typeface="DejaVu Sans"/>
              </a:rPr>
              <a:t>, или демонстрация красивая, а арифметика нет. Платят при этом не за вопрос, а за объём текста: его считают в </a:t>
            </a:r>
            <a:r>
              <a:rPr sz="1019" b="1" i="0">
                <a:solidFill>
                  <a:srgbClr val="21295C"/>
                </a:solidFill>
                <a:latin typeface="DejaVu Sans"/>
              </a:rPr>
              <a:t>токенах</a:t>
            </a:r>
            <a:r>
              <a:rPr sz="1019" b="0" i="0">
                <a:solidFill>
                  <a:srgbClr val="21295C"/>
                </a:solidFill>
                <a:latin typeface="DejaVu Sans"/>
              </a:rPr>
              <a:t> — кусочках слова, на которые модель режет текст, — и отдельно за входящий, отдельно за исходящий.</a:t>
            </a:r>
          </a:p>
        </p:txBody>
      </p:sp>
      <p:sp>
        <p:nvSpPr>
          <p:cNvPr id="7" name="Rounded Rectangle 6"/>
          <p:cNvSpPr/>
          <p:nvPr/>
        </p:nvSpPr>
        <p:spPr>
          <a:xfrm>
            <a:off x="502920" y="1569768"/>
            <a:ext cx="1152144" cy="1874519"/>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69768"/>
            <a:ext cx="1060704" cy="187451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69768"/>
            <a:ext cx="9902952"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7492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7492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61208"/>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Объём текста туда и обратно.</a:t>
            </a:r>
            <a:r>
              <a:rPr sz="930" b="0" i="0">
                <a:solidFill>
                  <a:srgbClr val="21295C"/>
                </a:solidFill>
                <a:latin typeface="DejaVu Sans"/>
              </a:rPr>
              <a:t> Русский текст на ту же мысль занимает заметно больше английского — и платят за это тоже.</a:t>
            </a:r>
          </a:p>
        </p:txBody>
      </p:sp>
      <p:sp>
        <p:nvSpPr>
          <p:cNvPr id="13" name="Oval 12"/>
          <p:cNvSpPr/>
          <p:nvPr/>
        </p:nvSpPr>
        <p:spPr>
          <a:xfrm>
            <a:off x="1984248" y="206246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6246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48750"/>
            <a:ext cx="5705856" cy="489872"/>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Сколько шагов модель делает, прежде чем ответить.</a:t>
            </a:r>
            <a:r>
              <a:rPr sz="930" b="0" i="0">
                <a:solidFill>
                  <a:srgbClr val="21295C"/>
                </a:solidFill>
                <a:latin typeface="DejaVu Sans"/>
              </a:rPr>
              <a:t> Промежуточные рассуждения пользователь не видит, но оплачивает как ответ — в агентном сценарии это часто главная статья расхода.</a:t>
            </a:r>
          </a:p>
        </p:txBody>
      </p:sp>
      <p:sp>
        <p:nvSpPr>
          <p:cNvPr id="16" name="Oval 15"/>
          <p:cNvSpPr/>
          <p:nvPr/>
        </p:nvSpPr>
        <p:spPr>
          <a:xfrm>
            <a:off x="1984248" y="259805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59805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584342"/>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Как часто приходится переспрашивать.</a:t>
            </a:r>
            <a:r>
              <a:rPr sz="930" b="0" i="0">
                <a:solidFill>
                  <a:srgbClr val="21295C"/>
                </a:solidFill>
                <a:latin typeface="DejaVu Sans"/>
              </a:rPr>
              <a:t> Неудачная попытка стоит столько же, сколько удачная.</a:t>
            </a:r>
          </a:p>
        </p:txBody>
      </p:sp>
      <p:sp>
        <p:nvSpPr>
          <p:cNvPr id="19" name="Oval 18"/>
          <p:cNvSpPr/>
          <p:nvPr/>
        </p:nvSpPr>
        <p:spPr>
          <a:xfrm>
            <a:off x="1984248" y="298560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8560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71884"/>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Что удалось не пересчитывать заново.</a:t>
            </a:r>
            <a:r>
              <a:rPr sz="930" b="0" i="0">
                <a:solidFill>
                  <a:srgbClr val="21295C"/>
                </a:solidFill>
                <a:latin typeface="DejaVu Sans"/>
              </a:rPr>
              <a:t> Повторяющаяся часть запроса читается из памяти дешевле, чем разбирается с нуля.</a:t>
            </a:r>
          </a:p>
        </p:txBody>
      </p:sp>
      <p:sp>
        <p:nvSpPr>
          <p:cNvPr id="22" name="Rounded Rectangle 21"/>
          <p:cNvSpPr/>
          <p:nvPr/>
        </p:nvSpPr>
        <p:spPr>
          <a:xfrm>
            <a:off x="8138159" y="1752648"/>
            <a:ext cx="969264" cy="548640"/>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5"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объём текста</a:t>
            </a:r>
          </a:p>
          <a:p>
            <a:pPr algn="ctr">
              <a:lnSpc>
                <a:spcPct val="104000"/>
              </a:lnSpc>
            </a:pPr>
            <a:r>
              <a:rPr sz="819" b="1" i="0">
                <a:solidFill>
                  <a:srgbClr val="21295C"/>
                </a:solidFill>
                <a:latin typeface="DejaVu Sans"/>
              </a:rPr>
              <a:t>вход + выход</a:t>
            </a:r>
          </a:p>
        </p:txBody>
      </p:sp>
      <p:sp>
        <p:nvSpPr>
          <p:cNvPr id="24" name="TextBox 23"/>
          <p:cNvSpPr txBox="1"/>
          <p:nvPr/>
        </p:nvSpPr>
        <p:spPr>
          <a:xfrm>
            <a:off x="9107424"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5" name="Rounded Rectangle 24"/>
          <p:cNvSpPr/>
          <p:nvPr/>
        </p:nvSpPr>
        <p:spPr>
          <a:xfrm>
            <a:off x="9345167" y="1752648"/>
            <a:ext cx="969264" cy="548640"/>
          </a:xfrm>
          <a:prstGeom prst="roundRect">
            <a:avLst>
              <a:gd name="adj" fmla="val 19444"/>
            </a:avLst>
          </a:prstGeom>
          <a:solidFill>
            <a:srgbClr val="FDF3DC"/>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3"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шагов</a:t>
            </a:r>
          </a:p>
          <a:p>
            <a:pPr algn="ctr">
              <a:lnSpc>
                <a:spcPct val="104000"/>
              </a:lnSpc>
            </a:pPr>
            <a:r>
              <a:rPr sz="819" b="1" i="0">
                <a:solidFill>
                  <a:srgbClr val="21295C"/>
                </a:solidFill>
                <a:latin typeface="DejaVu Sans"/>
              </a:rPr>
              <a:t>модели</a:t>
            </a:r>
          </a:p>
        </p:txBody>
      </p:sp>
      <p:sp>
        <p:nvSpPr>
          <p:cNvPr id="27" name="TextBox 26"/>
          <p:cNvSpPr txBox="1"/>
          <p:nvPr/>
        </p:nvSpPr>
        <p:spPr>
          <a:xfrm>
            <a:off x="10314432"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8" name="Rounded Rectangle 27"/>
          <p:cNvSpPr/>
          <p:nvPr/>
        </p:nvSpPr>
        <p:spPr>
          <a:xfrm>
            <a:off x="10552176" y="1752648"/>
            <a:ext cx="969264" cy="548640"/>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1"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повторных</a:t>
            </a:r>
          </a:p>
          <a:p>
            <a:pPr algn="ctr">
              <a:lnSpc>
                <a:spcPct val="104000"/>
              </a:lnSpc>
            </a:pPr>
            <a:r>
              <a:rPr sz="819" b="1" i="0">
                <a:solidFill>
                  <a:srgbClr val="21295C"/>
                </a:solidFill>
                <a:latin typeface="DejaVu Sans"/>
              </a:rPr>
              <a:t>попыток</a:t>
            </a:r>
          </a:p>
        </p:txBody>
      </p:sp>
      <p:pic>
        <p:nvPicPr>
          <p:cNvPr id="30" name="Picture 29" descr="eye-off-gold.png"/>
          <p:cNvPicPr>
            <a:picLocks noChangeAspect="1"/>
          </p:cNvPicPr>
          <p:nvPr/>
        </p:nvPicPr>
        <p:blipFill>
          <a:blip r:embed="rId2"/>
          <a:stretch>
            <a:fillRect/>
          </a:stretch>
        </p:blipFill>
        <p:spPr>
          <a:xfrm>
            <a:off x="10113263" y="1770936"/>
            <a:ext cx="164592" cy="164592"/>
          </a:xfrm>
          <a:prstGeom prst="rect">
            <a:avLst/>
          </a:prstGeom>
        </p:spPr>
      </p:pic>
      <p:sp>
        <p:nvSpPr>
          <p:cNvPr id="31" name="TextBox 30"/>
          <p:cNvSpPr txBox="1"/>
          <p:nvPr/>
        </p:nvSpPr>
        <p:spPr>
          <a:xfrm>
            <a:off x="8138159" y="2356152"/>
            <a:ext cx="3383280" cy="457200"/>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стоимость одного обращения — произведение трёх величин; золотую пользователь не видит в ответе, но оплачивает как ответ</a:t>
            </a:r>
          </a:p>
        </p:txBody>
      </p:sp>
      <p:sp>
        <p:nvSpPr>
          <p:cNvPr id="32" name="Rounded Rectangle 31"/>
          <p:cNvSpPr/>
          <p:nvPr/>
        </p:nvSpPr>
        <p:spPr>
          <a:xfrm>
            <a:off x="502920" y="3508296"/>
            <a:ext cx="1152144" cy="1054516"/>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508296"/>
            <a:ext cx="1060704" cy="10545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4" name="Rounded Rectangle 33"/>
          <p:cNvSpPr/>
          <p:nvPr/>
        </p:nvSpPr>
        <p:spPr>
          <a:xfrm>
            <a:off x="1801368" y="3508296"/>
            <a:ext cx="9902952" cy="105451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599736"/>
            <a:ext cx="4677156" cy="871636"/>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84831" y="364545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и это делают первым</a:t>
            </a:r>
          </a:p>
        </p:txBody>
      </p:sp>
      <p:sp>
        <p:nvSpPr>
          <p:cNvPr id="37" name="TextBox 36"/>
          <p:cNvSpPr txBox="1"/>
          <p:nvPr/>
        </p:nvSpPr>
        <p:spPr>
          <a:xfrm>
            <a:off x="2084831"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Если задачу решает обычный код, правило или поиск по базе — </a:t>
            </a:r>
            <a:r>
              <a:rPr sz="950" b="1" i="0">
                <a:solidFill>
                  <a:srgbClr val="21295C"/>
                </a:solidFill>
                <a:latin typeface="DejaVu Sans"/>
              </a:rPr>
              <a:t>модель не зовут вообще</a:t>
            </a:r>
            <a:r>
              <a:rPr sz="950" b="0" i="0">
                <a:solidFill>
                  <a:srgbClr val="21295C"/>
                </a:solidFill>
                <a:latin typeface="DejaVu Sans"/>
              </a:rPr>
              <a:t>. Самая дешёвая из всех оптимизаций, и сравнивать стоимость запроса нужно именно с этим вариантом.</a:t>
            </a:r>
          </a:p>
        </p:txBody>
      </p:sp>
      <p:sp>
        <p:nvSpPr>
          <p:cNvPr id="38" name="Rounded Rectangle 37"/>
          <p:cNvSpPr/>
          <p:nvPr/>
        </p:nvSpPr>
        <p:spPr>
          <a:xfrm>
            <a:off x="6844284" y="3599736"/>
            <a:ext cx="4677156" cy="871636"/>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4868" y="364545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делают к 2026 году</a:t>
            </a:r>
          </a:p>
        </p:txBody>
      </p:sp>
      <p:sp>
        <p:nvSpPr>
          <p:cNvPr id="40" name="TextBox 39"/>
          <p:cNvSpPr txBox="1"/>
          <p:nvPr/>
        </p:nvSpPr>
        <p:spPr>
          <a:xfrm>
            <a:off x="6944868"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Запрос направляют </a:t>
            </a:r>
            <a:r>
              <a:rPr sz="950" b="1" i="0">
                <a:solidFill>
                  <a:srgbClr val="21295C"/>
                </a:solidFill>
                <a:latin typeface="DejaVu Sans"/>
              </a:rPr>
              <a:t>самой дешёвой модели, которая справляется</a:t>
            </a:r>
            <a:r>
              <a:rPr sz="950" b="0" i="0">
                <a:solidFill>
                  <a:srgbClr val="21295C"/>
                </a:solidFill>
                <a:latin typeface="DejaVu Sans"/>
              </a:rPr>
              <a:t>, а к дорогой поднимают только не прошедшее по качеству: счёт падает на 40–85% без заметной потери качества.</a:t>
            </a:r>
          </a:p>
        </p:txBody>
      </p:sp>
      <p:sp>
        <p:nvSpPr>
          <p:cNvPr id="41" name="Rounded Rectangle 40"/>
          <p:cNvSpPr/>
          <p:nvPr/>
        </p:nvSpPr>
        <p:spPr>
          <a:xfrm>
            <a:off x="502920" y="4626820"/>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626820"/>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626820"/>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718260"/>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за токен не означает падения счёта:</a:t>
            </a:r>
            <a:r>
              <a:rPr sz="1000" b="1" i="0">
                <a:solidFill>
                  <a:srgbClr val="21295C"/>
                </a:solidFill>
                <a:latin typeface="DejaVu Sans"/>
              </a:rPr>
              <a:t> расход растёт быстрее, чем дешевеет единица. Многоагентная схема расходует примерно </a:t>
            </a:r>
            <a:r>
              <a:rPr sz="1000" b="1" i="0">
                <a:solidFill>
                  <a:srgbClr val="21295C"/>
                </a:solidFill>
                <a:latin typeface="DejaVu Sans"/>
              </a:rPr>
              <a:t>в 15 раз больше обычного диалога</a:t>
            </a:r>
            <a:r>
              <a:rPr sz="1000" b="1" i="0">
                <a:solidFill>
                  <a:srgbClr val="21295C"/>
                </a:solidFill>
                <a:latin typeface="DejaVu Sans"/>
              </a:rPr>
              <a:t> — решение «пусть агенты посовещаются» имеет цену. </a:t>
            </a:r>
            <a:r>
              <a:rPr sz="1000" b="1" i="0">
                <a:solidFill>
                  <a:srgbClr val="21295C"/>
                </a:solidFill>
                <a:latin typeface="DejaVu Sans"/>
              </a:rPr>
              <a:t>Считать бесполезно, если не с чем сравнить:</a:t>
            </a:r>
            <a:r>
              <a:rPr sz="1000" b="1" i="0">
                <a:solidFill>
                  <a:srgbClr val="21295C"/>
                </a:solidFill>
                <a:latin typeface="DejaVu Sans"/>
              </a:rPr>
              <a:t> без цены того же результата без ИИ это учёт расходов, а не экономика. И </a:t>
            </a:r>
            <a:r>
              <a:rPr sz="1000" b="1" i="0">
                <a:solidFill>
                  <a:srgbClr val="21295C"/>
                </a:solidFill>
                <a:latin typeface="DejaVu Sans"/>
              </a:rPr>
              <a:t>стоимость запроса — ограничитель, а не цель:</a:t>
            </a:r>
            <a:r>
              <a:rPr sz="1000" b="1" i="0">
                <a:solidFill>
                  <a:srgbClr val="21295C"/>
                </a:solidFill>
                <a:latin typeface="DejaVu Sans"/>
              </a:rPr>
              <a:t> если давить именно её, получатся короткие и бесполезные ответы.</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Расходами на ИИ занимаются 98% команд по управлению расходами против 31% двумя годами раньше — FinOps Foundation, 2026; многоагентная схема расходует примерно в 15 раз больше обычного диалога — Anthropic, инженерный разбор</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520979"/>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20979"/>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019" b="1" i="0">
                <a:solidFill>
                  <a:srgbClr val="21295C"/>
                </a:solidFill>
                <a:latin typeface="DejaVu Sans"/>
              </a:rPr>
              <a:t>приёмочный критерий в техническом задании</a:t>
            </a:r>
            <a:r>
              <a:rPr sz="1019" b="0" i="0">
                <a:solidFill>
                  <a:srgbClr val="21295C"/>
                </a:solidFill>
                <a:latin typeface="DejaVu Sans"/>
              </a:rPr>
              <a:t>, только не про функциональность, а про деньги. Пишется до включения: число, названное после результата, объясняет результат, а не проверяет его.</a:t>
            </a:r>
          </a:p>
        </p:txBody>
      </p:sp>
      <p:sp>
        <p:nvSpPr>
          <p:cNvPr id="7" name="Rounded Rectangle 6"/>
          <p:cNvSpPr/>
          <p:nvPr/>
        </p:nvSpPr>
        <p:spPr>
          <a:xfrm>
            <a:off x="502920" y="1392162"/>
            <a:ext cx="1152144" cy="162763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92162"/>
            <a:ext cx="1060704" cy="162763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392162"/>
            <a:ext cx="9902952" cy="1627632"/>
          </a:xfrm>
          <a:prstGeom prst="roundRect">
            <a:avLst>
              <a:gd name="adj" fmla="val 187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483602"/>
            <a:ext cx="9537192" cy="914400"/>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0552" y="1538466"/>
            <a:ext cx="9244584" cy="804672"/>
          </a:xfrm>
          <a:prstGeom prst="rect">
            <a:avLst/>
          </a:prstGeom>
          <a:noFill/>
        </p:spPr>
        <p:txBody>
          <a:bodyPr wrap="square" lIns="0" rIns="0" tIns="0" bIns="0" anchor="ctr">
            <a:spAutoFit/>
          </a:bodyPr>
          <a:lstStyle/>
          <a:p>
            <a:pPr algn="l">
              <a:lnSpc>
                <a:spcPct val="116000"/>
              </a:lnSpc>
            </a:pPr>
            <a:r>
              <a:rPr sz="1080" b="0" i="0">
                <a:solidFill>
                  <a:srgbClr val="21295C"/>
                </a:solidFill>
                <a:latin typeface="DejaVu Sans"/>
              </a:rPr>
              <a:t>«Разбор обращений моделью снизит стоимость одного обращения </a:t>
            </a:r>
            <a:r>
              <a:rPr sz="1080" b="1" i="0">
                <a:solidFill>
                  <a:srgbClr val="065A82"/>
                </a:solidFill>
                <a:latin typeface="DejaVu Sans"/>
              </a:rPr>
              <a:t>с 42 ₽ до 15 ₽</a:t>
            </a:r>
            <a:r>
              <a:rPr sz="1080" b="0" i="0">
                <a:solidFill>
                  <a:srgbClr val="21295C"/>
                </a:solidFill>
                <a:latin typeface="DejaVu Sans"/>
              </a:rPr>
              <a:t>, при этом удовлетворённость клиента не упадёт </a:t>
            </a:r>
            <a:r>
              <a:rPr sz="1080" b="1" i="0">
                <a:solidFill>
                  <a:srgbClr val="028090"/>
                </a:solidFill>
                <a:latin typeface="DejaVu Sans"/>
              </a:rPr>
              <a:t>ниже 4,2 из 5</a:t>
            </a:r>
            <a:r>
              <a:rPr sz="1080" b="0" i="0">
                <a:solidFill>
                  <a:srgbClr val="21295C"/>
                </a:solidFill>
                <a:latin typeface="DejaVu Sans"/>
              </a:rPr>
              <a:t>, а доля обращений, переданных человеку, не превысит </a:t>
            </a:r>
            <a:r>
              <a:rPr sz="1080" b="1" i="0">
                <a:solidFill>
                  <a:srgbClr val="028090"/>
                </a:solidFill>
                <a:latin typeface="DejaVu Sans"/>
              </a:rPr>
              <a:t>20%</a:t>
            </a:r>
            <a:r>
              <a:rPr sz="1080" b="0" i="0">
                <a:solidFill>
                  <a:srgbClr val="21295C"/>
                </a:solidFill>
                <a:latin typeface="DejaVu Sans"/>
              </a:rPr>
              <a:t>. Проверяем на </a:t>
            </a:r>
            <a:r>
              <a:rPr sz="1080" b="1" i="0">
                <a:solidFill>
                  <a:srgbClr val="1C7293"/>
                </a:solidFill>
                <a:latin typeface="DejaVu Sans"/>
              </a:rPr>
              <a:t>5 000 обращений за 6 недель</a:t>
            </a:r>
            <a:r>
              <a:rPr sz="1080" b="0" i="0">
                <a:solidFill>
                  <a:srgbClr val="21295C"/>
                </a:solidFill>
                <a:latin typeface="DejaVu Sans"/>
              </a:rPr>
              <a:t>. Смотрит </a:t>
            </a:r>
            <a:r>
              <a:rPr sz="1080" b="1" i="0">
                <a:solidFill>
                  <a:srgbClr val="F0AB00"/>
                </a:solidFill>
                <a:latin typeface="DejaVu Sans"/>
              </a:rPr>
              <a:t>руководитель поддержки, раз в неделю</a:t>
            </a:r>
            <a:r>
              <a:rPr sz="1080" b="0" i="0">
                <a:solidFill>
                  <a:srgbClr val="21295C"/>
                </a:solidFill>
                <a:latin typeface="DejaVu Sans"/>
              </a:rPr>
              <a:t>».</a:t>
            </a:r>
          </a:p>
        </p:txBody>
      </p:sp>
      <p:sp>
        <p:nvSpPr>
          <p:cNvPr id="12" name="Rounded Rectangle 11"/>
          <p:cNvSpPr/>
          <p:nvPr/>
        </p:nvSpPr>
        <p:spPr>
          <a:xfrm>
            <a:off x="1984248" y="2489442"/>
            <a:ext cx="2274570" cy="384048"/>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20824"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что улучшаем —</a:t>
            </a:r>
          </a:p>
          <a:p>
            <a:pPr algn="ctr">
              <a:lnSpc>
                <a:spcPct val="104000"/>
              </a:lnSpc>
            </a:pPr>
            <a:r>
              <a:rPr sz="840" b="1" i="0">
                <a:solidFill>
                  <a:srgbClr val="21295C"/>
                </a:solidFill>
                <a:latin typeface="DejaVu Sans"/>
              </a:rPr>
              <a:t>и с какой величины до какой</a:t>
            </a:r>
          </a:p>
        </p:txBody>
      </p:sp>
      <p:sp>
        <p:nvSpPr>
          <p:cNvPr id="14" name="Rounded Rectangle 13"/>
          <p:cNvSpPr/>
          <p:nvPr/>
        </p:nvSpPr>
        <p:spPr>
          <a:xfrm>
            <a:off x="4405122" y="2489442"/>
            <a:ext cx="2274570" cy="384048"/>
          </a:xfrm>
          <a:prstGeom prst="roundRect">
            <a:avLst>
              <a:gd name="adj" fmla="val 10000"/>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1698"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чего при этом</a:t>
            </a:r>
          </a:p>
          <a:p>
            <a:pPr algn="ctr">
              <a:lnSpc>
                <a:spcPct val="104000"/>
              </a:lnSpc>
            </a:pPr>
            <a:r>
              <a:rPr sz="840" b="1" i="0">
                <a:solidFill>
                  <a:srgbClr val="21295C"/>
                </a:solidFill>
                <a:latin typeface="DejaVu Sans"/>
              </a:rPr>
              <a:t>нельзя ухудшить</a:t>
            </a:r>
          </a:p>
        </p:txBody>
      </p:sp>
      <p:sp>
        <p:nvSpPr>
          <p:cNvPr id="16" name="Rounded Rectangle 15"/>
          <p:cNvSpPr/>
          <p:nvPr/>
        </p:nvSpPr>
        <p:spPr>
          <a:xfrm>
            <a:off x="6825996" y="2489442"/>
            <a:ext cx="2274570" cy="384048"/>
          </a:xfrm>
          <a:prstGeom prst="roundRect">
            <a:avLst>
              <a:gd name="adj" fmla="val 10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2572"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на каком объёме</a:t>
            </a:r>
          </a:p>
          <a:p>
            <a:pPr algn="ctr">
              <a:lnSpc>
                <a:spcPct val="104000"/>
              </a:lnSpc>
            </a:pPr>
            <a:r>
              <a:rPr sz="840" b="1" i="0">
                <a:solidFill>
                  <a:srgbClr val="21295C"/>
                </a:solidFill>
                <a:latin typeface="DejaVu Sans"/>
              </a:rPr>
              <a:t>и за какой срок</a:t>
            </a:r>
          </a:p>
        </p:txBody>
      </p:sp>
      <p:sp>
        <p:nvSpPr>
          <p:cNvPr id="18" name="Rounded Rectangle 17"/>
          <p:cNvSpPr/>
          <p:nvPr/>
        </p:nvSpPr>
        <p:spPr>
          <a:xfrm>
            <a:off x="9246870" y="2489442"/>
            <a:ext cx="2274570" cy="384048"/>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3446"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кто смотрит</a:t>
            </a:r>
          </a:p>
          <a:p>
            <a:pPr algn="ctr">
              <a:lnSpc>
                <a:spcPct val="104000"/>
              </a:lnSpc>
            </a:pPr>
            <a:r>
              <a:rPr sz="840" b="1" i="0">
                <a:solidFill>
                  <a:srgbClr val="21295C"/>
                </a:solidFill>
                <a:latin typeface="DejaVu Sans"/>
              </a:rPr>
              <a:t>и как часто</a:t>
            </a:r>
          </a:p>
        </p:txBody>
      </p:sp>
      <p:sp>
        <p:nvSpPr>
          <p:cNvPr id="20" name="Rounded Rectangle 19"/>
          <p:cNvSpPr/>
          <p:nvPr/>
        </p:nvSpPr>
        <p:spPr>
          <a:xfrm>
            <a:off x="502920" y="3083802"/>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083802"/>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2" name="Rounded Rectangle 21"/>
          <p:cNvSpPr/>
          <p:nvPr/>
        </p:nvSpPr>
        <p:spPr>
          <a:xfrm>
            <a:off x="1801368" y="3083802"/>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84248" y="3175242"/>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84831" y="322096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25" name="TextBox 24"/>
          <p:cNvSpPr txBox="1"/>
          <p:nvPr/>
        </p:nvSpPr>
        <p:spPr>
          <a:xfrm>
            <a:off x="2084831"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 это ровно та же дисциплина, только про деньги, а не про функциональность.</a:t>
            </a:r>
          </a:p>
        </p:txBody>
      </p:sp>
      <p:sp>
        <p:nvSpPr>
          <p:cNvPr id="26" name="Rounded Rectangle 25"/>
          <p:cNvSpPr/>
          <p:nvPr/>
        </p:nvSpPr>
        <p:spPr>
          <a:xfrm>
            <a:off x="6844284" y="3175242"/>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4868" y="322096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меняется к 2026 году</a:t>
            </a:r>
          </a:p>
        </p:txBody>
      </p:sp>
      <p:sp>
        <p:nvSpPr>
          <p:cNvPr id="28" name="TextBox 27"/>
          <p:cNvSpPr txBox="1"/>
          <p:nvPr/>
        </p:nvSpPr>
        <p:spPr>
          <a:xfrm>
            <a:off x="6944868"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Меняется </a:t>
            </a:r>
            <a:r>
              <a:rPr sz="950" b="1" i="0">
                <a:solidFill>
                  <a:srgbClr val="21295C"/>
                </a:solidFill>
                <a:latin typeface="DejaVu Sans"/>
              </a:rPr>
              <a:t>только ритм</a:t>
            </a:r>
            <a:r>
              <a:rPr sz="950" b="0" i="0">
                <a:solidFill>
                  <a:srgbClr val="21295C"/>
                </a:solidFill>
                <a:latin typeface="DejaVu Sans"/>
              </a:rPr>
              <a:t>: расход меняется каждый день, а не раз в квартал, поэтому и смотрят еженедельно. А на практике компании меряют активность — сэкономленные часы, автоматизированные задачи — вместо денег. Отсюда разрыв: вкладываются почти все, а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29" name="Rounded Rectangle 28"/>
          <p:cNvSpPr/>
          <p:nvPr/>
        </p:nvSpPr>
        <p:spPr>
          <a:xfrm>
            <a:off x="502920" y="4496906"/>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496906"/>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496906"/>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588346"/>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и разница между ними и есть то, ради чего затевался пилот.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3" name="TextBox 3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 не модель, а то, как устроена работа вокруг неё</a:t>
            </a:r>
          </a:p>
        </p:txBody>
      </p:sp>
      <p:sp>
        <p:nvSpPr>
          <p:cNvPr id="3" name="Rounded Rectangle 2"/>
          <p:cNvSpPr/>
          <p:nvPr/>
        </p:nvSpPr>
        <p:spPr>
          <a:xfrm>
            <a:off x="502920" y="804672"/>
            <a:ext cx="6537960" cy="1298448"/>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886968"/>
            <a:ext cx="6126480" cy="274320"/>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Deloitte, 2026 · более 660 руководителей</a:t>
            </a:r>
          </a:p>
        </p:txBody>
      </p:sp>
      <p:sp>
        <p:nvSpPr>
          <p:cNvPr id="5" name="TextBox 4"/>
          <p:cNvSpPr txBox="1"/>
          <p:nvPr/>
        </p:nvSpPr>
        <p:spPr>
          <a:xfrm>
            <a:off x="713232" y="12070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81% уверены, что смогут масштабировать ИИ · 75% говорят, что операционная модель обязана измениться · 42% сообщают о низком или нулевом возврате вложенного. Уверенность высокая, готовность — нет.</a:t>
            </a:r>
          </a:p>
        </p:txBody>
      </p:sp>
      <p:cxnSp>
        <p:nvCxnSpPr>
          <p:cNvPr id="6" name="Connector 5"/>
          <p:cNvCxnSpPr/>
          <p:nvPr/>
        </p:nvCxnSpPr>
        <p:spPr>
          <a:xfrm>
            <a:off x="7040880" y="1453895"/>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2176272"/>
            <a:ext cx="653796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258568"/>
            <a:ext cx="6126480" cy="274320"/>
          </a:xfrm>
          <a:prstGeom prst="rect">
            <a:avLst/>
          </a:prstGeom>
          <a:noFill/>
        </p:spPr>
        <p:txBody>
          <a:bodyPr wrap="square" lIns="0" rIns="0" tIns="0" bIns="0" anchor="t">
            <a:spAutoFit/>
          </a:bodyPr>
          <a:lstStyle/>
          <a:p>
            <a:pPr algn="l">
              <a:lnSpc>
                <a:spcPct val="100000"/>
              </a:lnSpc>
            </a:pPr>
            <a:r>
              <a:rPr sz="1200" b="1" i="0">
                <a:solidFill>
                  <a:srgbClr val="1C7293"/>
                </a:solidFill>
                <a:latin typeface="DejaVu Sans"/>
              </a:rPr>
              <a:t>Gartner · прогноз по агентным проектам</a:t>
            </a:r>
          </a:p>
        </p:txBody>
      </p:sp>
      <p:sp>
        <p:nvSpPr>
          <p:cNvPr id="9" name="TextBox 8"/>
          <p:cNvSpPr txBox="1"/>
          <p:nvPr/>
        </p:nvSpPr>
        <p:spPr>
          <a:xfrm>
            <a:off x="713232" y="25786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Более 40% агентных проектов закроют до конца 2027 года — из-за расходов, неясной ценности и слабого контроля рисков. Из тысяч поставщиков, называющих продукт агентным, реально агентных около 130.</a:t>
            </a:r>
          </a:p>
        </p:txBody>
      </p:sp>
      <p:cxnSp>
        <p:nvCxnSpPr>
          <p:cNvPr id="10" name="Connector 9"/>
          <p:cNvCxnSpPr/>
          <p:nvPr/>
        </p:nvCxnSpPr>
        <p:spPr>
          <a:xfrm>
            <a:off x="7040880" y="28254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3547872"/>
            <a:ext cx="6537960" cy="129844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30168"/>
            <a:ext cx="6126480" cy="274320"/>
          </a:xfrm>
          <a:prstGeom prst="rect">
            <a:avLst/>
          </a:prstGeom>
          <a:noFill/>
        </p:spPr>
        <p:txBody>
          <a:bodyPr wrap="square" lIns="0" rIns="0" tIns="0" bIns="0" anchor="t">
            <a:spAutoFit/>
          </a:bodyPr>
          <a:lstStyle/>
          <a:p>
            <a:pPr algn="l">
              <a:lnSpc>
                <a:spcPct val="100000"/>
              </a:lnSpc>
            </a:pPr>
            <a:r>
              <a:rPr sz="1200" b="1" i="0">
                <a:solidFill>
                  <a:srgbClr val="028090"/>
                </a:solidFill>
                <a:latin typeface="DejaVu Sans"/>
              </a:rPr>
              <a:t>Boston Consulting Group, 2026</a:t>
            </a:r>
          </a:p>
        </p:txBody>
      </p:sp>
      <p:sp>
        <p:nvSpPr>
          <p:cNvPr id="13" name="TextBox 12"/>
          <p:cNvSpPr txBox="1"/>
          <p:nvPr/>
        </p:nvSpPr>
        <p:spPr>
          <a:xfrm>
            <a:off x="713232" y="39502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Ценность создаёт не алгоритм — на него приходится десятая часть. Самый частый способ не получить ничего: ускорить отдельную задачу, не тронув процесс вокруг неё.</a:t>
            </a:r>
          </a:p>
        </p:txBody>
      </p:sp>
      <p:cxnSp>
        <p:nvCxnSpPr>
          <p:cNvPr id="14" name="Connector 13"/>
          <p:cNvCxnSpPr/>
          <p:nvPr/>
        </p:nvCxnSpPr>
        <p:spPr>
          <a:xfrm>
            <a:off x="7040880" y="41970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269480" y="804672"/>
            <a:ext cx="4434840" cy="4041648"/>
          </a:xfrm>
          <a:prstGeom prst="roundRect">
            <a:avLst>
              <a:gd name="adj" fmla="val 7541"/>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914400"/>
            <a:ext cx="402336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ИЗ ЧЕГО СКЛАДЫВАЕТСЯ РЕЗУЛЬТАТ</a:t>
            </a:r>
          </a:p>
        </p:txBody>
      </p:sp>
      <p:sp>
        <p:nvSpPr>
          <p:cNvPr id="17" name="Rounded Rectangle 16"/>
          <p:cNvSpPr/>
          <p:nvPr/>
        </p:nvSpPr>
        <p:spPr>
          <a:xfrm>
            <a:off x="7498079" y="1298448"/>
            <a:ext cx="960120" cy="211226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1298448"/>
            <a:ext cx="960120" cy="211226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70%</a:t>
            </a:r>
          </a:p>
        </p:txBody>
      </p:sp>
      <p:sp>
        <p:nvSpPr>
          <p:cNvPr id="19" name="TextBox 18"/>
          <p:cNvSpPr txBox="1"/>
          <p:nvPr/>
        </p:nvSpPr>
        <p:spPr>
          <a:xfrm>
            <a:off x="8622792" y="1298448"/>
            <a:ext cx="2057400" cy="211226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люди и процессы</a:t>
            </a:r>
          </a:p>
          <a:p>
            <a:pPr algn="l">
              <a:lnSpc>
                <a:spcPct val="108000"/>
              </a:lnSpc>
            </a:pPr>
            <a:r>
              <a:rPr sz="1100" b="1" i="0">
                <a:solidFill>
                  <a:srgbClr val="21295C"/>
                </a:solidFill>
                <a:latin typeface="DejaVu Sans"/>
              </a:rPr>
              <a:t>вокруг модели</a:t>
            </a:r>
          </a:p>
        </p:txBody>
      </p:sp>
      <p:sp>
        <p:nvSpPr>
          <p:cNvPr id="20" name="Rounded Rectangle 19"/>
          <p:cNvSpPr/>
          <p:nvPr/>
        </p:nvSpPr>
        <p:spPr>
          <a:xfrm>
            <a:off x="7498079" y="3410712"/>
            <a:ext cx="960120" cy="603504"/>
          </a:xfrm>
          <a:prstGeom prst="roundRect">
            <a:avLst>
              <a:gd name="adj" fmla="val 6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3410712"/>
            <a:ext cx="960120" cy="60350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20%</a:t>
            </a:r>
          </a:p>
        </p:txBody>
      </p:sp>
      <p:sp>
        <p:nvSpPr>
          <p:cNvPr id="22" name="TextBox 21"/>
          <p:cNvSpPr txBox="1"/>
          <p:nvPr/>
        </p:nvSpPr>
        <p:spPr>
          <a:xfrm>
            <a:off x="8622792" y="3410712"/>
            <a:ext cx="2057400" cy="60350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данные и техника</a:t>
            </a:r>
          </a:p>
        </p:txBody>
      </p:sp>
      <p:sp>
        <p:nvSpPr>
          <p:cNvPr id="23" name="Rounded Rectangle 22"/>
          <p:cNvSpPr/>
          <p:nvPr/>
        </p:nvSpPr>
        <p:spPr>
          <a:xfrm>
            <a:off x="7498079" y="4014215"/>
            <a:ext cx="960120" cy="301752"/>
          </a:xfrm>
          <a:prstGeom prst="roundRect">
            <a:avLst>
              <a:gd name="adj" fmla="val 6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4014215"/>
            <a:ext cx="960120" cy="301752"/>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10%</a:t>
            </a:r>
          </a:p>
        </p:txBody>
      </p:sp>
      <p:sp>
        <p:nvSpPr>
          <p:cNvPr id="25" name="TextBox 24"/>
          <p:cNvSpPr txBox="1"/>
          <p:nvPr/>
        </p:nvSpPr>
        <p:spPr>
          <a:xfrm>
            <a:off x="8622792" y="4014215"/>
            <a:ext cx="2057400" cy="301752"/>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сам алгоритм</a:t>
            </a:r>
          </a:p>
        </p:txBody>
      </p:sp>
      <p:sp>
        <p:nvSpPr>
          <p:cNvPr id="26" name="TextBox 25"/>
          <p:cNvSpPr txBox="1"/>
          <p:nvPr/>
        </p:nvSpPr>
        <p:spPr>
          <a:xfrm>
            <a:off x="7498079" y="4407407"/>
            <a:ext cx="3977639"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доли вклада в результат проекта, а не этапы работы</a:t>
            </a:r>
          </a:p>
        </p:txBody>
      </p:sp>
      <p:sp>
        <p:nvSpPr>
          <p:cNvPr id="27" name="Rounded Rectangle 26"/>
          <p:cNvSpPr/>
          <p:nvPr/>
        </p:nvSpPr>
        <p:spPr>
          <a:xfrm>
            <a:off x="502920" y="5010912"/>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065776"/>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Отсюда рабочий вывод. Если инициатива буксует, первый вопрос — не «нужна ли модель побольше», а «названы ли у неё владелец, деньги и срок». Почти всегда узкое место именно там, и следующие два разбора — про то же самое.</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Gartner — прогноз по агентным проектам</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084831"/>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267712"/>
            <a:ext cx="731520" cy="731520"/>
          </a:xfrm>
          <a:prstGeom prst="rect">
            <a:avLst/>
          </a:prstGeom>
        </p:spPr>
      </p:pic>
      <p:cxnSp>
        <p:nvCxnSpPr>
          <p:cNvPr id="5" name="Connector 4"/>
          <p:cNvCxnSpPr/>
          <p:nvPr/>
        </p:nvCxnSpPr>
        <p:spPr>
          <a:xfrm>
            <a:off x="9829800" y="1152143"/>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731519"/>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1892807"/>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618488"/>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3649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279392"/>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1892807"/>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61848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7918704" y="4590288"/>
            <a:ext cx="3822191" cy="566928"/>
          </a:xfrm>
          <a:prstGeom prst="rect">
            <a:avLst/>
          </a:prstGeom>
          <a:noFill/>
        </p:spPr>
        <p:txBody>
          <a:bodyPr wrap="square" lIns="0" rIns="0" tIns="0" bIns="0" anchor="t">
            <a:spAutoFit/>
          </a:bodyPr>
          <a:lstStyle/>
          <a:p>
            <a:pPr algn="ctr">
              <a:lnSpc>
                <a:spcPct val="112000"/>
              </a:lnSpc>
            </a:pPr>
            <a:r>
              <a:rPr sz="1050" b="0" i="1">
                <a:solidFill>
                  <a:srgbClr val="5B6678"/>
                </a:solidFill>
                <a:latin typeface="DejaVu Sans"/>
              </a:rPr>
              <a:t>Схема: шесть разобранных фаз сходятся к одному инструменту решения</a:t>
            </a:r>
          </a:p>
        </p:txBody>
      </p:sp>
      <p:sp>
        <p:nvSpPr>
          <p:cNvPr id="18" name="TextBox 17"/>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9" name="TextBox 18"/>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один инструмент</a:t>
            </a:r>
          </a:p>
          <a:p>
            <a:pPr algn="l">
              <a:lnSpc>
                <a:spcPct val="112000"/>
              </a:lnSpc>
            </a:pPr>
            <a:r>
              <a:rPr sz="2600" b="1" i="0">
                <a:solidFill>
                  <a:srgbClr val="21295C"/>
                </a:solidFill>
                <a:latin typeface="DejaVu Sans"/>
              </a:rPr>
              <a:t>на все шесть фаз</a:t>
            </a:r>
          </a:p>
        </p:txBody>
      </p:sp>
      <p:sp>
        <p:nvSpPr>
          <p:cNvPr id="20" name="Rounded Rectangle 19"/>
          <p:cNvSpPr/>
          <p:nvPr/>
        </p:nvSpPr>
        <p:spPr>
          <a:xfrm>
            <a:off x="713232" y="3858768"/>
            <a:ext cx="3977639"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21" name="TextBox 20"/>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22" name="Rounded Rectangle 21"/>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4" name="TextBox 23"/>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5" name="Rounded Rectangle 24"/>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7" name="TextBox 26"/>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8" name="Rounded Rectangle 27"/>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0" name="TextBox 29"/>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1" name="Rounded Rectangle 30"/>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3" name="TextBox 32"/>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4" name="Rounded Rectangle 33"/>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6" name="TextBox 35"/>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7" name="Rounded Rectangle 36"/>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9" name="TextBox 38"/>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0" name="Rounded Rectangle 39"/>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2" name="TextBox 41"/>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3" name="Rounded Rectangle 42"/>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5" name="TextBox 44"/>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синтез сотен интервью</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Черновик экрана: день → минуты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Однообразие решений; пробелы доступности</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бренда; аудит безопасности</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Скорость наблюдения: трассировка и живые панели</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Диагностика операционной модели организации</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задают режим фазы: без человека на рубеже — только при высокой обратимости, низкой цене ошибки и высокой наблюдаемости</a:t>
            </a:r>
          </a:p>
        </p:txBody>
      </p:sp>
      <p:sp>
        <p:nvSpPr>
          <p:cNvPr id="3" name="TextBox 2"/>
          <p:cNvSpPr txBox="1"/>
          <p:nvPr/>
        </p:nvSpPr>
        <p:spPr>
          <a:xfrm>
            <a:off x="502920" y="877824"/>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Три оси решения: что каждая означает и что должно стоять рядом, если ось в проблемном положении</a:t>
            </a:r>
          </a:p>
        </p:txBody>
      </p:sp>
      <p:sp>
        <p:nvSpPr>
          <p:cNvPr id="4" name="Rounded Rectangle 3"/>
          <p:cNvSpPr/>
          <p:nvPr/>
        </p:nvSpPr>
        <p:spPr>
          <a:xfrm>
            <a:off x="502920" y="1152144"/>
            <a:ext cx="3611880" cy="1609344"/>
          </a:xfrm>
          <a:prstGeom prst="roundRect">
            <a:avLst>
              <a:gd name="adj" fmla="val 1893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tate-ccw-mid.png"/>
          <p:cNvPicPr>
            <a:picLocks noChangeAspect="1"/>
          </p:cNvPicPr>
          <p:nvPr/>
        </p:nvPicPr>
        <p:blipFill>
          <a:blip r:embed="rId2"/>
          <a:stretch>
            <a:fillRect/>
          </a:stretch>
        </p:blipFill>
        <p:spPr>
          <a:xfrm>
            <a:off x="685800" y="1261872"/>
            <a:ext cx="347472" cy="347472"/>
          </a:xfrm>
          <a:prstGeom prst="rect">
            <a:avLst/>
          </a:prstGeom>
        </p:spPr>
      </p:pic>
      <p:sp>
        <p:nvSpPr>
          <p:cNvPr id="6" name="TextBox 5"/>
          <p:cNvSpPr txBox="1"/>
          <p:nvPr/>
        </p:nvSpPr>
        <p:spPr>
          <a:xfrm>
            <a:off x="1124712" y="1243584"/>
            <a:ext cx="2843784"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7" name="TextBox 6"/>
          <p:cNvSpPr txBox="1"/>
          <p:nvPr/>
        </p:nvSpPr>
        <p:spPr>
          <a:xfrm>
            <a:off x="68580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легко откатить последствие, если вывод ИИ окажется неверным.</a:t>
            </a:r>
          </a:p>
        </p:txBody>
      </p:sp>
      <p:sp>
        <p:nvSpPr>
          <p:cNvPr id="8" name="Rounded Rectangle 7"/>
          <p:cNvSpPr/>
          <p:nvPr/>
        </p:nvSpPr>
        <p:spPr>
          <a:xfrm>
            <a:off x="64922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нужна поэтапность, путь отката и выход к человеку.</a:t>
            </a:r>
          </a:p>
        </p:txBody>
      </p:sp>
      <p:sp>
        <p:nvSpPr>
          <p:cNvPr id="10" name="Rounded Rectangle 9"/>
          <p:cNvSpPr/>
          <p:nvPr/>
        </p:nvSpPr>
        <p:spPr>
          <a:xfrm>
            <a:off x="4297680" y="1152144"/>
            <a:ext cx="361188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nknote-mid.png"/>
          <p:cNvPicPr>
            <a:picLocks noChangeAspect="1"/>
          </p:cNvPicPr>
          <p:nvPr/>
        </p:nvPicPr>
        <p:blipFill>
          <a:blip r:embed="rId3"/>
          <a:stretch>
            <a:fillRect/>
          </a:stretch>
        </p:blipFill>
        <p:spPr>
          <a:xfrm>
            <a:off x="4480560" y="1261872"/>
            <a:ext cx="347472" cy="347472"/>
          </a:xfrm>
          <a:prstGeom prst="rect">
            <a:avLst/>
          </a:prstGeom>
        </p:spPr>
      </p:pic>
      <p:sp>
        <p:nvSpPr>
          <p:cNvPr id="12" name="TextBox 11"/>
          <p:cNvSpPr txBox="1"/>
          <p:nvPr/>
        </p:nvSpPr>
        <p:spPr>
          <a:xfrm>
            <a:off x="4919472" y="1243584"/>
            <a:ext cx="2843784"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Цена ошибки</a:t>
            </a:r>
          </a:p>
        </p:txBody>
      </p:sp>
      <p:sp>
        <p:nvSpPr>
          <p:cNvPr id="13" name="TextBox 12"/>
          <p:cNvSpPr txBox="1"/>
          <p:nvPr/>
        </p:nvSpPr>
        <p:spPr>
          <a:xfrm>
            <a:off x="448056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Во что обойдётся ошибка: деньги, репутация, здоровье, ответственность.</a:t>
            </a:r>
          </a:p>
        </p:txBody>
      </p:sp>
      <p:sp>
        <p:nvSpPr>
          <p:cNvPr id="14" name="Rounded Rectangle 13"/>
          <p:cNvSpPr/>
          <p:nvPr/>
        </p:nvSpPr>
        <p:spPr>
          <a:xfrm>
            <a:off x="444398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Высокая — нужен названный владелец и граница для регулируемых данных.</a:t>
            </a:r>
          </a:p>
        </p:txBody>
      </p:sp>
      <p:sp>
        <p:nvSpPr>
          <p:cNvPr id="16" name="Rounded Rectangle 15"/>
          <p:cNvSpPr/>
          <p:nvPr/>
        </p:nvSpPr>
        <p:spPr>
          <a:xfrm>
            <a:off x="8092440" y="1152144"/>
            <a:ext cx="3611880" cy="1609344"/>
          </a:xfrm>
          <a:prstGeom prst="roundRect">
            <a:avLst>
              <a:gd name="adj" fmla="val 18939"/>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mid.png"/>
          <p:cNvPicPr>
            <a:picLocks noChangeAspect="1"/>
          </p:cNvPicPr>
          <p:nvPr/>
        </p:nvPicPr>
        <p:blipFill>
          <a:blip r:embed="rId4"/>
          <a:stretch>
            <a:fillRect/>
          </a:stretch>
        </p:blipFill>
        <p:spPr>
          <a:xfrm>
            <a:off x="8275320" y="1261872"/>
            <a:ext cx="347472" cy="347472"/>
          </a:xfrm>
          <a:prstGeom prst="rect">
            <a:avLst/>
          </a:prstGeom>
        </p:spPr>
      </p:pic>
      <p:sp>
        <p:nvSpPr>
          <p:cNvPr id="18" name="TextBox 17"/>
          <p:cNvSpPr txBox="1"/>
          <p:nvPr/>
        </p:nvSpPr>
        <p:spPr>
          <a:xfrm>
            <a:off x="8714232" y="1243584"/>
            <a:ext cx="2843784"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9" name="TextBox 18"/>
          <p:cNvSpPr txBox="1"/>
          <p:nvPr/>
        </p:nvSpPr>
        <p:spPr>
          <a:xfrm>
            <a:off x="827532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быстро видно, что вывод неверен, — прежде чем вред накопится.</a:t>
            </a:r>
          </a:p>
        </p:txBody>
      </p:sp>
      <p:sp>
        <p:nvSpPr>
          <p:cNvPr id="20" name="Rounded Rectangle 19"/>
          <p:cNvSpPr/>
          <p:nvPr/>
        </p:nvSpPr>
        <p:spPr>
          <a:xfrm>
            <a:off x="823874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4847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нужен эталонный набор и метрика-ограничитель раньше доверия к средним.</a:t>
            </a:r>
          </a:p>
        </p:txBody>
      </p:sp>
      <p:sp>
        <p:nvSpPr>
          <p:cNvPr id="22" name="Rounded Rectangle 21"/>
          <p:cNvSpPr/>
          <p:nvPr/>
        </p:nvSpPr>
        <p:spPr>
          <a:xfrm>
            <a:off x="502920" y="2889504"/>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2944368"/>
            <a:ext cx="10762488" cy="512064"/>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Отдать фазу ИИ без человека на рубеже оправдано только при сочетании высокой обратимости, низкой цены ошибки и высокой наблюдаемости. Любая другая комбинация требует рубежа по проблемной оси.</a:t>
            </a:r>
          </a:p>
        </p:txBody>
      </p:sp>
      <p:sp>
        <p:nvSpPr>
          <p:cNvPr id="24" name="TextBox 23"/>
          <p:cNvSpPr txBox="1"/>
          <p:nvPr/>
        </p:nvSpPr>
        <p:spPr>
          <a:xfrm>
            <a:off x="502920" y="3584448"/>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Прогон тех же трёх осей через два случая, разобранных в лекции</a:t>
            </a:r>
          </a:p>
        </p:txBody>
      </p:sp>
      <p:sp>
        <p:nvSpPr>
          <p:cNvPr id="25" name="Rounded Rectangle 24"/>
          <p:cNvSpPr/>
          <p:nvPr/>
        </p:nvSpPr>
        <p:spPr>
          <a:xfrm>
            <a:off x="502920" y="3840480"/>
            <a:ext cx="234086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3840480"/>
            <a:ext cx="2157984"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27" name="Rounded Rectangle 26"/>
          <p:cNvSpPr/>
          <p:nvPr/>
        </p:nvSpPr>
        <p:spPr>
          <a:xfrm>
            <a:off x="2898648" y="3840480"/>
            <a:ext cx="204825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90088" y="3840480"/>
            <a:ext cx="1865376"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9" name="Rounded Rectangle 28"/>
          <p:cNvSpPr/>
          <p:nvPr/>
        </p:nvSpPr>
        <p:spPr>
          <a:xfrm>
            <a:off x="500176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9320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Цена ошибки</a:t>
            </a:r>
          </a:p>
        </p:txBody>
      </p:sp>
      <p:sp>
        <p:nvSpPr>
          <p:cNvPr id="31" name="Rounded Rectangle 30"/>
          <p:cNvSpPr/>
          <p:nvPr/>
        </p:nvSpPr>
        <p:spPr>
          <a:xfrm>
            <a:off x="719632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8776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33" name="Rounded Rectangle 32"/>
          <p:cNvSpPr/>
          <p:nvPr/>
        </p:nvSpPr>
        <p:spPr>
          <a:xfrm>
            <a:off x="9390888" y="3840480"/>
            <a:ext cx="2313432" cy="347472"/>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82328" y="3840480"/>
            <a:ext cx="2130551" cy="347472"/>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35" name="Rounded Rectangle 34"/>
          <p:cNvSpPr/>
          <p:nvPr/>
        </p:nvSpPr>
        <p:spPr>
          <a:xfrm>
            <a:off x="502920" y="4242816"/>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4315968"/>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37" name="TextBox 36"/>
          <p:cNvSpPr txBox="1"/>
          <p:nvPr/>
        </p:nvSpPr>
        <p:spPr>
          <a:xfrm>
            <a:off x="630936" y="4762560"/>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ответ поиска раскатан сразу на всех</a:t>
            </a:r>
          </a:p>
        </p:txBody>
      </p:sp>
      <p:sp>
        <p:nvSpPr>
          <p:cNvPr id="38" name="Rounded Rectangle 37"/>
          <p:cNvSpPr/>
          <p:nvPr/>
        </p:nvSpPr>
        <p:spPr>
          <a:xfrm>
            <a:off x="2898648" y="4242816"/>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26664" y="4288536"/>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ошибку увидели все одновременно</a:t>
            </a:r>
          </a:p>
        </p:txBody>
      </p:sp>
      <p:sp>
        <p:nvSpPr>
          <p:cNvPr id="40" name="Rounded Rectangle 39"/>
          <p:cNvSpPr/>
          <p:nvPr/>
        </p:nvSpPr>
        <p:spPr>
          <a:xfrm>
            <a:off x="500176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высокая — вирусный, потенциально опасный совет</a:t>
            </a:r>
          </a:p>
        </p:txBody>
      </p:sp>
      <p:sp>
        <p:nvSpPr>
          <p:cNvPr id="42" name="Rounded Rectangle 41"/>
          <p:cNvSpPr/>
          <p:nvPr/>
        </p:nvSpPr>
        <p:spPr>
          <a:xfrm>
            <a:off x="719632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434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была бы высокой при канареечном выпуске, но его пропустили</a:t>
            </a:r>
          </a:p>
        </p:txBody>
      </p:sp>
      <p:sp>
        <p:nvSpPr>
          <p:cNvPr id="44" name="Rounded Rectangle 43"/>
          <p:cNvSpPr/>
          <p:nvPr/>
        </p:nvSpPr>
        <p:spPr>
          <a:xfrm>
            <a:off x="9390888" y="4242816"/>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18904" y="4288536"/>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обратимость: поэтапная раскатка возвращает и наблюдаемость</a:t>
            </a:r>
          </a:p>
        </p:txBody>
      </p:sp>
      <p:sp>
        <p:nvSpPr>
          <p:cNvPr id="46" name="Rounded Rectangle 45"/>
          <p:cNvSpPr/>
          <p:nvPr/>
        </p:nvSpPr>
        <p:spPr>
          <a:xfrm>
            <a:off x="502920" y="5193791"/>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266943"/>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8" name="TextBox 47"/>
          <p:cNvSpPr txBox="1"/>
          <p:nvPr/>
        </p:nvSpPr>
        <p:spPr>
          <a:xfrm>
            <a:off x="630936" y="5713536"/>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дома закупали по прогнозу цены от модели</a:t>
            </a:r>
          </a:p>
        </p:txBody>
      </p:sp>
      <p:sp>
        <p:nvSpPr>
          <p:cNvPr id="49" name="Rounded Rectangle 48"/>
          <p:cNvSpPr/>
          <p:nvPr/>
        </p:nvSpPr>
        <p:spPr>
          <a:xfrm>
            <a:off x="2898648" y="5193791"/>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026664" y="5239511"/>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минимальная — купленный дом не отменить одним кликом</a:t>
            </a:r>
          </a:p>
        </p:txBody>
      </p:sp>
      <p:sp>
        <p:nvSpPr>
          <p:cNvPr id="51" name="Rounded Rectangle 50"/>
          <p:cNvSpPr/>
          <p:nvPr/>
        </p:nvSpPr>
        <p:spPr>
          <a:xfrm>
            <a:off x="500176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максимальная — $304–408 млн списаний при ≈$80 тыс. на дом: это ≈3 800–5 100 домов из 9 680 купленных за квартал</a:t>
            </a:r>
          </a:p>
        </p:txBody>
      </p:sp>
      <p:sp>
        <p:nvSpPr>
          <p:cNvPr id="53" name="Rounded Rectangle 52"/>
          <p:cNvSpPr/>
          <p:nvPr/>
        </p:nvSpPr>
        <p:spPr>
          <a:xfrm>
            <a:off x="719632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2434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по конструкции — квартальный отчёт, а не контроль в реальном времени</a:t>
            </a:r>
          </a:p>
        </p:txBody>
      </p:sp>
      <p:sp>
        <p:nvSpPr>
          <p:cNvPr id="55" name="Rounded Rectangle 54"/>
          <p:cNvSpPr/>
          <p:nvPr/>
        </p:nvSpPr>
        <p:spPr>
          <a:xfrm>
            <a:off x="9390888" y="5193791"/>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18904" y="5239511"/>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все три оси сразу: жёсткий рубеж нужен на каждой — не было ни одного</a:t>
            </a:r>
          </a:p>
        </p:txBody>
      </p:sp>
      <p:sp>
        <p:nvSpPr>
          <p:cNvPr id="57" name="Rounded Rectangle 56"/>
          <p:cNvSpPr/>
          <p:nvPr/>
        </p:nvSpPr>
        <p:spPr>
          <a:xfrm>
            <a:off x="502920" y="6199631"/>
            <a:ext cx="11201400" cy="530352"/>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6254495"/>
            <a:ext cx="10762488" cy="420623"/>
          </a:xfrm>
          <a:prstGeom prst="rect">
            <a:avLst/>
          </a:prstGeom>
          <a:noFill/>
        </p:spPr>
        <p:txBody>
          <a:bodyPr wrap="square" lIns="0" rIns="0" tIns="0" bIns="0" anchor="ctr">
            <a:spAutoFit/>
          </a:bodyPr>
          <a:lstStyle/>
          <a:p>
            <a:pPr algn="ctr">
              <a:lnSpc>
                <a:spcPct val="118000"/>
              </a:lnSpc>
            </a:pPr>
            <a:r>
              <a:rPr sz="1150" b="1" i="0">
                <a:solidFill>
                  <a:srgbClr val="21295C"/>
                </a:solidFill>
                <a:latin typeface="DejaVu Sans"/>
              </a:rPr>
              <a:t>Ни одна ось не запрещает ИИ — каждая называет, что должно стоять рядом. Там, где все три условия выполнены сразу, высокая самостоятельность обоснована, а не рискованна.</a:t>
            </a:r>
          </a:p>
        </p:txBody>
      </p:sp>
      <p:sp>
        <p:nvSpPr>
          <p:cNvPr id="59" name="TextBox 5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