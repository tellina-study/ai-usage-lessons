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восторга и не с предостережения, а с одной даты и одной цифры. В ноябре 2021 года компания Zillow — крупнейшая в США платформа объявлений о недвижимости — закрыла целое направление бизнеса, Zillow Offers. Это был алгоритмический iBuying: компьютерная модель прогнозировала будущую цену конкретного дома, и на основании этого прогноза Zillow автоматически покупала дом, делала косметический ремонт и перепродавала. Идея красивая: убрать человека-оценщика, масштабировать скупку жилья до тысяч домов в десятках городов одновременно. На практике модель систематически переоценивала стоимость; компания закупала жильё дороже, чем могла его продать.</a:t>
            </a:r>
          </a:p>
          <a:p/>
          <a:p>
            <a:r>
              <a:t>Итог был тяжёлым: списание запасов более чем на триста миллионов долларов в одном квартале, совокупные потери направления оценены в полмиллиарда с лишним, увольнение примерно четверти штата — около двух тысяч человек, падение акции примерно на четверть за считаные дни. Целое направление крупной публичной компании было закрыто из-за ошибок одной прогнозной модели.</a:t>
            </a:r>
          </a:p>
          <a:p/>
          <a:p>
            <a:r>
              <a:t>Здесь стоит остановиться. Это был не ChatGPT и не «искусственный интеллект, который всё может» — это была прогнозная модель, оценивающая числовую величину по табличным и географическим данным. Большая языковая модель здесь не применялась и не могла применяться: задача не текстовая. И сама по себе ошибка прогноза — нормальное явление, любая модель ошибается. Бизнес рухнул не из-за факта ошибки, а из-за того, куда эта ошибка была подключена: к автоматическому, необратимому, капиталоёмкому действию в масштабе тысяч домов, без человека в контуре. Подумайте тридцать секунд: какой тип ИИ это был — и почему обычная ошибка стала потерей бизнеса? К полному разбору мы вернёмся в первом разделе.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вторая отраслевая лекция курса. В Лекции 4 мы разбирали, как искусственный интеллект входит в разработку программного обеспечения — там был по сути один тип ИИ, генеративная модель-кодер, но рассмотренный в глубину по лестнице автономности. Сегодня картина принципиально другая. Финансы и ритейл — отрасли максимального и самого разнообразного внедрения ИИ, и здесь работает целая палитра разных типов под разные задачи: прогноз спроса, обнаружение мошенничества, кредитный скоринг, рекомендации, компьютерное зрение на кассе. Большую часть ценности даёт вовсе не языковая модель.</a:t>
            </a:r>
          </a:p>
          <a:p/>
          <a:p>
            <a:r>
              <a:t>Лекция построена как маршрут через шесть содержательных разделов. После открытия мы пройдём прогнозирование временных рядов, поиск аномалий, кредитный скоринг, языковые модели в финансах, рекомендательные системы и динамическое ценообразование, и завершим сборкой всего в единый фреймворк выбора типа ИИ и безопасности данных. Полоса разделов внизу — наша карта: на каждом разделителе вы будете видеть, где мы находимся в маршруте. Сквозная нить лекции одна: разная задача требует разного типа ИИ, языковая модель — не универсальный молоток, и ценность инженера не в умении запустить ИИ, а в умении выбрать правильный тип под задачу и заранее понять, где именно этот тип ломается и кто за это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лекция стоит на фундаменте обзорного Модуля 1 и первой отраслевой Лекции 4, поэтому сначала зафиксируем, что переносится готовым и не переобъясняется. Из Лекции 2 мы берём дерево «какой ИИ»: различие между классическим машинным обучением, глубоким обучением и большими языковыми моделями, и то, что языковая модель генерирует следующий токен текста. На этом различии будет держаться вся аргументация «почему не LLM» в разделах про прогноз и скоринг. Из Лекции 4 мы берём рамку «задача определяет тип ИИ» и принцип, что ответственность не делегируется. Контраст важен: там был один тип ИИ в глубину, здесь — палитра типов под палитру задач.</a:t>
            </a:r>
          </a:p>
          <a:p/>
          <a:p>
            <a:r>
              <a:t>Пять типов, которые мы пройдём: прогнозирование временных рядов, поиск аномалий, классический табличный скоринг, языковые модели в поддержке, рекомендательные системы. Шестым, сквозным пластом пройдёт компьютерное зрение в ритейле и в проверке клиента. Большую часть ценности в финансах и ритейле даёт не языковая модель, и применить везде LLM было бы инженерной ошибкой — это и есть тезис лекции в одной фразе.</a:t>
            </a:r>
          </a:p>
          <a:p/>
          <a:p>
            <a:r>
              <a:t>И важная методическая оговорка. Четыре понятия эта лекция вводит с нуля, потому что в порядке курса вы видите их здесь впервые: понятия ложноположительной и ложноотрицательной ошибки и матрицу ошибок, механизм прокси-предвзятости, дрейф распределения. Лекция 7 формально углубит этот аппарат на медицинском материале, но она идёт после нашей, поэтому здесь это первое, самодостаточное, но компактное знакомство — без медицинской глубины.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Сформулируем центральный вопрос, к которому лекция будет возвращаться в каждом разделе — пять явных точек возврата. Финансы и ритейл — отрасли максимального внедрения ИИ; вопрос инженера здесь не «можно ли применить ИИ», а под какую задачу какой тип ИИ, почему именно он, а не языковая модель везде, и где этот конкретный тип ломается.</a:t>
            </a:r>
          </a:p>
          <a:p/>
          <a:p>
            <a:r>
              <a:t>Первая часть вопроса — «какой тип и почему именно он» — разбирается в каждом из пяти содержательных разделов через единый паттерн карточки. Это пятишаговая рамка, через которую мы разбираем каждый тип одинаково: какая задача, какой тип ИИ и почему именно он, реальный пример из России и мира, где он ломается с документированным провалом, и какая правильная альтернатива с критерием неприменимости. Вторая часть вопроса — «где ломается» — сквозная: каждый раздел завершается разбором реального провала именно этого типа ИИ, с выученным уроком и критерием.</a:t>
            </a:r>
          </a:p>
          <a:p/>
          <a:p>
            <a:r>
              <a:t>Важный disclaimer. Этот единый паттерн карточки — дидактический конструкт лекции, аналог лестницы автономности из Лекции 4: способ организовать материал так, чтобы пять разных типов не превратились в список технологий, а сложились в аппарат суждения. Это не отраслевой стандарт. Карта пяти типов, которую мы пройдём, плюс сквозной пласт компьютерного зрения — её не нужно понять всю сразу. Каждый тип разбирается по одной и той же схеме, и к концу лекции схема станет вашим рабочим инструментом выбора. Ответом будет не «ИИ хорош» и не «ИИ плох», а аппарат, которым вы для конкретной задачи называете уместный тип, обосновываете выбор и заранее видите точку обязательного человеческого контроля.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самой массовой задачи ритейла — и сразу с типа ИИ, который не языковая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Прогнозирование временных рядов — это предсказание будущих значений числовой величины, которая измеряется регулярно во времени: сколько молока купят в магазине в следующий вторник, какой будет приток денег на счёт в следующем месяце, сколько клиентов уйдёт в следующем квартале. Ключевое слово — ряд: упорядоченная во времени последовательность чисел, в которой есть тренд (долгосрочное направление), сезонность (повторяющийся цикл) и шум (случайные колебания). Тип ИИ под эту задачу — классическая статистика и табличное машинное обучение: семейство моделей ARIMA, градиентный бустинг на признаках. Это не генеративная модель и не языковая.</a:t>
            </a:r>
          </a:p>
          <a:p/>
          <a:p>
            <a:r>
              <a:t>Здесь стоит развернуть аргумент «почему не LLM», потому что после Лекций 1–4 у вас закрепляется рефлекс «ИИ — это ChatGPT». Разберём на пальцах. Первое: языковая модель устроена так, что предсказывает следующий токен текста — наиболее правдоподобное продолжение последовательности слов. Прогноз ряда — это предсказание следующего числа в последовательности чисел с трендом и сезонностью. Это структурно разные задачи: у языковой модели в принципе нет внутреннего понятия «сезонность продаж» — она не видела ваш ряд как ряд, она видела тексты о продажах. Второе: прогнозу нужна не правдоподобность формулировки, а числовая точность и калиброванная неопределённость. Третье: что сломается при неверном выборе? Поставьте «спрогнозируй спрос» текстовой модели — она выдаст правдоподобно звучащее число без связи с фактической сезонностью, и обнаружить эту ошибку сложнее, чем явную. Вывод-интуиция: для ряда чисел во времени нужен инструмент, который умеет в ряд чисел во времени; правильный тип ИИ определяется структурой задачи, а не тем, что сейчас на слуху.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Конкретизируем задачу и доведём аргумент выбора до развёрнутого критерия. В ритейле прогноз спроса — основа всей операционной цепочки: сколько товара заказать, сколько держать на складе, когда запустить промо. Ошибка в одну сторону — пустая полка и упущенная продажа; в другую — переполненный склад и списание просрочки. В финансах аналог — прогноз притока и оттока денег для управления ликвидностью, и прогноз оттока клиентов: кто с высокой вероятностью уйдёт в ближайшие месяцы, чтобы успеть удержать.</a:t>
            </a:r>
          </a:p>
          <a:p/>
          <a:p>
            <a:r>
              <a:t>Развёрнутый критерий, почему классическая статистика и табличный ML, а не языковая модель, требует минимум трёх аргументов, не одной оговорки. Первый — структура данных: это табличные числовые ряды с датой, точкой продаж, товаром, количеством, признаками вроде дня недели, праздника, промо. Модели для рядов спроектированы извлекать из этого тренд и сезонность; перевод ряда в текст для скармливания языковой модели теряет именно ту структуру, которую нужно использовать. Второй — измеримость и калибровка: прогнозу нужна численная метрика ошибки и доверительный интервал, потому что на этих числах строится решение о размере закупки и страховом запасе; классические модели дают это из коробки, от языковой модели — нет. Третий — что сломается при неверном выборе: если выбрать LLM, вы получите правдоподобное число без обоснованной неопределённости, а решение о закупке на это число всё равно придётся принять, и цена систематической ошибки умножается на объём закупок — ровно механизм Zillow. Правильная альтернатива — табличная прогнозная модель с измеряемой ошибкой; критерий, при котором даже она недостаточна, — нестационарная среда без человеческого контроля над капитальным действием.</a:t>
            </a:r>
          </a:p>
          <a:p/>
          <a:p>
            <a:r>
              <a:t>Отдельно — сквозная тема безопасности. Если ряды содержат персональные данные граждан России, их обработка регулируется законом о персональных данных; отправлять такие ряды в публичный облачный сервис языковой модели — не только методически неверный выбор типа ИИ, но и потенциальное нарушение требований локализации.</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реальному примеру из России. Группа X5, сети «Пятёрочка» и «Перекрёсток», с 2019 года развивает собственные алгоритмы прогноза спроса. По данным компании и отраслевых обзоров, точность прогноза превышает семьдесят процентов; к концу 2023 года ML-инструменты принесли около пяти миллиардов рублей дополнительной выручки и снизили списания просрочки примерно на два процента. Что это значит для инженера по сути: прогноз — не самоцель, он подключён к решению о закупке и пополнении полки; точность прогноза напрямую конвертируется в деньги — меньше списаний, меньше упущенных продаж.</a:t>
            </a:r>
          </a:p>
          <a:p/>
          <a:p>
            <a:r>
              <a:t>Второй пример особенно поучителен в российском контексте. Магнит до 2022 года использовал прогнозно-логистические системы иностранных вендоров класса SAP и Blue Yonder. После их ухода с российского рынка компания с осени 2024 года разрабатывает собственную систему прогнозирования спроса и автозаказа: пилот стартовал на распределительном центре, и по заявлению компании планировалось перевести в новую систему тысячи товарных позиций. Педагогический вывод: уход иностранных вендоров сделал импортозамещение прогнозных систем не теоретической, а прямой инженерной задачей российской отрасли — это контекст, в котором вы будете работать.</a:t>
            </a:r>
          </a:p>
          <a:p/>
          <a:p>
            <a:r>
              <a:t>И обратите внимание на главное: ни X5, ни Магнит не решают эту задачу языковой моделью. Они строят специализированные прогнозные системы, потому что тип ИИ диктуется структурой задачи, а не тем, какой инструмент сейчас на слуху. Это тезис лекции, подтверждённый на масштабе крупнейших розничных сетей страны.</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тип ИИ не остался для вас чёрным ящиком с названием, объясним механику прогноза ряда через наглядную аналогию, без формул. Представьте график продаж одного товара за два года — ломаную линию из ежедневных точек. Человеческий глаз почти сразу видит в ней три вещи: общий наклон, продажи в целом растут — это тренд; регулярную гребёнку, каждую субботу пик, каждый вторник провал, и большой годовой горб к декабрю — это сезонность; и мелкое дрожание вокруг, случайные колебания — это шум. Прогнозная модель делает по сути то же самое, но численно: она раскладывает историю на тренд, сезонность и шум, обучается на регулярных паттернах и продлевает их в будущее, добавляя поправки на известные события вроде промо и праздника. Дальше прогноз превращается в действие: спрос на следующую неделю примерно столько-то штук, значит, заказать столько-то плюс страховой запас. Аналогия-якорь: модель прогноза — как опытный товаровед, который, глядя на историю продаж, говорит «к выходным возьми больше, перед Новым годом — сильно больше», только делает это для миллионов пар «магазин на товар» одновременно и численно.</a:t>
            </a:r>
          </a:p>
          <a:p/>
          <a:p>
            <a:r>
              <a:t>Здесь же зафиксируем встроенную уязвимость этого типа ИИ, которая станет ключом к следующему разбору. Прогноз продлевает в будущее паттерны прошлого. Пока завтра похоже на вчера — это работает прекрасно. Но если среда меняется качественно — новый режим рынка, шок спроса, структурный сдвиг, — модель продолжает уверенно экстраполировать старые паттерны, которых больше нет. Она не понимает, что мир изменился, — она видит только числа и продлевает регулярность. Эта характеристика — не дефект конкретной реализации, а свойство самого подхода: прогноз силён ровно настолько, насколько будущее статистически похоже на обучающее прошлое. Запомните эту мысль — через минуту она объяснит полумиллиардный провал.</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центральный вопрос возвращается ребром первый раз, и мы раскрываем то, с чего начали. Zillow Offers — алгоритмический iBuying на базе моделей оценки стоимости жилья. Модель прогнозировала будущую цену дома; на основании прогноза Zillow автоматически делала предложения и скупала жильё в десятках регионов. В 2020–2021 годах рынок жилья США пережил аномальную волатильность. Модель, обученная на относительно стабильном предшествующем рынке, систематически переоценивала стоимость. Тип ИИ — прогнозная регрессионная модель на табличных и геоданных, не языковая.</a:t>
            </a:r>
          </a:p>
          <a:p/>
          <a:p>
            <a:r>
              <a:t>Введём здесь с нуля несущий термин всей линии провалов. Дрейф распределения — это когда данные, на которых модель работает в реальности, перестают быть похожими на данные, на которых она обучалась: среда сменила режим быстрее, чем модель успела адаптироваться. Модель училась на одном мире, а работает в другом. Но дрейф сам по себе не разоряет компанию — модели дрейфуют постоянно. Разорило Zillow то, к чему был подключён выход. Сформулируем ключевое понятие: асимметрия цены ошибки. Ошибка прогноза в рекомендации стоит около нуля. Та же по величине ошибка прогноза, на котором автоматически покупается реальный дом, стоит десятки тысяч долларов и необратима. Zillow соединил три вещи: необратимое капиталоёмкое действие, запускаемое автоматически, в нестационарной среде без аварийного выключателя.</a:t>
            </a:r>
          </a:p>
          <a:p/>
          <a:p>
            <a:r>
              <a:t>Здесь уместен короткий возврат к Knight Capital: в 2012 году торговая фирма за сорок пять минут потеряла четыреста сорок миллионов на детерминированном алгоритме — не ИИ, но тот же класс ошибки: автоматика необратимого действия без аварийного выключателя. И самое поучительное: конкурент Opendoor пережил тот же период на том же типе ИИ за счёт более консервативного риск-дизайна. Тот же инструмент, другое суждение о том, что вокруг него. Урок: прогнозная модель с обычной ошибкой, помноженная на необратимое действие без аварийного выключателя, превращает рутинную неточность в потерю направления. Подумайте тридцать секунд: где ещё необратимое авто-действие на прогнозе опасно — назовите свой пример.</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Прогноз — про будущее; теперь про настоящее: поймать аномальную операцию за миллисекунды, пока платёж ещё не прошёл. Это другая задача и другой тип ИИ.</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этого раздела — обнаружение мошеннических транзакций в реальном времени: украденная карта, нетипичный платёж, попытка вывода средств — в потоке, где подавляющее большинство операций легитимны, а доля фрода крайне мала. Тип ИИ под эту задачу — поиск аномалий: модель строит представление нормального поведения, как обычно платит этот клиент по суммам, географии, времени, продавцам, и сигнализирует об отклонениях. Это не прогноз ряда, потому что мы не предсказываем будущее значение, и не генерация, потому что мы ничего не порождаем; это калибровка границы «нормально или аномально».</a:t>
            </a:r>
          </a:p>
          <a:p/>
          <a:p>
            <a:r>
              <a:t>Зафиксируем, почему именно поиск аномалий, а не другой тип — это важная развилка. Почему не обычная классификация «фрод или не фрод» с обучением на размеченных примерах? Потому что фрод по определению редок и постоянно меняет форму: размеченных примеров мало, и они устаревают, как только мошенник придумал новую схему. Учить «как выглядит фрод» хрупко, потому что фрод — движущаяся цель. Поиск аномалий переворачивает задачу: учить не «как выглядит фрод», а «как выглядит норма этого клиента», данных по которой много — вся его легитимная история, и ловить отклонения. Почему не прогноз ряда? Прогноз отвечает на «какое будет следующее значение», а здесь вопрос другой — «насколько эта конкретная операция не похожа на норму». Почему не языковая модель? Транзакция — структурированная запись, не текст; задача геометрическая, далеко ли точка от облака нормы, а не языковая.</a:t>
            </a:r>
          </a:p>
          <a:p/>
          <a:p>
            <a:r>
              <a:t>Одной строкой — про противодействие отмыванию денег. С точки зрения типа ИИ это подмножество той же задачи поиска аномалий, а не отдельный тип; принципиальное отличие в том, что часть требований — жёсткие законодательные пороги, и они реализуются детерминированными правилами, а не вероятностной моделью. Аналогия для механики: представьте облако точек — обычные транзакции клиента кучно лежат вместе; модель очерчивает облако, и операция, выпавшая далеко за его край, — кандидат на аномалию. Модель не знает, что это фрод; она знает, что это не похоже на норму.</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Реальные примеры. Stripe Radar, антифрод платёжной платформы Stripe, по данным компании снижает фрод в среднем примерно на тридцать два процента при доле одобрения легитимных операций выше девяноста девяти процентов, блокируя миллиарды долларов мошеннических операций в год. JPMorgan сообщает о снижении ложных срабатываний примерно на тридцать процентов и сокращении времени разбора флагов после внедрения ИИ-системы. Visa сообщала о предотвращении порядка сорока миллиардов долларов мошеннических операций за финансовый 2023 год, что почти вдвое больше показателя годом ранее. В России обнаружение аномалий в транзакциях — стандартная практика крупных банков; по материалам Банка России традиционный ИИ широко применяется в антифроде и риск-менеджменте. Что это значит для инженера: антифрод — это защита платежей в реальном времени, и она прямо завязана на тип ИИ, который умеет в норму и отклонение, а не на генерацию или прогноз.</a:t>
            </a:r>
          </a:p>
          <a:p/>
          <a:p>
            <a:r>
              <a:t>Обратите особое внимание на формулировку всех этих цифр: снижение ложных срабатываний на столько-то процентов. Это намёк на то, что ключевая метрика антифрода — не точность вообще, а соотношение двух типов ошибок. Почему «точность девяносто девять и девять» в антифроде — обманчивая и даже опасная цифра, мы разберём на следующем слайде; для этого нам нужен аппарат матрицы ошибок, и мы введём его с нуля. Пока запомните: за красивым процентом снижения почти всегда прячется вопрос — какой именно ошибки стало меньше, и какой ценой.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первое появление матрицы ошибок в курсе, поэтому вводим с нуля и на пальцах, без медицинской глубины. Любая система, которая делит события на два класса — фрод или не фрод, заблокировать или пропустить, — может ошибиться двумя разными способами, и эти способы не равноценны. Разложим все исходы на четыре ячейки. Истинно-положительный: операция была фродом, система её поймала — хорошо. Истинно-отрицательный: операция была легитимной, система её пропустила — хорошо. Ложно-положительный: операция была легитимной, но система ошибочно пометила её как фрод и заблокировала — это ошибка первого рода, пострадал честный клиент, его карту заблокировали. Ложно-отрицательный: операция была фродом, но система её пропустила — это ошибка второго рода, деньги ушли мошеннику.</a:t>
            </a:r>
          </a:p>
          <a:p/>
          <a:p>
            <a:r>
              <a:t>Теперь почему точность лжёт при дисбалансе. Точность — это доля правильных ответов. Представьте поток в миллион транзакций, из которых фродом является тысяча, одна десятая процента. Модель, которая вообще ничего не делает и говорит «всё легитимно», даёт точность девяносто девять и девять десятых процента — потому что почти миллион легитимных она угадала, а тысяча фрода почти не двигает общую долю. То есть совершенно бесполезная модель показывает отличную точность. Вывод: при сильном дисбалансе классов точность измеряет в основном размер большего класса, а не способность ловить редкое важное событие.</a:t>
            </a:r>
          </a:p>
          <a:p/>
          <a:p>
            <a:r>
              <a:t>Дальше — ключевая инженерная идея: стоимостно-взвешенная оценка. Ложноположительная и ложноотрицательная ошибки различны не только по смыслу, но и по цене, и цена эта — в деньгах и доверии. Цена пропущенного фрода — сумма ушедших денег плюс регуляторная ответственность. Цена ложной блокировки — заблокированный честный клиент, испорченный опыт, в худшем случае уход к конкуренту. Правильная постановка задачи — не максимизировать точность, а минимизировать суммарную ожидаемую стоимость ошибок, где обе ошибки взвешены реальными ценами. Формальный аппарат этих понятий будет построен в Лекции 7 на медицинском материале; здесь достаточно рабочей интуиции.</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Центральный вопрос возвращается ребром второй раз. Антифрод-вендоры рапортуют о снижении ложных срабатываний на проценты — но провал-сторона педагогически важнее. Возьмём оптимистичную картину: доля ложных срабатываний у хорошей системы — доли процента, одобрение легитимных выше девяноста девяти процентов. Кажется отлично. Но умножьте доли процента на масштаб: миллиарды транзакций в год, даже полпроцента ложных — это десятки миллионов заблокированных легитимных операций. За каждой — конкретный человек: заблокированная карта в отпуске, отклонённый платёж за лечение, остановленный перевод за обучение ребёнка. Масштаб вреда растёт вместе с масштабом системы, а не уменьшается.</a:t>
            </a:r>
          </a:p>
          <a:p/>
          <a:p>
            <a:r>
              <a:t>Почему этого нельзя убрать настройкой? Здесь работает фундаментальный компромисс точности и полноты, который не отменяется лучшей моделью. Чтобы поймать больше фрода, нужно сделать модель подозрительнее — но тогда она блокирует больше легитимных операций. Чтобы реже трогать честных клиентов, нужно сделать модель терпимее — но тогда больше фрода проходит. Это не дефект, это структурное свойство: вы не можете одновременно произвольно уменьшить оба типа ошибок, вы можете только выбрать точку компромисса. Лучшая модель сдвигает всю кривую, но точку всё равно выбирает инженер по цене ошибки.</a:t>
            </a:r>
          </a:p>
          <a:p/>
          <a:p>
            <a:r>
              <a:t>Доведём цену до конкретики. Сравним два ложных срабатывания. Первое: заблокирована покупка кофе за пять долларов, клиент повторил оплату, забыл через час — цена близка к нулю, обратима. Второе: заблокирован платёж пять тысяч долларов за срочную медицинскую процедуру в чужой стране — клиент не может оплатить лечение, дозвониться трудно, время критично. Это тот же класс ошибки, но цена различается на порядки, и второй случай необратим по последствиям. Здесь же — второй возврат к Knight Capital: автоматическая блокировка крупного необратимого платежа без человеческого гейта — тот же класс ошибки, что Zillow и Knight. Критерий: автоматическая жёсткая блокировка допустима только для обратимых или мелких операций; для крупных правильная реакция — не глухой отказ, а мягкий запрос подтверждения плюс быстрый человеческий канал. А жёсткие регуляторные пороги реализуются детерминированными правилами, не моделью. Голосование на двадцать секунд: заблокировать платёж пять тысяч на лечение по сработавшей аномалии — ваш порог?</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Аномалию нашли; теперь — решение, которое меняет жизнь клиента: дать кредит или отказать. И здесь принципиально нельзя «чёрный ящик» — разберём, почему.</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Кредитный скоринг — оценка кредитоспособности заёмщика: по данным о клиенте система выдаёт оценку риска невозврата, и на её основе принимается решение о выдаче, лимите, ставке. Тип ИИ под эту задачу в индустрии — классический табличный ML: градиентный бустинг, логистическая регрессия, скоркарты. Это сознательно не глубокая нейросеть и не языковая модель, и причина не в том, что нейросети хуже считают, а в требованиях самой задачи. Развернём это как полноценный критерий из четырёх аргументов.</a:t>
            </a:r>
          </a:p>
          <a:p/>
          <a:p>
            <a:r>
              <a:t>Первый: объяснимость есть регуляторное требование, а не пожелание. Кредитное решение регулируемое. Клиенту, которому отказали, по закону положено понятное объяснение причины — так называемые коды причин: высокая долговая нагрузка, короткая кредитная история. Ответ «алгоритм так решил» юридически и репутационно недопустим. Модель, из которой нельзя извлечь причину, в этой задаче неприменима в принципе — не менее удобна, а неприменима. Второй: данные табличные, не текст и не изображение; глубокие сети дают преимущество на неструктурированных данных, а на табличных градиентный бустинг устойчиво конкурентоспособен при несравнимо большей интерпретируемости. Третий: аудит и стабильность важнее одного процента точности; регулятор должен мочь воспроизвести решение и проверить отсутствие дискриминации. Четвёртый: что сломается при неверном выборе — непрозрачную сеть нельзя объяснить клиенту, нельзя аудировать на смещение, нельзя стабильно воспроизвести и защитить перед регулятором.</a:t>
            </a:r>
          </a:p>
          <a:p/>
          <a:p>
            <a:r>
              <a:t>Чтобы это не осталось ярлыком, аналогия. Интерпретируемая скоринг-модель — как кредитный инспектор, который не просто говорит «нет», а показывает свой расчёт построчно: какой признак на сколько сдвинул решение, это и есть коды причин, и из градиентного бустинга они извлекаются штатным методом SHAP. Чёрный ящик — как инспектор, который говорит «нет» и отказывается объяснять. В регулируемой отрасли второй недопустим по закону. Рефлекс «новое — значит нейросеть, значит лучше» здесь прямая структурная ошибка: правильный тип ИИ определяется структурой данных и жёсткими ограничениями задачи, а объяснимость здесь — условие законности, а не бонус.</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Реальный пример из России. Сбербанк с марта 2024 года принимает кредитные решения по физическим лицам практически полностью на ИИ; скоринговая модель учитывает до пяти тысяч параметров клиента; дополнительный эффект от применения ИИ по всем направлениям банк оценил примерно в триста пятьдесят миллиардов рублей за 2023 год. По материалам Банка России степень автономии ИИ в скоринге физлиц и малого бизнеса у системно значимых банков приближается к ста процентам, выдача и пересмотр во многом автоматизированы. Важная деталь для сквозной темы «человек или ИИ»: по тому же документу свыше восьмидесяти процентов финорганизаций, постоянно применяющих ИИ, дают клиенту возможность отказаться от ИИ-обработки и переключиться на сотрудника. Это не косметика, а инженерно-этический принцип: автоматизация решения не должна закрывать человеческий канал.</a:t>
            </a:r>
          </a:p>
          <a:p/>
          <a:p>
            <a:r>
              <a:t>Здесь стоит заострить. Сто процентов решений принимает ИИ в России не означает, что нейросеть-чёрный-ящик бесконтрольно решает судьбу клиента. Это означает высокую степень автоматизации конвейера на интерпретируемых моделях с кодами причин, регуляторным надзором Банка России и сохранённым правом клиента на человека. Тип ИИ — табличный ML, выбранный именно из-за объяснимости и аудируемости, а не вопреки им. Это иллюстрация тезиса лекции на масштабе крупнейшего банка страны: правильный тип ИИ диктуется задачей и регуляторикой, а не трендовостью. Когда вы услышите «банк автоматизировал решения на сто процентов», правильный инженерный вопрос — не «не страшно ли это», а «какая обвязка стоит вокруг этой автоматизации»: коды причин, надзор, право на человека, аудит смещения.</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Центральный вопрос возвращается ребром третий раз. Кейс — Apple Card и Goldman Sachs, ноябрь 2019. Точную фактуру нельзя упрощать. Разработчик опубликовал вирусный тред: ему одобрили кредитный лимит примерно в двадцать раз выше, чем его жене, при совместной налоговой декларации и более высоком кредитном рейтинге супруги; появились аналогичные жалобы. Регулятор штата Нью-Йорк открыл расследование. И вот критически важный нюанс исхода: в марте 2021 года регулятор по итогам анализа данных около четырёхсот тысяч заявителей не нашёл нарушения законов о справедливом кредитовании — решения объяснялись кредитной политикой и не были признаны незаконной дискриминацией по полу. Утверждать «Apple Card доказанно дискриминировала женщин» — фактологически неверно. Но регулятор прямо указал на непрозрачность: клиенты не могли получить объяснение решения, и ответ «так решил алгоритм» подорвал доверие. То есть провал — не доказанная дискриминация, а регуляторно-репутационный кризис из-за необъяснимости.</a:t>
            </a:r>
          </a:p>
          <a:p/>
          <a:p>
            <a:r>
              <a:t>Теперь введём с нуля механизм, который делает этот класс провалов опасным даже без злого умысла — прокси-предвзятость. Допустим, инженер сознательно не подаёт в модель запрещённые признаки — пол, расу. Кажется, дискриминация исключена. Но в данных остаются признаки, которые коррелируют с запрещёнными: почтовый индекс, структура и история трат, тип занятости. Модель, оптимизируя точность, косвенно восстанавливает запрещённый признак через эти прокси-переменные и начинает систематически по-разному относиться к группам, формально их не видя. Аналогия: вы убрали с анкеты графу «пол», но оставили десяток граф, по совокупности которых пол угадывается почти однозначно. Поэтому «мы не используем защищённые признаки» — не доказательство отсутствия смещения; единственное доказательство — прямой аудит исходов модели по защищённым группам. Критерий: регулируемое кредитное решение требует одновременно кодов причин, человеческого пути апелляции и аудита смещения исходов до продакшена, не после скандала. Канонический разбор механизма будет в Лекции 7 на медицинском кейсе.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из трёх разделов сквозной критерий распознавания класса ошибки. Мы видели один и тот же класс ошибки в трёх типах ИИ: Zillow — прогноз, запускавший автоматическую необратимую скупку; ложноположительный автоблок фрода — аномалия, запускавшая автоматическую необратимую блокировку; и Knight Capital — детерминированный алгоритм, выставлявший автоматические необратимые заявки. Скоринг в России автоматизирован почти на сто процентов, значит, этот критерий применим к нему напрямую и остро.</a:t>
            </a:r>
          </a:p>
          <a:p/>
          <a:p>
            <a:r>
              <a:t>Сформулируем обобщение как критерий-вывод, а не как ещё один разбор провала — Knight уже разобран как сквозной возврат. Автоматика, исполняющая необратимые финансовые действия в открытом контуре без аварийного выключателя, без лимитов на бюджет и позицию, без предохранителя по аномалии и без верифицированного развёртывания, превращает обычную ошибку модели в скорость разорения. Чем выше автономия, а сто процентов скоринга — это высокая автономия, тем строже и явнее должен быть человеческий или детерминированный гейт вокруг неё.</a:t>
            </a:r>
          </a:p>
          <a:p/>
          <a:p>
            <a:r>
              <a:t>Что это значит для скоринга конкретно. Сто процентов решений принимает ИИ приемлемо только в обвязке: коды причин на каждое решение, сохранённый человеческий канал, аудит смещения исходов на регулярной основе, мониторинг дрейфа распределения заявителей, регуляторный надзор. Уберите обвязку — и сто процентов автоматизации из эффективности превращается в Apple Card на масштабе банка. Альтернатива формулируется позитивно: верифицируемое развёртывание плюс явный человеческий гейт на оспоренном и пограничном плюс предохранитель по аномальному сдвигу одобрений плюс аудит. Высокая автономия — не цель и не зло сама по себе; цель — автономия, вокруг которой стоят оплаченные гейты, пропорциональные цене ошибки и необратимости действия. Это сквозной инженерный вывод трёх разделов.</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 намеренно не языковая модель: прогноз, аномалии, скоринг. Теперь — LLM, и сразу про его границы в регулируемой отрасли.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где языковая модель действительно к месту в банке: клиентская поддержка с ответами на типовые вопросы, голосовой ассистент, который распознаёт запрос и ведёт по сценарию, помощь сотруднику в виде суммаризации обращения и подсказки регламента, объяснение продукта простым языком. Это текстово-диалоговые задачи — ровно то, для чего языковая модель спроектирована, в отличие от прогноза, аномалий и скоринга. Масштаб: первый контакт клиента с банком всё больше автоматизирован. По верифицированным данным чат-бот Т-Банка обрабатывает свыше сорока процентов клиентских обращений, и порядка семидесяти процентов банков планировали запустить голосовых ассистентов к 2025 году.</a:t>
            </a:r>
          </a:p>
          <a:p/>
          <a:p>
            <a:r>
              <a:t>Здесь — важная оговорка о достоверности, и она же иллюстрация темы лекции. В нормативных материалах курса встречается формулировка «голосовые ассистенты обрабатывают более девяноста процентов обращений банков». Цифра около девяноста процентов где-то существует — но относится она к доле звонков, обрабатываемых голосовым ассистентом в колл-центре одного банка, а не к доле обращений банков в целом. Это классическая подмена базы: реальный показатель про звонки в колл-центр одного банка расширен до неверной общеотраслевой формулировки. Поэтому в лекции мы используем только верифицированную формулировку с атрибуцией и датой, а не неподтверждённую цифру. Это не педантизм: лекция учит проверке фактов — строить утверждение на цифре с подменённой базой означало бы нарушить ровно тот принцип, которому она учит.</a:t>
            </a:r>
          </a:p>
          <a:p/>
          <a:p>
            <a:r>
              <a:t>И подчеркнём симметрию. В прогнозе, аномалиях и скоринге языковая модель — неправильный тип, потому что задачи не текстовые. В поддержке и объяснении она — правильный тип, потому что задача именно текстово-диалоговая. Тезис лекции симметричен: «разная задача — разный тип ИИ» означает не «LLM плох», а «LLM хорош ровно там, где задача текстово-диалоговая, и плох там, где нет».</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 сквозной паттерн всей лекции: проверка фактов. Сформулируем его как развёрнутый критерий, когда языковая модель не источник истины, тремя аргументами и альтернативой. Тезис: в финансах ответ модели о числах, ставках, условиях, правах клиента обязан опираться на проверяемый первоисточник и быть проверяемым; модель здесь не источник истины, а интерфейс к источнику истины.</a:t>
            </a:r>
          </a:p>
          <a:p/>
          <a:p>
            <a:r>
              <a:t>Первый аргумент — механизм галлюцинации: модель генерирует правдоподобное продолжение текста, а не извлекает проверенный факт; правдоподобно не равно верно. Спросите про точную ставку по конкретному вкладу — модель может выдать уверенно звучащее, но неверное число, потому что её задача — связность, а не истинность. Второй аргумент — цена ошибки в финансах юридическая: неверно названная ставка или условие — это потенциальное нарушение и прямой ущерб клиенту, за который отвечает организация. Третий — что сломается: если позволить модели свободно генерировать ответы о регулируемых фактах, вы получаете масштабируемый генератор правдоподобной дезинформации с юридической ответственностью банка за каждый ответ. Альтернатива и критерий: для фиксированных фактов ответ строится детерминированной выборкой из системы или документа, модель формулирует найденное человеческим языком, но не выдумывает само число.</a:t>
            </a:r>
          </a:p>
          <a:p/>
          <a:p>
            <a:r>
              <a:t>Чтобы «распознать класс ошибки» был операциональным навыком, разложим типичные классы. Класс первый — галлюцинация факта: конкретное число без ссылки на источник, принцип — сверить с первоисточником. Класс второй — устаревшие данные: цифра в волатильной области без даты, принцип — проверить актуальность. Класс третий — смещение через прокси в выводе о группе людей, принцип — помнить, что нужен аудит исходов. Класс четвёртый — обман метрикой: точность без базы и цены ошибки, принцип — спросить ложноположительные и ложноотрицательные раздельно и в деньгах. Класс пятый — подмена базы: громкая доля без точной формулировки, ровно как «голосовые более девяноста процентов». Аналогия для grounding: модель без опоры на источник — как студент, который не помнит цифру, но уверенно её произносит; модель с grounding сначала открывает справочник, читает точное значение и только потом формулирует. На лекции от вас требуется распознать класс и назвать принцип; самостоятельная проверка по первоисточникам — это Семинар 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Центральный вопрос возвращается ребром четвёртый раз — двумя связанными кейсами. Первый — Air Canada, как возврат к материалу Лекции 3, не его дубль. Кратко: чат-бот авиакомпании сообщил пассажиру несуществующую политику возврата; пассажир действовал на основании ответа бота; в феврале 2024 года канадский трибунал постановил, что компания отвечает за информацию, которую сообщает её чат-бот, и обязал её выплатить компенсацию. Класс ошибки: галлюцинация финансово значимого факта равна юридической ответственности организации. Перенос в банк прямой: чат-бот, назвавший неверную ставку или условие, создаёт ровно такую же ответственность — это иллюстрация предыдущего слайда в виде судебного прецедента, а не гипотеза.</a:t>
            </a:r>
          </a:p>
          <a:p/>
          <a:p>
            <a:r>
              <a:t>Второй — Klarna, дуга с 2023 по 2025 год. Финтех развернул языкового ассистента поддержки: он закрывал около двух третей обращений, сократил среднее время решения примерно с одиннадцати минут до менее двух, заявленная экономия — около сорока миллионов долларов в год. В 2024 году это подавалось как доказательство, что ИИ заменяет поддержку, и множество публикаций цитировали именно эту половину истории. Развязка: к середине 2025 года Klarna зафиксировала падение удовлетворённости клиентов и вернулась к найму людей. Разберём, почему это не «ИИ оказался плох», а более тонкий урок. Ассистент действительно работал: две трети обращений закрывались, время упало в разы, экономия реальна. Провал в категориальной ошибке: задачу «отвечать на обращения» спутали с системой «клиентский сервис». Сервис — это ещё и редкие, эмоционально заряженные, спорные случаи, где на кону доверие и удержание. Они малочисленны, но непропорционально весомы. Полная замена людей оптимизировала среднюю стоимость контакта и обрушила качество в тяжёлом хвосте.</a:t>
            </a:r>
          </a:p>
          <a:p/>
          <a:p>
            <a:r>
              <a:t>Урок двойной: галлюцинация финфакта равна юридической ответственности, поэтому регулируемые факты обязаны быть grounded; полная автозамена человеческой поддержки неустойчива, правильная роль модели — augmentation, не замена. Подумайте тридцать секунд: чат-бот банка назвал вам ставку — как вы распознаёте риск галлюцинации, не проверяя саму ставку?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Сделаем поворотный момент — не сводку, сводка будет в финале, а мост в последний раздел. Мы прошли четыре структурно разных типа ИИ — прогноз рядов, поиск аномалий, табличный скоринг, диалоговую языковую модель — и в каждом провал имел одинаковую форму: тип ИИ был выбран правильно под структуру задачи, а ломалось не в типе, а в обвязке вокруг него — на необратимом действии у Zillow, на крупной блокировке во фроде, на регулируемом решении у Apple Card, на обязывающем факте у Air Canada.</a:t>
            </a:r>
          </a:p>
          <a:p/>
          <a:p>
            <a:r>
              <a:t>Отсюда двухуровневый вывод. Первая половина центрального вопроса — какой тип ИИ и почему именно он — решается структурой задачи, чаще всего однозначно: ряд чисел требует прогноза, норма и отклонение требуют поиска аномалий, табличное регулируемое решение требует объяснимого ML, диалог требует языковой модели. Вторая половина — что стоит вокруг ИИ на цене ошибки — не выводится из выбора типа и проектируется отдельно под каждую задачу. Правильный выбор типа необходим, но не достаточен. Инженер, усвоивший только первую половину, будет правильно называть тип ИИ — и всё равно строить системы класса Zillow и Apple Card, потому что правильный тип без обвязки даёт ровно эти провалы.</a:t>
            </a:r>
          </a:p>
          <a:p/>
          <a:p>
            <a:r>
              <a:t>И тут — переход к последнему типу. До сих пор все типы касались действий с очевидно высокой ценой ошибки: деньги, кредит, юридический факт. Последний тип — рекомендательные системы и динамическое ценообразование — кажется самым безобидным: ну порекомендовал не тот фильм, цена ошибки около нуля. Именно поэтому он опаснее, чем кажется: низкая видимая цена ошибки усыпляет, а патологии этого типа — самые тонкие. У прогноза или скоринга провал громкий — полмиллиарда, регулятор; у рекомендаций провал тихий: система рапортует об успехе по своей метрике ровно тогда, когда разрушает то, что в метрику не попало. Это и делает безобидный тип ИИ коварным.</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тип — самый безобидный по видимой цене ошибки, но с самыми тонкими патологиями. Дадим ему воздух: вводим механику с нуля, спокойно, без формул.</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этого раздела — персонализация: что ещё купить или посмотреть, ранжирование ленты, выдачи, главной страницы. Тип ИИ — рекомендательные системы. Вы видите это понятие впервые, поэтому развернём два базовых подхода на пальцах, как ядро раздела.</a:t>
            </a:r>
          </a:p>
          <a:p/>
          <a:p>
            <a:r>
              <a:t>Первый подход — коллаборативная фильтрация. Идея одной фразой: люди, похожие на тебя по поведению, покупали или смотрели что-то, значит, вероятно, понравится и тебе. Система строит большую таблицу «пользователь на товар» — кто что покупал или оценивал — и ищет в ней похожие строки. Важно: она не знает, что это за товар, только кто с чем взаимодействовал. Сильная сторона: ловит неожиданные, неочевидные связи — покупатели дрели часто берут именно эти перчатки, система это видит, даже не зная, что такое дрель. Слабые стороны, которые надо назвать сразу: холодный старт — для нового товара или нового пользователя нет истории, рекомендовать не на чем; и смещение к популярному — система склонна рекомендовать и без того популярное, потому что по нему больше всего данных.</a:t>
            </a:r>
          </a:p>
          <a:p/>
          <a:p>
            <a:r>
              <a:t>Второй подход — контентная фильтрация. Идея: этот товар похож по своим признакам на то, что ты уже любил. Система использует атрибуты товара — жанр, бренд, категорию, цену — и рекомендует похожее. Сильная сторона: нет проблемы холодного старта для нового товара, как только у товара есть атрибуты, его можно рекомендовать. Слабая сторона: чрезмерная специализация — система замыкает пользователя в узкую нишу «ещё такого же», не открывая ничего за пределами уже известных предпочтений. Аналогия, разводящая два подхода: коллаборативный — спроси у людей, похожих на тебя, что они брали; контентный — возьми ещё одну вещь, похожую по описанию на твою любимую. Первый рискует утопить тебя в популярном, второй — запереть в нише. Здесь достаточно запомнить, что это за подходы и какая слабость по названию у каждого; сам механизм разберём дальше на конкретной матрице.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подход — гибридная рекомендательная система. Большинство реальных промышленных систем — гибрид: коллаборативная и контентная части плюс контекст вроде времени, устройства, истории сессии, скомбинированные так, чтобы сильные стороны одного компенсировали слабости другого. Контентная часть закрывает холодный старт, коллаборативная ломает чрезмерную специализацию. Это не третий отдельный алгоритм, а инженерная композиция первых двух под конкретный продукт.</a:t>
            </a:r>
          </a:p>
          <a:p/>
          <a:p>
            <a:r>
              <a:t>Введём с нуля две патологии-понятия. Информационный пузырь — эффект, при котором рекомендательная система, оптимизируя релевантность под уже проявленные предпочтения, сужает разнообразие того, что пользователь видит: модель показывает похожее, пользователь взаимодействует с похожим, модель учится показывать ещё более похожее. Это не злой умысел, а прямое следствие оптимизации на краткосрочную релевантность. Динамическое ценообразование — автоматическая подстройка цены под спрос, время, конкурента, контекст. Зафиксируем сразу инженерно-этическую границу: восприятие справедливости цены и регуляторные ограничения — это ограничения задачи, а не оптимизируемые переменные; попытка оптимизировать цену в лоб, игнорируя их, — классическая ошибка «прокси вместо цели».</a:t>
            </a:r>
          </a:p>
          <a:p/>
          <a:p>
            <a:r>
              <a:t>И отдельно — с дисциплиной проверки фактов, которой учил предыдущий раздел. Широко цитируется, что у Amazon порядка тридцати пяти процентов выручки приходит от рекомендаций, а у Netflix около семидесяти пяти процентов просмотров. Эти цифры нужно подавать корректно: это исторически приводимые классические оценки, обе восходят к одному источнику примерно 2013 года, а не свежие верифицированные показатели. Использовать их как актуальный факт сегодня — ровно та ошибка, против которой предостерегал предыдущий раздел. В России Ozon и Wildberries активно применяют рекомендации, но конкретную долю выручки от них первоисточником подтвердить не удалось — поэтому переносить сюда цифру Amazon нельзя; корректная формулировка: рекомендации — ключевой драйвер конверсии, точную долю компании не раскрывают.</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Центральный вопрос возвращается ребром пятый, последний раз. Провал этого типа ИИ тоньше предыдущих, и именно поэтому его легко недооценить. Корень — прокси вместо цели. Рекомендательная система оптимизирует то, что измеримо в моменте: клики, время просмотра, конверсию. Но это прокси, а не настоящая цель — долгосрочная ценность и благополучие пользователя, его доверие, разнообразие выбора. Когда прокси расходится с целью, система честно максимизирует прокси и получает патологии: информационный пузырь, тёмные паттерны, гомогенизацию.</a:t>
            </a:r>
          </a:p>
          <a:p/>
          <a:p>
            <a:r>
              <a:t>Кейс — Wendy's, февраль 2024. Сеть фастфуда анонсировала инвестиции порядка двадцати миллионов долларов в цифровые меню-борды с возможностью динамического ценообразования. В СМИ это интерпретировали как surge-pricing — цена растёт в часы пик, как у такси; вспыхнул публичный скандал, конкурент обыграл это в рекламе. За считаные дни компания была вынуждена публично откатить формулировку. Деньги были вложены, технология была доступна — провалилось не ИТ, а игнорирование того, что восприятие справедливости цены — ограничение, а не оптимизируемая переменная. Технически surge-pricing — решаемая оптимизационная задача: модель максимизирует выручку, подстраивая цену под спрос. Если поставить задачу так, оптимизатор честно её решит — и приведёт к ровно тому, что вызвало бойкот. Ошибка не в модели, а в постановке: справедливость и лояльность были неявно отброшены, потому что плохо измеримы.</a:t>
            </a:r>
          </a:p>
          <a:p/>
          <a:p>
            <a:r>
              <a:t>Сравните с информационным пузырём — тот же механизм: там прокси клик, цель долгосрочная ценность; здесь прокси выручка за смену, цель доверие к бренду на годы. И в обоих случаях патология не выглядит как сбой: модель работает идеально по своей метрике, графики растут, провал виден только если смотреть на то, что в метрику не попало. Это единый класс ошибки через всю лекцию — обман метрикой точности, прокси-смещение скоринга, Klarna, пузырь: оптимизатор максимизирует прокси, расходящийся с целью. Критерий: встроить намеренную долю неожиданных рекомендаций и объяснимость, аудит на дискриминацию; ценовая политика — решение человека в правовой рамке. Подумайте тридцать секунд: где в знакомом вам сервисе вы замечали пузырь или несправедливую цену — и что было прокси, а что целью?</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пять разделов в один аппарат — это ответ на центральный вопрос и ядро навыка выбора типа ИИ. Матрица: строка — задача, столбцы — правильный тип ИИ и почему именно он, и типичный провал. Это компактная упаковка пяти уже доказанных в лекции фактов, а не новый материал.</a:t>
            </a:r>
          </a:p>
          <a:p/>
          <a:p>
            <a:r>
              <a:t>Прогноз спроса, притока денег, оттока — тип ИИ прогноз рядов, потому что это числа с трендом и сезонностью, а не текст; типичный провал — дрейф распределения, помноженный на необратимое автоматическое действие, как у Zillow. Фрод и противодействие отмыванию в реальном времени — поиск аномалий плюс детерминированные правила, потому что задача про норму и отклонение, а порог отмывания — закон; типичный провал — ложные срабатывания на масштабе и обман метрикой точности при дисбалансе. Кредитный скоринг — классический табличный ML, потому что объяснимость есть регуляторное требование; типичный провал — смещение через прокси и непрозрачность, как у Apple Card. Поддержка, голос, объяснение — языковая модель с опорой на источник, потому что задача текстово-диалоговая; типичный провал — галлюцинация финфакта как юридическая ответственность, как у Air Canada. Рекомендации и ценообразование — рекомендательная система, а цена — оптимизатор в человеческой рамке; типичный провал — прокси не равен цели, информационный пузырь, как у Wendy's.</a:t>
            </a:r>
          </a:p>
          <a:p/>
          <a:p>
            <a:r>
              <a:t>Нижняя строка — намеренно. Она отвечает на сквозной вопрос курса «когда не ИИ вовсе» — прямой перенос принципа Лекций 3 и 4: если задача — исполнение жёсткого верифицируемого регуляторного правила, правильный инструмент не ИИ, а детерминированный код; ИИ здесь не «не помешает», а добавил бы недетерминизм и поверхность ошибки туда, где требуется точность и аудит. Матрица — не «выбрать модную модель», а назвать тип под структуру задачи, и иногда правильный тип — это вообще не ИИ. Это и есть аппарат, который вы должны унести из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из пяти разделов сквозной критерий «когда ИИ не нужен или опасен» — это ответ на вопрос применимости и рисков. Это не пять разных предостережений, а один принцип в пяти проявлениях: правильный выбор типа ИИ необходим, но не достаточен; ИИ опасен там, где его выход подключён к действию, цена ошибки которого не оплачена обвязкой.</a:t>
            </a:r>
          </a:p>
          <a:p/>
          <a:p>
            <a:r>
              <a:t>Первое проявление — необратимое автоматическое действие без гейта, как у Zillow и Knight: прогноз или сигнал, запускающий необратимое капитальное или торговое действие автоматически в нестационарной среде без предохранителя. Мера — человеческий гейт, узкий сегмент, живой мониторинг ошибки. Второе — регулируемое решение без объяснимости, как у Apple Card: кредит или отказ без кодов причин, без пути апелляции, без аудита смещения. Мера — объяснимая модель, человек на эскалации, аудит исходов. Третье — финансовый факт без опоры на источник, как у Air Canada: обязывающий клиента факт, сгенерированный свободно. Мера — grounding, проверяемость, путь к человеку. Четвёртое — полная замена людей в сервисе, как у Klarna: устранение человеческого канала на эмоциональном и спорном хвосте ради средней эффективности. Мера — augmentation с гарантированной эскалацией. Пятое — ценовая дискриминация без правовой рамки, как у Wendy's: оптимизатор, которому ограничение справедливости подмешано в цель. Мера — цена решается человеком в правовой рамке, оптимизатор работает только внутри границ.</a:t>
            </a:r>
          </a:p>
          <a:p/>
          <a:p>
            <a:r>
              <a:t>Заметьте: ни в одном из пяти случаев исправление — не лучшая модель. Во всех — лучшее суждение о том, что стоит вокруг ИИ на цене ошибки. Это и есть содержательный ответ на центральный вопрос: где ломается — не в типе ИИ, он выбран правильно, а в отсутствии обвязки, пропорциональной необратимости и регулируемости действия.</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Сквозная тема курса — безопасность данных — в финансах и ритейле острее, чем где-либо: здесь обрабатываются финансовые данные, персональные данные и биометрия. Закон о персональных данных устанавливает требования к обработке данных граждан России: в частности, требование локализации — хранение и обработка на серверах в России, — а биометрические данные имеют отдельный, более строгий режим. Практический инженерный вывод: финансовые данные, персональные данные и биометрию нельзя отправлять в публичный неконтролируемый облачный сервис языковой модели — это и методически неверный выбор типа ИИ, и потенциальное нарушение требований локализации. У публичного облака три структурных минуса, которые не настраиваются: данные покидают контур организации, вы не контролируете, что провайдер делает с переданными данными, и аудируемость падает. Инженерный критерий выбора — по чувствительности данных и регуляторному режиму, а не по силе модели.</a:t>
            </a:r>
          </a:p>
          <a:p/>
          <a:p>
            <a:r>
              <a:t>Второй блок — компьютерное зрение, которое мы проходим иллюстративно. Проверка клиента при онбординге в цифровом виде часто включает проверку живости — что перед камерой реальный человек, а не фотография, маска или дипфейк, — и сверку лица с документом. Это биометрия, то есть строгий режим закона. Отдельным предложением вынесем ключевой принцип: биометрический признак необратимо скомпрометирован при утечке — пароль можно сменить, лицо и отпечаток нельзя. Поэтому цена ошибки в защите биометрии асимметрична так же, как цена ошибки прогноза у Zillow.</a:t>
            </a:r>
          </a:p>
          <a:p/>
          <a:p>
            <a:r>
              <a:t>И ещё один урок — скрытый человеческий труд. Технология магазина без кассира Amazon Just Walk Out в апреле 2024 года была свёрнута из ряда форматов; по сообщениям, автономная касса опиралась на свыше тысячи человек-ревьюеров в Индии, дообрабатывавших проблемные транзакции, хотя Amazon оспаривал такую трактовку масштаба. Урок: прежде чем автоматизировать задачу зрения, оцените реальную долю ручной обработки и полную стоимость владения — полностью автономно в маркетинге это гипотеза для проверки, не факт. Смещение компьютерного зрения по группам углубляется в Лекции 7.</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разделов сворачиваются в рабочий чек-лист, который применяется к финансовой или ритейл-задаче до того, как выбрать ИИ. Какой тип ИИ диктует структура задачи: ряд чисел во времени — прогноз, норма и отклонение — поиск аномалий, табличное регулируемое решение — объяснимый ML, диалог — языковая модель, персонализация — рекомендации, зрение — компьютерное зрение. Почему не языковая модель здесь — сформулируйте минимум одну структурную причину; если не можете, вы, возможно, берёте молоток не под тот гвоздь. Можно ли решить вообще без ИИ — жёсткое верифицируемое правило решается детерминированным кодом. Обратимо ли действие на выходе модели — необратимое требует человеческого или детерминированного гейта. Как проверить факт, который выдаёт ИИ — распознать класс возможной ошибки и назвать принцип проверки. Регулируемо ли решение — кредит, цена, обязывающий факт требуют кодов причин, правовой рамки, пути апелляции. Кто отвечает и где человек обязателен — назовите точку ответственности до запуска. Есть ли персональные или финансовые данные, биометрия — если да, не в публичное облако.</a:t>
            </a:r>
          </a:p>
          <a:p/>
          <a:p>
            <a:r>
              <a:t>Задание — Семинар 5. Команды за тридцать минут сами проверяют пять реальных заявлений о ИИ в банках и ритейле России по первоисточникам Банка России и ВЦИОМ, маркируют верно, частично или ложь и объясняют тип ошибки. Граница строгая: лекция учит распознавать класс ошибки и называть принцип проверки — это уровень понимания; семинар — самостоятельно верифицировать, это уровень применения. Лекция намеренно не делает работу семинара, она готовит к ней.</a:t>
            </a:r>
          </a:p>
          <a:p/>
          <a:p>
            <a:r>
              <a:t>Эта лекция — вторая отраслевая. Единый паттерн карточки типа ИИ, матрица и чек-лист — это линза для всех последующих отраслевых лекций: в каждой отрасли вернётся тот же вопрос — вот задача, какой тип ИИ и почему именно он, где он ломается, и кто отвечает. Спасибо за внимание. Теперь — ваши вопросы.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image" Target="../media/image16.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19.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0058400" cy="877824"/>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Одна прогнозная модель закрыла целое направление крупной компании.</a:t>
            </a:r>
          </a:p>
        </p:txBody>
      </p:sp>
      <p:pic>
        <p:nvPicPr>
          <p:cNvPr id="3" name="Picture 2" descr="landmark-mid.png"/>
          <p:cNvPicPr>
            <a:picLocks noChangeAspect="1"/>
          </p:cNvPicPr>
          <p:nvPr/>
        </p:nvPicPr>
        <p:blipFill>
          <a:blip r:embed="rId2"/>
          <a:stretch>
            <a:fillRect/>
          </a:stretch>
        </p:blipFill>
        <p:spPr>
          <a:xfrm>
            <a:off x="11018520" y="384048"/>
            <a:ext cx="676656" cy="676656"/>
          </a:xfrm>
          <a:prstGeom prst="rect">
            <a:avLst/>
          </a:prstGeom>
        </p:spPr>
      </p:pic>
      <p:sp>
        <p:nvSpPr>
          <p:cNvPr id="4" name="Rounded Rectangle 3"/>
          <p:cNvSpPr/>
          <p:nvPr/>
        </p:nvSpPr>
        <p:spPr>
          <a:xfrm>
            <a:off x="502920" y="1335024"/>
            <a:ext cx="644652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99616"/>
            <a:ext cx="5897880"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Zillow Offers · iBuying · ноябрь 2021</a:t>
            </a:r>
          </a:p>
        </p:txBody>
      </p:sp>
      <p:sp>
        <p:nvSpPr>
          <p:cNvPr id="6" name="Rounded Rectangle 5"/>
          <p:cNvSpPr/>
          <p:nvPr/>
        </p:nvSpPr>
        <p:spPr>
          <a:xfrm>
            <a:off x="777240" y="1828800"/>
            <a:ext cx="5897880" cy="1627632"/>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938528"/>
            <a:ext cx="5532120" cy="932688"/>
          </a:xfrm>
          <a:prstGeom prst="rect">
            <a:avLst/>
          </a:prstGeom>
          <a:noFill/>
        </p:spPr>
        <p:txBody>
          <a:bodyPr wrap="square" lIns="0" rIns="0" tIns="0" bIns="0" anchor="ctr">
            <a:spAutoFit/>
          </a:bodyPr>
          <a:lstStyle/>
          <a:p>
            <a:pPr algn="l">
              <a:lnSpc>
                <a:spcPct val="115000"/>
              </a:lnSpc>
            </a:pPr>
            <a:r>
              <a:rPr sz="6800" b="1" i="0">
                <a:solidFill>
                  <a:srgbClr val="F0AB00"/>
                </a:solidFill>
                <a:latin typeface="Arial"/>
              </a:rPr>
              <a:t>$500M+</a:t>
            </a:r>
          </a:p>
        </p:txBody>
      </p:sp>
      <p:sp>
        <p:nvSpPr>
          <p:cNvPr id="8" name="TextBox 7"/>
          <p:cNvSpPr txBox="1"/>
          <p:nvPr/>
        </p:nvSpPr>
        <p:spPr>
          <a:xfrm>
            <a:off x="960120" y="2889504"/>
            <a:ext cx="5532120" cy="475488"/>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совокупные потери — целое направление закрыто</a:t>
            </a:r>
          </a:p>
        </p:txBody>
      </p:sp>
      <p:sp>
        <p:nvSpPr>
          <p:cNvPr id="9" name="Rounded Rectangle 8"/>
          <p:cNvSpPr/>
          <p:nvPr/>
        </p:nvSpPr>
        <p:spPr>
          <a:xfrm>
            <a:off x="777240" y="3621024"/>
            <a:ext cx="1856231" cy="859536"/>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3694176"/>
            <a:ext cx="1746503" cy="384048"/>
          </a:xfrm>
          <a:prstGeom prst="rect">
            <a:avLst/>
          </a:prstGeom>
          <a:noFill/>
        </p:spPr>
        <p:txBody>
          <a:bodyPr wrap="square" lIns="0" rIns="0" tIns="0" bIns="0" anchor="ctr">
            <a:spAutoFit/>
          </a:bodyPr>
          <a:lstStyle/>
          <a:p>
            <a:pPr algn="ctr">
              <a:lnSpc>
                <a:spcPct val="115000"/>
              </a:lnSpc>
            </a:pPr>
            <a:r>
              <a:rPr sz="2100" b="1" i="0">
                <a:solidFill>
                  <a:srgbClr val="21295C"/>
                </a:solidFill>
                <a:latin typeface="Arial"/>
              </a:rPr>
              <a:t>$300M+</a:t>
            </a:r>
          </a:p>
        </p:txBody>
      </p:sp>
      <p:sp>
        <p:nvSpPr>
          <p:cNvPr id="11" name="TextBox 10"/>
          <p:cNvSpPr txBox="1"/>
          <p:nvPr/>
        </p:nvSpPr>
        <p:spPr>
          <a:xfrm>
            <a:off x="832104" y="4078224"/>
            <a:ext cx="1746503" cy="347472"/>
          </a:xfrm>
          <a:prstGeom prst="rect">
            <a:avLst/>
          </a:prstGeom>
          <a:noFill/>
        </p:spPr>
        <p:txBody>
          <a:bodyPr wrap="square" lIns="0" rIns="0" tIns="0" bIns="0" anchor="ctr">
            <a:spAutoFit/>
          </a:bodyPr>
          <a:lstStyle/>
          <a:p>
            <a:pPr algn="ctr">
              <a:lnSpc>
                <a:spcPct val="100000"/>
              </a:lnSpc>
            </a:pPr>
            <a:r>
              <a:rPr sz="1100" b="0" i="0">
                <a:solidFill>
                  <a:srgbClr val="065A82"/>
                </a:solidFill>
                <a:latin typeface="Arial"/>
              </a:rPr>
              <a:t>списание за квартал</a:t>
            </a:r>
          </a:p>
        </p:txBody>
      </p:sp>
      <p:sp>
        <p:nvSpPr>
          <p:cNvPr id="12" name="Rounded Rectangle 11"/>
          <p:cNvSpPr/>
          <p:nvPr/>
        </p:nvSpPr>
        <p:spPr>
          <a:xfrm>
            <a:off x="2798064" y="3621024"/>
            <a:ext cx="1856231" cy="859536"/>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52928" y="3694176"/>
            <a:ext cx="1746503" cy="384048"/>
          </a:xfrm>
          <a:prstGeom prst="rect">
            <a:avLst/>
          </a:prstGeom>
          <a:noFill/>
        </p:spPr>
        <p:txBody>
          <a:bodyPr wrap="square" lIns="0" rIns="0" tIns="0" bIns="0" anchor="ctr">
            <a:spAutoFit/>
          </a:bodyPr>
          <a:lstStyle/>
          <a:p>
            <a:pPr algn="ctr">
              <a:lnSpc>
                <a:spcPct val="115000"/>
              </a:lnSpc>
            </a:pPr>
            <a:r>
              <a:rPr sz="2100" b="1" i="0">
                <a:solidFill>
                  <a:srgbClr val="21295C"/>
                </a:solidFill>
                <a:latin typeface="Arial"/>
              </a:rPr>
              <a:t>~2000</a:t>
            </a:r>
          </a:p>
        </p:txBody>
      </p:sp>
      <p:sp>
        <p:nvSpPr>
          <p:cNvPr id="14" name="TextBox 13"/>
          <p:cNvSpPr txBox="1"/>
          <p:nvPr/>
        </p:nvSpPr>
        <p:spPr>
          <a:xfrm>
            <a:off x="2852928" y="4078224"/>
            <a:ext cx="1746503" cy="347472"/>
          </a:xfrm>
          <a:prstGeom prst="rect">
            <a:avLst/>
          </a:prstGeom>
          <a:noFill/>
        </p:spPr>
        <p:txBody>
          <a:bodyPr wrap="square" lIns="0" rIns="0" tIns="0" bIns="0" anchor="ctr">
            <a:spAutoFit/>
          </a:bodyPr>
          <a:lstStyle/>
          <a:p>
            <a:pPr algn="ctr">
              <a:lnSpc>
                <a:spcPct val="100000"/>
              </a:lnSpc>
            </a:pPr>
            <a:r>
              <a:rPr sz="1100" b="0" i="0">
                <a:solidFill>
                  <a:srgbClr val="065A82"/>
                </a:solidFill>
                <a:latin typeface="Arial"/>
              </a:rPr>
              <a:t>уволено (≈25%)</a:t>
            </a:r>
          </a:p>
        </p:txBody>
      </p:sp>
      <p:sp>
        <p:nvSpPr>
          <p:cNvPr id="15" name="Rounded Rectangle 14"/>
          <p:cNvSpPr/>
          <p:nvPr/>
        </p:nvSpPr>
        <p:spPr>
          <a:xfrm>
            <a:off x="4818888" y="3621024"/>
            <a:ext cx="1856231" cy="859536"/>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73751" y="3694176"/>
            <a:ext cx="1746503" cy="384048"/>
          </a:xfrm>
          <a:prstGeom prst="rect">
            <a:avLst/>
          </a:prstGeom>
          <a:noFill/>
        </p:spPr>
        <p:txBody>
          <a:bodyPr wrap="square" lIns="0" rIns="0" tIns="0" bIns="0" anchor="ctr">
            <a:spAutoFit/>
          </a:bodyPr>
          <a:lstStyle/>
          <a:p>
            <a:pPr algn="ctr">
              <a:lnSpc>
                <a:spcPct val="115000"/>
              </a:lnSpc>
            </a:pPr>
            <a:r>
              <a:rPr sz="2100" b="1" i="0">
                <a:solidFill>
                  <a:srgbClr val="21295C"/>
                </a:solidFill>
                <a:latin typeface="Arial"/>
              </a:rPr>
              <a:t>−25%</a:t>
            </a:r>
          </a:p>
        </p:txBody>
      </p:sp>
      <p:sp>
        <p:nvSpPr>
          <p:cNvPr id="17" name="TextBox 16"/>
          <p:cNvSpPr txBox="1"/>
          <p:nvPr/>
        </p:nvSpPr>
        <p:spPr>
          <a:xfrm>
            <a:off x="4873751" y="4078224"/>
            <a:ext cx="1746503" cy="347472"/>
          </a:xfrm>
          <a:prstGeom prst="rect">
            <a:avLst/>
          </a:prstGeom>
          <a:noFill/>
        </p:spPr>
        <p:txBody>
          <a:bodyPr wrap="square" lIns="0" rIns="0" tIns="0" bIns="0" anchor="ctr">
            <a:spAutoFit/>
          </a:bodyPr>
          <a:lstStyle/>
          <a:p>
            <a:pPr algn="ctr">
              <a:lnSpc>
                <a:spcPct val="100000"/>
              </a:lnSpc>
            </a:pPr>
            <a:r>
              <a:rPr sz="1100" b="0" i="0">
                <a:solidFill>
                  <a:srgbClr val="065A82"/>
                </a:solidFill>
                <a:latin typeface="Arial"/>
              </a:rPr>
              <a:t>акция за дни</a:t>
            </a:r>
          </a:p>
        </p:txBody>
      </p:sp>
      <p:sp>
        <p:nvSpPr>
          <p:cNvPr id="18" name="TextBox 17"/>
          <p:cNvSpPr txBox="1"/>
          <p:nvPr/>
        </p:nvSpPr>
        <p:spPr>
          <a:xfrm>
            <a:off x="777240" y="4645152"/>
            <a:ext cx="5897880" cy="713232"/>
          </a:xfrm>
          <a:prstGeom prst="rect">
            <a:avLst/>
          </a:prstGeom>
          <a:noFill/>
        </p:spPr>
        <p:txBody>
          <a:bodyPr wrap="square" lIns="0" rIns="0" tIns="0" bIns="0" anchor="t">
            <a:spAutoFit/>
          </a:bodyPr>
          <a:lstStyle/>
          <a:p>
            <a:pPr algn="l">
              <a:lnSpc>
                <a:spcPct val="116000"/>
              </a:lnSpc>
            </a:pPr>
            <a:r>
              <a:rPr sz="1150" b="0" i="0">
                <a:solidFill>
                  <a:srgbClr val="5B6678"/>
                </a:solidFill>
                <a:latin typeface="Arial"/>
              </a:rPr>
              <a:t>Модель прогнозировала цену дома · Zillow авто покупала, ремонтировала, перепродавала тысячи домов · систематически переоценивала</a:t>
            </a:r>
          </a:p>
        </p:txBody>
      </p:sp>
      <p:sp>
        <p:nvSpPr>
          <p:cNvPr id="19" name="Rounded Rectangle 18"/>
          <p:cNvSpPr/>
          <p:nvPr/>
        </p:nvSpPr>
        <p:spPr>
          <a:xfrm>
            <a:off x="7132320" y="1335024"/>
            <a:ext cx="4572000" cy="2103120"/>
          </a:xfrm>
          <a:prstGeom prst="roundRect">
            <a:avLst>
              <a:gd name="adj" fmla="val 1449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help-teal.png"/>
          <p:cNvPicPr>
            <a:picLocks noChangeAspect="1"/>
          </p:cNvPicPr>
          <p:nvPr/>
        </p:nvPicPr>
        <p:blipFill>
          <a:blip r:embed="rId3"/>
          <a:stretch>
            <a:fillRect/>
          </a:stretch>
        </p:blipFill>
        <p:spPr>
          <a:xfrm>
            <a:off x="7388352" y="1554480"/>
            <a:ext cx="457200" cy="457200"/>
          </a:xfrm>
          <a:prstGeom prst="rect">
            <a:avLst/>
          </a:prstGeom>
        </p:spPr>
      </p:pic>
      <p:sp>
        <p:nvSpPr>
          <p:cNvPr id="21" name="TextBox 20"/>
          <p:cNvSpPr txBox="1"/>
          <p:nvPr/>
        </p:nvSpPr>
        <p:spPr>
          <a:xfrm>
            <a:off x="7973568" y="1591056"/>
            <a:ext cx="3566160" cy="384048"/>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Это был не ChatGPT</a:t>
            </a:r>
          </a:p>
        </p:txBody>
      </p:sp>
      <p:sp>
        <p:nvSpPr>
          <p:cNvPr id="22" name="TextBox 21"/>
          <p:cNvSpPr txBox="1"/>
          <p:nvPr/>
        </p:nvSpPr>
        <p:spPr>
          <a:xfrm>
            <a:off x="7388352" y="2157984"/>
            <a:ext cx="4059935" cy="1170432"/>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Прогнозная модель оценивала число (цену) по табличным и геоданным. LLM здесь не применялась и не могла — задача не текстовая.</a:t>
            </a:r>
          </a:p>
        </p:txBody>
      </p:sp>
      <p:sp>
        <p:nvSpPr>
          <p:cNvPr id="23" name="Rounded Rectangle 22"/>
          <p:cNvSpPr/>
          <p:nvPr/>
        </p:nvSpPr>
        <p:spPr>
          <a:xfrm>
            <a:off x="7132320" y="3584448"/>
            <a:ext cx="4572000" cy="1911095"/>
          </a:xfrm>
          <a:prstGeom prst="roundRect">
            <a:avLst>
              <a:gd name="adj" fmla="val 1594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70064" y="3730752"/>
            <a:ext cx="4096512" cy="1645920"/>
          </a:xfrm>
          <a:prstGeom prst="rect">
            <a:avLst/>
          </a:prstGeom>
          <a:noFill/>
        </p:spPr>
        <p:txBody>
          <a:bodyPr wrap="square" lIns="0" rIns="0" tIns="0" bIns="0" anchor="ctr">
            <a:spAutoFit/>
          </a:bodyPr>
          <a:lstStyle/>
          <a:p>
            <a:pPr algn="l">
              <a:lnSpc>
                <a:spcPct val="122000"/>
              </a:lnSpc>
            </a:pPr>
            <a:r>
              <a:rPr sz="1450" b="0" i="1">
                <a:solidFill>
                  <a:srgbClr val="065A82"/>
                </a:solidFill>
                <a:latin typeface="Arial"/>
              </a:rPr>
              <a:t>Какой тип ИИ это был — и почему обычная ошибка модели стала потерей бизнеса, а не мелкой неточностью?</a:t>
            </a:r>
          </a:p>
        </p:txBody>
      </p:sp>
      <p:sp>
        <p:nvSpPr>
          <p:cNvPr id="25" name="Rounded Rectangle 24"/>
          <p:cNvSpPr/>
          <p:nvPr/>
        </p:nvSpPr>
        <p:spPr>
          <a:xfrm>
            <a:off x="502920" y="5669280"/>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724144"/>
            <a:ext cx="10762488" cy="493776"/>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Ошибка прогноза нормальна. Бизнес рухнул из-за того, КУДА она подключена: к авто-, необратимому действию в масштабе тысяч домов.</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040880" y="868680"/>
            <a:ext cx="5212080" cy="475488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05</a:t>
            </a:r>
          </a:p>
        </p:txBody>
      </p:sp>
      <p:sp>
        <p:nvSpPr>
          <p:cNvPr id="3" name="TextBox 2"/>
          <p:cNvSpPr txBox="1"/>
          <p:nvPr/>
        </p:nvSpPr>
        <p:spPr>
          <a:xfrm>
            <a:off x="685800" y="132588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5</a:t>
            </a:r>
          </a:p>
        </p:txBody>
      </p:sp>
      <p:sp>
        <p:nvSpPr>
          <p:cNvPr id="4" name="Rectangle 3"/>
          <p:cNvSpPr/>
          <p:nvPr/>
        </p:nvSpPr>
        <p:spPr>
          <a:xfrm>
            <a:off x="713232" y="184708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12848"/>
            <a:ext cx="7040880" cy="2286000"/>
          </a:xfrm>
          <a:prstGeom prst="rect">
            <a:avLst/>
          </a:prstGeom>
          <a:noFill/>
        </p:spPr>
        <p:txBody>
          <a:bodyPr wrap="square" lIns="0" rIns="0" tIns="0" bIns="0" anchor="t">
            <a:spAutoFit/>
          </a:bodyPr>
          <a:lstStyle/>
          <a:p>
            <a:pPr algn="l">
              <a:lnSpc>
                <a:spcPct val="110000"/>
              </a:lnSpc>
            </a:pPr>
            <a:r>
              <a:rPr sz="4400" b="1" i="0">
                <a:solidFill>
                  <a:srgbClr val="21295C"/>
                </a:solidFill>
                <a:latin typeface="Arial"/>
              </a:rPr>
              <a:t>AI в финансовом
секторе и ритейле</a:t>
            </a:r>
          </a:p>
        </p:txBody>
      </p:sp>
      <p:sp>
        <p:nvSpPr>
          <p:cNvPr id="6" name="Rectangle 5"/>
          <p:cNvSpPr/>
          <p:nvPr/>
        </p:nvSpPr>
        <p:spPr>
          <a:xfrm>
            <a:off x="713232" y="473659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718304"/>
            <a:ext cx="6949440" cy="566928"/>
          </a:xfrm>
          <a:prstGeom prst="rect">
            <a:avLst/>
          </a:prstGeom>
          <a:noFill/>
        </p:spPr>
        <p:txBody>
          <a:bodyPr wrap="square" lIns="0" rIns="0" tIns="0" bIns="0" anchor="t">
            <a:spAutoFit/>
          </a:bodyPr>
          <a:lstStyle/>
          <a:p>
            <a:pPr algn="l">
              <a:lnSpc>
                <a:spcPct val="118000"/>
              </a:lnSpc>
            </a:pPr>
            <a:r>
              <a:rPr sz="1800" b="0" i="0">
                <a:solidFill>
                  <a:srgbClr val="065A82"/>
                </a:solidFill>
                <a:latin typeface="Arial"/>
              </a:rPr>
              <a:t>Под какую задачу — какой тип ИИ,
почему именно он, и где он ломается</a:t>
            </a:r>
          </a:p>
        </p:txBody>
      </p:sp>
      <p:sp>
        <p:nvSpPr>
          <p:cNvPr id="8" name="Rounded Rectangle 7"/>
          <p:cNvSpPr/>
          <p:nvPr/>
        </p:nvSpPr>
        <p:spPr>
          <a:xfrm>
            <a:off x="502920" y="5943600"/>
            <a:ext cx="1506147" cy="54864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6007608"/>
            <a:ext cx="1432995" cy="201168"/>
          </a:xfrm>
          <a:prstGeom prst="rect">
            <a:avLst/>
          </a:prstGeom>
          <a:noFill/>
        </p:spPr>
        <p:txBody>
          <a:bodyPr wrap="square" lIns="0" rIns="0" tIns="0" bIns="0" anchor="t">
            <a:spAutoFit/>
          </a:bodyPr>
          <a:lstStyle/>
          <a:p>
            <a:pPr algn="ctr">
              <a:lnSpc>
                <a:spcPct val="115000"/>
              </a:lnSpc>
            </a:pPr>
            <a:r>
              <a:rPr sz="1000" b="1" i="0">
                <a:solidFill>
                  <a:srgbClr val="21295C"/>
                </a:solidFill>
                <a:latin typeface="Arial"/>
              </a:rPr>
              <a:t>Раздел 0</a:t>
            </a:r>
          </a:p>
        </p:txBody>
      </p:sp>
      <p:sp>
        <p:nvSpPr>
          <p:cNvPr id="10" name="TextBox 9"/>
          <p:cNvSpPr txBox="1"/>
          <p:nvPr/>
        </p:nvSpPr>
        <p:spPr>
          <a:xfrm>
            <a:off x="539496" y="6217920"/>
            <a:ext cx="1432995" cy="237744"/>
          </a:xfrm>
          <a:prstGeom prst="rect">
            <a:avLst/>
          </a:prstGeom>
          <a:noFill/>
        </p:spPr>
        <p:txBody>
          <a:bodyPr wrap="square" lIns="0" rIns="0" tIns="0" bIns="0" anchor="t">
            <a:spAutoFit/>
          </a:bodyPr>
          <a:lstStyle/>
          <a:p>
            <a:pPr algn="ctr">
              <a:lnSpc>
                <a:spcPct val="95000"/>
              </a:lnSpc>
            </a:pPr>
            <a:r>
              <a:rPr sz="1050" b="1" i="0">
                <a:solidFill>
                  <a:srgbClr val="21295C"/>
                </a:solidFill>
                <a:latin typeface="Arial"/>
              </a:rPr>
              <a:t>Открытие</a:t>
            </a:r>
          </a:p>
        </p:txBody>
      </p:sp>
      <p:sp>
        <p:nvSpPr>
          <p:cNvPr id="11" name="Rounded Rectangle 10"/>
          <p:cNvSpPr/>
          <p:nvPr/>
        </p:nvSpPr>
        <p:spPr>
          <a:xfrm>
            <a:off x="2118795"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55371"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1</a:t>
            </a:r>
          </a:p>
        </p:txBody>
      </p:sp>
      <p:sp>
        <p:nvSpPr>
          <p:cNvPr id="13" name="TextBox 12"/>
          <p:cNvSpPr txBox="1"/>
          <p:nvPr/>
        </p:nvSpPr>
        <p:spPr>
          <a:xfrm>
            <a:off x="2155371"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Прогноз</a:t>
            </a:r>
          </a:p>
        </p:txBody>
      </p:sp>
      <p:sp>
        <p:nvSpPr>
          <p:cNvPr id="14" name="Rounded Rectangle 13"/>
          <p:cNvSpPr/>
          <p:nvPr/>
        </p:nvSpPr>
        <p:spPr>
          <a:xfrm>
            <a:off x="373467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7124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2</a:t>
            </a:r>
          </a:p>
        </p:txBody>
      </p:sp>
      <p:sp>
        <p:nvSpPr>
          <p:cNvPr id="16" name="TextBox 15"/>
          <p:cNvSpPr txBox="1"/>
          <p:nvPr/>
        </p:nvSpPr>
        <p:spPr>
          <a:xfrm>
            <a:off x="377124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Аномалии</a:t>
            </a:r>
          </a:p>
        </p:txBody>
      </p:sp>
      <p:sp>
        <p:nvSpPr>
          <p:cNvPr id="17" name="Rounded Rectangle 16"/>
          <p:cNvSpPr/>
          <p:nvPr/>
        </p:nvSpPr>
        <p:spPr>
          <a:xfrm>
            <a:off x="5350546"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87122"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3</a:t>
            </a:r>
          </a:p>
        </p:txBody>
      </p:sp>
      <p:sp>
        <p:nvSpPr>
          <p:cNvPr id="19" name="TextBox 18"/>
          <p:cNvSpPr txBox="1"/>
          <p:nvPr/>
        </p:nvSpPr>
        <p:spPr>
          <a:xfrm>
            <a:off x="5387122"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Скоринг</a:t>
            </a:r>
          </a:p>
        </p:txBody>
      </p:sp>
      <p:sp>
        <p:nvSpPr>
          <p:cNvPr id="20" name="Rounded Rectangle 19"/>
          <p:cNvSpPr/>
          <p:nvPr/>
        </p:nvSpPr>
        <p:spPr>
          <a:xfrm>
            <a:off x="6966421"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02997"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4</a:t>
            </a:r>
          </a:p>
        </p:txBody>
      </p:sp>
      <p:sp>
        <p:nvSpPr>
          <p:cNvPr id="22" name="TextBox 21"/>
          <p:cNvSpPr txBox="1"/>
          <p:nvPr/>
        </p:nvSpPr>
        <p:spPr>
          <a:xfrm>
            <a:off x="7002997"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LLM</a:t>
            </a:r>
          </a:p>
        </p:txBody>
      </p:sp>
      <p:sp>
        <p:nvSpPr>
          <p:cNvPr id="23" name="Rounded Rectangle 22"/>
          <p:cNvSpPr/>
          <p:nvPr/>
        </p:nvSpPr>
        <p:spPr>
          <a:xfrm>
            <a:off x="8582297"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18873"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5</a:t>
            </a:r>
          </a:p>
        </p:txBody>
      </p:sp>
      <p:sp>
        <p:nvSpPr>
          <p:cNvPr id="25" name="TextBox 24"/>
          <p:cNvSpPr txBox="1"/>
          <p:nvPr/>
        </p:nvSpPr>
        <p:spPr>
          <a:xfrm>
            <a:off x="8618873"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Рекоменд.</a:t>
            </a:r>
          </a:p>
        </p:txBody>
      </p:sp>
      <p:sp>
        <p:nvSpPr>
          <p:cNvPr id="26" name="Rounded Rectangle 25"/>
          <p:cNvSpPr/>
          <p:nvPr/>
        </p:nvSpPr>
        <p:spPr>
          <a:xfrm>
            <a:off x="10198172"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34748"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6</a:t>
            </a:r>
          </a:p>
        </p:txBody>
      </p:sp>
      <p:sp>
        <p:nvSpPr>
          <p:cNvPr id="28" name="TextBox 27"/>
          <p:cNvSpPr txBox="1"/>
          <p:nvPr/>
        </p:nvSpPr>
        <p:spPr>
          <a:xfrm>
            <a:off x="10234748"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Фреймворк</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201400" cy="512064"/>
          </a:xfrm>
          <a:prstGeom prst="rect">
            <a:avLst/>
          </a:prstGeom>
          <a:noFill/>
        </p:spPr>
        <p:txBody>
          <a:bodyPr wrap="square" lIns="0" rIns="0" tIns="0" bIns="0" anchor="t">
            <a:spAutoFit/>
          </a:bodyPr>
          <a:lstStyle/>
          <a:p>
            <a:pPr algn="l">
              <a:lnSpc>
                <a:spcPct val="110000"/>
              </a:lnSpc>
            </a:pPr>
            <a:r>
              <a:rPr sz="2400" b="1" i="0">
                <a:solidFill>
                  <a:srgbClr val="21295C"/>
                </a:solidFill>
                <a:latin typeface="Arial"/>
              </a:rPr>
              <a:t>Один тип ИИ вглубь (Л4) → палитра типов под палитру задач (Л5).</a:t>
            </a:r>
          </a:p>
        </p:txBody>
      </p:sp>
      <p:sp>
        <p:nvSpPr>
          <p:cNvPr id="3" name="Rounded Rectangle 2"/>
          <p:cNvSpPr/>
          <p:nvPr/>
        </p:nvSpPr>
        <p:spPr>
          <a:xfrm>
            <a:off x="502920" y="896112"/>
            <a:ext cx="1120140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42415"/>
            <a:ext cx="5074920" cy="365760"/>
          </a:xfrm>
          <a:prstGeom prst="rect">
            <a:avLst/>
          </a:prstGeom>
          <a:noFill/>
        </p:spPr>
        <p:txBody>
          <a:bodyPr wrap="square" lIns="0" rIns="0" tIns="0" bIns="0" anchor="ctr">
            <a:spAutoFit/>
          </a:bodyPr>
          <a:lstStyle/>
          <a:p>
            <a:pPr algn="l">
              <a:lnSpc>
                <a:spcPct val="100000"/>
              </a:lnSpc>
            </a:pPr>
            <a:r>
              <a:rPr sz="1150" b="0" i="0">
                <a:solidFill>
                  <a:srgbClr val="5B6678"/>
                </a:solidFill>
                <a:latin typeface="Arial"/>
              </a:rPr>
              <a:t>Л2: дерево «какой ИИ» — ML / глубокое / LLM</a:t>
            </a:r>
          </a:p>
        </p:txBody>
      </p:sp>
      <p:sp>
        <p:nvSpPr>
          <p:cNvPr id="5" name="TextBox 4"/>
          <p:cNvSpPr txBox="1"/>
          <p:nvPr/>
        </p:nvSpPr>
        <p:spPr>
          <a:xfrm>
            <a:off x="5861304" y="1097280"/>
            <a:ext cx="310896" cy="274320"/>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a:t>
            </a:r>
          </a:p>
        </p:txBody>
      </p:sp>
      <p:sp>
        <p:nvSpPr>
          <p:cNvPr id="6" name="TextBox 5"/>
          <p:cNvSpPr txBox="1"/>
          <p:nvPr/>
        </p:nvSpPr>
        <p:spPr>
          <a:xfrm>
            <a:off x="6227064" y="1042415"/>
            <a:ext cx="5239512" cy="365760"/>
          </a:xfrm>
          <a:prstGeom prst="rect">
            <a:avLst/>
          </a:prstGeom>
          <a:noFill/>
        </p:spPr>
        <p:txBody>
          <a:bodyPr wrap="square" lIns="0" rIns="0" tIns="0" bIns="0" anchor="ctr">
            <a:spAutoFit/>
          </a:bodyPr>
          <a:lstStyle/>
          <a:p>
            <a:pPr algn="l">
              <a:lnSpc>
                <a:spcPct val="100000"/>
              </a:lnSpc>
            </a:pPr>
            <a:r>
              <a:rPr sz="1150" b="1" i="0">
                <a:solidFill>
                  <a:srgbClr val="21295C"/>
                </a:solidFill>
                <a:latin typeface="Arial"/>
              </a:rPr>
              <a:t>Л5: пять структурно разных типов под разные задачи</a:t>
            </a:r>
          </a:p>
        </p:txBody>
      </p:sp>
      <p:sp>
        <p:nvSpPr>
          <p:cNvPr id="7" name="TextBox 6"/>
          <p:cNvSpPr txBox="1"/>
          <p:nvPr/>
        </p:nvSpPr>
        <p:spPr>
          <a:xfrm>
            <a:off x="740664" y="1444751"/>
            <a:ext cx="5074920" cy="365760"/>
          </a:xfrm>
          <a:prstGeom prst="rect">
            <a:avLst/>
          </a:prstGeom>
          <a:noFill/>
        </p:spPr>
        <p:txBody>
          <a:bodyPr wrap="square" lIns="0" rIns="0" tIns="0" bIns="0" anchor="ctr">
            <a:spAutoFit/>
          </a:bodyPr>
          <a:lstStyle/>
          <a:p>
            <a:pPr algn="l">
              <a:lnSpc>
                <a:spcPct val="100000"/>
              </a:lnSpc>
            </a:pPr>
            <a:r>
              <a:rPr sz="1150" b="0" i="0">
                <a:solidFill>
                  <a:srgbClr val="5B6678"/>
                </a:solidFill>
                <a:latin typeface="Arial"/>
              </a:rPr>
              <a:t>Л4: один тип (LLM-кодер) в глубину по автономности</a:t>
            </a:r>
          </a:p>
        </p:txBody>
      </p:sp>
      <p:sp>
        <p:nvSpPr>
          <p:cNvPr id="8" name="TextBox 7"/>
          <p:cNvSpPr txBox="1"/>
          <p:nvPr/>
        </p:nvSpPr>
        <p:spPr>
          <a:xfrm>
            <a:off x="5861304" y="1499616"/>
            <a:ext cx="310896" cy="274320"/>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a:t>
            </a:r>
          </a:p>
        </p:txBody>
      </p:sp>
      <p:sp>
        <p:nvSpPr>
          <p:cNvPr id="9" name="TextBox 8"/>
          <p:cNvSpPr txBox="1"/>
          <p:nvPr/>
        </p:nvSpPr>
        <p:spPr>
          <a:xfrm>
            <a:off x="6227064" y="1444751"/>
            <a:ext cx="5239512" cy="365760"/>
          </a:xfrm>
          <a:prstGeom prst="rect">
            <a:avLst/>
          </a:prstGeom>
          <a:noFill/>
        </p:spPr>
        <p:txBody>
          <a:bodyPr wrap="square" lIns="0" rIns="0" tIns="0" bIns="0" anchor="ctr">
            <a:spAutoFit/>
          </a:bodyPr>
          <a:lstStyle/>
          <a:p>
            <a:pPr algn="l">
              <a:lnSpc>
                <a:spcPct val="100000"/>
              </a:lnSpc>
            </a:pPr>
            <a:r>
              <a:rPr sz="1150" b="1" i="0">
                <a:solidFill>
                  <a:srgbClr val="21295C"/>
                </a:solidFill>
                <a:latin typeface="Arial"/>
              </a:rPr>
              <a:t>Л5: палитра типов под палитру задач одной индустрии</a:t>
            </a:r>
          </a:p>
        </p:txBody>
      </p:sp>
      <p:sp>
        <p:nvSpPr>
          <p:cNvPr id="10" name="TextBox 9"/>
          <p:cNvSpPr txBox="1"/>
          <p:nvPr/>
        </p:nvSpPr>
        <p:spPr>
          <a:xfrm>
            <a:off x="502920" y="2139696"/>
            <a:ext cx="112014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Карта пяти типов ИИ под пять разных задач (+ сквозной CV-пласт):</a:t>
            </a:r>
          </a:p>
        </p:txBody>
      </p:sp>
      <p:sp>
        <p:nvSpPr>
          <p:cNvPr id="11" name="Rounded Rectangle 10"/>
          <p:cNvSpPr/>
          <p:nvPr/>
        </p:nvSpPr>
        <p:spPr>
          <a:xfrm>
            <a:off x="502920" y="2542032"/>
            <a:ext cx="2079345" cy="1883664"/>
          </a:xfrm>
          <a:prstGeom prst="roundRect">
            <a:avLst>
              <a:gd name="adj" fmla="val 161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rending-up-mid.png"/>
          <p:cNvPicPr>
            <a:picLocks noChangeAspect="1"/>
          </p:cNvPicPr>
          <p:nvPr/>
        </p:nvPicPr>
        <p:blipFill>
          <a:blip r:embed="rId2"/>
          <a:stretch>
            <a:fillRect/>
          </a:stretch>
        </p:blipFill>
        <p:spPr>
          <a:xfrm>
            <a:off x="1213408" y="2816351"/>
            <a:ext cx="658368" cy="658368"/>
          </a:xfrm>
          <a:prstGeom prst="rect">
            <a:avLst/>
          </a:prstGeom>
        </p:spPr>
      </p:pic>
      <p:sp>
        <p:nvSpPr>
          <p:cNvPr id="13" name="TextBox 12"/>
          <p:cNvSpPr txBox="1"/>
          <p:nvPr/>
        </p:nvSpPr>
        <p:spPr>
          <a:xfrm>
            <a:off x="539496" y="3621024"/>
            <a:ext cx="2006193" cy="329184"/>
          </a:xfrm>
          <a:prstGeom prst="rect">
            <a:avLst/>
          </a:prstGeom>
          <a:noFill/>
        </p:spPr>
        <p:txBody>
          <a:bodyPr wrap="square" lIns="0" rIns="0" tIns="0" bIns="0" anchor="ctr">
            <a:spAutoFit/>
          </a:bodyPr>
          <a:lstStyle/>
          <a:p>
            <a:pPr algn="ctr">
              <a:lnSpc>
                <a:spcPct val="100000"/>
              </a:lnSpc>
            </a:pPr>
            <a:r>
              <a:rPr sz="1400" b="1" i="0">
                <a:solidFill>
                  <a:srgbClr val="21295C"/>
                </a:solidFill>
                <a:latin typeface="Arial"/>
              </a:rPr>
              <a:t>Прогноз</a:t>
            </a:r>
          </a:p>
        </p:txBody>
      </p:sp>
      <p:sp>
        <p:nvSpPr>
          <p:cNvPr id="14" name="TextBox 13"/>
          <p:cNvSpPr txBox="1"/>
          <p:nvPr/>
        </p:nvSpPr>
        <p:spPr>
          <a:xfrm>
            <a:off x="539496" y="3950208"/>
            <a:ext cx="2006193" cy="329184"/>
          </a:xfrm>
          <a:prstGeom prst="rect">
            <a:avLst/>
          </a:prstGeom>
          <a:noFill/>
        </p:spPr>
        <p:txBody>
          <a:bodyPr wrap="square" lIns="0" rIns="0" tIns="0" bIns="0" anchor="ctr">
            <a:spAutoFit/>
          </a:bodyPr>
          <a:lstStyle/>
          <a:p>
            <a:pPr algn="ctr">
              <a:lnSpc>
                <a:spcPct val="100000"/>
              </a:lnSpc>
            </a:pPr>
            <a:r>
              <a:rPr sz="1400" b="1" i="0">
                <a:solidFill>
                  <a:srgbClr val="21295C"/>
                </a:solidFill>
                <a:latin typeface="Arial"/>
              </a:rPr>
              <a:t>рядов</a:t>
            </a:r>
          </a:p>
        </p:txBody>
      </p:sp>
      <p:sp>
        <p:nvSpPr>
          <p:cNvPr id="15" name="Rounded Rectangle 14"/>
          <p:cNvSpPr/>
          <p:nvPr/>
        </p:nvSpPr>
        <p:spPr>
          <a:xfrm>
            <a:off x="2783433" y="2542032"/>
            <a:ext cx="2079345" cy="1883664"/>
          </a:xfrm>
          <a:prstGeom prst="roundRect">
            <a:avLst>
              <a:gd name="adj" fmla="val 161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adar-mid.png"/>
          <p:cNvPicPr>
            <a:picLocks noChangeAspect="1"/>
          </p:cNvPicPr>
          <p:nvPr/>
        </p:nvPicPr>
        <p:blipFill>
          <a:blip r:embed="rId3"/>
          <a:stretch>
            <a:fillRect/>
          </a:stretch>
        </p:blipFill>
        <p:spPr>
          <a:xfrm>
            <a:off x="3493922" y="2816351"/>
            <a:ext cx="658368" cy="658368"/>
          </a:xfrm>
          <a:prstGeom prst="rect">
            <a:avLst/>
          </a:prstGeom>
        </p:spPr>
      </p:pic>
      <p:sp>
        <p:nvSpPr>
          <p:cNvPr id="17" name="TextBox 16"/>
          <p:cNvSpPr txBox="1"/>
          <p:nvPr/>
        </p:nvSpPr>
        <p:spPr>
          <a:xfrm>
            <a:off x="2820009" y="3621024"/>
            <a:ext cx="2006193" cy="329184"/>
          </a:xfrm>
          <a:prstGeom prst="rect">
            <a:avLst/>
          </a:prstGeom>
          <a:noFill/>
        </p:spPr>
        <p:txBody>
          <a:bodyPr wrap="square" lIns="0" rIns="0" tIns="0" bIns="0" anchor="ctr">
            <a:spAutoFit/>
          </a:bodyPr>
          <a:lstStyle/>
          <a:p>
            <a:pPr algn="ctr">
              <a:lnSpc>
                <a:spcPct val="100000"/>
              </a:lnSpc>
            </a:pPr>
            <a:r>
              <a:rPr sz="1400" b="1" i="0">
                <a:solidFill>
                  <a:srgbClr val="21295C"/>
                </a:solidFill>
                <a:latin typeface="Arial"/>
              </a:rPr>
              <a:t>Поиск</a:t>
            </a:r>
          </a:p>
        </p:txBody>
      </p:sp>
      <p:sp>
        <p:nvSpPr>
          <p:cNvPr id="18" name="TextBox 17"/>
          <p:cNvSpPr txBox="1"/>
          <p:nvPr/>
        </p:nvSpPr>
        <p:spPr>
          <a:xfrm>
            <a:off x="2820009" y="3950208"/>
            <a:ext cx="2006193" cy="329184"/>
          </a:xfrm>
          <a:prstGeom prst="rect">
            <a:avLst/>
          </a:prstGeom>
          <a:noFill/>
        </p:spPr>
        <p:txBody>
          <a:bodyPr wrap="square" lIns="0" rIns="0" tIns="0" bIns="0" anchor="ctr">
            <a:spAutoFit/>
          </a:bodyPr>
          <a:lstStyle/>
          <a:p>
            <a:pPr algn="ctr">
              <a:lnSpc>
                <a:spcPct val="100000"/>
              </a:lnSpc>
            </a:pPr>
            <a:r>
              <a:rPr sz="1400" b="1" i="0">
                <a:solidFill>
                  <a:srgbClr val="21295C"/>
                </a:solidFill>
                <a:latin typeface="Arial"/>
              </a:rPr>
              <a:t>аномалий</a:t>
            </a:r>
          </a:p>
        </p:txBody>
      </p:sp>
      <p:sp>
        <p:nvSpPr>
          <p:cNvPr id="19" name="Rounded Rectangle 18"/>
          <p:cNvSpPr/>
          <p:nvPr/>
        </p:nvSpPr>
        <p:spPr>
          <a:xfrm>
            <a:off x="5063947" y="2542032"/>
            <a:ext cx="2079345" cy="1883664"/>
          </a:xfrm>
          <a:prstGeom prst="roundRect">
            <a:avLst>
              <a:gd name="adj" fmla="val 161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ale-mid.png"/>
          <p:cNvPicPr>
            <a:picLocks noChangeAspect="1"/>
          </p:cNvPicPr>
          <p:nvPr/>
        </p:nvPicPr>
        <p:blipFill>
          <a:blip r:embed="rId4"/>
          <a:stretch>
            <a:fillRect/>
          </a:stretch>
        </p:blipFill>
        <p:spPr>
          <a:xfrm>
            <a:off x="5774436" y="2816351"/>
            <a:ext cx="658368" cy="658368"/>
          </a:xfrm>
          <a:prstGeom prst="rect">
            <a:avLst/>
          </a:prstGeom>
        </p:spPr>
      </p:pic>
      <p:sp>
        <p:nvSpPr>
          <p:cNvPr id="21" name="TextBox 20"/>
          <p:cNvSpPr txBox="1"/>
          <p:nvPr/>
        </p:nvSpPr>
        <p:spPr>
          <a:xfrm>
            <a:off x="5100523" y="3621024"/>
            <a:ext cx="2006193" cy="329184"/>
          </a:xfrm>
          <a:prstGeom prst="rect">
            <a:avLst/>
          </a:prstGeom>
          <a:noFill/>
        </p:spPr>
        <p:txBody>
          <a:bodyPr wrap="square" lIns="0" rIns="0" tIns="0" bIns="0" anchor="ctr">
            <a:spAutoFit/>
          </a:bodyPr>
          <a:lstStyle/>
          <a:p>
            <a:pPr algn="ctr">
              <a:lnSpc>
                <a:spcPct val="100000"/>
              </a:lnSpc>
            </a:pPr>
            <a:r>
              <a:rPr sz="1400" b="1" i="0">
                <a:solidFill>
                  <a:srgbClr val="21295C"/>
                </a:solidFill>
                <a:latin typeface="Arial"/>
              </a:rPr>
              <a:t>ML-</a:t>
            </a:r>
          </a:p>
        </p:txBody>
      </p:sp>
      <p:sp>
        <p:nvSpPr>
          <p:cNvPr id="22" name="TextBox 21"/>
          <p:cNvSpPr txBox="1"/>
          <p:nvPr/>
        </p:nvSpPr>
        <p:spPr>
          <a:xfrm>
            <a:off x="5100523" y="3950208"/>
            <a:ext cx="2006193" cy="329184"/>
          </a:xfrm>
          <a:prstGeom prst="rect">
            <a:avLst/>
          </a:prstGeom>
          <a:noFill/>
        </p:spPr>
        <p:txBody>
          <a:bodyPr wrap="square" lIns="0" rIns="0" tIns="0" bIns="0" anchor="ctr">
            <a:spAutoFit/>
          </a:bodyPr>
          <a:lstStyle/>
          <a:p>
            <a:pPr algn="ctr">
              <a:lnSpc>
                <a:spcPct val="100000"/>
              </a:lnSpc>
            </a:pPr>
            <a:r>
              <a:rPr sz="1400" b="1" i="0">
                <a:solidFill>
                  <a:srgbClr val="21295C"/>
                </a:solidFill>
                <a:latin typeface="Arial"/>
              </a:rPr>
              <a:t>скоринг</a:t>
            </a:r>
          </a:p>
        </p:txBody>
      </p:sp>
      <p:sp>
        <p:nvSpPr>
          <p:cNvPr id="23" name="Rounded Rectangle 22"/>
          <p:cNvSpPr/>
          <p:nvPr/>
        </p:nvSpPr>
        <p:spPr>
          <a:xfrm>
            <a:off x="7344460" y="2542032"/>
            <a:ext cx="2079345" cy="1883664"/>
          </a:xfrm>
          <a:prstGeom prst="roundRect">
            <a:avLst>
              <a:gd name="adj" fmla="val 161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message-circle-mid.png"/>
          <p:cNvPicPr>
            <a:picLocks noChangeAspect="1"/>
          </p:cNvPicPr>
          <p:nvPr/>
        </p:nvPicPr>
        <p:blipFill>
          <a:blip r:embed="rId5"/>
          <a:stretch>
            <a:fillRect/>
          </a:stretch>
        </p:blipFill>
        <p:spPr>
          <a:xfrm>
            <a:off x="8054949" y="2816351"/>
            <a:ext cx="658368" cy="658368"/>
          </a:xfrm>
          <a:prstGeom prst="rect">
            <a:avLst/>
          </a:prstGeom>
        </p:spPr>
      </p:pic>
      <p:sp>
        <p:nvSpPr>
          <p:cNvPr id="25" name="TextBox 24"/>
          <p:cNvSpPr txBox="1"/>
          <p:nvPr/>
        </p:nvSpPr>
        <p:spPr>
          <a:xfrm>
            <a:off x="7381036" y="3621024"/>
            <a:ext cx="2006193" cy="329184"/>
          </a:xfrm>
          <a:prstGeom prst="rect">
            <a:avLst/>
          </a:prstGeom>
          <a:noFill/>
        </p:spPr>
        <p:txBody>
          <a:bodyPr wrap="square" lIns="0" rIns="0" tIns="0" bIns="0" anchor="ctr">
            <a:spAutoFit/>
          </a:bodyPr>
          <a:lstStyle/>
          <a:p>
            <a:pPr algn="ctr">
              <a:lnSpc>
                <a:spcPct val="100000"/>
              </a:lnSpc>
            </a:pPr>
            <a:r>
              <a:rPr sz="1400" b="1" i="0">
                <a:solidFill>
                  <a:srgbClr val="21295C"/>
                </a:solidFill>
                <a:latin typeface="Arial"/>
              </a:rPr>
              <a:t>LLM-</a:t>
            </a:r>
          </a:p>
        </p:txBody>
      </p:sp>
      <p:sp>
        <p:nvSpPr>
          <p:cNvPr id="26" name="TextBox 25"/>
          <p:cNvSpPr txBox="1"/>
          <p:nvPr/>
        </p:nvSpPr>
        <p:spPr>
          <a:xfrm>
            <a:off x="7381036" y="3950208"/>
            <a:ext cx="2006193" cy="329184"/>
          </a:xfrm>
          <a:prstGeom prst="rect">
            <a:avLst/>
          </a:prstGeom>
          <a:noFill/>
        </p:spPr>
        <p:txBody>
          <a:bodyPr wrap="square" lIns="0" rIns="0" tIns="0" bIns="0" anchor="ctr">
            <a:spAutoFit/>
          </a:bodyPr>
          <a:lstStyle/>
          <a:p>
            <a:pPr algn="ctr">
              <a:lnSpc>
                <a:spcPct val="100000"/>
              </a:lnSpc>
            </a:pPr>
            <a:r>
              <a:rPr sz="1400" b="1" i="0">
                <a:solidFill>
                  <a:srgbClr val="21295C"/>
                </a:solidFill>
                <a:latin typeface="Arial"/>
              </a:rPr>
              <a:t>ассистенты</a:t>
            </a:r>
          </a:p>
        </p:txBody>
      </p:sp>
      <p:sp>
        <p:nvSpPr>
          <p:cNvPr id="27" name="Rounded Rectangle 26"/>
          <p:cNvSpPr/>
          <p:nvPr/>
        </p:nvSpPr>
        <p:spPr>
          <a:xfrm>
            <a:off x="9624974" y="2542032"/>
            <a:ext cx="2079345" cy="1883664"/>
          </a:xfrm>
          <a:prstGeom prst="roundRect">
            <a:avLst>
              <a:gd name="adj" fmla="val 161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hopping-cart-mid.png"/>
          <p:cNvPicPr>
            <a:picLocks noChangeAspect="1"/>
          </p:cNvPicPr>
          <p:nvPr/>
        </p:nvPicPr>
        <p:blipFill>
          <a:blip r:embed="rId6"/>
          <a:stretch>
            <a:fillRect/>
          </a:stretch>
        </p:blipFill>
        <p:spPr>
          <a:xfrm>
            <a:off x="10335463" y="2816351"/>
            <a:ext cx="658368" cy="658368"/>
          </a:xfrm>
          <a:prstGeom prst="rect">
            <a:avLst/>
          </a:prstGeom>
        </p:spPr>
      </p:pic>
      <p:sp>
        <p:nvSpPr>
          <p:cNvPr id="29" name="TextBox 28"/>
          <p:cNvSpPr txBox="1"/>
          <p:nvPr/>
        </p:nvSpPr>
        <p:spPr>
          <a:xfrm>
            <a:off x="9661550" y="3621024"/>
            <a:ext cx="2006193" cy="329184"/>
          </a:xfrm>
          <a:prstGeom prst="rect">
            <a:avLst/>
          </a:prstGeom>
          <a:noFill/>
        </p:spPr>
        <p:txBody>
          <a:bodyPr wrap="square" lIns="0" rIns="0" tIns="0" bIns="0" anchor="ctr">
            <a:spAutoFit/>
          </a:bodyPr>
          <a:lstStyle/>
          <a:p>
            <a:pPr algn="ctr">
              <a:lnSpc>
                <a:spcPct val="100000"/>
              </a:lnSpc>
            </a:pPr>
            <a:r>
              <a:rPr sz="1400" b="1" i="0">
                <a:solidFill>
                  <a:srgbClr val="21295C"/>
                </a:solidFill>
                <a:latin typeface="Arial"/>
              </a:rPr>
              <a:t>Рекомендации</a:t>
            </a:r>
          </a:p>
        </p:txBody>
      </p:sp>
      <p:sp>
        <p:nvSpPr>
          <p:cNvPr id="30" name="TextBox 29"/>
          <p:cNvSpPr txBox="1"/>
          <p:nvPr/>
        </p:nvSpPr>
        <p:spPr>
          <a:xfrm>
            <a:off x="9661550" y="3950208"/>
            <a:ext cx="2006193" cy="329184"/>
          </a:xfrm>
          <a:prstGeom prst="rect">
            <a:avLst/>
          </a:prstGeom>
          <a:noFill/>
        </p:spPr>
        <p:txBody>
          <a:bodyPr wrap="square" lIns="0" rIns="0" tIns="0" bIns="0" anchor="ctr">
            <a:spAutoFit/>
          </a:bodyPr>
          <a:lstStyle/>
          <a:p>
            <a:pPr algn="ctr">
              <a:lnSpc>
                <a:spcPct val="100000"/>
              </a:lnSpc>
            </a:pPr>
            <a:r>
              <a:rPr sz="1400" b="1" i="0">
                <a:solidFill>
                  <a:srgbClr val="21295C"/>
                </a:solidFill>
                <a:latin typeface="Arial"/>
              </a:rPr>
              <a:t>и цены</a:t>
            </a:r>
          </a:p>
        </p:txBody>
      </p:sp>
      <p:sp>
        <p:nvSpPr>
          <p:cNvPr id="31" name="Rounded Rectangle 30"/>
          <p:cNvSpPr/>
          <p:nvPr/>
        </p:nvSpPr>
        <p:spPr>
          <a:xfrm>
            <a:off x="502920" y="4663440"/>
            <a:ext cx="11201400" cy="15179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4718303"/>
            <a:ext cx="10762488" cy="1408176"/>
          </a:xfrm>
          <a:prstGeom prst="rect">
            <a:avLst/>
          </a:prstGeom>
          <a:noFill/>
        </p:spPr>
        <p:txBody>
          <a:bodyPr wrap="square" lIns="0" rIns="0" tIns="0" bIns="0" anchor="ctr">
            <a:spAutoFit/>
          </a:bodyPr>
          <a:lstStyle/>
          <a:p>
            <a:pPr algn="l">
              <a:lnSpc>
                <a:spcPct val="120000"/>
              </a:lnSpc>
            </a:pPr>
            <a:r>
              <a:rPr sz="1600" b="1" i="0">
                <a:solidFill>
                  <a:srgbClr val="21295C"/>
                </a:solidFill>
                <a:latin typeface="Arial"/>
              </a:rPr>
              <a:t>Большую часть ценности здесь даёт НЕ языковая модель. LLM — не универсальный молоток: разная задача требует разного типа ИИ. Это и есть «палитра типов под палитру задач».</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686800" cy="530352"/>
          </a:xfrm>
          <a:prstGeom prst="rect">
            <a:avLst/>
          </a:prstGeom>
          <a:noFill/>
        </p:spPr>
        <p:txBody>
          <a:bodyPr wrap="square" lIns="0" rIns="0" tIns="0" bIns="0" anchor="t">
            <a:spAutoFit/>
          </a:bodyPr>
          <a:lstStyle/>
          <a:p>
            <a:pPr algn="l">
              <a:lnSpc>
                <a:spcPct val="110000"/>
              </a:lnSpc>
            </a:pPr>
            <a:r>
              <a:rPr sz="2700" b="1" i="0">
                <a:solidFill>
                  <a:srgbClr val="21295C"/>
                </a:solidFill>
                <a:latin typeface="Arial"/>
              </a:rPr>
              <a:t>Центральный вопрос лекции.</a:t>
            </a:r>
          </a:p>
        </p:txBody>
      </p:sp>
      <p:pic>
        <p:nvPicPr>
          <p:cNvPr id="3" name="Picture 2" descr="target-gold.png"/>
          <p:cNvPicPr>
            <a:picLocks noChangeAspect="1"/>
          </p:cNvPicPr>
          <p:nvPr/>
        </p:nvPicPr>
        <p:blipFill>
          <a:blip r:embed="rId2"/>
          <a:stretch>
            <a:fillRect/>
          </a:stretch>
        </p:blipFill>
        <p:spPr>
          <a:xfrm>
            <a:off x="11018520" y="329184"/>
            <a:ext cx="713232" cy="713232"/>
          </a:xfrm>
          <a:prstGeom prst="rect">
            <a:avLst/>
          </a:prstGeom>
        </p:spPr>
      </p:pic>
      <p:sp>
        <p:nvSpPr>
          <p:cNvPr id="4" name="Rounded Rectangle 3"/>
          <p:cNvSpPr/>
          <p:nvPr/>
        </p:nvSpPr>
        <p:spPr>
          <a:xfrm>
            <a:off x="502920" y="1078992"/>
            <a:ext cx="11201400" cy="1481328"/>
          </a:xfrm>
          <a:prstGeom prst="roundRect">
            <a:avLst>
              <a:gd name="adj" fmla="val 20576"/>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243584"/>
            <a:ext cx="10469880" cy="1152144"/>
          </a:xfrm>
          <a:prstGeom prst="rect">
            <a:avLst/>
          </a:prstGeom>
          <a:noFill/>
        </p:spPr>
        <p:txBody>
          <a:bodyPr wrap="square" lIns="0" rIns="0" tIns="0" bIns="0" anchor="ctr">
            <a:spAutoFit/>
          </a:bodyPr>
          <a:lstStyle/>
          <a:p>
            <a:pPr algn="ctr">
              <a:lnSpc>
                <a:spcPct val="116000"/>
              </a:lnSpc>
            </a:pPr>
            <a:r>
              <a:rPr sz="2000" b="1" i="0">
                <a:solidFill>
                  <a:srgbClr val="21295C"/>
                </a:solidFill>
                <a:latin typeface="Arial"/>
              </a:rPr>
              <a:t>«Финансы и ритейл — отрасли максимального внедрения ИИ. Под какую задачу — какой тип ИИ, почему именно он (а не LLM везде), и где этот тип ломается?»</a:t>
            </a:r>
          </a:p>
        </p:txBody>
      </p:sp>
      <p:sp>
        <p:nvSpPr>
          <p:cNvPr id="6" name="TextBox 5"/>
          <p:cNvSpPr txBox="1"/>
          <p:nvPr/>
        </p:nvSpPr>
        <p:spPr>
          <a:xfrm>
            <a:off x="502920" y="2706624"/>
            <a:ext cx="11201400"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Каждый тип разбираем по одной схеме (5 шагов):</a:t>
            </a:r>
          </a:p>
        </p:txBody>
      </p:sp>
      <p:sp>
        <p:nvSpPr>
          <p:cNvPr id="7" name="Rounded Rectangle 6"/>
          <p:cNvSpPr/>
          <p:nvPr/>
        </p:nvSpPr>
        <p:spPr>
          <a:xfrm>
            <a:off x="502920" y="3017520"/>
            <a:ext cx="2108606" cy="841248"/>
          </a:xfrm>
          <a:prstGeom prst="roundRect">
            <a:avLst>
              <a:gd name="adj" fmla="val 1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3017520"/>
            <a:ext cx="1998878" cy="841248"/>
          </a:xfrm>
          <a:prstGeom prst="rect">
            <a:avLst/>
          </a:prstGeom>
          <a:noFill/>
        </p:spPr>
        <p:txBody>
          <a:bodyPr wrap="square" lIns="0" rIns="0" tIns="0" bIns="0" anchor="ctr">
            <a:spAutoFit/>
          </a:bodyPr>
          <a:lstStyle/>
          <a:p>
            <a:pPr algn="ctr">
              <a:lnSpc>
                <a:spcPct val="102000"/>
              </a:lnSpc>
            </a:pPr>
            <a:r>
              <a:rPr sz="1200" b="1" i="0">
                <a:solidFill>
                  <a:srgbClr val="21295C"/>
                </a:solidFill>
                <a:latin typeface="Arial"/>
              </a:rPr>
              <a:t>1. задача</a:t>
            </a:r>
          </a:p>
        </p:txBody>
      </p:sp>
      <p:sp>
        <p:nvSpPr>
          <p:cNvPr id="9" name="TextBox 8"/>
          <p:cNvSpPr txBox="1"/>
          <p:nvPr/>
        </p:nvSpPr>
        <p:spPr>
          <a:xfrm>
            <a:off x="2593238" y="3017520"/>
            <a:ext cx="182880" cy="841248"/>
          </a:xfrm>
          <a:prstGeom prst="rect">
            <a:avLst/>
          </a:prstGeom>
          <a:noFill/>
        </p:spPr>
        <p:txBody>
          <a:bodyPr wrap="square" lIns="0" rIns="0" tIns="0" bIns="0" anchor="ctr">
            <a:spAutoFit/>
          </a:bodyPr>
          <a:lstStyle/>
          <a:p>
            <a:pPr algn="ctr">
              <a:lnSpc>
                <a:spcPct val="115000"/>
              </a:lnSpc>
            </a:pPr>
            <a:r>
              <a:rPr sz="1600" b="1" i="0">
                <a:solidFill>
                  <a:srgbClr val="028090"/>
                </a:solidFill>
                <a:latin typeface="Arial"/>
              </a:rPr>
              <a:t>→</a:t>
            </a:r>
          </a:p>
        </p:txBody>
      </p:sp>
      <p:sp>
        <p:nvSpPr>
          <p:cNvPr id="10" name="Rounded Rectangle 9"/>
          <p:cNvSpPr/>
          <p:nvPr/>
        </p:nvSpPr>
        <p:spPr>
          <a:xfrm>
            <a:off x="2776118" y="3017520"/>
            <a:ext cx="2108606" cy="841248"/>
          </a:xfrm>
          <a:prstGeom prst="roundRect">
            <a:avLst>
              <a:gd name="adj" fmla="val 1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30982" y="3017520"/>
            <a:ext cx="1998878" cy="841248"/>
          </a:xfrm>
          <a:prstGeom prst="rect">
            <a:avLst/>
          </a:prstGeom>
          <a:noFill/>
        </p:spPr>
        <p:txBody>
          <a:bodyPr wrap="square" lIns="0" rIns="0" tIns="0" bIns="0" anchor="ctr">
            <a:spAutoFit/>
          </a:bodyPr>
          <a:lstStyle/>
          <a:p>
            <a:pPr algn="ctr">
              <a:lnSpc>
                <a:spcPct val="102000"/>
              </a:lnSpc>
            </a:pPr>
            <a:r>
              <a:rPr sz="1200" b="1" i="0">
                <a:solidFill>
                  <a:srgbClr val="21295C"/>
                </a:solidFill>
                <a:latin typeface="Arial"/>
              </a:rPr>
              <a:t>2. тип ИИ
и почему он</a:t>
            </a:r>
          </a:p>
        </p:txBody>
      </p:sp>
      <p:sp>
        <p:nvSpPr>
          <p:cNvPr id="12" name="TextBox 11"/>
          <p:cNvSpPr txBox="1"/>
          <p:nvPr/>
        </p:nvSpPr>
        <p:spPr>
          <a:xfrm>
            <a:off x="4866436" y="3017520"/>
            <a:ext cx="182880" cy="841248"/>
          </a:xfrm>
          <a:prstGeom prst="rect">
            <a:avLst/>
          </a:prstGeom>
          <a:noFill/>
        </p:spPr>
        <p:txBody>
          <a:bodyPr wrap="square" lIns="0" rIns="0" tIns="0" bIns="0" anchor="ctr">
            <a:spAutoFit/>
          </a:bodyPr>
          <a:lstStyle/>
          <a:p>
            <a:pPr algn="ctr">
              <a:lnSpc>
                <a:spcPct val="115000"/>
              </a:lnSpc>
            </a:pPr>
            <a:r>
              <a:rPr sz="1600" b="1" i="0">
                <a:solidFill>
                  <a:srgbClr val="028090"/>
                </a:solidFill>
                <a:latin typeface="Arial"/>
              </a:rPr>
              <a:t>→</a:t>
            </a:r>
          </a:p>
        </p:txBody>
      </p:sp>
      <p:sp>
        <p:nvSpPr>
          <p:cNvPr id="13" name="Rounded Rectangle 12"/>
          <p:cNvSpPr/>
          <p:nvPr/>
        </p:nvSpPr>
        <p:spPr>
          <a:xfrm>
            <a:off x="5049316" y="3017520"/>
            <a:ext cx="2108606" cy="841248"/>
          </a:xfrm>
          <a:prstGeom prst="roundRect">
            <a:avLst>
              <a:gd name="adj" fmla="val 1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4180" y="3017520"/>
            <a:ext cx="1998878" cy="841248"/>
          </a:xfrm>
          <a:prstGeom prst="rect">
            <a:avLst/>
          </a:prstGeom>
          <a:noFill/>
        </p:spPr>
        <p:txBody>
          <a:bodyPr wrap="square" lIns="0" rIns="0" tIns="0" bIns="0" anchor="ctr">
            <a:spAutoFit/>
          </a:bodyPr>
          <a:lstStyle/>
          <a:p>
            <a:pPr algn="ctr">
              <a:lnSpc>
                <a:spcPct val="102000"/>
              </a:lnSpc>
            </a:pPr>
            <a:r>
              <a:rPr sz="1200" b="1" i="0">
                <a:solidFill>
                  <a:srgbClr val="21295C"/>
                </a:solidFill>
                <a:latin typeface="Arial"/>
              </a:rPr>
              <a:t>3. реальный
пример</a:t>
            </a:r>
          </a:p>
        </p:txBody>
      </p:sp>
      <p:sp>
        <p:nvSpPr>
          <p:cNvPr id="15" name="TextBox 14"/>
          <p:cNvSpPr txBox="1"/>
          <p:nvPr/>
        </p:nvSpPr>
        <p:spPr>
          <a:xfrm>
            <a:off x="7139635" y="3017520"/>
            <a:ext cx="182880" cy="841248"/>
          </a:xfrm>
          <a:prstGeom prst="rect">
            <a:avLst/>
          </a:prstGeom>
          <a:noFill/>
        </p:spPr>
        <p:txBody>
          <a:bodyPr wrap="square" lIns="0" rIns="0" tIns="0" bIns="0" anchor="ctr">
            <a:spAutoFit/>
          </a:bodyPr>
          <a:lstStyle/>
          <a:p>
            <a:pPr algn="ctr">
              <a:lnSpc>
                <a:spcPct val="115000"/>
              </a:lnSpc>
            </a:pPr>
            <a:r>
              <a:rPr sz="1600" b="1" i="0">
                <a:solidFill>
                  <a:srgbClr val="028090"/>
                </a:solidFill>
                <a:latin typeface="Arial"/>
              </a:rPr>
              <a:t>→</a:t>
            </a:r>
          </a:p>
        </p:txBody>
      </p:sp>
      <p:sp>
        <p:nvSpPr>
          <p:cNvPr id="16" name="Rounded Rectangle 15"/>
          <p:cNvSpPr/>
          <p:nvPr/>
        </p:nvSpPr>
        <p:spPr>
          <a:xfrm>
            <a:off x="7322515" y="3017520"/>
            <a:ext cx="2108606" cy="841248"/>
          </a:xfrm>
          <a:prstGeom prst="roundRect">
            <a:avLst>
              <a:gd name="adj" fmla="val 1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77379" y="3017520"/>
            <a:ext cx="1998878" cy="841248"/>
          </a:xfrm>
          <a:prstGeom prst="rect">
            <a:avLst/>
          </a:prstGeom>
          <a:noFill/>
        </p:spPr>
        <p:txBody>
          <a:bodyPr wrap="square" lIns="0" rIns="0" tIns="0" bIns="0" anchor="ctr">
            <a:spAutoFit/>
          </a:bodyPr>
          <a:lstStyle/>
          <a:p>
            <a:pPr algn="ctr">
              <a:lnSpc>
                <a:spcPct val="102000"/>
              </a:lnSpc>
            </a:pPr>
            <a:r>
              <a:rPr sz="1200" b="1" i="0">
                <a:solidFill>
                  <a:srgbClr val="21295C"/>
                </a:solidFill>
                <a:latin typeface="Arial"/>
              </a:rPr>
              <a:t>4. где
ломается</a:t>
            </a:r>
          </a:p>
        </p:txBody>
      </p:sp>
      <p:sp>
        <p:nvSpPr>
          <p:cNvPr id="18" name="TextBox 17"/>
          <p:cNvSpPr txBox="1"/>
          <p:nvPr/>
        </p:nvSpPr>
        <p:spPr>
          <a:xfrm>
            <a:off x="9412833" y="3017520"/>
            <a:ext cx="182880" cy="841248"/>
          </a:xfrm>
          <a:prstGeom prst="rect">
            <a:avLst/>
          </a:prstGeom>
          <a:noFill/>
        </p:spPr>
        <p:txBody>
          <a:bodyPr wrap="square" lIns="0" rIns="0" tIns="0" bIns="0" anchor="ctr">
            <a:spAutoFit/>
          </a:bodyPr>
          <a:lstStyle/>
          <a:p>
            <a:pPr algn="ctr">
              <a:lnSpc>
                <a:spcPct val="115000"/>
              </a:lnSpc>
            </a:pPr>
            <a:r>
              <a:rPr sz="1600" b="1" i="0">
                <a:solidFill>
                  <a:srgbClr val="028090"/>
                </a:solidFill>
                <a:latin typeface="Arial"/>
              </a:rPr>
              <a:t>→</a:t>
            </a:r>
          </a:p>
        </p:txBody>
      </p:sp>
      <p:sp>
        <p:nvSpPr>
          <p:cNvPr id="19" name="Rounded Rectangle 18"/>
          <p:cNvSpPr/>
          <p:nvPr/>
        </p:nvSpPr>
        <p:spPr>
          <a:xfrm>
            <a:off x="9595713" y="3017520"/>
            <a:ext cx="2108606" cy="841248"/>
          </a:xfrm>
          <a:prstGeom prst="roundRect">
            <a:avLst>
              <a:gd name="adj" fmla="val 1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50577" y="3017520"/>
            <a:ext cx="1998878" cy="841248"/>
          </a:xfrm>
          <a:prstGeom prst="rect">
            <a:avLst/>
          </a:prstGeom>
          <a:noFill/>
        </p:spPr>
        <p:txBody>
          <a:bodyPr wrap="square" lIns="0" rIns="0" tIns="0" bIns="0" anchor="ctr">
            <a:spAutoFit/>
          </a:bodyPr>
          <a:lstStyle/>
          <a:p>
            <a:pPr algn="ctr">
              <a:lnSpc>
                <a:spcPct val="102000"/>
              </a:lnSpc>
            </a:pPr>
            <a:r>
              <a:rPr sz="1200" b="1" i="0">
                <a:solidFill>
                  <a:srgbClr val="21295C"/>
                </a:solidFill>
                <a:latin typeface="Arial"/>
              </a:rPr>
              <a:t>5. альтернатива
и критерий</a:t>
            </a:r>
          </a:p>
        </p:txBody>
      </p:sp>
      <p:sp>
        <p:nvSpPr>
          <p:cNvPr id="21" name="Rounded Rectangle 20"/>
          <p:cNvSpPr/>
          <p:nvPr/>
        </p:nvSpPr>
        <p:spPr>
          <a:xfrm>
            <a:off x="502920" y="4041648"/>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096511"/>
            <a:ext cx="10762488" cy="493776"/>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Карта — это структура лекции, не требование понять всё сейчас. Прогноз · аномалии · скоринг · LLM · рекомендации (+ сквозной CV).</a:t>
            </a:r>
          </a:p>
        </p:txBody>
      </p:sp>
      <p:sp>
        <p:nvSpPr>
          <p:cNvPr id="23" name="Rounded Rectangle 22"/>
          <p:cNvSpPr/>
          <p:nvPr/>
        </p:nvSpPr>
        <p:spPr>
          <a:xfrm>
            <a:off x="502920" y="4809744"/>
            <a:ext cx="11201400" cy="13716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864607"/>
            <a:ext cx="10762488" cy="1261872"/>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Ответ — не «ИИ хорош» и не «ИИ плох», а аппарат: назвать уместный тип, обосновать выбор и заранее увидеть точку обязательного человека. К концу схема станет вашим инструментом выбора.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726679" y="274320"/>
            <a:ext cx="4206240" cy="5486400"/>
          </a:xfrm>
          <a:prstGeom prst="rect">
            <a:avLst/>
          </a:prstGeom>
          <a:noFill/>
        </p:spPr>
        <p:txBody>
          <a:bodyPr wrap="square" lIns="0" rIns="0" tIns="0" bIns="0" anchor="ctr">
            <a:spAutoFit/>
          </a:bodyPr>
          <a:lstStyle/>
          <a:p>
            <a:pPr algn="ctr">
              <a:lnSpc>
                <a:spcPct val="100000"/>
              </a:lnSpc>
            </a:pPr>
            <a:r>
              <a:rPr sz="40000" b="1" i="0">
                <a:solidFill>
                  <a:srgbClr val="D9E2EC"/>
                </a:solidFill>
                <a:latin typeface="Arial"/>
              </a:rPr>
              <a:t>1</a:t>
            </a:r>
          </a:p>
        </p:txBody>
      </p:sp>
      <p:sp>
        <p:nvSpPr>
          <p:cNvPr id="3" name="TextBox 2"/>
          <p:cNvSpPr txBox="1"/>
          <p:nvPr/>
        </p:nvSpPr>
        <p:spPr>
          <a:xfrm>
            <a:off x="685800" y="1417320"/>
            <a:ext cx="676656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949440" cy="1691640"/>
          </a:xfrm>
          <a:prstGeom prst="rect">
            <a:avLst/>
          </a:prstGeom>
          <a:noFill/>
        </p:spPr>
        <p:txBody>
          <a:bodyPr wrap="square" lIns="0" rIns="0" tIns="0" bIns="0" anchor="t">
            <a:spAutoFit/>
          </a:bodyPr>
          <a:lstStyle/>
          <a:p>
            <a:pPr algn="l">
              <a:lnSpc>
                <a:spcPct val="108000"/>
              </a:lnSpc>
            </a:pPr>
            <a:r>
              <a:rPr sz="3600" b="1" i="0">
                <a:solidFill>
                  <a:srgbClr val="21295C"/>
                </a:solidFill>
                <a:latin typeface="Arial"/>
              </a:rPr>
              <a:t>Прогнозирование:
спрос, продажи, отток</a:t>
            </a:r>
          </a:p>
        </p:txBody>
      </p:sp>
      <p:sp>
        <p:nvSpPr>
          <p:cNvPr id="6" name="TextBox 5"/>
          <p:cNvSpPr txBox="1"/>
          <p:nvPr/>
        </p:nvSpPr>
        <p:spPr>
          <a:xfrm>
            <a:off x="713232" y="4224528"/>
            <a:ext cx="6858000" cy="141732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Начнём с самой массовой задачи ритейла — и сразу с типа ИИ, который НЕ LLM.</a:t>
            </a:r>
          </a:p>
        </p:txBody>
      </p:sp>
      <p:sp>
        <p:nvSpPr>
          <p:cNvPr id="7" name="Rounded Rectangle 6"/>
          <p:cNvSpPr/>
          <p:nvPr/>
        </p:nvSpPr>
        <p:spPr>
          <a:xfrm>
            <a:off x="50292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0</a:t>
            </a:r>
          </a:p>
        </p:txBody>
      </p:sp>
      <p:sp>
        <p:nvSpPr>
          <p:cNvPr id="9" name="TextBox 8"/>
          <p:cNvSpPr txBox="1"/>
          <p:nvPr/>
        </p:nvSpPr>
        <p:spPr>
          <a:xfrm>
            <a:off x="53949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Открытие</a:t>
            </a:r>
          </a:p>
        </p:txBody>
      </p:sp>
      <p:sp>
        <p:nvSpPr>
          <p:cNvPr id="10" name="Rounded Rectangle 9"/>
          <p:cNvSpPr/>
          <p:nvPr/>
        </p:nvSpPr>
        <p:spPr>
          <a:xfrm>
            <a:off x="2118795" y="5943600"/>
            <a:ext cx="1506147" cy="54864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55371" y="6007608"/>
            <a:ext cx="1432995" cy="201168"/>
          </a:xfrm>
          <a:prstGeom prst="rect">
            <a:avLst/>
          </a:prstGeom>
          <a:noFill/>
        </p:spPr>
        <p:txBody>
          <a:bodyPr wrap="square" lIns="0" rIns="0" tIns="0" bIns="0" anchor="t">
            <a:spAutoFit/>
          </a:bodyPr>
          <a:lstStyle/>
          <a:p>
            <a:pPr algn="ctr">
              <a:lnSpc>
                <a:spcPct val="115000"/>
              </a:lnSpc>
            </a:pPr>
            <a:r>
              <a:rPr sz="1000" b="1" i="0">
                <a:solidFill>
                  <a:srgbClr val="21295C"/>
                </a:solidFill>
                <a:latin typeface="Arial"/>
              </a:rPr>
              <a:t>Раздел 1</a:t>
            </a:r>
          </a:p>
        </p:txBody>
      </p:sp>
      <p:sp>
        <p:nvSpPr>
          <p:cNvPr id="12" name="TextBox 11"/>
          <p:cNvSpPr txBox="1"/>
          <p:nvPr/>
        </p:nvSpPr>
        <p:spPr>
          <a:xfrm>
            <a:off x="2155371" y="6217920"/>
            <a:ext cx="1432995" cy="237744"/>
          </a:xfrm>
          <a:prstGeom prst="rect">
            <a:avLst/>
          </a:prstGeom>
          <a:noFill/>
        </p:spPr>
        <p:txBody>
          <a:bodyPr wrap="square" lIns="0" rIns="0" tIns="0" bIns="0" anchor="t">
            <a:spAutoFit/>
          </a:bodyPr>
          <a:lstStyle/>
          <a:p>
            <a:pPr algn="ctr">
              <a:lnSpc>
                <a:spcPct val="95000"/>
              </a:lnSpc>
            </a:pPr>
            <a:r>
              <a:rPr sz="1050" b="1" i="0">
                <a:solidFill>
                  <a:srgbClr val="21295C"/>
                </a:solidFill>
                <a:latin typeface="Arial"/>
              </a:rPr>
              <a:t>Прогноз</a:t>
            </a:r>
          </a:p>
        </p:txBody>
      </p:sp>
      <p:sp>
        <p:nvSpPr>
          <p:cNvPr id="13" name="Rounded Rectangle 12"/>
          <p:cNvSpPr/>
          <p:nvPr/>
        </p:nvSpPr>
        <p:spPr>
          <a:xfrm>
            <a:off x="373467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7124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2</a:t>
            </a:r>
          </a:p>
        </p:txBody>
      </p:sp>
      <p:sp>
        <p:nvSpPr>
          <p:cNvPr id="15" name="TextBox 14"/>
          <p:cNvSpPr txBox="1"/>
          <p:nvPr/>
        </p:nvSpPr>
        <p:spPr>
          <a:xfrm>
            <a:off x="377124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Аномалии</a:t>
            </a:r>
          </a:p>
        </p:txBody>
      </p:sp>
      <p:sp>
        <p:nvSpPr>
          <p:cNvPr id="16" name="Rounded Rectangle 15"/>
          <p:cNvSpPr/>
          <p:nvPr/>
        </p:nvSpPr>
        <p:spPr>
          <a:xfrm>
            <a:off x="5350546"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87122"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3</a:t>
            </a:r>
          </a:p>
        </p:txBody>
      </p:sp>
      <p:sp>
        <p:nvSpPr>
          <p:cNvPr id="18" name="TextBox 17"/>
          <p:cNvSpPr txBox="1"/>
          <p:nvPr/>
        </p:nvSpPr>
        <p:spPr>
          <a:xfrm>
            <a:off x="5387122"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Скоринг</a:t>
            </a:r>
          </a:p>
        </p:txBody>
      </p:sp>
      <p:sp>
        <p:nvSpPr>
          <p:cNvPr id="19" name="Rounded Rectangle 18"/>
          <p:cNvSpPr/>
          <p:nvPr/>
        </p:nvSpPr>
        <p:spPr>
          <a:xfrm>
            <a:off x="6966421"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2997"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4</a:t>
            </a:r>
          </a:p>
        </p:txBody>
      </p:sp>
      <p:sp>
        <p:nvSpPr>
          <p:cNvPr id="21" name="TextBox 20"/>
          <p:cNvSpPr txBox="1"/>
          <p:nvPr/>
        </p:nvSpPr>
        <p:spPr>
          <a:xfrm>
            <a:off x="7002997"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LLM</a:t>
            </a:r>
          </a:p>
        </p:txBody>
      </p:sp>
      <p:sp>
        <p:nvSpPr>
          <p:cNvPr id="22" name="Rounded Rectangle 21"/>
          <p:cNvSpPr/>
          <p:nvPr/>
        </p:nvSpPr>
        <p:spPr>
          <a:xfrm>
            <a:off x="8582297"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8873"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5</a:t>
            </a:r>
          </a:p>
        </p:txBody>
      </p:sp>
      <p:sp>
        <p:nvSpPr>
          <p:cNvPr id="24" name="TextBox 23"/>
          <p:cNvSpPr txBox="1"/>
          <p:nvPr/>
        </p:nvSpPr>
        <p:spPr>
          <a:xfrm>
            <a:off x="8618873"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Рекоменд.</a:t>
            </a:r>
          </a:p>
        </p:txBody>
      </p:sp>
      <p:sp>
        <p:nvSpPr>
          <p:cNvPr id="25" name="Rounded Rectangle 24"/>
          <p:cNvSpPr/>
          <p:nvPr/>
        </p:nvSpPr>
        <p:spPr>
          <a:xfrm>
            <a:off x="10198172"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4748"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6</a:t>
            </a:r>
          </a:p>
        </p:txBody>
      </p:sp>
      <p:sp>
        <p:nvSpPr>
          <p:cNvPr id="27" name="TextBox 26"/>
          <p:cNvSpPr txBox="1"/>
          <p:nvPr/>
        </p:nvSpPr>
        <p:spPr>
          <a:xfrm>
            <a:off x="10234748"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Фреймворк</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66928"/>
          </a:xfrm>
          <a:prstGeom prst="rect">
            <a:avLst/>
          </a:prstGeom>
          <a:noFill/>
        </p:spPr>
        <p:txBody>
          <a:bodyPr wrap="square" lIns="0" rIns="0" tIns="0" bIns="0" anchor="t">
            <a:spAutoFit/>
          </a:bodyPr>
          <a:lstStyle/>
          <a:p>
            <a:pPr algn="l">
              <a:lnSpc>
                <a:spcPct val="110000"/>
              </a:lnSpc>
            </a:pPr>
            <a:r>
              <a:rPr sz="2400" b="1" i="0">
                <a:solidFill>
                  <a:srgbClr val="21295C"/>
                </a:solidFill>
                <a:latin typeface="Arial"/>
              </a:rPr>
              <a:t>Прогноз ряда и языковая модель решают структурно разные задачи.</a:t>
            </a:r>
          </a:p>
        </p:txBody>
      </p:sp>
      <p:sp>
        <p:nvSpPr>
          <p:cNvPr id="3" name="Rounded Rectangle 2"/>
          <p:cNvSpPr/>
          <p:nvPr/>
        </p:nvSpPr>
        <p:spPr>
          <a:xfrm>
            <a:off x="502920" y="1097280"/>
            <a:ext cx="11201400"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1261872"/>
            <a:ext cx="530352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261872"/>
            <a:ext cx="5303520" cy="438912"/>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Языковая модель (LLM)</a:t>
            </a:r>
          </a:p>
        </p:txBody>
      </p:sp>
      <p:sp>
        <p:nvSpPr>
          <p:cNvPr id="6" name="Rectangle 5"/>
          <p:cNvSpPr/>
          <p:nvPr/>
        </p:nvSpPr>
        <p:spPr>
          <a:xfrm>
            <a:off x="6172200" y="1261872"/>
            <a:ext cx="5349240" cy="438912"/>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72200" y="1261872"/>
            <a:ext cx="5349240" cy="438912"/>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Прогноз временного ряда</a:t>
            </a:r>
          </a:p>
        </p:txBody>
      </p:sp>
      <p:sp>
        <p:nvSpPr>
          <p:cNvPr id="8" name="Rectangle 7"/>
          <p:cNvSpPr/>
          <p:nvPr/>
        </p:nvSpPr>
        <p:spPr>
          <a:xfrm>
            <a:off x="685800" y="1810512"/>
            <a:ext cx="530352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810512"/>
            <a:ext cx="510235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предсказывает следующий ТОКЕН текста</a:t>
            </a:r>
          </a:p>
        </p:txBody>
      </p:sp>
      <p:sp>
        <p:nvSpPr>
          <p:cNvPr id="10" name="Rectangle 9"/>
          <p:cNvSpPr/>
          <p:nvPr/>
        </p:nvSpPr>
        <p:spPr>
          <a:xfrm>
            <a:off x="6172200" y="1810512"/>
            <a:ext cx="534924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810512"/>
            <a:ext cx="514807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предсказывает следующее ЧИСЛО в ряду</a:t>
            </a:r>
          </a:p>
        </p:txBody>
      </p:sp>
      <p:sp>
        <p:nvSpPr>
          <p:cNvPr id="12" name="Rectangle 11"/>
          <p:cNvSpPr/>
          <p:nvPr/>
        </p:nvSpPr>
        <p:spPr>
          <a:xfrm>
            <a:off x="685800" y="2377440"/>
            <a:ext cx="530352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2377440"/>
            <a:ext cx="510235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оптимизирована на правдоподобие формулировки</a:t>
            </a:r>
          </a:p>
        </p:txBody>
      </p:sp>
      <p:sp>
        <p:nvSpPr>
          <p:cNvPr id="14" name="Rectangle 13"/>
          <p:cNvSpPr/>
          <p:nvPr/>
        </p:nvSpPr>
        <p:spPr>
          <a:xfrm>
            <a:off x="6172200" y="2377440"/>
            <a:ext cx="534924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18504" y="2377440"/>
            <a:ext cx="514807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нужна числовая точность + калиброванная неопределённость</a:t>
            </a:r>
          </a:p>
        </p:txBody>
      </p:sp>
      <p:sp>
        <p:nvSpPr>
          <p:cNvPr id="16" name="Rectangle 15"/>
          <p:cNvSpPr/>
          <p:nvPr/>
        </p:nvSpPr>
        <p:spPr>
          <a:xfrm>
            <a:off x="685800" y="2944368"/>
            <a:ext cx="530352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2944368"/>
            <a:ext cx="510235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нет внутреннего понятия «сезонность» / «тренд»</a:t>
            </a:r>
          </a:p>
        </p:txBody>
      </p:sp>
      <p:sp>
        <p:nvSpPr>
          <p:cNvPr id="18" name="Rectangle 17"/>
          <p:cNvSpPr/>
          <p:nvPr/>
        </p:nvSpPr>
        <p:spPr>
          <a:xfrm>
            <a:off x="6172200" y="2944368"/>
            <a:ext cx="534924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18504" y="2944368"/>
            <a:ext cx="514807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ряд = тренд + сезонность + шум</a:t>
            </a:r>
          </a:p>
        </p:txBody>
      </p:sp>
      <p:sp>
        <p:nvSpPr>
          <p:cNvPr id="20" name="Rectangle 19"/>
          <p:cNvSpPr/>
          <p:nvPr/>
        </p:nvSpPr>
        <p:spPr>
          <a:xfrm>
            <a:off x="685800" y="3511296"/>
            <a:ext cx="530352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 y="3511296"/>
            <a:ext cx="510235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видела тексты О продажах</a:t>
            </a:r>
          </a:p>
        </p:txBody>
      </p:sp>
      <p:sp>
        <p:nvSpPr>
          <p:cNvPr id="22" name="Rectangle 21"/>
          <p:cNvSpPr/>
          <p:nvPr/>
        </p:nvSpPr>
        <p:spPr>
          <a:xfrm>
            <a:off x="6172200" y="3511296"/>
            <a:ext cx="534924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8504" y="3511296"/>
            <a:ext cx="514807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видит сам ряд продаж как ряд</a:t>
            </a:r>
          </a:p>
        </p:txBody>
      </p:sp>
      <p:sp>
        <p:nvSpPr>
          <p:cNvPr id="24" name="Rounded Rectangle 23"/>
          <p:cNvSpPr/>
          <p:nvPr/>
        </p:nvSpPr>
        <p:spPr>
          <a:xfrm>
            <a:off x="502920" y="4334256"/>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389120"/>
            <a:ext cx="10762488" cy="45720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Тип ИИ под прогноз: классическая статистика и табличный ML — ARIMA-семейство, градиентный бустинг. НЕ генеративная модель, НЕ LLM.</a:t>
            </a:r>
          </a:p>
        </p:txBody>
      </p:sp>
      <p:sp>
        <p:nvSpPr>
          <p:cNvPr id="26" name="Rounded Rectangle 25"/>
          <p:cNvSpPr/>
          <p:nvPr/>
        </p:nvSpPr>
        <p:spPr>
          <a:xfrm>
            <a:off x="502920" y="5047488"/>
            <a:ext cx="11201400" cy="115214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102351"/>
            <a:ext cx="10762488" cy="1042416"/>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Поставить «спрогнозируй спрос» текстовой модели — она выдаст правдоподобное число без связи с сезонностью: галлюцинация в числовой обёртке. Тип ИИ определяется СТРУКТУРОЙ задачи, а не модностью инструмента.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Почему здесь табличная модель, а не LLM — три аргумента, а не оговорка.</a:t>
            </a:r>
          </a:p>
        </p:txBody>
      </p:sp>
      <p:sp>
        <p:nvSpPr>
          <p:cNvPr id="3" name="Rounded Rectangle 2"/>
          <p:cNvSpPr/>
          <p:nvPr/>
        </p:nvSpPr>
        <p:spPr>
          <a:xfrm>
            <a:off x="502920" y="1115568"/>
            <a:ext cx="3575304" cy="2505456"/>
          </a:xfrm>
          <a:prstGeom prst="roundRect">
            <a:avLst>
              <a:gd name="adj" fmla="val 1216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tabase-mid.png"/>
          <p:cNvPicPr>
            <a:picLocks noChangeAspect="1"/>
          </p:cNvPicPr>
          <p:nvPr/>
        </p:nvPicPr>
        <p:blipFill>
          <a:blip r:embed="rId2"/>
          <a:stretch>
            <a:fillRect/>
          </a:stretch>
        </p:blipFill>
        <p:spPr>
          <a:xfrm>
            <a:off x="722376" y="1316736"/>
            <a:ext cx="457200" cy="457200"/>
          </a:xfrm>
          <a:prstGeom prst="rect">
            <a:avLst/>
          </a:prstGeom>
        </p:spPr>
      </p:pic>
      <p:sp>
        <p:nvSpPr>
          <p:cNvPr id="5" name="TextBox 4"/>
          <p:cNvSpPr txBox="1"/>
          <p:nvPr/>
        </p:nvSpPr>
        <p:spPr>
          <a:xfrm>
            <a:off x="1289304" y="1353312"/>
            <a:ext cx="2615184" cy="457200"/>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1. Структура данных</a:t>
            </a:r>
          </a:p>
        </p:txBody>
      </p:sp>
      <p:sp>
        <p:nvSpPr>
          <p:cNvPr id="6" name="TextBox 5"/>
          <p:cNvSpPr txBox="1"/>
          <p:nvPr/>
        </p:nvSpPr>
        <p:spPr>
          <a:xfrm>
            <a:off x="740664" y="1938528"/>
            <a:ext cx="3099816" cy="15727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табличные числовые ряды (дата, точка, товар, цена, признаки). Модели для рядов извлекают тренд и сезонность; перевод ряда в текст для LLM теряет именно эту структуру.</a:t>
            </a:r>
          </a:p>
        </p:txBody>
      </p:sp>
      <p:sp>
        <p:nvSpPr>
          <p:cNvPr id="7" name="Rounded Rectangle 6"/>
          <p:cNvSpPr/>
          <p:nvPr/>
        </p:nvSpPr>
        <p:spPr>
          <a:xfrm>
            <a:off x="4315968" y="1115568"/>
            <a:ext cx="3575304" cy="2505456"/>
          </a:xfrm>
          <a:prstGeom prst="roundRect">
            <a:avLst>
              <a:gd name="adj" fmla="val 1216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ctivity-mid.png"/>
          <p:cNvPicPr>
            <a:picLocks noChangeAspect="1"/>
          </p:cNvPicPr>
          <p:nvPr/>
        </p:nvPicPr>
        <p:blipFill>
          <a:blip r:embed="rId3"/>
          <a:stretch>
            <a:fillRect/>
          </a:stretch>
        </p:blipFill>
        <p:spPr>
          <a:xfrm>
            <a:off x="4535424" y="1316736"/>
            <a:ext cx="457200" cy="457200"/>
          </a:xfrm>
          <a:prstGeom prst="rect">
            <a:avLst/>
          </a:prstGeom>
        </p:spPr>
      </p:pic>
      <p:sp>
        <p:nvSpPr>
          <p:cNvPr id="9" name="TextBox 8"/>
          <p:cNvSpPr txBox="1"/>
          <p:nvPr/>
        </p:nvSpPr>
        <p:spPr>
          <a:xfrm>
            <a:off x="5102352" y="1353312"/>
            <a:ext cx="2615184" cy="457200"/>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2. Измеримость и калибровка</a:t>
            </a:r>
          </a:p>
        </p:txBody>
      </p:sp>
      <p:sp>
        <p:nvSpPr>
          <p:cNvPr id="10" name="TextBox 9"/>
          <p:cNvSpPr txBox="1"/>
          <p:nvPr/>
        </p:nvSpPr>
        <p:spPr>
          <a:xfrm>
            <a:off x="4553712" y="1938528"/>
            <a:ext cx="3099816" cy="15727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решение о размере закупки строится на численной метрике ошибки + доверительном интервале. Классические модели дают это из коробки; от LLM такого нет.</a:t>
            </a:r>
          </a:p>
        </p:txBody>
      </p:sp>
      <p:sp>
        <p:nvSpPr>
          <p:cNvPr id="11" name="Rounded Rectangle 10"/>
          <p:cNvSpPr/>
          <p:nvPr/>
        </p:nvSpPr>
        <p:spPr>
          <a:xfrm>
            <a:off x="8129016" y="1115568"/>
            <a:ext cx="3575304" cy="2505456"/>
          </a:xfrm>
          <a:prstGeom prst="roundRect">
            <a:avLst>
              <a:gd name="adj" fmla="val 1216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riangle-alert-gold.png"/>
          <p:cNvPicPr>
            <a:picLocks noChangeAspect="1"/>
          </p:cNvPicPr>
          <p:nvPr/>
        </p:nvPicPr>
        <p:blipFill>
          <a:blip r:embed="rId4"/>
          <a:stretch>
            <a:fillRect/>
          </a:stretch>
        </p:blipFill>
        <p:spPr>
          <a:xfrm>
            <a:off x="8348472" y="1316736"/>
            <a:ext cx="457200" cy="457200"/>
          </a:xfrm>
          <a:prstGeom prst="rect">
            <a:avLst/>
          </a:prstGeom>
        </p:spPr>
      </p:pic>
      <p:sp>
        <p:nvSpPr>
          <p:cNvPr id="13" name="TextBox 12"/>
          <p:cNvSpPr txBox="1"/>
          <p:nvPr/>
        </p:nvSpPr>
        <p:spPr>
          <a:xfrm>
            <a:off x="8915400" y="1353312"/>
            <a:ext cx="2615184"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3. Что сломается</a:t>
            </a:r>
          </a:p>
        </p:txBody>
      </p:sp>
      <p:sp>
        <p:nvSpPr>
          <p:cNvPr id="14" name="TextBox 13"/>
          <p:cNvSpPr txBox="1"/>
          <p:nvPr/>
        </p:nvSpPr>
        <p:spPr>
          <a:xfrm>
            <a:off x="8366760" y="1938528"/>
            <a:ext cx="3099816" cy="15727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LLM даст правдоподобное число без обоснованной неопределённости — а решение всё равно придётся принять, и цена систематической ошибки × объём (механизм Zillow).</a:t>
            </a:r>
          </a:p>
        </p:txBody>
      </p:sp>
      <p:sp>
        <p:nvSpPr>
          <p:cNvPr id="15" name="Rounded Rectangle 14"/>
          <p:cNvSpPr/>
          <p:nvPr/>
        </p:nvSpPr>
        <p:spPr>
          <a:xfrm>
            <a:off x="502920" y="3767328"/>
            <a:ext cx="11201400" cy="768096"/>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822191"/>
            <a:ext cx="10762488" cy="658368"/>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Альтернатива и критерий: правильный инструмент — табличная прогнозная модель с измеримой ошибкой. Даже её недостаточно при нестационарной среде + необратимом капитальном действии без человеческого контроля.</a:t>
            </a:r>
          </a:p>
        </p:txBody>
      </p:sp>
      <p:sp>
        <p:nvSpPr>
          <p:cNvPr id="17" name="Rounded Rectangle 16"/>
          <p:cNvSpPr/>
          <p:nvPr/>
        </p:nvSpPr>
        <p:spPr>
          <a:xfrm>
            <a:off x="502920" y="464515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700016"/>
            <a:ext cx="10762488" cy="676656"/>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Задача: прогноз спроса (полка / закупка), cash-flow (ликвидность), оттока клиентов (кого удержать).</a:t>
            </a:r>
          </a:p>
        </p:txBody>
      </p:sp>
      <p:sp>
        <p:nvSpPr>
          <p:cNvPr id="19" name="TextBox 18"/>
          <p:cNvSpPr txBox="1"/>
          <p:nvPr/>
        </p:nvSpPr>
        <p:spPr>
          <a:xfrm>
            <a:off x="502920" y="6437376"/>
            <a:ext cx="11201400" cy="310896"/>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Если ряды содержат PII граждан РФ — отправлять их в публичный облачный LLM нарушает требования локализации (ФЗ-152); табличная модель разворачивается on-premise.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400" b="1" i="0">
                <a:solidFill>
                  <a:srgbClr val="21295C"/>
                </a:solidFill>
                <a:latin typeface="Arial"/>
              </a:rPr>
              <a:t>Прогноз диктуется задачей: ни X5, ни Магнит не взяли LLM.</a:t>
            </a:r>
          </a:p>
        </p:txBody>
      </p:sp>
      <p:sp>
        <p:nvSpPr>
          <p:cNvPr id="3" name="Rounded Rectangle 2"/>
          <p:cNvSpPr/>
          <p:nvPr/>
        </p:nvSpPr>
        <p:spPr>
          <a:xfrm>
            <a:off x="502920" y="1188720"/>
            <a:ext cx="557784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335024"/>
            <a:ext cx="5102352"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X5 Group · «Пятёрочка», «Перекрёсток»</a:t>
            </a:r>
          </a:p>
        </p:txBody>
      </p:sp>
      <p:sp>
        <p:nvSpPr>
          <p:cNvPr id="5" name="Rounded Rectangle 4"/>
          <p:cNvSpPr/>
          <p:nvPr/>
        </p:nvSpPr>
        <p:spPr>
          <a:xfrm>
            <a:off x="740664" y="1719072"/>
            <a:ext cx="5102352" cy="87782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810512"/>
            <a:ext cx="3474720" cy="694944"/>
          </a:xfrm>
          <a:prstGeom prst="rect">
            <a:avLst/>
          </a:prstGeom>
          <a:noFill/>
        </p:spPr>
        <p:txBody>
          <a:bodyPr wrap="square" lIns="0" rIns="0" tIns="0" bIns="0" anchor="ctr">
            <a:spAutoFit/>
          </a:bodyPr>
          <a:lstStyle/>
          <a:p>
            <a:pPr algn="l">
              <a:lnSpc>
                <a:spcPct val="105000"/>
              </a:lnSpc>
            </a:pPr>
            <a:r>
              <a:rPr sz="1250" b="1" i="0">
                <a:solidFill>
                  <a:srgbClr val="065A82"/>
                </a:solidFill>
                <a:latin typeface="Arial"/>
              </a:rPr>
              <a:t>Точность прогноза спроса</a:t>
            </a:r>
          </a:p>
        </p:txBody>
      </p:sp>
      <p:sp>
        <p:nvSpPr>
          <p:cNvPr id="7" name="TextBox 6"/>
          <p:cNvSpPr txBox="1"/>
          <p:nvPr/>
        </p:nvSpPr>
        <p:spPr>
          <a:xfrm>
            <a:off x="4206240" y="1773936"/>
            <a:ext cx="1517904" cy="768096"/>
          </a:xfrm>
          <a:prstGeom prst="rect">
            <a:avLst/>
          </a:prstGeom>
          <a:noFill/>
        </p:spPr>
        <p:txBody>
          <a:bodyPr wrap="square" lIns="0" rIns="0" tIns="0" bIns="0" anchor="ctr">
            <a:spAutoFit/>
          </a:bodyPr>
          <a:lstStyle/>
          <a:p>
            <a:pPr algn="r">
              <a:lnSpc>
                <a:spcPct val="115000"/>
              </a:lnSpc>
            </a:pPr>
            <a:r>
              <a:rPr sz="2200" b="1" i="0">
                <a:solidFill>
                  <a:srgbClr val="21295C"/>
                </a:solidFill>
                <a:latin typeface="Arial"/>
              </a:rPr>
              <a:t>&gt; 70%</a:t>
            </a:r>
          </a:p>
        </p:txBody>
      </p:sp>
      <p:sp>
        <p:nvSpPr>
          <p:cNvPr id="8" name="Rounded Rectangle 7"/>
          <p:cNvSpPr/>
          <p:nvPr/>
        </p:nvSpPr>
        <p:spPr>
          <a:xfrm>
            <a:off x="740664" y="2670048"/>
            <a:ext cx="5102352"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761488"/>
            <a:ext cx="3474720" cy="694944"/>
          </a:xfrm>
          <a:prstGeom prst="rect">
            <a:avLst/>
          </a:prstGeom>
          <a:noFill/>
        </p:spPr>
        <p:txBody>
          <a:bodyPr wrap="square" lIns="0" rIns="0" tIns="0" bIns="0" anchor="ctr">
            <a:spAutoFit/>
          </a:bodyPr>
          <a:lstStyle/>
          <a:p>
            <a:pPr algn="l">
              <a:lnSpc>
                <a:spcPct val="105000"/>
              </a:lnSpc>
            </a:pPr>
            <a:r>
              <a:rPr sz="1250" b="1" i="0">
                <a:solidFill>
                  <a:srgbClr val="065A82"/>
                </a:solidFill>
                <a:latin typeface="Arial"/>
              </a:rPr>
              <a:t>Доп. выручка от ML-инструментов</a:t>
            </a:r>
          </a:p>
        </p:txBody>
      </p:sp>
      <p:sp>
        <p:nvSpPr>
          <p:cNvPr id="10" name="TextBox 9"/>
          <p:cNvSpPr txBox="1"/>
          <p:nvPr/>
        </p:nvSpPr>
        <p:spPr>
          <a:xfrm>
            <a:off x="4206240" y="2724912"/>
            <a:ext cx="1517904" cy="768096"/>
          </a:xfrm>
          <a:prstGeom prst="rect">
            <a:avLst/>
          </a:prstGeom>
          <a:noFill/>
        </p:spPr>
        <p:txBody>
          <a:bodyPr wrap="square" lIns="0" rIns="0" tIns="0" bIns="0" anchor="ctr">
            <a:spAutoFit/>
          </a:bodyPr>
          <a:lstStyle/>
          <a:p>
            <a:pPr algn="r">
              <a:lnSpc>
                <a:spcPct val="115000"/>
              </a:lnSpc>
            </a:pPr>
            <a:r>
              <a:rPr sz="2200" b="1" i="0">
                <a:solidFill>
                  <a:srgbClr val="F0AB00"/>
                </a:solidFill>
                <a:latin typeface="Arial"/>
              </a:rPr>
              <a:t>+5 млрд ₽</a:t>
            </a:r>
          </a:p>
        </p:txBody>
      </p:sp>
      <p:sp>
        <p:nvSpPr>
          <p:cNvPr id="11" name="Rounded Rectangle 10"/>
          <p:cNvSpPr/>
          <p:nvPr/>
        </p:nvSpPr>
        <p:spPr>
          <a:xfrm>
            <a:off x="740664" y="3621024"/>
            <a:ext cx="5102352" cy="87782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3712463"/>
            <a:ext cx="3474720" cy="694944"/>
          </a:xfrm>
          <a:prstGeom prst="rect">
            <a:avLst/>
          </a:prstGeom>
          <a:noFill/>
        </p:spPr>
        <p:txBody>
          <a:bodyPr wrap="square" lIns="0" rIns="0" tIns="0" bIns="0" anchor="ctr">
            <a:spAutoFit/>
          </a:bodyPr>
          <a:lstStyle/>
          <a:p>
            <a:pPr algn="l">
              <a:lnSpc>
                <a:spcPct val="105000"/>
              </a:lnSpc>
            </a:pPr>
            <a:r>
              <a:rPr sz="1250" b="1" i="0">
                <a:solidFill>
                  <a:srgbClr val="065A82"/>
                </a:solidFill>
                <a:latin typeface="Arial"/>
              </a:rPr>
              <a:t>Списания просрочки</a:t>
            </a:r>
          </a:p>
        </p:txBody>
      </p:sp>
      <p:sp>
        <p:nvSpPr>
          <p:cNvPr id="13" name="TextBox 12"/>
          <p:cNvSpPr txBox="1"/>
          <p:nvPr/>
        </p:nvSpPr>
        <p:spPr>
          <a:xfrm>
            <a:off x="4206240" y="3675887"/>
            <a:ext cx="1517904" cy="768096"/>
          </a:xfrm>
          <a:prstGeom prst="rect">
            <a:avLst/>
          </a:prstGeom>
          <a:noFill/>
        </p:spPr>
        <p:txBody>
          <a:bodyPr wrap="square" lIns="0" rIns="0" tIns="0" bIns="0" anchor="ctr">
            <a:spAutoFit/>
          </a:bodyPr>
          <a:lstStyle/>
          <a:p>
            <a:pPr algn="r">
              <a:lnSpc>
                <a:spcPct val="115000"/>
              </a:lnSpc>
            </a:pPr>
            <a:r>
              <a:rPr sz="2200" b="1" i="0">
                <a:solidFill>
                  <a:srgbClr val="21295C"/>
                </a:solidFill>
                <a:latin typeface="Arial"/>
              </a:rPr>
              <a:t>−2%</a:t>
            </a:r>
          </a:p>
        </p:txBody>
      </p:sp>
      <p:sp>
        <p:nvSpPr>
          <p:cNvPr id="14" name="Rounded Rectangle 13"/>
          <p:cNvSpPr/>
          <p:nvPr/>
        </p:nvSpPr>
        <p:spPr>
          <a:xfrm>
            <a:off x="6263640" y="1188720"/>
            <a:ext cx="544068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1383" y="1335024"/>
            <a:ext cx="4965192"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Магнит — импортозамещение прогнозных систем</a:t>
            </a:r>
          </a:p>
        </p:txBody>
      </p:sp>
      <p:sp>
        <p:nvSpPr>
          <p:cNvPr id="16" name="TextBox 15"/>
          <p:cNvSpPr txBox="1"/>
          <p:nvPr/>
        </p:nvSpPr>
        <p:spPr>
          <a:xfrm>
            <a:off x="6501383" y="1755648"/>
            <a:ext cx="1417320" cy="603504"/>
          </a:xfrm>
          <a:prstGeom prst="rect">
            <a:avLst/>
          </a:prstGeom>
          <a:noFill/>
        </p:spPr>
        <p:txBody>
          <a:bodyPr wrap="square" lIns="0" rIns="0" tIns="0" bIns="0" anchor="ctr">
            <a:spAutoFit/>
          </a:bodyPr>
          <a:lstStyle/>
          <a:p>
            <a:pPr algn="l">
              <a:lnSpc>
                <a:spcPct val="115000"/>
              </a:lnSpc>
            </a:pPr>
            <a:r>
              <a:rPr sz="1250" b="1" i="0">
                <a:solidFill>
                  <a:srgbClr val="028090"/>
                </a:solidFill>
                <a:latin typeface="Arial"/>
              </a:rPr>
              <a:t>До 2022:</a:t>
            </a:r>
          </a:p>
        </p:txBody>
      </p:sp>
      <p:sp>
        <p:nvSpPr>
          <p:cNvPr id="17" name="TextBox 16"/>
          <p:cNvSpPr txBox="1"/>
          <p:nvPr/>
        </p:nvSpPr>
        <p:spPr>
          <a:xfrm>
            <a:off x="7964423" y="1755648"/>
            <a:ext cx="3502152" cy="603504"/>
          </a:xfrm>
          <a:prstGeom prst="rect">
            <a:avLst/>
          </a:prstGeom>
          <a:noFill/>
        </p:spPr>
        <p:txBody>
          <a:bodyPr wrap="square" lIns="0" rIns="0" tIns="0" bIns="0" anchor="ctr">
            <a:spAutoFit/>
          </a:bodyPr>
          <a:lstStyle/>
          <a:p>
            <a:pPr algn="l">
              <a:lnSpc>
                <a:spcPct val="105000"/>
              </a:lnSpc>
            </a:pPr>
            <a:r>
              <a:rPr sz="1250" b="0" i="0">
                <a:solidFill>
                  <a:srgbClr val="21295C"/>
                </a:solidFill>
                <a:latin typeface="Arial"/>
              </a:rPr>
              <a:t>иностранные вендоры класса SAP / Blue Yonder</a:t>
            </a:r>
          </a:p>
        </p:txBody>
      </p:sp>
      <p:sp>
        <p:nvSpPr>
          <p:cNvPr id="18" name="TextBox 17"/>
          <p:cNvSpPr txBox="1"/>
          <p:nvPr/>
        </p:nvSpPr>
        <p:spPr>
          <a:xfrm>
            <a:off x="6501383" y="2432304"/>
            <a:ext cx="1417320" cy="603504"/>
          </a:xfrm>
          <a:prstGeom prst="rect">
            <a:avLst/>
          </a:prstGeom>
          <a:noFill/>
        </p:spPr>
        <p:txBody>
          <a:bodyPr wrap="square" lIns="0" rIns="0" tIns="0" bIns="0" anchor="ctr">
            <a:spAutoFit/>
          </a:bodyPr>
          <a:lstStyle/>
          <a:p>
            <a:pPr algn="l">
              <a:lnSpc>
                <a:spcPct val="115000"/>
              </a:lnSpc>
            </a:pPr>
            <a:r>
              <a:rPr sz="1250" b="1" i="0">
                <a:solidFill>
                  <a:srgbClr val="028090"/>
                </a:solidFill>
                <a:latin typeface="Arial"/>
              </a:rPr>
              <a:t>После ухода:</a:t>
            </a:r>
          </a:p>
        </p:txBody>
      </p:sp>
      <p:sp>
        <p:nvSpPr>
          <p:cNvPr id="19" name="TextBox 18"/>
          <p:cNvSpPr txBox="1"/>
          <p:nvPr/>
        </p:nvSpPr>
        <p:spPr>
          <a:xfrm>
            <a:off x="7964423" y="2432304"/>
            <a:ext cx="3502152" cy="603504"/>
          </a:xfrm>
          <a:prstGeom prst="rect">
            <a:avLst/>
          </a:prstGeom>
          <a:noFill/>
        </p:spPr>
        <p:txBody>
          <a:bodyPr wrap="square" lIns="0" rIns="0" tIns="0" bIns="0" anchor="ctr">
            <a:spAutoFit/>
          </a:bodyPr>
          <a:lstStyle/>
          <a:p>
            <a:pPr algn="l">
              <a:lnSpc>
                <a:spcPct val="105000"/>
              </a:lnSpc>
            </a:pPr>
            <a:r>
              <a:rPr sz="1250" b="0" i="0">
                <a:solidFill>
                  <a:srgbClr val="21295C"/>
                </a:solidFill>
                <a:latin typeface="Arial"/>
              </a:rPr>
              <a:t>собственная система прогноза + автозаказа (F&amp;R)</a:t>
            </a:r>
          </a:p>
        </p:txBody>
      </p:sp>
      <p:sp>
        <p:nvSpPr>
          <p:cNvPr id="20" name="TextBox 19"/>
          <p:cNvSpPr txBox="1"/>
          <p:nvPr/>
        </p:nvSpPr>
        <p:spPr>
          <a:xfrm>
            <a:off x="6501383" y="3108960"/>
            <a:ext cx="1417320" cy="603504"/>
          </a:xfrm>
          <a:prstGeom prst="rect">
            <a:avLst/>
          </a:prstGeom>
          <a:noFill/>
        </p:spPr>
        <p:txBody>
          <a:bodyPr wrap="square" lIns="0" rIns="0" tIns="0" bIns="0" anchor="ctr">
            <a:spAutoFit/>
          </a:bodyPr>
          <a:lstStyle/>
          <a:p>
            <a:pPr algn="l">
              <a:lnSpc>
                <a:spcPct val="115000"/>
              </a:lnSpc>
            </a:pPr>
            <a:r>
              <a:rPr sz="1250" b="1" i="0">
                <a:solidFill>
                  <a:srgbClr val="028090"/>
                </a:solidFill>
                <a:latin typeface="Arial"/>
              </a:rPr>
              <a:t>Статус:</a:t>
            </a:r>
          </a:p>
        </p:txBody>
      </p:sp>
      <p:sp>
        <p:nvSpPr>
          <p:cNvPr id="21" name="TextBox 20"/>
          <p:cNvSpPr txBox="1"/>
          <p:nvPr/>
        </p:nvSpPr>
        <p:spPr>
          <a:xfrm>
            <a:off x="7964423" y="3108960"/>
            <a:ext cx="3502152" cy="603504"/>
          </a:xfrm>
          <a:prstGeom prst="rect">
            <a:avLst/>
          </a:prstGeom>
          <a:noFill/>
        </p:spPr>
        <p:txBody>
          <a:bodyPr wrap="square" lIns="0" rIns="0" tIns="0" bIns="0" anchor="ctr">
            <a:spAutoFit/>
          </a:bodyPr>
          <a:lstStyle/>
          <a:p>
            <a:pPr algn="l">
              <a:lnSpc>
                <a:spcPct val="105000"/>
              </a:lnSpc>
            </a:pPr>
            <a:r>
              <a:rPr sz="1250" b="0" i="0">
                <a:solidFill>
                  <a:srgbClr val="21295C"/>
                </a:solidFill>
                <a:latin typeface="Arial"/>
              </a:rPr>
              <a:t>пилот на распределительном центре (2024–2025)</a:t>
            </a:r>
          </a:p>
        </p:txBody>
      </p:sp>
      <p:sp>
        <p:nvSpPr>
          <p:cNvPr id="22" name="Rounded Rectangle 21"/>
          <p:cNvSpPr/>
          <p:nvPr/>
        </p:nvSpPr>
        <p:spPr>
          <a:xfrm>
            <a:off x="6263640" y="3858768"/>
            <a:ext cx="5440680" cy="82296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3096" y="3913631"/>
            <a:ext cx="5001768" cy="713232"/>
          </a:xfrm>
          <a:prstGeom prst="rect">
            <a:avLst/>
          </a:prstGeom>
          <a:noFill/>
        </p:spPr>
        <p:txBody>
          <a:bodyPr wrap="square" lIns="0" rIns="0" tIns="0" bIns="0" anchor="ctr">
            <a:spAutoFit/>
          </a:bodyPr>
          <a:lstStyle/>
          <a:p>
            <a:pPr algn="l">
              <a:lnSpc>
                <a:spcPct val="118000"/>
              </a:lnSpc>
            </a:pPr>
            <a:r>
              <a:rPr sz="1250" b="0" i="0">
                <a:solidFill>
                  <a:srgbClr val="21295C"/>
                </a:solidFill>
                <a:latin typeface="Arial"/>
              </a:rPr>
              <a:t>Уход иностранных вендоров сделал импортозамещение прогнозных систем прямой инженерной задачей отрасли.</a:t>
            </a:r>
          </a:p>
        </p:txBody>
      </p:sp>
      <p:sp>
        <p:nvSpPr>
          <p:cNvPr id="24" name="Rounded Rectangle 23"/>
          <p:cNvSpPr/>
          <p:nvPr/>
        </p:nvSpPr>
        <p:spPr>
          <a:xfrm>
            <a:off x="502920" y="493776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992624"/>
            <a:ext cx="10762488" cy="694944"/>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Ни X5, ни Магнит не решают задачу языковой моделью — они строят специализированные прогнозные системы, потому что ТИП ИИ ДИКТУЕТСЯ ЗАДАЧЕЙ.</a:t>
            </a:r>
          </a:p>
        </p:txBody>
      </p:sp>
      <p:sp>
        <p:nvSpPr>
          <p:cNvPr id="26" name="TextBox 25"/>
          <p:cNvSpPr txBox="1"/>
          <p:nvPr/>
        </p:nvSpPr>
        <p:spPr>
          <a:xfrm>
            <a:off x="502920" y="6437376"/>
            <a:ext cx="11201400" cy="310896"/>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 данным компаний и отраслевых обзоров (X5/TAdviser 2023; shoppers.media/TAdviser 2024–2025); числа — заявленные компаниями, сверяются в день лекции.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Прогноз продлевает паттерны прошлого — здесь его сила и уязвимость.</a:t>
            </a:r>
          </a:p>
        </p:txBody>
      </p:sp>
      <p:sp>
        <p:nvSpPr>
          <p:cNvPr id="3" name="Rounded Rectangle 2"/>
          <p:cNvSpPr/>
          <p:nvPr/>
        </p:nvSpPr>
        <p:spPr>
          <a:xfrm>
            <a:off x="502920" y="1115568"/>
            <a:ext cx="667512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08-timeseries-decomp.png"/>
          <p:cNvPicPr>
            <a:picLocks noChangeAspect="1"/>
          </p:cNvPicPr>
          <p:nvPr/>
        </p:nvPicPr>
        <p:blipFill>
          <a:blip r:embed="rId2"/>
          <a:stretch>
            <a:fillRect/>
          </a:stretch>
        </p:blipFill>
        <p:spPr>
          <a:xfrm>
            <a:off x="685800" y="1465118"/>
            <a:ext cx="6309359" cy="2638459"/>
          </a:xfrm>
          <a:prstGeom prst="rect">
            <a:avLst/>
          </a:prstGeom>
        </p:spPr>
      </p:pic>
      <p:sp>
        <p:nvSpPr>
          <p:cNvPr id="5" name="TextBox 4"/>
          <p:cNvSpPr txBox="1"/>
          <p:nvPr/>
        </p:nvSpPr>
        <p:spPr>
          <a:xfrm>
            <a:off x="722376" y="4343400"/>
            <a:ext cx="6236208" cy="310896"/>
          </a:xfrm>
          <a:prstGeom prst="rect">
            <a:avLst/>
          </a:prstGeom>
          <a:noFill/>
        </p:spPr>
        <p:txBody>
          <a:bodyPr wrap="square" lIns="0" rIns="0" tIns="0" bIns="0" anchor="ctr">
            <a:spAutoFit/>
          </a:bodyPr>
          <a:lstStyle/>
          <a:p>
            <a:pPr algn="l">
              <a:lnSpc>
                <a:spcPct val="105000"/>
              </a:lnSpc>
            </a:pPr>
            <a:r>
              <a:rPr sz="1050" b="0" i="1">
                <a:solidFill>
                  <a:srgbClr val="5B6678"/>
                </a:solidFill>
                <a:latin typeface="Arial"/>
              </a:rPr>
              <a:t>Любой ряд продаж = тренд + сезонность + шум; модель продлевает регулярную часть.</a:t>
            </a:r>
          </a:p>
        </p:txBody>
      </p:sp>
      <p:sp>
        <p:nvSpPr>
          <p:cNvPr id="6" name="Rounded Rectangle 5"/>
          <p:cNvSpPr/>
          <p:nvPr/>
        </p:nvSpPr>
        <p:spPr>
          <a:xfrm>
            <a:off x="7360920" y="1115568"/>
            <a:ext cx="434340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0376" y="1261872"/>
            <a:ext cx="3904487" cy="27432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Что делает модель — численно</a:t>
            </a:r>
          </a:p>
        </p:txBody>
      </p:sp>
      <p:sp>
        <p:nvSpPr>
          <p:cNvPr id="8" name="Oval 7"/>
          <p:cNvSpPr/>
          <p:nvPr/>
        </p:nvSpPr>
        <p:spPr>
          <a:xfrm>
            <a:off x="7598664" y="1655064"/>
            <a:ext cx="109728" cy="10972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36408" y="1609344"/>
            <a:ext cx="3630168" cy="512064"/>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раскладывает историю на тренд + сезонность + шум</a:t>
            </a:r>
          </a:p>
        </p:txBody>
      </p:sp>
      <p:sp>
        <p:nvSpPr>
          <p:cNvPr id="10" name="Oval 9"/>
          <p:cNvSpPr/>
          <p:nvPr/>
        </p:nvSpPr>
        <p:spPr>
          <a:xfrm>
            <a:off x="7598664" y="2185415"/>
            <a:ext cx="109728" cy="10972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36408" y="2139696"/>
            <a:ext cx="3630168" cy="512064"/>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обучается на регулярных паттернах, продлевает их</a:t>
            </a:r>
          </a:p>
        </p:txBody>
      </p:sp>
      <p:sp>
        <p:nvSpPr>
          <p:cNvPr id="12" name="Oval 11"/>
          <p:cNvSpPr/>
          <p:nvPr/>
        </p:nvSpPr>
        <p:spPr>
          <a:xfrm>
            <a:off x="7598664" y="2715768"/>
            <a:ext cx="109728" cy="10972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36408" y="2670048"/>
            <a:ext cx="3630168" cy="512064"/>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добавляет поправки на промо / праздник</a:t>
            </a:r>
          </a:p>
        </p:txBody>
      </p:sp>
      <p:sp>
        <p:nvSpPr>
          <p:cNvPr id="14" name="TextBox 13"/>
          <p:cNvSpPr txBox="1"/>
          <p:nvPr/>
        </p:nvSpPr>
        <p:spPr>
          <a:xfrm>
            <a:off x="7580376" y="3255264"/>
            <a:ext cx="3904487" cy="420624"/>
          </a:xfrm>
          <a:prstGeom prst="rect">
            <a:avLst/>
          </a:prstGeom>
          <a:noFill/>
        </p:spPr>
        <p:txBody>
          <a:bodyPr wrap="square" lIns="0" rIns="0" tIns="0" bIns="0" anchor="t">
            <a:spAutoFit/>
          </a:bodyPr>
          <a:lstStyle/>
          <a:p>
            <a:pPr algn="l">
              <a:lnSpc>
                <a:spcPct val="108000"/>
              </a:lnSpc>
            </a:pPr>
            <a:r>
              <a:rPr sz="1200" b="1" i="0">
                <a:solidFill>
                  <a:srgbClr val="028090"/>
                </a:solidFill>
                <a:latin typeface="Arial"/>
              </a:rPr>
              <a:t>Прогноз → действие: «спрос ≈ N» → «заказать N + запас»</a:t>
            </a:r>
          </a:p>
        </p:txBody>
      </p:sp>
      <p:sp>
        <p:nvSpPr>
          <p:cNvPr id="15" name="TextBox 14"/>
          <p:cNvSpPr txBox="1"/>
          <p:nvPr/>
        </p:nvSpPr>
        <p:spPr>
          <a:xfrm>
            <a:off x="7580376" y="3767328"/>
            <a:ext cx="3904487" cy="914400"/>
          </a:xfrm>
          <a:prstGeom prst="rect">
            <a:avLst/>
          </a:prstGeom>
          <a:noFill/>
        </p:spPr>
        <p:txBody>
          <a:bodyPr wrap="square" lIns="0" rIns="0" tIns="0" bIns="0" anchor="t">
            <a:spAutoFit/>
          </a:bodyPr>
          <a:lstStyle/>
          <a:p>
            <a:pPr algn="l">
              <a:lnSpc>
                <a:spcPct val="116000"/>
              </a:lnSpc>
            </a:pPr>
            <a:r>
              <a:rPr sz="1150" b="0" i="1">
                <a:solidFill>
                  <a:srgbClr val="5B6678"/>
                </a:solidFill>
                <a:latin typeface="Arial"/>
              </a:rPr>
              <a:t>Аналогия: модель прогноза — как опытный товаровед «к выходным возьми больше», но для миллионов пар магазин × товар сразу.</a:t>
            </a:r>
          </a:p>
        </p:txBody>
      </p:sp>
      <p:sp>
        <p:nvSpPr>
          <p:cNvPr id="16" name="Rounded Rectangle 15"/>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919472"/>
            <a:ext cx="10762488" cy="768096"/>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Встроенная уязвимость: прогноз силён ровно настолько, насколько ЗАВТРА ПОХОЖЕ НА ВЧЕРА. Меняется среда качественно — модель уверенно экстраполирует паттерны, которых больше нет. Ключ к следующему слайду.</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Разорил Zillow не дрейф модели, а то, к чему был подключён её выход.</a:t>
            </a:r>
          </a:p>
        </p:txBody>
      </p:sp>
      <p:sp>
        <p:nvSpPr>
          <p:cNvPr id="3" name="Rounded Rectangle 2"/>
          <p:cNvSpPr/>
          <p:nvPr/>
        </p:nvSpPr>
        <p:spPr>
          <a:xfrm>
            <a:off x="502920" y="1060704"/>
            <a:ext cx="64465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43584"/>
            <a:ext cx="5971031" cy="256032"/>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distribution shift (дрейф распределения)</a:t>
            </a:r>
          </a:p>
        </p:txBody>
      </p:sp>
      <p:sp>
        <p:nvSpPr>
          <p:cNvPr id="5" name="TextBox 4"/>
          <p:cNvSpPr txBox="1"/>
          <p:nvPr/>
        </p:nvSpPr>
        <p:spPr>
          <a:xfrm>
            <a:off x="740664" y="1517904"/>
            <a:ext cx="5971031" cy="548640"/>
          </a:xfrm>
          <a:prstGeom prst="rect">
            <a:avLst/>
          </a:prstGeom>
          <a:noFill/>
        </p:spPr>
        <p:txBody>
          <a:bodyPr wrap="square" lIns="0" rIns="0" tIns="0" bIns="0" anchor="t">
            <a:spAutoFit/>
          </a:bodyPr>
          <a:lstStyle/>
          <a:p>
            <a:pPr algn="l">
              <a:lnSpc>
                <a:spcPct val="112000"/>
              </a:lnSpc>
            </a:pPr>
            <a:r>
              <a:rPr sz="1200" b="0" i="0">
                <a:solidFill>
                  <a:srgbClr val="21295C"/>
                </a:solidFill>
                <a:latin typeface="Arial"/>
              </a:rPr>
              <a:t>данные в реальности перестали быть похожи на обучающие — рынок жилья 2020–2021 стал статистически другим</a:t>
            </a:r>
          </a:p>
        </p:txBody>
      </p:sp>
      <p:sp>
        <p:nvSpPr>
          <p:cNvPr id="6" name="TextBox 5"/>
          <p:cNvSpPr txBox="1"/>
          <p:nvPr/>
        </p:nvSpPr>
        <p:spPr>
          <a:xfrm>
            <a:off x="740664" y="2176272"/>
            <a:ext cx="5971031" cy="256032"/>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асимметрия цены ошибки</a:t>
            </a:r>
          </a:p>
        </p:txBody>
      </p:sp>
      <p:sp>
        <p:nvSpPr>
          <p:cNvPr id="7" name="TextBox 6"/>
          <p:cNvSpPr txBox="1"/>
          <p:nvPr/>
        </p:nvSpPr>
        <p:spPr>
          <a:xfrm>
            <a:off x="740664" y="2450591"/>
            <a:ext cx="5971031" cy="548640"/>
          </a:xfrm>
          <a:prstGeom prst="rect">
            <a:avLst/>
          </a:prstGeom>
          <a:noFill/>
        </p:spPr>
        <p:txBody>
          <a:bodyPr wrap="square" lIns="0" rIns="0" tIns="0" bIns="0" anchor="t">
            <a:spAutoFit/>
          </a:bodyPr>
          <a:lstStyle/>
          <a:p>
            <a:pPr algn="l">
              <a:lnSpc>
                <a:spcPct val="112000"/>
              </a:lnSpc>
            </a:pPr>
            <a:r>
              <a:rPr sz="1200" b="0" i="0">
                <a:solidFill>
                  <a:srgbClr val="21295C"/>
                </a:solidFill>
                <a:latin typeface="Arial"/>
              </a:rPr>
              <a:t>ошибка рекомендации ≈ 0 · та же ошибка, на которой куплен дом = десятки тыс. $ × N, и НЕОБРАТИМА</a:t>
            </a:r>
          </a:p>
        </p:txBody>
      </p:sp>
      <p:sp>
        <p:nvSpPr>
          <p:cNvPr id="8" name="TextBox 7"/>
          <p:cNvSpPr txBox="1"/>
          <p:nvPr/>
        </p:nvSpPr>
        <p:spPr>
          <a:xfrm>
            <a:off x="740664" y="3108960"/>
            <a:ext cx="5971031" cy="256032"/>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Три вещи вместе = фатально</a:t>
            </a:r>
          </a:p>
        </p:txBody>
      </p:sp>
      <p:sp>
        <p:nvSpPr>
          <p:cNvPr id="9" name="TextBox 8"/>
          <p:cNvSpPr txBox="1"/>
          <p:nvPr/>
        </p:nvSpPr>
        <p:spPr>
          <a:xfrm>
            <a:off x="740664" y="3383279"/>
            <a:ext cx="5971031" cy="548640"/>
          </a:xfrm>
          <a:prstGeom prst="rect">
            <a:avLst/>
          </a:prstGeom>
          <a:noFill/>
        </p:spPr>
        <p:txBody>
          <a:bodyPr wrap="square" lIns="0" rIns="0" tIns="0" bIns="0" anchor="t">
            <a:spAutoFit/>
          </a:bodyPr>
          <a:lstStyle/>
          <a:p>
            <a:pPr algn="l">
              <a:lnSpc>
                <a:spcPct val="112000"/>
              </a:lnSpc>
            </a:pPr>
            <a:r>
              <a:rPr sz="1200" b="0" i="0">
                <a:solidFill>
                  <a:srgbClr val="21295C"/>
                </a:solidFill>
                <a:latin typeface="Arial"/>
              </a:rPr>
              <a:t>необратимое действие × авто по выходу модели × нестационарная среда без circuit-breaker (авто-стоп при аномалии)</a:t>
            </a:r>
          </a:p>
        </p:txBody>
      </p:sp>
      <p:sp>
        <p:nvSpPr>
          <p:cNvPr id="10" name="Rounded Rectangle 9"/>
          <p:cNvSpPr/>
          <p:nvPr/>
        </p:nvSpPr>
        <p:spPr>
          <a:xfrm>
            <a:off x="740664" y="4078224"/>
            <a:ext cx="5971031" cy="566928"/>
          </a:xfrm>
          <a:prstGeom prst="roundRect">
            <a:avLst>
              <a:gd name="adj" fmla="val 14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4078224"/>
            <a:ext cx="5678424" cy="566928"/>
          </a:xfrm>
          <a:prstGeom prst="rect">
            <a:avLst/>
          </a:prstGeom>
          <a:noFill/>
        </p:spPr>
        <p:txBody>
          <a:bodyPr wrap="square" lIns="0" rIns="0" tIns="0" bIns="0" anchor="ctr">
            <a:spAutoFit/>
          </a:bodyPr>
          <a:lstStyle/>
          <a:p>
            <a:pPr algn="l">
              <a:lnSpc>
                <a:spcPct val="105000"/>
              </a:lnSpc>
            </a:pPr>
            <a:r>
              <a:rPr sz="1150" b="1" i="0">
                <a:solidFill>
                  <a:srgbClr val="028090"/>
                </a:solidFill>
                <a:latin typeface="Arial"/>
              </a:rPr>
              <a:t>Knight Capital, 2012: $440M / ~45 мин на детерм. алгоритме — тот же класс ошибки</a:t>
            </a:r>
          </a:p>
        </p:txBody>
      </p:sp>
      <p:sp>
        <p:nvSpPr>
          <p:cNvPr id="12" name="Rounded Rectangle 11"/>
          <p:cNvSpPr/>
          <p:nvPr/>
        </p:nvSpPr>
        <p:spPr>
          <a:xfrm>
            <a:off x="7132320" y="1060704"/>
            <a:ext cx="45720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0064" y="1188719"/>
            <a:ext cx="409651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Zillow vs Opendoor</a:t>
            </a:r>
          </a:p>
        </p:txBody>
      </p:sp>
      <p:sp>
        <p:nvSpPr>
          <p:cNvPr id="14" name="TextBox 13"/>
          <p:cNvSpPr txBox="1"/>
          <p:nvPr/>
        </p:nvSpPr>
        <p:spPr>
          <a:xfrm>
            <a:off x="7370064" y="1499616"/>
            <a:ext cx="4096512" cy="932688"/>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Тот же тип ИИ, тот же период. Opendoor выжил за счёт более консервативного спреда и риск-дизайна.</a:t>
            </a:r>
          </a:p>
        </p:txBody>
      </p:sp>
      <p:sp>
        <p:nvSpPr>
          <p:cNvPr id="15" name="Rounded Rectangle 14"/>
          <p:cNvSpPr/>
          <p:nvPr/>
        </p:nvSpPr>
        <p:spPr>
          <a:xfrm>
            <a:off x="7132320" y="2688336"/>
            <a:ext cx="4572000" cy="212140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51775" y="2743200"/>
            <a:ext cx="4133087" cy="2011679"/>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Опасно, когда одновременно: (а) выход запускает крупное необратимое действие авто, (б) среда нестационарна, (в) нет circuit-breaker.
Альтернатива: узкий сегмент + human-gate + live error-monitoring + circuit-breaker.</a:t>
            </a:r>
          </a:p>
        </p:txBody>
      </p:sp>
      <p:sp>
        <p:nvSpPr>
          <p:cNvPr id="17" name="Rounded Rectangle 16"/>
          <p:cNvSpPr/>
          <p:nvPr/>
        </p:nvSpPr>
        <p:spPr>
          <a:xfrm>
            <a:off x="502920" y="493776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992624"/>
            <a:ext cx="10762488" cy="713232"/>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Модель делала ровно то, для чего предназначена. Ошибка — инженерное решение, КУДА подключить её выход. Тот же ИИ, другое суждение → банкротство vs выживание.</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726679" y="274320"/>
            <a:ext cx="4206240" cy="5486400"/>
          </a:xfrm>
          <a:prstGeom prst="rect">
            <a:avLst/>
          </a:prstGeom>
          <a:noFill/>
        </p:spPr>
        <p:txBody>
          <a:bodyPr wrap="square" lIns="0" rIns="0" tIns="0" bIns="0" anchor="ctr">
            <a:spAutoFit/>
          </a:bodyPr>
          <a:lstStyle/>
          <a:p>
            <a:pPr algn="ctr">
              <a:lnSpc>
                <a:spcPct val="100000"/>
              </a:lnSpc>
            </a:pPr>
            <a:r>
              <a:rPr sz="40000" b="1" i="0">
                <a:solidFill>
                  <a:srgbClr val="D9E2EC"/>
                </a:solidFill>
                <a:latin typeface="Arial"/>
              </a:rPr>
              <a:t>2</a:t>
            </a:r>
          </a:p>
        </p:txBody>
      </p:sp>
      <p:sp>
        <p:nvSpPr>
          <p:cNvPr id="3" name="TextBox 2"/>
          <p:cNvSpPr txBox="1"/>
          <p:nvPr/>
        </p:nvSpPr>
        <p:spPr>
          <a:xfrm>
            <a:off x="685800" y="1417320"/>
            <a:ext cx="676656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949440" cy="1691640"/>
          </a:xfrm>
          <a:prstGeom prst="rect">
            <a:avLst/>
          </a:prstGeom>
          <a:noFill/>
        </p:spPr>
        <p:txBody>
          <a:bodyPr wrap="square" lIns="0" rIns="0" tIns="0" bIns="0" anchor="t">
            <a:spAutoFit/>
          </a:bodyPr>
          <a:lstStyle/>
          <a:p>
            <a:pPr algn="l">
              <a:lnSpc>
                <a:spcPct val="108000"/>
              </a:lnSpc>
            </a:pPr>
            <a:r>
              <a:rPr sz="3600" b="1" i="0">
                <a:solidFill>
                  <a:srgbClr val="21295C"/>
                </a:solidFill>
                <a:latin typeface="Arial"/>
              </a:rPr>
              <a:t>Поиск аномалий:
фрод и AML</a:t>
            </a:r>
          </a:p>
        </p:txBody>
      </p:sp>
      <p:sp>
        <p:nvSpPr>
          <p:cNvPr id="6" name="TextBox 5"/>
          <p:cNvSpPr txBox="1"/>
          <p:nvPr/>
        </p:nvSpPr>
        <p:spPr>
          <a:xfrm>
            <a:off x="713232" y="4224528"/>
            <a:ext cx="6858000" cy="141732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Прогноз — про будущее; теперь про настоящее — поймать аномалию за миллисекунды, пока платёж ещё не прошёл.</a:t>
            </a:r>
          </a:p>
        </p:txBody>
      </p:sp>
      <p:sp>
        <p:nvSpPr>
          <p:cNvPr id="7" name="Rounded Rectangle 6"/>
          <p:cNvSpPr/>
          <p:nvPr/>
        </p:nvSpPr>
        <p:spPr>
          <a:xfrm>
            <a:off x="50292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0</a:t>
            </a:r>
          </a:p>
        </p:txBody>
      </p:sp>
      <p:sp>
        <p:nvSpPr>
          <p:cNvPr id="9" name="TextBox 8"/>
          <p:cNvSpPr txBox="1"/>
          <p:nvPr/>
        </p:nvSpPr>
        <p:spPr>
          <a:xfrm>
            <a:off x="53949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Открытие</a:t>
            </a:r>
          </a:p>
        </p:txBody>
      </p:sp>
      <p:sp>
        <p:nvSpPr>
          <p:cNvPr id="10" name="Rounded Rectangle 9"/>
          <p:cNvSpPr/>
          <p:nvPr/>
        </p:nvSpPr>
        <p:spPr>
          <a:xfrm>
            <a:off x="2118795"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55371"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1</a:t>
            </a:r>
          </a:p>
        </p:txBody>
      </p:sp>
      <p:sp>
        <p:nvSpPr>
          <p:cNvPr id="12" name="TextBox 11"/>
          <p:cNvSpPr txBox="1"/>
          <p:nvPr/>
        </p:nvSpPr>
        <p:spPr>
          <a:xfrm>
            <a:off x="2155371"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Прогноз</a:t>
            </a:r>
          </a:p>
        </p:txBody>
      </p:sp>
      <p:sp>
        <p:nvSpPr>
          <p:cNvPr id="13" name="Rounded Rectangle 12"/>
          <p:cNvSpPr/>
          <p:nvPr/>
        </p:nvSpPr>
        <p:spPr>
          <a:xfrm>
            <a:off x="3734670" y="5943600"/>
            <a:ext cx="1506147" cy="54864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71246" y="6007608"/>
            <a:ext cx="1432995" cy="201168"/>
          </a:xfrm>
          <a:prstGeom prst="rect">
            <a:avLst/>
          </a:prstGeom>
          <a:noFill/>
        </p:spPr>
        <p:txBody>
          <a:bodyPr wrap="square" lIns="0" rIns="0" tIns="0" bIns="0" anchor="t">
            <a:spAutoFit/>
          </a:bodyPr>
          <a:lstStyle/>
          <a:p>
            <a:pPr algn="ctr">
              <a:lnSpc>
                <a:spcPct val="115000"/>
              </a:lnSpc>
            </a:pPr>
            <a:r>
              <a:rPr sz="1000" b="1" i="0">
                <a:solidFill>
                  <a:srgbClr val="21295C"/>
                </a:solidFill>
                <a:latin typeface="Arial"/>
              </a:rPr>
              <a:t>Раздел 2</a:t>
            </a:r>
          </a:p>
        </p:txBody>
      </p:sp>
      <p:sp>
        <p:nvSpPr>
          <p:cNvPr id="15" name="TextBox 14"/>
          <p:cNvSpPr txBox="1"/>
          <p:nvPr/>
        </p:nvSpPr>
        <p:spPr>
          <a:xfrm>
            <a:off x="3771246" y="6217920"/>
            <a:ext cx="1432995" cy="237744"/>
          </a:xfrm>
          <a:prstGeom prst="rect">
            <a:avLst/>
          </a:prstGeom>
          <a:noFill/>
        </p:spPr>
        <p:txBody>
          <a:bodyPr wrap="square" lIns="0" rIns="0" tIns="0" bIns="0" anchor="t">
            <a:spAutoFit/>
          </a:bodyPr>
          <a:lstStyle/>
          <a:p>
            <a:pPr algn="ctr">
              <a:lnSpc>
                <a:spcPct val="95000"/>
              </a:lnSpc>
            </a:pPr>
            <a:r>
              <a:rPr sz="1050" b="1" i="0">
                <a:solidFill>
                  <a:srgbClr val="21295C"/>
                </a:solidFill>
                <a:latin typeface="Arial"/>
              </a:rPr>
              <a:t>Аномалии</a:t>
            </a:r>
          </a:p>
        </p:txBody>
      </p:sp>
      <p:sp>
        <p:nvSpPr>
          <p:cNvPr id="16" name="Rounded Rectangle 15"/>
          <p:cNvSpPr/>
          <p:nvPr/>
        </p:nvSpPr>
        <p:spPr>
          <a:xfrm>
            <a:off x="5350546"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87122"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3</a:t>
            </a:r>
          </a:p>
        </p:txBody>
      </p:sp>
      <p:sp>
        <p:nvSpPr>
          <p:cNvPr id="18" name="TextBox 17"/>
          <p:cNvSpPr txBox="1"/>
          <p:nvPr/>
        </p:nvSpPr>
        <p:spPr>
          <a:xfrm>
            <a:off x="5387122"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Скоринг</a:t>
            </a:r>
          </a:p>
        </p:txBody>
      </p:sp>
      <p:sp>
        <p:nvSpPr>
          <p:cNvPr id="19" name="Rounded Rectangle 18"/>
          <p:cNvSpPr/>
          <p:nvPr/>
        </p:nvSpPr>
        <p:spPr>
          <a:xfrm>
            <a:off x="6966421"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2997"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4</a:t>
            </a:r>
          </a:p>
        </p:txBody>
      </p:sp>
      <p:sp>
        <p:nvSpPr>
          <p:cNvPr id="21" name="TextBox 20"/>
          <p:cNvSpPr txBox="1"/>
          <p:nvPr/>
        </p:nvSpPr>
        <p:spPr>
          <a:xfrm>
            <a:off x="7002997"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LLM</a:t>
            </a:r>
          </a:p>
        </p:txBody>
      </p:sp>
      <p:sp>
        <p:nvSpPr>
          <p:cNvPr id="22" name="Rounded Rectangle 21"/>
          <p:cNvSpPr/>
          <p:nvPr/>
        </p:nvSpPr>
        <p:spPr>
          <a:xfrm>
            <a:off x="8582297"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8873"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5</a:t>
            </a:r>
          </a:p>
        </p:txBody>
      </p:sp>
      <p:sp>
        <p:nvSpPr>
          <p:cNvPr id="24" name="TextBox 23"/>
          <p:cNvSpPr txBox="1"/>
          <p:nvPr/>
        </p:nvSpPr>
        <p:spPr>
          <a:xfrm>
            <a:off x="8618873"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Рекоменд.</a:t>
            </a:r>
          </a:p>
        </p:txBody>
      </p:sp>
      <p:sp>
        <p:nvSpPr>
          <p:cNvPr id="25" name="Rounded Rectangle 24"/>
          <p:cNvSpPr/>
          <p:nvPr/>
        </p:nvSpPr>
        <p:spPr>
          <a:xfrm>
            <a:off x="10198172"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4748"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6</a:t>
            </a:r>
          </a:p>
        </p:txBody>
      </p:sp>
      <p:sp>
        <p:nvSpPr>
          <p:cNvPr id="27" name="TextBox 26"/>
          <p:cNvSpPr txBox="1"/>
          <p:nvPr/>
        </p:nvSpPr>
        <p:spPr>
          <a:xfrm>
            <a:off x="10234748"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Фреймворк</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Учить «норму клиента» и ловить отклонение — а не учить «как выглядит фрод».</a:t>
            </a:r>
          </a:p>
        </p:txBody>
      </p:sp>
      <p:sp>
        <p:nvSpPr>
          <p:cNvPr id="3" name="Rounded Rectangle 2"/>
          <p:cNvSpPr/>
          <p:nvPr/>
        </p:nvSpPr>
        <p:spPr>
          <a:xfrm>
            <a:off x="502920" y="1097280"/>
            <a:ext cx="507492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11-anomaly-cloud.png"/>
          <p:cNvPicPr>
            <a:picLocks noChangeAspect="1"/>
          </p:cNvPicPr>
          <p:nvPr/>
        </p:nvPicPr>
        <p:blipFill>
          <a:blip r:embed="rId2"/>
          <a:stretch>
            <a:fillRect/>
          </a:stretch>
        </p:blipFill>
        <p:spPr>
          <a:xfrm>
            <a:off x="750787" y="1261872"/>
            <a:ext cx="4579185" cy="3374136"/>
          </a:xfrm>
          <a:prstGeom prst="rect">
            <a:avLst/>
          </a:prstGeom>
        </p:spPr>
      </p:pic>
      <p:sp>
        <p:nvSpPr>
          <p:cNvPr id="5" name="Rounded Rectangle 4"/>
          <p:cNvSpPr/>
          <p:nvPr/>
        </p:nvSpPr>
        <p:spPr>
          <a:xfrm>
            <a:off x="5760720" y="1097280"/>
            <a:ext cx="59436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98464" y="1243584"/>
            <a:ext cx="5468112" cy="566928"/>
          </a:xfrm>
          <a:prstGeom prst="rect">
            <a:avLst/>
          </a:prstGeom>
          <a:noFill/>
        </p:spPr>
        <p:txBody>
          <a:bodyPr wrap="square" lIns="0" rIns="0" tIns="0" bIns="0" anchor="t">
            <a:spAutoFit/>
          </a:bodyPr>
          <a:lstStyle/>
          <a:p>
            <a:pPr algn="l">
              <a:lnSpc>
                <a:spcPct val="114000"/>
              </a:lnSpc>
            </a:pPr>
            <a:r>
              <a:rPr sz="1300" b="1" i="0">
                <a:solidFill>
                  <a:srgbClr val="065A82"/>
                </a:solidFill>
                <a:latin typeface="Arial"/>
              </a:rPr>
              <a:t>Задача: поймать мошенническую транзакцию в реальном времени, где почти всё легитимно, а доля фрода крайне мала.</a:t>
            </a:r>
          </a:p>
        </p:txBody>
      </p:sp>
      <p:sp>
        <p:nvSpPr>
          <p:cNvPr id="7" name="TextBox 6"/>
          <p:cNvSpPr txBox="1"/>
          <p:nvPr/>
        </p:nvSpPr>
        <p:spPr>
          <a:xfrm>
            <a:off x="5998464" y="1883664"/>
            <a:ext cx="5468112" cy="51206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Тип ИИ — поиск аномалий (anomaly detection): модель строит «норму» клиента и сигналит об отклонениях.</a:t>
            </a:r>
          </a:p>
        </p:txBody>
      </p:sp>
      <p:sp>
        <p:nvSpPr>
          <p:cNvPr id="8" name="TextBox 7"/>
          <p:cNvSpPr txBox="1"/>
          <p:nvPr/>
        </p:nvSpPr>
        <p:spPr>
          <a:xfrm>
            <a:off x="5998464" y="2487168"/>
            <a:ext cx="1691640" cy="512064"/>
          </a:xfrm>
          <a:prstGeom prst="rect">
            <a:avLst/>
          </a:prstGeom>
          <a:noFill/>
        </p:spPr>
        <p:txBody>
          <a:bodyPr wrap="square" lIns="0" rIns="0" tIns="0" bIns="0" anchor="ctr">
            <a:spAutoFit/>
          </a:bodyPr>
          <a:lstStyle/>
          <a:p>
            <a:pPr algn="l">
              <a:lnSpc>
                <a:spcPct val="115000"/>
              </a:lnSpc>
            </a:pPr>
            <a:r>
              <a:rPr sz="1250" b="1" i="0">
                <a:solidFill>
                  <a:srgbClr val="028090"/>
                </a:solidFill>
                <a:latin typeface="Arial"/>
              </a:rPr>
              <a:t>не классификация</a:t>
            </a:r>
          </a:p>
        </p:txBody>
      </p:sp>
      <p:sp>
        <p:nvSpPr>
          <p:cNvPr id="9" name="TextBox 8"/>
          <p:cNvSpPr txBox="1"/>
          <p:nvPr/>
        </p:nvSpPr>
        <p:spPr>
          <a:xfrm>
            <a:off x="7735824" y="2487168"/>
            <a:ext cx="3730752" cy="512064"/>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фрод редок и постоянно меняет форму (движущаяся цель)</a:t>
            </a:r>
          </a:p>
        </p:txBody>
      </p:sp>
      <p:sp>
        <p:nvSpPr>
          <p:cNvPr id="10" name="TextBox 9"/>
          <p:cNvSpPr txBox="1"/>
          <p:nvPr/>
        </p:nvSpPr>
        <p:spPr>
          <a:xfrm>
            <a:off x="5998464" y="3035808"/>
            <a:ext cx="1691640" cy="512064"/>
          </a:xfrm>
          <a:prstGeom prst="rect">
            <a:avLst/>
          </a:prstGeom>
          <a:noFill/>
        </p:spPr>
        <p:txBody>
          <a:bodyPr wrap="square" lIns="0" rIns="0" tIns="0" bIns="0" anchor="ctr">
            <a:spAutoFit/>
          </a:bodyPr>
          <a:lstStyle/>
          <a:p>
            <a:pPr algn="l">
              <a:lnSpc>
                <a:spcPct val="115000"/>
              </a:lnSpc>
            </a:pPr>
            <a:r>
              <a:rPr sz="1250" b="1" i="0">
                <a:solidFill>
                  <a:srgbClr val="028090"/>
                </a:solidFill>
                <a:latin typeface="Arial"/>
              </a:rPr>
              <a:t>не прогноз ряда</a:t>
            </a:r>
          </a:p>
        </p:txBody>
      </p:sp>
      <p:sp>
        <p:nvSpPr>
          <p:cNvPr id="11" name="TextBox 10"/>
          <p:cNvSpPr txBox="1"/>
          <p:nvPr/>
        </p:nvSpPr>
        <p:spPr>
          <a:xfrm>
            <a:off x="7735824" y="3035808"/>
            <a:ext cx="3730752" cy="512064"/>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вопрос — не «следующее значение», а «насколько не похоже на норму»</a:t>
            </a:r>
          </a:p>
        </p:txBody>
      </p:sp>
      <p:sp>
        <p:nvSpPr>
          <p:cNvPr id="12" name="TextBox 11"/>
          <p:cNvSpPr txBox="1"/>
          <p:nvPr/>
        </p:nvSpPr>
        <p:spPr>
          <a:xfrm>
            <a:off x="5998464" y="3584448"/>
            <a:ext cx="1691640" cy="512064"/>
          </a:xfrm>
          <a:prstGeom prst="rect">
            <a:avLst/>
          </a:prstGeom>
          <a:noFill/>
        </p:spPr>
        <p:txBody>
          <a:bodyPr wrap="square" lIns="0" rIns="0" tIns="0" bIns="0" anchor="ctr">
            <a:spAutoFit/>
          </a:bodyPr>
          <a:lstStyle/>
          <a:p>
            <a:pPr algn="l">
              <a:lnSpc>
                <a:spcPct val="115000"/>
              </a:lnSpc>
            </a:pPr>
            <a:r>
              <a:rPr sz="1250" b="1" i="0">
                <a:solidFill>
                  <a:srgbClr val="028090"/>
                </a:solidFill>
                <a:latin typeface="Arial"/>
              </a:rPr>
              <a:t>не LLM</a:t>
            </a:r>
          </a:p>
        </p:txBody>
      </p:sp>
      <p:sp>
        <p:nvSpPr>
          <p:cNvPr id="13" name="TextBox 12"/>
          <p:cNvSpPr txBox="1"/>
          <p:nvPr/>
        </p:nvSpPr>
        <p:spPr>
          <a:xfrm>
            <a:off x="7735824" y="3584448"/>
            <a:ext cx="3730752" cy="512064"/>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транзакция структурирована; задача геометрическая, не языковая</a:t>
            </a:r>
          </a:p>
        </p:txBody>
      </p:sp>
      <p:sp>
        <p:nvSpPr>
          <p:cNvPr id="14" name="Rounded Rectangle 13"/>
          <p:cNvSpPr/>
          <p:nvPr/>
        </p:nvSpPr>
        <p:spPr>
          <a:xfrm>
            <a:off x="5998464" y="4187951"/>
            <a:ext cx="5468112" cy="566928"/>
          </a:xfrm>
          <a:prstGeom prst="roundRect">
            <a:avLst>
              <a:gd name="adj" fmla="val 12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4187951"/>
            <a:ext cx="5212080" cy="566928"/>
          </a:xfrm>
          <a:prstGeom prst="rect">
            <a:avLst/>
          </a:prstGeom>
          <a:noFill/>
        </p:spPr>
        <p:txBody>
          <a:bodyPr wrap="square" lIns="0" rIns="0" tIns="0" bIns="0" anchor="ctr">
            <a:spAutoFit/>
          </a:bodyPr>
          <a:lstStyle/>
          <a:p>
            <a:pPr algn="l">
              <a:lnSpc>
                <a:spcPct val="105000"/>
              </a:lnSpc>
            </a:pPr>
            <a:r>
              <a:rPr sz="1100" b="0" i="1">
                <a:solidFill>
                  <a:srgbClr val="5B6678"/>
                </a:solidFill>
                <a:latin typeface="Arial"/>
              </a:rPr>
              <a:t>AML — подмножество той же задачи; жёсткие законодательные пороги = детерминированные правила, не модель.</a:t>
            </a:r>
          </a:p>
        </p:txBody>
      </p:sp>
      <p:sp>
        <p:nvSpPr>
          <p:cNvPr id="16" name="Rounded Rectangle 15"/>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Модель не «знает», что это фрод — она знает, что это НЕ ПОХОЖЕ НА НОРМУ, и поднимает флаг для проверки.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Антифрод — это «норма / отклонение» в реальном времени, не генерация.</a:t>
            </a:r>
          </a:p>
        </p:txBody>
      </p:sp>
      <p:sp>
        <p:nvSpPr>
          <p:cNvPr id="3" name="TextBox 2"/>
          <p:cNvSpPr txBox="1"/>
          <p:nvPr/>
        </p:nvSpPr>
        <p:spPr>
          <a:xfrm>
            <a:off x="502920" y="1060704"/>
            <a:ext cx="11201400" cy="27432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Что даёт поиск аномалий в антифроде — каждая метрика в своих единицах:</a:t>
            </a:r>
          </a:p>
        </p:txBody>
      </p:sp>
      <p:sp>
        <p:nvSpPr>
          <p:cNvPr id="4" name="Rounded Rectangle 3"/>
          <p:cNvSpPr/>
          <p:nvPr/>
        </p:nvSpPr>
        <p:spPr>
          <a:xfrm>
            <a:off x="502920" y="1408176"/>
            <a:ext cx="3587496" cy="1975104"/>
          </a:xfrm>
          <a:prstGeom prst="roundRect">
            <a:avLst>
              <a:gd name="adj" fmla="val 154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91056"/>
            <a:ext cx="3221736" cy="310896"/>
          </a:xfrm>
          <a:prstGeom prst="rect">
            <a:avLst/>
          </a:prstGeom>
          <a:noFill/>
        </p:spPr>
        <p:txBody>
          <a:bodyPr wrap="square" lIns="0" rIns="0" tIns="0" bIns="0" anchor="ctr">
            <a:spAutoFit/>
          </a:bodyPr>
          <a:lstStyle/>
          <a:p>
            <a:pPr algn="ctr">
              <a:lnSpc>
                <a:spcPct val="115000"/>
              </a:lnSpc>
            </a:pPr>
            <a:r>
              <a:rPr sz="1400" b="1" i="0">
                <a:solidFill>
                  <a:srgbClr val="065A82"/>
                </a:solidFill>
                <a:latin typeface="Arial"/>
              </a:rPr>
              <a:t>Stripe Radar</a:t>
            </a:r>
          </a:p>
        </p:txBody>
      </p:sp>
      <p:sp>
        <p:nvSpPr>
          <p:cNvPr id="6" name="TextBox 5"/>
          <p:cNvSpPr txBox="1"/>
          <p:nvPr/>
        </p:nvSpPr>
        <p:spPr>
          <a:xfrm>
            <a:off x="649224" y="1975104"/>
            <a:ext cx="3294888" cy="713232"/>
          </a:xfrm>
          <a:prstGeom prst="rect">
            <a:avLst/>
          </a:prstGeom>
          <a:noFill/>
        </p:spPr>
        <p:txBody>
          <a:bodyPr wrap="square" lIns="0" rIns="0" tIns="0" bIns="0" anchor="ctr">
            <a:spAutoFit/>
          </a:bodyPr>
          <a:lstStyle/>
          <a:p>
            <a:pPr algn="ctr">
              <a:lnSpc>
                <a:spcPct val="115000"/>
              </a:lnSpc>
            </a:pPr>
            <a:r>
              <a:rPr sz="3300" b="1" i="0">
                <a:solidFill>
                  <a:srgbClr val="21295C"/>
                </a:solidFill>
                <a:latin typeface="Arial"/>
              </a:rPr>
              <a:t>−32% фрода</a:t>
            </a:r>
          </a:p>
        </p:txBody>
      </p:sp>
      <p:sp>
        <p:nvSpPr>
          <p:cNvPr id="7" name="TextBox 6"/>
          <p:cNvSpPr txBox="1"/>
          <p:nvPr/>
        </p:nvSpPr>
        <p:spPr>
          <a:xfrm>
            <a:off x="685800" y="2743200"/>
            <a:ext cx="3221736" cy="530352"/>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при одобрении легитимных &gt; 99%</a:t>
            </a:r>
          </a:p>
        </p:txBody>
      </p:sp>
      <p:sp>
        <p:nvSpPr>
          <p:cNvPr id="8" name="Rounded Rectangle 7"/>
          <p:cNvSpPr/>
          <p:nvPr/>
        </p:nvSpPr>
        <p:spPr>
          <a:xfrm>
            <a:off x="4309872" y="1408176"/>
            <a:ext cx="3587496" cy="1975104"/>
          </a:xfrm>
          <a:prstGeom prst="roundRect">
            <a:avLst>
              <a:gd name="adj" fmla="val 154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92752" y="1591056"/>
            <a:ext cx="3221736" cy="310896"/>
          </a:xfrm>
          <a:prstGeom prst="rect">
            <a:avLst/>
          </a:prstGeom>
          <a:noFill/>
        </p:spPr>
        <p:txBody>
          <a:bodyPr wrap="square" lIns="0" rIns="0" tIns="0" bIns="0" anchor="ctr">
            <a:spAutoFit/>
          </a:bodyPr>
          <a:lstStyle/>
          <a:p>
            <a:pPr algn="ctr">
              <a:lnSpc>
                <a:spcPct val="115000"/>
              </a:lnSpc>
            </a:pPr>
            <a:r>
              <a:rPr sz="1400" b="1" i="0">
                <a:solidFill>
                  <a:srgbClr val="065A82"/>
                </a:solidFill>
                <a:latin typeface="Arial"/>
              </a:rPr>
              <a:t>JPMorgan</a:t>
            </a:r>
          </a:p>
        </p:txBody>
      </p:sp>
      <p:sp>
        <p:nvSpPr>
          <p:cNvPr id="10" name="TextBox 9"/>
          <p:cNvSpPr txBox="1"/>
          <p:nvPr/>
        </p:nvSpPr>
        <p:spPr>
          <a:xfrm>
            <a:off x="4456176" y="1975104"/>
            <a:ext cx="3294888" cy="713232"/>
          </a:xfrm>
          <a:prstGeom prst="rect">
            <a:avLst/>
          </a:prstGeom>
          <a:noFill/>
        </p:spPr>
        <p:txBody>
          <a:bodyPr wrap="square" lIns="0" rIns="0" tIns="0" bIns="0" anchor="ctr">
            <a:spAutoFit/>
          </a:bodyPr>
          <a:lstStyle/>
          <a:p>
            <a:pPr algn="ctr">
              <a:lnSpc>
                <a:spcPct val="115000"/>
              </a:lnSpc>
            </a:pPr>
            <a:r>
              <a:rPr sz="3300" b="1" i="0">
                <a:solidFill>
                  <a:srgbClr val="21295C"/>
                </a:solidFill>
                <a:latin typeface="Arial"/>
              </a:rPr>
              <a:t>−30% ложных</a:t>
            </a:r>
          </a:p>
        </p:txBody>
      </p:sp>
      <p:sp>
        <p:nvSpPr>
          <p:cNvPr id="11" name="TextBox 10"/>
          <p:cNvSpPr txBox="1"/>
          <p:nvPr/>
        </p:nvSpPr>
        <p:spPr>
          <a:xfrm>
            <a:off x="4492752" y="2743200"/>
            <a:ext cx="3221736" cy="530352"/>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меньше ложных срабатываний</a:t>
            </a:r>
          </a:p>
        </p:txBody>
      </p:sp>
      <p:sp>
        <p:nvSpPr>
          <p:cNvPr id="12" name="Rounded Rectangle 11"/>
          <p:cNvSpPr/>
          <p:nvPr/>
        </p:nvSpPr>
        <p:spPr>
          <a:xfrm>
            <a:off x="8116823" y="1408176"/>
            <a:ext cx="3587496" cy="1975104"/>
          </a:xfrm>
          <a:prstGeom prst="roundRect">
            <a:avLst>
              <a:gd name="adj" fmla="val 154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9703" y="1591056"/>
            <a:ext cx="3221736" cy="310896"/>
          </a:xfrm>
          <a:prstGeom prst="rect">
            <a:avLst/>
          </a:prstGeom>
          <a:noFill/>
        </p:spPr>
        <p:txBody>
          <a:bodyPr wrap="square" lIns="0" rIns="0" tIns="0" bIns="0" anchor="ctr">
            <a:spAutoFit/>
          </a:bodyPr>
          <a:lstStyle/>
          <a:p>
            <a:pPr algn="ctr">
              <a:lnSpc>
                <a:spcPct val="115000"/>
              </a:lnSpc>
            </a:pPr>
            <a:r>
              <a:rPr sz="1400" b="1" i="0">
                <a:solidFill>
                  <a:srgbClr val="065A82"/>
                </a:solidFill>
                <a:latin typeface="Arial"/>
              </a:rPr>
              <a:t>Visa · предотвращено</a:t>
            </a:r>
          </a:p>
        </p:txBody>
      </p:sp>
      <p:sp>
        <p:nvSpPr>
          <p:cNvPr id="14" name="TextBox 13"/>
          <p:cNvSpPr txBox="1"/>
          <p:nvPr/>
        </p:nvSpPr>
        <p:spPr>
          <a:xfrm>
            <a:off x="8263127" y="1975104"/>
            <a:ext cx="3294888" cy="713232"/>
          </a:xfrm>
          <a:prstGeom prst="rect">
            <a:avLst/>
          </a:prstGeom>
          <a:noFill/>
        </p:spPr>
        <p:txBody>
          <a:bodyPr wrap="square" lIns="0" rIns="0" tIns="0" bIns="0" anchor="ctr">
            <a:spAutoFit/>
          </a:bodyPr>
          <a:lstStyle/>
          <a:p>
            <a:pPr algn="ctr">
              <a:lnSpc>
                <a:spcPct val="115000"/>
              </a:lnSpc>
            </a:pPr>
            <a:r>
              <a:rPr sz="3300" b="1" i="0">
                <a:solidFill>
                  <a:srgbClr val="F0AB00"/>
                </a:solidFill>
                <a:latin typeface="Arial"/>
              </a:rPr>
              <a:t>~$40 млрд</a:t>
            </a:r>
          </a:p>
        </p:txBody>
      </p:sp>
      <p:sp>
        <p:nvSpPr>
          <p:cNvPr id="15" name="TextBox 14"/>
          <p:cNvSpPr txBox="1"/>
          <p:nvPr/>
        </p:nvSpPr>
        <p:spPr>
          <a:xfrm>
            <a:off x="8299703" y="2743200"/>
            <a:ext cx="3221736" cy="530352"/>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мошеннических операций (FY2023)</a:t>
            </a:r>
          </a:p>
        </p:txBody>
      </p:sp>
      <p:sp>
        <p:nvSpPr>
          <p:cNvPr id="16" name="Rounded Rectangle 15"/>
          <p:cNvSpPr/>
          <p:nvPr/>
        </p:nvSpPr>
        <p:spPr>
          <a:xfrm>
            <a:off x="502920" y="3584448"/>
            <a:ext cx="548640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694176"/>
            <a:ext cx="5047488" cy="256032"/>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Россия</a:t>
            </a:r>
          </a:p>
        </p:txBody>
      </p:sp>
      <p:sp>
        <p:nvSpPr>
          <p:cNvPr id="18" name="TextBox 17"/>
          <p:cNvSpPr txBox="1"/>
          <p:nvPr/>
        </p:nvSpPr>
        <p:spPr>
          <a:xfrm>
            <a:off x="722376" y="3968496"/>
            <a:ext cx="5047488" cy="51206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Поиск аномалий — стандартная практика крупных банков (по материалам Банка России, 20.11.2025).</a:t>
            </a:r>
          </a:p>
        </p:txBody>
      </p:sp>
      <p:sp>
        <p:nvSpPr>
          <p:cNvPr id="19" name="Rounded Rectangle 18"/>
          <p:cNvSpPr/>
          <p:nvPr/>
        </p:nvSpPr>
        <p:spPr>
          <a:xfrm>
            <a:off x="6217920" y="3584448"/>
            <a:ext cx="5486400" cy="950976"/>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3639312"/>
            <a:ext cx="5047488" cy="841248"/>
          </a:xfrm>
          <a:prstGeom prst="rect">
            <a:avLst/>
          </a:prstGeom>
          <a:noFill/>
        </p:spPr>
        <p:txBody>
          <a:bodyPr wrap="square" lIns="0" rIns="0" tIns="0" bIns="0" anchor="ctr">
            <a:spAutoFit/>
          </a:bodyPr>
          <a:lstStyle/>
          <a:p>
            <a:pPr algn="l">
              <a:lnSpc>
                <a:spcPct val="118000"/>
              </a:lnSpc>
            </a:pPr>
            <a:r>
              <a:rPr sz="1150" b="0" i="0">
                <a:solidFill>
                  <a:srgbClr val="21295C"/>
                </a:solidFill>
                <a:latin typeface="Arial"/>
              </a:rPr>
              <a:t>Заметьте: «снижение ЛОЖНЫХ срабатываний» — ключевая метрика антифрода НЕ «точность вообще», а соотношение двух типов ошибок. Разберём дальше.</a:t>
            </a:r>
          </a:p>
        </p:txBody>
      </p:sp>
      <p:sp>
        <p:nvSpPr>
          <p:cNvPr id="21" name="Rounded Rectangle 20"/>
          <p:cNvSpPr/>
          <p:nvPr/>
        </p:nvSpPr>
        <p:spPr>
          <a:xfrm>
            <a:off x="502920" y="4681728"/>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736592"/>
            <a:ext cx="10762488" cy="676656"/>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Разные единицы — НЕ одна шкала: % снижения, % ложных, млрд $. И всё равно главная метрика — не «accuracy», а FP / FN раздельно.</a:t>
            </a:r>
          </a:p>
        </p:txBody>
      </p:sp>
      <p:sp>
        <p:nvSpPr>
          <p:cNvPr id="23" name="TextBox 22"/>
          <p:cNvSpPr txBox="1"/>
          <p:nvPr/>
        </p:nvSpPr>
        <p:spPr>
          <a:xfrm>
            <a:off x="502920" y="6437376"/>
            <a:ext cx="11201400" cy="310896"/>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Stripe/JPMorgan/Visa — заявленные компаниями; Visa — по сообщениям Reuters/CNBC, июль 2024; РФ — по материалам Банка России, 20.11.2025; числа сверяются в день лекции.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400" b="1" i="0">
                <a:solidFill>
                  <a:srgbClr val="21295C"/>
                </a:solidFill>
                <a:latin typeface="Arial"/>
              </a:rPr>
              <a:t>«Точность 99,9%» при сильном дисбалансе обманчива.</a:t>
            </a:r>
          </a:p>
        </p:txBody>
      </p:sp>
      <p:sp>
        <p:nvSpPr>
          <p:cNvPr id="3" name="Rounded Rectangle 2"/>
          <p:cNvSpPr/>
          <p:nvPr/>
        </p:nvSpPr>
        <p:spPr>
          <a:xfrm>
            <a:off x="502920" y="1078992"/>
            <a:ext cx="6903720" cy="2834640"/>
          </a:xfrm>
          <a:prstGeom prst="roundRect">
            <a:avLst>
              <a:gd name="adj" fmla="val 1075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783080" y="1280160"/>
            <a:ext cx="3017520" cy="237744"/>
          </a:xfrm>
          <a:prstGeom prst="rect">
            <a:avLst/>
          </a:prstGeom>
          <a:noFill/>
        </p:spPr>
        <p:txBody>
          <a:bodyPr wrap="square" lIns="0" rIns="0" tIns="0" bIns="0" anchor="t">
            <a:spAutoFit/>
          </a:bodyPr>
          <a:lstStyle/>
          <a:p>
            <a:pPr algn="ctr">
              <a:lnSpc>
                <a:spcPct val="115000"/>
              </a:lnSpc>
            </a:pPr>
            <a:r>
              <a:rPr sz="1150" b="1" i="0">
                <a:solidFill>
                  <a:srgbClr val="065A82"/>
                </a:solidFill>
                <a:latin typeface="Arial"/>
              </a:rPr>
              <a:t>Было фродом</a:t>
            </a:r>
          </a:p>
        </p:txBody>
      </p:sp>
      <p:sp>
        <p:nvSpPr>
          <p:cNvPr id="5" name="TextBox 4"/>
          <p:cNvSpPr txBox="1"/>
          <p:nvPr/>
        </p:nvSpPr>
        <p:spPr>
          <a:xfrm>
            <a:off x="4800600" y="1280160"/>
            <a:ext cx="3017520" cy="237744"/>
          </a:xfrm>
          <a:prstGeom prst="rect">
            <a:avLst/>
          </a:prstGeom>
          <a:noFill/>
        </p:spPr>
        <p:txBody>
          <a:bodyPr wrap="square" lIns="0" rIns="0" tIns="0" bIns="0" anchor="t">
            <a:spAutoFit/>
          </a:bodyPr>
          <a:lstStyle/>
          <a:p>
            <a:pPr algn="ctr">
              <a:lnSpc>
                <a:spcPct val="115000"/>
              </a:lnSpc>
            </a:pPr>
            <a:r>
              <a:rPr sz="1150" b="1" i="0">
                <a:solidFill>
                  <a:srgbClr val="065A82"/>
                </a:solidFill>
                <a:latin typeface="Arial"/>
              </a:rPr>
              <a:t>Было легитимным</a:t>
            </a:r>
          </a:p>
        </p:txBody>
      </p:sp>
      <p:sp>
        <p:nvSpPr>
          <p:cNvPr id="6" name="TextBox 5"/>
          <p:cNvSpPr txBox="1"/>
          <p:nvPr/>
        </p:nvSpPr>
        <p:spPr>
          <a:xfrm>
            <a:off x="740664" y="1572768"/>
            <a:ext cx="960120" cy="1005840"/>
          </a:xfrm>
          <a:prstGeom prst="rect">
            <a:avLst/>
          </a:prstGeom>
          <a:noFill/>
        </p:spPr>
        <p:txBody>
          <a:bodyPr wrap="square" lIns="0" rIns="0" tIns="0" bIns="0" anchor="ctr">
            <a:spAutoFit/>
          </a:bodyPr>
          <a:lstStyle/>
          <a:p>
            <a:pPr algn="ctr">
              <a:lnSpc>
                <a:spcPct val="100000"/>
              </a:lnSpc>
            </a:pPr>
            <a:r>
              <a:rPr sz="1100" b="1" i="0">
                <a:solidFill>
                  <a:srgbClr val="065A82"/>
                </a:solidFill>
                <a:latin typeface="Arial"/>
              </a:rPr>
              <a:t>Система:
фрод</a:t>
            </a:r>
          </a:p>
        </p:txBody>
      </p:sp>
      <p:sp>
        <p:nvSpPr>
          <p:cNvPr id="7" name="Rounded Rectangle 6"/>
          <p:cNvSpPr/>
          <p:nvPr/>
        </p:nvSpPr>
        <p:spPr>
          <a:xfrm>
            <a:off x="1783080" y="1572768"/>
            <a:ext cx="3017520" cy="1005840"/>
          </a:xfrm>
          <a:prstGeom prst="roundRect">
            <a:avLst>
              <a:gd name="adj" fmla="val 8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92808" y="1645920"/>
            <a:ext cx="2816351" cy="292608"/>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TP</a:t>
            </a:r>
          </a:p>
        </p:txBody>
      </p:sp>
      <p:sp>
        <p:nvSpPr>
          <p:cNvPr id="9" name="TextBox 8"/>
          <p:cNvSpPr txBox="1"/>
          <p:nvPr/>
        </p:nvSpPr>
        <p:spPr>
          <a:xfrm>
            <a:off x="1892808" y="1975104"/>
            <a:ext cx="2816351" cy="530352"/>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поймали (хорошо)</a:t>
            </a:r>
          </a:p>
        </p:txBody>
      </p:sp>
      <p:sp>
        <p:nvSpPr>
          <p:cNvPr id="10" name="Rounded Rectangle 9"/>
          <p:cNvSpPr/>
          <p:nvPr/>
        </p:nvSpPr>
        <p:spPr>
          <a:xfrm>
            <a:off x="4846320" y="1572768"/>
            <a:ext cx="3017520" cy="1005840"/>
          </a:xfrm>
          <a:prstGeom prst="roundRect">
            <a:avLst>
              <a:gd name="adj" fmla="val 8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56048" y="1645920"/>
            <a:ext cx="2816351" cy="292608"/>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FP</a:t>
            </a:r>
          </a:p>
        </p:txBody>
      </p:sp>
      <p:sp>
        <p:nvSpPr>
          <p:cNvPr id="12" name="TextBox 11"/>
          <p:cNvSpPr txBox="1"/>
          <p:nvPr/>
        </p:nvSpPr>
        <p:spPr>
          <a:xfrm>
            <a:off x="4956048" y="1975104"/>
            <a:ext cx="2816351" cy="530352"/>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честный клиент заблокирован
(ошибка первого рода)</a:t>
            </a:r>
          </a:p>
        </p:txBody>
      </p:sp>
      <p:sp>
        <p:nvSpPr>
          <p:cNvPr id="13" name="TextBox 12"/>
          <p:cNvSpPr txBox="1"/>
          <p:nvPr/>
        </p:nvSpPr>
        <p:spPr>
          <a:xfrm>
            <a:off x="740664" y="2688336"/>
            <a:ext cx="960120" cy="1005840"/>
          </a:xfrm>
          <a:prstGeom prst="rect">
            <a:avLst/>
          </a:prstGeom>
          <a:noFill/>
        </p:spPr>
        <p:txBody>
          <a:bodyPr wrap="square" lIns="0" rIns="0" tIns="0" bIns="0" anchor="ctr">
            <a:spAutoFit/>
          </a:bodyPr>
          <a:lstStyle/>
          <a:p>
            <a:pPr algn="ctr">
              <a:lnSpc>
                <a:spcPct val="100000"/>
              </a:lnSpc>
            </a:pPr>
            <a:r>
              <a:rPr sz="1100" b="1" i="0">
                <a:solidFill>
                  <a:srgbClr val="065A82"/>
                </a:solidFill>
                <a:latin typeface="Arial"/>
              </a:rPr>
              <a:t>Система:
пропуск</a:t>
            </a:r>
          </a:p>
        </p:txBody>
      </p:sp>
      <p:sp>
        <p:nvSpPr>
          <p:cNvPr id="14" name="Rounded Rectangle 13"/>
          <p:cNvSpPr/>
          <p:nvPr/>
        </p:nvSpPr>
        <p:spPr>
          <a:xfrm>
            <a:off x="1783080" y="2688336"/>
            <a:ext cx="3017520" cy="1005840"/>
          </a:xfrm>
          <a:prstGeom prst="roundRect">
            <a:avLst>
              <a:gd name="adj" fmla="val 8000"/>
            </a:avLst>
          </a:prstGeom>
          <a:solidFill>
            <a:srgbClr val="E6E9F2"/>
          </a:solidFill>
          <a:ln w="1524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92808" y="2761488"/>
            <a:ext cx="2816351" cy="29260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FN</a:t>
            </a:r>
          </a:p>
        </p:txBody>
      </p:sp>
      <p:sp>
        <p:nvSpPr>
          <p:cNvPr id="16" name="TextBox 15"/>
          <p:cNvSpPr txBox="1"/>
          <p:nvPr/>
        </p:nvSpPr>
        <p:spPr>
          <a:xfrm>
            <a:off x="1892808" y="3090672"/>
            <a:ext cx="2816351" cy="530352"/>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деньги ушли мошеннику
(ошибка второго рода)</a:t>
            </a:r>
          </a:p>
        </p:txBody>
      </p:sp>
      <p:sp>
        <p:nvSpPr>
          <p:cNvPr id="17" name="Rounded Rectangle 16"/>
          <p:cNvSpPr/>
          <p:nvPr/>
        </p:nvSpPr>
        <p:spPr>
          <a:xfrm>
            <a:off x="4846320" y="2688336"/>
            <a:ext cx="3017520" cy="1005840"/>
          </a:xfrm>
          <a:prstGeom prst="roundRect">
            <a:avLst>
              <a:gd name="adj" fmla="val 8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56048" y="2761488"/>
            <a:ext cx="2816351" cy="292608"/>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TN</a:t>
            </a:r>
          </a:p>
        </p:txBody>
      </p:sp>
      <p:sp>
        <p:nvSpPr>
          <p:cNvPr id="19" name="TextBox 18"/>
          <p:cNvSpPr txBox="1"/>
          <p:nvPr/>
        </p:nvSpPr>
        <p:spPr>
          <a:xfrm>
            <a:off x="4956048" y="3090672"/>
            <a:ext cx="2816351" cy="530352"/>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корректно пропустили
(хорошо)</a:t>
            </a:r>
          </a:p>
        </p:txBody>
      </p:sp>
      <p:sp>
        <p:nvSpPr>
          <p:cNvPr id="20" name="Rounded Rectangle 19"/>
          <p:cNvSpPr/>
          <p:nvPr/>
        </p:nvSpPr>
        <p:spPr>
          <a:xfrm>
            <a:off x="7589520" y="1078992"/>
            <a:ext cx="4114800" cy="2834640"/>
          </a:xfrm>
          <a:prstGeom prst="roundRect">
            <a:avLst>
              <a:gd name="adj" fmla="val 1075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6" y="1225295"/>
            <a:ext cx="3675887" cy="27432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Почему accuracy лжёт</a:t>
            </a:r>
          </a:p>
        </p:txBody>
      </p:sp>
      <p:sp>
        <p:nvSpPr>
          <p:cNvPr id="22" name="TextBox 21"/>
          <p:cNvSpPr txBox="1"/>
          <p:nvPr/>
        </p:nvSpPr>
        <p:spPr>
          <a:xfrm>
            <a:off x="7808976" y="1554480"/>
            <a:ext cx="3675887" cy="100584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Поток 1 000 000, фрода 1000 (0,1%). Модель, говорящая «всё легитимно», даёт accuracy 99,9% — и совершенно бесполезна.</a:t>
            </a:r>
          </a:p>
        </p:txBody>
      </p:sp>
      <p:sp>
        <p:nvSpPr>
          <p:cNvPr id="23" name="Rectangle 22"/>
          <p:cNvSpPr/>
          <p:nvPr/>
        </p:nvSpPr>
        <p:spPr>
          <a:xfrm>
            <a:off x="7808976" y="2596896"/>
            <a:ext cx="3675887" cy="1828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08976" y="2706624"/>
            <a:ext cx="3675887" cy="27432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cost-sensitive</a:t>
            </a:r>
          </a:p>
        </p:txBody>
      </p:sp>
      <p:sp>
        <p:nvSpPr>
          <p:cNvPr id="25" name="TextBox 24"/>
          <p:cNvSpPr txBox="1"/>
          <p:nvPr/>
        </p:nvSpPr>
        <p:spPr>
          <a:xfrm>
            <a:off x="7808976" y="3017520"/>
            <a:ext cx="3675887" cy="82296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FP и FN различны по ЦЕНЕ (деньги, доверие). Минимизировать суммарную ожидаемую стоимость, не «красивую» accuracy.</a:t>
            </a:r>
          </a:p>
        </p:txBody>
      </p:sp>
      <p:sp>
        <p:nvSpPr>
          <p:cNvPr id="26" name="TextBox 25"/>
          <p:cNvSpPr txBox="1"/>
          <p:nvPr/>
        </p:nvSpPr>
        <p:spPr>
          <a:xfrm>
            <a:off x="502920" y="4023360"/>
            <a:ext cx="11201400" cy="237744"/>
          </a:xfrm>
          <a:prstGeom prst="rect">
            <a:avLst/>
          </a:prstGeom>
          <a:noFill/>
        </p:spPr>
        <p:txBody>
          <a:bodyPr wrap="square" lIns="0" rIns="0" tIns="0" bIns="0" anchor="t">
            <a:spAutoFit/>
          </a:bodyPr>
          <a:lstStyle/>
          <a:p>
            <a:pPr algn="l">
              <a:lnSpc>
                <a:spcPct val="115000"/>
              </a:lnSpc>
            </a:pPr>
            <a:r>
              <a:rPr sz="1100" b="0" i="1">
                <a:solidFill>
                  <a:srgbClr val="5B6678"/>
                </a:solidFill>
                <a:latin typeface="Arial"/>
              </a:rPr>
              <a:t>Формальный аппарат (sensitivity / specificity) строится в Лекции 7 на медицинском примере; здесь — рабочая интуиция.</a:t>
            </a:r>
          </a:p>
        </p:txBody>
      </p:sp>
      <p:sp>
        <p:nvSpPr>
          <p:cNvPr id="27" name="Rounded Rectangle 26"/>
          <p:cNvSpPr/>
          <p:nvPr/>
        </p:nvSpPr>
        <p:spPr>
          <a:xfrm>
            <a:off x="502920" y="4370832"/>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4425696"/>
            <a:ext cx="10762488" cy="621792"/>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Первый вопрос к любой цифре антифрода — НЕ «какая точность», а «какие FP и FN раздельно и по какой цене».</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«Снизили FP на 25%» усредняет копеечный FP и катастрофический FP.</a:t>
            </a:r>
          </a:p>
        </p:txBody>
      </p:sp>
      <p:sp>
        <p:nvSpPr>
          <p:cNvPr id="3" name="Rounded Rectangle 2"/>
          <p:cNvSpPr/>
          <p:nvPr/>
        </p:nvSpPr>
        <p:spPr>
          <a:xfrm>
            <a:off x="502920" y="1078992"/>
            <a:ext cx="64465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25295"/>
            <a:ext cx="5971031" cy="27432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Тот же класс ошибки — цена на порядки разная</a:t>
            </a:r>
          </a:p>
        </p:txBody>
      </p:sp>
      <p:sp>
        <p:nvSpPr>
          <p:cNvPr id="5" name="Rounded Rectangle 4"/>
          <p:cNvSpPr/>
          <p:nvPr/>
        </p:nvSpPr>
        <p:spPr>
          <a:xfrm>
            <a:off x="740664" y="1554480"/>
            <a:ext cx="5971031"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1627632"/>
            <a:ext cx="5678424"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FP №1 · $5 за кофе</a:t>
            </a:r>
          </a:p>
        </p:txBody>
      </p:sp>
      <p:sp>
        <p:nvSpPr>
          <p:cNvPr id="7" name="TextBox 6"/>
          <p:cNvSpPr txBox="1"/>
          <p:nvPr/>
        </p:nvSpPr>
        <p:spPr>
          <a:xfrm>
            <a:off x="886968" y="1920240"/>
            <a:ext cx="5678424" cy="384048"/>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клиент повторил, забыл через час → цена ≈ 0, ОБРАТИМО</a:t>
            </a:r>
          </a:p>
        </p:txBody>
      </p:sp>
      <p:sp>
        <p:nvSpPr>
          <p:cNvPr id="8" name="Rounded Rectangle 7"/>
          <p:cNvSpPr/>
          <p:nvPr/>
        </p:nvSpPr>
        <p:spPr>
          <a:xfrm>
            <a:off x="740664" y="2414015"/>
            <a:ext cx="5971031"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487168"/>
            <a:ext cx="5678424"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FP №2 · $5000 за лечение за границей</a:t>
            </a:r>
          </a:p>
        </p:txBody>
      </p:sp>
      <p:sp>
        <p:nvSpPr>
          <p:cNvPr id="10" name="TextBox 9"/>
          <p:cNvSpPr txBox="1"/>
          <p:nvPr/>
        </p:nvSpPr>
        <p:spPr>
          <a:xfrm>
            <a:off x="886968" y="2779775"/>
            <a:ext cx="5678424" cy="384048"/>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дозвониться трудно, время критично → НЕОБРАТИМО по последствиям</a:t>
            </a:r>
          </a:p>
        </p:txBody>
      </p:sp>
      <p:sp>
        <p:nvSpPr>
          <p:cNvPr id="11" name="TextBox 10"/>
          <p:cNvSpPr txBox="1"/>
          <p:nvPr/>
        </p:nvSpPr>
        <p:spPr>
          <a:xfrm>
            <a:off x="740664" y="3310127"/>
            <a:ext cx="5971031" cy="676656"/>
          </a:xfrm>
          <a:prstGeom prst="rect">
            <a:avLst/>
          </a:prstGeom>
          <a:noFill/>
        </p:spPr>
        <p:txBody>
          <a:bodyPr wrap="square" lIns="0" rIns="0" tIns="0" bIns="0" anchor="t">
            <a:spAutoFit/>
          </a:bodyPr>
          <a:lstStyle/>
          <a:p>
            <a:pPr algn="l">
              <a:lnSpc>
                <a:spcPct val="112000"/>
              </a:lnSpc>
            </a:pPr>
            <a:r>
              <a:rPr sz="1150" b="1" i="0">
                <a:solidFill>
                  <a:srgbClr val="028090"/>
                </a:solidFill>
                <a:latin typeface="Arial"/>
              </a:rPr>
              <a:t>precision ↔ recall — КОМПРОМИСС, а не задача «обе в ноль». Лучшая модель сдвигает кривую, точку выбирает инженер по цене ошибки.</a:t>
            </a:r>
          </a:p>
        </p:txBody>
      </p:sp>
      <p:sp>
        <p:nvSpPr>
          <p:cNvPr id="12" name="Rounded Rectangle 11"/>
          <p:cNvSpPr/>
          <p:nvPr/>
        </p:nvSpPr>
        <p:spPr>
          <a:xfrm>
            <a:off x="740664" y="4041648"/>
            <a:ext cx="5971031" cy="420624"/>
          </a:xfrm>
          <a:prstGeom prst="roundRect">
            <a:avLst>
              <a:gd name="adj" fmla="val 16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41648"/>
            <a:ext cx="5715000" cy="420624"/>
          </a:xfrm>
          <a:prstGeom prst="rect">
            <a:avLst/>
          </a:prstGeom>
          <a:noFill/>
        </p:spPr>
        <p:txBody>
          <a:bodyPr wrap="square" lIns="0" rIns="0" tIns="0" bIns="0" anchor="ctr">
            <a:spAutoFit/>
          </a:bodyPr>
          <a:lstStyle/>
          <a:p>
            <a:pPr algn="l">
              <a:lnSpc>
                <a:spcPct val="115000"/>
              </a:lnSpc>
            </a:pPr>
            <a:r>
              <a:rPr sz="1100" b="1" i="0">
                <a:solidFill>
                  <a:srgbClr val="028090"/>
                </a:solidFill>
                <a:latin typeface="Arial"/>
              </a:rPr>
              <a:t>Авто-блок необратимого без гейта — класс Zillow / Knight</a:t>
            </a:r>
          </a:p>
        </p:txBody>
      </p:sp>
      <p:sp>
        <p:nvSpPr>
          <p:cNvPr id="14" name="Rounded Rectangle 13"/>
          <p:cNvSpPr/>
          <p:nvPr/>
        </p:nvSpPr>
        <p:spPr>
          <a:xfrm>
            <a:off x="7132320" y="1078992"/>
            <a:ext cx="4572000" cy="3749039"/>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51775" y="1133856"/>
            <a:ext cx="4133087" cy="3639311"/>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Критерий:
• авто-жёсткий блок — только обратимое / мелкое
• крупное / необратимое → мягкий challenge (3DS, звонок, пуш) + быстрый человеческий канал разблокировки
• жёсткий AML-порог — rules-engine (закон, не «с вероятностью 0,97»)
Цена FP усредняет копеечный и катастрофический — измерять раздельно.</a:t>
            </a:r>
          </a:p>
        </p:txBody>
      </p:sp>
      <p:sp>
        <p:nvSpPr>
          <p:cNvPr id="16" name="Rounded Rectangle 15"/>
          <p:cNvSpPr/>
          <p:nvPr/>
        </p:nvSpPr>
        <p:spPr>
          <a:xfrm>
            <a:off x="502920" y="493776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992624"/>
            <a:ext cx="10762488" cy="713232"/>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Масштаб не уменьшает вред: 0,5% ложных от миллиардов = десятки миллионов заблокированных легитимных операций. За каждой — конкретный человек.</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726679" y="274320"/>
            <a:ext cx="4206240" cy="5486400"/>
          </a:xfrm>
          <a:prstGeom prst="rect">
            <a:avLst/>
          </a:prstGeom>
          <a:noFill/>
        </p:spPr>
        <p:txBody>
          <a:bodyPr wrap="square" lIns="0" rIns="0" tIns="0" bIns="0" anchor="ctr">
            <a:spAutoFit/>
          </a:bodyPr>
          <a:lstStyle/>
          <a:p>
            <a:pPr algn="ctr">
              <a:lnSpc>
                <a:spcPct val="100000"/>
              </a:lnSpc>
            </a:pPr>
            <a:r>
              <a:rPr sz="40000" b="1" i="0">
                <a:solidFill>
                  <a:srgbClr val="D9E2EC"/>
                </a:solidFill>
                <a:latin typeface="Arial"/>
              </a:rPr>
              <a:t>3</a:t>
            </a:r>
          </a:p>
        </p:txBody>
      </p:sp>
      <p:sp>
        <p:nvSpPr>
          <p:cNvPr id="3" name="TextBox 2"/>
          <p:cNvSpPr txBox="1"/>
          <p:nvPr/>
        </p:nvSpPr>
        <p:spPr>
          <a:xfrm>
            <a:off x="685800" y="1417320"/>
            <a:ext cx="676656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949440" cy="1691640"/>
          </a:xfrm>
          <a:prstGeom prst="rect">
            <a:avLst/>
          </a:prstGeom>
          <a:noFill/>
        </p:spPr>
        <p:txBody>
          <a:bodyPr wrap="square" lIns="0" rIns="0" tIns="0" bIns="0" anchor="t">
            <a:spAutoFit/>
          </a:bodyPr>
          <a:lstStyle/>
          <a:p>
            <a:pPr algn="l">
              <a:lnSpc>
                <a:spcPct val="108000"/>
              </a:lnSpc>
            </a:pPr>
            <a:r>
              <a:rPr sz="3600" b="1" i="0">
                <a:solidFill>
                  <a:srgbClr val="21295C"/>
                </a:solidFill>
                <a:latin typeface="Arial"/>
              </a:rPr>
              <a:t>Кредитный скоринг:
почему НЕ нейросеть</a:t>
            </a:r>
          </a:p>
        </p:txBody>
      </p:sp>
      <p:sp>
        <p:nvSpPr>
          <p:cNvPr id="6" name="TextBox 5"/>
          <p:cNvSpPr txBox="1"/>
          <p:nvPr/>
        </p:nvSpPr>
        <p:spPr>
          <a:xfrm>
            <a:off x="713232" y="4224528"/>
            <a:ext cx="6858000" cy="141732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Аномалию нашли; теперь решение, которое меняет жизнь клиента, — и почему здесь нельзя чёрный ящик.</a:t>
            </a:r>
          </a:p>
        </p:txBody>
      </p:sp>
      <p:sp>
        <p:nvSpPr>
          <p:cNvPr id="7" name="Rounded Rectangle 6"/>
          <p:cNvSpPr/>
          <p:nvPr/>
        </p:nvSpPr>
        <p:spPr>
          <a:xfrm>
            <a:off x="50292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0</a:t>
            </a:r>
          </a:p>
        </p:txBody>
      </p:sp>
      <p:sp>
        <p:nvSpPr>
          <p:cNvPr id="9" name="TextBox 8"/>
          <p:cNvSpPr txBox="1"/>
          <p:nvPr/>
        </p:nvSpPr>
        <p:spPr>
          <a:xfrm>
            <a:off x="53949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Открытие</a:t>
            </a:r>
          </a:p>
        </p:txBody>
      </p:sp>
      <p:sp>
        <p:nvSpPr>
          <p:cNvPr id="10" name="Rounded Rectangle 9"/>
          <p:cNvSpPr/>
          <p:nvPr/>
        </p:nvSpPr>
        <p:spPr>
          <a:xfrm>
            <a:off x="2118795"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55371"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1</a:t>
            </a:r>
          </a:p>
        </p:txBody>
      </p:sp>
      <p:sp>
        <p:nvSpPr>
          <p:cNvPr id="12" name="TextBox 11"/>
          <p:cNvSpPr txBox="1"/>
          <p:nvPr/>
        </p:nvSpPr>
        <p:spPr>
          <a:xfrm>
            <a:off x="2155371"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Прогноз</a:t>
            </a:r>
          </a:p>
        </p:txBody>
      </p:sp>
      <p:sp>
        <p:nvSpPr>
          <p:cNvPr id="13" name="Rounded Rectangle 12"/>
          <p:cNvSpPr/>
          <p:nvPr/>
        </p:nvSpPr>
        <p:spPr>
          <a:xfrm>
            <a:off x="373467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7124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2</a:t>
            </a:r>
          </a:p>
        </p:txBody>
      </p:sp>
      <p:sp>
        <p:nvSpPr>
          <p:cNvPr id="15" name="TextBox 14"/>
          <p:cNvSpPr txBox="1"/>
          <p:nvPr/>
        </p:nvSpPr>
        <p:spPr>
          <a:xfrm>
            <a:off x="377124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Аномалии</a:t>
            </a:r>
          </a:p>
        </p:txBody>
      </p:sp>
      <p:sp>
        <p:nvSpPr>
          <p:cNvPr id="16" name="Rounded Rectangle 15"/>
          <p:cNvSpPr/>
          <p:nvPr/>
        </p:nvSpPr>
        <p:spPr>
          <a:xfrm>
            <a:off x="5350546" y="5943600"/>
            <a:ext cx="1506147" cy="54864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87122" y="6007608"/>
            <a:ext cx="1432995" cy="201168"/>
          </a:xfrm>
          <a:prstGeom prst="rect">
            <a:avLst/>
          </a:prstGeom>
          <a:noFill/>
        </p:spPr>
        <p:txBody>
          <a:bodyPr wrap="square" lIns="0" rIns="0" tIns="0" bIns="0" anchor="t">
            <a:spAutoFit/>
          </a:bodyPr>
          <a:lstStyle/>
          <a:p>
            <a:pPr algn="ctr">
              <a:lnSpc>
                <a:spcPct val="115000"/>
              </a:lnSpc>
            </a:pPr>
            <a:r>
              <a:rPr sz="1000" b="1" i="0">
                <a:solidFill>
                  <a:srgbClr val="21295C"/>
                </a:solidFill>
                <a:latin typeface="Arial"/>
              </a:rPr>
              <a:t>Раздел 3</a:t>
            </a:r>
          </a:p>
        </p:txBody>
      </p:sp>
      <p:sp>
        <p:nvSpPr>
          <p:cNvPr id="18" name="TextBox 17"/>
          <p:cNvSpPr txBox="1"/>
          <p:nvPr/>
        </p:nvSpPr>
        <p:spPr>
          <a:xfrm>
            <a:off x="5387122" y="6217920"/>
            <a:ext cx="1432995" cy="237744"/>
          </a:xfrm>
          <a:prstGeom prst="rect">
            <a:avLst/>
          </a:prstGeom>
          <a:noFill/>
        </p:spPr>
        <p:txBody>
          <a:bodyPr wrap="square" lIns="0" rIns="0" tIns="0" bIns="0" anchor="t">
            <a:spAutoFit/>
          </a:bodyPr>
          <a:lstStyle/>
          <a:p>
            <a:pPr algn="ctr">
              <a:lnSpc>
                <a:spcPct val="95000"/>
              </a:lnSpc>
            </a:pPr>
            <a:r>
              <a:rPr sz="1050" b="1" i="0">
                <a:solidFill>
                  <a:srgbClr val="21295C"/>
                </a:solidFill>
                <a:latin typeface="Arial"/>
              </a:rPr>
              <a:t>Скоринг</a:t>
            </a:r>
          </a:p>
        </p:txBody>
      </p:sp>
      <p:sp>
        <p:nvSpPr>
          <p:cNvPr id="19" name="Rounded Rectangle 18"/>
          <p:cNvSpPr/>
          <p:nvPr/>
        </p:nvSpPr>
        <p:spPr>
          <a:xfrm>
            <a:off x="6966421"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2997"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4</a:t>
            </a:r>
          </a:p>
        </p:txBody>
      </p:sp>
      <p:sp>
        <p:nvSpPr>
          <p:cNvPr id="21" name="TextBox 20"/>
          <p:cNvSpPr txBox="1"/>
          <p:nvPr/>
        </p:nvSpPr>
        <p:spPr>
          <a:xfrm>
            <a:off x="7002997"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LLM</a:t>
            </a:r>
          </a:p>
        </p:txBody>
      </p:sp>
      <p:sp>
        <p:nvSpPr>
          <p:cNvPr id="22" name="Rounded Rectangle 21"/>
          <p:cNvSpPr/>
          <p:nvPr/>
        </p:nvSpPr>
        <p:spPr>
          <a:xfrm>
            <a:off x="8582297"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8873"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5</a:t>
            </a:r>
          </a:p>
        </p:txBody>
      </p:sp>
      <p:sp>
        <p:nvSpPr>
          <p:cNvPr id="24" name="TextBox 23"/>
          <p:cNvSpPr txBox="1"/>
          <p:nvPr/>
        </p:nvSpPr>
        <p:spPr>
          <a:xfrm>
            <a:off x="8618873"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Рекоменд.</a:t>
            </a:r>
          </a:p>
        </p:txBody>
      </p:sp>
      <p:sp>
        <p:nvSpPr>
          <p:cNvPr id="25" name="Rounded Rectangle 24"/>
          <p:cNvSpPr/>
          <p:nvPr/>
        </p:nvSpPr>
        <p:spPr>
          <a:xfrm>
            <a:off x="10198172"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4748"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6</a:t>
            </a:r>
          </a:p>
        </p:txBody>
      </p:sp>
      <p:sp>
        <p:nvSpPr>
          <p:cNvPr id="27" name="TextBox 26"/>
          <p:cNvSpPr txBox="1"/>
          <p:nvPr/>
        </p:nvSpPr>
        <p:spPr>
          <a:xfrm>
            <a:off x="10234748"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Фреймворк</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Чёрный ящик в скоринге неприменим в принципе — не «менее удобен».</a:t>
            </a:r>
          </a:p>
        </p:txBody>
      </p:sp>
      <p:sp>
        <p:nvSpPr>
          <p:cNvPr id="3" name="Rounded Rectangle 2"/>
          <p:cNvSpPr/>
          <p:nvPr/>
        </p:nvSpPr>
        <p:spPr>
          <a:xfrm>
            <a:off x="502920" y="1060704"/>
            <a:ext cx="5440680" cy="87782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vel-mid.png"/>
          <p:cNvPicPr>
            <a:picLocks noChangeAspect="1"/>
          </p:cNvPicPr>
          <p:nvPr/>
        </p:nvPicPr>
        <p:blipFill>
          <a:blip r:embed="rId2"/>
          <a:stretch>
            <a:fillRect/>
          </a:stretch>
        </p:blipFill>
        <p:spPr>
          <a:xfrm>
            <a:off x="667512" y="1335024"/>
            <a:ext cx="329184" cy="329184"/>
          </a:xfrm>
          <a:prstGeom prst="rect">
            <a:avLst/>
          </a:prstGeom>
        </p:spPr>
      </p:pic>
      <p:sp>
        <p:nvSpPr>
          <p:cNvPr id="5" name="TextBox 4"/>
          <p:cNvSpPr txBox="1"/>
          <p:nvPr/>
        </p:nvSpPr>
        <p:spPr>
          <a:xfrm>
            <a:off x="1106424" y="1152144"/>
            <a:ext cx="4672584"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1. Объяснимость = закон</a:t>
            </a:r>
          </a:p>
        </p:txBody>
      </p:sp>
      <p:sp>
        <p:nvSpPr>
          <p:cNvPr id="6" name="TextBox 5"/>
          <p:cNvSpPr txBox="1"/>
          <p:nvPr/>
        </p:nvSpPr>
        <p:spPr>
          <a:xfrm>
            <a:off x="1106424" y="1426464"/>
            <a:ext cx="467258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клиенту с отказом по закону положено объяснение (reason codes: «высокая долговая нагрузка»). «Алгоритм так решил» — недопустимо.</a:t>
            </a:r>
          </a:p>
        </p:txBody>
      </p:sp>
      <p:sp>
        <p:nvSpPr>
          <p:cNvPr id="7" name="Rounded Rectangle 6"/>
          <p:cNvSpPr/>
          <p:nvPr/>
        </p:nvSpPr>
        <p:spPr>
          <a:xfrm>
            <a:off x="502920" y="2066543"/>
            <a:ext cx="5440680" cy="87782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atabase-mid.png"/>
          <p:cNvPicPr>
            <a:picLocks noChangeAspect="1"/>
          </p:cNvPicPr>
          <p:nvPr/>
        </p:nvPicPr>
        <p:blipFill>
          <a:blip r:embed="rId3"/>
          <a:stretch>
            <a:fillRect/>
          </a:stretch>
        </p:blipFill>
        <p:spPr>
          <a:xfrm>
            <a:off x="667512" y="2340863"/>
            <a:ext cx="329184" cy="329184"/>
          </a:xfrm>
          <a:prstGeom prst="rect">
            <a:avLst/>
          </a:prstGeom>
        </p:spPr>
      </p:pic>
      <p:sp>
        <p:nvSpPr>
          <p:cNvPr id="9" name="TextBox 8"/>
          <p:cNvSpPr txBox="1"/>
          <p:nvPr/>
        </p:nvSpPr>
        <p:spPr>
          <a:xfrm>
            <a:off x="1106424" y="2157984"/>
            <a:ext cx="4672584"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2. Данные табличные</a:t>
            </a:r>
          </a:p>
        </p:txBody>
      </p:sp>
      <p:sp>
        <p:nvSpPr>
          <p:cNvPr id="10" name="TextBox 9"/>
          <p:cNvSpPr txBox="1"/>
          <p:nvPr/>
        </p:nvSpPr>
        <p:spPr>
          <a:xfrm>
            <a:off x="1106424" y="2432303"/>
            <a:ext cx="467258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глубокие сети сильны на тексте/звуке/изображении; на табличных бустинг конкурентен при несравнимо большей интерпретируемости.</a:t>
            </a:r>
          </a:p>
        </p:txBody>
      </p:sp>
      <p:sp>
        <p:nvSpPr>
          <p:cNvPr id="11" name="Rounded Rectangle 10"/>
          <p:cNvSpPr/>
          <p:nvPr/>
        </p:nvSpPr>
        <p:spPr>
          <a:xfrm>
            <a:off x="502920" y="3072384"/>
            <a:ext cx="5440680" cy="87782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adge-check-mid.png"/>
          <p:cNvPicPr>
            <a:picLocks noChangeAspect="1"/>
          </p:cNvPicPr>
          <p:nvPr/>
        </p:nvPicPr>
        <p:blipFill>
          <a:blip r:embed="rId4"/>
          <a:stretch>
            <a:fillRect/>
          </a:stretch>
        </p:blipFill>
        <p:spPr>
          <a:xfrm>
            <a:off x="667512" y="3346704"/>
            <a:ext cx="329184" cy="329184"/>
          </a:xfrm>
          <a:prstGeom prst="rect">
            <a:avLst/>
          </a:prstGeom>
        </p:spPr>
      </p:pic>
      <p:sp>
        <p:nvSpPr>
          <p:cNvPr id="13" name="TextBox 12"/>
          <p:cNvSpPr txBox="1"/>
          <p:nvPr/>
        </p:nvSpPr>
        <p:spPr>
          <a:xfrm>
            <a:off x="1106424" y="3163824"/>
            <a:ext cx="4672584"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3. Аудит &gt; +1% точности</a:t>
            </a:r>
          </a:p>
        </p:txBody>
      </p:sp>
      <p:sp>
        <p:nvSpPr>
          <p:cNvPr id="14" name="TextBox 13"/>
          <p:cNvSpPr txBox="1"/>
          <p:nvPr/>
        </p:nvSpPr>
        <p:spPr>
          <a:xfrm>
            <a:off x="1106424" y="3438144"/>
            <a:ext cx="467258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регулятор должен воспроизвести решение, проверить отсутствие дискриминации. Стабильная объяснимая важнее непрозрачной точнее.</a:t>
            </a:r>
          </a:p>
        </p:txBody>
      </p:sp>
      <p:sp>
        <p:nvSpPr>
          <p:cNvPr id="15" name="Rounded Rectangle 14"/>
          <p:cNvSpPr/>
          <p:nvPr/>
        </p:nvSpPr>
        <p:spPr>
          <a:xfrm>
            <a:off x="502920" y="4078224"/>
            <a:ext cx="5440680" cy="87782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riangle-alert-gold.png"/>
          <p:cNvPicPr>
            <a:picLocks noChangeAspect="1"/>
          </p:cNvPicPr>
          <p:nvPr/>
        </p:nvPicPr>
        <p:blipFill>
          <a:blip r:embed="rId5"/>
          <a:stretch>
            <a:fillRect/>
          </a:stretch>
        </p:blipFill>
        <p:spPr>
          <a:xfrm>
            <a:off x="667512" y="4352544"/>
            <a:ext cx="329184" cy="329184"/>
          </a:xfrm>
          <a:prstGeom prst="rect">
            <a:avLst/>
          </a:prstGeom>
        </p:spPr>
      </p:pic>
      <p:sp>
        <p:nvSpPr>
          <p:cNvPr id="17" name="TextBox 16"/>
          <p:cNvSpPr txBox="1"/>
          <p:nvPr/>
        </p:nvSpPr>
        <p:spPr>
          <a:xfrm>
            <a:off x="1106424" y="4169663"/>
            <a:ext cx="4672584"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4. Что сломается с чёрным ящиком</a:t>
            </a:r>
          </a:p>
        </p:txBody>
      </p:sp>
      <p:sp>
        <p:nvSpPr>
          <p:cNvPr id="18" name="TextBox 17"/>
          <p:cNvSpPr txBox="1"/>
          <p:nvPr/>
        </p:nvSpPr>
        <p:spPr>
          <a:xfrm>
            <a:off x="1106424" y="4443984"/>
            <a:ext cx="467258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нельзя объяснить → нарушение · нельзя аудировать на bias → кризис (Apple Card) · нестабильно → не защитить перед регулятором.</a:t>
            </a:r>
          </a:p>
        </p:txBody>
      </p:sp>
      <p:sp>
        <p:nvSpPr>
          <p:cNvPr id="19" name="Rounded Rectangle 18"/>
          <p:cNvSpPr/>
          <p:nvPr/>
        </p:nvSpPr>
        <p:spPr>
          <a:xfrm>
            <a:off x="6126480" y="1060704"/>
            <a:ext cx="5577840" cy="4151376"/>
          </a:xfrm>
          <a:prstGeom prst="roundRect">
            <a:avLst>
              <a:gd name="adj" fmla="val 734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1188719"/>
            <a:ext cx="5138927"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Аналогия-якорь: кредитный инспектор</a:t>
            </a:r>
          </a:p>
        </p:txBody>
      </p:sp>
      <p:pic>
        <p:nvPicPr>
          <p:cNvPr id="21" name="Picture 20" descr="d16-inspector-reason-codes.png"/>
          <p:cNvPicPr>
            <a:picLocks noChangeAspect="1"/>
          </p:cNvPicPr>
          <p:nvPr/>
        </p:nvPicPr>
        <p:blipFill>
          <a:blip r:embed="rId6"/>
          <a:stretch>
            <a:fillRect/>
          </a:stretch>
        </p:blipFill>
        <p:spPr>
          <a:xfrm>
            <a:off x="6291072" y="1953948"/>
            <a:ext cx="5248655" cy="2090566"/>
          </a:xfrm>
          <a:prstGeom prst="rect">
            <a:avLst/>
          </a:prstGeom>
        </p:spPr>
      </p:pic>
      <p:sp>
        <p:nvSpPr>
          <p:cNvPr id="22" name="TextBox 21"/>
          <p:cNvSpPr txBox="1"/>
          <p:nvPr/>
        </p:nvSpPr>
        <p:spPr>
          <a:xfrm>
            <a:off x="6345936" y="4535424"/>
            <a:ext cx="5138927" cy="566928"/>
          </a:xfrm>
          <a:prstGeom prst="rect">
            <a:avLst/>
          </a:prstGeom>
          <a:noFill/>
        </p:spPr>
        <p:txBody>
          <a:bodyPr wrap="square" lIns="0" rIns="0" tIns="0" bIns="0" anchor="t">
            <a:spAutoFit/>
          </a:bodyPr>
          <a:lstStyle/>
          <a:p>
            <a:pPr algn="l">
              <a:lnSpc>
                <a:spcPct val="110000"/>
              </a:lnSpc>
            </a:pPr>
            <a:r>
              <a:rPr sz="1050" b="0" i="1">
                <a:solidFill>
                  <a:srgbClr val="5B6678"/>
                </a:solidFill>
                <a:latin typeface="Arial"/>
              </a:rPr>
              <a:t>Интерпретируемая модель показывает расчёт построчно (reason codes); чёрный ящик отказывается объяснять.</a:t>
            </a:r>
          </a:p>
        </p:txBody>
      </p:sp>
      <p:sp>
        <p:nvSpPr>
          <p:cNvPr id="23" name="Rounded Rectangle 22"/>
          <p:cNvSpPr/>
          <p:nvPr/>
        </p:nvSpPr>
        <p:spPr>
          <a:xfrm>
            <a:off x="502920" y="53583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413248"/>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«Новое = нейросеть, значит лучше» в скоринге — структурная ошибка: объяснимость здесь не бонус, а УСЛОВИЕ ЗАКОННОСТИ.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«100% решений ИИ» в РФ ≠ нейросеть-чёрный-ящик бесконтрольно.</a:t>
            </a:r>
          </a:p>
        </p:txBody>
      </p:sp>
      <p:sp>
        <p:nvSpPr>
          <p:cNvPr id="3" name="Rounded Rectangle 2"/>
          <p:cNvSpPr/>
          <p:nvPr/>
        </p:nvSpPr>
        <p:spPr>
          <a:xfrm>
            <a:off x="502920" y="1188720"/>
            <a:ext cx="507492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335024"/>
            <a:ext cx="4599431" cy="292608"/>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Сбербанк · с февраля–марта 2024</a:t>
            </a:r>
          </a:p>
        </p:txBody>
      </p:sp>
      <p:sp>
        <p:nvSpPr>
          <p:cNvPr id="5" name="Rounded Rectangle 4"/>
          <p:cNvSpPr/>
          <p:nvPr/>
        </p:nvSpPr>
        <p:spPr>
          <a:xfrm>
            <a:off x="740664" y="1700784"/>
            <a:ext cx="4599431" cy="91440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1792224"/>
            <a:ext cx="4306824" cy="384048"/>
          </a:xfrm>
          <a:prstGeom prst="rect">
            <a:avLst/>
          </a:prstGeom>
          <a:noFill/>
        </p:spPr>
        <p:txBody>
          <a:bodyPr wrap="square" lIns="0" rIns="0" tIns="0" bIns="0" anchor="t">
            <a:spAutoFit/>
          </a:bodyPr>
          <a:lstStyle/>
          <a:p>
            <a:pPr algn="l">
              <a:lnSpc>
                <a:spcPct val="105000"/>
              </a:lnSpc>
            </a:pPr>
            <a:r>
              <a:rPr sz="1200" b="1" i="0">
                <a:solidFill>
                  <a:srgbClr val="065A82"/>
                </a:solidFill>
                <a:latin typeface="Arial"/>
              </a:rPr>
              <a:t>Решения по физлицам</a:t>
            </a:r>
          </a:p>
        </p:txBody>
      </p:sp>
      <p:sp>
        <p:nvSpPr>
          <p:cNvPr id="7" name="TextBox 6"/>
          <p:cNvSpPr txBox="1"/>
          <p:nvPr/>
        </p:nvSpPr>
        <p:spPr>
          <a:xfrm>
            <a:off x="886968" y="2157984"/>
            <a:ext cx="4306824" cy="402336"/>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~100% ИИ</a:t>
            </a:r>
          </a:p>
        </p:txBody>
      </p:sp>
      <p:sp>
        <p:nvSpPr>
          <p:cNvPr id="8" name="Rounded Rectangle 7"/>
          <p:cNvSpPr/>
          <p:nvPr/>
        </p:nvSpPr>
        <p:spPr>
          <a:xfrm>
            <a:off x="740664" y="2688336"/>
            <a:ext cx="4599431" cy="91440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779776"/>
            <a:ext cx="4306824" cy="384048"/>
          </a:xfrm>
          <a:prstGeom prst="rect">
            <a:avLst/>
          </a:prstGeom>
          <a:noFill/>
        </p:spPr>
        <p:txBody>
          <a:bodyPr wrap="square" lIns="0" rIns="0" tIns="0" bIns="0" anchor="t">
            <a:spAutoFit/>
          </a:bodyPr>
          <a:lstStyle/>
          <a:p>
            <a:pPr algn="l">
              <a:lnSpc>
                <a:spcPct val="105000"/>
              </a:lnSpc>
            </a:pPr>
            <a:r>
              <a:rPr sz="1200" b="1" i="0">
                <a:solidFill>
                  <a:srgbClr val="065A82"/>
                </a:solidFill>
                <a:latin typeface="Arial"/>
              </a:rPr>
              <a:t>Скоринговая модель</a:t>
            </a:r>
          </a:p>
        </p:txBody>
      </p:sp>
      <p:sp>
        <p:nvSpPr>
          <p:cNvPr id="10" name="TextBox 9"/>
          <p:cNvSpPr txBox="1"/>
          <p:nvPr/>
        </p:nvSpPr>
        <p:spPr>
          <a:xfrm>
            <a:off x="886968" y="3145536"/>
            <a:ext cx="4306824" cy="402336"/>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до 5000 параметров</a:t>
            </a:r>
          </a:p>
        </p:txBody>
      </p:sp>
      <p:sp>
        <p:nvSpPr>
          <p:cNvPr id="11" name="Rounded Rectangle 10"/>
          <p:cNvSpPr/>
          <p:nvPr/>
        </p:nvSpPr>
        <p:spPr>
          <a:xfrm>
            <a:off x="740664" y="3675888"/>
            <a:ext cx="4599431"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767328"/>
            <a:ext cx="4306824" cy="384048"/>
          </a:xfrm>
          <a:prstGeom prst="rect">
            <a:avLst/>
          </a:prstGeom>
          <a:noFill/>
        </p:spPr>
        <p:txBody>
          <a:bodyPr wrap="square" lIns="0" rIns="0" tIns="0" bIns="0" anchor="t">
            <a:spAutoFit/>
          </a:bodyPr>
          <a:lstStyle/>
          <a:p>
            <a:pPr algn="l">
              <a:lnSpc>
                <a:spcPct val="105000"/>
              </a:lnSpc>
            </a:pPr>
            <a:r>
              <a:rPr sz="1200" b="1" i="0">
                <a:solidFill>
                  <a:srgbClr val="065A82"/>
                </a:solidFill>
                <a:latin typeface="Arial"/>
              </a:rPr>
              <a:t>Эффект ИИ по всем направлениям, 2023</a:t>
            </a:r>
          </a:p>
        </p:txBody>
      </p:sp>
      <p:sp>
        <p:nvSpPr>
          <p:cNvPr id="13" name="TextBox 12"/>
          <p:cNvSpPr txBox="1"/>
          <p:nvPr/>
        </p:nvSpPr>
        <p:spPr>
          <a:xfrm>
            <a:off x="886968" y="4133088"/>
            <a:ext cx="4306824" cy="402336"/>
          </a:xfrm>
          <a:prstGeom prst="rect">
            <a:avLst/>
          </a:prstGeom>
          <a:noFill/>
        </p:spPr>
        <p:txBody>
          <a:bodyPr wrap="square" lIns="0" rIns="0" tIns="0" bIns="0" anchor="t">
            <a:spAutoFit/>
          </a:bodyPr>
          <a:lstStyle/>
          <a:p>
            <a:pPr algn="l">
              <a:lnSpc>
                <a:spcPct val="115000"/>
              </a:lnSpc>
            </a:pPr>
            <a:r>
              <a:rPr sz="2000" b="1" i="0">
                <a:solidFill>
                  <a:srgbClr val="F0AB00"/>
                </a:solidFill>
                <a:latin typeface="Arial"/>
              </a:rPr>
              <a:t>+350 млрд ₽</a:t>
            </a:r>
          </a:p>
        </p:txBody>
      </p:sp>
      <p:sp>
        <p:nvSpPr>
          <p:cNvPr id="14" name="Rounded Rectangle 13"/>
          <p:cNvSpPr/>
          <p:nvPr/>
        </p:nvSpPr>
        <p:spPr>
          <a:xfrm>
            <a:off x="5760720" y="1188720"/>
            <a:ext cx="594360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98464" y="1316736"/>
            <a:ext cx="5468112" cy="256032"/>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«100% ИИ» означает на самом деле:</a:t>
            </a:r>
          </a:p>
        </p:txBody>
      </p:sp>
      <p:sp>
        <p:nvSpPr>
          <p:cNvPr id="16" name="Oval 15"/>
          <p:cNvSpPr/>
          <p:nvPr/>
        </p:nvSpPr>
        <p:spPr>
          <a:xfrm>
            <a:off x="6035040" y="1746504"/>
            <a:ext cx="109728" cy="10972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2783" y="1627632"/>
            <a:ext cx="5193792" cy="475488"/>
          </a:xfrm>
          <a:prstGeom prst="rect">
            <a:avLst/>
          </a:prstGeom>
          <a:noFill/>
        </p:spPr>
        <p:txBody>
          <a:bodyPr wrap="square" lIns="0" rIns="0" tIns="0" bIns="0" anchor="ctr">
            <a:spAutoFit/>
          </a:bodyPr>
          <a:lstStyle/>
          <a:p>
            <a:pPr algn="l">
              <a:lnSpc>
                <a:spcPct val="110000"/>
              </a:lnSpc>
            </a:pPr>
            <a:r>
              <a:rPr sz="1200" b="0" i="0">
                <a:solidFill>
                  <a:srgbClr val="21295C"/>
                </a:solidFill>
                <a:latin typeface="Arial"/>
              </a:rPr>
              <a:t>высокая автоматизация конвейера на интерпретируемых моделях</a:t>
            </a:r>
          </a:p>
        </p:txBody>
      </p:sp>
      <p:sp>
        <p:nvSpPr>
          <p:cNvPr id="18" name="Oval 17"/>
          <p:cNvSpPr/>
          <p:nvPr/>
        </p:nvSpPr>
        <p:spPr>
          <a:xfrm>
            <a:off x="6035040" y="2350008"/>
            <a:ext cx="109728" cy="10972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2783" y="2231136"/>
            <a:ext cx="5193792" cy="475488"/>
          </a:xfrm>
          <a:prstGeom prst="rect">
            <a:avLst/>
          </a:prstGeom>
          <a:noFill/>
        </p:spPr>
        <p:txBody>
          <a:bodyPr wrap="square" lIns="0" rIns="0" tIns="0" bIns="0" anchor="ctr">
            <a:spAutoFit/>
          </a:bodyPr>
          <a:lstStyle/>
          <a:p>
            <a:pPr algn="l">
              <a:lnSpc>
                <a:spcPct val="110000"/>
              </a:lnSpc>
            </a:pPr>
            <a:r>
              <a:rPr sz="1200" b="0" i="0">
                <a:solidFill>
                  <a:srgbClr val="21295C"/>
                </a:solidFill>
                <a:latin typeface="Arial"/>
              </a:rPr>
              <a:t>reason codes на каждое решение</a:t>
            </a:r>
          </a:p>
        </p:txBody>
      </p:sp>
      <p:sp>
        <p:nvSpPr>
          <p:cNvPr id="20" name="Oval 19"/>
          <p:cNvSpPr/>
          <p:nvPr/>
        </p:nvSpPr>
        <p:spPr>
          <a:xfrm>
            <a:off x="6035040" y="2953512"/>
            <a:ext cx="109728" cy="10972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72783" y="2834640"/>
            <a:ext cx="5193792" cy="475488"/>
          </a:xfrm>
          <a:prstGeom prst="rect">
            <a:avLst/>
          </a:prstGeom>
          <a:noFill/>
        </p:spPr>
        <p:txBody>
          <a:bodyPr wrap="square" lIns="0" rIns="0" tIns="0" bIns="0" anchor="ctr">
            <a:spAutoFit/>
          </a:bodyPr>
          <a:lstStyle/>
          <a:p>
            <a:pPr algn="l">
              <a:lnSpc>
                <a:spcPct val="110000"/>
              </a:lnSpc>
            </a:pPr>
            <a:r>
              <a:rPr sz="1200" b="0" i="0">
                <a:solidFill>
                  <a:srgbClr val="21295C"/>
                </a:solidFill>
                <a:latin typeface="Arial"/>
              </a:rPr>
              <a:t>регуляторный надзор Банка России</a:t>
            </a:r>
          </a:p>
        </p:txBody>
      </p:sp>
      <p:sp>
        <p:nvSpPr>
          <p:cNvPr id="22" name="Rounded Rectangle 21"/>
          <p:cNvSpPr/>
          <p:nvPr/>
        </p:nvSpPr>
        <p:spPr>
          <a:xfrm>
            <a:off x="5943600" y="3438144"/>
            <a:ext cx="5577840" cy="676656"/>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108192" y="3721608"/>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4224" y="3438144"/>
            <a:ext cx="5102352" cy="676656"/>
          </a:xfrm>
          <a:prstGeom prst="rect">
            <a:avLst/>
          </a:prstGeom>
          <a:noFill/>
        </p:spPr>
        <p:txBody>
          <a:bodyPr wrap="square" lIns="0" rIns="0" tIns="0" bIns="0" anchor="ctr">
            <a:spAutoFit/>
          </a:bodyPr>
          <a:lstStyle/>
          <a:p>
            <a:pPr algn="l">
              <a:lnSpc>
                <a:spcPct val="112000"/>
              </a:lnSpc>
            </a:pPr>
            <a:r>
              <a:rPr sz="1200" b="1" i="0">
                <a:solidFill>
                  <a:srgbClr val="21295C"/>
                </a:solidFill>
                <a:latin typeface="Arial"/>
              </a:rPr>
              <a:t>сохранённое право клиента на сотрудника: &gt; 80% финорганизаций дают opt-out на человека</a:t>
            </a:r>
          </a:p>
        </p:txBody>
      </p:sp>
      <p:sp>
        <p:nvSpPr>
          <p:cNvPr id="25" name="Rounded Rectangle 24"/>
          <p:cNvSpPr/>
          <p:nvPr/>
        </p:nvSpPr>
        <p:spPr>
          <a:xfrm>
            <a:off x="5760720" y="4151376"/>
            <a:ext cx="5943600" cy="54864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0176" y="4206240"/>
            <a:ext cx="5504688" cy="438912"/>
          </a:xfrm>
          <a:prstGeom prst="rect">
            <a:avLst/>
          </a:prstGeom>
          <a:noFill/>
        </p:spPr>
        <p:txBody>
          <a:bodyPr wrap="square" lIns="0" rIns="0" tIns="0" bIns="0" anchor="ctr">
            <a:spAutoFit/>
          </a:bodyPr>
          <a:lstStyle/>
          <a:p>
            <a:pPr algn="l">
              <a:lnSpc>
                <a:spcPct val="118000"/>
              </a:lnSpc>
            </a:pPr>
            <a:r>
              <a:rPr sz="1150" b="0" i="0">
                <a:solidFill>
                  <a:srgbClr val="21295C"/>
                </a:solidFill>
                <a:latin typeface="Arial"/>
              </a:rPr>
              <a:t>Тип ИИ — табличный ML, выбранный из-за объяснимости, а не вопреки. Тезис лекции на масштабе крупнейшего банка.</a:t>
            </a:r>
          </a:p>
        </p:txBody>
      </p:sp>
      <p:sp>
        <p:nvSpPr>
          <p:cNvPr id="27" name="TextBox 26"/>
          <p:cNvSpPr txBox="1"/>
          <p:nvPr/>
        </p:nvSpPr>
        <p:spPr>
          <a:xfrm>
            <a:off x="502920" y="6437376"/>
            <a:ext cx="11201400" cy="310896"/>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 заявлениям банка (TAdviser/AdIndex/Интерфакс, 2024) и материалам Банка России (20.11.2025); числа сверяются в день лекции.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Даже формально-законная модель без объяснимости создаёт кризис.</a:t>
            </a:r>
          </a:p>
        </p:txBody>
      </p:sp>
      <p:sp>
        <p:nvSpPr>
          <p:cNvPr id="3" name="Rounded Rectangle 2"/>
          <p:cNvSpPr/>
          <p:nvPr/>
        </p:nvSpPr>
        <p:spPr>
          <a:xfrm>
            <a:off x="502920" y="1078992"/>
            <a:ext cx="58064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25295"/>
            <a:ext cx="5330952" cy="292608"/>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Apple Card / Goldman Sachs · 2019–2021</a:t>
            </a:r>
          </a:p>
        </p:txBody>
      </p:sp>
      <p:sp>
        <p:nvSpPr>
          <p:cNvPr id="5" name="Oval 4"/>
          <p:cNvSpPr/>
          <p:nvPr/>
        </p:nvSpPr>
        <p:spPr>
          <a:xfrm>
            <a:off x="740664" y="1627632"/>
            <a:ext cx="118872" cy="11887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1572768"/>
            <a:ext cx="5093207" cy="676656"/>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нояб. 2019: вирусный тред — лимит ×20 выше у мужа (рейтинг супруги выше)</a:t>
            </a:r>
          </a:p>
        </p:txBody>
      </p:sp>
      <p:sp>
        <p:nvSpPr>
          <p:cNvPr id="7" name="Oval 6"/>
          <p:cNvSpPr/>
          <p:nvPr/>
        </p:nvSpPr>
        <p:spPr>
          <a:xfrm>
            <a:off x="740664" y="2359152"/>
            <a:ext cx="118872" cy="11887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2304288"/>
            <a:ext cx="5093207" cy="676656"/>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NYDFS открыл расследование (~400 000 заявителей)</a:t>
            </a:r>
          </a:p>
        </p:txBody>
      </p:sp>
      <p:sp>
        <p:nvSpPr>
          <p:cNvPr id="9" name="Oval 8"/>
          <p:cNvSpPr/>
          <p:nvPr/>
        </p:nvSpPr>
        <p:spPr>
          <a:xfrm>
            <a:off x="740664" y="3090672"/>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035808"/>
            <a:ext cx="5093207" cy="676656"/>
          </a:xfrm>
          <a:prstGeom prst="rect">
            <a:avLst/>
          </a:prstGeom>
          <a:noFill/>
        </p:spPr>
        <p:txBody>
          <a:bodyPr wrap="square" lIns="0" rIns="0" tIns="0" bIns="0" anchor="t">
            <a:spAutoFit/>
          </a:bodyPr>
          <a:lstStyle/>
          <a:p>
            <a:pPr algn="l">
              <a:lnSpc>
                <a:spcPct val="110000"/>
              </a:lnSpc>
            </a:pPr>
            <a:r>
              <a:rPr sz="1150" b="1" i="0">
                <a:solidFill>
                  <a:srgbClr val="21295C"/>
                </a:solidFill>
                <a:latin typeface="Arial"/>
              </a:rPr>
              <a:t>март 2021: NYDFS НЕ нашёл нарушения закона</a:t>
            </a:r>
          </a:p>
        </p:txBody>
      </p:sp>
      <p:sp>
        <p:nvSpPr>
          <p:cNvPr id="11" name="Oval 10"/>
          <p:cNvSpPr/>
          <p:nvPr/>
        </p:nvSpPr>
        <p:spPr>
          <a:xfrm>
            <a:off x="740664" y="3822191"/>
            <a:ext cx="118872" cy="11887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767328"/>
            <a:ext cx="5093207" cy="676656"/>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НО: клиенты не получали объяснений → регуляторно-репутационный кризис</a:t>
            </a:r>
          </a:p>
        </p:txBody>
      </p:sp>
      <p:sp>
        <p:nvSpPr>
          <p:cNvPr id="13" name="TextBox 12"/>
          <p:cNvSpPr txBox="1"/>
          <p:nvPr/>
        </p:nvSpPr>
        <p:spPr>
          <a:xfrm>
            <a:off x="740664" y="4517136"/>
            <a:ext cx="5330952"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Утверждать «доказана дискриминация» — фактологически неверно.</a:t>
            </a:r>
          </a:p>
        </p:txBody>
      </p:sp>
      <p:sp>
        <p:nvSpPr>
          <p:cNvPr id="14" name="Rounded Rectangle 13"/>
          <p:cNvSpPr/>
          <p:nvPr/>
        </p:nvSpPr>
        <p:spPr>
          <a:xfrm>
            <a:off x="6492240" y="1078992"/>
            <a:ext cx="5212080" cy="2121408"/>
          </a:xfrm>
          <a:prstGeom prst="roundRect">
            <a:avLst>
              <a:gd name="adj" fmla="val 1436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11696" y="1207007"/>
            <a:ext cx="4773168" cy="27432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Прокси-предвзятость «на пальцах»</a:t>
            </a:r>
          </a:p>
        </p:txBody>
      </p:sp>
      <p:sp>
        <p:nvSpPr>
          <p:cNvPr id="16" name="TextBox 15"/>
          <p:cNvSpPr txBox="1"/>
          <p:nvPr/>
        </p:nvSpPr>
        <p:spPr>
          <a:xfrm>
            <a:off x="6711696" y="1517904"/>
            <a:ext cx="4773168" cy="1572768"/>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Инженер не подаёт пол/расу. Но остаются признаки, КОРРЕЛИРУЮЩИЕ с ними: почтовый индекс, история трат, занятость. Модель, оптимизируя точность, КОСВЕННО восстанавливает запрещённый признак через прокси — без всякого умысла.</a:t>
            </a:r>
          </a:p>
        </p:txBody>
      </p:sp>
      <p:sp>
        <p:nvSpPr>
          <p:cNvPr id="17" name="Rounded Rectangle 16"/>
          <p:cNvSpPr/>
          <p:nvPr/>
        </p:nvSpPr>
        <p:spPr>
          <a:xfrm>
            <a:off x="6492240" y="3346704"/>
            <a:ext cx="5212080" cy="100584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11696" y="3401568"/>
            <a:ext cx="4773168" cy="896112"/>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Критерий: регулируемое решение требует одновременно reason codes + appeal path (человек на оспоренном) + bias-аудит исходов ДО прода.</a:t>
            </a:r>
          </a:p>
        </p:txBody>
      </p:sp>
      <p:sp>
        <p:nvSpPr>
          <p:cNvPr id="19" name="TextBox 18"/>
          <p:cNvSpPr txBox="1"/>
          <p:nvPr/>
        </p:nvSpPr>
        <p:spPr>
          <a:xfrm>
            <a:off x="6528816" y="4425696"/>
            <a:ext cx="5212080" cy="329184"/>
          </a:xfrm>
          <a:prstGeom prst="rect">
            <a:avLst/>
          </a:prstGeom>
          <a:noFill/>
        </p:spPr>
        <p:txBody>
          <a:bodyPr wrap="square" lIns="0" rIns="0" tIns="0" bIns="0" anchor="t">
            <a:spAutoFit/>
          </a:bodyPr>
          <a:lstStyle/>
          <a:p>
            <a:pPr algn="l">
              <a:lnSpc>
                <a:spcPct val="115000"/>
              </a:lnSpc>
            </a:pPr>
            <a:r>
              <a:rPr sz="1050" b="0" i="1">
                <a:solidFill>
                  <a:srgbClr val="5B6678"/>
                </a:solidFill>
                <a:latin typeface="Arial"/>
              </a:rPr>
              <a:t>Канонический разбор механизма (Obermeyer/Optum) — Лекция 7.</a:t>
            </a:r>
          </a:p>
        </p:txBody>
      </p:sp>
      <p:sp>
        <p:nvSpPr>
          <p:cNvPr id="20" name="Rounded Rectangle 19"/>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«Мы не используем защищённые признаки» — НЕОБХОДИМОЕ, но совершенно недостаточное условие. Единственное доказательство — прямой аудит исходов по группам.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Чем выше автономия, тем строже должен быть гейт вокруг неё.</a:t>
            </a:r>
          </a:p>
        </p:txBody>
      </p:sp>
      <p:sp>
        <p:nvSpPr>
          <p:cNvPr id="3" name="Rounded Rectangle 2"/>
          <p:cNvSpPr/>
          <p:nvPr/>
        </p:nvSpPr>
        <p:spPr>
          <a:xfrm>
            <a:off x="502920" y="1097280"/>
            <a:ext cx="11201400"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25295"/>
            <a:ext cx="1072591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Один класс ошибки — три разных типа ИИ:</a:t>
            </a:r>
          </a:p>
        </p:txBody>
      </p:sp>
      <p:sp>
        <p:nvSpPr>
          <p:cNvPr id="5" name="Rounded Rectangle 4"/>
          <p:cNvSpPr/>
          <p:nvPr/>
        </p:nvSpPr>
        <p:spPr>
          <a:xfrm>
            <a:off x="740664" y="1572768"/>
            <a:ext cx="3453384" cy="859536"/>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1645919"/>
            <a:ext cx="3233928" cy="27432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Zillow</a:t>
            </a:r>
          </a:p>
        </p:txBody>
      </p:sp>
      <p:sp>
        <p:nvSpPr>
          <p:cNvPr id="7" name="TextBox 6"/>
          <p:cNvSpPr txBox="1"/>
          <p:nvPr/>
        </p:nvSpPr>
        <p:spPr>
          <a:xfrm>
            <a:off x="850392" y="1920240"/>
            <a:ext cx="3233928" cy="457200"/>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прогноз → авто необратимая скупка</a:t>
            </a:r>
          </a:p>
        </p:txBody>
      </p:sp>
      <p:sp>
        <p:nvSpPr>
          <p:cNvPr id="8" name="Rounded Rectangle 7"/>
          <p:cNvSpPr/>
          <p:nvPr/>
        </p:nvSpPr>
        <p:spPr>
          <a:xfrm>
            <a:off x="4376928" y="1572768"/>
            <a:ext cx="3453384" cy="859536"/>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6656" y="1645919"/>
            <a:ext cx="3233928" cy="27432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fraud-автоблок</a:t>
            </a:r>
          </a:p>
        </p:txBody>
      </p:sp>
      <p:sp>
        <p:nvSpPr>
          <p:cNvPr id="10" name="TextBox 9"/>
          <p:cNvSpPr txBox="1"/>
          <p:nvPr/>
        </p:nvSpPr>
        <p:spPr>
          <a:xfrm>
            <a:off x="4486656" y="1920240"/>
            <a:ext cx="3233928" cy="457200"/>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аномалия → авто необратимая блокировка</a:t>
            </a:r>
          </a:p>
        </p:txBody>
      </p:sp>
      <p:sp>
        <p:nvSpPr>
          <p:cNvPr id="11" name="Rounded Rectangle 10"/>
          <p:cNvSpPr/>
          <p:nvPr/>
        </p:nvSpPr>
        <p:spPr>
          <a:xfrm>
            <a:off x="8013192" y="1572768"/>
            <a:ext cx="3453384" cy="859536"/>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2920" y="1645919"/>
            <a:ext cx="3233928" cy="27432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Knight Capital</a:t>
            </a:r>
          </a:p>
        </p:txBody>
      </p:sp>
      <p:sp>
        <p:nvSpPr>
          <p:cNvPr id="13" name="TextBox 12"/>
          <p:cNvSpPr txBox="1"/>
          <p:nvPr/>
        </p:nvSpPr>
        <p:spPr>
          <a:xfrm>
            <a:off x="8122920" y="1920240"/>
            <a:ext cx="3233928" cy="457200"/>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детерм. алгоритм → авто необратимые заявки</a:t>
            </a:r>
          </a:p>
        </p:txBody>
      </p:sp>
      <p:sp>
        <p:nvSpPr>
          <p:cNvPr id="14" name="Rounded Rectangle 13"/>
          <p:cNvSpPr/>
          <p:nvPr/>
        </p:nvSpPr>
        <p:spPr>
          <a:xfrm>
            <a:off x="502920" y="2743200"/>
            <a:ext cx="11201400" cy="12984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2798064"/>
            <a:ext cx="10762488" cy="1188719"/>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Автоматика, исполняющая необратимые финансовые действия в открытом контуре без kill-switch (ручного «всё стоп»), без лимитов на объём/позицию, без circuit-breaker (авто-стоп при аномалии) и без верифицированного развёртывания, превращает обычную ошибку модели в СКОРОСТЬ РАЗОРЕНИЯ.</a:t>
            </a:r>
          </a:p>
        </p:txBody>
      </p:sp>
      <p:sp>
        <p:nvSpPr>
          <p:cNvPr id="16" name="Rounded Rectangle 15"/>
          <p:cNvSpPr/>
          <p:nvPr/>
        </p:nvSpPr>
        <p:spPr>
          <a:xfrm>
            <a:off x="502920" y="4078224"/>
            <a:ext cx="11201400" cy="11887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133087"/>
            <a:ext cx="10762488" cy="1078992"/>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Скоринг в РФ ~100% автоматизирован → критерий применим остро. «100% ИИ» приемлемо ТОЛЬКО в обвязке: reason codes + человеческий канал + bias-аудит + мониторинг дрейфа + надзор. Уберите обвязку — это Apple Card на масштабе банка.</a:t>
            </a:r>
          </a:p>
        </p:txBody>
      </p:sp>
      <p:sp>
        <p:nvSpPr>
          <p:cNvPr id="18" name="TextBox 17"/>
          <p:cNvSpPr txBox="1"/>
          <p:nvPr/>
        </p:nvSpPr>
        <p:spPr>
          <a:xfrm>
            <a:off x="502920" y="5413248"/>
            <a:ext cx="11201400" cy="768096"/>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Высокая автономия — не цель и не зло сама по себе. Цель — автономия, вокруг которой стоят оплаченные гейты, пропорциональные цене ошибки и необратимости действия.</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726679" y="274320"/>
            <a:ext cx="4206240" cy="5486400"/>
          </a:xfrm>
          <a:prstGeom prst="rect">
            <a:avLst/>
          </a:prstGeom>
          <a:noFill/>
        </p:spPr>
        <p:txBody>
          <a:bodyPr wrap="square" lIns="0" rIns="0" tIns="0" bIns="0" anchor="ctr">
            <a:spAutoFit/>
          </a:bodyPr>
          <a:lstStyle/>
          <a:p>
            <a:pPr algn="ctr">
              <a:lnSpc>
                <a:spcPct val="100000"/>
              </a:lnSpc>
            </a:pPr>
            <a:r>
              <a:rPr sz="40000" b="1" i="0">
                <a:solidFill>
                  <a:srgbClr val="D9E2EC"/>
                </a:solidFill>
                <a:latin typeface="Arial"/>
              </a:rPr>
              <a:t>4</a:t>
            </a:r>
          </a:p>
        </p:txBody>
      </p:sp>
      <p:sp>
        <p:nvSpPr>
          <p:cNvPr id="3" name="TextBox 2"/>
          <p:cNvSpPr txBox="1"/>
          <p:nvPr/>
        </p:nvSpPr>
        <p:spPr>
          <a:xfrm>
            <a:off x="685800" y="1417320"/>
            <a:ext cx="676656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949440" cy="1691640"/>
          </a:xfrm>
          <a:prstGeom prst="rect">
            <a:avLst/>
          </a:prstGeom>
          <a:noFill/>
        </p:spPr>
        <p:txBody>
          <a:bodyPr wrap="square" lIns="0" rIns="0" tIns="0" bIns="0" anchor="t">
            <a:spAutoFit/>
          </a:bodyPr>
          <a:lstStyle/>
          <a:p>
            <a:pPr algn="l">
              <a:lnSpc>
                <a:spcPct val="108000"/>
              </a:lnSpc>
            </a:pPr>
            <a:r>
              <a:rPr sz="3600" b="1" i="0">
                <a:solidFill>
                  <a:srgbClr val="21295C"/>
                </a:solidFill>
                <a:latin typeface="Arial"/>
              </a:rPr>
              <a:t>LLM в финансах:
ассистенты и fact-checking</a:t>
            </a:r>
          </a:p>
        </p:txBody>
      </p:sp>
      <p:sp>
        <p:nvSpPr>
          <p:cNvPr id="6" name="TextBox 5"/>
          <p:cNvSpPr txBox="1"/>
          <p:nvPr/>
        </p:nvSpPr>
        <p:spPr>
          <a:xfrm>
            <a:off x="713232" y="4224528"/>
            <a:ext cx="6858000" cy="141732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До сих пор — намеренно НЕ LLM. Теперь LLM — и сразу про его границы в регулируемой отрасли.</a:t>
            </a:r>
          </a:p>
        </p:txBody>
      </p:sp>
      <p:sp>
        <p:nvSpPr>
          <p:cNvPr id="7" name="Rounded Rectangle 6"/>
          <p:cNvSpPr/>
          <p:nvPr/>
        </p:nvSpPr>
        <p:spPr>
          <a:xfrm>
            <a:off x="50292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0</a:t>
            </a:r>
          </a:p>
        </p:txBody>
      </p:sp>
      <p:sp>
        <p:nvSpPr>
          <p:cNvPr id="9" name="TextBox 8"/>
          <p:cNvSpPr txBox="1"/>
          <p:nvPr/>
        </p:nvSpPr>
        <p:spPr>
          <a:xfrm>
            <a:off x="53949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Открытие</a:t>
            </a:r>
          </a:p>
        </p:txBody>
      </p:sp>
      <p:sp>
        <p:nvSpPr>
          <p:cNvPr id="10" name="Rounded Rectangle 9"/>
          <p:cNvSpPr/>
          <p:nvPr/>
        </p:nvSpPr>
        <p:spPr>
          <a:xfrm>
            <a:off x="2118795"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55371"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1</a:t>
            </a:r>
          </a:p>
        </p:txBody>
      </p:sp>
      <p:sp>
        <p:nvSpPr>
          <p:cNvPr id="12" name="TextBox 11"/>
          <p:cNvSpPr txBox="1"/>
          <p:nvPr/>
        </p:nvSpPr>
        <p:spPr>
          <a:xfrm>
            <a:off x="2155371"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Прогноз</a:t>
            </a:r>
          </a:p>
        </p:txBody>
      </p:sp>
      <p:sp>
        <p:nvSpPr>
          <p:cNvPr id="13" name="Rounded Rectangle 12"/>
          <p:cNvSpPr/>
          <p:nvPr/>
        </p:nvSpPr>
        <p:spPr>
          <a:xfrm>
            <a:off x="373467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7124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2</a:t>
            </a:r>
          </a:p>
        </p:txBody>
      </p:sp>
      <p:sp>
        <p:nvSpPr>
          <p:cNvPr id="15" name="TextBox 14"/>
          <p:cNvSpPr txBox="1"/>
          <p:nvPr/>
        </p:nvSpPr>
        <p:spPr>
          <a:xfrm>
            <a:off x="377124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Аномалии</a:t>
            </a:r>
          </a:p>
        </p:txBody>
      </p:sp>
      <p:sp>
        <p:nvSpPr>
          <p:cNvPr id="16" name="Rounded Rectangle 15"/>
          <p:cNvSpPr/>
          <p:nvPr/>
        </p:nvSpPr>
        <p:spPr>
          <a:xfrm>
            <a:off x="5350546"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87122"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3</a:t>
            </a:r>
          </a:p>
        </p:txBody>
      </p:sp>
      <p:sp>
        <p:nvSpPr>
          <p:cNvPr id="18" name="TextBox 17"/>
          <p:cNvSpPr txBox="1"/>
          <p:nvPr/>
        </p:nvSpPr>
        <p:spPr>
          <a:xfrm>
            <a:off x="5387122"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Скоринг</a:t>
            </a:r>
          </a:p>
        </p:txBody>
      </p:sp>
      <p:sp>
        <p:nvSpPr>
          <p:cNvPr id="19" name="Rounded Rectangle 18"/>
          <p:cNvSpPr/>
          <p:nvPr/>
        </p:nvSpPr>
        <p:spPr>
          <a:xfrm>
            <a:off x="6966421" y="5943600"/>
            <a:ext cx="1506147" cy="54864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2997" y="6007608"/>
            <a:ext cx="1432995" cy="201168"/>
          </a:xfrm>
          <a:prstGeom prst="rect">
            <a:avLst/>
          </a:prstGeom>
          <a:noFill/>
        </p:spPr>
        <p:txBody>
          <a:bodyPr wrap="square" lIns="0" rIns="0" tIns="0" bIns="0" anchor="t">
            <a:spAutoFit/>
          </a:bodyPr>
          <a:lstStyle/>
          <a:p>
            <a:pPr algn="ctr">
              <a:lnSpc>
                <a:spcPct val="115000"/>
              </a:lnSpc>
            </a:pPr>
            <a:r>
              <a:rPr sz="1000" b="1" i="0">
                <a:solidFill>
                  <a:srgbClr val="21295C"/>
                </a:solidFill>
                <a:latin typeface="Arial"/>
              </a:rPr>
              <a:t>Раздел 4</a:t>
            </a:r>
          </a:p>
        </p:txBody>
      </p:sp>
      <p:sp>
        <p:nvSpPr>
          <p:cNvPr id="21" name="TextBox 20"/>
          <p:cNvSpPr txBox="1"/>
          <p:nvPr/>
        </p:nvSpPr>
        <p:spPr>
          <a:xfrm>
            <a:off x="7002997" y="6217920"/>
            <a:ext cx="1432995" cy="237744"/>
          </a:xfrm>
          <a:prstGeom prst="rect">
            <a:avLst/>
          </a:prstGeom>
          <a:noFill/>
        </p:spPr>
        <p:txBody>
          <a:bodyPr wrap="square" lIns="0" rIns="0" tIns="0" bIns="0" anchor="t">
            <a:spAutoFit/>
          </a:bodyPr>
          <a:lstStyle/>
          <a:p>
            <a:pPr algn="ctr">
              <a:lnSpc>
                <a:spcPct val="95000"/>
              </a:lnSpc>
            </a:pPr>
            <a:r>
              <a:rPr sz="1050" b="1" i="0">
                <a:solidFill>
                  <a:srgbClr val="21295C"/>
                </a:solidFill>
                <a:latin typeface="Arial"/>
              </a:rPr>
              <a:t>LLM</a:t>
            </a:r>
          </a:p>
        </p:txBody>
      </p:sp>
      <p:sp>
        <p:nvSpPr>
          <p:cNvPr id="22" name="Rounded Rectangle 21"/>
          <p:cNvSpPr/>
          <p:nvPr/>
        </p:nvSpPr>
        <p:spPr>
          <a:xfrm>
            <a:off x="8582297"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8873"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5</a:t>
            </a:r>
          </a:p>
        </p:txBody>
      </p:sp>
      <p:sp>
        <p:nvSpPr>
          <p:cNvPr id="24" name="TextBox 23"/>
          <p:cNvSpPr txBox="1"/>
          <p:nvPr/>
        </p:nvSpPr>
        <p:spPr>
          <a:xfrm>
            <a:off x="8618873"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Рекоменд.</a:t>
            </a:r>
          </a:p>
        </p:txBody>
      </p:sp>
      <p:sp>
        <p:nvSpPr>
          <p:cNvPr id="25" name="Rounded Rectangle 24"/>
          <p:cNvSpPr/>
          <p:nvPr/>
        </p:nvSpPr>
        <p:spPr>
          <a:xfrm>
            <a:off x="10198172"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4748"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6</a:t>
            </a:r>
          </a:p>
        </p:txBody>
      </p:sp>
      <p:sp>
        <p:nvSpPr>
          <p:cNvPr id="27" name="TextBox 26"/>
          <p:cNvSpPr txBox="1"/>
          <p:nvPr/>
        </p:nvSpPr>
        <p:spPr>
          <a:xfrm>
            <a:off x="10234748"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Фреймворк</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LLM хорош ровно там, где задача текстово-диалоговая — и плох там, где нет.</a:t>
            </a:r>
          </a:p>
        </p:txBody>
      </p:sp>
      <p:sp>
        <p:nvSpPr>
          <p:cNvPr id="3" name="Rounded Rectangle 2"/>
          <p:cNvSpPr/>
          <p:nvPr/>
        </p:nvSpPr>
        <p:spPr>
          <a:xfrm>
            <a:off x="502920" y="1097280"/>
            <a:ext cx="58064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43584"/>
            <a:ext cx="5330952" cy="27432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Где LLM — правильный тип в банке:</a:t>
            </a:r>
          </a:p>
        </p:txBody>
      </p:sp>
      <p:sp>
        <p:nvSpPr>
          <p:cNvPr id="5" name="Oval 4"/>
          <p:cNvSpPr/>
          <p:nvPr/>
        </p:nvSpPr>
        <p:spPr>
          <a:xfrm>
            <a:off x="740664" y="1618488"/>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1572768"/>
            <a:ext cx="5093207" cy="512064"/>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клиентская поддержка — ответы на типовые вопросы</a:t>
            </a:r>
          </a:p>
        </p:txBody>
      </p:sp>
      <p:sp>
        <p:nvSpPr>
          <p:cNvPr id="7" name="Oval 6"/>
          <p:cNvSpPr/>
          <p:nvPr/>
        </p:nvSpPr>
        <p:spPr>
          <a:xfrm>
            <a:off x="740664" y="2148839"/>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2103120"/>
            <a:ext cx="5093207" cy="512064"/>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голосовой ассистент — распознать запрос, провести по сценарию</a:t>
            </a:r>
          </a:p>
        </p:txBody>
      </p:sp>
      <p:sp>
        <p:nvSpPr>
          <p:cNvPr id="9" name="Oval 8"/>
          <p:cNvSpPr/>
          <p:nvPr/>
        </p:nvSpPr>
        <p:spPr>
          <a:xfrm>
            <a:off x="740664" y="2679191"/>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633472"/>
            <a:ext cx="5093207" cy="512064"/>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помощь сотруднику — суммаризировать обращение, подсказать регламент</a:t>
            </a:r>
          </a:p>
        </p:txBody>
      </p:sp>
      <p:sp>
        <p:nvSpPr>
          <p:cNvPr id="11" name="Oval 10"/>
          <p:cNvSpPr/>
          <p:nvPr/>
        </p:nvSpPr>
        <p:spPr>
          <a:xfrm>
            <a:off x="740664" y="320954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163824"/>
            <a:ext cx="5093207" cy="512064"/>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объяснение продукта простым языком</a:t>
            </a:r>
          </a:p>
        </p:txBody>
      </p:sp>
      <p:sp>
        <p:nvSpPr>
          <p:cNvPr id="13" name="TextBox 12"/>
          <p:cNvSpPr txBox="1"/>
          <p:nvPr/>
        </p:nvSpPr>
        <p:spPr>
          <a:xfrm>
            <a:off x="740664" y="3730752"/>
            <a:ext cx="5330952" cy="310896"/>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Это ровно то, подо что LLM спроектирована (в отличие от Разделов 1–3).</a:t>
            </a:r>
          </a:p>
        </p:txBody>
      </p:sp>
      <p:sp>
        <p:nvSpPr>
          <p:cNvPr id="14" name="Rounded Rectangle 13"/>
          <p:cNvSpPr/>
          <p:nvPr/>
        </p:nvSpPr>
        <p:spPr>
          <a:xfrm>
            <a:off x="740664" y="4114800"/>
            <a:ext cx="5330952" cy="713232"/>
          </a:xfrm>
          <a:prstGeom prst="roundRect">
            <a:avLst>
              <a:gd name="adj" fmla="val 10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4114800"/>
            <a:ext cx="5038344" cy="71323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Масштаб (verified): чат-бот Т-Банка &gt; 40% обращений; ~70% банков планировали голос к 2025.</a:t>
            </a:r>
          </a:p>
        </p:txBody>
      </p:sp>
      <p:sp>
        <p:nvSpPr>
          <p:cNvPr id="16" name="Rounded Rectangle 15"/>
          <p:cNvSpPr/>
          <p:nvPr/>
        </p:nvSpPr>
        <p:spPr>
          <a:xfrm>
            <a:off x="6492240" y="1097280"/>
            <a:ext cx="5212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9983" y="1261872"/>
            <a:ext cx="47365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Почему НЕ «&gt; 90% обращений банков»</a:t>
            </a:r>
          </a:p>
        </p:txBody>
      </p:sp>
      <p:sp>
        <p:nvSpPr>
          <p:cNvPr id="18" name="TextBox 17"/>
          <p:cNvSpPr txBox="1"/>
          <p:nvPr/>
        </p:nvSpPr>
        <p:spPr>
          <a:xfrm>
            <a:off x="6729983" y="1627631"/>
            <a:ext cx="4736592" cy="1591056"/>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Цифра ~90% реальна — но это доля звонков голосового ассистента В КОЛЛ-ЦЕНТРЕ ОДНОГО БАНКА, не доля обращений банков в целом. Это ПОДМЕНА БАЗЫ (класс 5 fact-checking).</a:t>
            </a:r>
          </a:p>
        </p:txBody>
      </p:sp>
      <p:sp>
        <p:nvSpPr>
          <p:cNvPr id="19" name="TextBox 18"/>
          <p:cNvSpPr txBox="1"/>
          <p:nvPr/>
        </p:nvSpPr>
        <p:spPr>
          <a:xfrm>
            <a:off x="6729983" y="3346704"/>
            <a:ext cx="4736592" cy="1371600"/>
          </a:xfrm>
          <a:prstGeom prst="rect">
            <a:avLst/>
          </a:prstGeom>
          <a:noFill/>
        </p:spPr>
        <p:txBody>
          <a:bodyPr wrap="square" lIns="0" rIns="0" tIns="0" bIns="0" anchor="t">
            <a:spAutoFit/>
          </a:bodyPr>
          <a:lstStyle/>
          <a:p>
            <a:pPr algn="l">
              <a:lnSpc>
                <a:spcPct val="120000"/>
              </a:lnSpc>
            </a:pPr>
            <a:r>
              <a:rPr sz="1250" b="0" i="1">
                <a:solidFill>
                  <a:srgbClr val="065A82"/>
                </a:solidFill>
                <a:latin typeface="Arial"/>
              </a:rPr>
              <a:t>Лекция учит fact-checking — строить assertion на цифре с подменённой базой значило бы нарушить ровно тот принцип, которому она учит. Точная скромная цифра ценнее громкой.</a:t>
            </a:r>
          </a:p>
        </p:txBody>
      </p:sp>
      <p:sp>
        <p:nvSpPr>
          <p:cNvPr id="20" name="Rounded Rectangle 19"/>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Симметрия с Разделами 1–3: «разная задача — разный тип ИИ» означает не «LLM плох», а «LLM хорош ровно там, где задача текстово-диалоговая, и плох там, где нет».</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LLM здесь не источник истины, а интерфейс к источнику истины.</a:t>
            </a:r>
          </a:p>
        </p:txBody>
      </p:sp>
      <p:sp>
        <p:nvSpPr>
          <p:cNvPr id="3" name="Rounded Rectangle 2"/>
          <p:cNvSpPr/>
          <p:nvPr/>
        </p:nvSpPr>
        <p:spPr>
          <a:xfrm>
            <a:off x="502920" y="1024128"/>
            <a:ext cx="557784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33856"/>
            <a:ext cx="5138927" cy="256032"/>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Когда LLM НЕ источник истины — 3 аргумента</a:t>
            </a:r>
          </a:p>
        </p:txBody>
      </p:sp>
      <p:sp>
        <p:nvSpPr>
          <p:cNvPr id="5" name="TextBox 4"/>
          <p:cNvSpPr txBox="1"/>
          <p:nvPr/>
        </p:nvSpPr>
        <p:spPr>
          <a:xfrm>
            <a:off x="722376" y="1444752"/>
            <a:ext cx="1417320" cy="566928"/>
          </a:xfrm>
          <a:prstGeom prst="rect">
            <a:avLst/>
          </a:prstGeom>
          <a:noFill/>
        </p:spPr>
        <p:txBody>
          <a:bodyPr wrap="square" lIns="0" rIns="0" tIns="0" bIns="0" anchor="ctr">
            <a:spAutoFit/>
          </a:bodyPr>
          <a:lstStyle/>
          <a:p>
            <a:pPr algn="l">
              <a:lnSpc>
                <a:spcPct val="100000"/>
              </a:lnSpc>
            </a:pPr>
            <a:r>
              <a:rPr sz="1150" b="1" i="0">
                <a:solidFill>
                  <a:srgbClr val="028090"/>
                </a:solidFill>
                <a:latin typeface="Arial"/>
              </a:rPr>
              <a:t>механизм</a:t>
            </a:r>
          </a:p>
        </p:txBody>
      </p:sp>
      <p:sp>
        <p:nvSpPr>
          <p:cNvPr id="6" name="TextBox 5"/>
          <p:cNvSpPr txBox="1"/>
          <p:nvPr/>
        </p:nvSpPr>
        <p:spPr>
          <a:xfrm>
            <a:off x="2167128" y="1444752"/>
            <a:ext cx="3694175" cy="566928"/>
          </a:xfrm>
          <a:prstGeom prst="rect">
            <a:avLst/>
          </a:prstGeom>
          <a:noFill/>
        </p:spPr>
        <p:txBody>
          <a:bodyPr wrap="square" lIns="0" rIns="0" tIns="0" bIns="0" anchor="ctr">
            <a:spAutoFit/>
          </a:bodyPr>
          <a:lstStyle/>
          <a:p>
            <a:pPr algn="l">
              <a:lnSpc>
                <a:spcPct val="108000"/>
              </a:lnSpc>
            </a:pPr>
            <a:r>
              <a:rPr sz="1050" b="0" i="0">
                <a:solidFill>
                  <a:srgbClr val="21295C"/>
                </a:solidFill>
                <a:latin typeface="Arial"/>
              </a:rPr>
              <a:t>генерирует правдоподобное, не извлекает факт («правдоподобно» ≠ «верно»)</a:t>
            </a:r>
          </a:p>
        </p:txBody>
      </p:sp>
      <p:sp>
        <p:nvSpPr>
          <p:cNvPr id="7" name="TextBox 6"/>
          <p:cNvSpPr txBox="1"/>
          <p:nvPr/>
        </p:nvSpPr>
        <p:spPr>
          <a:xfrm>
            <a:off x="722376" y="2029968"/>
            <a:ext cx="1417320" cy="566928"/>
          </a:xfrm>
          <a:prstGeom prst="rect">
            <a:avLst/>
          </a:prstGeom>
          <a:noFill/>
        </p:spPr>
        <p:txBody>
          <a:bodyPr wrap="square" lIns="0" rIns="0" tIns="0" bIns="0" anchor="ctr">
            <a:spAutoFit/>
          </a:bodyPr>
          <a:lstStyle/>
          <a:p>
            <a:pPr algn="l">
              <a:lnSpc>
                <a:spcPct val="100000"/>
              </a:lnSpc>
            </a:pPr>
            <a:r>
              <a:rPr sz="1150" b="1" i="0">
                <a:solidFill>
                  <a:srgbClr val="028090"/>
                </a:solidFill>
                <a:latin typeface="Arial"/>
              </a:rPr>
              <a:t>цена</a:t>
            </a:r>
          </a:p>
        </p:txBody>
      </p:sp>
      <p:sp>
        <p:nvSpPr>
          <p:cNvPr id="8" name="TextBox 7"/>
          <p:cNvSpPr txBox="1"/>
          <p:nvPr/>
        </p:nvSpPr>
        <p:spPr>
          <a:xfrm>
            <a:off x="2167128" y="2029968"/>
            <a:ext cx="3694175" cy="566928"/>
          </a:xfrm>
          <a:prstGeom prst="rect">
            <a:avLst/>
          </a:prstGeom>
          <a:noFill/>
        </p:spPr>
        <p:txBody>
          <a:bodyPr wrap="square" lIns="0" rIns="0" tIns="0" bIns="0" anchor="ctr">
            <a:spAutoFit/>
          </a:bodyPr>
          <a:lstStyle/>
          <a:p>
            <a:pPr algn="l">
              <a:lnSpc>
                <a:spcPct val="108000"/>
              </a:lnSpc>
            </a:pPr>
            <a:r>
              <a:rPr sz="1050" b="0" i="0">
                <a:solidFill>
                  <a:srgbClr val="21295C"/>
                </a:solidFill>
                <a:latin typeface="Arial"/>
              </a:rPr>
              <a:t>неверная ставка/условие = нарушение, отвечает организация</a:t>
            </a:r>
          </a:p>
        </p:txBody>
      </p:sp>
      <p:sp>
        <p:nvSpPr>
          <p:cNvPr id="9" name="TextBox 8"/>
          <p:cNvSpPr txBox="1"/>
          <p:nvPr/>
        </p:nvSpPr>
        <p:spPr>
          <a:xfrm>
            <a:off x="722376" y="2615184"/>
            <a:ext cx="1417320" cy="566928"/>
          </a:xfrm>
          <a:prstGeom prst="rect">
            <a:avLst/>
          </a:prstGeom>
          <a:noFill/>
        </p:spPr>
        <p:txBody>
          <a:bodyPr wrap="square" lIns="0" rIns="0" tIns="0" bIns="0" anchor="ctr">
            <a:spAutoFit/>
          </a:bodyPr>
          <a:lstStyle/>
          <a:p>
            <a:pPr algn="l">
              <a:lnSpc>
                <a:spcPct val="100000"/>
              </a:lnSpc>
            </a:pPr>
            <a:r>
              <a:rPr sz="1150" b="1" i="0">
                <a:solidFill>
                  <a:srgbClr val="028090"/>
                </a:solidFill>
                <a:latin typeface="Arial"/>
              </a:rPr>
              <a:t>что сломается</a:t>
            </a:r>
          </a:p>
        </p:txBody>
      </p:sp>
      <p:sp>
        <p:nvSpPr>
          <p:cNvPr id="10" name="TextBox 9"/>
          <p:cNvSpPr txBox="1"/>
          <p:nvPr/>
        </p:nvSpPr>
        <p:spPr>
          <a:xfrm>
            <a:off x="2167128" y="2615184"/>
            <a:ext cx="3694175" cy="566928"/>
          </a:xfrm>
          <a:prstGeom prst="rect">
            <a:avLst/>
          </a:prstGeom>
          <a:noFill/>
        </p:spPr>
        <p:txBody>
          <a:bodyPr wrap="square" lIns="0" rIns="0" tIns="0" bIns="0" anchor="ctr">
            <a:spAutoFit/>
          </a:bodyPr>
          <a:lstStyle/>
          <a:p>
            <a:pPr algn="l">
              <a:lnSpc>
                <a:spcPct val="108000"/>
              </a:lnSpc>
            </a:pPr>
            <a:r>
              <a:rPr sz="1050" b="0" i="0">
                <a:solidFill>
                  <a:srgbClr val="21295C"/>
                </a:solidFill>
                <a:latin typeface="Arial"/>
              </a:rPr>
              <a:t>свободная генерация о фактах = генератор дезинформации с юр. ответственностью</a:t>
            </a:r>
          </a:p>
        </p:txBody>
      </p:sp>
      <p:sp>
        <p:nvSpPr>
          <p:cNvPr id="11" name="Rounded Rectangle 10"/>
          <p:cNvSpPr/>
          <p:nvPr/>
        </p:nvSpPr>
        <p:spPr>
          <a:xfrm>
            <a:off x="6217920" y="1024128"/>
            <a:ext cx="548640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37376" y="1133856"/>
            <a:ext cx="5047488" cy="256032"/>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Пять классов ошибок ИИ-утверждения</a:t>
            </a:r>
          </a:p>
        </p:txBody>
      </p:sp>
      <p:sp>
        <p:nvSpPr>
          <p:cNvPr id="13" name="TextBox 12"/>
          <p:cNvSpPr txBox="1"/>
          <p:nvPr/>
        </p:nvSpPr>
        <p:spPr>
          <a:xfrm>
            <a:off x="6455664" y="1426464"/>
            <a:ext cx="5029200" cy="347472"/>
          </a:xfrm>
          <a:prstGeom prst="rect">
            <a:avLst/>
          </a:prstGeom>
          <a:noFill/>
        </p:spPr>
        <p:txBody>
          <a:bodyPr wrap="square" lIns="0" rIns="0" tIns="0" bIns="0" anchor="ctr">
            <a:spAutoFit/>
          </a:bodyPr>
          <a:lstStyle/>
          <a:p>
            <a:pPr algn="l">
              <a:lnSpc>
                <a:spcPct val="100000"/>
              </a:lnSpc>
            </a:pPr>
            <a:r>
              <a:rPr sz="1100" b="0" i="0">
                <a:solidFill>
                  <a:srgbClr val="21295C"/>
                </a:solidFill>
                <a:latin typeface="Arial"/>
              </a:rPr>
              <a:t>1. галлюцинация факта → сверить с первоисточником</a:t>
            </a:r>
          </a:p>
        </p:txBody>
      </p:sp>
      <p:sp>
        <p:nvSpPr>
          <p:cNvPr id="14" name="TextBox 13"/>
          <p:cNvSpPr txBox="1"/>
          <p:nvPr/>
        </p:nvSpPr>
        <p:spPr>
          <a:xfrm>
            <a:off x="6455664" y="1773936"/>
            <a:ext cx="5029200" cy="347472"/>
          </a:xfrm>
          <a:prstGeom prst="rect">
            <a:avLst/>
          </a:prstGeom>
          <a:noFill/>
        </p:spPr>
        <p:txBody>
          <a:bodyPr wrap="square" lIns="0" rIns="0" tIns="0" bIns="0" anchor="ctr">
            <a:spAutoFit/>
          </a:bodyPr>
          <a:lstStyle/>
          <a:p>
            <a:pPr algn="l">
              <a:lnSpc>
                <a:spcPct val="100000"/>
              </a:lnSpc>
            </a:pPr>
            <a:r>
              <a:rPr sz="1100" b="0" i="0">
                <a:solidFill>
                  <a:srgbClr val="21295C"/>
                </a:solidFill>
                <a:latin typeface="Arial"/>
              </a:rPr>
              <a:t>2. устаревшие данные → проверить дату/актуальность</a:t>
            </a:r>
          </a:p>
        </p:txBody>
      </p:sp>
      <p:sp>
        <p:nvSpPr>
          <p:cNvPr id="15" name="TextBox 14"/>
          <p:cNvSpPr txBox="1"/>
          <p:nvPr/>
        </p:nvSpPr>
        <p:spPr>
          <a:xfrm>
            <a:off x="6455664" y="2121408"/>
            <a:ext cx="5029200" cy="347472"/>
          </a:xfrm>
          <a:prstGeom prst="rect">
            <a:avLst/>
          </a:prstGeom>
          <a:noFill/>
        </p:spPr>
        <p:txBody>
          <a:bodyPr wrap="square" lIns="0" rIns="0" tIns="0" bIns="0" anchor="ctr">
            <a:spAutoFit/>
          </a:bodyPr>
          <a:lstStyle/>
          <a:p>
            <a:pPr algn="l">
              <a:lnSpc>
                <a:spcPct val="100000"/>
              </a:lnSpc>
            </a:pPr>
            <a:r>
              <a:rPr sz="1100" b="0" i="0">
                <a:solidFill>
                  <a:srgbClr val="21295C"/>
                </a:solidFill>
                <a:latin typeface="Arial"/>
              </a:rPr>
              <a:t>3. прокси-bias в выводе → аудит исходов, не входов</a:t>
            </a:r>
          </a:p>
        </p:txBody>
      </p:sp>
      <p:sp>
        <p:nvSpPr>
          <p:cNvPr id="16" name="TextBox 15"/>
          <p:cNvSpPr txBox="1"/>
          <p:nvPr/>
        </p:nvSpPr>
        <p:spPr>
          <a:xfrm>
            <a:off x="6455664" y="2468879"/>
            <a:ext cx="5029200" cy="347472"/>
          </a:xfrm>
          <a:prstGeom prst="rect">
            <a:avLst/>
          </a:prstGeom>
          <a:noFill/>
        </p:spPr>
        <p:txBody>
          <a:bodyPr wrap="square" lIns="0" rIns="0" tIns="0" bIns="0" anchor="ctr">
            <a:spAutoFit/>
          </a:bodyPr>
          <a:lstStyle/>
          <a:p>
            <a:pPr algn="l">
              <a:lnSpc>
                <a:spcPct val="100000"/>
              </a:lnSpc>
            </a:pPr>
            <a:r>
              <a:rPr sz="1100" b="0" i="0">
                <a:solidFill>
                  <a:srgbClr val="21295C"/>
                </a:solidFill>
                <a:latin typeface="Arial"/>
              </a:rPr>
              <a:t>4. обман метрикой → FP/FN раздельно в деньгах</a:t>
            </a:r>
          </a:p>
        </p:txBody>
      </p:sp>
      <p:sp>
        <p:nvSpPr>
          <p:cNvPr id="17" name="TextBox 16"/>
          <p:cNvSpPr txBox="1"/>
          <p:nvPr/>
        </p:nvSpPr>
        <p:spPr>
          <a:xfrm>
            <a:off x="6455664" y="2816351"/>
            <a:ext cx="5029200" cy="347472"/>
          </a:xfrm>
          <a:prstGeom prst="rect">
            <a:avLst/>
          </a:prstGeom>
          <a:noFill/>
        </p:spPr>
        <p:txBody>
          <a:bodyPr wrap="square" lIns="0" rIns="0" tIns="0" bIns="0" anchor="ctr">
            <a:spAutoFit/>
          </a:bodyPr>
          <a:lstStyle/>
          <a:p>
            <a:pPr algn="l">
              <a:lnSpc>
                <a:spcPct val="100000"/>
              </a:lnSpc>
            </a:pPr>
            <a:r>
              <a:rPr sz="1100" b="0" i="0">
                <a:solidFill>
                  <a:srgbClr val="21295C"/>
                </a:solidFill>
                <a:latin typeface="Arial"/>
              </a:rPr>
              <a:t>5. подмена базы → запросить «доля чего от чего»</a:t>
            </a:r>
          </a:p>
        </p:txBody>
      </p:sp>
      <p:sp>
        <p:nvSpPr>
          <p:cNvPr id="18" name="Rounded Rectangle 17"/>
          <p:cNvSpPr/>
          <p:nvPr/>
        </p:nvSpPr>
        <p:spPr>
          <a:xfrm>
            <a:off x="502920" y="3383280"/>
            <a:ext cx="11201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3493008"/>
            <a:ext cx="10725912"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Аналогия-якорь grounding: студент угадывает уверенным тоном vs сначала открывает справочник</a:t>
            </a:r>
          </a:p>
        </p:txBody>
      </p:sp>
      <p:pic>
        <p:nvPicPr>
          <p:cNvPr id="20" name="Picture 19" descr="d22-grounding-student.png"/>
          <p:cNvPicPr>
            <a:picLocks noChangeAspect="1"/>
          </p:cNvPicPr>
          <p:nvPr/>
        </p:nvPicPr>
        <p:blipFill>
          <a:blip r:embed="rId2"/>
          <a:stretch>
            <a:fillRect/>
          </a:stretch>
        </p:blipFill>
        <p:spPr>
          <a:xfrm>
            <a:off x="4748606" y="3767328"/>
            <a:ext cx="2710026" cy="987552"/>
          </a:xfrm>
          <a:prstGeom prst="rect">
            <a:avLst/>
          </a:prstGeom>
        </p:spPr>
      </p:pic>
      <p:sp>
        <p:nvSpPr>
          <p:cNvPr id="21" name="Rounded Rectangle 20"/>
          <p:cNvSpPr/>
          <p:nvPr/>
        </p:nvSpPr>
        <p:spPr>
          <a:xfrm>
            <a:off x="502920" y="5047488"/>
            <a:ext cx="11201400" cy="11338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102351"/>
            <a:ext cx="10762488" cy="1024128"/>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Альтернатива: фиксированный факт → детерминированная выборка (grounded RAG), не генерация. На лекции — распознать класс (Understand); проверить 5 заявлений по первоисточникам — Семинар 5 (Apply).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100" b="1" i="0">
                <a:solidFill>
                  <a:srgbClr val="21295C"/>
                </a:solidFill>
                <a:latin typeface="Arial"/>
              </a:rPr>
              <a:t>Правильный тип ИИ без grounding и человеческого выхода = Air Canada / Klarna.</a:t>
            </a:r>
          </a:p>
        </p:txBody>
      </p:sp>
      <p:sp>
        <p:nvSpPr>
          <p:cNvPr id="3" name="Rounded Rectangle 2"/>
          <p:cNvSpPr/>
          <p:nvPr/>
        </p:nvSpPr>
        <p:spPr>
          <a:xfrm>
            <a:off x="502920" y="1078992"/>
            <a:ext cx="1120140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04088" y="1243584"/>
            <a:ext cx="53035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243584"/>
            <a:ext cx="5303520" cy="420624"/>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Кейс E — Air Canada (callback)</a:t>
            </a:r>
          </a:p>
        </p:txBody>
      </p:sp>
      <p:sp>
        <p:nvSpPr>
          <p:cNvPr id="6" name="Oval 5"/>
          <p:cNvSpPr/>
          <p:nvPr/>
        </p:nvSpPr>
        <p:spPr>
          <a:xfrm>
            <a:off x="795528" y="184708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179222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чат-бот сообщил несуществующую политику возврата</a:t>
            </a:r>
          </a:p>
        </p:txBody>
      </p:sp>
      <p:sp>
        <p:nvSpPr>
          <p:cNvPr id="8" name="Oval 7"/>
          <p:cNvSpPr/>
          <p:nvPr/>
        </p:nvSpPr>
        <p:spPr>
          <a:xfrm>
            <a:off x="795528" y="23957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4086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пассажир действовал на основании ответа</a:t>
            </a:r>
          </a:p>
        </p:txBody>
      </p:sp>
      <p:sp>
        <p:nvSpPr>
          <p:cNvPr id="10" name="Oval 9"/>
          <p:cNvSpPr/>
          <p:nvPr/>
        </p:nvSpPr>
        <p:spPr>
          <a:xfrm>
            <a:off x="795528" y="294436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288950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фев. 2024: суд — компания ОТВЕЧАЕТ за инфо своего чат-бота, обязал выплатить компенсацию</a:t>
            </a:r>
          </a:p>
        </p:txBody>
      </p:sp>
      <p:sp>
        <p:nvSpPr>
          <p:cNvPr id="12" name="Oval 11"/>
          <p:cNvSpPr/>
          <p:nvPr/>
        </p:nvSpPr>
        <p:spPr>
          <a:xfrm>
            <a:off x="795528" y="349300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43814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класс: галлюцинация финфакта = юр. ответственность</a:t>
            </a:r>
          </a:p>
        </p:txBody>
      </p:sp>
      <p:sp>
        <p:nvSpPr>
          <p:cNvPr id="14" name="Rectangle 13"/>
          <p:cNvSpPr/>
          <p:nvPr/>
        </p:nvSpPr>
        <p:spPr>
          <a:xfrm>
            <a:off x="6281927" y="1243584"/>
            <a:ext cx="5303520" cy="42062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81927" y="1243584"/>
            <a:ext cx="5303520" cy="420624"/>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Кейс F — Klarna (дуга 2023 → 2025)</a:t>
            </a:r>
          </a:p>
        </p:txBody>
      </p:sp>
      <p:sp>
        <p:nvSpPr>
          <p:cNvPr id="16" name="Oval 15"/>
          <p:cNvSpPr/>
          <p:nvPr/>
        </p:nvSpPr>
        <p:spPr>
          <a:xfrm>
            <a:off x="6373367" y="18470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74536" y="179222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LLM-ассистент: ~2/3 обращений, ~11 мин → &lt; 2 мин</a:t>
            </a:r>
          </a:p>
        </p:txBody>
      </p:sp>
      <p:sp>
        <p:nvSpPr>
          <p:cNvPr id="18" name="Oval 17"/>
          <p:cNvSpPr/>
          <p:nvPr/>
        </p:nvSpPr>
        <p:spPr>
          <a:xfrm>
            <a:off x="6373367" y="239572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74536" y="234086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заявленная экономия ~$40 млн/год (Klarna, 2024)</a:t>
            </a:r>
          </a:p>
        </p:txBody>
      </p:sp>
      <p:sp>
        <p:nvSpPr>
          <p:cNvPr id="20" name="Oval 19"/>
          <p:cNvSpPr/>
          <p:nvPr/>
        </p:nvSpPr>
        <p:spPr>
          <a:xfrm>
            <a:off x="6373367" y="294436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74536" y="288950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2024: подавалось как «ИИ заменяет поддержку»</a:t>
            </a:r>
          </a:p>
        </p:txBody>
      </p:sp>
      <p:sp>
        <p:nvSpPr>
          <p:cNvPr id="22" name="Oval 21"/>
          <p:cNvSpPr/>
          <p:nvPr/>
        </p:nvSpPr>
        <p:spPr>
          <a:xfrm>
            <a:off x="6373367" y="349300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74536" y="343814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сер. 2025: CSAT↓ → вернулись к найму людей</a:t>
            </a:r>
          </a:p>
        </p:txBody>
      </p:sp>
      <p:sp>
        <p:nvSpPr>
          <p:cNvPr id="24" name="Rounded Rectangle 23"/>
          <p:cNvSpPr/>
          <p:nvPr/>
        </p:nvSpPr>
        <p:spPr>
          <a:xfrm>
            <a:off x="502920" y="4224528"/>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79392"/>
            <a:ext cx="10762488" cy="621792"/>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Критерий: фиксированная политика/тариф/право → детерминированная выборка/grounded, не свободная генерация; и при любом сценарии гарантирован путь к человеку.</a:t>
            </a:r>
          </a:p>
        </p:txBody>
      </p:sp>
      <p:sp>
        <p:nvSpPr>
          <p:cNvPr id="26" name="Rounded Rectangle 25"/>
          <p:cNvSpPr/>
          <p:nvPr/>
        </p:nvSpPr>
        <p:spPr>
          <a:xfrm>
            <a:off x="502920" y="5084064"/>
            <a:ext cx="1120140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138927"/>
            <a:ext cx="10762488" cy="987552"/>
          </a:xfrm>
          <a:prstGeom prst="rect">
            <a:avLst/>
          </a:prstGeom>
          <a:noFill/>
        </p:spPr>
        <p:txBody>
          <a:bodyPr wrap="square" lIns="0" rIns="0" tIns="0" bIns="0" anchor="ctr">
            <a:spAutoFit/>
          </a:bodyPr>
          <a:lstStyle/>
          <a:p>
            <a:pPr algn="l">
              <a:lnSpc>
                <a:spcPct val="120000"/>
              </a:lnSpc>
            </a:pPr>
            <a:r>
              <a:rPr sz="1500" b="1" i="0">
                <a:solidFill>
                  <a:srgbClr val="21295C"/>
                </a:solidFill>
                <a:latin typeface="Arial"/>
              </a:rPr>
              <a:t>Устойчива не замена, а AUGMENTATION: ИИ на массовой рутине + гарантированная человеческая эскалация на эмоциональном / спорном / нестандартном хвосте.</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Чекпойнт: 4 типа из 5 пройдены — поворот к «человек + обвязка».</a:t>
            </a:r>
          </a:p>
        </p:txBody>
      </p:sp>
      <p:sp>
        <p:nvSpPr>
          <p:cNvPr id="3" name="Rounded Rectangle 2"/>
          <p:cNvSpPr/>
          <p:nvPr/>
        </p:nvSpPr>
        <p:spPr>
          <a:xfrm>
            <a:off x="502920" y="1078992"/>
            <a:ext cx="11201400" cy="133502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188719"/>
            <a:ext cx="10725912" cy="256032"/>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Прогресс по 5 типам — у 4 пройденных провал одной формы:</a:t>
            </a:r>
          </a:p>
        </p:txBody>
      </p:sp>
      <p:sp>
        <p:nvSpPr>
          <p:cNvPr id="5" name="Rounded Rectangle 4"/>
          <p:cNvSpPr/>
          <p:nvPr/>
        </p:nvSpPr>
        <p:spPr>
          <a:xfrm>
            <a:off x="740664" y="1517904"/>
            <a:ext cx="2028139" cy="74980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572768"/>
            <a:ext cx="1918411" cy="274320"/>
          </a:xfrm>
          <a:prstGeom prst="rect">
            <a:avLst/>
          </a:prstGeom>
          <a:noFill/>
        </p:spPr>
        <p:txBody>
          <a:bodyPr wrap="square" lIns="0" rIns="0" tIns="0" bIns="0" anchor="t">
            <a:spAutoFit/>
          </a:bodyPr>
          <a:lstStyle/>
          <a:p>
            <a:pPr algn="ctr">
              <a:lnSpc>
                <a:spcPct val="115000"/>
              </a:lnSpc>
            </a:pPr>
            <a:r>
              <a:rPr sz="1250" b="1" i="0">
                <a:solidFill>
                  <a:srgbClr val="028090"/>
                </a:solidFill>
                <a:latin typeface="Arial"/>
              </a:rPr>
              <a:t>✓ Прогноз</a:t>
            </a:r>
          </a:p>
        </p:txBody>
      </p:sp>
      <p:sp>
        <p:nvSpPr>
          <p:cNvPr id="7" name="TextBox 6"/>
          <p:cNvSpPr txBox="1"/>
          <p:nvPr/>
        </p:nvSpPr>
        <p:spPr>
          <a:xfrm>
            <a:off x="795528" y="1865376"/>
            <a:ext cx="1918411" cy="329184"/>
          </a:xfrm>
          <a:prstGeom prst="rect">
            <a:avLst/>
          </a:prstGeom>
          <a:noFill/>
        </p:spPr>
        <p:txBody>
          <a:bodyPr wrap="square" lIns="0" rIns="0" tIns="0" bIns="0" anchor="t">
            <a:spAutoFit/>
          </a:bodyPr>
          <a:lstStyle/>
          <a:p>
            <a:pPr algn="ctr">
              <a:lnSpc>
                <a:spcPct val="100000"/>
              </a:lnSpc>
            </a:pPr>
            <a:r>
              <a:rPr sz="1000" b="0" i="0">
                <a:solidFill>
                  <a:srgbClr val="21295C"/>
                </a:solidFill>
                <a:latin typeface="Arial"/>
              </a:rPr>
              <a:t>Zillow</a:t>
            </a:r>
          </a:p>
        </p:txBody>
      </p:sp>
      <p:sp>
        <p:nvSpPr>
          <p:cNvPr id="8" name="Rounded Rectangle 7"/>
          <p:cNvSpPr/>
          <p:nvPr/>
        </p:nvSpPr>
        <p:spPr>
          <a:xfrm>
            <a:off x="2915107" y="1517904"/>
            <a:ext cx="2028139" cy="74980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69971" y="1572768"/>
            <a:ext cx="1918411" cy="274320"/>
          </a:xfrm>
          <a:prstGeom prst="rect">
            <a:avLst/>
          </a:prstGeom>
          <a:noFill/>
        </p:spPr>
        <p:txBody>
          <a:bodyPr wrap="square" lIns="0" rIns="0" tIns="0" bIns="0" anchor="t">
            <a:spAutoFit/>
          </a:bodyPr>
          <a:lstStyle/>
          <a:p>
            <a:pPr algn="ctr">
              <a:lnSpc>
                <a:spcPct val="115000"/>
              </a:lnSpc>
            </a:pPr>
            <a:r>
              <a:rPr sz="1250" b="1" i="0">
                <a:solidFill>
                  <a:srgbClr val="028090"/>
                </a:solidFill>
                <a:latin typeface="Arial"/>
              </a:rPr>
              <a:t>✓ Аномалии</a:t>
            </a:r>
          </a:p>
        </p:txBody>
      </p:sp>
      <p:sp>
        <p:nvSpPr>
          <p:cNvPr id="10" name="TextBox 9"/>
          <p:cNvSpPr txBox="1"/>
          <p:nvPr/>
        </p:nvSpPr>
        <p:spPr>
          <a:xfrm>
            <a:off x="2969971" y="1865376"/>
            <a:ext cx="1918411" cy="329184"/>
          </a:xfrm>
          <a:prstGeom prst="rect">
            <a:avLst/>
          </a:prstGeom>
          <a:noFill/>
        </p:spPr>
        <p:txBody>
          <a:bodyPr wrap="square" lIns="0" rIns="0" tIns="0" bIns="0" anchor="t">
            <a:spAutoFit/>
          </a:bodyPr>
          <a:lstStyle/>
          <a:p>
            <a:pPr algn="ctr">
              <a:lnSpc>
                <a:spcPct val="100000"/>
              </a:lnSpc>
            </a:pPr>
            <a:r>
              <a:rPr sz="1000" b="0" i="0">
                <a:solidFill>
                  <a:srgbClr val="21295C"/>
                </a:solidFill>
                <a:latin typeface="Arial"/>
              </a:rPr>
              <a:t>fraud-FP</a:t>
            </a:r>
          </a:p>
        </p:txBody>
      </p:sp>
      <p:sp>
        <p:nvSpPr>
          <p:cNvPr id="11" name="Rounded Rectangle 10"/>
          <p:cNvSpPr/>
          <p:nvPr/>
        </p:nvSpPr>
        <p:spPr>
          <a:xfrm>
            <a:off x="5089550" y="1517904"/>
            <a:ext cx="2028139" cy="74980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1572768"/>
            <a:ext cx="1918411" cy="274320"/>
          </a:xfrm>
          <a:prstGeom prst="rect">
            <a:avLst/>
          </a:prstGeom>
          <a:noFill/>
        </p:spPr>
        <p:txBody>
          <a:bodyPr wrap="square" lIns="0" rIns="0" tIns="0" bIns="0" anchor="t">
            <a:spAutoFit/>
          </a:bodyPr>
          <a:lstStyle/>
          <a:p>
            <a:pPr algn="ctr">
              <a:lnSpc>
                <a:spcPct val="115000"/>
              </a:lnSpc>
            </a:pPr>
            <a:r>
              <a:rPr sz="1250" b="1" i="0">
                <a:solidFill>
                  <a:srgbClr val="028090"/>
                </a:solidFill>
                <a:latin typeface="Arial"/>
              </a:rPr>
              <a:t>✓ Скоринг</a:t>
            </a:r>
          </a:p>
        </p:txBody>
      </p:sp>
      <p:sp>
        <p:nvSpPr>
          <p:cNvPr id="13" name="TextBox 12"/>
          <p:cNvSpPr txBox="1"/>
          <p:nvPr/>
        </p:nvSpPr>
        <p:spPr>
          <a:xfrm>
            <a:off x="5144414" y="1865376"/>
            <a:ext cx="1918411" cy="329184"/>
          </a:xfrm>
          <a:prstGeom prst="rect">
            <a:avLst/>
          </a:prstGeom>
          <a:noFill/>
        </p:spPr>
        <p:txBody>
          <a:bodyPr wrap="square" lIns="0" rIns="0" tIns="0" bIns="0" anchor="t">
            <a:spAutoFit/>
          </a:bodyPr>
          <a:lstStyle/>
          <a:p>
            <a:pPr algn="ctr">
              <a:lnSpc>
                <a:spcPct val="100000"/>
              </a:lnSpc>
            </a:pPr>
            <a:r>
              <a:rPr sz="1000" b="0" i="0">
                <a:solidFill>
                  <a:srgbClr val="21295C"/>
                </a:solidFill>
                <a:latin typeface="Arial"/>
              </a:rPr>
              <a:t>Apple Card</a:t>
            </a:r>
          </a:p>
        </p:txBody>
      </p:sp>
      <p:sp>
        <p:nvSpPr>
          <p:cNvPr id="14" name="Rounded Rectangle 13"/>
          <p:cNvSpPr/>
          <p:nvPr/>
        </p:nvSpPr>
        <p:spPr>
          <a:xfrm>
            <a:off x="7263993" y="1517904"/>
            <a:ext cx="2028139" cy="74980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8857" y="1572768"/>
            <a:ext cx="1918411" cy="274320"/>
          </a:xfrm>
          <a:prstGeom prst="rect">
            <a:avLst/>
          </a:prstGeom>
          <a:noFill/>
        </p:spPr>
        <p:txBody>
          <a:bodyPr wrap="square" lIns="0" rIns="0" tIns="0" bIns="0" anchor="t">
            <a:spAutoFit/>
          </a:bodyPr>
          <a:lstStyle/>
          <a:p>
            <a:pPr algn="ctr">
              <a:lnSpc>
                <a:spcPct val="115000"/>
              </a:lnSpc>
            </a:pPr>
            <a:r>
              <a:rPr sz="1250" b="1" i="0">
                <a:solidFill>
                  <a:srgbClr val="028090"/>
                </a:solidFill>
                <a:latin typeface="Arial"/>
              </a:rPr>
              <a:t>✓ LLM</a:t>
            </a:r>
          </a:p>
        </p:txBody>
      </p:sp>
      <p:sp>
        <p:nvSpPr>
          <p:cNvPr id="16" name="TextBox 15"/>
          <p:cNvSpPr txBox="1"/>
          <p:nvPr/>
        </p:nvSpPr>
        <p:spPr>
          <a:xfrm>
            <a:off x="7318857" y="1865376"/>
            <a:ext cx="1918411" cy="329184"/>
          </a:xfrm>
          <a:prstGeom prst="rect">
            <a:avLst/>
          </a:prstGeom>
          <a:noFill/>
        </p:spPr>
        <p:txBody>
          <a:bodyPr wrap="square" lIns="0" rIns="0" tIns="0" bIns="0" anchor="t">
            <a:spAutoFit/>
          </a:bodyPr>
          <a:lstStyle/>
          <a:p>
            <a:pPr algn="ctr">
              <a:lnSpc>
                <a:spcPct val="100000"/>
              </a:lnSpc>
            </a:pPr>
            <a:r>
              <a:rPr sz="1000" b="0" i="0">
                <a:solidFill>
                  <a:srgbClr val="21295C"/>
                </a:solidFill>
                <a:latin typeface="Arial"/>
              </a:rPr>
              <a:t>Air Canada</a:t>
            </a:r>
          </a:p>
        </p:txBody>
      </p:sp>
      <p:sp>
        <p:nvSpPr>
          <p:cNvPr id="17" name="Rounded Rectangle 16"/>
          <p:cNvSpPr/>
          <p:nvPr/>
        </p:nvSpPr>
        <p:spPr>
          <a:xfrm>
            <a:off x="9438436" y="1517904"/>
            <a:ext cx="2028139"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93300" y="1572768"/>
            <a:ext cx="1918411" cy="274320"/>
          </a:xfrm>
          <a:prstGeom prst="rect">
            <a:avLst/>
          </a:prstGeom>
          <a:noFill/>
        </p:spPr>
        <p:txBody>
          <a:bodyPr wrap="square" lIns="0" rIns="0" tIns="0" bIns="0" anchor="t">
            <a:spAutoFit/>
          </a:bodyPr>
          <a:lstStyle/>
          <a:p>
            <a:pPr algn="ctr">
              <a:lnSpc>
                <a:spcPct val="115000"/>
              </a:lnSpc>
            </a:pPr>
            <a:r>
              <a:rPr sz="1250" b="1" i="0">
                <a:solidFill>
                  <a:srgbClr val="F0AB00"/>
                </a:solidFill>
                <a:latin typeface="Arial"/>
              </a:rPr>
              <a:t>→ Recsys</a:t>
            </a:r>
          </a:p>
        </p:txBody>
      </p:sp>
      <p:sp>
        <p:nvSpPr>
          <p:cNvPr id="19" name="TextBox 18"/>
          <p:cNvSpPr txBox="1"/>
          <p:nvPr/>
        </p:nvSpPr>
        <p:spPr>
          <a:xfrm>
            <a:off x="9493300" y="1865376"/>
            <a:ext cx="1918411" cy="329184"/>
          </a:xfrm>
          <a:prstGeom prst="rect">
            <a:avLst/>
          </a:prstGeom>
          <a:noFill/>
        </p:spPr>
        <p:txBody>
          <a:bodyPr wrap="square" lIns="0" rIns="0" tIns="0" bIns="0" anchor="t">
            <a:spAutoFit/>
          </a:bodyPr>
          <a:lstStyle/>
          <a:p>
            <a:pPr algn="ctr">
              <a:lnSpc>
                <a:spcPct val="100000"/>
              </a:lnSpc>
            </a:pPr>
            <a:r>
              <a:rPr sz="1000" b="0" i="0">
                <a:solidFill>
                  <a:srgbClr val="21295C"/>
                </a:solidFill>
                <a:latin typeface="Arial"/>
              </a:rPr>
              <a:t>следующий</a:t>
            </a:r>
          </a:p>
        </p:txBody>
      </p:sp>
      <p:sp>
        <p:nvSpPr>
          <p:cNvPr id="20" name="Rounded Rectangle 19"/>
          <p:cNvSpPr/>
          <p:nvPr/>
        </p:nvSpPr>
        <p:spPr>
          <a:xfrm>
            <a:off x="502920" y="2560320"/>
            <a:ext cx="11201400" cy="10607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2615184"/>
            <a:ext cx="10762488" cy="950976"/>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Уровень 1 «какой тип ИИ» — решается структурой задачи, чаще однозначно. Уровень 2 «что вокруг ИИ на цене ошибки» — проектируется отдельно. Поворот лекции: дальше внимание уходит с типа на обвязку.</a:t>
            </a:r>
          </a:p>
        </p:txBody>
      </p:sp>
      <p:sp>
        <p:nvSpPr>
          <p:cNvPr id="22" name="Rounded Rectangle 21"/>
          <p:cNvSpPr/>
          <p:nvPr/>
        </p:nvSpPr>
        <p:spPr>
          <a:xfrm>
            <a:off x="502920" y="3767328"/>
            <a:ext cx="11201400" cy="1060704"/>
          </a:xfrm>
          <a:prstGeom prst="roundRect">
            <a:avLst>
              <a:gd name="adj" fmla="val 7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hopping-cart-mid.png"/>
          <p:cNvPicPr>
            <a:picLocks noChangeAspect="1"/>
          </p:cNvPicPr>
          <p:nvPr/>
        </p:nvPicPr>
        <p:blipFill>
          <a:blip r:embed="rId2"/>
          <a:stretch>
            <a:fillRect/>
          </a:stretch>
        </p:blipFill>
        <p:spPr>
          <a:xfrm>
            <a:off x="777240" y="4078224"/>
            <a:ext cx="438912" cy="438912"/>
          </a:xfrm>
          <a:prstGeom prst="rect">
            <a:avLst/>
          </a:prstGeom>
        </p:spPr>
      </p:pic>
      <p:sp>
        <p:nvSpPr>
          <p:cNvPr id="24" name="TextBox 23"/>
          <p:cNvSpPr txBox="1"/>
          <p:nvPr/>
        </p:nvSpPr>
        <p:spPr>
          <a:xfrm>
            <a:off x="1417320" y="3858768"/>
            <a:ext cx="10058400" cy="8961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Последний тип — recsys / pricing — кажется самым БЕЗОБИДНЫМ: цена ошибки около нуля. Именно поэтому он опаснее остальных: провал ТИХИЙ — система рапортует успех по своей метрике.</a:t>
            </a:r>
          </a:p>
        </p:txBody>
      </p:sp>
      <p:sp>
        <p:nvSpPr>
          <p:cNvPr id="25" name="Rounded Rectangle 24"/>
          <p:cNvSpPr/>
          <p:nvPr/>
        </p:nvSpPr>
        <p:spPr>
          <a:xfrm>
            <a:off x="502920" y="499262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7488"/>
            <a:ext cx="10762488" cy="1078992"/>
          </a:xfrm>
          <a:prstGeom prst="rect">
            <a:avLst/>
          </a:prstGeom>
          <a:noFill/>
        </p:spPr>
        <p:txBody>
          <a:bodyPr wrap="square" lIns="0" rIns="0" tIns="0" bIns="0" anchor="ctr">
            <a:spAutoFit/>
          </a:bodyPr>
          <a:lstStyle/>
          <a:p>
            <a:pPr algn="l">
              <a:lnSpc>
                <a:spcPct val="120000"/>
              </a:lnSpc>
            </a:pPr>
            <a:r>
              <a:rPr sz="1500" b="1" i="0">
                <a:solidFill>
                  <a:srgbClr val="21295C"/>
                </a:solidFill>
                <a:latin typeface="Arial"/>
              </a:rPr>
              <a:t>Вопрос на оставшийся раздел — НЕ «какой тип», а «почему самый безобидный по цене ошибки тип может оказаться опаснее громких провалов?»</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726679" y="274320"/>
            <a:ext cx="4206240" cy="5486400"/>
          </a:xfrm>
          <a:prstGeom prst="rect">
            <a:avLst/>
          </a:prstGeom>
          <a:noFill/>
        </p:spPr>
        <p:txBody>
          <a:bodyPr wrap="square" lIns="0" rIns="0" tIns="0" bIns="0" anchor="ctr">
            <a:spAutoFit/>
          </a:bodyPr>
          <a:lstStyle/>
          <a:p>
            <a:pPr algn="ctr">
              <a:lnSpc>
                <a:spcPct val="100000"/>
              </a:lnSpc>
            </a:pPr>
            <a:r>
              <a:rPr sz="40000" b="1" i="0">
                <a:solidFill>
                  <a:srgbClr val="D9E2EC"/>
                </a:solidFill>
                <a:latin typeface="Arial"/>
              </a:rPr>
              <a:t>5</a:t>
            </a:r>
          </a:p>
        </p:txBody>
      </p:sp>
      <p:sp>
        <p:nvSpPr>
          <p:cNvPr id="3" name="TextBox 2"/>
          <p:cNvSpPr txBox="1"/>
          <p:nvPr/>
        </p:nvSpPr>
        <p:spPr>
          <a:xfrm>
            <a:off x="685800" y="1417320"/>
            <a:ext cx="676656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949440" cy="1691640"/>
          </a:xfrm>
          <a:prstGeom prst="rect">
            <a:avLst/>
          </a:prstGeom>
          <a:noFill/>
        </p:spPr>
        <p:txBody>
          <a:bodyPr wrap="square" lIns="0" rIns="0" tIns="0" bIns="0" anchor="t">
            <a:spAutoFit/>
          </a:bodyPr>
          <a:lstStyle/>
          <a:p>
            <a:pPr algn="l">
              <a:lnSpc>
                <a:spcPct val="108000"/>
              </a:lnSpc>
            </a:pPr>
            <a:r>
              <a:rPr sz="3600" b="1" i="0">
                <a:solidFill>
                  <a:srgbClr val="21295C"/>
                </a:solidFill>
                <a:latin typeface="Arial"/>
              </a:rPr>
              <a:t>Рекомендации и
динамическое ценообразование</a:t>
            </a:r>
          </a:p>
        </p:txBody>
      </p:sp>
      <p:sp>
        <p:nvSpPr>
          <p:cNvPr id="6" name="TextBox 5"/>
          <p:cNvSpPr txBox="1"/>
          <p:nvPr/>
        </p:nvSpPr>
        <p:spPr>
          <a:xfrm>
            <a:off x="713232" y="4224528"/>
            <a:ext cx="6858000" cy="141732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Последний тип — самый «безобидный» по цене ошибки, но с самыми тонкими патологиями.</a:t>
            </a:r>
          </a:p>
        </p:txBody>
      </p:sp>
      <p:sp>
        <p:nvSpPr>
          <p:cNvPr id="7" name="Rounded Rectangle 6"/>
          <p:cNvSpPr/>
          <p:nvPr/>
        </p:nvSpPr>
        <p:spPr>
          <a:xfrm>
            <a:off x="50292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0</a:t>
            </a:r>
          </a:p>
        </p:txBody>
      </p:sp>
      <p:sp>
        <p:nvSpPr>
          <p:cNvPr id="9" name="TextBox 8"/>
          <p:cNvSpPr txBox="1"/>
          <p:nvPr/>
        </p:nvSpPr>
        <p:spPr>
          <a:xfrm>
            <a:off x="53949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Открытие</a:t>
            </a:r>
          </a:p>
        </p:txBody>
      </p:sp>
      <p:sp>
        <p:nvSpPr>
          <p:cNvPr id="10" name="Rounded Rectangle 9"/>
          <p:cNvSpPr/>
          <p:nvPr/>
        </p:nvSpPr>
        <p:spPr>
          <a:xfrm>
            <a:off x="2118795"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55371"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1</a:t>
            </a:r>
          </a:p>
        </p:txBody>
      </p:sp>
      <p:sp>
        <p:nvSpPr>
          <p:cNvPr id="12" name="TextBox 11"/>
          <p:cNvSpPr txBox="1"/>
          <p:nvPr/>
        </p:nvSpPr>
        <p:spPr>
          <a:xfrm>
            <a:off x="2155371"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Прогноз</a:t>
            </a:r>
          </a:p>
        </p:txBody>
      </p:sp>
      <p:sp>
        <p:nvSpPr>
          <p:cNvPr id="13" name="Rounded Rectangle 12"/>
          <p:cNvSpPr/>
          <p:nvPr/>
        </p:nvSpPr>
        <p:spPr>
          <a:xfrm>
            <a:off x="373467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7124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2</a:t>
            </a:r>
          </a:p>
        </p:txBody>
      </p:sp>
      <p:sp>
        <p:nvSpPr>
          <p:cNvPr id="15" name="TextBox 14"/>
          <p:cNvSpPr txBox="1"/>
          <p:nvPr/>
        </p:nvSpPr>
        <p:spPr>
          <a:xfrm>
            <a:off x="377124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Аномалии</a:t>
            </a:r>
          </a:p>
        </p:txBody>
      </p:sp>
      <p:sp>
        <p:nvSpPr>
          <p:cNvPr id="16" name="Rounded Rectangle 15"/>
          <p:cNvSpPr/>
          <p:nvPr/>
        </p:nvSpPr>
        <p:spPr>
          <a:xfrm>
            <a:off x="5350546"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87122"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3</a:t>
            </a:r>
          </a:p>
        </p:txBody>
      </p:sp>
      <p:sp>
        <p:nvSpPr>
          <p:cNvPr id="18" name="TextBox 17"/>
          <p:cNvSpPr txBox="1"/>
          <p:nvPr/>
        </p:nvSpPr>
        <p:spPr>
          <a:xfrm>
            <a:off x="5387122"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Скоринг</a:t>
            </a:r>
          </a:p>
        </p:txBody>
      </p:sp>
      <p:sp>
        <p:nvSpPr>
          <p:cNvPr id="19" name="Rounded Rectangle 18"/>
          <p:cNvSpPr/>
          <p:nvPr/>
        </p:nvSpPr>
        <p:spPr>
          <a:xfrm>
            <a:off x="6966421"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2997"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4</a:t>
            </a:r>
          </a:p>
        </p:txBody>
      </p:sp>
      <p:sp>
        <p:nvSpPr>
          <p:cNvPr id="21" name="TextBox 20"/>
          <p:cNvSpPr txBox="1"/>
          <p:nvPr/>
        </p:nvSpPr>
        <p:spPr>
          <a:xfrm>
            <a:off x="7002997"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LLM</a:t>
            </a:r>
          </a:p>
        </p:txBody>
      </p:sp>
      <p:sp>
        <p:nvSpPr>
          <p:cNvPr id="22" name="Rounded Rectangle 21"/>
          <p:cNvSpPr/>
          <p:nvPr/>
        </p:nvSpPr>
        <p:spPr>
          <a:xfrm>
            <a:off x="8582297" y="5943600"/>
            <a:ext cx="1506147" cy="54864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8873" y="6007608"/>
            <a:ext cx="1432995" cy="201168"/>
          </a:xfrm>
          <a:prstGeom prst="rect">
            <a:avLst/>
          </a:prstGeom>
          <a:noFill/>
        </p:spPr>
        <p:txBody>
          <a:bodyPr wrap="square" lIns="0" rIns="0" tIns="0" bIns="0" anchor="t">
            <a:spAutoFit/>
          </a:bodyPr>
          <a:lstStyle/>
          <a:p>
            <a:pPr algn="ctr">
              <a:lnSpc>
                <a:spcPct val="115000"/>
              </a:lnSpc>
            </a:pPr>
            <a:r>
              <a:rPr sz="1000" b="1" i="0">
                <a:solidFill>
                  <a:srgbClr val="21295C"/>
                </a:solidFill>
                <a:latin typeface="Arial"/>
              </a:rPr>
              <a:t>Раздел 5</a:t>
            </a:r>
          </a:p>
        </p:txBody>
      </p:sp>
      <p:sp>
        <p:nvSpPr>
          <p:cNvPr id="24" name="TextBox 23"/>
          <p:cNvSpPr txBox="1"/>
          <p:nvPr/>
        </p:nvSpPr>
        <p:spPr>
          <a:xfrm>
            <a:off x="8618873" y="6217920"/>
            <a:ext cx="1432995" cy="237744"/>
          </a:xfrm>
          <a:prstGeom prst="rect">
            <a:avLst/>
          </a:prstGeom>
          <a:noFill/>
        </p:spPr>
        <p:txBody>
          <a:bodyPr wrap="square" lIns="0" rIns="0" tIns="0" bIns="0" anchor="t">
            <a:spAutoFit/>
          </a:bodyPr>
          <a:lstStyle/>
          <a:p>
            <a:pPr algn="ctr">
              <a:lnSpc>
                <a:spcPct val="95000"/>
              </a:lnSpc>
            </a:pPr>
            <a:r>
              <a:rPr sz="1050" b="1" i="0">
                <a:solidFill>
                  <a:srgbClr val="21295C"/>
                </a:solidFill>
                <a:latin typeface="Arial"/>
              </a:rPr>
              <a:t>Рекоменд.</a:t>
            </a:r>
          </a:p>
        </p:txBody>
      </p:sp>
      <p:sp>
        <p:nvSpPr>
          <p:cNvPr id="25" name="Rounded Rectangle 24"/>
          <p:cNvSpPr/>
          <p:nvPr/>
        </p:nvSpPr>
        <p:spPr>
          <a:xfrm>
            <a:off x="10198172"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4748"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6</a:t>
            </a:r>
          </a:p>
        </p:txBody>
      </p:sp>
      <p:sp>
        <p:nvSpPr>
          <p:cNvPr id="27" name="TextBox 26"/>
          <p:cNvSpPr txBox="1"/>
          <p:nvPr/>
        </p:nvSpPr>
        <p:spPr>
          <a:xfrm>
            <a:off x="10234748"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Фреймворк</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Два базовых подхода рекомендаций — и слабость у каждого по имени.</a:t>
            </a:r>
          </a:p>
        </p:txBody>
      </p:sp>
      <p:sp>
        <p:nvSpPr>
          <p:cNvPr id="3" name="Rounded Rectangle 2"/>
          <p:cNvSpPr/>
          <p:nvPr/>
        </p:nvSpPr>
        <p:spPr>
          <a:xfrm>
            <a:off x="502920" y="1024128"/>
            <a:ext cx="11201400" cy="1737360"/>
          </a:xfrm>
          <a:prstGeom prst="roundRect">
            <a:avLst>
              <a:gd name="adj" fmla="val 175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1170432"/>
            <a:ext cx="5326380"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170432"/>
            <a:ext cx="5326380" cy="384048"/>
          </a:xfrm>
          <a:prstGeom prst="rect">
            <a:avLst/>
          </a:prstGeom>
          <a:noFill/>
        </p:spPr>
        <p:txBody>
          <a:bodyPr wrap="square" lIns="0" rIns="0" tIns="0" bIns="0" anchor="ctr">
            <a:spAutoFit/>
          </a:bodyPr>
          <a:lstStyle/>
          <a:p>
            <a:pPr algn="ctr">
              <a:lnSpc>
                <a:spcPct val="115000"/>
              </a:lnSpc>
            </a:pPr>
            <a:r>
              <a:rPr sz="1250" b="1" i="0">
                <a:solidFill>
                  <a:srgbClr val="FFFFFF"/>
                </a:solidFill>
                <a:latin typeface="Arial"/>
              </a:rPr>
              <a:t>Collaborative — «спроси похожих на тебя»</a:t>
            </a:r>
          </a:p>
        </p:txBody>
      </p:sp>
      <p:sp>
        <p:nvSpPr>
          <p:cNvPr id="6" name="Rectangle 5"/>
          <p:cNvSpPr/>
          <p:nvPr/>
        </p:nvSpPr>
        <p:spPr>
          <a:xfrm>
            <a:off x="6103620" y="1170432"/>
            <a:ext cx="5326380" cy="38404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03620" y="1170432"/>
            <a:ext cx="5326380" cy="384048"/>
          </a:xfrm>
          <a:prstGeom prst="rect">
            <a:avLst/>
          </a:prstGeom>
          <a:noFill/>
        </p:spPr>
        <p:txBody>
          <a:bodyPr wrap="square" lIns="0" rIns="0" tIns="0" bIns="0" anchor="ctr">
            <a:spAutoFit/>
          </a:bodyPr>
          <a:lstStyle/>
          <a:p>
            <a:pPr algn="ctr">
              <a:lnSpc>
                <a:spcPct val="115000"/>
              </a:lnSpc>
            </a:pPr>
            <a:r>
              <a:rPr sz="1250" b="1" i="0">
                <a:solidFill>
                  <a:srgbClr val="FFFFFF"/>
                </a:solidFill>
                <a:latin typeface="Arial"/>
              </a:rPr>
              <a:t>Content-based — «ещё похожее по описанию»</a:t>
            </a:r>
          </a:p>
        </p:txBody>
      </p:sp>
      <p:sp>
        <p:nvSpPr>
          <p:cNvPr id="8" name="Rounded Rectangle 7"/>
          <p:cNvSpPr/>
          <p:nvPr/>
        </p:nvSpPr>
        <p:spPr>
          <a:xfrm>
            <a:off x="685800" y="1591056"/>
            <a:ext cx="5326380" cy="365760"/>
          </a:xfrm>
          <a:prstGeom prst="roundRect">
            <a:avLst>
              <a:gd name="adj" fmla="val 14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1591056"/>
            <a:ext cx="5088636" cy="365760"/>
          </a:xfrm>
          <a:prstGeom prst="rect">
            <a:avLst/>
          </a:prstGeom>
          <a:noFill/>
        </p:spPr>
        <p:txBody>
          <a:bodyPr wrap="square" lIns="0" rIns="0" tIns="0" bIns="0" anchor="ctr">
            <a:spAutoFit/>
          </a:bodyPr>
          <a:lstStyle/>
          <a:p>
            <a:pPr algn="l">
              <a:lnSpc>
                <a:spcPct val="100000"/>
              </a:lnSpc>
            </a:pPr>
            <a:r>
              <a:rPr sz="1100" b="0" i="0">
                <a:solidFill>
                  <a:srgbClr val="21295C"/>
                </a:solidFill>
                <a:latin typeface="Arial"/>
              </a:rPr>
              <a:t>матрица пользователь × товар</a:t>
            </a:r>
          </a:p>
        </p:txBody>
      </p:sp>
      <p:sp>
        <p:nvSpPr>
          <p:cNvPr id="10" name="Rounded Rectangle 9"/>
          <p:cNvSpPr/>
          <p:nvPr/>
        </p:nvSpPr>
        <p:spPr>
          <a:xfrm>
            <a:off x="6103620" y="1591056"/>
            <a:ext cx="5326380" cy="365760"/>
          </a:xfrm>
          <a:prstGeom prst="roundRect">
            <a:avLst>
              <a:gd name="adj" fmla="val 14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68212" y="1591056"/>
            <a:ext cx="5088636" cy="365760"/>
          </a:xfrm>
          <a:prstGeom prst="rect">
            <a:avLst/>
          </a:prstGeom>
          <a:noFill/>
        </p:spPr>
        <p:txBody>
          <a:bodyPr wrap="square" lIns="0" rIns="0" tIns="0" bIns="0" anchor="ctr">
            <a:spAutoFit/>
          </a:bodyPr>
          <a:lstStyle/>
          <a:p>
            <a:pPr algn="l">
              <a:lnSpc>
                <a:spcPct val="100000"/>
              </a:lnSpc>
            </a:pPr>
            <a:r>
              <a:rPr sz="1100" b="0" i="0">
                <a:solidFill>
                  <a:srgbClr val="21295C"/>
                </a:solidFill>
                <a:latin typeface="Arial"/>
              </a:rPr>
              <a:t>атрибуты товара (жанр, бренд)</a:t>
            </a:r>
          </a:p>
        </p:txBody>
      </p:sp>
      <p:sp>
        <p:nvSpPr>
          <p:cNvPr id="12" name="Rounded Rectangle 11"/>
          <p:cNvSpPr/>
          <p:nvPr/>
        </p:nvSpPr>
        <p:spPr>
          <a:xfrm>
            <a:off x="685800" y="1975104"/>
            <a:ext cx="5326380" cy="365760"/>
          </a:xfrm>
          <a:prstGeom prst="roundRect">
            <a:avLst>
              <a:gd name="adj" fmla="val 14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1975104"/>
            <a:ext cx="5088636" cy="365760"/>
          </a:xfrm>
          <a:prstGeom prst="rect">
            <a:avLst/>
          </a:prstGeom>
          <a:noFill/>
        </p:spPr>
        <p:txBody>
          <a:bodyPr wrap="square" lIns="0" rIns="0" tIns="0" bIns="0" anchor="ctr">
            <a:spAutoFit/>
          </a:bodyPr>
          <a:lstStyle/>
          <a:p>
            <a:pPr algn="l">
              <a:lnSpc>
                <a:spcPct val="100000"/>
              </a:lnSpc>
            </a:pPr>
            <a:r>
              <a:rPr sz="1100" b="0" i="0">
                <a:solidFill>
                  <a:srgbClr val="21295C"/>
                </a:solidFill>
                <a:latin typeface="Arial"/>
              </a:rPr>
              <a:t>⊕ ловит неожиданные связи</a:t>
            </a:r>
          </a:p>
        </p:txBody>
      </p:sp>
      <p:sp>
        <p:nvSpPr>
          <p:cNvPr id="14" name="Rounded Rectangle 13"/>
          <p:cNvSpPr/>
          <p:nvPr/>
        </p:nvSpPr>
        <p:spPr>
          <a:xfrm>
            <a:off x="6103620" y="1975104"/>
            <a:ext cx="5326380" cy="365760"/>
          </a:xfrm>
          <a:prstGeom prst="roundRect">
            <a:avLst>
              <a:gd name="adj" fmla="val 14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8212" y="1975104"/>
            <a:ext cx="5088636" cy="365760"/>
          </a:xfrm>
          <a:prstGeom prst="rect">
            <a:avLst/>
          </a:prstGeom>
          <a:noFill/>
        </p:spPr>
        <p:txBody>
          <a:bodyPr wrap="square" lIns="0" rIns="0" tIns="0" bIns="0" anchor="ctr">
            <a:spAutoFit/>
          </a:bodyPr>
          <a:lstStyle/>
          <a:p>
            <a:pPr algn="l">
              <a:lnSpc>
                <a:spcPct val="100000"/>
              </a:lnSpc>
            </a:pPr>
            <a:r>
              <a:rPr sz="1100" b="0" i="0">
                <a:solidFill>
                  <a:srgbClr val="21295C"/>
                </a:solidFill>
                <a:latin typeface="Arial"/>
              </a:rPr>
              <a:t>⊕ нет cold-start нового товара</a:t>
            </a:r>
          </a:p>
        </p:txBody>
      </p:sp>
      <p:sp>
        <p:nvSpPr>
          <p:cNvPr id="16" name="Rounded Rectangle 15"/>
          <p:cNvSpPr/>
          <p:nvPr/>
        </p:nvSpPr>
        <p:spPr>
          <a:xfrm>
            <a:off x="685800" y="2359152"/>
            <a:ext cx="5326380" cy="365760"/>
          </a:xfrm>
          <a:prstGeom prst="roundRect">
            <a:avLst>
              <a:gd name="adj" fmla="val 14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 y="2359152"/>
            <a:ext cx="5088636" cy="365760"/>
          </a:xfrm>
          <a:prstGeom prst="rect">
            <a:avLst/>
          </a:prstGeom>
          <a:noFill/>
        </p:spPr>
        <p:txBody>
          <a:bodyPr wrap="square" lIns="0" rIns="0" tIns="0" bIns="0" anchor="ctr">
            <a:spAutoFit/>
          </a:bodyPr>
          <a:lstStyle/>
          <a:p>
            <a:pPr algn="l">
              <a:lnSpc>
                <a:spcPct val="100000"/>
              </a:lnSpc>
            </a:pPr>
            <a:r>
              <a:rPr sz="1100" b="0" i="0">
                <a:solidFill>
                  <a:srgbClr val="21295C"/>
                </a:solidFill>
                <a:latin typeface="Arial"/>
              </a:rPr>
              <a:t>⊖ cold-start + popularity bias</a:t>
            </a:r>
          </a:p>
        </p:txBody>
      </p:sp>
      <p:sp>
        <p:nvSpPr>
          <p:cNvPr id="18" name="Rounded Rectangle 17"/>
          <p:cNvSpPr/>
          <p:nvPr/>
        </p:nvSpPr>
        <p:spPr>
          <a:xfrm>
            <a:off x="6103620" y="2359152"/>
            <a:ext cx="5326380" cy="365760"/>
          </a:xfrm>
          <a:prstGeom prst="roundRect">
            <a:avLst>
              <a:gd name="adj" fmla="val 14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8212" y="2359152"/>
            <a:ext cx="5088636" cy="365760"/>
          </a:xfrm>
          <a:prstGeom prst="rect">
            <a:avLst/>
          </a:prstGeom>
          <a:noFill/>
        </p:spPr>
        <p:txBody>
          <a:bodyPr wrap="square" lIns="0" rIns="0" tIns="0" bIns="0" anchor="ctr">
            <a:spAutoFit/>
          </a:bodyPr>
          <a:lstStyle/>
          <a:p>
            <a:pPr algn="l">
              <a:lnSpc>
                <a:spcPct val="100000"/>
              </a:lnSpc>
            </a:pPr>
            <a:r>
              <a:rPr sz="1100" b="0" i="0">
                <a:solidFill>
                  <a:srgbClr val="21295C"/>
                </a:solidFill>
                <a:latin typeface="Arial"/>
              </a:rPr>
              <a:t>⊖ over-specialization (ниша)</a:t>
            </a:r>
          </a:p>
        </p:txBody>
      </p:sp>
      <p:sp>
        <p:nvSpPr>
          <p:cNvPr id="20" name="Rounded Rectangle 19"/>
          <p:cNvSpPr/>
          <p:nvPr/>
        </p:nvSpPr>
        <p:spPr>
          <a:xfrm>
            <a:off x="502920" y="2889504"/>
            <a:ext cx="11201400" cy="1627632"/>
          </a:xfrm>
          <a:prstGeom prst="roundRect">
            <a:avLst>
              <a:gd name="adj" fmla="val 187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2980944"/>
            <a:ext cx="10725912"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Аналогия-якорь: три продавца (collaborative · content · hybrid)</a:t>
            </a:r>
          </a:p>
        </p:txBody>
      </p:sp>
      <p:pic>
        <p:nvPicPr>
          <p:cNvPr id="22" name="Picture 21" descr="d26b-three-sellers.png"/>
          <p:cNvPicPr>
            <a:picLocks noChangeAspect="1"/>
          </p:cNvPicPr>
          <p:nvPr/>
        </p:nvPicPr>
        <p:blipFill>
          <a:blip r:embed="rId2"/>
          <a:stretch>
            <a:fillRect/>
          </a:stretch>
        </p:blipFill>
        <p:spPr>
          <a:xfrm>
            <a:off x="4215384" y="3255264"/>
            <a:ext cx="3776472" cy="1152144"/>
          </a:xfrm>
          <a:prstGeom prst="rect">
            <a:avLst/>
          </a:prstGeom>
        </p:spPr>
      </p:pic>
      <p:sp>
        <p:nvSpPr>
          <p:cNvPr id="23" name="Rounded Rectangle 22"/>
          <p:cNvSpPr/>
          <p:nvPr/>
        </p:nvSpPr>
        <p:spPr>
          <a:xfrm>
            <a:off x="502920" y="468172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736592"/>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Запомнить: ЧТО это за подходы и КАКАЯ слабость по названию у каждого — collaborative (паттерн поведения) vs content (суть товара).</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Гибрид смягчает слабости — но без явного разнообразия пузырь не отменяет.</a:t>
            </a:r>
          </a:p>
        </p:txBody>
      </p:sp>
      <p:sp>
        <p:nvSpPr>
          <p:cNvPr id="3" name="Rounded Rectangle 2"/>
          <p:cNvSpPr/>
          <p:nvPr/>
        </p:nvSpPr>
        <p:spPr>
          <a:xfrm>
            <a:off x="502920" y="1078992"/>
            <a:ext cx="58064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07007"/>
            <a:ext cx="5330952" cy="256032"/>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Hybrid recommender</a:t>
            </a:r>
          </a:p>
        </p:txBody>
      </p:sp>
      <p:sp>
        <p:nvSpPr>
          <p:cNvPr id="5" name="TextBox 4"/>
          <p:cNvSpPr txBox="1"/>
          <p:nvPr/>
        </p:nvSpPr>
        <p:spPr>
          <a:xfrm>
            <a:off x="740664" y="1499616"/>
            <a:ext cx="5330952" cy="713232"/>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collaborative + content-based + контекст. Контентная часть закрывает cold-start, коллаборативная ломает over-specialization. Большинство промышленных систем.</a:t>
            </a:r>
          </a:p>
        </p:txBody>
      </p:sp>
      <p:sp>
        <p:nvSpPr>
          <p:cNvPr id="6" name="Rounded Rectangle 5"/>
          <p:cNvSpPr/>
          <p:nvPr/>
        </p:nvSpPr>
        <p:spPr>
          <a:xfrm>
            <a:off x="740664" y="2304288"/>
            <a:ext cx="2574036"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2395728"/>
            <a:ext cx="2391156" cy="256032"/>
          </a:xfrm>
          <a:prstGeom prst="rect">
            <a:avLst/>
          </a:prstGeom>
          <a:noFill/>
        </p:spPr>
        <p:txBody>
          <a:bodyPr wrap="square" lIns="0" rIns="0" tIns="0" bIns="0" anchor="ctr">
            <a:spAutoFit/>
          </a:bodyPr>
          <a:lstStyle/>
          <a:p>
            <a:pPr algn="ctr">
              <a:lnSpc>
                <a:spcPct val="115000"/>
              </a:lnSpc>
            </a:pPr>
            <a:r>
              <a:rPr sz="1250" b="1" i="0">
                <a:solidFill>
                  <a:srgbClr val="065A82"/>
                </a:solidFill>
                <a:latin typeface="Arial"/>
              </a:rPr>
              <a:t>Amazon</a:t>
            </a:r>
          </a:p>
        </p:txBody>
      </p:sp>
      <p:sp>
        <p:nvSpPr>
          <p:cNvPr id="8" name="TextBox 7"/>
          <p:cNvSpPr txBox="1"/>
          <p:nvPr/>
        </p:nvSpPr>
        <p:spPr>
          <a:xfrm>
            <a:off x="795528" y="2670048"/>
            <a:ext cx="2464308" cy="566928"/>
          </a:xfrm>
          <a:prstGeom prst="rect">
            <a:avLst/>
          </a:prstGeom>
          <a:noFill/>
        </p:spPr>
        <p:txBody>
          <a:bodyPr wrap="square" lIns="0" rIns="0" tIns="0" bIns="0" anchor="ctr">
            <a:spAutoFit/>
          </a:bodyPr>
          <a:lstStyle/>
          <a:p>
            <a:pPr algn="ctr">
              <a:lnSpc>
                <a:spcPct val="115000"/>
              </a:lnSpc>
            </a:pPr>
            <a:r>
              <a:rPr sz="3000" b="1" i="0">
                <a:solidFill>
                  <a:srgbClr val="21295C"/>
                </a:solidFill>
                <a:latin typeface="Arial"/>
              </a:rPr>
              <a:t>~35%</a:t>
            </a:r>
          </a:p>
        </p:txBody>
      </p:sp>
      <p:sp>
        <p:nvSpPr>
          <p:cNvPr id="9" name="TextBox 8"/>
          <p:cNvSpPr txBox="1"/>
          <p:nvPr/>
        </p:nvSpPr>
        <p:spPr>
          <a:xfrm>
            <a:off x="832104" y="3236976"/>
            <a:ext cx="2391156" cy="347472"/>
          </a:xfrm>
          <a:prstGeom prst="rect">
            <a:avLst/>
          </a:prstGeom>
          <a:noFill/>
        </p:spPr>
        <p:txBody>
          <a:bodyPr wrap="square" lIns="0" rIns="0" tIns="0" bIns="0" anchor="ctr">
            <a:spAutoFit/>
          </a:bodyPr>
          <a:lstStyle/>
          <a:p>
            <a:pPr algn="ctr">
              <a:lnSpc>
                <a:spcPct val="100000"/>
              </a:lnSpc>
            </a:pPr>
            <a:r>
              <a:rPr sz="1050" b="0" i="0">
                <a:solidFill>
                  <a:srgbClr val="21295C"/>
                </a:solidFill>
                <a:latin typeface="Arial"/>
              </a:rPr>
              <a:t>выручки — от рекомендаций</a:t>
            </a:r>
          </a:p>
        </p:txBody>
      </p:sp>
      <p:sp>
        <p:nvSpPr>
          <p:cNvPr id="10" name="Rounded Rectangle 9"/>
          <p:cNvSpPr/>
          <p:nvPr/>
        </p:nvSpPr>
        <p:spPr>
          <a:xfrm>
            <a:off x="3497580" y="2304288"/>
            <a:ext cx="2574036"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89020" y="2395728"/>
            <a:ext cx="2391156" cy="256032"/>
          </a:xfrm>
          <a:prstGeom prst="rect">
            <a:avLst/>
          </a:prstGeom>
          <a:noFill/>
        </p:spPr>
        <p:txBody>
          <a:bodyPr wrap="square" lIns="0" rIns="0" tIns="0" bIns="0" anchor="ctr">
            <a:spAutoFit/>
          </a:bodyPr>
          <a:lstStyle/>
          <a:p>
            <a:pPr algn="ctr">
              <a:lnSpc>
                <a:spcPct val="115000"/>
              </a:lnSpc>
            </a:pPr>
            <a:r>
              <a:rPr sz="1250" b="1" i="0">
                <a:solidFill>
                  <a:srgbClr val="065A82"/>
                </a:solidFill>
                <a:latin typeface="Arial"/>
              </a:rPr>
              <a:t>Netflix</a:t>
            </a:r>
          </a:p>
        </p:txBody>
      </p:sp>
      <p:sp>
        <p:nvSpPr>
          <p:cNvPr id="12" name="TextBox 11"/>
          <p:cNvSpPr txBox="1"/>
          <p:nvPr/>
        </p:nvSpPr>
        <p:spPr>
          <a:xfrm>
            <a:off x="3552444" y="2670048"/>
            <a:ext cx="2464308" cy="566928"/>
          </a:xfrm>
          <a:prstGeom prst="rect">
            <a:avLst/>
          </a:prstGeom>
          <a:noFill/>
        </p:spPr>
        <p:txBody>
          <a:bodyPr wrap="square" lIns="0" rIns="0" tIns="0" bIns="0" anchor="ctr">
            <a:spAutoFit/>
          </a:bodyPr>
          <a:lstStyle/>
          <a:p>
            <a:pPr algn="ctr">
              <a:lnSpc>
                <a:spcPct val="115000"/>
              </a:lnSpc>
            </a:pPr>
            <a:r>
              <a:rPr sz="3000" b="1" i="0">
                <a:solidFill>
                  <a:srgbClr val="21295C"/>
                </a:solidFill>
                <a:latin typeface="Arial"/>
              </a:rPr>
              <a:t>~75%</a:t>
            </a:r>
          </a:p>
        </p:txBody>
      </p:sp>
      <p:sp>
        <p:nvSpPr>
          <p:cNvPr id="13" name="TextBox 12"/>
          <p:cNvSpPr txBox="1"/>
          <p:nvPr/>
        </p:nvSpPr>
        <p:spPr>
          <a:xfrm>
            <a:off x="3589020" y="3236976"/>
            <a:ext cx="2391156" cy="347472"/>
          </a:xfrm>
          <a:prstGeom prst="rect">
            <a:avLst/>
          </a:prstGeom>
          <a:noFill/>
        </p:spPr>
        <p:txBody>
          <a:bodyPr wrap="square" lIns="0" rIns="0" tIns="0" bIns="0" anchor="ctr">
            <a:spAutoFit/>
          </a:bodyPr>
          <a:lstStyle/>
          <a:p>
            <a:pPr algn="ctr">
              <a:lnSpc>
                <a:spcPct val="100000"/>
              </a:lnSpc>
            </a:pPr>
            <a:r>
              <a:rPr sz="1050" b="0" i="0">
                <a:solidFill>
                  <a:srgbClr val="21295C"/>
                </a:solidFill>
                <a:latin typeface="Arial"/>
              </a:rPr>
              <a:t>просмотров — от рекомендаций</a:t>
            </a:r>
          </a:p>
        </p:txBody>
      </p:sp>
      <p:sp>
        <p:nvSpPr>
          <p:cNvPr id="14" name="TextBox 13"/>
          <p:cNvSpPr txBox="1"/>
          <p:nvPr/>
        </p:nvSpPr>
        <p:spPr>
          <a:xfrm>
            <a:off x="740664" y="3749039"/>
            <a:ext cx="5330952" cy="896112"/>
          </a:xfrm>
          <a:prstGeom prst="rect">
            <a:avLst/>
          </a:prstGeom>
          <a:noFill/>
        </p:spPr>
        <p:txBody>
          <a:bodyPr wrap="square" lIns="0" rIns="0" tIns="0" bIns="0" anchor="t">
            <a:spAutoFit/>
          </a:bodyPr>
          <a:lstStyle/>
          <a:p>
            <a:pPr algn="l">
              <a:lnSpc>
                <a:spcPct val="112000"/>
              </a:lnSpc>
            </a:pPr>
            <a:r>
              <a:rPr sz="1050" b="0" i="1">
                <a:solidFill>
                  <a:srgbClr val="5B6678"/>
                </a:solidFill>
                <a:latin typeface="Arial"/>
              </a:rPr>
              <a:t>Историческая оценка (восходит к McKinsey ~2013), НЕ свежий верифицированный показатель — поэтому числом, не графиком-«фактом».</a:t>
            </a:r>
          </a:p>
        </p:txBody>
      </p:sp>
      <p:sp>
        <p:nvSpPr>
          <p:cNvPr id="15" name="Rounded Rectangle 14"/>
          <p:cNvSpPr/>
          <p:nvPr/>
        </p:nvSpPr>
        <p:spPr>
          <a:xfrm>
            <a:off x="6492240" y="1078992"/>
            <a:ext cx="5212080"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1696" y="1207007"/>
            <a:ext cx="4773168" cy="256032"/>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Filter bubble (информационный пузырь)</a:t>
            </a:r>
          </a:p>
        </p:txBody>
      </p:sp>
      <p:sp>
        <p:nvSpPr>
          <p:cNvPr id="17" name="TextBox 16"/>
          <p:cNvSpPr txBox="1"/>
          <p:nvPr/>
        </p:nvSpPr>
        <p:spPr>
          <a:xfrm>
            <a:off x="6711696" y="1499616"/>
            <a:ext cx="4773168" cy="1243584"/>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показал похожее → пользователь взаимодействует с похожим → модель показывает ещё более похожее. Сужение разнообразия — НЕ злой умысел, а следствие оптимизации на краткосрочную релевантность.</a:t>
            </a:r>
          </a:p>
        </p:txBody>
      </p:sp>
      <p:sp>
        <p:nvSpPr>
          <p:cNvPr id="18" name="Rounded Rectangle 17"/>
          <p:cNvSpPr/>
          <p:nvPr/>
        </p:nvSpPr>
        <p:spPr>
          <a:xfrm>
            <a:off x="6492240" y="2980944"/>
            <a:ext cx="5212080" cy="1801368"/>
          </a:xfrm>
          <a:prstGeom prst="roundRect">
            <a:avLst>
              <a:gd name="adj" fmla="val 169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11696" y="3108960"/>
            <a:ext cx="4773168" cy="256032"/>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Dynamic pricing</a:t>
            </a:r>
          </a:p>
        </p:txBody>
      </p:sp>
      <p:sp>
        <p:nvSpPr>
          <p:cNvPr id="20" name="TextBox 19"/>
          <p:cNvSpPr txBox="1"/>
          <p:nvPr/>
        </p:nvSpPr>
        <p:spPr>
          <a:xfrm>
            <a:off x="6711696" y="3401568"/>
            <a:ext cx="4773168" cy="1298448"/>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автоподстройка цены под спрос/время/контекст. Восприятие справедливости и закон — ОГРАНИЧЕНИЯ задачи, а НЕ оптимизируемые переменные.</a:t>
            </a:r>
          </a:p>
        </p:txBody>
      </p:sp>
      <p:sp>
        <p:nvSpPr>
          <p:cNvPr id="21" name="Rounded Rectangle 20"/>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Filter bubble возникает без всякого умысла — прямое следствие «угадать, что купишь сейчас». Гибрид это сужение автоматически НЕ отменяет.</a:t>
            </a:r>
          </a:p>
        </p:txBody>
      </p:sp>
      <p:sp>
        <p:nvSpPr>
          <p:cNvPr id="23" name="TextBox 22"/>
          <p:cNvSpPr txBox="1"/>
          <p:nvPr/>
        </p:nvSpPr>
        <p:spPr>
          <a:xfrm>
            <a:off x="502920" y="6437376"/>
            <a:ext cx="11201400" cy="310896"/>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Amazon ~35% / Netflix ~75% — историческая оценка (McKinsey ~2013), НЕ свежий показатель; Ozon/WB — точную долю компании не раскрывают.</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100" b="1" i="0">
                <a:solidFill>
                  <a:srgbClr val="21295C"/>
                </a:solidFill>
                <a:latin typeface="Arial"/>
              </a:rPr>
              <a:t>Система рапортует успех по своей метрике — пока разрушает, что в метрику не попало.</a:t>
            </a:r>
          </a:p>
        </p:txBody>
      </p:sp>
      <p:sp>
        <p:nvSpPr>
          <p:cNvPr id="3" name="Rounded Rectangle 2"/>
          <p:cNvSpPr/>
          <p:nvPr/>
        </p:nvSpPr>
        <p:spPr>
          <a:xfrm>
            <a:off x="502920" y="1078992"/>
            <a:ext cx="644652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07007"/>
            <a:ext cx="5971031" cy="256032"/>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Корень — прокси ≠ цель</a:t>
            </a:r>
          </a:p>
        </p:txBody>
      </p:sp>
      <p:sp>
        <p:nvSpPr>
          <p:cNvPr id="5" name="TextBox 4"/>
          <p:cNvSpPr txBox="1"/>
          <p:nvPr/>
        </p:nvSpPr>
        <p:spPr>
          <a:xfrm>
            <a:off x="740664" y="1499616"/>
            <a:ext cx="5971031" cy="859536"/>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система оптимизирует измеримое в моменте (ПРОКСИ: клики, время, маржа) ≠ настоящая цель (доверие, благополучие). Расхождение → filter bubble, dark patterns, гомогенизация.</a:t>
            </a:r>
          </a:p>
        </p:txBody>
      </p:sp>
      <p:sp>
        <p:nvSpPr>
          <p:cNvPr id="6" name="Rounded Rectangle 5"/>
          <p:cNvSpPr/>
          <p:nvPr/>
        </p:nvSpPr>
        <p:spPr>
          <a:xfrm>
            <a:off x="740664" y="2450591"/>
            <a:ext cx="5971031" cy="310896"/>
          </a:xfrm>
          <a:prstGeom prst="roundRect">
            <a:avLst>
              <a:gd name="adj" fmla="val 20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50591"/>
            <a:ext cx="571500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Кейс G — Wendy's, февраль 2024</a:t>
            </a:r>
          </a:p>
        </p:txBody>
      </p:sp>
      <p:sp>
        <p:nvSpPr>
          <p:cNvPr id="8" name="TextBox 7"/>
          <p:cNvSpPr txBox="1"/>
          <p:nvPr/>
        </p:nvSpPr>
        <p:spPr>
          <a:xfrm>
            <a:off x="740664" y="2852928"/>
            <a:ext cx="5971031" cy="1792224"/>
          </a:xfrm>
          <a:prstGeom prst="rect">
            <a:avLst/>
          </a:prstGeom>
          <a:noFill/>
        </p:spPr>
        <p:txBody>
          <a:bodyPr wrap="square" lIns="0" rIns="0" tIns="0" bIns="0" anchor="t">
            <a:spAutoFit/>
          </a:bodyPr>
          <a:lstStyle/>
          <a:p>
            <a:pPr algn="l">
              <a:lnSpc>
                <a:spcPct val="118000"/>
              </a:lnSpc>
            </a:pPr>
            <a:r>
              <a:rPr sz="1150" b="0" i="0">
                <a:solidFill>
                  <a:srgbClr val="21295C"/>
                </a:solidFill>
                <a:latin typeface="Arial"/>
              </a:rPr>
              <a:t>~$20 млн в цифровые меню-борды с динамическим ценообразованием → СМИ прочитали как surge-pricing → #BoycottWendys, конкурент обыграл в рекламе → откат за дни. Деньги вложены, технология доступна — провалилось игнорирование того, что справедливость восприятия = ОГРАНИЧЕНИЕ, а не переменная.</a:t>
            </a:r>
          </a:p>
        </p:txBody>
      </p:sp>
      <p:sp>
        <p:nvSpPr>
          <p:cNvPr id="9" name="Rounded Rectangle 8"/>
          <p:cNvSpPr/>
          <p:nvPr/>
        </p:nvSpPr>
        <p:spPr>
          <a:xfrm>
            <a:off x="7132320" y="1078992"/>
            <a:ext cx="4572000" cy="1773936"/>
          </a:xfrm>
          <a:prstGeom prst="roundRect">
            <a:avLst>
              <a:gd name="adj" fmla="val 171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33488" y="1188719"/>
            <a:ext cx="4169663" cy="237744"/>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Почему провал ТИХИЙ:</a:t>
            </a:r>
          </a:p>
        </p:txBody>
      </p:sp>
      <p:cxnSp>
        <p:nvCxnSpPr>
          <p:cNvPr id="11" name="Connector 10"/>
          <p:cNvCxnSpPr/>
          <p:nvPr/>
        </p:nvCxnSpPr>
        <p:spPr>
          <a:xfrm flipV="1">
            <a:off x="7406640" y="1554480"/>
            <a:ext cx="0" cy="1005840"/>
          </a:xfrm>
          <a:prstGeom prst="line">
            <a:avLst/>
          </a:prstGeom>
          <a:ln w="1524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406640" y="2560320"/>
            <a:ext cx="4023360" cy="0"/>
          </a:xfrm>
          <a:prstGeom prst="line">
            <a:avLst/>
          </a:prstGeom>
          <a:ln w="1524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406640" y="1645919"/>
            <a:ext cx="4023360" cy="731520"/>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406640" y="2103120"/>
            <a:ext cx="4023360" cy="164592"/>
          </a:xfrm>
          <a:prstGeom prst="line">
            <a:avLst/>
          </a:prstGeom>
          <a:ln w="38100">
            <a:solidFill>
              <a:srgbClr val="028090"/>
            </a:solidFill>
            <a:prstDash val="dash"/>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875520" y="1536192"/>
            <a:ext cx="1554480" cy="237744"/>
          </a:xfrm>
          <a:prstGeom prst="rect">
            <a:avLst/>
          </a:prstGeom>
          <a:noFill/>
        </p:spPr>
        <p:txBody>
          <a:bodyPr wrap="square" lIns="0" rIns="0" tIns="0" bIns="0" anchor="t">
            <a:spAutoFit/>
          </a:bodyPr>
          <a:lstStyle/>
          <a:p>
            <a:pPr algn="r">
              <a:lnSpc>
                <a:spcPct val="115000"/>
              </a:lnSpc>
            </a:pPr>
            <a:r>
              <a:rPr sz="1000" b="1" i="0">
                <a:solidFill>
                  <a:srgbClr val="F0AB00"/>
                </a:solidFill>
                <a:latin typeface="Arial"/>
              </a:rPr>
              <a:t>прокси-метрика ↑</a:t>
            </a:r>
          </a:p>
        </p:txBody>
      </p:sp>
      <p:sp>
        <p:nvSpPr>
          <p:cNvPr id="16" name="TextBox 15"/>
          <p:cNvSpPr txBox="1"/>
          <p:nvPr/>
        </p:nvSpPr>
        <p:spPr>
          <a:xfrm>
            <a:off x="9875520" y="2267712"/>
            <a:ext cx="1554480" cy="237744"/>
          </a:xfrm>
          <a:prstGeom prst="rect">
            <a:avLst/>
          </a:prstGeom>
          <a:noFill/>
        </p:spPr>
        <p:txBody>
          <a:bodyPr wrap="square" lIns="0" rIns="0" tIns="0" bIns="0" anchor="t">
            <a:spAutoFit/>
          </a:bodyPr>
          <a:lstStyle/>
          <a:p>
            <a:pPr algn="r">
              <a:lnSpc>
                <a:spcPct val="115000"/>
              </a:lnSpc>
            </a:pPr>
            <a:r>
              <a:rPr sz="1000" b="1" i="0">
                <a:solidFill>
                  <a:srgbClr val="028090"/>
                </a:solidFill>
                <a:latin typeface="Arial"/>
              </a:rPr>
              <a:t>истинная цель →</a:t>
            </a:r>
          </a:p>
        </p:txBody>
      </p:sp>
      <p:sp>
        <p:nvSpPr>
          <p:cNvPr id="17" name="TextBox 16"/>
          <p:cNvSpPr txBox="1"/>
          <p:nvPr/>
        </p:nvSpPr>
        <p:spPr>
          <a:xfrm>
            <a:off x="7333488" y="2596896"/>
            <a:ext cx="4169663" cy="219456"/>
          </a:xfrm>
          <a:prstGeom prst="rect">
            <a:avLst/>
          </a:prstGeom>
          <a:noFill/>
        </p:spPr>
        <p:txBody>
          <a:bodyPr wrap="square" lIns="0" rIns="0" tIns="0" bIns="0" anchor="t">
            <a:spAutoFit/>
          </a:bodyPr>
          <a:lstStyle/>
          <a:p>
            <a:pPr algn="l">
              <a:lnSpc>
                <a:spcPct val="115000"/>
              </a:lnSpc>
            </a:pPr>
            <a:r>
              <a:rPr sz="1000" b="0" i="1">
                <a:solidFill>
                  <a:srgbClr val="5B6678"/>
                </a:solidFill>
                <a:latin typeface="Arial"/>
              </a:rPr>
              <a:t>дашборд зелёный, доверие падает</a:t>
            </a:r>
          </a:p>
        </p:txBody>
      </p:sp>
      <p:sp>
        <p:nvSpPr>
          <p:cNvPr id="18" name="Rounded Rectangle 17"/>
          <p:cNvSpPr/>
          <p:nvPr/>
        </p:nvSpPr>
        <p:spPr>
          <a:xfrm>
            <a:off x="7132320" y="2999232"/>
            <a:ext cx="4572000" cy="178308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51775" y="3054096"/>
            <a:ext cx="4133087" cy="1673352"/>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Критерий:
• прокси ≠ цель → serendipity + объяснимость + аудит на дискриминацию
• цена — решение ЧЕЛОВЕКА В ПРАВОВОЙ РАМКЕ, не выход оптимизатора</a:t>
            </a:r>
          </a:p>
        </p:txBody>
      </p:sp>
      <p:sp>
        <p:nvSpPr>
          <p:cNvPr id="20" name="Rounded Rectangle 19"/>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Единый класс через всю лекцию: accuracy-обман, прокси-bias скоринга, Klarna, filter bubble — ПРОКСИ ≠ ЦЕЛЬ. Чем мощнее оптимизатор, тем дороже расхождение. Провал тихий.</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201400" cy="512064"/>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Назвать тип под структуру задачи — и иногда правильный тип это не ИИ.</a:t>
            </a:r>
          </a:p>
        </p:txBody>
      </p:sp>
      <p:sp>
        <p:nvSpPr>
          <p:cNvPr id="3" name="Rounded Rectangle 2"/>
          <p:cNvSpPr/>
          <p:nvPr/>
        </p:nvSpPr>
        <p:spPr>
          <a:xfrm>
            <a:off x="365760" y="914400"/>
            <a:ext cx="11475720" cy="4389120"/>
          </a:xfrm>
          <a:prstGeom prst="roundRect">
            <a:avLst>
              <a:gd name="adj" fmla="val 694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12064" y="1042416"/>
            <a:ext cx="27889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4" y="1042416"/>
            <a:ext cx="2624327"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Задача</a:t>
            </a:r>
          </a:p>
        </p:txBody>
      </p:sp>
      <p:sp>
        <p:nvSpPr>
          <p:cNvPr id="6" name="Rectangle 5"/>
          <p:cNvSpPr/>
          <p:nvPr/>
        </p:nvSpPr>
        <p:spPr>
          <a:xfrm>
            <a:off x="3300984" y="1042416"/>
            <a:ext cx="452628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92424" y="1042416"/>
            <a:ext cx="4361688"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Тип ИИ · почему именно он</a:t>
            </a:r>
          </a:p>
        </p:txBody>
      </p:sp>
      <p:sp>
        <p:nvSpPr>
          <p:cNvPr id="8" name="Rectangle 7"/>
          <p:cNvSpPr/>
          <p:nvPr/>
        </p:nvSpPr>
        <p:spPr>
          <a:xfrm>
            <a:off x="7827264" y="1042416"/>
            <a:ext cx="3867912"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18704" y="1042416"/>
            <a:ext cx="3703320"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Типичный провал</a:t>
            </a:r>
          </a:p>
        </p:txBody>
      </p:sp>
      <p:sp>
        <p:nvSpPr>
          <p:cNvPr id="10" name="Rectangle 9"/>
          <p:cNvSpPr/>
          <p:nvPr/>
        </p:nvSpPr>
        <p:spPr>
          <a:xfrm>
            <a:off x="512064" y="1463040"/>
            <a:ext cx="278892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rending-up-mid.png"/>
          <p:cNvPicPr>
            <a:picLocks noChangeAspect="1"/>
          </p:cNvPicPr>
          <p:nvPr/>
        </p:nvPicPr>
        <p:blipFill>
          <a:blip r:embed="rId2"/>
          <a:stretch>
            <a:fillRect/>
          </a:stretch>
        </p:blipFill>
        <p:spPr>
          <a:xfrm>
            <a:off x="603504" y="1609344"/>
            <a:ext cx="274320" cy="274320"/>
          </a:xfrm>
          <a:prstGeom prst="rect">
            <a:avLst/>
          </a:prstGeom>
        </p:spPr>
      </p:pic>
      <p:sp>
        <p:nvSpPr>
          <p:cNvPr id="12" name="TextBox 11"/>
          <p:cNvSpPr txBox="1"/>
          <p:nvPr/>
        </p:nvSpPr>
        <p:spPr>
          <a:xfrm>
            <a:off x="950976" y="1463040"/>
            <a:ext cx="2276856" cy="566928"/>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Прогноз спроса / cash-flow / отток</a:t>
            </a:r>
          </a:p>
        </p:txBody>
      </p:sp>
      <p:sp>
        <p:nvSpPr>
          <p:cNvPr id="13" name="Rectangle 12"/>
          <p:cNvSpPr/>
          <p:nvPr/>
        </p:nvSpPr>
        <p:spPr>
          <a:xfrm>
            <a:off x="3300984" y="1463040"/>
            <a:ext cx="452628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10712" y="1463040"/>
            <a:ext cx="4325112"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Прогноз рядов (ARIMA/бустинг) — числа с трендом, не текст</a:t>
            </a:r>
          </a:p>
        </p:txBody>
      </p:sp>
      <p:sp>
        <p:nvSpPr>
          <p:cNvPr id="15" name="Rectangle 14"/>
          <p:cNvSpPr/>
          <p:nvPr/>
        </p:nvSpPr>
        <p:spPr>
          <a:xfrm>
            <a:off x="7827264" y="1463040"/>
            <a:ext cx="3867912"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1463040"/>
            <a:ext cx="3666744"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distribution shift × необратимое авто (Zillow)</a:t>
            </a:r>
          </a:p>
        </p:txBody>
      </p:sp>
      <p:sp>
        <p:nvSpPr>
          <p:cNvPr id="17" name="Rectangle 16"/>
          <p:cNvSpPr/>
          <p:nvPr/>
        </p:nvSpPr>
        <p:spPr>
          <a:xfrm>
            <a:off x="512064" y="2029968"/>
            <a:ext cx="278892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radar-mid.png"/>
          <p:cNvPicPr>
            <a:picLocks noChangeAspect="1"/>
          </p:cNvPicPr>
          <p:nvPr/>
        </p:nvPicPr>
        <p:blipFill>
          <a:blip r:embed="rId3"/>
          <a:stretch>
            <a:fillRect/>
          </a:stretch>
        </p:blipFill>
        <p:spPr>
          <a:xfrm>
            <a:off x="603504" y="2176272"/>
            <a:ext cx="274320" cy="274320"/>
          </a:xfrm>
          <a:prstGeom prst="rect">
            <a:avLst/>
          </a:prstGeom>
        </p:spPr>
      </p:pic>
      <p:sp>
        <p:nvSpPr>
          <p:cNvPr id="19" name="TextBox 18"/>
          <p:cNvSpPr txBox="1"/>
          <p:nvPr/>
        </p:nvSpPr>
        <p:spPr>
          <a:xfrm>
            <a:off x="950976" y="2029968"/>
            <a:ext cx="2276856" cy="566928"/>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Фрод real-time / AML</a:t>
            </a:r>
          </a:p>
        </p:txBody>
      </p:sp>
      <p:sp>
        <p:nvSpPr>
          <p:cNvPr id="20" name="Rectangle 19"/>
          <p:cNvSpPr/>
          <p:nvPr/>
        </p:nvSpPr>
        <p:spPr>
          <a:xfrm>
            <a:off x="3300984" y="2029968"/>
            <a:ext cx="452628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10712" y="2029968"/>
            <a:ext cx="4325112"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Поиск аномалий + rules-engine — норма/отклонение</a:t>
            </a:r>
          </a:p>
        </p:txBody>
      </p:sp>
      <p:sp>
        <p:nvSpPr>
          <p:cNvPr id="22" name="Rectangle 21"/>
          <p:cNvSpPr/>
          <p:nvPr/>
        </p:nvSpPr>
        <p:spPr>
          <a:xfrm>
            <a:off x="7827264" y="2029968"/>
            <a:ext cx="3867912"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36992" y="2029968"/>
            <a:ext cx="3666744"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FP на масштабе; accuracy лжёт при дисбалансе</a:t>
            </a:r>
          </a:p>
        </p:txBody>
      </p:sp>
      <p:sp>
        <p:nvSpPr>
          <p:cNvPr id="24" name="Rectangle 23"/>
          <p:cNvSpPr/>
          <p:nvPr/>
        </p:nvSpPr>
        <p:spPr>
          <a:xfrm>
            <a:off x="512064" y="2596896"/>
            <a:ext cx="278892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cale-mid.png"/>
          <p:cNvPicPr>
            <a:picLocks noChangeAspect="1"/>
          </p:cNvPicPr>
          <p:nvPr/>
        </p:nvPicPr>
        <p:blipFill>
          <a:blip r:embed="rId4"/>
          <a:stretch>
            <a:fillRect/>
          </a:stretch>
        </p:blipFill>
        <p:spPr>
          <a:xfrm>
            <a:off x="603504" y="2743200"/>
            <a:ext cx="274320" cy="274320"/>
          </a:xfrm>
          <a:prstGeom prst="rect">
            <a:avLst/>
          </a:prstGeom>
        </p:spPr>
      </p:pic>
      <p:sp>
        <p:nvSpPr>
          <p:cNvPr id="26" name="TextBox 25"/>
          <p:cNvSpPr txBox="1"/>
          <p:nvPr/>
        </p:nvSpPr>
        <p:spPr>
          <a:xfrm>
            <a:off x="950976" y="2596896"/>
            <a:ext cx="2276856" cy="566928"/>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Кредитный скоринг</a:t>
            </a:r>
          </a:p>
        </p:txBody>
      </p:sp>
      <p:sp>
        <p:nvSpPr>
          <p:cNvPr id="27" name="Rectangle 26"/>
          <p:cNvSpPr/>
          <p:nvPr/>
        </p:nvSpPr>
        <p:spPr>
          <a:xfrm>
            <a:off x="3300984" y="2596896"/>
            <a:ext cx="452628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10712" y="2596896"/>
            <a:ext cx="4325112"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Табличный ML (логрег/GBM+SHAP) — объяснимость = закон</a:t>
            </a:r>
          </a:p>
        </p:txBody>
      </p:sp>
      <p:sp>
        <p:nvSpPr>
          <p:cNvPr id="29" name="Rectangle 28"/>
          <p:cNvSpPr/>
          <p:nvPr/>
        </p:nvSpPr>
        <p:spPr>
          <a:xfrm>
            <a:off x="7827264" y="2596896"/>
            <a:ext cx="3867912"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36992" y="2596896"/>
            <a:ext cx="3666744"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прокси-bias + непрозрачность (Apple Card)</a:t>
            </a:r>
          </a:p>
        </p:txBody>
      </p:sp>
      <p:sp>
        <p:nvSpPr>
          <p:cNvPr id="31" name="Rectangle 30"/>
          <p:cNvSpPr/>
          <p:nvPr/>
        </p:nvSpPr>
        <p:spPr>
          <a:xfrm>
            <a:off x="512064" y="3163824"/>
            <a:ext cx="278892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message-circle-mid.png"/>
          <p:cNvPicPr>
            <a:picLocks noChangeAspect="1"/>
          </p:cNvPicPr>
          <p:nvPr/>
        </p:nvPicPr>
        <p:blipFill>
          <a:blip r:embed="rId5"/>
          <a:stretch>
            <a:fillRect/>
          </a:stretch>
        </p:blipFill>
        <p:spPr>
          <a:xfrm>
            <a:off x="603504" y="3310128"/>
            <a:ext cx="274320" cy="274320"/>
          </a:xfrm>
          <a:prstGeom prst="rect">
            <a:avLst/>
          </a:prstGeom>
        </p:spPr>
      </p:pic>
      <p:sp>
        <p:nvSpPr>
          <p:cNvPr id="33" name="TextBox 32"/>
          <p:cNvSpPr txBox="1"/>
          <p:nvPr/>
        </p:nvSpPr>
        <p:spPr>
          <a:xfrm>
            <a:off x="950976" y="3163824"/>
            <a:ext cx="2276856" cy="566928"/>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Поддержка / голос / объяснение</a:t>
            </a:r>
          </a:p>
        </p:txBody>
      </p:sp>
      <p:sp>
        <p:nvSpPr>
          <p:cNvPr id="34" name="Rectangle 33"/>
          <p:cNvSpPr/>
          <p:nvPr/>
        </p:nvSpPr>
        <p:spPr>
          <a:xfrm>
            <a:off x="3300984" y="3163824"/>
            <a:ext cx="452628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10712" y="3163824"/>
            <a:ext cx="4325112"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LLM (grounded) — текстово-диалоговая задача</a:t>
            </a:r>
          </a:p>
        </p:txBody>
      </p:sp>
      <p:sp>
        <p:nvSpPr>
          <p:cNvPr id="36" name="Rectangle 35"/>
          <p:cNvSpPr/>
          <p:nvPr/>
        </p:nvSpPr>
        <p:spPr>
          <a:xfrm>
            <a:off x="7827264" y="3163824"/>
            <a:ext cx="3867912"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36992" y="3163824"/>
            <a:ext cx="3666744"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галлюцинация финфакта = юр.ответственность (Air Canada)</a:t>
            </a:r>
          </a:p>
        </p:txBody>
      </p:sp>
      <p:sp>
        <p:nvSpPr>
          <p:cNvPr id="38" name="Rectangle 37"/>
          <p:cNvSpPr/>
          <p:nvPr/>
        </p:nvSpPr>
        <p:spPr>
          <a:xfrm>
            <a:off x="512064" y="3730752"/>
            <a:ext cx="278892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hopping-cart-mid.png"/>
          <p:cNvPicPr>
            <a:picLocks noChangeAspect="1"/>
          </p:cNvPicPr>
          <p:nvPr/>
        </p:nvPicPr>
        <p:blipFill>
          <a:blip r:embed="rId6"/>
          <a:stretch>
            <a:fillRect/>
          </a:stretch>
        </p:blipFill>
        <p:spPr>
          <a:xfrm>
            <a:off x="603504" y="3877056"/>
            <a:ext cx="274320" cy="274320"/>
          </a:xfrm>
          <a:prstGeom prst="rect">
            <a:avLst/>
          </a:prstGeom>
        </p:spPr>
      </p:pic>
      <p:sp>
        <p:nvSpPr>
          <p:cNvPr id="40" name="TextBox 39"/>
          <p:cNvSpPr txBox="1"/>
          <p:nvPr/>
        </p:nvSpPr>
        <p:spPr>
          <a:xfrm>
            <a:off x="950976" y="3730752"/>
            <a:ext cx="2276856" cy="566928"/>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Рекомендации / ценообразование</a:t>
            </a:r>
          </a:p>
        </p:txBody>
      </p:sp>
      <p:sp>
        <p:nvSpPr>
          <p:cNvPr id="41" name="Rectangle 40"/>
          <p:cNvSpPr/>
          <p:nvPr/>
        </p:nvSpPr>
        <p:spPr>
          <a:xfrm>
            <a:off x="3300984" y="3730752"/>
            <a:ext cx="452628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10712" y="3730752"/>
            <a:ext cx="4325112"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Recsys; pricing — оптимизатор в рамке</a:t>
            </a:r>
          </a:p>
        </p:txBody>
      </p:sp>
      <p:sp>
        <p:nvSpPr>
          <p:cNvPr id="43" name="Rectangle 42"/>
          <p:cNvSpPr/>
          <p:nvPr/>
        </p:nvSpPr>
        <p:spPr>
          <a:xfrm>
            <a:off x="7827264" y="3730752"/>
            <a:ext cx="3867912"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36992" y="3730752"/>
            <a:ext cx="3666744"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прокси≠цель: filter bubble (Wendy's)</a:t>
            </a:r>
          </a:p>
        </p:txBody>
      </p:sp>
      <p:sp>
        <p:nvSpPr>
          <p:cNvPr id="45" name="Rectangle 44"/>
          <p:cNvSpPr/>
          <p:nvPr/>
        </p:nvSpPr>
        <p:spPr>
          <a:xfrm>
            <a:off x="512064" y="4297680"/>
            <a:ext cx="2788920" cy="566928"/>
          </a:xfrm>
          <a:prstGeom prst="rect">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circle-slash-gold.png"/>
          <p:cNvPicPr>
            <a:picLocks noChangeAspect="1"/>
          </p:cNvPicPr>
          <p:nvPr/>
        </p:nvPicPr>
        <p:blipFill>
          <a:blip r:embed="rId7"/>
          <a:stretch>
            <a:fillRect/>
          </a:stretch>
        </p:blipFill>
        <p:spPr>
          <a:xfrm>
            <a:off x="603504" y="4443984"/>
            <a:ext cx="274320" cy="274320"/>
          </a:xfrm>
          <a:prstGeom prst="rect">
            <a:avLst/>
          </a:prstGeom>
        </p:spPr>
      </p:pic>
      <p:sp>
        <p:nvSpPr>
          <p:cNvPr id="47" name="TextBox 46"/>
          <p:cNvSpPr txBox="1"/>
          <p:nvPr/>
        </p:nvSpPr>
        <p:spPr>
          <a:xfrm>
            <a:off x="950976" y="4297680"/>
            <a:ext cx="2276856" cy="566928"/>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Детерм. регуляторная задача (жёсткий AML-порог)</a:t>
            </a:r>
          </a:p>
        </p:txBody>
      </p:sp>
      <p:sp>
        <p:nvSpPr>
          <p:cNvPr id="48" name="Rectangle 47"/>
          <p:cNvSpPr/>
          <p:nvPr/>
        </p:nvSpPr>
        <p:spPr>
          <a:xfrm>
            <a:off x="3300984" y="4297680"/>
            <a:ext cx="4526280" cy="566928"/>
          </a:xfrm>
          <a:prstGeom prst="rect">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10712" y="4297680"/>
            <a:ext cx="4325112" cy="566928"/>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Обычный код / rules-engine — НЕ ИИ; закон ≠ вероятность</a:t>
            </a:r>
          </a:p>
        </p:txBody>
      </p:sp>
      <p:sp>
        <p:nvSpPr>
          <p:cNvPr id="50" name="Rectangle 49"/>
          <p:cNvSpPr/>
          <p:nvPr/>
        </p:nvSpPr>
        <p:spPr>
          <a:xfrm>
            <a:off x="7827264" y="4297680"/>
            <a:ext cx="3867912" cy="566928"/>
          </a:xfrm>
          <a:prstGeom prst="rect">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936992" y="4297680"/>
            <a:ext cx="3666744"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ИИ добавил бы недетерминизм + поверхность ошибки</a:t>
            </a:r>
          </a:p>
        </p:txBody>
      </p:sp>
      <p:sp>
        <p:nvSpPr>
          <p:cNvPr id="52" name="Rounded Rectangle 51"/>
          <p:cNvSpPr/>
          <p:nvPr/>
        </p:nvSpPr>
        <p:spPr>
          <a:xfrm>
            <a:off x="502920" y="5413248"/>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2376" y="5468112"/>
            <a:ext cx="10762488" cy="676656"/>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Нижняя строка — намеренно. Жёсткое верифицируемое регуляторное правило → детерминированный код, НЕ ИИ: ИИ добавил бы недетерминизм там, где нужны точность и аудит.</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12064"/>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Содержательный ответ на центральный вопрос лекции.</a:t>
            </a:r>
          </a:p>
        </p:txBody>
      </p:sp>
      <p:sp>
        <p:nvSpPr>
          <p:cNvPr id="3" name="Rounded Rectangle 2"/>
          <p:cNvSpPr/>
          <p:nvPr/>
        </p:nvSpPr>
        <p:spPr>
          <a:xfrm>
            <a:off x="502920" y="969264"/>
            <a:ext cx="11201400" cy="1682496"/>
          </a:xfrm>
          <a:prstGeom prst="roundRect">
            <a:avLst>
              <a:gd name="adj" fmla="val 181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152144"/>
            <a:ext cx="10287000" cy="1316736"/>
          </a:xfrm>
          <a:prstGeom prst="rect">
            <a:avLst/>
          </a:prstGeom>
          <a:noFill/>
        </p:spPr>
        <p:txBody>
          <a:bodyPr wrap="square" lIns="0" rIns="0" tIns="0" bIns="0" anchor="ctr">
            <a:spAutoFit/>
          </a:bodyPr>
          <a:lstStyle/>
          <a:p>
            <a:pPr algn="ctr">
              <a:lnSpc>
                <a:spcPct val="120000"/>
              </a:lnSpc>
            </a:pPr>
            <a:r>
              <a:rPr sz="2100" b="1" i="0">
                <a:solidFill>
                  <a:srgbClr val="21295C"/>
                </a:solidFill>
                <a:latin typeface="Arial"/>
              </a:rPr>
              <a:t>Ни в одном из пяти провалов исправление — это «лучшая модель». Во всех — лучшее СУЖДЕНИЕ о том, что стоит вокруг ИИ на цене ошибки.</a:t>
            </a:r>
          </a:p>
        </p:txBody>
      </p:sp>
      <p:sp>
        <p:nvSpPr>
          <p:cNvPr id="5" name="TextBox 4"/>
          <p:cNvSpPr txBox="1"/>
          <p:nvPr/>
        </p:nvSpPr>
        <p:spPr>
          <a:xfrm>
            <a:off x="502920" y="2798064"/>
            <a:ext cx="11201400" cy="256032"/>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Пять кейсов лекции — одно и то же лекарство (НЕ модель):</a:t>
            </a:r>
          </a:p>
        </p:txBody>
      </p:sp>
      <p:sp>
        <p:nvSpPr>
          <p:cNvPr id="6" name="Rounded Rectangle 5"/>
          <p:cNvSpPr/>
          <p:nvPr/>
        </p:nvSpPr>
        <p:spPr>
          <a:xfrm>
            <a:off x="502920" y="3127248"/>
            <a:ext cx="2108606" cy="133502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273552"/>
            <a:ext cx="1962302"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Zillow</a:t>
            </a:r>
          </a:p>
        </p:txBody>
      </p:sp>
      <p:sp>
        <p:nvSpPr>
          <p:cNvPr id="8" name="TextBox 7"/>
          <p:cNvSpPr txBox="1"/>
          <p:nvPr/>
        </p:nvSpPr>
        <p:spPr>
          <a:xfrm>
            <a:off x="1465783" y="3621024"/>
            <a:ext cx="182880" cy="237744"/>
          </a:xfrm>
          <a:prstGeom prst="rect">
            <a:avLst/>
          </a:prstGeom>
          <a:noFill/>
        </p:spPr>
        <p:txBody>
          <a:bodyPr wrap="square" lIns="0" rIns="0" tIns="0" bIns="0" anchor="t">
            <a:spAutoFit/>
          </a:bodyPr>
          <a:lstStyle/>
          <a:p>
            <a:pPr algn="ctr">
              <a:lnSpc>
                <a:spcPct val="115000"/>
              </a:lnSpc>
            </a:pPr>
            <a:r>
              <a:rPr sz="1500" b="1" i="0">
                <a:solidFill>
                  <a:srgbClr val="1C7293"/>
                </a:solidFill>
                <a:latin typeface="Arial"/>
              </a:rPr>
              <a:t>↓</a:t>
            </a:r>
          </a:p>
        </p:txBody>
      </p:sp>
      <p:sp>
        <p:nvSpPr>
          <p:cNvPr id="9" name="Rounded Rectangle 8"/>
          <p:cNvSpPr/>
          <p:nvPr/>
        </p:nvSpPr>
        <p:spPr>
          <a:xfrm>
            <a:off x="630936" y="3877056"/>
            <a:ext cx="1852574" cy="457200"/>
          </a:xfrm>
          <a:prstGeom prst="roundRect">
            <a:avLst>
              <a:gd name="adj" fmla="val 16000"/>
            </a:avLst>
          </a:prstGeom>
          <a:solidFill>
            <a:srgbClr val="E4F1F2"/>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3877056"/>
            <a:ext cx="1779422" cy="457200"/>
          </a:xfrm>
          <a:prstGeom prst="rect">
            <a:avLst/>
          </a:prstGeom>
          <a:noFill/>
        </p:spPr>
        <p:txBody>
          <a:bodyPr wrap="square" lIns="0" rIns="0" tIns="0" bIns="0" anchor="ctr">
            <a:spAutoFit/>
          </a:bodyPr>
          <a:lstStyle/>
          <a:p>
            <a:pPr algn="ctr">
              <a:lnSpc>
                <a:spcPct val="100000"/>
              </a:lnSpc>
            </a:pPr>
            <a:r>
              <a:rPr sz="1050" b="1" i="0">
                <a:solidFill>
                  <a:srgbClr val="21295C"/>
                </a:solidFill>
                <a:latin typeface="Arial"/>
              </a:rPr>
              <a:t>human-gate</a:t>
            </a:r>
          </a:p>
        </p:txBody>
      </p:sp>
      <p:sp>
        <p:nvSpPr>
          <p:cNvPr id="11" name="Rounded Rectangle 10"/>
          <p:cNvSpPr/>
          <p:nvPr/>
        </p:nvSpPr>
        <p:spPr>
          <a:xfrm>
            <a:off x="2776118" y="3127248"/>
            <a:ext cx="2108606" cy="133502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49270" y="3273552"/>
            <a:ext cx="1962302"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Apple Card</a:t>
            </a:r>
          </a:p>
        </p:txBody>
      </p:sp>
      <p:sp>
        <p:nvSpPr>
          <p:cNvPr id="13" name="TextBox 12"/>
          <p:cNvSpPr txBox="1"/>
          <p:nvPr/>
        </p:nvSpPr>
        <p:spPr>
          <a:xfrm>
            <a:off x="3738981" y="3621024"/>
            <a:ext cx="182880" cy="237744"/>
          </a:xfrm>
          <a:prstGeom prst="rect">
            <a:avLst/>
          </a:prstGeom>
          <a:noFill/>
        </p:spPr>
        <p:txBody>
          <a:bodyPr wrap="square" lIns="0" rIns="0" tIns="0" bIns="0" anchor="t">
            <a:spAutoFit/>
          </a:bodyPr>
          <a:lstStyle/>
          <a:p>
            <a:pPr algn="ctr">
              <a:lnSpc>
                <a:spcPct val="115000"/>
              </a:lnSpc>
            </a:pPr>
            <a:r>
              <a:rPr sz="1500" b="1" i="0">
                <a:solidFill>
                  <a:srgbClr val="1C7293"/>
                </a:solidFill>
                <a:latin typeface="Arial"/>
              </a:rPr>
              <a:t>↓</a:t>
            </a:r>
          </a:p>
        </p:txBody>
      </p:sp>
      <p:sp>
        <p:nvSpPr>
          <p:cNvPr id="14" name="Rounded Rectangle 13"/>
          <p:cNvSpPr/>
          <p:nvPr/>
        </p:nvSpPr>
        <p:spPr>
          <a:xfrm>
            <a:off x="2904134" y="3877056"/>
            <a:ext cx="1852574" cy="457200"/>
          </a:xfrm>
          <a:prstGeom prst="roundRect">
            <a:avLst>
              <a:gd name="adj" fmla="val 16000"/>
            </a:avLst>
          </a:prstGeom>
          <a:solidFill>
            <a:srgbClr val="E4F1F2"/>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40710" y="3877056"/>
            <a:ext cx="1779422" cy="457200"/>
          </a:xfrm>
          <a:prstGeom prst="rect">
            <a:avLst/>
          </a:prstGeom>
          <a:noFill/>
        </p:spPr>
        <p:txBody>
          <a:bodyPr wrap="square" lIns="0" rIns="0" tIns="0" bIns="0" anchor="ctr">
            <a:spAutoFit/>
          </a:bodyPr>
          <a:lstStyle/>
          <a:p>
            <a:pPr algn="ctr">
              <a:lnSpc>
                <a:spcPct val="100000"/>
              </a:lnSpc>
            </a:pPr>
            <a:r>
              <a:rPr sz="1050" b="1" i="0">
                <a:solidFill>
                  <a:srgbClr val="21295C"/>
                </a:solidFill>
                <a:latin typeface="Arial"/>
              </a:rPr>
              <a:t>объяснимость + аудит</a:t>
            </a:r>
          </a:p>
        </p:txBody>
      </p:sp>
      <p:sp>
        <p:nvSpPr>
          <p:cNvPr id="16" name="Rounded Rectangle 15"/>
          <p:cNvSpPr/>
          <p:nvPr/>
        </p:nvSpPr>
        <p:spPr>
          <a:xfrm>
            <a:off x="5049316" y="3127248"/>
            <a:ext cx="2108606" cy="133502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2468" y="3273552"/>
            <a:ext cx="1962302"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Air Canada</a:t>
            </a:r>
          </a:p>
        </p:txBody>
      </p:sp>
      <p:sp>
        <p:nvSpPr>
          <p:cNvPr id="18" name="TextBox 17"/>
          <p:cNvSpPr txBox="1"/>
          <p:nvPr/>
        </p:nvSpPr>
        <p:spPr>
          <a:xfrm>
            <a:off x="6012180" y="3621024"/>
            <a:ext cx="182880" cy="237744"/>
          </a:xfrm>
          <a:prstGeom prst="rect">
            <a:avLst/>
          </a:prstGeom>
          <a:noFill/>
        </p:spPr>
        <p:txBody>
          <a:bodyPr wrap="square" lIns="0" rIns="0" tIns="0" bIns="0" anchor="t">
            <a:spAutoFit/>
          </a:bodyPr>
          <a:lstStyle/>
          <a:p>
            <a:pPr algn="ctr">
              <a:lnSpc>
                <a:spcPct val="115000"/>
              </a:lnSpc>
            </a:pPr>
            <a:r>
              <a:rPr sz="1500" b="1" i="0">
                <a:solidFill>
                  <a:srgbClr val="1C7293"/>
                </a:solidFill>
                <a:latin typeface="Arial"/>
              </a:rPr>
              <a:t>↓</a:t>
            </a:r>
          </a:p>
        </p:txBody>
      </p:sp>
      <p:sp>
        <p:nvSpPr>
          <p:cNvPr id="19" name="Rounded Rectangle 18"/>
          <p:cNvSpPr/>
          <p:nvPr/>
        </p:nvSpPr>
        <p:spPr>
          <a:xfrm>
            <a:off x="5177332" y="3877056"/>
            <a:ext cx="1852574" cy="457200"/>
          </a:xfrm>
          <a:prstGeom prst="roundRect">
            <a:avLst>
              <a:gd name="adj" fmla="val 16000"/>
            </a:avLst>
          </a:prstGeom>
          <a:solidFill>
            <a:srgbClr val="E4F1F2"/>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3908" y="3877056"/>
            <a:ext cx="1779422" cy="457200"/>
          </a:xfrm>
          <a:prstGeom prst="rect">
            <a:avLst/>
          </a:prstGeom>
          <a:noFill/>
        </p:spPr>
        <p:txBody>
          <a:bodyPr wrap="square" lIns="0" rIns="0" tIns="0" bIns="0" anchor="ctr">
            <a:spAutoFit/>
          </a:bodyPr>
          <a:lstStyle/>
          <a:p>
            <a:pPr algn="ctr">
              <a:lnSpc>
                <a:spcPct val="100000"/>
              </a:lnSpc>
            </a:pPr>
            <a:r>
              <a:rPr sz="1050" b="1" i="0">
                <a:solidFill>
                  <a:srgbClr val="21295C"/>
                </a:solidFill>
                <a:latin typeface="Arial"/>
              </a:rPr>
              <a:t>grounding</a:t>
            </a:r>
          </a:p>
        </p:txBody>
      </p:sp>
      <p:sp>
        <p:nvSpPr>
          <p:cNvPr id="21" name="Rounded Rectangle 20"/>
          <p:cNvSpPr/>
          <p:nvPr/>
        </p:nvSpPr>
        <p:spPr>
          <a:xfrm>
            <a:off x="7322515" y="3127248"/>
            <a:ext cx="2108606" cy="133502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95667" y="3273552"/>
            <a:ext cx="1962302"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Klarna</a:t>
            </a:r>
          </a:p>
        </p:txBody>
      </p:sp>
      <p:sp>
        <p:nvSpPr>
          <p:cNvPr id="23" name="TextBox 22"/>
          <p:cNvSpPr txBox="1"/>
          <p:nvPr/>
        </p:nvSpPr>
        <p:spPr>
          <a:xfrm>
            <a:off x="8285378" y="3621024"/>
            <a:ext cx="182880" cy="237744"/>
          </a:xfrm>
          <a:prstGeom prst="rect">
            <a:avLst/>
          </a:prstGeom>
          <a:noFill/>
        </p:spPr>
        <p:txBody>
          <a:bodyPr wrap="square" lIns="0" rIns="0" tIns="0" bIns="0" anchor="t">
            <a:spAutoFit/>
          </a:bodyPr>
          <a:lstStyle/>
          <a:p>
            <a:pPr algn="ctr">
              <a:lnSpc>
                <a:spcPct val="115000"/>
              </a:lnSpc>
            </a:pPr>
            <a:r>
              <a:rPr sz="1500" b="1" i="0">
                <a:solidFill>
                  <a:srgbClr val="1C7293"/>
                </a:solidFill>
                <a:latin typeface="Arial"/>
              </a:rPr>
              <a:t>↓</a:t>
            </a:r>
          </a:p>
        </p:txBody>
      </p:sp>
      <p:sp>
        <p:nvSpPr>
          <p:cNvPr id="24" name="Rounded Rectangle 23"/>
          <p:cNvSpPr/>
          <p:nvPr/>
        </p:nvSpPr>
        <p:spPr>
          <a:xfrm>
            <a:off x="7450531" y="3877056"/>
            <a:ext cx="1852574" cy="457200"/>
          </a:xfrm>
          <a:prstGeom prst="roundRect">
            <a:avLst>
              <a:gd name="adj" fmla="val 16000"/>
            </a:avLst>
          </a:prstGeom>
          <a:solidFill>
            <a:srgbClr val="E4F1F2"/>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87107" y="3877056"/>
            <a:ext cx="1779422" cy="457200"/>
          </a:xfrm>
          <a:prstGeom prst="rect">
            <a:avLst/>
          </a:prstGeom>
          <a:noFill/>
        </p:spPr>
        <p:txBody>
          <a:bodyPr wrap="square" lIns="0" rIns="0" tIns="0" bIns="0" anchor="ctr">
            <a:spAutoFit/>
          </a:bodyPr>
          <a:lstStyle/>
          <a:p>
            <a:pPr algn="ctr">
              <a:lnSpc>
                <a:spcPct val="100000"/>
              </a:lnSpc>
            </a:pPr>
            <a:r>
              <a:rPr sz="1050" b="1" i="0">
                <a:solidFill>
                  <a:srgbClr val="21295C"/>
                </a:solidFill>
                <a:latin typeface="Arial"/>
              </a:rPr>
              <a:t>augmentation</a:t>
            </a:r>
          </a:p>
        </p:txBody>
      </p:sp>
      <p:sp>
        <p:nvSpPr>
          <p:cNvPr id="26" name="Rounded Rectangle 25"/>
          <p:cNvSpPr/>
          <p:nvPr/>
        </p:nvSpPr>
        <p:spPr>
          <a:xfrm>
            <a:off x="9595713" y="3127248"/>
            <a:ext cx="2108606" cy="133502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68865" y="3273552"/>
            <a:ext cx="1962302"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Wendy's</a:t>
            </a:r>
          </a:p>
        </p:txBody>
      </p:sp>
      <p:sp>
        <p:nvSpPr>
          <p:cNvPr id="28" name="TextBox 27"/>
          <p:cNvSpPr txBox="1"/>
          <p:nvPr/>
        </p:nvSpPr>
        <p:spPr>
          <a:xfrm>
            <a:off x="10558576" y="3621024"/>
            <a:ext cx="182880" cy="237744"/>
          </a:xfrm>
          <a:prstGeom prst="rect">
            <a:avLst/>
          </a:prstGeom>
          <a:noFill/>
        </p:spPr>
        <p:txBody>
          <a:bodyPr wrap="square" lIns="0" rIns="0" tIns="0" bIns="0" anchor="t">
            <a:spAutoFit/>
          </a:bodyPr>
          <a:lstStyle/>
          <a:p>
            <a:pPr algn="ctr">
              <a:lnSpc>
                <a:spcPct val="115000"/>
              </a:lnSpc>
            </a:pPr>
            <a:r>
              <a:rPr sz="1500" b="1" i="0">
                <a:solidFill>
                  <a:srgbClr val="1C7293"/>
                </a:solidFill>
                <a:latin typeface="Arial"/>
              </a:rPr>
              <a:t>↓</a:t>
            </a:r>
          </a:p>
        </p:txBody>
      </p:sp>
      <p:sp>
        <p:nvSpPr>
          <p:cNvPr id="29" name="Rounded Rectangle 28"/>
          <p:cNvSpPr/>
          <p:nvPr/>
        </p:nvSpPr>
        <p:spPr>
          <a:xfrm>
            <a:off x="9723729" y="3877056"/>
            <a:ext cx="1852574" cy="457200"/>
          </a:xfrm>
          <a:prstGeom prst="roundRect">
            <a:avLst>
              <a:gd name="adj" fmla="val 16000"/>
            </a:avLst>
          </a:prstGeom>
          <a:solidFill>
            <a:srgbClr val="E4F1F2"/>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60305" y="3877056"/>
            <a:ext cx="1779422" cy="457200"/>
          </a:xfrm>
          <a:prstGeom prst="rect">
            <a:avLst/>
          </a:prstGeom>
          <a:noFill/>
        </p:spPr>
        <p:txBody>
          <a:bodyPr wrap="square" lIns="0" rIns="0" tIns="0" bIns="0" anchor="ctr">
            <a:spAutoFit/>
          </a:bodyPr>
          <a:lstStyle/>
          <a:p>
            <a:pPr algn="ctr">
              <a:lnSpc>
                <a:spcPct val="100000"/>
              </a:lnSpc>
            </a:pPr>
            <a:r>
              <a:rPr sz="1050" b="1" i="0">
                <a:solidFill>
                  <a:srgbClr val="21295C"/>
                </a:solidFill>
                <a:latin typeface="Arial"/>
              </a:rPr>
              <a:t>правовая рамка</a:t>
            </a:r>
          </a:p>
        </p:txBody>
      </p:sp>
      <p:sp>
        <p:nvSpPr>
          <p:cNvPr id="31" name="Rounded Rectangle 30"/>
          <p:cNvSpPr/>
          <p:nvPr/>
        </p:nvSpPr>
        <p:spPr>
          <a:xfrm>
            <a:off x="502920" y="4626864"/>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4681727"/>
            <a:ext cx="10762488" cy="804672"/>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Это и есть ответ: не «ИИ хорош/плох», а «назвать тип, обосновать выбор и спроектировать обвязку под цену ошибки».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201400" cy="512064"/>
          </a:xfrm>
          <a:prstGeom prst="rect">
            <a:avLst/>
          </a:prstGeom>
          <a:noFill/>
        </p:spPr>
        <p:txBody>
          <a:bodyPr wrap="square" lIns="0" rIns="0" tIns="0" bIns="0" anchor="t">
            <a:spAutoFit/>
          </a:bodyPr>
          <a:lstStyle/>
          <a:p>
            <a:pPr algn="l">
              <a:lnSpc>
                <a:spcPct val="110000"/>
              </a:lnSpc>
            </a:pPr>
            <a:r>
              <a:rPr sz="2100" b="1" i="0">
                <a:solidFill>
                  <a:srgbClr val="21295C"/>
                </a:solidFill>
                <a:latin typeface="Arial"/>
              </a:rPr>
              <a:t>Финданные, PII (персональные данные) и биометрию нельзя в публичный LLM.</a:t>
            </a:r>
          </a:p>
        </p:txBody>
      </p:sp>
      <p:sp>
        <p:nvSpPr>
          <p:cNvPr id="3" name="Rounded Rectangle 2"/>
          <p:cNvSpPr/>
          <p:nvPr/>
        </p:nvSpPr>
        <p:spPr>
          <a:xfrm>
            <a:off x="502920" y="969264"/>
            <a:ext cx="5486400" cy="2542032"/>
          </a:xfrm>
          <a:prstGeom prst="roundRect">
            <a:avLst>
              <a:gd name="adj" fmla="val 119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969264"/>
            <a:ext cx="5486400" cy="45720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white.png"/>
          <p:cNvPicPr>
            <a:picLocks noChangeAspect="1"/>
          </p:cNvPicPr>
          <p:nvPr/>
        </p:nvPicPr>
        <p:blipFill>
          <a:blip r:embed="rId2"/>
          <a:stretch>
            <a:fillRect/>
          </a:stretch>
        </p:blipFill>
        <p:spPr>
          <a:xfrm>
            <a:off x="704088" y="1033272"/>
            <a:ext cx="329184" cy="329184"/>
          </a:xfrm>
          <a:prstGeom prst="rect">
            <a:avLst/>
          </a:prstGeom>
        </p:spPr>
      </p:pic>
      <p:sp>
        <p:nvSpPr>
          <p:cNvPr id="6" name="TextBox 5"/>
          <p:cNvSpPr txBox="1"/>
          <p:nvPr/>
        </p:nvSpPr>
        <p:spPr>
          <a:xfrm>
            <a:off x="1143000" y="969264"/>
            <a:ext cx="4663440" cy="457200"/>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(А) Данные и закон: ФЗ-152 / PII</a:t>
            </a:r>
          </a:p>
        </p:txBody>
      </p:sp>
      <p:sp>
        <p:nvSpPr>
          <p:cNvPr id="7" name="Oval 6"/>
          <p:cNvSpPr/>
          <p:nvPr/>
        </p:nvSpPr>
        <p:spPr>
          <a:xfrm>
            <a:off x="722376" y="1581912"/>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1536192"/>
            <a:ext cx="4828032" cy="640080"/>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финданные + PII + биометрия = чувствительные; ФЗ-152 — локализация ПДн граждан РФ, биометрия = строгий режим</a:t>
            </a:r>
          </a:p>
        </p:txBody>
      </p:sp>
      <p:sp>
        <p:nvSpPr>
          <p:cNvPr id="9" name="Oval 8"/>
          <p:cNvSpPr/>
          <p:nvPr/>
        </p:nvSpPr>
        <p:spPr>
          <a:xfrm>
            <a:off x="722376" y="22402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194560"/>
            <a:ext cx="4828032" cy="640080"/>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публичное облако: данные покидают контур · нет контроля retention · аудируемость падает</a:t>
            </a:r>
          </a:p>
        </p:txBody>
      </p:sp>
      <p:sp>
        <p:nvSpPr>
          <p:cNvPr id="11" name="Oval 10"/>
          <p:cNvSpPr/>
          <p:nvPr/>
        </p:nvSpPr>
        <p:spPr>
          <a:xfrm>
            <a:off x="722376" y="289864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2852928"/>
            <a:ext cx="4828032" cy="640080"/>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критерий — по чувствительности данных и режиму, НЕ по силе модели</a:t>
            </a:r>
          </a:p>
        </p:txBody>
      </p:sp>
      <p:sp>
        <p:nvSpPr>
          <p:cNvPr id="13" name="Rectangle 12"/>
          <p:cNvSpPr/>
          <p:nvPr/>
        </p:nvSpPr>
        <p:spPr>
          <a:xfrm>
            <a:off x="6053328" y="969264"/>
            <a:ext cx="54864" cy="254203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17920" y="969264"/>
            <a:ext cx="5486400" cy="2542032"/>
          </a:xfrm>
          <a:prstGeom prst="roundRect">
            <a:avLst>
              <a:gd name="adj" fmla="val 119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0" y="969264"/>
            <a:ext cx="5486400" cy="457200"/>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n-face-white.png"/>
          <p:cNvPicPr>
            <a:picLocks noChangeAspect="1"/>
          </p:cNvPicPr>
          <p:nvPr/>
        </p:nvPicPr>
        <p:blipFill>
          <a:blip r:embed="rId3"/>
          <a:stretch>
            <a:fillRect/>
          </a:stretch>
        </p:blipFill>
        <p:spPr>
          <a:xfrm>
            <a:off x="6419088" y="1033272"/>
            <a:ext cx="329184" cy="329184"/>
          </a:xfrm>
          <a:prstGeom prst="rect">
            <a:avLst/>
          </a:prstGeom>
        </p:spPr>
      </p:pic>
      <p:sp>
        <p:nvSpPr>
          <p:cNvPr id="17" name="TextBox 16"/>
          <p:cNvSpPr txBox="1"/>
          <p:nvPr/>
        </p:nvSpPr>
        <p:spPr>
          <a:xfrm>
            <a:off x="6858000" y="969264"/>
            <a:ext cx="4663440" cy="457200"/>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(Б) CV-пласт: KYC, биометрия, скрытый труд</a:t>
            </a:r>
          </a:p>
        </p:txBody>
      </p:sp>
      <p:sp>
        <p:nvSpPr>
          <p:cNvPr id="18" name="Oval 17"/>
          <p:cNvSpPr/>
          <p:nvPr/>
        </p:nvSpPr>
        <p:spPr>
          <a:xfrm>
            <a:off x="6437376" y="1581912"/>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56831" y="1536192"/>
            <a:ext cx="4828032" cy="640080"/>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KYC = идентификация клиента; liveness — перед камерой живой человек, не фото/маска/дипфейк (строгий режим)</a:t>
            </a:r>
          </a:p>
        </p:txBody>
      </p:sp>
      <p:sp>
        <p:nvSpPr>
          <p:cNvPr id="20" name="Oval 19"/>
          <p:cNvSpPr/>
          <p:nvPr/>
        </p:nvSpPr>
        <p:spPr>
          <a:xfrm>
            <a:off x="6437376" y="22402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31" y="2194560"/>
            <a:ext cx="4828032" cy="640080"/>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Just Walk Out (Amazon) свёрнут 2024: «автономная» касса опиралась на &gt; 1000 ревьюеров в Индии — скрытый труд</a:t>
            </a:r>
          </a:p>
        </p:txBody>
      </p:sp>
      <p:sp>
        <p:nvSpPr>
          <p:cNvPr id="22" name="Oval 21"/>
          <p:cNvSpPr/>
          <p:nvPr/>
        </p:nvSpPr>
        <p:spPr>
          <a:xfrm>
            <a:off x="6437376" y="289864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56831" y="2852928"/>
            <a:ext cx="4828032" cy="640080"/>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Bias компьютерного зрения углубляется в Лекции 7.</a:t>
            </a:r>
          </a:p>
        </p:txBody>
      </p:sp>
      <p:sp>
        <p:nvSpPr>
          <p:cNvPr id="24" name="Rounded Rectangle 23"/>
          <p:cNvSpPr/>
          <p:nvPr/>
        </p:nvSpPr>
        <p:spPr>
          <a:xfrm>
            <a:off x="502920" y="3621024"/>
            <a:ext cx="11201400" cy="1810512"/>
          </a:xfrm>
          <a:prstGeom prst="roundRect">
            <a:avLst>
              <a:gd name="adj" fmla="val 5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3816" y="3767328"/>
            <a:ext cx="3611880" cy="1517904"/>
          </a:xfrm>
          <a:prstGeom prst="rect">
            <a:avLst/>
          </a:prstGeom>
          <a:noFill/>
        </p:spPr>
        <p:txBody>
          <a:bodyPr wrap="square" lIns="0" rIns="0" tIns="0" bIns="0" anchor="ctr">
            <a:spAutoFit/>
          </a:bodyPr>
          <a:lstStyle/>
          <a:p>
            <a:pPr algn="l">
              <a:lnSpc>
                <a:spcPct val="116000"/>
              </a:lnSpc>
            </a:pPr>
            <a:r>
              <a:rPr sz="1400" b="1" i="0">
                <a:solidFill>
                  <a:srgbClr val="21295C"/>
                </a:solidFill>
                <a:latin typeface="Arial"/>
              </a:rPr>
              <a:t>Биометрия необратимо
скомпрометирована
при утечке — та же
логика «необратимое →
строгий гейт», что
прошла через всю лекцию.</a:t>
            </a:r>
          </a:p>
        </p:txBody>
      </p:sp>
      <p:pic>
        <p:nvPicPr>
          <p:cNvPr id="26" name="Picture 25" descr="d31-password-vs-face.png"/>
          <p:cNvPicPr>
            <a:picLocks noChangeAspect="1"/>
          </p:cNvPicPr>
          <p:nvPr/>
        </p:nvPicPr>
        <p:blipFill>
          <a:blip r:embed="rId4"/>
          <a:stretch>
            <a:fillRect/>
          </a:stretch>
        </p:blipFill>
        <p:spPr>
          <a:xfrm>
            <a:off x="4782820" y="3749039"/>
            <a:ext cx="6390640" cy="1554480"/>
          </a:xfrm>
          <a:prstGeom prst="rect">
            <a:avLst/>
          </a:prstGeom>
        </p:spPr>
      </p:pic>
      <p:sp>
        <p:nvSpPr>
          <p:cNvPr id="27" name="Rounded Rectangle 26"/>
          <p:cNvSpPr/>
          <p:nvPr/>
        </p:nvSpPr>
        <p:spPr>
          <a:xfrm>
            <a:off x="502920" y="555955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614416"/>
            <a:ext cx="10762488" cy="603504"/>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«Полностью автономно» в маркетинге — гипотеза для проверки, не факт (Amazon оспаривал масштаб).</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502920" y="411480"/>
            <a:ext cx="1120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539496"/>
            <a:ext cx="1072591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Прежде чем применять ИИ к финансовой / ритейл-задаче:</a:t>
            </a:r>
          </a:p>
        </p:txBody>
      </p:sp>
      <p:sp>
        <p:nvSpPr>
          <p:cNvPr id="4" name="TextBox 3"/>
          <p:cNvSpPr txBox="1"/>
          <p:nvPr/>
        </p:nvSpPr>
        <p:spPr>
          <a:xfrm>
            <a:off x="740664" y="886968"/>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1. Какой тип ИИ диктует структура задачи?</a:t>
            </a:r>
          </a:p>
        </p:txBody>
      </p:sp>
      <p:sp>
        <p:nvSpPr>
          <p:cNvPr id="5" name="TextBox 4"/>
          <p:cNvSpPr txBox="1"/>
          <p:nvPr/>
        </p:nvSpPr>
        <p:spPr>
          <a:xfrm>
            <a:off x="6103620" y="886968"/>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2. Почему НЕ LLM здесь? (≥1 структурная причина)</a:t>
            </a:r>
          </a:p>
        </p:txBody>
      </p:sp>
      <p:sp>
        <p:nvSpPr>
          <p:cNvPr id="6" name="TextBox 5"/>
          <p:cNvSpPr txBox="1"/>
          <p:nvPr/>
        </p:nvSpPr>
        <p:spPr>
          <a:xfrm>
            <a:off x="740664" y="1362456"/>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3. Можно ли решить вообще без ИИ? (правило → код)</a:t>
            </a:r>
          </a:p>
        </p:txBody>
      </p:sp>
      <p:sp>
        <p:nvSpPr>
          <p:cNvPr id="7" name="TextBox 6"/>
          <p:cNvSpPr txBox="1"/>
          <p:nvPr/>
        </p:nvSpPr>
        <p:spPr>
          <a:xfrm>
            <a:off x="6103620" y="1362456"/>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4. Обратимо ли действие на выходе? (необратимое → gate)</a:t>
            </a:r>
          </a:p>
        </p:txBody>
      </p:sp>
      <p:sp>
        <p:nvSpPr>
          <p:cNvPr id="8" name="TextBox 7"/>
          <p:cNvSpPr txBox="1"/>
          <p:nvPr/>
        </p:nvSpPr>
        <p:spPr>
          <a:xfrm>
            <a:off x="740664" y="1837943"/>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5. Как проверить факт? (класс ошибки + принцип)</a:t>
            </a:r>
          </a:p>
        </p:txBody>
      </p:sp>
      <p:sp>
        <p:nvSpPr>
          <p:cNvPr id="9" name="TextBox 8"/>
          <p:cNvSpPr txBox="1"/>
          <p:nvPr/>
        </p:nvSpPr>
        <p:spPr>
          <a:xfrm>
            <a:off x="6103620" y="1837943"/>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6. Регулируемо ли решение? (reason codes / appeal)</a:t>
            </a:r>
          </a:p>
        </p:txBody>
      </p:sp>
      <p:sp>
        <p:nvSpPr>
          <p:cNvPr id="10" name="TextBox 9"/>
          <p:cNvSpPr txBox="1"/>
          <p:nvPr/>
        </p:nvSpPr>
        <p:spPr>
          <a:xfrm>
            <a:off x="740664" y="2313432"/>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7. Кто отвечает и где человек обязателен?</a:t>
            </a:r>
          </a:p>
        </p:txBody>
      </p:sp>
      <p:sp>
        <p:nvSpPr>
          <p:cNvPr id="11" name="TextBox 10"/>
          <p:cNvSpPr txBox="1"/>
          <p:nvPr/>
        </p:nvSpPr>
        <p:spPr>
          <a:xfrm>
            <a:off x="6103620" y="2313432"/>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8. Есть ли PII / финданные / биометрия? → не в LLM; ФЗ-152</a:t>
            </a:r>
          </a:p>
        </p:txBody>
      </p:sp>
      <p:sp>
        <p:nvSpPr>
          <p:cNvPr id="12" name="Rounded Rectangle 11"/>
          <p:cNvSpPr/>
          <p:nvPr/>
        </p:nvSpPr>
        <p:spPr>
          <a:xfrm>
            <a:off x="502920" y="3017520"/>
            <a:ext cx="11201400" cy="1188720"/>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127248"/>
            <a:ext cx="1065276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Задание — Семинар 5 «Проверка фактов AI на финансовых данных»</a:t>
            </a:r>
          </a:p>
        </p:txBody>
      </p:sp>
      <p:sp>
        <p:nvSpPr>
          <p:cNvPr id="14" name="TextBox 13"/>
          <p:cNvSpPr txBox="1"/>
          <p:nvPr/>
        </p:nvSpPr>
        <p:spPr>
          <a:xfrm>
            <a:off x="777240" y="3456432"/>
            <a:ext cx="10652760"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Команды за ~30 мин сами проверяют 5 реальных заявлений по первоисточникам (Банк России / ВЦИОМ), маркируют верно/частично/ложь. Лекция учит распознавать класс (Understand); семинар — самостоятельно верифицировать (Apply).</a:t>
            </a:r>
          </a:p>
        </p:txBody>
      </p:sp>
      <p:sp>
        <p:nvSpPr>
          <p:cNvPr id="15" name="TextBox 14"/>
          <p:cNvSpPr txBox="1"/>
          <p:nvPr/>
        </p:nvSpPr>
        <p:spPr>
          <a:xfrm>
            <a:off x="502920" y="4370832"/>
            <a:ext cx="11201400" cy="1325880"/>
          </a:xfrm>
          <a:prstGeom prst="rect">
            <a:avLst/>
          </a:prstGeom>
          <a:noFill/>
        </p:spPr>
        <p:txBody>
          <a:bodyPr wrap="square" lIns="0" rIns="0" tIns="0" bIns="0" anchor="ctr">
            <a:spAutoFit/>
          </a:bodyPr>
          <a:lstStyle/>
          <a:p>
            <a:pPr algn="ctr">
              <a:lnSpc>
                <a:spcPct val="100000"/>
              </a:lnSpc>
            </a:pPr>
            <a:r>
              <a:rPr sz="9200" b="1" i="0">
                <a:solidFill>
                  <a:srgbClr val="21295C"/>
                </a:solidFill>
                <a:latin typeface="Arial"/>
              </a:rPr>
              <a:t>Вопросы</a:t>
            </a:r>
          </a:p>
        </p:txBody>
      </p:sp>
      <p:sp>
        <p:nvSpPr>
          <p:cNvPr id="16" name="TextBox 15"/>
          <p:cNvSpPr txBox="1"/>
          <p:nvPr/>
        </p:nvSpPr>
        <p:spPr>
          <a:xfrm>
            <a:off x="502920" y="5760720"/>
            <a:ext cx="11201400" cy="457200"/>
          </a:xfrm>
          <a:prstGeom prst="rect">
            <a:avLst/>
          </a:prstGeom>
          <a:noFill/>
        </p:spPr>
        <p:txBody>
          <a:bodyPr wrap="square" lIns="0" rIns="0" tIns="0" bIns="0" anchor="ctr">
            <a:spAutoFit/>
          </a:bodyPr>
          <a:lstStyle/>
          <a:p>
            <a:pPr algn="ctr">
              <a:lnSpc>
                <a:spcPct val="115000"/>
              </a:lnSpc>
            </a:pPr>
            <a:r>
              <a:rPr sz="1500" b="0" i="1">
                <a:solidFill>
                  <a:srgbClr val="1C7293"/>
                </a:solidFill>
                <a:latin typeface="Arial"/>
              </a:rPr>
              <a:t>Палитра типов — линза для всех отраслевых лекций дальше.  Спасибо за внимание.</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