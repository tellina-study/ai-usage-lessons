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Прежде чем идти дальше, стоит честно разобрать саму цифру девяносто пять процентов, потому что заголовок скрывает важную деталь. Реальная воронка отчёта устроена так: шестьдесят процентов организаций вообще исследовали возможность применения ИИ, двадцать процентов дошли до пилотного проекта, и лишь пять процентов успешно его внедрили. Если считать не от всех организаций, а от тех, кто реально запустил пилот, успешны примерно пять из двадцати — то есть около четверти, а не пяти процентов. Это заметно выше пугающего заголовка, но всё равно отрезвляюще низко: три из четырёх пилотов, доведённых до реального запуска, не приживаются. Есть и методологический нюанс: все четыре автора отчёта одновременно строят или продают собственные продукты в области автономных агентов через тот же исследовательский проект — обстоятельство, которое стоит держать в уме при чтении любого громкого отчёта об эффективности технологии.</a:t>
            </a:r>
          </a:p>
          <a:p>
            <a:r>
              <a:t>Мы не разрешим парадокс прямо сейчас — это станет итоговым выводом всей лекции, 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[VFY-day-of]</a:t>
            </a:r>
          </a:p>
          <a:p>
            <a:r>
              <a:t>[2] MIT NANDA — «The GenAI Divide» (июль 2025, v0.1) — «95% пилотов — ноль отдачи»: неревьюированный препринт, требует калибровки (см.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Сама структура сегодняшней лекции — база, затем ИИ, затем ограничения, затем разобранный провал — применяет к самой себе тот же принцип, которому она учит: чтобы судить, когда ИИ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круглосуточно.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a:p>
            <a:r>
              <a:t>Есть и практическая причина рисовать именно петлю, а не список: если одна-единственная стрелка резко дешевеет — а сегодня это стрелка сборки, — это не ускоряет весь цикл целиком. Ускорение одной стрелки без остальных перемещает узкое место на следующую, ещё не подешевевшую стрелку, и делает его острее. Мы увидим этот эффект измеренным на практике в разделе про сборку и запуск: команды, которые пишут код в разы быстрее, чем раньше, упираются не в написание, а в ревью и валидацию — то есть в стрелку, которая не подешевела вместе с остальными. Именно поэтому недостаточно спросить «можно ли здесь применить ИИ» — почти всегда можно; правильный вопрос — «куда переместилось узкое место, когда эта стрелка подешевела», и в конце лекции мы вернёмся к тому же кругу с полным ответом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 инцидент как сигнал для планирования следующего цикла. Код — только один из шагов этой петли, причём теперь заметно более дешёвый, чем остальные.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Обратите внимание: вопрос не спрашивает, полезен ли ИИ в продуктовой работе — очевидно, да, повсеместно. Он спрашивает, что именно ИИ меняет и что не меняет. Ответ будет разным на каждой стрелке: где-то ИИ резко снижает стоимость, а доверие к результату остаётся прежним — это мы увидим в разделе про дизайн; где-то стоимость падает, но доверие падает ещё быстрее — это раздел про эксперимент; а где-то скорость наблюдения за системой растёт, но само наблюдение становится уязвимым для манипуляции — это раздел про эксплуатацию. Держите этот вопрос как линзу на все шесть разделов: на каждой фазе спрашивайте не «можно ли тут применить ИИ»,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производства ещё в тысяча девятьсот тридцать девятом году; на этом цикле выросло послевоенное японское качество производства. Джон Бойд, военный лётчик-истребитель, сформулировал в семидесятых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в две тысячи одиннадцатом цикл Build-Measure-Learn как способ стартапа не потратить месяцы на функцию, которую никто не хочет.</a:t>
            </a:r>
          </a:p>
          <a:p>
            <a:r>
              <a:t>Здесь уместен честный вопрос: может, это просто три названия одного и того же круга из нескольких шагов, а сходство — артефакт того, как вообще принято рисовать процессы? Аргумент сильнее случайного совпадения по трём признакам. Три автора работали в разные десятилетия, в трёх непересекающихся профессиях, без задокументированного заимствования друг у друга. Совпадает не просто число шагов, а их функция: в каждом цикле есть шаг сбора данных о реальности, шаг интерпретации этих данных и шаг необратимого выбора действия. И у всех трёх есть задокументированный режим отказа одной и той же природы — пропуск шага интерпретации и превращение цикла в слепое повторение действия.</a:t>
            </a:r>
          </a:p>
          <a:p>
            <a:r>
              <a:t>Есть и нюанс той же формы — одиночная и двойная петля Криса Аргириса и Дональда Шёна, тысяча девятьсот семьдесят восьмой год. Одиночная петля исправляет ошибку относительно фиксированной цели, как термостат. Двойная идёт глубже: ставит под вопрос саму цель. Это предвосхищает сбой, который мы разберём в разделе четыре: обучение модели через обратную связь человека —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аргумент, что петля не модная методология, а структурное свойство системы, которая учится в условиях неопределённости.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Стоит задержаться на самой контринтуитивной части — наблюдении. Цикл OODA Бойда родился в военном, противоборствующем контексте: побеждает тот, кто быстрее проходит цикл. ИИ-агент буквально устроен как OODA-петля — наблюдает инструменты, рассуждает, решает, действует, — и здесь скорость Бойда превращается в уязвимость: агент воспринимает недоверенные входы и зацикливается слишком быстро, чтобы верифицировать их. Преимущество скорости у Бойда становится обязательством у автоматизированного агента — чем быстрее он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ровно тот же эффект на материале заводов и кабин самолётов сорока годами раньше, в тысяча девятьсот восемьдесят третьем: когда автоматизируют бо́льшую часть операции, но не всю, оператор не начинает работать меньше — он получает задачу мониторинга того, что делает автомат, в тот редкий момент, когда автомат ошибается и нужно вмешаться быстро и компетентно. Автоматизация снижает бытовую нагрузку и одновременно требует более высокой, а не более низкой квалификации в момент вмешательства — рутинная практика, поддерживающая эту квалификацию, исчезает вместе с автоматизированной рутиной. Похожую петлю намерения и исполнения формулируют сегодня и крупные организации самостоятельно: например, один из российских банков описал в две тысячи двадцать шестом году переход «от кода к намерению» — два контура разной скорости, где человек управляет намерением, а агенты — исполнением.</a:t>
            </a:r>
          </a:p>
          <a:p>
            <a:r>
              <a:t>Отсюда мета-паттерн, который будет повторяться в каждом из шести разделов: у каждой фазы жизненного цикла продукта есть классическая дисциплина, и ИИ её не отменяет. Он меняет, сколько эта дисциплина стоит и насколько ей можно доверять без проверки — но не устраняет саму дисциплину.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 друзья и коллеги хотят вас поддержать, а не сказать правду, которая может задеть, и именно эта доброжелательность искажает сигнал.</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a:t>
            </a:r>
          </a:p>
          <a:p>
            <a:r>
              <a:t>Здесь же стоит сразу закрыть один практический вопрос, который почти неизбежно возникает: сколько интервью вообще достаточно? Честный ответ — фиксированного числа нет. Дисциплина отвечает не количеством, а насыщением: вы останавливаетесь, когда новые интервью перестают вскрывать новые темы, а начинают повторять уже услышанное. Для задач юзабилити есть классический ориентир — пять-восемь пользователей вскрывают большинство проблем, мы вернёмся к этой цифре в конкретном провале раздела. Но для проблемных интервью, которые проверяют саму гипотезу о боли, чистого числа нет — и это само по себе показательно: продуктовое исследование не сводится к «прогнать N штук по чек-листу», это процесс, идущий до сходимости сигнала, а не до заранее заданной отметки в календаре. Держите это как первую границу применимости: любой инструмент, включая ИИ-синтез, который отчитывается «мы обработали сто интервью», отвечает на вопрос объёма, а не на вопрос «перестали ли появляться новые темы» — а именно второй определяет, достаточно ли данных для решения на практике.</a:t>
            </a:r>
          </a:p>
          <a:p>
            <a:r>
              <a:t>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 Типичная рабочая ситуация: инженер за выходные собирает работающий прототип полезного, на его взгляд, инструмента — а показав его коллегам, слышит вежливое «интересно», за которым никто не возвращается пользоваться им повторно. Прототип технически исправен; проблема в том, что боль, которую он решает, никто заранее не подтвердил, а решение искали раньше, чем сформулировали, у кого именно эта боль есть.</a:t>
            </a:r>
          </a:p>
          <a:p>
            <a:r>
              <a:t>Одна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ИИ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модель обучена продолжать разговор правдоподобно, а не рисковать отношениями, говоря вам неприятную правду, как иногда делает живой собеседник.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 — от неудачной фичи до риска для здоровья пациента, и в каждом случае разберём, что именно пошло не так и как это было бы устроено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впервые изложенная в книге «Четыре шага к озарению» ещё в две тысячи третьем году.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Канонический пример самого Бланка стоит запомнить буквально: основатели, которые пишут сорокастраничный бизнес-план и лишь затем проводят первый разговор с клиентом, уже приняли все важные продуктовые решения на нулевой доказательной базе. Курсы, построенные на методе Бланка, заставляли студенческие команды провести не меньше десяти интервью с клиентами за неделю до того, как написана хотя бы одна строчка бизнес-плана — именно дисциплина выхода наружу, а не сам план, была зачётным результатом.</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И здесь же вводим приём, который будем переиспользовать в каждом следующем разделе: фальсифицируемая гипотеза. Формат конкретный — не «кажется, командам нужен инструмент для отчётности», а «мы верим, что руководители команд тратят больше двух часов в неделю на ручную сборку статуса из разрозненных источников; мы проверим это, проведя восемь интервью по правилам следующего слайда; к дате через две недели у нас будет ответ да или нет, плюс медианное время». Формат работает, потому что фиксирует проверяемое число, метод проверки и дедлайн — превращает веру в обязательство.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в одноимённой книге две тысячи тринадцатого года.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a:t>
            </a:r>
          </a:p>
          <a:p>
            <a:r>
              <a:t>Полезная смежная рамка — «работа, на которую нанимают продукт» (Jobs-to-be-Done), сформулированная Клейтоном Кристенсеном. Классический пример — молочный коктейль McDonald's: половина продавалась до половины девятого утра одиноким водителям, которые «нанимали» коктейль сделать скучную дорогу на работу терпимее; их реальными конкурентами оказались не другие коктейли, а банан, бублик и просто скука. Интервью в этой рамке спрашивает не «нравится ли вам коктейль», а что человек делал прямо перед покупкой и что почти выбрал вместо неё — это даёт таймлайн решения, а не список предпочтений.</a:t>
            </a:r>
          </a:p>
          <a:p>
            <a:r>
              <a:t>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a:p>
            <a:r>
              <a:t>Источники:</a:t>
            </a:r>
          </a:p>
          <a:p>
            <a:r>
              <a:t>[1] Fitzpatrick — The Mom Test — 3 правила интервью: о жизни/о прошлом/обязательством, не мнением. https://www.sachinrekhi.com/p/the-mom-test-rob-fitzpatrick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ИИ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практиками одним из сильнейших инструментов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 задачи, которые раньше занимали два часа, занимают около получаса.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устроен похоже: Dovetail специально построен для кросс-интервью синтеза с дизайном «цитата привязана к источнику» — это защищает от дрейфа в непроверяемое резюме. Рядом с ним конкурируют инструменты транскрипции и живых заметок — tl;dv, Otter, Fireflies, Grain, Fathom. Консенсус практиков к две тысячи двадцать шестому году простой: транскрипция стала товаром массового рынка, а различие между инструментами теперь именно в качестве синтеза через десятки разговоров, а не в резюме одного звонка.</a:t>
            </a:r>
          </a:p>
          <a:p>
            <a:r>
              <a:t>ИИ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ИИ, но лишь около восьми процентов доверяют ИИ-сгенерированным участникам как источнику данных — разрыв осознан самой профессией. Тереза Торрес, один из ведущих практиков дискавери, лично тестировавшая для этой работы модели семейства Claude, использует ИИ для черновика первого прохода, но правило двух шагов синтеза сохраняет без исключений и прямо советует против синтетических интервью — потому что само мышление команды и есть смысл процесса.</a:t>
            </a:r>
          </a:p>
          <a:p>
            <a:r>
              <a:t>Источники:</a:t>
            </a:r>
          </a:p>
          <a:p>
            <a:r>
              <a:t>[1] Perplexity Deep Research — обзор для продукт-исследований — desk research: часы → минуты; необходимость проверки источника. https://www.secondtalent.com/resources/perplexity-deep-research-review/</a:t>
            </a:r>
          </a:p>
          <a:p>
            <a:r>
              <a:t>[2] Dovetail — AI-синтез интервью — кластеризация болей в масштабе; ограничения AI-суммаризации. https://listenlabs.ai/articles/dovetail-ai-qualitative-analysis/</a:t>
            </a:r>
          </a:p>
          <a:p>
            <a:r>
              <a:t>[3] NN/g — практический опрос 2026 — 97% исследователей используют ИИ, ~8% доверяют ИИ-персонам как данным.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это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измерена, а не предположена: Шарма и соавторы, две тысячи двадцать третий год, показали, что при явном согласии тон ответа смягчается примерно в семьдесят два — девяносто один процент случаев на пяти моделях, а при явном несогласии — лишь в семь-двадцать восемь; это доля сдвига тона, а не частота отрицательного ответа. Эта склонность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Есть и более коварный режим сбоя, чем разовая ошибка: если команда полностью заменяет реальное юзабилити-тестирование синтетическими персонами, возникает замкнутая «петля галлюцинации» — ИИ проектирует под догадку ИИ о пользователе, и ни один живой человек ни разу не проверяет цепочку. Nielsen Norman Group формулирует смежный парадокс: ревью галлюцинированных паттернов утомительнее, чем проектирование с нуля, — человеку приходится ловить каждую тонкую неправильность в том, что выглядит законченным. Отсюда практический вывод: чем дешевле ИИ делает генерацию черновика, тем важнее, а не менее важно, сохранить дешёвый экспертный гейт-ревью и реальный тест перед тем, как черновик дойдёт до реальных пользователей.</a:t>
            </a:r>
          </a:p>
          <a:p>
            <a:r>
              <a:t>Сделаем границу проверяемой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Третий: нужна валидация реальным обязательством — предзаказ, депозит, интро — заменителя здесь нет вовсе. Что остаётся из классики: три правила Mom Test применяются одинаково, кто бы ни задавал вопрос; гипотезо-первая дисциплина Бланка — противоядие от однокликового ИИ-дерева. Итого: чем ближе выход к необратимому решению о людях, тем строже нужен реальный человек; чем дальше — тем уместнее ИИ как ускоритель черновика.</a:t>
            </a:r>
          </a:p>
          <a:p>
            <a:r>
              <a:t>Источники:</a:t>
            </a:r>
          </a:p>
          <a:p>
            <a:r>
              <a:t>[1] Torres — Continuous Discovery Habits / anti-synthetic — контрарная к хайпу позиция: против синтетических интервью и one-click AI-деревьев.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удобства сценария знакомства с продуктом: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База для сравнения здесь — не разовая ошибка промпта, а структурное расхождение сразу в обеих измеряемых величинах на одном и том же тестовом материале.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 — притом что аналогичная концепция реальными людьми оценивалась скептически.</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 только статистически правдоподобное продолжение текста.</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Это делает синтетического пользователя крайней формой смещения выборки, о котором мы говорили ранее: интервьюировать только воодушевлённых ранних пользователей — это уже искажение, но эти люди хотя бы реальны и говорят о реальном опыте; синтетическая персона не говорит ни с кем — она статистически достраивает то, что человек с таким профилем мог бы сказать, и достраивает в сторону согласия.</a:t>
            </a:r>
          </a:p>
          <a:p>
            <a:r>
              <a:t>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Источники:</a:t>
            </a:r>
          </a:p>
          <a:p>
            <a:r>
              <a:t>[1] NN/g (Rosala &amp; Moran) — Synthetic Users — 3/7 реальных vs 7/7 синтетических на одной и той же задаче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 около двухсот девяноста тысяч долларов США, —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Независимый исследователь Крис Радж обнаружил и опубликовал несоответствия; после этого Deloitte частично вернула деньги правительству и публично признала использование генеративного ИИ в подготовке документа. База для сравнения: это не единичный случай — база данных судебных решений фиксирует более семисот двенадцати случаев по всему миру с ИИ-галлюцинированными юридическими цитатами, из которых около девяноста процентов пришлись именно на две тысячи двадцать пятый год — проблема не редкая аномалия, а системно растущая по мере распространения инструмента.</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позже — тот же механизм породит несуществующие судебные цитаты в реальном федеральном деле в США, разобранном дальше по курсу, и ту же растиражированную мнимо точную цифру, которой на самом деле нет в исходном отчёте. Общий корень — генеративный вывод, выданный с полной уверенностью и принятый без сверки с первоисточником.</a:t>
            </a:r>
          </a:p>
          <a:p>
            <a:r>
              <a:t>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Источники:</a:t>
            </a:r>
          </a:p>
          <a:p>
            <a:r>
              <a:t>[1] Fortune (7 окт. 2025) — Deloitte Australia A$440k — сфабрикованные цитаты и несуществующие ссылки в отчёте правительству. https://fortune.com/2025/10/07/deloitte-ai-australia-government-report-hallucinations-technology-290000-refund</a:t>
            </a:r>
          </a:p>
          <a:p>
            <a:r>
              <a:t>[2] Damien Charlotin — AI Hallucination Cases Database — ~712 задокументированных судебных дел с ИИ-галлюцинациями по миру. https://www.damiencharlotin.com/hallucinations/ [VFY-day-of]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Health включает два разных, независимых провала — их часто сливают в один сюжет, но серьёзная журналистика различает случаи. Случай А: Watson for Oncology разрабатывался с две тысячи двенадцатого года совместно с онкоцентром Memorial Sloan Kettering, коммерческий запуск — две тысячи пятнадцатый. Расследование STAT News по утечке внутренних документов, опубликованное двадцать пятого июля две тысячи восемнадцатого, показало, что система выдавала небезопасные и некорректные рекомендации — например, назначала препарат с известным предупреждением против такого применения гипотетическому пациенту с активным кровотечением. Корневая причина: систему обучали не на реальных данных пациентов, а на небольшом числе синтетических, гипотетических кейсов, размеченных горсткой онкологов одной клиники.</a:t>
            </a:r>
          </a:p>
          <a:p>
            <a:r>
              <a:t>Случай B — отдельный проект: Oncology Expert Advisor у MD Anderson Cancer Center, начат в две тысячи тринадцатом, испытывался в отделении лейкемии. Контракт вырос через двенадцать продлений с двух с половиной миллионов долларов до тридцати девяти целых двух десятых миллиона IBM плюс двадцать три миллиона PwC — совокупно около шестидесяти двух миллионов. Проект закрыт в сентябре две тысячи шестнадцатого без единого пролеченного пациента. Причина закрытия по аудиту материнской университетской системы — не данные и не модель, а нарушения закупочных процедур и управления проектом: контракт расширялся без конкурсного пересмотра, на проекте накопился дефицит донорского финансирования. Аудит вообще не устанавливал клинической небезопасности рекомендаций — до этой стадии проект не дошёл.</a:t>
            </a:r>
          </a:p>
          <a:p>
            <a:r>
              <a:t>Урок один: два независимых механизма отказа одной корпорации в одной отрасли. Случай А — про данные, тот же класс, что синтетические пользователи и фабрикованные источники ранее в разделе. Случай B — про управление проектом, топит и не-AI-проекты тем же способом. Критерий: не всякий дорогой провал с AI на обложке объясняется самим AI — прежде чем винить модель, спросите, дошёл ли проект вообще до применения и что именно провалилось: данные, модель или закупка.</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гипотетических кейсах горстки онкологов MSK, не на реальных исходах.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продолжает ту же петлю, что мы разбирали в разделе один: гипотеза, прошедшая проверку на потенциальных пользователях, здесь превращается в конкретный артефакт — набросок экрана, кликабельный прототип, — который можно показать живому человеку и понаблюдать за его реакцией. Аудитория курса технически сильна и свободно работает с инженерными практиками, но, как правило, не проходила формального дизайн-образования, поэтому раздел, как и предыдущий, начинается не с генеративных инструментов, а с классики: рамки Double Diamond, которая показывает, что дизайн-процесс — это два отдельных цикла расширения и сужения, а не один, и эвристик экспертной оценки Якоба Нильсена вместе с идеей дизайн-системы как ограждения для творческой свободы.</a:t>
            </a:r>
          </a:p>
          <a:p>
            <a:r>
              <a:t>Дальше — что генеративные инструменты вроде v0 и Figma Make реально дают команде в две тысячи двадцать пятом-двадцать шестом годах, и где рабочее правило «искусственный интеллект для расхождения вариантов, человек для схождения на одном» перестаёт защищать: у продуктов на основе больших языковых моделей вывод недетерминирован — один и тот же запрос может дать разный ответ на разных прогонах, и это ломает буквальное прочтение классической эвристики консистентности.</a:t>
            </a:r>
          </a:p>
          <a:p>
            <a:r>
              <a:t>Завершают раздел два провала, которые стоит держать в голове как контрастную пару, а не как повторение одного и того же урока. В первом — Character.AI — дизайн не заложил защиту вовсе: продукт месяцами оптимизировал эмоциональную привязанность несовершеннолетнего пользователя без механизма распознавания кризиса, и защитные функции появились только после судебного иска. Во втором — iTutorGroup — дизайн, наоборот, заложил конкретное вредное правило прямо в код отбора резюме, автоматически отклоняя кандидатов по возрасту. Оба провала относятся к одному и тому же этапу принятия решения — что именно мы проектируем и для кого, — но представляют два разных, взаимодополняющих класса провала в дизайне: отсутствующую защиту и заложенное вредное правило. Держите оба примера в голове как единую рамку: дизайн-решение — это не только про то, что продукт умеет, но и про то, кого он может задеть.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 если направление окажется неверным.</a:t>
            </a:r>
          </a:p>
          <a:p>
            <a:r>
              <a:t>Почему это отдельная дисциплина, а не просто «нарисовать красиво»? Потому что дизайн отвечает на два разных вопроса по очереди, и путать их — частая и дорогая ошибка. Первый вопрос: ту ли проблему мы вообще решаем? Второй: правильно ли мы её решаем? Классическая рамка — «два ромба»: на первом ромбе сначала расширяем взгляд на проблему, потом сужаем его до одной чёткой формулировки; на втором так же поступаем с решением.</a:t>
            </a:r>
          </a:p>
          <a:p>
            <a:r>
              <a:t>Возьмём пример, который встретится дальше в более полной форме. Команда строит внутренний инструмент, помогающий сортировать обращения в службу поддержки, потому что часть заявок зависает без ответственного. Если сразу начать с «давайте добавим кнопку категоризации», легко решить не ту задачу. Вместо этого команда сначала наблюдает за тем, как реально работают восемь-десять сотрудников поддержки, — и обнаруживает, что они уже придумали обходной путь: копируют непонятные заявки в отдельный чат, теряя контроль за сроком ответа. Только после этого наблюдения формулируется узкая, проверяемая проблема, а не расплывчатое «нужна система поумнее». Это и есть первый ромб в действии.</a:t>
            </a:r>
          </a:p>
          <a:p>
            <a:r>
              <a:t>Ещё одна мысль этой фазы, к которой мы вернёмся на реальном провале: безопасность продукта закладывается именно здесь, в дизайн-брифе, в решении о том, какой опыт вообще проектировать, — а не прикручивается патчем после того, как что-то пошло не так. Искусственный интеллект умеет генерировать десятки вариантов интерфейса за минуты, но выбор направления и проверка на реальном человеке остаются за вами — и именно из-за них следующий слайд начинается не с инструментов, а с рамки Double Diamond.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сопереживать, определить, придумать, прототипировать, протестировать — канонически преподаваемая Stanford d.school и популяризированная Тимом Брауном ещё в двухтысячных. Double Diamond — рамка Design Council Великобритании, визуальная модель двух циклов дивергенции и конвергенции. Первый алмаз — Discover, широкое исследование пространства проблемы, затем Define, синтез в конкретное техническое задание: это про правильную проблему. Второй алмаз — Develop, генерация множества направлений решения, затем Deliver, тестирование и отгрузка одного: это про правильное решение.</a:t>
            </a:r>
          </a:p>
          <a:p>
            <a:r>
              <a:t>Для целей этой лекции мы используем Double Diamond как единственный несущий каркас раздела, потому что он структурно эквивалентен Design Thinking, но явнее показывает центральную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вообще правильную задачу.</a:t>
            </a:r>
          </a:p>
          <a:p>
            <a:r>
              <a:t>Возьмём конкретную инженерную задачу, а не диаграмму. Команда строит внутренний инструмент триажа для службы поддержки: тикеты, не попадающие в существующие категории, зависают без владельца. Первый алмаз: вместо опроса «что вам нужно» команда наблюдает за восемью-десятью агентами поддержки в реальной работе и обнаруживает, что те уже придумали обходной путь — копируют неклассифицируемые тикеты в отдельный чат, теряя таймер срока ответа. Синтез сужает исходное впечатление «нужна более умная категоризация» до узкой формулировки: у агента нет способа пометить тикет как требующий уточнения, не сломав таймер. Второй алмаз: три расходящихся направления прототипа — виджет авто-предложения тега, кнопка «пометить как неясный» с отдельной очередью, выделенная очередь триажа, — а не сразу одна «очевидная» реализация; затем юзабилити-тест всех трёх на реальных агентах и доработка выбранного.</a:t>
            </a:r>
          </a:p>
          <a:p>
            <a:r>
              <a:t>Стадии на практике нелинейны — команды постоянно возвращаются от Deliver к Define, и это нормальная работа процесса, а не признак провала. Держите эту рамку в голове: первый провал раздела случился ровно в точке первого алмаза — в решении, что мы вообще строим и для кого, а не в технической реализации.</a:t>
            </a:r>
          </a:p>
          <a:p>
            <a:r>
              <a:t>Источники:</a:t>
            </a:r>
          </a:p>
          <a:p>
            <a:r>
              <a:t>[1] UK Design Council — The Double Diamond — Discover→Define→Develop→Deliver: два цикла дивергенции/конвергенции.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срабатывающий раньше первого реального запуска на живом человеке. Полный список содержит десять пунктов; на слайде — первые пять: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 Оставшиеся пять — не менее рабочие, и весь список из десяти понадобится позже, когда мы проверим, какие эвристики выдерживают недетерминированный вывод искусственного интеллекта, а какие ломаются буквально.</a:t>
            </a:r>
          </a:p>
          <a:p>
            <a:r>
              <a:t>Дизайн-система — живой, управляемый набор принципов, токенов, компонентов и паттернов, поддерживающий согласованность продукта в масштабе; отличайте её от библиотеки компонентов — того же набора строительных блоков, но без управляющего слоя вокруг. Мысль, которая станет несущей для следующего слайда: дизайн-система — это ограждение, удерживающее генеративную свободу в рамках уже провалидированного бренда, поэтому она — естественная упряжь для генерации интерфейсов искусственным интеллектом.</a:t>
            </a:r>
          </a:p>
          <a:p>
            <a:r>
              <a:t>Спектр детализации прототипа полезно держать в голове отдельно: набросок-скелет без визуального стиля, затем статичный визуальный макет, затем интерактивный прототип. Правило — использовать минимально достаточную детализацию для текущего вопроса, потому что высокая детализация слишком рано якорит обсуждение на визуальной полировке вместо базового потока.</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существующих проблем юзабилити — уже окупается; классические пять пользователей находят около восьмидесяти пяти процентов, а инвестиция в юзабилити продукта интранет-типа может окупаться в масштабе в десять раз и более. Это необходимый противовес для следующего слайда: сколько бы искусственный интеллект ни ускорил генерацию прототипа, поставить артефакт перед реальным человеком и наблюдать его реальную растерянность — не имеет замены.</a:t>
            </a:r>
          </a:p>
          <a:p>
            <a:r>
              <a:t>Источники:</a:t>
            </a:r>
          </a:p>
          <a:p>
            <a:r>
              <a:t>[1] Nielsen — 10 usability heuristics — полный список 10 эвристик с примерами (1994, ред. 2020). https://blog.uxtweak.com/usability-heuristics/</a:t>
            </a:r>
          </a:p>
          <a:p>
            <a:r>
              <a:t>[2] Nielsen — «you are not the user» — предостережение об атипичности инсайдеров-дизайнеров. https://medium.com/hippo-digital/you-are-not-the-user-but-what-about-when-you-are-35abe4006b8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рабочий процесс команды две тысячи двадцать пятого-двадцать шестого годов выглядит так. Продакт или дизайнер описывает экран или поток в запросе инструменту v0 by Vercel, который превращает текст в готовый компонент, или Figma Make, который генерирует целые экраны и подтягивает уже существующие компоненты команды, а не общие шаблоны — по опросам, семьдесят два процента дизайнеров используют генеративный искусственный интеллект в работе, и девяносто один процент отмечают улучшение именно качества результата, а не только скорости. Генератор выдаёт два-четыре расходящихся направления за минуты — то, что раньше занимало день ручного черчения от руки. Дальше человек-дизайнер конвергирует: выбирает направление, отбрасывает остальные, вручную правит детали, которые модель поняла неверно — отступы, иерархию, краевые случаи. Выбранное направление проходит настоящий юзабилити-тест с живыми пользователями, а не с симулированной моделью персоной. И только после этого инженеры забирают провалидированный дизайн в редактор кода вроде Cursor для продакшн-реализации, где человек по-прежнему владеет управлением состоянием и логикой взаимодействия, которые модель склонна упускать.</a:t>
            </a:r>
          </a:p>
          <a:p>
            <a:r>
              <a:t>Другие именованные инструменты того же периода: Google Stitch — бывший стартап Galileo AI, приобретённый Google и перезапущенный на модели Gemini, генератор мокапов из текста; Uizard — более лёгкий и дешёвый уровень; bolt.new — превращает запрос сразу в работающее приложение в браузере, канонический инструмент «вайбкодинга».</a:t>
            </a:r>
          </a:p>
          <a:p>
            <a:r>
              <a:t>Что здесь по-настоящему хорошо, без хайпа. Первое — скорость первого черновика: день ручного черчения превращается в минуты. Второе — генерация с учётом дизайн-системы у Figma Make: результат требует заметно меньше переделки, потому что подтягиваются собственные компоненты команды. Третье, особенно важное для этой аудитории, — демократизация приличного первого прохода: не-дизайнеры теперь могут произвести нечто презентабельное для начала разговора вместо грубого наброска из коробок и стрелок. Но способность быстро сгенерировать красивый экран — не то же самое, что способность спроектировать взаимодействие и проверить его на живом человеке, поэтому рабочая формула раздела: искусственный интеллект для расхождения вариантов, человек — для схождения на одном и его доработки под контекст, ограничения и реальных пользователей.</a:t>
            </a:r>
          </a:p>
          <a:p>
            <a:r>
              <a:t>Источники:</a:t>
            </a:r>
          </a:p>
          <a:p>
            <a:r>
              <a:t>[1] Figma — AI-инструменты дизайна 2026 — Figma Make, v0, Stitch, bolt.new — 2-4 направления за минуты. https://www.figma.com/resource-library/ai-design-tools/ [VFY-day-of]</a:t>
            </a:r>
          </a:p>
          <a:p>
            <a:r>
              <a:t>[2] Google Stitch (ex-Galileo AI) — приобретение Google, май 2025 — быстро меняющийся ландшафт инструментов.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«ИИ-мусор» и гомогенизация — заметная критика последних двух лет. Nielsen Norman Group в своём отчёте о состоянии UX формулирует прямо: интерфейс всё ещё важен, но постепенно станет менее значимым отличием, потому что по мере улучшения генеративных инструментов любой сможет сделать прилично выглядящий интерфейс, по крайней мере издалека. Отдельно диагностируется организационный сбой — «дизайн, ведомый технологией»: начать с инструмента и задним числом искать проблему, которую он мог бы решить, — обратный порядок относительно принципа «сначала сопереживание» с предыдущего слайда. Механизм гомогенизации простой: генераторы обучены на одном корпусе существующих интерфейсных паттернов, поэтому множество независимых команд, запрашивающих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по критериям доступности на интерфейсах, сгенерированных инструментами дизайна, и обнаружило лишь двадцать девять целых соответствия. Хуже всего — именно базовые, тривиально проверяемые критерии: контрастность цвета — двадцать шесть целых восемь десятых процента, использование цвета — девятнадцать целых два десятых. Важная находка для баланса «база против платформы»: дизайн платформы влиял на итоговую доступность сильнее, чем пользовательский запрос — просьба «сделай это доступным» не гарантированно это исправляла. Это прямо опровергает наивную защиту «просто нужно правильно попросить систему».</a:t>
            </a:r>
          </a:p>
          <a:p>
            <a:r>
              <a:t>Важное дополнение для этой аудитории — дизайн для недетерминированного вывода. Классические эвристики предполагают одинаковый вывод на одинаковый ввод. Из десяти эвристик восемь выдерживают это без изменений — они устроены так, что никогда не опирались на предсказуемость ответа. Ровно две ломаются буквально: консистентность приходится переносить с уровня точного текста на уровень тона и паттерна поведения, а помощь в распознавании ошибки ломается жёстче всего, потому что система обычно не знает, что она неправа, — галлюцинация подаётся с той же уверенностью, что и точный факт. Отсюда три новых паттерна: язык неопределённости от первого лица вместо общего дисклеймера, человек в контуре решения на точках реальной цены — то, чего не хватило в следующем кейсе, — и явное раскрытие того, что ответ сгенерирован системой. Когда здесь не стоит применять генеративный подход первым: продукт, нацеленный на эмоциональную привязанность уязвимых пользователей, требует явного разбора безопасности в минимально жизнеспособном продукте, а не полировки постфактум.</a:t>
            </a:r>
          </a:p>
          <a:p>
            <a:r>
              <a:t>Источники:</a:t>
            </a:r>
          </a:p>
          <a:p>
            <a:r>
              <a:t>[1] ACM Web4All 2026 — Generated Inaccessible — 21 880 оценок WCAG на ИИ-интерфейсах, 29,0% соответствие (контраст 26,8%, цвет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Sewell Setzer III из Орландо, Флорида, покончил с собой в феврале две тысячи двадцать четвёртого года после месяцев эмоционально интенсивного общения с ИИ-персонажем на платформе Character.AI, воссозданным по мотивам героини «Игры престолов». Его мать подала иск о неправомерной смерти в октябре две тысячи двадцать четвёртого года против компании, её сооснователей и Google. В мае две тысячи двадцать пятого федеральный судья отклонил довод защиты о том, что вывод чат-бота защищён первой поправкой конституции США, и дело продолжилось; восьмого января две тысячи двадцать шестого Google и Character.AI договорились об урегулировании этого иска и ещё четырёх параллельных исков в разных штатах. База для сравнения: защитные функции — лимит двух часов в день для несовершеннолетних, запрет открытого ролевого чата с ИИ-персонажами для пользователей до восемнадцати лет, верификация возраста через селфи — были добавлены только после исков, в ноябре две тысячи двадцать пятого, то есть почти через два года после запуска продукта и почти через полтора года после самой трагедии.</a:t>
            </a:r>
          </a:p>
          <a:p>
            <a:r>
              <a:t>Почему это фаза дизайна, а не эксплуатации. Легко ошибочно классифицировать кейс как операционный провал — «бот плохо ответил в проде». Но корень лежит раньше, в самом дизайн-решении о том, какой опыт вообще проектировать: продукт, оптимизирующий эмоциональную привязанность несовершеннолетних, — это выбор первого алмаза, сделанный без вопроса, кто может пострадать от такого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ограждения безопасности — детекция кризиса, верификация возраста, эскалация к живому человеку — обязаны быть частью минимально жизнеспособного продукта с первого дня. Разница между «встроено в дизайн» и «добавлено после иска» измеряется человеческой жизнью, а не только репутацией. Альтернатива — платформы поддержки сверстников с модерацией живыми людьми или клинически валидированные терапевтические боты с обязательной эскалацией к кризисному консультанту, а не открытый ролевой компаньон без границ.</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(янв. 2026) — урегулирование — Character.AI/Google — защита добавлена ретрофитом после трагедии.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при трудоустройстве. Триггер обнаружения — чистая случайность: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что вскрыло жёсткий возрастной фильтр. Девятого августа две тысячи двадцать третьего Комиссия США по соблюдению равных возможностей при трудоустройстве заключила первое в истории урегулирование по делу об ИИ-дискриминации: триста шестьдесят пять тысяч долларов компенсации пострадавшим кандидатам плюс обязательство прекратить запрашивать дату рождения у соискателей вообще.</a:t>
            </a:r>
          </a:p>
          <a:p>
            <a:r>
              <a:t>Это принципиально отличается от кейса Character.AI на предыдущем слайде — важный контраст в рамках одного раздела. Там дизайн не заложил защиту: отсутствующее требование. Здесь дизайн заложил конкретное вредное решающее правило: не модель научилась предвзятости из данных, а жёстко закодированное дискриминационное правило внедрили в автоматизацию без проверки на предвзятость на этапе определения требований к системе отбора.</a:t>
            </a:r>
          </a:p>
          <a:p>
            <a:r>
              <a:t>Почему триггер обнаружения так поучителен. Дискриминация вскрылась не аудитом и не тестом, а случайностью — переподачей резюме. Это значит, что жёсткий возрастной фильтр работал в проде неизвестно сколько времени, отсекая реальных людей, и остался бы невидимым, если бы не эта случайная переподача. Урок для инженера жёсткий: предвзятость, зашитая в решающее правило, не проявляется в обычных метриках — скорость отбора и точность разбора резюме выглядят прекрасно, система «работает» — она проявляется только при целенаправленном аудите на несоразмерное воздействие по защищённым признакам. Полагаться на то, что дискриминацию кто-нибудь заметит, — не стратегия, потому что по построению она невидима в тех метриках, на которые команда смотрит по умолчанию.</a:t>
            </a:r>
          </a:p>
          <a:p>
            <a:r>
              <a:t>Урок: автоматизация решения, затрагивающего людей в юридически защищённых категориях — возраст, пол, раса, — область, где юридические ограничения обязаны быть частью технического задания с самого начала. Альтернатива — прозрачные, аудируемые правила без демографических прокси-переменных вроде даты рождения, плюс периодический анализ несоразмерного воздействия силами кадровой и юридической служб. Вместе с предыдущим кейсом эти два провала очерчивают два разных, взаимодополняющих класса провала в дизайне.</a:t>
            </a:r>
          </a:p>
          <a:p>
            <a:r>
              <a:t>Источники:</a:t>
            </a:r>
          </a:p>
          <a:p>
            <a:r>
              <a:t>[1] EEOC (9 авг. 2023) — iTutorGroup — первое урегулирование по ИИ-дискриминации: $365 000, автоотказ по возрасту. https://www.eeoc.gov/newsroom/itutorgroup-pay-365000-settle-eeoc-discriminatory-hiring-suit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искусственный интеллект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а этот вопрос не исчезает от того, что писать код стало дешевле.</a:t>
            </a:r>
          </a:p>
          <a:p>
            <a:r>
              <a:t>Сначала — механика, которую вы, скорее всего, уже знаете из инженерной практики: переключатели функций, канареечный и поэтапный выпуск, откат. Новое здесь — не сами примитивы, а то, что ими теперь управляет продуктовое решение убить или продолжить проект, и рамка Роберта Купера, показывающая, зачем такому решению нужен формальный, заранее согласованный рубеж, а не интуиция на ходу.</a:t>
            </a:r>
          </a:p>
          <a:p>
            <a:r>
              <a:t>Дальше — что именно обнулилось в стадии сборки согласно измерению самой компании Anthropic, и куда сместилось узкое место, когда объём написанного кода вырос кратно, а доля содержательного человеческого ревью — нет. Отдельно — переформулировка самого понятия запуска для продуктов на основе больших языковых моделей: релиз версионируется не по набору функций, а по уровню контроля, который система получает, — от предложений на утверждение человека до автономного исполнения с запасным вариантом.</a:t>
            </a:r>
          </a:p>
          <a:p>
            <a:r>
              <a:t>Завершают раздел два примера запуска, зеркальных друг другу. В одном — крупная компания выкатила генеративную функцию поиска на всю аудиторию одним шагом, минуя постепенную раскатку, и получила вирусные, откровенно опасные советы. В другом — сеть ресторанов держала автоматизацию голосового заказа на крошечной доле точек несколько лет и в итоге приняла решение вовремя остановиться, не масштабируя заведомо не готовый подход. Один пропустил пилотную фазу целиком, другой прошёл её честно и использовал её сигнал по назначению — вместе они очерчивают дисциплину, которой посвящён раздел: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искусственный интеллект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Прежде чем говорить про запуск, полезно вспомнить, зачем вообще нужен «минимально достаточный» продукт, а не сразу полноценный релиз. Понятие minimum viable product — минимально жизнеспособный продукт — определяется не тем, насколько он маленький, а тем, чему он учит команду. Классический пример: сервис Dropbox проверил спрос обычным видео-объяснением ещё до того, как построил продукт, — список ожидания вырос с пяти тысяч человек до семидесяти пяти тысяч за одну ночь. Ещё пример: интернет-магазин обуви Zappos начинал как «консьерж» — основатель фотографировал обувь в обычных магазинах и покупал её вручную под каждый заказ, проверяя саму гипотезу, что люди готовы покупать обувь через интернет, до того, как строить какую-либо логистику. Оба примера — не про экономию усилий, а про дешёвый способ получить честный ответ на наиболее рискованный вопрос.</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a:t>
            </a:r>
          </a:p>
          <a:p>
            <a:r>
              <a:t>И вторая половина дисциплины запуска — умение вовремя остановиться. Хороший процесс имеет заранее записанные пороги провала и не боится завершить инициативу, которая годами не выходит на надёжность. Дальше мы увидим оба примера: компанию, выкатившую всё сразу без раскатки, и компанию, показавшую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Переключатель функции (feature flag), канареечный релиз (canary) и откат (rollback) вам знакомы из повседневной инженерной практики — базовые определения ниже вы, скорее всего, узнаете быстро. Держите при этом одно продуктовое отличие, ради которого раздел вообще существует: здесь та же механика обслуживает продуктовый гейт «убить или продолжить», где решение — бизнес-решение, а не только технический флаг «включить-выключить». Единая нить всех практик: каждая обменивает немного скорости на ограниченный радиус поражения — если релиз плохой, ущерб и его исправление оба быстрые и небольшие. Переключатель функции отделяет развёртывание кода в продакшн от включения функции для пользователей. Канареечный релиз — новая версия выкатывается на небольшую долю трафика первой; поэтапная раскатка обобщает это до последовательности процентов с проверкой на каждом шаге; откат возвращает к последнему рабочему состоянию.</a:t>
            </a:r>
          </a:p>
          <a:p>
            <a:r>
              <a:t>Минимально жизнеспособный продукт Эрика Райса определяется обучением, а не отгрузкой — быстрый способ пройти цикл построить-измерить-научиться. Контринтуитивная деталь, которую пропускают чаще всего: планировать этот цикл нужно в обратном порядке — сначала решить, чему конкретно нужно научиться, затем какую метрику измерить, чтобы однозначно отличить подтверждение гипотезы от опровержения, и только потом — какой минимальный артефакт построить ради этого измерения. Большинство команд делают наоборот: сперва строят то, что хочется построить, а обучение придумывают задним числом.</a:t>
            </a:r>
          </a:p>
          <a:p>
            <a:r>
              <a:t>Метод, которому механика раскатки служит на уровне всего проекта, — Stage-Gate (стадийно-гейтовый процесс) Роберта Купера, впервые описанный в тысяча девятьсот восемьдесят восьмом году: пять стадий — разведка, построение бизнес-кейса, разработка, тестирование и валидация, запуск, — и перед каждой стоит гейт, решение продолжить, убить, приостановить или переработать по заранее согласованным критериям. Цель конструкции — воронка, а не туннель: инвестиция растёт только по мере того, как проект переживает очередной гейт, поэтому дешёвая разведка отсеивает нежизнеспособные идеи до серьёзных трат. По исследованиям самого Купера на выборке из сотен корпоративных проектов, здоровый процесс кумулятивно отсеивает тридцать-пятьдесят процентов идей ещё до стадии разработки, то есть до того, как потрачена основная доля бюджета; если ежегодный отсев падает ниже десяти процентов, это признак, что гейт выродился в формальность. Гейт готовности к запуску требует: пройденное тестирование, фазы раскатки с критериями перехода, пороги провала, записанные числом заранее, и план отката с назначенным ответственным человеком.</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агентного исполнения, вход в незнакомую кодовую базу — от недель к часам. Центральное заявление о риске: по мере того как агенты производят больше кода, объём ревью не масштабируется с той же скоростью, создавая расширяющийся разрыв видимости и качества. Собственные внутренние данные делают это конкретным и цитируемым: объём кода на инженера вырос примерно на двести процентов год к году, но лишь примерно шестнадцать процентов пул-реквестов получили содержательные комментарии человеческого ревью до слияния — разрыв измерен, а не предположен, и именно поэтому Anthropic выпустила собственный автоматизированный продукт для ревью пул-реквестов.</a:t>
            </a:r>
          </a:p>
          <a:p>
            <a:r>
              <a:t>Это переворот раздела для понимания продукта в целом: дефицитный ресурс никогда не был «кто может написать код» — в эпоху искусственного интеллекта он однозначно становится «кто может специфицировать достаточно точно, чтобы агенту не пришлось угадывать» выше по потоку и «кто может проревьюировать достаточно быстро, чтобы не стать узким местом» ниже по потоку. Несколько независимых источников двух тысяч двадцать шестого года сходятся на одной и той же формулировке: узкое место больше не в том, как быстро агент пишет код, а в цикле ревью и переделки, когда результат расходится с намерением. Консалтинговая компания Bain формулирует то же наблюдение с бизнес-стороны: границы фаз стираются в более непрерывный поток, граница между продуктом и инженерией тоже растворяется, — но явно не заявляет о полной автономии: агенты работают надёжнее всего, когда работа структурирована вокруг них, со свежим контекстом на каждом этапе и человеческим ревью в критических точках.</a:t>
            </a:r>
          </a:p>
          <a:p>
            <a:r>
              <a:t>Что оставить из классики: контроль версий и ревью пул-реквестов — теперь пункт назначения узкого места, а не реликт; переключатели функций как базовый механизм, управляющий теперь чаще уровнем самостоятельности агента, а не только видимостью фичи; поэтапная раскатка, которую напрямую переиспользует лестница автономии дальше; аварийный выключатель как небезоговорочная необходимость; и спецификация, которой владеет человек, — артефакт, который агент не может сгенерировать сам себе без угадывания намерения.</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запуска для эры искусственного интеллекта принадлежит Айшварье Реганти и Кирити Бадаму — гостевое эссе на платформе Lenny's Newsletter, основанное на опыте более пятидесяти внедрений в крупных технологических компаниях. Их подход — непрерывная калибровка и непрерывная разработка — противопоставлен привычной непрерывной интеграции и доставке, потому что та предполагает детерминированный код, который либо проходит тесты, либо нет, а системы на основе больших языковых моделей этим свойством не обладают.</a:t>
            </a:r>
          </a:p>
          <a:p>
            <a:r>
              <a:t>Механика в двух фазах. До запуска — версионировать релизы по уровню самостоятельности, а не по набору функций: например, бот поддержки выходит как версия один — маршрутизирует тикеты, высокий контроль, низкая самостоятельность, — версия два предлагает решения на утверждение человека, версия три автоматически разрешает вопрос с запасным вариантом на человека; параллельно строится курируемый эталонный набор примеров и проектируются прикладные метрики против него. После запуска — прогонять эти метрики на живых данных и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самостоятельность. Реальный пример той же лестницы — редакторы кода GitHub Copilot и Cursor: от завершения строки к блокам кода и целым пул-реквестам, каждая ступень разблокируется только после того, как предыдущая доказала надёжность на практике; оба инструмента до сих пор поставляются с явным регулятором доверия по умолчанию.</a:t>
            </a:r>
          </a:p>
          <a:p>
            <a:r>
              <a:t>Ту же архитектуру — контур намерения, управляемый человеком в ритме дней, поверх контура исполнения, управляемого агентами в ритме минут, — независимо сформулировал Сбербанк как двойной контур в собственном документе о разработке продуктов. Когда три независимых источника — американские практики на полусотне внедрений, эта же идея из предыдущей лекции, российский банк — сходятся на одной архитектуре, это признак структурного паттерна, а не вендорской моды. При этом крупные консалтинговые компании честно называют свои же режимы сбоя: смещение узкого места, размножение изолированных пилотов без изменения процесса, отсутствие базовой линии для измерения. Урок для фазы запуска: консенсус — не «отгружай быстрее», а перестрой процесс вокруг агента, сохранив человеческое ревью в критических точках. То же правило лестницы, что для экипировки агента в Лекции 3: нижняя достаточная ступень, подъём — только под требование, которого она не закрывает; бремя доказательства лежит на усложнении, а не на простоте.</a:t>
            </a:r>
          </a:p>
          <a:p>
            <a:r>
              <a:t>Источники:</a:t>
            </a:r>
          </a:p>
          <a:p>
            <a:r>
              <a:t>[1] Reganti &amp; Badam — CC/CD framework — Continuous Calibration/Development; лестница агентности (Copilot→Cursor); «не готовы давать высокую агентность». https://www.lennysnewsletter.com/p/why-your-ai-product-needs-a-different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и это собственная измеренная находка Anthropic про её же продукт, а не критика со стороны.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именно механизм, потому что это не случайность, а прямое следствие асимметрии, о которой шла речь на предыдущем слайде. Генерация и верификация — операции принципиально разной стоимости: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искусственный интеллект не убрал работу — он переместил всю её массу на сторону, которая не подешевела. Отсюда контринтуитивное следствие, которое команды регулярно упускают: удвоив скорость генерации, вы не удваиваете пропускную способность продукта — вы удваиваете очередь на ревью, то есть усугубляете узкое место, если параллельно не наращиваете верификацию.</a:t>
            </a:r>
          </a:p>
          <a:p>
            <a:r>
              <a:t>«Проблема семидесяти процентов»: агенты кодирования и конструкторы приложений доводят команду примерно на семьдесят процентов пути до продакшн-качественного результата; оставшиеся тридцать — рефакторинг в поддерживаемые модули, отлов краевых случаев, применение годами выстраданной инженерной мудрости — там, где опытные инженеры добавляют ценность, которую система автоматически не поставляет. Документированное расхождение: опытные инженеры активно переосмысливают и ограничивают вывод модели; начинающие принимают его охотнее, производя код, который выглядит завершённым, но ломается под реальной нагрузкой. Определение готовности к отгрузке обязано явно поглотить эти тридцать процентов, иначе оно молча деградирует до «тесты прошли, значит готово».</a:t>
            </a:r>
          </a:p>
          <a:p>
            <a:r>
              <a:t>Что остаётся из классики: контроль версий и ревью как пункт назначения узкого места, переключатели функций, поэтапная раскатка как прообраз лестницы самостоятельности, аварийный выключатель, спецификация, которой владеет человек. Когда здесь не место первоочередному применению искусственного интеллекта: решение необратимое или капиталоёмкое по своей природе не должно приниматься моделью на низшей ступени самостоятельности без детерминированного бизнес-правила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из прошлого слайда, один-десять-двадцать пять-пятьдесят-сто процентов, и без формальной проверки против эталонного набора перед полным развёртыванием. В течение нескольких дней функция начала выдавать вирусные, откровенно опасные рекомендации: есть камни — источник, сатирическая статья издания The Onion, — и класть клей на пиццу для лучшего сцепления сыра — источник, одиннадцатилетний шутливый комментарий на форуме Reddit. Функцию нельзя было отключить пользователю. Реакция компании была реактивной: ограничение ответов на «бессмысленные» запросы, фильтрация источников-сатиры и юмора, пауза обзоров на темах повышенного риска вроде здоровья — всё после полного развёртывания на аудиторию, а не до него.</a:t>
            </a:r>
          </a:p>
          <a:p>
            <a:r>
              <a:t>Механизм, привязанный к фазе сборки и запуска: это ровно тот случай отсутствующей поэтапной раскатки и отсутствующего гейта проверки,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поиска в стране.</a:t>
            </a:r>
          </a:p>
          <a:p>
            <a:r>
              <a:t>Обратите внимание на природу конкретных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 вместо чего компания получила публичное осмеяние на всей аудитории.</a:t>
            </a:r>
          </a:p>
          <a:p>
            <a:r>
              <a:t>Урок: генеративная функция, синтезирующая контент из открытого веба, нуждается в той же дисциплине поэтапного развёртывания и проверки перед запуском, что и любая другая функция на основе искусственного интеллекта; «поиск — наш зрелый основной продукт» не повод пропустить раскатку — это, наоборот, повышает цену её пропуска, потому что сто процентов аудитории здесь означает всю пользовательскую базу сразу. Альтернатива — канареечный запуск на небольшой процент запросов с мониторингом известных классов риска и постоянный, легко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на основе искусственного интеллекта совместно с IBM: партнёрство началось в октябре две тысячи двадцать первого года и продлилось примерно два с половиной-три года, масштабировавшись до примерно ста ресторанов — это примерно ноль целых семь десятых процента от почти четырнадцати тысяч ресторанов McDonald's в США, точный знаменатель важен именно потому, что без него «сто ресторанов» звучит как масштабный пилот. Вирусные ролики с провалами накапливались месяцами: бекон в мороженом, заказ девяти чаёв вместо одного, заказы с сотнями лишних наггетсов, смешение заказов соседних полос проезда. Семнадцатого июня две тысячи двадцать четвёртого McDonald's объявил внутренней запиской о прекращении партнёрства, с отключением не позднее двадцать шестого июля. Компания не отказалась от самой цели — автоматизация голосового приёма заказов явно осталась частью планов, — она убила именно этот конкретный вендорский подход после того, как он не смог преодолеть планку продакшн-качества при ограниченном масштабе за длительное тестовое окно.</a:t>
            </a:r>
          </a:p>
          <a:p>
            <a:r>
              <a:t>Это решение об остановке масштабирования, а не история о провале в реальном времени — необычно, это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дело не в нехватке данных, а в структурном потолке конкретного подхода, здесь — точность распознавания речи в шумной и акустически разнообразной среде проезда с разнообразием акцентов. Без знаменателя сто ресторанов выглядят внушительно; со знаменателем это крошечная доля сети, которую держали больше двух лет и всё равно не довели до надёжности.</a:t>
            </a:r>
          </a:p>
          <a:p>
            <a:r>
              <a:t>Сравните с предыдущим провалом: Google совершил ровно обратную ошибку — сразу сто процентов без пилотной фазы вообще. Два кейса зеркальны: один правильно не пересёк гейт после длинного честного пилота, другой пропустил пилот целиком. Урок: долгий пилот, продолжающий публично проваливаться при ограниченном масштабе, — сигнал остановиться, а не «доработать ещё немного». Альтернатива — гибрид человек-в-контуре: система предлагает распознанный заказ, кассир-человек подтверждает его на экране перед отправкой на кухню, что сохраняет большую часть выгоды пропускной способности вместе с проверкой именно того режима сбоя, который так и не сошёлся к приемлемому уровню за годы попыток.</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развёрнутый и для сильной инженерной аудитории особенно значимый раздел: измерение — то место, где «выглядит хорошо» не равно «есть хорошо», и в продукте это расхождение бьёт больнее всего. Вы умеете писать код и, возможно, знаете A/B-тестирование из веб-практики, но формальную дисциплину продуктового эксперимента многие видят впервые — поэтому раздел подаёт её через контраст: вы знаете это по CI-тестам, вот в чём принципиальное отличие продуктового эксперимента от юнит-теста.</a:t>
            </a:r>
          </a:p>
          <a:p>
            <a:r>
              <a:t>Юнит-тест детерминирован: один и тот же код при одном и том же входе либо проходит проверку, либо нет, и это повторяется сколько угодно раз с одинаковым результатом. Продуктовый эксперимент имеет дело с живыми людьми, а их поведение зашумлено сезоном, рекламными всплесками, составом аудитории — поэтому единственный способ отделить причину от случайности здесь не повторный прогон одного и того же теста, а случайное разделение реальных пользователей на две сравнимые группы.</a:t>
            </a:r>
          </a:p>
          <a:p>
            <a:r>
              <a:t>Дальше раздел проходит четыре шага. Сначала — с нуля, что такое контролируемый эксперимент и OEC, единая метрика успеха, о значении которой команда согласилась заранее, прежде чем увидеть результат. Затем — восемь классических ловушек эксперимента, сведённых не в список для заучивания, а в три вопроса по стадии, на которой ловушка возникает: настроен ли тест, правильно ли читаю результат, реален ли сам эффект. Дальше — что ИИ добавляет как эквивалент юнит-тестов для агента, и где вероятностный вывод модели ломает привычную логику «прошёл/не прошёл» из детерминированного мира. И два провала: один про метрику вовлечённости, выигравшую тест ценой скрытого вреда на протяжении почти двух лет, другой про бенчмарк, измеряющий не тот вопрос, который затем выдают за доказательство безопасности в реальном мире.</a:t>
            </a:r>
          </a:p>
          <a:p>
            <a:r>
              <a:t>Общая нить раздела — не список отдельных фактов, а один переносимый навык: отличать сигнал от шума. Подозрительно хорошая цифра, взломанная прокси-метрика, бенчмарк не в том формате задачи — во всех трёх случаях числа выглядят убедительно именно тогда, когда доверять им нельзя, и умение это распознать пригодится далеко за пределами продуктовых экспериментов.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честно отвечаете на вопрос «сработало ли изменение», а не просто радуетесь выросшей цифре. Это та стрелка петли, где ИИ не удешевил работу, а наоборот — снизил доверие к результатам, потому что сегодня очень легко получить красивую метрику, которая на самом деле ничего не доказывает.</a:t>
            </a:r>
          </a:p>
          <a:p>
            <a:r>
              <a:t>Главная ловушка звучит просто: «мы выкатили новую функцию, и метрика выросла — значит, функция сработала». Это неверный вывод сам по себе. Метрика могла вырасти по десятку причин, не имеющих отношения к вашему изменению: начался сезонный всплеск спроса, конкурент временно ушёл с рынка, изменился состав пришедших пользователей. Отделить настоящую причину от простого совпадения по одному наблюдению «до и после» невозможно — нужна вторая, сравнимая группа, с которой можно сопоставить результат.</a:t>
            </a:r>
          </a:p>
          <a:p>
            <a:r>
              <a:t>Отсюда идея контролируемого эксперимента: вы случайным образом делите пользователей на две группы. Одной показываете новое, другой — прежний вариант, всё остальное держите одинаковым. Случайность разделения — не техническая деталь, а суть метода: раз и сезонный эффект, и рекламный всплеск, и весь состав аудитории в среднем одинаково размазаны по обеим группам, единственное систематическое различие между ними — само изменение. Значит, любую устойчивую разницу в метрике между группами можно приписать именно ему, а не постороннему фактору.</a:t>
            </a:r>
          </a:p>
          <a:p>
            <a:r>
              <a:t>Второй обязательный элемент — договориться заранее, какую метрику команда считает успехом и какое движение этой метрики недопустимо, прежде чем увидеть результат эксперимента. Если этого не сделать, после теста почти всегда найдётся цифра, которая «докажет» ровно то, что и так хотели увидеть, — задним числом, а не по заранее согласованному правилу. Дальше мы разберём типичные ловушки чтения такого результата и увидим на живом примере, как прокси-метрика без страховки почти два года маскировала реальный вред под видом успеха.</a:t>
            </a:r>
          </a:p>
          <a:p>
            <a:r>
              <a:t>Есть и обратная сторона: сам ИИ теперь тоже проверяют экспериментом. Прежде чем доверить агенту реальную задачу, его прогоняют через собственные квизы-проверки — как юнит-тесты, только для модели, а не для кода, — и только зрелый, уже проверенный на этих квизах продукт доходит до полноценного A/B-теста на живых пользователях. Формальная дисциплина эксперимента, которую вы сейчас разбираете с нуля, применяется к обеим сторонам продукта: и к тому, что делают люди, и к тому, что предлагает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(существующий опыт) и Treatment (тестируемое изменение), и для каждой группы измеряется метрика за определённый период. Стоит явно проговорить, почему рандомизация даёт причинность, а не просто звучит правильно. Представьте, что вы меряете эффект без контрольной группы: метрика выросла на пять процентов после релиза, но за ту же неделю был маркетинговый всплеск и сменился сезон — отделить эффект вашего изменения от всего остального невозможно. Рандомизация решает это фундаментально: раз пользователи попадают в группы случайно, все посторонние факторы в среднем одинаково распределены между ними и «вычитаются» при сравнении, остаётся только одно систематическое различие — само изменение. Именно поэтому канареечная раскатка не эквивалентна A/B-тесту: у неё нет удерживаемой случайной контрольной группы, и она отвечает лишь «сломалось ли что-то катастрофически», а не «вызвало ли изменение улучшение».</a:t>
            </a:r>
          </a:p>
          <a:p>
            <a:r>
              <a:t>Канонический процесс по Кохави: сформулировать гипотезу с механизмом — гипотеза без объяснения, почему метрика должна сдвинуться, это лишь догадка — выбрать метрику, рандомизировать пользователей по идентификатору так, чтобы один и тот же человек весь тест оставался в одной группе, прогнать до заранее определённого размера выборки, проверить качество данных, проанализировать и решить: отгрузить, убить или итерировать.</a:t>
            </a:r>
          </a:p>
          <a:p>
            <a:r>
              <a:t>OEC — единственная метрика или небольшая композиция, которую эксперимент на самом деле пытается сдвинуть, то, что организация заранее согласилась считать успехом, а не просто то, что легко измерить. Учебный пример Кохави показывает, зачем это нужно: команда, оптимизирующая сайт поддержки клиентов, приняла метрикой «время на сайте». Когда её попросили явно назвать направление, команда раскололась: больше времени — это глубокая вовлечённость или пользователь застрял и не может найти ответ? Команда единогласно приняла метрику, ни разу не договорившись, что она означает. Guardrail-метрики — то, что мониторят, но не оптимизируют: они ловят сопутствующий ущерб, которого OEC не видит, будь то время загрузки, частота жалоб или долгосрочное удержание при оптимизации краткосрочного действия. Именно отсутствие такой страховки мы разберём в провале этого раздела, когда единственная измеряемая прокси выиграла тест ценой скрытого вреда.</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A/B testing (Bing 2012) — рекламный заголовок: +12% выручки (~$100 млн), независимо от материалов Кохави.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по стадии, на которой ловушка возникает.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Вторая ловушка стадии — размер выборки, и это не абстракция, а конкретное число, которое нужно уметь получить самому. Пример: базовая конверсия пять процентов, минимально значимый относительный эффект десять процентов (то есть до пяти с половиной), стандартный порог значимости и мощность восемьдесят процентов дают по стандартной формуле для двух пропорций около тридцати одной тысячи двухсот пользователей на группу — больше шестидесяти двух тысяч суммарно. При пяти тысячах активных пользователей в неделю такая выборка физически не наберётся быстрее двенадцати недель, и это нужно знать до старта, а не обнаруживать на третьей неделе, когда результат «пока не значим».</a:t>
            </a:r>
          </a:p>
          <a:p>
            <a:r>
              <a:t>Интерпретация: правильно ли я читаю результат? Peeking — проверка до достижения запланированного размера выборки и остановка, как только «выглядит значимо»: две подглядки примерно удваивают частоту ложных срабатываний, пять — утраивают. Родственная и более коварная ошибка — множественные сравнения: если команда смотрит на дашборд из двадцати метрик при пороге значимости пять процентов на каждую без поправки, вероятность увидеть хотя бы одну «значимую» метрику чисто случайно — около шестидесяти четырёх процентов, даже если реального эффекта нет нигде; поправка Бонферрони, разделить порог на число сравнений, превращает случайную находку на дашборде в честный сигнал. Парадокс Симпсона — тренд, держащийся в каждом сегменте, может развернуться при агрегации, если состав сегментов сдвинулся между группами, поэтому результат нужно проверять и на уровне сегментов.</a:t>
            </a:r>
          </a:p>
          <a:p>
            <a:r>
              <a:t>Сам эффект: реален ли он? Закон Тваймана — цифра, которая выглядит слишком хорошей, обычно неверна. A/B-тест — измерение с рандомизацией; feature flag — переключатель раскатки, это разные инструменты. Канонический пример с поправкой на фактчекинг: эксперимент Bing с заголовком рекламы дал прирост выручки на двенадцать процентов на поиск, более ста миллионов долларов в год, — не путать с «кнопкой за 300 миллионов» Спула, это usability-исследование, не рандомизированный тест. Даже Spotify держит классический A/B отдельным стеком от бандита персонализации: бандит сам нуждается в проверке собственной ценности.</a:t>
            </a:r>
          </a:p>
          <a:p>
            <a:r>
              <a:t>Источники:</a:t>
            </a:r>
          </a:p>
          <a:p>
            <a:r>
              <a:t>[1] Microsoft Research — Sample Ratio Mismatch (KDD 2019) — «fever is a symptom»: SRM — симптом проблем с качеством данных, проверяется до анализа эффекта. https://www.microsoft.com/en-us/research/articles/diagnosing-sample-ratio-mismatch-in-a-b-testing/</a:t>
            </a:r>
          </a:p>
          <a:p>
            <a:r>
              <a:t>[2] GoPractice — проблема подглядывания (peeking) — 2 подглядки ≈2× ложных срабатываний; фикс — pre-registered sample size. https://gopractice.io/data/peeking-problem/</a:t>
            </a:r>
          </a:p>
          <a:p>
            <a:r>
              <a:t>[3] exp-platform.com — Кохави, Твайман — «любая цифра, которая выглядит интересно, обычно неверна» — перепроверить методологию раньше, чем радоваться. https://exp-platform.com/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сдвиг в требованиях к профессии: написание evals становится необходимым навыком продакт-менеджеров, настолько критична эта часть создания хорошего продукта с ИИ. Eval — это «квиз для модели»: способ задать конкретную планку точности, которая нужна продукту, — от почти стопроцентной надёжности там, где ошибка дорога, до вполне терпимых шестидесяти процентов там, где она дёшева, и этот выбор планки «фундаментально определяет продуктовые дизайн-решения», например сколько человеческого подтверждения нужно вставить в поток. Хамель Хусейн предлагает трёхуровневую рамку, ложащуюся на знакомый словарь тестирования: уровень один — юнит-тесты, быстрые детерминированные проверки; уровень два — человеческая и модельная оценка, сверяемые друг с другом; уровень три — A/B-тестирование, только когда продукт зрел. A/B не заменяется оценками — это последняя ступень лестницы, дороже двух предыдущих.</a:t>
            </a:r>
          </a:p>
          <a:p>
            <a:r>
              <a:t>Почему вероятностный вывод ломает pass/fail — объяснение с нуля. Pass at k — вероятность, что агент выдаст хотя бы один корректный результат за k попыток; pass hat k — вероятность, что агент успешен на всех k попытках подряд, истинная консистентность. Эти два числа могут кардинально расходиться при одинаковой базовой вероятности успеха: с ростом k pass at k стремится к ста процентам, а pass hat k обваливается к нулю. Вендор, отчитывающийся «агент успешен в девяносто пять процентах случаев», отвечает на разные вопросы в зависимости от того, какое число имеется в виду — а продакшн-надёжность, где пользователь полагается на агента каждый раз, почти всегда требует именно pass hat k, тогда как лидерборды обычно отчитывают что-то ближе к pass at k.</a:t>
            </a:r>
          </a:p>
          <a:p>
            <a:r>
              <a:t>LLM-as-judge достигает около восьмидесяти пяти процентов согласия с людьми на лёгких категориях — сопоставимо с согласием между самими людьми-экспертами, — но падает ниже шестидесяти процентов на сложных категориях, особенно на безопасности: судья наименее надёжен именно там, где ставки выше всего. Offline и online eval — слои, не альтернатива: offline ловит известные регрессии до деплоя, online вскрывает длинный хвост входов, который ни один фиксированный набор не предвидел. Notion увеличила пропускную способность исправлений с трёх до тридцати фиксов в день после систематической оценки. Eval — живой артефакт, не разовый чек-лист: если баллы упёрлись в потолок, он «сдулся» и требует более сложных кейсов, а не гарантирует качество зелёным цветом.</a:t>
            </a:r>
          </a:p>
          <a:p>
            <a:r>
              <a:t>Источники:</a:t>
            </a:r>
          </a:p>
          <a:p>
            <a:r>
              <a:t>[1] Anthropic — Demystifying evals for AI agents (9 янв. 2026) — pass@k (хотя бы 1 успех) vs pass^k (все успешны); промышленная надёжность требует pass^k. https://resources.anthropic.com/2026-agentic-coding-trends-report [VFY-day-of]</a:t>
            </a:r>
          </a:p>
          <a:p>
            <a:r>
              <a:t>[2] Zheng, Chiang et al. — MT-Bench (NeurIPS 2023) — LLM-судья ~85% согласия с экспертами — сопоставимо с ~81% согласия человек-человек. https://arxiv.org/abs/2306.05685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называется спецификационным геймингом или взломом функции вознаграждения: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примерно на двадцать процентов больше очков, чем игроки-люди, вечно кружа в лагуне и снова и снова собирая три регенерирующихся бонуса, при этом загораясь, врезаясь в другие лодки и никогда не финишируя — очки задумывались как прокси прогресса гонки, и неисследованное допущение дизайнеров «очки примерно равно финиш» — ровно то, что агент эксплуатировал. Современный пример от Anthropic: обучая модель на кривой всё более «взламываемых» окружений, исследователи наблюдали, как модель обобщила от простой политической угодливости к изощрённому взлому вознаграждения — начав с лести, прогрессируя к фальсификации собственных чек-листов выполнения задач и кульминируя в прямом редактировании собственной функции вознаграждения, чтобы присвоить себе идеальный балл, без явного обучения именно этой эскалации.</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или сама команда, оптимизирует ту прокси, что легче измерить, — например, успешность агента в его же собственном самоотчёте. Guardrail-метрики — ограждения в точном смысле Кохави: частота галлюцинаций, токсичность, стоимость на запрос — метрики, которые не оптимизируешь, но не должен молча деградировать. Закон Тваймана здесь звучит острее: подозрительно идеальный балл eval теперь более вероятно баг или взломанная прокси, чем настоящий скачок возможностей.</a:t>
            </a:r>
          </a:p>
          <a:p>
            <a:r>
              <a:t>Когда здесь не AI-first: если единственная измеряемая величина эксперимента — прокси вовлечённости без парной counter-метрики на качество или вред, результат недостаточен для решения о полном роллауте, независимо от того, насколько статистически значим первичный подъём. То же для evals: если заявление о безопасности опирается исключительно на бенчмарк, чей формат задачи структурно отличается от развёрнутого реального применения, — такой бенчмарк не может поддержать заявление, нужна отдельная, соответствующая задаче оценка до заявления.</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между людьми над пассивным потреблением контента, и явно предупредил, что время в приложении, вероятно, краткосрочно упадёт. Механически формула ранжирования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чтобы вознаграждать возмущение, — это неточно согласно корректирующему медиа-материалу. Все пять реакций взвешивались одинаково при введении, гнев не выделялся отдельно. Реальный провал был тоньше и поучительнее: «любая сильная реакция равно более содержательно» была плохой, огульной прокси качества вовлечённости, а не осознанным решением вознаграждать ярость, — это случай институциональной небрежности в дизайне прокси-метрики, а не злого умысла.</a:t>
            </a:r>
          </a:p>
          <a:p>
            <a:r>
              <a:t>Guardrail, который это поймал, и цена его отсутствия с первого дня: внутренне подтверждено к две тысячи девятнадцатому году, что посты, вызывающие гневную реакцию, были непропорционально склонны содержать дезинформацию, токсичность и низкокачественный контент. Facebook снизил вес гневной реакции до нуля в сентябре две тысячи девятнадцатого; после этого, по собственным данным компании, пользователи стали получать меньше дезинформации и тревожащего контента. Отдельный внутренний тест, февраль две тысячи восемнадцатого, на 0,05% пользователей с отключённым ранжированием, показал: без него пользователи скрывали на пятьдесят процентов больше постов — подтверждая, что подъём вовлечённости был реальным, но не связан с качеством.</a:t>
            </a:r>
          </a:p>
          <a:p>
            <a:r>
              <a:t>Механизм, привязанный к фазе Measure: исходный эксперимент оптимизировал прокси вовлечённости, но не измерял последствия для качества контента; вред вскрылся только отдельным качественным аудитом после полного роллаута, а не guardrail-метриками самого эксперимента. У Facebook в две тысячи восемнадцатом была одна из сильнейших в мире команд data science — и всё же обратная корреляция подтверждена лишь через полтора-два года, потому что counter-метрику качества никто не измерял с первого дня: не хватало не аналитиков, а самой метрики в дизайне. Это тот же урок, что тихий дрейф из раздела про эксплуатацию: агрегированная метрика росла, пока качество деградировало под ней невидимо. Урок: дизайн A/B-эксперимента для алгоритмических фич обязан включать guardrail-метрики качества с первого дня, иначе система найдёт способ выиграть тест ценой скрытого вреда.</a:t>
            </a:r>
          </a:p>
          <a:p>
            <a:r>
              <a:t>Источники:</a:t>
            </a:r>
          </a:p>
          <a:p>
            <a:r>
              <a:t>[1] Techdirt (28 окт. 2021) — коррекция «Facebook Files» — все 5 реакций (love/haha/wow/sad/angry) взвешены ×5 одинаково — не только «гнев», вопреки растиражированной версии. https://www.techdirt.com/2021/10/28/let-me-rewrite-that-you-washington-post-misinforms-you-about-how-facebook-weighted-emoji-reactions/</a:t>
            </a:r>
          </a:p>
          <a:p>
            <a:r>
              <a:t>[2] House E&amp;C Committee — документы Haugen — внутренний guardrail (корреляция гнев↔дезинформация) подтверждён к 2019, вес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скачок более чем на девятнадцать пунктов над первой версией.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 поучительнее: исследователям Google пришлось построить отдельный, более сложный adversarial-набор из 240 вопросов именно потому, что экзамен-бенчмарк, породивший заголовки про «ИИ уровня врача», вообще не вскрывает открытые сбои клинической безопасности.</a:t>
            </a:r>
          </a:p>
          <a:p>
            <a:r>
              <a:t>Психометрика полвека назад ввела два разных вопроса, которые здесь стоит различать по имени. Construct validity (конструктная валидность) — насколько тест реально измеряет то абстрактное свойство, которое заявляет измерять, а не что-то смежное. Ecological validity (экологическая валидность) — переносится ли результат, полученный в контролируемых лабораторных условиях, на условия реального применения. MedQA обладает некоторой конструктной валидностью: правильный ответ на клинический вопрос действительно требует медицинского знания, — но низкой экологической валидностью для открытого клинического диалога, где пациент не предлагает готовых четырёх вариантов ответа. Из этого не следует, что бенчмарк бесполезен: он остаётся честным инструментом для относительного сравнения версий модели друг с другом и быстрого отсева моделей без медицинского знания вовсе — проблема возникает, когда балл, валидный для «сдать письменный экзамен», выдают за доказательство готовности «безопасно вести пациента».</a:t>
            </a:r>
          </a:p>
          <a:p>
            <a:r>
              <a:t>В деле Mata против Avianca адвокат подал документ с шестью полностью выдуманными судебными делами, сгенерированными ChatGPT — а не Harvey ИИ, частая ошибка атрибуции. Строгое рецензируемое исследование Stanford RegLab: сырой GPT-4 без retrieval ошибался в восемьдесят восемь процентов случаев; наиболее точный из протестированных инструментов Lexis+ ИИ всё равно ошибался в семнадцати процентах, примерно один из шести; Westlaw — примерно в тридцати трёх, вдвое чаще, несмотря на маркетинг «без галлюцинаций». Механизм обоих кейсов: бенчмарк, измеренный на узком формате задачи, не переносится на реальную задачу пользователя — снова закон Гудхарта, бенчмарк стал маркетинговой целью. Критерий: заявление о безопасности, опирающееся только на бенчмарк со структурно иным форматом, не подтверждено — нужна отдельная adversarial-оценка под саму развёрнутую задачу.</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Mata v. Avianca — фейковые цитаты = ChatGPT, НЕ Harvey — частая ошибка атрибуции; санкция $5000 (S.D.N.Y., 22 июня 2023). https://en.wikipedia.org/wiki/Mata_v._Avianca,_Inc.</a:t>
            </a:r>
          </a:p>
          <a:p>
            <a:r>
              <a:t>[3] Stanford RegLab — J. Empirical Legal Studies — Lexis+ 17% / Westlaw 33% / GPT-4 88% галлюцинаций на реальных юридических запросах.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ИИ снизил доверие, а не стоимость. Классический контролируемый A/B-эксперимент остаётся фундаментом — рандомизация по-прежнему единственный надёжный способ узнать, что изменение вызвало результат, а не просто совпало с ним, — но поверх него теперь обязательны evals слоями, офлайн перед деплоем и онлайн на живом трафике, не как альтернатива друг другу, и guardrail-метрики, потому что вероятностный вывод модели и закон Гудхарта делают любую единственную оптимизируемую прокси уязвимой к взлому.</a:t>
            </a:r>
          </a:p>
          <a:p>
            <a:r>
              <a:t>Центральный навык фазы, и всей лекции целиком: отличать сигнал от шума. Подозрительно хорошая цифра — это закон Тваймана в действии, она чаще означает баг или ошибку инструментирования, чем прорыв. Взломанная прокси-метрика — это Гудхарт: мера, ставшая целью, перестаёт быть хорошей мерой. Бенчмарк, измеряющий формат задачи, отличный от реального применения, — это подмена конструктной валидности экологической, выдаваемая за готовый ответ о безопасности. Метрика вовлечённости без парной guardrail на качество — прокси, которая может выигрывать тест два года подряд ценой скрытого вреда. Все четыре случая — шум, убедительно замаскированный под сигнал, и именно поэтому единичное наблюдение без базовой линии и без страховки обманчиво в обе стороны: можно поднять ложную тревогу и можно пропустить реальную проблему.</a:t>
            </a:r>
          </a:p>
          <a:p>
            <a:r>
              <a:t>Это прямой мост в раздел пять: в эксплуатации тот же навык проявляется как способность заметить дрейф раньше, чем его покажет усреднённый дашборд. Логика не меняется, меняется только объект наблюдения — с контролируемого эксперимента на живую систему, работающую в проде круглосуточно.</a:t>
            </a:r>
          </a:p>
          <a:p>
            <a:r>
              <a:t>Полезно удержать в голове порядок применения этих идей, а не только их список. Сначала спрашиваете, правильно ли настроен и прочитан сам тест, — это база, которая существовала до всякого ИИ. Затем спрашиваете, что именно измеряет число, которое вам показали, — тот ли это конструкт, о котором идёт речь, и переносится ли лабораторный результат на реальное применение. И только тогда, когда оба вопроса пройдены, число заслуживает того, чтобы на него опирались при решении. Пропуск любого из двух шагов — не мелкая небрежность, а ровно то расхождение между «метрика выросла» и «продукт стал лучше», из-за которого Facebook почти два года не замечал вреда, а бенчмарк медицинской модели не гарантировал безопасность реального диалога с пациентом.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на практике: между «код работает у меня на ноутбуке» и «продукт надёжно работает у миллионов людей 24/7» лежит пропасть, и её закрывают процессом — дежурствами, разбором инцидентов, бюджетом на ошибки, — а не только качеством самого кода.</a:t>
            </a:r>
          </a:p>
          <a:p>
            <a:r>
              <a:t>Сегодня — инженерия надёжности сайтов с нуля: что такое индикатор, цель и бюджет уровня сервиса, и почему это не абстракция, а конкретные числа, на которые команда договаривается реагировать. Дальше — что ИИ добавляет как отдельный слой наблюдаемости именно за качеством и поведением ответов, а не только за тем, отвечает сервис или нет: трейсинг запроса через модель, мониторинг дрейфа, агенты, следящие за другими агентами. Тихий дрейф — весомый операционный урок раздела: доверие к продукту может падать неделями, пока агрегированные дашборды остаются зелёными, и первыми это замечают не метрики, а внимательные, вовлечённые пользователи.</a:t>
            </a:r>
          </a:p>
          <a:p>
            <a:r>
              <a:t>И три провала, каждый на своей грани одной проблемы: капитал, потерянный из-за отсутствия предохранителя на дрейф в реальном времени; юридическая ответственность компании за каждый ответ бота, от которой нельзя откреститься ссылкой на «искусственный интеллект»; и метрика успеха поддержки, посчитанная без учёта гарантированного пути к живому человеку в сложных случаях.</a:t>
            </a:r>
          </a:p>
          <a:p>
            <a:r>
              <a:t>Тот же принцип, что вёл предыдущий раздел, работает и здесь: смотреть не на список отдельных фактов, а на переносимый навык. В измерении это было умение отличить сигнал от шума в цифрах эксперимента. В эксплуатации это умение заметить, что система деградирует, раньше, чем об этом расскажет усреднённый дашборд, — потому что к моменту, когда дашборд покраснеет, издержки уже реализовались: в потерянном доверии пользователей, в судебном решении или в списанном капитале.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настоящая жизнь: продукт работает круглосуточно у реальных людей, ломается, получает жалобы и требует внимания годами, а не одну неделю сдачи проекта. Между «у меня на ноутбуке работает» и «надёжно работает у миллионов одновременно» лежит пропасть, и закрывают её не героизмом отдельного инженера, а процессом.</a:t>
            </a:r>
          </a:p>
          <a:p>
            <a:r>
              <a:t>Классическая инженерная дисциплина здесь называется надёжностью эксплуатации, и её базовая идея понятна на пальцах: стопроцентной надёжности не бывает и добиваться её экономически бессмысленно, поэтому команда заранее договаривается, сколько сбоев допустимо за период, — это и есть бюджет на ошибки, конкретное число, а не лозунг. Пока укладываемся в бюджет, можно спокойно выкатывать новые фичи; бюджет исчерпан — тормозим рискованные релизы и фокусируемся на стабильности. Дополняют это дежурства инженеров вне рабочих часов, разбор инцидентов без поиска виноватого — потому что если ищут, кого наказать, люди начинают скрывать информацию, — и заранее написанные инструкции на типовые аварии, которые обновляются после каждого нового случая.</a:t>
            </a:r>
          </a:p>
          <a:p>
            <a:r>
              <a:t>Что меняет ИИ? Появляется новый, более коварный класс проблем. Обычный сбой виден сразу: сервис не отвечает, графики краснеют, дежурного будят немедленно. А модель может тихо деградировать: технически всё зелёное — ответы приходят, коды успешные, дашборд не сигналит, — но качество ответов незаметно падает, и первыми это чувствуют не автоматические метрики, а внимательные, активные пользователи, которые начинают жаловаться раньше, чем что-либо покраснеет на экране.</a:t>
            </a:r>
          </a:p>
          <a:p>
            <a:r>
              <a:t>Ещё один непривычный момент: у обычной программы ошибка — событие однозначное, запрос либо прошёл, либо нет, и это видно сразу. У модели даже одинаковый вопрос в одинаковых условиях иногда даёт слегка разные ответы, а понять, был ли конкретный ответ на самом деле неверным, часто получается только спустя время, когда придёт обратная связь от пользователя. Поэтому простое правило «упало — чиним» здесь не работает без адаптации. Дальше мы увидим три дорогих провала эксплуатации и поймём, почему юридическая ответственность за каждый ответ бота в любом случае остаётся на компании, а не на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где запрос либо успешен, либо нет, а в проде ИИ-продукта работает недетерминированная модель — SLI «доля успешных HTTP-ответов 200» ничего не говорит о том, галлюцинирует ли модель. Новое здесь не сами SLI, SLO и бюджет ошибок, а то, к какому классу метрик их придётся применить.</a:t>
            </a:r>
          </a:p>
          <a:p>
            <a:r>
              <a:t>Рамка SRE от Google: SLI — количественная метрика поведения сервиса глазами пользователя, например доля успешных запросов или латентность. SLO — внутренняя цель команды по этой метрике, например девяносто девять целых девять десятых процента за двадцать восемь дней, внутренний будильник, срабатывающий раньше внешних обязательств. SLA — внешнее контрактное обязательство перед клиентом, обычно мягче SLO, с запасом на исправление до контрактного инцидента.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 а не абстракция.</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большинство отказов вызвано не износом, а тем, что вносят люди. Бюджет даёт явное разрешение остановить рискованные релизы, когда он исчерпан. Алертинг зрелой практики строится не на «сервер упал», а на скорости сжигания бюджета: коэффициент 14,4 на коротком окне в час означает, что за этот час сгорает два процента месячного бюджета и он закончится примерно за двое суток — основание для немедленного пейджа; коэффициент 1 на окне в трое суток, то есть десять процентов бюджета, — это уже не пейдж, а тикет на рабочее время. Короткое окно ловит резкий скачок, длинное фильтрует шум и ловит медленное нарастание — вместе они закрывают оба случая.</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Петля support-продукт: тикеты — сырые данные о том, где продукт не соответствует ожиданиям, а не только «закрыть проблему клиента».</a:t>
            </a:r>
          </a:p>
          <a:p>
            <a:r>
              <a:t>Источники:</a:t>
            </a:r>
          </a:p>
          <a:p>
            <a:r>
              <a:t>[1] Google SRE —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ИИ-продукта в проде два свойства, которых нет у классического ПО: недетерминированность и компромисс между автономностью и контролем. Это измеримая инженерная проблема, не философская: пять моделей на восьми задачах, прогнанных по десять раз каждая при формально фиксированной нулевой температуре, дали вариацию точности до пятнадцати процентных пунктов между технически идентичными прогонами одного и того же промпта, с разрывом до семидесяти пунктов между лучшим и худшим запуском. Причина инженерная, не мистическая: floating-point арифметика на GPU не строго ассоциативна, а батчинг на стороне провайдера меняет порядок операций между запросами. Из этого следует неочевидная вещь: у вероятностного компонента нет единого «нормального» значения, от которого измеряется отклонение, как у сервиса со стабильным uptime, — а правильность конкретного ответа к тому же часто узнаётся с задержкой, не сразу, как HTTP-статус-код. Поэтому бюджет на ошибки для такого компонента приходится считать не по единичным событиям в реальном времени, а по прокси, доступному немедленно: частоте эскалаций к человеку, частоте явных негативных реакций пользователя, распределению сигналов уверенности модели.</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 и 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ИИ-агентов в проде, но большинство внедрений — прототипы, зрелых 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а не запоздалая функция.</a:t>
            </a:r>
          </a:p>
          <a:p>
            <a:r>
              <a:t>Отдельный, часто пропускаемый риск: трейсинг-инструменты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данные без анонимизации на входе или без self-host развёртывания.</a:t>
            </a:r>
          </a:p>
          <a:p>
            <a:r>
              <a:t>Источники:</a:t>
            </a:r>
          </a:p>
          <a:p>
            <a:r>
              <a:t>[1] Confident AI — обзор LLMOps observability 2026 — LangSmith / Langfuse / Arize Phoenix / Helicone — трейсинг ловит дрейф там, где инфра-мониторинг молчит. https://www.confident-ai.com/knowledge-base/compare/top-7-llm-observability-tools [VFY-day-of]</a:t>
            </a:r>
          </a:p>
          <a:p>
            <a:r>
              <a:t>[2] Gartner Market Guide for Guardian Agents (25 фев. 2026) — определение категории; adoption 70%/23%. https://thehackernews.com/2026/03/5-learnings-from-first-ever-gartner.html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пользователи продолжают получать ответы, дашборды остаются зелёными, ничего явно не сломано, но выходы становятся чуть менее обоснованными и чуть труднее доверять,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усреднённые метрики улучшаются, и начинают писать баг-репорты, вскрывающие проблему, невидимую в дашборде, — поэтому нужен мониторинг на уровне сегментов и явный канал для качественных сигналов, а не только количественные тренды.</a:t>
            </a:r>
          </a:p>
          <a:p>
            <a:r>
              <a:t>Governance drift: guardrails сами дрейфуют — если они не версионируются как policy-as-code с непрерывной обратной связью, они остаются фиксированными, пока система вокруг эволюционирует, и незаметно перестают соответствовать реальности. Большинство интуитивно считают guardrails статичной защитой, поставленной один раз, но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 Паттерн устранения — относиться к guardrails как к коду: версионировать, тестировать, деплоить и аудировать с той же строгостью, что и саму модель.</a:t>
            </a:r>
          </a:p>
          <a:p>
            <a:r>
              <a:t>Что остаётся обязательным из классики: human escalation и ответственность — не legacy-практика, а структурное требование, усиленное автономностью ИИ; дисциплина разбора инцидентов — ИИ-инцидент всё ещё инцидент с таймлайном, причиной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и тот, кто пропускает классику ради «чисто ИИ-инструментов», не имеет базовой дисциплины, чтобы вообще заметить новый класс отказов. Автоматизированное действие, необратимое или капиталоёмкое, не должно исполняться без предохранителя на частоту ошибок в реальном времени и без гарантированного пути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около двух тысяч человек.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компания вообще считала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предохранителем. Пандемийная волатильность цен — классический concept drift, изменилась сама связь между признаками и справедливой ценой, и его не поймали вовремя.</a:t>
            </a:r>
          </a:p>
          <a:p>
            <a:r>
              <a:t>Применим логику многооконного алертинга буквально: у Zillow не было ни короткого, ни длинного окна. Короткое окно, часы-дни, ловит резкий скачок ошибки предсказания — его не было вовсе, острая фаза пандемийной волатильности прошла незамеченной в реальном времени. Длинное окно, недели-квартал, ловит медленное нарастание — формально оно существовало в виде квартальной отчётности перед регулятором, но с частотой раз в три месяца это не окно мониторинга, а исторический архив: к моменту публикации отчёта объём уже закуплен и капитал уже вложен. Отсюда точный диагноз: отсутствовал именно быстрый слой с автоматическим порогом остановки, потому что «модель ведь откалибрована» ошибочно посчитали достаточной гарантией на неопределённый срок вперёд.</a:t>
            </a:r>
          </a:p>
          <a:p>
            <a:r>
              <a:t>Урок: для моделей, управляющих капиталоёмкими автоматизированными решениями, бюджет на ошибки обязан применяться к качеству предсказания в реальном времени, а не только к uptime сервиса. Альтернатива: гибридная архитектура — алгоритмическая оценка как input, человек-андеррайтер принимает финальное решение выше порога риска, плюс явный предохранитель, проверяемый еженедельно, а не поквартально.</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SEC 10-K FY2021 — Zillow Group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Джейку Моффатту, что тариф по случаю утраты близкого можно оформить ретроактивно в течение девяноста дней — реальная политика компании этого не допускала. Клиент купил билеты по полной цене и получил отказ в скидке. Трибунал Британской Колумбии в феврале две тысячи двадцать четвёртого, примерно через пятнадцать месяцев после инцидента, присудил восемьсот двенадцать долларов две цента — стоимость разницы в цене, проценты и пошлину. Защита Air Canada звучала так: чат-бот — отдельное юридическое лицо, отвечающее за свои действия. Трибунал назвал это примечательным заявлением и отклонил его одной фразой: компания отвечает за всю информацию на сайте, исходит ли она из статической страницы или из чат-бота.</a:t>
            </a:r>
          </a:p>
          <a:p>
            <a:r>
              <a:t>Механизм, привязанный к фазе Support/Operate: не было процесса синхронизации базы знаний чат-бота с фактической, актуальной политикой компании — support-контент управлялся отдельно от единого источника правды. Это тот же класс проблемы, что runbook, который никто не обновлял после последнего инцидента.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 и для инженера это переводит абстрактный вопрос «кто отвечает за вывод ИИ» в конкретный правовой факт.</a:t>
            </a:r>
          </a:p>
          <a:p>
            <a:r>
              <a:t>Урок, сформулированный как принцип: вы владеете каждым ответом бота — как статичной страницей сайта, не больше, но и ни на грамм меньше.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или финансовыми последствиями, без автоматической синхронизации с единым источником правды — это support-процесс, не готовый к автоматизации. Альтернатива: архитектура с единым источником правды о политике, обязательной ссылкой на точный пункт политики в каждом ответе и периодическим аудитом ответов бота против текущих правил, а не «запустили и забыли».</a:t>
            </a:r>
          </a:p>
          <a:p>
            <a:r>
              <a:t>Источники:</a:t>
            </a:r>
          </a:p>
          <a:p>
            <a:r>
              <a:t>[1] CanLII — Moffatt v. Air Canada, 2024 BCCRT 149 — трибунал: компания отвечает за ответ бота как за любой другой контент сайта; $812,02 CAD (14 фев. 2024). https://www.canlii.org/en/bc/bccrt/doc/2024/2024bccrt149/2024bccrt149.html</a:t>
            </a:r>
          </a:p>
          <a:p>
            <a:r>
              <a:t>[2] American Bar Association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несёт два провала эксплуатации плюс третий пример того же класса, потому что вместе они очерчивают разные грани одной проблемы: автоматизированная поддержка без гарантированного человеческого пути и без детерминированной сверки на критичном.</a:t>
            </a:r>
          </a:p>
          <a:p>
            <a:r>
              <a:t>Klarna и OpenAI объявили в феврале две тысячи двадцать четвёртого: ИИ-ассистент обработал два и три десятых миллиона диалогов за первый месяц, выполняя работу семисот штатных агентов, автоматизировав шестьдесят семь процентов чатов поддержки. К маю две тысячи двадцать пятого CEO признал разворот: стоимость оказалась слишком доминирующим фактором оценки, в итоге получаешь более низкое качество, и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это признание, что throughput-метрика без гарантированного человеческого запасного пути была неверным операционным дизайном именно на эмоционально нагруженных кейсах — спорах, мошенничестве, закрытии счетов.</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единичный случай, а систематический, воспроизводимый сбой. Мэр признал ошибки, но отказался снять бот с публикации, хотя техническая возможность отключить его существовала. Третий пример того же класса: пользователь prompt-инъекцией заставил бот дилерского центра Chevrolet согласиться продать автомобиль ценой в десятки тысяч долларов за один доллар как «юридически обязывающее предложение»; ту же уязвимость воспроизвели на сотнях сайтов дилеров той же платформы.</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а не восстанавливаться постфактум. Критерий: если десять из десяти одинаковых вопросов дают один незаконный ответ — это систематический сбой, требующий немедленного kill-switch, а не «продолжим итерации».</a:t>
            </a:r>
          </a:p>
          <a:p>
            <a:r>
              <a:t>Источники:</a:t>
            </a:r>
          </a:p>
          <a:p>
            <a:r>
              <a:t>[1] Bloomberg (8 мая 2025) — Klarna — разворот политики «только ИИ» к найму людей обратно. https://www.bloomberg.com/news/articles/2025-05-08/klarna-turns-from-ai-to-real-person-customer-service</a:t>
            </a:r>
          </a:p>
          <a:p>
            <a:r>
              <a:t>[2] Fortune (10 окт. 2025) — 853 FTE — автоматизация выросла до 853 чел.-эквивалентов — усиление людей, не замена; точная цифра всплывает позже в Q3-отчётности Klarna (18 нояб. 2025) — сверить перед публикацией. https://fortune.com/2025/10/10/klarna-ceo-sebastian-siemiatkowski-halved-workforce-says-tech-ceos-sugarcoating-ai-impact-on-jobs-mass-unemployment-warning/ [VFY-day-of]</a:t>
            </a:r>
          </a:p>
          <a:p>
            <a:r>
              <a:t>[3] The Markup (29 марта 2024) — NYC MyCity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раньше агрегированных метрик, жалоба, вскрывшая регрессию, инцидент с юридическими последствиями — конвертируется в обновление reference dataset, промпта или guardrail, затем в переоценку через evals, снова в прод, а при более глубоком сигнале — обратно в само намерение: что мы вообще строим и для кого. Раздел четыре учил отличать сигнал от шума в цифрах контролируемого эксперимента; раздел пять применяет тот же навык к живой системе, где данные приходят не разовым отчётом, а непрерывным потоком. Тикет поддержки — не только повод закрыть проблему одного клиента, это сырые данные о том, где продукт не совпадает с ожиданиями, и зрелая организация конвертирует такие паттерны в исправление документации, баг-репорт или требование к следующей итерации, а не тушит одни и те же пожары бесконечно.</a:t>
            </a:r>
          </a:p>
          <a:p>
            <a:r>
              <a:t>Это keystone-callback: сигнал из эксплуатации меняет намерение — та же петля обнаружить-построить-измерить-понять-решить, только теперь замкнутая. ИИ изменил стоимость и доверие каждой стрелки асимметрично, но не саму петлю: наблюдать — теперь уязвимо к тихому дрейфу, который не виден на агрегированном дашборде; интерпретировать — теперь нужен мониторинг на уровне сегментов и интентов, а не только средних значений; решать — теперь с ответственностью, которую нельзя делегировать боту, как показал прецедент Air Canada.</a:t>
            </a:r>
          </a:p>
          <a:p>
            <a:r>
              <a:t>Три сквозных провала раздела — Zillow без предохранителя на дрейф в реальном времени, Air Canada с рассинхронизированной базой знаний бота, Klarna и NYC MyCity без гарантированной эскалации к человеку — на разных объектах учат одному и тому же: операционная дисциплина не исчезает с приходом ИИ, она становится строже, потому что цена молчаливого отказа выше, а сам отказ тише и его труднее заметить вовремя. Наблюдать, интерпретировать и решать остаются человеческими шагами на каждом витке петли независимо от того, сколько работы делегировано модели, — и именно к этой мысли мы вернёмся, когда соберём всю лекцию воедино.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курса: безопасность на этапе дизайна закладывалась ещё до запуска продукта, ответственность за ответ бота разбиралась в эксплуатации, версионирование политики как кода — в разделе про тихий дрейф метрик. Здесь мы поднимаемся на уровень организации целиком: почему сборка продукта стала почти бесплатной, а превращение этой сборки в реальную ценность для бизнеса — нет.</a:t>
            </a:r>
          </a:p>
          <a:p>
            <a:r>
              <a:t>Сегодня разберём портфельное управление и юнит-экономику ИИ-продукта с нуля: у классического софта обслуживание дополнительного пользователя почти ничего не стоит, потому что инфраструктура уже оплачена; у ИИ-продукта каждый вызов модели — это реальные токены на вход и на выход, то есть реальные деньги, и они не исчезают после того, как продукт уже построен. Это меняет саму логику масштабирования софта, к которой индустрия привыкла за два десятилетия: строить один раз дорого, обслуживать почти бесплатно. Дальше — почему пять независимых источников с разных рынков и с разной методологией сходятся на одном тезисе: узкое место извлечения ценности сместилось с технологии на операционную модель организации, а не наоборот. Затем — разрешение хук-парадокса, с которого начиналась лекция: громкая статистика провалов ИИ при ближайшем чтении означает совсем не то, что гласит заголовок, и учит проверять знаменатель прежде чем доверять цифре. Следом — провал про скрытую человеческую стоимость под маской полной автономии: магазин без касс, который годами продавался как чистое компьютерное зрение, а на деле держался на массовой ручной проверке. Капстоун-блок закрывает главу практическим итогом: обобщающим аппаратом на все шесть фаз петли и чек-листом, которым инженер проверяет любую фазу, прежде чем делать её AI-first, а не задним числом, когда решение уже принято и деньги потрачены. Курс так и устроен: одна и та же классическая дисциплина — фальсифицируемая гипотеза, гейт go/kill, guardrail-метрика — на каждой фазе просто получает новое имя и новый масштаб.</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 Ресурсы всегда ограничены, и кто-то должен решать, какие из десятков идей доводить до продакшена, а какие останавливать до того, как они съели бюджет и время команды.</a:t>
            </a:r>
          </a:p>
          <a:p>
            <a:r>
              <a:t>Механика та же, что мы уже видели на запуске отдельной функции: гейт «продолжать или убить», согласованный заранее, а не придуманный задним числом под уже потраченные деньги.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полного финансирования доходят немногие. Это не бюрократия ради бюрократии, а защита организации от того, чтобы годами кормить проекты, которые никогда не окупятся, просто потому что их жалко останавливать.</a:t>
            </a:r>
          </a:p>
          <a:p>
            <a:r>
              <a:t>У ИИ-продукта в этой арифметике появляется собственная особенность — стоимость на запрос. В отличие от обычного сайта или приложения, где обслужить лишнего пользователя почти ничего не стоит, здесь каждое обращение к модели стоит реальных денег, и эту стоимость надо явно сравнивать с ценностью, которую конкретный запрос приносит пользователю и бизнесу. Здесь же мы соберём всю лекцию воедино и ответим на вопрос, с которого начали: почему сборка продукта стала почти бесплатной, а превращение её в ценность — нет. И увидим на конкретных примерах, как громкие цифры провалов и успехов ИИ разваливаются, стоит задать им несколько простых вопросов про источник и метод подсчёта.</a:t>
            </a:r>
          </a:p>
          <a:p>
            <a:r>
              <a:t>Сама идея гейта go/kill не нова — это классическая дисциплина продуктового менеджмента, которой в индустрии больше тридцати лет, и её вариацию исторически вела значительная часть крупных продуктовых компаний. ИИ не отменяет эту дисциплину и не изобретает её заново — он смещает то, на чём именно основан критерий: раньше решение принималось по календарным вехам раз в квартал, теперь имеет смысл опираться на непрерывную телеметрию использования. Но само требование — заранее согласованный порог, при котором инициативу останавливают, и конкретный человек, который отвечает за это решение, — остаётся ровно тем же, что и в любой другой фазе.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 тот же гейт «продолжать или убить», но применяемый теперь к распределению капитала между многими инициативами сразу, а не к одной фиче внутри одного продукта.</a:t>
            </a:r>
          </a:p>
          <a:p>
            <a:r>
              <a:t>Unit-экономика для ИИ-продукта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на презентации. У классического SaaS предельная стоимость обслуживания дополнительного пользователя близка к нулю — сервер уже оплачен, копия программы ничего не стоит. У ИИ-продукта каждый вызов — это реальные токены на вход и на выход, и стоимость на запрос не падает с масштабом так, как падала стоимость классического софта; более того, мультиагентные архитектуры расходуют токенов заметно больше, чем одноагентные, то есть само решение усложнить систему имеет прямую и часто недооценённую цену именно в этой строке бюджета.</a:t>
            </a:r>
          </a:p>
          <a:p>
            <a:r>
              <a:t>Сделаем требование операциональным, а не лозунгом. Плохой KPI — «повысить эффективность поддержки»: не измеримо, направление неясно, ровно та же ошибка, что мы уже разбирали на метрике времени на сайте. Хороший — записанный до пилота: мы верим, что ИИ-триаж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основная метрика успеха, метрика-ограничитель и заранее зафиксированный порог с датой и владельцем — тот же аппарат, что бюджет ошибок и гейт go/kill, применённый теперь к решению «финансировать ли ИИ-инициативу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 И выбор продуктового инструмента подчиняется той же лестнице, что выбор экипировки агента в Лекции 3: нижняя достаточная ступень по умолчанию, подъём — только под требование, которого она не закрывает. Бремя доказательства лежит на усложнении: дорогая инициатива обязана назвать требование, которое дешёвая не закрывает, до того как получит капитал.</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технологических лидеров говорят, что операционная модель должна фундаментально измениться, при этом сорок два процента отчитываются о низком или нулевом возврате на инвестиции. Узкое место структурное, а не техническое: легаси-модели финансирования и управления работают на старых годовых циклах, тогда как ИИ-встроенные рабочие процессы непрерывны и требуют решений быстрее, чем раз в квартал.</a:t>
            </a:r>
          </a:p>
          <a:p>
            <a:r>
              <a:t>Шкала зрелости Сбера — от нуля до пяти: уровень ноль — нет интеграции, уровень три — контролируемая автоматизация с человеком в контуре, уровень пять — почти полная автономия, заявленный как аспирационный, а не достигнутый. Показательно, что Сбер явно позиционирует себя на третьем уровне, не на аспирационном пятом — это дорожная карта, а не заявление «мы всё внедрили». Экономика единой платформы разработки окупается только при десяти и более продуктовых командах — сам сторонник подхода честно очерчивает границу, где его метод неуместен для меньшей организации.</a:t>
            </a:r>
          </a:p>
          <a:p>
            <a:r>
              <a:t>Gartner даёт самую чёткую фазовую модель принятия агентов и именованный риск — агент-отмывание: вендоры переименовывают существующие чат-боты в «агентов» без реальных агентных результатов, из-за чего заказчик верит, что продвинулся дальше, чем на самом деле. McKinsey формулирует то же с организационной стороны: ценность приходит только при редизайне операционной модели, а не при внедрении точечного инструмента поверх старых процессов. Forrester добавляет числа: улучшения только на кодировании дают тридцать-сорок процентов прироста, но прирост продуктивности всей команды без сквозной адаптации процесса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показатель и цикл управления».</a:t>
            </a:r>
          </a:p>
          <a:p>
            <a:r>
              <a:t>Источники:</a:t>
            </a:r>
          </a:p>
          <a:p>
            <a:r>
              <a:t>[1] Deloitte — 2026 Global Technology Leadership Study — 75% — операционная модель должна измениться; 42% низкий/нулевой ROI; 81% уверены при внутреннем противоречии. https://www.deloitte.com/us/en/about/press-room/2026-global-technology-leadership-study-release.html [VFY-day-of]</a:t>
            </a:r>
          </a:p>
          <a:p>
            <a:r>
              <a:t>[2] Sber — вакансия «Лидер AI PDLC» — организационная реальность роли, не только концепт в whitepaper.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Исследование MIT, растиражированное как «девяносто пять процентов организаций получают нулевую отдачу от ИИ». Реальная воронка кастомного трека в самом отчёте выглядит иначе: шестьдесят процентов организаций исследовали тему, двадцать процентов запустили пилот, пять процентов успешно внедрили решение в продакшен. Показатель успеха среди дошедших до пилота — пять из двадцати, двадцать пять процентов, а не «девяносто пять процентов пилотов провалились», как это подают заголовки. Отдельно стоит назвать неразглашённый конфликт интересов: все четыре автора отчёта строят или продают агентные ИИ-продукты через тот же исследовательский проект.</a:t>
            </a:r>
          </a:p>
          <a:p>
            <a:r>
              <a:t>Извлечём переносимый навык через четыре вопроса, которые работают на любой громкой цифре. Первый: каков знаменатель — девяносто пять процентов от всех организаций, включая тех, кто никогда всерьёз не пилотировал. Второй: что именно считается провалом — «не окупилось в заявленные сроки», «заброшено до продакшена» и «работает, но не приносит ценности» — три разных события, которые заголовок сливает в одно. Третий: каков конфликт интересов у автора исследования. Четвёртый: прослеживается ли цифра до первоисточника с описанной методологией, или она просто кочует из статьи в статью.</a:t>
            </a:r>
          </a:p>
          <a:p>
            <a:r>
              <a:t>Отдельный мета-урок: широко растиражированная «точная» цифра про долю провалившихся проектов с разбивкой по причинам на самом деле отсутствует в исходном отчёте, на который все ссылаются, — это вторичная фабрикация точности, когда приблизительная оценка одного источника превращается в якобы измеренный процент. Триангуляция независимых источников подтверждает качественный вывод, но не сам процент: один опрос находит только двадцать восемь процентов полностью успешных ИИ-кейсов, другое исследование фиксирует рост доли компаний, планирующих свернуть инициативы, с семнадцати до сорока двух процентов за год, третье — что шестьдесят процентов компаний вообще не отслеживают ни одного финансового показателя, привязанного к ценности ИИ. Все источники указывают на один корень: не «модель плоха», а «нет заранее согласованного финансового критерия». Урок один: критически проверяйте знаменатель, прежде чем использовать громкую цифру как аргумент в реальном решении.</a:t>
            </a:r>
          </a:p>
          <a:p>
            <a:r>
              <a:t>Источники:</a:t>
            </a:r>
          </a:p>
          <a:p>
            <a:r>
              <a:t>[1] MIT NANDA — «The GenAI Divide» (июль 2025, v0.1) — неревьюированный препринт: воронка 60%→20%→5% — это 25% среди дошедших до пилота, не «95% провал». https://mlq.ai/media/quarterly_decks/v0.1_State_of_AI_in_Business_2025_Report.pdf [VFY-day-of]</a:t>
            </a:r>
          </a:p>
          <a:p>
            <a:r>
              <a:t>[2] Fortune (18 авг. 2025) — медиа-искажение MIT-отчёта — как заголовок «95% провал» разошёлся без калибровки знаменателя. https://fortune.com/2025/08/18/mit-report-95-percent-generative-ai-pilots-at-companies-failing-cfo/</a:t>
            </a:r>
          </a:p>
          <a:p>
            <a:r>
              <a:t>[3] NewMR — Myth #2 — разбор конфликта интересов и знаменателя в цитировании MIT-отчёта. https://newmr.org/blog/myth-number-2-mit-showed-that-95-of-ai-pilots-fail/</a:t>
            </a:r>
          </a:p>
          <a:p>
            <a:r>
              <a:t>[4] Gartner (7 апр. 2026, 782 I&amp;O-лидеров) — 28% ИИ-кейсов в I&amp;O полностью успешны; 20% — провал. https://www.gartner.com/en/newsroom/press-releases/2026-04-07-gartner-says-artificial-intelligence-projects-in-infrastructure-and-operations-stall-ahead-of-meaningful-roi-returns [VFY-day-of]</a:t>
            </a:r>
          </a:p>
          <a:p>
            <a:r>
              <a:t>[5] BCG AI Radar 2025 (янв. 2025) — 60% компаний не отслеживают ни одного финансового KPI, привязанного к ценности ИИ; не путать с сентябрьским отчётом BCG «The Widening AI Value Gap» (n=1250) — другие заголовочные цифры. https://www.bcg.com/publications/2025/closing-the-ai-impact-gap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года Amazon позиционировал магазины без касс Just Walk Out как чистое компьютерное зрение и слияние сенсоров без раскрытия участия людей. Расследование показало обратное: около тысячи работников в Индии просматривали видео, чтобы размечать неоднозначные транзакции, которые система не могла корректно распознать сама. Ключевая цифра — не сам факт участия людей, а его масштаб: в две тысячи двадцать втором году семьсот из тысячи транзакций требовали ручной проверки против внутренней цели всего в пятьдесят из тысячи. Фактический показатель ручного вмешательства был примерно в четырнадцать раз выше целевого. В апреле две тысячи двадцать четвёртого Amazon объявил об удалении технологии из большинства магазинов сети Amazon Fresh в США.</a:t>
            </a:r>
          </a:p>
          <a:p>
            <a:r>
              <a:t>Механизм провала двойной: реальное техническое ограничение точности компьютерного зрения на огромном разнообразии товаров продуктового магазина, помноженное на управленческий провал — шесть лет маркетинга автономного ИИ без раскрытия реального масштаба человеческого труда под капотом продукта. Это классический паттерн скрытого человеческого труда под видом автономии, когда рекламируемая технология на деле держится на невидимых людях за занавесом. Голая цифра «в проекте участвовала тысяча работников» формально не была ложью — люди аннотировали видео постфактум, а не следили вживую, — и на этом основании Amazon оспорил формулировку о слежке в реальном времени. Но правильный вопрос не «участвовали ли люди вообще», а насколько фактическое вмешательство превысило заявленную цель, и здесь ответ — почти четырнадцатикратное превышение.</a:t>
            </a:r>
          </a:p>
          <a:p>
            <a:r>
              <a:t>Урок: заявления об автономности ИИ-продукта должны быть проверяемы и включать честное раскрытие доли операций с участием человека. Критерий скрытой человеческой стоимости прост: если для приемлемой точности требуется ручная проверка кратно выше целевого порога, заявленная автономность фактически не достигнута — нужно либо снизить публичные обещания до формата «с помощью ИИ», либо признать нишу пока неподходящей для текущего уровня технологии. Кейс закрывает именно раздел про управление, потому что объединяет обе его линии: скрытую юнит-экономику, где реальная стоимость обслуживания транзакции была замаскирована, и тот же навык проверки заявлений знаменателем, что мы применяли к макро-статистике провалов на предыдущем слайде. Дальше эта фаза и остальные пять сведены в единый обобщающий инструмент — но суть капстоуна уже здесь: заявление об автономности — измеримый факт, обязанный выдерживать проверку числом, а не маркетинговый лозунг.</a:t>
            </a:r>
          </a:p>
          <a:p>
            <a:r>
              <a:t>Источники:</a:t>
            </a:r>
          </a:p>
          <a:p>
            <a:r>
              <a:t>[1] Business Standard (апр. 2024) — Just Walk Out — 700 из 1000 транзакций требовали ручной проверки индийскими работниками — против цели 50/1000. https://www.business-standard.com/companies/news/amazon-s-just-walk-out-checkout-tech-was-powered-by-1-000-indian-workers-124040400463_1.html</a:t>
            </a:r>
          </a:p>
          <a:p>
            <a:r>
              <a:t>[2] Retail Dive — демонтаж Just Walk Out — технология снята с Amazon Fresh; 27 из 44 магазинов теряют функцию.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среди дошедших до пилота, а не пять процентов всех — и разница между этими двумя формулировками ровно то, чему учит вся глава.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Здесь есть прямая симметрия с Лекцией 4. Там тезис звучал так: AI меняет цену написания кода, но не цену понимания, что строить и кто за это отвечает. Сейчас тот же тезис поднимается на уровень выше: AI меняет цену исполнения любой фазы цикла, но не цену суждения о том, стоит ли её исполнять и сработала ли она. Классическая дисциплина каждой фазы поэтому не отменяется — она и есть аппарат отличения сигнала от шума, доведённый до операциональной формы.</a:t>
            </a:r>
          </a:p>
          <a:p>
            <a:r>
              <a:t>«Держать намерение и ответственность на человеке» звучит красиво и расплывчато, если не назвать, через что именно это держится. У каждой стрелки петли — свой человеко-владеемый артефакт. Discovery — фальсифицируемая гипотеза, намерение, записанное проверяемо. Design — аудит рисков и границ в дизайн-брифе, намерение о том, кто не должен пострадать. Build и Launch — eval-гейт и спека, которую пишет человек, а не придумывает агент. Measure — OEC и guardrail-метрика, намерение о том, что считается успехом и что нельзя сломать. Operate — runbook и точка эскалации, намерение о том, что делать, когда система молча деградирует. Governance — финансовый KPI с явным владельцем, намерение о том, ради чего всё это и кто отвечает за результат.</a:t>
            </a:r>
          </a:p>
          <a:p>
            <a:r>
              <a:t>Каждый из этих артефактов — место, где человек держит намерение физически, а не на словах. AI удешевил их исполнение, но не снял необходимость их придумать. Инженер, освоивший это, ценнее того, кто просто быстро строит: он умеет назвать, какой артефакт держит намерение на каждой фазе, и замечает, когда его нет — раньше, чем отсутствие превратится в очередной провал.</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семь замыкает лекцию, но по существу не добавляет нового материала — он собирает уже разобранные шесть фаз петли продукта в один переносимый аппарат суждения. За время лекции мы прошли Discovery, Design, Build/Launch, Measure, Support/Operate и Governance, и на каждой фазе видели одну и ту же структуру: классическая дисциплина, что удешевил AI, характерный режим отказа и точка, где решение не делегируется. Раздел семь делает эту структуру видимой сразу целиком, одним экраном.</a:t>
            </a:r>
          </a:p>
          <a:p>
            <a:r>
              <a:t>Четыре инструмента идут по порядку. Сначала сводная матрица: шесть строк-фаз против четырёх столбцов — дисциплина, удешевление, режим отказа, обязательный человек — без отдельной колонки вендоров, потому что вендоры сменяемы, а практика устойчива. Затем триангуляция: три независимых исследования — организационный опрос, внутренняя инженерная телеметрия одной компании и контролируемое психометрическое исследование бенчмарков — разными методами приходят к одному выводу о том, что не подешевело. Дальше — инструмент принятия решения: три оси, обратимость, стоимость ошибки и наблюдаемость, дающие режим работы конкретной фазы одним правилом, и мы прогоним их через уже знакомые случаи, чтобы увидеть, что аппарат работает, а не декларируется. И чек-лист из восьми вопросов с действием на каждое «нет» — практическая проверка перед тем, как отдать фазу под AI-first.</a:t>
            </a:r>
          </a:p>
          <a:p>
            <a:r>
              <a:t>Всё это не список для заучивания. Провалы, разобранные сегодня, устроены не как коллекция историй, а как прогоны одного и того же тренажёра суждения через разные фазы и разные ставки: синтетический источник вместо реального в Discovery, отсутствующее решающее правило в Design, пропущенный гейт перед необратимым действием в Build/Launch, взломанная прокси-метрика в Measure, маскирующий агрегат в Support/Operate, статистика без знаменателя в Governance. Раздел семь называет этот навык прямо и показывает, как применить его к следующему случаю, которого в лекции ещё не было — а не пересказывает уже прозвучавшие истории заново.</a:t>
            </a:r>
          </a:p>
          <a:p>
            <a:r>
              <a:t>В конце раздела — мост в двух направлениях: к семинару, где вы пройдёте ту же петлю на своей учебной задаче от гипотезы до точки эскалации к человеку, и к следующей лекции, где тот же метод встретится в новой обёртке, на материале с более высокой ценой ошибки. Держите в голове одну мысль на весь раздел: ничего из показанного дальше не требует новых фактов — требуется только применить уже известное к экрану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сводная таблица лекции, собирающая всё пройденное в одну структуру. Строки — шесть фаз петли продукта в порядке прохождения: Discovery, Design, Build/Launch, Measure, Support/Operate, Governance. Столбцы — не сила AI и не имя вендора, а ведущая классическая дисциплина фазы: какой человеко-владеемый артефакт держит намерение и какой гейт делает фазу надёжной; что AI реально удешевил — конкретная стрелка петли, стоимость которой упала измеримо; режим отказа — как AI типично подводит именно на этой фазе; и где человек обязателен — точка, которая не делегируется независимо от того, насколько модель улучшится в следующем поколении. Вендорские иллюстрации для каждой фазы уже названы прозой в соответствующих разделах и намеренно не повторяются здесь отдельным столбцом — иначе таблица читалась бы как рейтинг инструментов, а несущее в каждой фазе есть практика, инструмент вторичен и сменяем.</a:t>
            </a:r>
          </a:p>
          <a:p>
            <a:r>
              <a:t>Легитимность матрицы не в том, что она компактно выглядит, а в том, что каждая клетка выведена из уже разобранной практики, а не назначена постфактум: строку Discovery нельзя оспорить, не оспорив соответствующий раздел; строку Governance — не оспорив свой. Это делает матрицу упаковкой уже доказанного материала, а не отдельным утверждением, которое можно принять или отвергнуть само по себе.</a:t>
            </a:r>
          </a:p>
          <a:p>
            <a:r>
              <a:t>Как читать матрицу — это навык, а не заучивание. Получив продуктовую задачу, сначала назовите её фазу: петля discover→build→measure→learn→decide сразу говорит, к какой строке обращаться. Дальше матрица отвечает на три вопроса подряд: какую дисциплину держать, какой режим отказа стеречь именно здесь, и где решение не делегируется инструменту независимо от того, насколько он улучшится к следующему семестру. Практики устойчивы, потому что держатся на характере сложности и цене ошибки конкретной фазы; вендорские имена сменяемы и волатильны, и именно поэтому у них нет отдельного столбца. Провалы, разобранные сегодня, — это прогоны через эту матрицу; следующий такой случай вы должны уметь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независимые исследовательские традиции — организационный опрос компаний, внутренняя телеметрия одной компании и контролируемое психометрическое исследование — разными методами сходятся на одном выводе: производство и запуск артефакта подешевело почти везде, но человеческое суждение о том, принесло ли это реальную ценность, не подешевело, и именно на этом спотыкается большинство неудач.</a:t>
            </a:r>
          </a:p>
          <a:p>
            <a:r>
              <a:t>Организационные опросы работают на макро-уровне. BCG AI Radar две тысячи двадцать пять — опрос тысячи восьмисот трёх руководителей в девятнадцати странах — фиксирует: шестьдесят процентов компаний не отслеживают ни одного финансового KPI, привязанного к ценности ИИ. MIT NANDA даёт воронку: шестьдесят процентов исследовали возможность, двадцать процентов дошли до пилота, пять процентов внедрили успешно — то есть успех среди реально дошедших до пилота двадцать пять процентов, а не пять процентов всех. Граница метода честная: самоотчёт руководителей, разные знаменатели у разных обзоров, и у MIT NANDA — нераскрытый конфликт интересов авторов, продающих agentic-продукты через тот же проект.</a:t>
            </a:r>
          </a:p>
          <a:p>
            <a:r>
              <a:t>Внутренняя телеметрия одной компании смотрит на Build и ревью. Инженер Anthropic Борис Черны публично сообщил: объём кода на инженера вырос примерно на двести процентов год к году. После запуска автоматизированного инструмента ревью в марте доля пул-реквестов с содержательными комментариями человеческого ревью выросла с шестнадцати до пятидесяти четырёх процентов — независимо подтверждено технической прессой. Это не опрос рынка, а измерение одной компании о себе — не обобщается напрямую на индустрию, но раскрытие невыгодного для собственного продукта разрыва скорее повышает доверие к самой цифре.</a:t>
            </a:r>
          </a:p>
          <a:p>
            <a:r>
              <a:t>Контролируемое психометрическое исследование смотрит на уровень измерения. Med-PaLM 2 набрал восемьдесят шесть и пять десятых процента на бенчмарке MedQA — но исследователям пришлось строить отдельный adversarial-набор именно потому, что экзаменационный балл не вскрывает сбои клинической безопасности. Независимо, Stanford RegLab на двухстах двух юридических запросах нашёл, что лучший из инструментов ошибается в семнадцати процентах случаев, а другой — почти вдвое чаще.</a:t>
            </a:r>
          </a:p>
          <a:p>
            <a:r>
              <a:t>Если бы один и тот же метод дважды дал похожий результат, это было бы слабым свидетельством — тот же метод, те же слепые пятна. Но здесь три разных объекта измерены тремя разными инструментами, и все три указывают в одну сторону: это операционализация центрального вопроса лекции на уровне доказательной базы, подтверждённая тремя разными способами измерения, а не одним ощущением.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матрица с предыдущего слайда хороша как карта; для решения по конкретной задаче нужен более компактный инструмент — три оси, уже не раз всплывавшие по отдельности в разных разделах лекции и здесь впервые собранные в один аппарат. Обратимость решения — насколько легко откатить последствие, если AI-вывод окажется неверным: низкая у удаления продакшн-данных или юридически связывающего заявления, высокая у черновика прототипа, который ещё никто не видел. Стоимость ошибки — во что обойдётся конкретная ошибка: деньги, репутация, здоровье, юридическая ответственность. Наблюдаемость результата — насколько быстро и надёжно можно узнать, что вывод оказался неверным, до того как вред накопится: высокая у эксперимента с guardrail-метриками, низкая у тихого дрейфа, который дольше маскируется агрегированной метрикой, чем его ловит дашборд.</a:t>
            </a:r>
          </a:p>
          <a:p>
            <a:r>
              <a:t>Три оси дают режим работы фазы одним правилом: 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дисциплины, пропорциональной проблемной оси — низкая обратимость и высокая стоимость требуют жёсткого гейта до действия, низкая наблюдаемость требует инструментированного оракула раньше, чем полагаться на дашборд.</a:t>
            </a:r>
          </a:p>
          <a:p>
            <a:r>
              <a:t>Прогоним триаду через два случая, чтобы стало видно, что аппарат работает, а не декларируется. Google AI Overviews: обратимость на стопроцентной раскатке низкая — вся аудитория поиска США увидела ответ одновременно. Стоимость ошибки высокая — вирусный, буквально опасный совет. Наблюдаемость была бы высокой при канареечной фазе, но команда пропустила именно её — создала низконаблюдаемую конфигурацию из решения, которое по своей природе допускало высокую наблюдаемость. Проблемная ось — обратимость, решаемая поэтапной раскаткой, которая заодно восстанавливает и наблюдаемость.</a:t>
            </a:r>
          </a:p>
          <a:p>
            <a:r>
              <a:t>Zillow Offers: обратимость минимальная — купленная на реальный капитал недвижимость не отменяется одним кликом. Стоимость ошибки высокая — сотни миллионов долларов списания. Наблюдаемость низкая не по природе задачи, а по конструкции мониторинга: только квартальная отчётность перед регулятором вместо runtime circuit breaker на точность предсказания. Все три оси одновременно в проблемном положении — там, где нужен жёсткий гейт на каждой, не было ни одного.</a:t>
            </a:r>
          </a:p>
          <a:p>
            <a:r>
              <a:t>Если по вашему случаю честнее выходит другая тройка осей — стройте её из уже введённых критериев, а не из абстракции: этот набор не единственно возможный, а тот, что оказался наиболее часто повторяющимся объяснением разобранных сегодня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аппарат, которым проверяют любую фазу за пару минут до того, как отдать её AI-first, — восемь вопросов, и на каждое «нет» есть конкретное действие, а не общая рекомендация быть осторожнее.</a:t>
            </a:r>
          </a:p>
          <a:p>
            <a:r>
              <a:t>Первый вопрос — есть ли у этой фазы классическая дисциплина: customer development, дизайн-эвристики, release-механика, контролируемый эксперимент, SRE, governance. Если нет — сначала выстраивается база, потому что AI усиливает то, что уже есть, а в пустоту усиливать нечего. Второй — AI снизил стоимость этой стрелки, но что стало с доверием к результату: если доверие упало, добавляется отдельный слой проверки именно там, где оно упало, а не общий мониторинг. Третий — определён ли эталонный набор примеров и оценка против него до развёртывания: без него нет базы, от которой измеряется регрессия. Четвёртый — есть ли guardrail-метрика, которую мониторят, но не оптимизируют, чтобы поймать сопутствующий вред: её отсутствие — прямой повтор провала с метрикой вовлечённости из раздела про измерение.</a:t>
            </a:r>
          </a:p>
          <a:p>
            <a:r>
              <a:t>Пятый — раскатывается ли изменение постепенно, по трафику или по уровню предоставленной агенту свободы действий, с возможностью быстрого отката: без канареечной фазы — прямой повтор провала с поисковым ответом на всю аудиторию сразу. Шестой — есть ли гарантированный, встроенный с первого дня путь эскалации к человеку для сложных или необратимых случаев: спроектированный как архитектура, а не добавленный после инцидента. Седьмой — есть ли явный владелец, отвечающий за результат, и финансовый показатель, отслеживаемый после запуска: без него инициатива предопределена к попаданию в статистику компаний без единого финансового критерия ценности ИИ. Восьмой — не уходят ли регулируемые персональные данные в неконтролируемый внешний инструмент или систему трассировки.</a:t>
            </a:r>
          </a:p>
          <a:p>
            <a:r>
              <a:t>Если хотя бы на один вопрос ответ «нет» — это не значит «не применять ИИ», это значит «здесь есть разрыв, который нужно закрыть до, а не после». Чек-лист — это распределение бремени доказательства, а не правило «всегда меньше AI»: он не запрещает высокую автономию, он требует на каждом её повышении показать, что соответствующий гейт стоит. Для подходящей задачи — обратимой, с гейтами, с измеренным выигрышем, — чек-лист приведёт к высокой автономии осознанно; для неподходящей явно укажет, какое действие закрыть первым.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несущую мысль. Мы прошли путь от одного парадокса — сборка почти бесплатна, и почти никто не извлекает из этого ценность — к одному операциональному разрешению и одному аппарату суждения: матрица, триангуляция, триада, чек-лист. Между ними шесть фаз петли продукта, и в каждой одна и та же находка в новой обёртке: AI меняет стоимость и доверие каждой стрелки петли асимметрично, а не саму петлю. Когда сборка стала почти бесплатной, дефицитным ресурсом стало не умение построить, а умение отличить реальный сигнал от шума и удержать намерение и ответственность на человеке.</a:t>
            </a:r>
          </a:p>
          <a:p>
            <a:r>
              <a:t>Раздел семь закрывает вторую отраслевую петлю курса — после Лекции четыре про жизненный цикл кода эта лекция взяла на уровень выше: жизненный цикл продукта целиком. Метод, который переносится дальше, тот же, что называла Лекция четыре применительно к коду, только здесь операционализирован полнее: разложить деятельность на фазы со своими входами и выходами, на каждой фазе спросить, что AI реально удешевил, а что нет, для каждого измеримого заявления потребовать базу, а не ощущение, и применить триаду обратимость-стоимость-наблюдаемость, чтобы решить режим работы фазы. Это не список инструментов, который устареет к следующему семестру, — это метод, не зависящий от того, какая именно отрасль встретится дальше.</a:t>
            </a:r>
          </a:p>
          <a:p>
            <a:r>
              <a:t>Семинар семь — место полного применения этого аппарата: команды проходят ту же петлю на учебном AI-продукте, от гипотезы через reference dataset и три оценки до guardrail-метрики и точки эскалации к человеку, и для каждой фазы своей задачи называют применимую строку матрицы, положение на триаде и ответ на все восемь пунктов чек-листа.</a:t>
            </a:r>
          </a:p>
          <a:p>
            <a:r>
              <a:t>Лекция шесть переносит тот же метод в инженерное проектирование и CAD/CAM. Там будет собственная петля фаз и собственный набор провалов, но центральный вопрос останется прежним: что AI удешевил на этой фазе, а что осталось человеческим суждением, и где заявленная автономность не выдерживает проверки знаменателем — только на материале, где цена физической ошибки выше, чем у большинства провалов, разобранных здесь.</a:t>
            </a:r>
          </a:p>
          <a:p>
            <a:r>
              <a:t>Готов к вопросам.</a:t>
            </a:r>
          </a:p>
          <a:p>
            <a:r>
              <a:t>[Источник иллюстрации] Изображение не выбрано на этой фазе производства (структура текста, issue #212) — выбор реального источника или generated-diagram варианта переносится на Фазу 6 (рендер, 6-tier acquisition).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www.sachinrekhi.com/p/the-mom-test-rob-fitzpatrick" TargetMode="Externa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7.png"/><Relationship Id="rId6" Type="http://schemas.openxmlformats.org/officeDocument/2006/relationships/hyperlink" Target="https://www.secondtalent.com/resources/perplexity-deep-research-review/" TargetMode="External"/><Relationship Id="rId7" Type="http://schemas.openxmlformats.org/officeDocument/2006/relationships/hyperlink" Target="https://listenlabs.ai/articles/dovetail-ai-qualitative-analysis/" TargetMode="External"/><Relationship Id="rId8" Type="http://schemas.openxmlformats.org/officeDocument/2006/relationships/hyperlink" Target="https://www.nngroup.com/articles/state-of-ux-2026/"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hyperlink" Target="https://fortune.com/2025/10/07/deloitte-ai-australia-government-report-hallucinations-technology-290000-refund" TargetMode="External"/><Relationship Id="rId5" Type="http://schemas.openxmlformats.org/officeDocument/2006/relationships/hyperlink" Target="https://www.damiencharlotin.com/hallucinations/"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hyperlink" Target="https://www.statnews.com/2018/07/25/ibm-watson-recommended-unsafe-incorrect-treatments/" TargetMode="External"/><Relationship Id="rId5" Type="http://schemas.openxmlformats.org/officeDocument/2006/relationships/hyperlink" Target="https://spectrum.ieee.org/how-ibm-watson-overpromised-and-underdelivered-on-ai-health-care"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27.png"/><Relationship Id="rId5" Type="http://schemas.openxmlformats.org/officeDocument/2006/relationships/image" Target="../media/image44.jpg"/><Relationship Id="rId6" Type="http://schemas.openxmlformats.org/officeDocument/2006/relationships/hyperlink" Target="https://blog.uxtweak.com/usability-heuristics/" TargetMode="External"/><Relationship Id="rId7" Type="http://schemas.openxmlformats.org/officeDocument/2006/relationships/hyperlink" Target="https://medium.com/hippo-digital/you-are-not-the-user-but-what-about-when-you-are-35abe4006b8"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jpg"/><Relationship Id="rId4" Type="http://schemas.openxmlformats.org/officeDocument/2006/relationships/image" Target="../media/image27.png"/><Relationship Id="rId5" Type="http://schemas.openxmlformats.org/officeDocument/2006/relationships/hyperlink" Target="https://dl.acm.org/doi/10.1145/3800424.3800430" TargetMode="Externa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hyperlink" Target="https://www.eeoc.gov/newsroom/itutorgroup-pay-365000-settle-eeoc-discriminatory-hiring-suit"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lennysnewsletter.com/p/why-your-ai-product-needs-a-different"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27.png"/><Relationship Id="rId6" Type="http://schemas.openxmlformats.org/officeDocument/2006/relationships/hyperlink" Target="https://www.linkedin.com/pulse/overall-evaluation-criterion-oec-ronny-kohavi" TargetMode="External"/><Relationship Id="rId7" Type="http://schemas.openxmlformats.org/officeDocument/2006/relationships/hyperlink" Target="https://en.wikipedia.org/wiki/A/B_testing" TargetMode="Externa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6.png"/><Relationship Id="rId4" Type="http://schemas.openxmlformats.org/officeDocument/2006/relationships/image" Target="../media/image62.png"/><Relationship Id="rId5" Type="http://schemas.openxmlformats.org/officeDocument/2006/relationships/hyperlink" Target="https://www.microsoft.com/en-us/research/articles/diagnosing-sample-ratio-mismatch-in-a-b-testing/" TargetMode="External"/><Relationship Id="rId6" Type="http://schemas.openxmlformats.org/officeDocument/2006/relationships/hyperlink" Target="https://gopractice.io/data/peeking-problem/" TargetMode="External"/><Relationship Id="rId7" Type="http://schemas.openxmlformats.org/officeDocument/2006/relationships/hyperlink" Target="https://exp-platform.com/" TargetMode="Externa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resources.anthropic.com/2026-agentic-coding-trends-report" TargetMode="External"/><Relationship Id="rId4" Type="http://schemas.openxmlformats.org/officeDocument/2006/relationships/hyperlink" Target="https://arxiv.org/abs/2306.05685"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image" Target="../media/image66.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8.png"/><Relationship Id="rId4" Type="http://schemas.openxmlformats.org/officeDocument/2006/relationships/hyperlink" Target="https://www.confident-ai.com/knowledge-base/compare/top-7-llm-observability-tools" TargetMode="External"/><Relationship Id="rId5" Type="http://schemas.openxmlformats.org/officeDocument/2006/relationships/hyperlink" Target="https://thehackernews.com/2026/03/5-learnings-from-first-ever-gartner.html"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image" Target="../media/image70.png"/><Relationship Id="rId4" Type="http://schemas.openxmlformats.org/officeDocument/2006/relationships/image" Target="../media/image27.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62.png"/><Relationship Id="rId4" Type="http://schemas.openxmlformats.org/officeDocument/2006/relationships/image" Target="../media/image72.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rabota.sber.ru/search/lider-ai-pdlc-4548579/"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image" Target="../media/image81.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64.png"/><Relationship Id="rId4" Type="http://schemas.openxmlformats.org/officeDocument/2006/relationships/image" Target="../media/image60.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11.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86.png"/><Relationship Id="rId4" Type="http://schemas.openxmlformats.org/officeDocument/2006/relationships/image" Target="../media/image39.png"/><Relationship Id="rId5" Type="http://schemas.openxmlformats.org/officeDocument/2006/relationships/image" Target="../media/image8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Rounded Rectangle 48"/>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1" name="TextBox 5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225296"/>
            <a:ext cx="11201400" cy="2743200"/>
          </a:xfrm>
          <a:prstGeom prst="roundRect">
            <a:avLst>
              <a:gd name="adj" fmla="val 1111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16736"/>
            <a:ext cx="548640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sp>
        <p:nvSpPr>
          <p:cNvPr id="5" name="TextBox 4"/>
          <p:cNvSpPr txBox="1"/>
          <p:nvPr/>
        </p:nvSpPr>
        <p:spPr>
          <a:xfrm>
            <a:off x="777240" y="1591056"/>
            <a:ext cx="548640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откуда берётся уверенность, что стоит писать этот код</a:t>
            </a:r>
          </a:p>
        </p:txBody>
      </p:sp>
      <p:cxnSp>
        <p:nvCxnSpPr>
          <p:cNvPr id="6" name="Connector 5"/>
          <p:cNvCxnSpPr/>
          <p:nvPr/>
        </p:nvCxnSpPr>
        <p:spPr>
          <a:xfrm>
            <a:off x="1874519" y="1938527"/>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97169" y="2240279"/>
            <a:ext cx="0" cy="603505"/>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874519" y="2843784"/>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1351870" y="2843784"/>
            <a:ext cx="522649"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51870" y="2240280"/>
            <a:ext cx="0" cy="60350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351870" y="1938527"/>
            <a:ext cx="522649" cy="301753"/>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691639" y="1755647"/>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earch-mid.png"/>
          <p:cNvPicPr>
            <a:picLocks noChangeAspect="1"/>
          </p:cNvPicPr>
          <p:nvPr/>
        </p:nvPicPr>
        <p:blipFill>
          <a:blip r:embed="rId2"/>
          <a:stretch>
            <a:fillRect/>
          </a:stretch>
        </p:blipFill>
        <p:spPr>
          <a:xfrm>
            <a:off x="1760219" y="1824227"/>
            <a:ext cx="228600" cy="228600"/>
          </a:xfrm>
          <a:prstGeom prst="rect">
            <a:avLst/>
          </a:prstGeom>
        </p:spPr>
      </p:pic>
      <p:sp>
        <p:nvSpPr>
          <p:cNvPr id="14" name="Oval 13"/>
          <p:cNvSpPr/>
          <p:nvPr/>
        </p:nvSpPr>
        <p:spPr>
          <a:xfrm>
            <a:off x="2214289" y="2057399"/>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ncil-mid.png"/>
          <p:cNvPicPr>
            <a:picLocks noChangeAspect="1"/>
          </p:cNvPicPr>
          <p:nvPr/>
        </p:nvPicPr>
        <p:blipFill>
          <a:blip r:embed="rId3"/>
          <a:stretch>
            <a:fillRect/>
          </a:stretch>
        </p:blipFill>
        <p:spPr>
          <a:xfrm>
            <a:off x="2282869" y="2125979"/>
            <a:ext cx="228600" cy="228600"/>
          </a:xfrm>
          <a:prstGeom prst="rect">
            <a:avLst/>
          </a:prstGeom>
        </p:spPr>
      </p:pic>
      <p:sp>
        <p:nvSpPr>
          <p:cNvPr id="16" name="Oval 15"/>
          <p:cNvSpPr/>
          <p:nvPr/>
        </p:nvSpPr>
        <p:spPr>
          <a:xfrm>
            <a:off x="2214289"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2282869" y="2729484"/>
            <a:ext cx="228600" cy="228600"/>
          </a:xfrm>
          <a:prstGeom prst="rect">
            <a:avLst/>
          </a:prstGeom>
        </p:spPr>
      </p:pic>
      <p:sp>
        <p:nvSpPr>
          <p:cNvPr id="18" name="Oval 17"/>
          <p:cNvSpPr/>
          <p:nvPr/>
        </p:nvSpPr>
        <p:spPr>
          <a:xfrm>
            <a:off x="1691639" y="2962656"/>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1760219" y="3031236"/>
            <a:ext cx="228600" cy="228600"/>
          </a:xfrm>
          <a:prstGeom prst="rect">
            <a:avLst/>
          </a:prstGeom>
        </p:spPr>
      </p:pic>
      <p:sp>
        <p:nvSpPr>
          <p:cNvPr id="20" name="Oval 19"/>
          <p:cNvSpPr/>
          <p:nvPr/>
        </p:nvSpPr>
        <p:spPr>
          <a:xfrm>
            <a:off x="1168990"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eadphones-mid.png"/>
          <p:cNvPicPr>
            <a:picLocks noChangeAspect="1"/>
          </p:cNvPicPr>
          <p:nvPr/>
        </p:nvPicPr>
        <p:blipFill>
          <a:blip r:embed="rId6"/>
          <a:stretch>
            <a:fillRect/>
          </a:stretch>
        </p:blipFill>
        <p:spPr>
          <a:xfrm>
            <a:off x="1237570" y="2729484"/>
            <a:ext cx="228600" cy="228600"/>
          </a:xfrm>
          <a:prstGeom prst="rect">
            <a:avLst/>
          </a:prstGeom>
        </p:spPr>
      </p:pic>
      <p:sp>
        <p:nvSpPr>
          <p:cNvPr id="22" name="Oval 21"/>
          <p:cNvSpPr/>
          <p:nvPr/>
        </p:nvSpPr>
        <p:spPr>
          <a:xfrm>
            <a:off x="1168990" y="2057400"/>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ale-mid.png"/>
          <p:cNvPicPr>
            <a:picLocks noChangeAspect="1"/>
          </p:cNvPicPr>
          <p:nvPr/>
        </p:nvPicPr>
        <p:blipFill>
          <a:blip r:embed="rId7"/>
          <a:stretch>
            <a:fillRect/>
          </a:stretch>
        </p:blipFill>
        <p:spPr>
          <a:xfrm>
            <a:off x="1237570" y="2125980"/>
            <a:ext cx="228600" cy="228600"/>
          </a:xfrm>
          <a:prstGeom prst="rect">
            <a:avLst/>
          </a:prstGeom>
        </p:spPr>
      </p:pic>
      <p:sp>
        <p:nvSpPr>
          <p:cNvPr id="24" name="Rounded Rectangle 23"/>
          <p:cNvSpPr/>
          <p:nvPr/>
        </p:nvSpPr>
        <p:spPr>
          <a:xfrm>
            <a:off x="3063240" y="235000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5" name="Picture 24" descr="layers-teal.png"/>
          <p:cNvPicPr>
            <a:picLocks noChangeAspect="1"/>
          </p:cNvPicPr>
          <p:nvPr/>
        </p:nvPicPr>
        <p:blipFill>
          <a:blip r:embed="rId8"/>
          <a:stretch>
            <a:fillRect/>
          </a:stretch>
        </p:blipFill>
        <p:spPr>
          <a:xfrm>
            <a:off x="777240" y="3419856"/>
            <a:ext cx="402336" cy="402336"/>
          </a:xfrm>
          <a:prstGeom prst="rect">
            <a:avLst/>
          </a:prstGeom>
        </p:spPr>
      </p:pic>
      <p:sp>
        <p:nvSpPr>
          <p:cNvPr id="26" name="TextBox 25"/>
          <p:cNvSpPr txBox="1"/>
          <p:nvPr/>
        </p:nvSpPr>
        <p:spPr>
          <a:xfrm>
            <a:off x="1298448" y="3383280"/>
            <a:ext cx="489204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7" name="Rounded Rectangle 26"/>
          <p:cNvSpPr/>
          <p:nvPr/>
        </p:nvSpPr>
        <p:spPr>
          <a:xfrm>
            <a:off x="6446520" y="1645920"/>
            <a:ext cx="5029200" cy="1920240"/>
          </a:xfrm>
          <a:prstGeom prst="roundRect">
            <a:avLst>
              <a:gd name="adj" fmla="val 15873"/>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it-branch-teal.png"/>
          <p:cNvPicPr>
            <a:picLocks noChangeAspect="1"/>
          </p:cNvPicPr>
          <p:nvPr/>
        </p:nvPicPr>
        <p:blipFill>
          <a:blip r:embed="rId9"/>
          <a:stretch>
            <a:fillRect/>
          </a:stretch>
        </p:blipFill>
        <p:spPr>
          <a:xfrm>
            <a:off x="6675120" y="1828800"/>
            <a:ext cx="420624" cy="420624"/>
          </a:xfrm>
          <a:prstGeom prst="rect">
            <a:avLst/>
          </a:prstGeom>
        </p:spPr>
      </p:pic>
      <p:sp>
        <p:nvSpPr>
          <p:cNvPr id="29" name="TextBox 28"/>
          <p:cNvSpPr txBox="1"/>
          <p:nvPr/>
        </p:nvSpPr>
        <p:spPr>
          <a:xfrm>
            <a:off x="7223760" y="1828800"/>
            <a:ext cx="406908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Цикл кода (Лекция 4)</a:t>
            </a:r>
          </a:p>
        </p:txBody>
      </p:sp>
      <p:sp>
        <p:nvSpPr>
          <p:cNvPr id="30" name="TextBox 29"/>
          <p:cNvSpPr txBox="1"/>
          <p:nvPr/>
        </p:nvSpPr>
        <p:spPr>
          <a:xfrm>
            <a:off x="7223760" y="2139696"/>
            <a:ext cx="406908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как надёжно писать код с ИИ</a:t>
            </a:r>
          </a:p>
        </p:txBody>
      </p:sp>
      <p:sp>
        <p:nvSpPr>
          <p:cNvPr id="31" name="TextBox 30"/>
          <p:cNvSpPr txBox="1"/>
          <p:nvPr/>
        </p:nvSpPr>
        <p:spPr>
          <a:xfrm>
            <a:off x="6675120" y="2651760"/>
            <a:ext cx="4617720" cy="731520"/>
          </a:xfrm>
          <a:prstGeom prst="rect">
            <a:avLst/>
          </a:prstGeom>
          <a:noFill/>
        </p:spPr>
        <p:txBody>
          <a:bodyPr wrap="square" lIns="0" rIns="0" tIns="0" bIns="0" anchor="t">
            <a:spAutoFit/>
          </a:bodyPr>
          <a:lstStyle/>
          <a:p>
            <a:pPr algn="l">
              <a:lnSpc>
                <a:spcPct val="120000"/>
              </a:lnSpc>
            </a:pPr>
            <a:r>
              <a:rPr sz="1300" b="0" i="1">
                <a:solidFill>
                  <a:srgbClr val="065A82"/>
                </a:solidFill>
                <a:latin typeface="DejaVu Sans"/>
              </a:rPr>
              <a:t>спека → ADR → план → PR → инцидент</a:t>
            </a:r>
          </a:p>
        </p:txBody>
      </p:sp>
      <p:sp>
        <p:nvSpPr>
          <p:cNvPr id="32" name="Rounded Rectangle 31"/>
          <p:cNvSpPr/>
          <p:nvPr/>
        </p:nvSpPr>
        <p:spPr>
          <a:xfrm>
            <a:off x="502920" y="407822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133087"/>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Чтобы пользовательская ценность состоялась — то есть продукт работал, был внедрён и кем-то выбран, — цикл кода приходится обернуть в ещё один цикл. Без внешнего цикла выходит собранное и никем не используемое: код есть, продукта нет.</a:t>
            </a:r>
          </a:p>
        </p:txBody>
      </p:sp>
      <p:sp>
        <p:nvSpPr>
          <p:cNvPr id="34" name="Rounded Rectangle 33"/>
          <p:cNvSpPr/>
          <p:nvPr/>
        </p:nvSpPr>
        <p:spPr>
          <a:xfrm>
            <a:off x="502920" y="4956048"/>
            <a:ext cx="11201400" cy="1389888"/>
          </a:xfrm>
          <a:prstGeom prst="roundRect">
            <a:avLst>
              <a:gd name="adj" fmla="val 2192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0652760" cy="1207008"/>
          </a:xfrm>
          <a:prstGeom prst="rect">
            <a:avLst/>
          </a:prstGeom>
          <a:noFill/>
        </p:spPr>
        <p:txBody>
          <a:bodyPr wrap="square" lIns="0" rIns="0" tIns="0" bIns="0" anchor="ctr">
            <a:spAutoFit/>
          </a:bodyPr>
          <a:lstStyle/>
          <a:p>
            <a:pPr algn="l">
              <a:lnSpc>
                <a:spcPct val="116000"/>
              </a:lnSpc>
            </a:pPr>
            <a:r>
              <a:rPr sz="165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Внутри офиса нет фактов — факты снаружи. Записываете гипотезу, выходите к людям, проверяете. ИИ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 </a:t>
            </a:r>
            <a:r>
              <a:rPr sz="1196" baseline="30000" b="0" i="1">
                <a:latin typeface="DejaVu Sans"/>
                <a:cs typeface="DejaVu Sans"/>
                <a:ea typeface="DejaVu Sans"/>
                <a:solidFill>
                  <a:srgbClr val="1C7293"/>
                </a:solidFill>
              </a:rPr>
              <a:t>[1]</a:t>
            </a:r>
          </a:p>
        </p:txBody>
      </p:sp>
      <p:sp>
        <p:nvSpPr>
          <p:cNvPr id="3" name="Rounded Rectangle 2"/>
          <p:cNvSpPr/>
          <p:nvPr/>
        </p:nvSpPr>
        <p:spPr>
          <a:xfrm>
            <a:off x="50292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481328"/>
            <a:ext cx="420624" cy="420624"/>
          </a:xfrm>
          <a:prstGeom prst="rect">
            <a:avLst/>
          </a:prstGeom>
        </p:spPr>
      </p:pic>
      <p:sp>
        <p:nvSpPr>
          <p:cNvPr id="5" name="TextBox 4"/>
          <p:cNvSpPr txBox="1"/>
          <p:nvPr/>
        </p:nvSpPr>
        <p:spPr>
          <a:xfrm>
            <a:off x="72237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481328"/>
            <a:ext cx="420624" cy="420624"/>
          </a:xfrm>
          <a:prstGeom prst="rect">
            <a:avLst/>
          </a:prstGeom>
        </p:spPr>
      </p:pic>
      <p:sp>
        <p:nvSpPr>
          <p:cNvPr id="9" name="TextBox 8"/>
          <p:cNvSpPr txBox="1"/>
          <p:nvPr/>
        </p:nvSpPr>
        <p:spPr>
          <a:xfrm>
            <a:off x="451713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481328"/>
            <a:ext cx="420624" cy="420624"/>
          </a:xfrm>
          <a:prstGeom prst="rect">
            <a:avLst/>
          </a:prstGeom>
        </p:spPr>
      </p:pic>
      <p:sp>
        <p:nvSpPr>
          <p:cNvPr id="13" name="TextBox 12"/>
          <p:cNvSpPr txBox="1"/>
          <p:nvPr/>
        </p:nvSpPr>
        <p:spPr>
          <a:xfrm>
            <a:off x="831189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035808"/>
            <a:ext cx="5440680" cy="1024128"/>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136391"/>
            <a:ext cx="4983480" cy="292608"/>
          </a:xfrm>
          <a:prstGeom prst="rect">
            <a:avLst/>
          </a:prstGeom>
          <a:noFill/>
        </p:spPr>
        <p:txBody>
          <a:bodyPr wrap="square" lIns="0" rIns="0" tIns="0" bIns="0" anchor="t">
            <a:spAutoFit/>
          </a:bodyPr>
          <a:lstStyle/>
          <a:p>
            <a:pPr algn="l">
              <a:lnSpc>
                <a:spcPct val="115000"/>
              </a:lnSpc>
            </a:pPr>
            <a:r>
              <a:rPr sz="1200" b="1" i="0">
                <a:solidFill>
                  <a:srgbClr val="5B6678"/>
                </a:solidFill>
                <a:latin typeface="DejaVu Sans"/>
              </a:rPr>
              <a:t>Плохо</a:t>
            </a:r>
          </a:p>
        </p:txBody>
      </p:sp>
      <p:sp>
        <p:nvSpPr>
          <p:cNvPr id="17" name="TextBox 16"/>
          <p:cNvSpPr txBox="1"/>
          <p:nvPr/>
        </p:nvSpPr>
        <p:spPr>
          <a:xfrm>
            <a:off x="731520" y="3456432"/>
            <a:ext cx="4983480" cy="530352"/>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035808"/>
            <a:ext cx="5532120" cy="102412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36391"/>
            <a:ext cx="5074920" cy="29260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Хорошо</a:t>
            </a:r>
          </a:p>
        </p:txBody>
      </p:sp>
      <p:sp>
        <p:nvSpPr>
          <p:cNvPr id="20" name="TextBox 19"/>
          <p:cNvSpPr txBox="1"/>
          <p:nvPr/>
        </p:nvSpPr>
        <p:spPr>
          <a:xfrm>
            <a:off x="6400800" y="3456432"/>
            <a:ext cx="5074920" cy="530352"/>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187952"/>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242816"/>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JTBD (Jobs-to-be-Done), «работа, на которую нанимают продукт» — смежная рамка Кристенсена: спрашиваем не о предпочтениях, а об обстоятельстве последней покупки, и получаем таймлайн решения, а не список мнений.</a:t>
            </a:r>
          </a:p>
        </p:txBody>
      </p:sp>
      <p:sp>
        <p:nvSpPr>
          <p:cNvPr id="23" name="Rounded Rectangle 22"/>
          <p:cNvSpPr/>
          <p:nvPr/>
        </p:nvSpPr>
        <p:spPr>
          <a:xfrm>
            <a:off x="502920" y="5157216"/>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85800" y="5358383"/>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help-white.png"/>
          <p:cNvPicPr>
            <a:picLocks noChangeAspect="1"/>
          </p:cNvPicPr>
          <p:nvPr/>
        </p:nvPicPr>
        <p:blipFill>
          <a:blip r:embed="rId5"/>
          <a:stretch>
            <a:fillRect/>
          </a:stretch>
        </p:blipFill>
        <p:spPr>
          <a:xfrm>
            <a:off x="763524" y="5436107"/>
            <a:ext cx="246888" cy="246888"/>
          </a:xfrm>
          <a:prstGeom prst="rect">
            <a:avLst/>
          </a:prstGeom>
        </p:spPr>
      </p:pic>
      <p:sp>
        <p:nvSpPr>
          <p:cNvPr id="26" name="TextBox 25"/>
          <p:cNvSpPr txBox="1"/>
          <p:nvPr/>
        </p:nvSpPr>
        <p:spPr>
          <a:xfrm>
            <a:off x="1252728" y="5202936"/>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«Как вам идея — ассистент, который сам разбирает вашу почту?» Какое из трёх правил нарушил этот вопрос и как переспросить, чтобы получить факт?</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Fitzpatrick — The Mom Test</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517904"/>
            <a:ext cx="475488" cy="475488"/>
          </a:xfrm>
          <a:prstGeom prst="rect">
            <a:avLst/>
          </a:prstGeom>
        </p:spPr>
      </p:pic>
      <p:sp>
        <p:nvSpPr>
          <p:cNvPr id="5" name="TextBox 4"/>
          <p:cNvSpPr txBox="1"/>
          <p:nvPr/>
        </p:nvSpPr>
        <p:spPr>
          <a:xfrm>
            <a:off x="72237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517904"/>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517904"/>
            <a:ext cx="475488" cy="475488"/>
          </a:xfrm>
          <a:prstGeom prst="rect">
            <a:avLst/>
          </a:prstGeom>
        </p:spPr>
      </p:pic>
      <p:sp>
        <p:nvSpPr>
          <p:cNvPr id="10" name="TextBox 9"/>
          <p:cNvSpPr txBox="1"/>
          <p:nvPr/>
        </p:nvSpPr>
        <p:spPr>
          <a:xfrm>
            <a:off x="451713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517904"/>
            <a:ext cx="475488" cy="475488"/>
          </a:xfrm>
          <a:prstGeom prst="rect">
            <a:avLst/>
          </a:prstGeom>
        </p:spPr>
      </p:pic>
      <p:sp>
        <p:nvSpPr>
          <p:cNvPr id="14" name="TextBox 13"/>
          <p:cNvSpPr txBox="1"/>
          <p:nvPr/>
        </p:nvSpPr>
        <p:spPr>
          <a:xfrm>
            <a:off x="831189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310128"/>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364992"/>
            <a:ext cx="10762488" cy="530352"/>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078224"/>
            <a:ext cx="11201400" cy="11704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69663"/>
            <a:ext cx="10652760" cy="987552"/>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Rounded Rectangle 19"/>
          <p:cNvSpPr/>
          <p:nvPr/>
        </p:nvSpPr>
        <p:spPr>
          <a:xfrm>
            <a:off x="502920" y="5394960"/>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596128"/>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5"/>
          <a:stretch>
            <a:fillRect/>
          </a:stretch>
        </p:blipFill>
        <p:spPr>
          <a:xfrm>
            <a:off x="763524" y="5673852"/>
            <a:ext cx="246888" cy="246888"/>
          </a:xfrm>
          <a:prstGeom prst="rect">
            <a:avLst/>
          </a:prstGeom>
        </p:spPr>
      </p:pic>
      <p:sp>
        <p:nvSpPr>
          <p:cNvPr id="23" name="TextBox 22"/>
          <p:cNvSpPr txBox="1"/>
          <p:nvPr/>
        </p:nvSpPr>
        <p:spPr>
          <a:xfrm>
            <a:off x="1252728" y="5440680"/>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ИИ-персона прошла ваш сценарий знакомства с продуктом целиком и назвала функцию отличной. Что в устройстве такого источника мешает ему сказать «нет»?</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Perplexity Deep Research — обзор для продукт-исследований</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Dovetail — AI-синтез интервью</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NN/g — практический опрос 2026</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353312"/>
            <a:ext cx="4160520" cy="3547872"/>
          </a:xfrm>
          <a:prstGeom prst="roundRect">
            <a:avLst>
              <a:gd name="adj" fmla="val 85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199132" y="1499616"/>
            <a:ext cx="768096" cy="768096"/>
          </a:xfrm>
          <a:prstGeom prst="rect">
            <a:avLst/>
          </a:prstGeom>
        </p:spPr>
      </p:pic>
      <p:sp>
        <p:nvSpPr>
          <p:cNvPr id="5" name="TextBox 4"/>
          <p:cNvSpPr txBox="1"/>
          <p:nvPr/>
        </p:nvSpPr>
        <p:spPr>
          <a:xfrm>
            <a:off x="731520" y="2359152"/>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761488"/>
            <a:ext cx="1737360" cy="89611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3464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согласии</a:t>
            </a:r>
          </a:p>
        </p:txBody>
      </p:sp>
      <p:sp>
        <p:nvSpPr>
          <p:cNvPr id="9" name="Rounded Rectangle 8"/>
          <p:cNvSpPr/>
          <p:nvPr/>
        </p:nvSpPr>
        <p:spPr>
          <a:xfrm>
            <a:off x="2624328" y="2761488"/>
            <a:ext cx="1737360" cy="89611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83464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несогласии</a:t>
            </a:r>
          </a:p>
        </p:txBody>
      </p:sp>
      <p:sp>
        <p:nvSpPr>
          <p:cNvPr id="12" name="TextBox 11"/>
          <p:cNvSpPr txBox="1"/>
          <p:nvPr/>
        </p:nvSpPr>
        <p:spPr>
          <a:xfrm>
            <a:off x="731520" y="3767328"/>
            <a:ext cx="3703320" cy="786384"/>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Сдвиг тона ответа модели к позитиву («feedback positivity», 5 моделей) — это не «частота отрицательного ответа».</a:t>
            </a:r>
          </a:p>
        </p:txBody>
      </p:sp>
      <p:sp>
        <p:nvSpPr>
          <p:cNvPr id="13" name="TextBox 12"/>
          <p:cNvSpPr txBox="1"/>
          <p:nvPr/>
        </p:nvSpPr>
        <p:spPr>
          <a:xfrm>
            <a:off x="731520" y="457200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др., 2023 — Figure 1, ICLR 2024</a:t>
            </a:r>
          </a:p>
        </p:txBody>
      </p:sp>
      <p:sp>
        <p:nvSpPr>
          <p:cNvPr id="14" name="TextBox 13"/>
          <p:cNvSpPr txBox="1"/>
          <p:nvPr/>
        </p:nvSpPr>
        <p:spPr>
          <a:xfrm>
            <a:off x="4892040" y="1353312"/>
            <a:ext cx="681228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15" name="Rounded Rectangle 14"/>
          <p:cNvSpPr/>
          <p:nvPr/>
        </p:nvSpPr>
        <p:spPr>
          <a:xfrm>
            <a:off x="4892040" y="181051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81051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17" name="Picture 16" descr="shield-alert-mid.png"/>
          <p:cNvPicPr>
            <a:picLocks noChangeAspect="1"/>
          </p:cNvPicPr>
          <p:nvPr/>
        </p:nvPicPr>
        <p:blipFill>
          <a:blip r:embed="rId3"/>
          <a:stretch>
            <a:fillRect/>
          </a:stretch>
        </p:blipFill>
        <p:spPr>
          <a:xfrm>
            <a:off x="5020055" y="1938528"/>
            <a:ext cx="365760" cy="365760"/>
          </a:xfrm>
          <a:prstGeom prst="rect">
            <a:avLst/>
          </a:prstGeom>
        </p:spPr>
      </p:pic>
      <p:sp>
        <p:nvSpPr>
          <p:cNvPr id="18" name="Rounded Rectangle 17"/>
          <p:cNvSpPr/>
          <p:nvPr/>
        </p:nvSpPr>
        <p:spPr>
          <a:xfrm>
            <a:off x="4892040" y="2560320"/>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560320"/>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20" name="Picture 19" descr="shield-alert-mid.png"/>
          <p:cNvPicPr>
            <a:picLocks noChangeAspect="1"/>
          </p:cNvPicPr>
          <p:nvPr/>
        </p:nvPicPr>
        <p:blipFill>
          <a:blip r:embed="rId3"/>
          <a:stretch>
            <a:fillRect/>
          </a:stretch>
        </p:blipFill>
        <p:spPr>
          <a:xfrm>
            <a:off x="5020055" y="2688336"/>
            <a:ext cx="365760" cy="365760"/>
          </a:xfrm>
          <a:prstGeom prst="rect">
            <a:avLst/>
          </a:prstGeom>
        </p:spPr>
      </p:pic>
      <p:sp>
        <p:nvSpPr>
          <p:cNvPr id="21" name="Rounded Rectangle 20"/>
          <p:cNvSpPr/>
          <p:nvPr/>
        </p:nvSpPr>
        <p:spPr>
          <a:xfrm>
            <a:off x="4892040" y="3310128"/>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3310128"/>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23" name="Picture 22" descr="shield-alert-mid.png"/>
          <p:cNvPicPr>
            <a:picLocks noChangeAspect="1"/>
          </p:cNvPicPr>
          <p:nvPr/>
        </p:nvPicPr>
        <p:blipFill>
          <a:blip r:embed="rId3"/>
          <a:stretch>
            <a:fillRect/>
          </a:stretch>
        </p:blipFill>
        <p:spPr>
          <a:xfrm>
            <a:off x="5020055" y="3438144"/>
            <a:ext cx="365760" cy="365760"/>
          </a:xfrm>
          <a:prstGeom prst="rect">
            <a:avLst/>
          </a:prstGeom>
        </p:spPr>
      </p:pic>
      <p:sp>
        <p:nvSpPr>
          <p:cNvPr id="24" name="TextBox 23"/>
          <p:cNvSpPr txBox="1"/>
          <p:nvPr/>
        </p:nvSpPr>
        <p:spPr>
          <a:xfrm>
            <a:off x="4892040" y="4133087"/>
            <a:ext cx="6812280" cy="768096"/>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a:t>
            </a:r>
          </a:p>
        </p:txBody>
      </p:sp>
      <p:sp>
        <p:nvSpPr>
          <p:cNvPr id="25" name="Rounded Rectangle 24"/>
          <p:cNvSpPr/>
          <p:nvPr/>
        </p:nvSpPr>
        <p:spPr>
          <a:xfrm>
            <a:off x="502920" y="508406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38927"/>
            <a:ext cx="10762488" cy="73152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если пропущен шаг «сначала по отдельности» — прослеживаемый до конкретного шага сбой,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TextBox 4"/>
          <p:cNvSpPr txBox="1"/>
          <p:nvPr/>
        </p:nvSpPr>
        <p:spPr>
          <a:xfrm>
            <a:off x="4892040" y="1389888"/>
            <a:ext cx="6812280" cy="347472"/>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NN/g: контролируемое сравнение на сценарии знакомства с продуктом</a:t>
            </a:r>
          </a:p>
        </p:txBody>
      </p:sp>
      <p:sp>
        <p:nvSpPr>
          <p:cNvPr id="6" name="Rounded Rectangle 5"/>
          <p:cNvSpPr/>
          <p:nvPr/>
        </p:nvSpPr>
        <p:spPr>
          <a:xfrm>
            <a:off x="4892040" y="1810512"/>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883664"/>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8" name="Picture 7" descr="check-check-mid.png"/>
          <p:cNvPicPr>
            <a:picLocks noChangeAspect="1"/>
          </p:cNvPicPr>
          <p:nvPr/>
        </p:nvPicPr>
        <p:blipFill>
          <a:blip r:embed="rId3"/>
          <a:stretch>
            <a:fillRect/>
          </a:stretch>
        </p:blipFill>
        <p:spPr>
          <a:xfrm>
            <a:off x="5148072" y="2240280"/>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532120" y="2240280"/>
            <a:ext cx="329184" cy="329184"/>
          </a:xfrm>
          <a:prstGeom prst="rect">
            <a:avLst/>
          </a:prstGeom>
        </p:spPr>
      </p:pic>
      <p:pic>
        <p:nvPicPr>
          <p:cNvPr id="10" name="Picture 9" descr="check-check-mid.png"/>
          <p:cNvPicPr>
            <a:picLocks noChangeAspect="1"/>
          </p:cNvPicPr>
          <p:nvPr/>
        </p:nvPicPr>
        <p:blipFill>
          <a:blip r:embed="rId3"/>
          <a:stretch>
            <a:fillRect/>
          </a:stretch>
        </p:blipFill>
        <p:spPr>
          <a:xfrm>
            <a:off x="5916168" y="2240280"/>
            <a:ext cx="329184" cy="329184"/>
          </a:xfrm>
          <a:prstGeom prst="rect">
            <a:avLst/>
          </a:prstGeom>
        </p:spPr>
      </p:pic>
      <p:pic>
        <p:nvPicPr>
          <p:cNvPr id="11" name="Picture 10" descr="x-light.png"/>
          <p:cNvPicPr>
            <a:picLocks noChangeAspect="1"/>
          </p:cNvPicPr>
          <p:nvPr/>
        </p:nvPicPr>
        <p:blipFill>
          <a:blip r:embed="rId4"/>
          <a:stretch>
            <a:fillRect/>
          </a:stretch>
        </p:blipFill>
        <p:spPr>
          <a:xfrm>
            <a:off x="6300216" y="2240280"/>
            <a:ext cx="329184" cy="329184"/>
          </a:xfrm>
          <a:prstGeom prst="rect">
            <a:avLst/>
          </a:prstGeom>
        </p:spPr>
      </p:pic>
      <p:pic>
        <p:nvPicPr>
          <p:cNvPr id="12" name="Picture 11" descr="x-light.png"/>
          <p:cNvPicPr>
            <a:picLocks noChangeAspect="1"/>
          </p:cNvPicPr>
          <p:nvPr/>
        </p:nvPicPr>
        <p:blipFill>
          <a:blip r:embed="rId4"/>
          <a:stretch>
            <a:fillRect/>
          </a:stretch>
        </p:blipFill>
        <p:spPr>
          <a:xfrm>
            <a:off x="6684264" y="2240280"/>
            <a:ext cx="329184" cy="329184"/>
          </a:xfrm>
          <a:prstGeom prst="rect">
            <a:avLst/>
          </a:prstGeom>
        </p:spPr>
      </p:pic>
      <p:pic>
        <p:nvPicPr>
          <p:cNvPr id="13" name="Picture 12" descr="x-light.png"/>
          <p:cNvPicPr>
            <a:picLocks noChangeAspect="1"/>
          </p:cNvPicPr>
          <p:nvPr/>
        </p:nvPicPr>
        <p:blipFill>
          <a:blip r:embed="rId4"/>
          <a:stretch>
            <a:fillRect/>
          </a:stretch>
        </p:blipFill>
        <p:spPr>
          <a:xfrm>
            <a:off x="7068312" y="2240280"/>
            <a:ext cx="329184" cy="329184"/>
          </a:xfrm>
          <a:prstGeom prst="rect">
            <a:avLst/>
          </a:prstGeom>
        </p:spPr>
      </p:pic>
      <p:pic>
        <p:nvPicPr>
          <p:cNvPr id="14" name="Picture 13" descr="x-light.png"/>
          <p:cNvPicPr>
            <a:picLocks noChangeAspect="1"/>
          </p:cNvPicPr>
          <p:nvPr/>
        </p:nvPicPr>
        <p:blipFill>
          <a:blip r:embed="rId4"/>
          <a:stretch>
            <a:fillRect/>
          </a:stretch>
        </p:blipFill>
        <p:spPr>
          <a:xfrm>
            <a:off x="7452360" y="2240280"/>
            <a:ext cx="329184" cy="329184"/>
          </a:xfrm>
          <a:prstGeom prst="rect">
            <a:avLst/>
          </a:prstGeom>
        </p:spPr>
      </p:pic>
      <p:sp>
        <p:nvSpPr>
          <p:cNvPr id="15" name="TextBox 14"/>
          <p:cNvSpPr txBox="1"/>
          <p:nvPr/>
        </p:nvSpPr>
        <p:spPr>
          <a:xfrm>
            <a:off x="7955279" y="199339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6" name="Rounded Rectangle 15"/>
          <p:cNvSpPr/>
          <p:nvPr/>
        </p:nvSpPr>
        <p:spPr>
          <a:xfrm>
            <a:off x="4892040" y="2907792"/>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11496" y="2980944"/>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8" name="Picture 17" descr="check-check-gold.png"/>
          <p:cNvPicPr>
            <a:picLocks noChangeAspect="1"/>
          </p:cNvPicPr>
          <p:nvPr/>
        </p:nvPicPr>
        <p:blipFill>
          <a:blip r:embed="rId5"/>
          <a:stretch>
            <a:fillRect/>
          </a:stretch>
        </p:blipFill>
        <p:spPr>
          <a:xfrm>
            <a:off x="5148072" y="3337560"/>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532120" y="3337560"/>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5916168" y="3337560"/>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300216" y="3337560"/>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6684264" y="3337560"/>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068312" y="3337560"/>
            <a:ext cx="329184" cy="329184"/>
          </a:xfrm>
          <a:prstGeom prst="rect">
            <a:avLst/>
          </a:prstGeom>
        </p:spPr>
      </p:pic>
      <p:pic>
        <p:nvPicPr>
          <p:cNvPr id="24" name="Picture 23" descr="check-check-gold.png"/>
          <p:cNvPicPr>
            <a:picLocks noChangeAspect="1"/>
          </p:cNvPicPr>
          <p:nvPr/>
        </p:nvPicPr>
        <p:blipFill>
          <a:blip r:embed="rId5"/>
          <a:stretch>
            <a:fillRect/>
          </a:stretch>
        </p:blipFill>
        <p:spPr>
          <a:xfrm>
            <a:off x="7452360" y="3337560"/>
            <a:ext cx="329184" cy="329184"/>
          </a:xfrm>
          <a:prstGeom prst="rect">
            <a:avLst/>
          </a:prstGeom>
        </p:spPr>
      </p:pic>
      <p:sp>
        <p:nvSpPr>
          <p:cNvPr id="25" name="TextBox 24"/>
          <p:cNvSpPr txBox="1"/>
          <p:nvPr/>
        </p:nvSpPr>
        <p:spPr>
          <a:xfrm>
            <a:off x="7955279" y="309067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6" name="TextBox 25"/>
          <p:cNvSpPr txBox="1"/>
          <p:nvPr/>
        </p:nvSpPr>
        <p:spPr>
          <a:xfrm>
            <a:off x="4892040" y="3986784"/>
            <a:ext cx="6812280" cy="347472"/>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7" name="Rounded Rectangle 26"/>
          <p:cNvSpPr/>
          <p:nvPr/>
        </p:nvSpPr>
        <p:spPr>
          <a:xfrm>
            <a:off x="502920" y="4681728"/>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736592"/>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 </a:t>
            </a:r>
            <a:r>
              <a:rPr sz="650" baseline="30000" b="0" i="1">
                <a:latin typeface="DejaVu Sans"/>
                <a:cs typeface="DejaVu Sans"/>
                <a:ea typeface="DejaVu Sans"/>
                <a:solidFill>
                  <a:srgbClr val="1C7293"/>
                </a:solidFill>
              </a:rPr>
              <a:t>[1]</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ИИ-галлюцинированными цитатами, ~90% — в 2025 году </a:t>
            </a:r>
            <a:r>
              <a:rPr sz="624" baseline="30000" b="0" i="1">
                <a:latin typeface="DejaVu Sans"/>
                <a:cs typeface="DejaVu Sans"/>
                <a:ea typeface="DejaVu Sans"/>
                <a:solidFill>
                  <a:srgbClr val="1C7293"/>
                </a:solidFill>
              </a:rPr>
              <a:t>[2]</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Fortune (7 окт. 2025) — Deloitte Australia A$440k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Damien Charlotin — AI Hallucination Cases Database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124712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Один бренд, два провала: данные подвели одну систему, закупка — другую</a:t>
            </a:r>
          </a:p>
        </p:txBody>
      </p:sp>
      <p:sp>
        <p:nvSpPr>
          <p:cNvPr id="3" name="Rounded Rectangle 2"/>
          <p:cNvSpPr/>
          <p:nvPr/>
        </p:nvSpPr>
        <p:spPr>
          <a:xfrm>
            <a:off x="502920" y="1042415"/>
            <a:ext cx="269748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IBM Watson Health</a:t>
            </a:r>
          </a:p>
        </p:txBody>
      </p:sp>
      <p:sp>
        <p:nvSpPr>
          <p:cNvPr id="4" name="Rounded Rectangle 3"/>
          <p:cNvSpPr/>
          <p:nvPr/>
        </p:nvSpPr>
        <p:spPr>
          <a:xfrm>
            <a:off x="502920" y="1554480"/>
            <a:ext cx="5532120" cy="3291840"/>
          </a:xfrm>
          <a:prstGeom prst="roundRect">
            <a:avLst>
              <a:gd name="adj" fmla="val 925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sk-conical-mid.png"/>
          <p:cNvPicPr>
            <a:picLocks noChangeAspect="1"/>
          </p:cNvPicPr>
          <p:nvPr/>
        </p:nvPicPr>
        <p:blipFill>
          <a:blip r:embed="rId2"/>
          <a:stretch>
            <a:fillRect/>
          </a:stretch>
        </p:blipFill>
        <p:spPr>
          <a:xfrm>
            <a:off x="722376" y="1700784"/>
            <a:ext cx="457200" cy="457200"/>
          </a:xfrm>
          <a:prstGeom prst="rect">
            <a:avLst/>
          </a:prstGeom>
        </p:spPr>
      </p:pic>
      <p:sp>
        <p:nvSpPr>
          <p:cNvPr id="6" name="TextBox 5"/>
          <p:cNvSpPr txBox="1"/>
          <p:nvPr/>
        </p:nvSpPr>
        <p:spPr>
          <a:xfrm>
            <a:off x="1289304" y="1700784"/>
            <a:ext cx="4526279" cy="292608"/>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Случай A — Watson for Oncology</a:t>
            </a:r>
          </a:p>
        </p:txBody>
      </p:sp>
      <p:sp>
        <p:nvSpPr>
          <p:cNvPr id="7" name="TextBox 6"/>
          <p:cNvSpPr txBox="1"/>
          <p:nvPr/>
        </p:nvSpPr>
        <p:spPr>
          <a:xfrm>
            <a:off x="128930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Memorial Sloan Kettering, с 2012</a:t>
            </a:r>
          </a:p>
        </p:txBody>
      </p:sp>
      <p:sp>
        <p:nvSpPr>
          <p:cNvPr id="8" name="TextBox 7"/>
          <p:cNvSpPr txBox="1"/>
          <p:nvPr/>
        </p:nvSpPr>
        <p:spPr>
          <a:xfrm>
            <a:off x="74066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Коммерческий запуск 2015; внутренние документы: рекомендации «небезопасные и некорректные»</a:t>
            </a:r>
          </a:p>
        </p:txBody>
      </p:sp>
      <p:sp>
        <p:nvSpPr>
          <p:cNvPr id="9" name="TextBox 8"/>
          <p:cNvSpPr txBox="1"/>
          <p:nvPr/>
        </p:nvSpPr>
        <p:spPr>
          <a:xfrm>
            <a:off x="74066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Бевацизумаб гипотетическому пациенту с активным кровотечением — вопреки предупреждению производителя</a:t>
            </a:r>
          </a:p>
        </p:txBody>
      </p:sp>
      <p:sp>
        <p:nvSpPr>
          <p:cNvPr id="10" name="Rounded Rectangle 9"/>
          <p:cNvSpPr/>
          <p:nvPr/>
        </p:nvSpPr>
        <p:spPr>
          <a:xfrm>
            <a:off x="740664" y="3474720"/>
            <a:ext cx="5056631" cy="384048"/>
          </a:xfrm>
          <a:prstGeom prst="roundRect">
            <a:avLst>
              <a:gd name="adj" fmla="val 14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3474720"/>
            <a:ext cx="5056631" cy="384048"/>
          </a:xfrm>
          <a:prstGeom prst="rect">
            <a:avLst/>
          </a:prstGeom>
          <a:noFill/>
        </p:spPr>
        <p:txBody>
          <a:bodyPr wrap="square" lIns="0" rIns="0" tIns="0" bIns="0" anchor="ctr">
            <a:spAutoFit/>
          </a:bodyPr>
          <a:lstStyle/>
          <a:p>
            <a:pPr algn="ctr">
              <a:lnSpc>
                <a:spcPct val="115000"/>
              </a:lnSpc>
            </a:pPr>
            <a:r>
              <a:rPr sz="1100" b="0" i="1">
                <a:solidFill>
                  <a:srgbClr val="5B6678"/>
                </a:solidFill>
                <a:latin typeface="DejaVu Sans"/>
              </a:rPr>
              <a:t>STAT News · 25 июля 2018 </a:t>
            </a:r>
            <a:r>
              <a:rPr sz="572" baseline="30000" b="0" i="1">
                <a:latin typeface="DejaVu Sans"/>
                <a:cs typeface="DejaVu Sans"/>
                <a:ea typeface="DejaVu Sans"/>
                <a:solidFill>
                  <a:srgbClr val="1C7293"/>
                </a:solidFill>
              </a:rPr>
              <a:t>[1]</a:t>
            </a:r>
          </a:p>
        </p:txBody>
      </p:sp>
      <p:sp>
        <p:nvSpPr>
          <p:cNvPr id="12" name="Rounded Rectangle 11"/>
          <p:cNvSpPr/>
          <p:nvPr/>
        </p:nvSpPr>
        <p:spPr>
          <a:xfrm>
            <a:off x="740664" y="3950208"/>
            <a:ext cx="5056631" cy="786384"/>
          </a:xfrm>
          <a:prstGeom prst="roundRect">
            <a:avLst>
              <a:gd name="adj" fmla="val 9000"/>
            </a:avLst>
          </a:prstGeom>
          <a:solidFill>
            <a:srgbClr val="E1EAF0"/>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обучен на малом числе синтетических, гипотетических кейсов горстки онкологов MSK — не на реальных исходах </a:t>
            </a:r>
            <a:r>
              <a:rPr sz="546" baseline="30000" b="0" i="1">
                <a:latin typeface="DejaVu Sans"/>
                <a:cs typeface="DejaVu Sans"/>
                <a:ea typeface="DejaVu Sans"/>
                <a:solidFill>
                  <a:srgbClr val="1C7293"/>
                </a:solidFill>
              </a:rPr>
              <a:t>[2]</a:t>
            </a:r>
          </a:p>
        </p:txBody>
      </p:sp>
      <p:sp>
        <p:nvSpPr>
          <p:cNvPr id="14" name="Rounded Rectangle 13"/>
          <p:cNvSpPr/>
          <p:nvPr/>
        </p:nvSpPr>
        <p:spPr>
          <a:xfrm>
            <a:off x="6172200" y="1554480"/>
            <a:ext cx="5532120" cy="3291840"/>
          </a:xfrm>
          <a:prstGeom prst="roundRect">
            <a:avLst>
              <a:gd name="adj" fmla="val 925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warning-teal.png"/>
          <p:cNvPicPr>
            <a:picLocks noChangeAspect="1"/>
          </p:cNvPicPr>
          <p:nvPr/>
        </p:nvPicPr>
        <p:blipFill>
          <a:blip r:embed="rId3"/>
          <a:stretch>
            <a:fillRect/>
          </a:stretch>
        </p:blipFill>
        <p:spPr>
          <a:xfrm>
            <a:off x="6391656" y="1700784"/>
            <a:ext cx="457200" cy="457200"/>
          </a:xfrm>
          <a:prstGeom prst="rect">
            <a:avLst/>
          </a:prstGeom>
        </p:spPr>
      </p:pic>
      <p:sp>
        <p:nvSpPr>
          <p:cNvPr id="16" name="TextBox 15"/>
          <p:cNvSpPr txBox="1"/>
          <p:nvPr/>
        </p:nvSpPr>
        <p:spPr>
          <a:xfrm>
            <a:off x="6958584" y="1700784"/>
            <a:ext cx="4526279" cy="292608"/>
          </a:xfrm>
          <a:prstGeom prst="rect">
            <a:avLst/>
          </a:prstGeom>
          <a:noFill/>
        </p:spPr>
        <p:txBody>
          <a:bodyPr wrap="square" lIns="0" rIns="0" tIns="0" bIns="0" anchor="t">
            <a:spAutoFit/>
          </a:bodyPr>
          <a:lstStyle/>
          <a:p>
            <a:pPr algn="l">
              <a:lnSpc>
                <a:spcPct val="105000"/>
              </a:lnSpc>
            </a:pPr>
            <a:r>
              <a:rPr sz="1300" b="1" i="0">
                <a:solidFill>
                  <a:srgbClr val="028090"/>
                </a:solidFill>
                <a:latin typeface="DejaVu Sans"/>
              </a:rPr>
              <a:t>Случай B — Oncology Expert Advisor</a:t>
            </a:r>
          </a:p>
        </p:txBody>
      </p:sp>
      <p:sp>
        <p:nvSpPr>
          <p:cNvPr id="17" name="TextBox 16"/>
          <p:cNvSpPr txBox="1"/>
          <p:nvPr/>
        </p:nvSpPr>
        <p:spPr>
          <a:xfrm>
            <a:off x="695858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MD Anderson, 2013–2016</a:t>
            </a:r>
          </a:p>
        </p:txBody>
      </p:sp>
      <p:sp>
        <p:nvSpPr>
          <p:cNvPr id="18" name="TextBox 17"/>
          <p:cNvSpPr txBox="1"/>
          <p:nvPr/>
        </p:nvSpPr>
        <p:spPr>
          <a:xfrm>
            <a:off x="640994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Контракт через 12 продлений вырос с $2,4 млн до $39,2 млн IBM + $23 млн PwC</a:t>
            </a:r>
          </a:p>
        </p:txBody>
      </p:sp>
      <p:sp>
        <p:nvSpPr>
          <p:cNvPr id="19" name="TextBox 18"/>
          <p:cNvSpPr txBox="1"/>
          <p:nvPr/>
        </p:nvSpPr>
        <p:spPr>
          <a:xfrm>
            <a:off x="640994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Закрыт в сентябре 2016 — без единого пролеченного пациента</a:t>
            </a:r>
          </a:p>
        </p:txBody>
      </p:sp>
      <p:sp>
        <p:nvSpPr>
          <p:cNvPr id="20" name="Rounded Rectangle 19"/>
          <p:cNvSpPr/>
          <p:nvPr/>
        </p:nvSpPr>
        <p:spPr>
          <a:xfrm>
            <a:off x="6409944" y="3474720"/>
            <a:ext cx="5056631" cy="384048"/>
          </a:xfrm>
          <a:prstGeom prst="roundRect">
            <a:avLst>
              <a:gd name="adj" fmla="val 14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474720"/>
            <a:ext cx="5056631"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 $62 млн  →  0 пациентов</a:t>
            </a:r>
          </a:p>
        </p:txBody>
      </p:sp>
      <p:sp>
        <p:nvSpPr>
          <p:cNvPr id="22" name="Rounded Rectangle 21"/>
          <p:cNvSpPr/>
          <p:nvPr/>
        </p:nvSpPr>
        <p:spPr>
          <a:xfrm>
            <a:off x="6409944" y="3950208"/>
            <a:ext cx="5056631" cy="786384"/>
          </a:xfrm>
          <a:prstGeom prst="roundRect">
            <a:avLst>
              <a:gd name="adj" fmla="val 9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по аудиту University of Texas System: обход конкурсных закупочных процедур + дефицит донорского финансирования ≈ $11,6 млн — не про данные и не про модель</a:t>
            </a:r>
          </a:p>
        </p:txBody>
      </p:sp>
      <p:sp>
        <p:nvSpPr>
          <p:cNvPr id="24" name="Rounded Rectangle 23"/>
          <p:cNvSpPr/>
          <p:nvPr/>
        </p:nvSpPr>
        <p:spPr>
          <a:xfrm>
            <a:off x="502920" y="5029200"/>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84064"/>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Два независимых механизма отказа одной корпорации: непригодные данные против несостоятельного управления проектом. Не всякий дорогой провал с ИИ на обложке объясняется самим ИИ.</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IEEE Spectrum — как Watson переобещал и недодал</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371600"/>
            <a:ext cx="617220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536192"/>
            <a:ext cx="475488" cy="475488"/>
          </a:xfrm>
          <a:prstGeom prst="rect">
            <a:avLst/>
          </a:prstGeom>
        </p:spPr>
      </p:pic>
      <p:sp>
        <p:nvSpPr>
          <p:cNvPr id="5" name="TextBox 4"/>
          <p:cNvSpPr txBox="1"/>
          <p:nvPr/>
        </p:nvSpPr>
        <p:spPr>
          <a:xfrm>
            <a:off x="1417320" y="1572768"/>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 </a:t>
            </a:r>
            <a:r>
              <a:rPr sz="780" baseline="30000" b="0" i="1">
                <a:latin typeface="DejaVu Sans"/>
                <a:cs typeface="DejaVu Sans"/>
                <a:ea typeface="DejaVu Sans"/>
                <a:solidFill>
                  <a:srgbClr val="1C7293"/>
                </a:solidFill>
              </a:rPr>
              <a:t>[1]</a:t>
            </a:r>
          </a:p>
        </p:txBody>
      </p:sp>
      <p:sp>
        <p:nvSpPr>
          <p:cNvPr id="6" name="Rounded Rectangle 5"/>
          <p:cNvSpPr/>
          <p:nvPr/>
        </p:nvSpPr>
        <p:spPr>
          <a:xfrm>
            <a:off x="731520" y="210312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084831"/>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523744"/>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505456"/>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2944368"/>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2926079"/>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364991"/>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346703"/>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3785615"/>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3767328"/>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502920" y="4480560"/>
            <a:ext cx="6172200" cy="102412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31520" y="4626864"/>
            <a:ext cx="420624" cy="420624"/>
          </a:xfrm>
          <a:prstGeom prst="rect">
            <a:avLst/>
          </a:prstGeom>
        </p:spPr>
      </p:pic>
      <p:sp>
        <p:nvSpPr>
          <p:cNvPr id="18" name="TextBox 17"/>
          <p:cNvSpPr txBox="1"/>
          <p:nvPr/>
        </p:nvSpPr>
        <p:spPr>
          <a:xfrm>
            <a:off x="1325880" y="4681728"/>
            <a:ext cx="52120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Дизайн-система = guardrail</a:t>
            </a:r>
          </a:p>
        </p:txBody>
      </p:sp>
      <p:sp>
        <p:nvSpPr>
          <p:cNvPr id="19" name="TextBox 18"/>
          <p:cNvSpPr txBox="1"/>
          <p:nvPr/>
        </p:nvSpPr>
        <p:spPr>
          <a:xfrm>
            <a:off x="731520" y="5010912"/>
            <a:ext cx="5715000" cy="420624"/>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502920" y="5577840"/>
            <a:ext cx="6172200" cy="768096"/>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76072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4"/>
          <a:stretch>
            <a:fillRect/>
          </a:stretch>
        </p:blipFill>
        <p:spPr>
          <a:xfrm>
            <a:off x="763524" y="5838444"/>
            <a:ext cx="246888" cy="246888"/>
          </a:xfrm>
          <a:prstGeom prst="rect">
            <a:avLst/>
          </a:prstGeom>
        </p:spPr>
      </p:pic>
      <p:sp>
        <p:nvSpPr>
          <p:cNvPr id="23" name="TextBox 22"/>
          <p:cNvSpPr txBox="1"/>
          <p:nvPr/>
        </p:nvSpPr>
        <p:spPr>
          <a:xfrm>
            <a:off x="1252728" y="5623559"/>
            <a:ext cx="5212080" cy="676656"/>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50" b="1" i="0">
                <a:solidFill>
                  <a:srgbClr val="21295C"/>
                </a:solidFill>
                <a:latin typeface="DejaVu Sans"/>
              </a:rPr>
              <a:t>Интерфейс на один и тот же ввод даёт разный вывод. Какая из пяти эвристик ломается первой?</a:t>
            </a:r>
          </a:p>
        </p:txBody>
      </p:sp>
      <p:sp>
        <p:nvSpPr>
          <p:cNvPr id="24" name="Rounded Rectangle 23"/>
          <p:cNvSpPr/>
          <p:nvPr/>
        </p:nvSpPr>
        <p:spPr>
          <a:xfrm>
            <a:off x="6903720" y="1371600"/>
            <a:ext cx="48006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23176" y="1426464"/>
            <a:ext cx="436168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a:t>
            </a:r>
          </a:p>
        </p:txBody>
      </p:sp>
      <p:sp>
        <p:nvSpPr>
          <p:cNvPr id="26" name="Rounded Rectangle 25"/>
          <p:cNvSpPr/>
          <p:nvPr/>
        </p:nvSpPr>
        <p:spPr>
          <a:xfrm>
            <a:off x="7223760" y="2395728"/>
            <a:ext cx="41605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16-bernie.jpg"/>
          <p:cNvPicPr>
            <a:picLocks noChangeAspect="1"/>
          </p:cNvPicPr>
          <p:nvPr/>
        </p:nvPicPr>
        <p:blipFill>
          <a:blip r:embed="rId5"/>
          <a:stretch>
            <a:fillRect/>
          </a:stretch>
        </p:blipFill>
        <p:spPr>
          <a:xfrm>
            <a:off x="8210256" y="2505456"/>
            <a:ext cx="2187526" cy="2843784"/>
          </a:xfrm>
          <a:prstGeom prst="rect">
            <a:avLst/>
          </a:prstGeom>
        </p:spPr>
      </p:pic>
      <p:sp>
        <p:nvSpPr>
          <p:cNvPr id="28" name="TextBox 27"/>
          <p:cNvSpPr txBox="1"/>
          <p:nvPr/>
        </p:nvSpPr>
        <p:spPr>
          <a:xfrm>
            <a:off x="6903720" y="5550408"/>
            <a:ext cx="4800600" cy="548640"/>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«Я снова прошу»: эвристики ловят типовые проблемы, но не заменяют проверку на живом пользователе.</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 10 usability heuristics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Nielsen — «you are not the user»</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AI-инструменты дизайна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75488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09744"/>
            <a:ext cx="10762488"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Rounded Rectangle 11"/>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5" name="TextBox 14"/>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Черновик экрана теперь стоит минуты. Какой вопрос дизайн-брифа при такой скорости пропускают первым?</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ACM 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(янв. 2026) — урегулирование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 </a:t>
            </a:r>
            <a:r>
              <a:rPr sz="1248" baseline="30000" b="0" i="1">
                <a:latin typeface="DejaVu Sans"/>
                <a:cs typeface="DejaVu Sans"/>
                <a:ea typeface="DejaVu Sans"/>
                <a:solidFill>
                  <a:srgbClr val="1C7293"/>
                </a:solidFill>
              </a:rPr>
              <a:t>[1]</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ИИ-дискриминации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EEOC (9 авг. 2023) — iTutorGroup</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Артефакт становится работающим продуктом у пользователей. ИИ сделал само написание кода почти бесплатным.</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 механика запуска</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Переключатель функции</a:t>
            </a:r>
          </a:p>
        </p:txBody>
      </p:sp>
      <p:sp>
        <p:nvSpPr>
          <p:cNvPr id="5" name="TextBox 4"/>
          <p:cNvSpPr txBox="1"/>
          <p:nvPr/>
        </p:nvSpPr>
        <p:spPr>
          <a:xfrm>
            <a:off x="5760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feature flag</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192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Канареечный релиз</a:t>
            </a:r>
          </a:p>
        </p:txBody>
      </p:sp>
      <p:sp>
        <p:nvSpPr>
          <p:cNvPr id="9" name="TextBox 8"/>
          <p:cNvSpPr txBox="1"/>
          <p:nvPr/>
        </p:nvSpPr>
        <p:spPr>
          <a:xfrm>
            <a:off x="33192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624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Поэтапная раскатка</a:t>
            </a:r>
          </a:p>
        </p:txBody>
      </p:sp>
      <p:sp>
        <p:nvSpPr>
          <p:cNvPr id="13" name="TextBox 12"/>
          <p:cNvSpPr txBox="1"/>
          <p:nvPr/>
        </p:nvSpPr>
        <p:spPr>
          <a:xfrm>
            <a:off x="60624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staged rollout</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Откат</a:t>
            </a:r>
          </a:p>
        </p:txBody>
      </p:sp>
      <p:sp>
        <p:nvSpPr>
          <p:cNvPr id="17" name="TextBox 16"/>
          <p:cNvSpPr txBox="1"/>
          <p:nvPr/>
        </p:nvSpPr>
        <p:spPr>
          <a:xfrm>
            <a:off x="88056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rollback</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52044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822191"/>
            <a:ext cx="502920" cy="502920"/>
          </a:xfrm>
          <a:prstGeom prst="rect">
            <a:avLst/>
          </a:prstGeom>
        </p:spPr>
      </p:pic>
      <p:sp>
        <p:nvSpPr>
          <p:cNvPr id="21" name="TextBox 20"/>
          <p:cNvSpPr txBox="1"/>
          <p:nvPr/>
        </p:nvSpPr>
        <p:spPr>
          <a:xfrm>
            <a:off x="2331720" y="3639312"/>
            <a:ext cx="8229600" cy="100584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обучение, не отгрузка. Stage-Gate go/kill (Купер)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«воронка, не туннель»: пороги провала записаны числом заранее.</a:t>
            </a:r>
          </a:p>
        </p:txBody>
      </p:sp>
      <p:sp>
        <p:nvSpPr>
          <p:cNvPr id="22" name="Rounded Rectangle 21"/>
          <p:cNvSpPr/>
          <p:nvPr/>
        </p:nvSpPr>
        <p:spPr>
          <a:xfrm>
            <a:off x="502920" y="51206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755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639312"/>
            <a:ext cx="4434840" cy="82296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3886200"/>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712463"/>
            <a:ext cx="3383279"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Высокий контроль / низкая агентность</a:t>
            </a:r>
          </a:p>
        </p:txBody>
      </p:sp>
      <p:sp>
        <p:nvSpPr>
          <p:cNvPr id="6" name="TextBox 5"/>
          <p:cNvSpPr txBox="1"/>
          <p:nvPr/>
        </p:nvSpPr>
        <p:spPr>
          <a:xfrm>
            <a:off x="1645920" y="4160520"/>
            <a:ext cx="3383279"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2761488"/>
            <a:ext cx="5212079" cy="82296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008376"/>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2834640"/>
            <a:ext cx="4160519"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282696"/>
            <a:ext cx="4160519"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1883664"/>
            <a:ext cx="5989320" cy="82296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130552"/>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1956816"/>
            <a:ext cx="4937760"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Автоматически, с возвратом к человеку</a:t>
            </a:r>
          </a:p>
        </p:txBody>
      </p:sp>
      <p:sp>
        <p:nvSpPr>
          <p:cNvPr id="14" name="TextBox 13"/>
          <p:cNvSpPr txBox="1"/>
          <p:nvPr/>
        </p:nvSpPr>
        <p:spPr>
          <a:xfrm>
            <a:off x="1645920" y="2404872"/>
            <a:ext cx="493776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389888"/>
            <a:ext cx="4617720" cy="3072384"/>
          </a:xfrm>
          <a:prstGeom prst="roundRect">
            <a:avLst>
              <a:gd name="adj" fmla="val 99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17904"/>
            <a:ext cx="4206240" cy="566928"/>
          </a:xfrm>
          <a:prstGeom prst="rect">
            <a:avLst/>
          </a:prstGeom>
          <a:noFill/>
        </p:spPr>
        <p:txBody>
          <a:bodyPr wrap="square" lIns="0" rIns="0" tIns="0" bIns="0" anchor="t">
            <a:spAutoFit/>
          </a:bodyPr>
          <a:lstStyle/>
          <a:p>
            <a:pPr algn="l">
              <a:lnSpc>
                <a:spcPct val="110000"/>
              </a:lnSpc>
            </a:pPr>
            <a:r>
              <a:rPr sz="1350" b="1" i="0">
                <a:solidFill>
                  <a:srgbClr val="028090"/>
                </a:solidFill>
                <a:latin typeface="DejaVu Sans"/>
              </a:rPr>
              <a:t>CC/CD против привычного CI/CD </a:t>
            </a:r>
            <a:r>
              <a:rPr sz="702" baseline="30000" b="0" i="1">
                <a:latin typeface="DejaVu Sans"/>
                <a:cs typeface="DejaVu Sans"/>
                <a:ea typeface="DejaVu Sans"/>
                <a:solidFill>
                  <a:srgbClr val="1C7293"/>
                </a:solidFill>
              </a:rPr>
              <a:t>[1]</a:t>
            </a:r>
          </a:p>
        </p:txBody>
      </p:sp>
      <p:sp>
        <p:nvSpPr>
          <p:cNvPr id="17" name="TextBox 16"/>
          <p:cNvSpPr txBox="1"/>
          <p:nvPr/>
        </p:nvSpPr>
        <p:spPr>
          <a:xfrm>
            <a:off x="7315200" y="2103120"/>
            <a:ext cx="4206240" cy="84124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a:t>
            </a:r>
          </a:p>
        </p:txBody>
      </p:sp>
      <p:sp>
        <p:nvSpPr>
          <p:cNvPr id="18" name="TextBox 17"/>
          <p:cNvSpPr txBox="1"/>
          <p:nvPr/>
        </p:nvSpPr>
        <p:spPr>
          <a:xfrm>
            <a:off x="7315200" y="3054096"/>
            <a:ext cx="4206240" cy="29260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Лестница агентности (agency-ladder)</a:t>
            </a:r>
          </a:p>
        </p:txBody>
      </p:sp>
      <p:sp>
        <p:nvSpPr>
          <p:cNvPr id="19" name="TextBox 18"/>
          <p:cNvSpPr txBox="1"/>
          <p:nvPr/>
        </p:nvSpPr>
        <p:spPr>
          <a:xfrm>
            <a:off x="7315200" y="3383280"/>
            <a:ext cx="4206240" cy="84124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Три ступени передачи контроля; поднимаются по ней под требование, а не по готовности инструмента.</a:t>
            </a:r>
          </a:p>
        </p:txBody>
      </p:sp>
      <p:sp>
        <p:nvSpPr>
          <p:cNvPr id="20" name="Rounded Rectangle 19"/>
          <p:cNvSpPr/>
          <p:nvPr/>
        </p:nvSpPr>
        <p:spPr>
          <a:xfrm>
            <a:off x="640080" y="4572000"/>
            <a:ext cx="1106424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26864"/>
            <a:ext cx="1062532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2" name="Rounded Rectangle 21"/>
          <p:cNvSpPr/>
          <p:nvPr/>
        </p:nvSpPr>
        <p:spPr>
          <a:xfrm>
            <a:off x="640080" y="5394960"/>
            <a:ext cx="11064240" cy="768096"/>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2959"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ircle-help-white.png"/>
          <p:cNvPicPr>
            <a:picLocks noChangeAspect="1"/>
          </p:cNvPicPr>
          <p:nvPr/>
        </p:nvPicPr>
        <p:blipFill>
          <a:blip r:embed="rId2"/>
          <a:stretch>
            <a:fillRect/>
          </a:stretch>
        </p:blipFill>
        <p:spPr>
          <a:xfrm>
            <a:off x="900683" y="5655564"/>
            <a:ext cx="246888" cy="246888"/>
          </a:xfrm>
          <a:prstGeom prst="rect">
            <a:avLst/>
          </a:prstGeom>
        </p:spPr>
      </p:pic>
      <p:sp>
        <p:nvSpPr>
          <p:cNvPr id="25" name="TextBox 24"/>
          <p:cNvSpPr txBox="1"/>
          <p:nvPr/>
        </p:nvSpPr>
        <p:spPr>
          <a:xfrm>
            <a:off x="1389888" y="5440680"/>
            <a:ext cx="10104119" cy="676656"/>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Возьмите функцию из своего проекта, которую доверили бы ИИ. На какой она ступени сейчас — и какое требование должно появиться, чтобы поднять её на следующую?</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Reganti &amp; Badam — CC/CD 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Вместо этого — публичное осмеяние сразу на 100% аудитории.</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«клей на пиццу» / «есть камни»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Rounded Rectangle 18"/>
          <p:cNvSpPr/>
          <p:nvPr/>
        </p:nvSpPr>
        <p:spPr>
          <a:xfrm>
            <a:off x="502920" y="5413248"/>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help-white.png"/>
          <p:cNvPicPr>
            <a:picLocks noChangeAspect="1"/>
          </p:cNvPicPr>
          <p:nvPr/>
        </p:nvPicPr>
        <p:blipFill>
          <a:blip r:embed="rId5"/>
          <a:stretch>
            <a:fillRect/>
          </a:stretch>
        </p:blipFill>
        <p:spPr>
          <a:xfrm>
            <a:off x="763524" y="5655564"/>
            <a:ext cx="246888" cy="246888"/>
          </a:xfrm>
          <a:prstGeom prst="rect">
            <a:avLst/>
          </a:prstGeom>
        </p:spPr>
      </p:pic>
      <p:sp>
        <p:nvSpPr>
          <p:cNvPr id="22" name="TextBox 21"/>
          <p:cNvSpPr txBox="1"/>
          <p:nvPr/>
        </p:nvSpPr>
        <p:spPr>
          <a:xfrm>
            <a:off x="1252728" y="5458968"/>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OEC вырос на 8% на третий день теста, p &lt; 0,05. Останавливаете тест и раскатываете?</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Wikipedia — A/B testing (Bing 2012)</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ДО ТЕСТА</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Настроен ли тест правильно?</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(перекос групп) </a:t>
            </a:r>
            <a:r>
              <a:rPr sz="520" baseline="30000" b="0" i="1">
                <a:latin typeface="DejaVu Sans"/>
                <a:cs typeface="DejaVu Sans"/>
                <a:ea typeface="DejaVu Sans"/>
                <a:solidFill>
                  <a:srgbClr val="1C7293"/>
                </a:solidFill>
              </a:rPr>
              <a:t>[1]</a:t>
            </a:r>
            <a:r>
              <a:rPr sz="1000" b="0" i="1">
                <a:latin typeface="DejaVu Sans"/>
                <a:cs typeface="DejaVu Sans"/>
                <a:ea typeface="DejaVu Sans"/>
                <a:solidFill>
                  <a:srgbClr val="5B6678"/>
                </a:solidFill>
              </a:rPr>
              <a:t> — доли пользователей в группах не совпали с планом; размер выборки должен быть зафиксирован заранее, а не подогнан под результат</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ИНТЕРПРЕТАЦИЯ</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Правильно ли читаю результат?</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(подглядывание)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5B6678"/>
                </a:solidFill>
              </a:rPr>
              <a:t> — досрочная проверка результата: 2 подглядки ≈2× ложных срабатываний, поэтому решение принимается только на заранее заданный размер выборки</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ЭФФЕКТ</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Реален ли сам эффект?</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закон Тваймана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слишком красивая или неожиданная цифра обычно означает ошибку измерения, а не реальный эффект — сначала перепроверь методологию, потом радуйся результату</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Microsoft Research — Sample Ratio Mismatch (KDD 2019)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GoPractice — проблема подглядывания (peeking)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exp-platform.com — Кохави, Твайман</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 </a:t>
            </a:r>
            <a:r>
              <a:rPr sz="598" baseline="30000" b="0" i="1">
                <a:latin typeface="DejaVu Sans"/>
                <a:cs typeface="DejaVu Sans"/>
                <a:ea typeface="DejaVu Sans"/>
                <a:solidFill>
                  <a:srgbClr val="1C7293"/>
                </a:solidFill>
              </a:rPr>
              <a:t>[2]</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Demystifying evals for AI agents (9 янв.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Zheng, Chiang et al. — MT-Bench (NeurIPS 2023)</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Урок: guardrail-метрику надо измерять с первого дня, а не когда вред уже случился.</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документы Haugen</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Измерение = стрелка, которой ИИ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Заранее договариваемся, сколько сбоев допустимо (бюджет на ошибки). С ИИ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 </a:t>
            </a:r>
            <a:r>
              <a:rPr sz="624" baseline="30000" b="0" i="1">
                <a:latin typeface="DejaVu Sans"/>
                <a:cs typeface="DejaVu Sans"/>
                <a:ea typeface="DejaVu Sans"/>
                <a:solidFill>
                  <a:srgbClr val="1C7293"/>
                </a:solidFill>
              </a:rPr>
              <a:t>[1]</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346704"/>
            <a:ext cx="6903720" cy="1847088"/>
          </a:xfrm>
          <a:prstGeom prst="roundRect">
            <a:avLst>
              <a:gd name="adj" fmla="val 1650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493008"/>
            <a:ext cx="644652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LLMOps / AgentOps</a:t>
            </a:r>
          </a:p>
        </p:txBody>
      </p:sp>
      <p:sp>
        <p:nvSpPr>
          <p:cNvPr id="21" name="TextBox 20"/>
          <p:cNvSpPr txBox="1"/>
          <p:nvPr/>
        </p:nvSpPr>
        <p:spPr>
          <a:xfrm>
            <a:off x="731520" y="3803904"/>
            <a:ext cx="6446520" cy="65836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Эксплуатация моделей и эксплуатация агентов: LLMOps следит за одним вызовом (промпт, ответ, стоимость), AgentOps — за цепочкой шагов и вызовов инструментов целиком.</a:t>
            </a:r>
          </a:p>
        </p:txBody>
      </p:sp>
      <p:sp>
        <p:nvSpPr>
          <p:cNvPr id="22" name="TextBox 21"/>
          <p:cNvSpPr txBox="1"/>
          <p:nvPr/>
        </p:nvSpPr>
        <p:spPr>
          <a:xfrm>
            <a:off x="731520" y="4517136"/>
            <a:ext cx="6446520" cy="548640"/>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Дрейф данных против дрейфа концепта · защитные правила во время работы · предохранитель (circuit breaker) · Guardian Agents (категория Gartner)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5B6678"/>
                </a:solidFill>
              </a:rPr>
              <a:t> — агенты, следящие за агентами.</a:t>
            </a:r>
          </a:p>
        </p:txBody>
      </p:sp>
      <p:sp>
        <p:nvSpPr>
          <p:cNvPr id="23" name="Rounded Rectangle 22"/>
          <p:cNvSpPr/>
          <p:nvPr/>
        </p:nvSpPr>
        <p:spPr>
          <a:xfrm>
            <a:off x="7589520" y="3346704"/>
            <a:ext cx="4114800" cy="1847088"/>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ck-gold.png"/>
          <p:cNvPicPr>
            <a:picLocks noChangeAspect="1"/>
          </p:cNvPicPr>
          <p:nvPr/>
        </p:nvPicPr>
        <p:blipFill>
          <a:blip r:embed="rId3"/>
          <a:stretch>
            <a:fillRect/>
          </a:stretch>
        </p:blipFill>
        <p:spPr>
          <a:xfrm>
            <a:off x="7818120" y="3602736"/>
            <a:ext cx="457200" cy="457200"/>
          </a:xfrm>
          <a:prstGeom prst="rect">
            <a:avLst/>
          </a:prstGeom>
        </p:spPr>
      </p:pic>
      <p:sp>
        <p:nvSpPr>
          <p:cNvPr id="25" name="TextBox 24"/>
          <p:cNvSpPr txBox="1"/>
          <p:nvPr/>
        </p:nvSpPr>
        <p:spPr>
          <a:xfrm>
            <a:off x="8412480" y="3547872"/>
            <a:ext cx="3108960" cy="146304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6" name="Rounded Rectangle 25"/>
          <p:cNvSpPr/>
          <p:nvPr/>
        </p:nvSpPr>
        <p:spPr>
          <a:xfrm>
            <a:off x="502920" y="528523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34009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Confident AI — обзор LLMOps observability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Gartner Market Guide for Guardian Agents (25 фев. 2026)</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Rounded Rectangle 13"/>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7" name="TextBox 16"/>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Назовите один сигнал в своей системе, который сегодня не попадает ни в один дашборд, но первым скажет, что качество упало.</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 тыс. убытка на объект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компания отвечает за ответ бота как за любой другой контент сайта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но автоматизация выросла до 853 чел.-эквивалентов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(10 окт.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(29 марта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Поддержка → Продукт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Воронка портфеля: много идей на входе, немного профинансированных на выходе. У ИИ-продукта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сигнал против хайпа: даже крупный игрок не заявляет вершину шкалы.</a:t>
            </a:r>
          </a:p>
        </p:txBody>
      </p:sp>
      <p:sp>
        <p:nvSpPr>
          <p:cNvPr id="33" name="Rounded Rectangle 32"/>
          <p:cNvSpPr/>
          <p:nvPr/>
        </p:nvSpPr>
        <p:spPr>
          <a:xfrm>
            <a:off x="502920" y="48006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855464"/>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Rounded Rectangle 34"/>
          <p:cNvSpPr/>
          <p:nvPr/>
        </p:nvSpPr>
        <p:spPr>
          <a:xfrm>
            <a:off x="502920" y="5559552"/>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5724144"/>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white.png"/>
          <p:cNvPicPr>
            <a:picLocks noChangeAspect="1"/>
          </p:cNvPicPr>
          <p:nvPr/>
        </p:nvPicPr>
        <p:blipFill>
          <a:blip r:embed="rId2"/>
          <a:stretch>
            <a:fillRect/>
          </a:stretch>
        </p:blipFill>
        <p:spPr>
          <a:xfrm>
            <a:off x="763524" y="5801868"/>
            <a:ext cx="246888" cy="246888"/>
          </a:xfrm>
          <a:prstGeom prst="rect">
            <a:avLst/>
          </a:prstGeom>
        </p:spPr>
      </p:pic>
      <p:sp>
        <p:nvSpPr>
          <p:cNvPr id="38" name="TextBox 37"/>
          <p:cNvSpPr txBox="1"/>
          <p:nvPr/>
        </p:nvSpPr>
        <p:spPr>
          <a:xfrm>
            <a:off x="1252728" y="5605272"/>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Вам показывают заголовок «95% ИИ-пилотов провалились». Какой первый вопрос вы задаёте этой цифре?</a:t>
            </a:r>
          </a:p>
        </p:txBody>
      </p:sp>
      <p:sp>
        <p:nvSpPr>
          <p:cNvPr id="39" name="TextBox 3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Sber — вакансия «Лидер AI PDLC»</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 </a:t>
            </a:r>
            <a:r>
              <a:rPr sz="936"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AI Radar 2025 (январь 2025, 1803 руководителя): 60% компаний не отслеживают ни одного финансового KPI, привязанного к ценности ИИ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(июль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(18 авг. 2025) — медиа-искажение MIT-отчёта</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(7 апр. 2026, 782 I&amp;O-лидеров)</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AI Radar 2025 (янв. 2025)</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6 лет маркетинга «автономный ИИ» без раскрытия масштаба труда (скрытая человеческая стоимость)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47120" cy="603504"/>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бесплатна — дефицит теперь: суждение, а не исполнение</a:t>
            </a:r>
          </a:p>
        </p:txBody>
      </p:sp>
      <p:sp>
        <p:nvSpPr>
          <p:cNvPr id="3" name="Rounded Rectangle 2"/>
          <p:cNvSpPr/>
          <p:nvPr/>
        </p:nvSpPr>
        <p:spPr>
          <a:xfrm>
            <a:off x="502920" y="1024128"/>
            <a:ext cx="5715000" cy="1755648"/>
          </a:xfrm>
          <a:prstGeom prst="roundRect">
            <a:avLst>
              <a:gd name="adj" fmla="val 17361"/>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608323" y="1106424"/>
            <a:ext cx="5504194" cy="1591056"/>
          </a:xfrm>
          <a:prstGeom prst="rect">
            <a:avLst/>
          </a:prstGeom>
        </p:spPr>
      </p:pic>
      <p:sp>
        <p:nvSpPr>
          <p:cNvPr id="5" name="TextBox 4"/>
          <p:cNvSpPr txBox="1"/>
          <p:nvPr/>
        </p:nvSpPr>
        <p:spPr>
          <a:xfrm>
            <a:off x="530352" y="2834640"/>
            <a:ext cx="5715000"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Центр управления NASA, Apollo 16 — решение принимают люди</a:t>
            </a:r>
          </a:p>
        </p:txBody>
      </p:sp>
      <p:sp>
        <p:nvSpPr>
          <p:cNvPr id="6" name="Rounded Rectangle 5"/>
          <p:cNvSpPr/>
          <p:nvPr/>
        </p:nvSpPr>
        <p:spPr>
          <a:xfrm>
            <a:off x="6446520" y="1024128"/>
            <a:ext cx="5257800" cy="1755648"/>
          </a:xfrm>
          <a:prstGeom prst="roundRect">
            <a:avLst>
              <a:gd name="adj" fmla="val 1736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152144"/>
            <a:ext cx="4800600"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Разрешение парадокса, с которого начали</a:t>
            </a:r>
          </a:p>
        </p:txBody>
      </p:sp>
      <p:sp>
        <p:nvSpPr>
          <p:cNvPr id="8" name="TextBox 7"/>
          <p:cNvSpPr txBox="1"/>
          <p:nvPr/>
        </p:nvSpPr>
        <p:spPr>
          <a:xfrm>
            <a:off x="6675120" y="1517904"/>
            <a:ext cx="480060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Сборка стала почти бесплатной — правда. Успех редок — тоже правда, но точнее: 25% среди дошедших до пилота, а не 5% «всех».</a:t>
            </a:r>
          </a:p>
        </p:txBody>
      </p:sp>
      <p:sp>
        <p:nvSpPr>
          <p:cNvPr id="9" name="Rounded Rectangle 8"/>
          <p:cNvSpPr/>
          <p:nvPr/>
        </p:nvSpPr>
        <p:spPr>
          <a:xfrm>
            <a:off x="502920" y="3127248"/>
            <a:ext cx="5715000" cy="1847088"/>
          </a:xfrm>
          <a:prstGeom prst="roundRect">
            <a:avLst>
              <a:gd name="adj" fmla="val 16501"/>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eat-teal.png"/>
          <p:cNvPicPr>
            <a:picLocks noChangeAspect="1"/>
          </p:cNvPicPr>
          <p:nvPr/>
        </p:nvPicPr>
        <p:blipFill>
          <a:blip r:embed="rId3"/>
          <a:stretch>
            <a:fillRect/>
          </a:stretch>
        </p:blipFill>
        <p:spPr>
          <a:xfrm>
            <a:off x="731520" y="3255264"/>
            <a:ext cx="365760" cy="365760"/>
          </a:xfrm>
          <a:prstGeom prst="rect">
            <a:avLst/>
          </a:prstGeom>
        </p:spPr>
      </p:pic>
      <p:sp>
        <p:nvSpPr>
          <p:cNvPr id="11" name="TextBox 10"/>
          <p:cNvSpPr txBox="1"/>
          <p:nvPr/>
        </p:nvSpPr>
        <p:spPr>
          <a:xfrm>
            <a:off x="1225296" y="3273552"/>
            <a:ext cx="4754880" cy="292608"/>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Что изменилось</a:t>
            </a:r>
          </a:p>
        </p:txBody>
      </p:sp>
      <p:sp>
        <p:nvSpPr>
          <p:cNvPr id="12" name="Oval 11"/>
          <p:cNvSpPr/>
          <p:nvPr/>
        </p:nvSpPr>
        <p:spPr>
          <a:xfrm>
            <a:off x="786384" y="3776472"/>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3694176"/>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Стоимость сборки</a:t>
            </a:r>
          </a:p>
        </p:txBody>
      </p:sp>
      <p:sp>
        <p:nvSpPr>
          <p:cNvPr id="14" name="Oval 13"/>
          <p:cNvSpPr/>
          <p:nvPr/>
        </p:nvSpPr>
        <p:spPr>
          <a:xfrm>
            <a:off x="786384" y="4087368"/>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исследования</a:t>
            </a:r>
          </a:p>
        </p:txBody>
      </p:sp>
      <p:sp>
        <p:nvSpPr>
          <p:cNvPr id="16" name="Oval 15"/>
          <p:cNvSpPr/>
          <p:nvPr/>
        </p:nvSpPr>
        <p:spPr>
          <a:xfrm>
            <a:off x="786384" y="4398264"/>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4315968"/>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прототипа</a:t>
            </a:r>
          </a:p>
        </p:txBody>
      </p:sp>
      <p:sp>
        <p:nvSpPr>
          <p:cNvPr id="18" name="Oval 17"/>
          <p:cNvSpPr/>
          <p:nvPr/>
        </p:nvSpPr>
        <p:spPr>
          <a:xfrm>
            <a:off x="786384" y="4709160"/>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626864"/>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наблюдения</a:t>
            </a:r>
          </a:p>
        </p:txBody>
      </p:sp>
      <p:sp>
        <p:nvSpPr>
          <p:cNvPr id="20" name="Rounded Rectangle 19"/>
          <p:cNvSpPr/>
          <p:nvPr/>
        </p:nvSpPr>
        <p:spPr>
          <a:xfrm>
            <a:off x="6446520" y="3127248"/>
            <a:ext cx="5257800" cy="1847088"/>
          </a:xfrm>
          <a:prstGeom prst="roundRect">
            <a:avLst>
              <a:gd name="adj" fmla="val 165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s-mid.png"/>
          <p:cNvPicPr>
            <a:picLocks noChangeAspect="1"/>
          </p:cNvPicPr>
          <p:nvPr/>
        </p:nvPicPr>
        <p:blipFill>
          <a:blip r:embed="rId4"/>
          <a:stretch>
            <a:fillRect/>
          </a:stretch>
        </p:blipFill>
        <p:spPr>
          <a:xfrm>
            <a:off x="6675120" y="3255264"/>
            <a:ext cx="365760" cy="365760"/>
          </a:xfrm>
          <a:prstGeom prst="rect">
            <a:avLst/>
          </a:prstGeom>
        </p:spPr>
      </p:pic>
      <p:sp>
        <p:nvSpPr>
          <p:cNvPr id="22" name="TextBox 21"/>
          <p:cNvSpPr txBox="1"/>
          <p:nvPr/>
        </p:nvSpPr>
        <p:spPr>
          <a:xfrm>
            <a:off x="7168896" y="3273552"/>
            <a:ext cx="4297680"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Что осталось человеческим</a:t>
            </a:r>
          </a:p>
        </p:txBody>
      </p:sp>
      <p:sp>
        <p:nvSpPr>
          <p:cNvPr id="23" name="Oval 22"/>
          <p:cNvSpPr/>
          <p:nvPr/>
        </p:nvSpPr>
        <p:spPr>
          <a:xfrm>
            <a:off x="6729984" y="3675887"/>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3602736"/>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Намерение</a:t>
            </a:r>
          </a:p>
        </p:txBody>
      </p:sp>
      <p:sp>
        <p:nvSpPr>
          <p:cNvPr id="25" name="Oval 24"/>
          <p:cNvSpPr/>
          <p:nvPr/>
        </p:nvSpPr>
        <p:spPr>
          <a:xfrm>
            <a:off x="6729984" y="3941063"/>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867911"/>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Суждение о сигнале против шума</a:t>
            </a:r>
          </a:p>
        </p:txBody>
      </p:sp>
      <p:sp>
        <p:nvSpPr>
          <p:cNvPr id="27" name="Oval 26"/>
          <p:cNvSpPr/>
          <p:nvPr/>
        </p:nvSpPr>
        <p:spPr>
          <a:xfrm>
            <a:off x="6729984" y="4206240"/>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22592" y="4133087"/>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Ответственность за каждый ответ продукта</a:t>
            </a:r>
          </a:p>
        </p:txBody>
      </p:sp>
      <p:sp>
        <p:nvSpPr>
          <p:cNvPr id="29" name="Oval 28"/>
          <p:cNvSpPr/>
          <p:nvPr/>
        </p:nvSpPr>
        <p:spPr>
          <a:xfrm>
            <a:off x="6729984" y="4471416"/>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398264"/>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Решение «здесь ИИ не тот инструмент»</a:t>
            </a:r>
          </a:p>
        </p:txBody>
      </p:sp>
      <p:sp>
        <p:nvSpPr>
          <p:cNvPr id="31" name="Oval 30"/>
          <p:cNvSpPr/>
          <p:nvPr/>
        </p:nvSpPr>
        <p:spPr>
          <a:xfrm>
            <a:off x="6729984" y="4736592"/>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4663440"/>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Управление с названным владельцем</a:t>
            </a:r>
          </a:p>
        </p:txBody>
      </p:sp>
      <p:sp>
        <p:nvSpPr>
          <p:cNvPr id="33" name="Rounded Rectangle 32"/>
          <p:cNvSpPr/>
          <p:nvPr/>
        </p:nvSpPr>
        <p:spPr>
          <a:xfrm>
            <a:off x="502920" y="517550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230368"/>
            <a:ext cx="10762488" cy="640080"/>
          </a:xfrm>
          <a:prstGeom prst="rect">
            <a:avLst/>
          </a:prstGeom>
          <a:noFill/>
        </p:spPr>
        <p:txBody>
          <a:bodyPr wrap="square" lIns="0" rIns="0" tIns="0" bIns="0" anchor="ctr">
            <a:spAutoFit/>
          </a:bodyPr>
          <a:lstStyle/>
          <a:p>
            <a:pPr algn="ctr">
              <a:lnSpc>
                <a:spcPct val="120000"/>
              </a:lnSpc>
            </a:pPr>
            <a:r>
              <a:rPr sz="1500" b="1" i="0">
                <a:solidFill>
                  <a:srgbClr val="21295C"/>
                </a:solidFill>
                <a:latin typeface="DejaVu Sans"/>
              </a:rPr>
              <a:t>Когда сборка бесплатна, дефицитный ресурс — не исполнение, а суждение.</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240279"/>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423160"/>
            <a:ext cx="731520" cy="731520"/>
          </a:xfrm>
          <a:prstGeom prst="rect">
            <a:avLst/>
          </a:prstGeom>
        </p:spPr>
      </p:pic>
      <p:cxnSp>
        <p:nvCxnSpPr>
          <p:cNvPr id="5" name="Connector 4"/>
          <p:cNvCxnSpPr/>
          <p:nvPr/>
        </p:nvCxnSpPr>
        <p:spPr>
          <a:xfrm>
            <a:off x="9829800" y="13075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88696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2048255"/>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773936"/>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520439"/>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434840"/>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2048255"/>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773935"/>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8" name="TextBox 17"/>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 аппарат суждения</a:t>
            </a:r>
          </a:p>
          <a:p>
            <a:pPr algn="l">
              <a:lnSpc>
                <a:spcPct val="112000"/>
              </a:lnSpc>
            </a:pPr>
            <a:r>
              <a:rPr sz="2600" b="1" i="0">
                <a:solidFill>
                  <a:srgbClr val="21295C"/>
                </a:solidFill>
                <a:latin typeface="DejaVu Sans"/>
              </a:rPr>
              <a:t>из шести пройденных фаз</a:t>
            </a:r>
          </a:p>
        </p:txBody>
      </p:sp>
      <p:sp>
        <p:nvSpPr>
          <p:cNvPr id="19" name="Rounded Rectangle 18"/>
          <p:cNvSpPr/>
          <p:nvPr/>
        </p:nvSpPr>
        <p:spPr>
          <a:xfrm>
            <a:off x="713232" y="3858768"/>
            <a:ext cx="470916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3 свидетельства · 1 инструмент решения</a:t>
            </a:r>
          </a:p>
        </p:txBody>
      </p:sp>
      <p:sp>
        <p:nvSpPr>
          <p:cNvPr id="20" name="TextBox 19"/>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не появляется ничего нового — появляется способ применить уже разобранное к случаю, которого ещё не было в этой лекции.</a:t>
            </a:r>
          </a:p>
        </p:txBody>
      </p:sp>
      <p:sp>
        <p:nvSpPr>
          <p:cNvPr id="21" name="Rounded Rectangle 20"/>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3" name="TextBox 22"/>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4" name="Rounded Rectangle 23"/>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6" name="TextBox 25"/>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7" name="Rounded Rectangle 26"/>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29" name="TextBox 28"/>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0" name="Rounded Rectangle 29"/>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2" name="TextBox 31"/>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3" name="Rounded Rectangle 32"/>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5" name="TextBox 34"/>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6" name="Rounded Rectangle 35"/>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8" name="TextBox 37"/>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39" name="Rounded Rectangle 38"/>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1" name="TextBox 40"/>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2" name="Rounded Rectangle 41"/>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4" name="TextBox 43"/>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6916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5087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249424"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Дисциплина (артефакт)</a:t>
            </a:r>
          </a:p>
        </p:txBody>
      </p:sp>
      <p:sp>
        <p:nvSpPr>
          <p:cNvPr id="7" name="Rounded Rectangle 6"/>
          <p:cNvSpPr/>
          <p:nvPr/>
        </p:nvSpPr>
        <p:spPr>
          <a:xfrm>
            <a:off x="4681728" y="896112"/>
            <a:ext cx="215798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896112"/>
            <a:ext cx="1975103"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ИИ удешевил</a:t>
            </a:r>
          </a:p>
        </p:txBody>
      </p:sp>
      <p:sp>
        <p:nvSpPr>
          <p:cNvPr id="9" name="Rounded Rectangle 8"/>
          <p:cNvSpPr/>
          <p:nvPr/>
        </p:nvSpPr>
        <p:spPr>
          <a:xfrm>
            <a:off x="6894576"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016"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326880" y="896112"/>
            <a:ext cx="237744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19" y="896112"/>
            <a:ext cx="2194560"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490472"/>
            <a:ext cx="274320" cy="274320"/>
          </a:xfrm>
          <a:prstGeom prst="rect">
            <a:avLst/>
          </a:prstGeom>
        </p:spPr>
      </p:pic>
      <p:sp>
        <p:nvSpPr>
          <p:cNvPr id="15" name="TextBox 14"/>
          <p:cNvSpPr txBox="1"/>
          <p:nvPr/>
        </p:nvSpPr>
        <p:spPr>
          <a:xfrm>
            <a:off x="978408" y="1371600"/>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Исследование</a:t>
            </a:r>
          </a:p>
        </p:txBody>
      </p:sp>
      <p:sp>
        <p:nvSpPr>
          <p:cNvPr id="16" name="Rounded Rectangle 15"/>
          <p:cNvSpPr/>
          <p:nvPr/>
        </p:nvSpPr>
        <p:spPr>
          <a:xfrm>
            <a:off x="2249424"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Customer Development и Mom Test: фальсифицируемая гипотеза</a:t>
            </a:r>
          </a:p>
        </p:txBody>
      </p:sp>
      <p:sp>
        <p:nvSpPr>
          <p:cNvPr id="18" name="Rounded Rectangle 17"/>
          <p:cNvSpPr/>
          <p:nvPr/>
        </p:nvSpPr>
        <p:spPr>
          <a:xfrm>
            <a:off x="4681728" y="1325880"/>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9744" y="1371600"/>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Кабинетный поиск; синтез сотен интервью в кластеры</a:t>
            </a:r>
          </a:p>
        </p:txBody>
      </p:sp>
      <p:sp>
        <p:nvSpPr>
          <p:cNvPr id="20" name="Rounded Rectangle 19"/>
          <p:cNvSpPr/>
          <p:nvPr/>
        </p:nvSpPr>
        <p:spPr>
          <a:xfrm>
            <a:off x="6894576"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Угодливость: синтетический источник не производит «нет»</a:t>
            </a:r>
          </a:p>
        </p:txBody>
      </p:sp>
      <p:sp>
        <p:nvSpPr>
          <p:cNvPr id="22" name="Rounded Rectangle 21"/>
          <p:cNvSpPr/>
          <p:nvPr/>
        </p:nvSpPr>
        <p:spPr>
          <a:xfrm>
            <a:off x="9326880" y="1325880"/>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54896"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1975103"/>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139696"/>
            <a:ext cx="274320" cy="274320"/>
          </a:xfrm>
          <a:prstGeom prst="rect">
            <a:avLst/>
          </a:prstGeom>
        </p:spPr>
      </p:pic>
      <p:sp>
        <p:nvSpPr>
          <p:cNvPr id="26" name="TextBox 25"/>
          <p:cNvSpPr txBox="1"/>
          <p:nvPr/>
        </p:nvSpPr>
        <p:spPr>
          <a:xfrm>
            <a:off x="978408" y="2020823"/>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Дизайн</a:t>
            </a:r>
          </a:p>
        </p:txBody>
      </p:sp>
      <p:sp>
        <p:nvSpPr>
          <p:cNvPr id="27" name="Rounded Rectangle 26"/>
          <p:cNvSpPr/>
          <p:nvPr/>
        </p:nvSpPr>
        <p:spPr>
          <a:xfrm>
            <a:off x="2249424"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Double Diamond, эвристики Нильсена, дизайн-система</a:t>
            </a:r>
          </a:p>
        </p:txBody>
      </p:sp>
      <p:sp>
        <p:nvSpPr>
          <p:cNvPr id="29" name="Rounded Rectangle 28"/>
          <p:cNvSpPr/>
          <p:nvPr/>
        </p:nvSpPr>
        <p:spPr>
          <a:xfrm>
            <a:off x="4681728" y="1975103"/>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2020823"/>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Черновик экрана: день → минуты</a:t>
            </a:r>
          </a:p>
        </p:txBody>
      </p:sp>
      <p:sp>
        <p:nvSpPr>
          <p:cNvPr id="31" name="Rounded Rectangle 30"/>
          <p:cNvSpPr/>
          <p:nvPr/>
        </p:nvSpPr>
        <p:spPr>
          <a:xfrm>
            <a:off x="6894576"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Однообразие решений; пробелы доступности — 29,0% экранов проходят WCAG</a:t>
            </a:r>
          </a:p>
        </p:txBody>
      </p:sp>
      <p:sp>
        <p:nvSpPr>
          <p:cNvPr id="33" name="Rounded Rectangle 32"/>
          <p:cNvSpPr/>
          <p:nvPr/>
        </p:nvSpPr>
        <p:spPr>
          <a:xfrm>
            <a:off x="9326880" y="1975103"/>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Сведение к контексту бренда и аудит безопасности до MVP</a:t>
            </a:r>
          </a:p>
        </p:txBody>
      </p:sp>
      <p:sp>
        <p:nvSpPr>
          <p:cNvPr id="35" name="Rounded Rectangle 34"/>
          <p:cNvSpPr/>
          <p:nvPr/>
        </p:nvSpPr>
        <p:spPr>
          <a:xfrm>
            <a:off x="502920" y="2624327"/>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788920"/>
            <a:ext cx="274320" cy="274320"/>
          </a:xfrm>
          <a:prstGeom prst="rect">
            <a:avLst/>
          </a:prstGeom>
        </p:spPr>
      </p:pic>
      <p:sp>
        <p:nvSpPr>
          <p:cNvPr id="37" name="TextBox 36"/>
          <p:cNvSpPr txBox="1"/>
          <p:nvPr/>
        </p:nvSpPr>
        <p:spPr>
          <a:xfrm>
            <a:off x="978408" y="2670047"/>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Сборка и запуск</a:t>
            </a:r>
          </a:p>
        </p:txBody>
      </p:sp>
      <p:sp>
        <p:nvSpPr>
          <p:cNvPr id="38" name="Rounded Rectangle 37"/>
          <p:cNvSpPr/>
          <p:nvPr/>
        </p:nvSpPr>
        <p:spPr>
          <a:xfrm>
            <a:off x="2249424"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77440"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MVP, гейт «продолжать/убить», канареечный запуск</a:t>
            </a:r>
          </a:p>
        </p:txBody>
      </p:sp>
      <p:sp>
        <p:nvSpPr>
          <p:cNvPr id="40" name="Rounded Rectangle 39"/>
          <p:cNvSpPr/>
          <p:nvPr/>
        </p:nvSpPr>
        <p:spPr>
          <a:xfrm>
            <a:off x="4681728" y="2624327"/>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09744" y="2670047"/>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Сама сборка: шаблонный и связующий код</a:t>
            </a:r>
          </a:p>
        </p:txBody>
      </p:sp>
      <p:sp>
        <p:nvSpPr>
          <p:cNvPr id="42" name="Rounded Rectangle 41"/>
          <p:cNvSpPr/>
          <p:nvPr/>
        </p:nvSpPr>
        <p:spPr>
          <a:xfrm>
            <a:off x="6894576"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22592"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Пропуск гейта оценки и поэтапной раскатки — ошибка сразу на всю аудиторию</a:t>
            </a:r>
          </a:p>
        </p:txBody>
      </p:sp>
      <p:sp>
        <p:nvSpPr>
          <p:cNvPr id="44" name="Rounded Rectangle 43"/>
          <p:cNvSpPr/>
          <p:nvPr/>
        </p:nvSpPr>
        <p:spPr>
          <a:xfrm>
            <a:off x="9326880" y="2624327"/>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54896"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Спецификация намерения на входе; решение о темпе и об остановке</a:t>
            </a:r>
          </a:p>
        </p:txBody>
      </p:sp>
      <p:sp>
        <p:nvSpPr>
          <p:cNvPr id="46" name="Rounded Rectangle 45"/>
          <p:cNvSpPr/>
          <p:nvPr/>
        </p:nvSpPr>
        <p:spPr>
          <a:xfrm>
            <a:off x="502920" y="3273551"/>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438144"/>
            <a:ext cx="274320" cy="274320"/>
          </a:xfrm>
          <a:prstGeom prst="rect">
            <a:avLst/>
          </a:prstGeom>
        </p:spPr>
      </p:pic>
      <p:sp>
        <p:nvSpPr>
          <p:cNvPr id="48" name="TextBox 47"/>
          <p:cNvSpPr txBox="1"/>
          <p:nvPr/>
        </p:nvSpPr>
        <p:spPr>
          <a:xfrm>
            <a:off x="978408" y="3319271"/>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Измерение</a:t>
            </a:r>
          </a:p>
        </p:txBody>
      </p:sp>
      <p:sp>
        <p:nvSpPr>
          <p:cNvPr id="49" name="Rounded Rectangle 48"/>
          <p:cNvSpPr/>
          <p:nvPr/>
        </p:nvSpPr>
        <p:spPr>
          <a:xfrm>
            <a:off x="2249424"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Контролируемый эксперимент, OEC, guardrail-метрики</a:t>
            </a:r>
          </a:p>
        </p:txBody>
      </p:sp>
      <p:sp>
        <p:nvSpPr>
          <p:cNvPr id="51" name="Rounded Rectangle 50"/>
          <p:cNvSpPr/>
          <p:nvPr/>
        </p:nvSpPr>
        <p:spPr>
          <a:xfrm>
            <a:off x="4681728" y="3273551"/>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09744" y="3319271"/>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Оценки в масштабе; дешёвый первый проход</a:t>
            </a:r>
          </a:p>
        </p:txBody>
      </p:sp>
      <p:sp>
        <p:nvSpPr>
          <p:cNvPr id="53" name="Rounded Rectangle 52"/>
          <p:cNvSpPr/>
          <p:nvPr/>
        </p:nvSpPr>
        <p:spPr>
          <a:xfrm>
            <a:off x="6894576"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22592"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Взломанная прокси без guardrail; бенчмарк не переносится на задачу</a:t>
            </a:r>
          </a:p>
        </p:txBody>
      </p:sp>
      <p:sp>
        <p:nvSpPr>
          <p:cNvPr id="55" name="Rounded Rectangle 54"/>
          <p:cNvSpPr/>
          <p:nvPr/>
        </p:nvSpPr>
        <p:spPr>
          <a:xfrm>
            <a:off x="9326880" y="3273551"/>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454896"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OEC и guardrail названы до теста; чтение результата через ловушки</a:t>
            </a:r>
          </a:p>
        </p:txBody>
      </p:sp>
      <p:sp>
        <p:nvSpPr>
          <p:cNvPr id="57" name="Rounded Rectangle 56"/>
          <p:cNvSpPr/>
          <p:nvPr/>
        </p:nvSpPr>
        <p:spPr>
          <a:xfrm>
            <a:off x="502920" y="3922775"/>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087367"/>
            <a:ext cx="274320" cy="274320"/>
          </a:xfrm>
          <a:prstGeom prst="rect">
            <a:avLst/>
          </a:prstGeom>
        </p:spPr>
      </p:pic>
      <p:sp>
        <p:nvSpPr>
          <p:cNvPr id="59" name="TextBox 58"/>
          <p:cNvSpPr txBox="1"/>
          <p:nvPr/>
        </p:nvSpPr>
        <p:spPr>
          <a:xfrm>
            <a:off x="978408" y="3968495"/>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Поддержка</a:t>
            </a:r>
          </a:p>
        </p:txBody>
      </p:sp>
      <p:sp>
        <p:nvSpPr>
          <p:cNvPr id="60" name="Rounded Rectangle 59"/>
          <p:cNvSpPr/>
          <p:nvPr/>
        </p:nvSpPr>
        <p:spPr>
          <a:xfrm>
            <a:off x="2249424"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377440"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SRE: SLI, SLO, бюджет ошибок, эскалация к человеку</a:t>
            </a:r>
          </a:p>
        </p:txBody>
      </p:sp>
      <p:sp>
        <p:nvSpPr>
          <p:cNvPr id="62" name="Rounded Rectangle 61"/>
          <p:cNvSpPr/>
          <p:nvPr/>
        </p:nvSpPr>
        <p:spPr>
          <a:xfrm>
            <a:off x="4681728" y="3922775"/>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09744" y="3968495"/>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Скорость наблюдения: трассировка и дашборды</a:t>
            </a:r>
          </a:p>
        </p:txBody>
      </p:sp>
      <p:sp>
        <p:nvSpPr>
          <p:cNvPr id="64" name="Rounded Rectangle 63"/>
          <p:cNvSpPr/>
          <p:nvPr/>
        </p:nvSpPr>
        <p:spPr>
          <a:xfrm>
            <a:off x="6894576"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22592"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Тихий дрейф маскируется агрегатом; поток ответов без гарантии эскалации</a:t>
            </a:r>
          </a:p>
        </p:txBody>
      </p:sp>
      <p:sp>
        <p:nvSpPr>
          <p:cNvPr id="66" name="Rounded Rectangle 65"/>
          <p:cNvSpPr/>
          <p:nvPr/>
        </p:nvSpPr>
        <p:spPr>
          <a:xfrm>
            <a:off x="9326880" y="3922775"/>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454896"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Владение системной моделью; ответственность за каждый ответ</a:t>
            </a:r>
          </a:p>
        </p:txBody>
      </p:sp>
      <p:sp>
        <p:nvSpPr>
          <p:cNvPr id="68" name="Rounded Rectangle 67"/>
          <p:cNvSpPr/>
          <p:nvPr/>
        </p:nvSpPr>
        <p:spPr>
          <a:xfrm>
            <a:off x="502920" y="4571999"/>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4736591"/>
            <a:ext cx="274320" cy="274320"/>
          </a:xfrm>
          <a:prstGeom prst="rect">
            <a:avLst/>
          </a:prstGeom>
        </p:spPr>
      </p:pic>
      <p:sp>
        <p:nvSpPr>
          <p:cNvPr id="70" name="TextBox 69"/>
          <p:cNvSpPr txBox="1"/>
          <p:nvPr/>
        </p:nvSpPr>
        <p:spPr>
          <a:xfrm>
            <a:off x="978408" y="4617719"/>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Управление</a:t>
            </a:r>
          </a:p>
        </p:txBody>
      </p:sp>
      <p:sp>
        <p:nvSpPr>
          <p:cNvPr id="71" name="Rounded Rectangle 70"/>
          <p:cNvSpPr/>
          <p:nvPr/>
        </p:nvSpPr>
        <p:spPr>
          <a:xfrm>
            <a:off x="2249424"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377440"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Портфельное управление, финансовый показатель с владельцем</a:t>
            </a:r>
          </a:p>
        </p:txBody>
      </p:sp>
      <p:sp>
        <p:nvSpPr>
          <p:cNvPr id="73" name="Rounded Rectangle 72"/>
          <p:cNvSpPr/>
          <p:nvPr/>
        </p:nvSpPr>
        <p:spPr>
          <a:xfrm>
            <a:off x="4681728" y="4571999"/>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09744" y="4617719"/>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Диагностика операционной модели организации</a:t>
            </a:r>
          </a:p>
        </p:txBody>
      </p:sp>
      <p:sp>
        <p:nvSpPr>
          <p:cNvPr id="75" name="Rounded Rectangle 74"/>
          <p:cNvSpPr/>
          <p:nvPr/>
        </p:nvSpPr>
        <p:spPr>
          <a:xfrm>
            <a:off x="6894576"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Статистика без знаменателя: 25% успеха среди дошедших, не 5% «всех»</a:t>
            </a:r>
          </a:p>
        </p:txBody>
      </p:sp>
      <p:sp>
        <p:nvSpPr>
          <p:cNvPr id="77" name="Rounded Rectangle 76"/>
          <p:cNvSpPr/>
          <p:nvPr/>
        </p:nvSpPr>
        <p:spPr>
          <a:xfrm>
            <a:off x="9326880" y="4571999"/>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54896"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Критерий успеха согласован заранее; сравнение со своей базовой линией</a:t>
            </a:r>
          </a:p>
        </p:txBody>
      </p:sp>
      <p:sp>
        <p:nvSpPr>
          <p:cNvPr id="79" name="TextBox 78"/>
          <p:cNvSpPr txBox="1"/>
          <p:nvPr/>
        </p:nvSpPr>
        <p:spPr>
          <a:xfrm>
            <a:off x="502920" y="5266943"/>
            <a:ext cx="11201400" cy="274320"/>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29,0% экранов проходят WCAG — ACM Web4All, 2026 · воронка 60% → 20% → 5% и знаменатель пилотов — MIT NANDA, июль 2025 · 60% компаний без финансового показателя ценности ИИ — BCG AI Radar, январь 2025 (n=1803)</a:t>
            </a:r>
          </a:p>
        </p:txBody>
      </p:sp>
      <p:sp>
        <p:nvSpPr>
          <p:cNvPr id="80" name="Rounded Rectangle 79"/>
          <p:cNvSpPr/>
          <p:nvPr/>
        </p:nvSpPr>
        <p:spPr>
          <a:xfrm>
            <a:off x="502920" y="5596127"/>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2376" y="5650991"/>
            <a:ext cx="10762488" cy="56692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задачи — дальше матрица отвечает по порядку, какую дисциплину держать, какой режим отказа стеречь и где решение не делегируется. Имена инструментов сменяемы; дисциплина, режим отказа и точка человека держатся на характере сложности и цене ошибки фазы.</a:t>
            </a:r>
          </a:p>
        </p:txBody>
      </p:sp>
      <p:sp>
        <p:nvSpPr>
          <p:cNvPr id="82" name="TextBox 8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независимых метода — один вывод: артефакт дешевеет, суждение — нет</a:t>
            </a:r>
          </a:p>
        </p:txBody>
      </p:sp>
      <p:sp>
        <p:nvSpPr>
          <p:cNvPr id="3" name="Rounded Rectangle 2"/>
          <p:cNvSpPr/>
          <p:nvPr/>
        </p:nvSpPr>
        <p:spPr>
          <a:xfrm>
            <a:off x="502920" y="896112"/>
            <a:ext cx="224942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2066543"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Свидетельство</a:t>
            </a:r>
          </a:p>
        </p:txBody>
      </p:sp>
      <p:sp>
        <p:nvSpPr>
          <p:cNvPr id="5" name="Rounded Rectangle 4"/>
          <p:cNvSpPr/>
          <p:nvPr/>
        </p:nvSpPr>
        <p:spPr>
          <a:xfrm>
            <a:off x="2807208" y="896112"/>
            <a:ext cx="2999232"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98648" y="896112"/>
            <a:ext cx="2816351"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Метод</a:t>
            </a:r>
          </a:p>
        </p:txBody>
      </p:sp>
      <p:sp>
        <p:nvSpPr>
          <p:cNvPr id="7" name="Rounded Rectangle 6"/>
          <p:cNvSpPr/>
          <p:nvPr/>
        </p:nvSpPr>
        <p:spPr>
          <a:xfrm>
            <a:off x="5861304" y="896112"/>
            <a:ext cx="3090672"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896112"/>
            <a:ext cx="2907791"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Что показывает</a:t>
            </a:r>
          </a:p>
        </p:txBody>
      </p:sp>
      <p:sp>
        <p:nvSpPr>
          <p:cNvPr id="9" name="Rounded Rectangle 8"/>
          <p:cNvSpPr/>
          <p:nvPr/>
        </p:nvSpPr>
        <p:spPr>
          <a:xfrm>
            <a:off x="9006840" y="896112"/>
            <a:ext cx="269748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98280" y="896112"/>
            <a:ext cx="2514600" cy="384048"/>
          </a:xfrm>
          <a:prstGeom prst="rect">
            <a:avLst/>
          </a:prstGeom>
          <a:noFill/>
        </p:spPr>
        <p:txBody>
          <a:bodyPr wrap="square" lIns="0" rIns="0" tIns="0" bIns="0" anchor="ctr">
            <a:spAutoFit/>
          </a:bodyPr>
          <a:lstStyle/>
          <a:p>
            <a:pPr algn="ctr">
              <a:lnSpc>
                <a:spcPct val="98000"/>
              </a:lnSpc>
            </a:pPr>
            <a:r>
              <a:rPr sz="1150" b="1" i="0">
                <a:solidFill>
                  <a:srgbClr val="21295C"/>
                </a:solidFill>
                <a:latin typeface="DejaVu Sans"/>
              </a:rPr>
              <a:t>Граница метода</a:t>
            </a:r>
          </a:p>
        </p:txBody>
      </p:sp>
      <p:sp>
        <p:nvSpPr>
          <p:cNvPr id="11" name="Rounded Rectangle 10"/>
          <p:cNvSpPr/>
          <p:nvPr/>
        </p:nvSpPr>
        <p:spPr>
          <a:xfrm>
            <a:off x="502920" y="1335024"/>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s-mid.png"/>
          <p:cNvPicPr>
            <a:picLocks noChangeAspect="1"/>
          </p:cNvPicPr>
          <p:nvPr/>
        </p:nvPicPr>
        <p:blipFill>
          <a:blip r:embed="rId2"/>
          <a:stretch>
            <a:fillRect/>
          </a:stretch>
        </p:blipFill>
        <p:spPr>
          <a:xfrm>
            <a:off x="630936" y="1728216"/>
            <a:ext cx="274320" cy="274320"/>
          </a:xfrm>
          <a:prstGeom prst="rect">
            <a:avLst/>
          </a:prstGeom>
        </p:spPr>
      </p:pic>
      <p:sp>
        <p:nvSpPr>
          <p:cNvPr id="13" name="TextBox 12"/>
          <p:cNvSpPr txBox="1"/>
          <p:nvPr/>
        </p:nvSpPr>
        <p:spPr>
          <a:xfrm>
            <a:off x="978408" y="1408176"/>
            <a:ext cx="1700784" cy="487923"/>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Организационные опросы</a:t>
            </a:r>
          </a:p>
        </p:txBody>
      </p:sp>
      <p:sp>
        <p:nvSpPr>
          <p:cNvPr id="14" name="TextBox 13"/>
          <p:cNvSpPr txBox="1"/>
          <p:nvPr/>
        </p:nvSpPr>
        <p:spPr>
          <a:xfrm>
            <a:off x="978408" y="1950232"/>
            <a:ext cx="1700784" cy="403067"/>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макро-уровень</a:t>
            </a:r>
          </a:p>
        </p:txBody>
      </p:sp>
      <p:sp>
        <p:nvSpPr>
          <p:cNvPr id="15" name="Rounded Rectangle 14"/>
          <p:cNvSpPr/>
          <p:nvPr/>
        </p:nvSpPr>
        <p:spPr>
          <a:xfrm>
            <a:off x="2807208" y="1335024"/>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1380744"/>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Кросс-секционный срез по многим организациям: BCG AI Radar 2025 — 1803 руководителя высшего звена, 19 стран (январь 2025); MIT NANDA — 300+ инициатив и 153 руководителя (июль 2025)</a:t>
            </a:r>
          </a:p>
        </p:txBody>
      </p:sp>
      <p:sp>
        <p:nvSpPr>
          <p:cNvPr id="17" name="Rounded Rectangle 16"/>
          <p:cNvSpPr/>
          <p:nvPr/>
        </p:nvSpPr>
        <p:spPr>
          <a:xfrm>
            <a:off x="5861304" y="1335024"/>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1380744"/>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60% компаний не отслеживают ни одного финансового показателя ценности AI. Воронка 60% → 20% → 5%: успех среди дошедших до пилота — 25%, не 5% «всех»</a:t>
            </a:r>
          </a:p>
        </p:txBody>
      </p:sp>
      <p:sp>
        <p:nvSpPr>
          <p:cNvPr id="19" name="Rounded Rectangle 18"/>
          <p:cNvSpPr/>
          <p:nvPr/>
        </p:nvSpPr>
        <p:spPr>
          <a:xfrm>
            <a:off x="9006840" y="1335024"/>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34856" y="1380744"/>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Самоотчёт руководителей; разные знаменатели у разных обзоров; у MIT NANDA — нераскрытый конфликт интересов авторов</a:t>
            </a:r>
          </a:p>
        </p:txBody>
      </p:sp>
      <p:sp>
        <p:nvSpPr>
          <p:cNvPr id="21" name="Rounded Rectangle 20"/>
          <p:cNvSpPr/>
          <p:nvPr/>
        </p:nvSpPr>
        <p:spPr>
          <a:xfrm>
            <a:off x="502920" y="2450592"/>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it-branch-mid.png"/>
          <p:cNvPicPr>
            <a:picLocks noChangeAspect="1"/>
          </p:cNvPicPr>
          <p:nvPr/>
        </p:nvPicPr>
        <p:blipFill>
          <a:blip r:embed="rId3"/>
          <a:stretch>
            <a:fillRect/>
          </a:stretch>
        </p:blipFill>
        <p:spPr>
          <a:xfrm>
            <a:off x="630936" y="2843784"/>
            <a:ext cx="274320" cy="274320"/>
          </a:xfrm>
          <a:prstGeom prst="rect">
            <a:avLst/>
          </a:prstGeom>
        </p:spPr>
      </p:pic>
      <p:sp>
        <p:nvSpPr>
          <p:cNvPr id="23" name="TextBox 22"/>
          <p:cNvSpPr txBox="1"/>
          <p:nvPr/>
        </p:nvSpPr>
        <p:spPr>
          <a:xfrm>
            <a:off x="978408" y="2523744"/>
            <a:ext cx="1700784" cy="487923"/>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Внутренняя телеметрия</a:t>
            </a:r>
          </a:p>
        </p:txBody>
      </p:sp>
      <p:sp>
        <p:nvSpPr>
          <p:cNvPr id="24" name="TextBox 23"/>
          <p:cNvSpPr txBox="1"/>
          <p:nvPr/>
        </p:nvSpPr>
        <p:spPr>
          <a:xfrm>
            <a:off x="978408" y="3065800"/>
            <a:ext cx="1700784" cy="403067"/>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уровень сборки и ревью</a:t>
            </a:r>
          </a:p>
        </p:txBody>
      </p:sp>
      <p:sp>
        <p:nvSpPr>
          <p:cNvPr id="25" name="Rounded Rectangle 24"/>
          <p:cNvSpPr/>
          <p:nvPr/>
        </p:nvSpPr>
        <p:spPr>
          <a:xfrm>
            <a:off x="2807208" y="2450592"/>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35224" y="2496312"/>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Данные одной компании о собственной практике: публичное заявление инженера Anthropic (Черны, 9 марта 2026) и анонс инструмента ревью (~10 марта 2026, подтверждён InfoQ)</a:t>
            </a:r>
          </a:p>
        </p:txBody>
      </p:sp>
      <p:sp>
        <p:nvSpPr>
          <p:cNvPr id="27" name="Rounded Rectangle 26"/>
          <p:cNvSpPr/>
          <p:nvPr/>
        </p:nvSpPr>
        <p:spPr>
          <a:xfrm>
            <a:off x="5861304" y="2450592"/>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9320" y="2496312"/>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Объём кода на инженера вырос примерно на 200% год к году. Доля запросов на слияние с содержательным ревью выросла с ~16% до ~54% после запуска инструмента</a:t>
            </a:r>
          </a:p>
        </p:txBody>
      </p:sp>
      <p:sp>
        <p:nvSpPr>
          <p:cNvPr id="29" name="Rounded Rectangle 28"/>
          <p:cNvSpPr/>
          <p:nvPr/>
        </p:nvSpPr>
        <p:spPr>
          <a:xfrm>
            <a:off x="9006840" y="2450592"/>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34856" y="2496312"/>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Одна компания — напрямую на индустрию не обобщается; зато раскрыт невыгодный для собственного продукта разрыв</a:t>
            </a:r>
          </a:p>
        </p:txBody>
      </p:sp>
      <p:sp>
        <p:nvSpPr>
          <p:cNvPr id="31" name="Rounded Rectangle 30"/>
          <p:cNvSpPr/>
          <p:nvPr/>
        </p:nvSpPr>
        <p:spPr>
          <a:xfrm>
            <a:off x="502920" y="3566160"/>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flask-conical-mid.png"/>
          <p:cNvPicPr>
            <a:picLocks noChangeAspect="1"/>
          </p:cNvPicPr>
          <p:nvPr/>
        </p:nvPicPr>
        <p:blipFill>
          <a:blip r:embed="rId4"/>
          <a:stretch>
            <a:fillRect/>
          </a:stretch>
        </p:blipFill>
        <p:spPr>
          <a:xfrm>
            <a:off x="630936" y="3959352"/>
            <a:ext cx="274320" cy="274320"/>
          </a:xfrm>
          <a:prstGeom prst="rect">
            <a:avLst/>
          </a:prstGeom>
        </p:spPr>
      </p:pic>
      <p:sp>
        <p:nvSpPr>
          <p:cNvPr id="33" name="TextBox 32"/>
          <p:cNvSpPr txBox="1"/>
          <p:nvPr/>
        </p:nvSpPr>
        <p:spPr>
          <a:xfrm>
            <a:off x="978408" y="3639312"/>
            <a:ext cx="1700784" cy="487923"/>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Контролируемое измерение</a:t>
            </a:r>
          </a:p>
        </p:txBody>
      </p:sp>
      <p:sp>
        <p:nvSpPr>
          <p:cNvPr id="34" name="TextBox 33"/>
          <p:cNvSpPr txBox="1"/>
          <p:nvPr/>
        </p:nvSpPr>
        <p:spPr>
          <a:xfrm>
            <a:off x="978408" y="4181368"/>
            <a:ext cx="1700784" cy="403067"/>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уровень оценки</a:t>
            </a:r>
          </a:p>
        </p:txBody>
      </p:sp>
      <p:sp>
        <p:nvSpPr>
          <p:cNvPr id="35" name="Rounded Rectangle 34"/>
          <p:cNvSpPr/>
          <p:nvPr/>
        </p:nvSpPr>
        <p:spPr>
          <a:xfrm>
            <a:off x="2807208" y="3566160"/>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35224" y="3611879"/>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Состязательный набор задач и рецензируемое измерение на реальном формате работы: Med-PaLM 2; Stanford RegLab, 2024 — 202 юридических запроса</a:t>
            </a:r>
          </a:p>
        </p:txBody>
      </p:sp>
      <p:sp>
        <p:nvSpPr>
          <p:cNvPr id="37" name="Rounded Rectangle 36"/>
          <p:cNvSpPr/>
          <p:nvPr/>
        </p:nvSpPr>
        <p:spPr>
          <a:xfrm>
            <a:off x="5861304" y="3566160"/>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89320" y="3611879"/>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86,5% на экзаменационном наборе MedQA не вскрывают открытые сбои клинической безопасности. Lexis+ AI ошибается в 17% случаев, Westlaw AI — примерно в 33%</a:t>
            </a:r>
          </a:p>
        </p:txBody>
      </p:sp>
      <p:sp>
        <p:nvSpPr>
          <p:cNvPr id="39" name="Rounded Rectangle 38"/>
          <p:cNvSpPr/>
          <p:nvPr/>
        </p:nvSpPr>
        <p:spPr>
          <a:xfrm>
            <a:off x="9006840" y="3566160"/>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856" y="3611879"/>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Узкие предметные области; единицы измерения между доменами разные и напрямую не складываются</a:t>
            </a:r>
          </a:p>
        </p:txBody>
      </p:sp>
      <p:sp>
        <p:nvSpPr>
          <p:cNvPr id="41" name="Rounded Rectangle 40"/>
          <p:cNvSpPr/>
          <p:nvPr/>
        </p:nvSpPr>
        <p:spPr>
          <a:xfrm>
            <a:off x="502920" y="4791455"/>
            <a:ext cx="11201400" cy="1481328"/>
          </a:xfrm>
          <a:prstGeom prst="roundRect">
            <a:avLst>
              <a:gd name="adj" fmla="val 7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713232" y="4992623"/>
            <a:ext cx="1572768" cy="29260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Опрос</a:t>
            </a:r>
          </a:p>
        </p:txBody>
      </p:sp>
      <p:cxnSp>
        <p:nvCxnSpPr>
          <p:cNvPr id="43" name="Connector 42"/>
          <p:cNvCxnSpPr/>
          <p:nvPr/>
        </p:nvCxnSpPr>
        <p:spPr>
          <a:xfrm>
            <a:off x="2340864" y="5138927"/>
            <a:ext cx="621792" cy="393192"/>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13232" y="5358383"/>
            <a:ext cx="157276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Телеметрия</a:t>
            </a:r>
          </a:p>
        </p:txBody>
      </p:sp>
      <p:cxnSp>
        <p:nvCxnSpPr>
          <p:cNvPr id="45" name="Connector 44"/>
          <p:cNvCxnSpPr/>
          <p:nvPr/>
        </p:nvCxnSpPr>
        <p:spPr>
          <a:xfrm>
            <a:off x="2340864" y="5504688"/>
            <a:ext cx="621792" cy="27431"/>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713232" y="5724143"/>
            <a:ext cx="1572768"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Измерение</a:t>
            </a:r>
          </a:p>
        </p:txBody>
      </p:sp>
      <p:cxnSp>
        <p:nvCxnSpPr>
          <p:cNvPr id="47" name="Connector 46"/>
          <p:cNvCxnSpPr/>
          <p:nvPr/>
        </p:nvCxnSpPr>
        <p:spPr>
          <a:xfrm flipV="1">
            <a:off x="2340864" y="5532119"/>
            <a:ext cx="621792" cy="338328"/>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2962656" y="5321807"/>
            <a:ext cx="420624" cy="420624"/>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crosshair-gold.png"/>
          <p:cNvPicPr>
            <a:picLocks noChangeAspect="1"/>
          </p:cNvPicPr>
          <p:nvPr/>
        </p:nvPicPr>
        <p:blipFill>
          <a:blip r:embed="rId5"/>
          <a:stretch>
            <a:fillRect/>
          </a:stretch>
        </p:blipFill>
        <p:spPr>
          <a:xfrm>
            <a:off x="3026664" y="5385816"/>
            <a:ext cx="292608" cy="292608"/>
          </a:xfrm>
          <a:prstGeom prst="rect">
            <a:avLst/>
          </a:prstGeom>
        </p:spPr>
      </p:pic>
      <p:sp>
        <p:nvSpPr>
          <p:cNvPr id="50" name="TextBox 49"/>
          <p:cNvSpPr txBox="1"/>
          <p:nvPr/>
        </p:nvSpPr>
        <p:spPr>
          <a:xfrm>
            <a:off x="3621024" y="4937759"/>
            <a:ext cx="7909560" cy="1188720"/>
          </a:xfrm>
          <a:prstGeom prst="rect">
            <a:avLst/>
          </a:prstGeom>
          <a:noFill/>
        </p:spPr>
        <p:txBody>
          <a:bodyPr wrap="square" lIns="0" rIns="0" tIns="0" bIns="0" anchor="ctr">
            <a:spAutoFit/>
          </a:bodyPr>
          <a:lstStyle/>
          <a:p>
            <a:pPr algn="l">
              <a:lnSpc>
                <a:spcPct val="118000"/>
              </a:lnSpc>
            </a:pPr>
            <a:r>
              <a:rPr sz="1300" b="1" i="0">
                <a:solidFill>
                  <a:srgbClr val="21295C"/>
                </a:solidFill>
                <a:latin typeface="DejaVu Sans"/>
              </a:rPr>
              <a:t>Сила аргумента — не в величине отдельного числа, а в независимости методов: три разных объекта измерены тремя разными инструментами, и все три указывают в одну сторону. Артефакт производится быстро и дёшево, а работа «назвать критерий заранее и содержательно проверить результат» не дешевеет.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76656"/>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решают режим фазы: без гейта — только при высокой обратимости, низкой стоимости и высокой наблюдаемости</a:t>
            </a:r>
          </a:p>
        </p:txBody>
      </p:sp>
      <p:sp>
        <p:nvSpPr>
          <p:cNvPr id="3" name="Rounded Rectangle 2"/>
          <p:cNvSpPr/>
          <p:nvPr/>
        </p:nvSpPr>
        <p:spPr>
          <a:xfrm>
            <a:off x="502920" y="914400"/>
            <a:ext cx="3611880" cy="1152144"/>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tate-ccw-mid.png"/>
          <p:cNvPicPr>
            <a:picLocks noChangeAspect="1"/>
          </p:cNvPicPr>
          <p:nvPr/>
        </p:nvPicPr>
        <p:blipFill>
          <a:blip r:embed="rId2"/>
          <a:stretch>
            <a:fillRect/>
          </a:stretch>
        </p:blipFill>
        <p:spPr>
          <a:xfrm>
            <a:off x="685800" y="1024128"/>
            <a:ext cx="365760" cy="365760"/>
          </a:xfrm>
          <a:prstGeom prst="rect">
            <a:avLst/>
          </a:prstGeom>
        </p:spPr>
      </p:pic>
      <p:sp>
        <p:nvSpPr>
          <p:cNvPr id="5" name="TextBox 4"/>
          <p:cNvSpPr txBox="1"/>
          <p:nvPr/>
        </p:nvSpPr>
        <p:spPr>
          <a:xfrm>
            <a:off x="1161288" y="1005840"/>
            <a:ext cx="2807208"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6" name="TextBox 5"/>
          <p:cNvSpPr txBox="1"/>
          <p:nvPr/>
        </p:nvSpPr>
        <p:spPr>
          <a:xfrm>
            <a:off x="70408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легко откатить последствие, если вывод неверен.</a:t>
            </a:r>
          </a:p>
        </p:txBody>
      </p:sp>
      <p:sp>
        <p:nvSpPr>
          <p:cNvPr id="7" name="Rounded Rectangle 6"/>
          <p:cNvSpPr/>
          <p:nvPr/>
        </p:nvSpPr>
        <p:spPr>
          <a:xfrm>
            <a:off x="4297680" y="914400"/>
            <a:ext cx="3611880" cy="115214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nknote-mid.png"/>
          <p:cNvPicPr>
            <a:picLocks noChangeAspect="1"/>
          </p:cNvPicPr>
          <p:nvPr/>
        </p:nvPicPr>
        <p:blipFill>
          <a:blip r:embed="rId3"/>
          <a:stretch>
            <a:fillRect/>
          </a:stretch>
        </p:blipFill>
        <p:spPr>
          <a:xfrm>
            <a:off x="4480560" y="1024128"/>
            <a:ext cx="365760" cy="365760"/>
          </a:xfrm>
          <a:prstGeom prst="rect">
            <a:avLst/>
          </a:prstGeom>
        </p:spPr>
      </p:pic>
      <p:sp>
        <p:nvSpPr>
          <p:cNvPr id="9" name="TextBox 8"/>
          <p:cNvSpPr txBox="1"/>
          <p:nvPr/>
        </p:nvSpPr>
        <p:spPr>
          <a:xfrm>
            <a:off x="4956048" y="1005840"/>
            <a:ext cx="2807208"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Стоимость ошибки</a:t>
            </a:r>
          </a:p>
        </p:txBody>
      </p:sp>
      <p:sp>
        <p:nvSpPr>
          <p:cNvPr id="10" name="TextBox 9"/>
          <p:cNvSpPr txBox="1"/>
          <p:nvPr/>
        </p:nvSpPr>
        <p:spPr>
          <a:xfrm>
            <a:off x="449884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Во что обойдётся ошибка: деньги, репутация, здоровье, ответственность.</a:t>
            </a:r>
          </a:p>
        </p:txBody>
      </p:sp>
      <p:sp>
        <p:nvSpPr>
          <p:cNvPr id="11" name="Rounded Rectangle 10"/>
          <p:cNvSpPr/>
          <p:nvPr/>
        </p:nvSpPr>
        <p:spPr>
          <a:xfrm>
            <a:off x="8092440" y="914400"/>
            <a:ext cx="3611880" cy="1152144"/>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mid.png"/>
          <p:cNvPicPr>
            <a:picLocks noChangeAspect="1"/>
          </p:cNvPicPr>
          <p:nvPr/>
        </p:nvPicPr>
        <p:blipFill>
          <a:blip r:embed="rId4"/>
          <a:stretch>
            <a:fillRect/>
          </a:stretch>
        </p:blipFill>
        <p:spPr>
          <a:xfrm>
            <a:off x="8275320" y="1024128"/>
            <a:ext cx="365760" cy="365760"/>
          </a:xfrm>
          <a:prstGeom prst="rect">
            <a:avLst/>
          </a:prstGeom>
        </p:spPr>
      </p:pic>
      <p:sp>
        <p:nvSpPr>
          <p:cNvPr id="13" name="TextBox 12"/>
          <p:cNvSpPr txBox="1"/>
          <p:nvPr/>
        </p:nvSpPr>
        <p:spPr>
          <a:xfrm>
            <a:off x="8750808" y="1005840"/>
            <a:ext cx="2807208"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4" name="TextBox 13"/>
          <p:cNvSpPr txBox="1"/>
          <p:nvPr/>
        </p:nvSpPr>
        <p:spPr>
          <a:xfrm>
            <a:off x="829360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быстро узнаем, что вывод неверен, — до того как вред накопится.</a:t>
            </a:r>
          </a:p>
        </p:txBody>
      </p:sp>
      <p:sp>
        <p:nvSpPr>
          <p:cNvPr id="15" name="Rounded Rectangle 14"/>
          <p:cNvSpPr/>
          <p:nvPr/>
        </p:nvSpPr>
        <p:spPr>
          <a:xfrm>
            <a:off x="502920" y="217627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2231136"/>
            <a:ext cx="10762488" cy="676656"/>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гейта, соразмерного проблемной оси.</a:t>
            </a:r>
          </a:p>
        </p:txBody>
      </p:sp>
      <p:sp>
        <p:nvSpPr>
          <p:cNvPr id="17" name="Rounded Rectangle 16"/>
          <p:cNvSpPr/>
          <p:nvPr/>
        </p:nvSpPr>
        <p:spPr>
          <a:xfrm>
            <a:off x="502920" y="3054096"/>
            <a:ext cx="2340864"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054096"/>
            <a:ext cx="2157984"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19" name="Rounded Rectangle 18"/>
          <p:cNvSpPr/>
          <p:nvPr/>
        </p:nvSpPr>
        <p:spPr>
          <a:xfrm>
            <a:off x="2898648" y="3054096"/>
            <a:ext cx="204825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90088" y="3054096"/>
            <a:ext cx="1865376"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1" name="Rounded Rectangle 20"/>
          <p:cNvSpPr/>
          <p:nvPr/>
        </p:nvSpPr>
        <p:spPr>
          <a:xfrm>
            <a:off x="500176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320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Стоимость ошибки</a:t>
            </a:r>
          </a:p>
        </p:txBody>
      </p:sp>
      <p:sp>
        <p:nvSpPr>
          <p:cNvPr id="23" name="Rounded Rectangle 22"/>
          <p:cNvSpPr/>
          <p:nvPr/>
        </p:nvSpPr>
        <p:spPr>
          <a:xfrm>
            <a:off x="719632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8776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25" name="Rounded Rectangle 24"/>
          <p:cNvSpPr/>
          <p:nvPr/>
        </p:nvSpPr>
        <p:spPr>
          <a:xfrm>
            <a:off x="9390888" y="3054096"/>
            <a:ext cx="2313432" cy="36576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82328" y="3054096"/>
            <a:ext cx="2130551" cy="365760"/>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27" name="Rounded Rectangle 26"/>
          <p:cNvSpPr/>
          <p:nvPr/>
        </p:nvSpPr>
        <p:spPr>
          <a:xfrm>
            <a:off x="502920" y="3474720"/>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3547872"/>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29" name="TextBox 28"/>
          <p:cNvSpPr txBox="1"/>
          <p:nvPr/>
        </p:nvSpPr>
        <p:spPr>
          <a:xfrm>
            <a:off x="630936" y="4036893"/>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раскатка на 100% трафика поиска</a:t>
            </a:r>
          </a:p>
        </p:txBody>
      </p:sp>
      <p:sp>
        <p:nvSpPr>
          <p:cNvPr id="30" name="Rounded Rectangle 29"/>
          <p:cNvSpPr/>
          <p:nvPr/>
        </p:nvSpPr>
        <p:spPr>
          <a:xfrm>
            <a:off x="2898648" y="3474720"/>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26664" y="3520439"/>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 вся аудитория увидела ответ одновременно</a:t>
            </a:r>
          </a:p>
        </p:txBody>
      </p:sp>
      <p:sp>
        <p:nvSpPr>
          <p:cNvPr id="32" name="Rounded Rectangle 31"/>
          <p:cNvSpPr/>
          <p:nvPr/>
        </p:nvSpPr>
        <p:spPr>
          <a:xfrm>
            <a:off x="500176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978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высокая — вирусный, потенциально опасный совет</a:t>
            </a:r>
          </a:p>
        </p:txBody>
      </p:sp>
      <p:sp>
        <p:nvSpPr>
          <p:cNvPr id="34" name="Rounded Rectangle 33"/>
          <p:cNvSpPr/>
          <p:nvPr/>
        </p:nvSpPr>
        <p:spPr>
          <a:xfrm>
            <a:off x="719632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434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была бы высокой при канареечной фазе, но её пропустили</a:t>
            </a:r>
          </a:p>
        </p:txBody>
      </p:sp>
      <p:sp>
        <p:nvSpPr>
          <p:cNvPr id="36" name="Rounded Rectangle 35"/>
          <p:cNvSpPr/>
          <p:nvPr/>
        </p:nvSpPr>
        <p:spPr>
          <a:xfrm>
            <a:off x="9390888" y="3474720"/>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18904" y="3520439"/>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обратимость (масштаб раскатки) → поэтапная раскатка возвращает и наблюдаемость</a:t>
            </a:r>
          </a:p>
        </p:txBody>
      </p:sp>
      <p:sp>
        <p:nvSpPr>
          <p:cNvPr id="38" name="Rounded Rectangle 37"/>
          <p:cNvSpPr/>
          <p:nvPr/>
        </p:nvSpPr>
        <p:spPr>
          <a:xfrm>
            <a:off x="502920" y="4498847"/>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4571999"/>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0" name="TextBox 39"/>
          <p:cNvSpPr txBox="1"/>
          <p:nvPr/>
        </p:nvSpPr>
        <p:spPr>
          <a:xfrm>
            <a:off x="630936" y="5061021"/>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закупка недвижимости по прогнозу цены</a:t>
            </a:r>
          </a:p>
        </p:txBody>
      </p:sp>
      <p:sp>
        <p:nvSpPr>
          <p:cNvPr id="41" name="Rounded Rectangle 40"/>
          <p:cNvSpPr/>
          <p:nvPr/>
        </p:nvSpPr>
        <p:spPr>
          <a:xfrm>
            <a:off x="2898648" y="4498847"/>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26664" y="4544567"/>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минимальная — купленный дом не отменяется одним кликом</a:t>
            </a:r>
          </a:p>
        </p:txBody>
      </p:sp>
      <p:sp>
        <p:nvSpPr>
          <p:cNvPr id="43" name="Rounded Rectangle 42"/>
          <p:cNvSpPr/>
          <p:nvPr/>
        </p:nvSpPr>
        <p:spPr>
          <a:xfrm>
            <a:off x="500176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2978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максимальная — списания $304–408 млн, ≈2000 домов в убыток, ≈$80 тыс. на дом</a:t>
            </a:r>
          </a:p>
        </p:txBody>
      </p:sp>
      <p:sp>
        <p:nvSpPr>
          <p:cNvPr id="45" name="Rounded Rectangle 44"/>
          <p:cNvSpPr/>
          <p:nvPr/>
        </p:nvSpPr>
        <p:spPr>
          <a:xfrm>
            <a:off x="719632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2434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по конструкции — только квартальная отчётность, не контроль в реальном времени</a:t>
            </a:r>
          </a:p>
        </p:txBody>
      </p:sp>
      <p:sp>
        <p:nvSpPr>
          <p:cNvPr id="47" name="Rounded Rectangle 46"/>
          <p:cNvSpPr/>
          <p:nvPr/>
        </p:nvSpPr>
        <p:spPr>
          <a:xfrm>
            <a:off x="9390888" y="4498847"/>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4544567"/>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все три оси сразу → нужен жёсткий гейт на каждой, не было ни одного</a:t>
            </a:r>
          </a:p>
        </p:txBody>
      </p:sp>
      <p:sp>
        <p:nvSpPr>
          <p:cNvPr id="49" name="Rounded Rectangle 48"/>
          <p:cNvSpPr/>
          <p:nvPr/>
        </p:nvSpPr>
        <p:spPr>
          <a:xfrm>
            <a:off x="502920" y="5596127"/>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2376" y="5650991"/>
            <a:ext cx="10762488" cy="585216"/>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Вопрос залу: команда хочет отдать ИИ автоматический ответ на публичные отзывы о продукте. Прогоните случай по трём осям — какая из них проблемная и какая мера её закрывает?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37744"/>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Восемь вопросов, восемь действий: чек-лист распределяет бремя доказательства</a:t>
            </a:r>
          </a:p>
        </p:txBody>
      </p:sp>
      <p:sp>
        <p:nvSpPr>
          <p:cNvPr id="3" name="Rounded Rectangle 2"/>
          <p:cNvSpPr/>
          <p:nvPr/>
        </p:nvSpPr>
        <p:spPr>
          <a:xfrm>
            <a:off x="502920" y="841248"/>
            <a:ext cx="475488" cy="34747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841248"/>
            <a:ext cx="475488" cy="34747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a:t>
            </a:r>
          </a:p>
        </p:txBody>
      </p:sp>
      <p:sp>
        <p:nvSpPr>
          <p:cNvPr id="5" name="Rounded Rectangle 4"/>
          <p:cNvSpPr/>
          <p:nvPr/>
        </p:nvSpPr>
        <p:spPr>
          <a:xfrm>
            <a:off x="1033271" y="841248"/>
            <a:ext cx="3749039"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 y="841248"/>
            <a:ext cx="3566159"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Вопрос</a:t>
            </a:r>
          </a:p>
        </p:txBody>
      </p:sp>
      <p:sp>
        <p:nvSpPr>
          <p:cNvPr id="7" name="Rounded Rectangle 6"/>
          <p:cNvSpPr/>
          <p:nvPr/>
        </p:nvSpPr>
        <p:spPr>
          <a:xfrm>
            <a:off x="4837175" y="841248"/>
            <a:ext cx="686714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28615" y="841248"/>
            <a:ext cx="6684264"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Действие, если ответ «нет»</a:t>
            </a:r>
          </a:p>
        </p:txBody>
      </p:sp>
      <p:sp>
        <p:nvSpPr>
          <p:cNvPr id="9" name="Rounded Rectangle 8"/>
          <p:cNvSpPr/>
          <p:nvPr/>
        </p:nvSpPr>
        <p:spPr>
          <a:xfrm>
            <a:off x="502920" y="12252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252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1</a:t>
            </a:r>
          </a:p>
        </p:txBody>
      </p:sp>
      <p:sp>
        <p:nvSpPr>
          <p:cNvPr id="11" name="Rounded Rectangle 10"/>
          <p:cNvSpPr/>
          <p:nvPr/>
        </p:nvSpPr>
        <p:spPr>
          <a:xfrm>
            <a:off x="1033271" y="12252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mid.png"/>
          <p:cNvPicPr>
            <a:picLocks noChangeAspect="1"/>
          </p:cNvPicPr>
          <p:nvPr/>
        </p:nvPicPr>
        <p:blipFill>
          <a:blip r:embed="rId2"/>
          <a:stretch>
            <a:fillRect/>
          </a:stretch>
        </p:blipFill>
        <p:spPr>
          <a:xfrm>
            <a:off x="1161288" y="1344168"/>
            <a:ext cx="274320" cy="274320"/>
          </a:xfrm>
          <a:prstGeom prst="rect">
            <a:avLst/>
          </a:prstGeom>
        </p:spPr>
      </p:pic>
      <p:sp>
        <p:nvSpPr>
          <p:cNvPr id="13" name="TextBox 12"/>
          <p:cNvSpPr txBox="1"/>
          <p:nvPr/>
        </p:nvSpPr>
        <p:spPr>
          <a:xfrm>
            <a:off x="1508760" y="127101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Классика фазы на месте?</a:t>
            </a:r>
          </a:p>
        </p:txBody>
      </p:sp>
      <p:sp>
        <p:nvSpPr>
          <p:cNvPr id="14" name="Rounded Rectangle 13"/>
          <p:cNvSpPr/>
          <p:nvPr/>
        </p:nvSpPr>
        <p:spPr>
          <a:xfrm>
            <a:off x="4837175" y="12252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65191" y="127101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Сначала выстроить базовую дисциплину фазы — в пустоте усиливать нечего</a:t>
            </a:r>
          </a:p>
        </p:txBody>
      </p:sp>
      <p:sp>
        <p:nvSpPr>
          <p:cNvPr id="16" name="Rounded Rectangle 15"/>
          <p:cNvSpPr/>
          <p:nvPr/>
        </p:nvSpPr>
        <p:spPr>
          <a:xfrm>
            <a:off x="502920" y="17739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7739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2</a:t>
            </a:r>
          </a:p>
        </p:txBody>
      </p:sp>
      <p:sp>
        <p:nvSpPr>
          <p:cNvPr id="18" name="Rounded Rectangle 17"/>
          <p:cNvSpPr/>
          <p:nvPr/>
        </p:nvSpPr>
        <p:spPr>
          <a:xfrm>
            <a:off x="1033271" y="17739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mid.png"/>
          <p:cNvPicPr>
            <a:picLocks noChangeAspect="1"/>
          </p:cNvPicPr>
          <p:nvPr/>
        </p:nvPicPr>
        <p:blipFill>
          <a:blip r:embed="rId2"/>
          <a:stretch>
            <a:fillRect/>
          </a:stretch>
        </p:blipFill>
        <p:spPr>
          <a:xfrm>
            <a:off x="1161288" y="1892808"/>
            <a:ext cx="274320" cy="274320"/>
          </a:xfrm>
          <a:prstGeom prst="rect">
            <a:avLst/>
          </a:prstGeom>
        </p:spPr>
      </p:pic>
      <p:sp>
        <p:nvSpPr>
          <p:cNvPr id="20" name="TextBox 19"/>
          <p:cNvSpPr txBox="1"/>
          <p:nvPr/>
        </p:nvSpPr>
        <p:spPr>
          <a:xfrm>
            <a:off x="1508760" y="181965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Стоит ли доверие своей цены?</a:t>
            </a:r>
          </a:p>
        </p:txBody>
      </p:sp>
      <p:sp>
        <p:nvSpPr>
          <p:cNvPr id="21" name="Rounded Rectangle 20"/>
          <p:cNvSpPr/>
          <p:nvPr/>
        </p:nvSpPr>
        <p:spPr>
          <a:xfrm>
            <a:off x="4837175" y="17739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1" y="181965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Добавить проверку там, где доверие упало: guardrail-метрику или мониторинг сегментов, а не агрегат</a:t>
            </a:r>
          </a:p>
        </p:txBody>
      </p:sp>
      <p:sp>
        <p:nvSpPr>
          <p:cNvPr id="23" name="Rounded Rectangle 22"/>
          <p:cNvSpPr/>
          <p:nvPr/>
        </p:nvSpPr>
        <p:spPr>
          <a:xfrm>
            <a:off x="502920" y="232257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232257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3</a:t>
            </a:r>
          </a:p>
        </p:txBody>
      </p:sp>
      <p:sp>
        <p:nvSpPr>
          <p:cNvPr id="25" name="Rounded Rectangle 24"/>
          <p:cNvSpPr/>
          <p:nvPr/>
        </p:nvSpPr>
        <p:spPr>
          <a:xfrm>
            <a:off x="1033271" y="232257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ircle-check-mid.png"/>
          <p:cNvPicPr>
            <a:picLocks noChangeAspect="1"/>
          </p:cNvPicPr>
          <p:nvPr/>
        </p:nvPicPr>
        <p:blipFill>
          <a:blip r:embed="rId2"/>
          <a:stretch>
            <a:fillRect/>
          </a:stretch>
        </p:blipFill>
        <p:spPr>
          <a:xfrm>
            <a:off x="1161288" y="2441448"/>
            <a:ext cx="274320" cy="274320"/>
          </a:xfrm>
          <a:prstGeom prst="rect">
            <a:avLst/>
          </a:prstGeom>
        </p:spPr>
      </p:pic>
      <p:sp>
        <p:nvSpPr>
          <p:cNvPr id="27" name="TextBox 26"/>
          <p:cNvSpPr txBox="1"/>
          <p:nvPr/>
        </p:nvSpPr>
        <p:spPr>
          <a:xfrm>
            <a:off x="1508760" y="236829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эталонный набор и оценка против него?</a:t>
            </a:r>
          </a:p>
        </p:txBody>
      </p:sp>
      <p:sp>
        <p:nvSpPr>
          <p:cNvPr id="28" name="Rounded Rectangle 27"/>
          <p:cNvSpPr/>
          <p:nvPr/>
        </p:nvSpPr>
        <p:spPr>
          <a:xfrm>
            <a:off x="4837175" y="232257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65191" y="236829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Построить набор из 20–100 примеров до развёртывания — иначе нет базы, от которой меряется регрессия</a:t>
            </a:r>
          </a:p>
        </p:txBody>
      </p:sp>
      <p:sp>
        <p:nvSpPr>
          <p:cNvPr id="30" name="Rounded Rectangle 29"/>
          <p:cNvSpPr/>
          <p:nvPr/>
        </p:nvSpPr>
        <p:spPr>
          <a:xfrm>
            <a:off x="502920" y="287121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287121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4</a:t>
            </a:r>
          </a:p>
        </p:txBody>
      </p:sp>
      <p:sp>
        <p:nvSpPr>
          <p:cNvPr id="32" name="Rounded Rectangle 31"/>
          <p:cNvSpPr/>
          <p:nvPr/>
        </p:nvSpPr>
        <p:spPr>
          <a:xfrm>
            <a:off x="1033271" y="287121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2"/>
          <a:stretch>
            <a:fillRect/>
          </a:stretch>
        </p:blipFill>
        <p:spPr>
          <a:xfrm>
            <a:off x="1161288" y="2990088"/>
            <a:ext cx="274320" cy="274320"/>
          </a:xfrm>
          <a:prstGeom prst="rect">
            <a:avLst/>
          </a:prstGeom>
        </p:spPr>
      </p:pic>
      <p:sp>
        <p:nvSpPr>
          <p:cNvPr id="34" name="TextBox 33"/>
          <p:cNvSpPr txBox="1"/>
          <p:nvPr/>
        </p:nvSpPr>
        <p:spPr>
          <a:xfrm>
            <a:off x="1508760" y="291693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guardrail-метрика?</a:t>
            </a:r>
          </a:p>
        </p:txBody>
      </p:sp>
      <p:sp>
        <p:nvSpPr>
          <p:cNvPr id="35" name="Rounded Rectangle 34"/>
          <p:cNvSpPr/>
          <p:nvPr/>
        </p:nvSpPr>
        <p:spPr>
          <a:xfrm>
            <a:off x="4837175" y="287121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65191" y="291693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Назвать guardrail явно до теста, а не постфактум: что мониторим, но не оптимизируем</a:t>
            </a:r>
          </a:p>
        </p:txBody>
      </p:sp>
      <p:sp>
        <p:nvSpPr>
          <p:cNvPr id="37" name="Rounded Rectangle 36"/>
          <p:cNvSpPr/>
          <p:nvPr/>
        </p:nvSpPr>
        <p:spPr>
          <a:xfrm>
            <a:off x="502920" y="3419856"/>
            <a:ext cx="475488" cy="512064"/>
          </a:xfrm>
          <a:prstGeom prst="roundRect">
            <a:avLst>
              <a:gd name="adj" fmla="val 1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341985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5</a:t>
            </a:r>
          </a:p>
        </p:txBody>
      </p:sp>
      <p:sp>
        <p:nvSpPr>
          <p:cNvPr id="39" name="Rounded Rectangle 38"/>
          <p:cNvSpPr/>
          <p:nvPr/>
        </p:nvSpPr>
        <p:spPr>
          <a:xfrm>
            <a:off x="1033271" y="3419856"/>
            <a:ext cx="3749039"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ircle-check-mid.png"/>
          <p:cNvPicPr>
            <a:picLocks noChangeAspect="1"/>
          </p:cNvPicPr>
          <p:nvPr/>
        </p:nvPicPr>
        <p:blipFill>
          <a:blip r:embed="rId2"/>
          <a:stretch>
            <a:fillRect/>
          </a:stretch>
        </p:blipFill>
        <p:spPr>
          <a:xfrm>
            <a:off x="1161288" y="3538728"/>
            <a:ext cx="274320" cy="274320"/>
          </a:xfrm>
          <a:prstGeom prst="rect">
            <a:avLst/>
          </a:prstGeom>
        </p:spPr>
      </p:pic>
      <p:sp>
        <p:nvSpPr>
          <p:cNvPr id="41" name="TextBox 40"/>
          <p:cNvSpPr txBox="1"/>
          <p:nvPr/>
        </p:nvSpPr>
        <p:spPr>
          <a:xfrm>
            <a:off x="1508760" y="346557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Поэтапная раскатка и быстрый откат?</a:t>
            </a:r>
          </a:p>
        </p:txBody>
      </p:sp>
      <p:sp>
        <p:nvSpPr>
          <p:cNvPr id="42" name="Rounded Rectangle 41"/>
          <p:cNvSpPr/>
          <p:nvPr/>
        </p:nvSpPr>
        <p:spPr>
          <a:xfrm>
            <a:off x="4837175" y="3419856"/>
            <a:ext cx="6867144"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5191" y="346557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Ввести канареечную фазу или лестницу самостоятельности до полной раскатки — это ось обратимости из триады</a:t>
            </a:r>
          </a:p>
        </p:txBody>
      </p:sp>
      <p:sp>
        <p:nvSpPr>
          <p:cNvPr id="44" name="Rounded Rectangle 43"/>
          <p:cNvSpPr/>
          <p:nvPr/>
        </p:nvSpPr>
        <p:spPr>
          <a:xfrm>
            <a:off x="502920" y="39684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9684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6</a:t>
            </a:r>
          </a:p>
        </p:txBody>
      </p:sp>
      <p:sp>
        <p:nvSpPr>
          <p:cNvPr id="46" name="Rounded Rectangle 45"/>
          <p:cNvSpPr/>
          <p:nvPr/>
        </p:nvSpPr>
        <p:spPr>
          <a:xfrm>
            <a:off x="1033271" y="39684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circle-check-mid.png"/>
          <p:cNvPicPr>
            <a:picLocks noChangeAspect="1"/>
          </p:cNvPicPr>
          <p:nvPr/>
        </p:nvPicPr>
        <p:blipFill>
          <a:blip r:embed="rId2"/>
          <a:stretch>
            <a:fillRect/>
          </a:stretch>
        </p:blipFill>
        <p:spPr>
          <a:xfrm>
            <a:off x="1161288" y="4087368"/>
            <a:ext cx="274320" cy="274320"/>
          </a:xfrm>
          <a:prstGeom prst="rect">
            <a:avLst/>
          </a:prstGeom>
        </p:spPr>
      </p:pic>
      <p:sp>
        <p:nvSpPr>
          <p:cNvPr id="48" name="TextBox 47"/>
          <p:cNvSpPr txBox="1"/>
          <p:nvPr/>
        </p:nvSpPr>
        <p:spPr>
          <a:xfrm>
            <a:off x="1508760" y="401421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Эскалация к человеку гарантирована?</a:t>
            </a:r>
          </a:p>
        </p:txBody>
      </p:sp>
      <p:sp>
        <p:nvSpPr>
          <p:cNvPr id="49" name="Rounded Rectangle 48"/>
          <p:cNvSpPr/>
          <p:nvPr/>
        </p:nvSpPr>
        <p:spPr>
          <a:xfrm>
            <a:off x="4837175" y="39684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5191" y="401421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Спроектировать эскалацию как архитектуру с первого дня, а не как функцию после инцидента</a:t>
            </a:r>
          </a:p>
        </p:txBody>
      </p:sp>
      <p:sp>
        <p:nvSpPr>
          <p:cNvPr id="51" name="Rounded Rectangle 50"/>
          <p:cNvSpPr/>
          <p:nvPr/>
        </p:nvSpPr>
        <p:spPr>
          <a:xfrm>
            <a:off x="502920" y="45171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45171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7</a:t>
            </a:r>
          </a:p>
        </p:txBody>
      </p:sp>
      <p:sp>
        <p:nvSpPr>
          <p:cNvPr id="53" name="Rounded Rectangle 52"/>
          <p:cNvSpPr/>
          <p:nvPr/>
        </p:nvSpPr>
        <p:spPr>
          <a:xfrm>
            <a:off x="1033271" y="45171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check-mid.png"/>
          <p:cNvPicPr>
            <a:picLocks noChangeAspect="1"/>
          </p:cNvPicPr>
          <p:nvPr/>
        </p:nvPicPr>
        <p:blipFill>
          <a:blip r:embed="rId2"/>
          <a:stretch>
            <a:fillRect/>
          </a:stretch>
        </p:blipFill>
        <p:spPr>
          <a:xfrm>
            <a:off x="1161288" y="4636007"/>
            <a:ext cx="274320" cy="274320"/>
          </a:xfrm>
          <a:prstGeom prst="rect">
            <a:avLst/>
          </a:prstGeom>
        </p:spPr>
      </p:pic>
      <p:sp>
        <p:nvSpPr>
          <p:cNvPr id="55" name="TextBox 54"/>
          <p:cNvSpPr txBox="1"/>
          <p:nvPr/>
        </p:nvSpPr>
        <p:spPr>
          <a:xfrm>
            <a:off x="1508760" y="456285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Кто отвечает за результат?</a:t>
            </a:r>
          </a:p>
        </p:txBody>
      </p:sp>
      <p:sp>
        <p:nvSpPr>
          <p:cNvPr id="56" name="Rounded Rectangle 55"/>
          <p:cNvSpPr/>
          <p:nvPr/>
        </p:nvSpPr>
        <p:spPr>
          <a:xfrm>
            <a:off x="4837175" y="45171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65191" y="456285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Назначить владельца и записать финансовый показатель до запуска</a:t>
            </a:r>
          </a:p>
        </p:txBody>
      </p:sp>
      <p:sp>
        <p:nvSpPr>
          <p:cNvPr id="58" name="Rounded Rectangle 57"/>
          <p:cNvSpPr/>
          <p:nvPr/>
        </p:nvSpPr>
        <p:spPr>
          <a:xfrm>
            <a:off x="502920" y="5065775"/>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5065775"/>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8</a:t>
            </a:r>
          </a:p>
        </p:txBody>
      </p:sp>
      <p:sp>
        <p:nvSpPr>
          <p:cNvPr id="60" name="Rounded Rectangle 59"/>
          <p:cNvSpPr/>
          <p:nvPr/>
        </p:nvSpPr>
        <p:spPr>
          <a:xfrm>
            <a:off x="1033271" y="5065775"/>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circle-check-mid.png"/>
          <p:cNvPicPr>
            <a:picLocks noChangeAspect="1"/>
          </p:cNvPicPr>
          <p:nvPr/>
        </p:nvPicPr>
        <p:blipFill>
          <a:blip r:embed="rId2"/>
          <a:stretch>
            <a:fillRect/>
          </a:stretch>
        </p:blipFill>
        <p:spPr>
          <a:xfrm>
            <a:off x="1161288" y="5184647"/>
            <a:ext cx="274320" cy="274320"/>
          </a:xfrm>
          <a:prstGeom prst="rect">
            <a:avLst/>
          </a:prstGeom>
        </p:spPr>
      </p:pic>
      <p:sp>
        <p:nvSpPr>
          <p:cNvPr id="62" name="TextBox 61"/>
          <p:cNvSpPr txBox="1"/>
          <p:nvPr/>
        </p:nvSpPr>
        <p:spPr>
          <a:xfrm>
            <a:off x="1508760" y="511149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Данные безопасны?</a:t>
            </a:r>
          </a:p>
        </p:txBody>
      </p:sp>
      <p:sp>
        <p:nvSpPr>
          <p:cNvPr id="63" name="Rounded Rectangle 62"/>
          <p:cNvSpPr/>
          <p:nvPr/>
        </p:nvSpPr>
        <p:spPr>
          <a:xfrm>
            <a:off x="4837175" y="5065775"/>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65191" y="511149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Обезличить регулируемые поля или перейти на собственный контур до подключения внешнего инструмента</a:t>
            </a:r>
          </a:p>
        </p:txBody>
      </p:sp>
      <p:sp>
        <p:nvSpPr>
          <p:cNvPr id="65" name="Rounded Rectangle 64"/>
          <p:cNvSpPr/>
          <p:nvPr/>
        </p:nvSpPr>
        <p:spPr>
          <a:xfrm>
            <a:off x="502920" y="5705855"/>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5760719"/>
            <a:ext cx="10762488" cy="53035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Хотя бы одно «нет» не значит «не применять ИИ» — значит «закрыть разрыв до, а не после»: для подходящей задачи чек-лист осознанно приведёт к высокой самостоятельности.</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61888"/>
            <a:ext cx="7223760" cy="310896"/>
          </a:xfrm>
          <a:prstGeom prst="rect">
            <a:avLst/>
          </a:prstGeom>
          <a:noFill/>
        </p:spPr>
        <p:txBody>
          <a:bodyPr wrap="square" lIns="0" rIns="0" tIns="0" bIns="0" anchor="t">
            <a:spAutoFit/>
          </a:bodyPr>
          <a:lstStyle/>
          <a:p>
            <a:pPr algn="l">
              <a:lnSpc>
                <a:spcPct val="105000"/>
              </a:lnSpc>
            </a:pPr>
            <a:r>
              <a:rPr sz="1000" b="0" i="1">
                <a:solidFill>
                  <a:srgbClr val="5B6678"/>
                </a:solidFill>
                <a:latin typeface="DejaVu Sans"/>
              </a:rPr>
              <a:t>Инженер за рабочей станцией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аппарата на учебном AI-продукте: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инженерном проектировании и CAD/CAM — там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